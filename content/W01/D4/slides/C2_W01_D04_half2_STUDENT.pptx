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Per segment, with denominators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985008"/>
            <a:ext cx="10820095" cy="1710944"/>
          </a:xfrm>
          <a:prstGeom prst="rect">
            <a:avLst/>
          </a:prstGeom>
          <a:noFill/>
        </p:spPr>
        <p:txBody>
          <a:bodyPr wrap="square" anchor="t" lIns="0" rIns="0" tIns="0" bIns="0">
            <a:spAutoFit/>
          </a:bodyPr>
          <a:lstStyle/>
          <a:p>
            <a:pPr>
              <a:spcAft>
                <a:spcPts val="900"/>
              </a:spcAft>
            </a:pPr>
            <a:r>
              <a:rPr sz="2000" b="0">
                <a:solidFill>
                  <a:srgbClr val="1C1C1A"/>
                </a:solidFill>
                <a:latin typeface="Calibri"/>
              </a:rPr>
              <a:t>Half one gave you one number for the whole file. Nobody runs a business unit on one number.</a:t>
            </a:r>
          </a:p>
          <a:p>
            <a:pPr>
              <a:spcAft>
                <a:spcPts val="900"/>
              </a:spcAft>
            </a:pPr>
            <a:r>
              <a:rPr sz="2000" b="0">
                <a:solidFill>
                  <a:srgbClr val="1C1C1A"/>
                </a:solidFill>
                <a:latin typeface="Calibri"/>
              </a:rPr>
              <a:t>The question is always the same one level down: which part of Kalpa Retail is working, and how sure can you be.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 / 45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we are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ounded Rectangle 5"/>
          <p:cNvSpPr/>
          <p:nvPr/>
        </p:nvSpPr>
        <p:spPr>
          <a:xfrm>
            <a:off x="685800" y="287426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one column</a:t>
            </a:r>
          </a:p>
        </p:txBody>
      </p:sp>
      <p:sp>
        <p:nvSpPr>
          <p:cNvPr id="7" name="Rounded Rectangle 6"/>
          <p:cNvSpPr/>
          <p:nvPr/>
        </p:nvSpPr>
        <p:spPr>
          <a:xfrm>
            <a:off x="2871764" y="287426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is typical</a:t>
            </a:r>
          </a:p>
        </p:txBody>
      </p:sp>
      <p:sp>
        <p:nvSpPr>
          <p:cNvPr id="8" name="Rounded Rectangle 7"/>
          <p:cNvSpPr/>
          <p:nvPr/>
        </p:nvSpPr>
        <p:spPr>
          <a:xfrm>
            <a:off x="5057729" y="287426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one order does</a:t>
            </a:r>
          </a:p>
        </p:txBody>
      </p:sp>
      <p:sp>
        <p:nvSpPr>
          <p:cNvPr id="9" name="Rounded Rectangle 8"/>
          <p:cNvSpPr/>
          <p:nvPr/>
        </p:nvSpPr>
        <p:spPr>
          <a:xfrm>
            <a:off x="7243693" y="2874264"/>
            <a:ext cx="2076236" cy="475488"/>
          </a:xfrm>
          <a:prstGeom prst="roundRect">
            <a:avLst/>
          </a:prstGeom>
          <a:solidFill>
            <a:srgbClr val="FFFFFF"/>
          </a:solidFill>
          <a:ln w="9525">
            <a:solidFill>
              <a:srgbClr val="C9C9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5F6360"/>
                </a:solidFill>
                <a:latin typeface="Calibri"/>
              </a:rPr>
              <a:t>what the shape says</a:t>
            </a:r>
          </a:p>
        </p:txBody>
      </p:sp>
      <p:sp>
        <p:nvSpPr>
          <p:cNvPr id="10" name="Rounded Rectangle 9"/>
          <p:cNvSpPr/>
          <p:nvPr/>
        </p:nvSpPr>
        <p:spPr>
          <a:xfrm>
            <a:off x="9429658" y="2874264"/>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11" name="TextBox 10"/>
          <p:cNvSpPr txBox="1"/>
          <p:nvPr/>
        </p:nvSpPr>
        <p:spPr>
          <a:xfrm>
            <a:off x="685800" y="3550920"/>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can now pick an honest statistic for a column. Half two splits the file by segment, computes that statistic per group, and attaches the one thing that decides whether the answer means anything.</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metric, named before it is computed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338832"/>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Kalpa Retail cares about returns. A returned order costs the delivery, the reverse logistics and usually the margin.</a:t>
            </a:r>
          </a:p>
        </p:txBody>
      </p:sp>
      <p:sp>
        <p:nvSpPr>
          <p:cNvPr id="7" name="Rectangle 6"/>
          <p:cNvSpPr/>
          <p:nvPr/>
        </p:nvSpPr>
        <p:spPr>
          <a:xfrm>
            <a:off x="685800" y="337718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337718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47776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return rate  =  orders with status "returned"  /  all orders in the group</a:t>
            </a:r>
          </a:p>
        </p:txBody>
      </p:sp>
      <p:sp>
        <p:nvSpPr>
          <p:cNvPr id="10" name="TextBox 9"/>
          <p:cNvSpPr txBox="1"/>
          <p:nvPr/>
        </p:nvSpPr>
        <p:spPr>
          <a:xfrm>
            <a:off x="685800" y="408635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This is the first metric in the programme where </a:t>
            </a:r>
            <a:r>
              <a:rPr sz="2000" b="1">
                <a:solidFill>
                  <a:srgbClr val="1C1C1A"/>
                </a:solidFill>
                <a:latin typeface="Calibri"/>
              </a:rPr>
              <a:t>lower is better</a:t>
            </a:r>
            <a:r>
              <a:rPr sz="2000" b="0">
                <a:solidFill>
                  <a:srgbClr val="1C1C1A"/>
                </a:solidFill>
                <a:latin typeface="Calibri"/>
              </a:rPr>
              <a:t>. A ranking of return rates puts the best performer at the top with the smallest number beside it. Keep that straight or the next four slides will read backwards.</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45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S2c</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Where this is going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453640"/>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453640"/>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554224"/>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segment        orders   median amount   return rate</a:t>
            </a:r>
          </a:p>
          <a:p>
            <a:pPr>
              <a:spcAft>
                <a:spcPts val="200"/>
              </a:spcAft>
            </a:pPr>
            <a:r>
              <a:rPr sz="1600" b="0">
                <a:solidFill>
                  <a:srgbClr val="E4ECF7"/>
                </a:solidFill>
                <a:latin typeface="Consolas"/>
              </a:rPr>
              <a:t>Business            9        Rs 2,050          11.1%</a:t>
            </a:r>
          </a:p>
          <a:p>
            <a:pPr>
              <a:spcAft>
                <a:spcPts val="200"/>
              </a:spcAft>
            </a:pPr>
            <a:r>
              <a:rPr sz="1600" b="0">
                <a:solidFill>
                  <a:srgbClr val="E4ECF7"/>
                </a:solidFill>
                <a:latin typeface="Consolas"/>
              </a:rPr>
              <a:t>Student            10        Rs 1,430          20.0%</a:t>
            </a:r>
          </a:p>
          <a:p>
            <a:pPr>
              <a:spcAft>
                <a:spcPts val="200"/>
              </a:spcAft>
            </a:pPr>
            <a:r>
              <a:rPr sz="1600" b="0">
                <a:solidFill>
                  <a:srgbClr val="E4ECF7"/>
                </a:solidFill>
                <a:latin typeface="Consolas"/>
              </a:rPr>
              <a:t>Retail-Core        14        Rs 1,910          35.7%</a:t>
            </a:r>
          </a:p>
          <a:p>
            <a:pPr>
              <a:spcAft>
                <a:spcPts val="200"/>
              </a:spcAft>
            </a:pPr>
            <a:r>
              <a:rPr sz="1600" b="0">
                <a:solidFill>
                  <a:srgbClr val="E4ECF7"/>
                </a:solidFill>
                <a:latin typeface="Consolas"/>
              </a:rPr>
              <a:t>Retail-Plus        11        Rs 1,435          36.4%</a:t>
            </a:r>
          </a:p>
        </p:txBody>
      </p:sp>
      <p:sp>
        <p:nvSpPr>
          <p:cNvPr id="9" name="TextBox 8"/>
          <p:cNvSpPr txBox="1"/>
          <p:nvPr/>
        </p:nvSpPr>
        <p:spPr>
          <a:xfrm>
            <a:off x="685800" y="4316984"/>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will have built this inside the hour. Then you will spend the rest of the session refusing to send it as it stands.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S2d</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Half two in one picture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333363088649f0ff.png"/>
          <p:cNvPicPr>
            <a:picLocks noChangeAspect="1"/>
          </p:cNvPicPr>
          <p:nvPr/>
        </p:nvPicPr>
        <p:blipFill>
          <a:blip r:embed="rId2"/>
          <a:stretch>
            <a:fillRect/>
          </a:stretch>
        </p:blipFill>
        <p:spPr>
          <a:xfrm>
            <a:off x="685800" y="4529397"/>
            <a:ext cx="10820095" cy="670421"/>
          </a:xfrm>
          <a:prstGeom prst="rect">
            <a:avLst/>
          </a:prstGeom>
        </p:spPr>
      </p:pic>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5 / 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1: THE DENOMINATOR</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6 /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One rate, two files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Two segments in two different companies, same reported number:</a:t>
            </a:r>
          </a:p>
        </p:txBody>
      </p:sp>
      <p:sp>
        <p:nvSpPr>
          <p:cNvPr id="7" name="Rectangle 6"/>
          <p:cNvSpPr/>
          <p:nvPr/>
        </p:nvSpPr>
        <p:spPr>
          <a:xfrm>
            <a:off x="685800" y="2234184"/>
            <a:ext cx="10820095" cy="68884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234184"/>
            <a:ext cx="50292" cy="68884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334768"/>
            <a:ext cx="10417759" cy="505967"/>
          </a:xfrm>
          <a:prstGeom prst="rect">
            <a:avLst/>
          </a:prstGeom>
          <a:noFill/>
        </p:spPr>
        <p:txBody>
          <a:bodyPr wrap="square" anchor="t" lIns="0" rIns="0" tIns="0" bIns="0">
            <a:spAutoFit/>
          </a:bodyPr>
          <a:lstStyle/>
          <a:p>
            <a:pPr>
              <a:spcAft>
                <a:spcPts val="200"/>
              </a:spcAft>
            </a:pPr>
            <a:r>
              <a:rPr sz="1200" b="0">
                <a:solidFill>
                  <a:srgbClr val="E4ECF7"/>
                </a:solidFill>
                <a:latin typeface="Consolas"/>
              </a:rPr>
              <a:t>segment X:   returned 5 of 12          41.7%</a:t>
            </a:r>
          </a:p>
          <a:p>
            <a:pPr>
              <a:spcAft>
                <a:spcPts val="200"/>
              </a:spcAft>
            </a:pPr>
            <a:r>
              <a:rPr sz="1200" b="0">
                <a:solidFill>
                  <a:srgbClr val="E4ECF7"/>
                </a:solidFill>
                <a:latin typeface="Consolas"/>
              </a:rPr>
              <a:t>segment Y:   returned 500 of 1200      41.7%</a:t>
            </a:r>
          </a:p>
        </p:txBody>
      </p:sp>
      <p:sp>
        <p:nvSpPr>
          <p:cNvPr id="10" name="TextBox 9"/>
          <p:cNvSpPr txBox="1"/>
          <p:nvPr/>
        </p:nvSpPr>
        <p:spPr>
          <a:xfrm>
            <a:off x="685800" y="3087624"/>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Identical rates. Which one would you build a quarter's plan on?</a:t>
            </a:r>
          </a:p>
        </p:txBody>
      </p:sp>
      <p:pic>
        <p:nvPicPr>
          <p:cNvPr id="11" name="Picture 10" descr="b46d27be3b84321f.png"/>
          <p:cNvPicPr>
            <a:picLocks noChangeAspect="1"/>
          </p:cNvPicPr>
          <p:nvPr/>
        </p:nvPicPr>
        <p:blipFill>
          <a:blip r:embed="rId2"/>
          <a:stretch>
            <a:fillRect/>
          </a:stretch>
        </p:blipFill>
        <p:spPr>
          <a:xfrm>
            <a:off x="3495706" y="3694176"/>
            <a:ext cx="5200281" cy="2359151"/>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Why the small one moves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In the 12-order segment, one order changing its status moves the rate by 8.3 points.</a:t>
            </a:r>
          </a:p>
          <a:p>
            <a:pPr>
              <a:spcAft>
                <a:spcPts val="900"/>
              </a:spcAft>
            </a:pPr>
            <a:r>
              <a:rPr sz="2000" b="0">
                <a:solidFill>
                  <a:srgbClr val="1C1C1A"/>
                </a:solidFill>
                <a:latin typeface="Calibri"/>
              </a:rPr>
              <a:t>In the 1,200-order segment, one order moves it by 0.08 points.</a:t>
            </a:r>
          </a:p>
          <a:p>
            <a:pPr>
              <a:spcAft>
                <a:spcPts val="900"/>
              </a:spcAft>
            </a:pPr>
            <a:r>
              <a:rPr sz="2000" b="0">
                <a:solidFill>
                  <a:srgbClr val="1C1C1A"/>
                </a:solidFill>
                <a:latin typeface="Calibri"/>
              </a:rPr>
              <a:t>The small segment is not wrong. It is loud. Its number swings on evidence too thin to swing on, and next month it will report something different for no reason you can name.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What a rate actually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975864"/>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975864"/>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076448"/>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rate = how many did the thing  /  how many could have</a:t>
            </a:r>
          </a:p>
        </p:txBody>
      </p:sp>
      <p:sp>
        <p:nvSpPr>
          <p:cNvPr id="9" name="TextBox 8"/>
          <p:cNvSpPr txBox="1"/>
          <p:nvPr/>
        </p:nvSpPr>
        <p:spPr>
          <a:xfrm>
            <a:off x="685800" y="3685032"/>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numbers, and the reporting convention throws one of them away.</a:t>
            </a:r>
          </a:p>
          <a:p>
            <a:pPr>
              <a:spcAft>
                <a:spcPts val="900"/>
              </a:spcAft>
            </a:pPr>
            <a:r>
              <a:rPr sz="2000" b="0">
                <a:solidFill>
                  <a:srgbClr val="1C1C1A"/>
                </a:solidFill>
                <a:latin typeface="Calibri"/>
              </a:rPr>
              <a:t>Every argument in this section comes from the thrown-away number.</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A rate written properly, and the number nobody prints</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1671320"/>
          </a:xfrm>
          <a:prstGeom prst="rect">
            <a:avLst/>
          </a:prstGeom>
          <a:noFill/>
        </p:spPr>
        <p:txBody>
          <a:bodyPr wrap="square" anchor="t" lIns="0" rIns="0" tIns="0" bIns="0">
            <a:spAutoFit/>
          </a:bodyPr>
          <a:lstStyle/>
          <a:p>
            <a:pPr>
              <a:spcAft>
                <a:spcPts val="600"/>
              </a:spcAft>
            </a:pPr>
            <a:r>
              <a:rPr sz="1300" b="0">
                <a:solidFill>
                  <a:srgbClr val="1C1C1A"/>
                </a:solidFill>
                <a:latin typeface="Calibri"/>
              </a:rPr>
              <a:t>$$\text{rate} = \frac{k}{n} \qquad \text{where } k \text{ did the thing and } n \text{ could have}$$</a:t>
            </a:r>
          </a:p>
          <a:p>
            <a:pPr>
              <a:spcAft>
                <a:spcPts val="600"/>
              </a:spcAft>
            </a:pPr>
            <a:r>
              <a:rPr sz="1300" b="0">
                <a:solidFill>
                  <a:srgbClr val="1C1C1A"/>
                </a:solidFill>
                <a:latin typeface="Calibri"/>
              </a:rPr>
              <a:t>The reporting convention prints the quotient and discards $n$, and $n$ is the number that decides whether the quotient means anything.</a:t>
            </a:r>
          </a:p>
          <a:p>
            <a:pPr>
              <a:spcAft>
                <a:spcPts val="600"/>
              </a:spcAft>
            </a:pPr>
            <a:r>
              <a:rPr sz="1300" b="0">
                <a:solidFill>
                  <a:srgbClr val="1C1C1A"/>
                </a:solidFill>
                <a:latin typeface="Calibri"/>
              </a:rPr>
              <a:t>Here is the arithmetic that makes the discard visible. One record changing side moves the rate by</a:t>
            </a:r>
          </a:p>
          <a:p>
            <a:pPr>
              <a:spcAft>
                <a:spcPts val="600"/>
              </a:spcAft>
            </a:pPr>
            <a:r>
              <a:rPr sz="1300" b="0">
                <a:solidFill>
                  <a:srgbClr val="1C1C1A"/>
                </a:solidFill>
                <a:latin typeface="Calibri"/>
              </a:rPr>
              <a:t>$$\Delta = \frac{1}{n} \qquad \text{or, in percentage points, } \frac{100}{n}$$</a:t>
            </a:r>
          </a:p>
        </p:txBody>
      </p:sp>
      <p:graphicFrame>
        <p:nvGraphicFramePr>
          <p:cNvPr id="8" name="Table 7"/>
          <p:cNvGraphicFramePr>
            <a:graphicFrameLocks noGrp="1"/>
          </p:cNvGraphicFramePr>
          <p:nvPr/>
        </p:nvGraphicFramePr>
        <p:xfrm>
          <a:off x="685800" y="3426968"/>
          <a:ext cx="10820095" cy="1554480"/>
        </p:xfrm>
        <a:graphic>
          <a:graphicData uri="http://schemas.openxmlformats.org/drawingml/2006/table">
            <a:tbl>
              <a:tblPr firstRow="0" bandRow="0">
                <a:tableStyleId>{2D5ABB26-0587-4C30-8999-92F81FD0307C}</a:tableStyleId>
              </a:tblPr>
              <a:tblGrid>
                <a:gridCol w="3223174"/>
                <a:gridCol w="777240"/>
                <a:gridCol w="6819681"/>
              </a:tblGrid>
              <a:tr h="310896">
                <a:tc>
                  <a:txBody>
                    <a:bodyPr/>
                    <a:lstStyle/>
                    <a:p>
                      <a:r>
                        <a:rPr sz="1100" b="1">
                          <a:solidFill>
                            <a:srgbClr val="FFFFFF"/>
                          </a:solidFill>
                          <a:latin typeface="Calibri"/>
                        </a:rPr>
                        <a:t>Segment</a:t>
                      </a:r>
                    </a:p>
                  </a:txBody>
                  <a:tcPr marL="101600" marR="101600" marT="38100" marB="38100" anchor="ctr">
                    <a:solidFill>
                      <a:srgbClr val="2B4A7D"/>
                    </a:solidFill>
                  </a:tcPr>
                </a:tc>
                <a:tc>
                  <a:txBody>
                    <a:bodyPr/>
                    <a:lstStyle/>
                    <a:p>
                      <a:r>
                        <a:rPr sz="1100" b="1">
                          <a:solidFill>
                            <a:srgbClr val="FFFFFF"/>
                          </a:solidFill>
                          <a:latin typeface="Calibri"/>
                        </a:rPr>
                        <a:t>$n$</a:t>
                      </a:r>
                    </a:p>
                  </a:txBody>
                  <a:tcPr marL="101600" marR="101600" marT="38100" marB="38100" anchor="ctr">
                    <a:solidFill>
                      <a:srgbClr val="2B4A7D"/>
                    </a:solidFill>
                  </a:tcPr>
                </a:tc>
                <a:tc>
                  <a:txBody>
                    <a:bodyPr/>
                    <a:lstStyle/>
                    <a:p>
                      <a:r>
                        <a:rPr sz="1100" b="1">
                          <a:solidFill>
                            <a:srgbClr val="FFFFFF"/>
                          </a:solidFill>
                          <a:latin typeface="Calibri"/>
                        </a:rPr>
                        <a:t>One order moves the rate by</a:t>
                      </a:r>
                    </a:p>
                  </a:txBody>
                  <a:tcPr marL="101600" marR="101600" marT="38100" marB="38100" anchor="ctr">
                    <a:solidFill>
                      <a:srgbClr val="2B4A7D"/>
                    </a:solidFill>
                  </a:tcPr>
                </a:tc>
              </a:tr>
              <a:tr h="310896">
                <a:tc>
                  <a:txBody>
                    <a:bodyPr/>
                    <a:lstStyle/>
                    <a:p>
                      <a:r>
                        <a:rPr sz="1000" b="0">
                          <a:solidFill>
                            <a:srgbClr val="1C1C1A"/>
                          </a:solidFill>
                          <a:latin typeface="Calibri"/>
                        </a:rPr>
                        <a:t>Business</a:t>
                      </a:r>
                    </a:p>
                  </a:txBody>
                  <a:tcPr marL="101600" marR="101600" marT="38100" marB="38100" anchor="ctr">
                    <a:solidFill>
                      <a:srgbClr val="FFFFFF"/>
                    </a:solidFill>
                  </a:tcPr>
                </a:tc>
                <a:tc>
                  <a:txBody>
                    <a:bodyPr/>
                    <a:lstStyle/>
                    <a:p>
                      <a:r>
                        <a:rPr sz="1000" b="0">
                          <a:solidFill>
                            <a:srgbClr val="1C1C1A"/>
                          </a:solidFill>
                          <a:latin typeface="Calibri"/>
                        </a:rPr>
                        <a:t>9</a:t>
                      </a:r>
                    </a:p>
                  </a:txBody>
                  <a:tcPr marL="101600" marR="101600" marT="38100" marB="38100" anchor="ctr">
                    <a:solidFill>
                      <a:srgbClr val="FFFFFF"/>
                    </a:solidFill>
                  </a:tcPr>
                </a:tc>
                <a:tc>
                  <a:txBody>
                    <a:bodyPr/>
                    <a:lstStyle/>
                    <a:p>
                      <a:r>
                        <a:rPr sz="1000" b="0">
                          <a:solidFill>
                            <a:srgbClr val="1C1C1A"/>
                          </a:solidFill>
                          <a:latin typeface="Calibri"/>
                        </a:rPr>
                        <a:t>11.1 points</a:t>
                      </a:r>
                    </a:p>
                  </a:txBody>
                  <a:tcPr marL="101600" marR="101600" marT="38100" marB="38100" anchor="ctr">
                    <a:solidFill>
                      <a:srgbClr val="FFFFFF"/>
                    </a:solidFill>
                  </a:tcPr>
                </a:tc>
              </a:tr>
              <a:tr h="310896">
                <a:tc>
                  <a:txBody>
                    <a:bodyPr/>
                    <a:lstStyle/>
                    <a:p>
                      <a:r>
                        <a:rPr sz="1000" b="0">
                          <a:solidFill>
                            <a:srgbClr val="1C1C1A"/>
                          </a:solidFill>
                          <a:latin typeface="Calibri"/>
                        </a:rPr>
                        <a:t>Student</a:t>
                      </a:r>
                    </a:p>
                  </a:txBody>
                  <a:tcPr marL="101600" marR="101600" marT="38100" marB="38100" anchor="ctr">
                    <a:solidFill>
                      <a:srgbClr val="F7F7F5"/>
                    </a:solidFill>
                  </a:tcPr>
                </a:tc>
                <a:tc>
                  <a:txBody>
                    <a:bodyPr/>
                    <a:lstStyle/>
                    <a:p>
                      <a:r>
                        <a:rPr sz="1000" b="0">
                          <a:solidFill>
                            <a:srgbClr val="1C1C1A"/>
                          </a:solidFill>
                          <a:latin typeface="Calibri"/>
                        </a:rPr>
                        <a:t>10</a:t>
                      </a:r>
                    </a:p>
                  </a:txBody>
                  <a:tcPr marL="101600" marR="101600" marT="38100" marB="38100" anchor="ctr">
                    <a:solidFill>
                      <a:srgbClr val="F7F7F5"/>
                    </a:solidFill>
                  </a:tcPr>
                </a:tc>
                <a:tc>
                  <a:txBody>
                    <a:bodyPr/>
                    <a:lstStyle/>
                    <a:p>
                      <a:r>
                        <a:rPr sz="1000" b="0">
                          <a:solidFill>
                            <a:srgbClr val="1C1C1A"/>
                          </a:solidFill>
                          <a:latin typeface="Calibri"/>
                        </a:rPr>
                        <a:t>10.0 points</a:t>
                      </a:r>
                    </a:p>
                  </a:txBody>
                  <a:tcPr marL="101600" marR="101600" marT="38100" marB="38100" anchor="ctr">
                    <a:solidFill>
                      <a:srgbClr val="F7F7F5"/>
                    </a:solidFill>
                  </a:tcPr>
                </a:tc>
              </a:tr>
              <a:tr h="310896">
                <a:tc>
                  <a:txBody>
                    <a:bodyPr/>
                    <a:lstStyle/>
                    <a:p>
                      <a:r>
                        <a:rPr sz="1000" b="0">
                          <a:solidFill>
                            <a:srgbClr val="1C1C1A"/>
                          </a:solidFill>
                          <a:latin typeface="Calibri"/>
                        </a:rPr>
                        <a:t>Retail-Plus</a:t>
                      </a:r>
                    </a:p>
                  </a:txBody>
                  <a:tcPr marL="101600" marR="101600" marT="38100" marB="38100" anchor="ctr">
                    <a:solidFill>
                      <a:srgbClr val="FFFFFF"/>
                    </a:solidFill>
                  </a:tcPr>
                </a:tc>
                <a:tc>
                  <a:txBody>
                    <a:bodyPr/>
                    <a:lstStyle/>
                    <a:p>
                      <a:r>
                        <a:rPr sz="1000" b="0">
                          <a:solidFill>
                            <a:srgbClr val="1C1C1A"/>
                          </a:solidFill>
                          <a:latin typeface="Calibri"/>
                        </a:rPr>
                        <a:t>11</a:t>
                      </a:r>
                    </a:p>
                  </a:txBody>
                  <a:tcPr marL="101600" marR="101600" marT="38100" marB="38100" anchor="ctr">
                    <a:solidFill>
                      <a:srgbClr val="FFFFFF"/>
                    </a:solidFill>
                  </a:tcPr>
                </a:tc>
                <a:tc>
                  <a:txBody>
                    <a:bodyPr/>
                    <a:lstStyle/>
                    <a:p>
                      <a:r>
                        <a:rPr sz="1000" b="0">
                          <a:solidFill>
                            <a:srgbClr val="1C1C1A"/>
                          </a:solidFill>
                          <a:latin typeface="Calibri"/>
                        </a:rPr>
                        <a:t>9.1 points</a:t>
                      </a:r>
                    </a:p>
                  </a:txBody>
                  <a:tcPr marL="101600" marR="101600" marT="38100" marB="38100" anchor="ctr">
                    <a:solidFill>
                      <a:srgbClr val="FFFFFF"/>
                    </a:solidFill>
                  </a:tcPr>
                </a:tc>
              </a:tr>
              <a:tr h="310896">
                <a:tc>
                  <a:txBody>
                    <a:bodyPr/>
                    <a:lstStyle/>
                    <a:p>
                      <a:r>
                        <a:rPr sz="1000" b="0">
                          <a:solidFill>
                            <a:srgbClr val="1C1C1A"/>
                          </a:solidFill>
                          <a:latin typeface="Calibri"/>
                        </a:rPr>
                        <a:t>Retail-Core</a:t>
                      </a:r>
                    </a:p>
                  </a:txBody>
                  <a:tcPr marL="101600" marR="101600" marT="38100" marB="38100" anchor="ctr">
                    <a:solidFill>
                      <a:srgbClr val="F7F7F5"/>
                    </a:solidFill>
                  </a:tcPr>
                </a:tc>
                <a:tc>
                  <a:txBody>
                    <a:bodyPr/>
                    <a:lstStyle/>
                    <a:p>
                      <a:r>
                        <a:rPr sz="1000" b="0">
                          <a:solidFill>
                            <a:srgbClr val="1C1C1A"/>
                          </a:solidFill>
                          <a:latin typeface="Calibri"/>
                        </a:rPr>
                        <a:t>14</a:t>
                      </a:r>
                    </a:p>
                  </a:txBody>
                  <a:tcPr marL="101600" marR="101600" marT="38100" marB="38100" anchor="ctr">
                    <a:solidFill>
                      <a:srgbClr val="F7F7F5"/>
                    </a:solidFill>
                  </a:tcPr>
                </a:tc>
                <a:tc>
                  <a:txBody>
                    <a:bodyPr/>
                    <a:lstStyle/>
                    <a:p>
                      <a:r>
                        <a:rPr sz="1000" b="0">
                          <a:solidFill>
                            <a:srgbClr val="1C1C1A"/>
                          </a:solidFill>
                          <a:latin typeface="Calibri"/>
                        </a:rPr>
                        <a:t>7.1 points</a:t>
                      </a:r>
                    </a:p>
                  </a:txBody>
                  <a:tcPr marL="101600" marR="101600" marT="38100" marB="38100" anchor="ctr">
                    <a:solidFill>
                      <a:srgbClr val="F7F7F5"/>
                    </a:solidFill>
                  </a:tcPr>
                </a:tc>
              </a:tr>
            </a:tbl>
          </a:graphicData>
        </a:graphic>
      </p:graphicFrame>
      <p:sp>
        <p:nvSpPr>
          <p:cNvPr id="9" name="TextBox 8"/>
          <p:cNvSpPr txBox="1"/>
          <p:nvPr/>
        </p:nvSpPr>
        <p:spPr>
          <a:xfrm>
            <a:off x="685800" y="5237480"/>
            <a:ext cx="10820095"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Business's entire lead over Student is 8.9 points. One order in Business is worth 11.1. The lead is smaller than the resolution of the instrument that measured it.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10 /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A ranking of small groups reads size</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55f9ff1a85c20694.png"/>
          <p:cNvPicPr>
            <a:picLocks noChangeAspect="1"/>
          </p:cNvPicPr>
          <p:nvPr/>
        </p:nvPicPr>
        <p:blipFill>
          <a:blip r:embed="rId2"/>
          <a:stretch>
            <a:fillRect/>
          </a:stretch>
        </p:blipFill>
        <p:spPr>
          <a:xfrm>
            <a:off x="2072076" y="1627632"/>
            <a:ext cx="1880088" cy="4425696"/>
          </a:xfrm>
          <a:prstGeom prst="rect">
            <a:avLst/>
          </a:prstGeom>
        </p:spPr>
      </p:pic>
      <p:sp>
        <p:nvSpPr>
          <p:cNvPr id="8" name="TextBox 7"/>
          <p:cNvSpPr txBox="1"/>
          <p:nvPr/>
        </p:nvSpPr>
        <p:spPr>
          <a:xfrm>
            <a:off x="5771244" y="2867152"/>
            <a:ext cx="5734650" cy="194665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Nothing is causing this and nothing is wrong with the data. It is what quotients over small denominators do, and it is why the fix is the denominator column rather than a better statistic.</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45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rule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05663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3056636"/>
            <a:ext cx="10545775" cy="511048"/>
          </a:xfrm>
          <a:prstGeom prst="rect">
            <a:avLst/>
          </a:prstGeom>
          <a:noFill/>
        </p:spPr>
        <p:txBody>
          <a:bodyPr wrap="square" anchor="t" lIns="0" rIns="0" tIns="0" bIns="0">
            <a:spAutoFit/>
          </a:bodyPr>
          <a:lstStyle/>
          <a:p>
            <a:r>
              <a:rPr sz="1900" b="0" i="1">
                <a:solidFill>
                  <a:srgbClr val="5F6360"/>
                </a:solidFill>
                <a:latin typeface="Calibri"/>
              </a:rPr>
              <a:t>A rate travels with its denominator or it does not travel.</a:t>
            </a:r>
          </a:p>
        </p:txBody>
      </p:sp>
      <p:sp>
        <p:nvSpPr>
          <p:cNvPr id="8" name="TextBox 7"/>
          <p:cNvSpPr txBox="1"/>
          <p:nvPr/>
        </p:nvSpPr>
        <p:spPr>
          <a:xfrm>
            <a:off x="685800" y="371398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Write it as 11.1 percent of 9 and nobody can misread it. Write it as 11.1 percent and everybody will.</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45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2: THE ACCUMULATOR</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13 / 45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Counting into buckets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Monday you counted orders that passed a test. Today you count them into named piles, one pile per segment.</a:t>
            </a:r>
          </a:p>
        </p:txBody>
      </p:sp>
      <p:sp>
        <p:nvSpPr>
          <p:cNvPr id="7" name="Rectangle 6"/>
          <p:cNvSpPr/>
          <p:nvPr/>
        </p:nvSpPr>
        <p:spPr>
          <a:xfrm>
            <a:off x="685800" y="2234184"/>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234184"/>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334768"/>
            <a:ext cx="10417759" cy="938784"/>
          </a:xfrm>
          <a:prstGeom prst="rect">
            <a:avLst/>
          </a:prstGeom>
          <a:noFill/>
        </p:spPr>
        <p:txBody>
          <a:bodyPr wrap="square" anchor="t" lIns="0" rIns="0" tIns="0" bIns="0">
            <a:spAutoFit/>
          </a:bodyPr>
          <a:lstStyle/>
          <a:p>
            <a:pPr>
              <a:spcAft>
                <a:spcPts val="200"/>
              </a:spcAft>
            </a:pPr>
            <a:r>
              <a:rPr sz="1200" b="0">
                <a:solidFill>
                  <a:srgbClr val="E4ECF7"/>
                </a:solidFill>
                <a:latin typeface="Consolas"/>
              </a:rPr>
              <a:t>counts = {"Retail-Core": 0, "Retail-Plus": 0, "Business": 0}</a:t>
            </a:r>
          </a:p>
          <a:p>
            <a:pPr>
              <a:spcAft>
                <a:spcPts val="200"/>
              </a:spcAft>
            </a:pPr>
          </a:p>
          <a:p>
            <a:pPr>
              <a:spcAft>
                <a:spcPts val="200"/>
              </a:spcAft>
            </a:pPr>
            <a:r>
              <a:rPr sz="1200" b="0">
                <a:solidFill>
                  <a:srgbClr val="E4ECF7"/>
                </a:solidFill>
                <a:latin typeface="Consolas"/>
              </a:rPr>
              <a:t>for r in orders:</a:t>
            </a:r>
          </a:p>
          <a:p>
            <a:pPr>
              <a:spcAft>
                <a:spcPts val="200"/>
              </a:spcAft>
            </a:pPr>
            <a:r>
              <a:rPr sz="1200" b="0">
                <a:solidFill>
                  <a:srgbClr val="E4ECF7"/>
                </a:solidFill>
                <a:latin typeface="Consolas"/>
              </a:rPr>
              <a:t>    counts[r["segment"]] = counts[r["segment"]] + 1</a:t>
            </a:r>
          </a:p>
        </p:txBody>
      </p:sp>
      <p:sp>
        <p:nvSpPr>
          <p:cNvPr id="10" name="TextBox 9"/>
          <p:cNvSpPr txBox="1"/>
          <p:nvPr/>
        </p:nvSpPr>
        <p:spPr>
          <a:xfrm>
            <a:off x="685800" y="3520440"/>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Reasonable code. The analyst listed the segments they remembered.</a:t>
            </a:r>
          </a:p>
        </p:txBody>
      </p:sp>
      <p:pic>
        <p:nvPicPr>
          <p:cNvPr id="11" name="Picture 10" descr="cfc3cc3c07f61f46.png"/>
          <p:cNvPicPr>
            <a:picLocks noChangeAspect="1"/>
          </p:cNvPicPr>
          <p:nvPr/>
        </p:nvPicPr>
        <p:blipFill>
          <a:blip r:embed="rId2"/>
          <a:stretch>
            <a:fillRect/>
          </a:stretch>
        </p:blipFill>
        <p:spPr>
          <a:xfrm>
            <a:off x="1554550" y="4133087"/>
            <a:ext cx="9082595" cy="1920240"/>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Run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3203448"/>
            <a:ext cx="10820095" cy="54457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3203448"/>
            <a:ext cx="50292" cy="54457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304032"/>
            <a:ext cx="10417759" cy="361696"/>
          </a:xfrm>
          <a:prstGeom prst="rect">
            <a:avLst/>
          </a:prstGeom>
          <a:noFill/>
        </p:spPr>
        <p:txBody>
          <a:bodyPr wrap="square" anchor="t" lIns="0" rIns="0" tIns="0" bIns="0">
            <a:spAutoFit/>
          </a:bodyPr>
          <a:lstStyle/>
          <a:p>
            <a:pPr>
              <a:spcAft>
                <a:spcPts val="200"/>
              </a:spcAft>
            </a:pPr>
            <a:r>
              <a:rPr sz="1600" b="0">
                <a:solidFill>
                  <a:srgbClr val="E4ECF7"/>
                </a:solidFill>
                <a:latin typeface="Consolas"/>
              </a:rPr>
              <a:t>KeyError: 'Student'</a:t>
            </a:r>
          </a:p>
        </p:txBody>
      </p:sp>
      <p:sp>
        <p:nvSpPr>
          <p:cNvPr id="9" name="TextBox 8"/>
          <p:cNvSpPr txBox="1"/>
          <p:nvPr/>
        </p:nvSpPr>
        <p:spPr>
          <a:xfrm>
            <a:off x="685800" y="3912616"/>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It failed on the very first order in the file.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15 / 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Reading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1671320"/>
          </a:xfrm>
          <a:prstGeom prst="rect">
            <a:avLst/>
          </a:prstGeom>
          <a:noFill/>
        </p:spPr>
        <p:txBody>
          <a:bodyPr wrap="square" anchor="t" lIns="0" rIns="0" tIns="0" bIns="0">
            <a:spAutoFit/>
          </a:bodyPr>
          <a:lstStyle/>
          <a:p>
            <a:pPr>
              <a:spcAft>
                <a:spcPts val="600"/>
              </a:spcAft>
            </a:pPr>
            <a:r>
              <a:rPr sz="1300" b="0">
                <a:solidFill>
                  <a:srgbClr val="1C1C1A"/>
                </a:solidFill>
                <a:latin typeface="Calibri"/>
              </a:rPr>
              <a:t>KeyError means a dictionary was asked for a key it does not hold. The key it did not hold is printed for you: Student.</a:t>
            </a:r>
          </a:p>
          <a:p>
            <a:pPr>
              <a:spcAft>
                <a:spcPts val="600"/>
              </a:spcAft>
            </a:pPr>
            <a:r>
              <a:rPr sz="1300" b="0">
                <a:solidFill>
                  <a:srgbClr val="1C1C1A"/>
                </a:solidFill>
                <a:latin typeface="Calibri"/>
              </a:rPr>
              <a:t>The dictionary held three segments because a person typed three segments. Kalpa Retail has four.</a:t>
            </a:r>
          </a:p>
          <a:p>
            <a:pPr>
              <a:spcAft>
                <a:spcPts val="600"/>
              </a:spcAft>
            </a:pPr>
            <a:r>
              <a:rPr sz="1300" b="0">
                <a:solidFill>
                  <a:srgbClr val="1C1C1A"/>
                </a:solidFill>
                <a:latin typeface="Calibri"/>
              </a:rPr>
              <a:t>Every hard-coded list of categories is a promise about data you have not read yet.</a:t>
            </a:r>
          </a:p>
          <a:p>
            <a:pPr>
              <a:spcAft>
                <a:spcPts val="600"/>
              </a:spcAft>
            </a:pPr>
            <a:r>
              <a:rPr sz="1300" b="0">
                <a:solidFill>
                  <a:srgbClr val="1C1C1A"/>
                </a:solidFill>
                <a:latin typeface="Calibri"/>
              </a:rPr>
              <a:t>This one is loud, because the first order in the file is a Student order. The dangerous version runs for six months and breaks the week a new segment launches.</a:t>
            </a:r>
          </a:p>
        </p:txBody>
      </p:sp>
      <p:pic>
        <p:nvPicPr>
          <p:cNvPr id="7" name="Picture 6" descr="cfc3cc3c07f61f46.png"/>
          <p:cNvPicPr>
            <a:picLocks noChangeAspect="1"/>
          </p:cNvPicPr>
          <p:nvPr/>
        </p:nvPicPr>
        <p:blipFill>
          <a:blip r:embed="rId2"/>
          <a:stretch>
            <a:fillRect/>
          </a:stretch>
        </p:blipFill>
        <p:spPr>
          <a:xfrm>
            <a:off x="685800" y="3720817"/>
            <a:ext cx="10820095" cy="2287581"/>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16 /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failure that is worse than the KeyError</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13080"/>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KeyError was the good case, because it stopped.</a:t>
            </a:r>
          </a:p>
        </p:txBody>
      </p:sp>
      <p:sp>
        <p:nvSpPr>
          <p:cNvPr id="8" name="Rectangle 7"/>
          <p:cNvSpPr/>
          <p:nvPr/>
        </p:nvSpPr>
        <p:spPr>
          <a:xfrm>
            <a:off x="685800" y="2268728"/>
            <a:ext cx="10820095" cy="151841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85800" y="2268728"/>
            <a:ext cx="50292" cy="151841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23544" y="2369312"/>
            <a:ext cx="10417759" cy="1335532"/>
          </a:xfrm>
          <a:prstGeom prst="rect">
            <a:avLst/>
          </a:prstGeom>
          <a:noFill/>
        </p:spPr>
        <p:txBody>
          <a:bodyPr wrap="square" anchor="t" lIns="0" rIns="0" tIns="0" bIns="0">
            <a:spAutoFit/>
          </a:bodyPr>
          <a:lstStyle/>
          <a:p>
            <a:pPr>
              <a:spcAft>
                <a:spcPts val="200"/>
              </a:spcAft>
            </a:pPr>
            <a:r>
              <a:rPr sz="1400" b="0">
                <a:solidFill>
                  <a:srgbClr val="E4ECF7"/>
                </a:solidFill>
                <a:latin typeface="Consolas"/>
              </a:rPr>
              <a:t>counts = {"Retail-Core": 0, "Retail-Plus": 0, "Business": 0}</a:t>
            </a:r>
          </a:p>
          <a:p>
            <a:pPr>
              <a:spcAft>
                <a:spcPts val="200"/>
              </a:spcAft>
            </a:pPr>
          </a:p>
          <a:p>
            <a:pPr>
              <a:spcAft>
                <a:spcPts val="200"/>
              </a:spcAft>
            </a:pPr>
            <a:r>
              <a:rPr sz="1400" b="0">
                <a:solidFill>
                  <a:srgbClr val="E4ECF7"/>
                </a:solidFill>
                <a:latin typeface="Consolas"/>
              </a:rPr>
              <a:t>for r in orders:</a:t>
            </a:r>
          </a:p>
          <a:p>
            <a:pPr>
              <a:spcAft>
                <a:spcPts val="200"/>
              </a:spcAft>
            </a:pPr>
            <a:r>
              <a:rPr sz="1400" b="0">
                <a:solidFill>
                  <a:srgbClr val="E4ECF7"/>
                </a:solidFill>
                <a:latin typeface="Consolas"/>
              </a:rPr>
              <a:t>    if r["segment"] in counts:</a:t>
            </a:r>
          </a:p>
          <a:p>
            <a:pPr>
              <a:spcAft>
                <a:spcPts val="200"/>
              </a:spcAft>
            </a:pPr>
            <a:r>
              <a:rPr sz="1400" b="0">
                <a:solidFill>
                  <a:srgbClr val="E4ECF7"/>
                </a:solidFill>
                <a:latin typeface="Consolas"/>
              </a:rPr>
              <a:t>        counts[r["segment"]] = counts[r["segment"]] + 1</a:t>
            </a:r>
          </a:p>
        </p:txBody>
      </p:sp>
      <p:sp>
        <p:nvSpPr>
          <p:cNvPr id="11" name="TextBox 10"/>
          <p:cNvSpPr txBox="1"/>
          <p:nvPr/>
        </p:nvSpPr>
        <p:spPr>
          <a:xfrm>
            <a:off x="685800" y="3951731"/>
            <a:ext cx="10820095" cy="1797304"/>
          </a:xfrm>
          <a:prstGeom prst="rect">
            <a:avLst/>
          </a:prstGeom>
          <a:noFill/>
        </p:spPr>
        <p:txBody>
          <a:bodyPr wrap="square" anchor="t" lIns="0" rIns="0" tIns="0" bIns="0">
            <a:spAutoFit/>
          </a:bodyPr>
          <a:lstStyle/>
          <a:p>
            <a:pPr>
              <a:spcAft>
                <a:spcPts val="800"/>
              </a:spcAft>
            </a:pPr>
            <a:r>
              <a:rPr sz="1700" b="0">
                <a:solidFill>
                  <a:srgbClr val="1C1C1A"/>
                </a:solidFill>
                <a:latin typeface="Calibri"/>
              </a:rPr>
              <a:t>Somebody who has met a KeyError once often writes this next. It never raises. It silently ignores every Student order, so the counts come to 34 rather than 44, the totals are all understated, and the file looks fine.</a:t>
            </a:r>
          </a:p>
          <a:p>
            <a:pPr>
              <a:spcAft>
                <a:spcPts val="800"/>
              </a:spcAft>
            </a:pPr>
            <a:r>
              <a:rPr sz="1700" b="0">
                <a:solidFill>
                  <a:srgbClr val="1C1C1A"/>
                </a:solidFill>
                <a:latin typeface="Calibri"/>
              </a:rPr>
              <a:t>The check that catches it is the one you already write: the segment counts have to add up to the order count. Ten orders are missing and the last line is the only place that shows.</a:t>
            </a:r>
          </a:p>
        </p:txBody>
      </p:sp>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Build the key when you first see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770887"/>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77088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1588008"/>
          </a:xfrm>
          <a:prstGeom prst="rect">
            <a:avLst/>
          </a:prstGeom>
          <a:noFill/>
        </p:spPr>
        <p:txBody>
          <a:bodyPr wrap="square" anchor="t" lIns="0" rIns="0" tIns="0" bIns="0">
            <a:spAutoFit/>
          </a:bodyPr>
          <a:lstStyle/>
          <a:p>
            <a:pPr>
              <a:spcAft>
                <a:spcPts val="200"/>
              </a:spcAft>
            </a:pPr>
            <a:r>
              <a:rPr sz="1200" b="0">
                <a:solidFill>
                  <a:srgbClr val="E4ECF7"/>
                </a:solidFill>
                <a:latin typeface="Consolas"/>
              </a:rPr>
              <a:t>counts = {}</a:t>
            </a:r>
          </a:p>
          <a:p>
            <a:pPr>
              <a:spcAft>
                <a:spcPts val="200"/>
              </a:spcAft>
            </a:pPr>
          </a:p>
          <a:p>
            <a:pPr>
              <a:spcAft>
                <a:spcPts val="200"/>
              </a:spcAft>
            </a:pPr>
            <a:r>
              <a:rPr sz="1200" b="0">
                <a:solidFill>
                  <a:srgbClr val="E4ECF7"/>
                </a:solidFill>
                <a:latin typeface="Consolas"/>
              </a:rPr>
              <a:t>for r in orders:</a:t>
            </a:r>
          </a:p>
          <a:p>
            <a:pPr>
              <a:spcAft>
                <a:spcPts val="200"/>
              </a:spcAft>
            </a:pPr>
            <a:r>
              <a:rPr sz="1200" b="0">
                <a:solidFill>
                  <a:srgbClr val="E4ECF7"/>
                </a:solidFill>
                <a:latin typeface="Consolas"/>
              </a:rPr>
              <a:t>    key = r["segment"]</a:t>
            </a:r>
          </a:p>
          <a:p>
            <a:pPr>
              <a:spcAft>
                <a:spcPts val="200"/>
              </a:spcAft>
            </a:pPr>
            <a:r>
              <a:rPr sz="1200" b="0">
                <a:solidFill>
                  <a:srgbClr val="E4ECF7"/>
                </a:solidFill>
                <a:latin typeface="Consolas"/>
              </a:rPr>
              <a:t>    if key not in counts:</a:t>
            </a:r>
          </a:p>
          <a:p>
            <a:pPr>
              <a:spcAft>
                <a:spcPts val="200"/>
              </a:spcAft>
            </a:pPr>
            <a:r>
              <a:rPr sz="1200" b="0">
                <a:solidFill>
                  <a:srgbClr val="E4ECF7"/>
                </a:solidFill>
                <a:latin typeface="Consolas"/>
              </a:rPr>
              <a:t>        counts[key] = 0</a:t>
            </a:r>
          </a:p>
          <a:p>
            <a:pPr>
              <a:spcAft>
                <a:spcPts val="200"/>
              </a:spcAft>
            </a:pPr>
            <a:r>
              <a:rPr sz="1200" b="0">
                <a:solidFill>
                  <a:srgbClr val="E4ECF7"/>
                </a:solidFill>
                <a:latin typeface="Consolas"/>
              </a:rPr>
              <a:t>    counts[key] = counts[key] + 1</a:t>
            </a:r>
          </a:p>
        </p:txBody>
      </p:sp>
      <p:sp>
        <p:nvSpPr>
          <p:cNvPr id="9" name="TextBox 8"/>
          <p:cNvSpPr txBox="1"/>
          <p:nvPr/>
        </p:nvSpPr>
        <p:spPr>
          <a:xfrm>
            <a:off x="685800" y="3563112"/>
            <a:ext cx="10820095" cy="847344"/>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Three lines instead of one declaration, and the code now works on a file with segments nobody told you about.</a:t>
            </a:r>
          </a:p>
          <a:p>
            <a:pPr>
              <a:spcAft>
                <a:spcPts val="700"/>
              </a:spcAft>
            </a:pPr>
            <a:r>
              <a:rPr sz="1500" b="0">
                <a:solidFill>
                  <a:srgbClr val="1C1C1A"/>
                </a:solidFill>
                <a:latin typeface="Calibri"/>
              </a:rPr>
              <a:t>The same shape written shorter, which you will meet again in Week 2:</a:t>
            </a:r>
          </a:p>
        </p:txBody>
      </p:sp>
      <p:sp>
        <p:nvSpPr>
          <p:cNvPr id="10" name="Rectangle 9"/>
          <p:cNvSpPr/>
          <p:nvPr/>
        </p:nvSpPr>
        <p:spPr>
          <a:xfrm>
            <a:off x="685800" y="4538472"/>
            <a:ext cx="10820095" cy="472439"/>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538472"/>
            <a:ext cx="50292" cy="47243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23544" y="4639056"/>
            <a:ext cx="10417759" cy="289559"/>
          </a:xfrm>
          <a:prstGeom prst="rect">
            <a:avLst/>
          </a:prstGeom>
          <a:noFill/>
        </p:spPr>
        <p:txBody>
          <a:bodyPr wrap="square" anchor="t" lIns="0" rIns="0" tIns="0" bIns="0">
            <a:spAutoFit/>
          </a:bodyPr>
          <a:lstStyle/>
          <a:p>
            <a:pPr>
              <a:spcAft>
                <a:spcPts val="200"/>
              </a:spcAft>
            </a:pPr>
            <a:r>
              <a:rPr sz="1200" b="0">
                <a:solidFill>
                  <a:srgbClr val="E4ECF7"/>
                </a:solidFill>
                <a:latin typeface="Consolas"/>
              </a:rPr>
              <a:t>counts[key] = counts.get(key, 0) + 1</a:t>
            </a:r>
          </a:p>
        </p:txBody>
      </p:sp>
      <p:sp>
        <p:nvSpPr>
          <p:cNvPr id="13" name="TextBox 12"/>
          <p:cNvSpPr txBox="1"/>
          <p:nvPr/>
        </p:nvSpPr>
        <p:spPr>
          <a:xfrm>
            <a:off x="685800" y="5175504"/>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That is Monday's .get() with a default, doing exactly what it did on Monday.</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45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fixed count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953514"/>
            <a:ext cx="10820095" cy="151841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953514"/>
            <a:ext cx="50292" cy="151841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054098"/>
            <a:ext cx="10417759" cy="1335532"/>
          </a:xfrm>
          <a:prstGeom prst="rect">
            <a:avLst/>
          </a:prstGeom>
          <a:noFill/>
        </p:spPr>
        <p:txBody>
          <a:bodyPr wrap="square" anchor="t" lIns="0" rIns="0" tIns="0" bIns="0">
            <a:spAutoFit/>
          </a:bodyPr>
          <a:lstStyle/>
          <a:p>
            <a:pPr>
              <a:spcAft>
                <a:spcPts val="200"/>
              </a:spcAft>
            </a:pPr>
            <a:r>
              <a:rPr sz="1400" b="0">
                <a:solidFill>
                  <a:srgbClr val="E4ECF7"/>
                </a:solidFill>
                <a:latin typeface="Consolas"/>
              </a:rPr>
              <a:t>Business       9</a:t>
            </a:r>
          </a:p>
          <a:p>
            <a:pPr>
              <a:spcAft>
                <a:spcPts val="200"/>
              </a:spcAft>
            </a:pPr>
            <a:r>
              <a:rPr sz="1400" b="0">
                <a:solidFill>
                  <a:srgbClr val="E4ECF7"/>
                </a:solidFill>
                <a:latin typeface="Consolas"/>
              </a:rPr>
              <a:t>Retail-Core   14</a:t>
            </a:r>
          </a:p>
          <a:p>
            <a:pPr>
              <a:spcAft>
                <a:spcPts val="200"/>
              </a:spcAft>
            </a:pPr>
            <a:r>
              <a:rPr sz="1400" b="0">
                <a:solidFill>
                  <a:srgbClr val="E4ECF7"/>
                </a:solidFill>
                <a:latin typeface="Consolas"/>
              </a:rPr>
              <a:t>Retail-Plus   11</a:t>
            </a:r>
          </a:p>
          <a:p>
            <a:pPr>
              <a:spcAft>
                <a:spcPts val="200"/>
              </a:spcAft>
            </a:pPr>
            <a:r>
              <a:rPr sz="1400" b="0">
                <a:solidFill>
                  <a:srgbClr val="E4ECF7"/>
                </a:solidFill>
                <a:latin typeface="Consolas"/>
              </a:rPr>
              <a:t>Student       10</a:t>
            </a:r>
          </a:p>
          <a:p>
            <a:pPr>
              <a:spcAft>
                <a:spcPts val="200"/>
              </a:spcAft>
            </a:pPr>
            <a:r>
              <a:rPr sz="1400" b="0">
                <a:solidFill>
                  <a:srgbClr val="E4ECF7"/>
                </a:solidFill>
                <a:latin typeface="Consolas"/>
              </a:rPr>
              <a:t>      total   44</a:t>
            </a:r>
          </a:p>
        </p:txBody>
      </p:sp>
      <p:sp>
        <p:nvSpPr>
          <p:cNvPr id="9" name="TextBox 8"/>
          <p:cNvSpPr txBox="1"/>
          <p:nvPr/>
        </p:nvSpPr>
        <p:spPr>
          <a:xfrm>
            <a:off x="685800" y="3636518"/>
            <a:ext cx="10820095" cy="2090928"/>
          </a:xfrm>
          <a:prstGeom prst="rect">
            <a:avLst/>
          </a:prstGeom>
          <a:noFill/>
        </p:spPr>
        <p:txBody>
          <a:bodyPr wrap="square" anchor="t" lIns="0" rIns="0" tIns="0" bIns="0">
            <a:spAutoFit/>
          </a:bodyPr>
          <a:lstStyle/>
          <a:p>
            <a:pPr>
              <a:spcAft>
                <a:spcPts val="800"/>
              </a:spcAft>
            </a:pPr>
            <a:r>
              <a:rPr sz="1700" b="0">
                <a:solidFill>
                  <a:srgbClr val="1C1C1A"/>
                </a:solidFill>
                <a:latin typeface="Calibri"/>
              </a:rPr>
              <a:t>The total matches your profiled order count. If it did not, you would have a bug and the last line is how you would know.</a:t>
            </a:r>
          </a:p>
          <a:p>
            <a:pPr>
              <a:spcAft>
                <a:spcPts val="800"/>
              </a:spcAft>
            </a:pPr>
            <a:r>
              <a:rPr sz="1700" b="0">
                <a:solidFill>
                  <a:srgbClr val="1C1C1A"/>
                </a:solidFill>
                <a:latin typeface="Calibri"/>
              </a:rPr>
              <a:t>One number here deserves a second look. Student holds ten. The raw file held twelve, and two Student orders were rejected yesterday for failing conversion. </a:t>
            </a:r>
            <a:r>
              <a:rPr sz="1700" b="1">
                <a:solidFill>
                  <a:srgbClr val="1C1C1A"/>
                </a:solidFill>
                <a:latin typeface="Calibri"/>
              </a:rPr>
              <a:t>Your cleaning changed the denominator of your smallest segment by seventeen percent</a:t>
            </a:r>
            <a:r>
              <a:rPr sz="1700" b="0">
                <a:solidFill>
                  <a:srgbClr val="1C1C1A"/>
                </a:solidFill>
                <a:latin typeface="Calibri"/>
              </a:rPr>
              <a:t>, and nothing in today's code would tell you. Yesterday's rejects log is the only place it is written down.</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3: THE SEGMENT SUMMARY</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20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D4</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Why the median cannot be accumulated and the count can</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93951126692e114f.png"/>
          <p:cNvPicPr>
            <a:picLocks noChangeAspect="1"/>
          </p:cNvPicPr>
          <p:nvPr/>
        </p:nvPicPr>
        <p:blipFill>
          <a:blip r:embed="rId2"/>
          <a:stretch>
            <a:fillRect/>
          </a:stretch>
        </p:blipFill>
        <p:spPr>
          <a:xfrm>
            <a:off x="3215004" y="1627632"/>
            <a:ext cx="5761685" cy="2424175"/>
          </a:xfrm>
          <a:prstGeom prst="rect">
            <a:avLst/>
          </a:prstGeom>
        </p:spPr>
      </p:pic>
      <p:sp>
        <p:nvSpPr>
          <p:cNvPr id="8" name="TextBox 7"/>
          <p:cNvSpPr txBox="1"/>
          <p:nvPr/>
        </p:nvSpPr>
        <p:spPr>
          <a:xfrm>
            <a:off x="685800" y="4161536"/>
            <a:ext cx="10820095" cy="1891792"/>
          </a:xfrm>
          <a:prstGeom prst="rect">
            <a:avLst/>
          </a:prstGeom>
          <a:noFill/>
        </p:spPr>
        <p:txBody>
          <a:bodyPr wrap="square" anchor="t" lIns="0" rIns="0" tIns="0" bIns="0">
            <a:spAutoFit/>
          </a:bodyPr>
          <a:lstStyle/>
          <a:p>
            <a:r>
              <a:rPr sz="2000" b="0">
                <a:solidFill>
                  <a:srgbClr val="1C1C1A"/>
                </a:solidFill>
                <a:latin typeface="Calibri"/>
              </a:rPr>
              <a:t>A count is a running total, so it is finished the moment the pass is. A median is a position in a sorted list, so it cannot exist until every value has arrived. That distinction is why the code collects amounts into a list rather than trying to be clever, and it is the same reason a median is expensive on data too large to hold.</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45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Three accumulators, one pass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43992"/>
          </a:xfrm>
          <a:prstGeom prst="rect">
            <a:avLst/>
          </a:prstGeom>
          <a:noFill/>
        </p:spPr>
        <p:txBody>
          <a:bodyPr wrap="square" anchor="t" lIns="0" rIns="0" tIns="0" bIns="0">
            <a:spAutoFit/>
          </a:bodyPr>
          <a:lstStyle/>
          <a:p>
            <a:pPr>
              <a:spcAft>
                <a:spcPts val="600"/>
              </a:spcAft>
            </a:pPr>
            <a:r>
              <a:rPr sz="1300" b="0">
                <a:solidFill>
                  <a:srgbClr val="1C1C1A"/>
                </a:solidFill>
                <a:latin typeface="Calibri"/>
              </a:rPr>
              <a:t>Per segment you need three things: how many orders, what a typical amount looks like, and what share came back.</a:t>
            </a:r>
          </a:p>
        </p:txBody>
      </p:sp>
      <p:sp>
        <p:nvSpPr>
          <p:cNvPr id="7" name="Rectangle 6"/>
          <p:cNvSpPr/>
          <p:nvPr/>
        </p:nvSpPr>
        <p:spPr>
          <a:xfrm>
            <a:off x="685800" y="2199640"/>
            <a:ext cx="10820095" cy="124790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199640"/>
            <a:ext cx="50292" cy="124790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300224"/>
            <a:ext cx="10417759" cy="1065022"/>
          </a:xfrm>
          <a:prstGeom prst="rect">
            <a:avLst/>
          </a:prstGeom>
          <a:noFill/>
        </p:spPr>
        <p:txBody>
          <a:bodyPr wrap="square" anchor="t" lIns="0" rIns="0" tIns="0" bIns="0">
            <a:spAutoFit/>
          </a:bodyPr>
          <a:lstStyle/>
          <a:p>
            <a:pPr>
              <a:spcAft>
                <a:spcPts val="200"/>
              </a:spcAft>
            </a:pPr>
            <a:r>
              <a:rPr sz="1100" b="0">
                <a:solidFill>
                  <a:srgbClr val="E4ECF7"/>
                </a:solidFill>
                <a:latin typeface="Consolas"/>
              </a:rPr>
              <a:t>per_segment[key] = {</a:t>
            </a:r>
          </a:p>
          <a:p>
            <a:pPr>
              <a:spcAft>
                <a:spcPts val="200"/>
              </a:spcAft>
            </a:pPr>
            <a:r>
              <a:rPr sz="1100" b="0">
                <a:solidFill>
                  <a:srgbClr val="E4ECF7"/>
                </a:solidFill>
                <a:latin typeface="Consolas"/>
              </a:rPr>
              <a:t>    "count":    how many orders landed here,</a:t>
            </a:r>
          </a:p>
          <a:p>
            <a:pPr>
              <a:spcAft>
                <a:spcPts val="200"/>
              </a:spcAft>
            </a:pPr>
            <a:r>
              <a:rPr sz="1100" b="0">
                <a:solidFill>
                  <a:srgbClr val="E4ECF7"/>
                </a:solidFill>
                <a:latin typeface="Consolas"/>
              </a:rPr>
              <a:t>    "amounts":  every amount, collected so the median can be taken at the end,</a:t>
            </a:r>
          </a:p>
          <a:p>
            <a:pPr>
              <a:spcAft>
                <a:spcPts val="200"/>
              </a:spcAft>
            </a:pPr>
            <a:r>
              <a:rPr sz="1100" b="0">
                <a:solidFill>
                  <a:srgbClr val="E4ECF7"/>
                </a:solidFill>
                <a:latin typeface="Consolas"/>
              </a:rPr>
              <a:t>    "returned": how many had status "returned",</a:t>
            </a:r>
          </a:p>
          <a:p>
            <a:pPr>
              <a:spcAft>
                <a:spcPts val="200"/>
              </a:spcAft>
            </a:pPr>
            <a:r>
              <a:rPr sz="1100" b="0">
                <a:solidFill>
                  <a:srgbClr val="E4ECF7"/>
                </a:solidFill>
                <a:latin typeface="Consolas"/>
              </a:rPr>
              <a:t>}</a:t>
            </a:r>
          </a:p>
        </p:txBody>
      </p:sp>
      <p:sp>
        <p:nvSpPr>
          <p:cNvPr id="10" name="TextBox 9"/>
          <p:cNvSpPr txBox="1"/>
          <p:nvPr/>
        </p:nvSpPr>
        <p:spPr>
          <a:xfrm>
            <a:off x="685800" y="3612134"/>
            <a:ext cx="10820095" cy="668528"/>
          </a:xfrm>
          <a:prstGeom prst="rect">
            <a:avLst/>
          </a:prstGeom>
          <a:noFill/>
        </p:spPr>
        <p:txBody>
          <a:bodyPr wrap="square" anchor="t" lIns="0" rIns="0" tIns="0" bIns="0">
            <a:spAutoFit/>
          </a:bodyPr>
          <a:lstStyle/>
          <a:p>
            <a:pPr>
              <a:spcAft>
                <a:spcPts val="600"/>
              </a:spcAft>
            </a:pPr>
            <a:r>
              <a:rPr sz="1300" b="0">
                <a:solidFill>
                  <a:srgbClr val="1C1C1A"/>
                </a:solidFill>
                <a:latin typeface="Calibri"/>
              </a:rPr>
              <a:t>The median cannot be accumulated one order at a time. It needs the whole list sorted, so the list is collected during the pass and the median is taken after it.</a:t>
            </a:r>
          </a:p>
        </p:txBody>
      </p:sp>
      <p:pic>
        <p:nvPicPr>
          <p:cNvPr id="11" name="Picture 10" descr="513ba68e31c2581f.png"/>
          <p:cNvPicPr>
            <a:picLocks noChangeAspect="1"/>
          </p:cNvPicPr>
          <p:nvPr/>
        </p:nvPicPr>
        <p:blipFill>
          <a:blip r:embed="rId2"/>
          <a:stretch>
            <a:fillRect/>
          </a:stretch>
        </p:blipFill>
        <p:spPr>
          <a:xfrm>
            <a:off x="4180327" y="4498848"/>
            <a:ext cx="3831041" cy="1554480"/>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22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table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26360"/>
            <a:ext cx="10820095" cy="1698752"/>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26360"/>
            <a:ext cx="50292" cy="169875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26944"/>
            <a:ext cx="10417759" cy="1515872"/>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segment        orders   median amount   returned   rate</a:t>
            </a:r>
          </a:p>
          <a:p>
            <a:pPr>
              <a:spcAft>
                <a:spcPts val="200"/>
              </a:spcAft>
            </a:pPr>
            <a:r>
              <a:rPr sz="1600" b="0">
                <a:solidFill>
                  <a:srgbClr val="E4ECF7"/>
                </a:solidFill>
                <a:latin typeface="Consolas"/>
              </a:rPr>
              <a:t>Business            9        Rs 2,050          1   11.1%</a:t>
            </a:r>
          </a:p>
          <a:p>
            <a:pPr>
              <a:spcAft>
                <a:spcPts val="200"/>
              </a:spcAft>
            </a:pPr>
            <a:r>
              <a:rPr sz="1600" b="0">
                <a:solidFill>
                  <a:srgbClr val="E4ECF7"/>
                </a:solidFill>
                <a:latin typeface="Consolas"/>
              </a:rPr>
              <a:t>Retail-Core        14        Rs 1,910          5   35.7%</a:t>
            </a:r>
          </a:p>
          <a:p>
            <a:pPr>
              <a:spcAft>
                <a:spcPts val="200"/>
              </a:spcAft>
            </a:pPr>
            <a:r>
              <a:rPr sz="1600" b="0">
                <a:solidFill>
                  <a:srgbClr val="E4ECF7"/>
                </a:solidFill>
                <a:latin typeface="Consolas"/>
              </a:rPr>
              <a:t>Retail-Plus        11        Rs 1,435          4   36.4%</a:t>
            </a:r>
          </a:p>
          <a:p>
            <a:pPr>
              <a:spcAft>
                <a:spcPts val="200"/>
              </a:spcAft>
            </a:pPr>
            <a:r>
              <a:rPr sz="1600" b="0">
                <a:solidFill>
                  <a:srgbClr val="E4ECF7"/>
                </a:solidFill>
                <a:latin typeface="Consolas"/>
              </a:rPr>
              <a:t>Student            10        Rs 1,430          2   20.0%</a:t>
            </a:r>
          </a:p>
        </p:txBody>
      </p:sp>
      <p:sp>
        <p:nvSpPr>
          <p:cNvPr id="9" name="TextBox 8"/>
          <p:cNvSpPr txBox="1"/>
          <p:nvPr/>
        </p:nvSpPr>
        <p:spPr>
          <a:xfrm>
            <a:off x="685800" y="4489704"/>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Note what is absent from every row: the mean. Half one settled that.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23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Sort by rate, the way anyone would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126593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126593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1083056"/>
          </a:xfrm>
          <a:prstGeom prst="rect">
            <a:avLst/>
          </a:prstGeom>
          <a:noFill/>
        </p:spPr>
        <p:txBody>
          <a:bodyPr wrap="square" anchor="t" lIns="0" rIns="0" tIns="0" bIns="0">
            <a:spAutoFit/>
          </a:bodyPr>
          <a:lstStyle/>
          <a:p>
            <a:pPr>
              <a:spcAft>
                <a:spcPts val="200"/>
              </a:spcAft>
            </a:pPr>
            <a:r>
              <a:rPr sz="1400" b="0">
                <a:solidFill>
                  <a:srgbClr val="E4ECF7"/>
                </a:solidFill>
                <a:latin typeface="Consolas"/>
              </a:rPr>
              <a:t>Business      11.1%</a:t>
            </a:r>
          </a:p>
          <a:p>
            <a:pPr>
              <a:spcAft>
                <a:spcPts val="200"/>
              </a:spcAft>
            </a:pPr>
            <a:r>
              <a:rPr sz="1400" b="0">
                <a:solidFill>
                  <a:srgbClr val="E4ECF7"/>
                </a:solidFill>
                <a:latin typeface="Consolas"/>
              </a:rPr>
              <a:t>Student       20.0%</a:t>
            </a:r>
          </a:p>
          <a:p>
            <a:pPr>
              <a:spcAft>
                <a:spcPts val="200"/>
              </a:spcAft>
            </a:pPr>
            <a:r>
              <a:rPr sz="1400" b="0">
                <a:solidFill>
                  <a:srgbClr val="E4ECF7"/>
                </a:solidFill>
                <a:latin typeface="Consolas"/>
              </a:rPr>
              <a:t>Retail-Core   35.7%</a:t>
            </a:r>
          </a:p>
          <a:p>
            <a:pPr>
              <a:spcAft>
                <a:spcPts val="200"/>
              </a:spcAft>
            </a:pPr>
            <a:r>
              <a:rPr sz="1400" b="0">
                <a:solidFill>
                  <a:srgbClr val="E4ECF7"/>
                </a:solidFill>
                <a:latin typeface="Consolas"/>
              </a:rPr>
              <a:t>Retail-Plus   36.4%</a:t>
            </a:r>
          </a:p>
        </p:txBody>
      </p:sp>
      <p:sp>
        <p:nvSpPr>
          <p:cNvPr id="9" name="TextBox 8"/>
          <p:cNvSpPr txBox="1"/>
          <p:nvPr/>
        </p:nvSpPr>
        <p:spPr>
          <a:xfrm>
            <a:off x="685800" y="3058160"/>
            <a:ext cx="10820095" cy="916431"/>
          </a:xfrm>
          <a:prstGeom prst="rect">
            <a:avLst/>
          </a:prstGeom>
          <a:noFill/>
        </p:spPr>
        <p:txBody>
          <a:bodyPr wrap="square" anchor="t" lIns="0" rIns="0" tIns="0" bIns="0">
            <a:spAutoFit/>
          </a:bodyPr>
          <a:lstStyle/>
          <a:p>
            <a:pPr>
              <a:spcAft>
                <a:spcPts val="800"/>
              </a:spcAft>
            </a:pPr>
            <a:r>
              <a:rPr sz="1700" b="0">
                <a:solidFill>
                  <a:srgbClr val="1C1C1A"/>
                </a:solidFill>
                <a:latin typeface="Calibri"/>
              </a:rPr>
              <a:t>A clean ranking. Business returns at less than a third of the worst segment.</a:t>
            </a:r>
          </a:p>
          <a:p>
            <a:pPr>
              <a:spcAft>
                <a:spcPts val="800"/>
              </a:spcAft>
            </a:pPr>
            <a:r>
              <a:rPr sz="1700" b="0">
                <a:solidFill>
                  <a:srgbClr val="1C1C1A"/>
                </a:solidFill>
                <a:latin typeface="Calibri"/>
              </a:rPr>
              <a:t>Somebody in a meeting is about to move budget towards Business.</a:t>
            </a:r>
          </a:p>
        </p:txBody>
      </p:sp>
      <p:pic>
        <p:nvPicPr>
          <p:cNvPr id="10" name="Picture 9" descr="9f57cf46e2748440.png"/>
          <p:cNvPicPr>
            <a:picLocks noChangeAspect="1"/>
          </p:cNvPicPr>
          <p:nvPr/>
        </p:nvPicPr>
        <p:blipFill>
          <a:blip r:embed="rId2"/>
          <a:stretch>
            <a:fillRect/>
          </a:stretch>
        </p:blipFill>
        <p:spPr>
          <a:xfrm>
            <a:off x="685800" y="4144407"/>
            <a:ext cx="10820095" cy="1897600"/>
          </a:xfrm>
          <a:prstGeom prst="rect">
            <a:avLst/>
          </a:prstGeom>
        </p:spPr>
      </p:pic>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24 /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Put the count back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543048"/>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543048"/>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643632"/>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Business      11.1%   on  9 orders</a:t>
            </a:r>
          </a:p>
          <a:p>
            <a:pPr>
              <a:spcAft>
                <a:spcPts val="200"/>
              </a:spcAft>
            </a:pPr>
            <a:r>
              <a:rPr sz="1600" b="0">
                <a:solidFill>
                  <a:srgbClr val="E4ECF7"/>
                </a:solidFill>
                <a:latin typeface="Consolas"/>
              </a:rPr>
              <a:t>Student       20.0%   on 10 orders</a:t>
            </a:r>
          </a:p>
          <a:p>
            <a:pPr>
              <a:spcAft>
                <a:spcPts val="200"/>
              </a:spcAft>
            </a:pPr>
            <a:r>
              <a:rPr sz="1600" b="0">
                <a:solidFill>
                  <a:srgbClr val="E4ECF7"/>
                </a:solidFill>
                <a:latin typeface="Consolas"/>
              </a:rPr>
              <a:t>Retail-Core   35.7%   on 14 orders</a:t>
            </a:r>
          </a:p>
          <a:p>
            <a:pPr>
              <a:spcAft>
                <a:spcPts val="200"/>
              </a:spcAft>
            </a:pPr>
            <a:r>
              <a:rPr sz="1600" b="0">
                <a:solidFill>
                  <a:srgbClr val="E4ECF7"/>
                </a:solidFill>
                <a:latin typeface="Consolas"/>
              </a:rPr>
              <a:t>Retail-Plus   36.4%   on 11 orders</a:t>
            </a:r>
          </a:p>
        </p:txBody>
      </p:sp>
      <p:sp>
        <p:nvSpPr>
          <p:cNvPr id="9" name="TextBox 8"/>
          <p:cNvSpPr txBox="1"/>
          <p:nvPr/>
        </p:nvSpPr>
        <p:spPr>
          <a:xfrm>
            <a:off x="685800" y="4117848"/>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top two performers are the two smallest segments in the file.</a:t>
            </a:r>
          </a:p>
          <a:p>
            <a:pPr>
              <a:spcAft>
                <a:spcPts val="900"/>
              </a:spcAft>
            </a:pPr>
            <a:r>
              <a:rPr sz="2000" b="0">
                <a:solidFill>
                  <a:srgbClr val="1C1C1A"/>
                </a:solidFill>
                <a:latin typeface="Calibri"/>
              </a:rPr>
              <a:t>Business wins on nine orders.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25 / 45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D5</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The same argument, run on every segment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Take each segment in turn and ask what one more return would do.</a:t>
            </a:r>
          </a:p>
        </p:txBody>
      </p:sp>
      <p:graphicFrame>
        <p:nvGraphicFramePr>
          <p:cNvPr id="8" name="Table 7"/>
          <p:cNvGraphicFramePr>
            <a:graphicFrameLocks noGrp="1"/>
          </p:cNvGraphicFramePr>
          <p:nvPr/>
        </p:nvGraphicFramePr>
        <p:xfrm>
          <a:off x="685800" y="2320544"/>
          <a:ext cx="10820093" cy="1676400"/>
        </p:xfrm>
        <a:graphic>
          <a:graphicData uri="http://schemas.openxmlformats.org/drawingml/2006/table">
            <a:tbl>
              <a:tblPr firstRow="0" bandRow="0">
                <a:tableStyleId>{2D5ABB26-0587-4C30-8999-92F81FD0307C}</a:tableStyleId>
              </a:tblPr>
              <a:tblGrid>
                <a:gridCol w="1183727"/>
                <a:gridCol w="2056132"/>
                <a:gridCol w="2056132"/>
                <a:gridCol w="5524102"/>
              </a:tblGrid>
              <a:tr h="335280">
                <a:tc>
                  <a:txBody>
                    <a:bodyPr/>
                    <a:lstStyle/>
                    <a:p>
                      <a:r>
                        <a:rPr sz="1300" b="1">
                          <a:solidFill>
                            <a:srgbClr val="FFFFFF"/>
                          </a:solidFill>
                          <a:latin typeface="Calibri"/>
                        </a:rPr>
                        <a:t>Segment</a:t>
                      </a:r>
                    </a:p>
                  </a:txBody>
                  <a:tcPr marL="101600" marR="101600" marT="38100" marB="38100" anchor="ctr">
                    <a:solidFill>
                      <a:srgbClr val="2B4A7D"/>
                    </a:solidFill>
                  </a:tcPr>
                </a:tc>
                <a:tc>
                  <a:txBody>
                    <a:bodyPr/>
                    <a:lstStyle/>
                    <a:p>
                      <a:r>
                        <a:rPr sz="1300" b="1">
                          <a:solidFill>
                            <a:srgbClr val="FFFFFF"/>
                          </a:solidFill>
                          <a:latin typeface="Calibri"/>
                        </a:rPr>
                        <a:t>Now</a:t>
                      </a:r>
                    </a:p>
                  </a:txBody>
                  <a:tcPr marL="101600" marR="101600" marT="38100" marB="38100" anchor="ctr">
                    <a:solidFill>
                      <a:srgbClr val="2B4A7D"/>
                    </a:solidFill>
                  </a:tcPr>
                </a:tc>
                <a:tc>
                  <a:txBody>
                    <a:bodyPr/>
                    <a:lstStyle/>
                    <a:p>
                      <a:r>
                        <a:rPr sz="1300" b="1">
                          <a:solidFill>
                            <a:srgbClr val="FFFFFF"/>
                          </a:solidFill>
                          <a:latin typeface="Calibri"/>
                        </a:rPr>
                        <a:t>With one more return</a:t>
                      </a:r>
                    </a:p>
                  </a:txBody>
                  <a:tcPr marL="101600" marR="101600" marT="38100" marB="38100" anchor="ctr">
                    <a:solidFill>
                      <a:srgbClr val="2B4A7D"/>
                    </a:solidFill>
                  </a:tcPr>
                </a:tc>
                <a:tc>
                  <a:txBody>
                    <a:bodyPr/>
                    <a:lstStyle/>
                    <a:p>
                      <a:r>
                        <a:rPr sz="1300" b="1">
                          <a:solidFill>
                            <a:srgbClr val="FFFFFF"/>
                          </a:solidFill>
                          <a:latin typeface="Calibri"/>
                        </a:rPr>
                        <a:t>Does the ranking change</a:t>
                      </a:r>
                    </a:p>
                  </a:txBody>
                  <a:tcPr marL="101600" marR="101600" marT="38100" marB="38100" anchor="ctr">
                    <a:solidFill>
                      <a:srgbClr val="2B4A7D"/>
                    </a:solidFill>
                  </a:tcPr>
                </a:tc>
              </a:tr>
              <a:tr h="335280">
                <a:tc>
                  <a:txBody>
                    <a:bodyPr/>
                    <a:lstStyle/>
                    <a:p>
                      <a:r>
                        <a:rPr sz="1200" b="0">
                          <a:solidFill>
                            <a:srgbClr val="1C1C1A"/>
                          </a:solidFill>
                          <a:latin typeface="Calibri"/>
                        </a:rPr>
                        <a:t>Business</a:t>
                      </a:r>
                    </a:p>
                  </a:txBody>
                  <a:tcPr marL="101600" marR="101600" marT="38100" marB="38100" anchor="ctr">
                    <a:solidFill>
                      <a:srgbClr val="FFFFFF"/>
                    </a:solidFill>
                  </a:tcPr>
                </a:tc>
                <a:tc>
                  <a:txBody>
                    <a:bodyPr/>
                    <a:lstStyle/>
                    <a:p>
                      <a:r>
                        <a:rPr sz="1200" b="0">
                          <a:solidFill>
                            <a:srgbClr val="1C1C1A"/>
                          </a:solidFill>
                          <a:latin typeface="Calibri"/>
                        </a:rPr>
                        <a:t>1 of 9, 11.1 percent</a:t>
                      </a:r>
                    </a:p>
                  </a:txBody>
                  <a:tcPr marL="101600" marR="101600" marT="38100" marB="38100" anchor="ctr">
                    <a:solidFill>
                      <a:srgbClr val="FFFFFF"/>
                    </a:solidFill>
                  </a:tcPr>
                </a:tc>
                <a:tc>
                  <a:txBody>
                    <a:bodyPr/>
                    <a:lstStyle/>
                    <a:p>
                      <a:r>
                        <a:rPr sz="1200" b="0">
                          <a:solidFill>
                            <a:srgbClr val="1C1C1A"/>
                          </a:solidFill>
                          <a:latin typeface="Calibri"/>
                        </a:rPr>
                        <a:t>2 of 9, 22.2 percent</a:t>
                      </a:r>
                    </a:p>
                  </a:txBody>
                  <a:tcPr marL="101600" marR="101600" marT="38100" marB="38100" anchor="ctr">
                    <a:solidFill>
                      <a:srgbClr val="FFFFFF"/>
                    </a:solidFill>
                  </a:tcPr>
                </a:tc>
                <a:tc>
                  <a:txBody>
                    <a:bodyPr/>
                    <a:lstStyle/>
                    <a:p>
                      <a:r>
                        <a:rPr sz="1200" b="0">
                          <a:solidFill>
                            <a:srgbClr val="1C1C1A"/>
                          </a:solidFill>
                          <a:latin typeface="Calibri"/>
                        </a:rPr>
                        <a:t>Yes. It falls behind Student and stops being the best segment.</a:t>
                      </a:r>
                    </a:p>
                  </a:txBody>
                  <a:tcPr marL="101600" marR="101600" marT="38100" marB="38100" anchor="ctr">
                    <a:solidFill>
                      <a:srgbClr val="FFFFFF"/>
                    </a:solidFill>
                  </a:tcPr>
                </a:tc>
              </a:tr>
              <a:tr h="335280">
                <a:tc>
                  <a:txBody>
                    <a:bodyPr/>
                    <a:lstStyle/>
                    <a:p>
                      <a:r>
                        <a:rPr sz="1200" b="0">
                          <a:solidFill>
                            <a:srgbClr val="1C1C1A"/>
                          </a:solidFill>
                          <a:latin typeface="Calibri"/>
                        </a:rPr>
                        <a:t>Student</a:t>
                      </a:r>
                    </a:p>
                  </a:txBody>
                  <a:tcPr marL="101600" marR="101600" marT="38100" marB="38100" anchor="ctr">
                    <a:solidFill>
                      <a:srgbClr val="F7F7F5"/>
                    </a:solidFill>
                  </a:tcPr>
                </a:tc>
                <a:tc>
                  <a:txBody>
                    <a:bodyPr/>
                    <a:lstStyle/>
                    <a:p>
                      <a:r>
                        <a:rPr sz="1200" b="0">
                          <a:solidFill>
                            <a:srgbClr val="1C1C1A"/>
                          </a:solidFill>
                          <a:latin typeface="Calibri"/>
                        </a:rPr>
                        <a:t>2 of 10, 20.0 percent</a:t>
                      </a:r>
                    </a:p>
                  </a:txBody>
                  <a:tcPr marL="101600" marR="101600" marT="38100" marB="38100" anchor="ctr">
                    <a:solidFill>
                      <a:srgbClr val="F7F7F5"/>
                    </a:solidFill>
                  </a:tcPr>
                </a:tc>
                <a:tc>
                  <a:txBody>
                    <a:bodyPr/>
                    <a:lstStyle/>
                    <a:p>
                      <a:r>
                        <a:rPr sz="1200" b="0">
                          <a:solidFill>
                            <a:srgbClr val="1C1C1A"/>
                          </a:solidFill>
                          <a:latin typeface="Calibri"/>
                        </a:rPr>
                        <a:t>3 of 10, 30.0 percent</a:t>
                      </a:r>
                    </a:p>
                  </a:txBody>
                  <a:tcPr marL="101600" marR="101600" marT="38100" marB="38100" anchor="ctr">
                    <a:solidFill>
                      <a:srgbClr val="F7F7F5"/>
                    </a:solidFill>
                  </a:tcPr>
                </a:tc>
                <a:tc>
                  <a:txBody>
                    <a:bodyPr/>
                    <a:lstStyle/>
                    <a:p>
                      <a:r>
                        <a:rPr sz="1200" b="0">
                          <a:solidFill>
                            <a:srgbClr val="1C1C1A"/>
                          </a:solidFill>
                          <a:latin typeface="Calibri"/>
                        </a:rPr>
                        <a:t>No. It stays second, because it was already ahead of Retail-Core.</a:t>
                      </a:r>
                    </a:p>
                  </a:txBody>
                  <a:tcPr marL="101600" marR="101600" marT="38100" marB="38100" anchor="ctr">
                    <a:solidFill>
                      <a:srgbClr val="F7F7F5"/>
                    </a:solidFill>
                  </a:tcPr>
                </a:tc>
              </a:tr>
              <a:tr h="335280">
                <a:tc>
                  <a:txBody>
                    <a:bodyPr/>
                    <a:lstStyle/>
                    <a:p>
                      <a:r>
                        <a:rPr sz="1200" b="0">
                          <a:solidFill>
                            <a:srgbClr val="1C1C1A"/>
                          </a:solidFill>
                          <a:latin typeface="Calibri"/>
                        </a:rPr>
                        <a:t>Retail-Core</a:t>
                      </a:r>
                    </a:p>
                  </a:txBody>
                  <a:tcPr marL="101600" marR="101600" marT="38100" marB="38100" anchor="ctr">
                    <a:solidFill>
                      <a:srgbClr val="FFFFFF"/>
                    </a:solidFill>
                  </a:tcPr>
                </a:tc>
                <a:tc>
                  <a:txBody>
                    <a:bodyPr/>
                    <a:lstStyle/>
                    <a:p>
                      <a:r>
                        <a:rPr sz="1200" b="0">
                          <a:solidFill>
                            <a:srgbClr val="1C1C1A"/>
                          </a:solidFill>
                          <a:latin typeface="Calibri"/>
                        </a:rPr>
                        <a:t>5 of 14, 35.7 percent</a:t>
                      </a:r>
                    </a:p>
                  </a:txBody>
                  <a:tcPr marL="101600" marR="101600" marT="38100" marB="38100" anchor="ctr">
                    <a:solidFill>
                      <a:srgbClr val="FFFFFF"/>
                    </a:solidFill>
                  </a:tcPr>
                </a:tc>
                <a:tc>
                  <a:txBody>
                    <a:bodyPr/>
                    <a:lstStyle/>
                    <a:p>
                      <a:r>
                        <a:rPr sz="1200" b="0">
                          <a:solidFill>
                            <a:srgbClr val="1C1C1A"/>
                          </a:solidFill>
                          <a:latin typeface="Calibri"/>
                        </a:rPr>
                        <a:t>6 of 14, 42.9 percent</a:t>
                      </a:r>
                    </a:p>
                  </a:txBody>
                  <a:tcPr marL="101600" marR="101600" marT="38100" marB="38100" anchor="ctr">
                    <a:solidFill>
                      <a:srgbClr val="FFFFFF"/>
                    </a:solidFill>
                  </a:tcPr>
                </a:tc>
                <a:tc>
                  <a:txBody>
                    <a:bodyPr/>
                    <a:lstStyle/>
                    <a:p>
                      <a:r>
                        <a:rPr sz="1200" b="0">
                          <a:solidFill>
                            <a:srgbClr val="1C1C1A"/>
                          </a:solidFill>
                          <a:latin typeface="Calibri"/>
                        </a:rPr>
                        <a:t>Yes. It becomes the worst segment.</a:t>
                      </a:r>
                    </a:p>
                  </a:txBody>
                  <a:tcPr marL="101600" marR="101600" marT="38100" marB="38100" anchor="ctr">
                    <a:solidFill>
                      <a:srgbClr val="FFFFFF"/>
                    </a:solidFill>
                  </a:tcPr>
                </a:tc>
              </a:tr>
              <a:tr h="335280">
                <a:tc>
                  <a:txBody>
                    <a:bodyPr/>
                    <a:lstStyle/>
                    <a:p>
                      <a:r>
                        <a:rPr sz="1200" b="0">
                          <a:solidFill>
                            <a:srgbClr val="1C1C1A"/>
                          </a:solidFill>
                          <a:latin typeface="Calibri"/>
                        </a:rPr>
                        <a:t>Retail-Plus</a:t>
                      </a:r>
                    </a:p>
                  </a:txBody>
                  <a:tcPr marL="101600" marR="101600" marT="38100" marB="38100" anchor="ctr">
                    <a:solidFill>
                      <a:srgbClr val="F7F7F5"/>
                    </a:solidFill>
                  </a:tcPr>
                </a:tc>
                <a:tc>
                  <a:txBody>
                    <a:bodyPr/>
                    <a:lstStyle/>
                    <a:p>
                      <a:r>
                        <a:rPr sz="1200" b="0">
                          <a:solidFill>
                            <a:srgbClr val="1C1C1A"/>
                          </a:solidFill>
                          <a:latin typeface="Calibri"/>
                        </a:rPr>
                        <a:t>4 of 11, 36.4 percent</a:t>
                      </a:r>
                    </a:p>
                  </a:txBody>
                  <a:tcPr marL="101600" marR="101600" marT="38100" marB="38100" anchor="ctr">
                    <a:solidFill>
                      <a:srgbClr val="F7F7F5"/>
                    </a:solidFill>
                  </a:tcPr>
                </a:tc>
                <a:tc>
                  <a:txBody>
                    <a:bodyPr/>
                    <a:lstStyle/>
                    <a:p>
                      <a:r>
                        <a:rPr sz="1200" b="0">
                          <a:solidFill>
                            <a:srgbClr val="1C1C1A"/>
                          </a:solidFill>
                          <a:latin typeface="Calibri"/>
                        </a:rPr>
                        <a:t>5 of 11, 45.5 percent</a:t>
                      </a:r>
                    </a:p>
                  </a:txBody>
                  <a:tcPr marL="101600" marR="101600" marT="38100" marB="38100" anchor="ctr">
                    <a:solidFill>
                      <a:srgbClr val="F7F7F5"/>
                    </a:solidFill>
                  </a:tcPr>
                </a:tc>
                <a:tc>
                  <a:txBody>
                    <a:bodyPr/>
                    <a:lstStyle/>
                    <a:p>
                      <a:r>
                        <a:rPr sz="1200" b="0">
                          <a:solidFill>
                            <a:srgbClr val="1C1C1A"/>
                          </a:solidFill>
                          <a:latin typeface="Calibri"/>
                        </a:rPr>
                        <a:t>It was already last and stays there.</a:t>
                      </a:r>
                    </a:p>
                  </a:txBody>
                  <a:tcPr marL="101600" marR="101600" marT="38100" marB="38100" anchor="ctr">
                    <a:solidFill>
                      <a:srgbClr val="F7F7F5"/>
                    </a:solidFill>
                  </a:tcPr>
                </a:tc>
              </a:tr>
            </a:tbl>
          </a:graphicData>
        </a:graphic>
      </p:graphicFrame>
      <p:sp>
        <p:nvSpPr>
          <p:cNvPr id="9" name="TextBox 8"/>
          <p:cNvSpPr txBox="1"/>
          <p:nvPr/>
        </p:nvSpPr>
        <p:spPr>
          <a:xfrm>
            <a:off x="685800" y="4252976"/>
            <a:ext cx="10820095" cy="160121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Two of the four positions change on one order, and one of those two is the top of the table. A ranking whose leader can be overturned by a single record is a ranking that should be sent with its counts and a sentence, which is exactly what the next section builds.</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26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One order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085848"/>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085848"/>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186432"/>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if 0 more Business orders had been returned:  11.1%   still best</a:t>
            </a:r>
          </a:p>
          <a:p>
            <a:pPr>
              <a:spcAft>
                <a:spcPts val="200"/>
              </a:spcAft>
            </a:pPr>
            <a:r>
              <a:rPr sz="1600" b="0">
                <a:solidFill>
                  <a:srgbClr val="E4ECF7"/>
                </a:solidFill>
                <a:latin typeface="Consolas"/>
              </a:rPr>
              <a:t>if 1 more Business order  had been returned:  22.2%   no longer best</a:t>
            </a:r>
          </a:p>
        </p:txBody>
      </p:sp>
      <p:sp>
        <p:nvSpPr>
          <p:cNvPr id="9" name="TextBox 8"/>
          <p:cNvSpPr txBox="1"/>
          <p:nvPr/>
        </p:nvSpPr>
        <p:spPr>
          <a:xfrm>
            <a:off x="685800" y="3083560"/>
            <a:ext cx="10820095" cy="2511552"/>
          </a:xfrm>
          <a:prstGeom prst="rect">
            <a:avLst/>
          </a:prstGeom>
          <a:noFill/>
        </p:spPr>
        <p:txBody>
          <a:bodyPr wrap="square" anchor="t" lIns="0" rIns="0" tIns="0" bIns="0">
            <a:spAutoFit/>
          </a:bodyPr>
          <a:lstStyle/>
          <a:p>
            <a:pPr>
              <a:spcAft>
                <a:spcPts val="900"/>
              </a:spcAft>
            </a:pPr>
            <a:r>
              <a:rPr sz="2000" b="1">
                <a:solidFill>
                  <a:srgbClr val="1C1C1A"/>
                </a:solidFill>
                <a:latin typeface="Calibri"/>
              </a:rPr>
              <a:t>One order</a:t>
            </a:r>
            <a:r>
              <a:rPr sz="2000" b="0">
                <a:solidFill>
                  <a:srgbClr val="1C1C1A"/>
                </a:solidFill>
                <a:latin typeface="Calibri"/>
              </a:rPr>
              <a:t> out of forty-four, in a segment of nine, and the best segment in the file is no longer the best segment in the file.</a:t>
            </a:r>
          </a:p>
          <a:p>
            <a:pPr>
              <a:spcAft>
                <a:spcPts val="900"/>
              </a:spcAft>
            </a:pPr>
            <a:r>
              <a:rPr sz="2000" b="0">
                <a:solidFill>
                  <a:srgbClr val="1C1C1A"/>
                </a:solidFill>
                <a:latin typeface="Calibri"/>
              </a:rPr>
              <a:t>Small groups produce extreme rates in both directions, in any dataset, with nothing causing it. Rank groups by a rate and the smallest drift to both ends of the list, so the ranking reads group size as much as performance.</a:t>
            </a:r>
          </a:p>
          <a:p>
            <a:pPr>
              <a:spcAft>
                <a:spcPts val="900"/>
              </a:spcAft>
            </a:pPr>
            <a:r>
              <a:rPr sz="2000" b="0">
                <a:solidFill>
                  <a:srgbClr val="1C1C1A"/>
                </a:solidFill>
                <a:latin typeface="Calibri"/>
              </a:rPr>
              <a:t>The fix is not a cleverer statistic. It is the column you already have.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27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4: THE HONEST SENTENCE</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28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shape of the sentence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1627632"/>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Three parts, in this order, every time:</a:t>
            </a:r>
          </a:p>
        </p:txBody>
      </p:sp>
      <p:sp>
        <p:nvSpPr>
          <p:cNvPr id="7" name="Rectangle 6"/>
          <p:cNvSpPr/>
          <p:nvPr/>
        </p:nvSpPr>
        <p:spPr>
          <a:xfrm>
            <a:off x="685800" y="2234184"/>
            <a:ext cx="10820095" cy="472439"/>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685800" y="2234184"/>
            <a:ext cx="50292" cy="47243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2334768"/>
            <a:ext cx="10417759" cy="289559"/>
          </a:xfrm>
          <a:prstGeom prst="rect">
            <a:avLst/>
          </a:prstGeom>
          <a:noFill/>
        </p:spPr>
        <p:txBody>
          <a:bodyPr wrap="square" anchor="t" lIns="0" rIns="0" tIns="0" bIns="0">
            <a:spAutoFit/>
          </a:bodyPr>
          <a:lstStyle/>
          <a:p>
            <a:pPr>
              <a:spcAft>
                <a:spcPts val="200"/>
              </a:spcAft>
            </a:pPr>
            <a:r>
              <a:rPr sz="1200" b="0">
                <a:solidFill>
                  <a:srgbClr val="E4ECF7"/>
                </a:solidFill>
                <a:latin typeface="Consolas"/>
              </a:rPr>
              <a:t>[the number]   [the denominator]   [what it does not yet support]</a:t>
            </a:r>
          </a:p>
        </p:txBody>
      </p:sp>
      <p:sp>
        <p:nvSpPr>
          <p:cNvPr id="10" name="TextBox 9"/>
          <p:cNvSpPr txBox="1"/>
          <p:nvPr/>
        </p:nvSpPr>
        <p:spPr>
          <a:xfrm>
            <a:off x="685800" y="2871216"/>
            <a:ext cx="10820095" cy="478536"/>
          </a:xfrm>
          <a:prstGeom prst="rect">
            <a:avLst/>
          </a:prstGeom>
          <a:noFill/>
        </p:spPr>
        <p:txBody>
          <a:bodyPr wrap="square" anchor="t" lIns="0" rIns="0" tIns="0" bIns="0">
            <a:spAutoFit/>
          </a:bodyPr>
          <a:lstStyle/>
          <a:p>
            <a:pPr>
              <a:spcAft>
                <a:spcPts val="700"/>
              </a:spcAft>
            </a:pPr>
            <a:r>
              <a:rPr sz="1500" b="0">
                <a:solidFill>
                  <a:srgbClr val="1C1C1A"/>
                </a:solidFill>
                <a:latin typeface="Calibri"/>
              </a:rPr>
              <a:t>Leaving out the third part is how a caveat gets lost between your notebook and a slide somebody else builds.</a:t>
            </a:r>
          </a:p>
        </p:txBody>
      </p:sp>
      <p:pic>
        <p:nvPicPr>
          <p:cNvPr id="11" name="Picture 10" descr="44935a7e0f6f3e4b.png"/>
          <p:cNvPicPr>
            <a:picLocks noChangeAspect="1"/>
          </p:cNvPicPr>
          <p:nvPr/>
        </p:nvPicPr>
        <p:blipFill>
          <a:blip r:embed="rId2"/>
          <a:stretch>
            <a:fillRect/>
          </a:stretch>
        </p:blipFill>
        <p:spPr>
          <a:xfrm>
            <a:off x="3394746" y="3675887"/>
            <a:ext cx="5402202" cy="2377440"/>
          </a:xfrm>
          <a:prstGeom prst="rect">
            <a:avLst/>
          </a:prstGeom>
        </p:spPr>
      </p:pic>
      <p:sp>
        <p:nvSpPr>
          <p:cNvPr id="12" name="Rectangle 11"/>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4" name="TextBox 13"/>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29 / 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Four sentences, one per segment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3069336"/>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306933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1728216"/>
            <a:ext cx="10417759" cy="2886455"/>
          </a:xfrm>
          <a:prstGeom prst="rect">
            <a:avLst/>
          </a:prstGeom>
          <a:noFill/>
        </p:spPr>
        <p:txBody>
          <a:bodyPr wrap="square" anchor="t" lIns="0" rIns="0" tIns="0" bIns="0">
            <a:spAutoFit/>
          </a:bodyPr>
          <a:lstStyle/>
          <a:p>
            <a:pPr>
              <a:spcAft>
                <a:spcPts val="200"/>
              </a:spcAft>
            </a:pPr>
            <a:r>
              <a:rPr sz="1200" b="0">
                <a:solidFill>
                  <a:srgbClr val="E4ECF7"/>
                </a:solidFill>
                <a:latin typeface="Consolas"/>
              </a:rPr>
              <a:t>Business:    returned on 1 of 9 orders, 11.1 percent. Lowest in the file and the</a:t>
            </a:r>
          </a:p>
          <a:p>
            <a:pPr>
              <a:spcAft>
                <a:spcPts val="200"/>
              </a:spcAft>
            </a:pPr>
            <a:r>
              <a:rPr sz="1200" b="0">
                <a:solidFill>
                  <a:srgbClr val="E4ECF7"/>
                </a:solidFill>
                <a:latin typeface="Consolas"/>
              </a:rPr>
              <a:t>             smallest segment in it. One more return takes it to 22.2 percent and</a:t>
            </a:r>
          </a:p>
          <a:p>
            <a:pPr>
              <a:spcAft>
                <a:spcPts val="200"/>
              </a:spcAft>
            </a:pPr>
            <a:r>
              <a:rPr sz="1200" b="0">
                <a:solidFill>
                  <a:srgbClr val="E4ECF7"/>
                </a:solidFill>
                <a:latin typeface="Consolas"/>
              </a:rPr>
              <a:t>             behind Student, so this is not yet a finding.</a:t>
            </a:r>
          </a:p>
          <a:p>
            <a:pPr>
              <a:spcAft>
                <a:spcPts val="200"/>
              </a:spcAft>
            </a:pPr>
          </a:p>
          <a:p>
            <a:pPr>
              <a:spcAft>
                <a:spcPts val="200"/>
              </a:spcAft>
            </a:pPr>
            <a:r>
              <a:rPr sz="1200" b="0">
                <a:solidFill>
                  <a:srgbClr val="E4ECF7"/>
                </a:solidFill>
                <a:latin typeface="Consolas"/>
              </a:rPr>
              <a:t>Student:     returned on 2 of 10 orders, 20.0 percent. Ten orders, and the raw file</a:t>
            </a:r>
          </a:p>
          <a:p>
            <a:pPr>
              <a:spcAft>
                <a:spcPts val="200"/>
              </a:spcAft>
            </a:pPr>
            <a:r>
              <a:rPr sz="1200" b="0">
                <a:solidFill>
                  <a:srgbClr val="E4ECF7"/>
                </a:solidFill>
                <a:latin typeface="Consolas"/>
              </a:rPr>
              <a:t>             held twelve before two failed conversion. Treat as unmeasured.</a:t>
            </a:r>
          </a:p>
          <a:p>
            <a:pPr>
              <a:spcAft>
                <a:spcPts val="200"/>
              </a:spcAft>
            </a:pPr>
          </a:p>
          <a:p>
            <a:pPr>
              <a:spcAft>
                <a:spcPts val="200"/>
              </a:spcAft>
            </a:pPr>
            <a:r>
              <a:rPr sz="1200" b="0">
                <a:solidFill>
                  <a:srgbClr val="E4ECF7"/>
                </a:solidFill>
                <a:latin typeface="Consolas"/>
              </a:rPr>
              <a:t>Retail-Core: returned on 5 of 14 orders, 35.7 percent. Largest segment and the</a:t>
            </a:r>
          </a:p>
          <a:p>
            <a:pPr>
              <a:spcAft>
                <a:spcPts val="200"/>
              </a:spcAft>
            </a:pPr>
            <a:r>
              <a:rPr sz="1200" b="0">
                <a:solidFill>
                  <a:srgbClr val="E4ECF7"/>
                </a:solidFill>
                <a:latin typeface="Consolas"/>
              </a:rPr>
              <a:t>             steadiest number here. Median order Rs 1,910; the mean of Rs 36,027.14</a:t>
            </a:r>
          </a:p>
          <a:p>
            <a:pPr>
              <a:spcAft>
                <a:spcPts val="200"/>
              </a:spcAft>
            </a:pPr>
            <a:r>
              <a:rPr sz="1200" b="0">
                <a:solidFill>
                  <a:srgbClr val="E4ECF7"/>
                </a:solidFill>
                <a:latin typeface="Consolas"/>
              </a:rPr>
              <a:t>             is the Rs 480,000 order and should not be quoted.</a:t>
            </a:r>
          </a:p>
          <a:p>
            <a:pPr>
              <a:spcAft>
                <a:spcPts val="200"/>
              </a:spcAft>
            </a:pPr>
          </a:p>
          <a:p>
            <a:pPr>
              <a:spcAft>
                <a:spcPts val="200"/>
              </a:spcAft>
            </a:pPr>
            <a:r>
              <a:rPr sz="1200" b="0">
                <a:solidFill>
                  <a:srgbClr val="E4ECF7"/>
                </a:solidFill>
                <a:latin typeface="Consolas"/>
              </a:rPr>
              <a:t>Retail-Plus: returned on 4 of 11 orders, 36.4 percent. Highest in the file, within</a:t>
            </a:r>
          </a:p>
          <a:p>
            <a:pPr>
              <a:spcAft>
                <a:spcPts val="200"/>
              </a:spcAft>
            </a:pPr>
            <a:r>
              <a:rPr sz="1200" b="0">
                <a:solidFill>
                  <a:srgbClr val="E4ECF7"/>
                </a:solidFill>
                <a:latin typeface="Consolas"/>
              </a:rPr>
              <a:t>             one order of Retail-Core. The two are not separated by this data.</a:t>
            </a:r>
          </a:p>
        </p:txBody>
      </p:sp>
      <p:sp>
        <p:nvSpPr>
          <p:cNvPr id="9" name="TextBox 8"/>
          <p:cNvSpPr txBox="1"/>
          <p:nvPr/>
        </p:nvSpPr>
        <p:spPr>
          <a:xfrm>
            <a:off x="685800" y="4861560"/>
            <a:ext cx="10820095" cy="737616"/>
          </a:xfrm>
          <a:prstGeom prst="rect">
            <a:avLst/>
          </a:prstGeom>
          <a:noFill/>
        </p:spPr>
        <p:txBody>
          <a:bodyPr wrap="square" anchor="t" lIns="0" rIns="0" tIns="0" bIns="0">
            <a:spAutoFit/>
          </a:bodyPr>
          <a:lstStyle/>
          <a:p>
            <a:pPr>
              <a:spcAft>
                <a:spcPts val="700"/>
              </a:spcAft>
            </a:pPr>
            <a:r>
              <a:rPr sz="1500" b="0">
                <a:solidFill>
                  <a:srgbClr val="1C1C1A"/>
                </a:solidFill>
                <a:latin typeface="Calibri"/>
              </a:rPr>
              <a:t>Two decline to make a claim and a third says two segments cannot be told apart. That is the sentence doing its job.</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30 /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convention this follows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39568"/>
            <a:ext cx="10820095" cy="2401824"/>
          </a:xfrm>
          <a:prstGeom prst="rect">
            <a:avLst/>
          </a:prstGeom>
          <a:noFill/>
        </p:spPr>
        <p:txBody>
          <a:bodyPr wrap="square" anchor="t" lIns="0" rIns="0" tIns="0" bIns="0">
            <a:spAutoFit/>
          </a:bodyPr>
          <a:lstStyle/>
          <a:p>
            <a:pPr>
              <a:spcAft>
                <a:spcPts val="900"/>
              </a:spcAft>
            </a:pPr>
            <a:r>
              <a:rPr sz="2000" b="0">
                <a:solidFill>
                  <a:srgbClr val="1C1C1A"/>
                </a:solidFill>
                <a:latin typeface="Calibri"/>
              </a:rPr>
              <a:t>Retail-Core's mean order value is Rs 36,027.14. Its median is Rs 1,910. One order separates those.</a:t>
            </a:r>
          </a:p>
          <a:p>
            <a:pPr>
              <a:spcAft>
                <a:spcPts val="900"/>
              </a:spcAft>
            </a:pPr>
            <a:r>
              <a:rPr sz="2000" b="0">
                <a:solidFill>
                  <a:srgbClr val="1C1C1A"/>
                </a:solidFill>
                <a:latin typeface="Calibri"/>
              </a:rPr>
              <a:t>Reporting the median for money is the standing convention wherever a few very large values sit in a long tail, which is why national statistics report median household income. You applied it in half one to a column. Here it applies to a cell in a table somebody will screenshot.</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31 / 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question you are not answering today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584704"/>
            <a:ext cx="10820095" cy="25115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Is Business genuinely better than Retail-Plus, or is 11.1 against 36.4 what four groups of these sizes do on their own?</a:t>
            </a:r>
          </a:p>
          <a:p>
            <a:pPr>
              <a:spcAft>
                <a:spcPts val="900"/>
              </a:spcAft>
            </a:pPr>
            <a:r>
              <a:rPr sz="2000" b="0">
                <a:solidFill>
                  <a:srgbClr val="1C1C1A"/>
                </a:solidFill>
                <a:latin typeface="Calibri"/>
              </a:rPr>
              <a:t>That question has a real answer and a method behind it, and it is Monday's session.</a:t>
            </a:r>
          </a:p>
          <a:p>
            <a:pPr>
              <a:spcAft>
                <a:spcPts val="900"/>
              </a:spcAft>
            </a:pPr>
            <a:r>
              <a:rPr sz="2000" b="0">
                <a:solidFill>
                  <a:srgbClr val="1C1C1A"/>
                </a:solidFill>
                <a:latin typeface="Calibri"/>
              </a:rPr>
              <a:t>Today you name the question, write it in the notebook, and stop. Saying "we do not know yet, and here is what would tell us" is a complete professional answer.</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32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D6</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Where the number thirty comes from</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072128"/>
          </a:xfrm>
          <a:prstGeom prst="rect">
            <a:avLst/>
          </a:prstGeom>
          <a:noFill/>
        </p:spPr>
        <p:txBody>
          <a:bodyPr wrap="square" anchor="t" lIns="0" rIns="0" tIns="0" bIns="0">
            <a:spAutoFit/>
          </a:bodyPr>
          <a:lstStyle/>
          <a:p>
            <a:pPr>
              <a:spcAft>
                <a:spcPts val="800"/>
              </a:spcAft>
            </a:pPr>
            <a:r>
              <a:rPr sz="1700" b="0">
                <a:solidFill>
                  <a:srgbClr val="1C1C1A"/>
                </a:solidFill>
                <a:latin typeface="Calibri"/>
              </a:rPr>
              <a:t>You will hear that a group under about thirty is too small to trust. It is a useful habit and a bad rule, and knowing why is worth more than obeying it.</a:t>
            </a:r>
          </a:p>
          <a:p>
            <a:pPr>
              <a:spcAft>
                <a:spcPts val="800"/>
              </a:spcAft>
            </a:pPr>
            <a:r>
              <a:rPr sz="1700" b="0">
                <a:solidFill>
                  <a:srgbClr val="1C1C1A"/>
                </a:solidFill>
                <a:latin typeface="Calibri"/>
              </a:rPr>
              <a:t>The thirty is a rule of thumb from a result about how averages of samples behave as samples get larger. It is a threshold about a particular kind of approximation becoming reasonable, not a line where a number becomes true.</a:t>
            </a:r>
          </a:p>
          <a:p>
            <a:pPr>
              <a:spcAft>
                <a:spcPts val="800"/>
              </a:spcAft>
            </a:pPr>
            <a:r>
              <a:rPr sz="1700" b="0">
                <a:solidFill>
                  <a:srgbClr val="1C1C1A"/>
                </a:solidFill>
                <a:latin typeface="Calibri"/>
              </a:rPr>
              <a:t>Two things follow. A group of forty can still be far too small when the thing you are counting is rare, because what matters is how many events you saw rather than how many rows. And a group of twenty can be perfectly informative when you are describing it rather than generalising from it.</a:t>
            </a:r>
          </a:p>
          <a:p>
            <a:pPr>
              <a:spcAft>
                <a:spcPts val="800"/>
              </a:spcAft>
            </a:pPr>
            <a:r>
              <a:rPr sz="1700" b="0">
                <a:solidFill>
                  <a:srgbClr val="1C1C1A"/>
                </a:solidFill>
                <a:latin typeface="Calibri"/>
              </a:rPr>
              <a:t>So the honest habit is not a threshold. It is to say the count out loud and let the reader judge, which is what the sentence on the table above does, and to name what would settle the question, which is Monday.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33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D7</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Where the median convention comes from</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1627632"/>
            <a:ext cx="10820095" cy="4238752"/>
          </a:xfrm>
          <a:prstGeom prst="rect">
            <a:avLst/>
          </a:prstGeom>
          <a:noFill/>
        </p:spPr>
        <p:txBody>
          <a:bodyPr wrap="square" anchor="t" lIns="0" rIns="0" tIns="0" bIns="0">
            <a:spAutoFit/>
          </a:bodyPr>
          <a:lstStyle/>
          <a:p>
            <a:pPr>
              <a:spcAft>
                <a:spcPts val="900"/>
              </a:spcAft>
            </a:pPr>
            <a:r>
              <a:rPr sz="2000" b="0">
                <a:solidFill>
                  <a:srgbClr val="1C1C1A"/>
                </a:solidFill>
                <a:latin typeface="Calibri"/>
              </a:rPr>
              <a:t>Reporting the median rather than the mean on money is not this programme's preference. It is what statistical agencies do with household income, because a small number of very large incomes drag the mean away from anything a household would recognise.</a:t>
            </a:r>
          </a:p>
          <a:p>
            <a:pPr>
              <a:spcAft>
                <a:spcPts val="900"/>
              </a:spcAft>
            </a:pPr>
            <a:r>
              <a:rPr sz="2000" b="0">
                <a:solidFill>
                  <a:srgbClr val="1C1C1A"/>
                </a:solidFill>
                <a:latin typeface="Calibri"/>
              </a:rPr>
              <a:t>The same shape appears wherever money is measured: salaries, claim sizes, invoice amounts, basket totals and order values. All of them have a floor at zero and no ceiling, so all of them have a right tail.</a:t>
            </a:r>
          </a:p>
          <a:p>
            <a:pPr>
              <a:spcAft>
                <a:spcPts val="900"/>
              </a:spcAft>
            </a:pPr>
            <a:r>
              <a:rPr sz="2000" b="0">
                <a:solidFill>
                  <a:srgbClr val="1C1C1A"/>
                </a:solidFill>
                <a:latin typeface="Calibri"/>
              </a:rPr>
              <a:t>Retail-Core in your own table is the case in miniature. Its mean order value is Rs 36,027.14 and its median is Rs 1,910, and one order out of fourteen separates them. If you put the mean in that cell, every reader who screenshots the table carries that one order into their next meeting without knowing it.</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34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The decision card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130552"/>
          <a:ext cx="10820094" cy="1865376"/>
        </p:xfrm>
        <a:graphic>
          <a:graphicData uri="http://schemas.openxmlformats.org/drawingml/2006/table">
            <a:tbl>
              <a:tblPr firstRow="0" bandRow="0">
                <a:tableStyleId>{2D5ABB26-0587-4C30-8999-92F81FD0307C}</a:tableStyleId>
              </a:tblPr>
              <a:tblGrid>
                <a:gridCol w="5931067"/>
                <a:gridCol w="4889027"/>
              </a:tblGrid>
              <a:tr h="310896">
                <a:tc>
                  <a:txBody>
                    <a:bodyPr/>
                    <a:lstStyle/>
                    <a:p>
                      <a:r>
                        <a:rPr sz="1000" b="1">
                          <a:solidFill>
                            <a:srgbClr val="FFFFFF"/>
                          </a:solidFill>
                          <a:latin typeface="Calibri"/>
                        </a:rPr>
                        <a:t>Before you send a rate</a:t>
                      </a:r>
                    </a:p>
                  </a:txBody>
                  <a:tcPr marL="101600" marR="101600" marT="38100" marB="38100" anchor="ctr">
                    <a:solidFill>
                      <a:srgbClr val="2B4A7D"/>
                    </a:solidFill>
                  </a:tcPr>
                </a:tc>
                <a:tc>
                  <a:txBody>
                    <a:bodyPr/>
                    <a:lstStyle/>
                    <a:p>
                      <a:r>
                        <a:rPr sz="1000" b="1">
                          <a:solidFill>
                            <a:srgbClr val="FFFFFF"/>
                          </a:solidFill>
                          <a:latin typeface="Calibri"/>
                        </a:rPr>
                        <a:t>Check</a:t>
                      </a:r>
                    </a:p>
                  </a:txBody>
                  <a:tcPr marL="101600" marR="101600" marT="38100" marB="38100" anchor="ctr">
                    <a:solidFill>
                      <a:srgbClr val="2B4A7D"/>
                    </a:solidFill>
                  </a:tcPr>
                </a:tc>
              </a:tr>
              <a:tr h="310896">
                <a:tc>
                  <a:txBody>
                    <a:bodyPr/>
                    <a:lstStyle/>
                    <a:p>
                      <a:r>
                        <a:rPr sz="900" b="0">
                          <a:solidFill>
                            <a:srgbClr val="1C1C1A"/>
                          </a:solidFill>
                          <a:latin typeface="Calibri"/>
                        </a:rPr>
                        <a:t>Is the denominator on the same line as the number</a:t>
                      </a:r>
                    </a:p>
                  </a:txBody>
                  <a:tcPr marL="101600" marR="101600" marT="38100" marB="38100" anchor="ctr">
                    <a:solidFill>
                      <a:srgbClr val="FFFFFF"/>
                    </a:solidFill>
                  </a:tcPr>
                </a:tc>
                <a:tc>
                  <a:txBody>
                    <a:bodyPr/>
                    <a:lstStyle/>
                    <a:p>
                      <a:r>
                        <a:rPr sz="900" b="0">
                          <a:solidFill>
                            <a:srgbClr val="1C1C1A"/>
                          </a:solidFill>
                          <a:latin typeface="Calibri"/>
                        </a:rPr>
                        <a:t>If not, it is not ready</a:t>
                      </a:r>
                    </a:p>
                  </a:txBody>
                  <a:tcPr marL="101600" marR="101600" marT="38100" marB="38100" anchor="ctr">
                    <a:solidFill>
                      <a:srgbClr val="FFFFFF"/>
                    </a:solidFill>
                  </a:tcPr>
                </a:tc>
              </a:tr>
              <a:tr h="310896">
                <a:tc>
                  <a:txBody>
                    <a:bodyPr/>
                    <a:lstStyle/>
                    <a:p>
                      <a:r>
                        <a:rPr sz="900" b="0">
                          <a:solidFill>
                            <a:srgbClr val="1C1C1A"/>
                          </a:solidFill>
                          <a:latin typeface="Calibri"/>
                        </a:rPr>
                        <a:t>Is any group under about 30 orders</a:t>
                      </a:r>
                    </a:p>
                  </a:txBody>
                  <a:tcPr marL="101600" marR="101600" marT="38100" marB="38100" anchor="ctr">
                    <a:solidFill>
                      <a:srgbClr val="F7F7F5"/>
                    </a:solidFill>
                  </a:tcPr>
                </a:tc>
                <a:tc>
                  <a:txBody>
                    <a:bodyPr/>
                    <a:lstStyle/>
                    <a:p>
                      <a:r>
                        <a:rPr sz="900" b="0">
                          <a:solidFill>
                            <a:srgbClr val="1C1C1A"/>
                          </a:solidFill>
                          <a:latin typeface="Calibri"/>
                        </a:rPr>
                        <a:t>Say so in the sentence, in words</a:t>
                      </a:r>
                    </a:p>
                  </a:txBody>
                  <a:tcPr marL="101600" marR="101600" marT="38100" marB="38100" anchor="ctr">
                    <a:solidFill>
                      <a:srgbClr val="F7F7F5"/>
                    </a:solidFill>
                  </a:tcPr>
                </a:tc>
              </a:tr>
              <a:tr h="310896">
                <a:tc>
                  <a:txBody>
                    <a:bodyPr/>
                    <a:lstStyle/>
                    <a:p>
                      <a:r>
                        <a:rPr sz="900" b="0">
                          <a:solidFill>
                            <a:srgbClr val="1C1C1A"/>
                          </a:solidFill>
                          <a:latin typeface="Calibri"/>
                        </a:rPr>
                        <a:t>Did you rank groups of very different sizes</a:t>
                      </a:r>
                    </a:p>
                  </a:txBody>
                  <a:tcPr marL="101600" marR="101600" marT="38100" marB="38100" anchor="ctr">
                    <a:solidFill>
                      <a:srgbClr val="FFFFFF"/>
                    </a:solidFill>
                  </a:tcPr>
                </a:tc>
                <a:tc>
                  <a:txBody>
                    <a:bodyPr/>
                    <a:lstStyle/>
                    <a:p>
                      <a:r>
                        <a:rPr sz="900" b="0">
                          <a:solidFill>
                            <a:srgbClr val="1C1C1A"/>
                          </a:solidFill>
                          <a:latin typeface="Calibri"/>
                        </a:rPr>
                        <a:t>Say what the ranking is partly measuring</a:t>
                      </a:r>
                    </a:p>
                  </a:txBody>
                  <a:tcPr marL="101600" marR="101600" marT="38100" marB="38100" anchor="ctr">
                    <a:solidFill>
                      <a:srgbClr val="FFFFFF"/>
                    </a:solidFill>
                  </a:tcPr>
                </a:tc>
              </a:tr>
              <a:tr h="310896">
                <a:tc>
                  <a:txBody>
                    <a:bodyPr/>
                    <a:lstStyle/>
                    <a:p>
                      <a:r>
                        <a:rPr sz="900" b="0">
                          <a:solidFill>
                            <a:srgbClr val="1C1C1A"/>
                          </a:solidFill>
                          <a:latin typeface="Calibri"/>
                        </a:rPr>
                        <a:t>Is a mean quoted on a money column</a:t>
                      </a:r>
                    </a:p>
                  </a:txBody>
                  <a:tcPr marL="101600" marR="101600" marT="38100" marB="38100" anchor="ctr">
                    <a:solidFill>
                      <a:srgbClr val="F7F7F5"/>
                    </a:solidFill>
                  </a:tcPr>
                </a:tc>
                <a:tc>
                  <a:txBody>
                    <a:bodyPr/>
                    <a:lstStyle/>
                    <a:p>
                      <a:r>
                        <a:rPr sz="900" b="0">
                          <a:solidFill>
                            <a:srgbClr val="1C1C1A"/>
                          </a:solidFill>
                          <a:latin typeface="Calibri"/>
                        </a:rPr>
                        <a:t>Replace it with the median</a:t>
                      </a:r>
                    </a:p>
                  </a:txBody>
                  <a:tcPr marL="101600" marR="101600" marT="38100" marB="38100" anchor="ctr">
                    <a:solidFill>
                      <a:srgbClr val="F7F7F5"/>
                    </a:solidFill>
                  </a:tcPr>
                </a:tc>
              </a:tr>
              <a:tr h="310896">
                <a:tc>
                  <a:txBody>
                    <a:bodyPr/>
                    <a:lstStyle/>
                    <a:p>
                      <a:r>
                        <a:rPr sz="900" b="0">
                          <a:solidFill>
                            <a:srgbClr val="1C1C1A"/>
                          </a:solidFill>
                          <a:latin typeface="Calibri"/>
                        </a:rPr>
                        <a:t>Is a difference being called real</a:t>
                      </a:r>
                    </a:p>
                  </a:txBody>
                  <a:tcPr marL="101600" marR="101600" marT="38100" marB="38100" anchor="ctr">
                    <a:solidFill>
                      <a:srgbClr val="FFFFFF"/>
                    </a:solidFill>
                  </a:tcPr>
                </a:tc>
                <a:tc>
                  <a:txBody>
                    <a:bodyPr/>
                    <a:lstStyle/>
                    <a:p>
                      <a:r>
                        <a:rPr sz="900" b="0">
                          <a:solidFill>
                            <a:srgbClr val="1C1C1A"/>
                          </a:solidFill>
                          <a:latin typeface="Calibri"/>
                        </a:rPr>
                        <a:t>Park it and name what would settle it</a:t>
                      </a:r>
                    </a:p>
                  </a:txBody>
                  <a:tcPr marL="101600" marR="101600" marT="38100" marB="38100" anchor="ctr">
                    <a:solidFill>
                      <a:srgbClr val="FFFFFF"/>
                    </a:solidFill>
                  </a:tcPr>
                </a:tc>
              </a:tr>
            </a:tbl>
          </a:graphicData>
        </a:graphic>
      </p:graphicFrame>
      <p:pic>
        <p:nvPicPr>
          <p:cNvPr id="7" name="Picture 6" descr="44935a7e0f6f3e4b.png"/>
          <p:cNvPicPr>
            <a:picLocks noChangeAspect="1"/>
          </p:cNvPicPr>
          <p:nvPr/>
        </p:nvPicPr>
        <p:blipFill>
          <a:blip r:embed="rId2"/>
          <a:stretch>
            <a:fillRect/>
          </a:stretch>
        </p:blipFill>
        <p:spPr>
          <a:xfrm>
            <a:off x="4329742" y="4498848"/>
            <a:ext cx="3532209" cy="1554480"/>
          </a:xfrm>
          <a:prstGeom prst="rect">
            <a:avLst/>
          </a:prstGeom>
        </p:spPr>
      </p:pic>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35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5: THE INTERVIEW BLOCK</a:t>
            </a:r>
          </a:p>
        </p:txBody>
      </p:sp>
      <p:sp>
        <p:nvSpPr>
          <p:cNvPr id="4" name="Rounded Rectangle 3"/>
          <p:cNvSpPr/>
          <p:nvPr/>
        </p:nvSpPr>
        <p:spPr>
          <a:xfrm>
            <a:off x="685800"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one column</a:t>
            </a:r>
          </a:p>
        </p:txBody>
      </p:sp>
      <p:sp>
        <p:nvSpPr>
          <p:cNvPr id="5" name="Rounded Rectangle 4"/>
          <p:cNvSpPr/>
          <p:nvPr/>
        </p:nvSpPr>
        <p:spPr>
          <a:xfrm>
            <a:off x="2871764"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is typical</a:t>
            </a:r>
          </a:p>
        </p:txBody>
      </p:sp>
      <p:sp>
        <p:nvSpPr>
          <p:cNvPr id="6" name="Rounded Rectangle 5"/>
          <p:cNvSpPr/>
          <p:nvPr/>
        </p:nvSpPr>
        <p:spPr>
          <a:xfrm>
            <a:off x="5057729"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one order does</a:t>
            </a:r>
          </a:p>
        </p:txBody>
      </p:sp>
      <p:sp>
        <p:nvSpPr>
          <p:cNvPr id="7" name="Rounded Rectangle 6"/>
          <p:cNvSpPr/>
          <p:nvPr/>
        </p:nvSpPr>
        <p:spPr>
          <a:xfrm>
            <a:off x="7243693" y="4754880"/>
            <a:ext cx="2076236" cy="475488"/>
          </a:xfrm>
          <a:prstGeom prst="roundRect">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0">
                <a:solidFill>
                  <a:srgbClr val="FFFFFF"/>
                </a:solidFill>
                <a:latin typeface="Calibri"/>
              </a:rPr>
              <a:t>what the shape says</a:t>
            </a:r>
          </a:p>
        </p:txBody>
      </p:sp>
      <p:sp>
        <p:nvSpPr>
          <p:cNvPr id="8" name="Rounded Rectangle 7"/>
          <p:cNvSpPr/>
          <p:nvPr/>
        </p:nvSpPr>
        <p:spPr>
          <a:xfrm>
            <a:off x="9429658" y="4754880"/>
            <a:ext cx="2076236" cy="475488"/>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Calibri"/>
              </a:rPr>
              <a:t>per segment, with denominators</a:t>
            </a:r>
          </a:p>
        </p:txBody>
      </p:sp>
      <p:sp>
        <p:nvSpPr>
          <p:cNvPr id="9" name="Rectangle 8"/>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1, Day 4. Half two: the segment summary, and the count it rests on</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36 / 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S21b</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why does every rate need its denominator?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does the count underneath a rate tell you?</a:t>
            </a:r>
          </a:p>
          <a:p>
            <a:pPr>
              <a:spcAft>
                <a:spcPts val="900"/>
              </a:spcAft>
            </a:pPr>
            <a:r>
              <a:rPr sz="2000" b="0">
                <a:solidFill>
                  <a:srgbClr val="1C1C1A"/>
                </a:solidFill>
                <a:latin typeface="Calibri"/>
              </a:rPr>
              <a:t>a) When the rate was computed</a:t>
            </a:r>
          </a:p>
          <a:p>
            <a:pPr>
              <a:spcAft>
                <a:spcPts val="900"/>
              </a:spcAft>
            </a:pPr>
            <a:r>
              <a:rPr sz="2000" b="0">
                <a:solidFill>
                  <a:srgbClr val="1C1C1A"/>
                </a:solidFill>
                <a:latin typeface="Calibri"/>
              </a:rPr>
              <a:t>b) How far one event moves the rate</a:t>
            </a:r>
          </a:p>
          <a:p>
            <a:pPr>
              <a:spcAft>
                <a:spcPts val="900"/>
              </a:spcAft>
            </a:pPr>
            <a:r>
              <a:rPr sz="2000" b="0">
                <a:solidFill>
                  <a:srgbClr val="1C1C1A"/>
                </a:solidFill>
                <a:latin typeface="Calibri"/>
              </a:rPr>
              <a:t>c) Which tool produced it</a:t>
            </a:r>
          </a:p>
          <a:p>
            <a:pPr>
              <a:spcAft>
                <a:spcPts val="900"/>
              </a:spcAft>
            </a:pPr>
            <a:r>
              <a:rPr sz="2000" b="0">
                <a:solidFill>
                  <a:srgbClr val="1C1C1A"/>
                </a:solidFill>
                <a:latin typeface="Calibri"/>
              </a:rPr>
              <a:t>d) Whether the rate is above average</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37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S21a</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how far one event can move it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704595"/>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One event is worth 100 divided by the count, in percentage points. On nine records that is 11 points; on 1,200 it is 0.1.</a:t>
            </a:r>
          </a:p>
        </p:txBody>
      </p:sp>
      <p:graphicFrame>
        <p:nvGraphicFramePr>
          <p:cNvPr id="9" name="Table 8"/>
          <p:cNvGraphicFramePr>
            <a:graphicFrameLocks noGrp="1"/>
          </p:cNvGraphicFramePr>
          <p:nvPr/>
        </p:nvGraphicFramePr>
        <p:xfrm>
          <a:off x="685800" y="2643124"/>
          <a:ext cx="10820094" cy="1243584"/>
        </p:xfrm>
        <a:graphic>
          <a:graphicData uri="http://schemas.openxmlformats.org/drawingml/2006/table">
            <a:tbl>
              <a:tblPr firstRow="0" bandRow="0">
                <a:tableStyleId>{2D5ABB26-0587-4C30-8999-92F81FD0307C}</a:tableStyleId>
              </a:tblPr>
              <a:tblGrid>
                <a:gridCol w="2453488"/>
                <a:gridCol w="8366606"/>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When</a:t>
                      </a:r>
                    </a:p>
                  </a:txBody>
                  <a:tcPr marL="101600" marR="101600" marT="38100" marB="38100" anchor="ctr">
                    <a:solidFill>
                      <a:srgbClr val="FFFFFF"/>
                    </a:solidFill>
                  </a:tcPr>
                </a:tc>
                <a:tc>
                  <a:txBody>
                    <a:bodyPr/>
                    <a:lstStyle/>
                    <a:p>
                      <a:r>
                        <a:rPr sz="900" b="0">
                          <a:solidFill>
                            <a:srgbClr val="1C1C1A"/>
                          </a:solidFill>
                          <a:latin typeface="Calibri"/>
                        </a:rPr>
                        <a:t>Provenance, useful and separate.</a:t>
                      </a:r>
                    </a:p>
                  </a:txBody>
                  <a:tcPr marL="101600" marR="101600" marT="38100" marB="38100" anchor="ctr">
                    <a:solidFill>
                      <a:srgbClr val="FFFFFF"/>
                    </a:solidFill>
                  </a:tcPr>
                </a:tc>
              </a:tr>
              <a:tr h="310896">
                <a:tc>
                  <a:txBody>
                    <a:bodyPr/>
                    <a:lstStyle/>
                    <a:p>
                      <a:r>
                        <a:rPr sz="900" b="0">
                          <a:solidFill>
                            <a:srgbClr val="1C1C1A"/>
                          </a:solidFill>
                          <a:latin typeface="Calibri"/>
                        </a:rPr>
                        <a:t>c) Which tool</a:t>
                      </a:r>
                    </a:p>
                  </a:txBody>
                  <a:tcPr marL="101600" marR="101600" marT="38100" marB="38100" anchor="ctr">
                    <a:solidFill>
                      <a:srgbClr val="F7F7F5"/>
                    </a:solidFill>
                  </a:tcPr>
                </a:tc>
                <a:tc>
                  <a:txBody>
                    <a:bodyPr/>
                    <a:lstStyle/>
                    <a:p>
                      <a:r>
                        <a:rPr sz="900" b="0">
                          <a:solidFill>
                            <a:srgbClr val="1C1C1A"/>
                          </a:solidFill>
                          <a:latin typeface="Calibri"/>
                        </a:rPr>
                        <a:t>The same.</a:t>
                      </a:r>
                    </a:p>
                  </a:txBody>
                  <a:tcPr marL="101600" marR="101600" marT="38100" marB="38100" anchor="ctr">
                    <a:solidFill>
                      <a:srgbClr val="F7F7F5"/>
                    </a:solidFill>
                  </a:tcPr>
                </a:tc>
              </a:tr>
              <a:tr h="310896">
                <a:tc>
                  <a:txBody>
                    <a:bodyPr/>
                    <a:lstStyle/>
                    <a:p>
                      <a:r>
                        <a:rPr sz="900" b="0">
                          <a:solidFill>
                            <a:srgbClr val="1C1C1A"/>
                          </a:solidFill>
                          <a:latin typeface="Calibri"/>
                        </a:rPr>
                        <a:t>d) Above average</a:t>
                      </a:r>
                    </a:p>
                  </a:txBody>
                  <a:tcPr marL="101600" marR="101600" marT="38100" marB="38100" anchor="ctr">
                    <a:solidFill>
                      <a:srgbClr val="FFFFFF"/>
                    </a:solidFill>
                  </a:tcPr>
                </a:tc>
                <a:tc>
                  <a:txBody>
                    <a:bodyPr/>
                    <a:lstStyle/>
                    <a:p>
                      <a:r>
                        <a:rPr sz="900" b="0">
                          <a:solidFill>
                            <a:srgbClr val="1C1C1A"/>
                          </a:solidFill>
                          <a:latin typeface="Calibri"/>
                        </a:rPr>
                        <a:t>A comparison, which needs every rate's count before it means anything.</a:t>
                      </a:r>
                    </a:p>
                  </a:txBody>
                  <a:tcPr marL="101600" marR="101600" marT="38100" marB="38100" anchor="ctr">
                    <a:solidFill>
                      <a:srgbClr val="FFFFFF"/>
                    </a:solidFill>
                  </a:tcPr>
                </a:tc>
              </a:tr>
            </a:tbl>
          </a:graphicData>
        </a:graphic>
      </p:graphicFrame>
      <p:sp>
        <p:nvSpPr>
          <p:cNvPr id="10" name="Rectangle 9"/>
          <p:cNvSpPr/>
          <p:nvPr/>
        </p:nvSpPr>
        <p:spPr>
          <a:xfrm>
            <a:off x="685800" y="4142740"/>
            <a:ext cx="10820095" cy="544322"/>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142740"/>
            <a:ext cx="50292" cy="544322"/>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234180"/>
            <a:ext cx="10362895" cy="398018"/>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A rate with no count beside it is a claim nobody can argue with.</a:t>
            </a:r>
          </a:p>
        </p:txBody>
      </p:sp>
      <p:pic>
        <p:nvPicPr>
          <p:cNvPr id="13" name="Picture 12" descr="513ba68e31c2581f.png"/>
          <p:cNvPicPr>
            <a:picLocks noChangeAspect="1"/>
          </p:cNvPicPr>
          <p:nvPr/>
        </p:nvPicPr>
        <p:blipFill>
          <a:blip r:embed="rId2"/>
          <a:stretch>
            <a:fillRect/>
          </a:stretch>
        </p:blipFill>
        <p:spPr>
          <a:xfrm>
            <a:off x="4631037" y="4864608"/>
            <a:ext cx="2929619" cy="118871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38 / 45</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S21c</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your smallest segment has the best rate?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Business returns at 11.1 percent, the best of the four. What do you say?</a:t>
            </a:r>
          </a:p>
          <a:p>
            <a:pPr>
              <a:spcAft>
                <a:spcPts val="900"/>
              </a:spcAft>
            </a:pPr>
            <a:r>
              <a:rPr sz="2000" b="0">
                <a:solidFill>
                  <a:srgbClr val="1C1C1A"/>
                </a:solidFill>
                <a:latin typeface="Calibri"/>
              </a:rPr>
              <a:t>a) Business is our best segment</a:t>
            </a:r>
          </a:p>
          <a:p>
            <a:pPr>
              <a:spcAft>
                <a:spcPts val="900"/>
              </a:spcAft>
            </a:pPr>
            <a:r>
              <a:rPr sz="2000" b="0">
                <a:solidFill>
                  <a:srgbClr val="1C1C1A"/>
                </a:solidFill>
                <a:latin typeface="Calibri"/>
              </a:rPr>
              <a:t>b) Business returned 1 of 9 orders, a base too small to rank on</a:t>
            </a:r>
          </a:p>
          <a:p>
            <a:pPr>
              <a:spcAft>
                <a:spcPts val="900"/>
              </a:spcAft>
            </a:pPr>
            <a:r>
              <a:rPr sz="2000" b="0">
                <a:solidFill>
                  <a:srgbClr val="1C1C1A"/>
                </a:solidFill>
                <a:latin typeface="Calibri"/>
              </a:rPr>
              <a:t>c) Business beat Retail-Plus by 25 points</a:t>
            </a:r>
          </a:p>
          <a:p>
            <a:pPr>
              <a:spcAft>
                <a:spcPts val="900"/>
              </a:spcAft>
            </a:pPr>
            <a:r>
              <a:rPr sz="2000" b="0">
                <a:solidFill>
                  <a:srgbClr val="1C1C1A"/>
                </a:solidFill>
                <a:latin typeface="Calibri"/>
              </a:rPr>
              <a:t>d) Business is best, subject to confirmation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39 / 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S21f</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name the count, and decline to rank</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7876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787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632460"/>
          </a:xfrm>
          <a:prstGeom prst="rect">
            <a:avLst/>
          </a:prstGeom>
          <a:noFill/>
        </p:spPr>
        <p:txBody>
          <a:bodyPr wrap="square" anchor="ctr" lIns="0" rIns="0" tIns="0" bIns="0">
            <a:spAutoFit/>
          </a:bodyPr>
          <a:lstStyle/>
          <a:p>
            <a:r>
              <a:rPr sz="1500" b="1">
                <a:solidFill>
                  <a:srgbClr val="2B4A7D"/>
                </a:solidFill>
                <a:latin typeface="Calibri"/>
              </a:rPr>
              <a:t>The claim. </a:t>
            </a:r>
            <a:r>
              <a:rPr sz="1500" b="0">
                <a:solidFill>
                  <a:srgbClr val="1C1C1A"/>
                </a:solidFill>
                <a:latin typeface="Calibri"/>
              </a:rPr>
              <a:t>One of nine is 11.1 percent, and one more return would read 22.2 percent, which would put Business behind Student. The ranking is measuring the denominator.</a:t>
            </a:r>
          </a:p>
        </p:txBody>
      </p:sp>
      <p:graphicFrame>
        <p:nvGraphicFramePr>
          <p:cNvPr id="9" name="Table 8"/>
          <p:cNvGraphicFramePr>
            <a:graphicFrameLocks noGrp="1"/>
          </p:cNvGraphicFramePr>
          <p:nvPr/>
        </p:nvGraphicFramePr>
        <p:xfrm>
          <a:off x="685800" y="2570988"/>
          <a:ext cx="10820094" cy="1243584"/>
        </p:xfrm>
        <a:graphic>
          <a:graphicData uri="http://schemas.openxmlformats.org/drawingml/2006/table">
            <a:tbl>
              <a:tblPr firstRow="0" bandRow="0">
                <a:tableStyleId>{2D5ABB26-0587-4C30-8999-92F81FD0307C}</a:tableStyleId>
              </a:tblPr>
              <a:tblGrid>
                <a:gridCol w="3781910"/>
                <a:gridCol w="7038184"/>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Best segment</a:t>
                      </a:r>
                    </a:p>
                  </a:txBody>
                  <a:tcPr marL="101600" marR="101600" marT="38100" marB="38100" anchor="ctr">
                    <a:solidFill>
                      <a:srgbClr val="FFFFFF"/>
                    </a:solidFill>
                  </a:tcPr>
                </a:tc>
                <a:tc>
                  <a:txBody>
                    <a:bodyPr/>
                    <a:lstStyle/>
                    <a:p>
                      <a:r>
                        <a:rPr sz="900" b="0">
                          <a:solidFill>
                            <a:srgbClr val="1C1C1A"/>
                          </a:solidFill>
                          <a:latin typeface="Calibri"/>
                        </a:rPr>
                        <a:t>Travels into a slide with nothing attached to it.</a:t>
                      </a:r>
                    </a:p>
                  </a:txBody>
                  <a:tcPr marL="101600" marR="101600" marT="38100" marB="38100" anchor="ctr">
                    <a:solidFill>
                      <a:srgbClr val="FFFFFF"/>
                    </a:solidFill>
                  </a:tcPr>
                </a:tc>
              </a:tr>
              <a:tr h="310896">
                <a:tc>
                  <a:txBody>
                    <a:bodyPr/>
                    <a:lstStyle/>
                    <a:p>
                      <a:r>
                        <a:rPr sz="900" b="0">
                          <a:solidFill>
                            <a:srgbClr val="1C1C1A"/>
                          </a:solidFill>
                          <a:latin typeface="Calibri"/>
                        </a:rPr>
                        <a:t>c) Beat by 25 points</a:t>
                      </a:r>
                    </a:p>
                  </a:txBody>
                  <a:tcPr marL="101600" marR="101600" marT="38100" marB="38100" anchor="ctr">
                    <a:solidFill>
                      <a:srgbClr val="F7F7F5"/>
                    </a:solidFill>
                  </a:tcPr>
                </a:tc>
                <a:tc>
                  <a:txBody>
                    <a:bodyPr/>
                    <a:lstStyle/>
                    <a:p>
                      <a:r>
                        <a:rPr sz="900" b="0">
                          <a:solidFill>
                            <a:srgbClr val="1C1C1A"/>
                          </a:solidFill>
                          <a:latin typeface="Calibri"/>
                        </a:rPr>
                        <a:t>Precise about a gap that one order erases.</a:t>
                      </a:r>
                    </a:p>
                  </a:txBody>
                  <a:tcPr marL="101600" marR="101600" marT="38100" marB="38100" anchor="ctr">
                    <a:solidFill>
                      <a:srgbClr val="F7F7F5"/>
                    </a:solidFill>
                  </a:tcPr>
                </a:tc>
              </a:tr>
              <a:tr h="310896">
                <a:tc>
                  <a:txBody>
                    <a:bodyPr/>
                    <a:lstStyle/>
                    <a:p>
                      <a:r>
                        <a:rPr sz="900" b="0">
                          <a:solidFill>
                            <a:srgbClr val="1C1C1A"/>
                          </a:solidFill>
                          <a:latin typeface="Calibri"/>
                        </a:rPr>
                        <a:t>d) Subject to confirmation</a:t>
                      </a:r>
                    </a:p>
                  </a:txBody>
                  <a:tcPr marL="101600" marR="101600" marT="38100" marB="38100" anchor="ctr">
                    <a:solidFill>
                      <a:srgbClr val="FFFFFF"/>
                    </a:solidFill>
                  </a:tcPr>
                </a:tc>
                <a:tc>
                  <a:txBody>
                    <a:bodyPr/>
                    <a:lstStyle/>
                    <a:p>
                      <a:r>
                        <a:rPr sz="900" b="0">
                          <a:solidFill>
                            <a:srgbClr val="1C1C1A"/>
                          </a:solidFill>
                          <a:latin typeface="Calibri"/>
                        </a:rPr>
                        <a:t>A hedge with no number in it, which nobody acts on.</a:t>
                      </a:r>
                    </a:p>
                  </a:txBody>
                  <a:tcPr marL="101600" marR="101600" marT="38100" marB="38100" anchor="ctr">
                    <a:solidFill>
                      <a:srgbClr val="FFFFFF"/>
                    </a:solidFill>
                  </a:tcPr>
                </a:tc>
              </a:tr>
            </a:tbl>
          </a:graphicData>
        </a:graphic>
      </p:graphicFrame>
      <p:sp>
        <p:nvSpPr>
          <p:cNvPr id="10" name="Rectangle 9"/>
          <p:cNvSpPr/>
          <p:nvPr/>
        </p:nvSpPr>
        <p:spPr>
          <a:xfrm>
            <a:off x="685800" y="4070604"/>
            <a:ext cx="10820095" cy="508254"/>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4070604"/>
            <a:ext cx="50292" cy="50825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162044"/>
            <a:ext cx="10362895" cy="361950"/>
          </a:xfrm>
          <a:prstGeom prst="rect">
            <a:avLst/>
          </a:prstGeom>
          <a:noFill/>
        </p:spPr>
        <p:txBody>
          <a:bodyPr wrap="square" anchor="ctr" lIns="0" rIns="0" tIns="0" bIns="0">
            <a:spAutoFit/>
          </a:bodyPr>
          <a:lstStyle/>
          <a:p>
            <a:r>
              <a:rPr sz="1500" b="1">
                <a:solidFill>
                  <a:srgbClr val="2B4A7D"/>
                </a:solidFill>
                <a:latin typeface="Calibri"/>
              </a:rPr>
              <a:t>The mental model. </a:t>
            </a:r>
            <a:r>
              <a:rPr sz="1500" b="0">
                <a:solidFill>
                  <a:srgbClr val="1C1C1A"/>
                </a:solidFill>
                <a:latin typeface="Calibri"/>
              </a:rPr>
              <a:t>The finding is that a 44 order file cannot rank segments. The table is the working.</a:t>
            </a:r>
          </a:p>
        </p:txBody>
      </p:sp>
      <p:pic>
        <p:nvPicPr>
          <p:cNvPr id="13" name="Picture 12" descr="9f57cf46e2748440.png"/>
          <p:cNvPicPr>
            <a:picLocks noChangeAspect="1"/>
          </p:cNvPicPr>
          <p:nvPr/>
        </p:nvPicPr>
        <p:blipFill>
          <a:blip r:embed="rId2"/>
          <a:stretch>
            <a:fillRect/>
          </a:stretch>
        </p:blipFill>
        <p:spPr>
          <a:xfrm>
            <a:off x="2706814" y="4864608"/>
            <a:ext cx="6778065" cy="118871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40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S21d</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a count and a rate, what is the difference?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Which statement is true of a rate and false of a count?</a:t>
            </a:r>
          </a:p>
          <a:p>
            <a:pPr>
              <a:spcAft>
                <a:spcPts val="900"/>
              </a:spcAft>
            </a:pPr>
            <a:r>
              <a:rPr sz="2000" b="0">
                <a:solidFill>
                  <a:srgbClr val="1C1C1A"/>
                </a:solidFill>
                <a:latin typeface="Calibri"/>
              </a:rPr>
              <a:t>a) It can be computed from the file</a:t>
            </a:r>
          </a:p>
          <a:p>
            <a:pPr>
              <a:spcAft>
                <a:spcPts val="900"/>
              </a:spcAft>
            </a:pPr>
            <a:r>
              <a:rPr sz="2000" b="0">
                <a:solidFill>
                  <a:srgbClr val="1C1C1A"/>
                </a:solidFill>
                <a:latin typeface="Calibri"/>
              </a:rPr>
              <a:t>b) It hides how many records it rests on</a:t>
            </a:r>
          </a:p>
          <a:p>
            <a:pPr>
              <a:spcAft>
                <a:spcPts val="900"/>
              </a:spcAft>
            </a:pPr>
            <a:r>
              <a:rPr sz="2000" b="0">
                <a:solidFill>
                  <a:srgbClr val="1C1C1A"/>
                </a:solidFill>
                <a:latin typeface="Calibri"/>
              </a:rPr>
              <a:t>c) It is always between zero and one</a:t>
            </a:r>
          </a:p>
          <a:p>
            <a:pPr>
              <a:spcAft>
                <a:spcPts val="900"/>
              </a:spcAft>
            </a:pPr>
            <a:r>
              <a:rPr sz="2000" b="0">
                <a:solidFill>
                  <a:srgbClr val="1C1C1A"/>
                </a:solidFill>
                <a:latin typeface="Calibri"/>
              </a:rPr>
              <a:t>d) It is easier to compare across groups</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41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S21g</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a rate hides its own base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1627632"/>
            <a:ext cx="10820095" cy="706628"/>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1627632"/>
            <a:ext cx="50292" cy="70662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41832" y="1719072"/>
            <a:ext cx="10362895" cy="560324"/>
          </a:xfrm>
          <a:prstGeom prst="rect">
            <a:avLst/>
          </a:prstGeom>
          <a:noFill/>
        </p:spPr>
        <p:txBody>
          <a:bodyPr wrap="square" anchor="ctr" lIns="0" rIns="0" tIns="0" bIns="0">
            <a:spAutoFit/>
          </a:bodyPr>
          <a:lstStyle/>
          <a:p>
            <a:r>
              <a:rPr sz="1300" b="1">
                <a:solidFill>
                  <a:srgbClr val="2B4A7D"/>
                </a:solidFill>
                <a:latin typeface="Calibri"/>
              </a:rPr>
              <a:t>The claim. </a:t>
            </a:r>
            <a:r>
              <a:rPr sz="1300" b="0">
                <a:solidFill>
                  <a:srgbClr val="1C1C1A"/>
                </a:solidFill>
                <a:latin typeface="Calibri"/>
              </a:rPr>
              <a:t>A count carries its own size. A rate divides that size away, which is exactly what makes it comparable and exactly what makes it dangerous.</a:t>
            </a:r>
          </a:p>
        </p:txBody>
      </p:sp>
      <p:graphicFrame>
        <p:nvGraphicFramePr>
          <p:cNvPr id="9" name="Table 8"/>
          <p:cNvGraphicFramePr>
            <a:graphicFrameLocks noGrp="1"/>
          </p:cNvGraphicFramePr>
          <p:nvPr/>
        </p:nvGraphicFramePr>
        <p:xfrm>
          <a:off x="685800" y="2498852"/>
          <a:ext cx="10820094" cy="1243584"/>
        </p:xfrm>
        <a:graphic>
          <a:graphicData uri="http://schemas.openxmlformats.org/drawingml/2006/table">
            <a:tbl>
              <a:tblPr firstRow="0" bandRow="0">
                <a:tableStyleId>{2D5ABB26-0587-4C30-8999-92F81FD0307C}</a:tableStyleId>
              </a:tblPr>
              <a:tblGrid>
                <a:gridCol w="2929281"/>
                <a:gridCol w="7890813"/>
              </a:tblGrid>
              <a:tr h="310896">
                <a:tc>
                  <a:txBody>
                    <a:bodyPr/>
                    <a:lstStyle/>
                    <a:p>
                      <a:r>
                        <a:rPr sz="1000" b="1">
                          <a:solidFill>
                            <a:srgbClr val="FFFFFF"/>
                          </a:solidFill>
                          <a:latin typeface="Calibri"/>
                        </a:rPr>
                        <a:t>Option</a:t>
                      </a:r>
                    </a:p>
                  </a:txBody>
                  <a:tcPr marL="101600" marR="101600" marT="38100" marB="38100" anchor="ctr">
                    <a:solidFill>
                      <a:srgbClr val="2B4A7D"/>
                    </a:solidFill>
                  </a:tcPr>
                </a:tc>
                <a:tc>
                  <a:txBody>
                    <a:bodyPr/>
                    <a:lstStyle/>
                    <a:p>
                      <a:r>
                        <a:rPr sz="1000" b="1">
                          <a:solidFill>
                            <a:srgbClr val="FFFFFF"/>
                          </a:solidFill>
                          <a:latin typeface="Calibri"/>
                        </a:rPr>
                        <a:t>Why it does not hold</a:t>
                      </a:r>
                    </a:p>
                  </a:txBody>
                  <a:tcPr marL="101600" marR="101600" marT="38100" marB="38100" anchor="ctr">
                    <a:solidFill>
                      <a:srgbClr val="2B4A7D"/>
                    </a:solidFill>
                  </a:tcPr>
                </a:tc>
              </a:tr>
              <a:tr h="310896">
                <a:tc>
                  <a:txBody>
                    <a:bodyPr/>
                    <a:lstStyle/>
                    <a:p>
                      <a:r>
                        <a:rPr sz="900" b="0">
                          <a:solidFill>
                            <a:srgbClr val="1C1C1A"/>
                          </a:solidFill>
                          <a:latin typeface="Calibri"/>
                        </a:rPr>
                        <a:t>a) Computed from the file</a:t>
                      </a:r>
                    </a:p>
                  </a:txBody>
                  <a:tcPr marL="101600" marR="101600" marT="38100" marB="38100" anchor="ctr">
                    <a:solidFill>
                      <a:srgbClr val="FFFFFF"/>
                    </a:solidFill>
                  </a:tcPr>
                </a:tc>
                <a:tc>
                  <a:txBody>
                    <a:bodyPr/>
                    <a:lstStyle/>
                    <a:p>
                      <a:r>
                        <a:rPr sz="900" b="0">
                          <a:solidFill>
                            <a:srgbClr val="1C1C1A"/>
                          </a:solidFill>
                          <a:latin typeface="Calibri"/>
                        </a:rPr>
                        <a:t>True of both.</a:t>
                      </a:r>
                    </a:p>
                  </a:txBody>
                  <a:tcPr marL="101600" marR="101600" marT="38100" marB="38100" anchor="ctr">
                    <a:solidFill>
                      <a:srgbClr val="FFFFFF"/>
                    </a:solidFill>
                  </a:tcPr>
                </a:tc>
              </a:tr>
              <a:tr h="310896">
                <a:tc>
                  <a:txBody>
                    <a:bodyPr/>
                    <a:lstStyle/>
                    <a:p>
                      <a:r>
                        <a:rPr sz="900" b="0">
                          <a:solidFill>
                            <a:srgbClr val="1C1C1A"/>
                          </a:solidFill>
                          <a:latin typeface="Calibri"/>
                        </a:rPr>
                        <a:t>c) Between zero and one</a:t>
                      </a:r>
                    </a:p>
                  </a:txBody>
                  <a:tcPr marL="101600" marR="101600" marT="38100" marB="38100" anchor="ctr">
                    <a:solidFill>
                      <a:srgbClr val="F7F7F5"/>
                    </a:solidFill>
                  </a:tcPr>
                </a:tc>
                <a:tc>
                  <a:txBody>
                    <a:bodyPr/>
                    <a:lstStyle/>
                    <a:p>
                      <a:r>
                        <a:rPr sz="900" b="0">
                          <a:solidFill>
                            <a:srgbClr val="1C1C1A"/>
                          </a:solidFill>
                          <a:latin typeface="Calibri"/>
                        </a:rPr>
                        <a:t>True of a proportion and beside the point here.</a:t>
                      </a:r>
                    </a:p>
                  </a:txBody>
                  <a:tcPr marL="101600" marR="101600" marT="38100" marB="38100" anchor="ctr">
                    <a:solidFill>
                      <a:srgbClr val="F7F7F5"/>
                    </a:solidFill>
                  </a:tcPr>
                </a:tc>
              </a:tr>
              <a:tr h="310896">
                <a:tc>
                  <a:txBody>
                    <a:bodyPr/>
                    <a:lstStyle/>
                    <a:p>
                      <a:r>
                        <a:rPr sz="900" b="0">
                          <a:solidFill>
                            <a:srgbClr val="1C1C1A"/>
                          </a:solidFill>
                          <a:latin typeface="Calibri"/>
                        </a:rPr>
                        <a:t>d) Easier to compare</a:t>
                      </a:r>
                    </a:p>
                  </a:txBody>
                  <a:tcPr marL="101600" marR="101600" marT="38100" marB="38100" anchor="ctr">
                    <a:solidFill>
                      <a:srgbClr val="FFFFFF"/>
                    </a:solidFill>
                  </a:tcPr>
                </a:tc>
                <a:tc>
                  <a:txBody>
                    <a:bodyPr/>
                    <a:lstStyle/>
                    <a:p>
                      <a:r>
                        <a:rPr sz="900" b="0">
                          <a:solidFill>
                            <a:srgbClr val="1C1C1A"/>
                          </a:solidFill>
                          <a:latin typeface="Calibri"/>
                        </a:rPr>
                        <a:t>True, and it is the benefit rather than the difference being asked about.</a:t>
                      </a:r>
                    </a:p>
                  </a:txBody>
                  <a:tcPr marL="101600" marR="101600" marT="38100" marB="38100" anchor="ctr">
                    <a:solidFill>
                      <a:srgbClr val="FFFFFF"/>
                    </a:solidFill>
                  </a:tcPr>
                </a:tc>
              </a:tr>
            </a:tbl>
          </a:graphicData>
        </a:graphic>
      </p:graphicFrame>
      <p:sp>
        <p:nvSpPr>
          <p:cNvPr id="10" name="Rectangle 9"/>
          <p:cNvSpPr/>
          <p:nvPr/>
        </p:nvSpPr>
        <p:spPr>
          <a:xfrm>
            <a:off x="685800" y="3998468"/>
            <a:ext cx="10820095" cy="472186"/>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85800" y="3998468"/>
            <a:ext cx="50292" cy="472186"/>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41832" y="4089908"/>
            <a:ext cx="10362895" cy="325882"/>
          </a:xfrm>
          <a:prstGeom prst="rect">
            <a:avLst/>
          </a:prstGeom>
          <a:noFill/>
        </p:spPr>
        <p:txBody>
          <a:bodyPr wrap="square" anchor="ctr" lIns="0" rIns="0" tIns="0" bIns="0">
            <a:spAutoFit/>
          </a:bodyPr>
          <a:lstStyle/>
          <a:p>
            <a:r>
              <a:rPr sz="1300" b="1">
                <a:solidFill>
                  <a:srgbClr val="2B4A7D"/>
                </a:solidFill>
                <a:latin typeface="Calibri"/>
              </a:rPr>
              <a:t>The mental model. </a:t>
            </a:r>
            <a:r>
              <a:rPr sz="1300" b="0">
                <a:solidFill>
                  <a:srgbClr val="1C1C1A"/>
                </a:solidFill>
                <a:latin typeface="Calibri"/>
              </a:rPr>
              <a:t>Comparability is bought by throwing away the base, so you carry the base back yourself.</a:t>
            </a:r>
          </a:p>
        </p:txBody>
      </p:sp>
      <p:pic>
        <p:nvPicPr>
          <p:cNvPr id="13" name="Picture 12" descr="513ba68e31c2581f.png"/>
          <p:cNvPicPr>
            <a:picLocks noChangeAspect="1"/>
          </p:cNvPicPr>
          <p:nvPr/>
        </p:nvPicPr>
        <p:blipFill>
          <a:blip r:embed="rId2"/>
          <a:stretch>
            <a:fillRect/>
          </a:stretch>
        </p:blipFill>
        <p:spPr>
          <a:xfrm>
            <a:off x="4631037" y="4864608"/>
            <a:ext cx="2929619" cy="1188719"/>
          </a:xfrm>
          <a:prstGeom prst="rect">
            <a:avLst/>
          </a:prstGeom>
        </p:spPr>
      </p:pic>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42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S21e</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Question: average order value, one whale?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685800" y="2647696"/>
            <a:ext cx="10820095" cy="2385568"/>
          </a:xfrm>
          <a:prstGeom prst="rect">
            <a:avLst/>
          </a:prstGeom>
          <a:noFill/>
        </p:spPr>
        <p:txBody>
          <a:bodyPr wrap="square" anchor="t" lIns="0" rIns="0" tIns="0" bIns="0">
            <a:spAutoFit/>
          </a:bodyPr>
          <a:lstStyle/>
          <a:p>
            <a:pPr>
              <a:spcAft>
                <a:spcPts val="900"/>
              </a:spcAft>
            </a:pPr>
            <a:r>
              <a:rPr sz="2000" b="0">
                <a:solidFill>
                  <a:srgbClr val="1C1C1A"/>
                </a:solidFill>
                <a:latin typeface="Calibri"/>
              </a:rPr>
              <a:t>What do you hand over?</a:t>
            </a:r>
          </a:p>
          <a:p>
            <a:pPr>
              <a:spcAft>
                <a:spcPts val="900"/>
              </a:spcAft>
            </a:pPr>
            <a:r>
              <a:rPr sz="2000" b="0">
                <a:solidFill>
                  <a:srgbClr val="1C1C1A"/>
                </a:solidFill>
                <a:latin typeface="Calibri"/>
              </a:rPr>
              <a:t>a) The mean, since that is what average means</a:t>
            </a:r>
          </a:p>
          <a:p>
            <a:pPr>
              <a:spcAft>
                <a:spcPts val="900"/>
              </a:spcAft>
            </a:pPr>
            <a:r>
              <a:rPr sz="2000" b="0">
                <a:solidFill>
                  <a:srgbClr val="1C1C1A"/>
                </a:solidFill>
                <a:latin typeface="Calibri"/>
              </a:rPr>
              <a:t>b) The median, with the mean and its owner named</a:t>
            </a:r>
          </a:p>
          <a:p>
            <a:pPr>
              <a:spcAft>
                <a:spcPts val="900"/>
              </a:spcAft>
            </a:pPr>
            <a:r>
              <a:rPr sz="2000" b="0">
                <a:solidFill>
                  <a:srgbClr val="1C1C1A"/>
                </a:solidFill>
                <a:latin typeface="Calibri"/>
              </a:rPr>
              <a:t>c) The mean with the large order removed</a:t>
            </a:r>
          </a:p>
          <a:p>
            <a:pPr>
              <a:spcAft>
                <a:spcPts val="900"/>
              </a:spcAft>
            </a:pPr>
            <a:r>
              <a:rPr sz="2000" b="0">
                <a:solidFill>
                  <a:srgbClr val="1C1C1A"/>
                </a:solidFill>
                <a:latin typeface="Calibri"/>
              </a:rPr>
              <a:t>d) The mean, rounded down</a:t>
            </a:r>
          </a:p>
        </p:txBody>
      </p:sp>
      <p:sp>
        <p:nvSpPr>
          <p:cNvPr id="7" name="Rectangle 6"/>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9" name="TextBox 8"/>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43 / 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S21h</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Answer: the median, and say what the mean is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44935a7e0f6f3e4b.png"/>
          <p:cNvPicPr>
            <a:picLocks noChangeAspect="1"/>
          </p:cNvPicPr>
          <p:nvPr/>
        </p:nvPicPr>
        <p:blipFill>
          <a:blip r:embed="rId2"/>
          <a:stretch>
            <a:fillRect/>
          </a:stretch>
        </p:blipFill>
        <p:spPr>
          <a:xfrm>
            <a:off x="685800" y="2816696"/>
            <a:ext cx="4652640" cy="2047567"/>
          </a:xfrm>
          <a:prstGeom prst="rect">
            <a:avLst/>
          </a:prstGeom>
        </p:spPr>
      </p:pic>
      <p:sp>
        <p:nvSpPr>
          <p:cNvPr id="7" name="Rectangle 6"/>
          <p:cNvSpPr/>
          <p:nvPr/>
        </p:nvSpPr>
        <p:spPr>
          <a:xfrm>
            <a:off x="5771244" y="1627632"/>
            <a:ext cx="5734650" cy="1157477"/>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5771244" y="1627632"/>
            <a:ext cx="50292" cy="1157477"/>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027276" y="1719072"/>
            <a:ext cx="5277450" cy="1011173"/>
          </a:xfrm>
          <a:prstGeom prst="rect">
            <a:avLst/>
          </a:prstGeom>
          <a:noFill/>
        </p:spPr>
        <p:txBody>
          <a:bodyPr wrap="square" anchor="ctr" lIns="0" rIns="0" tIns="0" bIns="0">
            <a:spAutoFit/>
          </a:bodyPr>
          <a:lstStyle/>
          <a:p>
            <a:r>
              <a:rPr sz="1700" b="1">
                <a:solidFill>
                  <a:srgbClr val="2B4A7D"/>
                </a:solidFill>
                <a:latin typeface="Calibri"/>
              </a:rPr>
              <a:t>The claim. </a:t>
            </a:r>
            <a:r>
              <a:rPr sz="1700" b="0">
                <a:solidFill>
                  <a:srgbClr val="1C1C1A"/>
                </a:solidFill>
                <a:latin typeface="Calibri"/>
              </a:rPr>
              <a:t>Give the median, then say the mean and name the record that owns it. That is one sentence and it closes every follow-up.</a:t>
            </a:r>
          </a:p>
        </p:txBody>
      </p:sp>
      <p:graphicFrame>
        <p:nvGraphicFramePr>
          <p:cNvPr id="10" name="Table 9"/>
          <p:cNvGraphicFramePr>
            <a:graphicFrameLocks noGrp="1"/>
          </p:cNvGraphicFramePr>
          <p:nvPr/>
        </p:nvGraphicFramePr>
        <p:xfrm>
          <a:off x="5771244" y="2949702"/>
          <a:ext cx="5734649" cy="1859280"/>
        </p:xfrm>
        <a:graphic>
          <a:graphicData uri="http://schemas.openxmlformats.org/drawingml/2006/table">
            <a:tbl>
              <a:tblPr firstRow="0" bandRow="0">
                <a:tableStyleId>{2D5ABB26-0587-4C30-8999-92F81FD0307C}</a:tableStyleId>
              </a:tblPr>
              <a:tblGrid>
                <a:gridCol w="2179143"/>
                <a:gridCol w="3555506"/>
              </a:tblGrid>
              <a:tr h="352552">
                <a:tc>
                  <a:txBody>
                    <a:bodyPr/>
                    <a:lstStyle/>
                    <a:p>
                      <a:r>
                        <a:rPr sz="1400" b="1">
                          <a:solidFill>
                            <a:srgbClr val="FFFFFF"/>
                          </a:solidFill>
                          <a:latin typeface="Calibri"/>
                        </a:rPr>
                        <a:t>Option</a:t>
                      </a:r>
                    </a:p>
                  </a:txBody>
                  <a:tcPr marL="101600" marR="101600" marT="38100" marB="38100" anchor="ctr">
                    <a:solidFill>
                      <a:srgbClr val="2B4A7D"/>
                    </a:solidFill>
                  </a:tcPr>
                </a:tc>
                <a:tc>
                  <a:txBody>
                    <a:bodyPr/>
                    <a:lstStyle/>
                    <a:p>
                      <a:r>
                        <a:rPr sz="1400" b="1">
                          <a:solidFill>
                            <a:srgbClr val="FFFFFF"/>
                          </a:solidFill>
                          <a:latin typeface="Calibri"/>
                        </a:rPr>
                        <a:t>Why it does not hold</a:t>
                      </a:r>
                    </a:p>
                  </a:txBody>
                  <a:tcPr marL="101600" marR="101600" marT="38100" marB="38100" anchor="ctr">
                    <a:solidFill>
                      <a:srgbClr val="2B4A7D"/>
                    </a:solidFill>
                  </a:tcPr>
                </a:tc>
              </a:tr>
              <a:tr h="352552">
                <a:tc>
                  <a:txBody>
                    <a:bodyPr/>
                    <a:lstStyle/>
                    <a:p>
                      <a:r>
                        <a:rPr sz="1300" b="0">
                          <a:solidFill>
                            <a:srgbClr val="1C1C1A"/>
                          </a:solidFill>
                          <a:latin typeface="Calibri"/>
                        </a:rPr>
                        <a:t>a) The mean</a:t>
                      </a:r>
                    </a:p>
                  </a:txBody>
                  <a:tcPr marL="101600" marR="101600" marT="38100" marB="38100" anchor="ctr">
                    <a:solidFill>
                      <a:srgbClr val="FFFFFF"/>
                    </a:solidFill>
                  </a:tcPr>
                </a:tc>
                <a:tc>
                  <a:txBody>
                    <a:bodyPr/>
                    <a:lstStyle/>
                    <a:p>
                      <a:r>
                        <a:rPr sz="1300" b="0">
                          <a:solidFill>
                            <a:srgbClr val="1C1C1A"/>
                          </a:solidFill>
                          <a:latin typeface="Calibri"/>
                        </a:rPr>
                        <a:t>Describes one order out of forty-four.</a:t>
                      </a:r>
                    </a:p>
                  </a:txBody>
                  <a:tcPr marL="101600" marR="101600" marT="38100" marB="38100" anchor="ctr">
                    <a:solidFill>
                      <a:srgbClr val="FFFFFF"/>
                    </a:solidFill>
                  </a:tcPr>
                </a:tc>
              </a:tr>
              <a:tr h="577088">
                <a:tc>
                  <a:txBody>
                    <a:bodyPr/>
                    <a:lstStyle/>
                    <a:p>
                      <a:r>
                        <a:rPr sz="1300" b="0">
                          <a:solidFill>
                            <a:srgbClr val="1C1C1A"/>
                          </a:solidFill>
                          <a:latin typeface="Calibri"/>
                        </a:rPr>
                        <a:t>c) Mean without it</a:t>
                      </a:r>
                    </a:p>
                  </a:txBody>
                  <a:tcPr marL="101600" marR="101600" marT="38100" marB="38100" anchor="ctr">
                    <a:solidFill>
                      <a:srgbClr val="F7F7F5"/>
                    </a:solidFill>
                  </a:tcPr>
                </a:tc>
                <a:tc>
                  <a:txBody>
                    <a:bodyPr/>
                    <a:lstStyle/>
                    <a:p>
                      <a:r>
                        <a:rPr sz="1300" b="0">
                          <a:solidFill>
                            <a:srgbClr val="1C1C1A"/>
                          </a:solidFill>
                          <a:latin typeface="Calibri"/>
                        </a:rPr>
                        <a:t>Silently deletes a real order to produce a nicer number.</a:t>
                      </a:r>
                    </a:p>
                  </a:txBody>
                  <a:tcPr marL="101600" marR="101600" marT="38100" marB="38100" anchor="ctr">
                    <a:solidFill>
                      <a:srgbClr val="F7F7F5"/>
                    </a:solidFill>
                  </a:tcPr>
                </a:tc>
              </a:tr>
              <a:tr h="577088">
                <a:tc>
                  <a:txBody>
                    <a:bodyPr/>
                    <a:lstStyle/>
                    <a:p>
                      <a:r>
                        <a:rPr sz="1300" b="0">
                          <a:solidFill>
                            <a:srgbClr val="1C1C1A"/>
                          </a:solidFill>
                          <a:latin typeface="Calibri"/>
                        </a:rPr>
                        <a:t>d) Rounded down</a:t>
                      </a:r>
                    </a:p>
                  </a:txBody>
                  <a:tcPr marL="101600" marR="101600" marT="38100" marB="38100" anchor="ctr">
                    <a:solidFill>
                      <a:srgbClr val="FFFFFF"/>
                    </a:solidFill>
                  </a:tcPr>
                </a:tc>
                <a:tc>
                  <a:txBody>
                    <a:bodyPr/>
                    <a:lstStyle/>
                    <a:p>
                      <a:r>
                        <a:rPr sz="1300" b="0">
                          <a:solidFill>
                            <a:srgbClr val="1C1C1A"/>
                          </a:solidFill>
                          <a:latin typeface="Calibri"/>
                        </a:rPr>
                        <a:t>Rounding a wrong number does not make it right.</a:t>
                      </a:r>
                    </a:p>
                  </a:txBody>
                  <a:tcPr marL="101600" marR="101600" marT="38100" marB="38100" anchor="ctr">
                    <a:solidFill>
                      <a:srgbClr val="FFFFFF"/>
                    </a:solidFill>
                  </a:tcPr>
                </a:tc>
              </a:tr>
            </a:tbl>
          </a:graphicData>
        </a:graphic>
      </p:graphicFrame>
      <p:sp>
        <p:nvSpPr>
          <p:cNvPr id="11" name="Rectangle 10"/>
          <p:cNvSpPr/>
          <p:nvPr/>
        </p:nvSpPr>
        <p:spPr>
          <a:xfrm>
            <a:off x="5771244" y="5065014"/>
            <a:ext cx="5734650" cy="850899"/>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5771244" y="5065014"/>
            <a:ext cx="50292" cy="850899"/>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027276" y="5156454"/>
            <a:ext cx="5277450" cy="704595"/>
          </a:xfrm>
          <a:prstGeom prst="rect">
            <a:avLst/>
          </a:prstGeom>
          <a:noFill/>
        </p:spPr>
        <p:txBody>
          <a:bodyPr wrap="square" anchor="ctr" lIns="0" rIns="0" tIns="0" bIns="0">
            <a:spAutoFit/>
          </a:bodyPr>
          <a:lstStyle/>
          <a:p>
            <a:r>
              <a:rPr sz="1700" b="1">
                <a:solidFill>
                  <a:srgbClr val="2B4A7D"/>
                </a:solidFill>
                <a:latin typeface="Calibri"/>
              </a:rPr>
              <a:t>The mental model. </a:t>
            </a:r>
            <a:r>
              <a:rPr sz="1700" b="0">
                <a:solidFill>
                  <a:srgbClr val="1C1C1A"/>
                </a:solidFill>
                <a:latin typeface="Calibri"/>
              </a:rPr>
              <a:t>Choose the number, then say what you chose and why.</a:t>
            </a:r>
          </a:p>
        </p:txBody>
      </p:sp>
      <p:sp>
        <p:nvSpPr>
          <p:cNvPr id="14" name="Rectangle 13"/>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6" name="TextBox 1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44 / 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Crux</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227072"/>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227072"/>
            <a:ext cx="10545775" cy="839216"/>
          </a:xfrm>
          <a:prstGeom prst="rect">
            <a:avLst/>
          </a:prstGeom>
          <a:noFill/>
        </p:spPr>
        <p:txBody>
          <a:bodyPr wrap="square" anchor="t" lIns="0" rIns="0" tIns="0" bIns="0">
            <a:spAutoFit/>
          </a:bodyPr>
          <a:lstStyle/>
          <a:p>
            <a:r>
              <a:rPr sz="1900" b="0" i="1">
                <a:solidFill>
                  <a:srgbClr val="5F6360"/>
                </a:solidFill>
                <a:latin typeface="Calibri"/>
              </a:rPr>
              <a:t>Every rate carries its denominator, or it lies for you while you are not in the room.</a:t>
            </a:r>
          </a:p>
        </p:txBody>
      </p:sp>
      <p:sp>
        <p:nvSpPr>
          <p:cNvPr id="8" name="Rectangle 7"/>
          <p:cNvSpPr/>
          <p:nvPr/>
        </p:nvSpPr>
        <p:spPr>
          <a:xfrm>
            <a:off x="685800" y="3212592"/>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212592"/>
            <a:ext cx="10545775" cy="839216"/>
          </a:xfrm>
          <a:prstGeom prst="rect">
            <a:avLst/>
          </a:prstGeom>
          <a:noFill/>
        </p:spPr>
        <p:txBody>
          <a:bodyPr wrap="square" anchor="t" lIns="0" rIns="0" tIns="0" bIns="0">
            <a:spAutoFit/>
          </a:bodyPr>
          <a:lstStyle/>
          <a:p>
            <a:r>
              <a:rPr sz="1900" b="0" i="1">
                <a:solidFill>
                  <a:srgbClr val="5F6360"/>
                </a:solidFill>
                <a:latin typeface="Calibri"/>
              </a:rPr>
              <a:t>The best-performing segment in this file is also the smallest, and one order takes the lead away.</a:t>
            </a:r>
          </a:p>
        </p:txBody>
      </p:sp>
      <p:sp>
        <p:nvSpPr>
          <p:cNvPr id="10" name="TextBox 9"/>
          <p:cNvSpPr txBox="1"/>
          <p:nvPr/>
        </p:nvSpPr>
        <p:spPr>
          <a:xfrm>
            <a:off x="685800" y="4198112"/>
            <a:ext cx="10820095" cy="125577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Tomorrow is Gandhi Jayanti and the institute is closed. These same orders, cleaned by you, come back as SQL tables and pandas frames in Week 2, and the summary you built by hand today becomes one line of code you will already know the answer to.</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1, Day 4. Half two: the segment summary, and the count it rests on</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45 /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