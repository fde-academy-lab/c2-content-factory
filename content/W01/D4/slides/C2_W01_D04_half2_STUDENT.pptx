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the marketing lead's words aloud. The morning answered Meera's three</a:t>
            </a:r>
          </a:p>
          <a:p>
            <a:r>
              <a:t>questions and wrote the note; this afternoon opens on chapter 6, the fair comparison Marketing's</a:t>
            </a:r>
          </a:p>
          <a:p>
            <a:r>
              <a:t>reply demands, then the escalated case, the debrief, the second case, the interview drill and the</a:t>
            </a:r>
          </a:p>
          <a:p>
            <a:r>
              <a:t>Kahoot. Then what the morning settled.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five answers down the right-hand column; a learner who missed the morning</a:t>
            </a:r>
          </a:p>
          <a:p>
            <a:r>
              <a:t>has the day so far on this slide. Retail-Plus is Kalpa's paid membership tier. The monsoon sale gave 15 percent off from 5 to 19 August, aimed at Retail-Plus.</a:t>
            </a:r>
          </a:p>
          <a:p>
            <a:r>
              <a:t>Then chapter 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the cover and the recap: the need and the company (4), the options and</a:t>
            </a:r>
          </a:p>
          <a:p>
            <a:r>
              <a:t>the call (4), who got it (3), the trap and what else changed (5), the fix and its code (4), the</a:t>
            </a:r>
          </a:p>
          <a:p>
            <a:r>
              <a:t>hold-back designed (4), the second route (2), and the close (1). Notebook 6 runs beside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Each gets its answer before the next is asked, and the</a:t>
            </a:r>
          </a:p>
          <a:p>
            <a:r>
              <a:t>chapter's last slide answers all six. Then Marketing's 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question under the ask is counterfactual: what would these customers have</a:t>
            </a:r>
          </a:p>
          <a:p>
            <a:r>
              <a:t>spent without the sale? Nobody can observe it directly, which is why the comparison group matters.</a:t>
            </a:r>
          </a:p>
          <a:p>
            <a:r>
              <a:t>Then a company that tested what its ads caused.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Source, checked 30 September 2026: https://www.nber.org/papers/w20171. Quotes from</a:t>
            </a:r>
          </a:p>
          <a:p>
            <a:r>
              <a:t>the abstract: "brand-keyword ads have no measurable short-term benefits"; "returns from paid search</a:t>
            </a:r>
          </a:p>
          <a:p>
            <a:r>
              <a:t>are a fraction of conventional non-experimental estimates". The same paper's split by customer type</a:t>
            </a:r>
          </a:p>
          <a:p>
            <a:r>
              <a:t>was chapter 4's company case. Then the four ways to ask.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6's sizing cell counts what each option stands on. A and B stand on a</a:t>
            </a:r>
          </a:p>
          <a:p>
            <a:r>
              <a:t>handful of orders a month, and chapter 3 already said what a handful is worth. Say the list in full</a:t>
            </a:r>
          </a:p>
          <a:p>
            <a:r>
              <a:t>once: the campaign platform's August list of 160 Retail-Plus and Retail-Core customers, under the</a:t>
            </a:r>
          </a:p>
          <a:p>
            <a:r>
              <a:t>platform's own customer ids, with one average August spend for each group, recording who received</a:t>
            </a:r>
          </a:p>
          <a:p>
            <a:r>
              <a:t>the sale whatever it was aimed at. It cannot be matched to Finance's order file, whose 22</a:t>
            </a:r>
          </a:p>
          <a:p>
            <a:r>
              <a:t>Retail-Plus members and discount column carry no record of the sale. So it answers who got the sale</a:t>
            </a:r>
          </a:p>
          <a:p>
            <a:r>
              <a:t>and how the groups differ, and it sizes the Diwali hold-back; the retention offer was sized on</a:t>
            </a:r>
          </a:p>
          <a:p>
            <a:r>
              <a:t>Finance's file. Then the call.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D is cheap here, which the design slide prices. Leave the board drawing up. Then the</a:t>
            </a:r>
          </a:p>
          <a:p>
            <a:r>
              <a:t>first of the three questions every readout needs.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Predict, then notebook 6's first section. The campaigns table is the plan; the</a:t>
            </a:r>
          </a:p>
          <a:p>
            <a:r>
              <a:t>platform's list is what was sent, so where they disagree the list is the one to trust for who got</a:t>
            </a:r>
          </a:p>
          <a:p>
            <a:r>
              <a:t>the sale.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That is the first of the three questions answered: the groups were chosen. Ask</a:t>
            </a:r>
          </a:p>
          <a:p>
            <a:r>
              <a:t>what a rule that picks "engaged" customers would do to any comparison. Then the readout a hurried</a:t>
            </a:r>
          </a:p>
          <a:p>
            <a:r>
              <a:t>analyst writes.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arithmetic is right. Ask what else happened between July and August, and how</a:t>
            </a:r>
          </a:p>
          <a:p>
            <a:r>
              <a:t>many orders July's figure stands on. Take two answers. Then what else 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6 draws these two rows as lines. Point at May to June: a fall of more than</a:t>
            </a:r>
          </a:p>
          <a:p>
            <a:r>
              <a:t>half, no campaign anywhere. A month's revenue on a few orders swings by half on its own. Then the</a:t>
            </a:r>
          </a:p>
          <a:p>
            <a:r>
              <a:t>like-for-like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These are different customers in each segment, so the chance reference shuffles the</a:t>
            </a:r>
          </a:p>
          <a:p>
            <a:r>
              <a:t>segment labels across both segments' delivered Q2 orders, 5,000 times. As in chapter 1, both</a:t>
            </a:r>
          </a:p>
          <a:p>
            <a:r>
              <a:t>directions are reported, since neither was fixed before August was seen: 0.82 either way, 0.40 for a</a:t>
            </a:r>
          </a:p>
          <a:p>
            <a:r>
              <a:t>Retail-Plus share that much higher. What changed: a 170 percent claim shrinks to "no sign in the</a:t>
            </a:r>
          </a:p>
          <a:p>
            <a:r>
              <a:t>months". Then the test as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loop against chapter 1's: the same idea, a chance-only world built many</a:t>
            </a:r>
          </a:p>
          <a:p>
            <a:r>
              <a:t>times, with the design deciding how. The notebook's function is month_share_test, seed 2026. Then</a:t>
            </a:r>
          </a:p>
          <a:p>
            <a:r>
              <a:t>the comparison that would settle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Meet the two lists head-on. The morning priced the retention offer on "the whole</a:t>
            </a:r>
          </a:p>
          <a:p>
            <a:r>
              <a:t>tier" of 22 and tests it on half of them, and this hold-back takes 14 of 70. Both are right: the 22</a:t>
            </a:r>
          </a:p>
          <a:p>
            <a:r>
              <a:t>are Finance's order file, where Retail-Plus members delivered about Rs 1,139 each in August; the 70</a:t>
            </a:r>
          </a:p>
          <a:p>
            <a:r>
              <a:t>are the platform's list, where Retail-Plus customers who did not get the sale averaged Rs 5,000.</a:t>
            </a:r>
          </a:p>
          <a:p>
            <a:r>
              <a:t>Different ids and different measures, delivered revenue per member against the platform's average</a:t>
            </a:r>
          </a:p>
          <a:p>
            <a:r>
              <a:t>spend, so neither checks the other. Fourteen are too few to see a 6 percent lift; sizing a hold-back</a:t>
            </a:r>
          </a:p>
          <a:p>
            <a:r>
              <a:t>is power, which comes later. Chance decides who gets the sale, so the groups are alike in everything</a:t>
            </a:r>
          </a:p>
          <a:p>
            <a:r>
              <a:t>else on average, including who was going to buy anyway. Then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6's second route, a placebo: the same month-share test on a different</a:t>
            </a:r>
          </a:p>
          <a:p>
            <a:r>
              <a:t>quarter of Finance's file, sharing nothing with chapter 4's split. Shuffled labels make May's and</a:t>
            </a:r>
          </a:p>
          <a:p>
            <a:r>
              <a:t>June's gaps in about 15 and 7 deals in 100 counting either way. Chapter 4's split found 3 percent</a:t>
            </a:r>
          </a:p>
          <a:p>
            <a:r>
              <a:t>less in both segments; neither route shows the lift Marketing claimed, and neither is a fair</a:t>
            </a:r>
          </a:p>
          <a:p>
            <a:r>
              <a:t>comparison, because nobody tossed a coin. That is why the action is the hold-back. Then the</a:t>
            </a:r>
          </a:p>
          <a:p>
            <a:r>
              <a:t>chapter's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Kavya keeps any verdict on Marketing's work out of it: the test is a way forward.</a:t>
            </a:r>
          </a:p>
          <a:p>
            <a:r>
              <a:t>The design question for the drill: before and after, the change beside the change, the split, or a</a:t>
            </a:r>
          </a:p>
          <a:p>
            <a:r>
              <a:t>hold-back, which would you defend to a CFO? Then the escalated case, fifty minutes alone.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Fifty minutes, unguided. The TODO notebook is notebooks/C2_W01_D04_ex1_escalated_case_STUDENT.ipynb</a:t>
            </a:r>
          </a:p>
          <a:p>
            <a:r>
              <a:t>and the brief is exercises/unguided/C2_W01_D04_escalated_STUDENT.md. The support TA answers</a:t>
            </a:r>
          </a:p>
          <a:p>
            <a:r>
              <a:t>environment problems only. Collect the room's part 4 and part 5 answers for the debrief.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five parts. The case repeats the chapters on purpose, alone and fast,</a:t>
            </a:r>
          </a:p>
          <a:p>
            <a:r>
              <a:t>with twelve choices to make in the notebook and a note to write at the end. Each check cell compares</a:t>
            </a:r>
          </a:p>
          <a:p>
            <a:r>
              <a:t>the learner's numbers with the numbers they should reach. Start the clock. Then leave the next slide</a:t>
            </a:r>
          </a:p>
          <a:p>
            <a:r>
              <a:t>up while the room works.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48 minutes. Leave this slide up while the room works. Then the debrief.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Before this chapter, collect the room's part 4 letters and three anonymised</a:t>
            </a:r>
          </a:p>
          <a:p>
            <a:r>
              <a:t>note lines. Run the wrong answers in order of how many made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Read one real sentence from the room for each row, anonymised, and have the room</a:t>
            </a:r>
          </a:p>
          <a:p>
            <a:r>
              <a:t>fix it aloud. A note with no caveat is the most common gap; read one and ask what would change it.</a:t>
            </a:r>
          </a:p>
          <a:p>
            <a:r>
              <a:t>Then the discount line.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Letters. Option c sounds careful and gives Meera nothing to act on. Option d</a:t>
            </a:r>
          </a:p>
          <a:p>
            <a:r>
              <a:t>overclaims in the other direction.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b aloud against the room's own lines. Then the break, then the second case,</a:t>
            </a:r>
          </a:p>
          <a:p>
            <a:r>
              <a:t>where Marketing pushes back with a new number.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Ten-minute break before this chapter, then forty minutes in pairs. Pairs work from</a:t>
            </a:r>
          </a:p>
          <a:p>
            <a:r>
              <a:t>exercises/unguided/C2_W01_D04_pushback_STUDENT.md and notebooks/C2_W01_D04_ex2_second_case_STUDENT.ipynb.</a:t>
            </a:r>
          </a:p>
          <a:p>
            <a:r>
              <a:t>One partner plays Marketing for the last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Move 4 is spoken before anything is written. The partner playing Marketing is</a:t>
            </a:r>
          </a:p>
          <a:p>
            <a:r>
              <a:t>allowed to push once more, and the pair answers with chapter 6's design and its price. Then</a:t>
            </a:r>
          </a:p>
          <a:p>
            <a:r>
              <a:t>Marketing's rebuttal.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Both numbers are in the platform's list and the pair can reproduce them. The trap is</a:t>
            </a:r>
          </a:p>
          <a:p>
            <a:r>
              <a:t>the comparison: one segment's exposed members against everyone unexposed. Let the pairs find it.</a:t>
            </a:r>
          </a:p>
          <a:p>
            <a:r>
              <a:t>Then what the discount cost.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then the pairs work for the rest of the forty. The campaigns table records 15</a:t>
            </a:r>
          </a:p>
          <a:p>
            <a:r>
              <a:t>percent off. The platform's list does not say whether its August spend is before or after the</a:t>
            </a:r>
          </a:p>
          <a:p>
            <a:r>
              <a:t>discount; the pair sizes it both ways and lists the question for Marketing rather than assuming it.</a:t>
            </a:r>
          </a:p>
          <a:p>
            <a:r>
              <a:t>Notebook ex2, move 4, computes the 9.8 percent. Then the interview drill.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Pairs: one asks, one answers in sixty seconds, the asker scores on the four</a:t>
            </a:r>
          </a:p>
          <a:p>
            <a:r>
              <a:t>parts. Swap every question. The model answers are in the study notes and the day sheet.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About a minute and a half per question including the swap. Listen for p-value</a:t>
            </a:r>
          </a:p>
          <a:p>
            <a:r>
              <a:t>sentences that talk about the real world; stop the pair and ask which world the share was counted</a:t>
            </a:r>
          </a:p>
          <a:p>
            <a:r>
              <a:t>in. Then the follow-ups.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The design question is the one the day added: the answer names the option, sizes</a:t>
            </a:r>
          </a:p>
          <a:p>
            <a:r>
              <a:t>it on this file, and names the fact that would switch it, including the design of the data (the same</a:t>
            </a:r>
          </a:p>
          <a:p>
            <a:r>
              <a:t>customers twice, or different customers). The last one is recognition only: about one in twenty</a:t>
            </a:r>
          </a:p>
          <a:p>
            <a:r>
              <a:t>chance-only tests reaches 0.05 by itself. Then how an answer is scored.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asker ticks each part heard. A missing caveat is the most common gap; the</a:t>
            </a:r>
          </a:p>
          <a:p>
            <a:r>
              <a:t>second most common is evidence with no count. Then the close.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the sentence to Meera (2), the six lines (2), the Kahoot (9), Friday's</a:t>
            </a:r>
          </a:p>
          <a:p>
            <a:r>
              <a:t>question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Keep this slide back until three learners have read their own sentence to Meera</a:t>
            </a:r>
          </a:p>
          <a:p>
            <a:r>
              <a:t>aloud, then show it and compare. Each line carries a number and a caveat, and none is a yes. Then the</a:t>
            </a:r>
          </a:p>
          <a:p>
            <a:r>
              <a:t>six lines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same six close the study notes and head the cheat sheet, word for word. Have</a:t>
            </a:r>
          </a:p>
          <a:p>
            <a:r>
              <a:t>the room read line 1 aloud together. Line 5 is the one Saturday's paper asks for from memory. Then</a:t>
            </a:r>
          </a:p>
          <a:p>
            <a:r>
              <a:t>the Kahoot.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9 minutes. Run kahoot/C2_W01_D04_quiz_STUDENT.md. Stop after item 2 and item 7 for thirty</a:t>
            </a:r>
          </a:p>
          <a:p>
            <a:r>
              <a:t>seconds each: the p-value read as the chance of being wrong, and significance read as importance.</a:t>
            </a:r>
          </a:p>
          <a:p>
            <a:r>
              <a:t>Then Friday's question.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Kavya takes Friday, as the pre-read tells the room. Leave the question open: can</a:t>
            </a:r>
          </a:p>
          <a:p>
            <a:r>
              <a:t>each of you run the week's method alone, and hold the note when Marketing pushes? Do not preview the</a:t>
            </a:r>
          </a:p>
          <a:p>
            <a:r>
              <a:t>lab's file or its defects. Say tonight's take-home and the pre-read, and that the note is read aloud</a:t>
            </a:r>
          </a:p>
          <a:p>
            <a:r>
              <a:t>to someone outside the programme before Friday.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4.png"/><Relationship Id="rId6"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8.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20.png"/><Relationship Id="rId6"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4.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7.xml"/><Relationship Id="rId6"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10.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7.xml"/><Relationship Id="rId6"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574025"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THURSDAY  ·  AFTERNOON</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Should the sale run again at Diwali?</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“Diwali is five weeks away. I want the monsoon sale again, and I want it for more of the base.”</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The marketing lead, Kalpa Retail, answering the morning's note before Monday's growth review</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248656"/>
            <a:ext cx="1425035" cy="185166"/>
          </a:xfrm>
          <a:prstGeom prst="rect">
            <a:avLst/>
          </a:prstGeom>
          <a:noFill/>
        </p:spPr>
        <p:txBody>
          <a:bodyPr wrap="square" anchor="t" lIns="0" rIns="0" tIns="0" bIns="0">
            <a:spAutoFit/>
          </a:bodyPr>
          <a:lstStyle/>
          <a:p>
            <a:pPr algn="l"/>
            <a:r>
              <a:rPr sz="900" b="0" i="0">
                <a:solidFill>
                  <a:srgbClr val="FFFFFF"/>
                </a:solidFill>
                <a:latin typeface="Calibri"/>
              </a:rPr>
              <a:t>What would settle it?</a:t>
            </a:r>
          </a:p>
        </p:txBody>
      </p:sp>
      <p:sp>
        <p:nvSpPr>
          <p:cNvPr id="13" name="TextBox 12"/>
          <p:cNvSpPr txBox="1"/>
          <p:nvPr/>
        </p:nvSpPr>
        <p:spPr>
          <a:xfrm>
            <a:off x="261375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2997803" y="5248656"/>
            <a:ext cx="1365885" cy="185166"/>
          </a:xfrm>
          <a:prstGeom prst="rect">
            <a:avLst/>
          </a:prstGeom>
          <a:noFill/>
        </p:spPr>
        <p:txBody>
          <a:bodyPr wrap="square" anchor="t" lIns="0" rIns="0" tIns="0" bIns="0">
            <a:spAutoFit/>
          </a:bodyPr>
          <a:lstStyle/>
          <a:p>
            <a:pPr algn="l"/>
            <a:r>
              <a:rPr sz="900" b="0" i="0">
                <a:solidFill>
                  <a:srgbClr val="FFFFFF"/>
                </a:solidFill>
                <a:latin typeface="Calibri"/>
              </a:rPr>
              <a:t>Can you do it alone?</a:t>
            </a:r>
          </a:p>
        </p:txBody>
      </p:sp>
      <p:sp>
        <p:nvSpPr>
          <p:cNvPr id="15" name="TextBox 14"/>
          <p:cNvSpPr txBox="1"/>
          <p:nvPr/>
        </p:nvSpPr>
        <p:spPr>
          <a:xfrm>
            <a:off x="4546568"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4930616"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Which lines broke?</a:t>
            </a:r>
          </a:p>
        </p:txBody>
      </p:sp>
      <p:sp>
        <p:nvSpPr>
          <p:cNvPr id="17" name="TextBox 16"/>
          <p:cNvSpPr txBox="1"/>
          <p:nvPr/>
        </p:nvSpPr>
        <p:spPr>
          <a:xfrm>
            <a:off x="6361080"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09</a:t>
            </a:r>
          </a:p>
        </p:txBody>
      </p:sp>
      <p:sp>
        <p:nvSpPr>
          <p:cNvPr id="18" name="TextBox 17"/>
          <p:cNvSpPr txBox="1"/>
          <p:nvPr/>
        </p:nvSpPr>
        <p:spPr>
          <a:xfrm>
            <a:off x="6745128"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Is the split fair?</a:t>
            </a:r>
          </a:p>
        </p:txBody>
      </p:sp>
      <p:sp>
        <p:nvSpPr>
          <p:cNvPr id="19" name="TextBox 18"/>
          <p:cNvSpPr txBox="1"/>
          <p:nvPr/>
        </p:nvSpPr>
        <p:spPr>
          <a:xfrm>
            <a:off x="8175593"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10</a:t>
            </a:r>
          </a:p>
        </p:txBody>
      </p:sp>
      <p:sp>
        <p:nvSpPr>
          <p:cNvPr id="20" name="TextBox 19"/>
          <p:cNvSpPr txBox="1"/>
          <p:nvPr/>
        </p:nvSpPr>
        <p:spPr>
          <a:xfrm>
            <a:off x="8559641" y="5248656"/>
            <a:ext cx="1306734" cy="185166"/>
          </a:xfrm>
          <a:prstGeom prst="rect">
            <a:avLst/>
          </a:prstGeom>
          <a:noFill/>
        </p:spPr>
        <p:txBody>
          <a:bodyPr wrap="square" anchor="t" lIns="0" rIns="0" tIns="0" bIns="0">
            <a:spAutoFit/>
          </a:bodyPr>
          <a:lstStyle/>
          <a:p>
            <a:pPr algn="l"/>
            <a:r>
              <a:rPr sz="900" b="0" i="0">
                <a:solidFill>
                  <a:srgbClr val="FFFFFF"/>
                </a:solidFill>
                <a:latin typeface="Calibri"/>
              </a:rPr>
              <a:t>Sixty seconds each?</a:t>
            </a:r>
          </a:p>
        </p:txBody>
      </p:sp>
      <p:sp>
        <p:nvSpPr>
          <p:cNvPr id="21" name="TextBox 20"/>
          <p:cNvSpPr txBox="1"/>
          <p:nvPr/>
        </p:nvSpPr>
        <p:spPr>
          <a:xfrm>
            <a:off x="621792" y="5632704"/>
            <a:ext cx="365760" cy="251205"/>
          </a:xfrm>
          <a:prstGeom prst="rect">
            <a:avLst/>
          </a:prstGeom>
          <a:noFill/>
        </p:spPr>
        <p:txBody>
          <a:bodyPr wrap="square" anchor="t" lIns="0" rIns="0" tIns="0" bIns="0">
            <a:spAutoFit/>
          </a:bodyPr>
          <a:lstStyle/>
          <a:p>
            <a:pPr algn="l"/>
            <a:r>
              <a:rPr sz="1300" b="0" i="0">
                <a:solidFill>
                  <a:srgbClr val="D9A7FF"/>
                </a:solidFill>
                <a:latin typeface="Georgia"/>
              </a:rPr>
              <a:t>11</a:t>
            </a:r>
          </a:p>
        </p:txBody>
      </p:sp>
      <p:sp>
        <p:nvSpPr>
          <p:cNvPr id="22" name="TextBox 21"/>
          <p:cNvSpPr txBox="1"/>
          <p:nvPr/>
        </p:nvSpPr>
        <p:spPr>
          <a:xfrm>
            <a:off x="1005839" y="5669280"/>
            <a:ext cx="1484185" cy="185166"/>
          </a:xfrm>
          <a:prstGeom prst="rect">
            <a:avLst/>
          </a:prstGeom>
          <a:noFill/>
        </p:spPr>
        <p:txBody>
          <a:bodyPr wrap="square" anchor="t" lIns="0" rIns="0" tIns="0" bIns="0">
            <a:spAutoFit/>
          </a:bodyPr>
          <a:lstStyle/>
          <a:p>
            <a:pPr algn="l"/>
            <a:r>
              <a:rPr sz="900" b="0" i="0">
                <a:solidFill>
                  <a:srgbClr val="FFFFFF"/>
                </a:solidFill>
                <a:latin typeface="Calibri"/>
              </a:rPr>
              <a:t>What do we tell Meera?</a:t>
            </a:r>
          </a:p>
        </p:txBody>
      </p:sp>
      <p:sp>
        <p:nvSpPr>
          <p:cNvPr id="23" name="TextBox 2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morning answered five questions on one page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morning settle, and what does Marketing's reply now ask?</a:t>
            </a:r>
          </a:p>
        </p:txBody>
      </p:sp>
      <p:graphicFrame>
        <p:nvGraphicFramePr>
          <p:cNvPr id="9" name="Table 8"/>
          <p:cNvGraphicFramePr>
            <a:graphicFrameLocks noGrp="1"/>
          </p:cNvGraphicFramePr>
          <p:nvPr/>
        </p:nvGraphicFramePr>
        <p:xfrm>
          <a:off x="530352" y="1956816"/>
          <a:ext cx="11130989" cy="2218944"/>
        </p:xfrm>
        <a:graphic>
          <a:graphicData uri="http://schemas.openxmlformats.org/drawingml/2006/table">
            <a:tbl>
              <a:tblPr firstRow="0" bandRow="0">
                <a:tableStyleId>{2D5ABB26-0587-4C30-8999-92F81FD0307C}</a:tableStyleId>
              </a:tblPr>
              <a:tblGrid>
                <a:gridCol w="1196833"/>
                <a:gridCol w="2854241"/>
                <a:gridCol w="7079915"/>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Its question</a:t>
                      </a:r>
                    </a:p>
                  </a:txBody>
                  <a:tcPr marL="101600" marR="101600" marT="38100" marB="38100" anchor="ctr">
                    <a:solidFill>
                      <a:srgbClr val="1A0F5C"/>
                    </a:solidFill>
                  </a:tcPr>
                </a:tc>
                <a:tc>
                  <a:txBody>
                    <a:bodyPr/>
                    <a:lstStyle/>
                    <a:p>
                      <a:r>
                        <a:rPr sz="1450" b="1" i="0">
                          <a:solidFill>
                            <a:srgbClr val="FFFFFF"/>
                          </a:solidFill>
                          <a:latin typeface="Calibri"/>
                        </a:rPr>
                        <a:t>The answer</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Real, or the wobble?</a:t>
                      </a:r>
                    </a:p>
                  </a:txBody>
                  <a:tcPr marL="101600" marR="101600" marT="38100" marB="38100" anchor="ctr">
                    <a:solidFill>
                      <a:srgbClr val="FFFFFF"/>
                    </a:solidFill>
                  </a:tcPr>
                </a:tc>
                <a:tc>
                  <a:txBody>
                    <a:bodyPr/>
                    <a:lstStyle/>
                    <a:p>
                      <a:r>
                        <a:rPr sz="1400" b="0" i="0">
                          <a:solidFill>
                            <a:srgbClr val="1A1440"/>
                          </a:solidFill>
                          <a:latin typeface="Calibri"/>
                        </a:rPr>
                        <a:t>Borderline: 0.029 of flips counting falls, 0.057 either way</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Worth acting on?</a:t>
                      </a:r>
                    </a:p>
                  </a:txBody>
                  <a:tcPr marL="101600" marR="101600" marT="38100" marB="38100" anchor="ctr">
                    <a:solidFill>
                      <a:srgbClr val="F4F2FA"/>
                    </a:solidFill>
                  </a:tcPr>
                </a:tc>
                <a:tc>
                  <a:txBody>
                    <a:bodyPr/>
                    <a:lstStyle/>
                    <a:p>
                      <a:r>
                        <a:rPr sz="1400" b="0" i="0">
                          <a:solidFill>
                            <a:srgbClr val="1A1440"/>
                          </a:solidFill>
                          <a:latin typeface="Calibri"/>
                        </a:rPr>
                        <a:t>Worth watching, and not worth acting on alone: Rs 24,420 a quarter</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How many behind 40%?</a:t>
                      </a:r>
                    </a:p>
                  </a:txBody>
                  <a:tcPr marL="101600" marR="101600" marT="38100" marB="38100" anchor="ctr">
                    <a:solidFill>
                      <a:srgbClr val="FFFFFF"/>
                    </a:solidFill>
                  </a:tcPr>
                </a:tc>
                <a:tc>
                  <a:txBody>
                    <a:bodyPr/>
                    <a:lstStyle/>
                    <a:p>
                      <a:r>
                        <a:rPr sz="1400" b="0" i="0">
                          <a:solidFill>
                            <a:srgbClr val="1A1440"/>
                          </a:solidFill>
                          <a:latin typeface="Calibri"/>
                        </a:rPr>
                        <a:t>Not yet: under thirty customers, and chance makes it 4 times in 10</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Did the discount work?</a:t>
                      </a:r>
                    </a:p>
                  </a:txBody>
                  <a:tcPr marL="101600" marR="101600" marT="38100" marB="38100" anchor="ctr">
                    <a:solidFill>
                      <a:srgbClr val="F4F2FA"/>
                    </a:solidFill>
                  </a:tcPr>
                </a:tc>
                <a:tc>
                  <a:txBody>
                    <a:bodyPr/>
                    <a:lstStyle/>
                    <a:p>
                      <a:r>
                        <a:rPr sz="1400" b="0" i="0">
                          <a:solidFill>
                            <a:srgbClr val="1A1440"/>
                          </a:solidFill>
                          <a:latin typeface="Calibri"/>
                        </a:rPr>
                        <a:t>Not as designed: 3 percent less inside each segment</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What goes on the page?</a:t>
                      </a:r>
                    </a:p>
                  </a:txBody>
                  <a:tcPr marL="101600" marR="101600" marT="38100" marB="38100" anchor="ctr">
                    <a:solidFill>
                      <a:srgbClr val="FFFFFF"/>
                    </a:solidFill>
                  </a:tcPr>
                </a:tc>
                <a:tc>
                  <a:txBody>
                    <a:bodyPr/>
                    <a:lstStyle/>
                    <a:p>
                      <a:r>
                        <a:rPr sz="1400" b="0" i="0">
                          <a:solidFill>
                            <a:srgbClr val="1A1440"/>
                          </a:solidFill>
                          <a:latin typeface="Calibri"/>
                        </a:rPr>
                        <a:t>A four-part note of 193 words</a:t>
                      </a:r>
                    </a:p>
                  </a:txBody>
                  <a:tcPr marL="101600" marR="101600" marT="38100" marB="38100" anchor="ctr">
                    <a:solidFill>
                      <a:srgbClr val="FFFFFF"/>
                    </a:solidFill>
                  </a:tcPr>
                </a:tc>
              </a:tr>
            </a:tbl>
          </a:graphicData>
        </a:graphic>
      </p:graphicFrame>
      <p:sp>
        <p:nvSpPr>
          <p:cNvPr id="10" name="TextBox 9"/>
          <p:cNvSpPr txBox="1"/>
          <p:nvPr/>
        </p:nvSpPr>
        <p:spPr>
          <a:xfrm>
            <a:off x="530352" y="443179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Marketing's reply asks chapter 6's question: who got the sale, what else changed, and what would settle it at Diwali?</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would settle it?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Marketing wants the sale again for more of the base: who got it, what else changed, and what would settle it at Diwali?</a:t>
            </a:r>
          </a:p>
        </p:txBody>
      </p:sp>
      <p:sp>
        <p:nvSpPr>
          <p:cNvPr id="10" name="Rounded Rectangle 9"/>
          <p:cNvSpPr/>
          <p:nvPr/>
        </p:nvSpPr>
        <p:spPr>
          <a:xfrm>
            <a:off x="731519"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six questions, before Diwali's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signs the Diwali plan, and Marketing will defend its campaign on Monday. A sale widened on a jump that belongs to the month multiplies the margin it gives away.</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way can the files answer?</a:t>
            </a:r>
          </a:p>
        </p:txBody>
      </p:sp>
      <p:sp>
        <p:nvSpPr>
          <p:cNvPr id="17" name="TextBox 16"/>
          <p:cNvSpPr txBox="1"/>
          <p:nvPr/>
        </p:nvSpPr>
        <p:spPr>
          <a:xfrm>
            <a:off x="69494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Before-after, beside, inside, hold-back</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Who got it?</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target against the platform's list</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August against July?</a:t>
            </a:r>
          </a:p>
        </p:txBody>
      </p:sp>
      <p:sp>
        <p:nvSpPr>
          <p:cNvPr id="27" name="TextBox 26"/>
          <p:cNvSpPr txBox="1"/>
          <p:nvPr/>
        </p:nvSpPr>
        <p:spPr>
          <a:xfrm>
            <a:off x="4466234"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plausible wrong answer</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else changed?</a:t>
            </a:r>
          </a:p>
        </p:txBody>
      </p:sp>
      <p:sp>
        <p:nvSpPr>
          <p:cNvPr id="32" name="TextBox 31"/>
          <p:cNvSpPr txBox="1"/>
          <p:nvPr/>
        </p:nvSpPr>
        <p:spPr>
          <a:xfrm>
            <a:off x="6351879" y="44648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segment beside it</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would Diwali settle it?</a:t>
            </a:r>
          </a:p>
        </p:txBody>
      </p:sp>
      <p:sp>
        <p:nvSpPr>
          <p:cNvPr id="37" name="TextBox 36"/>
          <p:cNvSpPr txBox="1"/>
          <p:nvPr/>
        </p:nvSpPr>
        <p:spPr>
          <a:xfrm>
            <a:off x="8237524" y="4464812"/>
            <a:ext cx="1373581" cy="201676"/>
          </a:xfrm>
          <a:prstGeom prst="rect">
            <a:avLst/>
          </a:prstGeom>
          <a:noFill/>
        </p:spPr>
        <p:txBody>
          <a:bodyPr wrap="square" anchor="t" lIns="0" rIns="0" tIns="0" bIns="0">
            <a:spAutoFit/>
          </a:bodyPr>
          <a:lstStyle/>
          <a:p>
            <a:pPr algn="l"/>
            <a:r>
              <a:rPr sz="1000" b="0" i="0">
                <a:solidFill>
                  <a:srgbClr val="6B6690"/>
                </a:solidFill>
                <a:latin typeface="Calibri"/>
              </a:rPr>
              <a:t>A hold-back, priced</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465836"/>
          </a:xfrm>
          <a:prstGeom prst="rect">
            <a:avLst/>
          </a:prstGeom>
          <a:noFill/>
        </p:spPr>
        <p:txBody>
          <a:bodyPr wrap="square" anchor="t" lIns="0" rIns="0" tIns="0" bIns="0">
            <a:spAutoFit/>
          </a:bodyPr>
          <a:lstStyle/>
          <a:p>
            <a:pPr algn="l"/>
            <a:r>
              <a:rPr sz="1300" b="1" i="0">
                <a:solidFill>
                  <a:srgbClr val="FFFFFF"/>
                </a:solidFill>
                <a:latin typeface="Calibri"/>
              </a:rPr>
              <a:t>Do quiet months agree?</a:t>
            </a:r>
          </a:p>
        </p:txBody>
      </p:sp>
      <p:sp>
        <p:nvSpPr>
          <p:cNvPr id="42" name="TextBox 41"/>
          <p:cNvSpPr txBox="1"/>
          <p:nvPr/>
        </p:nvSpPr>
        <p:spPr>
          <a:xfrm>
            <a:off x="10123170" y="4464812"/>
            <a:ext cx="1373581" cy="366776"/>
          </a:xfrm>
          <a:prstGeom prst="rect">
            <a:avLst/>
          </a:prstGeom>
          <a:noFill/>
        </p:spPr>
        <p:txBody>
          <a:bodyPr wrap="square" anchor="t" lIns="0" rIns="0" tIns="0" bIns="0">
            <a:spAutoFit/>
          </a:bodyPr>
          <a:lstStyle/>
          <a:p>
            <a:pPr algn="l"/>
            <a:r>
              <a:rPr sz="1000" b="0" i="0">
                <a:solidFill>
                  <a:srgbClr val="CFC9EE"/>
                </a:solidFill>
                <a:latin typeface="Calibri"/>
              </a:rPr>
              <a:t>The same test, no sale</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45" name="Oval 4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47" name="Oval 4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49" name="Oval 4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51" name="Oval 5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53" name="Oval 5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55" name="TextBox 5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wants the sale again, for more of the base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Marketing ask, and what would a wrong yes cost?</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"Diwali is five weeks away. I want the monsoon sale again, and I want it for more of the base." The marketing lead, Kalpa Retail</a:t>
            </a:r>
          </a:p>
        </p:txBody>
      </p:sp>
      <p:sp>
        <p:nvSpPr>
          <p:cNvPr id="14" name="Rounded Rectangle 13"/>
          <p:cNvSpPr/>
          <p:nvPr/>
        </p:nvSpPr>
        <p:spPr>
          <a:xfrm>
            <a:off x="530352" y="3243072"/>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19"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tag_ef63078c2785.png"/>
          <p:cNvPicPr>
            <a:picLocks noChangeAspect="1"/>
          </p:cNvPicPr>
          <p:nvPr/>
        </p:nvPicPr>
        <p:blipFill>
          <a:blip r:embed="rId5"/>
          <a:stretch>
            <a:fillRect/>
          </a:stretch>
        </p:blipFill>
        <p:spPr>
          <a:xfrm>
            <a:off x="841247" y="3553968"/>
            <a:ext cx="237744" cy="237744"/>
          </a:xfrm>
          <a:prstGeom prst="rect">
            <a:avLst/>
          </a:prstGeom>
        </p:spPr>
      </p:pic>
      <p:sp>
        <p:nvSpPr>
          <p:cNvPr id="17" name="TextBox 16"/>
          <p:cNvSpPr txBox="1"/>
          <p:nvPr/>
        </p:nvSpPr>
        <p:spPr>
          <a:xfrm>
            <a:off x="731519" y="401116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8" name="TextBox 17"/>
          <p:cNvSpPr txBox="1"/>
          <p:nvPr/>
        </p:nvSpPr>
        <p:spPr>
          <a:xfrm>
            <a:off x="731519" y="4248912"/>
            <a:ext cx="3186074" cy="267716"/>
          </a:xfrm>
          <a:prstGeom prst="rect">
            <a:avLst/>
          </a:prstGeom>
          <a:noFill/>
        </p:spPr>
        <p:txBody>
          <a:bodyPr wrap="square" anchor="t" lIns="0" rIns="0" tIns="0" bIns="0">
            <a:spAutoFit/>
          </a:bodyPr>
          <a:lstStyle/>
          <a:p>
            <a:pPr algn="l"/>
            <a:r>
              <a:rPr sz="1400" b="1" i="0">
                <a:solidFill>
                  <a:srgbClr val="1A0F5C"/>
                </a:solidFill>
                <a:latin typeface="Calibri"/>
              </a:rPr>
              <a:t>Revenue without the sale</a:t>
            </a:r>
          </a:p>
        </p:txBody>
      </p:sp>
      <p:sp>
        <p:nvSpPr>
          <p:cNvPr id="19" name="TextBox 18"/>
          <p:cNvSpPr txBox="1"/>
          <p:nvPr/>
        </p:nvSpPr>
        <p:spPr>
          <a:xfrm>
            <a:off x="731519" y="4589780"/>
            <a:ext cx="3186074" cy="581406"/>
          </a:xfrm>
          <a:prstGeom prst="rect">
            <a:avLst/>
          </a:prstGeom>
          <a:noFill/>
        </p:spPr>
        <p:txBody>
          <a:bodyPr wrap="square" anchor="t" lIns="0" rIns="0" tIns="0" bIns="0">
            <a:spAutoFit/>
          </a:bodyPr>
          <a:lstStyle/>
          <a:p>
            <a:pPr algn="l"/>
            <a:r>
              <a:rPr sz="1100" b="0" i="0">
                <a:solidFill>
                  <a:srgbClr val="6B6690"/>
                </a:solidFill>
                <a:latin typeface="Calibri"/>
              </a:rPr>
              <a:t>What the targeted customers would have spent in August if nobody had offered them 15 percent off.</a:t>
            </a:r>
          </a:p>
        </p:txBody>
      </p:sp>
      <p:sp>
        <p:nvSpPr>
          <p:cNvPr id="20" name="Rounded Rectangle 19"/>
          <p:cNvSpPr/>
          <p:nvPr/>
        </p:nvSpPr>
        <p:spPr>
          <a:xfrm>
            <a:off x="4301642" y="3243072"/>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502810"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user_c13406686cbb.png"/>
          <p:cNvPicPr>
            <a:picLocks noChangeAspect="1"/>
          </p:cNvPicPr>
          <p:nvPr/>
        </p:nvPicPr>
        <p:blipFill>
          <a:blip r:embed="rId6"/>
          <a:stretch>
            <a:fillRect/>
          </a:stretch>
        </p:blipFill>
        <p:spPr>
          <a:xfrm>
            <a:off x="4612538" y="3553968"/>
            <a:ext cx="237744" cy="237744"/>
          </a:xfrm>
          <a:prstGeom prst="rect">
            <a:avLst/>
          </a:prstGeom>
        </p:spPr>
      </p:pic>
      <p:sp>
        <p:nvSpPr>
          <p:cNvPr id="23" name="TextBox 22"/>
          <p:cNvSpPr txBox="1"/>
          <p:nvPr/>
        </p:nvSpPr>
        <p:spPr>
          <a:xfrm>
            <a:off x="4502810" y="401116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DECIDES</a:t>
            </a:r>
          </a:p>
        </p:txBody>
      </p:sp>
      <p:sp>
        <p:nvSpPr>
          <p:cNvPr id="24" name="TextBox 23"/>
          <p:cNvSpPr txBox="1"/>
          <p:nvPr/>
        </p:nvSpPr>
        <p:spPr>
          <a:xfrm>
            <a:off x="4502810" y="4248912"/>
            <a:ext cx="3186074" cy="267716"/>
          </a:xfrm>
          <a:prstGeom prst="rect">
            <a:avLst/>
          </a:prstGeom>
          <a:noFill/>
        </p:spPr>
        <p:txBody>
          <a:bodyPr wrap="square" anchor="t" lIns="0" rIns="0" tIns="0" bIns="0">
            <a:spAutoFit/>
          </a:bodyPr>
          <a:lstStyle/>
          <a:p>
            <a:pPr algn="l"/>
            <a:r>
              <a:rPr sz="1400" b="1" i="0">
                <a:solidFill>
                  <a:srgbClr val="1A0F5C"/>
                </a:solidFill>
                <a:latin typeface="Calibri"/>
              </a:rPr>
              <a:t>Meera signs Diwali</a:t>
            </a:r>
          </a:p>
        </p:txBody>
      </p:sp>
      <p:sp>
        <p:nvSpPr>
          <p:cNvPr id="25" name="TextBox 24"/>
          <p:cNvSpPr txBox="1"/>
          <p:nvPr/>
        </p:nvSpPr>
        <p:spPr>
          <a:xfrm>
            <a:off x="4502810" y="4589780"/>
            <a:ext cx="3186074" cy="581406"/>
          </a:xfrm>
          <a:prstGeom prst="rect">
            <a:avLst/>
          </a:prstGeom>
          <a:noFill/>
        </p:spPr>
        <p:txBody>
          <a:bodyPr wrap="square" anchor="t" lIns="0" rIns="0" tIns="0" bIns="0">
            <a:spAutoFit/>
          </a:bodyPr>
          <a:lstStyle/>
          <a:p>
            <a:pPr algn="l"/>
            <a:r>
              <a:rPr sz="1100" b="0" i="0">
                <a:solidFill>
                  <a:srgbClr val="6B6690"/>
                </a:solidFill>
                <a:latin typeface="Calibri"/>
              </a:rPr>
              <a:t>A sale that lifts nothing gives 15 percent of the price to customers who would have bought anyway.</a:t>
            </a:r>
          </a:p>
        </p:txBody>
      </p:sp>
      <p:sp>
        <p:nvSpPr>
          <p:cNvPr id="26" name="Rounded Rectangle 25"/>
          <p:cNvSpPr/>
          <p:nvPr/>
        </p:nvSpPr>
        <p:spPr>
          <a:xfrm>
            <a:off x="8072932" y="3243072"/>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74100" y="34442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triangle-alert_e79485772e4f.png"/>
          <p:cNvPicPr>
            <a:picLocks noChangeAspect="1"/>
          </p:cNvPicPr>
          <p:nvPr/>
        </p:nvPicPr>
        <p:blipFill>
          <a:blip r:embed="rId7"/>
          <a:stretch>
            <a:fillRect/>
          </a:stretch>
        </p:blipFill>
        <p:spPr>
          <a:xfrm>
            <a:off x="8383828" y="3553968"/>
            <a:ext cx="237744" cy="237744"/>
          </a:xfrm>
          <a:prstGeom prst="rect">
            <a:avLst/>
          </a:prstGeom>
        </p:spPr>
      </p:pic>
      <p:sp>
        <p:nvSpPr>
          <p:cNvPr id="29" name="TextBox 28"/>
          <p:cNvSpPr txBox="1"/>
          <p:nvPr/>
        </p:nvSpPr>
        <p:spPr>
          <a:xfrm>
            <a:off x="8274100" y="4011168"/>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CALL COSTS</a:t>
            </a:r>
          </a:p>
        </p:txBody>
      </p:sp>
      <p:sp>
        <p:nvSpPr>
          <p:cNvPr id="30" name="TextBox 29"/>
          <p:cNvSpPr txBox="1"/>
          <p:nvPr/>
        </p:nvSpPr>
        <p:spPr>
          <a:xfrm>
            <a:off x="8274100" y="4248912"/>
            <a:ext cx="3186074" cy="267716"/>
          </a:xfrm>
          <a:prstGeom prst="rect">
            <a:avLst/>
          </a:prstGeom>
          <a:noFill/>
        </p:spPr>
        <p:txBody>
          <a:bodyPr wrap="square" anchor="t" lIns="0" rIns="0" tIns="0" bIns="0">
            <a:spAutoFit/>
          </a:bodyPr>
          <a:lstStyle/>
          <a:p>
            <a:pPr algn="l"/>
            <a:r>
              <a:rPr sz="1400" b="1" i="0">
                <a:solidFill>
                  <a:srgbClr val="FFFFFF"/>
                </a:solidFill>
                <a:latin typeface="Calibri"/>
              </a:rPr>
              <a:t>Margin, at scale</a:t>
            </a:r>
          </a:p>
        </p:txBody>
      </p:sp>
      <p:sp>
        <p:nvSpPr>
          <p:cNvPr id="31" name="TextBox 30"/>
          <p:cNvSpPr txBox="1"/>
          <p:nvPr/>
        </p:nvSpPr>
        <p:spPr>
          <a:xfrm>
            <a:off x="8274100" y="4589780"/>
            <a:ext cx="3186074" cy="399796"/>
          </a:xfrm>
          <a:prstGeom prst="rect">
            <a:avLst/>
          </a:prstGeom>
          <a:noFill/>
        </p:spPr>
        <p:txBody>
          <a:bodyPr wrap="square" anchor="t" lIns="0" rIns="0" tIns="0" bIns="0">
            <a:spAutoFit/>
          </a:bodyPr>
          <a:lstStyle/>
          <a:p>
            <a:pPr algn="l"/>
            <a:r>
              <a:rPr sz="1100" b="0" i="0">
                <a:solidFill>
                  <a:srgbClr val="CFC9EE"/>
                </a:solidFill>
                <a:latin typeface="Calibri"/>
              </a:rPr>
              <a:t>Widening the sale to more of the base multiplies whatever it gives away.</a:t>
            </a:r>
          </a:p>
        </p:txBody>
      </p:sp>
      <p:sp>
        <p:nvSpPr>
          <p:cNvPr id="32" name="Oval 3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34" name="Oval 3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6" name="Oval 35"/>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38" name="Oval 3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40" name="Oval 39"/>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42" name="Oval 41"/>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eBay's test found most ad credit arrived anyway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tested what its campaign caused?</a:t>
            </a:r>
          </a:p>
        </p:txBody>
      </p:sp>
      <p:sp>
        <p:nvSpPr>
          <p:cNvPr id="9" name="Rounded Rectangle 8"/>
          <p:cNvSpPr/>
          <p:nvPr/>
        </p:nvSpPr>
        <p:spPr>
          <a:xfrm>
            <a:off x="530352" y="1956816"/>
            <a:ext cx="5474055"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earch_280cbd79ce21.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BRAND-NAME ADS</a:t>
            </a:r>
          </a:p>
        </p:txBody>
      </p:sp>
      <p:sp>
        <p:nvSpPr>
          <p:cNvPr id="13" name="TextBox 12"/>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No measurable benefit</a:t>
            </a:r>
          </a:p>
        </p:txBody>
      </p:sp>
      <p:sp>
        <p:nvSpPr>
          <p:cNvPr id="14" name="TextBox 13"/>
          <p:cNvSpPr txBox="1"/>
          <p:nvPr/>
        </p:nvSpPr>
        <p:spPr>
          <a:xfrm>
            <a:off x="731519" y="3303524"/>
            <a:ext cx="5071719" cy="399796"/>
          </a:xfrm>
          <a:prstGeom prst="rect">
            <a:avLst/>
          </a:prstGeom>
          <a:noFill/>
        </p:spPr>
        <p:txBody>
          <a:bodyPr wrap="square" anchor="t" lIns="0" rIns="0" tIns="0" bIns="0">
            <a:spAutoFit/>
          </a:bodyPr>
          <a:lstStyle/>
          <a:p>
            <a:pPr algn="l"/>
            <a:r>
              <a:rPr sz="1100" b="0" i="0">
                <a:solidFill>
                  <a:srgbClr val="6B6690"/>
                </a:solidFill>
                <a:latin typeface="Calibri"/>
              </a:rPr>
              <a:t>When eBay stopped them in a test, almost all of the lost clicks arrived through ordinary search results instead.</a:t>
            </a:r>
          </a:p>
        </p:txBody>
      </p:sp>
      <p:sp>
        <p:nvSpPr>
          <p:cNvPr id="15" name="Rounded Rectangle 14"/>
          <p:cNvSpPr/>
          <p:nvPr/>
        </p:nvSpPr>
        <p:spPr>
          <a:xfrm>
            <a:off x="6187287" y="1956816"/>
            <a:ext cx="5474055"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88455"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cale_e4d6117bdfb8.png"/>
          <p:cNvPicPr>
            <a:picLocks noChangeAspect="1"/>
          </p:cNvPicPr>
          <p:nvPr/>
        </p:nvPicPr>
        <p:blipFill>
          <a:blip r:embed="rId5"/>
          <a:stretch>
            <a:fillRect/>
          </a:stretch>
        </p:blipFill>
        <p:spPr>
          <a:xfrm>
            <a:off x="6498183" y="2267712"/>
            <a:ext cx="237744" cy="237744"/>
          </a:xfrm>
          <a:prstGeom prst="rect">
            <a:avLst/>
          </a:prstGeom>
        </p:spPr>
      </p:pic>
      <p:sp>
        <p:nvSpPr>
          <p:cNvPr id="18" name="TextBox 17"/>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CONTROLLED AGAINST USUAL</a:t>
            </a:r>
          </a:p>
        </p:txBody>
      </p:sp>
      <p:sp>
        <p:nvSpPr>
          <p:cNvPr id="19" name="TextBox 18"/>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FFFFFF"/>
                </a:solidFill>
                <a:latin typeface="Calibri"/>
              </a:rPr>
              <a:t>A fraction of the credit</a:t>
            </a:r>
          </a:p>
        </p:txBody>
      </p:sp>
      <p:sp>
        <p:nvSpPr>
          <p:cNvPr id="20" name="TextBox 19"/>
          <p:cNvSpPr txBox="1"/>
          <p:nvPr/>
        </p:nvSpPr>
        <p:spPr>
          <a:xfrm>
            <a:off x="6388455" y="3303524"/>
            <a:ext cx="5071719" cy="581406"/>
          </a:xfrm>
          <a:prstGeom prst="rect">
            <a:avLst/>
          </a:prstGeom>
          <a:noFill/>
        </p:spPr>
        <p:txBody>
          <a:bodyPr wrap="square" anchor="t" lIns="0" rIns="0" tIns="0" bIns="0">
            <a:spAutoFit/>
          </a:bodyPr>
          <a:lstStyle/>
          <a:p>
            <a:pPr algn="l"/>
            <a:r>
              <a:rPr sz="1100" b="0" i="0">
                <a:solidFill>
                  <a:srgbClr val="CFC9EE"/>
                </a:solidFill>
                <a:latin typeface="Calibri"/>
              </a:rPr>
              <a:t>Because search clicks and purchases go together, the returns a controlled test found were a fraction of what the usual readings had credited.</a:t>
            </a:r>
          </a:p>
        </p:txBody>
      </p:sp>
      <p:sp>
        <p:nvSpPr>
          <p:cNvPr id="21" name="TextBox 20"/>
          <p:cNvSpPr txBox="1"/>
          <p:nvPr/>
        </p:nvSpPr>
        <p:spPr>
          <a:xfrm>
            <a:off x="530352" y="42941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Blake, Nosko and Tadelis, NBER Working Paper 20171: a campaign is credited with sales it did not cause unless someone asks who would have bought anyway.</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24" name="Oval 2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6" name="Oval 25"/>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30" name="Oval 29"/>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32" name="Oval 31"/>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split today; a random hold-back for Diwali</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ways to ask "did the sale cause it?" can the files answer?</a:t>
            </a:r>
          </a:p>
        </p:txBody>
      </p:sp>
      <p:graphicFrame>
        <p:nvGraphicFramePr>
          <p:cNvPr id="9" name="Table 8"/>
          <p:cNvGraphicFramePr>
            <a:graphicFrameLocks noGrp="1"/>
          </p:cNvGraphicFramePr>
          <p:nvPr/>
        </p:nvGraphicFramePr>
        <p:xfrm>
          <a:off x="530352" y="1956816"/>
          <a:ext cx="11130990" cy="2816352"/>
        </p:xfrm>
        <a:graphic>
          <a:graphicData uri="http://schemas.openxmlformats.org/drawingml/2006/table">
            <a:tbl>
              <a:tblPr firstRow="0" bandRow="0">
                <a:tableStyleId>{2D5ABB26-0587-4C30-8999-92F81FD0307C}</a:tableStyleId>
              </a:tblPr>
              <a:tblGrid>
                <a:gridCol w="2558285"/>
                <a:gridCol w="4635088"/>
                <a:gridCol w="3937617"/>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What it stands on</a:t>
                      </a:r>
                    </a:p>
                  </a:txBody>
                  <a:tcPr marL="101600" marR="101600" marT="38100" marB="38100" anchor="ctr">
                    <a:solidFill>
                      <a:srgbClr val="1A0F5C"/>
                    </a:solidFill>
                  </a:tcPr>
                </a:tc>
                <a:tc>
                  <a:txBody>
                    <a:bodyPr/>
                    <a:lstStyle/>
                    <a:p>
                      <a:r>
                        <a:rPr sz="1450" b="1" i="0">
                          <a:solidFill>
                            <a:srgbClr val="FFFFFF"/>
                          </a:solidFill>
                          <a:latin typeface="Calibri"/>
                        </a:rPr>
                        <a:t>What it assumes</a:t>
                      </a:r>
                    </a:p>
                  </a:txBody>
                  <a:tcPr marL="101600" marR="101600" marT="38100" marB="38100" anchor="ctr">
                    <a:solidFill>
                      <a:srgbClr val="1A0F5C"/>
                    </a:solidFill>
                  </a:tcPr>
                </a:tc>
              </a:tr>
              <a:tr h="611632">
                <a:tc>
                  <a:txBody>
                    <a:bodyPr/>
                    <a:lstStyle/>
                    <a:p>
                      <a:r>
                        <a:rPr sz="1400" b="0" i="0">
                          <a:solidFill>
                            <a:srgbClr val="1A1440"/>
                          </a:solidFill>
                          <a:latin typeface="Calibri"/>
                        </a:rPr>
                        <a:t>A. Before and after</a:t>
                      </a:r>
                    </a:p>
                  </a:txBody>
                  <a:tcPr marL="101600" marR="101600" marT="38100" marB="38100" anchor="ctr">
                    <a:solidFill>
                      <a:srgbClr val="FFFFFF"/>
                    </a:solidFill>
                  </a:tcPr>
                </a:tc>
                <a:tc>
                  <a:txBody>
                    <a:bodyPr/>
                    <a:lstStyle/>
                    <a:p>
                      <a:r>
                        <a:rPr sz="1400" b="0" i="0">
                          <a:solidFill>
                            <a:srgbClr val="1A1440"/>
                          </a:solidFill>
                          <a:latin typeface="Calibri"/>
                        </a:rPr>
                        <a:t>Finance's file: 13 Retail-Plus orders, July and August</a:t>
                      </a:r>
                    </a:p>
                  </a:txBody>
                  <a:tcPr marL="101600" marR="101600" marT="38100" marB="38100" anchor="ctr">
                    <a:solidFill>
                      <a:srgbClr val="FFFFFF"/>
                    </a:solidFill>
                  </a:tcPr>
                </a:tc>
                <a:tc>
                  <a:txBody>
                    <a:bodyPr/>
                    <a:lstStyle/>
                    <a:p>
                      <a:r>
                        <a:rPr sz="1400" b="0" i="0">
                          <a:solidFill>
                            <a:srgbClr val="1A1440"/>
                          </a:solidFill>
                          <a:latin typeface="Calibri"/>
                        </a:rPr>
                        <a:t>Nothing else changed between the months</a:t>
                      </a:r>
                    </a:p>
                  </a:txBody>
                  <a:tcPr marL="101600" marR="101600" marT="38100" marB="38100" anchor="ctr">
                    <a:solidFill>
                      <a:srgbClr val="FFFFFF"/>
                    </a:solidFill>
                  </a:tcPr>
                </a:tc>
              </a:tr>
              <a:tr h="611632">
                <a:tc>
                  <a:txBody>
                    <a:bodyPr/>
                    <a:lstStyle/>
                    <a:p>
                      <a:r>
                        <a:rPr sz="1400" b="0" i="0">
                          <a:solidFill>
                            <a:srgbClr val="1A1440"/>
                          </a:solidFill>
                          <a:latin typeface="Calibri"/>
                        </a:rPr>
                        <a:t>B. The change beside the change</a:t>
                      </a:r>
                    </a:p>
                  </a:txBody>
                  <a:tcPr marL="101600" marR="101600" marT="38100" marB="38100" anchor="ctr">
                    <a:solidFill>
                      <a:srgbClr val="F4F2FA"/>
                    </a:solidFill>
                  </a:tcPr>
                </a:tc>
                <a:tc>
                  <a:txBody>
                    <a:bodyPr/>
                    <a:lstStyle/>
                    <a:p>
                      <a:r>
                        <a:rPr sz="1400" b="0" i="0">
                          <a:solidFill>
                            <a:srgbClr val="1A1440"/>
                          </a:solidFill>
                          <a:latin typeface="Calibri"/>
                        </a:rPr>
                        <a:t>Finance's file: 31 orders, Retail-Plus and Retail-Core</a:t>
                      </a:r>
                    </a:p>
                  </a:txBody>
                  <a:tcPr marL="101600" marR="101600" marT="38100" marB="38100" anchor="ctr">
                    <a:solidFill>
                      <a:srgbClr val="F4F2FA"/>
                    </a:solidFill>
                  </a:tcPr>
                </a:tc>
                <a:tc>
                  <a:txBody>
                    <a:bodyPr/>
                    <a:lstStyle/>
                    <a:p>
                      <a:r>
                        <a:rPr sz="1400" b="0" i="0">
                          <a:solidFill>
                            <a:srgbClr val="1A1440"/>
                          </a:solidFill>
                          <a:latin typeface="Calibri"/>
                        </a:rPr>
                        <a:t>Both segments would have moved alike</a:t>
                      </a:r>
                    </a:p>
                  </a:txBody>
                  <a:tcPr marL="101600" marR="101600" marT="38100" marB="38100" anchor="ctr">
                    <a:solidFill>
                      <a:srgbClr val="F4F2FA"/>
                    </a:solidFill>
                  </a:tcPr>
                </a:tc>
              </a:tr>
              <a:tr h="611632">
                <a:tc>
                  <a:txBody>
                    <a:bodyPr/>
                    <a:lstStyle/>
                    <a:p>
                      <a:r>
                        <a:rPr sz="1400" b="0" i="0">
                          <a:solidFill>
                            <a:srgbClr val="1A1440"/>
                          </a:solidFill>
                          <a:latin typeface="Calibri"/>
                        </a:rPr>
                        <a:t>C. Inside each segment</a:t>
                      </a:r>
                    </a:p>
                  </a:txBody>
                  <a:tcPr marL="101600" marR="101600" marT="38100" marB="38100" anchor="ctr">
                    <a:solidFill>
                      <a:srgbClr val="FFFFFF"/>
                    </a:solidFill>
                  </a:tcPr>
                </a:tc>
                <a:tc>
                  <a:txBody>
                    <a:bodyPr/>
                    <a:lstStyle/>
                    <a:p>
                      <a:r>
                        <a:rPr sz="1400" b="0" i="0">
                          <a:solidFill>
                            <a:srgbClr val="1A1440"/>
                          </a:solidFill>
                          <a:latin typeface="Calibri"/>
                        </a:rPr>
                        <a:t>The platform's list: 160 customers, chapter 4</a:t>
                      </a:r>
                    </a:p>
                  </a:txBody>
                  <a:tcPr marL="101600" marR="101600" marT="38100" marB="38100" anchor="ctr">
                    <a:solidFill>
                      <a:srgbClr val="FFFFFF"/>
                    </a:solidFill>
                  </a:tcPr>
                </a:tc>
                <a:tc>
                  <a:txBody>
                    <a:bodyPr/>
                    <a:lstStyle/>
                    <a:p>
                      <a:r>
                        <a:rPr sz="1400" b="0" i="0">
                          <a:solidFill>
                            <a:srgbClr val="1A1440"/>
                          </a:solidFill>
                          <a:latin typeface="Calibri"/>
                        </a:rPr>
                        <a:t>Who got it was as good as random inside a segment</a:t>
                      </a:r>
                    </a:p>
                  </a:txBody>
                  <a:tcPr marL="101600" marR="101600" marT="38100" marB="38100" anchor="ctr">
                    <a:solidFill>
                      <a:srgbClr val="FFFFFF"/>
                    </a:solidFill>
                  </a:tcPr>
                </a:tc>
              </a:tr>
              <a:tr h="611632">
                <a:tc>
                  <a:txBody>
                    <a:bodyPr/>
                    <a:lstStyle/>
                    <a:p>
                      <a:r>
                        <a:rPr sz="1400" b="0" i="0">
                          <a:solidFill>
                            <a:srgbClr val="1A1440"/>
                          </a:solidFill>
                          <a:latin typeface="Calibri"/>
                        </a:rPr>
                        <a:t>D. A random hold-back at Diwali</a:t>
                      </a:r>
                    </a:p>
                  </a:txBody>
                  <a:tcPr marL="101600" marR="101600" marT="38100" marB="38100" anchor="ctr">
                    <a:solidFill>
                      <a:srgbClr val="F4F2FA"/>
                    </a:solidFill>
                  </a:tcPr>
                </a:tc>
                <a:tc>
                  <a:txBody>
                    <a:bodyPr/>
                    <a:lstStyle/>
                    <a:p>
                      <a:r>
                        <a:rPr sz="1400" b="0" i="0">
                          <a:solidFill>
                            <a:srgbClr val="1A1440"/>
                          </a:solidFill>
                          <a:latin typeface="Calibri"/>
                        </a:rPr>
                        <a:t>The platform's list: a fifth of its 70 Retail-Plus customers</a:t>
                      </a:r>
                    </a:p>
                  </a:txBody>
                  <a:tcPr marL="101600" marR="101600" marT="38100" marB="38100" anchor="ctr">
                    <a:solidFill>
                      <a:srgbClr val="F4F2FA"/>
                    </a:solidFill>
                  </a:tcPr>
                </a:tc>
                <a:tc>
                  <a:txBody>
                    <a:bodyPr/>
                    <a:lstStyle/>
                    <a:p>
                      <a:r>
                        <a:rPr sz="1400" b="0" i="0">
                          <a:solidFill>
                            <a:srgbClr val="1A1440"/>
                          </a:solidFill>
                          <a:latin typeface="Calibri"/>
                        </a:rPr>
                        <a:t>Nothing: a coin decides</a:t>
                      </a:r>
                    </a:p>
                  </a:txBody>
                  <a:tcPr marL="101600" marR="101600" marT="38100" marB="38100" anchor="ctr">
                    <a:solidFill>
                      <a:srgbClr val="F4F2FA"/>
                    </a:solidFill>
                  </a:tcPr>
                </a:tc>
              </a:tr>
            </a:tbl>
          </a:graphicData>
        </a:graphic>
      </p:graphicFrame>
      <p:sp>
        <p:nvSpPr>
          <p:cNvPr id="10" name="TextBox 9"/>
          <p:cNvSpPr txBox="1"/>
          <p:nvPr/>
        </p:nvSpPr>
        <p:spPr>
          <a:xfrm>
            <a:off x="530352" y="502920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platform's list records who received the sale, under its own ids, and cannot be matched to Finance's order file, so each option stands on the file that can answer it.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 today and D for Diwali, unless lakhs are at stake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the hold-back, and what fact would switch the call?</a:t>
            </a:r>
          </a:p>
        </p:txBody>
      </p:sp>
      <p:pic>
        <p:nvPicPr>
          <p:cNvPr id="9" name="mermaid diagram" descr="f5ebc56372b0c601.png"/>
          <p:cNvPicPr>
            <a:picLocks noChangeAspect="1"/>
          </p:cNvPicPr>
          <p:nvPr/>
        </p:nvPicPr>
        <p:blipFill>
          <a:blip r:embed="rId5"/>
          <a:stretch>
            <a:fillRect/>
          </a:stretch>
        </p:blipFill>
        <p:spPr>
          <a:xfrm>
            <a:off x="670837" y="1664208"/>
            <a:ext cx="10850019"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fact that would change the call. </a:t>
            </a:r>
            <a:r>
              <a:rPr sz="1500" b="0" i="0">
                <a:solidFill>
                  <a:srgbClr val="1A1440"/>
                </a:solidFill>
                <a:latin typeface="Calibri"/>
              </a:rPr>
              <a:t>A campaign so large, or a hold-back so hard, that the forgone lift runs into lakhs; then B over a long run of months, with its assumption said aloud.</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who got the monsoon sale?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campaigns table says whom the sale was aimed at: who actually received it?</a:t>
            </a:r>
          </a:p>
        </p:txBody>
      </p:sp>
      <p:pic>
        <p:nvPicPr>
          <p:cNvPr id="9" name="mermaid diagram" descr="97233d4ece6d1eb8.png"/>
          <p:cNvPicPr>
            <a:picLocks noChangeAspect="1"/>
          </p:cNvPicPr>
          <p:nvPr/>
        </p:nvPicPr>
        <p:blipFill>
          <a:blip r:embed="rId5"/>
          <a:stretch>
            <a:fillRect/>
          </a:stretch>
        </p:blipFill>
        <p:spPr>
          <a:xfrm>
            <a:off x="3715657" y="1664208"/>
            <a:ext cx="4760380"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Of the customers who got the sale, the share who are Retail-Plus members is: a) all of them, since it targeted Retail-Plus; b) about half; c) about a tenth; d) none.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half were Retail-Core, so a rule chose them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got the monsoon sale?</a:t>
            </a:r>
          </a:p>
        </p:txBody>
      </p:sp>
      <p:pic>
        <p:nvPicPr>
          <p:cNvPr id="9" name="mermaid diagram" descr="808a0e4d09182de9.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answer is b. Aimed at Retail-Plus, received by 30 Retail-Plus and 30 Retail-Core customers: whatever chose them was a rule, and a rule can pick the customers who were going to buy anyway.</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August against July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August against July show the sale worked?</a:t>
            </a:r>
          </a:p>
        </p:txBody>
      </p:sp>
      <p:pic>
        <p:nvPicPr>
          <p:cNvPr id="9" name="mermaid diagram" descr="4bad38cfce8f3232.png"/>
          <p:cNvPicPr>
            <a:picLocks noChangeAspect="1"/>
          </p:cNvPicPr>
          <p:nvPr/>
        </p:nvPicPr>
        <p:blipFill>
          <a:blip r:embed="rId6"/>
          <a:stretch>
            <a:fillRect/>
          </a:stretch>
        </p:blipFill>
        <p:spPr>
          <a:xfrm>
            <a:off x="780897" y="1956816"/>
            <a:ext cx="10629900" cy="1357312"/>
          </a:xfrm>
          <a:prstGeom prst="rect">
            <a:avLst/>
          </a:prstGeom>
        </p:spPr>
      </p:pic>
      <p:sp>
        <p:nvSpPr>
          <p:cNvPr id="10" name="Rounded Rectangle 9"/>
          <p:cNvSpPr/>
          <p:nvPr/>
        </p:nvSpPr>
        <p:spPr>
          <a:xfrm>
            <a:off x="530352" y="34604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7926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3902392"/>
            <a:ext cx="237744" cy="237744"/>
          </a:xfrm>
          <a:prstGeom prst="rect">
            <a:avLst/>
          </a:prstGeom>
        </p:spPr>
      </p:pic>
      <p:sp>
        <p:nvSpPr>
          <p:cNvPr id="13" name="TextBox 12"/>
          <p:cNvSpPr txBox="1"/>
          <p:nvPr/>
        </p:nvSpPr>
        <p:spPr>
          <a:xfrm>
            <a:off x="1399031" y="36067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3826192"/>
            <a:ext cx="9987991" cy="682752"/>
          </a:xfrm>
          <a:prstGeom prst="rect">
            <a:avLst/>
          </a:prstGeom>
          <a:noFill/>
        </p:spPr>
        <p:txBody>
          <a:bodyPr wrap="square" anchor="t" lIns="0" rIns="0" tIns="0" bIns="0">
            <a:spAutoFit/>
          </a:bodyPr>
          <a:lstStyle/>
          <a:p>
            <a:r>
              <a:rPr sz="1500" b="0" i="0">
                <a:solidFill>
                  <a:srgbClr val="1A1440"/>
                </a:solidFill>
                <a:latin typeface="Calibri"/>
              </a:rPr>
              <a:t>"Retail-Plus delivered Rs 25,060 in August against Rs 9,280 in July, up 170%: the monsoon sale worked, so run it for more of the base at Diwali."</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August moved for everyone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else changed between July and August, and what does a month stand on?</a:t>
            </a:r>
          </a:p>
        </p:txBody>
      </p:sp>
      <p:graphicFrame>
        <p:nvGraphicFramePr>
          <p:cNvPr id="9" name="Table 8"/>
          <p:cNvGraphicFramePr>
            <a:graphicFrameLocks noGrp="1"/>
          </p:cNvGraphicFramePr>
          <p:nvPr/>
        </p:nvGraphicFramePr>
        <p:xfrm>
          <a:off x="530352" y="1956816"/>
          <a:ext cx="11130991" cy="100584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Delivered, Rs</a:t>
                      </a:r>
                    </a:p>
                  </a:txBody>
                  <a:tcPr marL="101600" marR="101600" marT="38100" marB="38100" anchor="ctr">
                    <a:solidFill>
                      <a:srgbClr val="1A0F5C"/>
                    </a:solidFill>
                  </a:tcPr>
                </a:tc>
                <a:tc>
                  <a:txBody>
                    <a:bodyPr/>
                    <a:lstStyle/>
                    <a:p>
                      <a:r>
                        <a:rPr sz="1250" b="1" i="0">
                          <a:solidFill>
                            <a:srgbClr val="FFFFFF"/>
                          </a:solidFill>
                          <a:latin typeface="Calibri"/>
                        </a:rPr>
                        <a:t>Apr</a:t>
                      </a:r>
                    </a:p>
                  </a:txBody>
                  <a:tcPr marL="101600" marR="101600" marT="38100" marB="38100" anchor="ctr">
                    <a:solidFill>
                      <a:srgbClr val="1A0F5C"/>
                    </a:solidFill>
                  </a:tcPr>
                </a:tc>
                <a:tc>
                  <a:txBody>
                    <a:bodyPr/>
                    <a:lstStyle/>
                    <a:p>
                      <a:r>
                        <a:rPr sz="1250" b="1" i="0">
                          <a:solidFill>
                            <a:srgbClr val="FFFFFF"/>
                          </a:solidFill>
                          <a:latin typeface="Calibri"/>
                        </a:rPr>
                        <a:t>May</a:t>
                      </a:r>
                    </a:p>
                  </a:txBody>
                  <a:tcPr marL="101600" marR="101600" marT="38100" marB="38100" anchor="ctr">
                    <a:solidFill>
                      <a:srgbClr val="1A0F5C"/>
                    </a:solidFill>
                  </a:tcPr>
                </a:tc>
                <a:tc>
                  <a:txBody>
                    <a:bodyPr/>
                    <a:lstStyle/>
                    <a:p>
                      <a:r>
                        <a:rPr sz="1250" b="1" i="0">
                          <a:solidFill>
                            <a:srgbClr val="FFFFFF"/>
                          </a:solidFill>
                          <a:latin typeface="Calibri"/>
                        </a:rPr>
                        <a:t>Jun</a:t>
                      </a:r>
                    </a:p>
                  </a:txBody>
                  <a:tcPr marL="101600" marR="101600" marT="38100" marB="38100" anchor="ctr">
                    <a:solidFill>
                      <a:srgbClr val="1A0F5C"/>
                    </a:solidFill>
                  </a:tcPr>
                </a:tc>
                <a:tc>
                  <a:txBody>
                    <a:bodyPr/>
                    <a:lstStyle/>
                    <a:p>
                      <a:r>
                        <a:rPr sz="1250" b="1" i="0">
                          <a:solidFill>
                            <a:srgbClr val="FFFFFF"/>
                          </a:solidFill>
                          <a:latin typeface="Calibri"/>
                        </a:rPr>
                        <a:t>Jul</a:t>
                      </a:r>
                    </a:p>
                  </a:txBody>
                  <a:tcPr marL="101600" marR="101600" marT="38100" marB="38100" anchor="ctr">
                    <a:solidFill>
                      <a:srgbClr val="1A0F5C"/>
                    </a:solidFill>
                  </a:tcPr>
                </a:tc>
                <a:tc>
                  <a:txBody>
                    <a:bodyPr/>
                    <a:lstStyle/>
                    <a:p>
                      <a:r>
                        <a:rPr sz="1250" b="1" i="0">
                          <a:solidFill>
                            <a:srgbClr val="FFFFFF"/>
                          </a:solidFill>
                          <a:latin typeface="Calibri"/>
                        </a:rPr>
                        <a:t>Aug</a:t>
                      </a:r>
                    </a:p>
                  </a:txBody>
                  <a:tcPr marL="101600" marR="101600" marT="38100" marB="38100" anchor="ctr">
                    <a:solidFill>
                      <a:srgbClr val="1A0F5C"/>
                    </a:solidFill>
                  </a:tcPr>
                </a:tc>
                <a:tc>
                  <a:txBody>
                    <a:bodyPr/>
                    <a:lstStyle/>
                    <a:p>
                      <a:r>
                        <a:rPr sz="1250" b="1" i="0">
                          <a:solidFill>
                            <a:srgbClr val="FFFFFF"/>
                          </a:solidFill>
                          <a:latin typeface="Calibri"/>
                        </a:rPr>
                        <a:t>Sep</a:t>
                      </a:r>
                    </a:p>
                  </a:txBody>
                  <a:tcPr marL="101600" marR="101600" marT="38100" marB="38100" anchor="ctr">
                    <a:solidFill>
                      <a:srgbClr val="1A0F5C"/>
                    </a:solidFill>
                  </a:tcPr>
                </a:tc>
              </a:tr>
              <a:tr h="335280">
                <a:tc>
                  <a:txBody>
                    <a:bodyPr/>
                    <a:lstStyle/>
                    <a:p>
                      <a:r>
                        <a:rPr sz="1200" b="0" i="0">
                          <a:solidFill>
                            <a:srgbClr val="1A1440"/>
                          </a:solidFill>
                          <a:latin typeface="Calibri"/>
                        </a:rPr>
                        <a:t>Retail-Plus, targeted</a:t>
                      </a:r>
                    </a:p>
                  </a:txBody>
                  <a:tcPr marL="101600" marR="101600" marT="38100" marB="38100" anchor="ctr">
                    <a:solidFill>
                      <a:srgbClr val="FFFFFF"/>
                    </a:solidFill>
                  </a:tcPr>
                </a:tc>
                <a:tc>
                  <a:txBody>
                    <a:bodyPr/>
                    <a:lstStyle/>
                    <a:p>
                      <a:r>
                        <a:rPr sz="1200" b="0" i="0">
                          <a:solidFill>
                            <a:srgbClr val="1A1440"/>
                          </a:solidFill>
                          <a:latin typeface="Calibri"/>
                        </a:rPr>
                        <a:t>19,650</a:t>
                      </a:r>
                    </a:p>
                  </a:txBody>
                  <a:tcPr marL="101600" marR="101600" marT="38100" marB="38100" anchor="ctr">
                    <a:solidFill>
                      <a:srgbClr val="FFFFFF"/>
                    </a:solidFill>
                  </a:tcPr>
                </a:tc>
                <a:tc>
                  <a:txBody>
                    <a:bodyPr/>
                    <a:lstStyle/>
                    <a:p>
                      <a:r>
                        <a:rPr sz="1200" b="0" i="0">
                          <a:solidFill>
                            <a:srgbClr val="1A1440"/>
                          </a:solidFill>
                          <a:latin typeface="Calibri"/>
                        </a:rPr>
                        <a:t>36,840</a:t>
                      </a:r>
                    </a:p>
                  </a:txBody>
                  <a:tcPr marL="101600" marR="101600" marT="38100" marB="38100" anchor="ctr">
                    <a:solidFill>
                      <a:srgbClr val="FFFFFF"/>
                    </a:solidFill>
                  </a:tcPr>
                </a:tc>
                <a:tc>
                  <a:txBody>
                    <a:bodyPr/>
                    <a:lstStyle/>
                    <a:p>
                      <a:r>
                        <a:rPr sz="1200" b="0" i="0">
                          <a:solidFill>
                            <a:srgbClr val="1A1440"/>
                          </a:solidFill>
                          <a:latin typeface="Calibri"/>
                        </a:rPr>
                        <a:t>15,640</a:t>
                      </a:r>
                    </a:p>
                  </a:txBody>
                  <a:tcPr marL="101600" marR="101600" marT="38100" marB="38100" anchor="ctr">
                    <a:solidFill>
                      <a:srgbClr val="FFFFFF"/>
                    </a:solidFill>
                  </a:tcPr>
                </a:tc>
                <a:tc>
                  <a:txBody>
                    <a:bodyPr/>
                    <a:lstStyle/>
                    <a:p>
                      <a:r>
                        <a:rPr sz="1200" b="0" i="0">
                          <a:solidFill>
                            <a:srgbClr val="1A1440"/>
                          </a:solidFill>
                          <a:latin typeface="Calibri"/>
                        </a:rPr>
                        <a:t>9,280</a:t>
                      </a:r>
                    </a:p>
                  </a:txBody>
                  <a:tcPr marL="101600" marR="101600" marT="38100" marB="38100" anchor="ctr">
                    <a:solidFill>
                      <a:srgbClr val="FFFFFF"/>
                    </a:solidFill>
                  </a:tcPr>
                </a:tc>
                <a:tc>
                  <a:txBody>
                    <a:bodyPr/>
                    <a:lstStyle/>
                    <a:p>
                      <a:r>
                        <a:rPr sz="1200" b="0" i="0">
                          <a:solidFill>
                            <a:srgbClr val="1A1440"/>
                          </a:solidFill>
                          <a:latin typeface="Calibri"/>
                        </a:rPr>
                        <a:t>25,060</a:t>
                      </a:r>
                    </a:p>
                  </a:txBody>
                  <a:tcPr marL="101600" marR="101600" marT="38100" marB="38100" anchor="ctr">
                    <a:solidFill>
                      <a:srgbClr val="FFFFFF"/>
                    </a:solidFill>
                  </a:tcPr>
                </a:tc>
                <a:tc>
                  <a:txBody>
                    <a:bodyPr/>
                    <a:lstStyle/>
                    <a:p>
                      <a:r>
                        <a:rPr sz="1200" b="0" i="0">
                          <a:solidFill>
                            <a:srgbClr val="1A1440"/>
                          </a:solidFill>
                          <a:latin typeface="Calibri"/>
                        </a:rPr>
                        <a:t>13,370</a:t>
                      </a:r>
                    </a:p>
                  </a:txBody>
                  <a:tcPr marL="101600" marR="101600" marT="38100" marB="38100" anchor="ctr">
                    <a:solidFill>
                      <a:srgbClr val="FFFFFF"/>
                    </a:solidFill>
                  </a:tcPr>
                </a:tc>
              </a:tr>
              <a:tr h="335280">
                <a:tc>
                  <a:txBody>
                    <a:bodyPr/>
                    <a:lstStyle/>
                    <a:p>
                      <a:r>
                        <a:rPr sz="1200" b="0" i="0">
                          <a:solidFill>
                            <a:srgbClr val="1A1440"/>
                          </a:solidFill>
                          <a:latin typeface="Calibri"/>
                        </a:rPr>
                        <a:t>Retail-Core, not aimed at</a:t>
                      </a:r>
                    </a:p>
                  </a:txBody>
                  <a:tcPr marL="101600" marR="101600" marT="38100" marB="38100" anchor="ctr">
                    <a:solidFill>
                      <a:srgbClr val="F4F2FA"/>
                    </a:solidFill>
                  </a:tcPr>
                </a:tc>
                <a:tc>
                  <a:txBody>
                    <a:bodyPr/>
                    <a:lstStyle/>
                    <a:p>
                      <a:r>
                        <a:rPr sz="1200" b="0" i="0">
                          <a:solidFill>
                            <a:srgbClr val="1A1440"/>
                          </a:solidFill>
                          <a:latin typeface="Calibri"/>
                        </a:rPr>
                        <a:t>11,920</a:t>
                      </a:r>
                    </a:p>
                  </a:txBody>
                  <a:tcPr marL="101600" marR="101600" marT="38100" marB="38100" anchor="ctr">
                    <a:solidFill>
                      <a:srgbClr val="F4F2FA"/>
                    </a:solidFill>
                  </a:tcPr>
                </a:tc>
                <a:tc>
                  <a:txBody>
                    <a:bodyPr/>
                    <a:lstStyle/>
                    <a:p>
                      <a:r>
                        <a:rPr sz="1200" b="0" i="0">
                          <a:solidFill>
                            <a:srgbClr val="1A1440"/>
                          </a:solidFill>
                          <a:latin typeface="Calibri"/>
                        </a:rPr>
                        <a:t>15,000</a:t>
                      </a:r>
                    </a:p>
                  </a:txBody>
                  <a:tcPr marL="101600" marR="101600" marT="38100" marB="38100" anchor="ctr">
                    <a:solidFill>
                      <a:srgbClr val="F4F2FA"/>
                    </a:solidFill>
                  </a:tcPr>
                </a:tc>
                <a:tc>
                  <a:txBody>
                    <a:bodyPr/>
                    <a:lstStyle/>
                    <a:p>
                      <a:r>
                        <a:rPr sz="1200" b="0" i="0">
                          <a:solidFill>
                            <a:srgbClr val="1A1440"/>
                          </a:solidFill>
                          <a:latin typeface="Calibri"/>
                        </a:rPr>
                        <a:t>24,380</a:t>
                      </a:r>
                    </a:p>
                  </a:txBody>
                  <a:tcPr marL="101600" marR="101600" marT="38100" marB="38100" anchor="ctr">
                    <a:solidFill>
                      <a:srgbClr val="F4F2FA"/>
                    </a:solidFill>
                  </a:tcPr>
                </a:tc>
                <a:tc>
                  <a:txBody>
                    <a:bodyPr/>
                    <a:lstStyle/>
                    <a:p>
                      <a:r>
                        <a:rPr sz="1200" b="0" i="0">
                          <a:solidFill>
                            <a:srgbClr val="1A1440"/>
                          </a:solidFill>
                          <a:latin typeface="Calibri"/>
                        </a:rPr>
                        <a:t>13,320</a:t>
                      </a:r>
                    </a:p>
                  </a:txBody>
                  <a:tcPr marL="101600" marR="101600" marT="38100" marB="38100" anchor="ctr">
                    <a:solidFill>
                      <a:srgbClr val="F4F2FA"/>
                    </a:solidFill>
                  </a:tcPr>
                </a:tc>
                <a:tc>
                  <a:txBody>
                    <a:bodyPr/>
                    <a:lstStyle/>
                    <a:p>
                      <a:r>
                        <a:rPr sz="1200" b="0" i="0">
                          <a:solidFill>
                            <a:srgbClr val="1A1440"/>
                          </a:solidFill>
                          <a:latin typeface="Calibri"/>
                        </a:rPr>
                        <a:t>23,090</a:t>
                      </a:r>
                    </a:p>
                  </a:txBody>
                  <a:tcPr marL="101600" marR="101600" marT="38100" marB="38100" anchor="ctr">
                    <a:solidFill>
                      <a:srgbClr val="F4F2FA"/>
                    </a:solidFill>
                  </a:tcPr>
                </a:tc>
                <a:tc>
                  <a:txBody>
                    <a:bodyPr/>
                    <a:lstStyle/>
                    <a:p>
                      <a:r>
                        <a:rPr sz="1200" b="0" i="0">
                          <a:solidFill>
                            <a:srgbClr val="1A1440"/>
                          </a:solidFill>
                          <a:latin typeface="Calibri"/>
                        </a:rPr>
                        <a:t>11,140</a:t>
                      </a:r>
                    </a:p>
                  </a:txBody>
                  <a:tcPr marL="101600" marR="101600" marT="38100" marB="38100" anchor="ctr">
                    <a:solidFill>
                      <a:srgbClr val="F4F2FA"/>
                    </a:solidFill>
                  </a:tcPr>
                </a:tc>
              </a:tr>
            </a:tbl>
          </a:graphicData>
        </a:graphic>
      </p:graphicFrame>
      <p:sp>
        <p:nvSpPr>
          <p:cNvPr id="10" name="Rounded Rectangle 9"/>
          <p:cNvSpPr/>
          <p:nvPr/>
        </p:nvSpPr>
        <p:spPr>
          <a:xfrm>
            <a:off x="530352" y="321868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4670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37560"/>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Retail-Core, the segment the sale was not aimed at (though the platform's list shows it reached some Retail-Core customers), rose 73 percent from July to August. Retail-Plus fell 58 percent from May to June with no sale running. July's Retail-Plus figure stands on 4 delivered orders.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August's share, read against chance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Compared like with like in time, what else changed in August?</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52.5%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August's share of its Q2, targeted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48.6%</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August's share of its Q2, not aimed at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 in 10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EITHER WAY</a:t>
            </a:r>
          </a:p>
        </p:txBody>
      </p:sp>
      <p:sp>
        <p:nvSpPr>
          <p:cNvPr id="19" name="TextBox 18"/>
          <p:cNvSpPr txBox="1"/>
          <p:nvPr/>
        </p:nvSpPr>
        <p:spPr>
          <a:xfrm>
            <a:off x="813389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label shuffles making a 4-point gap; 4 in 10 in Marketing's direction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170 percent becomes an August four points busier than the untargeted segment's, a gap chance makes about eight times in ten either way, and four in ten in the direction Marketing's claim points. The months show no sign of the sale beyond a busy August for everyone.</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24" name="Oval 2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6" name="Oval 25"/>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8" name="Oval 27"/>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30" name="Oval 29"/>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32" name="Oval 31"/>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month test deals the segment labels at random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like-for-like test look like in code?</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gap = share(plus_orders) - share(core_orders)   # August's share of Q2</a:t>
            </a:r>
          </a:p>
          <a:p>
            <a:pPr>
              <a:spcAft>
                <a:spcPts val="200"/>
              </a:spcAft>
            </a:pPr>
            <a:r>
              <a:rPr sz="1400" b="0" i="0">
                <a:solidFill>
                  <a:srgbClr val="E4E1F1"/>
                </a:solidFill>
                <a:latin typeface="Consolas"/>
              </a:rPr>
              <a:t>for _ in range(5000):</a:t>
            </a:r>
          </a:p>
          <a:p>
            <a:pPr>
              <a:spcAft>
                <a:spcPts val="200"/>
              </a:spcAft>
            </a:pPr>
            <a:r>
              <a:rPr sz="1400" b="0" i="0">
                <a:solidFill>
                  <a:srgbClr val="E4E1F1"/>
                </a:solidFill>
                <a:latin typeface="Consolas"/>
              </a:rPr>
              <a:t>    random.shuffle(rows)                         # deal the segment labels</a:t>
            </a:r>
          </a:p>
          <a:p>
            <a:pPr>
              <a:spcAft>
                <a:spcPts val="200"/>
              </a:spcAft>
            </a:pPr>
            <a:r>
              <a:rPr sz="1400" b="0" i="0">
                <a:solidFill>
                  <a:srgbClr val="E4E1F1"/>
                </a:solidFill>
                <a:latin typeface="Consolas"/>
              </a:rPr>
              <a:t>    chance.append(share(rows[:n_plus]) - share(rows[n_plus:]))</a:t>
            </a:r>
          </a:p>
          <a:p>
            <a:pPr>
              <a:spcAft>
                <a:spcPts val="200"/>
              </a:spcAft>
            </a:pPr>
            <a:r>
              <a:rPr sz="1400" b="0" i="0">
                <a:solidFill>
                  <a:srgbClr val="E4E1F1"/>
                </a:solidFill>
                <a:latin typeface="Consolas"/>
              </a:rPr>
              <a:t>either = sum(abs(c) &gt;= abs(gap) for c in chance) / 5000</a:t>
            </a:r>
          </a:p>
        </p:txBody>
      </p:sp>
      <p:sp>
        <p:nvSpPr>
          <p:cNvPr id="14" name="TextBox 13"/>
          <p:cNvSpPr txBox="1"/>
          <p:nvPr/>
        </p:nvSpPr>
        <p:spPr>
          <a:xfrm>
            <a:off x="530352" y="38409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label shuffle fits here because Retail-Plus and Retail-Core are different customers; chapter 1 flipped each member's own pair because there the same members were measured twice.</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coin holds back one in five, about Rs 4,200 forgone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would a hold-back at Diwali be designed and priced?</a:t>
            </a:r>
          </a:p>
        </p:txBody>
      </p:sp>
      <p:pic>
        <p:nvPicPr>
          <p:cNvPr id="9" name="mermaid diagram" descr="27941cc7b83655f1.png"/>
          <p:cNvPicPr>
            <a:picLocks noChangeAspect="1"/>
          </p:cNvPicPr>
          <p:nvPr/>
        </p:nvPicPr>
        <p:blipFill>
          <a:blip r:embed="rId5"/>
          <a:stretch>
            <a:fillRect/>
          </a:stretch>
        </p:blipFill>
        <p:spPr>
          <a:xfrm>
            <a:off x="530352" y="1956816"/>
            <a:ext cx="11130991" cy="2092677"/>
          </a:xfrm>
          <a:prstGeom prst="rect">
            <a:avLst/>
          </a:prstGeom>
        </p:spPr>
      </p:pic>
      <p:sp>
        <p:nvSpPr>
          <p:cNvPr id="10" name="Rounded Rectangle 9"/>
          <p:cNvSpPr/>
          <p:nvPr/>
        </p:nvSpPr>
        <p:spPr>
          <a:xfrm>
            <a:off x="530352" y="4195797"/>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2381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14669"/>
            <a:ext cx="10564063" cy="891540"/>
          </a:xfrm>
          <a:prstGeom prst="rect">
            <a:avLst/>
          </a:prstGeom>
          <a:noFill/>
        </p:spPr>
        <p:txBody>
          <a:bodyPr wrap="square" anchor="ctr" lIns="0" rIns="0" tIns="0" bIns="0">
            <a:spAutoFit/>
          </a:bodyPr>
          <a:lstStyle/>
          <a:p>
            <a:r>
              <a:rPr sz="1500" b="1">
                <a:solidFill>
                  <a:srgbClr val="5B3FD6"/>
                </a:solidFill>
                <a:latin typeface="Calibri"/>
              </a:rPr>
              <a:t>The cost of the hold-back. </a:t>
            </a:r>
            <a:r>
              <a:rPr sz="1500" b="0" i="0">
                <a:solidFill>
                  <a:srgbClr val="1A1440"/>
                </a:solidFill>
                <a:latin typeface="Calibri"/>
              </a:rPr>
              <a:t>Holding back 14 of the platform's 70 Retail-Plus customers at Marketing's own 6 percent lift forgoes about Rs 4,200, and nothing if the lift is not real. The retention test was sized on Finance's 22 members; each decision is sized on the list it acts on.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Quiet months make gaps of 4, 22 and 26 points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same test on months with no sale agree?</a:t>
            </a:r>
          </a:p>
        </p:txBody>
      </p:sp>
      <p:pic>
        <p:nvPicPr>
          <p:cNvPr id="9" name="mermaid diagram" descr="bfec170e3832a0ff.png"/>
          <p:cNvPicPr>
            <a:picLocks noChangeAspect="1"/>
          </p:cNvPicPr>
          <p:nvPr/>
        </p:nvPicPr>
        <p:blipFill>
          <a:blip r:embed="rId5"/>
          <a:stretch>
            <a:fillRect/>
          </a:stretch>
        </p:blipFill>
        <p:spPr>
          <a:xfrm>
            <a:off x="2563215" y="1664208"/>
            <a:ext cx="7065263" cy="3532631"/>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Months with no sale make gaps as large as August's and far larger, so August's four points carry no sign of the sale. </a:t>
            </a:r>
            <a:r>
              <a:rPr sz="1600" b="1" i="0">
                <a:solidFill>
                  <a:srgbClr val="1A1440"/>
                </a:solidFill>
                <a:latin typeface="Calibri"/>
              </a:rPr>
              <a:t>When to switch.</a:t>
            </a:r>
            <a:r>
              <a:rPr sz="1600" b="0" i="0">
                <a:solidFill>
                  <a:srgbClr val="1A1440"/>
                </a:solidFill>
                <a:latin typeface="Calibri"/>
              </a:rPr>
              <a:t> The months when no exposure list exists; the split when one does; the hold-back whenever the next campaign can still be designed.</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No lift the sale can claim: hold back at Diwali</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who got the sale, what else changed, and what would settle it at Diwali?</a:t>
            </a:r>
          </a:p>
        </p:txBody>
      </p:sp>
      <p:graphicFrame>
        <p:nvGraphicFramePr>
          <p:cNvPr id="9" name="Table 8"/>
          <p:cNvGraphicFramePr>
            <a:graphicFrameLocks noGrp="1"/>
          </p:cNvGraphicFramePr>
          <p:nvPr/>
        </p:nvGraphicFramePr>
        <p:xfrm>
          <a:off x="530352" y="1682496"/>
          <a:ext cx="11130991" cy="2176272"/>
        </p:xfrm>
        <a:graphic>
          <a:graphicData uri="http://schemas.openxmlformats.org/drawingml/2006/table">
            <a:tbl>
              <a:tblPr firstRow="0" bandRow="0">
                <a:tableStyleId>{2D5ABB26-0587-4C30-8999-92F81FD0307C}</a:tableStyleId>
              </a:tblPr>
              <a:tblGrid>
                <a:gridCol w="4493149"/>
                <a:gridCol w="6637842"/>
              </a:tblGrid>
              <a:tr h="310896">
                <a:tc>
                  <a:txBody>
                    <a:bodyPr/>
                    <a:lstStyle/>
                    <a:p>
                      <a:r>
                        <a:rPr sz="950" b="1" i="0">
                          <a:solidFill>
                            <a:srgbClr val="FFFFFF"/>
                          </a:solidFill>
                          <a:latin typeface="Calibri"/>
                        </a:rPr>
                        <a:t>The question on the way</a:t>
                      </a:r>
                    </a:p>
                  </a:txBody>
                  <a:tcPr marL="101600" marR="101600" marT="38100" marB="38100" anchor="ctr">
                    <a:solidFill>
                      <a:srgbClr val="1A0F5C"/>
                    </a:solidFill>
                  </a:tcPr>
                </a:tc>
                <a:tc>
                  <a:txBody>
                    <a:bodyPr/>
                    <a:lstStyle/>
                    <a:p>
                      <a:r>
                        <a:rPr sz="950" b="1" i="0">
                          <a:solidFill>
                            <a:srgbClr val="FFFFFF"/>
                          </a:solidFill>
                          <a:latin typeface="Calibri"/>
                        </a:rPr>
                        <a:t>The answer</a:t>
                      </a:r>
                    </a:p>
                  </a:txBody>
                  <a:tcPr marL="101600" marR="101600" marT="38100" marB="38100" anchor="ctr">
                    <a:solidFill>
                      <a:srgbClr val="1A0F5C"/>
                    </a:solidFill>
                  </a:tcPr>
                </a:tc>
              </a:tr>
              <a:tr h="310896">
                <a:tc>
                  <a:txBody>
                    <a:bodyPr/>
                    <a:lstStyle/>
                    <a:p>
                      <a:r>
                        <a:rPr sz="900" b="0" i="0">
                          <a:solidFill>
                            <a:srgbClr val="1A1440"/>
                          </a:solidFill>
                          <a:latin typeface="Calibri"/>
                        </a:rPr>
                        <a:t>1. Which way can the files answer?</a:t>
                      </a:r>
                    </a:p>
                  </a:txBody>
                  <a:tcPr marL="101600" marR="101600" marT="38100" marB="38100" anchor="ctr">
                    <a:solidFill>
                      <a:srgbClr val="FFFFFF"/>
                    </a:solidFill>
                  </a:tcPr>
                </a:tc>
                <a:tc>
                  <a:txBody>
                    <a:bodyPr/>
                    <a:lstStyle/>
                    <a:p>
                      <a:r>
                        <a:rPr sz="900" b="0" i="0">
                          <a:solidFill>
                            <a:srgbClr val="1A1440"/>
                          </a:solidFill>
                          <a:latin typeface="Calibri"/>
                        </a:rPr>
                        <a:t>The split today, a random hold-back for Diwali</a:t>
                      </a:r>
                    </a:p>
                  </a:txBody>
                  <a:tcPr marL="101600" marR="101600" marT="38100" marB="38100" anchor="ctr">
                    <a:solidFill>
                      <a:srgbClr val="FFFFFF"/>
                    </a:solidFill>
                  </a:tcPr>
                </a:tc>
              </a:tr>
              <a:tr h="310896">
                <a:tc>
                  <a:txBody>
                    <a:bodyPr/>
                    <a:lstStyle/>
                    <a:p>
                      <a:r>
                        <a:rPr sz="900" b="0" i="0">
                          <a:solidFill>
                            <a:srgbClr val="1A1440"/>
                          </a:solidFill>
                          <a:latin typeface="Calibri"/>
                        </a:rPr>
                        <a:t>2. Who got it?</a:t>
                      </a:r>
                    </a:p>
                  </a:txBody>
                  <a:tcPr marL="101600" marR="101600" marT="38100" marB="38100" anchor="ctr">
                    <a:solidFill>
                      <a:srgbClr val="F4F2FA"/>
                    </a:solidFill>
                  </a:tcPr>
                </a:tc>
                <a:tc>
                  <a:txBody>
                    <a:bodyPr/>
                    <a:lstStyle/>
                    <a:p>
                      <a:r>
                        <a:rPr sz="900" b="0" i="0">
                          <a:solidFill>
                            <a:srgbClr val="1A1440"/>
                          </a:solidFill>
                          <a:latin typeface="Calibri"/>
                        </a:rPr>
                        <a:t>30 Retail-Plus and 30 Retail-Core: a rule chose them</a:t>
                      </a:r>
                    </a:p>
                  </a:txBody>
                  <a:tcPr marL="101600" marR="101600" marT="38100" marB="38100" anchor="ctr">
                    <a:solidFill>
                      <a:srgbClr val="F4F2FA"/>
                    </a:solidFill>
                  </a:tcPr>
                </a:tc>
              </a:tr>
              <a:tr h="310896">
                <a:tc>
                  <a:txBody>
                    <a:bodyPr/>
                    <a:lstStyle/>
                    <a:p>
                      <a:r>
                        <a:rPr sz="900" b="0" i="0">
                          <a:solidFill>
                            <a:srgbClr val="1A1440"/>
                          </a:solidFill>
                          <a:latin typeface="Calibri"/>
                        </a:rPr>
                        <a:t>3. August against July?</a:t>
                      </a:r>
                    </a:p>
                  </a:txBody>
                  <a:tcPr marL="101600" marR="101600" marT="38100" marB="38100" anchor="ctr">
                    <a:solidFill>
                      <a:srgbClr val="FFFFFF"/>
                    </a:solidFill>
                  </a:tcPr>
                </a:tc>
                <a:tc>
                  <a:txBody>
                    <a:bodyPr/>
                    <a:lstStyle/>
                    <a:p>
                      <a:r>
                        <a:rPr sz="900" b="0" i="0">
                          <a:solidFill>
                            <a:srgbClr val="1A1440"/>
                          </a:solidFill>
                          <a:latin typeface="Calibri"/>
                        </a:rPr>
                        <a:t>Up 170 percent, but Retail-Core rose 73 too</a:t>
                      </a:r>
                    </a:p>
                  </a:txBody>
                  <a:tcPr marL="101600" marR="101600" marT="38100" marB="38100" anchor="ctr">
                    <a:solidFill>
                      <a:srgbClr val="FFFFFF"/>
                    </a:solidFill>
                  </a:tcPr>
                </a:tc>
              </a:tr>
              <a:tr h="310896">
                <a:tc>
                  <a:txBody>
                    <a:bodyPr/>
                    <a:lstStyle/>
                    <a:p>
                      <a:r>
                        <a:rPr sz="900" b="0" i="0">
                          <a:solidFill>
                            <a:srgbClr val="1A1440"/>
                          </a:solidFill>
                          <a:latin typeface="Calibri"/>
                        </a:rPr>
                        <a:t>4. What else changed?</a:t>
                      </a:r>
                    </a:p>
                  </a:txBody>
                  <a:tcPr marL="101600" marR="101600" marT="38100" marB="38100" anchor="ctr">
                    <a:solidFill>
                      <a:srgbClr val="F4F2FA"/>
                    </a:solidFill>
                  </a:tcPr>
                </a:tc>
                <a:tc>
                  <a:txBody>
                    <a:bodyPr/>
                    <a:lstStyle/>
                    <a:p>
                      <a:r>
                        <a:rPr sz="900" b="0" i="0">
                          <a:solidFill>
                            <a:srgbClr val="1A1440"/>
                          </a:solidFill>
                          <a:latin typeface="Calibri"/>
                        </a:rPr>
                        <a:t>August, for everyone: 52.5 against 48.6 percent</a:t>
                      </a:r>
                    </a:p>
                  </a:txBody>
                  <a:tcPr marL="101600" marR="101600" marT="38100" marB="38100" anchor="ctr">
                    <a:solidFill>
                      <a:srgbClr val="F4F2FA"/>
                    </a:solidFill>
                  </a:tcPr>
                </a:tc>
              </a:tr>
              <a:tr h="310896">
                <a:tc>
                  <a:txBody>
                    <a:bodyPr/>
                    <a:lstStyle/>
                    <a:p>
                      <a:r>
                        <a:rPr sz="900" b="0" i="0">
                          <a:solidFill>
                            <a:srgbClr val="1A1440"/>
                          </a:solidFill>
                          <a:latin typeface="Calibri"/>
                        </a:rPr>
                        <a:t>5. How would Diwali settle it?</a:t>
                      </a:r>
                    </a:p>
                  </a:txBody>
                  <a:tcPr marL="101600" marR="101600" marT="38100" marB="38100" anchor="ctr">
                    <a:solidFill>
                      <a:srgbClr val="FFFFFF"/>
                    </a:solidFill>
                  </a:tcPr>
                </a:tc>
                <a:tc>
                  <a:txBody>
                    <a:bodyPr/>
                    <a:lstStyle/>
                    <a:p>
                      <a:r>
                        <a:rPr sz="900" b="0" i="0">
                          <a:solidFill>
                            <a:srgbClr val="1A1440"/>
                          </a:solidFill>
                          <a:latin typeface="Calibri"/>
                        </a:rPr>
                        <a:t>One in five held back by coin, about Rs 4,200</a:t>
                      </a:r>
                    </a:p>
                  </a:txBody>
                  <a:tcPr marL="101600" marR="101600" marT="38100" marB="38100" anchor="ctr">
                    <a:solidFill>
                      <a:srgbClr val="FFFFFF"/>
                    </a:solidFill>
                  </a:tcPr>
                </a:tc>
              </a:tr>
              <a:tr h="310896">
                <a:tc>
                  <a:txBody>
                    <a:bodyPr/>
                    <a:lstStyle/>
                    <a:p>
                      <a:r>
                        <a:rPr sz="900" b="0" i="0">
                          <a:solidFill>
                            <a:srgbClr val="1A1440"/>
                          </a:solidFill>
                          <a:latin typeface="Calibri"/>
                        </a:rPr>
                        <a:t>6. Do quiet months agree?</a:t>
                      </a:r>
                    </a:p>
                  </a:txBody>
                  <a:tcPr marL="101600" marR="101600" marT="38100" marB="38100" anchor="ctr">
                    <a:solidFill>
                      <a:srgbClr val="F4F2FA"/>
                    </a:solidFill>
                  </a:tcPr>
                </a:tc>
                <a:tc>
                  <a:txBody>
                    <a:bodyPr/>
                    <a:lstStyle/>
                    <a:p>
                      <a:r>
                        <a:rPr sz="900" b="0" i="0">
                          <a:solidFill>
                            <a:srgbClr val="1A1440"/>
                          </a:solidFill>
                          <a:latin typeface="Calibri"/>
                        </a:rPr>
                        <a:t>Yes: gaps of 4, 22 and 26 points with no sale</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Two routes find no lift, and a quarter with no sale swings further than August. You priced the hold-back on the list it acts on; take it to Marketing as an offer.</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[F] How would you set up the Diwali campaign so you can tell whether it worked?</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would settle it?</a:t>
            </a:r>
          </a:p>
        </p:txBody>
      </p:sp>
      <p:sp>
        <p:nvSpPr>
          <p:cNvPr id="22" name="Oval 2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4" name="Oval 23"/>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6" name="Oval 2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8" name="Oval 27"/>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30" name="Oval 29"/>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do it alone?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you answer Meera's three questions alone in fifty minutes, and ship a note under 200 words that survives Marketing?</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it in five parts, one page by the end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case ask for, part by part?</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Is it real?</a:t>
            </a:r>
          </a:p>
        </p:txBody>
      </p:sp>
      <p:sp>
        <p:nvSpPr>
          <p:cNvPr id="14" name="TextBox 13"/>
          <p:cNvSpPr txBox="1"/>
          <p:nvPr/>
        </p:nvSpPr>
        <p:spPr>
          <a:xfrm>
            <a:off x="694944"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Retail-Plus, 5,000 flips, seed 2026, counted both ways.</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Is it worth it?</a:t>
            </a:r>
          </a:p>
        </p:txBody>
      </p:sp>
      <p:sp>
        <p:nvSpPr>
          <p:cNvPr id="19" name="TextBox 18"/>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fall against the company's quarter, and a coin-chosen half-tier test.</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465836"/>
          </a:xfrm>
          <a:prstGeom prst="rect">
            <a:avLst/>
          </a:prstGeom>
          <a:noFill/>
        </p:spPr>
        <p:txBody>
          <a:bodyPr wrap="square" anchor="t" lIns="0" rIns="0" tIns="0" bIns="0">
            <a:spAutoFit/>
          </a:bodyPr>
          <a:lstStyle/>
          <a:p>
            <a:pPr algn="l"/>
            <a:r>
              <a:rPr sz="1300" b="1" i="0">
                <a:solidFill>
                  <a:srgbClr val="1A0F5C"/>
                </a:solidFill>
                <a:latin typeface="Calibri"/>
              </a:rPr>
              <a:t>Can Student carry budget?</a:t>
            </a:r>
          </a:p>
        </p:txBody>
      </p:sp>
      <p:sp>
        <p:nvSpPr>
          <p:cNvPr id="24" name="TextBox 23"/>
          <p:cNvSpPr txBox="1"/>
          <p:nvPr/>
        </p:nvSpPr>
        <p:spPr>
          <a:xfrm>
            <a:off x="5220492" y="3492500"/>
            <a:ext cx="1750710" cy="366776"/>
          </a:xfrm>
          <a:prstGeom prst="rect">
            <a:avLst/>
          </a:prstGeom>
          <a:noFill/>
        </p:spPr>
        <p:txBody>
          <a:bodyPr wrap="square" anchor="t" lIns="0" rIns="0" tIns="0" bIns="0">
            <a:spAutoFit/>
          </a:bodyPr>
          <a:lstStyle/>
          <a:p>
            <a:pPr algn="l"/>
            <a:r>
              <a:rPr sz="1000" b="0" i="0">
                <a:solidFill>
                  <a:srgbClr val="6B6690"/>
                </a:solidFill>
                <a:latin typeface="Calibri"/>
              </a:rPr>
              <a:t>The rate with its count and its chance reference.</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465836"/>
          </a:xfrm>
          <a:prstGeom prst="rect">
            <a:avLst/>
          </a:prstGeom>
          <a:noFill/>
        </p:spPr>
        <p:txBody>
          <a:bodyPr wrap="square" anchor="t" lIns="0" rIns="0" tIns="0" bIns="0">
            <a:spAutoFit/>
          </a:bodyPr>
          <a:lstStyle/>
          <a:p>
            <a:pPr algn="l"/>
            <a:r>
              <a:rPr sz="1300" b="1" i="0">
                <a:solidFill>
                  <a:srgbClr val="1A0F5C"/>
                </a:solidFill>
                <a:latin typeface="Calibri"/>
              </a:rPr>
              <a:t>Did the discount work?</a:t>
            </a:r>
          </a:p>
        </p:txBody>
      </p:sp>
      <p:sp>
        <p:nvSpPr>
          <p:cNvPr id="29" name="TextBox 28"/>
          <p:cNvSpPr txBox="1"/>
          <p:nvPr/>
        </p:nvSpPr>
        <p:spPr>
          <a:xfrm>
            <a:off x="7483266" y="3492500"/>
            <a:ext cx="1750710" cy="366776"/>
          </a:xfrm>
          <a:prstGeom prst="rect">
            <a:avLst/>
          </a:prstGeom>
          <a:noFill/>
        </p:spPr>
        <p:txBody>
          <a:bodyPr wrap="square" anchor="t" lIns="0" rIns="0" tIns="0" bIns="0">
            <a:spAutoFit/>
          </a:bodyPr>
          <a:lstStyle/>
          <a:p>
            <a:pPr algn="l"/>
            <a:r>
              <a:rPr sz="1000" b="0" i="0">
                <a:solidFill>
                  <a:srgbClr val="6B6690"/>
                </a:solidFill>
                <a:latin typeface="Calibri"/>
              </a:rPr>
              <a:t>Did the monsoon sale lift spend, and for whom?</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465836"/>
          </a:xfrm>
          <a:prstGeom prst="rect">
            <a:avLst/>
          </a:prstGeom>
          <a:noFill/>
        </p:spPr>
        <p:txBody>
          <a:bodyPr wrap="square" anchor="t" lIns="0" rIns="0" tIns="0" bIns="0">
            <a:spAutoFit/>
          </a:bodyPr>
          <a:lstStyle/>
          <a:p>
            <a:pPr algn="l"/>
            <a:r>
              <a:rPr sz="1300" b="1" i="0">
                <a:solidFill>
                  <a:srgbClr val="FFFFFF"/>
                </a:solidFill>
                <a:latin typeface="Calibri"/>
              </a:rPr>
              <a:t>What does Meera read?</a:t>
            </a:r>
          </a:p>
        </p:txBody>
      </p:sp>
      <p:sp>
        <p:nvSpPr>
          <p:cNvPr id="34" name="TextBox 33"/>
          <p:cNvSpPr txBox="1"/>
          <p:nvPr/>
        </p:nvSpPr>
        <p:spPr>
          <a:xfrm>
            <a:off x="9746040" y="3492500"/>
            <a:ext cx="1750710" cy="531876"/>
          </a:xfrm>
          <a:prstGeom prst="rect">
            <a:avLst/>
          </a:prstGeom>
          <a:noFill/>
        </p:spPr>
        <p:txBody>
          <a:bodyPr wrap="square" anchor="t" lIns="0" rIns="0" tIns="0" bIns="0">
            <a:spAutoFit/>
          </a:bodyPr>
          <a:lstStyle/>
          <a:p>
            <a:pPr algn="l"/>
            <a:r>
              <a:rPr sz="1000" b="0" i="0">
                <a:solidFill>
                  <a:srgbClr val="CFC9EE"/>
                </a:solidFill>
                <a:latin typeface="Calibri"/>
              </a:rPr>
              <a:t>The hold-back sized on the platform's list, then the note under 200 words.</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37" name="Oval 36"/>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081688"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39" name="Oval 3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41" name="Oval 4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43" name="Oval 4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45" name="Oval 4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choice is yours, and Marketing reads it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case ask that the chapters did not?</a:t>
            </a:r>
          </a:p>
        </p:txBody>
      </p:sp>
      <p:pic>
        <p:nvPicPr>
          <p:cNvPr id="9" name="mermaid diagram" descr="4630802095584633.png"/>
          <p:cNvPicPr>
            <a:picLocks noChangeAspect="1"/>
          </p:cNvPicPr>
          <p:nvPr/>
        </p:nvPicPr>
        <p:blipFill>
          <a:blip r:embed="rId6"/>
          <a:stretch>
            <a:fillRect/>
          </a:stretch>
        </p:blipFill>
        <p:spPr>
          <a:xfrm>
            <a:off x="2152497" y="1956816"/>
            <a:ext cx="7886700" cy="1857375"/>
          </a:xfrm>
          <a:prstGeom prst="rect">
            <a:avLst/>
          </a:prstGeom>
        </p:spPr>
      </p:pic>
      <p:sp>
        <p:nvSpPr>
          <p:cNvPr id="10" name="Rounded Rectangle 9"/>
          <p:cNvSpPr/>
          <p:nvPr/>
        </p:nvSpPr>
        <p:spPr>
          <a:xfrm>
            <a:off x="530352" y="3960495"/>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16318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272915"/>
            <a:ext cx="237744" cy="237744"/>
          </a:xfrm>
          <a:prstGeom prst="rect">
            <a:avLst/>
          </a:prstGeom>
        </p:spPr>
      </p:pic>
      <p:sp>
        <p:nvSpPr>
          <p:cNvPr id="13" name="TextBox 12"/>
          <p:cNvSpPr txBox="1"/>
          <p:nvPr/>
        </p:nvSpPr>
        <p:spPr>
          <a:xfrm>
            <a:off x="1399031" y="410679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326255"/>
            <a:ext cx="9987991" cy="423672"/>
          </a:xfrm>
          <a:prstGeom prst="rect">
            <a:avLst/>
          </a:prstGeom>
          <a:noFill/>
        </p:spPr>
        <p:txBody>
          <a:bodyPr wrap="square" anchor="t" lIns="0" rIns="0" tIns="0" bIns="0">
            <a:spAutoFit/>
          </a:bodyPr>
          <a:lstStyle/>
          <a:p>
            <a:r>
              <a:rPr sz="1500" b="0" i="0">
                <a:solidFill>
                  <a:srgbClr val="1A1440"/>
                </a:solidFill>
                <a:latin typeface="Calibri"/>
              </a:rPr>
              <a:t>Each number in the note carries its base, its count or chance, and the caveat that would change 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7" name="Oval 16"/>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lines broke?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lines did the room get wrong this afternoon, which chapter's trap made each, and what replaces it?</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four wrong lines, each a chapter's trap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chapter's trap made each wrong line, and what replaces it?</a:t>
            </a:r>
          </a:p>
        </p:txBody>
      </p:sp>
      <p:graphicFrame>
        <p:nvGraphicFramePr>
          <p:cNvPr id="9" name="Table 8"/>
          <p:cNvGraphicFramePr>
            <a:graphicFrameLocks noGrp="1"/>
          </p:cNvGraphicFramePr>
          <p:nvPr/>
        </p:nvGraphicFramePr>
        <p:xfrm>
          <a:off x="530352" y="1956816"/>
          <a:ext cx="11130989" cy="1717040"/>
        </p:xfrm>
        <a:graphic>
          <a:graphicData uri="http://schemas.openxmlformats.org/drawingml/2006/table">
            <a:tbl>
              <a:tblPr firstRow="0" bandRow="0">
                <a:tableStyleId>{2D5ABB26-0587-4C30-8999-92F81FD0307C}</a:tableStyleId>
              </a:tblPr>
              <a:tblGrid>
                <a:gridCol w="2785875"/>
                <a:gridCol w="4172557"/>
                <a:gridCol w="4172557"/>
              </a:tblGrid>
              <a:tr h="310896">
                <a:tc>
                  <a:txBody>
                    <a:bodyPr/>
                    <a:lstStyle/>
                    <a:p>
                      <a:r>
                        <a:rPr sz="1050" b="1" i="0">
                          <a:solidFill>
                            <a:srgbClr val="FFFFFF"/>
                          </a:solidFill>
                          <a:latin typeface="Calibri"/>
                        </a:rPr>
                        <a:t>Wrong line</a:t>
                      </a:r>
                    </a:p>
                  </a:txBody>
                  <a:tcPr marL="101600" marR="101600" marT="38100" marB="38100" anchor="ctr">
                    <a:solidFill>
                      <a:srgbClr val="1A0F5C"/>
                    </a:solidFill>
                  </a:tcPr>
                </a:tc>
                <a:tc>
                  <a:txBody>
                    <a:bodyPr/>
                    <a:lstStyle/>
                    <a:p>
                      <a:r>
                        <a:rPr sz="1050" b="1" i="0">
                          <a:solidFill>
                            <a:srgbClr val="FFFFFF"/>
                          </a:solidFill>
                          <a:latin typeface="Calibri"/>
                        </a:rPr>
                        <a:t>Why it fails</a:t>
                      </a:r>
                    </a:p>
                  </a:txBody>
                  <a:tcPr marL="101600" marR="101600" marT="38100" marB="38100" anchor="ctr">
                    <a:solidFill>
                      <a:srgbClr val="1A0F5C"/>
                    </a:solidFill>
                  </a:tcPr>
                </a:tc>
                <a:tc>
                  <a:txBody>
                    <a:bodyPr/>
                    <a:lstStyle/>
                    <a:p>
                      <a:r>
                        <a:rPr sz="1050" b="1" i="0">
                          <a:solidFill>
                            <a:srgbClr val="FFFFFF"/>
                          </a:solidFill>
                          <a:latin typeface="Calibri"/>
                        </a:rPr>
                        <a:t>The line that replaces it</a:t>
                      </a:r>
                    </a:p>
                  </a:txBody>
                  <a:tcPr marL="101600" marR="101600" marT="38100" marB="38100" anchor="ctr">
                    <a:solidFill>
                      <a:srgbClr val="1A0F5C"/>
                    </a:solidFill>
                  </a:tcPr>
                </a:tc>
              </a:tr>
              <a:tr h="473456">
                <a:tc>
                  <a:txBody>
                    <a:bodyPr/>
                    <a:lstStyle/>
                    <a:p>
                      <a:r>
                        <a:rPr sz="1000" b="0" i="0">
                          <a:solidFill>
                            <a:srgbClr val="1A1440"/>
                          </a:solidFill>
                          <a:latin typeface="Calibri"/>
                        </a:rPr>
                        <a:t>"A 3 percent chance we are wrong."</a:t>
                      </a:r>
                    </a:p>
                  </a:txBody>
                  <a:tcPr marL="101600" marR="101600" marT="38100" marB="38100" anchor="ctr">
                    <a:solidFill>
                      <a:srgbClr val="FFFFFF"/>
                    </a:solidFill>
                  </a:tcPr>
                </a:tc>
                <a:tc>
                  <a:txBody>
                    <a:bodyPr/>
                    <a:lstStyle/>
                    <a:p>
                      <a:r>
                        <a:rPr sz="1000" b="0" i="0">
                          <a:solidFill>
                            <a:srgbClr val="1A1440"/>
                          </a:solidFill>
                          <a:latin typeface="Calibri"/>
                        </a:rPr>
                        <a:t>The share was counted in chance-only worlds.</a:t>
                      </a:r>
                    </a:p>
                  </a:txBody>
                  <a:tcPr marL="101600" marR="101600" marT="38100" marB="38100" anchor="ctr">
                    <a:solidFill>
                      <a:srgbClr val="FFFFFF"/>
                    </a:solidFill>
                  </a:tcPr>
                </a:tc>
                <a:tc>
                  <a:txBody>
                    <a:bodyPr/>
                    <a:lstStyle/>
                    <a:p>
                      <a:r>
                        <a:rPr sz="1000" b="0" i="0">
                          <a:solidFill>
                            <a:srgbClr val="1A1440"/>
                          </a:solidFill>
                          <a:latin typeface="Calibri"/>
                        </a:rPr>
                        <a:t>"A fall this large turns up in about 3 of every 100 flips, 6 either way."</a:t>
                      </a:r>
                    </a:p>
                  </a:txBody>
                  <a:tcPr marL="101600" marR="101600" marT="38100" marB="38100" anchor="ctr">
                    <a:solidFill>
                      <a:srgbClr val="FFFFFF"/>
                    </a:solidFill>
                  </a:tcPr>
                </a:tc>
              </a:tr>
              <a:tr h="310896">
                <a:tc>
                  <a:txBody>
                    <a:bodyPr/>
                    <a:lstStyle/>
                    <a:p>
                      <a:r>
                        <a:rPr sz="1000" b="0" i="0">
                          <a:solidFill>
                            <a:srgbClr val="1A1440"/>
                          </a:solidFill>
                          <a:latin typeface="Calibri"/>
                        </a:rPr>
                        <a:t>"Retail-Plus fell 34 percent."</a:t>
                      </a:r>
                    </a:p>
                  </a:txBody>
                  <a:tcPr marL="101600" marR="101600" marT="38100" marB="38100" anchor="ctr">
                    <a:solidFill>
                      <a:srgbClr val="F4F2FA"/>
                    </a:solidFill>
                  </a:tcPr>
                </a:tc>
                <a:tc>
                  <a:txBody>
                    <a:bodyPr/>
                    <a:lstStyle/>
                    <a:p>
                      <a:r>
                        <a:rPr sz="1000" b="0" i="0">
                          <a:solidFill>
                            <a:srgbClr val="1A1440"/>
                          </a:solidFill>
                          <a:latin typeface="Calibri"/>
                        </a:rPr>
                        <a:t>A third of a tier that is under one percent of the company.</a:t>
                      </a:r>
                    </a:p>
                  </a:txBody>
                  <a:tcPr marL="101600" marR="101600" marT="38100" marB="38100" anchor="ctr">
                    <a:solidFill>
                      <a:srgbClr val="F4F2FA"/>
                    </a:solidFill>
                  </a:tcPr>
                </a:tc>
                <a:tc>
                  <a:txBody>
                    <a:bodyPr/>
                    <a:lstStyle/>
                    <a:p>
                      <a:r>
                        <a:rPr sz="1000" b="0" i="0">
                          <a:solidFill>
                            <a:srgbClr val="1A1440"/>
                          </a:solidFill>
                          <a:latin typeface="Calibri"/>
                        </a:rPr>
                        <a:t>"Rs 24,420 a quarter, 0.19 percent of the company."</a:t>
                      </a:r>
                    </a:p>
                  </a:txBody>
                  <a:tcPr marL="101600" marR="101600" marT="38100" marB="38100" anchor="ctr">
                    <a:solidFill>
                      <a:srgbClr val="F4F2FA"/>
                    </a:solidFill>
                  </a:tcPr>
                </a:tc>
              </a:tr>
              <a:tr h="310896">
                <a:tc>
                  <a:txBody>
                    <a:bodyPr/>
                    <a:lstStyle/>
                    <a:p>
                      <a:r>
                        <a:rPr sz="1000" b="0" i="0">
                          <a:solidFill>
                            <a:srgbClr val="1A1440"/>
                          </a:solidFill>
                          <a:latin typeface="Calibri"/>
                        </a:rPr>
                        <a:t>"Student is the growth story."</a:t>
                      </a:r>
                    </a:p>
                  </a:txBody>
                  <a:tcPr marL="101600" marR="101600" marT="38100" marB="38100" anchor="ctr">
                    <a:solidFill>
                      <a:srgbClr val="FFFFFF"/>
                    </a:solidFill>
                  </a:tcPr>
                </a:tc>
                <a:tc>
                  <a:txBody>
                    <a:bodyPr/>
                    <a:lstStyle/>
                    <a:p>
                      <a:r>
                        <a:rPr sz="1000" b="0" i="0">
                          <a:solidFill>
                            <a:srgbClr val="1A1440"/>
                          </a:solidFill>
                          <a:latin typeface="Calibri"/>
                        </a:rPr>
                        <a:t>The rate stands on a handful of orders from few customers.</a:t>
                      </a:r>
                    </a:p>
                  </a:txBody>
                  <a:tcPr marL="101600" marR="101600" marT="38100" marB="38100" anchor="ctr">
                    <a:solidFill>
                      <a:srgbClr val="FFFFFF"/>
                    </a:solidFill>
                  </a:tcPr>
                </a:tc>
                <a:tc>
                  <a:txBody>
                    <a:bodyPr/>
                    <a:lstStyle/>
                    <a:p>
                      <a:r>
                        <a:rPr sz="1000" b="0" i="0">
                          <a:solidFill>
                            <a:srgbClr val="1A1440"/>
                          </a:solidFill>
                          <a:latin typeface="Calibri"/>
                        </a:rPr>
                        <a:t>"Not yet: no budget moves until more customers buy."</a:t>
                      </a:r>
                    </a:p>
                  </a:txBody>
                  <a:tcPr marL="101600" marR="101600" marT="38100" marB="38100" anchor="ctr">
                    <a:solidFill>
                      <a:srgbClr val="FFFFFF"/>
                    </a:solidFill>
                  </a:tcPr>
                </a:tc>
              </a:tr>
              <a:tr h="310896">
                <a:tc>
                  <a:txBody>
                    <a:bodyPr/>
                    <a:lstStyle/>
                    <a:p>
                      <a:r>
                        <a:rPr sz="1000" b="0" i="0">
                          <a:solidFill>
                            <a:srgbClr val="1A1440"/>
                          </a:solidFill>
                          <a:latin typeface="Calibri"/>
                        </a:rPr>
                        <a:t>"The discount lifted spend 6 percent."</a:t>
                      </a:r>
                    </a:p>
                  </a:txBody>
                  <a:tcPr marL="101600" marR="101600" marT="38100" marB="38100" anchor="ctr">
                    <a:solidFill>
                      <a:srgbClr val="F4F2FA"/>
                    </a:solidFill>
                  </a:tcPr>
                </a:tc>
                <a:tc>
                  <a:txBody>
                    <a:bodyPr/>
                    <a:lstStyle/>
                    <a:p>
                      <a:r>
                        <a:rPr sz="1000" b="0" i="0">
                          <a:solidFill>
                            <a:srgbClr val="1A1440"/>
                          </a:solidFill>
                          <a:latin typeface="Calibri"/>
                        </a:rPr>
                        <a:t>The blend compares two different mixes.</a:t>
                      </a:r>
                    </a:p>
                  </a:txBody>
                  <a:tcPr marL="101600" marR="101600" marT="38100" marB="38100" anchor="ctr">
                    <a:solidFill>
                      <a:srgbClr val="F4F2FA"/>
                    </a:solidFill>
                  </a:tcPr>
                </a:tc>
                <a:tc>
                  <a:txBody>
                    <a:bodyPr/>
                    <a:lstStyle/>
                    <a:p>
                      <a:r>
                        <a:rPr sz="1000" b="0" i="0">
                          <a:solidFill>
                            <a:srgbClr val="1A1440"/>
                          </a:solidFill>
                          <a:latin typeface="Calibri"/>
                        </a:rPr>
                        <a:t>"Inside each segment, the customers who got it spent less."</a:t>
                      </a:r>
                    </a:p>
                  </a:txBody>
                  <a:tcPr marL="101600" marR="101600" marT="38100" marB="38100" anchor="ctr">
                    <a:solidFill>
                      <a:srgbClr val="F4F2FA"/>
                    </a:solidFill>
                  </a:tcPr>
                </a:tc>
              </a:tr>
            </a:tbl>
          </a:graphicData>
        </a:graphic>
      </p:graphicFrame>
      <p:pic>
        <p:nvPicPr>
          <p:cNvPr id="10" name="mermaid diagram" descr="1fc994b101292e2a.png"/>
          <p:cNvPicPr>
            <a:picLocks noChangeAspect="1"/>
          </p:cNvPicPr>
          <p:nvPr/>
        </p:nvPicPr>
        <p:blipFill>
          <a:blip r:embed="rId5"/>
          <a:stretch>
            <a:fillRect/>
          </a:stretch>
        </p:blipFill>
        <p:spPr>
          <a:xfrm>
            <a:off x="2152497" y="3929888"/>
            <a:ext cx="7886700" cy="1357312"/>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discount line survives review?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drafts of the note's third line goes to Meera?</a:t>
            </a:r>
          </a:p>
        </p:txBody>
      </p:sp>
      <p:pic>
        <p:nvPicPr>
          <p:cNvPr id="9" name="mermaid diagram" descr="73411f15259b9d96.png"/>
          <p:cNvPicPr>
            <a:picLocks noChangeAspect="1"/>
          </p:cNvPicPr>
          <p:nvPr/>
        </p:nvPicPr>
        <p:blipFill>
          <a:blip r:embed="rId5"/>
          <a:stretch>
            <a:fillRect/>
          </a:stretch>
        </p:blipFill>
        <p:spPr>
          <a:xfrm>
            <a:off x="530352" y="2001342"/>
            <a:ext cx="4786326" cy="3879443"/>
          </a:xfrm>
          <a:prstGeom prst="rect">
            <a:avLst/>
          </a:prstGeom>
        </p:spPr>
      </p:pic>
      <p:sp>
        <p:nvSpPr>
          <p:cNvPr id="10" name="Rounded Rectangle 9"/>
          <p:cNvSpPr/>
          <p:nvPr/>
        </p:nvSpPr>
        <p:spPr>
          <a:xfrm>
            <a:off x="5761917" y="1956816"/>
            <a:ext cx="5899425" cy="26746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24185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2491739"/>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line goes to Meera? a) "Revenue per customer rose 6.1 percent, so repeat it for Diwali"; b) "It reached a group with more Retail-Plus members, and inside each segment the customers who got it spent less, so do not repeat it as designed and hold back a random slice at Diwali"; c) "The data is mixed, so more analysis is needed before anyone can say anything"; d) "The discount lost money, so end every discount from Monday."</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finding, the reason, the next test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discount line survives review, and why?</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CLAIM</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 position</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sale did not lift spend inside either segment.</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EVIDENCE</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Within each segment</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Got it against did not, per customer, with counts.</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CAVEAT</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Who got it</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mix of the two groups, and August for everyone.</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ACTION</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The next test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Hold back a random fifth inside each segment at Diwali.</a:t>
            </a:r>
          </a:p>
        </p:txBody>
      </p:sp>
      <p:sp>
        <p:nvSpPr>
          <p:cNvPr id="30" name="TextBox 29"/>
          <p:cNvSpPr txBox="1"/>
          <p:nvPr/>
        </p:nvSpPr>
        <p:spPr>
          <a:xfrm>
            <a:off x="530352" y="410362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It takes a position, gives the reason, and says what would change it.</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33" name="Oval 3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5" name="Oval 34"/>
          <p:cNvSpPr/>
          <p:nvPr/>
        </p:nvSpPr>
        <p:spPr>
          <a:xfrm>
            <a:off x="336756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477291"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lines broke?</a:t>
            </a:r>
          </a:p>
        </p:txBody>
      </p:sp>
      <p:sp>
        <p:nvSpPr>
          <p:cNvPr id="37" name="Oval 3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39" name="Oval 3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41" name="Oval 4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Is the split fair?</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Marketing calls the segment split cherry-picking and brings Rs 4,850 against Rs 3,200: is their comparison fair, and how do you hold the line?</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four moves, before Meera decides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moves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hears both sides in the meeting. If Marketing's number wins the room, the sale runs again at Diwali on an unfair comparison; if the pair only says no, Marketing hears a verdict and nothing it can use.</a:t>
            </a:r>
          </a:p>
        </p:txBody>
      </p:sp>
      <p:sp>
        <p:nvSpPr>
          <p:cNvPr id="12" name="Rounded Rectangle 11"/>
          <p:cNvSpPr/>
          <p:nvPr/>
        </p:nvSpPr>
        <p:spPr>
          <a:xfrm>
            <a:off x="530352" y="3195828"/>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731519" y="3396996"/>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repeat_e3d62ee72e92.png"/>
          <p:cNvPicPr>
            <a:picLocks noChangeAspect="1"/>
          </p:cNvPicPr>
          <p:nvPr/>
        </p:nvPicPr>
        <p:blipFill>
          <a:blip r:embed="rId4"/>
          <a:stretch>
            <a:fillRect/>
          </a:stretch>
        </p:blipFill>
        <p:spPr>
          <a:xfrm>
            <a:off x="841247" y="3506724"/>
            <a:ext cx="237744" cy="237744"/>
          </a:xfrm>
          <a:prstGeom prst="rect">
            <a:avLst/>
          </a:prstGeom>
        </p:spPr>
      </p:pic>
      <p:sp>
        <p:nvSpPr>
          <p:cNvPr id="15" name="TextBox 14"/>
          <p:cNvSpPr txBox="1"/>
          <p:nvPr/>
        </p:nvSpPr>
        <p:spPr>
          <a:xfrm>
            <a:off x="731519" y="3963924"/>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MOVE 1</a:t>
            </a:r>
          </a:p>
        </p:txBody>
      </p:sp>
      <p:sp>
        <p:nvSpPr>
          <p:cNvPr id="16" name="TextBox 15"/>
          <p:cNvSpPr txBox="1"/>
          <p:nvPr/>
        </p:nvSpPr>
        <p:spPr>
          <a:xfrm>
            <a:off x="731519" y="4201668"/>
            <a:ext cx="2243251" cy="267716"/>
          </a:xfrm>
          <a:prstGeom prst="rect">
            <a:avLst/>
          </a:prstGeom>
          <a:noFill/>
        </p:spPr>
        <p:txBody>
          <a:bodyPr wrap="square" anchor="t" lIns="0" rIns="0" tIns="0" bIns="0">
            <a:spAutoFit/>
          </a:bodyPr>
          <a:lstStyle/>
          <a:p>
            <a:pPr algn="l"/>
            <a:r>
              <a:rPr sz="1400" b="1" i="0">
                <a:solidFill>
                  <a:srgbClr val="1A0F5C"/>
                </a:solidFill>
                <a:latin typeface="Calibri"/>
              </a:rPr>
              <a:t>Reproduce</a:t>
            </a:r>
          </a:p>
        </p:txBody>
      </p:sp>
      <p:sp>
        <p:nvSpPr>
          <p:cNvPr id="17" name="TextBox 16"/>
          <p:cNvSpPr txBox="1"/>
          <p:nvPr/>
        </p:nvSpPr>
        <p:spPr>
          <a:xfrm>
            <a:off x="731519" y="4542536"/>
            <a:ext cx="2243251" cy="399796"/>
          </a:xfrm>
          <a:prstGeom prst="rect">
            <a:avLst/>
          </a:prstGeom>
          <a:noFill/>
        </p:spPr>
        <p:txBody>
          <a:bodyPr wrap="square" anchor="t" lIns="0" rIns="0" tIns="0" bIns="0">
            <a:spAutoFit/>
          </a:bodyPr>
          <a:lstStyle/>
          <a:p>
            <a:pPr algn="l"/>
            <a:r>
              <a:rPr sz="1100" b="0" i="0">
                <a:solidFill>
                  <a:srgbClr val="6B6690"/>
                </a:solidFill>
                <a:latin typeface="Calibri"/>
              </a:rPr>
              <a:t>Compute Rs 4,850 and Rs 3,200 from the platform's list.</a:t>
            </a:r>
          </a:p>
        </p:txBody>
      </p:sp>
      <p:sp>
        <p:nvSpPr>
          <p:cNvPr id="18" name="Rounded Rectangle 17"/>
          <p:cNvSpPr/>
          <p:nvPr/>
        </p:nvSpPr>
        <p:spPr>
          <a:xfrm>
            <a:off x="3358819" y="3195828"/>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559987" y="3396996"/>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search-check_efc46fa23a6f.png"/>
          <p:cNvPicPr>
            <a:picLocks noChangeAspect="1"/>
          </p:cNvPicPr>
          <p:nvPr/>
        </p:nvPicPr>
        <p:blipFill>
          <a:blip r:embed="rId5"/>
          <a:stretch>
            <a:fillRect/>
          </a:stretch>
        </p:blipFill>
        <p:spPr>
          <a:xfrm>
            <a:off x="3669715" y="3506724"/>
            <a:ext cx="237744" cy="237744"/>
          </a:xfrm>
          <a:prstGeom prst="rect">
            <a:avLst/>
          </a:prstGeom>
        </p:spPr>
      </p:pic>
      <p:sp>
        <p:nvSpPr>
          <p:cNvPr id="21" name="TextBox 20"/>
          <p:cNvSpPr txBox="1"/>
          <p:nvPr/>
        </p:nvSpPr>
        <p:spPr>
          <a:xfrm>
            <a:off x="3559987" y="3963924"/>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MOVE 2</a:t>
            </a:r>
          </a:p>
        </p:txBody>
      </p:sp>
      <p:sp>
        <p:nvSpPr>
          <p:cNvPr id="22" name="TextBox 21"/>
          <p:cNvSpPr txBox="1"/>
          <p:nvPr/>
        </p:nvSpPr>
        <p:spPr>
          <a:xfrm>
            <a:off x="3559987" y="4201668"/>
            <a:ext cx="2243251" cy="267716"/>
          </a:xfrm>
          <a:prstGeom prst="rect">
            <a:avLst/>
          </a:prstGeom>
          <a:noFill/>
        </p:spPr>
        <p:txBody>
          <a:bodyPr wrap="square" anchor="t" lIns="0" rIns="0" tIns="0" bIns="0">
            <a:spAutoFit/>
          </a:bodyPr>
          <a:lstStyle/>
          <a:p>
            <a:pPr algn="l"/>
            <a:r>
              <a:rPr sz="1400" b="1" i="0">
                <a:solidFill>
                  <a:srgbClr val="1A0F5C"/>
                </a:solidFill>
                <a:latin typeface="Calibri"/>
              </a:rPr>
              <a:t>Name the mismatch</a:t>
            </a:r>
          </a:p>
        </p:txBody>
      </p:sp>
      <p:sp>
        <p:nvSpPr>
          <p:cNvPr id="23" name="TextBox 22"/>
          <p:cNvSpPr txBox="1"/>
          <p:nvPr/>
        </p:nvSpPr>
        <p:spPr>
          <a:xfrm>
            <a:off x="3559987" y="4542536"/>
            <a:ext cx="2243251" cy="399796"/>
          </a:xfrm>
          <a:prstGeom prst="rect">
            <a:avLst/>
          </a:prstGeom>
          <a:noFill/>
        </p:spPr>
        <p:txBody>
          <a:bodyPr wrap="square" anchor="t" lIns="0" rIns="0" tIns="0" bIns="0">
            <a:spAutoFit/>
          </a:bodyPr>
          <a:lstStyle/>
          <a:p>
            <a:pPr algn="l"/>
            <a:r>
              <a:rPr sz="1100" b="0" i="0">
                <a:solidFill>
                  <a:srgbClr val="6B6690"/>
                </a:solidFill>
                <a:latin typeface="Calibri"/>
              </a:rPr>
              <a:t>Say which customers sit in each group, and what else differs.</a:t>
            </a:r>
          </a:p>
        </p:txBody>
      </p:sp>
      <p:sp>
        <p:nvSpPr>
          <p:cNvPr id="24" name="Rounded Rectangle 23"/>
          <p:cNvSpPr/>
          <p:nvPr/>
        </p:nvSpPr>
        <p:spPr>
          <a:xfrm>
            <a:off x="6187287" y="3195828"/>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388455" y="3396996"/>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columns-2_406e54442aee.png"/>
          <p:cNvPicPr>
            <a:picLocks noChangeAspect="1"/>
          </p:cNvPicPr>
          <p:nvPr/>
        </p:nvPicPr>
        <p:blipFill>
          <a:blip r:embed="rId6"/>
          <a:stretch>
            <a:fillRect/>
          </a:stretch>
        </p:blipFill>
        <p:spPr>
          <a:xfrm>
            <a:off x="6498183" y="3506724"/>
            <a:ext cx="237744" cy="237744"/>
          </a:xfrm>
          <a:prstGeom prst="rect">
            <a:avLst/>
          </a:prstGeom>
        </p:spPr>
      </p:pic>
      <p:sp>
        <p:nvSpPr>
          <p:cNvPr id="27" name="TextBox 26"/>
          <p:cNvSpPr txBox="1"/>
          <p:nvPr/>
        </p:nvSpPr>
        <p:spPr>
          <a:xfrm>
            <a:off x="6388455" y="3963924"/>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MOVE 3</a:t>
            </a:r>
          </a:p>
        </p:txBody>
      </p:sp>
      <p:sp>
        <p:nvSpPr>
          <p:cNvPr id="28" name="TextBox 27"/>
          <p:cNvSpPr txBox="1"/>
          <p:nvPr/>
        </p:nvSpPr>
        <p:spPr>
          <a:xfrm>
            <a:off x="6388455" y="4201668"/>
            <a:ext cx="2243251" cy="267716"/>
          </a:xfrm>
          <a:prstGeom prst="rect">
            <a:avLst/>
          </a:prstGeom>
          <a:noFill/>
        </p:spPr>
        <p:txBody>
          <a:bodyPr wrap="square" anchor="t" lIns="0" rIns="0" tIns="0" bIns="0">
            <a:spAutoFit/>
          </a:bodyPr>
          <a:lstStyle/>
          <a:p>
            <a:pPr algn="l"/>
            <a:r>
              <a:rPr sz="1400" b="1" i="0">
                <a:solidFill>
                  <a:srgbClr val="1A0F5C"/>
                </a:solidFill>
                <a:latin typeface="Calibri"/>
              </a:rPr>
              <a:t>Rebuild</a:t>
            </a:r>
          </a:p>
        </p:txBody>
      </p:sp>
      <p:sp>
        <p:nvSpPr>
          <p:cNvPr id="29" name="TextBox 28"/>
          <p:cNvSpPr txBox="1"/>
          <p:nvPr/>
        </p:nvSpPr>
        <p:spPr>
          <a:xfrm>
            <a:off x="6388455" y="4542536"/>
            <a:ext cx="2243251" cy="581406"/>
          </a:xfrm>
          <a:prstGeom prst="rect">
            <a:avLst/>
          </a:prstGeom>
          <a:noFill/>
        </p:spPr>
        <p:txBody>
          <a:bodyPr wrap="square" anchor="t" lIns="0" rIns="0" tIns="0" bIns="0">
            <a:spAutoFit/>
          </a:bodyPr>
          <a:lstStyle/>
          <a:p>
            <a:pPr algn="l"/>
            <a:r>
              <a:rPr sz="1100" b="0" i="0">
                <a:solidFill>
                  <a:srgbClr val="6B6690"/>
                </a:solidFill>
                <a:latin typeface="Calibri"/>
              </a:rPr>
              <a:t>Like for like, inside Retail-Plus, with the counts beside each average.</a:t>
            </a:r>
          </a:p>
        </p:txBody>
      </p:sp>
      <p:sp>
        <p:nvSpPr>
          <p:cNvPr id="30" name="Rounded Rectangle 29"/>
          <p:cNvSpPr/>
          <p:nvPr/>
        </p:nvSpPr>
        <p:spPr>
          <a:xfrm>
            <a:off x="9015755" y="3195828"/>
            <a:ext cx="2645587"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216923" y="339699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message-square_028dbd132a0a.png"/>
          <p:cNvPicPr>
            <a:picLocks noChangeAspect="1"/>
          </p:cNvPicPr>
          <p:nvPr/>
        </p:nvPicPr>
        <p:blipFill>
          <a:blip r:embed="rId7"/>
          <a:stretch>
            <a:fillRect/>
          </a:stretch>
        </p:blipFill>
        <p:spPr>
          <a:xfrm>
            <a:off x="9326651" y="3506724"/>
            <a:ext cx="237744" cy="237744"/>
          </a:xfrm>
          <a:prstGeom prst="rect">
            <a:avLst/>
          </a:prstGeom>
        </p:spPr>
      </p:pic>
      <p:sp>
        <p:nvSpPr>
          <p:cNvPr id="33" name="TextBox 32"/>
          <p:cNvSpPr txBox="1"/>
          <p:nvPr/>
        </p:nvSpPr>
        <p:spPr>
          <a:xfrm>
            <a:off x="9216923" y="3963924"/>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MOVE 4</a:t>
            </a:r>
          </a:p>
        </p:txBody>
      </p:sp>
      <p:sp>
        <p:nvSpPr>
          <p:cNvPr id="34" name="TextBox 33"/>
          <p:cNvSpPr txBox="1"/>
          <p:nvPr/>
        </p:nvSpPr>
        <p:spPr>
          <a:xfrm>
            <a:off x="9216923" y="4201668"/>
            <a:ext cx="2243251" cy="267716"/>
          </a:xfrm>
          <a:prstGeom prst="rect">
            <a:avLst/>
          </a:prstGeom>
          <a:noFill/>
        </p:spPr>
        <p:txBody>
          <a:bodyPr wrap="square" anchor="t" lIns="0" rIns="0" tIns="0" bIns="0">
            <a:spAutoFit/>
          </a:bodyPr>
          <a:lstStyle/>
          <a:p>
            <a:pPr algn="l"/>
            <a:r>
              <a:rPr sz="1400" b="1" i="0">
                <a:solidFill>
                  <a:srgbClr val="FFFFFF"/>
                </a:solidFill>
                <a:latin typeface="Calibri"/>
              </a:rPr>
              <a:t>Hold the line</a:t>
            </a:r>
          </a:p>
        </p:txBody>
      </p:sp>
      <p:sp>
        <p:nvSpPr>
          <p:cNvPr id="35" name="TextBox 34"/>
          <p:cNvSpPr txBox="1"/>
          <p:nvPr/>
        </p:nvSpPr>
        <p:spPr>
          <a:xfrm>
            <a:off x="9216923" y="4542536"/>
            <a:ext cx="2243251" cy="581406"/>
          </a:xfrm>
          <a:prstGeom prst="rect">
            <a:avLst/>
          </a:prstGeom>
          <a:noFill/>
        </p:spPr>
        <p:txBody>
          <a:bodyPr wrap="square" anchor="t" lIns="0" rIns="0" tIns="0" bIns="0">
            <a:spAutoFit/>
          </a:bodyPr>
          <a:lstStyle/>
          <a:p>
            <a:pPr algn="l"/>
            <a:r>
              <a:rPr sz="1100" b="0" i="0">
                <a:solidFill>
                  <a:srgbClr val="CFC9EE"/>
                </a:solidFill>
                <a:latin typeface="Calibri"/>
              </a:rPr>
              <a:t>What the sale cost at list price, and the Diwali hold-back offered, in two sentences.</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38" name="Oval 37"/>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40" name="Oval 39"/>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42" name="Oval 41"/>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80883"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Is the split fair?</a:t>
            </a:r>
          </a:p>
        </p:txBody>
      </p:sp>
      <p:sp>
        <p:nvSpPr>
          <p:cNvPr id="44" name="Oval 43"/>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46" name="Oval 45"/>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sets Rs 4,850 against everyone unexposed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number does Marketing bring, and which groups does it compare?</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"Your segment split is slicing the data until it says what you want. Exposed Retail-Plus members spent Rs 4,850 in August. That is far above the Rs 3,200 our unexposed customers averaged. The sale works." The marketing lead</a:t>
            </a:r>
          </a:p>
        </p:txBody>
      </p:sp>
      <p:pic>
        <p:nvPicPr>
          <p:cNvPr id="14" name="mermaid diagram" descr="589745ed8f180763.png"/>
          <p:cNvPicPr>
            <a:picLocks noChangeAspect="1"/>
          </p:cNvPicPr>
          <p:nvPr/>
        </p:nvPicPr>
        <p:blipFill>
          <a:blip r:embed="rId6"/>
          <a:stretch>
            <a:fillRect/>
          </a:stretch>
        </p:blipFill>
        <p:spPr>
          <a:xfrm>
            <a:off x="980922" y="3502152"/>
            <a:ext cx="10229850" cy="1357312"/>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At list price, the exposed paid about 10 percent less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15 percent off cost Kalpa, read at list price?</a:t>
            </a:r>
          </a:p>
        </p:txBody>
      </p:sp>
      <p:pic>
        <p:nvPicPr>
          <p:cNvPr id="9" name="mermaid diagram" descr="460868669d2d3bc3.png"/>
          <p:cNvPicPr>
            <a:picLocks noChangeAspect="1"/>
          </p:cNvPicPr>
          <p:nvPr/>
        </p:nvPicPr>
        <p:blipFill>
          <a:blip r:embed="rId6"/>
          <a:stretch>
            <a:fillRect/>
          </a:stretch>
        </p:blipFill>
        <p:spPr>
          <a:xfrm>
            <a:off x="780897" y="1956816"/>
            <a:ext cx="10629900" cy="2100262"/>
          </a:xfrm>
          <a:prstGeom prst="rect">
            <a:avLst/>
          </a:prstGeom>
        </p:spPr>
      </p:pic>
      <p:sp>
        <p:nvSpPr>
          <p:cNvPr id="10" name="Rounded Rectangle 9"/>
          <p:cNvSpPr/>
          <p:nvPr/>
        </p:nvSpPr>
        <p:spPr>
          <a:xfrm>
            <a:off x="530352" y="420338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6515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774882"/>
            <a:ext cx="237744" cy="237744"/>
          </a:xfrm>
          <a:prstGeom prst="rect">
            <a:avLst/>
          </a:prstGeom>
        </p:spPr>
      </p:pic>
      <p:sp>
        <p:nvSpPr>
          <p:cNvPr id="13" name="TextBox 12"/>
          <p:cNvSpPr txBox="1"/>
          <p:nvPr/>
        </p:nvSpPr>
        <p:spPr>
          <a:xfrm>
            <a:off x="1399031" y="434968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569142"/>
            <a:ext cx="9987991" cy="941832"/>
          </a:xfrm>
          <a:prstGeom prst="rect">
            <a:avLst/>
          </a:prstGeom>
          <a:noFill/>
        </p:spPr>
        <p:txBody>
          <a:bodyPr wrap="square" anchor="t" lIns="0" rIns="0" tIns="0" bIns="0">
            <a:spAutoFit/>
          </a:bodyPr>
          <a:lstStyle/>
          <a:p>
            <a:r>
              <a:rPr sz="1500" b="0" i="0">
                <a:solidFill>
                  <a:srgbClr val="1A1440"/>
                </a:solidFill>
                <a:latin typeface="Calibri"/>
              </a:rPr>
              <a:t>Even a real lift has to clear the discount's cost: at 15 percent off, Monday's rule asks for about 17.6 percent more volume just to stand still. Ask Marketing which way the list counts before anyone argues.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Sixty seconds each?</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you answer each of the day's interview questions in sixty seconds, claim first and caveat said?</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six staples first, sixty seconds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six questions does every analytics screen ask about today's work?</a:t>
            </a:r>
          </a:p>
        </p:txBody>
      </p:sp>
      <p:graphicFrame>
        <p:nvGraphicFramePr>
          <p:cNvPr id="9" name="Table 8"/>
          <p:cNvGraphicFramePr>
            <a:graphicFrameLocks noGrp="1"/>
          </p:cNvGraphicFramePr>
          <p:nvPr/>
        </p:nvGraphicFramePr>
        <p:xfrm>
          <a:off x="530352" y="1956816"/>
          <a:ext cx="11130991" cy="2226056"/>
        </p:xfrm>
        <a:graphic>
          <a:graphicData uri="http://schemas.openxmlformats.org/drawingml/2006/table">
            <a:tbl>
              <a:tblPr firstRow="0" bandRow="0">
                <a:tableStyleId>{2D5ABB26-0587-4C30-8999-92F81FD0307C}</a:tableStyleId>
              </a:tblPr>
              <a:tblGrid>
                <a:gridCol w="914400"/>
                <a:gridCol w="10216591"/>
              </a:tblGrid>
              <a:tr h="318008">
                <a:tc>
                  <a:txBody>
                    <a:bodyPr/>
                    <a:lstStyle/>
                    <a:p>
                      <a:r>
                        <a:rPr sz="1150" b="1" i="0">
                          <a:solidFill>
                            <a:srgbClr val="FFFFFF"/>
                          </a:solidFill>
                          <a:latin typeface="Calibri"/>
                        </a:rPr>
                        <a:t>Tag</a:t>
                      </a:r>
                    </a:p>
                  </a:txBody>
                  <a:tcPr marL="101600" marR="101600" marT="38100" marB="38100" anchor="ctr">
                    <a:solidFill>
                      <a:srgbClr val="1A0F5C"/>
                    </a:solidFill>
                  </a:tcPr>
                </a:tc>
                <a:tc>
                  <a:txBody>
                    <a:bodyPr/>
                    <a:lstStyle/>
                    <a:p>
                      <a:r>
                        <a:rPr sz="1150" b="1" i="0">
                          <a:solidFill>
                            <a:srgbClr val="FFFFFF"/>
                          </a:solidFill>
                          <a:latin typeface="Calibri"/>
                        </a:rPr>
                        <a:t>Question</a:t>
                      </a:r>
                    </a:p>
                  </a:txBody>
                  <a:tcPr marL="101600" marR="101600" marT="38100" marB="38100" anchor="ctr">
                    <a:solidFill>
                      <a:srgbClr val="1A0F5C"/>
                    </a:solidFill>
                  </a:tcPr>
                </a:tc>
              </a:tr>
              <a:tr h="318008">
                <a:tc>
                  <a:txBody>
                    <a:bodyPr/>
                    <a:lstStyle/>
                    <a:p>
                      <a:r>
                        <a:rPr sz="1100" b="0" i="0">
                          <a:solidFill>
                            <a:srgbClr val="1A1440"/>
                          </a:solidFill>
                          <a:latin typeface="Calibri"/>
                        </a:rPr>
                        <a:t>[S]</a:t>
                      </a:r>
                    </a:p>
                  </a:txBody>
                  <a:tcPr marL="101600" marR="101600" marT="38100" marB="38100" anchor="ctr">
                    <a:solidFill>
                      <a:srgbClr val="FFFFFF"/>
                    </a:solidFill>
                  </a:tcPr>
                </a:tc>
                <a:tc>
                  <a:txBody>
                    <a:bodyPr/>
                    <a:lstStyle/>
                    <a:p>
                      <a:r>
                        <a:rPr sz="1100" b="0" i="0">
                          <a:solidFill>
                            <a:srgbClr val="1A1440"/>
                          </a:solidFill>
                          <a:latin typeface="Calibri"/>
                        </a:rPr>
                        <a:t>How do you know whether a change in a metric is significant?</a:t>
                      </a:r>
                    </a:p>
                  </a:txBody>
                  <a:tcPr marL="101600" marR="101600" marT="38100" marB="38100" anchor="ctr">
                    <a:solidFill>
                      <a:srgbClr val="FFFFFF"/>
                    </a:solidFill>
                  </a:tcPr>
                </a:tc>
              </a:tr>
              <a:tr h="318008">
                <a:tc>
                  <a:txBody>
                    <a:bodyPr/>
                    <a:lstStyle/>
                    <a:p>
                      <a:r>
                        <a:rPr sz="1100" b="0" i="0">
                          <a:solidFill>
                            <a:srgbClr val="1A1440"/>
                          </a:solidFill>
                          <a:latin typeface="Calibri"/>
                        </a:rPr>
                        <a:t>[S]</a:t>
                      </a:r>
                    </a:p>
                  </a:txBody>
                  <a:tcPr marL="101600" marR="101600" marT="38100" marB="38100" anchor="ctr">
                    <a:solidFill>
                      <a:srgbClr val="F4F2FA"/>
                    </a:solidFill>
                  </a:tcPr>
                </a:tc>
                <a:tc>
                  <a:txBody>
                    <a:bodyPr/>
                    <a:lstStyle/>
                    <a:p>
                      <a:r>
                        <a:rPr sz="1100" b="0" i="0">
                          <a:solidFill>
                            <a:srgbClr val="1A1440"/>
                          </a:solidFill>
                          <a:latin typeface="Calibri"/>
                        </a:rPr>
                        <a:t>Explain a finding to a non-technical stakeholder.</a:t>
                      </a:r>
                    </a:p>
                  </a:txBody>
                  <a:tcPr marL="101600" marR="101600" marT="38100" marB="38100" anchor="ctr">
                    <a:solidFill>
                      <a:srgbClr val="F4F2FA"/>
                    </a:solidFill>
                  </a:tcPr>
                </a:tc>
              </a:tr>
              <a:tr h="318008">
                <a:tc>
                  <a:txBody>
                    <a:bodyPr/>
                    <a:lstStyle/>
                    <a:p>
                      <a:r>
                        <a:rPr sz="1100" b="0" i="0">
                          <a:solidFill>
                            <a:srgbClr val="1A1440"/>
                          </a:solidFill>
                          <a:latin typeface="Calibri"/>
                        </a:rPr>
                        <a:t>[S]</a:t>
                      </a:r>
                    </a:p>
                  </a:txBody>
                  <a:tcPr marL="101600" marR="101600" marT="38100" marB="38100" anchor="ctr">
                    <a:solidFill>
                      <a:srgbClr val="FFFFFF"/>
                    </a:solidFill>
                  </a:tcPr>
                </a:tc>
                <a:tc>
                  <a:txBody>
                    <a:bodyPr/>
                    <a:lstStyle/>
                    <a:p>
                      <a:r>
                        <a:rPr sz="1100" b="0" i="0">
                          <a:solidFill>
                            <a:srgbClr val="1A1440"/>
                          </a:solidFill>
                          <a:latin typeface="Calibri"/>
                        </a:rPr>
                        <a:t>What does p = 0.03 mean, and not mean?</a:t>
                      </a:r>
                    </a:p>
                  </a:txBody>
                  <a:tcPr marL="101600" marR="101600" marT="38100" marB="38100" anchor="ctr">
                    <a:solidFill>
                      <a:srgbClr val="FFFFFF"/>
                    </a:solidFill>
                  </a:tcPr>
                </a:tc>
              </a:tr>
              <a:tr h="318008">
                <a:tc>
                  <a:txBody>
                    <a:bodyPr/>
                    <a:lstStyle/>
                    <a:p>
                      <a:r>
                        <a:rPr sz="1100" b="0" i="0">
                          <a:solidFill>
                            <a:srgbClr val="1A1440"/>
                          </a:solidFill>
                          <a:latin typeface="Calibri"/>
                        </a:rPr>
                        <a:t>[F]</a:t>
                      </a:r>
                    </a:p>
                  </a:txBody>
                  <a:tcPr marL="101600" marR="101600" marT="38100" marB="38100" anchor="ctr">
                    <a:solidFill>
                      <a:srgbClr val="F4F2FA"/>
                    </a:solidFill>
                  </a:tcPr>
                </a:tc>
                <a:tc>
                  <a:txBody>
                    <a:bodyPr/>
                    <a:lstStyle/>
                    <a:p>
                      <a:r>
                        <a:rPr sz="1100" b="0" i="0">
                          <a:solidFill>
                            <a:srgbClr val="1A1440"/>
                          </a:solidFill>
                          <a:latin typeface="Calibri"/>
                        </a:rPr>
                        <a:t>42 percent on 12 users against 31 percent on 1,200; which do you trust?</a:t>
                      </a:r>
                    </a:p>
                  </a:txBody>
                  <a:tcPr marL="101600" marR="101600" marT="38100" marB="38100" anchor="ctr">
                    <a:solidFill>
                      <a:srgbClr val="F4F2FA"/>
                    </a:solidFill>
                  </a:tcPr>
                </a:tc>
              </a:tr>
              <a:tr h="318008">
                <a:tc>
                  <a:txBody>
                    <a:bodyPr/>
                    <a:lstStyle/>
                    <a:p>
                      <a:r>
                        <a:rPr sz="1100" b="0" i="0">
                          <a:solidFill>
                            <a:srgbClr val="1A1440"/>
                          </a:solidFill>
                          <a:latin typeface="Calibri"/>
                        </a:rPr>
                        <a:t>[F]</a:t>
                      </a:r>
                    </a:p>
                  </a:txBody>
                  <a:tcPr marL="101600" marR="101600" marT="38100" marB="38100" anchor="ctr">
                    <a:solidFill>
                      <a:srgbClr val="FFFFFF"/>
                    </a:solidFill>
                  </a:tcPr>
                </a:tc>
                <a:tc>
                  <a:txBody>
                    <a:bodyPr/>
                    <a:lstStyle/>
                    <a:p>
                      <a:r>
                        <a:rPr sz="1100" b="0" i="0">
                          <a:solidFill>
                            <a:srgbClr val="1A1440"/>
                          </a:solidFill>
                          <a:latin typeface="Calibri"/>
                        </a:rPr>
                        <a:t>Revenue rose after a discount; did the campaign work, and what would you need to know?</a:t>
                      </a:r>
                    </a:p>
                  </a:txBody>
                  <a:tcPr marL="101600" marR="101600" marT="38100" marB="38100" anchor="ctr">
                    <a:solidFill>
                      <a:srgbClr val="FFFFFF"/>
                    </a:solidFill>
                  </a:tcPr>
                </a:tc>
              </a:tr>
              <a:tr h="318008">
                <a:tc>
                  <a:txBody>
                    <a:bodyPr/>
                    <a:lstStyle/>
                    <a:p>
                      <a:r>
                        <a:rPr sz="1100" b="0" i="0">
                          <a:solidFill>
                            <a:srgbClr val="1A1440"/>
                          </a:solidFill>
                          <a:latin typeface="Calibri"/>
                        </a:rPr>
                        <a:t>[D]</a:t>
                      </a:r>
                    </a:p>
                  </a:txBody>
                  <a:tcPr marL="101600" marR="101600" marT="38100" marB="38100" anchor="ctr">
                    <a:solidFill>
                      <a:srgbClr val="F4F2FA"/>
                    </a:solidFill>
                  </a:tcPr>
                </a:tc>
                <a:tc>
                  <a:txBody>
                    <a:bodyPr/>
                    <a:lstStyle/>
                    <a:p>
                      <a:r>
                        <a:rPr sz="1100" b="0" i="0">
                          <a:solidFill>
                            <a:srgbClr val="1A1440"/>
                          </a:solidFill>
                          <a:latin typeface="Calibri"/>
                        </a:rPr>
                        <a:t>The CEO wants a yes or no and the honest answer is "not yet"; what do you say, and how do you hold the line when marketing pushes?</a:t>
                      </a:r>
                    </a:p>
                  </a:txBody>
                  <a:tcPr marL="101600" marR="101600" marT="38100" marB="38100" anchor="ctr">
                    <a:solidFill>
                      <a:srgbClr val="F4F2FA"/>
                    </a:solidFill>
                  </a:tcPr>
                </a:tc>
              </a:tr>
            </a:tbl>
          </a:graphicData>
        </a:graphic>
      </p:graphicFrame>
      <p:pic>
        <p:nvPicPr>
          <p:cNvPr id="10" name="mermaid diagram" descr="440201f62e03ea24.png"/>
          <p:cNvPicPr>
            <a:picLocks noChangeAspect="1"/>
          </p:cNvPicPr>
          <p:nvPr/>
        </p:nvPicPr>
        <p:blipFill>
          <a:blip r:embed="rId5"/>
          <a:stretch>
            <a:fillRect/>
          </a:stretch>
        </p:blipFill>
        <p:spPr>
          <a:xfrm>
            <a:off x="2152497" y="4438904"/>
            <a:ext cx="7886700" cy="1100137"/>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7" name="Oval 1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9" name="Oval 18"/>
          <p:cNvSpPr/>
          <p:nvPr/>
        </p:nvSpPr>
        <p:spPr>
          <a:xfrm>
            <a:off x="597474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84474"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Sixty seconds each?</a:t>
            </a:r>
          </a:p>
        </p:txBody>
      </p:sp>
      <p:sp>
        <p:nvSpPr>
          <p:cNvPr id="21" name="Oval 20"/>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follow-ups push past the first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follow-ups does a second-round interviewer push with?</a:t>
            </a:r>
          </a:p>
        </p:txBody>
      </p:sp>
      <p:graphicFrame>
        <p:nvGraphicFramePr>
          <p:cNvPr id="9" name="Table 8"/>
          <p:cNvGraphicFramePr>
            <a:graphicFrameLocks noGrp="1"/>
          </p:cNvGraphicFramePr>
          <p:nvPr/>
        </p:nvGraphicFramePr>
        <p:xfrm>
          <a:off x="530352" y="1956816"/>
          <a:ext cx="11130991" cy="283057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Follow-up</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A metric moved and the test says significant; how do you decide whether the business should act?</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The campaign lifted revenue overall but every segment fell; how is that possible, and which do you report?</a:t>
                      </a:r>
                    </a:p>
                  </a:txBody>
                  <a:tcPr marL="101600" marR="101600" marT="38100" marB="38100" anchor="ctr">
                    <a:solidFill>
                      <a:srgbClr val="F4F2FA"/>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What is a confounder? Give an example from a campaign.</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Marketing says your segment split is cherry-picking; how do you respond?</a:t>
                      </a:r>
                    </a:p>
                  </a:txBody>
                  <a:tcPr marL="101600" marR="101600" marT="38100" marB="38100" anchor="ctr">
                    <a:solidFill>
                      <a:srgbClr val="F4F2FA"/>
                    </a:solidFill>
                  </a:tcPr>
                </a:tc>
              </a:tr>
              <a:tr h="611632">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Design: flip each pair, pool and shuffle, the textbook paired test, or wait a quarter; which for Monday, sized how, and what would switch it?</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You tested twenty segments and one came back at p = 0.03; what do you say?</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8" name="Oval 17"/>
          <p:cNvSpPr/>
          <p:nvPr/>
        </p:nvSpPr>
        <p:spPr>
          <a:xfrm>
            <a:off x="597474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84474"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Sixty seconds each?</a:t>
            </a:r>
          </a:p>
        </p:txBody>
      </p:sp>
      <p:sp>
        <p:nvSpPr>
          <p:cNvPr id="20" name="Oval 19"/>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Score each answer on the note's four parts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a sixty-second answer scored?</a:t>
            </a:r>
          </a:p>
        </p:txBody>
      </p:sp>
      <p:sp>
        <p:nvSpPr>
          <p:cNvPr id="9" name="Rectangle 8"/>
          <p:cNvSpPr/>
          <p:nvPr/>
        </p:nvSpPr>
        <p:spPr>
          <a:xfrm>
            <a:off x="530352" y="1956816"/>
            <a:ext cx="2782747" cy="457200"/>
          </a:xfrm>
          <a:prstGeom prst="rect">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1A0F5C"/>
                </a:solidFill>
                <a:latin typeface="Calibri"/>
              </a:rPr>
              <a:t>Claim</a:t>
            </a:r>
          </a:p>
        </p:txBody>
      </p:sp>
      <p:sp>
        <p:nvSpPr>
          <p:cNvPr id="10" name="TextBox 9"/>
          <p:cNvSpPr txBox="1"/>
          <p:nvPr/>
        </p:nvSpPr>
        <p:spPr>
          <a:xfrm>
            <a:off x="530352" y="2487168"/>
            <a:ext cx="2782747" cy="176911"/>
          </a:xfrm>
          <a:prstGeom prst="rect">
            <a:avLst/>
          </a:prstGeom>
          <a:noFill/>
        </p:spPr>
        <p:txBody>
          <a:bodyPr wrap="square" anchor="t" lIns="0" rIns="0" tIns="0" bIns="0">
            <a:spAutoFit/>
          </a:bodyPr>
          <a:lstStyle/>
          <a:p>
            <a:pPr algn="ctr"/>
            <a:r>
              <a:rPr sz="850" b="0" i="0">
                <a:solidFill>
                  <a:srgbClr val="6B6690"/>
                </a:solidFill>
                <a:latin typeface="Calibri"/>
              </a:rPr>
              <a:t>one sentence, first</a:t>
            </a:r>
          </a:p>
        </p:txBody>
      </p:sp>
      <p:sp>
        <p:nvSpPr>
          <p:cNvPr id="11" name="Rectangle 10"/>
          <p:cNvSpPr/>
          <p:nvPr/>
        </p:nvSpPr>
        <p:spPr>
          <a:xfrm>
            <a:off x="3313099" y="1956816"/>
            <a:ext cx="3710330" cy="457200"/>
          </a:xfrm>
          <a:prstGeom prst="rect">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Evidence</a:t>
            </a:r>
          </a:p>
        </p:txBody>
      </p:sp>
      <p:sp>
        <p:nvSpPr>
          <p:cNvPr id="12" name="TextBox 11"/>
          <p:cNvSpPr txBox="1"/>
          <p:nvPr/>
        </p:nvSpPr>
        <p:spPr>
          <a:xfrm>
            <a:off x="3313099" y="2487168"/>
            <a:ext cx="3710330" cy="176911"/>
          </a:xfrm>
          <a:prstGeom prst="rect">
            <a:avLst/>
          </a:prstGeom>
          <a:noFill/>
        </p:spPr>
        <p:txBody>
          <a:bodyPr wrap="square" anchor="t" lIns="0" rIns="0" tIns="0" bIns="0">
            <a:spAutoFit/>
          </a:bodyPr>
          <a:lstStyle/>
          <a:p>
            <a:pPr algn="ctr"/>
            <a:r>
              <a:rPr sz="850" b="0" i="0">
                <a:solidFill>
                  <a:srgbClr val="6B6690"/>
                </a:solidFill>
                <a:latin typeface="Calibri"/>
              </a:rPr>
              <a:t>a number with its count</a:t>
            </a:r>
          </a:p>
        </p:txBody>
      </p:sp>
      <p:sp>
        <p:nvSpPr>
          <p:cNvPr id="13" name="Rectangle 12"/>
          <p:cNvSpPr/>
          <p:nvPr/>
        </p:nvSpPr>
        <p:spPr>
          <a:xfrm>
            <a:off x="7023430" y="1956816"/>
            <a:ext cx="2782747" cy="457200"/>
          </a:xfrm>
          <a:prstGeom prst="rect">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Caveat</a:t>
            </a:r>
          </a:p>
        </p:txBody>
      </p:sp>
      <p:sp>
        <p:nvSpPr>
          <p:cNvPr id="14" name="TextBox 13"/>
          <p:cNvSpPr txBox="1"/>
          <p:nvPr/>
        </p:nvSpPr>
        <p:spPr>
          <a:xfrm>
            <a:off x="7023430" y="2487168"/>
            <a:ext cx="2782747" cy="176911"/>
          </a:xfrm>
          <a:prstGeom prst="rect">
            <a:avLst/>
          </a:prstGeom>
          <a:noFill/>
        </p:spPr>
        <p:txBody>
          <a:bodyPr wrap="square" anchor="t" lIns="0" rIns="0" tIns="0" bIns="0">
            <a:spAutoFit/>
          </a:bodyPr>
          <a:lstStyle/>
          <a:p>
            <a:pPr algn="ctr"/>
            <a:r>
              <a:rPr sz="850" b="0" i="0">
                <a:solidFill>
                  <a:srgbClr val="6B6690"/>
                </a:solidFill>
                <a:latin typeface="Calibri"/>
              </a:rPr>
              <a:t>what would change it</a:t>
            </a:r>
          </a:p>
        </p:txBody>
      </p:sp>
      <p:sp>
        <p:nvSpPr>
          <p:cNvPr id="15" name="Rectangle 14"/>
          <p:cNvSpPr/>
          <p:nvPr/>
        </p:nvSpPr>
        <p:spPr>
          <a:xfrm>
            <a:off x="9806178" y="1956816"/>
            <a:ext cx="1855165" cy="457200"/>
          </a:xfrm>
          <a:prstGeom prst="rect">
            <a:avLst/>
          </a:prstGeom>
          <a:solidFill>
            <a:srgbClr val="4E38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Action</a:t>
            </a:r>
          </a:p>
        </p:txBody>
      </p:sp>
      <p:sp>
        <p:nvSpPr>
          <p:cNvPr id="16" name="TextBox 15"/>
          <p:cNvSpPr txBox="1"/>
          <p:nvPr/>
        </p:nvSpPr>
        <p:spPr>
          <a:xfrm>
            <a:off x="9806178" y="2487168"/>
            <a:ext cx="1855165" cy="176911"/>
          </a:xfrm>
          <a:prstGeom prst="rect">
            <a:avLst/>
          </a:prstGeom>
          <a:noFill/>
        </p:spPr>
        <p:txBody>
          <a:bodyPr wrap="square" anchor="t" lIns="0" rIns="0" tIns="0" bIns="0">
            <a:spAutoFit/>
          </a:bodyPr>
          <a:lstStyle/>
          <a:p>
            <a:pPr algn="ctr"/>
            <a:r>
              <a:rPr sz="850" b="0" i="0">
                <a:solidFill>
                  <a:srgbClr val="6B6690"/>
                </a:solidFill>
                <a:latin typeface="Calibri"/>
              </a:rPr>
              <a:t>what to do next</a:t>
            </a:r>
          </a:p>
        </p:txBody>
      </p:sp>
      <p:sp>
        <p:nvSpPr>
          <p:cNvPr id="17" name="TextBox 16"/>
          <p:cNvSpPr txBox="1"/>
          <p:nvPr/>
        </p:nvSpPr>
        <p:spPr>
          <a:xfrm>
            <a:off x="530352" y="291693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seconds are a guide for sixty in total: the evidence gets the most, and the claim comes first.</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20" name="Oval 19"/>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2" name="Oval 21"/>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4" name="Oval 23"/>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6" name="Oval 25"/>
          <p:cNvSpPr/>
          <p:nvPr/>
        </p:nvSpPr>
        <p:spPr>
          <a:xfrm>
            <a:off x="597474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084474"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Sixty seconds each?</a:t>
            </a:r>
          </a:p>
        </p:txBody>
      </p:sp>
      <p:sp>
        <p:nvSpPr>
          <p:cNvPr id="28" name="Oval 27"/>
          <p:cNvSpPr/>
          <p:nvPr/>
        </p:nvSpPr>
        <p:spPr>
          <a:xfrm>
            <a:off x="73243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34071"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Meera?</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 we tell Meera?</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Is the Retail-Plus fall real, is Student's 40 percent worth budget, and did the monsoon sale work?</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would settle it?</a:t>
            </a:r>
          </a:p>
        </p:txBody>
      </p:sp>
      <p:sp>
        <p:nvSpPr>
          <p:cNvPr id="11" name="Rounded Rectangle 10"/>
          <p:cNvSpPr/>
          <p:nvPr/>
        </p:nvSpPr>
        <p:spPr>
          <a:xfrm>
            <a:off x="245054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10350"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lines broke?</a:t>
            </a:r>
          </a:p>
        </p:txBody>
      </p:sp>
      <p:sp>
        <p:nvSpPr>
          <p:cNvPr id="13" name="Rounded Rectangle 12"/>
          <p:cNvSpPr/>
          <p:nvPr/>
        </p:nvSpPr>
        <p:spPr>
          <a:xfrm>
            <a:off x="5651726"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split fair?</a:t>
            </a:r>
          </a:p>
        </p:txBody>
      </p:sp>
      <p:sp>
        <p:nvSpPr>
          <p:cNvPr id="14" name="Rounded Rectangle 13"/>
          <p:cNvSpPr/>
          <p:nvPr/>
        </p:nvSpPr>
        <p:spPr>
          <a:xfrm>
            <a:off x="7193101"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Sixty seconds each?</a:t>
            </a:r>
          </a:p>
        </p:txBody>
      </p:sp>
      <p:sp>
        <p:nvSpPr>
          <p:cNvPr id="15" name="Rounded Rectangle 14"/>
          <p:cNvSpPr/>
          <p:nvPr/>
        </p:nvSpPr>
        <p:spPr>
          <a:xfrm>
            <a:off x="8793693"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 we tell Meera?</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4. Should the sale run again at Diwali?</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watch it, not yet, and not as designed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the Retail-Plus fall real, is Student's 40 percent worth budget, and did the monsoon sale work?</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4389567"/>
                <a:gridCol w="6741423"/>
              </a:tblGrid>
              <a:tr h="369824">
                <a:tc>
                  <a:txBody>
                    <a:bodyPr/>
                    <a:lstStyle/>
                    <a:p>
                      <a:r>
                        <a:rPr sz="1450" b="1" i="0">
                          <a:solidFill>
                            <a:srgbClr val="FFFFFF"/>
                          </a:solidFill>
                          <a:latin typeface="Calibri"/>
                        </a:rPr>
                        <a:t>Meera's question</a:t>
                      </a:r>
                    </a:p>
                  </a:txBody>
                  <a:tcPr marL="101600" marR="101600" marT="38100" marB="38100" anchor="ctr">
                    <a:solidFill>
                      <a:srgbClr val="1A0F5C"/>
                    </a:solidFill>
                  </a:tcPr>
                </a:tc>
                <a:tc>
                  <a:txBody>
                    <a:bodyPr/>
                    <a:lstStyle/>
                    <a:p>
                      <a:r>
                        <a:rPr sz="1450" b="1" i="0">
                          <a:solidFill>
                            <a:srgbClr val="FFFFFF"/>
                          </a:solidFill>
                          <a:latin typeface="Calibri"/>
                        </a:rPr>
                        <a:t>The answer, with its number</a:t>
                      </a:r>
                    </a:p>
                  </a:txBody>
                  <a:tcPr marL="101600" marR="101600" marT="38100" marB="38100" anchor="ctr">
                    <a:solidFill>
                      <a:srgbClr val="1A0F5C"/>
                    </a:solidFill>
                  </a:tcPr>
                </a:tc>
              </a:tr>
              <a:tr h="369824">
                <a:tc>
                  <a:txBody>
                    <a:bodyPr/>
                    <a:lstStyle/>
                    <a:p>
                      <a:r>
                        <a:rPr sz="1400" b="0" i="0">
                          <a:solidFill>
                            <a:srgbClr val="1A1440"/>
                          </a:solidFill>
                          <a:latin typeface="Calibri"/>
                        </a:rPr>
                        <a:t>Is the Retail-Plus fall real?</a:t>
                      </a:r>
                    </a:p>
                  </a:txBody>
                  <a:tcPr marL="101600" marR="101600" marT="38100" marB="38100" anchor="ctr">
                    <a:solidFill>
                      <a:srgbClr val="FFFFFF"/>
                    </a:solidFill>
                  </a:tcPr>
                </a:tc>
                <a:tc>
                  <a:txBody>
                    <a:bodyPr/>
                    <a:lstStyle/>
                    <a:p>
                      <a:r>
                        <a:rPr sz="1400" b="0" i="0">
                          <a:solidFill>
                            <a:srgbClr val="1A1440"/>
                          </a:solidFill>
                          <a:latin typeface="Calibri"/>
                        </a:rPr>
                        <a:t>Borderline, 0.029 and 0.057; worth watching, not acting on alone</a:t>
                      </a:r>
                    </a:p>
                  </a:txBody>
                  <a:tcPr marL="101600" marR="101600" marT="38100" marB="38100" anchor="ctr">
                    <a:solidFill>
                      <a:srgbClr val="FFFFFF"/>
                    </a:solidFill>
                  </a:tcPr>
                </a:tc>
              </a:tr>
              <a:tr h="369824">
                <a:tc>
                  <a:txBody>
                    <a:bodyPr/>
                    <a:lstStyle/>
                    <a:p>
                      <a:r>
                        <a:rPr sz="1400" b="0" i="0">
                          <a:solidFill>
                            <a:srgbClr val="1A1440"/>
                          </a:solidFill>
                          <a:latin typeface="Calibri"/>
                        </a:rPr>
                        <a:t>Is Student's 40 percent worth budget?</a:t>
                      </a:r>
                    </a:p>
                  </a:txBody>
                  <a:tcPr marL="101600" marR="101600" marT="38100" marB="38100" anchor="ctr">
                    <a:solidFill>
                      <a:srgbClr val="F4F2FA"/>
                    </a:solidFill>
                  </a:tcPr>
                </a:tc>
                <a:tc>
                  <a:txBody>
                    <a:bodyPr/>
                    <a:lstStyle/>
                    <a:p>
                      <a:r>
                        <a:rPr sz="1400" b="0" i="0">
                          <a:solidFill>
                            <a:srgbClr val="1A1440"/>
                          </a:solidFill>
                          <a:latin typeface="Calibri"/>
                        </a:rPr>
                        <a:t>Not yet: too few customers, and chance makes it 4 times in 10</a:t>
                      </a:r>
                    </a:p>
                  </a:txBody>
                  <a:tcPr marL="101600" marR="101600" marT="38100" marB="38100" anchor="ctr">
                    <a:solidFill>
                      <a:srgbClr val="F4F2FA"/>
                    </a:solidFill>
                  </a:tcPr>
                </a:tc>
              </a:tr>
              <a:tr h="369824">
                <a:tc>
                  <a:txBody>
                    <a:bodyPr/>
                    <a:lstStyle/>
                    <a:p>
                      <a:r>
                        <a:rPr sz="1400" b="0" i="0">
                          <a:solidFill>
                            <a:srgbClr val="1A1440"/>
                          </a:solidFill>
                          <a:latin typeface="Calibri"/>
                        </a:rPr>
                        <a:t>Did the monsoon sale work?</a:t>
                      </a:r>
                    </a:p>
                  </a:txBody>
                  <a:tcPr marL="101600" marR="101600" marT="38100" marB="38100" anchor="ctr">
                    <a:solidFill>
                      <a:srgbClr val="FFFFFF"/>
                    </a:solidFill>
                  </a:tcPr>
                </a:tc>
                <a:tc>
                  <a:txBody>
                    <a:bodyPr/>
                    <a:lstStyle/>
                    <a:p>
                      <a:r>
                        <a:rPr sz="1400" b="0" i="0">
                          <a:solidFill>
                            <a:srgbClr val="1A1440"/>
                          </a:solidFill>
                          <a:latin typeface="Calibri"/>
                        </a:rPr>
                        <a:t>Not as designed: 3 percent less in each segment; hold back at Diwali</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891540"/>
          </a:xfrm>
          <a:prstGeom prst="rect">
            <a:avLst/>
          </a:prstGeom>
          <a:noFill/>
        </p:spPr>
        <p:txBody>
          <a:bodyPr wrap="square" anchor="ctr" lIns="0" rIns="0" tIns="0" bIns="0">
            <a:spAutoFit/>
          </a:bodyPr>
          <a:lstStyle/>
          <a:p>
            <a:r>
              <a:rPr sz="1500" b="1">
                <a:solidFill>
                  <a:srgbClr val="5B3FD6"/>
                </a:solidFill>
                <a:latin typeface="Calibri"/>
              </a:rPr>
              <a:t>The claim. </a:t>
            </a:r>
            <a:r>
              <a:rPr sz="1500" b="0" i="0">
                <a:solidFill>
                  <a:srgbClr val="1A1440"/>
                </a:solidFill>
                <a:latin typeface="Calibri"/>
              </a:rPr>
              <a:t>Retail-Plus is down by a borderline amount, worth watching and small against the quarter; Student is too thin to fund yet; and the monsoon sale did not work as designed, so test Diwali against a held-back group before repeating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9" name="Oval 18"/>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1" name="Oval 20"/>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3" name="Oval 22"/>
          <p:cNvSpPr/>
          <p:nvPr/>
        </p:nvSpPr>
        <p:spPr>
          <a:xfrm>
            <a:off x="73243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34071"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Meera?</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lines worth keeping, one per chapter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line from each chapter should you be able to say from memory?</a:t>
            </a:r>
          </a:p>
        </p:txBody>
      </p:sp>
      <p:graphicFrame>
        <p:nvGraphicFramePr>
          <p:cNvPr id="9" name="Table 8"/>
          <p:cNvGraphicFramePr>
            <a:graphicFrameLocks noGrp="1"/>
          </p:cNvGraphicFramePr>
          <p:nvPr/>
        </p:nvGraphicFramePr>
        <p:xfrm>
          <a:off x="530352" y="1956816"/>
          <a:ext cx="11130991" cy="355600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a:t>
                      </a:r>
                    </a:p>
                  </a:txBody>
                  <a:tcPr marL="101600" marR="101600" marT="38100" marB="38100" anchor="ctr">
                    <a:solidFill>
                      <a:srgbClr val="1A0F5C"/>
                    </a:solidFill>
                  </a:tcPr>
                </a:tc>
                <a:tc>
                  <a:txBody>
                    <a:bodyPr/>
                    <a:lstStyle/>
                    <a:p>
                      <a:r>
                        <a:rPr sz="1450" b="1" i="0">
                          <a:solidFill>
                            <a:srgbClr val="FFFFFF"/>
                          </a:solidFill>
                          <a:latin typeface="Calibri"/>
                        </a:rPr>
                        <a:t>The line</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A p-value is a share of chance-only worlds; it is never the chance the finding is wrong.</a:t>
                      </a:r>
                    </a:p>
                  </a:txBody>
                  <a:tcPr marL="101600" marR="101600" marT="38100" marB="38100" anchor="ctr">
                    <a:solidFill>
                      <a:srgbClr val="FFFFFF"/>
                    </a:solidFill>
                  </a:tcPr>
                </a:tc>
              </a:tr>
              <a:tr h="611632">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Real and worth acting on are two separate calls: a chance reference answers the first, rupees against cost answer the second.</a:t>
                      </a:r>
                    </a:p>
                  </a:txBody>
                  <a:tcPr marL="101600" marR="101600" marT="38100" marB="38100" anchor="ctr">
                    <a:solidFill>
                      <a:srgbClr val="F4F2FA"/>
                    </a:solidFill>
                  </a:tcPr>
                </a:tc>
              </a:tr>
              <a:tr h="611632">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Count what a rate stands on, in customers as well as orders, before you repeat it; under thirty customers, it is a lead.</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Split an aggregate by segment before you credit a campaign, and name who got it.</a:t>
                      </a:r>
                    </a:p>
                  </a:txBody>
                  <a:tcPr marL="101600" marR="101600" marT="38100" marB="38100" anchor="ctr">
                    <a:solidFill>
                      <a:srgbClr val="F4F2FA"/>
                    </a:solidFill>
                  </a:tcPr>
                </a:tc>
              </a:tr>
              <a:tr h="611632">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The note is claim, evidence, caveat, action, and "not yet, and here is what would tell us" is a complete answer.</a:t>
                      </a:r>
                    </a:p>
                  </a:txBody>
                  <a:tcPr marL="101600" marR="101600" marT="38100" marB="38100" anchor="ctr">
                    <a:solidFill>
                      <a:srgbClr val="FFFFFF"/>
                    </a:solidFill>
                  </a:tcPr>
                </a:tc>
              </a:tr>
              <a:tr h="611632">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A fair comparison asks who got it, who did not, and what else changed; only a coin makes the two groups alike.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16" name="Oval 15"/>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18" name="Oval 17"/>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0" name="Oval 19"/>
          <p:cNvSpPr/>
          <p:nvPr/>
        </p:nvSpPr>
        <p:spPr>
          <a:xfrm>
            <a:off x="73243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34071"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Meera?</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Kahoot: eight items, and none of them graded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day's Kahoot run?</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ITEMS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including Wednesday's return question</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SCORES KEPT</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ungraded, as every Kahoot is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9 min</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 RUN IT</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then two answers discussed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23" name="Oval 2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5" name="Oval 24"/>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7" name="Oval 26"/>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9" name="Oval 28"/>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31" name="Oval 30"/>
          <p:cNvSpPr/>
          <p:nvPr/>
        </p:nvSpPr>
        <p:spPr>
          <a:xfrm>
            <a:off x="73243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34071"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Meera?</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4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Friday rebuilds the week alone, then defends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Kavya ask of tomorrow, and can you do it without help?</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"Before anything goes to Meera, rebuild the week from a raw export with no assistant and no notes. Then say it to me the way you will say it to her, because I will push the way Marketing will." Kavya Nair, senior analyst</a:t>
            </a:r>
          </a:p>
        </p:txBody>
      </p:sp>
      <p:pic>
        <p:nvPicPr>
          <p:cNvPr id="14" name="mermaid diagram" descr="abacaaba7cddc90b.png"/>
          <p:cNvPicPr>
            <a:picLocks noChangeAspect="1"/>
          </p:cNvPicPr>
          <p:nvPr/>
        </p:nvPicPr>
        <p:blipFill>
          <a:blip r:embed="rId6"/>
          <a:stretch>
            <a:fillRect/>
          </a:stretch>
        </p:blipFill>
        <p:spPr>
          <a:xfrm>
            <a:off x="530352" y="3502152"/>
            <a:ext cx="11130991" cy="1129748"/>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would settle it?</a:t>
            </a:r>
          </a:p>
        </p:txBody>
      </p:sp>
      <p:sp>
        <p:nvSpPr>
          <p:cNvPr id="17" name="Oval 16"/>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081688"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36756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7291"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lines broke?</a:t>
            </a:r>
          </a:p>
        </p:txBody>
      </p:sp>
      <p:sp>
        <p:nvSpPr>
          <p:cNvPr id="21" name="Oval 20"/>
          <p:cNvSpPr/>
          <p:nvPr/>
        </p:nvSpPr>
        <p:spPr>
          <a:xfrm>
            <a:off x="467115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780883"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Is the split fair?</a:t>
            </a:r>
          </a:p>
        </p:txBody>
      </p:sp>
      <p:sp>
        <p:nvSpPr>
          <p:cNvPr id="23" name="Oval 22"/>
          <p:cNvSpPr/>
          <p:nvPr/>
        </p:nvSpPr>
        <p:spPr>
          <a:xfrm>
            <a:off x="59747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84474"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Sixty seconds each?</a:t>
            </a:r>
          </a:p>
        </p:txBody>
      </p:sp>
      <p:sp>
        <p:nvSpPr>
          <p:cNvPr id="25" name="Oval 24"/>
          <p:cNvSpPr/>
          <p:nvPr/>
        </p:nvSpPr>
        <p:spPr>
          <a:xfrm>
            <a:off x="73243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34071"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Meera?</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