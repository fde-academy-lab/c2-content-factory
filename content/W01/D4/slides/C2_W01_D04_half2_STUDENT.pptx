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A. After is not because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4. Half two: cause or coincidence, and the one page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Marketing's claim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390140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monsoon sale ran for two weeks in August, targeted at Retail-Plus members.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3083052"/>
            <a:ext cx="41148" cy="839216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3083052"/>
            <a:ext cx="10545775" cy="839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"Revenue from exposed customers was six percent higher than from unexposed ones. The campaign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4068572"/>
            <a:ext cx="41148" cy="511048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4068572"/>
            <a:ext cx="10545775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worked. Let us repeat it for Diwali."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725924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number is correct. Nobody has made an arithmetic error.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4. Half two: cause or coincidence, and the one page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Three things could be true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a65b1769f9d6366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6432" y="1517904"/>
            <a:ext cx="10378830" cy="40162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579872"/>
            <a:ext cx="10820095" cy="473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0">
                <a:solidFill>
                  <a:srgbClr val="1C1C1A"/>
                </a:solidFill>
                <a:latin typeface="Calibri"/>
              </a:rPr>
              <a:t>The data as presented cannot tell these apart. Only a fair comparison can.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4. Half two: cause or coincidence, and the one page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What a fair comparison needs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985008"/>
            <a:ext cx="10820095" cy="171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A group that </a:t>
            </a:r>
            <a:r>
              <a:rPr sz="2000" b="1">
                <a:solidFill>
                  <a:srgbClr val="1C1C1A"/>
                </a:solidFill>
                <a:latin typeface="Calibri"/>
              </a:rPr>
              <a:t>did not</a:t>
            </a:r>
            <a:r>
              <a:rPr sz="2000" b="0">
                <a:solidFill>
                  <a:srgbClr val="1C1C1A"/>
                </a:solidFill>
                <a:latin typeface="Calibri"/>
              </a:rPr>
              <a:t> get the thing, that is </a:t>
            </a:r>
            <a:r>
              <a:rPr sz="2000" b="1">
                <a:solidFill>
                  <a:srgbClr val="1C1C1A"/>
                </a:solidFill>
                <a:latin typeface="Calibri"/>
              </a:rPr>
              <a:t>like</a:t>
            </a:r>
            <a:r>
              <a:rPr sz="2000" b="0">
                <a:solidFill>
                  <a:srgbClr val="1C1C1A"/>
                </a:solidFill>
                <a:latin typeface="Calibri"/>
              </a:rPr>
              <a:t> the group that did, in the ways that matter.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Both halves are load-bearing. A control group that differs from the treated group answers a different question, confidently.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4. Half two: cause or coincidence, and the one page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Who received the monsoon sale?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3360928"/>
            <a:ext cx="10820095" cy="959104"/>
          </a:xfrm>
          <a:prstGeom prst="rect">
            <a:avLst/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3360928"/>
            <a:ext cx="50292" cy="9591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3452368"/>
            <a:ext cx="10362895" cy="812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2B4A7D"/>
                </a:solidFill>
                <a:latin typeface="Calibri"/>
              </a:rPr>
              <a:t>Question. </a:t>
            </a:r>
            <a:r>
              <a:rPr sz="2000" b="0">
                <a:solidFill>
                  <a:srgbClr val="1C1C1A"/>
                </a:solidFill>
                <a:latin typeface="Calibri"/>
              </a:rPr>
              <a:t>Marketing targeted it. Before computing anything, what does targeting do to a comparison?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4. Half two: cause or coincidence, and the one page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Answer: it makes the two groups different on purpose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985008"/>
            <a:ext cx="10820095" cy="171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Targeting is the point of a campaign and it is fatal to a naive comparison.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sale went to Retail-Plus members, who already spend two and a half times what Retail-Core members spend. So the exposed group is richer than the control group </a:t>
            </a:r>
            <a:r>
              <a:rPr sz="2000" b="1">
                <a:solidFill>
                  <a:srgbClr val="1C1C1A"/>
                </a:solidFill>
                <a:latin typeface="Calibri"/>
              </a:rPr>
              <a:t>before the discount does anything at all</a:t>
            </a:r>
            <a:r>
              <a:rPr sz="2000" b="0">
                <a:solidFill>
                  <a:srgbClr val="1C1C1A"/>
                </a:solidFill>
                <a:latin typeface="Calibri"/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4. Half two: cause or coincidence, and the one page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B. The fair comparison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4. Half two: cause or coincidence, and the one page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The exposure table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728468"/>
          <a:ext cx="10820094" cy="105765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347618"/>
                <a:gridCol w="3347618"/>
                <a:gridCol w="3347618"/>
                <a:gridCol w="777240"/>
              </a:tblGrid>
              <a:tr h="35255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Retail-Plus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Retail-Core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Exposed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Not exposed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4042156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Half the exposed group is Retail-Plus, against forty percent of the control. That difference is small to look at and it is the whole result.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4. Half two: cause or coincidence, and the one page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Within each segment, compared properly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728468"/>
          <a:ext cx="10820092" cy="105765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05023"/>
                <a:gridCol w="2106944"/>
                <a:gridCol w="2705023"/>
                <a:gridCol w="3303102"/>
              </a:tblGrid>
              <a:tr h="35255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Exposed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Not exposed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Retail-Plus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Rs 4,850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Rs 5,000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down 3 percent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Retail-Core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Rs 1,940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Rs 2,000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down 3 percent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4042156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Every segment that received the discount spent </a:t>
            </a:r>
            <a:r>
              <a:rPr sz="2000" b="1">
                <a:solidFill>
                  <a:srgbClr val="1C1C1A"/>
                </a:solidFill>
                <a:latin typeface="Calibri"/>
              </a:rPr>
              <a:t>less</a:t>
            </a:r>
            <a:r>
              <a:rPr sz="2000" b="0">
                <a:solidFill>
                  <a:srgbClr val="1C1C1A"/>
                </a:solidFill>
                <a:latin typeface="Calibri"/>
              </a:rPr>
              <a:t> than the comparable customers who did not.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4. Half two: cause or coincidence, and the one page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C. The flip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4. Half two: cause or coincidence, and the one page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And yet the blend rose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2d0e94ef669c20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933361"/>
            <a:ext cx="4652640" cy="1814237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771244" y="2552192"/>
          <a:ext cx="5734648" cy="141020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33662"/>
                <a:gridCol w="1116680"/>
                <a:gridCol w="1433662"/>
                <a:gridCol w="1750644"/>
              </a:tblGrid>
              <a:tr h="35255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Exposed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Not exposed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Retail-Plus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Rs 4,850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Rs 5,000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down 3 percent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Retail-Core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Rs 1,940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Rs 2,000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down 3 percent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C1C1A"/>
                          </a:solidFill>
                          <a:latin typeface="Calibri"/>
                        </a:rPr>
                        <a:t>Everyone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C1C1A"/>
                          </a:solidFill>
                          <a:latin typeface="Calibri"/>
                        </a:rPr>
                        <a:t>Rs 3,395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C1C1A"/>
                          </a:solidFill>
                          <a:latin typeface="Calibri"/>
                        </a:rPr>
                        <a:t>Rs 3,200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C1C1A"/>
                          </a:solidFill>
                          <a:latin typeface="Calibri"/>
                        </a:rPr>
                        <a:t>up 6 percent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771244" y="4218432"/>
            <a:ext cx="5734650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Both parts fell. The whole rose. Nobody made an error.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4. Half two: cause or coincidence, and the one page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Where the six percent came from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e10d18545db81eb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276252"/>
            <a:ext cx="10820095" cy="241725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4839811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campaign changed </a:t>
            </a:r>
            <a:r>
              <a:rPr sz="2000" b="1">
                <a:solidFill>
                  <a:srgbClr val="1C1C1A"/>
                </a:solidFill>
                <a:latin typeface="Calibri"/>
              </a:rPr>
              <a:t>who is in the average</a:t>
            </a:r>
            <a:r>
              <a:rPr sz="2000" b="0">
                <a:solidFill>
                  <a:srgbClr val="1C1C1A"/>
                </a:solidFill>
                <a:latin typeface="Calibri"/>
              </a:rPr>
              <a:t>, not what they spent.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4. Half two: cause or coincidence, and the one page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name for it, now that you have met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985008"/>
            <a:ext cx="10820095" cy="171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When a comparison reverses once a group is split, the aggregate was being driven by the mix.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You will meet it again in Week 2 in SQL, in Week 5 on a model's segments, and in every interview that asks why a metric moved.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4. Half two: cause or coincidence, and the one page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What you can and cannot say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353564"/>
          <a:ext cx="10820094" cy="180746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991515"/>
                <a:gridCol w="4828579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Can say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Cannot say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Exposed customers spent 6 percent more in the blend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discount lifted revenue 6 percent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461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Within both segments, exposed customers spent 3 percent less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discount reduced spending by 3 percent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groups differ in composition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campaign had no effect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4417060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third row on the right is the mistake of the over-corrected analyst, and it is as wrong as the claim it replaces.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4. Half two: cause or coincidence, and the one page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What would settle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bffff91d9c21536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257040"/>
            <a:ext cx="10820095" cy="11247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3528064"/>
            <a:ext cx="41148" cy="839216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3528064"/>
            <a:ext cx="10545775" cy="839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Assign the next discount at random within a segment, hold the segment mix equal in both groups, and compare.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513584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An experiment nobody ran cannot be recovered from the data afterwards. Saying that plainly is the answer.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4. Half two: cause or coincidence, and the one page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D. The note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4. Half two: cause or coincidence, and the one page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Four parts, in this order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5dd1af4526e6513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908100"/>
            <a:ext cx="10820095" cy="115355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4207963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Claim first, because a CEO reads two minutes and stops.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4. Half two: cause or coincidence, and the one page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The page Meera gets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4. Half two: cause or coincidence, and the one page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Three answers, three shapes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483104"/>
          <a:ext cx="10820094" cy="154838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464727"/>
                <a:gridCol w="8355367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The answer's shape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Retail-Plus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Real, big, act on it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Student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Real in the file, not yet evidence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discount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We do not know, and here is what would tell us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4287520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Only one of the three is a yes. A page where all three are yes is a page that was written to please.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4. Half two: cause or coincidence, and the one page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The sentence you are paid for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3056636"/>
            <a:ext cx="41148" cy="511048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3056636"/>
            <a:ext cx="10545775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"We do not know yet, and here is what would tell us."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713988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It is the hardest sentence to say to somebody who wants a decision today, and it is the reason they keep an analyst rather than a dashboard.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4. Half two: cause or coincidence, and the one page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20 / 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