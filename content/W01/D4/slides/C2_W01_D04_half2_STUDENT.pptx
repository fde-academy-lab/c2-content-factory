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After is not because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Marketing's claim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9014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monsoon sale ran for two weeks in August, targeted at Retail-Plus members.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08305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8305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"Revenue from exposed customers was six percent higher than from unexposed ones. The campaign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06857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406857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worked. Let us repeat it for Diwali."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2592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number is correct. Nobody has made an arithmetic error.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Three things could be true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65b1769f9d636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432" y="1517904"/>
            <a:ext cx="10378830" cy="4016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79872"/>
            <a:ext cx="10820095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The data as presented cannot tell these apart. Only a fair comparison can.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a fair comparison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group that </a:t>
            </a:r>
            <a:r>
              <a:rPr sz="2000" b="1">
                <a:solidFill>
                  <a:srgbClr val="1C1C1A"/>
                </a:solidFill>
                <a:latin typeface="Calibri"/>
              </a:rPr>
              <a:t>did not</a:t>
            </a:r>
            <a:r>
              <a:rPr sz="2000" b="0">
                <a:solidFill>
                  <a:srgbClr val="1C1C1A"/>
                </a:solidFill>
                <a:latin typeface="Calibri"/>
              </a:rPr>
              <a:t> get the thing, that is </a:t>
            </a:r>
            <a:r>
              <a:rPr sz="2000" b="1">
                <a:solidFill>
                  <a:srgbClr val="1C1C1A"/>
                </a:solidFill>
                <a:latin typeface="Calibri"/>
              </a:rPr>
              <a:t>like</a:t>
            </a:r>
            <a:r>
              <a:rPr sz="2000" b="0">
                <a:solidFill>
                  <a:srgbClr val="1C1C1A"/>
                </a:solidFill>
                <a:latin typeface="Calibri"/>
              </a:rPr>
              <a:t> the group that did, in the ways that matter.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Both halves are load-bearing. A control group that differs from the treated group answers a different question, confidently.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Who received the monsoon sale?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3609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609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4523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Marketing targeted it. Before computing anything, what does targeting do to a comparison?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it makes the two groups different on purpose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Targeting is the point of a campaign and it is fatal to a naive comparison.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sale went to Retail-Plus members, who already spend two and a half times what Retail-Core members spend. So the exposed group is richer than the control group </a:t>
            </a:r>
            <a:r>
              <a:rPr sz="2000" b="1">
                <a:solidFill>
                  <a:srgbClr val="1C1C1A"/>
                </a:solidFill>
                <a:latin typeface="Calibri"/>
              </a:rPr>
              <a:t>before the discount does anything at all</a:t>
            </a:r>
            <a:r>
              <a:rPr sz="2000" b="0">
                <a:solidFill>
                  <a:srgbClr val="1C1C1A"/>
                </a:solidFill>
                <a:latin typeface="Calibri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fair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exposure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728468"/>
          <a:ext cx="10820094" cy="10576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47618"/>
                <a:gridCol w="3347618"/>
                <a:gridCol w="3347618"/>
                <a:gridCol w="777240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Exposed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Not exposed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04215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Half the exposed group is Retail-Plus, against forty percent of the control. That difference is small to look at and it is the whole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Within each segment, compared properly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728468"/>
          <a:ext cx="10820092" cy="10576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05023"/>
                <a:gridCol w="2106944"/>
                <a:gridCol w="2705023"/>
                <a:gridCol w="3303102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Exposed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 exposed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4,850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5,000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3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1,940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2,000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3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04215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Every segment that received the discount spent </a:t>
            </a:r>
            <a:r>
              <a:rPr sz="2000" b="1">
                <a:solidFill>
                  <a:srgbClr val="1C1C1A"/>
                </a:solidFill>
                <a:latin typeface="Calibri"/>
              </a:rPr>
              <a:t>less</a:t>
            </a:r>
            <a:r>
              <a:rPr sz="2000" b="0">
                <a:solidFill>
                  <a:srgbClr val="1C1C1A"/>
                </a:solidFill>
                <a:latin typeface="Calibri"/>
              </a:rPr>
              <a:t> than the comparable customers who did 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flip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And yet the blend rose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064949aae10d6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52022"/>
            <a:ext cx="4652640" cy="137691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552192"/>
          <a:ext cx="5734648" cy="1410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33662"/>
                <a:gridCol w="1116680"/>
                <a:gridCol w="1433662"/>
                <a:gridCol w="1750644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Exposed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 exposed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4,850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5,000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3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1,940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2,000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3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1C1A"/>
                          </a:solidFill>
                          <a:latin typeface="Calibri"/>
                        </a:rPr>
                        <a:t>Everyone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1C1A"/>
                          </a:solidFill>
                          <a:latin typeface="Calibri"/>
                        </a:rPr>
                        <a:t>Rs 3,395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1C1A"/>
                          </a:solidFill>
                          <a:latin typeface="Calibri"/>
                        </a:rPr>
                        <a:t>Rs 3,200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1C1A"/>
                          </a:solidFill>
                          <a:latin typeface="Calibri"/>
                        </a:rPr>
                        <a:t>up 6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71244" y="4218432"/>
            <a:ext cx="5734650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Both parts fell. The whole rose. Nobody made an error.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Where the six percent came from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4f13dbeedb2d6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88975"/>
            <a:ext cx="10820095" cy="23918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27089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campaign changed </a:t>
            </a:r>
            <a:r>
              <a:rPr sz="2000" b="1">
                <a:solidFill>
                  <a:srgbClr val="1C1C1A"/>
                </a:solidFill>
                <a:latin typeface="Calibri"/>
              </a:rPr>
              <a:t>who is in the average</a:t>
            </a:r>
            <a:r>
              <a:rPr sz="2000" b="0">
                <a:solidFill>
                  <a:srgbClr val="1C1C1A"/>
                </a:solidFill>
                <a:latin typeface="Calibri"/>
              </a:rPr>
              <a:t>, not what they spent.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name for it, now that you have met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When a comparison reverses once a group is split, the aggregate was being driven by the mix.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will meet it again in Week 2 in SQL, in Week 5 on a model's segments, and in every interview that asks why a metric moved.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you can and cannot say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353564"/>
          <a:ext cx="10820094" cy="18074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991515"/>
                <a:gridCol w="482857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Can say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Cannot say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Exposed customers spent 6 percent more in the blend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discount lifted revenue 6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Within both segments, exposed customers spent 3 percent less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discount reduced spending by 3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groups differ in composition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campaign had no effect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1706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third row on the right is the mistake of the over-corrected analyst, and it is as wrong as the claim it replaces.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would settle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bffff91d9c2153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57040"/>
            <a:ext cx="10820095" cy="112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528064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528064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Assign the next discount at random within a segment, hold the segment mix equal in both groups, and compare.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13584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experiment nobody ran cannot be recovered from the data afterwards. Saying that plainly is the answer.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The note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Four parts, in this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62e1e1db556da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31977"/>
            <a:ext cx="10820095" cy="11058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18408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Claim first, because a CEO reads two minutes and stops.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page Meera gets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Three answers, three shapes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64727"/>
                <a:gridCol w="835536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answer's shape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Real, big, act on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Real in the file, not yet evidence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discount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We do not know, and here is what would tell 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Only one of the three is a yes. A page where all three are yes is a page that was written to please.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sentence you are paid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05663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305663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"We do not know yet, and here is what would tell us."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1398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is the hardest sentence to say to somebody who wants a decision today, and it is the reason they keep an analyst rather than a dashboard.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