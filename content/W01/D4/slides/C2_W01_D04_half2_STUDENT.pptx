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Meera's constraint aloud. The morning drafted two lines of the note; this</a:t>
            </a:r>
          </a:p>
          <a:p>
            <a:r>
              <a:t>afternoon adds the third question, the discount, and ships the page. Then the second case, the</a:t>
            </a:r>
          </a:p>
          <a:p>
            <a:r>
              <a:t>interview drill and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Sixty minutes, unguided. The TODO notebook is notebooks/C2_W01_D04_ex1_escalated_case_STUDENT.ipynb</a:t>
            </a:r>
          </a:p>
          <a:p>
            <a:r>
              <a:t>and the brief is exercises/unguided/C2_W01_D04_escalated_STUDENT.md. The support TA answers</a:t>
            </a:r>
          </a:p>
          <a:p>
            <a:r>
              <a:t>environment problems only. Do not help with the discount; the debrief is built on what the room</a:t>
            </a:r>
          </a:p>
          <a:p>
            <a:r>
              <a:t>gets wrong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five parts. Say that parts 1 to 3 repeat the morning on purpose, alone and</a:t>
            </a:r>
          </a:p>
          <a:p>
            <a:r>
              <a:t>fast, and that part 4 is new. Start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Do not tell the room how to read the exposure table. Say only: the same habit as</a:t>
            </a:r>
          </a:p>
          <a:p>
            <a:r>
              <a:t>the morning, a number is a claim until it is checked, and Tuesday's segment split is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third habit from the morning's board. The word for what makes the two</a:t>
            </a:r>
          </a:p>
          <a:p>
            <a:r>
              <a:t>groups unalike is a confounder; say it once and leave the slide up while the room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minutes. Collect the room's part 4 answers by show of letters before this chapter:</a:t>
            </a:r>
          </a:p>
          <a:p>
            <a:r>
              <a:t>a) the discount worked, b) it did not, c) not yet. Then run the four wrong answers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who wrote "the discount worked". Ask what they checked before writing it. Then</a:t>
            </a:r>
          </a:p>
          <a:p>
            <a:r>
              <a:t>ask who split by segment, and have one of them say what the split showed. The room's own numbers</a:t>
            </a:r>
          </a:p>
          <a:p>
            <a:r>
              <a:t>carry this; the slide never states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numbers are invented and deliberately extreme so the mechanism is visible; the</a:t>
            </a:r>
          </a:p>
          <a:p>
            <a:r>
              <a:t>table says so. Work one blend aloud: 80 percent of 4,800 plus 20 percent of 960 is 4,032. This is</a:t>
            </a:r>
          </a:p>
          <a:p>
            <a:r>
              <a:t>Tuesday's mix against rate in a new place, and its name is Simpson's reversal, at recognition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the pairs, then at the blend. Ask which number marketing quoted.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real sentence from the room for each row, anonymised, and have the room fix</a:t>
            </a:r>
          </a:p>
          <a:p>
            <a:r>
              <a:t>it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Letters. Option c sounds careful and gives Meera nothing to act on. Option d</a:t>
            </a:r>
          </a:p>
          <a:p>
            <a:r>
              <a:t>overclaims in the other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Your own discount line takes this shape with your own numbers. Transition to the break, then the second case, where</a:t>
            </a:r>
          </a:p>
          <a:p>
            <a:r>
              <a:t>marketing pushes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before this chapter. Pairs work from exercises/unguided/C2_W01_D04_pushback_STUDENT.md</a:t>
            </a:r>
          </a:p>
          <a:p>
            <a:r>
              <a:t>and notebooks/C2_W01_D04_ex2_second_case_STUDENT.ipynb. One partner plays marketing for the last ten</a:t>
            </a:r>
          </a:p>
          <a:p>
            <a:r>
              <a:t>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Both numbers are in the exposure table and the pair can reproduce them. The trap is</a:t>
            </a:r>
          </a:p>
          <a:p>
            <a:r>
              <a:t>the comparison: one segment's exposed members against everyone unexposed. Let the pairs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Move 4 is spoken, never written first. The partner playing marketing is allowed to</a:t>
            </a:r>
          </a:p>
          <a:p>
            <a:r>
              <a:t>push once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it as a held-back group, or a holdout; experiment design proper comes later in</a:t>
            </a:r>
          </a:p>
          <a:p>
            <a:r>
              <a:t>the programme. The point for today: "not yet" comes with a plan that turns it into a yes or a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campaigns table records 15 percent off; the break-even is Monday's companion</a:t>
            </a:r>
          </a:p>
          <a:p>
            <a:r>
              <a:t>experiment C. The exposure table does not say whether August revenue is before or after the</a:t>
            </a:r>
          </a:p>
          <a:p>
            <a:r>
              <a:t>discount, and the pair should list that as a question for marketing rather than assume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Pairs: one asks, one answers in sixty seconds, the asker scores on the four</a:t>
            </a:r>
          </a:p>
          <a:p>
            <a:r>
              <a:t>parts. Swap every question. The model answers are in the study notes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Two minutes per question including the swap. Listen for p-value sentences that talk</a:t>
            </a:r>
          </a:p>
          <a:p>
            <a:r>
              <a:t>about the real world; stop the pair and ask which world the share was counted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The last one is recognition only: one in twenty chance-only tests reaches 0.05 by</a:t>
            </a:r>
          </a:p>
          <a:p>
            <a:r>
              <a:t>itself, so one small p-value among twenty is a lead. Say "later in the programme" if the room wants</a:t>
            </a:r>
          </a:p>
          <a:p>
            <a:r>
              <a:t>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The asker ticks each part heard. A missing caveat is the most common gap; the</a:t>
            </a:r>
          </a:p>
          <a:p>
            <a:r>
              <a:t>second most common is evidence with no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sentence and the crux lines (5), the Kahoot (12), Friday's question (3).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Three learners read their one sentence aloud. The model sentence is in the day</a:t>
            </a:r>
          </a:p>
          <a:p>
            <a:r>
              <a:t>sheet; read it only after three learners have read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Have the room read line 1 aloud together. Line 5 is the one Saturday's paper asks</a:t>
            </a:r>
          </a:p>
          <a:p>
            <a:r>
              <a:t>for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Run kahoot/C2_W01_D04_quiz_STUDENT.md. Stop after item 2 and item 5 for thirty</a:t>
            </a:r>
          </a:p>
          <a:p>
            <a:r>
              <a:t>seconds each; they are the two traps of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Do not preview the lab's file or its defects. Say tonight's take-home and the</a:t>
            </a:r>
          </a:p>
          <a:p>
            <a:r>
              <a:t>pre-read, and that the note is read aloud to someone outside the programme before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6.xml"/><Relationship Id="rId6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57402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THURSDAY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Did the discount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“One page, two minutes. If the honest answer is 'we do not know yet', say so and tell me what would tell us.”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on the note she will read before Monday's growth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30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0352" y="5248656"/>
            <a:ext cx="8335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debrief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676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0813" y="5248656"/>
            <a:ext cx="10701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382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74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748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537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4. Did the discount work?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escalated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Sixty minutes alone: the Retail-Plus test, Student, the discount, and the whole note.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brief: five parts,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the morning drafted, plus the question the morning left open.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Retail-Plus, 5,000 shuffles, seed 2026, and the p-value sentence.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Worth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 in rupees against the company's quarter.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rate with its count and its chance reference.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discount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Did the monsoon sale lift revenue, and for whom?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Claim, evidence, caveat, action for all three questions, under 200 words.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37" name="Oval 3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9" name="Oval 3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1" name="Oval 4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3" name="Oval 4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discount, in marketing's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campaign table and the exposure table arrive with a claim already attached.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monsoon sale lifted revenue 6 percent. Customers who got it spent more in August than customers who did not. We want to repeat it for Diwali." The marketing lead, Kalpa Retail</a:t>
            </a:r>
          </a:p>
        </p:txBody>
      </p:sp>
      <p:pic>
        <p:nvPicPr>
          <p:cNvPr id="14" name="mermaid diagram" descr="01d260a73e016c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035" y="3243072"/>
            <a:ext cx="10715625" cy="11287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fair comparison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group that got the discount and the group that did not have to be alike in everything else.</a:t>
            </a:r>
          </a:p>
        </p:txBody>
      </p:sp>
      <p:pic>
        <p:nvPicPr>
          <p:cNvPr id="9" name="mermaid diagram" descr="4f8d7981aab862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732" y="1682496"/>
            <a:ext cx="4383564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3987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Split an aggregate by segment before you credit a campaign, and name who got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debrief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Fifteen minutes on the answers the room got wrong, starting with the one most people got wrong.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blended comparison, computed the way a hurried analyst computes it, agrees with marketing.</a:t>
            </a:r>
          </a:p>
        </p:txBody>
      </p:sp>
      <p:pic>
        <p:nvPicPr>
          <p:cNvPr id="9" name="mermaid diagram" descr="3d8f3973002377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2491" y="1956816"/>
            <a:ext cx="7986712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3557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4530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4964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6910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groups were never alike, so the 6 percent carries who got the discount as well as what the discount did.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a blend can rise while every group falls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 for two groups of customers, chosen only to show the mechanism.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67610"/>
                <a:gridCol w="2142843"/>
                <a:gridCol w="1813668"/>
                <a:gridCol w="280686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Invented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Big spenders, per customer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falls 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Small spenders,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falls 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Share who are big spenders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mix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Blended,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Rs 1,800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Rs 4,032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rises 124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group spends less with the discount, and the blend more than doubles, because the discount went mostly to people who spend a lot anyway.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reversal, drawn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falls and one rise on one chart, from the invented table on the slide before this one.</a:t>
            </a:r>
          </a:p>
        </p:txBody>
      </p:sp>
      <p:pic>
        <p:nvPicPr>
          <p:cNvPr id="9" name="mermaid diagram" descr="9fb03cbd8032ca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Compute the comparison inside each segment, then compare the mix of the two groups. If the mix differs, the blend is answering a question nobody asked.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more wrong answers from the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reappeared in the escalated case, and each has a one-line fix.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62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27099"/>
                <a:gridCol w="3604092"/>
                <a:gridCol w="4699799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Wrong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replaces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"A 3 percent chance we are wrong."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share was counted in chance-only worlds.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"A fall this large turns up in about 3 of every 100 shuffles."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"Student is the growth story."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rate stands on a handful of orders.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"Promising, and too few orders to act on yet."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note with no 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Meera cannot see what would change it.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"This changes if ___; we will know by ___."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4872e566695d61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9710" y="3674872"/>
            <a:ext cx="6772275" cy="8715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line survives Kavya's review?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drafts about the invented campaign on the slides before this one.</a:t>
            </a:r>
          </a:p>
        </p:txBody>
      </p:sp>
      <p:pic>
        <p:nvPicPr>
          <p:cNvPr id="9" name="mermaid diagram" descr="628aa4be86927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647" y="1882902"/>
            <a:ext cx="3200400" cy="26289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658106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786122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776978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line goes to the CEO about the invented campaign? a) "Revenue per customer rose 124 percent, so repeat it"; b) "It reached mostly big spenders, and both groups spent less with it, so do not repeat it as designed and test the next one against a held-back group"; c) "Inconclusive, so no view"; d) "It failed, so end all discounts".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finding, the reason, and the next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position, the confounder named, and what would settle it next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the split says about the campaign, in one sentence.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Within each segment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Exposed against not exposed, per customer, with counts.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got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mix of the two groups, and why it differs.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ACTION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next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Hold back a random group inside each segment and compare after.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10362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It takes a position, gives the reason, and says what would change it.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3" name="Oval 3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35" name="Oval 3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7" name="Oval 3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9" name="Oval 3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second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Forty-five minutes in pairs: marketing defends the monsoon sale, and the pair holds the caveat.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Marketing pushes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rebuttal arrives in the meeting, in front of Meera, with a fresh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"Your segment split is slicing the data until it says what you want. Exposed Retail-Plus members spent Rs 4,850 in August. That is far above the Rs 3,200 our unexposed customers averaged. The sale works." The marketing lead</a:t>
            </a:r>
          </a:p>
        </p:txBody>
      </p:sp>
      <p:pic>
        <p:nvPicPr>
          <p:cNvPr id="14" name="mermaid diagram" descr="5bb7a7f61f9304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0947" y="3502152"/>
            <a:ext cx="9829800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pair's job, in four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Reproduce marketing's number, find what it compares, rebuild it fairly, and hold the line politely.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epeat_e3d62ee72e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Compute Rs 4,850 and Rs 3,200 from the exposure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earch-check_efc46fa23a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the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Say which customers sit in each group, and what else differs.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olumns-2_406e54442a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Like for like, inside Retail-Plus, with the counts beside each average.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MOVE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Hold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reply to marketing, in two sentences, with the Diwali test offered.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5" name="Oval 3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7" name="Oval 36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1" name="Oval 4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would settle it: a held-back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For Diwali, keep the discount from a random slice of each segment, and compare like with like.</a:t>
            </a:r>
          </a:p>
        </p:txBody>
      </p:sp>
      <p:pic>
        <p:nvPicPr>
          <p:cNvPr id="9" name="mermaid diagram" descr="d4f47f4512941f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0449" y="1664208"/>
            <a:ext cx="3890796" cy="4085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Chance decides who gets the discount, so the two groups are alike in everything else on average.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rule returns: what 15 percent off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discount of 15 percent needs 17.6 percent more volume just to stand still.</a:t>
            </a:r>
          </a:p>
        </p:txBody>
      </p:sp>
      <p:pic>
        <p:nvPicPr>
          <p:cNvPr id="9" name="mermaid diagram" descr="7a10b152bedadb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" y="1956816"/>
            <a:ext cx="10744200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Even a real lift has to clear the discount's cost. Ask marketing for the volume lift, and set it against 17.6 percent.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drill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minutes aloud: the row's six questions and six case follow-ups, sixty seconds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six questions every screen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anchors, tagged the way the programme tags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know whether a change in a metric is significant?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Explain a finding to a non-technical stakeholder.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 = 0.03 mean, and not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42 percent on 12 users against 31 percent on 1,200; which do you trust?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Revenue rose after a discount; did the campaign work, and what would you need to know?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CEO wants a yes or no and the honest answer is "not yet"; what do you say, and how do you hold the line when marketing pushes?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a70839acce0405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9760" y="4438904"/>
            <a:ext cx="5972175" cy="614362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follow-ups a case interviewer adds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ideas pushed one step further, the way a second-round interviewer pushes.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metric moved and the test says significant; how do you decide whether the business should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lifted revenue overall but every segment fell; how is that possible, and which do you report?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would you set up the Diwali campaign so that afterwards you can tell whether it worked?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a confounder? Give an example from a campaign.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says your segment split is cherry-picking; how do you respond?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tested twenty segments and one came back at p = 0.03;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4" name="Oval 13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6" name="Oval 1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sixty-second answer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note's four parts, said aloud, are the scoring sheet for every answer in the drill.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one sentence,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3099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099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number with its 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3430" y="1956816"/>
            <a:ext cx="2782747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Caveat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3430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would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06178" y="1956816"/>
            <a:ext cx="1855165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6178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to do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9169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seconds are a guide for sixty in total: the evidence gets the most, and the claim comes first.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0" name="Oval 19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2" name="Oval 21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4" name="Oval 2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6" name="Oval 25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sentence to Meera, the five lines worth keeping, the Kahoot, and Friday's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to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whole page compressed into what she will repeat in the growth review.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33943"/>
          <a:ext cx="11130990" cy="12435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38586"/>
                <a:gridCol w="8992404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Your line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Real or not yet, and its size in rupees against the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rate, its count, and whether chance makes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split by segment, who got it, and the Diwali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cbb5ebefbb89f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291" y="3333559"/>
            <a:ext cx="4329112" cy="2714625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lines worth keeping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 and head the cheat sheet, word for word.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702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p-value is a share of chance-only worlds; it is never the chance the finding is wrong.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 and worth acting on are two separate calls: the shuffle answers the first, rupees against cost answer the second.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what a rate stands on before you repeat it; under thirty, it is a lead.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an aggregate by segment before you credit a campaign, and name who got 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 is claim, evidence, caveat, action, and "not yet, and here is what would tell us" is a complete answer.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4" name="Oval 13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6" name="Oval 1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eight items, ungraded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on today and one return question from Wednesday.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including Wednesday's return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SCORES KEPT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as every Kahoot 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12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RUN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the answers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5" name="Oval 2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7" name="Oval 2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9" name="Oval 2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Friday's question, left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Tomorrow the week is rebuilt without an assistant, on a file nobody has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"Can you do all of this again, alone, on a fresh export, and defend it to marketing's face?" Meera Raghavan</a:t>
            </a:r>
          </a:p>
        </p:txBody>
      </p:sp>
      <p:pic>
        <p:nvPicPr>
          <p:cNvPr id="14" name="mermaid diagram" descr="6762c338df0496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78" y="3243072"/>
            <a:ext cx="10015537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