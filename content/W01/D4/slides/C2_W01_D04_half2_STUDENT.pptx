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marketing lead's words aloud. The morning answered Meera's three</a:t>
            </a:r>
          </a:p>
          <a:p>
            <a:r>
              <a:t>questions and wrote the note; this afternoon opens on chapter 6, the fair comparison Marketing's</a:t>
            </a:r>
          </a:p>
          <a:p>
            <a:r>
              <a:t>reply demands, then the escalated case, the debrief, the second case, the interview drill and the</a:t>
            </a:r>
          </a:p>
          <a:p>
            <a:r>
              <a:t>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minutes: the need and the company (3), the options and the call (5), who got it (3),</a:t>
            </a:r>
          </a:p>
          <a:p>
            <a:r>
              <a:t>the trap (3), what else changed (6), the fix (3), the hold-back designed (4), the second route (2),</a:t>
            </a:r>
          </a:p>
          <a:p>
            <a:r>
              <a:t>and Kavya's review (1). Notebook 6 runs beside it. The chapter opener prints 06 because the</a:t>
            </a:r>
          </a:p>
          <a:p>
            <a:r>
              <a:t>afternoon deck is renumbered after it is built; see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question under the ask is counterfactual: what would these customers have</a:t>
            </a:r>
          </a:p>
          <a:p>
            <a:r>
              <a:t>spent without the sale? Nobody can observe it directly, which is why the comparison group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Source, checked 30 September 2026: https://www.nber.org/papers/w20171. Quotes from</a:t>
            </a:r>
          </a:p>
          <a:p>
            <a:r>
              <a:t>the paper: "brand-keyword ads have no measurable short-term benefits"; "almost all of the forgone</a:t>
            </a:r>
          </a:p>
          <a:p>
            <a:r>
              <a:t>click traffic and attributed sales were captured by natural search".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6's sizing cell counts what each option stands on. A and B stand on a</a:t>
            </a:r>
          </a:p>
          <a:p>
            <a:r>
              <a:t>handful of orders a month, and chapter 3 already said what a handful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 is cheap here, which the design slide prices. Leave the board drawing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Predict, then notebook 6, level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That is the first of the three questions answered: the groups were chosen. Ask</a:t>
            </a:r>
          </a:p>
          <a:p>
            <a:r>
              <a:t>what a rule that picks "engaged" customers would do to any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arithmetic is right. Ask what else happened between July and August, and how</a:t>
            </a:r>
          </a:p>
          <a:p>
            <a:r>
              <a:t>many orders July's figure stands on. Take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first line is Retail-Plus, the second Retail-Core, from notebook 6, level 3.</a:t>
            </a:r>
          </a:p>
          <a:p>
            <a:r>
              <a:t>Point at May to June: a fall of more than half, no campaign anywhere. A month's revenue on a few</a:t>
            </a:r>
          </a:p>
          <a:p>
            <a:r>
              <a:t>orders swings by half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chance reference deals each of Retail-Plus's delivered Q2 orders to a month at</a:t>
            </a:r>
          </a:p>
          <a:p>
            <a:r>
              <a:t>random, 5,000 times, and asks how often August takes at least 52.5 percent of the quarter. About 6</a:t>
            </a:r>
          </a:p>
          <a:p>
            <a:r>
              <a:t>in 100: not rare. What changed: a 170 percent claim shrinks to "cannot tell from months".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it as a held-back group, or a holdout; experiment design proper comes later in</a:t>
            </a:r>
          </a:p>
          <a:p>
            <a:r>
              <a:t>the programme. Chance decides who gets the sale, so the groups are alike in everything else on</a:t>
            </a:r>
          </a:p>
          <a:p>
            <a:r>
              <a:t>average, including who was going to buy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Neither route shows the lift Marketing claimed, and neither is a fair comparison,</a:t>
            </a:r>
          </a:p>
          <a:p>
            <a:r>
              <a:t>because nobody tossed a coin. That is why the line stays "do not repeat it as designed" and the</a:t>
            </a:r>
          </a:p>
          <a:p>
            <a:r>
              <a:t>action is the hold-back.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Transition: the escalated case, fifty minutes alone, on everything the six chapters</a:t>
            </a:r>
          </a:p>
          <a:p>
            <a:r>
              <a:t>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minutes, unguided. The TODO notebook is notebooks/C2_W01_D04_ex1_escalated_case_STUDENT.ipynb</a:t>
            </a:r>
          </a:p>
          <a:p>
            <a:r>
              <a:t>and the brief is exercises/unguided/C2_W01_D04_escalated_STUDENT.md. The support TA answers</a:t>
            </a:r>
          </a:p>
          <a:p>
            <a:r>
              <a:t>environment problems only. Collect the room's part 4 and part 5 answers for the debrief.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five parts. Say that the case repeats the chapters on purpose, alone and</a:t>
            </a:r>
          </a:p>
          <a:p>
            <a:r>
              <a:t>fast, with twelve choices to make in the notebook and a note to write at the end. Start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this slide up while the room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minutes. Before this chapter, collect the room's part 4 letters and three anonymised</a:t>
            </a:r>
          </a:p>
          <a:p>
            <a:r>
              <a:t>note lines. Run the wrong answers in order of how many made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Read one real sentence from the room for each row, anonymised, and have the room</a:t>
            </a:r>
          </a:p>
          <a:p>
            <a:r>
              <a:t>fix it aloud. A note with no caveat is the most common gap; read one and ask what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Letters. Option c sounds careful and gives Meera nothing to act on. Option d</a:t>
            </a:r>
          </a:p>
          <a:p>
            <a:r>
              <a:t>overclaims in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b aloud against the room's own lines. Transition to the break, then the second</a:t>
            </a:r>
          </a:p>
          <a:p>
            <a:r>
              <a:t>case, where Marketing pushes back with a new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before this chapter. Pairs work from exercises/unguided/C2_W01_D04_pushback_STUDENT.md</a:t>
            </a:r>
          </a:p>
          <a:p>
            <a:r>
              <a:t>and notebooks/C2_W01_D04_ex2_second_case_STUDENT.ipynb. One partner plays Marketing for the last ten</a:t>
            </a:r>
          </a:p>
          <a:p>
            <a:r>
              <a:t>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Both numbers are in the exposure table and the pair can reproduce them. The trap is</a:t>
            </a:r>
          </a:p>
          <a:p>
            <a:r>
              <a:t>the comparison: one segment's exposed members against everyone unexposed. Let the pairs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Move 4 is spoken, never written first. The partner playing Marketing is allowed to</a:t>
            </a:r>
          </a:p>
          <a:p>
            <a:r>
              <a:t>push once more, and the pair answers with chapter 6's design and its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campaigns table records 15 percent off; the break-even is Monday's companion</a:t>
            </a:r>
          </a:p>
          <a:p>
            <a:r>
              <a:t>experiment C. The exposure table does not say whether August revenue is before or after the</a:t>
            </a:r>
          </a:p>
          <a:p>
            <a:r>
              <a:t>discount, and the pair should list that as a question for Marketing rather than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minutes. Pairs: one asks, one answers in sixty seconds, the asker scores on the four</a:t>
            </a:r>
          </a:p>
          <a:p>
            <a:r>
              <a:t>parts. Swap every question. The model answers are in the study notes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About a minute and a half per question including the swap. Listen for p-value</a:t>
            </a:r>
          </a:p>
          <a:p>
            <a:r>
              <a:t>sentences that talk about the real world; stop the pair and ask which world the share was counted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The design question is the one the day added: the answer names the option, sizes</a:t>
            </a:r>
          </a:p>
          <a:p>
            <a:r>
              <a:t>it on this file, and names the fact that would switch it. The last one is recognition only: one in</a:t>
            </a:r>
          </a:p>
          <a:p>
            <a:r>
              <a:t>twenty chance-only tests reaches 0.05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asker ticks each part heard. A missing caveat is the most common gap; the</a:t>
            </a:r>
          </a:p>
          <a:p>
            <a:r>
              <a:t>second most common is evidence with no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minutes: the sentence and the crux lines (4), the Kahoot (9), Friday's question (2).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Three learners read their one sentence aloud. The model sentence is in the day</a:t>
            </a:r>
          </a:p>
          <a:p>
            <a:r>
              <a:t>sheet; read it only after three learners have read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Have the room read line 1 aloud together. Line 5 is the one Saturday's paper asks</a:t>
            </a:r>
          </a:p>
          <a:p>
            <a:r>
              <a:t>for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Run kahoot/C2_W01_D04_quiz_STUDENT.md. Stop after item 2 and item 5 for thirty</a:t>
            </a:r>
          </a:p>
          <a:p>
            <a:r>
              <a:t>seconds each; they are the two traps of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Do not preview the lab's file or its defects. Say tonight's take-home and the</a:t>
            </a:r>
          </a:p>
          <a:p>
            <a:r>
              <a:t>pre-read, and that the note is read aloud to someone outside the programme before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3.xml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4.xml"/><Relationship Id="rId6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57402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THURSDAY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Did the discount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“Diwali is five weeks away. I want the monsoon sale again, and I want it for more of the base.”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marketing lead, Kalpa Retail, answering the morning's note before Monday's growth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45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9502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8335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debrief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04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4476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748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537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115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5200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4. Did the discount work?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fair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Who got it, who did not, and what else changed: the three questions every campaign readout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need: Marketing wants the sale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morning's note said do not repeat it as designed, and Marketing has replied with a bigger 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"Diwali is five weeks away. I want the monsoon sale again, and I want it for more of the base." The marketing lead, Kalpa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19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tag_ef63078c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5396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 without the sale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targeted customers would have spent in August if nobody had offered them 15 percent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1642" y="3243072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2810" y="344424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user_c13406686c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2538" y="355396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0281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WHO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281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signs Diwali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2810" y="4589780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sale that lifts nothing gives 15 percent of the price to customers who would have bought anyway.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2932" y="3243072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4100" y="34442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triangle-alert_e79485772e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3828" y="355396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4011168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 WRONG CALL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100" y="4248912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Margin, at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4100" y="4589780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Widening the sale to more of the base multiplies whatever it gives away.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34" name="Oval 3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6" name="Oval 3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8" name="Oval 3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0" name="Oval 3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2" name="Oval 4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eBay's ads went to people who would buy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controlled test showed that most of what the ads were credited with arrived without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_280cbd79ce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BRAND-NAME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measurable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When eBay stopped them in a test, almost all of the lost clicks arrived through ordinary search results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s_113eb2dd32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OTHER SEARCH 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Frequent buyers took most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customers who saw most of the ads would have bought anyway, so the average return was negative.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Blake, Nosko and Tadelis, NBER Working Paper 20171. The lesson travels: a campaign is credited with sales it did not cause unless someone asks who would have bought anyway.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ask "did the sale cause it"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compares two things, and each assumes something about what else was going 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69184"/>
                <a:gridCol w="3591747"/>
                <a:gridCol w="457005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stands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assumes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Before and after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 Retail-Plus orders, July and 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 else changed between the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The change beside the change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31 orders, Retail-Plus and 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segments would have moved alike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Inside each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160 customers, 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got it was as good as random inside a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random hold-back at Diwali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fifth of 70 Retail-Plus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Nothing: a coin decides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call: C today, D for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fairest comparison the files hold now, and the one comparison that settles it next time.</a:t>
            </a:r>
          </a:p>
        </p:txBody>
      </p:sp>
      <p:pic>
        <p:nvPicPr>
          <p:cNvPr id="9" name="mermaid diagram" descr="f5ebc56372b0c6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837" y="1664208"/>
            <a:ext cx="10850019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fact that would change 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campaign so large, or a hold-back so hard, that the forgone lift runs into lakhs; then B over a long run of months, with its assumption said aloud.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got the monsoon sale?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campaigns table says who it was aimed at; the exposure table says who received it.</a:t>
            </a:r>
          </a:p>
        </p:txBody>
      </p:sp>
      <p:pic>
        <p:nvPicPr>
          <p:cNvPr id="9" name="mermaid diagram" descr="cb21b03f314d83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901" y="1664208"/>
            <a:ext cx="5105891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Of the customers who got the sale, the share who are Retail-Plus members is: a) all of them, since it targeted Retail-Plus; b) about half; c) about a tenth; d) none.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half, so a rule chose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Aimed at Retail-Plus, received by 30 Retail-Plus and 30 Retail-Core customers.</a:t>
            </a:r>
          </a:p>
        </p:txBody>
      </p:sp>
      <p:pic>
        <p:nvPicPr>
          <p:cNvPr id="9" name="mermaid diagram" descr="808a0e4d09182d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b. Whatever rule chose them, it was a rule and never a coin, and a rule can pick the customers who were going to buy anyway.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August against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hurried readout opens the orders file and compares the sale month with the month before.</a:t>
            </a:r>
          </a:p>
        </p:txBody>
      </p:sp>
      <p:pic>
        <p:nvPicPr>
          <p:cNvPr id="9" name="mermaid diagram" descr="4bad38cfce8f32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604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92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023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67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61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"Retail-Plus delivered Rs 25,060 in August against Rs 9,280 in July, up 170%: the monsoon sale worked, so run it for more of the base at Diwali."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August moved for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segment the sale was not aimed at jumped too, and months swing by half with no sale at all.</a:t>
            </a:r>
          </a:p>
        </p:txBody>
      </p:sp>
      <p:pic>
        <p:nvPicPr>
          <p:cNvPr id="9" name="mermaid diagram" descr="e854c26afdaa81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5155" y="1664208"/>
            <a:ext cx="6501384" cy="32506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60620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8863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79492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Retail-Core, the segment the sale was not aimed at, rose 73 percent from July to August. Retail-Plus fell 58 percent from May to June with no sale running. July's Retail-Plus figure stands on 4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August's share, against chance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like with like in time: August's share of each segment's quarter, and how often chance makes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targeted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August's share of its Q2, not targeted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 in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deals that give Retail-Plus's August that share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170 percent becomes an August four points busier than the untargeted segment's, a gap chance alone reaches often enough. The month file cannot separate the sale from a busy August.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8" name="Oval 27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design: a hold-back at Diwali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Decide before the sale, inside each segment, with a coin, and agree the measure in advance.</a:t>
            </a:r>
          </a:p>
        </p:txBody>
      </p:sp>
      <p:pic>
        <p:nvPicPr>
          <p:cNvPr id="9" name="mermaid diagram" descr="2b7ad7b7789846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537" y="1682496"/>
            <a:ext cx="2497955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price of knowing.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Holding back 14 of 70 Retail-Plus customers at Marketing's own 6 percent lift forgoes about Rs 4,200, and nothing if the lift is not real.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chapter 4's split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different table and a different idea reach the same verdict, with an honest difference.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93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24602"/>
                <a:gridCol w="5462399"/>
                <a:gridCol w="274398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finds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months, beside 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August's share 4 points higher, chance makes that about 6 in 100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Cannot tell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Inside each segment, chapter 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Got it spent 3.0 percent less, in both segments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lift, and possibly a loss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0593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93395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92480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months when no exposure table exists; the split when one does; the hold-back whenever the next campaign can still be designed.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chapter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senior offers the test as a way forward, never as a verdict on Marketing's work.</a:t>
            </a:r>
          </a:p>
        </p:txBody>
      </p:sp>
      <p:pic>
        <p:nvPicPr>
          <p:cNvPr id="9" name="mermaid diagram" descr="75548508a79013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897" y="1863852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6103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42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52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566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761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routes find no lift, and you priced the test that would settle it. Take that to Marketing as an offer, never as a verdict on their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8966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228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338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429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623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would you set up the Diwali campaign so you can tell whether it worked? [D] Before and after, the change beside the change, the split, or a hold-back: which would you defend to a CFO?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fair comparison</a:t>
            </a:r>
          </a:p>
        </p:txBody>
      </p:sp>
      <p:sp>
        <p:nvSpPr>
          <p:cNvPr id="22" name="Oval 2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4" name="Oval 2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6" name="Oval 2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8" name="Oval 2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0" name="Oval 2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Fifty minutes alone: the Retail-Plus test, Student, the discount, and the whole note.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brief: five parts,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the chapters built, alone and against the clock, ending in the note Meera reads.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Retail-Plus, 5,000 shuffles, seed 2026, and the p-value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Worth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 in rupees against the company's quarter.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rate with its count and its chance reference.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discount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Did the monsoon sale lift revenue, and for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Claim, evidence, caveat, action for all three questions, under 200 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7" name="Oval 3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41" name="Oval 4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3" name="Oval 4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5" name="Oval 4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case asks that the chapters did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choice is yours, and the note has to survive Marketing's reply from chapter 6.</a:t>
            </a:r>
          </a:p>
        </p:txBody>
      </p:sp>
      <p:pic>
        <p:nvPicPr>
          <p:cNvPr id="9" name="mermaid diagram" descr="4630802095584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2497" y="1956816"/>
            <a:ext cx="7886700" cy="18573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60495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6318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7291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067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26255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Each number in the note carries its base, its count or chance, and the caveat that would change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debrief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Fifteen minutes on the answers the room got wrong, starting with the one most people got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lines the case 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is a trap from a chapter, back in a new place, with the line that replaces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717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85875"/>
                <a:gridCol w="4172557"/>
                <a:gridCol w="4172557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Wrong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replaces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73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3 percent chance we are wrong."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was counted in chance-only worlds.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"A fall this large turns up in about 3 of every 100 shuffles."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"Retail-Plus fell 34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A third of a tier that is under one percent of the company.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"Rs 24,420 a quarter, 0.19 percent of the company."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"Student is the growth story."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rate stands on a handful of orders.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"Not yet: no budget moves until thirty orders a quarter."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"The discount lifted spend 6 percent."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The blend compares two different mixes.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"Inside each segment, the customers who got it spent less."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1fc994b101292e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929888"/>
            <a:ext cx="7886700" cy="1357312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discount line survives review?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drafts of the note's third line, written by the room this afternoon.</a:t>
            </a:r>
          </a:p>
        </p:txBody>
      </p:sp>
      <p:pic>
        <p:nvPicPr>
          <p:cNvPr id="9" name="mermaid diagram" descr="73411f15259b9d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001342"/>
            <a:ext cx="4786326" cy="3879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26746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24185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24917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line goes to Meera? a) "Revenue per customer rose 6.1 percent, so repeat it for Diwali"; b) "It reached a group with more Retail-Plus members, and inside each segment the customers who got it spent less, so do not repeat it as designed and hold back a random slice at Diwali"; c) "The data is mixed, so more analysis is needed before anyone can say anything"; d) "The discount lost money, so end every discount from Monday."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5" name="Oval 1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finding, the reason, the next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position, the confounder named, and what would settle it next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sale did not lift spend inside either segment.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Within each 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Got it against did not, per customer, with 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got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mix of the two groups, and August for everyone.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ACTION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next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Hold back a random fifth inside each segment at Diwali.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10362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It takes a position, gives the reason, and says what would change it.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3" name="Oval 3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5" name="Oval 3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37" name="Oval 3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1" name="Oval 4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 minutes in pairs: Marketing defends the monsoon sale, and the pair holds the caveat.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rebuttal arrives in the meeting, in front of Meera, with a fresh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"Your segment split is slicing the data until it says what you want. Exposed Retail-Plus members spent Rs 4,850 in August. That is far above the Rs 3,200 our unexposed customers averaged. The sale works." The marketing lead</a:t>
            </a:r>
          </a:p>
        </p:txBody>
      </p:sp>
      <p:pic>
        <p:nvPicPr>
          <p:cNvPr id="14" name="mermaid diagram" descr="589745ed8f1807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922" y="3502152"/>
            <a:ext cx="10229850" cy="13573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pair's job, in four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Reproduce Marketing's number, find what it compares, rebuild it fairly, and hold the line politely.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Compute Rs 4,850 and Rs 3,200 from the exposure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efc46fa23a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the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 which customers sit in each group, and what else differs.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olumns-2_406e54442a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Like for like, inside Retail-Plus, with the counts beside each average.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Hold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reply to Marketing, in two sentences, with the Diwali hold-back offered.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35" name="Oval 3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9" name="Oval 38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3" name="Oval 42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rule returns: what 15 percent off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 of 15 percent needs 17.6 percent more volume just to stand still.</a:t>
            </a:r>
          </a:p>
        </p:txBody>
      </p:sp>
      <p:pic>
        <p:nvPicPr>
          <p:cNvPr id="9" name="mermaid diagram" descr="63a1ff08609e9c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0332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03555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14528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84962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06908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Even a real lift has to clear the discount's cost. Ask Marketing for the volume lift, and set it against 17.6 percent.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Twenty minutes aloud: the row's six questions, the follow-ups and the design question, sixty seconds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six questions every screen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anchors, tagged the way the programme tags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know whether a change in a metric is significant?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Explain a finding to a non-technical stakeholder.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 = 0.03 mean, and not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42 percent on 12 users against 31 percent on 1,200; which do you trust?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Revenue rose after a discount; did the campaign work, and what would you need to know?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CEO wants a yes or no and the honest answer is "not yet"; what do you say, and how do you hold the line when marketing pushes?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440201f62e03ea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4438904"/>
            <a:ext cx="7886700" cy="11001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Follow-ups and the design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ideas pushed one step further, the way a second-round interviewer pushes.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metric moved and the test says significant; how do you decide whether the business should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lifted revenue overall but every segment fell; how is that possible, and which do you report?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a confounder? Give an example from a campaign.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your segment split is cherry-picking; how do you respond?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Design: a shuffle test, a textbook test, a bootstrap range or wait a quarter; which do you choose for Monday, sized how, and what would switch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tested twenty segments and one came back at p = 0.03;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sixty-second answer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note's four parts, said aloud, are the scoring sheet for every answer in the drill.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one sentence,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number with its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430" y="1956816"/>
            <a:ext cx="2782747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Caveat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3430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would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06178" y="1956816"/>
            <a:ext cx="1855165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6178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9169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seconds are a guide for sixty in total: the evidence gets the most, and the claim comes first.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0" name="Oval 19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2" name="Oval 2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4" name="Oval 23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8" name="Oval 27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sentence to Meera, the six lines worth keeping, the Kahoot, and Friday's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fair comparison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350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669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did the discount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whole page compressed into what she will repeat in the growth review.</a:t>
            </a:r>
          </a:p>
        </p:txBody>
      </p:sp>
      <p:pic>
        <p:nvPicPr>
          <p:cNvPr id="9" name="mermaid diagram" descr="6bf5d51cf3950d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73352"/>
            <a:ext cx="4786326" cy="3935423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7260"/>
                <a:gridCol w="407216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line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Real, its size in rupees against the quarter, and the offer tested on half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rate, its count, whether chance makes it, and the count that reopens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split by segment, who got it, what else changed, and the Diwali hold-back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lines worth keeping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line per chapter; the same six close the study notes and head the cheat sheet, word for word.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331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p-value is a share of chance-only worlds; it is never the chance the finding is wrong.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 and worth acting on are two separate calls: the shuffle answers the first, rupees against cost answer the second.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what a rate stands on before you repeat it; under thirty, it is a lead.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an aggregate by segment before you credit a campaign, and name who got 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 is claim, evidence, caveat, action, and "not yet, and here is what would tell us" is a complete answer.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comparison asks who got it, who did not, and what else changed; only a coin makes the two groups alike.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2" name="Oval 1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6" name="Oval 15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eight items,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on today and one return question from Wednesday.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including Wednesday's return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KEPT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as every Kahoot 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two answers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23" name="Oval 2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5" name="Oval 2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9" name="Oval 2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1" name="Oval 30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Friday's question,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Tomorrow the week is rebuilt without an assistant, on a file nobody has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"Can you do all of this again, alone, on a fresh export, and defend it to Marketing's face?" Meera Raghavan</a:t>
            </a:r>
          </a:p>
        </p:txBody>
      </p:sp>
      <p:pic>
        <p:nvPicPr>
          <p:cNvPr id="14" name="mermaid diagram" descr="abacaaba7cddc9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243072"/>
            <a:ext cx="11130991" cy="11297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fair comparison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1" name="Oval 20"/>
          <p:cNvSpPr/>
          <p:nvPr/>
        </p:nvSpPr>
        <p:spPr>
          <a:xfrm>
            <a:off x="41650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5" name="Oval 24"/>
          <p:cNvSpPr/>
          <p:nvPr/>
        </p:nvSpPr>
        <p:spPr>
          <a:xfrm>
            <a:off x="66802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9991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