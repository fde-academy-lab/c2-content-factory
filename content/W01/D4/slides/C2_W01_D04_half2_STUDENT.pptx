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The morning answered Meera's three</a:t>
            </a:r>
          </a:p>
          <a:p>
            <a:r>
              <a:t>questions and wrote the note; this afternoon opens on chapter 6, the fair comparison Marketing's</a:t>
            </a:r>
          </a:p>
          <a:p>
            <a:r>
              <a:t>reply demands, then the escalated case, the debrief, the second case, the interview drill and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who got it (3),</a:t>
            </a:r>
          </a:p>
          <a:p>
            <a:r>
              <a:t>the trap (3), what else changed (6), the fix (3), the hold-back designed (4), the second route (2),</a:t>
            </a:r>
          </a:p>
          <a:p>
            <a:r>
              <a:t>and Kavya's review (1). Notebook 6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under the ask is counterfactual: what would these customers have</a:t>
            </a:r>
          </a:p>
          <a:p>
            <a:r>
              <a:t>spent without the sale? Nobody can observe it directly, which is why the comparison group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checked 30 September 2026: https://www.nber.org/papers/w20171. Quotes from</a:t>
            </a:r>
          </a:p>
          <a:p>
            <a:r>
              <a:t>the abstract: "brand-keyword ads have no measurable short-term benefits"; "returns from paid search</a:t>
            </a:r>
          </a:p>
          <a:p>
            <a:r>
              <a:t>are a fraction of conventional non-experimental estimates". The same paper's split by customer type</a:t>
            </a:r>
          </a:p>
          <a:p>
            <a:r>
              <a:t>was chapter 4's company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6's sizing cell counts what each option stands on. A and B stand on a</a:t>
            </a:r>
          </a:p>
          <a:p>
            <a:r>
              <a:t>handful of orders a month, and chapter 3 already said what a handful is worth. Say the list in full</a:t>
            </a:r>
          </a:p>
          <a:p>
            <a:r>
              <a:t>once: the campaign platform's August list of 160 Retail-Plus and Retail-Core customers, under the</a:t>
            </a:r>
          </a:p>
          <a:p>
            <a:r>
              <a:t>platform's own customer ids, with one average August spend for each group, recording who received</a:t>
            </a:r>
          </a:p>
          <a:p>
            <a:r>
              <a:t>the sale whatever it was aimed at. It cannot be matched to Finance's order file, whose 22</a:t>
            </a:r>
          </a:p>
          <a:p>
            <a:r>
              <a:t>Retail-Plus members and discount column carry no record of the sale. So it answers who got the sale</a:t>
            </a:r>
          </a:p>
          <a:p>
            <a:r>
              <a:t>and how the groups differ, and it sizes the Diwali hold-back; the retention offer was sized on</a:t>
            </a:r>
          </a:p>
          <a:p>
            <a:r>
              <a:t>Finance's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 is cheap here, which the design slide prices. Leave the board drawing 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notebook 6, level 1. The campaigns table is the plan; the platform's</a:t>
            </a:r>
          </a:p>
          <a:p>
            <a:r>
              <a:t>list is what was sent, so where they disagree the list is the one to trust for who got the 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That is the first of the three questions answered: the groups were chosen. Ask</a:t>
            </a:r>
          </a:p>
          <a:p>
            <a:r>
              <a:t>what a rule that picks "engaged" customers would do to any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arithmetic is right. Ask what else happened between July and August, and how</a:t>
            </a:r>
          </a:p>
          <a:p>
            <a:r>
              <a:t>many orders July's figure stands on. Take two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6, level 3, draws these two rows as lines. Point at May to June: a fall of</a:t>
            </a:r>
          </a:p>
          <a:p>
            <a:r>
              <a:t>more than half, no campaign anywhere. A month's revenue on a few orders swings by half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are different customers in each segment, so the chance reference shuffles the</a:t>
            </a:r>
          </a:p>
          <a:p>
            <a:r>
              <a:t>segment labels across both segments' delivered Q2 orders, 5,000 times. As in chapter 1, both</a:t>
            </a:r>
          </a:p>
          <a:p>
            <a:r>
              <a:t>directions are reported, since neither was fixed before August was seen: 0.82 either way, 0.40 for a</a:t>
            </a:r>
          </a:p>
          <a:p>
            <a:r>
              <a:t>Retail-Plus share that much higher. What changed: a 170 percent claim shrinks to "no sign in the</a:t>
            </a:r>
          </a:p>
          <a:p>
            <a:r>
              <a:t>months".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Meet the two lists head-on. The morning offered the retention test to "the whole</a:t>
            </a:r>
          </a:p>
          <a:p>
            <a:r>
              <a:t>tier" of 22, and this hold-back takes 14 of 70. Both are right: the 22 are Finance's order file, where</a:t>
            </a:r>
          </a:p>
          <a:p>
            <a:r>
              <a:t>Retail-Plus members delivered about Rs 1,139 each in August; the 70 are the platform's list, where</a:t>
            </a:r>
          </a:p>
          <a:p>
            <a:r>
              <a:t>Retail-Plus customers who did not get the sale averaged Rs 5,000. Different ids and different</a:t>
            </a:r>
          </a:p>
          <a:p>
            <a:r>
              <a:t>measures, delivered revenue per member against the platform's average spend, so neither checks the</a:t>
            </a:r>
          </a:p>
          <a:p>
            <a:r>
              <a:t>other. Fourteen are too few to see a 6 percent lift; sizing a hold-back is power, which comes later.</a:t>
            </a:r>
          </a:p>
          <a:p>
            <a:r>
              <a:t>Chance decides who gets the sale, so the groups are alike in everything else on average, including</a:t>
            </a:r>
          </a:p>
          <a:p>
            <a:r>
              <a:t>who was going to buy anyway.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6's second route, a placebo: the same month-share test on a different</a:t>
            </a:r>
          </a:p>
          <a:p>
            <a:r>
              <a:t>quarter of Finance's file, sharing nothing with chapter 4's split. Shuffled labels make May's and</a:t>
            </a:r>
          </a:p>
          <a:p>
            <a:r>
              <a:t>June's gaps in about 15 and 7 deals in 100 counting either way. Chapter 4's split found 3 percent</a:t>
            </a:r>
          </a:p>
          <a:p>
            <a:r>
              <a:t>less in both segments; neither route shows the lift Marketing claimed, and neither is a fair</a:t>
            </a:r>
          </a:p>
          <a:p>
            <a:r>
              <a:t>comparison, because nobody tossed a coin. That is why the action is the hold-back.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Transition: the escalated case, fifty minutes alone, on everything the six chapters</a:t>
            </a:r>
          </a:p>
          <a:p>
            <a:r>
              <a:t>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TODO notebook is notebooks/C2_W01_D04_ex1_escalated_case_STUDENT.ipynb</a:t>
            </a:r>
          </a:p>
          <a:p>
            <a:r>
              <a:t>and the brief is exercises/unguided/C2_W01_D04_escalated_STUDENT.md. The support TA answers</a:t>
            </a:r>
          </a:p>
          <a:p>
            <a:r>
              <a:t>environment problems only. Collect the room's part 4 and part 5 answers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parts. Say that the case repeats the chapters on purpose, alone and</a:t>
            </a:r>
          </a:p>
          <a:p>
            <a:r>
              <a:t>fast, with twelve choices to make in the notebook and a note to write at the end. Each check cell</a:t>
            </a:r>
          </a:p>
          <a:p>
            <a:r>
              <a:t>compares the learner's numbers with the numbers they should reach. Start the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slide up while the room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Before this chapter, collect the room's part 4 letters and three anonymised</a:t>
            </a:r>
          </a:p>
          <a:p>
            <a:r>
              <a:t>note lines. Run the wrong answers in order of how many made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Read one real sentence from the room for each row, anonymised, and have the room</a:t>
            </a:r>
          </a:p>
          <a:p>
            <a:r>
              <a:t>fix it aloud. A note with no caveat is the most common gap; read one and ask what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Option c sounds careful and gives Meera nothing to act on. Option d</a:t>
            </a:r>
          </a:p>
          <a:p>
            <a:r>
              <a:t>overclaims in the other direction.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b aloud against the room's own lines. Transition to the break, then the second</a:t>
            </a:r>
          </a:p>
          <a:p>
            <a:r>
              <a:t>case, where Marketing pushes back with a new number.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before this chapter. Pairs work from exercises/unguided/C2_W01_D04_pushback_STUDENT.md</a:t>
            </a:r>
          </a:p>
          <a:p>
            <a:r>
              <a:t>and notebooks/C2_W01_D04_ex2_second_case_STUDENT.ipynb. One partner plays Marketing for the last ten</a:t>
            </a:r>
          </a:p>
          <a:p>
            <a:r>
              <a:t>minutes.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numbers are in the exposure table and the pair can reproduce them. The trap is</a:t>
            </a:r>
          </a:p>
          <a:p>
            <a:r>
              <a:t>the comparison: one segment's exposed members against everyone unexposed. Let the pairs find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Move 4 is spoken, never written first. The partner playing Marketing is allowed to</a:t>
            </a:r>
          </a:p>
          <a:p>
            <a:r>
              <a:t>push once more, and the pair answers with chapter 6's design and its price.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campaigns table records 15 percent off. The platform's list does not say</a:t>
            </a:r>
          </a:p>
          <a:p>
            <a:r>
              <a:t>whether its August spend is before or after the discount; the pair sizes it both ways and lists the</a:t>
            </a:r>
          </a:p>
          <a:p>
            <a:r>
              <a:t>question for Marketing rather than assuming it. Notebook ex2, move 4, computes the 9.8 percent.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in sixty seconds, the asker scores on the four</a:t>
            </a:r>
          </a:p>
          <a:p>
            <a:r>
              <a:t>parts. Swap every question. The model answers are in the study notes and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About a minute and a half per question including the swap. Listen for p-value</a:t>
            </a:r>
          </a:p>
          <a:p>
            <a:r>
              <a:t>sentences that talk about the real world; stop the pair and ask which world the share was counted 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design question is the one the day added: the answer names the option, sizes</a:t>
            </a:r>
          </a:p>
          <a:p>
            <a:r>
              <a:t>it on this file, and names the fact that would switch it, including the design of the data (the same</a:t>
            </a:r>
          </a:p>
          <a:p>
            <a:r>
              <a:t>customers twice, or different customers). The last one is recognition only: about one in twenty</a:t>
            </a:r>
          </a:p>
          <a:p>
            <a:r>
              <a:t>chance-only tests reaches 0.05 by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asker ticks each part heard. A missing caveat is the most common gap; the</a:t>
            </a:r>
          </a:p>
          <a:p>
            <a:r>
              <a:t>second most common is evidence with no count.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and the crux lines (4), the Kahoot (9), Friday's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Three learners read their one sentence aloud. The model sentence is in the day</a:t>
            </a:r>
          </a:p>
          <a:p>
            <a:r>
              <a:t>sheet; read it only after three learners have read theirs.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Have the room read line 1 aloud together. Line 5 is the one Saturday's paper asks</a:t>
            </a:r>
          </a:p>
          <a:p>
            <a:r>
              <a:t>for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kahoot/C2_W01_D04_quiz_STUDENT.md. Stop after item 2 and item 7 for thirty</a:t>
            </a:r>
          </a:p>
          <a:p>
            <a:r>
              <a:t>seconds each: the p-value read as the chance of being wrong, and significance read as importance.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takes Friday, as the pre-read tells the room. Do not preview the lab's file or</a:t>
            </a:r>
          </a:p>
          <a:p>
            <a:r>
              <a:t>its defects. Say tonight's take-home and the pre-read, and that the note is read aloud to someone</a:t>
            </a:r>
          </a:p>
          <a:p>
            <a:r>
              <a:t>outside the programme before Friday.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4.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21.png"/><Relationship Id="rId6"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3.xml"/><Relationship Id="rId6"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4.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8.png"/><Relationship Id="rId6"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4.xml"/><Relationship Id="rId6"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Did the discount work?</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“Diwali is five weeks away. I want the monsoon sale again, and I want it for more of the base.”</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answering the morning's note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fair comparison</a:t>
            </a:r>
          </a:p>
        </p:txBody>
      </p:sp>
      <p:sp>
        <p:nvSpPr>
          <p:cNvPr id="13" name="TextBox 12"/>
          <p:cNvSpPr txBox="1"/>
          <p:nvPr/>
        </p:nvSpPr>
        <p:spPr>
          <a:xfrm>
            <a:off x="24954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79502"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30996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94015"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7" name="TextBox 16"/>
          <p:cNvSpPr txBox="1"/>
          <p:nvPr/>
        </p:nvSpPr>
        <p:spPr>
          <a:xfrm>
            <a:off x="571042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094476"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922115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9605200"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fair comparison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Who got it, who did not, and what else changed: the three questions every campaign readout needs.</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Marketing wants the sale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morning's note said do not repeat it as designed, and Marketing has replied with a bigger ask.</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"Diwali is five weeks away. I want the monsoon sale again, and I want it for more of the base." The marketing lead, Kalpa Retail</a:t>
            </a:r>
          </a:p>
        </p:txBody>
      </p:sp>
      <p:sp>
        <p:nvSpPr>
          <p:cNvPr id="14" name="Rounded Rectangle 13"/>
          <p:cNvSpPr/>
          <p:nvPr/>
        </p:nvSpPr>
        <p:spPr>
          <a:xfrm>
            <a:off x="53035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ag_ef63078c2785.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without the sale</a:t>
            </a:r>
          </a:p>
        </p:txBody>
      </p:sp>
      <p:sp>
        <p:nvSpPr>
          <p:cNvPr id="19" name="TextBox 18"/>
          <p:cNvSpPr txBox="1"/>
          <p:nvPr/>
        </p:nvSpPr>
        <p:spPr>
          <a:xfrm>
            <a:off x="731519"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the targeted customers would have spent in August if nobody had offered them 15 percent off.</a:t>
            </a:r>
          </a:p>
        </p:txBody>
      </p:sp>
      <p:sp>
        <p:nvSpPr>
          <p:cNvPr id="20" name="Rounded Rectangle 19"/>
          <p:cNvSpPr/>
          <p:nvPr/>
        </p:nvSpPr>
        <p:spPr>
          <a:xfrm>
            <a:off x="430164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user_c13406686cbb.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DECIDES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signs Diwali</a:t>
            </a:r>
          </a:p>
        </p:txBody>
      </p:sp>
      <p:sp>
        <p:nvSpPr>
          <p:cNvPr id="25" name="TextBox 24"/>
          <p:cNvSpPr txBox="1"/>
          <p:nvPr/>
        </p:nvSpPr>
        <p:spPr>
          <a:xfrm>
            <a:off x="4502810"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A sale that lifts nothing gives 15 percent of the price to customers who would have bought anyway.</a:t>
            </a:r>
          </a:p>
        </p:txBody>
      </p:sp>
      <p:sp>
        <p:nvSpPr>
          <p:cNvPr id="26" name="Rounded Rectangle 25"/>
          <p:cNvSpPr/>
          <p:nvPr/>
        </p:nvSpPr>
        <p:spPr>
          <a:xfrm>
            <a:off x="8072932" y="3243072"/>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Margin, at scale</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Widening the sale to more of the base multiplies whatever it gives away.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34" name="Oval 3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6" name="Oval 35"/>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8" name="Oval 37"/>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2" name="Oval 41"/>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tested its ads in controlled experiments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controlled test showed that most of what the ads were credited with arrived without them.</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BRAND-NAME ADS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No measurable benefit</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When eBay stopped them in a test, almost all of the lost clicks arrived through ordinary search results instead.</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e4d6117bdfb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CONTROLLED AGAINST USUAL</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fraction of the credit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Because search clicks and purchases go together, the returns a controlled test found were a fraction of what the usual readings had credited.</a:t>
            </a:r>
          </a:p>
        </p:txBody>
      </p:sp>
      <p:sp>
        <p:nvSpPr>
          <p:cNvPr id="21" name="TextBox 20"/>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Blake, Nosko and Tadelis, NBER Working Paper 20171. The lesson travels: a campaign is credited with sales it did not cause unless someone asks who would have bought anyway.</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24" name="Oval 2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ask "did the sale cause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compares two things on one of two files, and each assumes something about what else happened.</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2558285"/>
                <a:gridCol w="4635088"/>
                <a:gridCol w="3937617"/>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stands on</a:t>
                      </a:r>
                    </a:p>
                  </a:txBody>
                  <a:tcPr marL="101600" marR="101600" marT="38100" marB="38100" anchor="ctr">
                    <a:solidFill>
                      <a:srgbClr val="1A0F5C"/>
                    </a:solidFill>
                  </a:tcPr>
                </a:tc>
                <a:tc>
                  <a:txBody>
                    <a:bodyPr/>
                    <a:lstStyle/>
                    <a:p>
                      <a:r>
                        <a:rPr sz="1450" b="1" i="0">
                          <a:solidFill>
                            <a:srgbClr val="FFFFFF"/>
                          </a:solidFill>
                          <a:latin typeface="Calibri"/>
                        </a:rPr>
                        <a:t>What it assumes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13 Retail-Plus orders, July and August</a:t>
                      </a:r>
                    </a:p>
                  </a:txBody>
                  <a:tcPr marL="101600" marR="101600" marT="38100" marB="38100" anchor="ctr">
                    <a:solidFill>
                      <a:srgbClr val="FFFFFF"/>
                    </a:solidFill>
                  </a:tcPr>
                </a:tc>
                <a:tc>
                  <a:txBody>
                    <a:bodyPr/>
                    <a:lstStyle/>
                    <a:p>
                      <a:r>
                        <a:rPr sz="1400" b="0" i="0">
                          <a:solidFill>
                            <a:srgbClr val="1A1440"/>
                          </a:solidFill>
                          <a:latin typeface="Calibri"/>
                        </a:rPr>
                        <a:t>Nothing else changed between the months</a:t>
                      </a:r>
                    </a:p>
                  </a:txBody>
                  <a:tcPr marL="101600" marR="101600" marT="38100" marB="38100" anchor="ctr">
                    <a:solidFill>
                      <a:srgbClr val="FFFFFF"/>
                    </a:solidFill>
                  </a:tcPr>
                </a:tc>
              </a:tr>
              <a:tr h="611632">
                <a:tc>
                  <a:txBody>
                    <a:bodyPr/>
                    <a:lstStyle/>
                    <a:p>
                      <a:r>
                        <a:rPr sz="1400" b="0" i="0">
                          <a:solidFill>
                            <a:srgbClr val="1A1440"/>
                          </a:solidFill>
                          <a:latin typeface="Calibri"/>
                        </a:rPr>
                        <a:t>B. The change beside the change</a:t>
                      </a:r>
                    </a:p>
                  </a:txBody>
                  <a:tcPr marL="101600" marR="101600" marT="38100" marB="38100" anchor="ctr">
                    <a:solidFill>
                      <a:srgbClr val="F4F2FA"/>
                    </a:solidFill>
                  </a:tcPr>
                </a:tc>
                <a:tc>
                  <a:txBody>
                    <a:bodyPr/>
                    <a:lstStyle/>
                    <a:p>
                      <a:r>
                        <a:rPr sz="1400" b="0" i="0">
                          <a:solidFill>
                            <a:srgbClr val="1A1440"/>
                          </a:solidFill>
                          <a:latin typeface="Calibri"/>
                        </a:rPr>
                        <a:t>Finance's file: 31 orders, Retail-Plus and Retail-Core</a:t>
                      </a:r>
                    </a:p>
                  </a:txBody>
                  <a:tcPr marL="101600" marR="101600" marT="38100" marB="38100" anchor="ctr">
                    <a:solidFill>
                      <a:srgbClr val="F4F2FA"/>
                    </a:solidFill>
                  </a:tcPr>
                </a:tc>
                <a:tc>
                  <a:txBody>
                    <a:bodyPr/>
                    <a:lstStyle/>
                    <a:p>
                      <a:r>
                        <a:rPr sz="1400" b="0" i="0">
                          <a:solidFill>
                            <a:srgbClr val="1A1440"/>
                          </a:solidFill>
                          <a:latin typeface="Calibri"/>
                        </a:rPr>
                        <a:t>Both segments would have moved alike</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platform's list: 160 customers, chapter 4</a:t>
                      </a:r>
                    </a:p>
                  </a:txBody>
                  <a:tcPr marL="101600" marR="101600" marT="38100" marB="38100" anchor="ctr">
                    <a:solidFill>
                      <a:srgbClr val="FFFFFF"/>
                    </a:solidFill>
                  </a:tcPr>
                </a:tc>
                <a:tc>
                  <a:txBody>
                    <a:bodyPr/>
                    <a:lstStyle/>
                    <a:p>
                      <a:r>
                        <a:rPr sz="1400" b="0" i="0">
                          <a:solidFill>
                            <a:srgbClr val="1A1440"/>
                          </a:solidFill>
                          <a:latin typeface="Calibri"/>
                        </a:rPr>
                        <a:t>Who got it was as good as random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A random hold-back at Diwali</a:t>
                      </a:r>
                    </a:p>
                  </a:txBody>
                  <a:tcPr marL="101600" marR="101600" marT="38100" marB="38100" anchor="ctr">
                    <a:solidFill>
                      <a:srgbClr val="F4F2FA"/>
                    </a:solidFill>
                  </a:tcPr>
                </a:tc>
                <a:tc>
                  <a:txBody>
                    <a:bodyPr/>
                    <a:lstStyle/>
                    <a:p>
                      <a:r>
                        <a:rPr sz="1400" b="0" i="0">
                          <a:solidFill>
                            <a:srgbClr val="1A1440"/>
                          </a:solidFill>
                          <a:latin typeface="Calibri"/>
                        </a:rPr>
                        <a:t>The platform's list: a fifth of its 70 Retail-Plus customers</a:t>
                      </a:r>
                    </a:p>
                  </a:txBody>
                  <a:tcPr marL="101600" marR="101600" marT="38100" marB="38100" anchor="ctr">
                    <a:solidFill>
                      <a:srgbClr val="F4F2FA"/>
                    </a:solidFill>
                  </a:tcPr>
                </a:tc>
                <a:tc>
                  <a:txBody>
                    <a:bodyPr/>
                    <a:lstStyle/>
                    <a:p>
                      <a:r>
                        <a:rPr sz="1400" b="0" i="0">
                          <a:solidFill>
                            <a:srgbClr val="1A1440"/>
                          </a:solidFill>
                          <a:latin typeface="Calibri"/>
                        </a:rPr>
                        <a:t>Nothing: a coin decides</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platform's list records who received the sale, under its own ids, and cannot be matched to Finance's order file, so each option stands on the file that can answer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C today, D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fairest comparison the files hold now, and the one comparison that settles it next time.</a:t>
            </a:r>
          </a:p>
        </p:txBody>
      </p:sp>
      <p:pic>
        <p:nvPicPr>
          <p:cNvPr id="9" name="mermaid diagram" descr="734903d7c091b47e.png"/>
          <p:cNvPicPr>
            <a:picLocks noChangeAspect="1"/>
          </p:cNvPicPr>
          <p:nvPr/>
        </p:nvPicPr>
        <p:blipFill>
          <a:blip r:embed="rId5"/>
          <a:stretch>
            <a:fillRect/>
          </a:stretch>
        </p:blipFill>
        <p:spPr>
          <a:xfrm>
            <a:off x="530352" y="1956816"/>
            <a:ext cx="11130991" cy="1974853"/>
          </a:xfrm>
          <a:prstGeom prst="rect">
            <a:avLst/>
          </a:prstGeom>
        </p:spPr>
      </p:pic>
      <p:sp>
        <p:nvSpPr>
          <p:cNvPr id="10" name="Rounded Rectangle 9"/>
          <p:cNvSpPr/>
          <p:nvPr/>
        </p:nvSpPr>
        <p:spPr>
          <a:xfrm>
            <a:off x="530352" y="407797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0598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96845"/>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campaign so large, or a hold-back so hard, that the forgone lift runs into lakhs; then B over a long run of months, with its assumption said aloud.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who got the monsoon sale?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campaigns table says whom it was aimed at; the platform's list records who received it.</a:t>
            </a:r>
          </a:p>
        </p:txBody>
      </p:sp>
      <p:pic>
        <p:nvPicPr>
          <p:cNvPr id="9" name="mermaid diagram" descr="92d9c1bece015996.png"/>
          <p:cNvPicPr>
            <a:picLocks noChangeAspect="1"/>
          </p:cNvPicPr>
          <p:nvPr/>
        </p:nvPicPr>
        <p:blipFill>
          <a:blip r:embed="rId5"/>
          <a:stretch>
            <a:fillRect/>
          </a:stretch>
        </p:blipFill>
        <p:spPr>
          <a:xfrm>
            <a:off x="3709835" y="1956816"/>
            <a:ext cx="47720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customers who got the sale, the share who are Retail-Plus members is: a) all of them, since it targeted Retail-Plus; b) about half; c) about a tenth; d) none.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half, so a rule chose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Aimed at Retail-Plus, received by 30 Retail-Plus and 30 Retail-Core customers.</a:t>
            </a:r>
          </a:p>
        </p:txBody>
      </p:sp>
      <p:pic>
        <p:nvPicPr>
          <p:cNvPr id="9" name="mermaid diagram" descr="40748c5bfa3dbe0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Whatever chose them was a rule, and a rule can pick the customers who were going to buy anyway.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August against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hurried readout opens the orders file and compares the sale month with the month before.</a:t>
            </a:r>
          </a:p>
        </p:txBody>
      </p:sp>
      <p:pic>
        <p:nvPicPr>
          <p:cNvPr id="9" name="mermaid diagram" descr="814608db0dd47743.png"/>
          <p:cNvPicPr>
            <a:picLocks noChangeAspect="1"/>
          </p:cNvPicPr>
          <p:nvPr/>
        </p:nvPicPr>
        <p:blipFill>
          <a:blip r:embed="rId6"/>
          <a:stretch>
            <a:fillRect/>
          </a:stretch>
        </p:blipFill>
        <p:spPr>
          <a:xfrm>
            <a:off x="1188091" y="1956816"/>
            <a:ext cx="9815512"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"Retail-Plus delivered Rs 25,060 in August against Rs 9,280 in July, up 170%: the monsoon sale worked, so run it for more of the base at Diwali."</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August moved for everyone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segment the sale was not aimed at jumped too, and months swing by half with no sale at all.</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Delivered, Rs</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Retail-Plus, targeted</a:t>
                      </a:r>
                    </a:p>
                  </a:txBody>
                  <a:tcPr marL="101600" marR="101600" marT="38100" marB="38100" anchor="ctr">
                    <a:solidFill>
                      <a:srgbClr val="FFFFFF"/>
                    </a:solidFill>
                  </a:tcPr>
                </a:tc>
                <a:tc>
                  <a:txBody>
                    <a:bodyPr/>
                    <a:lstStyle/>
                    <a:p>
                      <a:r>
                        <a:rPr sz="1200" b="0" i="0">
                          <a:solidFill>
                            <a:srgbClr val="1A1440"/>
                          </a:solidFill>
                          <a:latin typeface="Calibri"/>
                        </a:rPr>
                        <a:t>19,650</a:t>
                      </a:r>
                    </a:p>
                  </a:txBody>
                  <a:tcPr marL="101600" marR="101600" marT="38100" marB="38100" anchor="ctr">
                    <a:solidFill>
                      <a:srgbClr val="FFFFFF"/>
                    </a:solidFill>
                  </a:tcPr>
                </a:tc>
                <a:tc>
                  <a:txBody>
                    <a:bodyPr/>
                    <a:lstStyle/>
                    <a:p>
                      <a:r>
                        <a:rPr sz="1200" b="0" i="0">
                          <a:solidFill>
                            <a:srgbClr val="1A1440"/>
                          </a:solidFill>
                          <a:latin typeface="Calibri"/>
                        </a:rPr>
                        <a:t>36,840</a:t>
                      </a:r>
                    </a:p>
                  </a:txBody>
                  <a:tcPr marL="101600" marR="101600" marT="38100" marB="38100" anchor="ctr">
                    <a:solidFill>
                      <a:srgbClr val="FFFFFF"/>
                    </a:solidFill>
                  </a:tcPr>
                </a:tc>
                <a:tc>
                  <a:txBody>
                    <a:bodyPr/>
                    <a:lstStyle/>
                    <a:p>
                      <a:r>
                        <a:rPr sz="1200" b="0" i="0">
                          <a:solidFill>
                            <a:srgbClr val="1A1440"/>
                          </a:solidFill>
                          <a:latin typeface="Calibri"/>
                        </a:rPr>
                        <a:t>15,640</a:t>
                      </a:r>
                    </a:p>
                  </a:txBody>
                  <a:tcPr marL="101600" marR="101600" marT="38100" marB="38100" anchor="ctr">
                    <a:solidFill>
                      <a:srgbClr val="FFFFFF"/>
                    </a:solidFill>
                  </a:tcPr>
                </a:tc>
                <a:tc>
                  <a:txBody>
                    <a:bodyPr/>
                    <a:lstStyle/>
                    <a:p>
                      <a:r>
                        <a:rPr sz="1200" b="0" i="0">
                          <a:solidFill>
                            <a:srgbClr val="1A1440"/>
                          </a:solidFill>
                          <a:latin typeface="Calibri"/>
                        </a:rPr>
                        <a:t>9,280</a:t>
                      </a:r>
                    </a:p>
                  </a:txBody>
                  <a:tcPr marL="101600" marR="101600" marT="38100" marB="38100" anchor="ctr">
                    <a:solidFill>
                      <a:srgbClr val="FFFFFF"/>
                    </a:solidFill>
                  </a:tcPr>
                </a:tc>
                <a:tc>
                  <a:txBody>
                    <a:bodyPr/>
                    <a:lstStyle/>
                    <a:p>
                      <a:r>
                        <a:rPr sz="1200" b="0" i="0">
                          <a:solidFill>
                            <a:srgbClr val="1A1440"/>
                          </a:solidFill>
                          <a:latin typeface="Calibri"/>
                        </a:rPr>
                        <a:t>25,060</a:t>
                      </a:r>
                    </a:p>
                  </a:txBody>
                  <a:tcPr marL="101600" marR="101600" marT="38100" marB="38100" anchor="ctr">
                    <a:solidFill>
                      <a:srgbClr val="FFFFFF"/>
                    </a:solidFill>
                  </a:tcPr>
                </a:tc>
                <a:tc>
                  <a:txBody>
                    <a:bodyPr/>
                    <a:lstStyle/>
                    <a:p>
                      <a:r>
                        <a:rPr sz="1200" b="0" i="0">
                          <a:solidFill>
                            <a:srgbClr val="1A1440"/>
                          </a:solidFill>
                          <a:latin typeface="Calibri"/>
                        </a:rPr>
                        <a:t>13,370</a:t>
                      </a:r>
                    </a:p>
                  </a:txBody>
                  <a:tcPr marL="101600" marR="101600" marT="38100" marB="38100" anchor="ctr">
                    <a:solidFill>
                      <a:srgbClr val="FFFFFF"/>
                    </a:solidFill>
                  </a:tcPr>
                </a:tc>
              </a:tr>
              <a:tr h="335280">
                <a:tc>
                  <a:txBody>
                    <a:bodyPr/>
                    <a:lstStyle/>
                    <a:p>
                      <a:r>
                        <a:rPr sz="1200" b="0" i="0">
                          <a:solidFill>
                            <a:srgbClr val="1A1440"/>
                          </a:solidFill>
                          <a:latin typeface="Calibri"/>
                        </a:rPr>
                        <a:t>Retail-Core, not aimed at</a:t>
                      </a:r>
                    </a:p>
                  </a:txBody>
                  <a:tcPr marL="101600" marR="101600" marT="38100" marB="38100" anchor="ctr">
                    <a:solidFill>
                      <a:srgbClr val="F4F2FA"/>
                    </a:solidFill>
                  </a:tcPr>
                </a:tc>
                <a:tc>
                  <a:txBody>
                    <a:bodyPr/>
                    <a:lstStyle/>
                    <a:p>
                      <a:r>
                        <a:rPr sz="1200" b="0" i="0">
                          <a:solidFill>
                            <a:srgbClr val="1A1440"/>
                          </a:solidFill>
                          <a:latin typeface="Calibri"/>
                        </a:rPr>
                        <a:t>11,920</a:t>
                      </a:r>
                    </a:p>
                  </a:txBody>
                  <a:tcPr marL="101600" marR="101600" marT="38100" marB="38100" anchor="ctr">
                    <a:solidFill>
                      <a:srgbClr val="F4F2FA"/>
                    </a:solidFill>
                  </a:tcPr>
                </a:tc>
                <a:tc>
                  <a:txBody>
                    <a:bodyPr/>
                    <a:lstStyle/>
                    <a:p>
                      <a:r>
                        <a:rPr sz="1200" b="0" i="0">
                          <a:solidFill>
                            <a:srgbClr val="1A1440"/>
                          </a:solidFill>
                          <a:latin typeface="Calibri"/>
                        </a:rPr>
                        <a:t>15,000</a:t>
                      </a:r>
                    </a:p>
                  </a:txBody>
                  <a:tcPr marL="101600" marR="101600" marT="38100" marB="38100" anchor="ctr">
                    <a:solidFill>
                      <a:srgbClr val="F4F2FA"/>
                    </a:solidFill>
                  </a:tcPr>
                </a:tc>
                <a:tc>
                  <a:txBody>
                    <a:bodyPr/>
                    <a:lstStyle/>
                    <a:p>
                      <a:r>
                        <a:rPr sz="1200" b="0" i="0">
                          <a:solidFill>
                            <a:srgbClr val="1A1440"/>
                          </a:solidFill>
                          <a:latin typeface="Calibri"/>
                        </a:rPr>
                        <a:t>24,380</a:t>
                      </a:r>
                    </a:p>
                  </a:txBody>
                  <a:tcPr marL="101600" marR="101600" marT="38100" marB="38100" anchor="ctr">
                    <a:solidFill>
                      <a:srgbClr val="F4F2FA"/>
                    </a:solidFill>
                  </a:tcPr>
                </a:tc>
                <a:tc>
                  <a:txBody>
                    <a:bodyPr/>
                    <a:lstStyle/>
                    <a:p>
                      <a:r>
                        <a:rPr sz="1200" b="0" i="0">
                          <a:solidFill>
                            <a:srgbClr val="1A1440"/>
                          </a:solidFill>
                          <a:latin typeface="Calibri"/>
                        </a:rPr>
                        <a:t>13,320</a:t>
                      </a:r>
                    </a:p>
                  </a:txBody>
                  <a:tcPr marL="101600" marR="101600" marT="38100" marB="38100" anchor="ctr">
                    <a:solidFill>
                      <a:srgbClr val="F4F2FA"/>
                    </a:solidFill>
                  </a:tcPr>
                </a:tc>
                <a:tc>
                  <a:txBody>
                    <a:bodyPr/>
                    <a:lstStyle/>
                    <a:p>
                      <a:r>
                        <a:rPr sz="1200" b="0" i="0">
                          <a:solidFill>
                            <a:srgbClr val="1A1440"/>
                          </a:solidFill>
                          <a:latin typeface="Calibri"/>
                        </a:rPr>
                        <a:t>23,090</a:t>
                      </a:r>
                    </a:p>
                  </a:txBody>
                  <a:tcPr marL="101600" marR="101600" marT="38100" marB="38100" anchor="ctr">
                    <a:solidFill>
                      <a:srgbClr val="F4F2FA"/>
                    </a:solidFill>
                  </a:tcPr>
                </a:tc>
                <a:tc>
                  <a:txBody>
                    <a:bodyPr/>
                    <a:lstStyle/>
                    <a:p>
                      <a:r>
                        <a:rPr sz="1200" b="0" i="0">
                          <a:solidFill>
                            <a:srgbClr val="1A1440"/>
                          </a:solidFill>
                          <a:latin typeface="Calibri"/>
                        </a:rPr>
                        <a:t>11,140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Retail-Core, the segment the sale was not aimed at (though the platform's list shows it reached some Retail-Core customers), rose 73 percent from July to August. Retail-Plus fell 58 percent from May to June with no sale running. July's Retail-Plus figure stands on 4 delivered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August's share,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Compare like with like in time: August's share of each segment's quarter, both directions counted.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targeted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48.6%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not aimed at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EITHER WAY</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label shuffles making a 4-point gap; 4 in 10 in Marketing's direction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170 percent becomes an August four points busier than the untargeted segment's, a gap chance makes about eight times in ten either way, and four in ten in the direction Marketing's claim points. The months show no sign of the sale beyond a busy August for everyone.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24" name="Oval 2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design: a hold-back at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Decide before the sale, inside each segment of the platform's list, with a coin, the measure agreed.</a:t>
            </a:r>
          </a:p>
        </p:txBody>
      </p:sp>
      <p:pic>
        <p:nvPicPr>
          <p:cNvPr id="9" name="mermaid diagram" descr="6886a0800f03a063.png"/>
          <p:cNvPicPr>
            <a:picLocks noChangeAspect="1"/>
          </p:cNvPicPr>
          <p:nvPr/>
        </p:nvPicPr>
        <p:blipFill>
          <a:blip r:embed="rId5"/>
          <a:stretch>
            <a:fillRect/>
          </a:stretch>
        </p:blipFill>
        <p:spPr>
          <a:xfrm>
            <a:off x="1338110" y="1956816"/>
            <a:ext cx="9515475" cy="1385887"/>
          </a:xfrm>
          <a:prstGeom prst="rect">
            <a:avLst/>
          </a:prstGeom>
        </p:spPr>
      </p:pic>
      <p:sp>
        <p:nvSpPr>
          <p:cNvPr id="10" name="Rounded Rectangle 9"/>
          <p:cNvSpPr/>
          <p:nvPr/>
        </p:nvSpPr>
        <p:spPr>
          <a:xfrm>
            <a:off x="530352" y="348900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1702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07879"/>
            <a:ext cx="10564063" cy="891540"/>
          </a:xfrm>
          <a:prstGeom prst="rect">
            <a:avLst/>
          </a:prstGeom>
          <a:noFill/>
        </p:spPr>
        <p:txBody>
          <a:bodyPr wrap="square" anchor="ctr" lIns="0" rIns="0" tIns="0" bIns="0">
            <a:spAutoFit/>
          </a:bodyPr>
          <a:lstStyle/>
          <a:p>
            <a:r>
              <a:rPr sz="1500" b="1">
                <a:solidFill>
                  <a:srgbClr val="5B3FD6"/>
                </a:solidFill>
                <a:latin typeface="Calibri"/>
              </a:rPr>
              <a:t>The cost of the hold-back. </a:t>
            </a:r>
            <a:r>
              <a:rPr sz="1500" b="0" i="0">
                <a:solidFill>
                  <a:srgbClr val="1A1440"/>
                </a:solidFill>
                <a:latin typeface="Calibri"/>
              </a:rPr>
              <a:t>Holding back 14 of the platform's 70 Retail-Plus customers at Marketing's own 6 percent lift forgoes about Rs 4,200, and nothing if the lift is not real. The retention test was sized on Finance's 22 members; each decision is sized on the list it acts 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same test, no sale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August's test on the three months of Q1, when no sale ran, and see what an ordinary month does.</a:t>
            </a:r>
          </a:p>
        </p:txBody>
      </p:sp>
      <p:pic>
        <p:nvPicPr>
          <p:cNvPr id="9" name="mermaid diagram" descr="c12626987da01f3b.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Months with no sale make gaps as large as August's and far larger, so August's four points carry no sign of the sale. </a:t>
            </a:r>
            <a:r>
              <a:rPr sz="1600" b="1" i="0">
                <a:solidFill>
                  <a:srgbClr val="1A1440"/>
                </a:solidFill>
                <a:latin typeface="Calibri"/>
              </a:rPr>
              <a:t>When to switch.</a:t>
            </a:r>
            <a:r>
              <a:rPr sz="1600" b="0" i="0">
                <a:solidFill>
                  <a:srgbClr val="1A1440"/>
                </a:solidFill>
                <a:latin typeface="Calibri"/>
              </a:rPr>
              <a:t> The months when no exposure list exists; the split when one does; the hold-back whenever the next campaign can still be designed.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offers the test as a way forward, and keeps any verdict on Marketing's work out of it.</a:t>
            </a:r>
          </a:p>
        </p:txBody>
      </p:sp>
      <p:pic>
        <p:nvPicPr>
          <p:cNvPr id="9" name="mermaid diagram" descr="bbafd4674bb1db39.png"/>
          <p:cNvPicPr>
            <a:picLocks noChangeAspect="1"/>
          </p:cNvPicPr>
          <p:nvPr/>
        </p:nvPicPr>
        <p:blipFill>
          <a:blip r:embed="rId7"/>
          <a:stretch>
            <a:fillRect/>
          </a:stretch>
        </p:blipFill>
        <p:spPr>
          <a:xfrm>
            <a:off x="902341" y="1956816"/>
            <a:ext cx="10387012" cy="871537"/>
          </a:xfrm>
          <a:prstGeom prst="rect">
            <a:avLst/>
          </a:prstGeom>
        </p:spPr>
      </p:pic>
      <p:sp>
        <p:nvSpPr>
          <p:cNvPr id="10" name="Rounded Rectangle 9"/>
          <p:cNvSpPr/>
          <p:nvPr/>
        </p:nvSpPr>
        <p:spPr>
          <a:xfrm>
            <a:off x="530352" y="29746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64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54615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340417"/>
            <a:ext cx="9987991" cy="941832"/>
          </a:xfrm>
          <a:prstGeom prst="rect">
            <a:avLst/>
          </a:prstGeom>
          <a:noFill/>
        </p:spPr>
        <p:txBody>
          <a:bodyPr wrap="square" anchor="t" lIns="0" rIns="0" tIns="0" bIns="0">
            <a:spAutoFit/>
          </a:bodyPr>
          <a:lstStyle/>
          <a:p>
            <a:r>
              <a:rPr sz="1500" b="0" i="0">
                <a:solidFill>
                  <a:srgbClr val="1A1440"/>
                </a:solidFill>
                <a:latin typeface="Calibri"/>
              </a:rPr>
              <a:t>Two routes find no lift, and a quarter with no sale swings further than August. You priced the hold-back at about Rs 4,200 on the list it acts on and said what it cannot yet size. Take that to Marketing as an offer.</a:t>
            </a:r>
          </a:p>
        </p:txBody>
      </p:sp>
      <p:sp>
        <p:nvSpPr>
          <p:cNvPr id="15" name="Rounded Rectangle 14"/>
          <p:cNvSpPr/>
          <p:nvPr/>
        </p:nvSpPr>
        <p:spPr>
          <a:xfrm>
            <a:off x="530352" y="451999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85222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961953"/>
            <a:ext cx="237744" cy="237744"/>
          </a:xfrm>
          <a:prstGeom prst="rect">
            <a:avLst/>
          </a:prstGeom>
        </p:spPr>
      </p:pic>
      <p:sp>
        <p:nvSpPr>
          <p:cNvPr id="18" name="TextBox 17"/>
          <p:cNvSpPr txBox="1"/>
          <p:nvPr/>
        </p:nvSpPr>
        <p:spPr>
          <a:xfrm>
            <a:off x="1399031" y="466629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5753"/>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set up the Diwali campaign so you can tell whether it worked? [D] Before and after, the change beside the change, the split, or a hold-back: which would you defend to a CFO?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22" name="Oval 2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6" name="Oval 25"/>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Fifty minutes alone: the Retail-Plus test, Student, the discount, and the whole note.</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five parts,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chapters built, alone and against the clock, ending in the note Meera reads.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Real?</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 5,000 flips, seed 2026, counted both ways.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Worth it?</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fall against the company's quarter, and a coin-chosen half-tier test.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Student</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rate with its count and its chance reference.</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discount</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Did the monsoon sale lift spend, and for whom?</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Diwali and the note</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The hold-back sized on the platform's list, then the note under 200 words.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37" name="Oval 3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9" name="Oval 3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1" name="Oval 4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3" name="Oval 4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5" name="Oval 4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case asks that the chapters did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choice is yours, and the note has to survive Marketing's reply from chapter 6.</a:t>
            </a:r>
          </a:p>
        </p:txBody>
      </p:sp>
      <p:pic>
        <p:nvPicPr>
          <p:cNvPr id="9" name="mermaid diagram" descr="c34c22d29c5ca9aa.png"/>
          <p:cNvPicPr>
            <a:picLocks noChangeAspect="1"/>
          </p:cNvPicPr>
          <p:nvPr/>
        </p:nvPicPr>
        <p:blipFill>
          <a:blip r:embed="rId6"/>
          <a:stretch>
            <a:fillRect/>
          </a:stretch>
        </p:blipFill>
        <p:spPr>
          <a:xfrm>
            <a:off x="2366810" y="1956816"/>
            <a:ext cx="7458075"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Each number in the note carries its base, its count or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Fifteen minutes on the answers the room got wrong, starting with the one most people got wrong.</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lines the case produced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trap from a chapter, back in a new place, with the line that replaces it.</a:t>
            </a:r>
          </a:p>
        </p:txBody>
      </p:sp>
      <p:graphicFrame>
        <p:nvGraphicFramePr>
          <p:cNvPr id="9" name="Table 8"/>
          <p:cNvGraphicFramePr>
            <a:graphicFrameLocks noGrp="1"/>
          </p:cNvGraphicFramePr>
          <p:nvPr/>
        </p:nvGraphicFramePr>
        <p:xfrm>
          <a:off x="530352" y="1956816"/>
          <a:ext cx="11130989" cy="1717040"/>
        </p:xfrm>
        <a:graphic>
          <a:graphicData uri="http://schemas.openxmlformats.org/drawingml/2006/table">
            <a:tbl>
              <a:tblPr firstRow="0" bandRow="0">
                <a:tableStyleId>{2D5ABB26-0587-4C30-8999-92F81FD0307C}</a:tableStyleId>
              </a:tblPr>
              <a:tblGrid>
                <a:gridCol w="2785875"/>
                <a:gridCol w="4172557"/>
                <a:gridCol w="4172557"/>
              </a:tblGrid>
              <a:tr h="310896">
                <a:tc>
                  <a:txBody>
                    <a:bodyPr/>
                    <a:lstStyle/>
                    <a:p>
                      <a:r>
                        <a:rPr sz="1050" b="1" i="0">
                          <a:solidFill>
                            <a:srgbClr val="FFFFFF"/>
                          </a:solidFill>
                          <a:latin typeface="Calibri"/>
                        </a:rPr>
                        <a:t>Wrong line</a:t>
                      </a:r>
                    </a:p>
                  </a:txBody>
                  <a:tcPr marL="101600" marR="101600" marT="38100" marB="38100" anchor="ctr">
                    <a:solidFill>
                      <a:srgbClr val="1A0F5C"/>
                    </a:solidFill>
                  </a:tcPr>
                </a:tc>
                <a:tc>
                  <a:txBody>
                    <a:bodyPr/>
                    <a:lstStyle/>
                    <a:p>
                      <a:r>
                        <a:rPr sz="1050" b="1" i="0">
                          <a:solidFill>
                            <a:srgbClr val="FFFFFF"/>
                          </a:solidFill>
                          <a:latin typeface="Calibri"/>
                        </a:rPr>
                        <a:t>Why it fails</a:t>
                      </a:r>
                    </a:p>
                  </a:txBody>
                  <a:tcPr marL="101600" marR="101600" marT="38100" marB="38100" anchor="ctr">
                    <a:solidFill>
                      <a:srgbClr val="1A0F5C"/>
                    </a:solidFill>
                  </a:tcPr>
                </a:tc>
                <a:tc>
                  <a:txBody>
                    <a:bodyPr/>
                    <a:lstStyle/>
                    <a:p>
                      <a:r>
                        <a:rPr sz="1050" b="1" i="0">
                          <a:solidFill>
                            <a:srgbClr val="FFFFFF"/>
                          </a:solidFill>
                          <a:latin typeface="Calibri"/>
                        </a:rPr>
                        <a:t>The line that replaces it</a:t>
                      </a:r>
                    </a:p>
                  </a:txBody>
                  <a:tcPr marL="101600" marR="101600" marT="38100" marB="38100" anchor="ctr">
                    <a:solidFill>
                      <a:srgbClr val="1A0F5C"/>
                    </a:solidFill>
                  </a:tcPr>
                </a:tc>
              </a:tr>
              <a:tr h="473456">
                <a:tc>
                  <a:txBody>
                    <a:bodyPr/>
                    <a:lstStyle/>
                    <a:p>
                      <a:r>
                        <a:rPr sz="1000" b="0" i="0">
                          <a:solidFill>
                            <a:srgbClr val="1A1440"/>
                          </a:solidFill>
                          <a:latin typeface="Calibri"/>
                        </a:rPr>
                        <a:t>"A 3 percent chance we are wrong."</a:t>
                      </a:r>
                    </a:p>
                  </a:txBody>
                  <a:tcPr marL="101600" marR="101600" marT="38100" marB="38100" anchor="ctr">
                    <a:solidFill>
                      <a:srgbClr val="FFFFFF"/>
                    </a:solidFill>
                  </a:tcPr>
                </a:tc>
                <a:tc>
                  <a:txBody>
                    <a:bodyPr/>
                    <a:lstStyle/>
                    <a:p>
                      <a:r>
                        <a:rPr sz="1000" b="0" i="0">
                          <a:solidFill>
                            <a:srgbClr val="1A1440"/>
                          </a:solidFill>
                          <a:latin typeface="Calibri"/>
                        </a:rPr>
                        <a:t>The share was counted in chance-only worlds.</a:t>
                      </a:r>
                    </a:p>
                  </a:txBody>
                  <a:tcPr marL="101600" marR="101600" marT="38100" marB="38100" anchor="ctr">
                    <a:solidFill>
                      <a:srgbClr val="FFFFFF"/>
                    </a:solidFill>
                  </a:tcPr>
                </a:tc>
                <a:tc>
                  <a:txBody>
                    <a:bodyPr/>
                    <a:lstStyle/>
                    <a:p>
                      <a:r>
                        <a:rPr sz="1000" b="0" i="0">
                          <a:solidFill>
                            <a:srgbClr val="1A1440"/>
                          </a:solidFill>
                          <a:latin typeface="Calibri"/>
                        </a:rPr>
                        <a:t>"A fall this large turns up in about 3 of every 100 flips, 6 either way."</a:t>
                      </a:r>
                    </a:p>
                  </a:txBody>
                  <a:tcPr marL="101600" marR="101600" marT="38100" marB="38100" anchor="ctr">
                    <a:solidFill>
                      <a:srgbClr val="FFFFFF"/>
                    </a:solidFill>
                  </a:tcPr>
                </a:tc>
              </a:tr>
              <a:tr h="310896">
                <a:tc>
                  <a:txBody>
                    <a:bodyPr/>
                    <a:lstStyle/>
                    <a:p>
                      <a:r>
                        <a:rPr sz="1000" b="0" i="0">
                          <a:solidFill>
                            <a:srgbClr val="1A1440"/>
                          </a:solidFill>
                          <a:latin typeface="Calibri"/>
                        </a:rPr>
                        <a:t>"Retail-Plus fell 34 percent."</a:t>
                      </a:r>
                    </a:p>
                  </a:txBody>
                  <a:tcPr marL="101600" marR="101600" marT="38100" marB="38100" anchor="ctr">
                    <a:solidFill>
                      <a:srgbClr val="F4F2FA"/>
                    </a:solidFill>
                  </a:tcPr>
                </a:tc>
                <a:tc>
                  <a:txBody>
                    <a:bodyPr/>
                    <a:lstStyle/>
                    <a:p>
                      <a:r>
                        <a:rPr sz="1000" b="0" i="0">
                          <a:solidFill>
                            <a:srgbClr val="1A1440"/>
                          </a:solidFill>
                          <a:latin typeface="Calibri"/>
                        </a:rPr>
                        <a:t>A third of a tier that is under one percent of the company.</a:t>
                      </a:r>
                    </a:p>
                  </a:txBody>
                  <a:tcPr marL="101600" marR="101600" marT="38100" marB="38100" anchor="ctr">
                    <a:solidFill>
                      <a:srgbClr val="F4F2FA"/>
                    </a:solidFill>
                  </a:tcPr>
                </a:tc>
                <a:tc>
                  <a:txBody>
                    <a:bodyPr/>
                    <a:lstStyle/>
                    <a:p>
                      <a:r>
                        <a:rPr sz="1000" b="0" i="0">
                          <a:solidFill>
                            <a:srgbClr val="1A1440"/>
                          </a:solidFill>
                          <a:latin typeface="Calibri"/>
                        </a:rPr>
                        <a:t>"Rs 24,420 a quarter, 0.19 percent of the company."</a:t>
                      </a:r>
                    </a:p>
                  </a:txBody>
                  <a:tcPr marL="101600" marR="101600" marT="38100" marB="38100" anchor="ctr">
                    <a:solidFill>
                      <a:srgbClr val="F4F2FA"/>
                    </a:solidFill>
                  </a:tcPr>
                </a:tc>
              </a:tr>
              <a:tr h="310896">
                <a:tc>
                  <a:txBody>
                    <a:bodyPr/>
                    <a:lstStyle/>
                    <a:p>
                      <a:r>
                        <a:rPr sz="1000" b="0" i="0">
                          <a:solidFill>
                            <a:srgbClr val="1A1440"/>
                          </a:solidFill>
                          <a:latin typeface="Calibri"/>
                        </a:rPr>
                        <a:t>"Student is the growth story."</a:t>
                      </a:r>
                    </a:p>
                  </a:txBody>
                  <a:tcPr marL="101600" marR="101600" marT="38100" marB="38100" anchor="ctr">
                    <a:solidFill>
                      <a:srgbClr val="FFFFFF"/>
                    </a:solidFill>
                  </a:tcPr>
                </a:tc>
                <a:tc>
                  <a:txBody>
                    <a:bodyPr/>
                    <a:lstStyle/>
                    <a:p>
                      <a:r>
                        <a:rPr sz="1000" b="0" i="0">
                          <a:solidFill>
                            <a:srgbClr val="1A1440"/>
                          </a:solidFill>
                          <a:latin typeface="Calibri"/>
                        </a:rPr>
                        <a:t>The rate stands on a handful of orders from few customers.</a:t>
                      </a:r>
                    </a:p>
                  </a:txBody>
                  <a:tcPr marL="101600" marR="101600" marT="38100" marB="38100" anchor="ctr">
                    <a:solidFill>
                      <a:srgbClr val="FFFFFF"/>
                    </a:solidFill>
                  </a:tcPr>
                </a:tc>
                <a:tc>
                  <a:txBody>
                    <a:bodyPr/>
                    <a:lstStyle/>
                    <a:p>
                      <a:r>
                        <a:rPr sz="1000" b="0" i="0">
                          <a:solidFill>
                            <a:srgbClr val="1A1440"/>
                          </a:solidFill>
                          <a:latin typeface="Calibri"/>
                        </a:rPr>
                        <a:t>"Not yet: no budget moves until more customers buy."</a:t>
                      </a:r>
                    </a:p>
                  </a:txBody>
                  <a:tcPr marL="101600" marR="101600" marT="38100" marB="38100" anchor="ctr">
                    <a:solidFill>
                      <a:srgbClr val="FFFFFF"/>
                    </a:solidFill>
                  </a:tcPr>
                </a:tc>
              </a:tr>
              <a:tr h="310896">
                <a:tc>
                  <a:txBody>
                    <a:bodyPr/>
                    <a:lstStyle/>
                    <a:p>
                      <a:r>
                        <a:rPr sz="1000" b="0" i="0">
                          <a:solidFill>
                            <a:srgbClr val="1A1440"/>
                          </a:solidFill>
                          <a:latin typeface="Calibri"/>
                        </a:rPr>
                        <a:t>"The discount lifted spend 6 percent."</a:t>
                      </a:r>
                    </a:p>
                  </a:txBody>
                  <a:tcPr marL="101600" marR="101600" marT="38100" marB="38100" anchor="ctr">
                    <a:solidFill>
                      <a:srgbClr val="F4F2FA"/>
                    </a:solidFill>
                  </a:tcPr>
                </a:tc>
                <a:tc>
                  <a:txBody>
                    <a:bodyPr/>
                    <a:lstStyle/>
                    <a:p>
                      <a:r>
                        <a:rPr sz="1000" b="0" i="0">
                          <a:solidFill>
                            <a:srgbClr val="1A1440"/>
                          </a:solidFill>
                          <a:latin typeface="Calibri"/>
                        </a:rPr>
                        <a:t>The blend compares two different mixes.</a:t>
                      </a:r>
                    </a:p>
                  </a:txBody>
                  <a:tcPr marL="101600" marR="101600" marT="38100" marB="38100" anchor="ctr">
                    <a:solidFill>
                      <a:srgbClr val="F4F2FA"/>
                    </a:solidFill>
                  </a:tcPr>
                </a:tc>
                <a:tc>
                  <a:txBody>
                    <a:bodyPr/>
                    <a:lstStyle/>
                    <a:p>
                      <a:r>
                        <a:rPr sz="1000" b="0" i="0">
                          <a:solidFill>
                            <a:srgbClr val="1A1440"/>
                          </a:solidFill>
                          <a:latin typeface="Calibri"/>
                        </a:rPr>
                        <a:t>"Inside each segment, the customers who got it spent less."</a:t>
                      </a:r>
                    </a:p>
                  </a:txBody>
                  <a:tcPr marL="101600" marR="101600" marT="38100" marB="38100" anchor="ctr">
                    <a:solidFill>
                      <a:srgbClr val="F4F2FA"/>
                    </a:solidFill>
                  </a:tcPr>
                </a:tc>
              </a:tr>
            </a:tbl>
          </a:graphicData>
        </a:graphic>
      </p:graphicFrame>
      <p:pic>
        <p:nvPicPr>
          <p:cNvPr id="10" name="mermaid diagram" descr="d4d4686dcb4abbed.png"/>
          <p:cNvPicPr>
            <a:picLocks noChangeAspect="1"/>
          </p:cNvPicPr>
          <p:nvPr/>
        </p:nvPicPr>
        <p:blipFill>
          <a:blip r:embed="rId5"/>
          <a:stretch>
            <a:fillRect/>
          </a:stretch>
        </p:blipFill>
        <p:spPr>
          <a:xfrm>
            <a:off x="2509685" y="3929888"/>
            <a:ext cx="7172325" cy="871537"/>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discount line survives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drafts of the note's third line, written by the room this afternoon.</a:t>
            </a:r>
          </a:p>
        </p:txBody>
      </p:sp>
      <p:pic>
        <p:nvPicPr>
          <p:cNvPr id="9" name="mermaid diagram" descr="d25f8da928b4b702.png"/>
          <p:cNvPicPr>
            <a:picLocks noChangeAspect="1"/>
          </p:cNvPicPr>
          <p:nvPr/>
        </p:nvPicPr>
        <p:blipFill>
          <a:blip r:embed="rId5"/>
          <a:stretch>
            <a:fillRect/>
          </a:stretch>
        </p:blipFill>
        <p:spPr>
          <a:xfrm>
            <a:off x="4495647" y="1682496"/>
            <a:ext cx="3200400" cy="2628900"/>
          </a:xfrm>
          <a:prstGeom prst="rect">
            <a:avLst/>
          </a:prstGeom>
        </p:spPr>
      </p:pic>
      <p:sp>
        <p:nvSpPr>
          <p:cNvPr id="10" name="Rounded Rectangle 9"/>
          <p:cNvSpPr/>
          <p:nvPr/>
        </p:nvSpPr>
        <p:spPr>
          <a:xfrm>
            <a:off x="530352" y="4457700"/>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8571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76572"/>
            <a:ext cx="10564063"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goes to Meera? a) "Revenue per customer rose 6.1 percent, so repeat it for Diwali"; b) "It reached a group with more Retail-Plus members, and inside each segment the customers who got it spent less, so do not repeat it as designed and hold back a random slice at Diwali"; c) "The data is mixed, so more analysis is needed before anyone can say anything"; d) "The discount lost money, so end every discount from Monday."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finding, the reason, the next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position, the confounder named, and what would settle it next time.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 position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sale did not lift spend inside either segment.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Within each segment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Got it against did not, per customer, with counts.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mix of the two groups, and August for everyone.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next test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Hold back a random fifth inside each segment at Diwali.</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takes a position, gives the reason, and says what would change it.</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33" name="Oval 3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18354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93268"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37" name="Oval 3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9" name="Oval 3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Forty minutes in pairs: Marketing defends the monsoon sale, and the pair holds the caveat.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pushes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rebuttal arrives in the meeting, in front of Meera, with a fresh number.</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"Your segment split is slicing the data until it says what you want. Exposed Retail-Plus members spent Rs 4,850 in August. That is far above the Rs 3,200 our unexposed customers averaged. The sale works." The marketing lead</a:t>
            </a:r>
          </a:p>
        </p:txBody>
      </p:sp>
      <p:pic>
        <p:nvPicPr>
          <p:cNvPr id="14" name="mermaid diagram" descr="9421cdf902bd2252.png"/>
          <p:cNvPicPr>
            <a:picLocks noChangeAspect="1"/>
          </p:cNvPicPr>
          <p:nvPr/>
        </p:nvPicPr>
        <p:blipFill>
          <a:blip r:embed="rId6"/>
          <a:stretch>
            <a:fillRect/>
          </a:stretch>
        </p:blipFill>
        <p:spPr>
          <a:xfrm>
            <a:off x="1188091" y="3502152"/>
            <a:ext cx="9815512" cy="8715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job,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Reproduce Marketing's number, find what it compares, rebuild it fairly, and hold the line politely.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epeat_e3d62ee72e9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MOVE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Reproduce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Compute Rs 4,850 and Rs 3,200 from the platform's list.</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earch-check_efc46fa23a6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MOVE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the mismatch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Say which customers sit in each group, and what else differs.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olumns-2_406e54442aee.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MOVE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Rebuild</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Like for like, inside Retail-Plus, with the counts beside each average.</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MOVE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Hold the line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What the sale cost at list price, and the Diwali hold-back offered, in two sentences.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7" name="Oval 3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9" name="Oval 38"/>
          <p:cNvSpPr/>
          <p:nvPr/>
        </p:nvSpPr>
        <p:spPr>
          <a:xfrm>
            <a:off x="41650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274820"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1" name="Oval 4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3" name="Oval 4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15 percent off cost, at list price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own blend, read at list price, shows the exposed paying Kalpa less per customer.</a:t>
            </a:r>
          </a:p>
        </p:txBody>
      </p:sp>
      <p:pic>
        <p:nvPicPr>
          <p:cNvPr id="9" name="mermaid diagram" descr="c0463b1159b82124.png"/>
          <p:cNvPicPr>
            <a:picLocks noChangeAspect="1"/>
          </p:cNvPicPr>
          <p:nvPr/>
        </p:nvPicPr>
        <p:blipFill>
          <a:blip r:embed="rId6"/>
          <a:stretch>
            <a:fillRect/>
          </a:stretch>
        </p:blipFill>
        <p:spPr>
          <a:xfrm>
            <a:off x="530352" y="1956816"/>
            <a:ext cx="11130991" cy="1118763"/>
          </a:xfrm>
          <a:prstGeom prst="rect">
            <a:avLst/>
          </a:prstGeom>
        </p:spPr>
      </p:pic>
      <p:sp>
        <p:nvSpPr>
          <p:cNvPr id="10" name="Rounded Rectangle 9"/>
          <p:cNvSpPr/>
          <p:nvPr/>
        </p:nvSpPr>
        <p:spPr>
          <a:xfrm>
            <a:off x="530352" y="322188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836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793383"/>
            <a:ext cx="237744" cy="237744"/>
          </a:xfrm>
          <a:prstGeom prst="rect">
            <a:avLst/>
          </a:prstGeom>
        </p:spPr>
      </p:pic>
      <p:sp>
        <p:nvSpPr>
          <p:cNvPr id="13" name="TextBox 12"/>
          <p:cNvSpPr txBox="1"/>
          <p:nvPr/>
        </p:nvSpPr>
        <p:spPr>
          <a:xfrm>
            <a:off x="1399031" y="336818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7643"/>
            <a:ext cx="9987991" cy="941832"/>
          </a:xfrm>
          <a:prstGeom prst="rect">
            <a:avLst/>
          </a:prstGeom>
          <a:noFill/>
        </p:spPr>
        <p:txBody>
          <a:bodyPr wrap="square" anchor="t" lIns="0" rIns="0" tIns="0" bIns="0">
            <a:spAutoFit/>
          </a:bodyPr>
          <a:lstStyle/>
          <a:p>
            <a:r>
              <a:rPr sz="1500" b="0" i="0">
                <a:solidFill>
                  <a:srgbClr val="1A1440"/>
                </a:solidFill>
                <a:latin typeface="Calibri"/>
              </a:rPr>
              <a:t>Even a real lift has to clear the discount's cost: at 15 percent off, Monday's rule asks for about 17.6 percent more volume just to stand still. Ask Marketing which way the list counts before anyone argues.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 minutes aloud: the row's six questions, the follow-ups and the design question, sixty seconds each.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questions every screen asks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anchors, tagged the way the programme tags them.</a:t>
            </a:r>
          </a:p>
        </p:txBody>
      </p:sp>
      <p:graphicFrame>
        <p:nvGraphicFramePr>
          <p:cNvPr id="9" name="Table 8"/>
          <p:cNvGraphicFramePr>
            <a:graphicFrameLocks noGrp="1"/>
          </p:cNvGraphicFramePr>
          <p:nvPr/>
        </p:nvGraphicFramePr>
        <p:xfrm>
          <a:off x="530352" y="1956816"/>
          <a:ext cx="11130991" cy="2226056"/>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How do you know whether a change in a metric is significant?</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Explain a finding to a non-technical stakeholder.</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What does p = 0.03 mean, and not mean?</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42 percent on 12 users against 31 percent on 1,200; which do you trust?</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Revenue rose after a discount; did the campaign work, and what would you need to know?</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CEO wants a yes or no and the honest answer is "not yet"; what do you say, and how do you hold the line when marketing pushes?</a:t>
                      </a:r>
                    </a:p>
                  </a:txBody>
                  <a:tcPr marL="101600" marR="101600" marT="38100" marB="38100" anchor="ctr">
                    <a:solidFill>
                      <a:srgbClr val="F4F2FA"/>
                    </a:solidFill>
                  </a:tcPr>
                </a:tc>
              </a:tr>
            </a:tbl>
          </a:graphicData>
        </a:graphic>
      </p:graphicFrame>
      <p:pic>
        <p:nvPicPr>
          <p:cNvPr id="10" name="mermaid diagram" descr="988e2b90a862be54.png"/>
          <p:cNvPicPr>
            <a:picLocks noChangeAspect="1"/>
          </p:cNvPicPr>
          <p:nvPr/>
        </p:nvPicPr>
        <p:blipFill>
          <a:blip r:embed="rId5"/>
          <a:stretch>
            <a:fillRect/>
          </a:stretch>
        </p:blipFill>
        <p:spPr>
          <a:xfrm>
            <a:off x="3109760" y="4438904"/>
            <a:ext cx="5972175" cy="61436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Follow-ups and the design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ideas pushed one step further, the way a second-round interviewer pushes.</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metric moved and the test says significant; how do you decide whether the business should act?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The campaign lifted revenue overall but every segment fell; how is that possible, and which do you report?</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a confounder? Give an example from a campaign.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says your segment split is cherry-picking; how do you respond?</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flip each pair, pool and shuffle, the textbook paired test, or wait a quarter; which for Monday, sized how, and what would switch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You tested twenty segments and one came back at p = 0.03;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sixty-second answer is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note's four parts, said aloud, are the scoring sheet for every answer in the drill.</a:t>
            </a:r>
          </a:p>
        </p:txBody>
      </p:sp>
      <p:sp>
        <p:nvSpPr>
          <p:cNvPr id="9" name="Rectangle 8"/>
          <p:cNvSpPr/>
          <p:nvPr/>
        </p:nvSpPr>
        <p:spPr>
          <a:xfrm>
            <a:off x="530352" y="1956816"/>
            <a:ext cx="2782747"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Claim</a:t>
            </a:r>
          </a:p>
        </p:txBody>
      </p:sp>
      <p:sp>
        <p:nvSpPr>
          <p:cNvPr id="10" name="TextBox 9"/>
          <p:cNvSpPr txBox="1"/>
          <p:nvPr/>
        </p:nvSpPr>
        <p:spPr>
          <a:xfrm>
            <a:off x="530352" y="2487168"/>
            <a:ext cx="2782747" cy="176911"/>
          </a:xfrm>
          <a:prstGeom prst="rect">
            <a:avLst/>
          </a:prstGeom>
          <a:noFill/>
        </p:spPr>
        <p:txBody>
          <a:bodyPr wrap="square" anchor="t" lIns="0" rIns="0" tIns="0" bIns="0">
            <a:spAutoFit/>
          </a:bodyPr>
          <a:lstStyle/>
          <a:p>
            <a:pPr algn="ctr"/>
            <a:r>
              <a:rPr sz="850" b="0" i="0">
                <a:solidFill>
                  <a:srgbClr val="6B6690"/>
                </a:solidFill>
                <a:latin typeface="Calibri"/>
              </a:rPr>
              <a:t>one sentence, first</a:t>
            </a:r>
          </a:p>
        </p:txBody>
      </p:sp>
      <p:sp>
        <p:nvSpPr>
          <p:cNvPr id="11" name="Rectangle 10"/>
          <p:cNvSpPr/>
          <p:nvPr/>
        </p:nvSpPr>
        <p:spPr>
          <a:xfrm>
            <a:off x="3313099"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Evidence</a:t>
            </a:r>
          </a:p>
        </p:txBody>
      </p:sp>
      <p:sp>
        <p:nvSpPr>
          <p:cNvPr id="12" name="TextBox 11"/>
          <p:cNvSpPr txBox="1"/>
          <p:nvPr/>
        </p:nvSpPr>
        <p:spPr>
          <a:xfrm>
            <a:off x="3313099" y="2487168"/>
            <a:ext cx="3710330" cy="176911"/>
          </a:xfrm>
          <a:prstGeom prst="rect">
            <a:avLst/>
          </a:prstGeom>
          <a:noFill/>
        </p:spPr>
        <p:txBody>
          <a:bodyPr wrap="square" anchor="t" lIns="0" rIns="0" tIns="0" bIns="0">
            <a:spAutoFit/>
          </a:bodyPr>
          <a:lstStyle/>
          <a:p>
            <a:pPr algn="ctr"/>
            <a:r>
              <a:rPr sz="850" b="0" i="0">
                <a:solidFill>
                  <a:srgbClr val="6B6690"/>
                </a:solidFill>
                <a:latin typeface="Calibri"/>
              </a:rPr>
              <a:t>a number with its count</a:t>
            </a:r>
          </a:p>
        </p:txBody>
      </p:sp>
      <p:sp>
        <p:nvSpPr>
          <p:cNvPr id="13" name="Rectangle 12"/>
          <p:cNvSpPr/>
          <p:nvPr/>
        </p:nvSpPr>
        <p:spPr>
          <a:xfrm>
            <a:off x="7023430" y="1956816"/>
            <a:ext cx="2782747"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Caveat</a:t>
            </a:r>
          </a:p>
        </p:txBody>
      </p:sp>
      <p:sp>
        <p:nvSpPr>
          <p:cNvPr id="14" name="TextBox 13"/>
          <p:cNvSpPr txBox="1"/>
          <p:nvPr/>
        </p:nvSpPr>
        <p:spPr>
          <a:xfrm>
            <a:off x="7023430" y="2487168"/>
            <a:ext cx="2782747" cy="176911"/>
          </a:xfrm>
          <a:prstGeom prst="rect">
            <a:avLst/>
          </a:prstGeom>
          <a:noFill/>
        </p:spPr>
        <p:txBody>
          <a:bodyPr wrap="square" anchor="t" lIns="0" rIns="0" tIns="0" bIns="0">
            <a:spAutoFit/>
          </a:bodyPr>
          <a:lstStyle/>
          <a:p>
            <a:pPr algn="ctr"/>
            <a:r>
              <a:rPr sz="850" b="0" i="0">
                <a:solidFill>
                  <a:srgbClr val="6B6690"/>
                </a:solidFill>
                <a:latin typeface="Calibri"/>
              </a:rPr>
              <a:t>what would change it</a:t>
            </a:r>
          </a:p>
        </p:txBody>
      </p:sp>
      <p:sp>
        <p:nvSpPr>
          <p:cNvPr id="15" name="Rectangle 14"/>
          <p:cNvSpPr/>
          <p:nvPr/>
        </p:nvSpPr>
        <p:spPr>
          <a:xfrm>
            <a:off x="9806178" y="1956816"/>
            <a:ext cx="1855165"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Action</a:t>
            </a:r>
          </a:p>
        </p:txBody>
      </p:sp>
      <p:sp>
        <p:nvSpPr>
          <p:cNvPr id="16" name="TextBox 15"/>
          <p:cNvSpPr txBox="1"/>
          <p:nvPr/>
        </p:nvSpPr>
        <p:spPr>
          <a:xfrm>
            <a:off x="9806178" y="2487168"/>
            <a:ext cx="1855165" cy="176911"/>
          </a:xfrm>
          <a:prstGeom prst="rect">
            <a:avLst/>
          </a:prstGeom>
          <a:noFill/>
        </p:spPr>
        <p:txBody>
          <a:bodyPr wrap="square" anchor="t" lIns="0" rIns="0" tIns="0" bIns="0">
            <a:spAutoFit/>
          </a:bodyPr>
          <a:lstStyle/>
          <a:p>
            <a:pPr algn="ctr"/>
            <a:r>
              <a:rPr sz="850" b="0" i="0">
                <a:solidFill>
                  <a:srgbClr val="6B6690"/>
                </a:solidFill>
                <a:latin typeface="Calibri"/>
              </a:rPr>
              <a:t>what to do next</a:t>
            </a:r>
          </a:p>
        </p:txBody>
      </p:sp>
      <p:sp>
        <p:nvSpPr>
          <p:cNvPr id="17" name="TextBox 16"/>
          <p:cNvSpPr txBox="1"/>
          <p:nvPr/>
        </p:nvSpPr>
        <p:spPr>
          <a:xfrm>
            <a:off x="530352" y="291693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seconds are a guide for sixty in total: the evidence gets the most, and the claim comes first.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20" name="Oval 1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2" name="Oval 21"/>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4" name="Oval 23"/>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6" name="Oval 25"/>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44039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8" name="Oval 27"/>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Meera, the six lines worth keeping, the Kahoot, and Friday's question.</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page compressed into what she will repeat in the growth review.</a:t>
            </a:r>
          </a:p>
        </p:txBody>
      </p:sp>
      <p:graphicFrame>
        <p:nvGraphicFramePr>
          <p:cNvPr id="9" name="Table 8"/>
          <p:cNvGraphicFramePr>
            <a:graphicFrameLocks noGrp="1"/>
          </p:cNvGraphicFramePr>
          <p:nvPr/>
        </p:nvGraphicFramePr>
        <p:xfrm>
          <a:off x="530352" y="1682496"/>
          <a:ext cx="11130990" cy="1243584"/>
        </p:xfrm>
        <a:graphic>
          <a:graphicData uri="http://schemas.openxmlformats.org/drawingml/2006/table">
            <a:tbl>
              <a:tblPr firstRow="0" bandRow="0">
                <a:tableStyleId>{2D5ABB26-0587-4C30-8999-92F81FD0307C}</a:tableStyleId>
              </a:tblPr>
              <a:tblGrid>
                <a:gridCol w="2138586"/>
                <a:gridCol w="8992404"/>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Your line carries</a:t>
                      </a:r>
                    </a:p>
                  </a:txBody>
                  <a:tcPr marL="101600" marR="101600" marT="38100" marB="38100" anchor="ctr">
                    <a:solidFill>
                      <a:srgbClr val="1A0F5C"/>
                    </a:solidFill>
                  </a:tcPr>
                </a:tc>
              </a:tr>
              <a:tr h="310896">
                <a:tc>
                  <a:txBody>
                    <a:bodyPr/>
                    <a:lstStyle/>
                    <a:p>
                      <a:r>
                        <a:rPr sz="900" b="0" i="0">
                          <a:solidFill>
                            <a:srgbClr val="1A1440"/>
                          </a:solidFill>
                          <a:latin typeface="Calibri"/>
                        </a:rPr>
                        <a:t>Retail-Plus</a:t>
                      </a:r>
                    </a:p>
                  </a:txBody>
                  <a:tcPr marL="101600" marR="101600" marT="38100" marB="38100" anchor="ctr">
                    <a:solidFill>
                      <a:srgbClr val="FFFFFF"/>
                    </a:solidFill>
                  </a:tcPr>
                </a:tc>
                <a:tc>
                  <a:txBody>
                    <a:bodyPr/>
                    <a:lstStyle/>
                    <a:p>
                      <a:r>
                        <a:rPr sz="900" b="0" i="0">
                          <a:solidFill>
                            <a:srgbClr val="1A1440"/>
                          </a:solidFill>
                          <a:latin typeface="Calibri"/>
                        </a:rPr>
                        <a:t>Real, its size in rupees against the quarter, and the offer tested on half</a:t>
                      </a:r>
                    </a:p>
                  </a:txBody>
                  <a:tcPr marL="101600" marR="101600" marT="38100" marB="38100" anchor="ctr">
                    <a:solidFill>
                      <a:srgbClr val="FFFFFF"/>
                    </a:solidFill>
                  </a:tcPr>
                </a:tc>
              </a:tr>
              <a:tr h="310896">
                <a:tc>
                  <a:txBody>
                    <a:bodyPr/>
                    <a:lstStyle/>
                    <a:p>
                      <a:r>
                        <a:rPr sz="900" b="0" i="0">
                          <a:solidFill>
                            <a:srgbClr val="1A1440"/>
                          </a:solidFill>
                          <a:latin typeface="Calibri"/>
                        </a:rPr>
                        <a:t>Student</a:t>
                      </a:r>
                    </a:p>
                  </a:txBody>
                  <a:tcPr marL="101600" marR="101600" marT="38100" marB="38100" anchor="ctr">
                    <a:solidFill>
                      <a:srgbClr val="F4F2FA"/>
                    </a:solidFill>
                  </a:tcPr>
                </a:tc>
                <a:tc>
                  <a:txBody>
                    <a:bodyPr/>
                    <a:lstStyle/>
                    <a:p>
                      <a:r>
                        <a:rPr sz="900" b="0" i="0">
                          <a:solidFill>
                            <a:srgbClr val="1A1440"/>
                          </a:solidFill>
                          <a:latin typeface="Calibri"/>
                        </a:rPr>
                        <a:t>The rate, its count, whether chance makes it, and the count that reopens it</a:t>
                      </a:r>
                    </a:p>
                  </a:txBody>
                  <a:tcPr marL="101600" marR="101600" marT="38100" marB="38100" anchor="ctr">
                    <a:solidFill>
                      <a:srgbClr val="F4F2FA"/>
                    </a:solidFill>
                  </a:tcPr>
                </a:tc>
              </a:tr>
              <a:tr h="310896">
                <a:tc>
                  <a:txBody>
                    <a:bodyPr/>
                    <a:lstStyle/>
                    <a:p>
                      <a:r>
                        <a:rPr sz="900" b="0" i="0">
                          <a:solidFill>
                            <a:srgbClr val="1A1440"/>
                          </a:solidFill>
                          <a:latin typeface="Calibri"/>
                        </a:rPr>
                        <a:t>The discount</a:t>
                      </a:r>
                    </a:p>
                  </a:txBody>
                  <a:tcPr marL="101600" marR="101600" marT="38100" marB="38100" anchor="ctr">
                    <a:solidFill>
                      <a:srgbClr val="FFFFFF"/>
                    </a:solidFill>
                  </a:tcPr>
                </a:tc>
                <a:tc>
                  <a:txBody>
                    <a:bodyPr/>
                    <a:lstStyle/>
                    <a:p>
                      <a:r>
                        <a:rPr sz="900" b="0" i="0">
                          <a:solidFill>
                            <a:srgbClr val="1A1440"/>
                          </a:solidFill>
                          <a:latin typeface="Calibri"/>
                        </a:rPr>
                        <a:t>The split by segment, who got it, what else changed, and the Diwali hold-back</a:t>
                      </a:r>
                    </a:p>
                  </a:txBody>
                  <a:tcPr marL="101600" marR="101600" marT="38100" marB="38100" anchor="ctr">
                    <a:solidFill>
                      <a:srgbClr val="FFFFFF"/>
                    </a:solidFill>
                  </a:tcPr>
                </a:tc>
              </a:tr>
            </a:tbl>
          </a:graphicData>
        </a:graphic>
      </p:graphicFrame>
      <p:pic>
        <p:nvPicPr>
          <p:cNvPr id="10" name="mermaid diagram" descr="86e4d29d83a6a88b.png"/>
          <p:cNvPicPr>
            <a:picLocks noChangeAspect="1"/>
          </p:cNvPicPr>
          <p:nvPr/>
        </p:nvPicPr>
        <p:blipFill>
          <a:blip r:embed="rId5"/>
          <a:stretch>
            <a:fillRect/>
          </a:stretch>
        </p:blipFill>
        <p:spPr>
          <a:xfrm>
            <a:off x="3931291" y="3182112"/>
            <a:ext cx="4329112" cy="2971800"/>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line per chapter; the same six close the study notes and head the cheat sheet, word for word.</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A p-value is a share of chance-only worlds; it is never the chance the finding is wrong.</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Real and worth acting on are two separate calls: a chance reference answers the first, rupees against cost answer the second.</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Count what a rate stands on, in customers as well as orders, before you repeat it; under thirty customers, it is a lead.</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Split an aggregate by segment before you credit a campaign, and name who got it.</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note is claim, evidence, caveat, action, and "not yet, and here is what would tell us" is a complete answer.</a:t>
                      </a:r>
                    </a:p>
                  </a:txBody>
                  <a:tcPr marL="101600" marR="101600" marT="38100" marB="38100" anchor="ctr">
                    <a:solidFill>
                      <a:srgbClr val="FFFFFF"/>
                    </a:solidFill>
                  </a:tcPr>
                </a:tc>
              </a:tr>
              <a:tr h="611632">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A fair comparison asks who got it, who did not, and what else changed; only a coin makes the two groups alike.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Seven on today and one return question from Wednesday.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including Wednesday's return question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KEPT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as every Kahoot is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RUN IT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two answers discussed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7" name="Oval 2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9" name="Oval 2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Tomorrow the week is rebuilt without an assistant, on a file nobody has seen.</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"Before anything goes to Meera, rebuild the week from a raw export with no assistant and no notes. Then say it to me the way you will say it to her, because I will push the way Marketing will." Kavya Nair, senior analyst</a:t>
            </a:r>
          </a:p>
        </p:txBody>
      </p:sp>
      <p:pic>
        <p:nvPicPr>
          <p:cNvPr id="14" name="mermaid diagram" descr="3ff81a21d5a68fb3.png"/>
          <p:cNvPicPr>
            <a:picLocks noChangeAspect="1"/>
          </p:cNvPicPr>
          <p:nvPr/>
        </p:nvPicPr>
        <p:blipFill>
          <a:blip r:embed="rId6"/>
          <a:stretch>
            <a:fillRect/>
          </a:stretch>
        </p:blipFill>
        <p:spPr>
          <a:xfrm>
            <a:off x="1088078" y="3502152"/>
            <a:ext cx="10015537" cy="8715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