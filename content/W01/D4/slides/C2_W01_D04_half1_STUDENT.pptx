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two minutes, no more.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chart draws the consumer segments alone so their bars stand in proportion;</a:t>
            </a:r>
          </a:p>
          <a:p>
            <a:r>
              <a:t>with Business on one axis all three would sit on the floor. Business is Kalpa's sales to companies,</a:t>
            </a:r>
          </a:p>
          <a:p>
            <a:r>
              <a:t>every order in lakhs. Then the draft that 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line in full: a metric moved and the test says significant; how do</a:t>
            </a:r>
          </a:p>
          <a:p>
            <a:r>
              <a:t>you decide whether the business should act?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 is the only segment above 100.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test that runs on every line cannot be talked round.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pick a, so hold it until the answer slide.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note whose action does not follow from its own numbers would pass every figure</a:t>
            </a:r>
          </a:p>
          <a:p>
            <a:r>
              <a:t>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7.png"/><Relationship Id="rId6"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2.png"/><Relationship Id="rId6" Type="http://schemas.openxmlformats.org/officeDocument/2006/relationships/image" Target="../media/image30.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7.png"/><Relationship Id="rId6"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6.png"/><Relationship Id="rId6" Type="http://schemas.openxmlformats.org/officeDocument/2006/relationships/image" Target="../media/image4.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5.png"/><Relationship Id="rId6"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image" Target="../media/image40.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4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7.png"/><Relationship Id="rId6" Type="http://schemas.openxmlformats.org/officeDocument/2006/relationships/image" Target="../media/image4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4.xml"/><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17.png"/><Relationship Id="rId6" Type="http://schemas.openxmlformats.org/officeDocument/2006/relationships/image" Target="../media/image4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Monday's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pic>
        <p:nvPicPr>
          <p:cNvPr id="9" name="mermaid diagram" descr="26bce85057a1e9f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None of the ten tosses reached Rs 880.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tosses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9b0006ceb7e57d4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a85720c6a6366321.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853440">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2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971796"/>
            <a:ext cx="237744" cy="237744"/>
          </a:xfrm>
          <a:prstGeom prst="rect">
            <a:avLst/>
          </a:prstGeom>
        </p:spPr>
      </p:pic>
      <p:sp>
        <p:nvSpPr>
          <p:cNvPr id="13" name="TextBox 12"/>
          <p:cNvSpPr txBox="1"/>
          <p:nvPr/>
        </p:nvSpPr>
        <p:spPr>
          <a:xfrm>
            <a:off x="1399031" y="4805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5136"/>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reach the same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12298"/>
                <a:gridCol w="651869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900" b="0" i="0">
                          <a:solidFill>
                            <a:srgbClr val="1A1440"/>
                          </a:solidFill>
                          <a:latin typeface="Calibri"/>
                        </a:rPr>
                        <a:t>Flip each member's pair; 8 of 44 totals are zero</a:t>
                      </a:r>
                    </a:p>
                  </a:txBody>
                  <a:tcPr marL="101600" marR="101600" marT="38100" marB="38100" anchor="ctr">
                    <a:solidFill>
                      <a:srgbClr val="FFFFFF"/>
                    </a:solidFill>
                  </a:tcPr>
                </a:tc>
              </a:tr>
              <a:tr h="310896">
                <a:tc>
                  <a:txBody>
                    <a:bodyPr/>
                    <a:lstStyle/>
                    <a:p>
                      <a:r>
                        <a:rPr sz="900" b="0" i="0">
                          <a:solidFill>
                            <a:srgbClr val="1A1440"/>
                          </a:solidFill>
                          <a:latin typeface="Calibri"/>
                        </a:rPr>
                        <a:t>2. Is Rs 880 surprising?</a:t>
                      </a:r>
                    </a:p>
                  </a:txBody>
                  <a:tcPr marL="101600" marR="101600" marT="38100" marB="38100" anchor="ctr">
                    <a:solidFill>
                      <a:srgbClr val="F4F2FA"/>
                    </a:solidFill>
                  </a:tcPr>
                </a:tc>
                <a:tc>
                  <a:txBody>
                    <a:bodyPr/>
                    <a:lstStyle/>
                    <a:p>
                      <a:r>
                        <a:rPr sz="900" b="0" i="0">
                          <a:solidFill>
                            <a:srgbClr val="1A1440"/>
                          </a:solidFill>
                          <a:latin typeface="Calibri"/>
                        </a:rPr>
                        <a:t>35 of 1,000 tosses; exactly 1 of 32 patterns</a:t>
                      </a:r>
                    </a:p>
                  </a:txBody>
                  <a:tcPr marL="101600" marR="101600" marT="38100" marB="38100" anchor="ctr">
                    <a:solidFill>
                      <a:srgbClr val="F4F2FA"/>
                    </a:solidFill>
                  </a:tcPr>
                </a:tc>
              </a:tr>
              <a:tr h="310896">
                <a:tc>
                  <a:txBody>
                    <a:bodyPr/>
                    <a:lstStyle/>
                    <a:p>
                      <a:r>
                        <a:rPr sz="900" b="0" i="0">
                          <a:solidFill>
                            <a:srgbClr val="1A1440"/>
                          </a:solidFill>
                          <a:latin typeface="Calibri"/>
                        </a:rPr>
                        <a:t>3. What is the usual wobble?</a:t>
                      </a:r>
                    </a:p>
                  </a:txBody>
                  <a:tcPr marL="101600" marR="101600" marT="38100" marB="38100" anchor="ctr">
                    <a:solidFill>
                      <a:srgbClr val="FFFFFF"/>
                    </a:solidFill>
                  </a:tcPr>
                </a:tc>
                <a:tc>
                  <a:txBody>
                    <a:bodyPr/>
                    <a:lstStyle/>
                    <a:p>
                      <a:r>
                        <a:rPr sz="900" b="0" i="0">
                          <a:solidFill>
                            <a:srgbClr val="1A1440"/>
                          </a:solidFill>
                          <a:latin typeface="Calibri"/>
                        </a:rPr>
                        <a:t>Retail-Core's Rs 110: 0.358 falls, 0.723 either way</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Rs 1,110: 0.029 counting falls, 0.057 either way</a:t>
                      </a:r>
                    </a:p>
                  </a:txBody>
                  <a:tcPr marL="101600" marR="101600" marT="38100" marB="38100" anchor="ctr">
                    <a:solidFill>
                      <a:srgbClr val="F4F2FA"/>
                    </a:solidFill>
                  </a:tcPr>
                </a:tc>
              </a:tr>
              <a:tr h="310896">
                <a:tc>
                  <a:txBody>
                    <a:bodyPr/>
                    <a:lstStyle/>
                    <a:p>
                      <a:r>
                        <a:rPr sz="900" b="0" i="0">
                          <a:solidFill>
                            <a:srgbClr val="1A1440"/>
                          </a:solidFill>
                          <a:latin typeface="Calibri"/>
                        </a:rPr>
                        <a:t>5. What does a share never say?</a:t>
                      </a:r>
                    </a:p>
                  </a:txBody>
                  <a:tcPr marL="101600" marR="101600" marT="38100" marB="38100" anchor="ctr">
                    <a:solidFill>
                      <a:srgbClr val="FFFFFF"/>
                    </a:solidFill>
                  </a:tcPr>
                </a:tc>
                <a:tc>
                  <a:txBody>
                    <a:bodyPr/>
                    <a:lstStyle/>
                    <a:p>
                      <a:r>
                        <a:rPr sz="900" b="0" i="0">
                          <a:solidFill>
                            <a:srgbClr val="1A1440"/>
                          </a:solidFill>
                          <a:latin typeface="Calibri"/>
                        </a:rPr>
                        <a:t>The chance that the finding is wrong</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tells you the gap beats chance; the rupees beside the cost tell you whether to act.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worth acting on are two separate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 The company's Q2 was Rs 1,28,64,680.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979b5db5463d7fc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 and does even that clear the offer?</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004883"/>
                <a:gridCol w="612610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Monday use?</a:t>
                      </a:r>
                    </a:p>
                  </a:txBody>
                  <a:tcPr marL="101600" marR="101600" marT="38100" marB="38100" anchor="ctr">
                    <a:solidFill>
                      <a:srgbClr val="FFFFFF"/>
                    </a:solidFill>
                  </a:tcPr>
                </a:tc>
                <a:tc>
                  <a:txBody>
                    <a:bodyPr/>
                    <a:lstStyle/>
                    <a:p>
                      <a:r>
                        <a:rPr sz="900" b="0" i="0">
                          <a:solidFill>
                            <a:srgbClr val="1A1440"/>
                          </a:solidFill>
                          <a:latin typeface="Calibri"/>
                        </a:rPr>
                        <a:t>Break-even, with the range as its check</a:t>
                      </a:r>
                    </a:p>
                  </a:txBody>
                  <a:tcPr marL="101600" marR="101600" marT="38100" marB="38100" anchor="ctr">
                    <a:solidFill>
                      <a:srgbClr val="FFFFFF"/>
                    </a:solidFill>
                  </a:tcPr>
                </a:tc>
              </a:tr>
              <a:tr h="310896">
                <a:tc>
                  <a:txBody>
                    <a:bodyPr/>
                    <a:lstStyle/>
                    <a:p>
                      <a:r>
                        <a:rPr sz="900" b="0" i="0">
                          <a:solidFill>
                            <a:srgbClr val="1A1440"/>
                          </a:solidFill>
                          <a:latin typeface="Calibri"/>
                        </a:rPr>
                        <a:t>2. How much in rupees?</a:t>
                      </a:r>
                    </a:p>
                  </a:txBody>
                  <a:tcPr marL="101600" marR="101600" marT="38100" marB="38100" anchor="ctr">
                    <a:solidFill>
                      <a:srgbClr val="F4F2FA"/>
                    </a:solidFill>
                  </a:tcPr>
                </a:tc>
                <a:tc>
                  <a:txBody>
                    <a:bodyPr/>
                    <a:lstStyle/>
                    <a:p>
                      <a:r>
                        <a:rPr sz="900" b="0" i="0">
                          <a:solidFill>
                            <a:srgbClr val="1A1440"/>
                          </a:solidFill>
                          <a:latin typeface="Calibri"/>
                        </a:rPr>
                        <a:t>Rs 1,110 a member, Rs 24,420 a quarter</a:t>
                      </a:r>
                    </a:p>
                  </a:txBody>
                  <a:tcPr marL="101600" marR="101600" marT="38100" marB="38100" anchor="ctr">
                    <a:solidFill>
                      <a:srgbClr val="F4F2FA"/>
                    </a:solidFill>
                  </a:tcPr>
                </a:tc>
              </a:tr>
              <a:tr h="310896">
                <a:tc>
                  <a:txBody>
                    <a:bodyPr/>
                    <a:lstStyle/>
                    <a:p>
                      <a:r>
                        <a:rPr sz="900" b="0" i="0">
                          <a:solidFill>
                            <a:srgbClr val="1A1440"/>
                          </a:solidFill>
                          <a:latin typeface="Calibri"/>
                        </a:rPr>
                        <a:t>3. Against the company?</a:t>
                      </a:r>
                    </a:p>
                  </a:txBody>
                  <a:tcPr marL="101600" marR="101600" marT="38100" marB="38100" anchor="ctr">
                    <a:solidFill>
                      <a:srgbClr val="FFFFFF"/>
                    </a:solidFill>
                  </a:tcPr>
                </a:tc>
                <a:tc>
                  <a:txBody>
                    <a:bodyPr/>
                    <a:lstStyle/>
                    <a:p>
                      <a:r>
                        <a:rPr sz="900" b="0" i="0">
                          <a:solidFill>
                            <a:srgbClr val="1A1440"/>
                          </a:solidFill>
                          <a:latin typeface="Calibri"/>
                        </a:rPr>
                        <a:t>0.19 percent of Q2's Rs 1,28,64,680</a:t>
                      </a:r>
                    </a:p>
                  </a:txBody>
                  <a:tcPr marL="101600" marR="101600" marT="38100" marB="38100" anchor="ctr">
                    <a:solidFill>
                      <a:srgbClr val="FFFFFF"/>
                    </a:solidFill>
                  </a:tcPr>
                </a:tc>
              </a:tr>
              <a:tr h="310896">
                <a:tc>
                  <a:txBody>
                    <a:bodyPr/>
                    <a:lstStyle/>
                    <a:p>
                      <a:r>
                        <a:rPr sz="900" b="0" i="0">
                          <a:solidFill>
                            <a:srgbClr val="1A1440"/>
                          </a:solidFill>
                          <a:latin typeface="Calibri"/>
                        </a:rPr>
                        <a:t>4. Smallest share first?</a:t>
                      </a:r>
                    </a:p>
                  </a:txBody>
                  <a:tcPr marL="101600" marR="101600" marT="38100" marB="38100" anchor="ctr">
                    <a:solidFill>
                      <a:srgbClr val="F4F2FA"/>
                    </a:solidFill>
                  </a:tcPr>
                </a:tc>
                <a:tc>
                  <a:txBody>
                    <a:bodyPr/>
                    <a:lstStyle/>
                    <a:p>
                      <a:r>
                        <a:rPr sz="900" b="0" i="0">
                          <a:solidFill>
                            <a:srgbClr val="1A1440"/>
                          </a:solidFill>
                          <a:latin typeface="Calibri"/>
                        </a:rPr>
                        <a:t>No: by rupees, Business opens the review</a:t>
                      </a:r>
                    </a:p>
                  </a:txBody>
                  <a:tcPr marL="101600" marR="101600" marT="38100" marB="38100" anchor="ctr">
                    <a:solidFill>
                      <a:srgbClr val="F4F2FA"/>
                    </a:solidFill>
                  </a:tcPr>
                </a:tc>
              </a:tr>
              <a:tr h="310896">
                <a:tc>
                  <a:txBody>
                    <a:bodyPr/>
                    <a:lstStyle/>
                    <a:p>
                      <a:r>
                        <a:rPr sz="900" b="0" i="0">
                          <a:solidFill>
                            <a:srgbClr val="1A1440"/>
                          </a:solidFill>
                          <a:latin typeface="Calibri"/>
                        </a:rPr>
                        <a:t>5. What must the offer win back?</a:t>
                      </a:r>
                    </a:p>
                  </a:txBody>
                  <a:tcPr marL="101600" marR="101600" marT="38100" marB="38100" anchor="ctr">
                    <a:solidFill>
                      <a:srgbClr val="FFFFFF"/>
                    </a:solidFill>
                  </a:tcPr>
                </a:tc>
                <a:tc>
                  <a:txBody>
                    <a:bodyPr/>
                    <a:lstStyle/>
                    <a:p>
                      <a:r>
                        <a:rPr sz="900" b="0" i="0">
                          <a:solidFill>
                            <a:srgbClr val="1A1440"/>
                          </a:solidFill>
                          <a:latin typeface="Calibri"/>
                        </a:rPr>
                        <a:t>45 percent: Rs 11,000 against Rs 24,420</a:t>
                      </a:r>
                    </a:p>
                  </a:txBody>
                  <a:tcPr marL="101600" marR="101600" marT="38100" marB="38100" anchor="ctr">
                    <a:solidFill>
                      <a:srgbClr val="FFFFFF"/>
                    </a:solidFill>
                  </a:tcPr>
                </a:tc>
              </a:tr>
              <a:tr h="310896">
                <a:tc>
                  <a:txBody>
                    <a:bodyPr/>
                    <a:lstStyle/>
                    <a:p>
                      <a:r>
                        <a:rPr sz="900" b="0" i="0">
                          <a:solidFill>
                            <a:srgbClr val="1A1440"/>
                          </a:solidFill>
                          <a:latin typeface="Calibri"/>
                        </a:rPr>
                        <a:t>6. How small could it be?</a:t>
                      </a:r>
                    </a:p>
                  </a:txBody>
                  <a:tcPr marL="101600" marR="101600" marT="38100" marB="38100" anchor="ctr">
                    <a:solidFill>
                      <a:srgbClr val="F4F2FA"/>
                    </a:solidFill>
                  </a:tcPr>
                </a:tc>
                <a:tc>
                  <a:txBody>
                    <a:bodyPr/>
                    <a:lstStyle/>
                    <a:p>
                      <a:r>
                        <a:rPr sz="9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Borderline by two routes, worth Rs 24,420 a quarter and 0.19 percent of the company. The range's low end sits far below the offer's cost, so watch it; to act, offer it to a coin-chosen half and hold back the rest.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The test says significant; should the business act?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rides on the answer, and what would a wrong call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rose fastest, and should acquisition budget follow it?</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Rounded Rectangle 8"/>
          <p:cNvSpPr/>
          <p:nvPr/>
        </p:nvSpPr>
        <p:spPr>
          <a:xfrm>
            <a:off x="530352" y="16824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1885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5"/>
          <a:stretch>
            <a:fillRect/>
          </a:stretch>
        </p:blipFill>
        <p:spPr>
          <a:xfrm>
            <a:off x="868680" y="199491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04825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709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837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82854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pic>
        <p:nvPicPr>
          <p:cNvPr id="17" name="mermaid diagram" descr="08a97fb9c9cd154b.png"/>
          <p:cNvPicPr>
            <a:picLocks noChangeAspect="1"/>
          </p:cNvPicPr>
          <p:nvPr/>
        </p:nvPicPr>
        <p:blipFill>
          <a:blip r:embed="rId6"/>
          <a:stretch>
            <a:fillRect/>
          </a:stretch>
        </p:blipFill>
        <p:spPr>
          <a:xfrm>
            <a:off x="3770282" y="3948684"/>
            <a:ext cx="4651130" cy="2250948"/>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2" name="Oval 21"/>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4" name="Oval 2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6" name="Oval 2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and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deal, and real handfuls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deal, and real handfuls from another segment, agree?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135700"/>
                <a:gridCol w="6995290"/>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Monday?</a:t>
                      </a:r>
                    </a:p>
                  </a:txBody>
                  <a:tcPr marL="101600" marR="101600" marT="38100" marB="38100" anchor="ctr">
                    <a:solidFill>
                      <a:srgbClr val="FFFFFF"/>
                    </a:solidFill>
                  </a:tcPr>
                </a:tc>
                <a:tc>
                  <a:txBody>
                    <a:bodyPr/>
                    <a:lstStyle/>
                    <a:p>
                      <a:r>
                        <a:rPr sz="900" b="0" i="0">
                          <a:solidFill>
                            <a:srgbClr val="1A1440"/>
                          </a:solidFill>
                          <a:latin typeface="Calibri"/>
                        </a:rPr>
                        <a:t>Coin flips on the count, said with the rule</a:t>
                      </a:r>
                    </a:p>
                  </a:txBody>
                  <a:tcPr marL="101600" marR="101600" marT="38100" marB="38100" anchor="ctr">
                    <a:solidFill>
                      <a:srgbClr val="FFFFFF"/>
                    </a:solidFill>
                  </a:tcPr>
                </a:tc>
              </a:tr>
              <a:tr h="310896">
                <a:tc>
                  <a:txBody>
                    <a:bodyPr/>
                    <a:lstStyle/>
                    <a:p>
                      <a:r>
                        <a:rPr sz="900" b="0" i="0">
                          <a:solidFill>
                            <a:srgbClr val="1A1440"/>
                          </a:solidFill>
                          <a:latin typeface="Calibri"/>
                        </a:rPr>
                        <a:t>2. Which segment rose fastest?</a:t>
                      </a:r>
                    </a:p>
                  </a:txBody>
                  <a:tcPr marL="101600" marR="101600" marT="38100" marB="38100" anchor="ctr">
                    <a:solidFill>
                      <a:srgbClr val="F4F2FA"/>
                    </a:solidFill>
                  </a:tcPr>
                </a:tc>
                <a:tc>
                  <a:txBody>
                    <a:bodyPr/>
                    <a:lstStyle/>
                    <a:p>
                      <a:r>
                        <a:rPr sz="900" b="0" i="0">
                          <a:solidFill>
                            <a:srgbClr val="1A1440"/>
                          </a:solidFill>
                          <a:latin typeface="Calibri"/>
                        </a:rPr>
                        <a:t>Student: 140 orders for every 100 in Q1</a:t>
                      </a:r>
                    </a:p>
                  </a:txBody>
                  <a:tcPr marL="101600" marR="101600" marT="38100" marB="38100" anchor="ctr">
                    <a:solidFill>
                      <a:srgbClr val="F4F2FA"/>
                    </a:solidFill>
                  </a:tcPr>
                </a:tc>
              </a:tr>
              <a:tr h="310896">
                <a:tc>
                  <a:txBody>
                    <a:bodyPr/>
                    <a:lstStyle/>
                    <a:p>
                      <a:r>
                        <a:rPr sz="900" b="0" i="0">
                          <a:solidFill>
                            <a:srgbClr val="1A1440"/>
                          </a:solidFill>
                          <a:latin typeface="Calibri"/>
                        </a:rPr>
                        <a:t>3. Budget to the fastest riser?</a:t>
                      </a:r>
                    </a:p>
                  </a:txBody>
                  <a:tcPr marL="101600" marR="101600" marT="38100" marB="38100" anchor="ctr">
                    <a:solidFill>
                      <a:srgbClr val="FFFFFF"/>
                    </a:solidFill>
                  </a:tcPr>
                </a:tc>
                <a:tc>
                  <a:txBody>
                    <a:bodyPr/>
                    <a:lstStyle/>
                    <a:p>
                      <a:r>
                        <a:rPr sz="900" b="0" i="0">
                          <a:solidFill>
                            <a:srgbClr val="1A1440"/>
                          </a:solidFill>
                          <a:latin typeface="Calibri"/>
                        </a:rPr>
                        <a:t>Not on the rate: under thirty customers stand behind it</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0.397 of worlds; 0.086 on Retail-Core's 73 orders</a:t>
                      </a:r>
                    </a:p>
                  </a:txBody>
                  <a:tcPr marL="101600" marR="101600" marT="38100" marB="38100" anchor="ctr">
                    <a:solidFill>
                      <a:srgbClr val="F4F2FA"/>
                    </a:solidFill>
                  </a:tcPr>
                </a:tc>
              </a:tr>
              <a:tr h="310896">
                <a:tc>
                  <a:txBody>
                    <a:bodyPr/>
                    <a:lstStyle/>
                    <a:p>
                      <a:r>
                        <a:rPr sz="900" b="0" i="0">
                          <a:solidFill>
                            <a:srgbClr val="1A1440"/>
                          </a:solidFill>
                          <a:latin typeface="Calibri"/>
                        </a:rPr>
                        <a:t>5. 42 on 12, or 31 on 1,200?</a:t>
                      </a:r>
                    </a:p>
                  </a:txBody>
                  <a:tcPr marL="101600" marR="101600" marT="38100" marB="38100" anchor="ctr">
                    <a:solidFill>
                      <a:srgbClr val="FFFFFF"/>
                    </a:solidFill>
                  </a:tcPr>
                </a:tc>
                <a:tc>
                  <a:txBody>
                    <a:bodyPr/>
                    <a:lstStyle/>
                    <a:p>
                      <a:r>
                        <a:rPr sz="900" b="0" i="0">
                          <a:solidFill>
                            <a:srgbClr val="1A1440"/>
                          </a:solidFill>
                          <a:latin typeface="Calibri"/>
                        </a:rPr>
                        <a:t>31 as the estimate; 42 as a lead to measure</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Student's rise is real arithmetic on too few orders, from too few customers, to act on. Count both, say how often chance makes the rise, and give Meera the number of customers that would reopen it. That is a complete answer, and it costs nothing to be right later.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42 percent on 12 users against 31 percent on 1,200; which do you trust?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Diwali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One mix, the same answer?</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it can and cannot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sale do, what does Marketing claim, and what would a repeat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one mix as its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92cc521a839d8ba8.png"/>
          <p:cNvPicPr>
            <a:picLocks noChangeAspect="1"/>
          </p:cNvPicPr>
          <p:nvPr/>
        </p:nvPicPr>
        <p:blipFill>
          <a:blip r:embed="rId5"/>
          <a:stretch>
            <a:fillRect/>
          </a:stretch>
        </p:blipFill>
        <p:spPr>
          <a:xfrm>
            <a:off x="3490692" y="1664208"/>
            <a:ext cx="5210310" cy="2340863"/>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Retail-Plus and inside Retail-Core?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mix for both groups give the same answer, and what can it check?</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62204"/>
                <a:gridCol w="6468786"/>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900" b="0" i="0">
                          <a:solidFill>
                            <a:srgbClr val="1A1440"/>
                          </a:solidFill>
                          <a:latin typeface="Calibri"/>
                        </a:rPr>
                        <a:t>The split inside each segment, one mix as its line</a:t>
                      </a:r>
                    </a:p>
                  </a:txBody>
                  <a:tcPr marL="101600" marR="101600" marT="38100" marB="38100" anchor="ctr">
                    <a:solidFill>
                      <a:srgbClr val="FFFFFF"/>
                    </a:solidFill>
                  </a:tcPr>
                </a:tc>
              </a:tr>
              <a:tr h="310896">
                <a:tc>
                  <a:txBody>
                    <a:bodyPr/>
                    <a:lstStyle/>
                    <a:p>
                      <a:r>
                        <a:rPr sz="900" b="0" i="0">
                          <a:solidFill>
                            <a:srgbClr val="1A1440"/>
                          </a:solidFill>
                          <a:latin typeface="Calibri"/>
                        </a:rPr>
                        <a:t>2. Does the 6 percent rebuild?</a:t>
                      </a:r>
                    </a:p>
                  </a:txBody>
                  <a:tcPr marL="101600" marR="101600" marT="38100" marB="38100" anchor="ctr">
                    <a:solidFill>
                      <a:srgbClr val="F4F2FA"/>
                    </a:solidFill>
                  </a:tcPr>
                </a:tc>
                <a:tc>
                  <a:txBody>
                    <a:bodyPr/>
                    <a:lstStyle/>
                    <a:p>
                      <a:r>
                        <a:rPr sz="900" b="0" i="0">
                          <a:solidFill>
                            <a:srgbClr val="1A1440"/>
                          </a:solidFill>
                          <a:latin typeface="Calibri"/>
                        </a:rPr>
                        <a:t>Yes: Rs 3,395 against Rs 3,200, +6.1 percent</a:t>
                      </a:r>
                    </a:p>
                  </a:txBody>
                  <a:tcPr marL="101600" marR="101600" marT="38100" marB="38100" anchor="ctr">
                    <a:solidFill>
                      <a:srgbClr val="F4F2FA"/>
                    </a:solidFill>
                  </a:tcPr>
                </a:tc>
              </a:tr>
              <a:tr h="310896">
                <a:tc>
                  <a:txBody>
                    <a:bodyPr/>
                    <a:lstStyle/>
                    <a:p>
                      <a:r>
                        <a:rPr sz="900" b="0" i="0">
                          <a:solidFill>
                            <a:srgbClr val="1A1440"/>
                          </a:solidFill>
                          <a:latin typeface="Calibri"/>
                        </a:rPr>
                        <a:t>3. Repeat it for Diwali?</a:t>
                      </a:r>
                    </a:p>
                  </a:txBody>
                  <a:tcPr marL="101600" marR="101600" marT="38100" marB="38100" anchor="ctr">
                    <a:solidFill>
                      <a:srgbClr val="FFFFFF"/>
                    </a:solidFill>
                  </a:tcPr>
                </a:tc>
                <a:tc>
                  <a:txBody>
                    <a:bodyPr/>
                    <a:lstStyle/>
                    <a:p>
                      <a:r>
                        <a:rPr sz="900" b="0" i="0">
                          <a:solidFill>
                            <a:srgbClr val="1A1440"/>
                          </a:solidFill>
                          <a:latin typeface="Calibri"/>
                        </a:rPr>
                        <a:t>Not before asking who is in each group</a:t>
                      </a:r>
                    </a:p>
                  </a:txBody>
                  <a:tcPr marL="101600" marR="101600" marT="38100" marB="38100" anchor="ctr">
                    <a:solidFill>
                      <a:srgbClr val="FFFFFF"/>
                    </a:solidFill>
                  </a:tcPr>
                </a:tc>
              </a:tr>
              <a:tr h="310896">
                <a:tc>
                  <a:txBody>
                    <a:bodyPr/>
                    <a:lstStyle/>
                    <a:p>
                      <a:r>
                        <a:rPr sz="900" b="0" i="0">
                          <a:solidFill>
                            <a:srgbClr val="1A1440"/>
                          </a:solidFill>
                          <a:latin typeface="Calibri"/>
                        </a:rPr>
                        <a:t>4. Inside each segment?</a:t>
                      </a:r>
                    </a:p>
                  </a:txBody>
                  <a:tcPr marL="101600" marR="101600" marT="38100" marB="38100" anchor="ctr">
                    <a:solidFill>
                      <a:srgbClr val="F4F2FA"/>
                    </a:solidFill>
                  </a:tcPr>
                </a:tc>
                <a:tc>
                  <a:txBody>
                    <a:bodyPr/>
                    <a:lstStyle/>
                    <a:p>
                      <a:r>
                        <a:rPr sz="900" b="0" i="0">
                          <a:solidFill>
                            <a:srgbClr val="1A1440"/>
                          </a:solidFill>
                          <a:latin typeface="Calibri"/>
                        </a:rPr>
                        <a:t>3.0 percent less in both segments</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note say?</a:t>
                      </a:r>
                    </a:p>
                  </a:txBody>
                  <a:tcPr marL="101600" marR="101600" marT="38100" marB="38100" anchor="ctr">
                    <a:solidFill>
                      <a:srgbClr val="FFFFFF"/>
                    </a:solidFill>
                  </a:tcPr>
                </a:tc>
                <a:tc>
                  <a:txBody>
                    <a:bodyPr/>
                    <a:lstStyle/>
                    <a:p>
                      <a:r>
                        <a:rPr sz="900" b="0" i="0">
                          <a:solidFill>
                            <a:srgbClr val="1A1440"/>
                          </a:solidFill>
                          <a:latin typeface="Calibri"/>
                        </a:rPr>
                        <a:t>Do not repeat as designed; hold back at Diwali</a:t>
                      </a:r>
                    </a:p>
                  </a:txBody>
                  <a:tcPr marL="101600" marR="101600" marT="38100" marB="38100" anchor="ctr">
                    <a:solidFill>
                      <a:srgbClr val="FFFFFF"/>
                    </a:solidFill>
                  </a:tcPr>
                </a:tc>
              </a:tr>
              <a:tr h="310896">
                <a:tc>
                  <a:txBody>
                    <a:bodyPr/>
                    <a:lstStyle/>
                    <a:p>
                      <a:r>
                        <a:rPr sz="900" b="0" i="0">
                          <a:solidFill>
                            <a:srgbClr val="1A1440"/>
                          </a:solidFill>
                          <a:latin typeface="Calibri"/>
                        </a:rPr>
                        <a:t>6. One mix, the same answer?</a:t>
                      </a:r>
                    </a:p>
                  </a:txBody>
                  <a:tcPr marL="101600" marR="101600" marT="38100" marB="38100" anchor="ctr">
                    <a:solidFill>
                      <a:srgbClr val="F4F2FA"/>
                    </a:solidFill>
                  </a:tcPr>
                </a:tc>
                <a:tc>
                  <a:txBody>
                    <a:bodyPr/>
                    <a:lstStyle/>
                    <a:p>
                      <a:r>
                        <a:rPr sz="9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72 / 86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page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headline note fails nine of nine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the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is three yes-or-no tests per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 yes: what makes it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 alone?</a:t>
            </a:r>
          </a:p>
        </p:txBody>
      </p:sp>
      <p:pic>
        <p:nvPicPr>
          <p:cNvPr id="9" name="mermaid diagram" descr="15028f890500644d.png"/>
          <p:cNvPicPr>
            <a:picLocks noChangeAspect="1"/>
          </p:cNvPicPr>
          <p:nvPr/>
        </p:nvPicPr>
        <p:blipFill>
          <a:blip r:embed="rId5"/>
          <a:stretch>
            <a:fillRect/>
          </a:stretch>
        </p:blipFill>
        <p:spPr>
          <a:xfrm>
            <a:off x="780897" y="1906714"/>
            <a:ext cx="10629900" cy="3114675"/>
          </a:xfrm>
          <a:prstGeom prst="rect">
            <a:avLst/>
          </a:prstGeom>
        </p:spPr>
      </p:pic>
      <p:sp>
        <p:nvSpPr>
          <p:cNvPr id="10" name="Rounded Rectangle 9"/>
          <p:cNvSpPr/>
          <p:nvPr/>
        </p:nvSpPr>
        <p:spPr>
          <a:xfrm>
            <a:off x="530352" y="516769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9570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86565"/>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396018"/>
                <a:gridCol w="673497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form fits two minutes?</a:t>
                      </a:r>
                    </a:p>
                  </a:txBody>
                  <a:tcPr marL="101600" marR="101600" marT="38100" marB="38100" anchor="ctr">
                    <a:solidFill>
                      <a:srgbClr val="FFFFFF"/>
                    </a:solidFill>
                  </a:tcPr>
                </a:tc>
                <a:tc>
                  <a:txBody>
                    <a:bodyPr/>
                    <a:lstStyle/>
                    <a:p>
                      <a:r>
                        <a:rPr sz="900" b="0" i="0">
                          <a:solidFill>
                            <a:srgbClr val="1A1440"/>
                          </a:solidFill>
                          <a:latin typeface="Calibri"/>
                        </a:rPr>
                        <a:t>The four-part note, under 200 words</a:t>
                      </a:r>
                    </a:p>
                  </a:txBody>
                  <a:tcPr marL="101600" marR="101600" marT="38100" marB="38100" anchor="ctr">
                    <a:solidFill>
                      <a:srgbClr val="FFFFFF"/>
                    </a:solidFill>
                  </a:tcPr>
                </a:tc>
              </a:tr>
              <a:tr h="310896">
                <a:tc>
                  <a:txBody>
                    <a:bodyPr/>
                    <a:lstStyle/>
                    <a:p>
                      <a:r>
                        <a:rPr sz="900" b="0" i="0">
                          <a:solidFill>
                            <a:srgbClr val="1A1440"/>
                          </a:solidFill>
                          <a:latin typeface="Calibri"/>
                        </a:rPr>
                        <a:t>2. What sits beside each number?</a:t>
                      </a:r>
                    </a:p>
                  </a:txBody>
                  <a:tcPr marL="101600" marR="101600" marT="38100" marB="38100" anchor="ctr">
                    <a:solidFill>
                      <a:srgbClr val="F4F2FA"/>
                    </a:solidFill>
                  </a:tcPr>
                </a:tc>
                <a:tc>
                  <a:txBody>
                    <a:bodyPr/>
                    <a:lstStyle/>
                    <a:p>
                      <a:r>
                        <a:rPr sz="900" b="0" i="0">
                          <a:solidFill>
                            <a:srgbClr val="1A1440"/>
                          </a:solidFill>
                          <a:latin typeface="Calibri"/>
                        </a:rPr>
                        <a:t>Its world, its whole, its count or its groups</a:t>
                      </a:r>
                    </a:p>
                  </a:txBody>
                  <a:tcPr marL="101600" marR="101600" marT="38100" marB="38100" anchor="ctr">
                    <a:solidFill>
                      <a:srgbClr val="F4F2FA"/>
                    </a:solidFill>
                  </a:tcPr>
                </a:tc>
              </a:tr>
              <a:tr h="310896">
                <a:tc>
                  <a:txBody>
                    <a:bodyPr/>
                    <a:lstStyle/>
                    <a:p>
                      <a:r>
                        <a:rPr sz="900" b="0" i="0">
                          <a:solidFill>
                            <a:srgbClr val="1A1440"/>
                          </a:solidFill>
                          <a:latin typeface="Calibri"/>
                        </a:rPr>
                        <a:t>3. What goes wrong?</a:t>
                      </a:r>
                    </a:p>
                  </a:txBody>
                  <a:tcPr marL="101600" marR="101600" marT="38100" marB="38100" anchor="ctr">
                    <a:solidFill>
                      <a:srgbClr val="FFFFFF"/>
                    </a:solidFill>
                  </a:tcPr>
                </a:tc>
                <a:tc>
                  <a:txBody>
                    <a:bodyPr/>
                    <a:lstStyle/>
                    <a:p>
                      <a:r>
                        <a:rPr sz="900" b="0" i="0">
                          <a:solidFill>
                            <a:srgbClr val="1A1440"/>
                          </a:solidFill>
                          <a:latin typeface="Calibri"/>
                        </a:rPr>
                        <a:t>Three true numbers, three wrong decisions</a:t>
                      </a:r>
                    </a:p>
                  </a:txBody>
                  <a:tcPr marL="101600" marR="101600" marT="38100" marB="38100" anchor="ctr">
                    <a:solidFill>
                      <a:srgbClr val="FFFFFF"/>
                    </a:solidFill>
                  </a:tcPr>
                </a:tc>
              </a:tr>
              <a:tr h="310896">
                <a:tc>
                  <a:txBody>
                    <a:bodyPr/>
                    <a:lstStyle/>
                    <a:p>
                      <a:r>
                        <a:rPr sz="900" b="0" i="0">
                          <a:solidFill>
                            <a:srgbClr val="1A1440"/>
                          </a:solidFill>
                          <a:latin typeface="Calibri"/>
                        </a:rPr>
                        <a:t>4. How does a line pass?</a:t>
                      </a:r>
                    </a:p>
                  </a:txBody>
                  <a:tcPr marL="101600" marR="101600" marT="38100" marB="38100" anchor="ctr">
                    <a:solidFill>
                      <a:srgbClr val="F4F2FA"/>
                    </a:solidFill>
                  </a:tcPr>
                </a:tc>
                <a:tc>
                  <a:txBody>
                    <a:bodyPr/>
                    <a:lstStyle/>
                    <a:p>
                      <a:r>
                        <a:rPr sz="900" b="0" i="0">
                          <a:solidFill>
                            <a:srgbClr val="1A1440"/>
                          </a:solidFill>
                          <a:latin typeface="Calibri"/>
                        </a:rPr>
                        <a:t>Claim, evidence with its base, caveat, action</a:t>
                      </a:r>
                    </a:p>
                  </a:txBody>
                  <a:tcPr marL="101600" marR="101600" marT="38100" marB="38100" anchor="ctr">
                    <a:solidFill>
                      <a:srgbClr val="F4F2FA"/>
                    </a:solidFill>
                  </a:tcPr>
                </a:tc>
              </a:tr>
              <a:tr h="310896">
                <a:tc>
                  <a:txBody>
                    <a:bodyPr/>
                    <a:lstStyle/>
                    <a:p>
                      <a:r>
                        <a:rPr sz="900" b="0" i="0">
                          <a:solidFill>
                            <a:srgbClr val="1A1440"/>
                          </a:solidFill>
                          <a:latin typeface="Calibri"/>
                        </a:rPr>
                        <a:t>5. When is not yet an answer?</a:t>
                      </a:r>
                    </a:p>
                  </a:txBody>
                  <a:tcPr marL="101600" marR="101600" marT="38100" marB="38100" anchor="ctr">
                    <a:solidFill>
                      <a:srgbClr val="FFFFFF"/>
                    </a:solidFill>
                  </a:tcPr>
                </a:tc>
                <a:tc>
                  <a:txBody>
                    <a:bodyPr/>
                    <a:lstStyle/>
                    <a:p>
                      <a:r>
                        <a:rPr sz="900" b="0" i="0">
                          <a:solidFill>
                            <a:srgbClr val="1A1440"/>
                          </a:solidFill>
                          <a:latin typeface="Calibri"/>
                        </a:rPr>
                        <a:t>When it names what would make it a yes</a:t>
                      </a:r>
                    </a:p>
                  </a:txBody>
                  <a:tcPr marL="101600" marR="101600" marT="38100" marB="38100" anchor="ctr">
                    <a:solidFill>
                      <a:srgbClr val="FFFFFF"/>
                    </a:solidFill>
                  </a:tcPr>
                </a:tc>
              </a:tr>
              <a:tr h="310896">
                <a:tc>
                  <a:txBody>
                    <a:bodyPr/>
                    <a:lstStyle/>
                    <a:p>
                      <a:r>
                        <a:rPr sz="900" b="0" i="0">
                          <a:solidFill>
                            <a:srgbClr val="1A1440"/>
                          </a:solidFill>
                          <a:latin typeface="Calibri"/>
                        </a:rPr>
                        <a:t>6. Do the decisions follow?</a:t>
                      </a:r>
                    </a:p>
                  </a:txBody>
                  <a:tcPr marL="101600" marR="101600" marT="38100" marB="38100" anchor="ctr">
                    <a:solidFill>
                      <a:srgbClr val="F4F2FA"/>
                    </a:solidFill>
                  </a:tcPr>
                </a:tc>
                <a:tc>
                  <a:txBody>
                    <a:bodyPr/>
                    <a:lstStyle/>
                    <a:p>
                      <a:r>
                        <a:rPr sz="9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86 / 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