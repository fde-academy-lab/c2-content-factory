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Meera's three questions aloud and leave them on screen while the room settles.</a:t>
            </a:r>
          </a:p>
          <a:p>
            <a:r>
              <a:t>Say the week's arc in one breath: Monday drew the tree, Tuesday found the branch that moved,</a:t>
            </a:r>
          </a:p>
          <a:p>
            <a:r>
              <a:t>Wednesday made the numbers trustworthy, and today asks whether what moved is real, whether it</a:t>
            </a:r>
          </a:p>
          <a:p>
            <a:r>
              <a:t>matters, and whether anyone caused it. Friday rebuilds the week without an assistant.</a:t>
            </a:r>
          </a:p>
          <a:p>
            <a:r>
              <a:t>Transition: the next 19 minutes are the ask and the thinking, with no laptop open.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message aloud. Then read her constraint from the row: "One page, two</a:t>
            </a:r>
          </a:p>
          <a:p>
            <a:r>
              <a:t>minutes. If the honest answer is 'we do not know yet', say so and tell me what would tell us."</a:t>
            </a:r>
          </a:p>
          <a:p>
            <a:r>
              <a:t>Ask which of the three questions would cost Kalpa the most if answered wrongly. Most say the</a:t>
            </a:r>
          </a:p>
          <a:p>
            <a:r>
              <a:t>discount, because it is about to be repeated for Diwali. Hold that; chapters 4 and 6 answer it.</a:t>
            </a:r>
          </a:p>
          <a:p>
            <a:r>
              <a:t>Watch for anyone answering a question now. Every number on this slide is somebody's claim, and</a:t>
            </a:r>
          </a:p>
          <a:p>
            <a:r>
              <a:t>today tests each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minute in pairs, then letters. Expect a and c, which both sound rigorous.</a:t>
            </a:r>
          </a:p>
          <a:p>
            <a:r>
              <a:t>Do not resolve it here; the answer slide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Draw this on the board and leave it there all day. Chapters 1 and 2 climb the</a:t>
            </a:r>
          </a:p>
          <a:p>
            <a:r>
              <a:t>first habit, chapter 3 the second, chapters 4 and 6 the third, and chapter 5 writes the note on</a:t>
            </a:r>
          </a:p>
          <a:p>
            <a:r>
              <a:t>the right. Say that every chapter ends on one line of that note.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Every chapter today ends on one line of this note. The caveat is the part most</a:t>
            </a:r>
          </a:p>
          <a:p>
            <a:r>
              <a:t>analysts leave out and the part a CEO keeps them for. Model it once: "Not yet, and here is what</a:t>
            </a:r>
          </a:p>
          <a:p>
            <a:r>
              <a:t>would tell us" is a claim, a caveat and an action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Name what not to redo: nobody re-cleans the file, and nobody re-derives the tree.</a:t>
            </a:r>
          </a:p>
          <a:p>
            <a:r>
              <a:t>Recall from Monday's domain story (content/W01/D1/study-notes/C2_W01_D01_domain_retail_STUDENT.md)</a:t>
            </a:r>
          </a:p>
          <a:p>
            <a:r>
              <a:t>that a membership tier is where a retailer's most frequent buyers sit, which is why a fall there</a:t>
            </a:r>
          </a:p>
          <a:p>
            <a:r>
              <a:t>worries the head of the tier. Wednesday's return question is the Kahoot's last item.</a:t>
            </a:r>
          </a:p>
          <a:p>
            <a:r>
              <a:t>Transition: a gap exists; chapter 1 asks whether chance alone could have made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the need and the company (3), the options and the call (5), the ten cards by</a:t>
            </a:r>
          </a:p>
          <a:p>
            <a:r>
              <a:t>hand (8, never cut), Retail-Core and the room's Retail-Plus run (6), the trap and its fix (5), the</a:t>
            </a:r>
          </a:p>
          <a:p>
            <a:r>
              <a:t>second route (2), and Kavya's review (1). Notebook 1 runs beside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Delivered revenue per member is the measure all day: Monday settled that</a:t>
            </a:r>
          </a:p>
          <a:p>
            <a:r>
              <a:t>cancelled and returned orders are not money kept, and a member is the unit that exists in both</a:t>
            </a:r>
          </a:p>
          <a:p>
            <a:r>
              <a:t>quarters. Write the measure on the board beside the tree.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Sources: HBR, "Building a Culture of Experimentation" (2020), and the HBR podcast</a:t>
            </a:r>
          </a:p>
          <a:p>
            <a:r>
              <a:t>"At Booking.com, Innovation Means Constant Failure" (2019).</a:t>
            </a:r>
          </a:p>
          <a:p>
            <a:r>
              <a:t>Checked 30 September 2026: https://hbr.org/2020/03/building-a-culture-of-experimentation</a:t>
            </a:r>
          </a:p>
          <a:p>
            <a:r>
              <a:t>Checked 30 September 2026: https://hbr.org/podcast/2019/09/at-booking-com-innovation-means-constant-failure</a:t>
            </a:r>
          </a:p>
          <a:p>
            <a:r>
              <a:t>The 25,000 a year is Thomke's figure; say "about". The point: a company that tests constantly treats a gap as noise until it beats chance.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Compute decides nothing at 44 rows: every option is instant. What decides is the</a:t>
            </a:r>
          </a:p>
          <a:p>
            <a:r>
              <a:t>shape of the data and the reader. Six members bought nothing in one of the quarters, which is the</a:t>
            </a:r>
          </a:p>
          <a:p>
            <a:r>
              <a:t>lumpy shape a textbook formula assumes away. Notebook 1's sizing cell times each option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 the bootstrap, returns in chapter 2 where the question becomes how big. Say</a:t>
            </a:r>
          </a:p>
          <a:p>
            <a:r>
              <a:t>the switch fact aloud: at Booking.com's scale the textbook test is the house standard.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Say the name once and move on; the definition earns its place after the room has</a:t>
            </a:r>
          </a:p>
          <a:p>
            <a:r>
              <a:t>counted shares by hand. No formulas today, and no test catalogue.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never cut. Hand each pair ten index cards with these amounts; the numbers are</a:t>
            </a:r>
          </a:p>
          <a:p>
            <a:r>
              <a:t>invented and the slide says so. Each pair shuffles ten times and writes each gap on the board in a</a:t>
            </a:r>
          </a:p>
          <a:p>
            <a:r>
              <a:t>row. Then count, as a room, how many gaps reached Rs 880 or more. Ask: if the quarter made no</a:t>
            </a:r>
          </a:p>
          <a:p>
            <a:r>
              <a:t>difference, how surprising is 880? The guided sheet is exercises/guided/C2_W01_D04_ten_cards_STUDENT.md.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These ten gaps are the first ten a seeded computer shuffle produced, a fair stand-in</a:t>
            </a:r>
          </a:p>
          <a:p>
            <a:r>
              <a:t>for a pair's ten. Take letters. The trap is b: one in ten sounds common, but ten draws say almost</a:t>
            </a:r>
          </a:p>
          <a:p>
            <a:r>
              <a:t>nothing about a share.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Say the sentence aloud: "If the quarter made no difference, a gap of Rs 880 or more</a:t>
            </a:r>
          </a:p>
          <a:p>
            <a:r>
              <a:t>turns up in about 2 of every 100 shuffles." The loop in notebook 1 is twelve lines, and every line</a:t>
            </a:r>
          </a:p>
          <a:p>
            <a:r>
              <a:t>is something the room just did with cards: pool, shuffle, deal, subtract, count.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Run live in notebook 1, level 2. The bars are chance-only worlds, and the real gap</a:t>
            </a:r>
          </a:p>
          <a:p>
            <a:r>
              <a:t>sits in the tallest bar. Kavya's point: this is what "nothing happened" looks like, and the room</a:t>
            </a:r>
          </a:p>
          <a:p>
            <a:r>
              <a:t>needs to have seen it before judging Retail-Plus.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room runs level 3 of notebook 1 and writes a first-draft sentence without help.</a:t>
            </a:r>
          </a:p>
          <a:p>
            <a:r>
              <a:t>Do not read a number out first; every laptop gets the same share because of the seed. Ask one pair</a:t>
            </a:r>
          </a:p>
          <a:p>
            <a:r>
              <a:t>to read theirs aloud and write it on the board. That number belongs to the room, and the next</a:t>
            </a:r>
          </a:p>
          <a:p>
            <a:r>
              <a:t>three slides work on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Put the sentence up next to the room's share and ask whose first draft looks like</a:t>
            </a:r>
          </a:p>
          <a:p>
            <a:r>
              <a:t>it. Most hands go up; it is the most common p-value sentence in industry. The next slide corrects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These are notebook 1's twenty invented segments with nothing changed, the shares</a:t>
            </a:r>
          </a:p>
          <a:p>
            <a:r>
              <a:t>its run produced. Segment 8 comes back at 0.005. Ask of any p-value sentence: in which world was</a:t>
            </a:r>
          </a:p>
          <a:p>
            <a:r>
              <a:t>this share counted? The chance that a finding is wrong depends on what the shuffle never saw: how</a:t>
            </a:r>
          </a:p>
          <a:p>
            <a:r>
              <a:t>plausible a fall was before the data, what else changed, and how many segments were tested.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number stays 0.027; the claim shrinks from "97 percent certain" to "larger than</a:t>
            </a:r>
          </a:p>
          <a:p>
            <a:r>
              <a:t>the usual wobble". Each pair rewrites its first draft in the right-hand form.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1's second route. Two routes built on different ideas land within a</a:t>
            </a:r>
          </a:p>
          <a:p>
            <a:r>
              <a:t>thousandth or so, so the verdict can go in the note. The formula behind the textbook test is a</a:t>
            </a:r>
          </a:p>
          <a:p>
            <a:r>
              <a:t>later week's topic; today it is a second opinion.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answers are in notebook 1 and in one breath in the afternoon drill. The</a:t>
            </a:r>
          </a:p>
          <a:p>
            <a:r>
              <a:t>chapter 1 set (exercises/unguided/C2_W01_D04_ch1_real_or_wobble_STUDENT.md) is self-study or the</a:t>
            </a:r>
          </a:p>
          <a:p>
            <a:r>
              <a:t>lab's warm-up if the chapter ran to time. Transition: Retail-Plus beat the wobble; is it worth money?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the need and the company (3), the options and the call (4), the two axes (3),</a:t>
            </a:r>
          </a:p>
          <a:p>
            <a:r>
              <a:t>the trap and its check (7), the sizing and the offer (8), the second route (4), and Kavya's review</a:t>
            </a:r>
          </a:p>
          <a:p>
            <a:r>
              <a:t>(1). Notebook 2 runs beside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metric is the same revenue per member, now multiplied out to rupees a quarter.</a:t>
            </a:r>
          </a:p>
          <a:p>
            <a:r>
              <a:t>A wrong call either funds an offer that cannot pay back or ignores a fall that keeps draining the</a:t>
            </a:r>
          </a:p>
          <a:p>
            <a:r>
              <a:t>tier. Ask what the missing box should hold before anyone talks budget.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Sources: HBR, "The Surprising Power of Online Experiments" (2017) for the 12</a:t>
            </a:r>
          </a:p>
          <a:p>
            <a:r>
              <a:t>percent and the 100 million dollars; "Online Experimentation at Microsoft" (2009) for about a third</a:t>
            </a:r>
          </a:p>
          <a:p>
            <a:r>
              <a:t>of experiments improving the metric they were built for.</a:t>
            </a:r>
          </a:p>
          <a:p>
            <a:r>
              <a:t>Checked 30 September 2026: https://hbr.org/2017/09/the-surprising-power-of-online-experiments</a:t>
            </a:r>
          </a:p>
          <a:p>
            <a:r>
              <a:t>Checked 30 September 2026: https://ai.stanford.edu/~ronnyk/ExPThinkWeek2009Public.pdf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Every option runs in under a second on this file; notebook 2's sizing cell times</a:t>
            </a:r>
          </a:p>
          <a:p>
            <a:r>
              <a:t>them. The call follows the decision: a budget line needs rupees beside the quarter and the cost.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Ask where Retail-Core's Rs 110 belongs: bottom left. Hold Retail-Plus until the</a:t>
            </a:r>
          </a:p>
          <a:p>
            <a:r>
              <a:t>room has sized it. The quadrant is the day's second board drawing.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This is the second trap of the day and the one that costs money. Ask what the</a:t>
            </a:r>
          </a:p>
          <a:p>
            <a:r>
              <a:t>share would be for a twenty-rupee gap on twenty thousand orders. Take guesses; the next slide shows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orders are invented in notebook 2, level 3, and the gap is Rs 20 at every</a:t>
            </a:r>
          </a:p>
          <a:p>
            <a:r>
              <a:t>size. The share falls from 0.45 to 0.002 on sample size alone. The share measures how surely a gap</a:t>
            </a:r>
          </a:p>
          <a:p>
            <a:r>
              <a:t>beats chance; it never measures how big the gap 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room computes these in notebook 2, levels 1 and 2. Business carries the</a:t>
            </a:r>
          </a:p>
          <a:p>
            <a:r>
              <a:t>company's quarter, which is why every consumer segment's move is small against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chart draws the consumer segments alone so their bars stand in proportion; with</a:t>
            </a:r>
          </a:p>
          <a:p>
            <a:r>
              <a:t>Business on one axis all three would sit on the floor. Company Q2 delivered revenue: Rs 1,28,64,680.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 Kalpa figure exists for the offer's cost; the notebook labels it assumed. Pairs</a:t>
            </a:r>
          </a:p>
          <a:p>
            <a:r>
              <a:t>work it on paper before running notebook 2, level 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At an assumed 30 percent margin (notebook 2's depth section) the offer would need</a:t>
            </a:r>
          </a:p>
          <a:p>
            <a:r>
              <a:t>to win back more than the whole fall. Say that revenue is not margin, once.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About 2 in 100 redraws land at or below zero, against the shuffle's 0.027: two</a:t>
            </a:r>
          </a:p>
          <a:p>
            <a:r>
              <a:t>routes, one verdict. The low end, about Rs 920 a quarter for the tier, is why the offer goes to half</a:t>
            </a:r>
          </a:p>
          <a:p>
            <a:r>
              <a:t>the members first. CUT FIRST if the chapter runs long: say the name and the verdict only.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answers are in notebook 2. Transition: Meera's second question is about a</a:t>
            </a:r>
          </a:p>
          <a:p>
            <a:r>
              <a:t>rise, the biggest on the page, and it needs a different check first.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the need and the company (3), the options and the call (4), the check first</a:t>
            </a:r>
          </a:p>
          <a:p>
            <a:r>
              <a:t>(3), the trap (3), why small counts swing (4), the room's count and flips (7), the interview pair</a:t>
            </a:r>
          </a:p>
          <a:p>
            <a:r>
              <a:t>(3), the second route (2), and Kavya's review (1). Notebook 3 runs beside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Meera's question. Ask which number the room would want beside the 40 percent</a:t>
            </a:r>
          </a:p>
          <a:p>
            <a:r>
              <a:t>before answering. Hold the answers; the question slide asks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Source: Howard Wainer, "The Most Dangerous Equation", reprinted in Picturing the</a:t>
            </a:r>
          </a:p>
          <a:p>
            <a:r>
              <a:t>Uncertain World (Princeton University Press, 2009).</a:t>
            </a:r>
          </a:p>
          <a:p>
            <a:r>
              <a:t>Checked 30 September 2026: https://assets.press.princeton.edu/chapters/s8863.pdf</a:t>
            </a:r>
          </a:p>
          <a:p>
            <a:r>
              <a:t>The Foundation backed small schools partly because they appeared at the top; Wainer's point is</a:t>
            </a:r>
          </a:p>
          <a:p>
            <a:r>
              <a:t>that they appeared at the bottom too.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Notebook 3's sizing cell runs B in well under a second. D is the action the</a:t>
            </a:r>
          </a:p>
          <a:p>
            <a:r>
              <a:t>answer leads to; the note names the count that would reopen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Expect a, which is chapter 2's habit, and c, which is the headline habit.</a:t>
            </a:r>
          </a:p>
          <a:p>
            <a:r>
              <a:t>Both are reasonable later steps and neither comes first.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Do not say Student's count. The room counts it in notebook 3's empty cell.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rate is correct arithmetic. What is wrong is repeating it without the count,</a:t>
            </a:r>
          </a:p>
          <a:p>
            <a:r>
              <a:t>the same mistake as Monday's number without its definition.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chart is exact arithmetic on fair coin flips, one flip per order deciding its</a:t>
            </a:r>
          </a:p>
          <a:p>
            <a:r>
              <a:t>quarter, with no Kalpa data in it. Ten orders, 38 percent of worlds; four hundred, four in ten</a:t>
            </a:r>
          </a:p>
          <a:p>
            <a:r>
              <a:t>thousand. That curve is why the rule of thumb exists.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The count is the room's discovery; do not say it. When a pair has it, ask how many</a:t>
            </a:r>
          </a:p>
          <a:p>
            <a:r>
              <a:t>customers stand behind the orders, and watch the faces. The flips come back near four in ten.</a:t>
            </a:r>
          </a:p>
          <a:p>
            <a:r>
              <a:t>Collect two lines aloud.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then one learner answers aloud in thirty seconds. Listen for the count,</a:t>
            </a:r>
          </a:p>
          <a:p>
            <a:r>
              <a:t>the swing, and what they would do next.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Notebook 3, level 4: a true 31 percent shows 42 or more in about 31 percent of</a:t>
            </a:r>
          </a:p>
          <a:p>
            <a:r>
              <a:t>groups of twelve, and groups of 1,200 land between about 28 and 35 percent.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3's second route. The two routes land within a point. Do not name the</a:t>
            </a:r>
          </a:p>
          <a:p>
            <a:r>
              <a:t>number of deals, which would give the count away.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line for the note: "Not yet: we watch Student until it carries thirty orders a</a:t>
            </a:r>
          </a:p>
          <a:p>
            <a:r>
              <a:t>quarter before any budget moves." Break for 10 minutes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the need and the companies (4), the options and the call (4), Marketing's</a:t>
            </a:r>
          </a:p>
          <a:p>
            <a:r>
              <a:t>number reproduced (3), the trap (3), why it can be wrong (4), the room's split (6), the fix (2),</a:t>
            </a:r>
          </a:p>
          <a:p>
            <a:r>
              <a:t>the second route (3), and Kavya's review (1). Notebook 4 runs beside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17.6 percent is Monday's rule: at 15 percent off, orders must rise by 1 over</a:t>
            </a:r>
          </a:p>
          <a:p>
            <a:r>
              <a:t>0.85 less 1 to keep revenue flat. A sale that did not lift spend gives margin away. The metric:</a:t>
            </a:r>
          </a:p>
          <a:p>
            <a:r>
              <a:t>August revenue per customer, for customers who got the sale against customers who did not.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Sources: Walmart's corporate newsroom, 25 October 2022; Bickel, Hammel and</a:t>
            </a:r>
          </a:p>
          <a:p>
            <a:r>
              <a:t>O'Connell, Science, 1975, as quoted by Alex Reinhart (8,442 men, 4,321 women).</a:t>
            </a:r>
          </a:p>
          <a:p>
            <a:r>
              <a:t>Checked 30 September 2026: https://corporate.walmart.com/news/2022/10/25/ahead-of-the-u-s-holidays-indias-shoppers-and-sellers-go-big</a:t>
            </a:r>
          </a:p>
          <a:p>
            <a:r>
              <a:t>Checked 30 September 2026: https://www.refsmmat.com/posts/2016-05-08-simpsons-paradox-berkeley.html</a:t>
            </a:r>
          </a:p>
          <a:p>
            <a:r>
              <a:t>Women applied more to departments that admitted few applicants. Do not draw the Kalpa parallel;</a:t>
            </a:r>
          </a:p>
          <a:p>
            <a:r>
              <a:t>the room finds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All four run instantly on 160 customers; notebook 4's sizing cell shows it. The</a:t>
            </a:r>
          </a:p>
          <a:p>
            <a:r>
              <a:t>call rests on one check the notebook runs before any spend is compared: who is in each group. A</a:t>
            </a:r>
          </a:p>
          <a:p>
            <a:r>
              <a:t>returns in chapter 6.</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Predict, then run notebook 4, level 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it plainly: nobody made an arithmetic mistake. The question is whether the</a:t>
            </a:r>
          </a:p>
          <a:p>
            <a:r>
              <a:t>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Ask what would have to be true of the two groups for this sentence to hold. Take</a:t>
            </a:r>
          </a:p>
          <a:p>
            <a:r>
              <a:t>two answers. The next slide shows, on invented stores, how a blend can say the opposite of its parts.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numbers are invented for the illustration. Both stores' promoted customers</a:t>
            </a:r>
          </a:p>
          <a:p>
            <a:r>
              <a:t>spent 10 percent less, and the blend more than doubles because the promoted group is mostly</a:t>
            </a:r>
          </a:p>
          <a:p>
            <a:r>
              <a:t>big-store customers. This is the Berkeley pattern in rupees. Do not state Kalpa's split: the room</a:t>
            </a:r>
          </a:p>
          <a:p>
            <a:r>
              <a:t>runs it next.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The room runs level 3. When most laptops show the chart, ask one pair to read the</a:t>
            </a:r>
          </a:p>
          <a:p>
            <a:r>
              <a:t>two segment changes and the two mixes aloud. The reversal belongs to the room. Then point at the</a:t>
            </a:r>
          </a:p>
          <a:p>
            <a:r>
              <a:t>blended column and ask how both can be true.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blank is filled from the room's own run. What changed: the decision, from</a:t>
            </a:r>
          </a:p>
          <a:p>
            <a:r>
              <a:t>repeat to redesign, and the reason is a mix of customers, never a mistake in Marketing's arithmetic.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4's second route. This slide comes after the room's split, so the</a:t>
            </a:r>
          </a:p>
          <a:p>
            <a:r>
              <a:t>numbers are theirs already. Both directions give the same 3.0 percent, which is the split said as</a:t>
            </a:r>
          </a:p>
          <a:p>
            <a:r>
              <a:t>one number.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6 opens the afternoon on "what else changed". Transition: three questions</a:t>
            </a:r>
          </a:p>
          <a:p>
            <a:r>
              <a:t>answered; now one page for Meera.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the need and the company (3), the options and the call (4), the trap (4), the</a:t>
            </a:r>
          </a:p>
          <a:p>
            <a:r>
              <a:t>audit (4), the Retail-Plus line built together (7), the not-yet lines (4), the second route (3),</a:t>
            </a:r>
          </a:p>
          <a:p>
            <a:r>
              <a:t>and Kavya's review (1). Notebook 5 runs beside 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line that loses its base sends money the wrong way; a line that hedges everything</a:t>
            </a:r>
          </a:p>
          <a:p>
            <a:r>
              <a:t>gives Meera nothing to decide. The note carries every number the chapters produced, each with the</a:t>
            </a:r>
          </a:p>
          <a:p>
            <a:r>
              <a:t>partner it needs.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Source: Jeff Bezos, 2017 letter to shareholders.</a:t>
            </a:r>
          </a:p>
          <a:p>
            <a:r>
              <a:t>Checked 30 September 2026: https://www.aboutamazon.com/news/company-news/2017-letter-to-shareholders</a:t>
            </a:r>
          </a:p>
          <a:p>
            <a:r>
              <a:t>Meera asked for one page, which is Amazon's idea at a sixth of the length. Say 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Notebook 5's sizing cell counts the words; the dashboard is everything notebooks</a:t>
            </a:r>
          </a:p>
          <a:p>
            <a:r>
              <a:t>1 to 4 printed. A drops what Meera explicitly allowed;</a:t>
            </a:r>
          </a:p>
          <a:p>
            <a:r>
              <a:t>B and D hand her the analysis instead of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34 percent is Rs 24,420 over the tier's Rs 72,130 in Q1: true, and a crisis</a:t>
            </a:r>
          </a:p>
          <a:p>
            <a:r>
              <a:t>only for a tier that delivered under one percent of the company's revenue. The 40 percent and the 6</a:t>
            </a:r>
          </a:p>
          <a:p>
            <a:r>
              <a:t>percent are chapters 3 and 4's traps, back in a note.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Notebook 5, level 2, runs the audit as a small function over each line and draws</a:t>
            </a:r>
          </a:p>
          <a:p>
            <a:r>
              <a:t>this grid. Ask the room for the base each line needs: the company's quarter, the count and the</a:t>
            </a:r>
          </a:p>
          <a:p>
            <a:r>
              <a:t>coin flips, who got the sale.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Build it on the board part by part, with the room dictating. The caveat is the</a:t>
            </a:r>
          </a:p>
          <a:p>
            <a:r>
              <a:t>part most often missing and the one a CEO keeps an analyst for. The row asks for this line guided;</a:t>
            </a:r>
          </a:p>
          <a:p>
            <a:r>
              <a:t>the Student and discount lines are the room's.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Expect a. Hold it for the answer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5, level 4, writes both lines and audits the whole note: every line passes</a:t>
            </a:r>
          </a:p>
          <a:p>
            <a:r>
              <a:t>all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 figure that traces nowhere was typed by hand and is the likeliest to be wrong.</a:t>
            </a:r>
          </a:p>
          <a:p>
            <a:r>
              <a:t>Notebook 5's second route finds ten figures and traces all ten.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morning ends here. The afternoon opens on chapter 6: who got the discount, who</a:t>
            </a:r>
          </a:p>
          <a:p>
            <a:r>
              <a:t>did not, and what else changed.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5 minutes. For learners who ask why a tool reports a bigger p-value. Notebook 1's depth</a:t>
            </a:r>
          </a:p>
          <a:p>
            <a:r>
              <a:t>section runs both counts on the same 5,000 shuffles, and five other seeds give 0.026 to 0.029.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6.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4.xml"/><Relationship Id="rId6"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 Id="rId5"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16.png"/><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 Id="rId5"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31.png"/><Relationship Id="rId7" Type="http://schemas.openxmlformats.org/officeDocument/2006/relationships/image" Target="../media/image10.png"/><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0.xml"/><Relationship Id="rId5"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 Id="rId5"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 Id="rId5" Type="http://schemas.openxmlformats.org/officeDocument/2006/relationships/image" Target="../media/image16.png"/><Relationship Id="rId6"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3.xml"/><Relationship Id="rId5"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image" Target="../media/image37.png"/><Relationship Id="rId6" Type="http://schemas.openxmlformats.org/officeDocument/2006/relationships/image" Target="../media/image4.png"/><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40.png"/><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3.xml"/><Relationship Id="rId5"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5.xml"/><Relationship Id="rId5" Type="http://schemas.openxmlformats.org/officeDocument/2006/relationships/image" Target="../media/image16.png"/><Relationship Id="rId6"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9.xml"/><Relationship Id="rId5" Type="http://schemas.openxmlformats.org/officeDocument/2006/relationships/image" Target="../media/image4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0.xml"/><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62.xml"/><Relationship Id="rId6"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5.xml"/><Relationship Id="rId5" Type="http://schemas.openxmlformats.org/officeDocument/2006/relationships/image" Target="../media/image16.png"/><Relationship Id="rId6" Type="http://schemas.openxmlformats.org/officeDocument/2006/relationships/image" Target="../media/image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8.xml"/><Relationship Id="rId5" Type="http://schemas.openxmlformats.org/officeDocument/2006/relationships/image" Target="../media/image4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0.xml"/><Relationship Id="rId5" Type="http://schemas.openxmlformats.org/officeDocument/2006/relationships/image" Target="../media/image4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1.xml"/><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5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38512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THURSDAY  ·  MORNING</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Real, or the usual wobble?</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“Real, or the wobble we see every quarter? Should I move budget to Student? Did the discount work, or did those customers buy anyway?”</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Meera Raghavan, CEO, Kalpa Retail, to the data and AI team at Kalpa's Global Capability Centre, before Monday's growth review</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Real, or the usual wobble</a:t>
            </a:r>
          </a:p>
        </p:txBody>
      </p:sp>
      <p:sp>
        <p:nvSpPr>
          <p:cNvPr id="13" name="TextBox 12"/>
          <p:cNvSpPr txBox="1"/>
          <p:nvPr/>
        </p:nvSpPr>
        <p:spPr>
          <a:xfrm>
            <a:off x="285035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234404"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Real, and worth acting on</a:t>
            </a:r>
          </a:p>
        </p:txBody>
      </p:sp>
      <p:sp>
        <p:nvSpPr>
          <p:cNvPr id="15" name="TextBox 14"/>
          <p:cNvSpPr txBox="1"/>
          <p:nvPr/>
        </p:nvSpPr>
        <p:spPr>
          <a:xfrm>
            <a:off x="5078920"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462968" y="5248656"/>
            <a:ext cx="1779936" cy="185166"/>
          </a:xfrm>
          <a:prstGeom prst="rect">
            <a:avLst/>
          </a:prstGeom>
          <a:noFill/>
        </p:spPr>
        <p:txBody>
          <a:bodyPr wrap="square" anchor="t" lIns="0" rIns="0" tIns="0" bIns="0">
            <a:spAutoFit/>
          </a:bodyPr>
          <a:lstStyle/>
          <a:p>
            <a:pPr algn="l"/>
            <a:r>
              <a:rPr sz="900" b="0" i="0">
                <a:solidFill>
                  <a:srgbClr val="FFFFFF"/>
                </a:solidFill>
                <a:latin typeface="Calibri"/>
              </a:rPr>
              <a:t>The count behind 40 percent</a:t>
            </a:r>
          </a:p>
        </p:txBody>
      </p:sp>
      <p:sp>
        <p:nvSpPr>
          <p:cNvPr id="17" name="TextBox 16"/>
          <p:cNvSpPr txBox="1"/>
          <p:nvPr/>
        </p:nvSpPr>
        <p:spPr>
          <a:xfrm>
            <a:off x="7425785"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809833" y="5248656"/>
            <a:ext cx="1957387" cy="185166"/>
          </a:xfrm>
          <a:prstGeom prst="rect">
            <a:avLst/>
          </a:prstGeom>
          <a:noFill/>
        </p:spPr>
        <p:txBody>
          <a:bodyPr wrap="square" anchor="t" lIns="0" rIns="0" tIns="0" bIns="0">
            <a:spAutoFit/>
          </a:bodyPr>
          <a:lstStyle/>
          <a:p>
            <a:pPr algn="l"/>
            <a:r>
              <a:rPr sz="900" b="0" i="0">
                <a:solidFill>
                  <a:srgbClr val="FFFFFF"/>
                </a:solidFill>
                <a:latin typeface="Calibri"/>
              </a:rPr>
              <a:t>The discount, split by segment</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Real, or the usual wobble?</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72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Meera's three questions, in her words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Finance has reconciled the quarters, so the numbers are trusted; now she asks what they mean.</a:t>
            </a:r>
          </a:p>
        </p:txBody>
      </p:sp>
      <p:sp>
        <p:nvSpPr>
          <p:cNvPr id="9" name="Rounded Rectangle 8"/>
          <p:cNvSpPr/>
          <p:nvPr/>
        </p:nvSpPr>
        <p:spPr>
          <a:xfrm>
            <a:off x="530352" y="1956816"/>
            <a:ext cx="11130991" cy="163982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5481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65785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1200912"/>
          </a:xfrm>
          <a:prstGeom prst="rect">
            <a:avLst/>
          </a:prstGeom>
          <a:noFill/>
        </p:spPr>
        <p:txBody>
          <a:bodyPr wrap="square" anchor="t" lIns="0" rIns="0" tIns="0" bIns="0">
            <a:spAutoFit/>
          </a:bodyPr>
          <a:lstStyle/>
          <a:p>
            <a:r>
              <a:rPr sz="1500" b="0" i="0">
                <a:solidFill>
                  <a:srgbClr val="FFFFFF"/>
                </a:solidFill>
                <a:latin typeface="Calibri"/>
              </a:rPr>
              <a:t>"One: Retail-Plus is down, smaller than first reported. Real, or the wobble we see every quarter? Two: Student is up 40 percent; should I move budget there? Three: marketing ran a monsoon-sale discount for Retail-Plus in August, says it lifted revenue 6 percent, and wants to repeat it for Diwali. Did the discount work, or did those customers buy anyway?"</a:t>
            </a:r>
          </a:p>
        </p:txBody>
      </p:sp>
      <p:sp>
        <p:nvSpPr>
          <p:cNvPr id="14" name="TextBox 13"/>
          <p:cNvSpPr txBox="1"/>
          <p:nvPr/>
        </p:nvSpPr>
        <p:spPr>
          <a:xfrm>
            <a:off x="530352" y="3761232"/>
            <a:ext cx="2577007" cy="698500"/>
          </a:xfrm>
          <a:prstGeom prst="rect">
            <a:avLst/>
          </a:prstGeom>
          <a:noFill/>
        </p:spPr>
        <p:txBody>
          <a:bodyPr wrap="square" anchor="t" lIns="0" rIns="0" tIns="0" bIns="0">
            <a:spAutoFit/>
          </a:bodyPr>
          <a:lstStyle/>
          <a:p>
            <a:pPr algn="l"/>
            <a:r>
              <a:rPr sz="4400" b="0" i="0">
                <a:solidFill>
                  <a:srgbClr val="5B3FD6"/>
                </a:solidFill>
                <a:latin typeface="Georgia"/>
              </a:rPr>
              <a:t>3</a:t>
            </a:r>
          </a:p>
        </p:txBody>
      </p:sp>
      <p:sp>
        <p:nvSpPr>
          <p:cNvPr id="15" name="TextBox 14"/>
          <p:cNvSpPr txBox="1"/>
          <p:nvPr/>
        </p:nvSpPr>
        <p:spPr>
          <a:xfrm>
            <a:off x="530352" y="449630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QUESTIONS</a:t>
            </a:r>
          </a:p>
        </p:txBody>
      </p:sp>
      <p:sp>
        <p:nvSpPr>
          <p:cNvPr id="16" name="TextBox 15"/>
          <p:cNvSpPr txBox="1"/>
          <p:nvPr/>
        </p:nvSpPr>
        <p:spPr>
          <a:xfrm>
            <a:off x="530352" y="4697476"/>
            <a:ext cx="2577007" cy="193421"/>
          </a:xfrm>
          <a:prstGeom prst="rect">
            <a:avLst/>
          </a:prstGeom>
          <a:noFill/>
        </p:spPr>
        <p:txBody>
          <a:bodyPr wrap="square" anchor="t" lIns="0" rIns="0" tIns="0" bIns="0">
            <a:spAutoFit/>
          </a:bodyPr>
          <a:lstStyle/>
          <a:p>
            <a:pPr algn="l"/>
            <a:r>
              <a:rPr sz="950" b="0" i="0">
                <a:solidFill>
                  <a:srgbClr val="6B6690"/>
                </a:solidFill>
                <a:latin typeface="Calibri"/>
              </a:rPr>
              <a:t>before Monday's growth review</a:t>
            </a:r>
          </a:p>
        </p:txBody>
      </p:sp>
      <p:sp>
        <p:nvSpPr>
          <p:cNvPr id="17" name="Rectangle 16"/>
          <p:cNvSpPr/>
          <p:nvPr/>
        </p:nvSpPr>
        <p:spPr>
          <a:xfrm>
            <a:off x="530352" y="494995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81679" y="3761232"/>
            <a:ext cx="2577007" cy="698500"/>
          </a:xfrm>
          <a:prstGeom prst="rect">
            <a:avLst/>
          </a:prstGeom>
          <a:noFill/>
        </p:spPr>
        <p:txBody>
          <a:bodyPr wrap="square" anchor="t" lIns="0" rIns="0" tIns="0" bIns="0">
            <a:spAutoFit/>
          </a:bodyPr>
          <a:lstStyle/>
          <a:p>
            <a:pPr algn="l"/>
            <a:r>
              <a:rPr sz="4400" b="0" i="0">
                <a:solidFill>
                  <a:srgbClr val="5B3FD6"/>
                </a:solidFill>
                <a:latin typeface="Georgia"/>
              </a:rPr>
              <a:t>40%</a:t>
            </a:r>
          </a:p>
        </p:txBody>
      </p:sp>
      <p:sp>
        <p:nvSpPr>
          <p:cNvPr id="19" name="TextBox 18"/>
          <p:cNvSpPr txBox="1"/>
          <p:nvPr/>
        </p:nvSpPr>
        <p:spPr>
          <a:xfrm>
            <a:off x="3381679" y="449630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STUDENT'S RISE</a:t>
            </a:r>
          </a:p>
        </p:txBody>
      </p:sp>
      <p:sp>
        <p:nvSpPr>
          <p:cNvPr id="20" name="TextBox 19"/>
          <p:cNvSpPr txBox="1"/>
          <p:nvPr/>
        </p:nvSpPr>
        <p:spPr>
          <a:xfrm>
            <a:off x="3381679" y="4697476"/>
            <a:ext cx="2577007" cy="193421"/>
          </a:xfrm>
          <a:prstGeom prst="rect">
            <a:avLst/>
          </a:prstGeom>
          <a:noFill/>
        </p:spPr>
        <p:txBody>
          <a:bodyPr wrap="square" anchor="t" lIns="0" rIns="0" tIns="0" bIns="0">
            <a:spAutoFit/>
          </a:bodyPr>
          <a:lstStyle/>
          <a:p>
            <a:pPr algn="l"/>
            <a:r>
              <a:rPr sz="950" b="0" i="0">
                <a:solidFill>
                  <a:srgbClr val="6B6690"/>
                </a:solidFill>
                <a:latin typeface="Calibri"/>
              </a:rPr>
              <a:t>as Meera heard it</a:t>
            </a:r>
          </a:p>
        </p:txBody>
      </p:sp>
      <p:sp>
        <p:nvSpPr>
          <p:cNvPr id="21" name="Rectangle 20"/>
          <p:cNvSpPr/>
          <p:nvPr/>
        </p:nvSpPr>
        <p:spPr>
          <a:xfrm>
            <a:off x="3381679" y="494995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33007" y="3761232"/>
            <a:ext cx="2577007"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23" name="TextBox 22"/>
          <p:cNvSpPr txBox="1"/>
          <p:nvPr/>
        </p:nvSpPr>
        <p:spPr>
          <a:xfrm>
            <a:off x="6233007" y="449630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MARKETING'S LIFT</a:t>
            </a:r>
          </a:p>
        </p:txBody>
      </p:sp>
      <p:sp>
        <p:nvSpPr>
          <p:cNvPr id="24" name="TextBox 23"/>
          <p:cNvSpPr txBox="1"/>
          <p:nvPr/>
        </p:nvSpPr>
        <p:spPr>
          <a:xfrm>
            <a:off x="6233007" y="4697476"/>
            <a:ext cx="2577007" cy="193421"/>
          </a:xfrm>
          <a:prstGeom prst="rect">
            <a:avLst/>
          </a:prstGeom>
          <a:noFill/>
        </p:spPr>
        <p:txBody>
          <a:bodyPr wrap="square" anchor="t" lIns="0" rIns="0" tIns="0" bIns="0">
            <a:spAutoFit/>
          </a:bodyPr>
          <a:lstStyle/>
          <a:p>
            <a:pPr algn="l"/>
            <a:r>
              <a:rPr sz="950" b="0" i="0">
                <a:solidFill>
                  <a:srgbClr val="6B6690"/>
                </a:solidFill>
                <a:latin typeface="Calibri"/>
              </a:rPr>
              <a:t>the monsoon sale, as claimed</a:t>
            </a:r>
          </a:p>
        </p:txBody>
      </p:sp>
      <p:sp>
        <p:nvSpPr>
          <p:cNvPr id="25" name="Rectangle 24"/>
          <p:cNvSpPr/>
          <p:nvPr/>
        </p:nvSpPr>
        <p:spPr>
          <a:xfrm>
            <a:off x="6233007" y="494995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084335" y="3761232"/>
            <a:ext cx="2577007" cy="698500"/>
          </a:xfrm>
          <a:prstGeom prst="rect">
            <a:avLst/>
          </a:prstGeom>
          <a:noFill/>
        </p:spPr>
        <p:txBody>
          <a:bodyPr wrap="square" anchor="t" lIns="0" rIns="0" tIns="0" bIns="0">
            <a:spAutoFit/>
          </a:bodyPr>
          <a:lstStyle/>
          <a:p>
            <a:pPr algn="l"/>
            <a:r>
              <a:rPr sz="4400" b="0" i="0">
                <a:solidFill>
                  <a:srgbClr val="5B3FD6"/>
                </a:solidFill>
                <a:latin typeface="Georgia"/>
              </a:rPr>
              <a:t>1 page</a:t>
            </a:r>
          </a:p>
        </p:txBody>
      </p:sp>
      <p:sp>
        <p:nvSpPr>
          <p:cNvPr id="27" name="TextBox 26"/>
          <p:cNvSpPr txBox="1"/>
          <p:nvPr/>
        </p:nvSpPr>
        <p:spPr>
          <a:xfrm>
            <a:off x="9084335" y="449630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TWO MINUTES</a:t>
            </a:r>
          </a:p>
        </p:txBody>
      </p:sp>
      <p:sp>
        <p:nvSpPr>
          <p:cNvPr id="28" name="TextBox 27"/>
          <p:cNvSpPr txBox="1"/>
          <p:nvPr/>
        </p:nvSpPr>
        <p:spPr>
          <a:xfrm>
            <a:off x="9084335" y="4697476"/>
            <a:ext cx="2577007" cy="193421"/>
          </a:xfrm>
          <a:prstGeom prst="rect">
            <a:avLst/>
          </a:prstGeom>
          <a:noFill/>
        </p:spPr>
        <p:txBody>
          <a:bodyPr wrap="square" anchor="t" lIns="0" rIns="0" tIns="0" bIns="0">
            <a:spAutoFit/>
          </a:bodyPr>
          <a:lstStyle/>
          <a:p>
            <a:pPr algn="l"/>
            <a:r>
              <a:rPr sz="950" b="0" i="0">
                <a:solidFill>
                  <a:srgbClr val="6B6690"/>
                </a:solidFill>
                <a:latin typeface="Calibri"/>
              </a:rPr>
              <a:t>her constraint on the answer</a:t>
            </a:r>
          </a:p>
        </p:txBody>
      </p:sp>
      <p:sp>
        <p:nvSpPr>
          <p:cNvPr id="29" name="Rectangle 28"/>
          <p:cNvSpPr/>
          <p:nvPr/>
        </p:nvSpPr>
        <p:spPr>
          <a:xfrm>
            <a:off x="9084335" y="494995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32" name="Oval 3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4" name="Oval 3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6" name="Oval 3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8" name="Oval 3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habit does each question need?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questions look alike and need three different checks before any number goes in the note.</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5241779"/>
                <a:gridCol w="5889211"/>
              </a:tblGrid>
              <a:tr h="369824">
                <a:tc>
                  <a:txBody>
                    <a:bodyPr/>
                    <a:lstStyle/>
                    <a:p>
                      <a:r>
                        <a:rPr sz="1450" b="1" i="0">
                          <a:solidFill>
                            <a:srgbClr val="FFFFFF"/>
                          </a:solidFill>
                          <a:latin typeface="Calibri"/>
                        </a:rPr>
                        <a:t>Meera's question</a:t>
                      </a:r>
                    </a:p>
                  </a:txBody>
                  <a:tcPr marL="101600" marR="101600" marT="38100" marB="38100" anchor="ctr">
                    <a:solidFill>
                      <a:srgbClr val="1A0F5C"/>
                    </a:solidFill>
                  </a:tcPr>
                </a:tc>
                <a:tc>
                  <a:txBody>
                    <a:bodyPr/>
                    <a:lstStyle/>
                    <a:p>
                      <a:r>
                        <a:rPr sz="1450" b="1" i="0">
                          <a:solidFill>
                            <a:srgbClr val="FFFFFF"/>
                          </a:solidFill>
                          <a:latin typeface="Calibri"/>
                        </a:rPr>
                        <a:t>The claim inside it</a:t>
                      </a:r>
                    </a:p>
                  </a:txBody>
                  <a:tcPr marL="101600" marR="101600" marT="38100" marB="38100" anchor="ctr">
                    <a:solidFill>
                      <a:srgbClr val="1A0F5C"/>
                    </a:solidFill>
                  </a:tcPr>
                </a:tc>
              </a:tr>
              <a:tr h="369824">
                <a:tc>
                  <a:txBody>
                    <a:bodyPr/>
                    <a:lstStyle/>
                    <a:p>
                      <a:r>
                        <a:rPr sz="1400" b="0" i="0">
                          <a:solidFill>
                            <a:srgbClr val="1A1440"/>
                          </a:solidFill>
                          <a:latin typeface="Calibri"/>
                        </a:rPr>
                        <a:t>Is the Retail-Plus drop real?</a:t>
                      </a:r>
                    </a:p>
                  </a:txBody>
                  <a:tcPr marL="101600" marR="101600" marT="38100" marB="38100" anchor="ctr">
                    <a:solidFill>
                      <a:srgbClr val="FFFFFF"/>
                    </a:solidFill>
                  </a:tcPr>
                </a:tc>
                <a:tc>
                  <a:txBody>
                    <a:bodyPr/>
                    <a:lstStyle/>
                    <a:p>
                      <a:r>
                        <a:rPr sz="1400" b="0" i="0">
                          <a:solidFill>
                            <a:srgbClr val="1A1440"/>
                          </a:solidFill>
                          <a:latin typeface="Calibri"/>
                        </a:rPr>
                        <a:t>A gap between two quarters</a:t>
                      </a:r>
                    </a:p>
                  </a:txBody>
                  <a:tcPr marL="101600" marR="101600" marT="38100" marB="38100" anchor="ctr">
                    <a:solidFill>
                      <a:srgbClr val="FFFFFF"/>
                    </a:solidFill>
                  </a:tcPr>
                </a:tc>
              </a:tr>
              <a:tr h="369824">
                <a:tc>
                  <a:txBody>
                    <a:bodyPr/>
                    <a:lstStyle/>
                    <a:p>
                      <a:r>
                        <a:rPr sz="1400" b="0" i="0">
                          <a:solidFill>
                            <a:srgbClr val="1A1440"/>
                          </a:solidFill>
                          <a:latin typeface="Calibri"/>
                        </a:rPr>
                        <a:t>Should budget move to Student?</a:t>
                      </a:r>
                    </a:p>
                  </a:txBody>
                  <a:tcPr marL="101600" marR="101600" marT="38100" marB="38100" anchor="ctr">
                    <a:solidFill>
                      <a:srgbClr val="F4F2FA"/>
                    </a:solidFill>
                  </a:tcPr>
                </a:tc>
                <a:tc>
                  <a:txBody>
                    <a:bodyPr/>
                    <a:lstStyle/>
                    <a:p>
                      <a:r>
                        <a:rPr sz="1400" b="0" i="0">
                          <a:solidFill>
                            <a:srgbClr val="1A1440"/>
                          </a:solidFill>
                          <a:latin typeface="Calibri"/>
                        </a:rPr>
                        <a:t>A rate that rose 40 percent</a:t>
                      </a:r>
                    </a:p>
                  </a:txBody>
                  <a:tcPr marL="101600" marR="101600" marT="38100" marB="38100" anchor="ctr">
                    <a:solidFill>
                      <a:srgbClr val="F4F2FA"/>
                    </a:solidFill>
                  </a:tcPr>
                </a:tc>
              </a:tr>
              <a:tr h="369824">
                <a:tc>
                  <a:txBody>
                    <a:bodyPr/>
                    <a:lstStyle/>
                    <a:p>
                      <a:r>
                        <a:rPr sz="1400" b="0" i="0">
                          <a:solidFill>
                            <a:srgbClr val="1A1440"/>
                          </a:solidFill>
                          <a:latin typeface="Calibri"/>
                        </a:rPr>
                        <a:t>Did the discount work?</a:t>
                      </a:r>
                    </a:p>
                  </a:txBody>
                  <a:tcPr marL="101600" marR="101600" marT="38100" marB="38100" anchor="ctr">
                    <a:solidFill>
                      <a:srgbClr val="FFFFFF"/>
                    </a:solidFill>
                  </a:tcPr>
                </a:tc>
                <a:tc>
                  <a:txBody>
                    <a:bodyPr/>
                    <a:lstStyle/>
                    <a:p>
                      <a:r>
                        <a:rPr sz="1400" b="0" i="0">
                          <a:solidFill>
                            <a:srgbClr val="1A1440"/>
                          </a:solidFill>
                          <a:latin typeface="Calibri"/>
                        </a:rPr>
                        <a:t>Revenue that rose after a campaign</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pairing is right? a) all three need a bigger sample; b) chance for the first, the count behind the rate for the second, a fair comparison for the third; c) a significance test for all three; d) chance for the first two, and the campaign's own report for the third.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3 / 72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chance, the count, a fair comparison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question fails in its own way, so each gets its own check before it reaches the note.</a:t>
            </a:r>
          </a:p>
        </p:txBody>
      </p:sp>
      <p:pic>
        <p:nvPicPr>
          <p:cNvPr id="9" name="mermaid diagram" descr="d1fc255141dfee8d.png"/>
          <p:cNvPicPr>
            <a:picLocks noChangeAspect="1"/>
          </p:cNvPicPr>
          <p:nvPr/>
        </p:nvPicPr>
        <p:blipFill>
          <a:blip r:embed="rId5"/>
          <a:stretch>
            <a:fillRect/>
          </a:stretch>
        </p:blipFill>
        <p:spPr>
          <a:xfrm>
            <a:off x="3358140" y="1664208"/>
            <a:ext cx="5475414"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answer is b. Option d trusts the one party with a stake in the answer, and options a and c apply one tool to three different failures.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4 / 72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note Meera reads in two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Four parts, in order, and "not yet" is an answer when the evidence says so.</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Claim</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One sentence Meera can act on, with the number that carries it.</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Evidence</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number with its denominator, its window and how it was checked.</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Caveat</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would change the claim, said before anyone else says it.</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Action</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What to do next, and what it costs, including "wait and measure".</a:t>
            </a:r>
          </a:p>
        </p:txBody>
      </p:sp>
      <p:sp>
        <p:nvSpPr>
          <p:cNvPr id="30" name="Rounded Rectangle 29"/>
          <p:cNvSpPr/>
          <p:nvPr/>
        </p:nvSpPr>
        <p:spPr>
          <a:xfrm>
            <a:off x="530352" y="410362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58952" y="43063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mic_caee7398c80d.png"/>
          <p:cNvPicPr>
            <a:picLocks noChangeAspect="1"/>
          </p:cNvPicPr>
          <p:nvPr/>
        </p:nvPicPr>
        <p:blipFill>
          <a:blip r:embed="rId4"/>
          <a:stretch>
            <a:fillRect/>
          </a:stretch>
        </p:blipFill>
        <p:spPr>
          <a:xfrm>
            <a:off x="868680" y="4416044"/>
            <a:ext cx="237744" cy="237744"/>
          </a:xfrm>
          <a:prstGeom prst="rect">
            <a:avLst/>
          </a:prstGeom>
        </p:spPr>
      </p:pic>
      <p:sp>
        <p:nvSpPr>
          <p:cNvPr id="33" name="TextBox 32"/>
          <p:cNvSpPr txBox="1"/>
          <p:nvPr/>
        </p:nvSpPr>
        <p:spPr>
          <a:xfrm>
            <a:off x="1399031" y="42499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4" name="TextBox 33"/>
          <p:cNvSpPr txBox="1"/>
          <p:nvPr/>
        </p:nvSpPr>
        <p:spPr>
          <a:xfrm>
            <a:off x="1399031" y="4469384"/>
            <a:ext cx="9987991" cy="423672"/>
          </a:xfrm>
          <a:prstGeom prst="rect">
            <a:avLst/>
          </a:prstGeom>
          <a:noFill/>
        </p:spPr>
        <p:txBody>
          <a:bodyPr wrap="square" anchor="t" lIns="0" rIns="0" tIns="0" bIns="0">
            <a:spAutoFit/>
          </a:bodyPr>
          <a:lstStyle/>
          <a:p>
            <a:r>
              <a:rPr sz="1500" b="0" i="0">
                <a:solidFill>
                  <a:srgbClr val="1A1440"/>
                </a:solidFill>
                <a:latin typeface="Calibri"/>
              </a:rPr>
              <a:t>[S] Explain a finding to a non-technical stakeholder.</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37" name="Oval 3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9" name="Oval 3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41" name="Oval 4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43" name="Oval 4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5 / 72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the week has already settled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days of work stand behind today's numbers, so today inherits them rather than redoing them.</a:t>
            </a:r>
          </a:p>
        </p:txBody>
      </p:sp>
      <p:pic>
        <p:nvPicPr>
          <p:cNvPr id="9" name="mermaid diagram" descr="cb649dca84b1dd0b.png"/>
          <p:cNvPicPr>
            <a:picLocks noChangeAspect="1"/>
          </p:cNvPicPr>
          <p:nvPr/>
        </p:nvPicPr>
        <p:blipFill>
          <a:blip r:embed="rId5"/>
          <a:stretch>
            <a:fillRect/>
          </a:stretch>
        </p:blipFill>
        <p:spPr>
          <a:xfrm>
            <a:off x="780897" y="1956816"/>
            <a:ext cx="10629900" cy="1857375"/>
          </a:xfrm>
          <a:prstGeom prst="rect">
            <a:avLst/>
          </a:prstGeom>
        </p:spPr>
      </p:pic>
      <p:sp>
        <p:nvSpPr>
          <p:cNvPr id="10" name="TextBox 9"/>
          <p:cNvSpPr txBox="1"/>
          <p:nvPr/>
        </p:nvSpPr>
        <p:spPr>
          <a:xfrm>
            <a:off x="530352" y="3960495"/>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Today's file is Wednesday's cleaned two quarters, plus the Student segment's own orders and the campaigns table. Retail-Plus is Kalpa's membership tier, as Monday's domain story told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6 / 72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Real, or the usual wobble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Shuffle the quarter labels thousands of times and see how often chance alone makes a gap this large.</a:t>
            </a:r>
          </a:p>
        </p:txBody>
      </p:sp>
      <p:sp>
        <p:nvSpPr>
          <p:cNvPr id="10" name="Rounded Rectangle 9"/>
          <p:cNvSpPr/>
          <p:nvPr/>
        </p:nvSpPr>
        <p:spPr>
          <a:xfrm>
            <a:off x="731519"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Real, or the usual wobble</a:t>
            </a:r>
          </a:p>
        </p:txBody>
      </p:sp>
      <p:sp>
        <p:nvSpPr>
          <p:cNvPr id="11" name="Rounded Rectangle 10"/>
          <p:cNvSpPr/>
          <p:nvPr/>
        </p:nvSpPr>
        <p:spPr>
          <a:xfrm>
            <a:off x="2687407"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and worth acting on</a:t>
            </a:r>
          </a:p>
        </p:txBody>
      </p:sp>
      <p:sp>
        <p:nvSpPr>
          <p:cNvPr id="12" name="Rounded Rectangle 11"/>
          <p:cNvSpPr/>
          <p:nvPr/>
        </p:nvSpPr>
        <p:spPr>
          <a:xfrm>
            <a:off x="464329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count behind 40 percent</a:t>
            </a:r>
          </a:p>
        </p:txBody>
      </p:sp>
      <p:sp>
        <p:nvSpPr>
          <p:cNvPr id="13" name="Rounded Rectangle 12"/>
          <p:cNvSpPr/>
          <p:nvPr/>
        </p:nvSpPr>
        <p:spPr>
          <a:xfrm>
            <a:off x="6717613" y="5074920"/>
            <a:ext cx="214223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discount, split by segment</a:t>
            </a:r>
          </a:p>
        </p:txBody>
      </p:sp>
      <p:sp>
        <p:nvSpPr>
          <p:cNvPr id="14" name="Rounded Rectangle 13"/>
          <p:cNvSpPr/>
          <p:nvPr/>
        </p:nvSpPr>
        <p:spPr>
          <a:xfrm>
            <a:off x="8969581"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note that may say not yet</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real or the usual wobble</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7 / 72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is the Retail-Plus fall real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Meera's first question, the metric at stake, and what a wrong call costs before Monday.</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user_c13406686cbb.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Meera, the CEO</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She decides on Monday whether the tier's fall gets a budget of its own.</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hart-line_ded8d80bd4ff.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Revenue per member</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Delivered revenue per Retail-Plus member per quarter, Q1 against Q2.</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CALL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 budget spent on noise</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A wobble read as a real fall funds a fix for nothing, and a real fall read as wobble lets the tier drain.</a:t>
            </a:r>
          </a:p>
        </p:txBody>
      </p:sp>
      <p:sp>
        <p:nvSpPr>
          <p:cNvPr id="27" name="Oval 2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29" name="Oval 28"/>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1" name="Oval 30"/>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3" name="Oval 32"/>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5" name="Oval 34"/>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72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Booking.com reads every change against chance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company that runs thousands of tests a year learned that most changes do nothing at all.</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25,000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TESTS A YEAR</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Booking.com, as Stefan Thomke reported in HBR in 2020</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1,000+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RUNNING AT ONCE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at any point in time, the same source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9 in 10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IDEAS THAT WERE WRONG</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Thomke's account on HBR's podcast, 2019</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When most changes are noise, the first question about any move is how often chance alone makes one that size.</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6" name="Oval 25"/>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8" name="Oval 27"/>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0" name="Oval 29"/>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72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ask "is it real?"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option sized on this file: 44 member totals, one quarter against the other.</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2759583"/>
                <a:gridCol w="2481610"/>
                <a:gridCol w="1555035"/>
                <a:gridCol w="4334761"/>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What it touches</a:t>
                      </a:r>
                    </a:p>
                  </a:txBody>
                  <a:tcPr marL="101600" marR="101600" marT="38100" marB="38100" anchor="ctr">
                    <a:solidFill>
                      <a:srgbClr val="1A0F5C"/>
                    </a:solidFill>
                  </a:tcPr>
                </a:tc>
                <a:tc>
                  <a:txBody>
                    <a:bodyPr/>
                    <a:lstStyle/>
                    <a:p>
                      <a:r>
                        <a:rPr sz="1250" b="1" i="0">
                          <a:solidFill>
                            <a:srgbClr val="FFFFFF"/>
                          </a:solidFill>
                          <a:latin typeface="Calibri"/>
                        </a:rPr>
                        <a:t>Time here</a:t>
                      </a:r>
                    </a:p>
                  </a:txBody>
                  <a:tcPr marL="101600" marR="101600" marT="38100" marB="38100" anchor="ctr">
                    <a:solidFill>
                      <a:srgbClr val="1A0F5C"/>
                    </a:solidFill>
                  </a:tcPr>
                </a:tc>
                <a:tc>
                  <a:txBody>
                    <a:bodyPr/>
                    <a:lstStyle/>
                    <a:p>
                      <a:r>
                        <a:rPr sz="1250" b="1" i="0">
                          <a:solidFill>
                            <a:srgbClr val="FFFFFF"/>
                          </a:solidFill>
                          <a:latin typeface="Calibri"/>
                        </a:rPr>
                        <a:t>What it risks</a:t>
                      </a:r>
                    </a:p>
                  </a:txBody>
                  <a:tcPr marL="101600" marR="101600" marT="38100" marB="38100" anchor="ctr">
                    <a:solidFill>
                      <a:srgbClr val="1A0F5C"/>
                    </a:solidFill>
                  </a:tcPr>
                </a:tc>
              </a:tr>
              <a:tr h="335280">
                <a:tc>
                  <a:txBody>
                    <a:bodyPr/>
                    <a:lstStyle/>
                    <a:p>
                      <a:r>
                        <a:rPr sz="1200" b="0" i="0">
                          <a:solidFill>
                            <a:srgbClr val="1A1440"/>
                          </a:solidFill>
                          <a:latin typeface="Calibri"/>
                        </a:rPr>
                        <a:t>A. Shuffle test</a:t>
                      </a:r>
                    </a:p>
                  </a:txBody>
                  <a:tcPr marL="101600" marR="101600" marT="38100" marB="38100" anchor="ctr">
                    <a:solidFill>
                      <a:srgbClr val="FFFFFF"/>
                    </a:solidFill>
                  </a:tcPr>
                </a:tc>
                <a:tc>
                  <a:txBody>
                    <a:bodyPr/>
                    <a:lstStyle/>
                    <a:p>
                      <a:r>
                        <a:rPr sz="1200" b="0" i="0">
                          <a:solidFill>
                            <a:srgbClr val="1A1440"/>
                          </a:solidFill>
                          <a:latin typeface="Calibri"/>
                        </a:rPr>
                        <a:t>44 totals, 5,000 deals</a:t>
                      </a:r>
                    </a:p>
                  </a:txBody>
                  <a:tcPr marL="101600" marR="101600" marT="38100" marB="38100" anchor="ctr">
                    <a:solidFill>
                      <a:srgbClr val="FFFFFF"/>
                    </a:solidFill>
                  </a:tcPr>
                </a:tc>
                <a:tc>
                  <a:txBody>
                    <a:bodyPr/>
                    <a:lstStyle/>
                    <a:p>
                      <a:r>
                        <a:rPr sz="1200" b="0" i="0">
                          <a:solidFill>
                            <a:srgbClr val="1A1440"/>
                          </a:solidFill>
                          <a:latin typeface="Calibri"/>
                        </a:rPr>
                        <a:t>under a second</a:t>
                      </a:r>
                    </a:p>
                  </a:txBody>
                  <a:tcPr marL="101600" marR="101600" marT="38100" marB="38100" anchor="ctr">
                    <a:solidFill>
                      <a:srgbClr val="FFFFFF"/>
                    </a:solidFill>
                  </a:tcPr>
                </a:tc>
                <a:tc>
                  <a:txBody>
                    <a:bodyPr/>
                    <a:lstStyle/>
                    <a:p>
                      <a:r>
                        <a:rPr sz="1200" b="0" i="0">
                          <a:solidFill>
                            <a:srgbClr val="1A1440"/>
                          </a:solidFill>
                          <a:latin typeface="Calibri"/>
                        </a:rPr>
                        <a:t>a few thousandths between seeds</a:t>
                      </a:r>
                    </a:p>
                  </a:txBody>
                  <a:tcPr marL="101600" marR="101600" marT="38100" marB="38100" anchor="ctr">
                    <a:solidFill>
                      <a:srgbClr val="FFFFFF"/>
                    </a:solidFill>
                  </a:tcPr>
                </a:tc>
              </a:tr>
              <a:tr h="335280">
                <a:tc>
                  <a:txBody>
                    <a:bodyPr/>
                    <a:lstStyle/>
                    <a:p>
                      <a:r>
                        <a:rPr sz="1200" b="0" i="0">
                          <a:solidFill>
                            <a:srgbClr val="1A1440"/>
                          </a:solidFill>
                          <a:latin typeface="Calibri"/>
                        </a:rPr>
                        <a:t>B. Textbook two-sample test</a:t>
                      </a:r>
                    </a:p>
                  </a:txBody>
                  <a:tcPr marL="101600" marR="101600" marT="38100" marB="38100" anchor="ctr">
                    <a:solidFill>
                      <a:srgbClr val="F4F2FA"/>
                    </a:solidFill>
                  </a:tcPr>
                </a:tc>
                <a:tc>
                  <a:txBody>
                    <a:bodyPr/>
                    <a:lstStyle/>
                    <a:p>
                      <a:r>
                        <a:rPr sz="1200" b="0" i="0">
                          <a:solidFill>
                            <a:srgbClr val="1A1440"/>
                          </a:solidFill>
                          <a:latin typeface="Calibri"/>
                        </a:rPr>
                        <a:t>44 totals, one call</a:t>
                      </a:r>
                    </a:p>
                  </a:txBody>
                  <a:tcPr marL="101600" marR="101600" marT="38100" marB="38100" anchor="ctr">
                    <a:solidFill>
                      <a:srgbClr val="F4F2FA"/>
                    </a:solidFill>
                  </a:tcPr>
                </a:tc>
                <a:tc>
                  <a:txBody>
                    <a:bodyPr/>
                    <a:lstStyle/>
                    <a:p>
                      <a:r>
                        <a:rPr sz="1200" b="0" i="0">
                          <a:solidFill>
                            <a:srgbClr val="1A1440"/>
                          </a:solidFill>
                          <a:latin typeface="Calibri"/>
                        </a:rPr>
                        <a:t>instant</a:t>
                      </a:r>
                    </a:p>
                  </a:txBody>
                  <a:tcPr marL="101600" marR="101600" marT="38100" marB="38100" anchor="ctr">
                    <a:solidFill>
                      <a:srgbClr val="F4F2FA"/>
                    </a:solidFill>
                  </a:tcPr>
                </a:tc>
                <a:tc>
                  <a:txBody>
                    <a:bodyPr/>
                    <a:lstStyle/>
                    <a:p>
                      <a:r>
                        <a:rPr sz="1200" b="0" i="0">
                          <a:solidFill>
                            <a:srgbClr val="1A1440"/>
                          </a:solidFill>
                          <a:latin typeface="Calibri"/>
                        </a:rPr>
                        <a:t>assumes bell-shaped totals; 6 of 44 are zero</a:t>
                      </a:r>
                    </a:p>
                  </a:txBody>
                  <a:tcPr marL="101600" marR="101600" marT="38100" marB="38100" anchor="ctr">
                    <a:solidFill>
                      <a:srgbClr val="F4F2FA"/>
                    </a:solidFill>
                  </a:tcPr>
                </a:tc>
              </a:tr>
              <a:tr h="335280">
                <a:tc>
                  <a:txBody>
                    <a:bodyPr/>
                    <a:lstStyle/>
                    <a:p>
                      <a:r>
                        <a:rPr sz="1200" b="0" i="0">
                          <a:solidFill>
                            <a:srgbClr val="1A1440"/>
                          </a:solidFill>
                          <a:latin typeface="Calibri"/>
                        </a:rPr>
                        <a:t>C. Bootstrap interval</a:t>
                      </a:r>
                    </a:p>
                  </a:txBody>
                  <a:tcPr marL="101600" marR="101600" marT="38100" marB="38100" anchor="ctr">
                    <a:solidFill>
                      <a:srgbClr val="FFFFFF"/>
                    </a:solidFill>
                  </a:tcPr>
                </a:tc>
                <a:tc>
                  <a:txBody>
                    <a:bodyPr/>
                    <a:lstStyle/>
                    <a:p>
                      <a:r>
                        <a:rPr sz="1200" b="0" i="0">
                          <a:solidFill>
                            <a:srgbClr val="1A1440"/>
                          </a:solidFill>
                          <a:latin typeface="Calibri"/>
                        </a:rPr>
                        <a:t>44 totals, 5,000 redraws</a:t>
                      </a:r>
                    </a:p>
                  </a:txBody>
                  <a:tcPr marL="101600" marR="101600" marT="38100" marB="38100" anchor="ctr">
                    <a:solidFill>
                      <a:srgbClr val="FFFFFF"/>
                    </a:solidFill>
                  </a:tcPr>
                </a:tc>
                <a:tc>
                  <a:txBody>
                    <a:bodyPr/>
                    <a:lstStyle/>
                    <a:p>
                      <a:r>
                        <a:rPr sz="1200" b="0" i="0">
                          <a:solidFill>
                            <a:srgbClr val="1A1440"/>
                          </a:solidFill>
                          <a:latin typeface="Calibri"/>
                        </a:rPr>
                        <a:t>under a second</a:t>
                      </a:r>
                    </a:p>
                  </a:txBody>
                  <a:tcPr marL="101600" marR="101600" marT="38100" marB="38100" anchor="ctr">
                    <a:solidFill>
                      <a:srgbClr val="FFFFFF"/>
                    </a:solidFill>
                  </a:tcPr>
                </a:tc>
                <a:tc>
                  <a:txBody>
                    <a:bodyPr/>
                    <a:lstStyle/>
                    <a:p>
                      <a:r>
                        <a:rPr sz="1200" b="0" i="0">
                          <a:solidFill>
                            <a:srgbClr val="1A1440"/>
                          </a:solidFill>
                          <a:latin typeface="Calibri"/>
                        </a:rPr>
                        <a:t>says how big more than how rare</a:t>
                      </a:r>
                    </a:p>
                  </a:txBody>
                  <a:tcPr marL="101600" marR="101600" marT="38100" marB="38100" anchor="ctr">
                    <a:solidFill>
                      <a:srgbClr val="FFFFFF"/>
                    </a:solidFill>
                  </a:tcPr>
                </a:tc>
              </a:tr>
              <a:tr h="335280">
                <a:tc>
                  <a:txBody>
                    <a:bodyPr/>
                    <a:lstStyle/>
                    <a:p>
                      <a:r>
                        <a:rPr sz="1200" b="0" i="0">
                          <a:solidFill>
                            <a:srgbClr val="1A1440"/>
                          </a:solidFill>
                          <a:latin typeface="Calibri"/>
                        </a:rPr>
                        <a:t>D. Wait for Q3</a:t>
                      </a:r>
                    </a:p>
                  </a:txBody>
                  <a:tcPr marL="101600" marR="101600" marT="38100" marB="38100" anchor="ctr">
                    <a:solidFill>
                      <a:srgbClr val="F4F2FA"/>
                    </a:solidFill>
                  </a:tcPr>
                </a:tc>
                <a:tc>
                  <a:txBody>
                    <a:bodyPr/>
                    <a:lstStyle/>
                    <a:p>
                      <a:r>
                        <a:rPr sz="1200" b="0" i="0">
                          <a:solidFill>
                            <a:srgbClr val="1A1440"/>
                          </a:solidFill>
                          <a:latin typeface="Calibri"/>
                        </a:rPr>
                        <a:t>22 more member-quarters</a:t>
                      </a:r>
                    </a:p>
                  </a:txBody>
                  <a:tcPr marL="101600" marR="101600" marT="38100" marB="38100" anchor="ctr">
                    <a:solidFill>
                      <a:srgbClr val="F4F2FA"/>
                    </a:solidFill>
                  </a:tcPr>
                </a:tc>
                <a:tc>
                  <a:txBody>
                    <a:bodyPr/>
                    <a:lstStyle/>
                    <a:p>
                      <a:r>
                        <a:rPr sz="1200" b="0" i="0">
                          <a:solidFill>
                            <a:srgbClr val="1A1440"/>
                          </a:solidFill>
                          <a:latin typeface="Calibri"/>
                        </a:rPr>
                        <a:t>one quarter</a:t>
                      </a:r>
                    </a:p>
                  </a:txBody>
                  <a:tcPr marL="101600" marR="101600" marT="38100" marB="38100" anchor="ctr">
                    <a:solidFill>
                      <a:srgbClr val="F4F2FA"/>
                    </a:solidFill>
                  </a:tcPr>
                </a:tc>
                <a:tc>
                  <a:txBody>
                    <a:bodyPr/>
                    <a:lstStyle/>
                    <a:p>
                      <a:r>
                        <a:rPr sz="1200" b="0" i="0">
                          <a:solidFill>
                            <a:srgbClr val="1A1440"/>
                          </a:solidFill>
                          <a:latin typeface="Calibri"/>
                        </a:rPr>
                        <a:t>Monday passes with no answer</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2" name="Oval 1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4" name="Oval 1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6" name="Oval 1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8" name="Oval 1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72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call for Monday: the shuffle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It assumes nothing about shape and Meera can watch it done with ten cards.</a:t>
            </a:r>
          </a:p>
        </p:txBody>
      </p:sp>
      <p:pic>
        <p:nvPicPr>
          <p:cNvPr id="9" name="mermaid diagram" descr="3256b180cf30c56b.png"/>
          <p:cNvPicPr>
            <a:picLocks noChangeAspect="1"/>
          </p:cNvPicPr>
          <p:nvPr/>
        </p:nvPicPr>
        <p:blipFill>
          <a:blip r:embed="rId5"/>
          <a:stretch>
            <a:fillRect/>
          </a:stretch>
        </p:blipFill>
        <p:spPr>
          <a:xfrm>
            <a:off x="1433112" y="1664208"/>
            <a:ext cx="9325469" cy="3517391"/>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fact that would change the call. </a:t>
            </a:r>
            <a:r>
              <a:rPr sz="1500" b="0" i="0">
                <a:solidFill>
                  <a:srgbClr val="1A1440"/>
                </a:solidFill>
                <a:latin typeface="Calibri"/>
              </a:rPr>
              <a:t>Tens of thousands of members and a well-behaved metric, where the textbook call gives the same answer in one line.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72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chance reference: shuffle the labels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the quarter made no difference, the Q1 and Q2 labels are arbitrary, so mixing them changes nothing real.</a:t>
            </a:r>
          </a:p>
        </p:txBody>
      </p:sp>
      <p:pic>
        <p:nvPicPr>
          <p:cNvPr id="9" name="mermaid diagram" descr="42b3d7cefa4a0351.png"/>
          <p:cNvPicPr>
            <a:picLocks noChangeAspect="1"/>
          </p:cNvPicPr>
          <p:nvPr/>
        </p:nvPicPr>
        <p:blipFill>
          <a:blip r:embed="rId5"/>
          <a:stretch>
            <a:fillRect/>
          </a:stretch>
        </p:blipFill>
        <p:spPr>
          <a:xfrm>
            <a:off x="530352" y="1956816"/>
            <a:ext cx="11130991" cy="1545971"/>
          </a:xfrm>
          <a:prstGeom prst="rect">
            <a:avLst/>
          </a:prstGeom>
        </p:spPr>
      </p:pic>
      <p:sp>
        <p:nvSpPr>
          <p:cNvPr id="10" name="TextBox 9"/>
          <p:cNvSpPr txBox="1"/>
          <p:nvPr/>
        </p:nvSpPr>
        <p:spPr>
          <a:xfrm>
            <a:off x="530352" y="3649091"/>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That share has a name, the p-value, and it is only ever a share of chance-only worlds.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72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Ten cards, shuffled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members' Q1 spend and five members' Q2 spend, in rupees, invented for the table.</a:t>
            </a:r>
          </a:p>
        </p:txBody>
      </p:sp>
      <p:graphicFrame>
        <p:nvGraphicFramePr>
          <p:cNvPr id="9" name="Table 8"/>
          <p:cNvGraphicFramePr>
            <a:graphicFrameLocks noGrp="1"/>
          </p:cNvGraphicFramePr>
          <p:nvPr/>
        </p:nvGraphicFramePr>
        <p:xfrm>
          <a:off x="530352" y="1956816"/>
          <a:ext cx="11130988" cy="2346960"/>
        </p:xfrm>
        <a:graphic>
          <a:graphicData uri="http://schemas.openxmlformats.org/drawingml/2006/table">
            <a:tbl>
              <a:tblPr firstRow="0" bandRow="0">
                <a:tableStyleId>{2D5ABB26-0587-4C30-8999-92F81FD0307C}</a:tableStyleId>
              </a:tblPr>
              <a:tblGrid>
                <a:gridCol w="2782747"/>
                <a:gridCol w="2782747"/>
                <a:gridCol w="2782747"/>
                <a:gridCol w="2782747"/>
              </a:tblGrid>
              <a:tr h="335280">
                <a:tc>
                  <a:txBody>
                    <a:bodyPr/>
                    <a:lstStyle/>
                    <a:p>
                      <a:r>
                        <a:rPr sz="1250" b="1" i="0">
                          <a:solidFill>
                            <a:srgbClr val="FFFFFF"/>
                          </a:solidFill>
                          <a:latin typeface="Calibri"/>
                        </a:rPr>
                        <a:t>Card</a:t>
                      </a:r>
                    </a:p>
                  </a:txBody>
                  <a:tcPr marL="101600" marR="101600" marT="38100" marB="38100" anchor="ctr">
                    <a:solidFill>
                      <a:srgbClr val="1A0F5C"/>
                    </a:solidFill>
                  </a:tcPr>
                </a:tc>
                <a:tc>
                  <a:txBody>
                    <a:bodyPr/>
                    <a:lstStyle/>
                    <a:p>
                      <a:r>
                        <a:rPr sz="1250" b="1" i="0">
                          <a:solidFill>
                            <a:srgbClr val="FFFFFF"/>
                          </a:solidFill>
                          <a:latin typeface="Calibri"/>
                        </a:rPr>
                        <a:t>Q1, Rs</a:t>
                      </a:r>
                    </a:p>
                  </a:txBody>
                  <a:tcPr marL="101600" marR="101600" marT="38100" marB="38100" anchor="ctr">
                    <a:solidFill>
                      <a:srgbClr val="1A0F5C"/>
                    </a:solidFill>
                  </a:tcPr>
                </a:tc>
                <a:tc>
                  <a:txBody>
                    <a:bodyPr/>
                    <a:lstStyle/>
                    <a:p>
                      <a:r>
                        <a:rPr sz="1250" b="1" i="0">
                          <a:solidFill>
                            <a:srgbClr val="FFFFFF"/>
                          </a:solidFill>
                          <a:latin typeface="Calibri"/>
                        </a:rPr>
                        <a:t>Card</a:t>
                      </a:r>
                    </a:p>
                  </a:txBody>
                  <a:tcPr marL="101600" marR="101600" marT="38100" marB="38100" anchor="ctr">
                    <a:solidFill>
                      <a:srgbClr val="1A0F5C"/>
                    </a:solidFill>
                  </a:tcPr>
                </a:tc>
                <a:tc>
                  <a:txBody>
                    <a:bodyPr/>
                    <a:lstStyle/>
                    <a:p>
                      <a:r>
                        <a:rPr sz="1250" b="1" i="0">
                          <a:solidFill>
                            <a:srgbClr val="FFFFFF"/>
                          </a:solidFill>
                          <a:latin typeface="Calibri"/>
                        </a:rPr>
                        <a:t>Q2, Rs</a:t>
                      </a:r>
                    </a:p>
                  </a:txBody>
                  <a:tcPr marL="101600" marR="101600" marT="38100" marB="38100" anchor="ctr">
                    <a:solidFill>
                      <a:srgbClr val="1A0F5C"/>
                    </a:solidFill>
                  </a:tcPr>
                </a:tc>
              </a:tr>
              <a:tr h="335280">
                <a:tc>
                  <a:txBody>
                    <a:bodyPr/>
                    <a:lstStyle/>
                    <a:p>
                      <a:r>
                        <a:rPr sz="1200" b="0" i="0">
                          <a:solidFill>
                            <a:srgbClr val="1A1440"/>
                          </a:solidFill>
                          <a:latin typeface="Calibri"/>
                        </a:rPr>
                        <a:t>A</a:t>
                      </a:r>
                    </a:p>
                  </a:txBody>
                  <a:tcPr marL="101600" marR="101600" marT="38100" marB="38100" anchor="ctr">
                    <a:solidFill>
                      <a:srgbClr val="FFFFFF"/>
                    </a:solidFill>
                  </a:tcPr>
                </a:tc>
                <a:tc>
                  <a:txBody>
                    <a:bodyPr/>
                    <a:lstStyle/>
                    <a:p>
                      <a:r>
                        <a:rPr sz="1200" b="0" i="0">
                          <a:solidFill>
                            <a:srgbClr val="1A1440"/>
                          </a:solidFill>
                          <a:latin typeface="Calibri"/>
                        </a:rPr>
                        <a:t>3,400</a:t>
                      </a:r>
                    </a:p>
                  </a:txBody>
                  <a:tcPr marL="101600" marR="101600" marT="38100" marB="38100" anchor="ctr">
                    <a:solidFill>
                      <a:srgbClr val="FFFFFF"/>
                    </a:solidFill>
                  </a:tcPr>
                </a:tc>
                <a:tc>
                  <a:txBody>
                    <a:bodyPr/>
                    <a:lstStyle/>
                    <a:p>
                      <a:r>
                        <a:rPr sz="1200" b="0" i="0">
                          <a:solidFill>
                            <a:srgbClr val="1A1440"/>
                          </a:solidFill>
                          <a:latin typeface="Calibri"/>
                        </a:rPr>
                        <a:t>F</a:t>
                      </a:r>
                    </a:p>
                  </a:txBody>
                  <a:tcPr marL="101600" marR="101600" marT="38100" marB="38100" anchor="ctr">
                    <a:solidFill>
                      <a:srgbClr val="FFFFFF"/>
                    </a:solidFill>
                  </a:tcPr>
                </a:tc>
                <a:tc>
                  <a:txBody>
                    <a:bodyPr/>
                    <a:lstStyle/>
                    <a:p>
                      <a:r>
                        <a:rPr sz="1200" b="0" i="0">
                          <a:solidFill>
                            <a:srgbClr val="1A1440"/>
                          </a:solidFill>
                          <a:latin typeface="Calibri"/>
                        </a:rPr>
                        <a:t>2,200</a:t>
                      </a:r>
                    </a:p>
                  </a:txBody>
                  <a:tcPr marL="101600" marR="101600" marT="38100" marB="38100" anchor="ctr">
                    <a:solidFill>
                      <a:srgbClr val="FFFFFF"/>
                    </a:solidFill>
                  </a:tcPr>
                </a:tc>
              </a:tr>
              <a:tr h="335280">
                <a:tc>
                  <a:txBody>
                    <a:bodyPr/>
                    <a:lstStyle/>
                    <a:p>
                      <a:r>
                        <a:rPr sz="1200" b="0" i="0">
                          <a:solidFill>
                            <a:srgbClr val="1A1440"/>
                          </a:solidFill>
                          <a:latin typeface="Calibri"/>
                        </a:rPr>
                        <a:t>B</a:t>
                      </a:r>
                    </a:p>
                  </a:txBody>
                  <a:tcPr marL="101600" marR="101600" marT="38100" marB="38100" anchor="ctr">
                    <a:solidFill>
                      <a:srgbClr val="F4F2FA"/>
                    </a:solidFill>
                  </a:tcPr>
                </a:tc>
                <a:tc>
                  <a:txBody>
                    <a:bodyPr/>
                    <a:lstStyle/>
                    <a:p>
                      <a:r>
                        <a:rPr sz="1200" b="0" i="0">
                          <a:solidFill>
                            <a:srgbClr val="1A1440"/>
                          </a:solidFill>
                          <a:latin typeface="Calibri"/>
                        </a:rPr>
                        <a:t>2,900</a:t>
                      </a:r>
                    </a:p>
                  </a:txBody>
                  <a:tcPr marL="101600" marR="101600" marT="38100" marB="38100" anchor="ctr">
                    <a:solidFill>
                      <a:srgbClr val="F4F2FA"/>
                    </a:solidFill>
                  </a:tcPr>
                </a:tc>
                <a:tc>
                  <a:txBody>
                    <a:bodyPr/>
                    <a:lstStyle/>
                    <a:p>
                      <a:r>
                        <a:rPr sz="1200" b="0" i="0">
                          <a:solidFill>
                            <a:srgbClr val="1A1440"/>
                          </a:solidFill>
                          <a:latin typeface="Calibri"/>
                        </a:rPr>
                        <a:t>G</a:t>
                      </a:r>
                    </a:p>
                  </a:txBody>
                  <a:tcPr marL="101600" marR="101600" marT="38100" marB="38100" anchor="ctr">
                    <a:solidFill>
                      <a:srgbClr val="F4F2FA"/>
                    </a:solidFill>
                  </a:tcPr>
                </a:tc>
                <a:tc>
                  <a:txBody>
                    <a:bodyPr/>
                    <a:lstStyle/>
                    <a:p>
                      <a:r>
                        <a:rPr sz="1200" b="0" i="0">
                          <a:solidFill>
                            <a:srgbClr val="1A1440"/>
                          </a:solidFill>
                          <a:latin typeface="Calibri"/>
                        </a:rPr>
                        <a:t>3,100</a:t>
                      </a:r>
                    </a:p>
                  </a:txBody>
                  <a:tcPr marL="101600" marR="101600" marT="38100" marB="38100" anchor="ctr">
                    <a:solidFill>
                      <a:srgbClr val="F4F2FA"/>
                    </a:solidFill>
                  </a:tcPr>
                </a:tc>
              </a:tr>
              <a:tr h="335280">
                <a:tc>
                  <a:txBody>
                    <a:bodyPr/>
                    <a:lstStyle/>
                    <a:p>
                      <a:r>
                        <a:rPr sz="1200" b="0" i="0">
                          <a:solidFill>
                            <a:srgbClr val="1A1440"/>
                          </a:solidFill>
                          <a:latin typeface="Calibri"/>
                        </a:rPr>
                        <a:t>C</a:t>
                      </a:r>
                    </a:p>
                  </a:txBody>
                  <a:tcPr marL="101600" marR="101600" marT="38100" marB="38100" anchor="ctr">
                    <a:solidFill>
                      <a:srgbClr val="FFFFFF"/>
                    </a:solidFill>
                  </a:tcPr>
                </a:tc>
                <a:tc>
                  <a:txBody>
                    <a:bodyPr/>
                    <a:lstStyle/>
                    <a:p>
                      <a:r>
                        <a:rPr sz="1200" b="0" i="0">
                          <a:solidFill>
                            <a:srgbClr val="1A1440"/>
                          </a:solidFill>
                          <a:latin typeface="Calibri"/>
                        </a:rPr>
                        <a:t>4,100</a:t>
                      </a:r>
                    </a:p>
                  </a:txBody>
                  <a:tcPr marL="101600" marR="101600" marT="38100" marB="38100" anchor="ctr">
                    <a:solidFill>
                      <a:srgbClr val="FFFFFF"/>
                    </a:solidFill>
                  </a:tcPr>
                </a:tc>
                <a:tc>
                  <a:txBody>
                    <a:bodyPr/>
                    <a:lstStyle/>
                    <a:p>
                      <a:r>
                        <a:rPr sz="1200" b="0" i="0">
                          <a:solidFill>
                            <a:srgbClr val="1A1440"/>
                          </a:solidFill>
                          <a:latin typeface="Calibri"/>
                        </a:rPr>
                        <a:t>H</a:t>
                      </a:r>
                    </a:p>
                  </a:txBody>
                  <a:tcPr marL="101600" marR="101600" marT="38100" marB="38100" anchor="ctr">
                    <a:solidFill>
                      <a:srgbClr val="FFFFFF"/>
                    </a:solidFill>
                  </a:tcPr>
                </a:tc>
                <a:tc>
                  <a:txBody>
                    <a:bodyPr/>
                    <a:lstStyle/>
                    <a:p>
                      <a:r>
                        <a:rPr sz="1200" b="0" i="0">
                          <a:solidFill>
                            <a:srgbClr val="1A1440"/>
                          </a:solidFill>
                          <a:latin typeface="Calibri"/>
                        </a:rPr>
                        <a:t>1,900</a:t>
                      </a:r>
                    </a:p>
                  </a:txBody>
                  <a:tcPr marL="101600" marR="101600" marT="38100" marB="38100" anchor="ctr">
                    <a:solidFill>
                      <a:srgbClr val="FFFFFF"/>
                    </a:solidFill>
                  </a:tcPr>
                </a:tc>
              </a:tr>
              <a:tr h="335280">
                <a:tc>
                  <a:txBody>
                    <a:bodyPr/>
                    <a:lstStyle/>
                    <a:p>
                      <a:r>
                        <a:rPr sz="1200" b="0" i="0">
                          <a:solidFill>
                            <a:srgbClr val="1A1440"/>
                          </a:solidFill>
                          <a:latin typeface="Calibri"/>
                        </a:rPr>
                        <a:t>D</a:t>
                      </a:r>
                    </a:p>
                  </a:txBody>
                  <a:tcPr marL="101600" marR="101600" marT="38100" marB="38100" anchor="ctr">
                    <a:solidFill>
                      <a:srgbClr val="F4F2FA"/>
                    </a:solidFill>
                  </a:tcPr>
                </a:tc>
                <a:tc>
                  <a:txBody>
                    <a:bodyPr/>
                    <a:lstStyle/>
                    <a:p>
                      <a:r>
                        <a:rPr sz="1200" b="0" i="0">
                          <a:solidFill>
                            <a:srgbClr val="1A1440"/>
                          </a:solidFill>
                          <a:latin typeface="Calibri"/>
                        </a:rPr>
                        <a:t>2,500</a:t>
                      </a:r>
                    </a:p>
                  </a:txBody>
                  <a:tcPr marL="101600" marR="101600" marT="38100" marB="38100" anchor="ctr">
                    <a:solidFill>
                      <a:srgbClr val="F4F2FA"/>
                    </a:solidFill>
                  </a:tcPr>
                </a:tc>
                <a:tc>
                  <a:txBody>
                    <a:bodyPr/>
                    <a:lstStyle/>
                    <a:p>
                      <a:r>
                        <a:rPr sz="1200" b="0" i="0">
                          <a:solidFill>
                            <a:srgbClr val="1A1440"/>
                          </a:solidFill>
                          <a:latin typeface="Calibri"/>
                        </a:rPr>
                        <a:t>I</a:t>
                      </a:r>
                    </a:p>
                  </a:txBody>
                  <a:tcPr marL="101600" marR="101600" marT="38100" marB="38100" anchor="ctr">
                    <a:solidFill>
                      <a:srgbClr val="F4F2FA"/>
                    </a:solidFill>
                  </a:tcPr>
                </a:tc>
                <a:tc>
                  <a:txBody>
                    <a:bodyPr/>
                    <a:lstStyle/>
                    <a:p>
                      <a:r>
                        <a:rPr sz="1200" b="0" i="0">
                          <a:solidFill>
                            <a:srgbClr val="1A1440"/>
                          </a:solidFill>
                          <a:latin typeface="Calibri"/>
                        </a:rPr>
                        <a:t>2,700</a:t>
                      </a:r>
                    </a:p>
                  </a:txBody>
                  <a:tcPr marL="101600" marR="101600" marT="38100" marB="38100" anchor="ctr">
                    <a:solidFill>
                      <a:srgbClr val="F4F2FA"/>
                    </a:solidFill>
                  </a:tcPr>
                </a:tc>
              </a:tr>
              <a:tr h="335280">
                <a:tc>
                  <a:txBody>
                    <a:bodyPr/>
                    <a:lstStyle/>
                    <a:p>
                      <a:r>
                        <a:rPr sz="1200" b="0" i="0">
                          <a:solidFill>
                            <a:srgbClr val="1A1440"/>
                          </a:solidFill>
                          <a:latin typeface="Calibri"/>
                        </a:rPr>
                        <a:t>E</a:t>
                      </a:r>
                    </a:p>
                  </a:txBody>
                  <a:tcPr marL="101600" marR="101600" marT="38100" marB="38100" anchor="ctr">
                    <a:solidFill>
                      <a:srgbClr val="FFFFFF"/>
                    </a:solidFill>
                  </a:tcPr>
                </a:tc>
                <a:tc>
                  <a:txBody>
                    <a:bodyPr/>
                    <a:lstStyle/>
                    <a:p>
                      <a:r>
                        <a:rPr sz="1200" b="0" i="0">
                          <a:solidFill>
                            <a:srgbClr val="1A1440"/>
                          </a:solidFill>
                          <a:latin typeface="Calibri"/>
                        </a:rPr>
                        <a:t>3,800</a:t>
                      </a:r>
                    </a:p>
                  </a:txBody>
                  <a:tcPr marL="101600" marR="101600" marT="38100" marB="38100" anchor="ctr">
                    <a:solidFill>
                      <a:srgbClr val="FFFFFF"/>
                    </a:solidFill>
                  </a:tcPr>
                </a:tc>
                <a:tc>
                  <a:txBody>
                    <a:bodyPr/>
                    <a:lstStyle/>
                    <a:p>
                      <a:r>
                        <a:rPr sz="1200" b="0" i="0">
                          <a:solidFill>
                            <a:srgbClr val="1A1440"/>
                          </a:solidFill>
                          <a:latin typeface="Calibri"/>
                        </a:rPr>
                        <a:t>J</a:t>
                      </a:r>
                    </a:p>
                  </a:txBody>
                  <a:tcPr marL="101600" marR="101600" marT="38100" marB="38100" anchor="ctr">
                    <a:solidFill>
                      <a:srgbClr val="FFFFFF"/>
                    </a:solidFill>
                  </a:tcPr>
                </a:tc>
                <a:tc>
                  <a:txBody>
                    <a:bodyPr/>
                    <a:lstStyle/>
                    <a:p>
                      <a:r>
                        <a:rPr sz="1200" b="0" i="0">
                          <a:solidFill>
                            <a:srgbClr val="1A1440"/>
                          </a:solidFill>
                          <a:latin typeface="Calibri"/>
                        </a:rPr>
                        <a:t>2,400</a:t>
                      </a:r>
                    </a:p>
                  </a:txBody>
                  <a:tcPr marL="101600" marR="101600" marT="38100" marB="38100" anchor="ctr">
                    <a:solidFill>
                      <a:srgbClr val="FFFFFF"/>
                    </a:solidFill>
                  </a:tcPr>
                </a:tc>
              </a:tr>
              <a:tr h="335280">
                <a:tc>
                  <a:txBody>
                    <a:bodyPr/>
                    <a:lstStyle/>
                    <a:p>
                      <a:r>
                        <a:rPr sz="1200" b="1" i="0">
                          <a:solidFill>
                            <a:srgbClr val="1A1440"/>
                          </a:solidFill>
                          <a:latin typeface="Calibri"/>
                        </a:rPr>
                        <a:t>Mean</a:t>
                      </a:r>
                    </a:p>
                  </a:txBody>
                  <a:tcPr marL="101600" marR="101600" marT="38100" marB="38100" anchor="ctr">
                    <a:solidFill>
                      <a:srgbClr val="F4F2FA"/>
                    </a:solidFill>
                  </a:tcPr>
                </a:tc>
                <a:tc>
                  <a:txBody>
                    <a:bodyPr/>
                    <a:lstStyle/>
                    <a:p>
                      <a:r>
                        <a:rPr sz="1200" b="1" i="0">
                          <a:solidFill>
                            <a:srgbClr val="1A1440"/>
                          </a:solidFill>
                          <a:latin typeface="Calibri"/>
                        </a:rPr>
                        <a:t>3,340</a:t>
                      </a:r>
                    </a:p>
                  </a:txBody>
                  <a:tcPr marL="101600" marR="101600" marT="38100" marB="38100" anchor="ctr">
                    <a:solidFill>
                      <a:srgbClr val="F4F2FA"/>
                    </a:solidFill>
                  </a:tcPr>
                </a:tc>
                <a:tc>
                  <a:txBody>
                    <a:bodyPr/>
                    <a:lstStyle/>
                    <a:p>
                      <a:r>
                        <a:rPr sz="1200" b="1" i="0">
                          <a:solidFill>
                            <a:srgbClr val="1A1440"/>
                          </a:solidFill>
                          <a:latin typeface="Calibri"/>
                        </a:rPr>
                        <a:t>Mean</a:t>
                      </a:r>
                    </a:p>
                  </a:txBody>
                  <a:tcPr marL="101600" marR="101600" marT="38100" marB="38100" anchor="ctr">
                    <a:solidFill>
                      <a:srgbClr val="F4F2FA"/>
                    </a:solidFill>
                  </a:tcPr>
                </a:tc>
                <a:tc>
                  <a:txBody>
                    <a:bodyPr/>
                    <a:lstStyle/>
                    <a:p>
                      <a:r>
                        <a:rPr sz="1200" b="1" i="0">
                          <a:solidFill>
                            <a:srgbClr val="1A1440"/>
                          </a:solidFill>
                          <a:latin typeface="Calibri"/>
                        </a:rPr>
                        <a:t>2,460</a:t>
                      </a:r>
                    </a:p>
                  </a:txBody>
                  <a:tcPr marL="101600" marR="101600" marT="38100" marB="38100" anchor="ctr">
                    <a:solidFill>
                      <a:srgbClr val="F4F2FA"/>
                    </a:solidFill>
                  </a:tcPr>
                </a:tc>
              </a:tr>
            </a:tbl>
          </a:graphicData>
        </a:graphic>
      </p:graphicFrame>
      <p:sp>
        <p:nvSpPr>
          <p:cNvPr id="10" name="TextBox 9"/>
          <p:cNvSpPr txBox="1"/>
          <p:nvPr/>
        </p:nvSpPr>
        <p:spPr>
          <a:xfrm>
            <a:off x="530352" y="455980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real gap is Rs 880. Shuffle the ten cards, deal five to each pile, and write down the new gap. Ten shuffles per pair.</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72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is a gap of Rs 880 surprising?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room's shuffles are on the board, and the real gap sits among them.</a:t>
            </a:r>
          </a:p>
        </p:txBody>
      </p:sp>
      <p:pic>
        <p:nvPicPr>
          <p:cNvPr id="9" name="mermaid diagram" descr="764e5d2248ca752c.png"/>
          <p:cNvPicPr>
            <a:picLocks noChangeAspect="1"/>
          </p:cNvPicPr>
          <p:nvPr/>
        </p:nvPicPr>
        <p:blipFill>
          <a:blip r:embed="rId5"/>
          <a:stretch>
            <a:fillRect/>
          </a:stretch>
        </p:blipFill>
        <p:spPr>
          <a:xfrm>
            <a:off x="2845155" y="1664208"/>
            <a:ext cx="6501384"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One shuffle in ten reached Rs 880. What do you say? a) the gap is real, since 880 is large; b) chance makes 880 often, so it is noise; c) ten shuffles are too few to say, so run many more; d) nothing, since shuffling destroys the data.</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14 / 72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ten shuffles cannot measure a share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thousand shuffles by computer show 21 gaps at Rs 880 or more, a share of about 2 in 100.</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1,000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SHUFFLES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same ten cards, seeded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21</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GAPS OF RS 880 OR MORE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in chance-only worlds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0.021</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SHARE</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this is the p-value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Ten hand shuffles taught what a shuffle is; a thousand measure how rare the real gap is.</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6" name="Oval 25"/>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8" name="Oval 27"/>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0" name="Oval 29"/>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15 / 72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usual wobble, measured on Retail-Core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Retail-Core spent Rs 110 less per member in Q2, and 5,000 shuffles make gaps like that all the time.</a:t>
            </a:r>
          </a:p>
        </p:txBody>
      </p:sp>
      <p:pic>
        <p:nvPicPr>
          <p:cNvPr id="9" name="mermaid diagram" descr="94c8f87ef98acee3.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real gap is Rs 110 across 34 members. 1,724 of the 5,000 shuffles made a gap at least that large, a share of 0.34: an ordinary quarter.</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72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Retail-Plus, 5,000 shuffles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loop on the segment Meera asked about, run by the room before anyone says a number.</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measure</a:t>
            </a:r>
          </a:p>
        </p:txBody>
      </p:sp>
      <p:sp>
        <p:nvSpPr>
          <p:cNvPr id="14" name="TextBox 13"/>
          <p:cNvSpPr txBox="1"/>
          <p:nvPr/>
        </p:nvSpPr>
        <p:spPr>
          <a:xfrm>
            <a:off x="694944"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Delivered revenue per Retail-Plus member, Q1 and Q2, notebook 1, level 3.</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real gap</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Q1 mean less Q2 mean, printed in rupees before any shuffle runs.</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shuffles</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5,000, seed 2026, and the share at least as large as the real gap.</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The first draft</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One line to Meera on what your share means, written fast and kept.</a:t>
            </a:r>
          </a:p>
        </p:txBody>
      </p:sp>
      <p:sp>
        <p:nvSpPr>
          <p:cNvPr id="30" name="Oval 2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32" name="Oval 3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4" name="Oval 3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6" name="Oval 3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8" name="Oval 3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72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draft note, written in a hurry from the share the room has just computed.</a:t>
            </a:r>
          </a:p>
        </p:txBody>
      </p:sp>
      <p:pic>
        <p:nvPicPr>
          <p:cNvPr id="9" name="mermaid diagram" descr="fcd48ee92414177d.png"/>
          <p:cNvPicPr>
            <a:picLocks noChangeAspect="1"/>
          </p:cNvPicPr>
          <p:nvPr/>
        </p:nvPicPr>
        <p:blipFill>
          <a:blip r:embed="rId6"/>
          <a:stretch>
            <a:fillRect/>
          </a:stretch>
        </p:blipFill>
        <p:spPr>
          <a:xfrm>
            <a:off x="2152497" y="1956816"/>
            <a:ext cx="7886700" cy="2100262"/>
          </a:xfrm>
          <a:prstGeom prst="rect">
            <a:avLst/>
          </a:prstGeom>
        </p:spPr>
      </p:pic>
      <p:sp>
        <p:nvSpPr>
          <p:cNvPr id="10" name="Rounded Rectangle 9"/>
          <p:cNvSpPr/>
          <p:nvPr/>
        </p:nvSpPr>
        <p:spPr>
          <a:xfrm>
            <a:off x="530352" y="420338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53561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4645342"/>
            <a:ext cx="237744" cy="237744"/>
          </a:xfrm>
          <a:prstGeom prst="rect">
            <a:avLst/>
          </a:prstGeom>
        </p:spPr>
      </p:pic>
      <p:sp>
        <p:nvSpPr>
          <p:cNvPr id="13" name="TextBox 12"/>
          <p:cNvSpPr txBox="1"/>
          <p:nvPr/>
        </p:nvSpPr>
        <p:spPr>
          <a:xfrm>
            <a:off x="1399031" y="434968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569142"/>
            <a:ext cx="9987991" cy="682752"/>
          </a:xfrm>
          <a:prstGeom prst="rect">
            <a:avLst/>
          </a:prstGeom>
          <a:noFill/>
        </p:spPr>
        <p:txBody>
          <a:bodyPr wrap="square" anchor="t" lIns="0" rIns="0" tIns="0" bIns="0">
            <a:spAutoFit/>
          </a:bodyPr>
          <a:lstStyle/>
          <a:p>
            <a:r>
              <a:rPr sz="1500" b="0" i="0">
                <a:solidFill>
                  <a:srgbClr val="1A1440"/>
                </a:solidFill>
                <a:latin typeface="Calibri"/>
              </a:rPr>
              <a:t>"p = 0.03, so there is a 3% chance we are wrong about the drop" reads as precise, sounds like probability, and sends Meera into Monday certain.</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72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counted in a no-change world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shuffle assumed the quarter made no difference, so the share says nothing about being wrong.</a:t>
            </a:r>
          </a:p>
        </p:txBody>
      </p:sp>
      <p:pic>
        <p:nvPicPr>
          <p:cNvPr id="9" name="mermaid diagram" descr="753e3c4de34a7364.png"/>
          <p:cNvPicPr>
            <a:picLocks noChangeAspect="1"/>
          </p:cNvPicPr>
          <p:nvPr/>
        </p:nvPicPr>
        <p:blipFill>
          <a:blip r:embed="rId5"/>
          <a:stretch>
            <a:fillRect/>
          </a:stretch>
        </p:blipFill>
        <p:spPr>
          <a:xfrm>
            <a:off x="2578455" y="1664208"/>
            <a:ext cx="7034784"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One no-change segment came back at 0.005. Its note would say "a 0.5 percent chance we are wrong", and it would be wrong for certain.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19 / 72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the sentence that survives an audit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Say the share, the world it was counted in, and what it lets you conclude, in that order.</a:t>
            </a:r>
          </a:p>
        </p:txBody>
      </p:sp>
      <p:graphicFrame>
        <p:nvGraphicFramePr>
          <p:cNvPr id="9" name="Table 8"/>
          <p:cNvGraphicFramePr>
            <a:graphicFrameLocks noGrp="1"/>
          </p:cNvGraphicFramePr>
          <p:nvPr/>
        </p:nvGraphicFramePr>
        <p:xfrm>
          <a:off x="530352" y="1956816"/>
          <a:ext cx="11130990" cy="2204720"/>
        </p:xfrm>
        <a:graphic>
          <a:graphicData uri="http://schemas.openxmlformats.org/drawingml/2006/table">
            <a:tbl>
              <a:tblPr firstRow="0" bandRow="0">
                <a:tableStyleId>{2D5ABB26-0587-4C30-8999-92F81FD0307C}</a:tableStyleId>
              </a:tblPr>
              <a:tblGrid>
                <a:gridCol w="4321384"/>
                <a:gridCol w="6809606"/>
              </a:tblGrid>
              <a:tr h="369824">
                <a:tc>
                  <a:txBody>
                    <a:bodyPr/>
                    <a:lstStyle/>
                    <a:p>
                      <a:r>
                        <a:rPr sz="1450" b="1" i="0">
                          <a:solidFill>
                            <a:srgbClr val="FFFFFF"/>
                          </a:solidFill>
                          <a:latin typeface="Calibri"/>
                        </a:rPr>
                        <a:t>Draft</a:t>
                      </a:r>
                    </a:p>
                  </a:txBody>
                  <a:tcPr marL="101600" marR="101600" marT="38100" marB="38100" anchor="ctr">
                    <a:solidFill>
                      <a:srgbClr val="1A0F5C"/>
                    </a:solidFill>
                  </a:tcPr>
                </a:tc>
                <a:tc>
                  <a:txBody>
                    <a:bodyPr/>
                    <a:lstStyle/>
                    <a:p>
                      <a:r>
                        <a:rPr sz="1450" b="1" i="0">
                          <a:solidFill>
                            <a:srgbClr val="FFFFFF"/>
                          </a:solidFill>
                          <a:latin typeface="Calibri"/>
                        </a:rPr>
                        <a:t>Rewritten</a:t>
                      </a:r>
                    </a:p>
                  </a:txBody>
                  <a:tcPr marL="101600" marR="101600" marT="38100" marB="38100" anchor="ctr">
                    <a:solidFill>
                      <a:srgbClr val="1A0F5C"/>
                    </a:solidFill>
                  </a:tcPr>
                </a:tc>
              </a:tr>
              <a:tr h="611632">
                <a:tc>
                  <a:txBody>
                    <a:bodyPr/>
                    <a:lstStyle/>
                    <a:p>
                      <a:r>
                        <a:rPr sz="1400" b="0" i="0">
                          <a:solidFill>
                            <a:srgbClr val="1A1440"/>
                          </a:solidFill>
                          <a:latin typeface="Calibri"/>
                        </a:rPr>
                        <a:t>"There is a 3% chance we are wrong."</a:t>
                      </a:r>
                    </a:p>
                  </a:txBody>
                  <a:tcPr marL="101600" marR="101600" marT="38100" marB="38100" anchor="ctr">
                    <a:solidFill>
                      <a:srgbClr val="FFFFFF"/>
                    </a:solidFill>
                  </a:tcPr>
                </a:tc>
                <a:tc>
                  <a:txBody>
                    <a:bodyPr/>
                    <a:lstStyle/>
                    <a:p>
                      <a:r>
                        <a:rPr sz="1400" b="0" i="0">
                          <a:solidFill>
                            <a:srgbClr val="1A1440"/>
                          </a:solidFill>
                          <a:latin typeface="Calibri"/>
                        </a:rPr>
                        <a:t>"If nothing had changed between the quarters, a fall of Rs 1,110 per member or more would turn up in about 3 of every 100 shuffles."</a:t>
                      </a:r>
                    </a:p>
                  </a:txBody>
                  <a:tcPr marL="101600" marR="101600" marT="38100" marB="38100" anchor="ctr">
                    <a:solidFill>
                      <a:srgbClr val="FFFFFF"/>
                    </a:solidFill>
                  </a:tcPr>
                </a:tc>
              </a:tr>
              <a:tr h="611632">
                <a:tc>
                  <a:txBody>
                    <a:bodyPr/>
                    <a:lstStyle/>
                    <a:p>
                      <a:r>
                        <a:rPr sz="1400" b="0" i="0">
                          <a:solidFill>
                            <a:srgbClr val="1A1440"/>
                          </a:solidFill>
                          <a:latin typeface="Calibri"/>
                        </a:rPr>
                        <a:t>"The drop is 97 percent certain."</a:t>
                      </a:r>
                    </a:p>
                  </a:txBody>
                  <a:tcPr marL="101600" marR="101600" marT="38100" marB="38100" anchor="ctr">
                    <a:solidFill>
                      <a:srgbClr val="F4F2FA"/>
                    </a:solidFill>
                  </a:tcPr>
                </a:tc>
                <a:tc>
                  <a:txBody>
                    <a:bodyPr/>
                    <a:lstStyle/>
                    <a:p>
                      <a:r>
                        <a:rPr sz="1400" b="0" i="0">
                          <a:solidFill>
                            <a:srgbClr val="1A1440"/>
                          </a:solidFill>
                          <a:latin typeface="Calibri"/>
                        </a:rPr>
                        <a:t>"Chance alone rarely makes a fall this large, so we treat the drop as real."</a:t>
                      </a:r>
                    </a:p>
                  </a:txBody>
                  <a:tcPr marL="101600" marR="101600" marT="38100" marB="38100" anchor="ctr">
                    <a:solidFill>
                      <a:srgbClr val="F4F2FA"/>
                    </a:solidFill>
                  </a:tcPr>
                </a:tc>
              </a:tr>
              <a:tr h="611632">
                <a:tc>
                  <a:txBody>
                    <a:bodyPr/>
                    <a:lstStyle/>
                    <a:p>
                      <a:r>
                        <a:rPr sz="1400" b="0" i="0">
                          <a:solidFill>
                            <a:srgbClr val="1A1440"/>
                          </a:solidFill>
                          <a:latin typeface="Calibri"/>
                        </a:rPr>
                        <a:t>"p = 0.03, so it is significant."</a:t>
                      </a:r>
                    </a:p>
                  </a:txBody>
                  <a:tcPr marL="101600" marR="101600" marT="38100" marB="38100" anchor="ctr">
                    <a:solidFill>
                      <a:srgbClr val="FFFFFF"/>
                    </a:solidFill>
                  </a:tcPr>
                </a:tc>
                <a:tc>
                  <a:txBody>
                    <a:bodyPr/>
                    <a:lstStyle/>
                    <a:p>
                      <a:r>
                        <a:rPr sz="1400" b="0" i="0">
                          <a:solidFill>
                            <a:srgbClr val="1A1440"/>
                          </a:solidFill>
                          <a:latin typeface="Calibri"/>
                        </a:rPr>
                        <a:t>"The fall is larger than the usual wobble; its size is the next question."</a:t>
                      </a:r>
                    </a:p>
                  </a:txBody>
                  <a:tcPr marL="101600" marR="101600" marT="38100" marB="38100" anchor="ctr">
                    <a:solidFill>
                      <a:srgbClr val="FFFFFF"/>
                    </a:solidFill>
                  </a:tcPr>
                </a:tc>
              </a:tr>
            </a:tbl>
          </a:graphicData>
        </a:graphic>
      </p:graphicFrame>
      <p:sp>
        <p:nvSpPr>
          <p:cNvPr id="10" name="Rounded Rectangle 9"/>
          <p:cNvSpPr/>
          <p:nvPr/>
        </p:nvSpPr>
        <p:spPr>
          <a:xfrm>
            <a:off x="530352" y="4417568"/>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202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729988"/>
            <a:ext cx="237744" cy="237744"/>
          </a:xfrm>
          <a:prstGeom prst="rect">
            <a:avLst/>
          </a:prstGeom>
        </p:spPr>
      </p:pic>
      <p:sp>
        <p:nvSpPr>
          <p:cNvPr id="13" name="TextBox 12"/>
          <p:cNvSpPr txBox="1"/>
          <p:nvPr/>
        </p:nvSpPr>
        <p:spPr>
          <a:xfrm>
            <a:off x="1399031" y="45638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783328"/>
            <a:ext cx="9987991" cy="423672"/>
          </a:xfrm>
          <a:prstGeom prst="rect">
            <a:avLst/>
          </a:prstGeom>
          <a:noFill/>
        </p:spPr>
        <p:txBody>
          <a:bodyPr wrap="square" anchor="t" lIns="0" rIns="0" tIns="0" bIns="0">
            <a:spAutoFit/>
          </a:bodyPr>
          <a:lstStyle/>
          <a:p>
            <a:r>
              <a:rPr sz="1500" b="0" i="0">
                <a:solidFill>
                  <a:srgbClr val="1A1440"/>
                </a:solidFill>
                <a:latin typeface="Calibri"/>
              </a:rPr>
              <a:t>A p-value is a share of chance-only worlds; it is never the chance the finding is wrong.</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20 / 72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the textbook test agrees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library's two-sample test, named today and taught later, reaches the same verdict.</a:t>
            </a:r>
          </a:p>
        </p:txBody>
      </p:sp>
      <p:pic>
        <p:nvPicPr>
          <p:cNvPr id="9" name="mermaid diagram" descr="5a600586e9612e8e.png"/>
          <p:cNvPicPr>
            <a:picLocks noChangeAspect="1"/>
          </p:cNvPicPr>
          <p:nvPr/>
        </p:nvPicPr>
        <p:blipFill>
          <a:blip r:embed="rId5"/>
          <a:stretch>
            <a:fillRect/>
          </a:stretch>
        </p:blipFill>
        <p:spPr>
          <a:xfrm>
            <a:off x="2578455" y="1664208"/>
            <a:ext cx="7034784"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When to switch. </a:t>
            </a:r>
            <a:r>
              <a:rPr sz="1500" b="0" i="0">
                <a:solidFill>
                  <a:srgbClr val="1A1440"/>
                </a:solidFill>
                <a:latin typeface="Calibri"/>
              </a:rPr>
              <a:t>The textbook call for large, well-behaved data or a team standard; the shuffle for small or lumpy data, or when the reader needs to see how it was made.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21 / 72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chapter 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senior reads the sentence before the number, because the sentence is what Meera repeats.</a:t>
            </a:r>
          </a:p>
        </p:txBody>
      </p:sp>
      <p:pic>
        <p:nvPicPr>
          <p:cNvPr id="9" name="mermaid diagram" descr="5920b5f812dfb7bf.png"/>
          <p:cNvPicPr>
            <a:picLocks noChangeAspect="1"/>
          </p:cNvPicPr>
          <p:nvPr/>
        </p:nvPicPr>
        <p:blipFill>
          <a:blip r:embed="rId7"/>
          <a:stretch>
            <a:fillRect/>
          </a:stretch>
        </p:blipFill>
        <p:spPr>
          <a:xfrm>
            <a:off x="780897" y="1855756"/>
            <a:ext cx="10629900" cy="1357312"/>
          </a:xfrm>
          <a:prstGeom prst="rect">
            <a:avLst/>
          </a:prstGeom>
        </p:spPr>
      </p:pic>
      <p:sp>
        <p:nvSpPr>
          <p:cNvPr id="10" name="Rounded Rectangle 9"/>
          <p:cNvSpPr/>
          <p:nvPr/>
        </p:nvSpPr>
        <p:spPr>
          <a:xfrm>
            <a:off x="530352" y="33593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211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930872"/>
            <a:ext cx="237744" cy="237744"/>
          </a:xfrm>
          <a:prstGeom prst="rect">
            <a:avLst/>
          </a:prstGeom>
        </p:spPr>
      </p:pic>
      <p:sp>
        <p:nvSpPr>
          <p:cNvPr id="13" name="TextBox 12"/>
          <p:cNvSpPr txBox="1"/>
          <p:nvPr/>
        </p:nvSpPr>
        <p:spPr>
          <a:xfrm>
            <a:off x="1399031" y="35056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725132"/>
            <a:ext cx="9987991" cy="941832"/>
          </a:xfrm>
          <a:prstGeom prst="rect">
            <a:avLst/>
          </a:prstGeom>
          <a:noFill/>
        </p:spPr>
        <p:txBody>
          <a:bodyPr wrap="square" anchor="t" lIns="0" rIns="0" tIns="0" bIns="0">
            <a:spAutoFit/>
          </a:bodyPr>
          <a:lstStyle/>
          <a:p>
            <a:r>
              <a:rPr sz="1500" b="0" i="0">
                <a:solidFill>
                  <a:srgbClr val="1A1440"/>
                </a:solidFill>
                <a:latin typeface="Calibri"/>
              </a:rPr>
              <a:t>Retail-Core's third is the baseline, Retail-Plus's 0.03 is the gap against it, the textbook test agrees, and your sentence would still be true if the drop turned out to be a fluke. Now tell me how much money it is.</a:t>
            </a:r>
          </a:p>
        </p:txBody>
      </p:sp>
      <p:sp>
        <p:nvSpPr>
          <p:cNvPr id="15" name="Rounded Rectangle 14"/>
          <p:cNvSpPr/>
          <p:nvPr/>
        </p:nvSpPr>
        <p:spPr>
          <a:xfrm>
            <a:off x="530352" y="49047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2369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346668"/>
            <a:ext cx="237744" cy="237744"/>
          </a:xfrm>
          <a:prstGeom prst="rect">
            <a:avLst/>
          </a:prstGeom>
        </p:spPr>
      </p:pic>
      <p:sp>
        <p:nvSpPr>
          <p:cNvPr id="18" name="TextBox 17"/>
          <p:cNvSpPr txBox="1"/>
          <p:nvPr/>
        </p:nvSpPr>
        <p:spPr>
          <a:xfrm>
            <a:off x="1399031" y="50510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270468"/>
            <a:ext cx="9987991" cy="682752"/>
          </a:xfrm>
          <a:prstGeom prst="rect">
            <a:avLst/>
          </a:prstGeom>
          <a:noFill/>
        </p:spPr>
        <p:txBody>
          <a:bodyPr wrap="square" anchor="t" lIns="0" rIns="0" tIns="0" bIns="0">
            <a:spAutoFit/>
          </a:bodyPr>
          <a:lstStyle/>
          <a:p>
            <a:r>
              <a:rPr sz="1500" b="0" i="0">
                <a:solidFill>
                  <a:srgbClr val="1A1440"/>
                </a:solidFill>
                <a:latin typeface="Calibri"/>
              </a:rPr>
              <a:t>[S] What does p = 0.03 mean, and not mean? [S] How do you know whether a change in a metric is significant? [D] A shuffle test, a textbook test, or wait a quarter: which do you run for a CEO's Monday?</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or the usual wobble</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4" name="Oval 2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6" name="Oval 2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8" name="Oval 2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22 / 72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Real, and worth acting on</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A gap can beat chance and still be too small to spend on, so size it in rupees before ranking it.</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or the usual wobble</a:t>
            </a:r>
          </a:p>
        </p:txBody>
      </p:sp>
      <p:sp>
        <p:nvSpPr>
          <p:cNvPr id="11" name="Rounded Rectangle 10"/>
          <p:cNvSpPr/>
          <p:nvPr/>
        </p:nvSpPr>
        <p:spPr>
          <a:xfrm>
            <a:off x="2687407"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Real, and worth acting on</a:t>
            </a:r>
          </a:p>
        </p:txBody>
      </p:sp>
      <p:sp>
        <p:nvSpPr>
          <p:cNvPr id="12" name="Rounded Rectangle 11"/>
          <p:cNvSpPr/>
          <p:nvPr/>
        </p:nvSpPr>
        <p:spPr>
          <a:xfrm>
            <a:off x="464329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count behind 40 percent</a:t>
            </a:r>
          </a:p>
        </p:txBody>
      </p:sp>
      <p:sp>
        <p:nvSpPr>
          <p:cNvPr id="13" name="Rounded Rectangle 12"/>
          <p:cNvSpPr/>
          <p:nvPr/>
        </p:nvSpPr>
        <p:spPr>
          <a:xfrm>
            <a:off x="6717613" y="5074920"/>
            <a:ext cx="214223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discount, split by segment</a:t>
            </a:r>
          </a:p>
        </p:txBody>
      </p:sp>
      <p:sp>
        <p:nvSpPr>
          <p:cNvPr id="14" name="Rounded Rectangle 13"/>
          <p:cNvSpPr/>
          <p:nvPr/>
        </p:nvSpPr>
        <p:spPr>
          <a:xfrm>
            <a:off x="8969581"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note that may say not yet</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real or the usual wobble</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23 / 72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what does the tier get to fix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head of Retail-Plus wants a retention budget, and Meera has to weigh it against the quarter.</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"So my tier really is slipping. What do I get to fix it?" The head of Retail-Plus, before the growth review</a:t>
            </a:r>
          </a:p>
        </p:txBody>
      </p:sp>
      <p:pic>
        <p:nvPicPr>
          <p:cNvPr id="14" name="mermaid diagram" descr="753a63782f174b33.png"/>
          <p:cNvPicPr>
            <a:picLocks noChangeAspect="1"/>
          </p:cNvPicPr>
          <p:nvPr/>
        </p:nvPicPr>
        <p:blipFill>
          <a:blip r:embed="rId6"/>
          <a:stretch>
            <a:fillRect/>
          </a:stretch>
        </p:blipFill>
        <p:spPr>
          <a:xfrm>
            <a:off x="2152497" y="3243072"/>
            <a:ext cx="7886700" cy="1914525"/>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24 / 72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Microsoft Bing: the size in money decided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One small change was worth a fortune, and most changes were worth nothing, so size told them apart.</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12%</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 LIFT</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 change to how Bing showed ad headlines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$100M+</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 YEAR, US ALONE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Kohavi and Thomke, HBR, 2017</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 in 3</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EXPERIMENTS THAT HELPED</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Kohavi and others, Microsoft, 2009</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test that says "real" is the start of the question. The rupees, beside the cost, finish it.</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4" name="Oval 23"/>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26" name="Oval 25"/>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8" name="Oval 27"/>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0" name="Oval 29"/>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72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answer "worth acting 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Rank, size against the tier, size against the company and the cost, or read a range.</a:t>
            </a:r>
          </a:p>
        </p:txBody>
      </p:sp>
      <p:graphicFrame>
        <p:nvGraphicFramePr>
          <p:cNvPr id="9" name="Table 8"/>
          <p:cNvGraphicFramePr>
            <a:graphicFrameLocks noGrp="1"/>
          </p:cNvGraphicFramePr>
          <p:nvPr/>
        </p:nvGraphicFramePr>
        <p:xfrm>
          <a:off x="530352" y="1956816"/>
          <a:ext cx="11130990" cy="2574544"/>
        </p:xfrm>
        <a:graphic>
          <a:graphicData uri="http://schemas.openxmlformats.org/drawingml/2006/table">
            <a:tbl>
              <a:tblPr firstRow="0" bandRow="0">
                <a:tableStyleId>{2D5ABB26-0587-4C30-8999-92F81FD0307C}</a:tableStyleId>
              </a:tblPr>
              <a:tblGrid>
                <a:gridCol w="2384780"/>
                <a:gridCol w="4900620"/>
                <a:gridCol w="3845590"/>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What it does</a:t>
                      </a:r>
                    </a:p>
                  </a:txBody>
                  <a:tcPr marL="101600" marR="101600" marT="38100" marB="38100" anchor="ctr">
                    <a:solidFill>
                      <a:srgbClr val="1A0F5C"/>
                    </a:solidFill>
                  </a:tcPr>
                </a:tc>
                <a:tc>
                  <a:txBody>
                    <a:bodyPr/>
                    <a:lstStyle/>
                    <a:p>
                      <a:r>
                        <a:rPr sz="1450" b="1" i="0">
                          <a:solidFill>
                            <a:srgbClr val="FFFFFF"/>
                          </a:solidFill>
                          <a:latin typeface="Calibri"/>
                        </a:rPr>
                        <a:t>What it risks</a:t>
                      </a:r>
                    </a:p>
                  </a:txBody>
                  <a:tcPr marL="101600" marR="101600" marT="38100" marB="38100" anchor="ctr">
                    <a:solidFill>
                      <a:srgbClr val="1A0F5C"/>
                    </a:solidFill>
                  </a:tcPr>
                </a:tc>
              </a:tr>
              <a:tr h="611632">
                <a:tc>
                  <a:txBody>
                    <a:bodyPr/>
                    <a:lstStyle/>
                    <a:p>
                      <a:r>
                        <a:rPr sz="1400" b="0" i="0">
                          <a:solidFill>
                            <a:srgbClr val="1A1440"/>
                          </a:solidFill>
                          <a:latin typeface="Calibri"/>
                        </a:rPr>
                        <a:t>A. Rank by p-value</a:t>
                      </a:r>
                    </a:p>
                  </a:txBody>
                  <a:tcPr marL="101600" marR="101600" marT="38100" marB="38100" anchor="ctr">
                    <a:solidFill>
                      <a:srgbClr val="FFFFFF"/>
                    </a:solidFill>
                  </a:tcPr>
                </a:tc>
                <a:tc>
                  <a:txBody>
                    <a:bodyPr/>
                    <a:lstStyle/>
                    <a:p>
                      <a:r>
                        <a:rPr sz="1400" b="0" i="0">
                          <a:solidFill>
                            <a:srgbClr val="1A1440"/>
                          </a:solidFill>
                          <a:latin typeface="Calibri"/>
                        </a:rPr>
                        <a:t>Fix the smallest share first</a:t>
                      </a:r>
                    </a:p>
                  </a:txBody>
                  <a:tcPr marL="101600" marR="101600" marT="38100" marB="38100" anchor="ctr">
                    <a:solidFill>
                      <a:srgbClr val="FFFFFF"/>
                    </a:solidFill>
                  </a:tcPr>
                </a:tc>
                <a:tc>
                  <a:txBody>
                    <a:bodyPr/>
                    <a:lstStyle/>
                    <a:p>
                      <a:r>
                        <a:rPr sz="1400" b="0" i="0">
                          <a:solidFill>
                            <a:srgbClr val="1A1440"/>
                          </a:solidFill>
                          <a:latin typeface="Calibri"/>
                        </a:rPr>
                        <a:t>Ranks a Rs 24,420 fall above a Rs 6 lakh move</a:t>
                      </a:r>
                    </a:p>
                  </a:txBody>
                  <a:tcPr marL="101600" marR="101600" marT="38100" marB="38100" anchor="ctr">
                    <a:solidFill>
                      <a:srgbClr val="FFFFFF"/>
                    </a:solidFill>
                  </a:tcPr>
                </a:tc>
              </a:tr>
              <a:tr h="611632">
                <a:tc>
                  <a:txBody>
                    <a:bodyPr/>
                    <a:lstStyle/>
                    <a:p>
                      <a:r>
                        <a:rPr sz="1400" b="0" i="0">
                          <a:solidFill>
                            <a:srgbClr val="1A1440"/>
                          </a:solidFill>
                          <a:latin typeface="Calibri"/>
                        </a:rPr>
                        <a:t>B. Against the segment</a:t>
                      </a:r>
                    </a:p>
                  </a:txBody>
                  <a:tcPr marL="101600" marR="101600" marT="38100" marB="38100" anchor="ctr">
                    <a:solidFill>
                      <a:srgbClr val="F4F2FA"/>
                    </a:solidFill>
                  </a:tcPr>
                </a:tc>
                <a:tc>
                  <a:txBody>
                    <a:bodyPr/>
                    <a:lstStyle/>
                    <a:p>
                      <a:r>
                        <a:rPr sz="1400" b="0" i="0">
                          <a:solidFill>
                            <a:srgbClr val="1A1440"/>
                          </a:solidFill>
                          <a:latin typeface="Calibri"/>
                        </a:rPr>
                        <a:t>The fall as a share of the tier</a:t>
                      </a:r>
                    </a:p>
                  </a:txBody>
                  <a:tcPr marL="101600" marR="101600" marT="38100" marB="38100" anchor="ctr">
                    <a:solidFill>
                      <a:srgbClr val="F4F2FA"/>
                    </a:solidFill>
                  </a:tcPr>
                </a:tc>
                <a:tc>
                  <a:txBody>
                    <a:bodyPr/>
                    <a:lstStyle/>
                    <a:p>
                      <a:r>
                        <a:rPr sz="1400" b="0" i="0">
                          <a:solidFill>
                            <a:srgbClr val="1A1440"/>
                          </a:solidFill>
                          <a:latin typeface="Calibri"/>
                        </a:rPr>
                        <a:t>A third of a small tier reads as a crisis</a:t>
                      </a:r>
                    </a:p>
                  </a:txBody>
                  <a:tcPr marL="101600" marR="101600" marT="38100" marB="38100" anchor="ctr">
                    <a:solidFill>
                      <a:srgbClr val="F4F2FA"/>
                    </a:solidFill>
                  </a:tcPr>
                </a:tc>
              </a:tr>
              <a:tr h="611632">
                <a:tc>
                  <a:txBody>
                    <a:bodyPr/>
                    <a:lstStyle/>
                    <a:p>
                      <a:r>
                        <a:rPr sz="1400" b="0" i="0">
                          <a:solidFill>
                            <a:srgbClr val="1A1440"/>
                          </a:solidFill>
                          <a:latin typeface="Calibri"/>
                        </a:rPr>
                        <a:t>C. Against company and cost</a:t>
                      </a:r>
                    </a:p>
                  </a:txBody>
                  <a:tcPr marL="101600" marR="101600" marT="38100" marB="38100" anchor="ctr">
                    <a:solidFill>
                      <a:srgbClr val="FFFFFF"/>
                    </a:solidFill>
                  </a:tcPr>
                </a:tc>
                <a:tc>
                  <a:txBody>
                    <a:bodyPr/>
                    <a:lstStyle/>
                    <a:p>
                      <a:r>
                        <a:rPr sz="1400" b="0" i="0">
                          <a:solidFill>
                            <a:srgbClr val="1A1440"/>
                          </a:solidFill>
                          <a:latin typeface="Calibri"/>
                        </a:rPr>
                        <a:t>Rupees beside the quarter and the offer, with a break-even</a:t>
                      </a:r>
                    </a:p>
                  </a:txBody>
                  <a:tcPr marL="101600" marR="101600" marT="38100" marB="38100" anchor="ctr">
                    <a:solidFill>
                      <a:srgbClr val="FFFFFF"/>
                    </a:solidFill>
                  </a:tcPr>
                </a:tc>
                <a:tc>
                  <a:txBody>
                    <a:bodyPr/>
                    <a:lstStyle/>
                    <a:p>
                      <a:r>
                        <a:rPr sz="1400" b="0" i="0">
                          <a:solidFill>
                            <a:srgbClr val="1A1440"/>
                          </a:solidFill>
                          <a:latin typeface="Calibri"/>
                        </a:rPr>
                        <a:t>Needs a cost; today's is assumed</a:t>
                      </a:r>
                    </a:p>
                  </a:txBody>
                  <a:tcPr marL="101600" marR="101600" marT="38100" marB="38100" anchor="ctr">
                    <a:solidFill>
                      <a:srgbClr val="FFFFFF"/>
                    </a:solidFill>
                  </a:tcPr>
                </a:tc>
              </a:tr>
              <a:tr h="369824">
                <a:tc>
                  <a:txBody>
                    <a:bodyPr/>
                    <a:lstStyle/>
                    <a:p>
                      <a:r>
                        <a:rPr sz="1400" b="0" i="0">
                          <a:solidFill>
                            <a:srgbClr val="1A1440"/>
                          </a:solidFill>
                          <a:latin typeface="Calibri"/>
                        </a:rPr>
                        <a:t>D. Bootstrap range</a:t>
                      </a:r>
                    </a:p>
                  </a:txBody>
                  <a:tcPr marL="101600" marR="101600" marT="38100" marB="38100" anchor="ctr">
                    <a:solidFill>
                      <a:srgbClr val="F4F2FA"/>
                    </a:solidFill>
                  </a:tcPr>
                </a:tc>
                <a:tc>
                  <a:txBody>
                    <a:bodyPr/>
                    <a:lstStyle/>
                    <a:p>
                      <a:r>
                        <a:rPr sz="1400" b="0" i="0">
                          <a:solidFill>
                            <a:srgbClr val="1A1440"/>
                          </a:solidFill>
                          <a:latin typeface="Calibri"/>
                        </a:rPr>
                        <a:t>How small or large the fall could be</a:t>
                      </a:r>
                    </a:p>
                  </a:txBody>
                  <a:tcPr marL="101600" marR="101600" marT="38100" marB="38100" anchor="ctr">
                    <a:solidFill>
                      <a:srgbClr val="F4F2FA"/>
                    </a:solidFill>
                  </a:tcPr>
                </a:tc>
                <a:tc>
                  <a:txBody>
                    <a:bodyPr/>
                    <a:lstStyle/>
                    <a:p>
                      <a:r>
                        <a:rPr sz="1400" b="0" i="0">
                          <a:solidFill>
                            <a:srgbClr val="1A1440"/>
                          </a:solidFill>
                          <a:latin typeface="Calibri"/>
                        </a:rPr>
                        <a:t>A stakeholder has to read a range</a:t>
                      </a:r>
                    </a:p>
                  </a:txBody>
                  <a:tcPr marL="101600" marR="101600" marT="38100" marB="38100" anchor="ctr">
                    <a:solidFill>
                      <a:srgbClr val="F4F2FA"/>
                    </a:solidFill>
                  </a:tcPr>
                </a:tc>
              </a:tr>
            </a:tbl>
          </a:graphicData>
        </a:graphic>
      </p:graphicFrame>
      <p:sp>
        <p:nvSpPr>
          <p:cNvPr id="10" name="Rounded Rectangle 9"/>
          <p:cNvSpPr/>
          <p:nvPr/>
        </p:nvSpPr>
        <p:spPr>
          <a:xfrm>
            <a:off x="530352" y="478739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91540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906264"/>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 with D as the second route. </a:t>
            </a:r>
            <a:r>
              <a:rPr sz="1500" b="1" i="0">
                <a:solidFill>
                  <a:srgbClr val="1A1440"/>
                </a:solidFill>
                <a:latin typeface="Calibri"/>
              </a:rPr>
              <a:t>What would change it.</a:t>
            </a:r>
            <a:r>
              <a:rPr sz="1500" b="0" i="0">
                <a:solidFill>
                  <a:srgbClr val="1A1440"/>
                </a:solidFill>
                <a:latin typeface="Calibri"/>
              </a:rPr>
              <a:t> A recovery rate from a past retention offer, which lets C decide alone.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72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Real and important are two different axes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finding lands in one of four boxes, and only one box earns a budget line on Monday.</a:t>
            </a:r>
          </a:p>
        </p:txBody>
      </p:sp>
      <p:pic>
        <p:nvPicPr>
          <p:cNvPr id="9" name="mermaid diagram" descr="9dced317c31e6324.png"/>
          <p:cNvPicPr>
            <a:picLocks noChangeAspect="1"/>
          </p:cNvPicPr>
          <p:nvPr/>
        </p:nvPicPr>
        <p:blipFill>
          <a:blip r:embed="rId5"/>
          <a:stretch>
            <a:fillRect/>
          </a:stretch>
        </p:blipFill>
        <p:spPr>
          <a:xfrm>
            <a:off x="664947" y="1682496"/>
            <a:ext cx="4517136" cy="4517136"/>
          </a:xfrm>
          <a:prstGeom prst="rect">
            <a:avLst/>
          </a:prstGeom>
        </p:spPr>
      </p:pic>
      <p:sp>
        <p:nvSpPr>
          <p:cNvPr id="10" name="TextBox 9"/>
          <p:cNvSpPr txBox="1"/>
          <p:nvPr/>
        </p:nvSpPr>
        <p:spPr>
          <a:xfrm>
            <a:off x="5761917" y="1956816"/>
            <a:ext cx="5899425"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finding can beat chance and sit in the bottom right. A large gap on few members can sit top left.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72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ranked by share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draft ranks Retail-Plus first because its share is the smallest on the page.</a:t>
            </a:r>
          </a:p>
        </p:txBody>
      </p:sp>
      <p:pic>
        <p:nvPicPr>
          <p:cNvPr id="9" name="mermaid diagram" descr="d45ce03da07b7870.png"/>
          <p:cNvPicPr>
            <a:picLocks noChangeAspect="1"/>
          </p:cNvPicPr>
          <p:nvPr/>
        </p:nvPicPr>
        <p:blipFill>
          <a:blip r:embed="rId6"/>
          <a:stretch>
            <a:fillRect/>
          </a:stretch>
        </p:blipFill>
        <p:spPr>
          <a:xfrm>
            <a:off x="2152497" y="1956816"/>
            <a:ext cx="7886700" cy="2357437"/>
          </a:xfrm>
          <a:prstGeom prst="rect">
            <a:avLst/>
          </a:prstGeom>
        </p:spPr>
      </p:pic>
      <p:sp>
        <p:nvSpPr>
          <p:cNvPr id="10" name="Rounded Rectangle 9"/>
          <p:cNvSpPr/>
          <p:nvPr/>
        </p:nvSpPr>
        <p:spPr>
          <a:xfrm>
            <a:off x="530352" y="4460557"/>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6324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4772977"/>
            <a:ext cx="237744" cy="237744"/>
          </a:xfrm>
          <a:prstGeom prst="rect">
            <a:avLst/>
          </a:prstGeom>
        </p:spPr>
      </p:pic>
      <p:sp>
        <p:nvSpPr>
          <p:cNvPr id="13" name="TextBox 12"/>
          <p:cNvSpPr txBox="1"/>
          <p:nvPr/>
        </p:nvSpPr>
        <p:spPr>
          <a:xfrm>
            <a:off x="1399031" y="460686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826317"/>
            <a:ext cx="9987991" cy="423672"/>
          </a:xfrm>
          <a:prstGeom prst="rect">
            <a:avLst/>
          </a:prstGeom>
          <a:noFill/>
        </p:spPr>
        <p:txBody>
          <a:bodyPr wrap="square" anchor="t" lIns="0" rIns="0" tIns="0" bIns="0">
            <a:spAutoFit/>
          </a:bodyPr>
          <a:lstStyle/>
          <a:p>
            <a:r>
              <a:rPr sz="1500" b="0" i="0">
                <a:solidFill>
                  <a:srgbClr val="1A1440"/>
                </a:solidFill>
                <a:latin typeface="Calibri"/>
              </a:rPr>
              <a:t>"Significant" becomes "big", and the smallest share becomes the first budget line.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72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big samples make tiny gaps real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With enough orders, chance never makes even a trivial gap, so a small share can carry a tiny finding.</a:t>
            </a:r>
          </a:p>
        </p:txBody>
      </p:sp>
      <p:pic>
        <p:nvPicPr>
          <p:cNvPr id="9" name="mermaid diagram" descr="5f60c0da8c52a44c.png"/>
          <p:cNvPicPr>
            <a:picLocks noChangeAspect="1"/>
          </p:cNvPicPr>
          <p:nvPr/>
        </p:nvPicPr>
        <p:blipFill>
          <a:blip r:embed="rId5"/>
          <a:stretch>
            <a:fillRect/>
          </a:stretch>
        </p:blipFill>
        <p:spPr>
          <a:xfrm>
            <a:off x="2578455" y="1664208"/>
            <a:ext cx="7034784"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Put the rupees beside the share: Retail-Plus fell Rs 24,420 in the quarter while Business moved Rs 6,18,460.</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72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check: the gap in rupees, three ways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Per member, for the whole segment, and as a share of the company's quarter.</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PER MEMBER</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gap</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Q1 mean less Q2 mean: Rs 1,110 of delivered revenue.</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SEGMENT</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Times members</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Rs 1,110 times 22 members is Rs 24,420 a quarter, a third of the tier.</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COMPANY</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Against the quarter</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Rs 24,420 over Rs 1,28,64,680 is 0.19 percent.</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DECISION</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Against the cost</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The fall a quarter against what the fix costs a quarter.</a:t>
            </a:r>
          </a:p>
        </p:txBody>
      </p:sp>
      <p:sp>
        <p:nvSpPr>
          <p:cNvPr id="30" name="Rounded Rectangle 29"/>
          <p:cNvSpPr/>
          <p:nvPr/>
        </p:nvSpPr>
        <p:spPr>
          <a:xfrm>
            <a:off x="530352" y="410362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58952" y="44358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list-checks_bd88901d2a37.png"/>
          <p:cNvPicPr>
            <a:picLocks noChangeAspect="1"/>
          </p:cNvPicPr>
          <p:nvPr/>
        </p:nvPicPr>
        <p:blipFill>
          <a:blip r:embed="rId4"/>
          <a:stretch>
            <a:fillRect/>
          </a:stretch>
        </p:blipFill>
        <p:spPr>
          <a:xfrm>
            <a:off x="868680" y="4545584"/>
            <a:ext cx="237744" cy="237744"/>
          </a:xfrm>
          <a:prstGeom prst="rect">
            <a:avLst/>
          </a:prstGeom>
        </p:spPr>
      </p:pic>
      <p:sp>
        <p:nvSpPr>
          <p:cNvPr id="33" name="TextBox 32"/>
          <p:cNvSpPr txBox="1"/>
          <p:nvPr/>
        </p:nvSpPr>
        <p:spPr>
          <a:xfrm>
            <a:off x="1399031" y="42499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34" name="TextBox 33"/>
          <p:cNvSpPr txBox="1"/>
          <p:nvPr/>
        </p:nvSpPr>
        <p:spPr>
          <a:xfrm>
            <a:off x="1399031" y="4469384"/>
            <a:ext cx="9987991" cy="682752"/>
          </a:xfrm>
          <a:prstGeom prst="rect">
            <a:avLst/>
          </a:prstGeom>
          <a:noFill/>
        </p:spPr>
        <p:txBody>
          <a:bodyPr wrap="square" anchor="t" lIns="0" rIns="0" tIns="0" bIns="0">
            <a:spAutoFit/>
          </a:bodyPr>
          <a:lstStyle/>
          <a:p>
            <a:r>
              <a:rPr sz="1500" b="0" i="0">
                <a:solidFill>
                  <a:srgbClr val="1A1440"/>
                </a:solidFill>
                <a:latin typeface="Calibri"/>
              </a:rPr>
              <a:t>Real and worth acting on are two separate calls: the shuffle answers the first, rupees against cost answer the second.</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37" name="Oval 36"/>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39" name="Oval 3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41" name="Oval 4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43" name="Oval 4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30 / 72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the company's delivered revenue sits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Business carries the quarter, so every consumer segment's gap is small against the whole.</a:t>
            </a:r>
          </a:p>
        </p:txBody>
      </p:sp>
      <p:pic>
        <p:nvPicPr>
          <p:cNvPr id="9" name="mermaid diagram" descr="553e9428023dcf50.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Business delivered Rs 1,27,64,460 in the same quarter, about 268 times Retail-Plus, so on this axis its bar would stand 268 times as tall.</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31 / 72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must the offer win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head of Retail-Plus proposes a retention offer of Rs 500 per member a quarter, a figure assumed for the chapter.</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24,420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FALL</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 quarter, the whole tier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22</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MEMBERS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in both quarters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500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OFFER</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per member a quarter, assumed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What share of the fall must the offer win back just to pay for itself in revenue? a) all of it; b) about 45 percent; c) about 5 percent; d) none, since any recovery is a gain.</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6" name="Oval 25"/>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28" name="Oval 27"/>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0" name="Oval 29"/>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2" name="Oval 31"/>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32 / 72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about 45 percent, before margin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Rs 11,000 a quarter against a Rs 24,420 fall, so the offer must win back almost half.</a:t>
            </a:r>
          </a:p>
        </p:txBody>
      </p:sp>
      <p:pic>
        <p:nvPicPr>
          <p:cNvPr id="9" name="mermaid diagram" descr="f64cd5b172b726c2.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answer is b. The decision rests on a recovery rate nobody has measured, which is what the note should say.</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33 / 72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the bootstrap range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Redraw each quarter's members 5,000 times and read the middle 95 percent of the gaps.</a:t>
            </a:r>
          </a:p>
        </p:txBody>
      </p:sp>
      <p:pic>
        <p:nvPicPr>
          <p:cNvPr id="9" name="mermaid diagram" descr="5d277c78967ec9be.png"/>
          <p:cNvPicPr>
            <a:picLocks noChangeAspect="1"/>
          </p:cNvPicPr>
          <p:nvPr/>
        </p:nvPicPr>
        <p:blipFill>
          <a:blip r:embed="rId5"/>
          <a:stretch>
            <a:fillRect/>
          </a:stretch>
        </p:blipFill>
        <p:spPr>
          <a:xfrm>
            <a:off x="530352" y="1956816"/>
            <a:ext cx="11130991" cy="1129748"/>
          </a:xfrm>
          <a:prstGeom prst="rect">
            <a:avLst/>
          </a:prstGeom>
        </p:spPr>
      </p:pic>
      <p:sp>
        <p:nvSpPr>
          <p:cNvPr id="10" name="TextBox 9"/>
          <p:cNvSpPr txBox="1"/>
          <p:nvPr/>
        </p:nvSpPr>
        <p:spPr>
          <a:xfrm>
            <a:off x="530352" y="32328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range stays above zero, the same verdict as the shuffle, and the offer sits inside it. That range is a </a:t>
            </a:r>
            <a:r>
              <a:rPr sz="1600" b="1" i="0">
                <a:solidFill>
                  <a:srgbClr val="1A1440"/>
                </a:solidFill>
                <a:latin typeface="Calibri"/>
              </a:rPr>
              <a:t>confidence interval</a:t>
            </a:r>
            <a:r>
              <a:rPr sz="1600" b="0" i="0">
                <a:solidFill>
                  <a:srgbClr val="1A1440"/>
                </a:solidFill>
                <a:latin typeface="Calibri"/>
              </a:rPr>
              <a:t>; building one properly comes later.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34 / 72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chapter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senior asks for the size before the significance, because size is what gets funded.</a:t>
            </a:r>
          </a:p>
        </p:txBody>
      </p:sp>
      <p:pic>
        <p:nvPicPr>
          <p:cNvPr id="9" name="mermaid diagram" descr="557cd82bcd11f650.png"/>
          <p:cNvPicPr>
            <a:picLocks noChangeAspect="1"/>
          </p:cNvPicPr>
          <p:nvPr/>
        </p:nvPicPr>
        <p:blipFill>
          <a:blip r:embed="rId7"/>
          <a:stretch>
            <a:fillRect/>
          </a:stretch>
        </p:blipFill>
        <p:spPr>
          <a:xfrm>
            <a:off x="780897" y="1855756"/>
            <a:ext cx="10629900" cy="1357312"/>
          </a:xfrm>
          <a:prstGeom prst="rect">
            <a:avLst/>
          </a:prstGeom>
        </p:spPr>
      </p:pic>
      <p:sp>
        <p:nvSpPr>
          <p:cNvPr id="10" name="Rounded Rectangle 9"/>
          <p:cNvSpPr/>
          <p:nvPr/>
        </p:nvSpPr>
        <p:spPr>
          <a:xfrm>
            <a:off x="530352" y="33593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211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930872"/>
            <a:ext cx="237744" cy="237744"/>
          </a:xfrm>
          <a:prstGeom prst="rect">
            <a:avLst/>
          </a:prstGeom>
        </p:spPr>
      </p:pic>
      <p:sp>
        <p:nvSpPr>
          <p:cNvPr id="13" name="TextBox 12"/>
          <p:cNvSpPr txBox="1"/>
          <p:nvPr/>
        </p:nvSpPr>
        <p:spPr>
          <a:xfrm>
            <a:off x="1399031" y="35056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725132"/>
            <a:ext cx="9987991" cy="941832"/>
          </a:xfrm>
          <a:prstGeom prst="rect">
            <a:avLst/>
          </a:prstGeom>
          <a:noFill/>
        </p:spPr>
        <p:txBody>
          <a:bodyPr wrap="square" anchor="t" lIns="0" rIns="0" tIns="0" bIns="0">
            <a:spAutoFit/>
          </a:bodyPr>
          <a:lstStyle/>
          <a:p>
            <a:r>
              <a:rPr sz="1500" b="0" i="0">
                <a:solidFill>
                  <a:srgbClr val="1A1440"/>
                </a:solidFill>
                <a:latin typeface="Calibri"/>
              </a:rPr>
              <a:t>Real, yes, by two routes. Worth Rs 24,420 a quarter, small against Business and a third of the tier. The range dips below what the offer costs, so offer it to half, hold back half, and measure. That is a watch item with a test attached, never a budget line.</a:t>
            </a:r>
          </a:p>
        </p:txBody>
      </p:sp>
      <p:sp>
        <p:nvSpPr>
          <p:cNvPr id="15" name="Rounded Rectangle 14"/>
          <p:cNvSpPr/>
          <p:nvPr/>
        </p:nvSpPr>
        <p:spPr>
          <a:xfrm>
            <a:off x="530352" y="49047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2369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346668"/>
            <a:ext cx="237744" cy="237744"/>
          </a:xfrm>
          <a:prstGeom prst="rect">
            <a:avLst/>
          </a:prstGeom>
        </p:spPr>
      </p:pic>
      <p:sp>
        <p:nvSpPr>
          <p:cNvPr id="18" name="TextBox 17"/>
          <p:cNvSpPr txBox="1"/>
          <p:nvPr/>
        </p:nvSpPr>
        <p:spPr>
          <a:xfrm>
            <a:off x="1399031" y="50510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270468"/>
            <a:ext cx="9987991" cy="682752"/>
          </a:xfrm>
          <a:prstGeom prst="rect">
            <a:avLst/>
          </a:prstGeom>
          <a:noFill/>
        </p:spPr>
        <p:txBody>
          <a:bodyPr wrap="square" anchor="t" lIns="0" rIns="0" tIns="0" bIns="0">
            <a:spAutoFit/>
          </a:bodyPr>
          <a:lstStyle/>
          <a:p>
            <a:r>
              <a:rPr sz="1500" b="0" i="0">
                <a:solidFill>
                  <a:srgbClr val="1A1440"/>
                </a:solidFill>
                <a:latin typeface="Calibri"/>
              </a:rPr>
              <a:t>[F] A metric moved and the test says significant; how do you decide whether the business should act? [D] Rank by p-value, by rupees, or by rupees against the cost: which goes to the budget meeting?</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2" name="Oval 21"/>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Real, and worth acting on</a:t>
            </a:r>
          </a:p>
        </p:txBody>
      </p:sp>
      <p:sp>
        <p:nvSpPr>
          <p:cNvPr id="24" name="Oval 2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6" name="Oval 2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8" name="Oval 2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35 / 72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count behind 40 percent</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A rate is only as good as the count it stands on, so count before you repeat it.</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or the usual wobble</a:t>
            </a:r>
          </a:p>
        </p:txBody>
      </p:sp>
      <p:sp>
        <p:nvSpPr>
          <p:cNvPr id="11" name="Rounded Rectangle 10"/>
          <p:cNvSpPr/>
          <p:nvPr/>
        </p:nvSpPr>
        <p:spPr>
          <a:xfrm>
            <a:off x="2687407"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and worth acting on</a:t>
            </a:r>
          </a:p>
        </p:txBody>
      </p:sp>
      <p:sp>
        <p:nvSpPr>
          <p:cNvPr id="12" name="Rounded Rectangle 11"/>
          <p:cNvSpPr/>
          <p:nvPr/>
        </p:nvSpPr>
        <p:spPr>
          <a:xfrm>
            <a:off x="4643294" y="5074920"/>
            <a:ext cx="196459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count behind 40 percent</a:t>
            </a:r>
          </a:p>
        </p:txBody>
      </p:sp>
      <p:sp>
        <p:nvSpPr>
          <p:cNvPr id="13" name="Rounded Rectangle 12"/>
          <p:cNvSpPr/>
          <p:nvPr/>
        </p:nvSpPr>
        <p:spPr>
          <a:xfrm>
            <a:off x="6717613" y="5074920"/>
            <a:ext cx="214223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discount, split by segment</a:t>
            </a:r>
          </a:p>
        </p:txBody>
      </p:sp>
      <p:sp>
        <p:nvSpPr>
          <p:cNvPr id="14" name="Rounded Rectangle 13"/>
          <p:cNvSpPr/>
          <p:nvPr/>
        </p:nvSpPr>
        <p:spPr>
          <a:xfrm>
            <a:off x="8969581"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note that may say not yet</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real or the usual wobble</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36 / 72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should budget move to Student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Student rose 40 percent, the fastest rise on the page, and Meera asked about it by name.</a:t>
            </a:r>
          </a:p>
        </p:txBody>
      </p:sp>
      <p:sp>
        <p:nvSpPr>
          <p:cNvPr id="9" name="Rounded Rectangle 8"/>
          <p:cNvSpPr/>
          <p:nvPr/>
        </p:nvSpPr>
        <p:spPr>
          <a:xfrm>
            <a:off x="530352" y="195681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FFFFFF"/>
                </a:solidFill>
                <a:latin typeface="Calibri"/>
              </a:rPr>
              <a:t>"Student is up 40 percent; should I move budget there?" Meera Raghavan</a:t>
            </a:r>
          </a:p>
        </p:txBody>
      </p:sp>
      <p:sp>
        <p:nvSpPr>
          <p:cNvPr id="14" name="Rounded Rectangle 13"/>
          <p:cNvSpPr/>
          <p:nvPr/>
        </p:nvSpPr>
        <p:spPr>
          <a:xfrm>
            <a:off x="530352" y="2983992"/>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31519" y="318516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chart-bar_8d512f0a15a3.png"/>
          <p:cNvPicPr>
            <a:picLocks noChangeAspect="1"/>
          </p:cNvPicPr>
          <p:nvPr/>
        </p:nvPicPr>
        <p:blipFill>
          <a:blip r:embed="rId5"/>
          <a:stretch>
            <a:fillRect/>
          </a:stretch>
        </p:blipFill>
        <p:spPr>
          <a:xfrm>
            <a:off x="841247" y="3294888"/>
            <a:ext cx="237744" cy="237744"/>
          </a:xfrm>
          <a:prstGeom prst="rect">
            <a:avLst/>
          </a:prstGeom>
        </p:spPr>
      </p:pic>
      <p:sp>
        <p:nvSpPr>
          <p:cNvPr id="17" name="TextBox 16"/>
          <p:cNvSpPr txBox="1"/>
          <p:nvPr/>
        </p:nvSpPr>
        <p:spPr>
          <a:xfrm>
            <a:off x="731519" y="3752088"/>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8" name="TextBox 17"/>
          <p:cNvSpPr txBox="1"/>
          <p:nvPr/>
        </p:nvSpPr>
        <p:spPr>
          <a:xfrm>
            <a:off x="731519" y="3989832"/>
            <a:ext cx="3186074" cy="267716"/>
          </a:xfrm>
          <a:prstGeom prst="rect">
            <a:avLst/>
          </a:prstGeom>
          <a:noFill/>
        </p:spPr>
        <p:txBody>
          <a:bodyPr wrap="square" anchor="t" lIns="0" rIns="0" tIns="0" bIns="0">
            <a:spAutoFit/>
          </a:bodyPr>
          <a:lstStyle/>
          <a:p>
            <a:pPr algn="l"/>
            <a:r>
              <a:rPr sz="1400" b="1" i="0">
                <a:solidFill>
                  <a:srgbClr val="1A0F5C"/>
                </a:solidFill>
                <a:latin typeface="Calibri"/>
              </a:rPr>
              <a:t>Orders a quarter</a:t>
            </a:r>
          </a:p>
        </p:txBody>
      </p:sp>
      <p:sp>
        <p:nvSpPr>
          <p:cNvPr id="19" name="TextBox 18"/>
          <p:cNvSpPr txBox="1"/>
          <p:nvPr/>
        </p:nvSpPr>
        <p:spPr>
          <a:xfrm>
            <a:off x="731519" y="4330700"/>
            <a:ext cx="3186074" cy="399796"/>
          </a:xfrm>
          <a:prstGeom prst="rect">
            <a:avLst/>
          </a:prstGeom>
          <a:noFill/>
        </p:spPr>
        <p:txBody>
          <a:bodyPr wrap="square" anchor="t" lIns="0" rIns="0" tIns="0" bIns="0">
            <a:spAutoFit/>
          </a:bodyPr>
          <a:lstStyle/>
          <a:p>
            <a:pPr algn="l"/>
            <a:r>
              <a:rPr sz="1100" b="0" i="0">
                <a:solidFill>
                  <a:srgbClr val="6B6690"/>
                </a:solidFill>
                <a:latin typeface="Calibri"/>
              </a:rPr>
              <a:t>Student's Q2 orders for every 100 in Q1, beside every other segment's.</a:t>
            </a:r>
          </a:p>
        </p:txBody>
      </p:sp>
      <p:sp>
        <p:nvSpPr>
          <p:cNvPr id="20" name="Rounded Rectangle 19"/>
          <p:cNvSpPr/>
          <p:nvPr/>
        </p:nvSpPr>
        <p:spPr>
          <a:xfrm>
            <a:off x="4301642" y="2983992"/>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4502810" y="318516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wallet_3a2d2f5ade12.png"/>
          <p:cNvPicPr>
            <a:picLocks noChangeAspect="1"/>
          </p:cNvPicPr>
          <p:nvPr/>
        </p:nvPicPr>
        <p:blipFill>
          <a:blip r:embed="rId6"/>
          <a:stretch>
            <a:fillRect/>
          </a:stretch>
        </p:blipFill>
        <p:spPr>
          <a:xfrm>
            <a:off x="4612538" y="3294888"/>
            <a:ext cx="237744" cy="237744"/>
          </a:xfrm>
          <a:prstGeom prst="rect">
            <a:avLst/>
          </a:prstGeom>
        </p:spPr>
      </p:pic>
      <p:sp>
        <p:nvSpPr>
          <p:cNvPr id="23" name="TextBox 22"/>
          <p:cNvSpPr txBox="1"/>
          <p:nvPr/>
        </p:nvSpPr>
        <p:spPr>
          <a:xfrm>
            <a:off x="4502810" y="3752088"/>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RIDES ON IT</a:t>
            </a:r>
          </a:p>
        </p:txBody>
      </p:sp>
      <p:sp>
        <p:nvSpPr>
          <p:cNvPr id="24" name="TextBox 23"/>
          <p:cNvSpPr txBox="1"/>
          <p:nvPr/>
        </p:nvSpPr>
        <p:spPr>
          <a:xfrm>
            <a:off x="4502810" y="3989832"/>
            <a:ext cx="3186074" cy="267716"/>
          </a:xfrm>
          <a:prstGeom prst="rect">
            <a:avLst/>
          </a:prstGeom>
          <a:noFill/>
        </p:spPr>
        <p:txBody>
          <a:bodyPr wrap="square" anchor="t" lIns="0" rIns="0" tIns="0" bIns="0">
            <a:spAutoFit/>
          </a:bodyPr>
          <a:lstStyle/>
          <a:p>
            <a:pPr algn="l"/>
            <a:r>
              <a:rPr sz="1400" b="1" i="0">
                <a:solidFill>
                  <a:srgbClr val="1A0F5C"/>
                </a:solidFill>
                <a:latin typeface="Calibri"/>
              </a:rPr>
              <a:t>Acquisition budget</a:t>
            </a:r>
          </a:p>
        </p:txBody>
      </p:sp>
      <p:sp>
        <p:nvSpPr>
          <p:cNvPr id="25" name="TextBox 24"/>
          <p:cNvSpPr txBox="1"/>
          <p:nvPr/>
        </p:nvSpPr>
        <p:spPr>
          <a:xfrm>
            <a:off x="4502810" y="4330700"/>
            <a:ext cx="3186074" cy="399796"/>
          </a:xfrm>
          <a:prstGeom prst="rect">
            <a:avLst/>
          </a:prstGeom>
          <a:noFill/>
        </p:spPr>
        <p:txBody>
          <a:bodyPr wrap="square" anchor="t" lIns="0" rIns="0" tIns="0" bIns="0">
            <a:spAutoFit/>
          </a:bodyPr>
          <a:lstStyle/>
          <a:p>
            <a:pPr algn="l"/>
            <a:r>
              <a:rPr sz="1100" b="0" i="0">
                <a:solidFill>
                  <a:srgbClr val="6B6690"/>
                </a:solidFill>
                <a:latin typeface="Calibri"/>
              </a:rPr>
              <a:t>Money moved to the fastest riser, before anyone asks what the rise stands on.</a:t>
            </a:r>
          </a:p>
        </p:txBody>
      </p:sp>
      <p:sp>
        <p:nvSpPr>
          <p:cNvPr id="26" name="Rounded Rectangle 25"/>
          <p:cNvSpPr/>
          <p:nvPr/>
        </p:nvSpPr>
        <p:spPr>
          <a:xfrm>
            <a:off x="8072932" y="2983992"/>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274100" y="31851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triangle-alert_e79485772e4f.png"/>
          <p:cNvPicPr>
            <a:picLocks noChangeAspect="1"/>
          </p:cNvPicPr>
          <p:nvPr/>
        </p:nvPicPr>
        <p:blipFill>
          <a:blip r:embed="rId7"/>
          <a:stretch>
            <a:fillRect/>
          </a:stretch>
        </p:blipFill>
        <p:spPr>
          <a:xfrm>
            <a:off x="8383828" y="3294888"/>
            <a:ext cx="237744" cy="237744"/>
          </a:xfrm>
          <a:prstGeom prst="rect">
            <a:avLst/>
          </a:prstGeom>
        </p:spPr>
      </p:pic>
      <p:sp>
        <p:nvSpPr>
          <p:cNvPr id="29" name="TextBox 28"/>
          <p:cNvSpPr txBox="1"/>
          <p:nvPr/>
        </p:nvSpPr>
        <p:spPr>
          <a:xfrm>
            <a:off x="8274100" y="3752088"/>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CALL COSTS</a:t>
            </a:r>
          </a:p>
        </p:txBody>
      </p:sp>
      <p:sp>
        <p:nvSpPr>
          <p:cNvPr id="30" name="TextBox 29"/>
          <p:cNvSpPr txBox="1"/>
          <p:nvPr/>
        </p:nvSpPr>
        <p:spPr>
          <a:xfrm>
            <a:off x="8274100" y="3989832"/>
            <a:ext cx="3186074" cy="267716"/>
          </a:xfrm>
          <a:prstGeom prst="rect">
            <a:avLst/>
          </a:prstGeom>
          <a:noFill/>
        </p:spPr>
        <p:txBody>
          <a:bodyPr wrap="square" anchor="t" lIns="0" rIns="0" tIns="0" bIns="0">
            <a:spAutoFit/>
          </a:bodyPr>
          <a:lstStyle/>
          <a:p>
            <a:pPr algn="l"/>
            <a:r>
              <a:rPr sz="1400" b="1" i="0">
                <a:solidFill>
                  <a:srgbClr val="FFFFFF"/>
                </a:solidFill>
                <a:latin typeface="Calibri"/>
              </a:rPr>
              <a:t>A quarter's spend</a:t>
            </a:r>
          </a:p>
        </p:txBody>
      </p:sp>
      <p:sp>
        <p:nvSpPr>
          <p:cNvPr id="31" name="TextBox 30"/>
          <p:cNvSpPr txBox="1"/>
          <p:nvPr/>
        </p:nvSpPr>
        <p:spPr>
          <a:xfrm>
            <a:off x="8274100" y="4330700"/>
            <a:ext cx="3186074" cy="399796"/>
          </a:xfrm>
          <a:prstGeom prst="rect">
            <a:avLst/>
          </a:prstGeom>
          <a:noFill/>
        </p:spPr>
        <p:txBody>
          <a:bodyPr wrap="square" anchor="t" lIns="0" rIns="0" tIns="0" bIns="0">
            <a:spAutoFit/>
          </a:bodyPr>
          <a:lstStyle/>
          <a:p>
            <a:pPr algn="l"/>
            <a:r>
              <a:rPr sz="1100" b="0" i="0">
                <a:solidFill>
                  <a:srgbClr val="CFC9EE"/>
                </a:solidFill>
                <a:latin typeface="Calibri"/>
              </a:rPr>
              <a:t>Budget follows a rate that may be flat next quarter.</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34" name="Oval 3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6" name="Oval 35"/>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38" name="Oval 37"/>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40" name="Oval 39"/>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72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Small schools topped the charts, and the bottom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Small groups swing further in both directions, and a foundation learned it at scale.</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EXPECTED</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small schools among the best, if size did not matter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12%</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FOUND</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small schools among the best, Wainer's data</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$1.7B</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TO EDUCATION PROJECTS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Gates Foundation, by 2001</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Howard Wainer showed small schools were over-represented among the worst as well: small counts produce extremes at both ends.</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6" name="Oval 25"/>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28" name="Oval 27"/>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0" name="Oval 29"/>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38 / 72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answer "follow the 40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Trust it, test it on its count, apply the rule of thumb, or wait for more orders.</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2693848"/>
                <a:gridCol w="5054709"/>
                <a:gridCol w="3382433"/>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What it does</a:t>
                      </a:r>
                    </a:p>
                  </a:txBody>
                  <a:tcPr marL="101600" marR="101600" marT="38100" marB="38100" anchor="ctr">
                    <a:solidFill>
                      <a:srgbClr val="1A0F5C"/>
                    </a:solidFill>
                  </a:tcPr>
                </a:tc>
                <a:tc>
                  <a:txBody>
                    <a:bodyPr/>
                    <a:lstStyle/>
                    <a:p>
                      <a:r>
                        <a:rPr sz="1450" b="1" i="0">
                          <a:solidFill>
                            <a:srgbClr val="FFFFFF"/>
                          </a:solidFill>
                          <a:latin typeface="Calibri"/>
                        </a:rPr>
                        <a:t>What it risks</a:t>
                      </a:r>
                    </a:p>
                  </a:txBody>
                  <a:tcPr marL="101600" marR="101600" marT="38100" marB="38100" anchor="ctr">
                    <a:solidFill>
                      <a:srgbClr val="1A0F5C"/>
                    </a:solidFill>
                  </a:tcPr>
                </a:tc>
              </a:tr>
              <a:tr h="369824">
                <a:tc>
                  <a:txBody>
                    <a:bodyPr/>
                    <a:lstStyle/>
                    <a:p>
                      <a:r>
                        <a:rPr sz="1400" b="0" i="0">
                          <a:solidFill>
                            <a:srgbClr val="1A1440"/>
                          </a:solidFill>
                          <a:latin typeface="Calibri"/>
                        </a:rPr>
                        <a:t>A. Trust the headline</a:t>
                      </a:r>
                    </a:p>
                  </a:txBody>
                  <a:tcPr marL="101600" marR="101600" marT="38100" marB="38100" anchor="ctr">
                    <a:solidFill>
                      <a:srgbClr val="FFFFFF"/>
                    </a:solidFill>
                  </a:tcPr>
                </a:tc>
                <a:tc>
                  <a:txBody>
                    <a:bodyPr/>
                    <a:lstStyle/>
                    <a:p>
                      <a:r>
                        <a:rPr sz="1400" b="0" i="0">
                          <a:solidFill>
                            <a:srgbClr val="1A1440"/>
                          </a:solidFill>
                          <a:latin typeface="Calibri"/>
                        </a:rPr>
                        <a:t>Fund the fastest riser</a:t>
                      </a:r>
                    </a:p>
                  </a:txBody>
                  <a:tcPr marL="101600" marR="101600" marT="38100" marB="38100" anchor="ctr">
                    <a:solidFill>
                      <a:srgbClr val="FFFFFF"/>
                    </a:solidFill>
                  </a:tcPr>
                </a:tc>
                <a:tc>
                  <a:txBody>
                    <a:bodyPr/>
                    <a:lstStyle/>
                    <a:p>
                      <a:r>
                        <a:rPr sz="1400" b="0" i="0">
                          <a:solidFill>
                            <a:srgbClr val="1A1440"/>
                          </a:solidFill>
                          <a:latin typeface="Calibri"/>
                        </a:rPr>
                        <a:t>Budget follows a coin</a:t>
                      </a:r>
                    </a:p>
                  </a:txBody>
                  <a:tcPr marL="101600" marR="101600" marT="38100" marB="38100" anchor="ctr">
                    <a:solidFill>
                      <a:srgbClr val="FFFFFF"/>
                    </a:solidFill>
                  </a:tcPr>
                </a:tc>
              </a:tr>
              <a:tr h="369824">
                <a:tc>
                  <a:txBody>
                    <a:bodyPr/>
                    <a:lstStyle/>
                    <a:p>
                      <a:r>
                        <a:rPr sz="1400" b="0" i="0">
                          <a:solidFill>
                            <a:srgbClr val="1A1440"/>
                          </a:solidFill>
                          <a:latin typeface="Calibri"/>
                        </a:rPr>
                        <a:t>B. Coin-flip reference</a:t>
                      </a:r>
                    </a:p>
                  </a:txBody>
                  <a:tcPr marL="101600" marR="101600" marT="38100" marB="38100" anchor="ctr">
                    <a:solidFill>
                      <a:srgbClr val="F4F2FA"/>
                    </a:solidFill>
                  </a:tcPr>
                </a:tc>
                <a:tc>
                  <a:txBody>
                    <a:bodyPr/>
                    <a:lstStyle/>
                    <a:p>
                      <a:r>
                        <a:rPr sz="1400" b="0" i="0">
                          <a:solidFill>
                            <a:srgbClr val="1A1440"/>
                          </a:solidFill>
                          <a:latin typeface="Calibri"/>
                        </a:rPr>
                        <a:t>Deal each order to a quarter by coin, 5,000 times</a:t>
                      </a:r>
                    </a:p>
                  </a:txBody>
                  <a:tcPr marL="101600" marR="101600" marT="38100" marB="38100" anchor="ctr">
                    <a:solidFill>
                      <a:srgbClr val="F4F2FA"/>
                    </a:solidFill>
                  </a:tcPr>
                </a:tc>
                <a:tc>
                  <a:txBody>
                    <a:bodyPr/>
                    <a:lstStyle/>
                    <a:p>
                      <a:r>
                        <a:rPr sz="1400" b="0" i="0">
                          <a:solidFill>
                            <a:srgbClr val="1A1440"/>
                          </a:solidFill>
                          <a:latin typeface="Calibri"/>
                        </a:rPr>
                        <a:t>Nothing, once the count is found</a:t>
                      </a:r>
                    </a:p>
                  </a:txBody>
                  <a:tcPr marL="101600" marR="101600" marT="38100" marB="38100" anchor="ctr">
                    <a:solidFill>
                      <a:srgbClr val="F4F2FA"/>
                    </a:solidFill>
                  </a:tcPr>
                </a:tc>
              </a:tr>
              <a:tr h="369824">
                <a:tc>
                  <a:txBody>
                    <a:bodyPr/>
                    <a:lstStyle/>
                    <a:p>
                      <a:r>
                        <a:rPr sz="1400" b="0" i="0">
                          <a:solidFill>
                            <a:srgbClr val="1A1440"/>
                          </a:solidFill>
                          <a:latin typeface="Calibri"/>
                        </a:rPr>
                        <a:t>C. Rule of thumb</a:t>
                      </a:r>
                    </a:p>
                  </a:txBody>
                  <a:tcPr marL="101600" marR="101600" marT="38100" marB="38100" anchor="ctr">
                    <a:solidFill>
                      <a:srgbClr val="FFFFFF"/>
                    </a:solidFill>
                  </a:tcPr>
                </a:tc>
                <a:tc>
                  <a:txBody>
                    <a:bodyPr/>
                    <a:lstStyle/>
                    <a:p>
                      <a:r>
                        <a:rPr sz="1400" b="0" i="0">
                          <a:solidFill>
                            <a:srgbClr val="1A1440"/>
                          </a:solidFill>
                          <a:latin typeface="Calibri"/>
                        </a:rPr>
                        <a:t>Under thirty observations, a rate is a lead</a:t>
                      </a:r>
                    </a:p>
                  </a:txBody>
                  <a:tcPr marL="101600" marR="101600" marT="38100" marB="38100" anchor="ctr">
                    <a:solidFill>
                      <a:srgbClr val="FFFFFF"/>
                    </a:solidFill>
                  </a:tcPr>
                </a:tc>
                <a:tc>
                  <a:txBody>
                    <a:bodyPr/>
                    <a:lstStyle/>
                    <a:p>
                      <a:r>
                        <a:rPr sz="1400" b="0" i="0">
                          <a:solidFill>
                            <a:srgbClr val="1A1440"/>
                          </a:solidFill>
                          <a:latin typeface="Calibri"/>
                        </a:rPr>
                        <a:t>Says careful, never how careful</a:t>
                      </a:r>
                    </a:p>
                  </a:txBody>
                  <a:tcPr marL="101600" marR="101600" marT="38100" marB="38100" anchor="ctr">
                    <a:solidFill>
                      <a:srgbClr val="FFFFFF"/>
                    </a:solidFill>
                  </a:tcPr>
                </a:tc>
              </a:tr>
              <a:tr h="369824">
                <a:tc>
                  <a:txBody>
                    <a:bodyPr/>
                    <a:lstStyle/>
                    <a:p>
                      <a:r>
                        <a:rPr sz="1400" b="0" i="0">
                          <a:solidFill>
                            <a:srgbClr val="1A1440"/>
                          </a:solidFill>
                          <a:latin typeface="Calibri"/>
                        </a:rPr>
                        <a:t>D. Wait for thirty orders</a:t>
                      </a:r>
                    </a:p>
                  </a:txBody>
                  <a:tcPr marL="101600" marR="101600" marT="38100" marB="38100" anchor="ctr">
                    <a:solidFill>
                      <a:srgbClr val="F4F2FA"/>
                    </a:solidFill>
                  </a:tcPr>
                </a:tc>
                <a:tc>
                  <a:txBody>
                    <a:bodyPr/>
                    <a:lstStyle/>
                    <a:p>
                      <a:r>
                        <a:rPr sz="1400" b="0" i="0">
                          <a:solidFill>
                            <a:srgbClr val="1A1440"/>
                          </a:solidFill>
                          <a:latin typeface="Calibri"/>
                        </a:rPr>
                        <a:t>Hold the decision</a:t>
                      </a:r>
                    </a:p>
                  </a:txBody>
                  <a:tcPr marL="101600" marR="101600" marT="38100" marB="38100" anchor="ctr">
                    <a:solidFill>
                      <a:srgbClr val="F4F2FA"/>
                    </a:solidFill>
                  </a:tcPr>
                </a:tc>
                <a:tc>
                  <a:txBody>
                    <a:bodyPr/>
                    <a:lstStyle/>
                    <a:p>
                      <a:r>
                        <a:rPr sz="1400" b="0" i="0">
                          <a:solidFill>
                            <a:srgbClr val="1A1440"/>
                          </a:solidFill>
                          <a:latin typeface="Calibri"/>
                        </a:rPr>
                        <a:t>Several quarters at today's pace</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B, said with C. </a:t>
            </a:r>
            <a:r>
              <a:rPr sz="1500" b="1" i="0">
                <a:solidFill>
                  <a:srgbClr val="1A1440"/>
                </a:solidFill>
                <a:latin typeface="Calibri"/>
              </a:rPr>
              <a:t>What would change it.</a:t>
            </a:r>
            <a:r>
              <a:rPr sz="1500" b="0" i="0">
                <a:solidFill>
                  <a:srgbClr val="1A1440"/>
                </a:solidFill>
                <a:latin typeface="Calibri"/>
              </a:rPr>
              <a:t> A cheap way to buy Student orders fast, which turns D into a two-week experiment.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39 / 72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 you check before answering?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 wants a yes or no on Student, and one check comes before any other.</a:t>
            </a:r>
          </a:p>
        </p:txBody>
      </p:sp>
      <p:pic>
        <p:nvPicPr>
          <p:cNvPr id="9" name="mermaid diagram" descr="7d6dd5dce9f5e36a.png"/>
          <p:cNvPicPr>
            <a:picLocks noChangeAspect="1"/>
          </p:cNvPicPr>
          <p:nvPr/>
        </p:nvPicPr>
        <p:blipFill>
          <a:blip r:embed="rId5"/>
          <a:stretch>
            <a:fillRect/>
          </a:stretch>
        </p:blipFill>
        <p:spPr>
          <a:xfrm>
            <a:off x="3524097" y="1956816"/>
            <a:ext cx="5143500" cy="2543175"/>
          </a:xfrm>
          <a:prstGeom prst="rect">
            <a:avLst/>
          </a:prstGeom>
        </p:spPr>
      </p:pic>
      <p:sp>
        <p:nvSpPr>
          <p:cNvPr id="10" name="Rounded Rectangle 9"/>
          <p:cNvSpPr/>
          <p:nvPr/>
        </p:nvSpPr>
        <p:spPr>
          <a:xfrm>
            <a:off x="530352" y="464629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774311"/>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765167"/>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What do you check first? a) the rise in rupees, since money is what moves; b) the number of orders and customers the rate stands on; c) whether 40 percent beats every other segment; d) Student's rise in the previous year.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40 / 72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count what the rate stands 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Forty percent of a handful is a few orders, and a few orders move by chance every quarter.</a:t>
            </a:r>
          </a:p>
        </p:txBody>
      </p:sp>
      <p:pic>
        <p:nvPicPr>
          <p:cNvPr id="9" name="mermaid diagram" descr="590217e6261349ba.png"/>
          <p:cNvPicPr>
            <a:picLocks noChangeAspect="1"/>
          </p:cNvPicPr>
          <p:nvPr/>
        </p:nvPicPr>
        <p:blipFill>
          <a:blip r:embed="rId5"/>
          <a:stretch>
            <a:fillRect/>
          </a:stretch>
        </p:blipFill>
        <p:spPr>
          <a:xfrm>
            <a:off x="1202378" y="1956816"/>
            <a:ext cx="9786937" cy="2786062"/>
          </a:xfrm>
          <a:prstGeom prst="rect">
            <a:avLst/>
          </a:prstGeom>
        </p:spPr>
      </p:pic>
      <p:sp>
        <p:nvSpPr>
          <p:cNvPr id="10" name="TextBox 9"/>
          <p:cNvSpPr txBox="1"/>
          <p:nvPr/>
        </p:nvSpPr>
        <p:spPr>
          <a:xfrm>
            <a:off x="530352" y="488918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Rupees and rankings come after the count, because a rate on a handful can rank first by accident.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41 / 72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draft leads with the biggest rate on the page and moves money to it.</a:t>
            </a:r>
          </a:p>
        </p:txBody>
      </p:sp>
      <p:pic>
        <p:nvPicPr>
          <p:cNvPr id="9" name="mermaid diagram" descr="edb3311b5b0d9973.png"/>
          <p:cNvPicPr>
            <a:picLocks noChangeAspect="1"/>
          </p:cNvPicPr>
          <p:nvPr/>
        </p:nvPicPr>
        <p:blipFill>
          <a:blip r:embed="rId6"/>
          <a:stretch>
            <a:fillRect/>
          </a:stretch>
        </p:blipFill>
        <p:spPr>
          <a:xfrm>
            <a:off x="2152497" y="1956816"/>
            <a:ext cx="7886700" cy="1857375"/>
          </a:xfrm>
          <a:prstGeom prst="rect">
            <a:avLst/>
          </a:prstGeom>
        </p:spPr>
      </p:pic>
      <p:sp>
        <p:nvSpPr>
          <p:cNvPr id="10" name="Rounded Rectangle 9"/>
          <p:cNvSpPr/>
          <p:nvPr/>
        </p:nvSpPr>
        <p:spPr>
          <a:xfrm>
            <a:off x="530352" y="3960495"/>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16318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4272915"/>
            <a:ext cx="237744" cy="237744"/>
          </a:xfrm>
          <a:prstGeom prst="rect">
            <a:avLst/>
          </a:prstGeom>
        </p:spPr>
      </p:pic>
      <p:sp>
        <p:nvSpPr>
          <p:cNvPr id="13" name="TextBox 12"/>
          <p:cNvSpPr txBox="1"/>
          <p:nvPr/>
        </p:nvSpPr>
        <p:spPr>
          <a:xfrm>
            <a:off x="1399031" y="4106799"/>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326255"/>
            <a:ext cx="9987991" cy="423672"/>
          </a:xfrm>
          <a:prstGeom prst="rect">
            <a:avLst/>
          </a:prstGeom>
          <a:noFill/>
        </p:spPr>
        <p:txBody>
          <a:bodyPr wrap="square" anchor="t" lIns="0" rIns="0" tIns="0" bIns="0">
            <a:spAutoFit/>
          </a:bodyPr>
          <a:lstStyle/>
          <a:p>
            <a:r>
              <a:rPr sz="1500" b="0" i="0">
                <a:solidFill>
                  <a:srgbClr val="1A1440"/>
                </a:solidFill>
                <a:latin typeface="Calibri"/>
              </a:rPr>
              <a:t>A rate travels without its count, and the budget follows the rate.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42 / 72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small counts swing by chance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Split a small number of orders between two quarters at random, and big rises appear on their own.</a:t>
            </a:r>
          </a:p>
        </p:txBody>
      </p:sp>
      <p:pic>
        <p:nvPicPr>
          <p:cNvPr id="9" name="mermaid diagram" descr="73978195ee044129.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With ten orders, more than a third of chance-only worlds show a 40 percent rise. With four hundred, almost none do.</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43 / 72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Student, counted and flipped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room counts the orders behind the 40 percent, flips them, and writes Meera's line.</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hash_29aa8cda0b5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LEVEL 2</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Count</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Orders and distinct customers, Q1 and Q2, in the empty cell of notebook 3.</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uffle_1f5f2f56d507.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LEVEL 3</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Flip</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 coin per order, 5,000 times; the share with a 40 percent rise or more.</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NOTE</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One line</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The rate, its count, and what would make it a finding.</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9" name="Oval 28"/>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1" name="Oval 30"/>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33" name="Oval 32"/>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5" name="Oval 34"/>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44 / 72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42 percent on 12, or 31 on 1,200?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interview's version of Student, asked with users where Kalpa has orders.</a:t>
            </a:r>
          </a:p>
        </p:txBody>
      </p:sp>
      <p:sp>
        <p:nvSpPr>
          <p:cNvPr id="9" name="Rounded Rectangle 8"/>
          <p:cNvSpPr/>
          <p:nvPr/>
        </p:nvSpPr>
        <p:spPr>
          <a:xfrm>
            <a:off x="530352" y="195681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ic_caee7398c80d.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1A1440"/>
                </a:solidFill>
                <a:latin typeface="Calibri"/>
              </a:rPr>
              <a:t>[F] 42 percent on 12 users against 31 percent on 1,200; which do you trust?</a:t>
            </a:r>
          </a:p>
        </p:txBody>
      </p:sp>
      <p:sp>
        <p:nvSpPr>
          <p:cNvPr id="14" name="Rounded Rectangle 13"/>
          <p:cNvSpPr/>
          <p:nvPr/>
        </p:nvSpPr>
        <p:spPr>
          <a:xfrm>
            <a:off x="530352" y="298399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11200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102864"/>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answer earns the offer? a) 42 percent, since it is higher; b) 31 percent, since 1,200 is more; c) 31 percent as the estimate, 42 percent as a lead to measure further; d) neither, since they cannot be compared.</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9" name="Oval 18"/>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1" name="Oval 20"/>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23" name="Oval 22"/>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5" name="Oval 24"/>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45 / 72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trust the count, keep the lead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One user moves a rate on twelve by eight points, so 42 is a lead and 31 is the estimate.</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3664041"/>
                <a:gridCol w="3802908"/>
                <a:gridCol w="366404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42 percent on 12</a:t>
                      </a:r>
                    </a:p>
                  </a:txBody>
                  <a:tcPr marL="101600" marR="101600" marT="38100" marB="38100" anchor="ctr">
                    <a:solidFill>
                      <a:srgbClr val="1A0F5C"/>
                    </a:solidFill>
                  </a:tcPr>
                </a:tc>
                <a:tc>
                  <a:txBody>
                    <a:bodyPr/>
                    <a:lstStyle/>
                    <a:p>
                      <a:r>
                        <a:rPr sz="1450" b="1" i="0">
                          <a:solidFill>
                            <a:srgbClr val="FFFFFF"/>
                          </a:solidFill>
                          <a:latin typeface="Calibri"/>
                        </a:rPr>
                        <a:t>31 percent on 1,200</a:t>
                      </a:r>
                    </a:p>
                  </a:txBody>
                  <a:tcPr marL="101600" marR="101600" marT="38100" marB="38100" anchor="ctr">
                    <a:solidFill>
                      <a:srgbClr val="1A0F5C"/>
                    </a:solidFill>
                  </a:tcPr>
                </a:tc>
              </a:tr>
              <a:tr h="369824">
                <a:tc>
                  <a:txBody>
                    <a:bodyPr/>
                    <a:lstStyle/>
                    <a:p>
                      <a:r>
                        <a:rPr sz="1400" b="0" i="0">
                          <a:solidFill>
                            <a:srgbClr val="1A1440"/>
                          </a:solidFill>
                          <a:latin typeface="Calibri"/>
                        </a:rPr>
                        <a:t>One person changes it by</a:t>
                      </a:r>
                    </a:p>
                  </a:txBody>
                  <a:tcPr marL="101600" marR="101600" marT="38100" marB="38100" anchor="ctr">
                    <a:solidFill>
                      <a:srgbClr val="FFFFFF"/>
                    </a:solidFill>
                  </a:tcPr>
                </a:tc>
                <a:tc>
                  <a:txBody>
                    <a:bodyPr/>
                    <a:lstStyle/>
                    <a:p>
                      <a:r>
                        <a:rPr sz="1400" b="0" i="0">
                          <a:solidFill>
                            <a:srgbClr val="1A1440"/>
                          </a:solidFill>
                          <a:latin typeface="Calibri"/>
                        </a:rPr>
                        <a:t>about 8 points</a:t>
                      </a:r>
                    </a:p>
                  </a:txBody>
                  <a:tcPr marL="101600" marR="101600" marT="38100" marB="38100" anchor="ctr">
                    <a:solidFill>
                      <a:srgbClr val="FFFFFF"/>
                    </a:solidFill>
                  </a:tcPr>
                </a:tc>
                <a:tc>
                  <a:txBody>
                    <a:bodyPr/>
                    <a:lstStyle/>
                    <a:p>
                      <a:r>
                        <a:rPr sz="1400" b="0" i="0">
                          <a:solidFill>
                            <a:srgbClr val="1A1440"/>
                          </a:solidFill>
                          <a:latin typeface="Calibri"/>
                        </a:rPr>
                        <a:t>under a tenth of a point</a:t>
                      </a:r>
                    </a:p>
                  </a:txBody>
                  <a:tcPr marL="101600" marR="101600" marT="38100" marB="38100" anchor="ctr">
                    <a:solidFill>
                      <a:srgbClr val="FFFFFF"/>
                    </a:solidFill>
                  </a:tcPr>
                </a:tc>
              </a:tr>
              <a:tr h="369824">
                <a:tc>
                  <a:txBody>
                    <a:bodyPr/>
                    <a:lstStyle/>
                    <a:p>
                      <a:r>
                        <a:rPr sz="1400" b="0" i="0">
                          <a:solidFill>
                            <a:srgbClr val="1A1440"/>
                          </a:solidFill>
                          <a:latin typeface="Calibri"/>
                        </a:rPr>
                        <a:t>What it is</a:t>
                      </a:r>
                    </a:p>
                  </a:txBody>
                  <a:tcPr marL="101600" marR="101600" marT="38100" marB="38100" anchor="ctr">
                    <a:solidFill>
                      <a:srgbClr val="F4F2FA"/>
                    </a:solidFill>
                  </a:tcPr>
                </a:tc>
                <a:tc>
                  <a:txBody>
                    <a:bodyPr/>
                    <a:lstStyle/>
                    <a:p>
                      <a:r>
                        <a:rPr sz="1400" b="0" i="0">
                          <a:solidFill>
                            <a:srgbClr val="1A1440"/>
                          </a:solidFill>
                          <a:latin typeface="Calibri"/>
                        </a:rPr>
                        <a:t>a lead to measure</a:t>
                      </a:r>
                    </a:p>
                  </a:txBody>
                  <a:tcPr marL="101600" marR="101600" marT="38100" marB="38100" anchor="ctr">
                    <a:solidFill>
                      <a:srgbClr val="F4F2FA"/>
                    </a:solidFill>
                  </a:tcPr>
                </a:tc>
                <a:tc>
                  <a:txBody>
                    <a:bodyPr/>
                    <a:lstStyle/>
                    <a:p>
                      <a:r>
                        <a:rPr sz="1400" b="0" i="0">
                          <a:solidFill>
                            <a:srgbClr val="1A1440"/>
                          </a:solidFill>
                          <a:latin typeface="Calibri"/>
                        </a:rPr>
                        <a:t>an estimate to use</a:t>
                      </a:r>
                    </a:p>
                  </a:txBody>
                  <a:tcPr marL="101600" marR="101600" marT="38100" marB="38100" anchor="ctr">
                    <a:solidFill>
                      <a:srgbClr val="F4F2FA"/>
                    </a:solidFill>
                  </a:tcPr>
                </a:tc>
              </a:tr>
              <a:tr h="369824">
                <a:tc>
                  <a:txBody>
                    <a:bodyPr/>
                    <a:lstStyle/>
                    <a:p>
                      <a:r>
                        <a:rPr sz="1400" b="0" i="0">
                          <a:solidFill>
                            <a:srgbClr val="1A1440"/>
                          </a:solidFill>
                          <a:latin typeface="Calibri"/>
                        </a:rPr>
                        <a:t>What you say</a:t>
                      </a:r>
                    </a:p>
                  </a:txBody>
                  <a:tcPr marL="101600" marR="101600" marT="38100" marB="38100" anchor="ctr">
                    <a:solidFill>
                      <a:srgbClr val="FFFFFF"/>
                    </a:solidFill>
                  </a:tcPr>
                </a:tc>
                <a:tc>
                  <a:txBody>
                    <a:bodyPr/>
                    <a:lstStyle/>
                    <a:p>
                      <a:r>
                        <a:rPr sz="1400" b="0" i="0">
                          <a:solidFill>
                            <a:srgbClr val="1A1440"/>
                          </a:solidFill>
                          <a:latin typeface="Calibri"/>
                        </a:rPr>
                        <a:t>"promising, measure more"</a:t>
                      </a:r>
                    </a:p>
                  </a:txBody>
                  <a:tcPr marL="101600" marR="101600" marT="38100" marB="38100" anchor="ctr">
                    <a:solidFill>
                      <a:srgbClr val="FFFFFF"/>
                    </a:solidFill>
                  </a:tcPr>
                </a:tc>
                <a:tc>
                  <a:txBody>
                    <a:bodyPr/>
                    <a:lstStyle/>
                    <a:p>
                      <a:r>
                        <a:rPr sz="1400" b="0" i="0">
                          <a:solidFill>
                            <a:srgbClr val="1A1440"/>
                          </a:solidFill>
                          <a:latin typeface="Calibri"/>
                        </a:rPr>
                        <a:t>"our working number"</a:t>
                      </a:r>
                    </a:p>
                  </a:txBody>
                  <a:tcPr marL="101600" marR="101600" marT="38100" marB="38100" anchor="ctr">
                    <a:solidFill>
                      <a:srgbClr val="FFFFFF"/>
                    </a:solidFill>
                  </a:tcPr>
                </a:tc>
              </a:tr>
            </a:tbl>
          </a:graphicData>
        </a:graphic>
      </p:graphicFrame>
      <p:sp>
        <p:nvSpPr>
          <p:cNvPr id="10" name="TextBox 9"/>
          <p:cNvSpPr txBox="1"/>
          <p:nvPr/>
        </p:nvSpPr>
        <p:spPr>
          <a:xfrm>
            <a:off x="530352" y="369214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Option b is right for the wrong reason: 1,200 makes 31 stable, and stability is what earns trust.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46 / 72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count every possible deal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With a count this small, every way of dealing the orders to two quarters can be listed and counted.</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0.397</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COIN FLIPS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5,000 sampled worlds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0.387</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EVERY DEAL, COUNTED</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exact share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 in 10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VERDICT</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chance makes Meera's headline often</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When to switch. </a:t>
            </a:r>
            <a:r>
              <a:rPr sz="1500" b="0" i="0">
                <a:solidFill>
                  <a:srgbClr val="1A1440"/>
                </a:solidFill>
                <a:latin typeface="Calibri"/>
              </a:rPr>
              <a:t>Count every deal while the count is small enough to list; flip coins once the list runs into the billions.</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6" name="Oval 2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8" name="Oval 27"/>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30" name="Oval 29"/>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2" name="Oval 31"/>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47 / 72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chapter 3</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senior repeats a rate only with its count beside it, every time.</a:t>
            </a:r>
          </a:p>
        </p:txBody>
      </p:sp>
      <p:pic>
        <p:nvPicPr>
          <p:cNvPr id="9" name="mermaid diagram" descr="f6bf7532b1bae9fb.png"/>
          <p:cNvPicPr>
            <a:picLocks noChangeAspect="1"/>
          </p:cNvPicPr>
          <p:nvPr/>
        </p:nvPicPr>
        <p:blipFill>
          <a:blip r:embed="rId7"/>
          <a:stretch>
            <a:fillRect/>
          </a:stretch>
        </p:blipFill>
        <p:spPr>
          <a:xfrm>
            <a:off x="780897" y="1855756"/>
            <a:ext cx="10629900" cy="1357312"/>
          </a:xfrm>
          <a:prstGeom prst="rect">
            <a:avLst/>
          </a:prstGeom>
        </p:spPr>
      </p:pic>
      <p:sp>
        <p:nvSpPr>
          <p:cNvPr id="10" name="Rounded Rectangle 9"/>
          <p:cNvSpPr/>
          <p:nvPr/>
        </p:nvSpPr>
        <p:spPr>
          <a:xfrm>
            <a:off x="530352" y="33593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211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930872"/>
            <a:ext cx="237744" cy="237744"/>
          </a:xfrm>
          <a:prstGeom prst="rect">
            <a:avLst/>
          </a:prstGeom>
        </p:spPr>
      </p:pic>
      <p:sp>
        <p:nvSpPr>
          <p:cNvPr id="13" name="TextBox 12"/>
          <p:cNvSpPr txBox="1"/>
          <p:nvPr/>
        </p:nvSpPr>
        <p:spPr>
          <a:xfrm>
            <a:off x="1399031" y="35056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725132"/>
            <a:ext cx="9987991" cy="941832"/>
          </a:xfrm>
          <a:prstGeom prst="rect">
            <a:avLst/>
          </a:prstGeom>
          <a:noFill/>
        </p:spPr>
        <p:txBody>
          <a:bodyPr wrap="square" anchor="t" lIns="0" rIns="0" tIns="0" bIns="0">
            <a:spAutoFit/>
          </a:bodyPr>
          <a:lstStyle/>
          <a:p>
            <a:r>
              <a:rPr sz="1500" b="0" i="0">
                <a:solidFill>
                  <a:srgbClr val="1A1440"/>
                </a:solidFill>
                <a:latin typeface="Calibri"/>
              </a:rPr>
              <a:t>Student's rise is real arithmetic on too few orders to act on. Count them, say how often chance makes the rise, and give Meera the count that would reopen it. That is a complete answer, and it costs nothing to be right later.</a:t>
            </a:r>
          </a:p>
        </p:txBody>
      </p:sp>
      <p:sp>
        <p:nvSpPr>
          <p:cNvPr id="15" name="Rounded Rectangle 14"/>
          <p:cNvSpPr/>
          <p:nvPr/>
        </p:nvSpPr>
        <p:spPr>
          <a:xfrm>
            <a:off x="530352" y="49047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2369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346668"/>
            <a:ext cx="237744" cy="237744"/>
          </a:xfrm>
          <a:prstGeom prst="rect">
            <a:avLst/>
          </a:prstGeom>
        </p:spPr>
      </p:pic>
      <p:sp>
        <p:nvSpPr>
          <p:cNvPr id="18" name="TextBox 17"/>
          <p:cNvSpPr txBox="1"/>
          <p:nvPr/>
        </p:nvSpPr>
        <p:spPr>
          <a:xfrm>
            <a:off x="1399031" y="50510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270468"/>
            <a:ext cx="9987991" cy="682752"/>
          </a:xfrm>
          <a:prstGeom prst="rect">
            <a:avLst/>
          </a:prstGeom>
          <a:noFill/>
        </p:spPr>
        <p:txBody>
          <a:bodyPr wrap="square" anchor="t" lIns="0" rIns="0" tIns="0" bIns="0">
            <a:spAutoFit/>
          </a:bodyPr>
          <a:lstStyle/>
          <a:p>
            <a:r>
              <a:rPr sz="1500" b="0" i="0">
                <a:solidFill>
                  <a:srgbClr val="1A1440"/>
                </a:solidFill>
                <a:latin typeface="Calibri"/>
              </a:rPr>
              <a:t>[F] 42 percent on 12 users against 31 percent on 1,200; which do you trust? [D] A segment is up 40 percent and the CEO wants to move budget: trust, test or wait?</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4" name="Oval 23"/>
          <p:cNvSpPr/>
          <p:nvPr/>
        </p:nvSpPr>
        <p:spPr>
          <a:xfrm>
            <a:off x="37816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91343"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count behind 40 percent</a:t>
            </a:r>
          </a:p>
        </p:txBody>
      </p:sp>
      <p:sp>
        <p:nvSpPr>
          <p:cNvPr id="26" name="Oval 2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8" name="Oval 2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48 / 72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discount, split by segment</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A campaign's lift is a comparison of two groups, so check who is in each group before trusting it.</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or the usual wobble</a:t>
            </a:r>
          </a:p>
        </p:txBody>
      </p:sp>
      <p:sp>
        <p:nvSpPr>
          <p:cNvPr id="11" name="Rounded Rectangle 10"/>
          <p:cNvSpPr/>
          <p:nvPr/>
        </p:nvSpPr>
        <p:spPr>
          <a:xfrm>
            <a:off x="2687407"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and worth acting on</a:t>
            </a:r>
          </a:p>
        </p:txBody>
      </p:sp>
      <p:sp>
        <p:nvSpPr>
          <p:cNvPr id="12" name="Rounded Rectangle 11"/>
          <p:cNvSpPr/>
          <p:nvPr/>
        </p:nvSpPr>
        <p:spPr>
          <a:xfrm>
            <a:off x="464329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count behind 40 percent</a:t>
            </a:r>
          </a:p>
        </p:txBody>
      </p:sp>
      <p:sp>
        <p:nvSpPr>
          <p:cNvPr id="13" name="Rounded Rectangle 12"/>
          <p:cNvSpPr/>
          <p:nvPr/>
        </p:nvSpPr>
        <p:spPr>
          <a:xfrm>
            <a:off x="6717613" y="5074920"/>
            <a:ext cx="214223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discount, split by segment</a:t>
            </a:r>
          </a:p>
        </p:txBody>
      </p:sp>
      <p:sp>
        <p:nvSpPr>
          <p:cNvPr id="14" name="Rounded Rectangle 13"/>
          <p:cNvSpPr/>
          <p:nvPr/>
        </p:nvSpPr>
        <p:spPr>
          <a:xfrm>
            <a:off x="8969581"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note that may say not yet</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real or the usual wobble</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49 / 72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did the monsoon sale work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Marketing says it lifted revenue 6 percent and wants it again for Diwali, at 15 percent off.</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"Did the discount work, or did those customers buy anyway?" Meera Raghavan, with the marketing lead's report open</a:t>
            </a:r>
          </a:p>
        </p:txBody>
      </p:sp>
      <p:sp>
        <p:nvSpPr>
          <p:cNvPr id="14" name="TextBox 13"/>
          <p:cNvSpPr txBox="1"/>
          <p:nvPr/>
        </p:nvSpPr>
        <p:spPr>
          <a:xfrm>
            <a:off x="530352" y="3243072"/>
            <a:ext cx="3527450" cy="698500"/>
          </a:xfrm>
          <a:prstGeom prst="rect">
            <a:avLst/>
          </a:prstGeom>
          <a:noFill/>
        </p:spPr>
        <p:txBody>
          <a:bodyPr wrap="square" anchor="t" lIns="0" rIns="0" tIns="0" bIns="0">
            <a:spAutoFit/>
          </a:bodyPr>
          <a:lstStyle/>
          <a:p>
            <a:pPr algn="l"/>
            <a:r>
              <a:rPr sz="4400" b="0" i="0">
                <a:solidFill>
                  <a:srgbClr val="5B3FD6"/>
                </a:solidFill>
                <a:latin typeface="Georgia"/>
              </a:rPr>
              <a:t>15%</a:t>
            </a:r>
          </a:p>
        </p:txBody>
      </p:sp>
      <p:sp>
        <p:nvSpPr>
          <p:cNvPr id="15" name="TextBox 14"/>
          <p:cNvSpPr txBox="1"/>
          <p:nvPr/>
        </p:nvSpPr>
        <p:spPr>
          <a:xfrm>
            <a:off x="530352" y="397814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OFF</a:t>
            </a:r>
          </a:p>
        </p:txBody>
      </p:sp>
      <p:sp>
        <p:nvSpPr>
          <p:cNvPr id="16" name="TextBox 15"/>
          <p:cNvSpPr txBox="1"/>
          <p:nvPr/>
        </p:nvSpPr>
        <p:spPr>
          <a:xfrm>
            <a:off x="530352" y="4179316"/>
            <a:ext cx="3527450" cy="193421"/>
          </a:xfrm>
          <a:prstGeom prst="rect">
            <a:avLst/>
          </a:prstGeom>
          <a:noFill/>
        </p:spPr>
        <p:txBody>
          <a:bodyPr wrap="square" anchor="t" lIns="0" rIns="0" tIns="0" bIns="0">
            <a:spAutoFit/>
          </a:bodyPr>
          <a:lstStyle/>
          <a:p>
            <a:pPr algn="l"/>
            <a:r>
              <a:rPr sz="950" b="0" i="0">
                <a:solidFill>
                  <a:srgbClr val="6B6690"/>
                </a:solidFill>
                <a:latin typeface="Calibri"/>
              </a:rPr>
              <a:t>Monsoon Sale, 5 to 19 August, aimed at Retail-Plus</a:t>
            </a:r>
          </a:p>
        </p:txBody>
      </p:sp>
      <p:sp>
        <p:nvSpPr>
          <p:cNvPr id="17" name="Rectangle 16"/>
          <p:cNvSpPr/>
          <p:nvPr/>
        </p:nvSpPr>
        <p:spPr>
          <a:xfrm>
            <a:off x="530352" y="443179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332122" y="3243072"/>
            <a:ext cx="3527450"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19" name="TextBox 18"/>
          <p:cNvSpPr txBox="1"/>
          <p:nvPr/>
        </p:nvSpPr>
        <p:spPr>
          <a:xfrm>
            <a:off x="4332122" y="397814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CLAIMED LIFT</a:t>
            </a:r>
          </a:p>
        </p:txBody>
      </p:sp>
      <p:sp>
        <p:nvSpPr>
          <p:cNvPr id="20" name="TextBox 19"/>
          <p:cNvSpPr txBox="1"/>
          <p:nvPr/>
        </p:nvSpPr>
        <p:spPr>
          <a:xfrm>
            <a:off x="4332122" y="4179316"/>
            <a:ext cx="3527450" cy="193421"/>
          </a:xfrm>
          <a:prstGeom prst="rect">
            <a:avLst/>
          </a:prstGeom>
          <a:noFill/>
        </p:spPr>
        <p:txBody>
          <a:bodyPr wrap="square" anchor="t" lIns="0" rIns="0" tIns="0" bIns="0">
            <a:spAutoFit/>
          </a:bodyPr>
          <a:lstStyle/>
          <a:p>
            <a:pPr algn="l"/>
            <a:r>
              <a:rPr sz="950" b="0" i="0">
                <a:solidFill>
                  <a:srgbClr val="6B6690"/>
                </a:solidFill>
                <a:latin typeface="Calibri"/>
              </a:rPr>
              <a:t>the marketing lead's report</a:t>
            </a:r>
          </a:p>
        </p:txBody>
      </p:sp>
      <p:sp>
        <p:nvSpPr>
          <p:cNvPr id="21" name="Rectangle 20"/>
          <p:cNvSpPr/>
          <p:nvPr/>
        </p:nvSpPr>
        <p:spPr>
          <a:xfrm>
            <a:off x="4332122" y="443179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33892" y="3243072"/>
            <a:ext cx="3527450" cy="698500"/>
          </a:xfrm>
          <a:prstGeom prst="rect">
            <a:avLst/>
          </a:prstGeom>
          <a:noFill/>
        </p:spPr>
        <p:txBody>
          <a:bodyPr wrap="square" anchor="t" lIns="0" rIns="0" tIns="0" bIns="0">
            <a:spAutoFit/>
          </a:bodyPr>
          <a:lstStyle/>
          <a:p>
            <a:pPr algn="l"/>
            <a:r>
              <a:rPr sz="4400" b="0" i="0">
                <a:solidFill>
                  <a:srgbClr val="5B3FD6"/>
                </a:solidFill>
                <a:latin typeface="Georgia"/>
              </a:rPr>
              <a:t>17.6%</a:t>
            </a:r>
          </a:p>
        </p:txBody>
      </p:sp>
      <p:sp>
        <p:nvSpPr>
          <p:cNvPr id="23" name="TextBox 22"/>
          <p:cNvSpPr txBox="1"/>
          <p:nvPr/>
        </p:nvSpPr>
        <p:spPr>
          <a:xfrm>
            <a:off x="8133892" y="397814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MORE ORDERS</a:t>
            </a:r>
          </a:p>
        </p:txBody>
      </p:sp>
      <p:sp>
        <p:nvSpPr>
          <p:cNvPr id="24" name="TextBox 23"/>
          <p:cNvSpPr txBox="1"/>
          <p:nvPr/>
        </p:nvSpPr>
        <p:spPr>
          <a:xfrm>
            <a:off x="8133892" y="4179316"/>
            <a:ext cx="3527450" cy="193421"/>
          </a:xfrm>
          <a:prstGeom prst="rect">
            <a:avLst/>
          </a:prstGeom>
          <a:noFill/>
        </p:spPr>
        <p:txBody>
          <a:bodyPr wrap="square" anchor="t" lIns="0" rIns="0" tIns="0" bIns="0">
            <a:spAutoFit/>
          </a:bodyPr>
          <a:lstStyle/>
          <a:p>
            <a:pPr algn="l"/>
            <a:r>
              <a:rPr sz="950" b="0" i="0">
                <a:solidFill>
                  <a:srgbClr val="6B6690"/>
                </a:solidFill>
                <a:latin typeface="Calibri"/>
              </a:rPr>
              <a:t>needed at 15 percent off just to stand still</a:t>
            </a:r>
          </a:p>
        </p:txBody>
      </p:sp>
      <p:sp>
        <p:nvSpPr>
          <p:cNvPr id="25" name="Rectangle 24"/>
          <p:cNvSpPr/>
          <p:nvPr/>
        </p:nvSpPr>
        <p:spPr>
          <a:xfrm>
            <a:off x="8133892" y="443179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8" name="Oval 2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0" name="Oval 29"/>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2" name="Oval 31"/>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34" name="Oval 33"/>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50 / 72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sale's lift, and a blend that reverses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marketplace reads every sale's lift, and a university's admissions show how a blend can mislead.</a:t>
            </a:r>
          </a:p>
        </p:txBody>
      </p:sp>
      <p:sp>
        <p:nvSpPr>
          <p:cNvPr id="9" name="Rounded Rectangle 8"/>
          <p:cNvSpPr/>
          <p:nvPr/>
        </p:nvSpPr>
        <p:spPr>
          <a:xfrm>
            <a:off x="530352" y="1956816"/>
            <a:ext cx="5474055"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hopping-cart_3d6cc98c6b44.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A MARKETPLACE</a:t>
            </a:r>
          </a:p>
        </p:txBody>
      </p:sp>
      <p:sp>
        <p:nvSpPr>
          <p:cNvPr id="13" name="TextBox 12"/>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Flipkart, Big Billion Days</a:t>
            </a:r>
          </a:p>
        </p:txBody>
      </p:sp>
      <p:sp>
        <p:nvSpPr>
          <p:cNvPr id="14" name="TextBox 13"/>
          <p:cNvSpPr txBox="1"/>
          <p:nvPr/>
        </p:nvSpPr>
        <p:spPr>
          <a:xfrm>
            <a:off x="731519" y="3303524"/>
            <a:ext cx="5071719" cy="581406"/>
          </a:xfrm>
          <a:prstGeom prst="rect">
            <a:avLst/>
          </a:prstGeom>
          <a:noFill/>
        </p:spPr>
        <p:txBody>
          <a:bodyPr wrap="square" anchor="t" lIns="0" rIns="0" tIns="0" bIns="0">
            <a:spAutoFit/>
          </a:bodyPr>
          <a:lstStyle/>
          <a:p>
            <a:pPr algn="l"/>
            <a:r>
              <a:rPr sz="1100" b="0" i="0">
                <a:solidFill>
                  <a:srgbClr val="6B6690"/>
                </a:solidFill>
                <a:latin typeface="Calibri"/>
              </a:rPr>
              <a:t>The 2022 sale ran 23 to 30 September and passed a billion customer visits for the first time; the question is which customers the rise came from.</a:t>
            </a:r>
          </a:p>
        </p:txBody>
      </p:sp>
      <p:sp>
        <p:nvSpPr>
          <p:cNvPr id="15" name="Rounded Rectangle 14"/>
          <p:cNvSpPr/>
          <p:nvPr/>
        </p:nvSpPr>
        <p:spPr>
          <a:xfrm>
            <a:off x="6187287" y="1956816"/>
            <a:ext cx="5474055"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88455"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graduation-cap_203dca4ca8a8.png"/>
          <p:cNvPicPr>
            <a:picLocks noChangeAspect="1"/>
          </p:cNvPicPr>
          <p:nvPr/>
        </p:nvPicPr>
        <p:blipFill>
          <a:blip r:embed="rId5"/>
          <a:stretch>
            <a:fillRect/>
          </a:stretch>
        </p:blipFill>
        <p:spPr>
          <a:xfrm>
            <a:off x="6498183" y="2267712"/>
            <a:ext cx="237744" cy="237744"/>
          </a:xfrm>
          <a:prstGeom prst="rect">
            <a:avLst/>
          </a:prstGeom>
        </p:spPr>
      </p:pic>
      <p:sp>
        <p:nvSpPr>
          <p:cNvPr id="18" name="TextBox 17"/>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A PUBLIC CASE</a:t>
            </a:r>
          </a:p>
        </p:txBody>
      </p:sp>
      <p:sp>
        <p:nvSpPr>
          <p:cNvPr id="19" name="TextBox 18"/>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FFFFFF"/>
                </a:solidFill>
                <a:latin typeface="Calibri"/>
              </a:rPr>
              <a:t>UC Berkeley, 1973</a:t>
            </a:r>
          </a:p>
        </p:txBody>
      </p:sp>
      <p:sp>
        <p:nvSpPr>
          <p:cNvPr id="20" name="TextBox 19"/>
          <p:cNvSpPr txBox="1"/>
          <p:nvPr/>
        </p:nvSpPr>
        <p:spPr>
          <a:xfrm>
            <a:off x="6388455" y="3303524"/>
            <a:ext cx="5071719" cy="399796"/>
          </a:xfrm>
          <a:prstGeom prst="rect">
            <a:avLst/>
          </a:prstGeom>
          <a:noFill/>
        </p:spPr>
        <p:txBody>
          <a:bodyPr wrap="square" anchor="t" lIns="0" rIns="0" tIns="0" bIns="0">
            <a:spAutoFit/>
          </a:bodyPr>
          <a:lstStyle/>
          <a:p>
            <a:pPr algn="l"/>
            <a:r>
              <a:rPr sz="1100" b="0" i="0">
                <a:solidFill>
                  <a:srgbClr val="CFC9EE"/>
                </a:solidFill>
                <a:latin typeface="Calibri"/>
              </a:rPr>
              <a:t>About 44 percent of men and 35 percent of women were admitted overall; department by department the small bias ran in favour of women.</a:t>
            </a: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3" name="Oval 2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5" name="Oval 2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7" name="Oval 26"/>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9" name="Oval 28"/>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51 / 72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answer "did the discount work"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compares two things, and each rests on a different assumption.</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2297233"/>
                <a:gridCol w="4746601"/>
                <a:gridCol w="4087156"/>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What it compares</a:t>
                      </a:r>
                    </a:p>
                  </a:txBody>
                  <a:tcPr marL="101600" marR="101600" marT="38100" marB="38100" anchor="ctr">
                    <a:solidFill>
                      <a:srgbClr val="1A0F5C"/>
                    </a:solidFill>
                  </a:tcPr>
                </a:tc>
                <a:tc>
                  <a:txBody>
                    <a:bodyPr/>
                    <a:lstStyle/>
                    <a:p>
                      <a:r>
                        <a:rPr sz="1450" b="1" i="0">
                          <a:solidFill>
                            <a:srgbClr val="FFFFFF"/>
                          </a:solidFill>
                          <a:latin typeface="Calibri"/>
                        </a:rPr>
                        <a:t>What it risks</a:t>
                      </a:r>
                    </a:p>
                  </a:txBody>
                  <a:tcPr marL="101600" marR="101600" marT="38100" marB="38100" anchor="ctr">
                    <a:solidFill>
                      <a:srgbClr val="1A0F5C"/>
                    </a:solidFill>
                  </a:tcPr>
                </a:tc>
              </a:tr>
              <a:tr h="369824">
                <a:tc>
                  <a:txBody>
                    <a:bodyPr/>
                    <a:lstStyle/>
                    <a:p>
                      <a:r>
                        <a:rPr sz="1400" b="0" i="0">
                          <a:solidFill>
                            <a:srgbClr val="1A1440"/>
                          </a:solidFill>
                          <a:latin typeface="Calibri"/>
                        </a:rPr>
                        <a:t>A. Before and after</a:t>
                      </a:r>
                    </a:p>
                  </a:txBody>
                  <a:tcPr marL="101600" marR="101600" marT="38100" marB="38100" anchor="ctr">
                    <a:solidFill>
                      <a:srgbClr val="FFFFFF"/>
                    </a:solidFill>
                  </a:tcPr>
                </a:tc>
                <a:tc>
                  <a:txBody>
                    <a:bodyPr/>
                    <a:lstStyle/>
                    <a:p>
                      <a:r>
                        <a:rPr sz="1400" b="0" i="0">
                          <a:solidFill>
                            <a:srgbClr val="1A1440"/>
                          </a:solidFill>
                          <a:latin typeface="Calibri"/>
                        </a:rPr>
                        <a:t>The sale month against the month before</a:t>
                      </a:r>
                    </a:p>
                  </a:txBody>
                  <a:tcPr marL="101600" marR="101600" marT="38100" marB="38100" anchor="ctr">
                    <a:solidFill>
                      <a:srgbClr val="FFFFFF"/>
                    </a:solidFill>
                  </a:tcPr>
                </a:tc>
                <a:tc>
                  <a:txBody>
                    <a:bodyPr/>
                    <a:lstStyle/>
                    <a:p>
                      <a:r>
                        <a:rPr sz="1400" b="0" i="0">
                          <a:solidFill>
                            <a:srgbClr val="1A1440"/>
                          </a:solidFill>
                          <a:latin typeface="Calibri"/>
                        </a:rPr>
                        <a:t>Everything else that changed that month</a:t>
                      </a:r>
                    </a:p>
                  </a:txBody>
                  <a:tcPr marL="101600" marR="101600" marT="38100" marB="38100" anchor="ctr">
                    <a:solidFill>
                      <a:srgbClr val="FFFFFF"/>
                    </a:solidFill>
                  </a:tcPr>
                </a:tc>
              </a:tr>
              <a:tr h="369824">
                <a:tc>
                  <a:txBody>
                    <a:bodyPr/>
                    <a:lstStyle/>
                    <a:p>
                      <a:r>
                        <a:rPr sz="1400" b="0" i="0">
                          <a:solidFill>
                            <a:srgbClr val="1A1440"/>
                          </a:solidFill>
                          <a:latin typeface="Calibri"/>
                        </a:rPr>
                        <a:t>B. Blended</a:t>
                      </a:r>
                    </a:p>
                  </a:txBody>
                  <a:tcPr marL="101600" marR="101600" marT="38100" marB="38100" anchor="ctr">
                    <a:solidFill>
                      <a:srgbClr val="F4F2FA"/>
                    </a:solidFill>
                  </a:tcPr>
                </a:tc>
                <a:tc>
                  <a:txBody>
                    <a:bodyPr/>
                    <a:lstStyle/>
                    <a:p>
                      <a:r>
                        <a:rPr sz="1400" b="0" i="0">
                          <a:solidFill>
                            <a:srgbClr val="1A1440"/>
                          </a:solidFill>
                          <a:latin typeface="Calibri"/>
                        </a:rPr>
                        <a:t>Everyone who got it against everyone who did not</a:t>
                      </a:r>
                    </a:p>
                  </a:txBody>
                  <a:tcPr marL="101600" marR="101600" marT="38100" marB="38100" anchor="ctr">
                    <a:solidFill>
                      <a:srgbClr val="F4F2FA"/>
                    </a:solidFill>
                  </a:tcPr>
                </a:tc>
                <a:tc>
                  <a:txBody>
                    <a:bodyPr/>
                    <a:lstStyle/>
                    <a:p>
                      <a:r>
                        <a:rPr sz="1400" b="0" i="0">
                          <a:solidFill>
                            <a:srgbClr val="1A1440"/>
                          </a:solidFill>
                          <a:latin typeface="Calibri"/>
                        </a:rPr>
                        <a:t>Two groups built from different customers</a:t>
                      </a:r>
                    </a:p>
                  </a:txBody>
                  <a:tcPr marL="101600" marR="101600" marT="38100" marB="38100" anchor="ctr">
                    <a:solidFill>
                      <a:srgbClr val="F4F2FA"/>
                    </a:solidFill>
                  </a:tcPr>
                </a:tc>
              </a:tr>
              <a:tr h="369824">
                <a:tc>
                  <a:txBody>
                    <a:bodyPr/>
                    <a:lstStyle/>
                    <a:p>
                      <a:r>
                        <a:rPr sz="1400" b="0" i="0">
                          <a:solidFill>
                            <a:srgbClr val="1A1440"/>
                          </a:solidFill>
                          <a:latin typeface="Calibri"/>
                        </a:rPr>
                        <a:t>C. Inside each segment</a:t>
                      </a:r>
                    </a:p>
                  </a:txBody>
                  <a:tcPr marL="101600" marR="101600" marT="38100" marB="38100" anchor="ctr">
                    <a:solidFill>
                      <a:srgbClr val="FFFFFF"/>
                    </a:solidFill>
                  </a:tcPr>
                </a:tc>
                <a:tc>
                  <a:txBody>
                    <a:bodyPr/>
                    <a:lstStyle/>
                    <a:p>
                      <a:r>
                        <a:rPr sz="1400" b="0" i="0">
                          <a:solidFill>
                            <a:srgbClr val="1A1440"/>
                          </a:solidFill>
                          <a:latin typeface="Calibri"/>
                        </a:rPr>
                        <a:t>The same comparison, segment by segment</a:t>
                      </a:r>
                    </a:p>
                  </a:txBody>
                  <a:tcPr marL="101600" marR="101600" marT="38100" marB="38100" anchor="ctr">
                    <a:solidFill>
                      <a:srgbClr val="FFFFFF"/>
                    </a:solidFill>
                  </a:tcPr>
                </a:tc>
                <a:tc>
                  <a:txBody>
                    <a:bodyPr/>
                    <a:lstStyle/>
                    <a:p>
                      <a:r>
                        <a:rPr sz="1400" b="0" i="0">
                          <a:solidFill>
                            <a:srgbClr val="1A1440"/>
                          </a:solidFill>
                          <a:latin typeface="Calibri"/>
                        </a:rPr>
                        <a:t>Anything that differs inside a segment</a:t>
                      </a:r>
                    </a:p>
                  </a:txBody>
                  <a:tcPr marL="101600" marR="101600" marT="38100" marB="38100" anchor="ctr">
                    <a:solidFill>
                      <a:srgbClr val="FFFFFF"/>
                    </a:solidFill>
                  </a:tcPr>
                </a:tc>
              </a:tr>
              <a:tr h="369824">
                <a:tc>
                  <a:txBody>
                    <a:bodyPr/>
                    <a:lstStyle/>
                    <a:p>
                      <a:r>
                        <a:rPr sz="1400" b="0" i="0">
                          <a:solidFill>
                            <a:srgbClr val="1A1440"/>
                          </a:solidFill>
                          <a:latin typeface="Calibri"/>
                        </a:rPr>
                        <a:t>D. Both on one mix</a:t>
                      </a:r>
                    </a:p>
                  </a:txBody>
                  <a:tcPr marL="101600" marR="101600" marT="38100" marB="38100" anchor="ctr">
                    <a:solidFill>
                      <a:srgbClr val="F4F2FA"/>
                    </a:solidFill>
                  </a:tcPr>
                </a:tc>
                <a:tc>
                  <a:txBody>
                    <a:bodyPr/>
                    <a:lstStyle/>
                    <a:p>
                      <a:r>
                        <a:rPr sz="1400" b="0" i="0">
                          <a:solidFill>
                            <a:srgbClr val="1A1440"/>
                          </a:solidFill>
                          <a:latin typeface="Calibri"/>
                        </a:rPr>
                        <a:t>Segment averages weighted to one mix</a:t>
                      </a:r>
                    </a:p>
                  </a:txBody>
                  <a:tcPr marL="101600" marR="101600" marT="38100" marB="38100" anchor="ctr">
                    <a:solidFill>
                      <a:srgbClr val="F4F2FA"/>
                    </a:solidFill>
                  </a:tcPr>
                </a:tc>
                <a:tc>
                  <a:txBody>
                    <a:bodyPr/>
                    <a:lstStyle/>
                    <a:p>
                      <a:r>
                        <a:rPr sz="1400" b="0" i="0">
                          <a:solidFill>
                            <a:srgbClr val="1A1440"/>
                          </a:solidFill>
                          <a:latin typeface="Calibri"/>
                        </a:rPr>
                        <a:t>The same as C, said as one number</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 with D as the second route. </a:t>
            </a:r>
            <a:r>
              <a:rPr sz="1500" b="1" i="0">
                <a:solidFill>
                  <a:srgbClr val="1A1440"/>
                </a:solidFill>
                <a:latin typeface="Calibri"/>
              </a:rPr>
              <a:t>What would change it.</a:t>
            </a:r>
            <a:r>
              <a:rPr sz="1500" b="0" i="0">
                <a:solidFill>
                  <a:srgbClr val="1A1440"/>
                </a:solidFill>
                <a:latin typeface="Calibri"/>
              </a:rPr>
              <a:t> A group chosen at random, which makes B fair.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52 / 72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does Marketing's number reproduce?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disagreeing with anyone's number, rebuild it from the same tables.</a:t>
            </a:r>
          </a:p>
        </p:txBody>
      </p:sp>
      <p:pic>
        <p:nvPicPr>
          <p:cNvPr id="9" name="mermaid diagram" descr="0f3d5ec314288c83.png"/>
          <p:cNvPicPr>
            <a:picLocks noChangeAspect="1"/>
          </p:cNvPicPr>
          <p:nvPr/>
        </p:nvPicPr>
        <p:blipFill>
          <a:blip r:embed="rId5"/>
          <a:stretch>
            <a:fillRect/>
          </a:stretch>
        </p:blipFill>
        <p:spPr>
          <a:xfrm>
            <a:off x="2665458" y="1664208"/>
            <a:ext cx="6860778"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Marketing's lift will come out at: a) about 6 percent, as reported; b) about 3 percent; c) negative; d) impossible to reproduce from these tables.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53 / 72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6.1 percent, as reported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Marketing's arithmetic is right, which is why the next step matters.</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3,395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GOT THE SALE</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August revenue per customer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3,200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DID NOT</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August revenue per customer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+6.1%</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BLENDED LIFT</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Marketing's number, reproduced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a. Reproducing the number first is what keeps Monday civil.</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6" name="Oval 25"/>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8" name="Oval 27"/>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30" name="Oval 29"/>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54 / 72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draft trusts the reproduced number and writes the plan.</a:t>
            </a:r>
          </a:p>
        </p:txBody>
      </p:sp>
      <p:pic>
        <p:nvPicPr>
          <p:cNvPr id="9" name="mermaid diagram" descr="797fc483bbb751ec.png"/>
          <p:cNvPicPr>
            <a:picLocks noChangeAspect="1"/>
          </p:cNvPicPr>
          <p:nvPr/>
        </p:nvPicPr>
        <p:blipFill>
          <a:blip r:embed="rId6"/>
          <a:stretch>
            <a:fillRect/>
          </a:stretch>
        </p:blipFill>
        <p:spPr>
          <a:xfrm>
            <a:off x="2152497" y="1956816"/>
            <a:ext cx="7886700" cy="2357437"/>
          </a:xfrm>
          <a:prstGeom prst="rect">
            <a:avLst/>
          </a:prstGeom>
        </p:spPr>
      </p:pic>
      <p:sp>
        <p:nvSpPr>
          <p:cNvPr id="10" name="Rounded Rectangle 9"/>
          <p:cNvSpPr/>
          <p:nvPr/>
        </p:nvSpPr>
        <p:spPr>
          <a:xfrm>
            <a:off x="530352" y="4460557"/>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79278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4902517"/>
            <a:ext cx="237744" cy="237744"/>
          </a:xfrm>
          <a:prstGeom prst="rect">
            <a:avLst/>
          </a:prstGeom>
        </p:spPr>
      </p:pic>
      <p:sp>
        <p:nvSpPr>
          <p:cNvPr id="13" name="TextBox 12"/>
          <p:cNvSpPr txBox="1"/>
          <p:nvPr/>
        </p:nvSpPr>
        <p:spPr>
          <a:xfrm>
            <a:off x="1399031" y="460686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826317"/>
            <a:ext cx="9987991" cy="682752"/>
          </a:xfrm>
          <a:prstGeom prst="rect">
            <a:avLst/>
          </a:prstGeom>
          <a:noFill/>
        </p:spPr>
        <p:txBody>
          <a:bodyPr wrap="square" anchor="t" lIns="0" rIns="0" tIns="0" bIns="0">
            <a:spAutoFit/>
          </a:bodyPr>
          <a:lstStyle/>
          <a:p>
            <a:r>
              <a:rPr sz="1500" b="0" i="0">
                <a:solidFill>
                  <a:srgbClr val="1A1440"/>
                </a:solidFill>
                <a:latin typeface="Calibri"/>
              </a:rPr>
              <a:t>"The discount worked: exposed customers spent Rs 3,395 against Rs 3,200, up 6.1%; repeat it for Diwali." A correct number on a comparison nobody checked.</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55 / 72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can be wrong: a blend of unlike groups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two stores, a promotion, and a total that rises while both stores fall.</a:t>
            </a:r>
          </a:p>
        </p:txBody>
      </p:sp>
      <p:graphicFrame>
        <p:nvGraphicFramePr>
          <p:cNvPr id="9" name="Table 8"/>
          <p:cNvGraphicFramePr>
            <a:graphicFrameLocks noGrp="1"/>
          </p:cNvGraphicFramePr>
          <p:nvPr/>
        </p:nvGraphicFramePr>
        <p:xfrm>
          <a:off x="530352" y="1956816"/>
          <a:ext cx="11130989" cy="1479296"/>
        </p:xfrm>
        <a:graphic>
          <a:graphicData uri="http://schemas.openxmlformats.org/drawingml/2006/table">
            <a:tbl>
              <a:tblPr firstRow="0" bandRow="0">
                <a:tableStyleId>{2D5ABB26-0587-4C30-8999-92F81FD0307C}</a:tableStyleId>
              </a:tblPr>
              <a:tblGrid>
                <a:gridCol w="4215393"/>
                <a:gridCol w="3457798"/>
                <a:gridCol w="3457798"/>
              </a:tblGrid>
              <a:tr h="369824">
                <a:tc>
                  <a:txBody>
                    <a:bodyPr/>
                    <a:lstStyle/>
                    <a:p>
                      <a:r>
                        <a:rPr sz="1450" b="1" i="0">
                          <a:solidFill>
                            <a:srgbClr val="FFFFFF"/>
                          </a:solidFill>
                          <a:latin typeface="Calibri"/>
                        </a:rPr>
                        <a:t>Invented</a:t>
                      </a:r>
                    </a:p>
                  </a:txBody>
                  <a:tcPr marL="101600" marR="101600" marT="38100" marB="38100" anchor="ctr">
                    <a:solidFill>
                      <a:srgbClr val="1A0F5C"/>
                    </a:solidFill>
                  </a:tcPr>
                </a:tc>
                <a:tc>
                  <a:txBody>
                    <a:bodyPr/>
                    <a:lstStyle/>
                    <a:p>
                      <a:r>
                        <a:rPr sz="1450" b="1" i="0">
                          <a:solidFill>
                            <a:srgbClr val="FFFFFF"/>
                          </a:solidFill>
                          <a:latin typeface="Calibri"/>
                        </a:rPr>
                        <a:t>Promoted customers</a:t>
                      </a:r>
                    </a:p>
                  </a:txBody>
                  <a:tcPr marL="101600" marR="101600" marT="38100" marB="38100" anchor="ctr">
                    <a:solidFill>
                      <a:srgbClr val="1A0F5C"/>
                    </a:solidFill>
                  </a:tcPr>
                </a:tc>
                <a:tc>
                  <a:txBody>
                    <a:bodyPr/>
                    <a:lstStyle/>
                    <a:p>
                      <a:r>
                        <a:rPr sz="1450" b="1" i="0">
                          <a:solidFill>
                            <a:srgbClr val="FFFFFF"/>
                          </a:solidFill>
                          <a:latin typeface="Calibri"/>
                        </a:rPr>
                        <a:t>Others</a:t>
                      </a:r>
                    </a:p>
                  </a:txBody>
                  <a:tcPr marL="101600" marR="101600" marT="38100" marB="38100" anchor="ctr">
                    <a:solidFill>
                      <a:srgbClr val="1A0F5C"/>
                    </a:solidFill>
                  </a:tcPr>
                </a:tc>
              </a:tr>
              <a:tr h="369824">
                <a:tc>
                  <a:txBody>
                    <a:bodyPr/>
                    <a:lstStyle/>
                    <a:p>
                      <a:r>
                        <a:rPr sz="1400" b="0" i="0">
                          <a:solidFill>
                            <a:srgbClr val="1A1440"/>
                          </a:solidFill>
                          <a:latin typeface="Calibri"/>
                        </a:rPr>
                        <a:t>Big store, spend per customer</a:t>
                      </a:r>
                    </a:p>
                  </a:txBody>
                  <a:tcPr marL="101600" marR="101600" marT="38100" marB="38100" anchor="ctr">
                    <a:solidFill>
                      <a:srgbClr val="FFFFFF"/>
                    </a:solidFill>
                  </a:tcPr>
                </a:tc>
                <a:tc>
                  <a:txBody>
                    <a:bodyPr/>
                    <a:lstStyle/>
                    <a:p>
                      <a:r>
                        <a:rPr sz="1400" b="0" i="0">
                          <a:solidFill>
                            <a:srgbClr val="1A1440"/>
                          </a:solidFill>
                          <a:latin typeface="Calibri"/>
                        </a:rPr>
                        <a:t>Rs 900 (8 of 10 promoted)</a:t>
                      </a:r>
                    </a:p>
                  </a:txBody>
                  <a:tcPr marL="101600" marR="101600" marT="38100" marB="38100" anchor="ctr">
                    <a:solidFill>
                      <a:srgbClr val="FFFFFF"/>
                    </a:solidFill>
                  </a:tcPr>
                </a:tc>
                <a:tc>
                  <a:txBody>
                    <a:bodyPr/>
                    <a:lstStyle/>
                    <a:p>
                      <a:r>
                        <a:rPr sz="1400" b="0" i="0">
                          <a:solidFill>
                            <a:srgbClr val="1A1440"/>
                          </a:solidFill>
                          <a:latin typeface="Calibri"/>
                        </a:rPr>
                        <a:t>Rs 1,000 (2 of 10 others)</a:t>
                      </a:r>
                    </a:p>
                  </a:txBody>
                  <a:tcPr marL="101600" marR="101600" marT="38100" marB="38100" anchor="ctr">
                    <a:solidFill>
                      <a:srgbClr val="FFFFFF"/>
                    </a:solidFill>
                  </a:tcPr>
                </a:tc>
              </a:tr>
              <a:tr h="369824">
                <a:tc>
                  <a:txBody>
                    <a:bodyPr/>
                    <a:lstStyle/>
                    <a:p>
                      <a:r>
                        <a:rPr sz="1400" b="0" i="0">
                          <a:solidFill>
                            <a:srgbClr val="1A1440"/>
                          </a:solidFill>
                          <a:latin typeface="Calibri"/>
                        </a:rPr>
                        <a:t>Small store, spend per customer</a:t>
                      </a:r>
                    </a:p>
                  </a:txBody>
                  <a:tcPr marL="101600" marR="101600" marT="38100" marB="38100" anchor="ctr">
                    <a:solidFill>
                      <a:srgbClr val="F4F2FA"/>
                    </a:solidFill>
                  </a:tcPr>
                </a:tc>
                <a:tc>
                  <a:txBody>
                    <a:bodyPr/>
                    <a:lstStyle/>
                    <a:p>
                      <a:r>
                        <a:rPr sz="1400" b="0" i="0">
                          <a:solidFill>
                            <a:srgbClr val="1A1440"/>
                          </a:solidFill>
                          <a:latin typeface="Calibri"/>
                        </a:rPr>
                        <a:t>Rs 180 (2 of 10 promoted)</a:t>
                      </a:r>
                    </a:p>
                  </a:txBody>
                  <a:tcPr marL="101600" marR="101600" marT="38100" marB="38100" anchor="ctr">
                    <a:solidFill>
                      <a:srgbClr val="F4F2FA"/>
                    </a:solidFill>
                  </a:tcPr>
                </a:tc>
                <a:tc>
                  <a:txBody>
                    <a:bodyPr/>
                    <a:lstStyle/>
                    <a:p>
                      <a:r>
                        <a:rPr sz="1400" b="0" i="0">
                          <a:solidFill>
                            <a:srgbClr val="1A1440"/>
                          </a:solidFill>
                          <a:latin typeface="Calibri"/>
                        </a:rPr>
                        <a:t>Rs 200 (8 of 10 others)</a:t>
                      </a:r>
                    </a:p>
                  </a:txBody>
                  <a:tcPr marL="101600" marR="101600" marT="38100" marB="38100" anchor="ctr">
                    <a:solidFill>
                      <a:srgbClr val="F4F2FA"/>
                    </a:solidFill>
                  </a:tcPr>
                </a:tc>
              </a:tr>
              <a:tr h="369824">
                <a:tc>
                  <a:txBody>
                    <a:bodyPr/>
                    <a:lstStyle/>
                    <a:p>
                      <a:r>
                        <a:rPr sz="1400" b="1" i="0">
                          <a:solidFill>
                            <a:srgbClr val="1A1440"/>
                          </a:solidFill>
                          <a:latin typeface="Calibri"/>
                        </a:rPr>
                        <a:t>Blended</a:t>
                      </a:r>
                    </a:p>
                  </a:txBody>
                  <a:tcPr marL="101600" marR="101600" marT="38100" marB="38100" anchor="ctr">
                    <a:solidFill>
                      <a:srgbClr val="FFFFFF"/>
                    </a:solidFill>
                  </a:tcPr>
                </a:tc>
                <a:tc>
                  <a:txBody>
                    <a:bodyPr/>
                    <a:lstStyle/>
                    <a:p>
                      <a:r>
                        <a:rPr sz="1400" b="1" i="0">
                          <a:solidFill>
                            <a:srgbClr val="1A1440"/>
                          </a:solidFill>
                          <a:latin typeface="Calibri"/>
                        </a:rPr>
                        <a:t>Rs 756</a:t>
                      </a:r>
                    </a:p>
                  </a:txBody>
                  <a:tcPr marL="101600" marR="101600" marT="38100" marB="38100" anchor="ctr">
                    <a:solidFill>
                      <a:srgbClr val="FFFFFF"/>
                    </a:solidFill>
                  </a:tcPr>
                </a:tc>
                <a:tc>
                  <a:txBody>
                    <a:bodyPr/>
                    <a:lstStyle/>
                    <a:p>
                      <a:r>
                        <a:rPr sz="1400" b="1" i="0">
                          <a:solidFill>
                            <a:srgbClr val="1A1440"/>
                          </a:solidFill>
                          <a:latin typeface="Calibri"/>
                        </a:rPr>
                        <a:t>Rs 360</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3581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Split by segment before trusting a blend, and ask who is in each group.</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56 / 72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the split, inside each segment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comparison run in Retail-Plus and in Retail-Core, with the count behind every average.</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mix</a:t>
            </a:r>
          </a:p>
        </p:txBody>
      </p:sp>
      <p:sp>
        <p:nvSpPr>
          <p:cNvPr id="14" name="TextBox 13"/>
          <p:cNvSpPr txBox="1"/>
          <p:nvPr/>
        </p:nvSpPr>
        <p:spPr>
          <a:xfrm>
            <a:off x="694944"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The share of each group who are Retail-Plus members, from notebook 4's options cell.</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split</a:t>
            </a:r>
          </a:p>
        </p:txBody>
      </p:sp>
      <p:sp>
        <p:nvSpPr>
          <p:cNvPr id="19" name="TextBox 18"/>
          <p:cNvSpPr txBox="1"/>
          <p:nvPr/>
        </p:nvSpPr>
        <p:spPr>
          <a:xfrm>
            <a:off x="3523411"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Got it against did not, inside Retail-Plus and inside Retail-Core, notebook 4, level 3.</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picture</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Both segments and the blend side by side, one column chart.</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The line</a:t>
            </a:r>
          </a:p>
        </p:txBody>
      </p:sp>
      <p:sp>
        <p:nvSpPr>
          <p:cNvPr id="29" name="TextBox 28"/>
          <p:cNvSpPr txBox="1"/>
          <p:nvPr/>
        </p:nvSpPr>
        <p:spPr>
          <a:xfrm>
            <a:off x="9180347" y="3277870"/>
            <a:ext cx="2316403" cy="531876"/>
          </a:xfrm>
          <a:prstGeom prst="rect">
            <a:avLst/>
          </a:prstGeom>
          <a:noFill/>
        </p:spPr>
        <p:txBody>
          <a:bodyPr wrap="square" anchor="t" lIns="0" rIns="0" tIns="0" bIns="0">
            <a:spAutoFit/>
          </a:bodyPr>
          <a:lstStyle/>
          <a:p>
            <a:pPr algn="l"/>
            <a:r>
              <a:rPr sz="1000" b="0" i="0">
                <a:solidFill>
                  <a:srgbClr val="CFC9EE"/>
                </a:solidFill>
                <a:latin typeface="Calibri"/>
              </a:rPr>
              <a:t>What you tell Meera, with the reason the blend and the segments differ.</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32" name="Oval 3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4" name="Oval 3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6" name="Oval 35"/>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38" name="Oval 3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57 / 72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what to tell Meera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segments are the fair comparison, and the mix of customers is the reason the blend rose.</a:t>
            </a:r>
          </a:p>
        </p:txBody>
      </p:sp>
      <p:graphicFrame>
        <p:nvGraphicFramePr>
          <p:cNvPr id="9" name="Table 8"/>
          <p:cNvGraphicFramePr>
            <a:graphicFrameLocks noGrp="1"/>
          </p:cNvGraphicFramePr>
          <p:nvPr/>
        </p:nvGraphicFramePr>
        <p:xfrm>
          <a:off x="530352" y="1956816"/>
          <a:ext cx="11130990" cy="2204720"/>
        </p:xfrm>
        <a:graphic>
          <a:graphicData uri="http://schemas.openxmlformats.org/drawingml/2006/table">
            <a:tbl>
              <a:tblPr firstRow="0" bandRow="0">
                <a:tableStyleId>{2D5ABB26-0587-4C30-8999-92F81FD0307C}</a:tableStyleId>
              </a:tblPr>
              <a:tblGrid>
                <a:gridCol w="3958677"/>
                <a:gridCol w="7172313"/>
              </a:tblGrid>
              <a:tr h="369824">
                <a:tc>
                  <a:txBody>
                    <a:bodyPr/>
                    <a:lstStyle/>
                    <a:p>
                      <a:r>
                        <a:rPr sz="1450" b="1" i="0">
                          <a:solidFill>
                            <a:srgbClr val="FFFFFF"/>
                          </a:solidFill>
                          <a:latin typeface="Calibri"/>
                        </a:rPr>
                        <a:t>The draft</a:t>
                      </a:r>
                    </a:p>
                  </a:txBody>
                  <a:tcPr marL="101600" marR="101600" marT="38100" marB="38100" anchor="ctr">
                    <a:solidFill>
                      <a:srgbClr val="1A0F5C"/>
                    </a:solidFill>
                  </a:tcPr>
                </a:tc>
                <a:tc>
                  <a:txBody>
                    <a:bodyPr/>
                    <a:lstStyle/>
                    <a:p>
                      <a:r>
                        <a:rPr sz="1450" b="1" i="0">
                          <a:solidFill>
                            <a:srgbClr val="FFFFFF"/>
                          </a:solidFill>
                          <a:latin typeface="Calibri"/>
                        </a:rPr>
                        <a:t>The fix</a:t>
                      </a:r>
                    </a:p>
                  </a:txBody>
                  <a:tcPr marL="101600" marR="101600" marT="38100" marB="38100" anchor="ctr">
                    <a:solidFill>
                      <a:srgbClr val="1A0F5C"/>
                    </a:solidFill>
                  </a:tcPr>
                </a:tc>
              </a:tr>
              <a:tr h="611632">
                <a:tc>
                  <a:txBody>
                    <a:bodyPr/>
                    <a:lstStyle/>
                    <a:p>
                      <a:r>
                        <a:rPr sz="1400" b="0" i="0">
                          <a:solidFill>
                            <a:srgbClr val="1A1440"/>
                          </a:solidFill>
                          <a:latin typeface="Calibri"/>
                        </a:rPr>
                        <a:t>"The discount worked, up 6.1%."</a:t>
                      </a:r>
                    </a:p>
                  </a:txBody>
                  <a:tcPr marL="101600" marR="101600" marT="38100" marB="38100" anchor="ctr">
                    <a:solidFill>
                      <a:srgbClr val="FFFFFF"/>
                    </a:solidFill>
                  </a:tcPr>
                </a:tc>
                <a:tc>
                  <a:txBody>
                    <a:bodyPr/>
                    <a:lstStyle/>
                    <a:p>
                      <a:r>
                        <a:rPr sz="1400" b="0" i="0">
                          <a:solidFill>
                            <a:srgbClr val="1A1440"/>
                          </a:solidFill>
                          <a:latin typeface="Calibri"/>
                        </a:rPr>
                        <a:t>"Inside each segment, customers who got the sale spent ___ percent less than customers who did not."</a:t>
                      </a:r>
                    </a:p>
                  </a:txBody>
                  <a:tcPr marL="101600" marR="101600" marT="38100" marB="38100" anchor="ctr">
                    <a:solidFill>
                      <a:srgbClr val="FFFFFF"/>
                    </a:solidFill>
                  </a:tcPr>
                </a:tc>
              </a:tr>
              <a:tr h="611632">
                <a:tc>
                  <a:txBody>
                    <a:bodyPr/>
                    <a:lstStyle/>
                    <a:p>
                      <a:r>
                        <a:rPr sz="1400" b="0" i="0">
                          <a:solidFill>
                            <a:srgbClr val="1A1440"/>
                          </a:solidFill>
                          <a:latin typeface="Calibri"/>
                        </a:rPr>
                        <a:t>"Repeat it for Diwali."</a:t>
                      </a:r>
                    </a:p>
                  </a:txBody>
                  <a:tcPr marL="101600" marR="101600" marT="38100" marB="38100" anchor="ctr">
                    <a:solidFill>
                      <a:srgbClr val="F4F2FA"/>
                    </a:solidFill>
                  </a:tcPr>
                </a:tc>
                <a:tc>
                  <a:txBody>
                    <a:bodyPr/>
                    <a:lstStyle/>
                    <a:p>
                      <a:r>
                        <a:rPr sz="1400" b="0" i="0">
                          <a:solidFill>
                            <a:srgbClr val="1A1440"/>
                          </a:solidFill>
                          <a:latin typeface="Calibri"/>
                        </a:rPr>
                        <a:t>"The blend rose because the group who got it held more Retail-Plus members, who spend more anyway."</a:t>
                      </a:r>
                    </a:p>
                  </a:txBody>
                  <a:tcPr marL="101600" marR="101600" marT="38100" marB="38100" anchor="ctr">
                    <a:solidFill>
                      <a:srgbClr val="F4F2FA"/>
                    </a:solidFill>
                  </a:tcPr>
                </a:tc>
              </a:tr>
              <a:tr h="611632">
                <a:tc>
                  <a:txBody>
                    <a:bodyPr/>
                    <a:lstStyle/>
                    <a:p/>
                  </a:txBody>
                  <a:tcPr marL="101600" marR="101600" marT="38100" marB="38100" anchor="ctr">
                    <a:solidFill>
                      <a:srgbClr val="FFFFFF"/>
                    </a:solidFill>
                  </a:tcPr>
                </a:tc>
                <a:tc>
                  <a:txBody>
                    <a:bodyPr/>
                    <a:lstStyle/>
                    <a:p>
                      <a:r>
                        <a:rPr sz="1400" b="0" i="0">
                          <a:solidFill>
                            <a:srgbClr val="1A1440"/>
                          </a:solidFill>
                          <a:latin typeface="Calibri"/>
                        </a:rPr>
                        <a:t>"Do not repeat it as designed; if Diwali runs a sale, hold back a random slice of each segment."</a:t>
                      </a:r>
                    </a:p>
                  </a:txBody>
                  <a:tcPr marL="101600" marR="101600" marT="38100" marB="38100" anchor="ctr">
                    <a:solidFill>
                      <a:srgbClr val="FFFFFF"/>
                    </a:solidFill>
                  </a:tcPr>
                </a:tc>
              </a:tr>
            </a:tbl>
          </a:graphicData>
        </a:graphic>
      </p:graphicFrame>
      <p:sp>
        <p:nvSpPr>
          <p:cNvPr id="10" name="Rounded Rectangle 9"/>
          <p:cNvSpPr/>
          <p:nvPr/>
        </p:nvSpPr>
        <p:spPr>
          <a:xfrm>
            <a:off x="530352" y="4417568"/>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202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729988"/>
            <a:ext cx="237744" cy="237744"/>
          </a:xfrm>
          <a:prstGeom prst="rect">
            <a:avLst/>
          </a:prstGeom>
        </p:spPr>
      </p:pic>
      <p:sp>
        <p:nvSpPr>
          <p:cNvPr id="13" name="TextBox 12"/>
          <p:cNvSpPr txBox="1"/>
          <p:nvPr/>
        </p:nvSpPr>
        <p:spPr>
          <a:xfrm>
            <a:off x="1399031" y="45638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783328"/>
            <a:ext cx="9987991" cy="423672"/>
          </a:xfrm>
          <a:prstGeom prst="rect">
            <a:avLst/>
          </a:prstGeom>
          <a:noFill/>
        </p:spPr>
        <p:txBody>
          <a:bodyPr wrap="square" anchor="t" lIns="0" rIns="0" tIns="0" bIns="0">
            <a:spAutoFit/>
          </a:bodyPr>
          <a:lstStyle/>
          <a:p>
            <a:r>
              <a:rPr sz="1500" b="0" i="0">
                <a:solidFill>
                  <a:srgbClr val="1A1440"/>
                </a:solidFill>
                <a:latin typeface="Calibri"/>
              </a:rPr>
              <a:t>Split a campaign's lift by segment, and name who got it, before the lift goes in a note.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3" name="Oval 22"/>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58 / 72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both groups on one mix</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Put each group's segment averages into the other group's mix, and compare again.</a:t>
            </a:r>
          </a:p>
        </p:txBody>
      </p:sp>
      <p:pic>
        <p:nvPicPr>
          <p:cNvPr id="9" name="mermaid diagram" descr="7bffcbef64e2ea93.png"/>
          <p:cNvPicPr>
            <a:picLocks noChangeAspect="1"/>
          </p:cNvPicPr>
          <p:nvPr/>
        </p:nvPicPr>
        <p:blipFill>
          <a:blip r:embed="rId5"/>
          <a:stretch>
            <a:fillRect/>
          </a:stretch>
        </p:blipFill>
        <p:spPr>
          <a:xfrm>
            <a:off x="2446222" y="1664208"/>
            <a:ext cx="7299249"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When to switch. </a:t>
            </a:r>
            <a:r>
              <a:rPr sz="1500" b="0" i="0">
                <a:solidFill>
                  <a:srgbClr val="1A1440"/>
                </a:solidFill>
                <a:latin typeface="Calibri"/>
              </a:rPr>
              <a:t>The split when the reader takes a table; one mix when the answer must be one number, or when there are too many segments to show.</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1" name="Oval 20"/>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59 / 72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chapter 4</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senior rebuilds the other side's number before disagreeing with it.</a:t>
            </a:r>
          </a:p>
        </p:txBody>
      </p:sp>
      <p:pic>
        <p:nvPicPr>
          <p:cNvPr id="9" name="mermaid diagram" descr="5af94b24cf372e42.png"/>
          <p:cNvPicPr>
            <a:picLocks noChangeAspect="1"/>
          </p:cNvPicPr>
          <p:nvPr/>
        </p:nvPicPr>
        <p:blipFill>
          <a:blip r:embed="rId7"/>
          <a:stretch>
            <a:fillRect/>
          </a:stretch>
        </p:blipFill>
        <p:spPr>
          <a:xfrm>
            <a:off x="780897" y="1855756"/>
            <a:ext cx="10629900" cy="1357312"/>
          </a:xfrm>
          <a:prstGeom prst="rect">
            <a:avLst/>
          </a:prstGeom>
        </p:spPr>
      </p:pic>
      <p:sp>
        <p:nvSpPr>
          <p:cNvPr id="10" name="Rounded Rectangle 9"/>
          <p:cNvSpPr/>
          <p:nvPr/>
        </p:nvSpPr>
        <p:spPr>
          <a:xfrm>
            <a:off x="530352" y="33593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211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930872"/>
            <a:ext cx="237744" cy="237744"/>
          </a:xfrm>
          <a:prstGeom prst="rect">
            <a:avLst/>
          </a:prstGeom>
        </p:spPr>
      </p:pic>
      <p:sp>
        <p:nvSpPr>
          <p:cNvPr id="13" name="TextBox 12"/>
          <p:cNvSpPr txBox="1"/>
          <p:nvPr/>
        </p:nvSpPr>
        <p:spPr>
          <a:xfrm>
            <a:off x="1399031" y="35056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725132"/>
            <a:ext cx="9987991" cy="941832"/>
          </a:xfrm>
          <a:prstGeom prst="rect">
            <a:avLst/>
          </a:prstGeom>
          <a:noFill/>
        </p:spPr>
        <p:txBody>
          <a:bodyPr wrap="square" anchor="t" lIns="0" rIns="0" tIns="0" bIns="0">
            <a:spAutoFit/>
          </a:bodyPr>
          <a:lstStyle/>
          <a:p>
            <a:r>
              <a:rPr sz="1500" b="0" i="0">
                <a:solidFill>
                  <a:srgbClr val="1A1440"/>
                </a:solidFill>
                <a:latin typeface="Calibri"/>
              </a:rPr>
              <a:t>You rebuilt Marketing's number before disagreeing with it. The split and one mix say the same thing, and the reason is who got the sale. Now tell me what else changed in August, because the split cannot see that.</a:t>
            </a:r>
          </a:p>
        </p:txBody>
      </p:sp>
      <p:sp>
        <p:nvSpPr>
          <p:cNvPr id="15" name="Rounded Rectangle 14"/>
          <p:cNvSpPr/>
          <p:nvPr/>
        </p:nvSpPr>
        <p:spPr>
          <a:xfrm>
            <a:off x="530352" y="49047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2369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346668"/>
            <a:ext cx="237744" cy="237744"/>
          </a:xfrm>
          <a:prstGeom prst="rect">
            <a:avLst/>
          </a:prstGeom>
        </p:spPr>
      </p:pic>
      <p:sp>
        <p:nvSpPr>
          <p:cNvPr id="18" name="TextBox 17"/>
          <p:cNvSpPr txBox="1"/>
          <p:nvPr/>
        </p:nvSpPr>
        <p:spPr>
          <a:xfrm>
            <a:off x="1399031" y="50510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270468"/>
            <a:ext cx="9987991" cy="682752"/>
          </a:xfrm>
          <a:prstGeom prst="rect">
            <a:avLst/>
          </a:prstGeom>
          <a:noFill/>
        </p:spPr>
        <p:txBody>
          <a:bodyPr wrap="square" anchor="t" lIns="0" rIns="0" tIns="0" bIns="0">
            <a:spAutoFit/>
          </a:bodyPr>
          <a:lstStyle/>
          <a:p>
            <a:r>
              <a:rPr sz="1500" b="0" i="0">
                <a:solidFill>
                  <a:srgbClr val="1A1440"/>
                </a:solidFill>
                <a:latin typeface="Calibri"/>
              </a:rPr>
              <a:t>[F] Revenue rose after a discount; did the campaign work, and what would you need to know? [F] The campaign lifted revenue overall but every segment fell; which do you report?</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4" name="Oval 2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6" name="Oval 25"/>
          <p:cNvSpPr/>
          <p:nvPr/>
        </p:nvSpPr>
        <p:spPr>
          <a:xfrm>
            <a:off x="54992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08986"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discount, split by segment</a:t>
            </a:r>
          </a:p>
        </p:txBody>
      </p:sp>
      <p:sp>
        <p:nvSpPr>
          <p:cNvPr id="28" name="Oval 27"/>
          <p:cNvSpPr/>
          <p:nvPr/>
        </p:nvSpPr>
        <p:spPr>
          <a:xfrm>
            <a:off x="735491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64647"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The note that may say not yet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60 / 72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note that may say not yet</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Three answers, one page, each number with its base, and "not yet" where the evidence says so.</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or the usual wobble</a:t>
            </a:r>
          </a:p>
        </p:txBody>
      </p:sp>
      <p:sp>
        <p:nvSpPr>
          <p:cNvPr id="11" name="Rounded Rectangle 10"/>
          <p:cNvSpPr/>
          <p:nvPr/>
        </p:nvSpPr>
        <p:spPr>
          <a:xfrm>
            <a:off x="2687407"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Real, and worth acting on</a:t>
            </a:r>
          </a:p>
        </p:txBody>
      </p:sp>
      <p:sp>
        <p:nvSpPr>
          <p:cNvPr id="12" name="Rounded Rectangle 11"/>
          <p:cNvSpPr/>
          <p:nvPr/>
        </p:nvSpPr>
        <p:spPr>
          <a:xfrm>
            <a:off x="464329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count behind 40 percent</a:t>
            </a:r>
          </a:p>
        </p:txBody>
      </p:sp>
      <p:sp>
        <p:nvSpPr>
          <p:cNvPr id="13" name="Rounded Rectangle 12"/>
          <p:cNvSpPr/>
          <p:nvPr/>
        </p:nvSpPr>
        <p:spPr>
          <a:xfrm>
            <a:off x="6717613" y="5074920"/>
            <a:ext cx="214223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discount, split by segment</a:t>
            </a:r>
          </a:p>
        </p:txBody>
      </p:sp>
      <p:sp>
        <p:nvSpPr>
          <p:cNvPr id="14" name="Rounded Rectangle 13"/>
          <p:cNvSpPr/>
          <p:nvPr/>
        </p:nvSpPr>
        <p:spPr>
          <a:xfrm>
            <a:off x="8969581" y="5074920"/>
            <a:ext cx="208302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note that may say not yet</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real or the usual wobble</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61 / 72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one page, two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Meera's constraint, and what a line without its base costs on Monday.</a:t>
            </a:r>
          </a:p>
        </p:txBody>
      </p:sp>
      <p:sp>
        <p:nvSpPr>
          <p:cNvPr id="9" name="Rounded Rectangle 8"/>
          <p:cNvSpPr/>
          <p:nvPr/>
        </p:nvSpPr>
        <p:spPr>
          <a:xfrm>
            <a:off x="530352" y="168249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0147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124456"/>
            <a:ext cx="237744" cy="237744"/>
          </a:xfrm>
          <a:prstGeom prst="rect">
            <a:avLst/>
          </a:prstGeom>
        </p:spPr>
      </p:pic>
      <p:sp>
        <p:nvSpPr>
          <p:cNvPr id="12" name="TextBox 11"/>
          <p:cNvSpPr txBox="1"/>
          <p:nvPr/>
        </p:nvSpPr>
        <p:spPr>
          <a:xfrm>
            <a:off x="1399031" y="182880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048256"/>
            <a:ext cx="9987991" cy="682752"/>
          </a:xfrm>
          <a:prstGeom prst="rect">
            <a:avLst/>
          </a:prstGeom>
          <a:noFill/>
        </p:spPr>
        <p:txBody>
          <a:bodyPr wrap="square" anchor="t" lIns="0" rIns="0" tIns="0" bIns="0">
            <a:spAutoFit/>
          </a:bodyPr>
          <a:lstStyle/>
          <a:p>
            <a:r>
              <a:rPr sz="1500" b="0" i="0">
                <a:solidFill>
                  <a:srgbClr val="FFFFFF"/>
                </a:solidFill>
                <a:latin typeface="Calibri"/>
              </a:rPr>
              <a:t>"One page, two minutes. If the honest answer is 'we do not know yet', say so and tell me what would tell us." Meera Raghavan</a:t>
            </a:r>
          </a:p>
        </p:txBody>
      </p:sp>
      <p:pic>
        <p:nvPicPr>
          <p:cNvPr id="14" name="mermaid diagram" descr="84de6334a0e0882d.png"/>
          <p:cNvPicPr>
            <a:picLocks noChangeAspect="1"/>
          </p:cNvPicPr>
          <p:nvPr/>
        </p:nvPicPr>
        <p:blipFill>
          <a:blip r:embed="rId6"/>
          <a:stretch>
            <a:fillRect/>
          </a:stretch>
        </p:blipFill>
        <p:spPr>
          <a:xfrm>
            <a:off x="3401820" y="2968752"/>
            <a:ext cx="5388053" cy="3230880"/>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62 / 72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Amazon writes memos where others show slides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narrative forces each claim to sit beside its evidence, which is the note's whole job.</a:t>
            </a:r>
          </a:p>
        </p:txBody>
      </p:sp>
      <p:sp>
        <p:nvSpPr>
          <p:cNvPr id="9" name="Rounded Rectangle 8"/>
          <p:cNvSpPr/>
          <p:nvPr/>
        </p:nvSpPr>
        <p:spPr>
          <a:xfrm>
            <a:off x="530352" y="1956816"/>
            <a:ext cx="45720" cy="75184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751840"/>
          </a:xfrm>
          <a:prstGeom prst="rect">
            <a:avLst/>
          </a:prstGeom>
          <a:noFill/>
        </p:spPr>
        <p:txBody>
          <a:bodyPr wrap="square" anchor="t" lIns="0" rIns="0" tIns="0" bIns="0">
            <a:spAutoFit/>
          </a:bodyPr>
          <a:lstStyle/>
          <a:p>
            <a:r>
              <a:rPr sz="1600" b="0" i="1">
                <a:solidFill>
                  <a:srgbClr val="1A0F5C"/>
                </a:solidFill>
                <a:latin typeface="Georgia"/>
              </a:rPr>
              <a:t>"We don't do PowerPoint (or any other slide-oriented) presentations at Amazon. Instead, we write narratively structured six-page memos. We silently read one at the beginning of each meeting."</a:t>
            </a:r>
          </a:p>
        </p:txBody>
      </p:sp>
      <p:sp>
        <p:nvSpPr>
          <p:cNvPr id="11" name="Rounded Rectangle 10"/>
          <p:cNvSpPr/>
          <p:nvPr/>
        </p:nvSpPr>
        <p:spPr>
          <a:xfrm>
            <a:off x="530352" y="2854960"/>
            <a:ext cx="45720" cy="4673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2854960"/>
            <a:ext cx="10820095" cy="467359"/>
          </a:xfrm>
          <a:prstGeom prst="rect">
            <a:avLst/>
          </a:prstGeom>
          <a:noFill/>
        </p:spPr>
        <p:txBody>
          <a:bodyPr wrap="square" anchor="t" lIns="0" rIns="0" tIns="0" bIns="0">
            <a:spAutoFit/>
          </a:bodyPr>
          <a:lstStyle/>
          <a:p>
            <a:r>
              <a:rPr sz="1600" b="0" i="1">
                <a:solidFill>
                  <a:srgbClr val="1A0F5C"/>
                </a:solidFill>
                <a:latin typeface="Georgia"/>
              </a:rPr>
              <a:t>Jeff Bezos, letter to shareholders, 2017</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63 / 72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answer Meera in writing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Sized in the words she has to read and in what each carries.</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3232022"/>
                <a:gridCol w="1760485"/>
                <a:gridCol w="2906461"/>
                <a:gridCol w="3232022"/>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Words, about</a:t>
                      </a:r>
                    </a:p>
                  </a:txBody>
                  <a:tcPr marL="101600" marR="101600" marT="38100" marB="38100" anchor="ctr">
                    <a:solidFill>
                      <a:srgbClr val="1A0F5C"/>
                    </a:solidFill>
                  </a:tcPr>
                </a:tc>
                <a:tc>
                  <a:txBody>
                    <a:bodyPr/>
                    <a:lstStyle/>
                    <a:p>
                      <a:r>
                        <a:rPr sz="1250" b="1" i="0">
                          <a:solidFill>
                            <a:srgbClr val="FFFFFF"/>
                          </a:solidFill>
                          <a:latin typeface="Calibri"/>
                        </a:rPr>
                        <a:t>What it carries</a:t>
                      </a:r>
                    </a:p>
                  </a:txBody>
                  <a:tcPr marL="101600" marR="101600" marT="38100" marB="38100" anchor="ctr">
                    <a:solidFill>
                      <a:srgbClr val="1A0F5C"/>
                    </a:solidFill>
                  </a:tcPr>
                </a:tc>
                <a:tc>
                  <a:txBody>
                    <a:bodyPr/>
                    <a:lstStyle/>
                    <a:p>
                      <a:r>
                        <a:rPr sz="1250" b="1" i="0">
                          <a:solidFill>
                            <a:srgbClr val="FFFFFF"/>
                          </a:solidFill>
                          <a:latin typeface="Calibri"/>
                        </a:rPr>
                        <a:t>What it loses</a:t>
                      </a:r>
                    </a:p>
                  </a:txBody>
                  <a:tcPr marL="101600" marR="101600" marT="38100" marB="38100" anchor="ctr">
                    <a:solidFill>
                      <a:srgbClr val="1A0F5C"/>
                    </a:solidFill>
                  </a:tcPr>
                </a:tc>
              </a:tr>
              <a:tr h="335280">
                <a:tc>
                  <a:txBody>
                    <a:bodyPr/>
                    <a:lstStyle/>
                    <a:p>
                      <a:r>
                        <a:rPr sz="1200" b="0" i="0">
                          <a:solidFill>
                            <a:srgbClr val="1A1440"/>
                          </a:solidFill>
                          <a:latin typeface="Calibri"/>
                        </a:rPr>
                        <a:t>A. A yes or no per question</a:t>
                      </a:r>
                    </a:p>
                  </a:txBody>
                  <a:tcPr marL="101600" marR="101600" marT="38100" marB="38100" anchor="ctr">
                    <a:solidFill>
                      <a:srgbClr val="FFFFFF"/>
                    </a:solidFill>
                  </a:tcPr>
                </a:tc>
                <a:tc>
                  <a:txBody>
                    <a:bodyPr/>
                    <a:lstStyle/>
                    <a:p>
                      <a:r>
                        <a:rPr sz="1200" b="0" i="0">
                          <a:solidFill>
                            <a:srgbClr val="1A1440"/>
                          </a:solidFill>
                          <a:latin typeface="Calibri"/>
                        </a:rPr>
                        <a:t>13</a:t>
                      </a:r>
                    </a:p>
                  </a:txBody>
                  <a:tcPr marL="101600" marR="101600" marT="38100" marB="38100" anchor="ctr">
                    <a:solidFill>
                      <a:srgbClr val="FFFFFF"/>
                    </a:solidFill>
                  </a:tcPr>
                </a:tc>
                <a:tc>
                  <a:txBody>
                    <a:bodyPr/>
                    <a:lstStyle/>
                    <a:p>
                      <a:r>
                        <a:rPr sz="1200" b="0" i="0">
                          <a:solidFill>
                            <a:srgbClr val="1A1440"/>
                          </a:solidFill>
                          <a:latin typeface="Calibri"/>
                        </a:rPr>
                        <a:t>nothing but the verdicts</a:t>
                      </a:r>
                    </a:p>
                  </a:txBody>
                  <a:tcPr marL="101600" marR="101600" marT="38100" marB="38100" anchor="ctr">
                    <a:solidFill>
                      <a:srgbClr val="FFFFFF"/>
                    </a:solidFill>
                  </a:tcPr>
                </a:tc>
                <a:tc>
                  <a:txBody>
                    <a:bodyPr/>
                    <a:lstStyle/>
                    <a:p>
                      <a:r>
                        <a:rPr sz="1200" b="0" i="0">
                          <a:solidFill>
                            <a:srgbClr val="1A1440"/>
                          </a:solidFill>
                          <a:latin typeface="Calibri"/>
                        </a:rPr>
                        <a:t>every caveat, and "not yet"</a:t>
                      </a:r>
                    </a:p>
                  </a:txBody>
                  <a:tcPr marL="101600" marR="101600" marT="38100" marB="38100" anchor="ctr">
                    <a:solidFill>
                      <a:srgbClr val="FFFFFF"/>
                    </a:solidFill>
                  </a:tcPr>
                </a:tc>
              </a:tr>
              <a:tr h="335280">
                <a:tc>
                  <a:txBody>
                    <a:bodyPr/>
                    <a:lstStyle/>
                    <a:p>
                      <a:r>
                        <a:rPr sz="1200" b="0" i="0">
                          <a:solidFill>
                            <a:srgbClr val="1A1440"/>
                          </a:solidFill>
                          <a:latin typeface="Calibri"/>
                        </a:rPr>
                        <a:t>B. The dashboard</a:t>
                      </a:r>
                    </a:p>
                  </a:txBody>
                  <a:tcPr marL="101600" marR="101600" marT="38100" marB="38100" anchor="ctr">
                    <a:solidFill>
                      <a:srgbClr val="F4F2FA"/>
                    </a:solidFill>
                  </a:tcPr>
                </a:tc>
                <a:tc>
                  <a:txBody>
                    <a:bodyPr/>
                    <a:lstStyle/>
                    <a:p>
                      <a:r>
                        <a:rPr sz="1200" b="0" i="0">
                          <a:solidFill>
                            <a:srgbClr val="1A1440"/>
                          </a:solidFill>
                          <a:latin typeface="Calibri"/>
                        </a:rPr>
                        <a:t>443</a:t>
                      </a:r>
                    </a:p>
                  </a:txBody>
                  <a:tcPr marL="101600" marR="101600" marT="38100" marB="38100" anchor="ctr">
                    <a:solidFill>
                      <a:srgbClr val="F4F2FA"/>
                    </a:solidFill>
                  </a:tcPr>
                </a:tc>
                <a:tc>
                  <a:txBody>
                    <a:bodyPr/>
                    <a:lstStyle/>
                    <a:p>
                      <a:r>
                        <a:rPr sz="1200" b="0" i="0">
                          <a:solidFill>
                            <a:srgbClr val="1A1440"/>
                          </a:solidFill>
                          <a:latin typeface="Calibri"/>
                        </a:rPr>
                        <a:t>every number, unsorted</a:t>
                      </a:r>
                    </a:p>
                  </a:txBody>
                  <a:tcPr marL="101600" marR="101600" marT="38100" marB="38100" anchor="ctr">
                    <a:solidFill>
                      <a:srgbClr val="F4F2FA"/>
                    </a:solidFill>
                  </a:tcPr>
                </a:tc>
                <a:tc>
                  <a:txBody>
                    <a:bodyPr/>
                    <a:lstStyle/>
                    <a:p>
                      <a:r>
                        <a:rPr sz="1200" b="0" i="0">
                          <a:solidFill>
                            <a:srgbClr val="1A1440"/>
                          </a:solidFill>
                          <a:latin typeface="Calibri"/>
                        </a:rPr>
                        <a:t>the decision</a:t>
                      </a:r>
                    </a:p>
                  </a:txBody>
                  <a:tcPr marL="101600" marR="101600" marT="38100" marB="38100" anchor="ctr">
                    <a:solidFill>
                      <a:srgbClr val="F4F2FA"/>
                    </a:solidFill>
                  </a:tcPr>
                </a:tc>
              </a:tr>
              <a:tr h="335280">
                <a:tc>
                  <a:txBody>
                    <a:bodyPr/>
                    <a:lstStyle/>
                    <a:p>
                      <a:r>
                        <a:rPr sz="1200" b="0" i="0">
                          <a:solidFill>
                            <a:srgbClr val="1A1440"/>
                          </a:solidFill>
                          <a:latin typeface="Calibri"/>
                        </a:rPr>
                        <a:t>C. The four-part note</a:t>
                      </a:r>
                    </a:p>
                  </a:txBody>
                  <a:tcPr marL="101600" marR="101600" marT="38100" marB="38100" anchor="ctr">
                    <a:solidFill>
                      <a:srgbClr val="FFFFFF"/>
                    </a:solidFill>
                  </a:tcPr>
                </a:tc>
                <a:tc>
                  <a:txBody>
                    <a:bodyPr/>
                    <a:lstStyle/>
                    <a:p>
                      <a:r>
                        <a:rPr sz="1200" b="0" i="0">
                          <a:solidFill>
                            <a:srgbClr val="1A1440"/>
                          </a:solidFill>
                          <a:latin typeface="Calibri"/>
                        </a:rPr>
                        <a:t>under 200</a:t>
                      </a:r>
                    </a:p>
                  </a:txBody>
                  <a:tcPr marL="101600" marR="101600" marT="38100" marB="38100" anchor="ctr">
                    <a:solidFill>
                      <a:srgbClr val="FFFFFF"/>
                    </a:solidFill>
                  </a:tcPr>
                </a:tc>
                <a:tc>
                  <a:txBody>
                    <a:bodyPr/>
                    <a:lstStyle/>
                    <a:p>
                      <a:r>
                        <a:rPr sz="1200" b="0" i="0">
                          <a:solidFill>
                            <a:srgbClr val="1A1440"/>
                          </a:solidFill>
                          <a:latin typeface="Calibri"/>
                        </a:rPr>
                        <a:t>each claim with its base</a:t>
                      </a:r>
                    </a:p>
                  </a:txBody>
                  <a:tcPr marL="101600" marR="101600" marT="38100" marB="38100" anchor="ctr">
                    <a:solidFill>
                      <a:srgbClr val="FFFFFF"/>
                    </a:solidFill>
                  </a:tcPr>
                </a:tc>
                <a:tc>
                  <a:txBody>
                    <a:bodyPr/>
                    <a:lstStyle/>
                    <a:p>
                      <a:r>
                        <a:rPr sz="1200" b="0" i="0">
                          <a:solidFill>
                            <a:srgbClr val="1A1440"/>
                          </a:solidFill>
                          <a:latin typeface="Calibri"/>
                        </a:rPr>
                        <a:t>only length</a:t>
                      </a:r>
                    </a:p>
                  </a:txBody>
                  <a:tcPr marL="101600" marR="101600" marT="38100" marB="38100" anchor="ctr">
                    <a:solidFill>
                      <a:srgbClr val="FFFFFF"/>
                    </a:solidFill>
                  </a:tcPr>
                </a:tc>
              </a:tr>
              <a:tr h="335280">
                <a:tc>
                  <a:txBody>
                    <a:bodyPr/>
                    <a:lstStyle/>
                    <a:p>
                      <a:r>
                        <a:rPr sz="1200" b="0" i="0">
                          <a:solidFill>
                            <a:srgbClr val="1A1440"/>
                          </a:solidFill>
                          <a:latin typeface="Calibri"/>
                        </a:rPr>
                        <a:t>D. A slide deck</a:t>
                      </a:r>
                    </a:p>
                  </a:txBody>
                  <a:tcPr marL="101600" marR="101600" marT="38100" marB="38100" anchor="ctr">
                    <a:solidFill>
                      <a:srgbClr val="F4F2FA"/>
                    </a:solidFill>
                  </a:tcPr>
                </a:tc>
                <a:tc>
                  <a:txBody>
                    <a:bodyPr/>
                    <a:lstStyle/>
                    <a:p>
                      <a:r>
                        <a:rPr sz="1200" b="0" i="0">
                          <a:solidFill>
                            <a:srgbClr val="1A1440"/>
                          </a:solidFill>
                          <a:latin typeface="Calibri"/>
                        </a:rPr>
                        <a:t>ten slides</a:t>
                      </a:r>
                    </a:p>
                  </a:txBody>
                  <a:tcPr marL="101600" marR="101600" marT="38100" marB="38100" anchor="ctr">
                    <a:solidFill>
                      <a:srgbClr val="F4F2FA"/>
                    </a:solidFill>
                  </a:tcPr>
                </a:tc>
                <a:tc>
                  <a:txBody>
                    <a:bodyPr/>
                    <a:lstStyle/>
                    <a:p>
                      <a:r>
                        <a:rPr sz="1200" b="0" i="0">
                          <a:solidFill>
                            <a:srgbClr val="1A1440"/>
                          </a:solidFill>
                          <a:latin typeface="Calibri"/>
                        </a:rPr>
                        <a:t>what the slides draw</a:t>
                      </a:r>
                    </a:p>
                  </a:txBody>
                  <a:tcPr marL="101600" marR="101600" marT="38100" marB="38100" anchor="ctr">
                    <a:solidFill>
                      <a:srgbClr val="F4F2FA"/>
                    </a:solidFill>
                  </a:tcPr>
                </a:tc>
                <a:tc>
                  <a:txBody>
                    <a:bodyPr/>
                    <a:lstStyle/>
                    <a:p>
                      <a:r>
                        <a:rPr sz="1200" b="0" i="0">
                          <a:solidFill>
                            <a:srgbClr val="1A1440"/>
                          </a:solidFill>
                          <a:latin typeface="Calibri"/>
                        </a:rPr>
                        <a:t>a meeting to present it</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 under 200 words. </a:t>
            </a:r>
            <a:r>
              <a:rPr sz="1500" b="1" i="0">
                <a:solidFill>
                  <a:srgbClr val="1A1440"/>
                </a:solidFill>
                <a:latin typeface="Calibri"/>
              </a:rPr>
              <a:t>What would change it.</a:t>
            </a:r>
            <a:r>
              <a:rPr sz="1500" b="0" i="0">
                <a:solidFill>
                  <a:srgbClr val="1A1440"/>
                </a:solidFill>
                <a:latin typeface="Calibri"/>
              </a:rPr>
              <a:t> A weekly review of the same metrics, where a small dashboard with fixed bases beats rewriting the note each week.</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64 / 72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the headline note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true numbers, each written the way it first appeared, and three decisions they drive.</a:t>
            </a:r>
          </a:p>
        </p:txBody>
      </p:sp>
      <p:pic>
        <p:nvPicPr>
          <p:cNvPr id="9" name="mermaid diagram" descr="5e5eb59d76ead1d2.png"/>
          <p:cNvPicPr>
            <a:picLocks noChangeAspect="1"/>
          </p:cNvPicPr>
          <p:nvPr/>
        </p:nvPicPr>
        <p:blipFill>
          <a:blip r:embed="rId6"/>
          <a:stretch>
            <a:fillRect/>
          </a:stretch>
        </p:blipFill>
        <p:spPr>
          <a:xfrm>
            <a:off x="530352" y="1860341"/>
            <a:ext cx="4786326" cy="4161444"/>
          </a:xfrm>
          <a:prstGeom prst="rect">
            <a:avLst/>
          </a:prstGeom>
        </p:spPr>
      </p:pic>
      <p:sp>
        <p:nvSpPr>
          <p:cNvPr id="10" name="Rounded Rectangle 9"/>
          <p:cNvSpPr/>
          <p:nvPr/>
        </p:nvSpPr>
        <p:spPr>
          <a:xfrm>
            <a:off x="5761917" y="1956816"/>
            <a:ext cx="5899425"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90517"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6100245" y="2528316"/>
            <a:ext cx="237744" cy="237744"/>
          </a:xfrm>
          <a:prstGeom prst="rect">
            <a:avLst/>
          </a:prstGeom>
        </p:spPr>
      </p:pic>
      <p:sp>
        <p:nvSpPr>
          <p:cNvPr id="13" name="TextBox 12"/>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6630597" y="2322576"/>
            <a:ext cx="4756425" cy="941832"/>
          </a:xfrm>
          <a:prstGeom prst="rect">
            <a:avLst/>
          </a:prstGeom>
          <a:noFill/>
        </p:spPr>
        <p:txBody>
          <a:bodyPr wrap="square" anchor="t" lIns="0" rIns="0" tIns="0" bIns="0">
            <a:spAutoFit/>
          </a:bodyPr>
          <a:lstStyle/>
          <a:p>
            <a:r>
              <a:rPr sz="1500" b="0" i="0">
                <a:solidFill>
                  <a:srgbClr val="1A1440"/>
                </a:solidFill>
                <a:latin typeface="Calibri"/>
              </a:rPr>
              <a:t>Thirty words, three correct percentages, and three wrong decisions, because no number carries its base.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65 / 72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check: an audit for every 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yes-or-no questions per line, and the headline note fails nine of nine.</a:t>
            </a:r>
          </a:p>
        </p:txBody>
      </p:sp>
      <p:graphicFrame>
        <p:nvGraphicFramePr>
          <p:cNvPr id="9" name="Table 8"/>
          <p:cNvGraphicFramePr>
            <a:graphicFrameLocks noGrp="1"/>
          </p:cNvGraphicFramePr>
          <p:nvPr/>
        </p:nvGraphicFramePr>
        <p:xfrm>
          <a:off x="530352" y="1956816"/>
          <a:ext cx="11130990" cy="1341120"/>
        </p:xfrm>
        <a:graphic>
          <a:graphicData uri="http://schemas.openxmlformats.org/drawingml/2006/table">
            <a:tbl>
              <a:tblPr firstRow="0" bandRow="0">
                <a:tableStyleId>{2D5ABB26-0587-4C30-8999-92F81FD0307C}</a:tableStyleId>
              </a:tblPr>
              <a:tblGrid>
                <a:gridCol w="5177078"/>
                <a:gridCol w="914400"/>
                <a:gridCol w="3229126"/>
                <a:gridCol w="1810386"/>
              </a:tblGrid>
              <a:tr h="335280">
                <a:tc>
                  <a:txBody>
                    <a:bodyPr/>
                    <a:lstStyle/>
                    <a:p>
                      <a:r>
                        <a:rPr sz="1250" b="1" i="0">
                          <a:solidFill>
                            <a:srgbClr val="FFFFFF"/>
                          </a:solidFill>
                          <a:latin typeface="Calibri"/>
                        </a:rPr>
                        <a:t>Line</a:t>
                      </a:r>
                    </a:p>
                  </a:txBody>
                  <a:tcPr marL="101600" marR="101600" marT="38100" marB="38100" anchor="ctr">
                    <a:solidFill>
                      <a:srgbClr val="1A0F5C"/>
                    </a:solidFill>
                  </a:tcPr>
                </a:tc>
                <a:tc>
                  <a:txBody>
                    <a:bodyPr/>
                    <a:lstStyle/>
                    <a:p>
                      <a:r>
                        <a:rPr sz="1250" b="1" i="0">
                          <a:solidFill>
                            <a:srgbClr val="FFFFFF"/>
                          </a:solidFill>
                          <a:latin typeface="Calibri"/>
                        </a:rPr>
                        <a:t>A base?</a:t>
                      </a:r>
                    </a:p>
                  </a:txBody>
                  <a:tcPr marL="101600" marR="101600" marT="38100" marB="38100" anchor="ctr">
                    <a:solidFill>
                      <a:srgbClr val="1A0F5C"/>
                    </a:solidFill>
                  </a:tcPr>
                </a:tc>
                <a:tc>
                  <a:txBody>
                    <a:bodyPr/>
                    <a:lstStyle/>
                    <a:p>
                      <a:r>
                        <a:rPr sz="1250" b="1" i="0">
                          <a:solidFill>
                            <a:srgbClr val="FFFFFF"/>
                          </a:solidFill>
                          <a:latin typeface="Calibri"/>
                        </a:rPr>
                        <a:t>A count or chance?</a:t>
                      </a:r>
                    </a:p>
                  </a:txBody>
                  <a:tcPr marL="101600" marR="101600" marT="38100" marB="38100" anchor="ctr">
                    <a:solidFill>
                      <a:srgbClr val="1A0F5C"/>
                    </a:solidFill>
                  </a:tcPr>
                </a:tc>
                <a:tc>
                  <a:txBody>
                    <a:bodyPr/>
                    <a:lstStyle/>
                    <a:p>
                      <a:r>
                        <a:rPr sz="1250" b="1" i="0">
                          <a:solidFill>
                            <a:srgbClr val="FFFFFF"/>
                          </a:solidFill>
                          <a:latin typeface="Calibri"/>
                        </a:rPr>
                        <a:t>A caveat?</a:t>
                      </a:r>
                    </a:p>
                  </a:txBody>
                  <a:tcPr marL="101600" marR="101600" marT="38100" marB="38100" anchor="ctr">
                    <a:solidFill>
                      <a:srgbClr val="1A0F5C"/>
                    </a:solidFill>
                  </a:tcPr>
                </a:tc>
              </a:tr>
              <a:tr h="335280">
                <a:tc>
                  <a:txBody>
                    <a:bodyPr/>
                    <a:lstStyle/>
                    <a:p>
                      <a:r>
                        <a:rPr sz="1200" b="0" i="0">
                          <a:solidFill>
                            <a:srgbClr val="1A1440"/>
                          </a:solidFill>
                          <a:latin typeface="Calibri"/>
                        </a:rPr>
                        <a:t>Retail-Plus revenue fell 34%</a:t>
                      </a:r>
                    </a:p>
                  </a:txBody>
                  <a:tcPr marL="101600" marR="101600" marT="38100" marB="38100" anchor="ctr">
                    <a:solidFill>
                      <a:srgbClr val="FFFFFF"/>
                    </a:solidFill>
                  </a:tcPr>
                </a:tc>
                <a:tc>
                  <a:txBody>
                    <a:bodyPr/>
                    <a:lstStyle/>
                    <a:p>
                      <a:r>
                        <a:rPr sz="1200" b="0" i="0">
                          <a:solidFill>
                            <a:srgbClr val="1A1440"/>
                          </a:solidFill>
                          <a:latin typeface="Calibri"/>
                        </a:rPr>
                        <a:t>missing</a:t>
                      </a:r>
                    </a:p>
                  </a:txBody>
                  <a:tcPr marL="101600" marR="101600" marT="38100" marB="38100" anchor="ctr">
                    <a:solidFill>
                      <a:srgbClr val="FFFFFF"/>
                    </a:solidFill>
                  </a:tcPr>
                </a:tc>
                <a:tc>
                  <a:txBody>
                    <a:bodyPr/>
                    <a:lstStyle/>
                    <a:p>
                      <a:r>
                        <a:rPr sz="1200" b="0" i="0">
                          <a:solidFill>
                            <a:srgbClr val="1A1440"/>
                          </a:solidFill>
                          <a:latin typeface="Calibri"/>
                        </a:rPr>
                        <a:t>missing</a:t>
                      </a:r>
                    </a:p>
                  </a:txBody>
                  <a:tcPr marL="101600" marR="101600" marT="38100" marB="38100" anchor="ctr">
                    <a:solidFill>
                      <a:srgbClr val="FFFFFF"/>
                    </a:solidFill>
                  </a:tcPr>
                </a:tc>
                <a:tc>
                  <a:txBody>
                    <a:bodyPr/>
                    <a:lstStyle/>
                    <a:p>
                      <a:r>
                        <a:rPr sz="1200" b="0" i="0">
                          <a:solidFill>
                            <a:srgbClr val="1A1440"/>
                          </a:solidFill>
                          <a:latin typeface="Calibri"/>
                        </a:rPr>
                        <a:t>missing</a:t>
                      </a:r>
                    </a:p>
                  </a:txBody>
                  <a:tcPr marL="101600" marR="101600" marT="38100" marB="38100" anchor="ctr">
                    <a:solidFill>
                      <a:srgbClr val="FFFFFF"/>
                    </a:solidFill>
                  </a:tcPr>
                </a:tc>
              </a:tr>
              <a:tr h="335280">
                <a:tc>
                  <a:txBody>
                    <a:bodyPr/>
                    <a:lstStyle/>
                    <a:p>
                      <a:r>
                        <a:rPr sz="1200" b="0" i="0">
                          <a:solidFill>
                            <a:srgbClr val="1A1440"/>
                          </a:solidFill>
                          <a:latin typeface="Calibri"/>
                        </a:rPr>
                        <a:t>Student is up 40%</a:t>
                      </a:r>
                    </a:p>
                  </a:txBody>
                  <a:tcPr marL="101600" marR="101600" marT="38100" marB="38100" anchor="ctr">
                    <a:solidFill>
                      <a:srgbClr val="F4F2FA"/>
                    </a:solidFill>
                  </a:tcPr>
                </a:tc>
                <a:tc>
                  <a:txBody>
                    <a:bodyPr/>
                    <a:lstStyle/>
                    <a:p>
                      <a:r>
                        <a:rPr sz="1200" b="0" i="0">
                          <a:solidFill>
                            <a:srgbClr val="1A1440"/>
                          </a:solidFill>
                          <a:latin typeface="Calibri"/>
                        </a:rPr>
                        <a:t>missing</a:t>
                      </a:r>
                    </a:p>
                  </a:txBody>
                  <a:tcPr marL="101600" marR="101600" marT="38100" marB="38100" anchor="ctr">
                    <a:solidFill>
                      <a:srgbClr val="F4F2FA"/>
                    </a:solidFill>
                  </a:tcPr>
                </a:tc>
                <a:tc>
                  <a:txBody>
                    <a:bodyPr/>
                    <a:lstStyle/>
                    <a:p>
                      <a:r>
                        <a:rPr sz="1200" b="0" i="0">
                          <a:solidFill>
                            <a:srgbClr val="1A1440"/>
                          </a:solidFill>
                          <a:latin typeface="Calibri"/>
                        </a:rPr>
                        <a:t>missing</a:t>
                      </a:r>
                    </a:p>
                  </a:txBody>
                  <a:tcPr marL="101600" marR="101600" marT="38100" marB="38100" anchor="ctr">
                    <a:solidFill>
                      <a:srgbClr val="F4F2FA"/>
                    </a:solidFill>
                  </a:tcPr>
                </a:tc>
                <a:tc>
                  <a:txBody>
                    <a:bodyPr/>
                    <a:lstStyle/>
                    <a:p>
                      <a:r>
                        <a:rPr sz="1200" b="0" i="0">
                          <a:solidFill>
                            <a:srgbClr val="1A1440"/>
                          </a:solidFill>
                          <a:latin typeface="Calibri"/>
                        </a:rPr>
                        <a:t>missing</a:t>
                      </a:r>
                    </a:p>
                  </a:txBody>
                  <a:tcPr marL="101600" marR="101600" marT="38100" marB="38100" anchor="ctr">
                    <a:solidFill>
                      <a:srgbClr val="F4F2FA"/>
                    </a:solidFill>
                  </a:tcPr>
                </a:tc>
              </a:tr>
              <a:tr h="335280">
                <a:tc>
                  <a:txBody>
                    <a:bodyPr/>
                    <a:lstStyle/>
                    <a:p>
                      <a:r>
                        <a:rPr sz="1200" b="0" i="0">
                          <a:solidFill>
                            <a:srgbClr val="1A1440"/>
                          </a:solidFill>
                          <a:latin typeface="Calibri"/>
                        </a:rPr>
                        <a:t>The monsoon sale lifted revenue 6%</a:t>
                      </a:r>
                    </a:p>
                  </a:txBody>
                  <a:tcPr marL="101600" marR="101600" marT="38100" marB="38100" anchor="ctr">
                    <a:solidFill>
                      <a:srgbClr val="FFFFFF"/>
                    </a:solidFill>
                  </a:tcPr>
                </a:tc>
                <a:tc>
                  <a:txBody>
                    <a:bodyPr/>
                    <a:lstStyle/>
                    <a:p>
                      <a:r>
                        <a:rPr sz="1200" b="0" i="0">
                          <a:solidFill>
                            <a:srgbClr val="1A1440"/>
                          </a:solidFill>
                          <a:latin typeface="Calibri"/>
                        </a:rPr>
                        <a:t>missing</a:t>
                      </a:r>
                    </a:p>
                  </a:txBody>
                  <a:tcPr marL="101600" marR="101600" marT="38100" marB="38100" anchor="ctr">
                    <a:solidFill>
                      <a:srgbClr val="FFFFFF"/>
                    </a:solidFill>
                  </a:tcPr>
                </a:tc>
                <a:tc>
                  <a:txBody>
                    <a:bodyPr/>
                    <a:lstStyle/>
                    <a:p>
                      <a:r>
                        <a:rPr sz="1200" b="0" i="0">
                          <a:solidFill>
                            <a:srgbClr val="1A1440"/>
                          </a:solidFill>
                          <a:latin typeface="Calibri"/>
                        </a:rPr>
                        <a:t>missing</a:t>
                      </a:r>
                    </a:p>
                  </a:txBody>
                  <a:tcPr marL="101600" marR="101600" marT="38100" marB="38100" anchor="ctr">
                    <a:solidFill>
                      <a:srgbClr val="FFFFFF"/>
                    </a:solidFill>
                  </a:tcPr>
                </a:tc>
                <a:tc>
                  <a:txBody>
                    <a:bodyPr/>
                    <a:lstStyle/>
                    <a:p>
                      <a:r>
                        <a:rPr sz="1200" b="0" i="0">
                          <a:solidFill>
                            <a:srgbClr val="1A1440"/>
                          </a:solidFill>
                          <a:latin typeface="Calibri"/>
                        </a:rPr>
                        <a:t>missing</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86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3995928"/>
            <a:ext cx="237744" cy="237744"/>
          </a:xfrm>
          <a:prstGeom prst="rect">
            <a:avLst/>
          </a:prstGeom>
        </p:spPr>
      </p:pic>
      <p:sp>
        <p:nvSpPr>
          <p:cNvPr id="13" name="TextBox 12"/>
          <p:cNvSpPr txBox="1"/>
          <p:nvPr/>
        </p:nvSpPr>
        <p:spPr>
          <a:xfrm>
            <a:off x="1399031" y="3700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919728"/>
            <a:ext cx="9987991" cy="682752"/>
          </a:xfrm>
          <a:prstGeom prst="rect">
            <a:avLst/>
          </a:prstGeom>
          <a:noFill/>
        </p:spPr>
        <p:txBody>
          <a:bodyPr wrap="square" anchor="t" lIns="0" rIns="0" tIns="0" bIns="0">
            <a:spAutoFit/>
          </a:bodyPr>
          <a:lstStyle/>
          <a:p>
            <a:r>
              <a:rPr sz="1500" b="0" i="0">
                <a:solidFill>
                  <a:srgbClr val="1A1440"/>
                </a:solidFill>
                <a:latin typeface="Calibri"/>
              </a:rPr>
              <a:t>Every number in a note carries its base, its count or its chance, and the caveat that would change it.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9" name="Oval 18"/>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1" name="Oval 20"/>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3" name="Oval 22"/>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66 / 72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the Retail-Plus line, together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Claim, evidence with its base, caveat, action with its cost: built as a room.</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CLAIM</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Real, and small</a:t>
            </a:r>
          </a:p>
        </p:txBody>
      </p:sp>
      <p:sp>
        <p:nvSpPr>
          <p:cNvPr id="14" name="TextBox 13"/>
          <p:cNvSpPr txBox="1"/>
          <p:nvPr/>
        </p:nvSpPr>
        <p:spPr>
          <a:xfrm>
            <a:off x="694944"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Retail-Plus really is spending less, and it is small against the company.</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EVIDENCE</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With its base</a:t>
            </a:r>
          </a:p>
        </p:txBody>
      </p:sp>
      <p:sp>
        <p:nvSpPr>
          <p:cNvPr id="19" name="TextBox 18"/>
          <p:cNvSpPr txBox="1"/>
          <p:nvPr/>
        </p:nvSpPr>
        <p:spPr>
          <a:xfrm>
            <a:off x="3523411"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Rs 1,110 less a member, Rs 24,420 a quarter, 0.19 percent of the company; about 3 in 100 shuffles.</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CAVEAT</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would change it</a:t>
            </a:r>
          </a:p>
        </p:txBody>
      </p:sp>
      <p:sp>
        <p:nvSpPr>
          <p:cNvPr id="24" name="TextBox 23"/>
          <p:cNvSpPr txBox="1"/>
          <p:nvPr/>
        </p:nvSpPr>
        <p:spPr>
          <a:xfrm>
            <a:off x="6351879"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The size could be much smaller than Rs 1,110 a member, so an offer may not pay back.</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ACTION</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With its cost</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Test a Rs 11,000 offer on half the tier and hold back half.</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32" name="Oval 3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34" name="Oval 3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36" name="Oval 3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38" name="Oval 37"/>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67 / 72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when is "not yet" an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Student line and the discount line both carry a verdict that is not a yes.</a:t>
            </a:r>
          </a:p>
        </p:txBody>
      </p:sp>
      <p:pic>
        <p:nvPicPr>
          <p:cNvPr id="9" name="mermaid diagram" descr="293071be314d5728.png"/>
          <p:cNvPicPr>
            <a:picLocks noChangeAspect="1"/>
          </p:cNvPicPr>
          <p:nvPr/>
        </p:nvPicPr>
        <p:blipFill>
          <a:blip r:embed="rId5"/>
          <a:stretch>
            <a:fillRect/>
          </a:stretch>
        </p:blipFill>
        <p:spPr>
          <a:xfrm>
            <a:off x="530352" y="1973352"/>
            <a:ext cx="4786326" cy="3935423"/>
          </a:xfrm>
          <a:prstGeom prst="rect">
            <a:avLst/>
          </a:prstGeom>
        </p:spPr>
      </p:pic>
      <p:sp>
        <p:nvSpPr>
          <p:cNvPr id="10" name="Rounded Rectangle 9"/>
          <p:cNvSpPr/>
          <p:nvPr/>
        </p:nvSpPr>
        <p:spPr>
          <a:xfrm>
            <a:off x="5761917" y="1956816"/>
            <a:ext cx="5899425"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14249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What turns "not yet" into an answer Meera can use? a) a promise to look again later; b) the count or the test that would turn it into a yes; c) a softer word such as "possibly"; d) a second analyst's agreement.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68 / 72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name what would turn it into a yes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"not yet" with its threshold is a decision; without one it is a shrug.</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1339144"/>
                <a:gridCol w="3740282"/>
                <a:gridCol w="6051564"/>
              </a:tblGrid>
              <a:tr h="369824">
                <a:tc>
                  <a:txBody>
                    <a:bodyPr/>
                    <a:lstStyle/>
                    <a:p>
                      <a:r>
                        <a:rPr sz="1450" b="1" i="0">
                          <a:solidFill>
                            <a:srgbClr val="FFFFFF"/>
                          </a:solidFill>
                          <a:latin typeface="Calibri"/>
                        </a:rPr>
                        <a:t>Question</a:t>
                      </a:r>
                    </a:p>
                  </a:txBody>
                  <a:tcPr marL="101600" marR="101600" marT="38100" marB="38100" anchor="ctr">
                    <a:solidFill>
                      <a:srgbClr val="1A0F5C"/>
                    </a:solidFill>
                  </a:tcPr>
                </a:tc>
                <a:tc>
                  <a:txBody>
                    <a:bodyPr/>
                    <a:lstStyle/>
                    <a:p>
                      <a:r>
                        <a:rPr sz="1450" b="1" i="0">
                          <a:solidFill>
                            <a:srgbClr val="FFFFFF"/>
                          </a:solidFill>
                          <a:latin typeface="Calibri"/>
                        </a:rPr>
                        <a:t>Today's line</a:t>
                      </a:r>
                    </a:p>
                  </a:txBody>
                  <a:tcPr marL="101600" marR="101600" marT="38100" marB="38100" anchor="ctr">
                    <a:solidFill>
                      <a:srgbClr val="1A0F5C"/>
                    </a:solidFill>
                  </a:tcPr>
                </a:tc>
                <a:tc>
                  <a:txBody>
                    <a:bodyPr/>
                    <a:lstStyle/>
                    <a:p>
                      <a:r>
                        <a:rPr sz="1450" b="1" i="0">
                          <a:solidFill>
                            <a:srgbClr val="FFFFFF"/>
                          </a:solidFill>
                          <a:latin typeface="Calibri"/>
                        </a:rPr>
                        <a:t>What would turn it</a:t>
                      </a:r>
                    </a:p>
                  </a:txBody>
                  <a:tcPr marL="101600" marR="101600" marT="38100" marB="38100" anchor="ctr">
                    <a:solidFill>
                      <a:srgbClr val="1A0F5C"/>
                    </a:solidFill>
                  </a:tcPr>
                </a:tc>
              </a:tr>
              <a:tr h="369824">
                <a:tc>
                  <a:txBody>
                    <a:bodyPr/>
                    <a:lstStyle/>
                    <a:p>
                      <a:r>
                        <a:rPr sz="1400" b="0" i="0">
                          <a:solidFill>
                            <a:srgbClr val="1A1440"/>
                          </a:solidFill>
                          <a:latin typeface="Calibri"/>
                        </a:rPr>
                        <a:t>Student</a:t>
                      </a:r>
                    </a:p>
                  </a:txBody>
                  <a:tcPr marL="101600" marR="101600" marT="38100" marB="38100" anchor="ctr">
                    <a:solidFill>
                      <a:srgbClr val="FFFFFF"/>
                    </a:solidFill>
                  </a:tcPr>
                </a:tc>
                <a:tc>
                  <a:txBody>
                    <a:bodyPr/>
                    <a:lstStyle/>
                    <a:p>
                      <a:r>
                        <a:rPr sz="1400" b="0" i="0">
                          <a:solidFill>
                            <a:srgbClr val="1A1440"/>
                          </a:solidFill>
                          <a:latin typeface="Calibri"/>
                        </a:rPr>
                        <a:t>Not yet: no budget moves</a:t>
                      </a:r>
                    </a:p>
                  </a:txBody>
                  <a:tcPr marL="101600" marR="101600" marT="38100" marB="38100" anchor="ctr">
                    <a:solidFill>
                      <a:srgbClr val="FFFFFF"/>
                    </a:solidFill>
                  </a:tcPr>
                </a:tc>
                <a:tc>
                  <a:txBody>
                    <a:bodyPr/>
                    <a:lstStyle/>
                    <a:p>
                      <a:r>
                        <a:rPr sz="1400" b="0" i="0">
                          <a:solidFill>
                            <a:srgbClr val="1A1440"/>
                          </a:solidFill>
                          <a:latin typeface="Calibri"/>
                        </a:rPr>
                        <a:t>Thirty orders a quarter with the rise holding</a:t>
                      </a:r>
                    </a:p>
                  </a:txBody>
                  <a:tcPr marL="101600" marR="101600" marT="38100" marB="38100" anchor="ctr">
                    <a:solidFill>
                      <a:srgbClr val="FFFFFF"/>
                    </a:solidFill>
                  </a:tcPr>
                </a:tc>
              </a:tr>
              <a:tr h="369824">
                <a:tc>
                  <a:txBody>
                    <a:bodyPr/>
                    <a:lstStyle/>
                    <a:p>
                      <a:r>
                        <a:rPr sz="1400" b="0" i="0">
                          <a:solidFill>
                            <a:srgbClr val="1A1440"/>
                          </a:solidFill>
                          <a:latin typeface="Calibri"/>
                        </a:rPr>
                        <a:t>Discount</a:t>
                      </a:r>
                    </a:p>
                  </a:txBody>
                  <a:tcPr marL="101600" marR="101600" marT="38100" marB="38100" anchor="ctr">
                    <a:solidFill>
                      <a:srgbClr val="F4F2FA"/>
                    </a:solidFill>
                  </a:tcPr>
                </a:tc>
                <a:tc>
                  <a:txBody>
                    <a:bodyPr/>
                    <a:lstStyle/>
                    <a:p>
                      <a:r>
                        <a:rPr sz="1400" b="0" i="0">
                          <a:solidFill>
                            <a:srgbClr val="1A1440"/>
                          </a:solidFill>
                          <a:latin typeface="Calibri"/>
                        </a:rPr>
                        <a:t>Do not repeat it as designed</a:t>
                      </a:r>
                    </a:p>
                  </a:txBody>
                  <a:tcPr marL="101600" marR="101600" marT="38100" marB="38100" anchor="ctr">
                    <a:solidFill>
                      <a:srgbClr val="F4F2FA"/>
                    </a:solidFill>
                  </a:tcPr>
                </a:tc>
                <a:tc>
                  <a:txBody>
                    <a:bodyPr/>
                    <a:lstStyle/>
                    <a:p>
                      <a:r>
                        <a:rPr sz="1400" b="0" i="0">
                          <a:solidFill>
                            <a:srgbClr val="1A1440"/>
                          </a:solidFill>
                          <a:latin typeface="Calibri"/>
                        </a:rPr>
                        <a:t>A random hold-back at Diwali showing a lift inside segments</a:t>
                      </a:r>
                    </a:p>
                  </a:txBody>
                  <a:tcPr marL="101600" marR="101600" marT="38100" marB="38100" anchor="ctr">
                    <a:solidFill>
                      <a:srgbClr val="F4F2FA"/>
                    </a:solidFill>
                  </a:tcPr>
                </a:tc>
              </a:tr>
              <a:tr h="369824">
                <a:tc>
                  <a:txBody>
                    <a:bodyPr/>
                    <a:lstStyle/>
                    <a:p>
                      <a:r>
                        <a:rPr sz="1400" b="0" i="0">
                          <a:solidFill>
                            <a:srgbClr val="1A1440"/>
                          </a:solidFill>
                          <a:latin typeface="Calibri"/>
                        </a:rPr>
                        <a:t>Retail-Plus</a:t>
                      </a:r>
                    </a:p>
                  </a:txBody>
                  <a:tcPr marL="101600" marR="101600" marT="38100" marB="38100" anchor="ctr">
                    <a:solidFill>
                      <a:srgbClr val="FFFFFF"/>
                    </a:solidFill>
                  </a:tcPr>
                </a:tc>
                <a:tc>
                  <a:txBody>
                    <a:bodyPr/>
                    <a:lstStyle/>
                    <a:p>
                      <a:r>
                        <a:rPr sz="1400" b="0" i="0">
                          <a:solidFill>
                            <a:srgbClr val="1A1440"/>
                          </a:solidFill>
                          <a:latin typeface="Calibri"/>
                        </a:rPr>
                        <a:t>Real, small: test the offer on half</a:t>
                      </a:r>
                    </a:p>
                  </a:txBody>
                  <a:tcPr marL="101600" marR="101600" marT="38100" marB="38100" anchor="ctr">
                    <a:solidFill>
                      <a:srgbClr val="FFFFFF"/>
                    </a:solidFill>
                  </a:tcPr>
                </a:tc>
                <a:tc>
                  <a:txBody>
                    <a:bodyPr/>
                    <a:lstStyle/>
                    <a:p>
                      <a:r>
                        <a:rPr sz="1400" b="0" i="0">
                          <a:solidFill>
                            <a:srgbClr val="1A1440"/>
                          </a:solidFill>
                          <a:latin typeface="Calibri"/>
                        </a:rPr>
                        <a:t>A recovery rate from the test</a:t>
                      </a:r>
                    </a:p>
                  </a:txBody>
                  <a:tcPr marL="101600" marR="101600" marT="38100" marB="38100" anchor="ctr">
                    <a:solidFill>
                      <a:srgbClr val="FFFFFF"/>
                    </a:solidFill>
                  </a:tcPr>
                </a:tc>
              </a:tr>
            </a:tbl>
          </a:graphicData>
        </a:graphic>
      </p:graphicFrame>
      <p:sp>
        <p:nvSpPr>
          <p:cNvPr id="10" name="TextBox 9"/>
          <p:cNvSpPr txBox="1"/>
          <p:nvPr/>
        </p:nvSpPr>
        <p:spPr>
          <a:xfrm>
            <a:off x="530352" y="369214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The full note, all three lines, runs to about 170 words.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5" name="Oval 14"/>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7" name="Oval 16"/>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19" name="Oval 18"/>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69 / 72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every figure traced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Pull every number out of the note and trace each one to the chapter that computed it.</a:t>
            </a:r>
          </a:p>
        </p:txBody>
      </p:sp>
      <p:pic>
        <p:nvPicPr>
          <p:cNvPr id="9" name="mermaid diagram" descr="793ad7177f348fc1.png"/>
          <p:cNvPicPr>
            <a:picLocks noChangeAspect="1"/>
          </p:cNvPicPr>
          <p:nvPr/>
        </p:nvPicPr>
        <p:blipFill>
          <a:blip r:embed="rId5"/>
          <a:stretch>
            <a:fillRect/>
          </a:stretch>
        </p:blipFill>
        <p:spPr>
          <a:xfrm>
            <a:off x="780897" y="1956816"/>
            <a:ext cx="10629900" cy="1857375"/>
          </a:xfrm>
          <a:prstGeom prst="rect">
            <a:avLst/>
          </a:prstGeom>
        </p:spPr>
      </p:pic>
      <p:sp>
        <p:nvSpPr>
          <p:cNvPr id="10" name="Rounded Rectangle 9"/>
          <p:cNvSpPr/>
          <p:nvPr/>
        </p:nvSpPr>
        <p:spPr>
          <a:xfrm>
            <a:off x="530352" y="3960495"/>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8851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79367"/>
            <a:ext cx="10564063" cy="624840"/>
          </a:xfrm>
          <a:prstGeom prst="rect">
            <a:avLst/>
          </a:prstGeom>
          <a:noFill/>
        </p:spPr>
        <p:txBody>
          <a:bodyPr wrap="square" anchor="ctr" lIns="0" rIns="0" tIns="0" bIns="0">
            <a:spAutoFit/>
          </a:bodyPr>
          <a:lstStyle/>
          <a:p>
            <a:r>
              <a:rPr sz="1500" b="1">
                <a:solidFill>
                  <a:srgbClr val="5B3FD6"/>
                </a:solidFill>
                <a:latin typeface="Calibri"/>
              </a:rPr>
              <a:t>When to switch. </a:t>
            </a:r>
            <a:r>
              <a:rPr sz="1500" b="0" i="0">
                <a:solidFill>
                  <a:srgbClr val="1A1440"/>
                </a:solidFill>
                <a:latin typeface="Calibri"/>
              </a:rPr>
              <a:t>Trace by hand for a one-off note; generate the note from the numbers when it repeats weekly, because a template cannot mistype.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7" name="Oval 16"/>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9" name="Oval 18"/>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1" name="Oval 20"/>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70 / 72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chapter 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note is done when every line would survive Marketing reading it first.</a:t>
            </a:r>
          </a:p>
        </p:txBody>
      </p:sp>
      <p:pic>
        <p:nvPicPr>
          <p:cNvPr id="9" name="mermaid diagram" descr="a5fe24a3e11fcae4.png"/>
          <p:cNvPicPr>
            <a:picLocks noChangeAspect="1"/>
          </p:cNvPicPr>
          <p:nvPr/>
        </p:nvPicPr>
        <p:blipFill>
          <a:blip r:embed="rId7"/>
          <a:stretch>
            <a:fillRect/>
          </a:stretch>
        </p:blipFill>
        <p:spPr>
          <a:xfrm>
            <a:off x="780897" y="1855756"/>
            <a:ext cx="10629900" cy="1357312"/>
          </a:xfrm>
          <a:prstGeom prst="rect">
            <a:avLst/>
          </a:prstGeom>
        </p:spPr>
      </p:pic>
      <p:sp>
        <p:nvSpPr>
          <p:cNvPr id="10" name="Rounded Rectangle 9"/>
          <p:cNvSpPr/>
          <p:nvPr/>
        </p:nvSpPr>
        <p:spPr>
          <a:xfrm>
            <a:off x="530352" y="33593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211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930872"/>
            <a:ext cx="237744" cy="237744"/>
          </a:xfrm>
          <a:prstGeom prst="rect">
            <a:avLst/>
          </a:prstGeom>
        </p:spPr>
      </p:pic>
      <p:sp>
        <p:nvSpPr>
          <p:cNvPr id="13" name="TextBox 12"/>
          <p:cNvSpPr txBox="1"/>
          <p:nvPr/>
        </p:nvSpPr>
        <p:spPr>
          <a:xfrm>
            <a:off x="1399031" y="35056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725132"/>
            <a:ext cx="9987991" cy="941832"/>
          </a:xfrm>
          <a:prstGeom prst="rect">
            <a:avLst/>
          </a:prstGeom>
          <a:noFill/>
        </p:spPr>
        <p:txBody>
          <a:bodyPr wrap="square" anchor="t" lIns="0" rIns="0" tIns="0" bIns="0">
            <a:spAutoFit/>
          </a:bodyPr>
          <a:lstStyle/>
          <a:p>
            <a:r>
              <a:rPr sz="1500" b="0" i="0">
                <a:solidFill>
                  <a:srgbClr val="1A1440"/>
                </a:solidFill>
                <a:latin typeface="Calibri"/>
              </a:rPr>
              <a:t>Three answers, each with its base, its caveat and a cost, and two of them say not yet with the thing that would change them. Marketing will push on the third on Monday; this afternoon is the ground you will stand on.</a:t>
            </a:r>
          </a:p>
        </p:txBody>
      </p:sp>
      <p:sp>
        <p:nvSpPr>
          <p:cNvPr id="15" name="Rounded Rectangle 14"/>
          <p:cNvSpPr/>
          <p:nvPr/>
        </p:nvSpPr>
        <p:spPr>
          <a:xfrm>
            <a:off x="530352" y="49047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2369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346668"/>
            <a:ext cx="237744" cy="237744"/>
          </a:xfrm>
          <a:prstGeom prst="rect">
            <a:avLst/>
          </a:prstGeom>
        </p:spPr>
      </p:pic>
      <p:sp>
        <p:nvSpPr>
          <p:cNvPr id="18" name="TextBox 17"/>
          <p:cNvSpPr txBox="1"/>
          <p:nvPr/>
        </p:nvSpPr>
        <p:spPr>
          <a:xfrm>
            <a:off x="1399031" y="50510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270468"/>
            <a:ext cx="9987991" cy="682752"/>
          </a:xfrm>
          <a:prstGeom prst="rect">
            <a:avLst/>
          </a:prstGeom>
          <a:noFill/>
        </p:spPr>
        <p:txBody>
          <a:bodyPr wrap="square" anchor="t" lIns="0" rIns="0" tIns="0" bIns="0">
            <a:spAutoFit/>
          </a:bodyPr>
          <a:lstStyle/>
          <a:p>
            <a:r>
              <a:rPr sz="1500" b="0" i="0">
                <a:solidFill>
                  <a:srgbClr val="1A1440"/>
                </a:solidFill>
                <a:latin typeface="Calibri"/>
              </a:rPr>
              <a:t>[D] The CEO wants a yes or no and the honest answer is "not yet"; what do you say, and how do you hold the line when marketing pushes?</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24" name="Oval 23"/>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26" name="Oval 25"/>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8" name="Oval 27"/>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71 / 72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Depth: one direction or both</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Chapter 1 counted falls at least as large; counting rises as well roughly doubles the share.</a:t>
            </a:r>
          </a:p>
        </p:txBody>
      </p:sp>
      <p:graphicFrame>
        <p:nvGraphicFramePr>
          <p:cNvPr id="10" name="Table 9"/>
          <p:cNvGraphicFramePr>
            <a:graphicFrameLocks noGrp="1"/>
          </p:cNvGraphicFramePr>
          <p:nvPr/>
        </p:nvGraphicFramePr>
        <p:xfrm>
          <a:off x="530352" y="1956816"/>
          <a:ext cx="11130990" cy="1109472"/>
        </p:xfrm>
        <a:graphic>
          <a:graphicData uri="http://schemas.openxmlformats.org/drawingml/2006/table">
            <a:tbl>
              <a:tblPr firstRow="0" bandRow="0">
                <a:tableStyleId>{2D5ABB26-0587-4C30-8999-92F81FD0307C}</a:tableStyleId>
              </a:tblPr>
              <a:tblGrid>
                <a:gridCol w="3791185"/>
                <a:gridCol w="5224521"/>
                <a:gridCol w="2115284"/>
              </a:tblGrid>
              <a:tr h="369824">
                <a:tc>
                  <a:txBody>
                    <a:bodyPr/>
                    <a:lstStyle/>
                    <a:p>
                      <a:r>
                        <a:rPr sz="1450" b="1" i="0">
                          <a:solidFill>
                            <a:srgbClr val="FFFFFF"/>
                          </a:solidFill>
                          <a:latin typeface="Calibri"/>
                        </a:rPr>
                        <a:t>Counted</a:t>
                      </a:r>
                    </a:p>
                  </a:txBody>
                  <a:tcPr marL="101600" marR="101600" marT="38100" marB="38100" anchor="ctr">
                    <a:solidFill>
                      <a:srgbClr val="1A0F5C"/>
                    </a:solidFill>
                  </a:tcPr>
                </a:tc>
                <a:tc>
                  <a:txBody>
                    <a:bodyPr/>
                    <a:lstStyle/>
                    <a:p>
                      <a:r>
                        <a:rPr sz="1450" b="1" i="0">
                          <a:solidFill>
                            <a:srgbClr val="FFFFFF"/>
                          </a:solidFill>
                          <a:latin typeface="Calibri"/>
                        </a:rPr>
                        <a:t>What it asks</a:t>
                      </a:r>
                    </a:p>
                  </a:txBody>
                  <a:tcPr marL="101600" marR="101600" marT="38100" marB="38100" anchor="ctr">
                    <a:solidFill>
                      <a:srgbClr val="1A0F5C"/>
                    </a:solidFill>
                  </a:tcPr>
                </a:tc>
                <a:tc>
                  <a:txBody>
                    <a:bodyPr/>
                    <a:lstStyle/>
                    <a:p>
                      <a:r>
                        <a:rPr sz="1450" b="1" i="0">
                          <a:solidFill>
                            <a:srgbClr val="FFFFFF"/>
                          </a:solidFill>
                          <a:latin typeface="Calibri"/>
                        </a:rPr>
                        <a:t>For Retail-Plus</a:t>
                      </a:r>
                    </a:p>
                  </a:txBody>
                  <a:tcPr marL="101600" marR="101600" marT="38100" marB="38100" anchor="ctr">
                    <a:solidFill>
                      <a:srgbClr val="1A0F5C"/>
                    </a:solidFill>
                  </a:tcPr>
                </a:tc>
              </a:tr>
              <a:tr h="369824">
                <a:tc>
                  <a:txBody>
                    <a:bodyPr/>
                    <a:lstStyle/>
                    <a:p>
                      <a:r>
                        <a:rPr sz="1400" b="0" i="0">
                          <a:solidFill>
                            <a:srgbClr val="1A1440"/>
                          </a:solidFill>
                          <a:latin typeface="Calibri"/>
                        </a:rPr>
                        <a:t>Falls at least as large</a:t>
                      </a:r>
                    </a:p>
                  </a:txBody>
                  <a:tcPr marL="101600" marR="101600" marT="38100" marB="38100" anchor="ctr">
                    <a:solidFill>
                      <a:srgbClr val="FFFFFF"/>
                    </a:solidFill>
                  </a:tcPr>
                </a:tc>
                <a:tc>
                  <a:txBody>
                    <a:bodyPr/>
                    <a:lstStyle/>
                    <a:p>
                      <a:r>
                        <a:rPr sz="1400" b="0" i="0">
                          <a:solidFill>
                            <a:srgbClr val="1A1440"/>
                          </a:solidFill>
                          <a:latin typeface="Calibri"/>
                        </a:rPr>
                        <a:t>Could chance make a drop this big?</a:t>
                      </a:r>
                    </a:p>
                  </a:txBody>
                  <a:tcPr marL="101600" marR="101600" marT="38100" marB="38100" anchor="ctr">
                    <a:solidFill>
                      <a:srgbClr val="FFFFFF"/>
                    </a:solidFill>
                  </a:tcPr>
                </a:tc>
                <a:tc>
                  <a:txBody>
                    <a:bodyPr/>
                    <a:lstStyle/>
                    <a:p>
                      <a:r>
                        <a:rPr sz="1400" b="0" i="0">
                          <a:solidFill>
                            <a:srgbClr val="1A1440"/>
                          </a:solidFill>
                          <a:latin typeface="Calibri"/>
                        </a:rPr>
                        <a:t>0.027</a:t>
                      </a:r>
                    </a:p>
                  </a:txBody>
                  <a:tcPr marL="101600" marR="101600" marT="38100" marB="38100" anchor="ctr">
                    <a:solidFill>
                      <a:srgbClr val="FFFFFF"/>
                    </a:solidFill>
                  </a:tcPr>
                </a:tc>
              </a:tr>
              <a:tr h="369824">
                <a:tc>
                  <a:txBody>
                    <a:bodyPr/>
                    <a:lstStyle/>
                    <a:p>
                      <a:r>
                        <a:rPr sz="1400" b="0" i="0">
                          <a:solidFill>
                            <a:srgbClr val="1A1440"/>
                          </a:solidFill>
                          <a:latin typeface="Calibri"/>
                        </a:rPr>
                        <a:t>Falls or rises at least as large</a:t>
                      </a:r>
                    </a:p>
                  </a:txBody>
                  <a:tcPr marL="101600" marR="101600" marT="38100" marB="38100" anchor="ctr">
                    <a:solidFill>
                      <a:srgbClr val="F4F2FA"/>
                    </a:solidFill>
                  </a:tcPr>
                </a:tc>
                <a:tc>
                  <a:txBody>
                    <a:bodyPr/>
                    <a:lstStyle/>
                    <a:p>
                      <a:r>
                        <a:rPr sz="1400" b="0" i="0">
                          <a:solidFill>
                            <a:srgbClr val="1A1440"/>
                          </a:solidFill>
                          <a:latin typeface="Calibri"/>
                        </a:rPr>
                        <a:t>Could chance make a move this big either way?</a:t>
                      </a:r>
                    </a:p>
                  </a:txBody>
                  <a:tcPr marL="101600" marR="101600" marT="38100" marB="38100" anchor="ctr">
                    <a:solidFill>
                      <a:srgbClr val="F4F2FA"/>
                    </a:solidFill>
                  </a:tcPr>
                </a:tc>
                <a:tc>
                  <a:txBody>
                    <a:bodyPr/>
                    <a:lstStyle/>
                    <a:p>
                      <a:r>
                        <a:rPr sz="1400" b="0" i="0">
                          <a:solidFill>
                            <a:srgbClr val="1A1440"/>
                          </a:solidFill>
                          <a:latin typeface="Calibri"/>
                        </a:rPr>
                        <a:t>0.050</a:t>
                      </a:r>
                    </a:p>
                  </a:txBody>
                  <a:tcPr marL="101600" marR="101600" marT="38100" marB="38100" anchor="ctr">
                    <a:solidFill>
                      <a:srgbClr val="F4F2FA"/>
                    </a:solidFill>
                  </a:tcPr>
                </a:tc>
              </a:tr>
            </a:tbl>
          </a:graphicData>
        </a:graphic>
      </p:graphicFrame>
      <p:sp>
        <p:nvSpPr>
          <p:cNvPr id="11" name="TextBox 10"/>
          <p:cNvSpPr txBox="1"/>
          <p:nvPr/>
        </p:nvSpPr>
        <p:spPr>
          <a:xfrm>
            <a:off x="530352" y="33223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Meera asked about a drop, so the chapter counted drops. A note that tested both directions says so, and reports the two-direction share.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or the usual wobble</a:t>
            </a:r>
          </a:p>
        </p:txBody>
      </p:sp>
      <p:sp>
        <p:nvSpPr>
          <p:cNvPr id="14" name="Oval 1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65711"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Real, and worth acting on</a:t>
            </a:r>
          </a:p>
        </p:txBody>
      </p:sp>
      <p:sp>
        <p:nvSpPr>
          <p:cNvPr id="16" name="Oval 15"/>
          <p:cNvSpPr/>
          <p:nvPr/>
        </p:nvSpPr>
        <p:spPr>
          <a:xfrm>
            <a:off x="37816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91343"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count behind 40 percent</a:t>
            </a:r>
          </a:p>
        </p:txBody>
      </p:sp>
      <p:sp>
        <p:nvSpPr>
          <p:cNvPr id="18" name="Oval 17"/>
          <p:cNvSpPr/>
          <p:nvPr/>
        </p:nvSpPr>
        <p:spPr>
          <a:xfrm>
            <a:off x="54992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08986"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discount, split by segment</a:t>
            </a:r>
          </a:p>
        </p:txBody>
      </p:sp>
      <p:sp>
        <p:nvSpPr>
          <p:cNvPr id="20" name="Oval 19"/>
          <p:cNvSpPr/>
          <p:nvPr/>
        </p:nvSpPr>
        <p:spPr>
          <a:xfrm>
            <a:off x="735491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64647"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The note that may say not yet</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D66  ·  72 / 72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