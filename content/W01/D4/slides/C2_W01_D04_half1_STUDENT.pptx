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at most two minutes.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Retail-Plus delivered Rs 47,710 in Q2, Retail-Core Rs 47,600 and Student about</a:t>
            </a:r>
          </a:p>
          <a:p>
            <a:r>
              <a:t>Rs 5,000, against Business's Rs 1,27,64,460: every Business order is in lakhs. Then the draft that</a:t>
            </a:r>
          </a:p>
          <a:p>
            <a:r>
              <a:t>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as a leaderboard, the way a hurried draft will. Then the draft.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three tests run on every line, whoever wrote it.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pick a, so hold it until the answer slide.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rules: the range's low end below the offer's cost, fewer than thirty</a:t>
            </a:r>
          </a:p>
          <a:p>
            <a:r>
              <a:t>customers behind the rise, and a blend up while every segment falls. A note whose action does not</a:t>
            </a:r>
          </a:p>
          <a:p>
            <a:r>
              <a:t>follow from its own numbers would pass every figure 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6.png"/><Relationship Id="rId6"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6.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7.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16.png"/><Relationship Id="rId6" Type="http://schemas.openxmlformats.org/officeDocument/2006/relationships/image" Target="../media/image3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3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34.png"/><Relationship Id="rId6" Type="http://schemas.openxmlformats.org/officeDocument/2006/relationships/image" Target="../media/image4.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16.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4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5.xml"/><Relationship Id="rId6" Type="http://schemas.openxmlformats.org/officeDocument/2006/relationships/image" Target="../media/image4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 Id="rId5" Type="http://schemas.openxmlformats.org/officeDocument/2006/relationships/image" Target="../media/image16.png"/><Relationship Id="rId6" Type="http://schemas.openxmlformats.org/officeDocument/2006/relationships/image" Target="../media/image4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 Id="rId5" Type="http://schemas.openxmlformats.org/officeDocument/2006/relationships/image" Target="../media/image4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 Id="rId5" Type="http://schemas.openxmlformats.org/officeDocument/2006/relationships/image" Target="../media/image4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 Kavya Nair, the team's senior analyst, reviews each chapter's answer before it reaches Meera.</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Meera's budget call on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Retail-Plus fall is real,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Meera's first question measure, and on whom?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graphicFrame>
        <p:nvGraphicFramePr>
          <p:cNvPr id="9" name="Table 8"/>
          <p:cNvGraphicFramePr>
            <a:graphicFrameLocks noGrp="1"/>
          </p:cNvGraphicFramePr>
          <p:nvPr/>
        </p:nvGraphicFramePr>
        <p:xfrm>
          <a:off x="530352" y="1956816"/>
          <a:ext cx="11130988" cy="670560"/>
        </p:xfrm>
        <a:graphic>
          <a:graphicData uri="http://schemas.openxmlformats.org/drawingml/2006/table">
            <a:tbl>
              <a:tblPr firstRow="0" bandRow="0">
                <a:tableStyleId>{2D5ABB26-0587-4C30-8999-92F81FD0307C}</a:tableStyleId>
              </a:tblPr>
              <a:tblGrid>
                <a:gridCol w="1011908"/>
                <a:gridCol w="1011908"/>
                <a:gridCol w="1011908"/>
                <a:gridCol w="1011908"/>
                <a:gridCol w="1011908"/>
                <a:gridCol w="1011908"/>
                <a:gridCol w="1011908"/>
                <a:gridCol w="1011908"/>
                <a:gridCol w="1011908"/>
                <a:gridCol w="1011908"/>
                <a:gridCol w="1011908"/>
              </a:tblGrid>
              <a:tr h="335280">
                <a:tc>
                  <a:txBody>
                    <a:bodyPr/>
                    <a:lstStyle/>
                    <a:p>
                      <a:r>
                        <a:rPr sz="1250" b="1" i="0">
                          <a:solidFill>
                            <a:srgbClr val="FFFFFF"/>
                          </a:solidFill>
                          <a:latin typeface="Calibri"/>
                        </a:rPr>
                        <a:t>Toss</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c>
                  <a:txBody>
                    <a:bodyPr/>
                    <a:lstStyle/>
                    <a:p>
                      <a:r>
                        <a:rPr sz="1250" b="1" i="0">
                          <a:solidFill>
                            <a:srgbClr val="FFFFFF"/>
                          </a:solidFill>
                          <a:latin typeface="Calibri"/>
                        </a:rPr>
                        <a:t>9</a:t>
                      </a:r>
                    </a:p>
                  </a:txBody>
                  <a:tcPr marL="101600" marR="101600" marT="38100" marB="38100" anchor="ctr">
                    <a:solidFill>
                      <a:srgbClr val="1A0F5C"/>
                    </a:solidFill>
                  </a:tcPr>
                </a:tc>
                <a:tc>
                  <a:txBody>
                    <a:bodyPr/>
                    <a:lstStyle/>
                    <a:p>
                      <a:r>
                        <a:rPr sz="1250" b="1" i="0">
                          <a:solidFill>
                            <a:srgbClr val="FFFFFF"/>
                          </a:solidFill>
                          <a:latin typeface="Calibri"/>
                        </a:rPr>
                        <a:t>10</a:t>
                      </a:r>
                    </a:p>
                  </a:txBody>
                  <a:tcPr marL="101600" marR="101600" marT="38100" marB="38100" anchor="ctr">
                    <a:solidFill>
                      <a:srgbClr val="1A0F5C"/>
                    </a:solidFill>
                  </a:tcPr>
                </a:tc>
              </a:tr>
              <a:tr h="335280">
                <a:tc>
                  <a:txBody>
                    <a:bodyPr/>
                    <a:lstStyle/>
                    <a:p>
                      <a:r>
                        <a:rPr sz="1200" b="0" i="0">
                          <a:solidFill>
                            <a:srgbClr val="1A1440"/>
                          </a:solidFill>
                          <a:latin typeface="Calibri"/>
                        </a:rPr>
                        <a:t>Gap, Rs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-480</a:t>
                      </a:r>
                    </a:p>
                  </a:txBody>
                  <a:tcPr marL="101600" marR="101600" marT="38100" marB="38100" anchor="ctr">
                    <a:solidFill>
                      <a:srgbClr val="FFFFFF"/>
                    </a:solidFill>
                  </a:tcPr>
                </a:tc>
                <a:tc>
                  <a:txBody>
                    <a:bodyPr/>
                    <a:lstStyle/>
                    <a:p>
                      <a:r>
                        <a:rPr sz="1200" b="0" i="0">
                          <a:solidFill>
                            <a:srgbClr val="1A1440"/>
                          </a:solidFill>
                          <a:latin typeface="Calibri"/>
                        </a:rPr>
                        <a:t>-440</a:t>
                      </a:r>
                    </a:p>
                  </a:txBody>
                  <a:tcPr marL="101600" marR="101600" marT="38100" marB="38100" anchor="ctr">
                    <a:solidFill>
                      <a:srgbClr val="FFFFFF"/>
                    </a:solidFill>
                  </a:tcPr>
                </a:tc>
                <a:tc>
                  <a:txBody>
                    <a:bodyPr/>
                    <a:lstStyle/>
                    <a:p>
                      <a:r>
                        <a:rPr sz="1200" b="0" i="0">
                          <a:solidFill>
                            <a:srgbClr val="1A1440"/>
                          </a:solidFill>
                          <a:latin typeface="Calibri"/>
                        </a:rPr>
                        <a:t>-360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c>
                  <a:txBody>
                    <a:bodyPr/>
                    <a:lstStyle/>
                    <a:p>
                      <a:r>
                        <a:rPr sz="1200" b="0" i="0">
                          <a:solidFill>
                            <a:srgbClr val="1A1440"/>
                          </a:solidFill>
                          <a:latin typeface="Calibri"/>
                        </a:rPr>
                        <a:t>-440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480</a:t>
                      </a:r>
                    </a:p>
                  </a:txBody>
                  <a:tcPr marL="101600" marR="101600" marT="38100" marB="38100" anchor="ctr">
                    <a:solidFill>
                      <a:srgbClr val="FFFFFF"/>
                    </a:solidFill>
                  </a:tcPr>
                </a:tc>
                <a:tc>
                  <a:txBody>
                    <a:bodyPr/>
                    <a:lstStyle/>
                    <a:p>
                      <a:r>
                        <a:rPr sz="1200" b="0" i="0">
                          <a:solidFill>
                            <a:srgbClr val="1A1440"/>
                          </a:solidFill>
                          <a:latin typeface="Calibri"/>
                        </a:rPr>
                        <a:t>-640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real gap is Rs 880, and none of the ten tosses reached it.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in 1,000 tosses, exactly 1 of 32 patterns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d4d7888d6463278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416787e063cbd47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12620"/>
          <a:ext cx="11130990" cy="1652016"/>
        </p:xfrm>
        <a:graphic>
          <a:graphicData uri="http://schemas.openxmlformats.org/drawingml/2006/table">
            <a:tbl>
              <a:tblPr firstRow="0" bandRow="0">
                <a:tableStyleId>{2D5ABB26-0587-4C30-8999-92F81FD0307C}</a:tableStyleId>
              </a:tblPr>
              <a:tblGrid>
                <a:gridCol w="4321384"/>
                <a:gridCol w="6809606"/>
              </a:tblGrid>
              <a:tr h="318008">
                <a:tc>
                  <a:txBody>
                    <a:bodyPr/>
                    <a:lstStyle/>
                    <a:p>
                      <a:r>
                        <a:rPr sz="1150" b="1" i="0">
                          <a:solidFill>
                            <a:srgbClr val="FFFFFF"/>
                          </a:solidFill>
                          <a:latin typeface="Calibri"/>
                        </a:rPr>
                        <a:t>Draft</a:t>
                      </a:r>
                    </a:p>
                  </a:txBody>
                  <a:tcPr marL="101600" marR="101600" marT="38100" marB="38100" anchor="ctr">
                    <a:solidFill>
                      <a:srgbClr val="1A0F5C"/>
                    </a:solidFill>
                  </a:tcPr>
                </a:tc>
                <a:tc>
                  <a:txBody>
                    <a:bodyPr/>
                    <a:lstStyle/>
                    <a:p>
                      <a:r>
                        <a:rPr sz="1150" b="1" i="0">
                          <a:solidFill>
                            <a:srgbClr val="FFFFFF"/>
                          </a:solidFill>
                          <a:latin typeface="Calibri"/>
                        </a:rPr>
                        <a:t>Rewritten</a:t>
                      </a:r>
                    </a:p>
                  </a:txBody>
                  <a:tcPr marL="101600" marR="101600" marT="38100" marB="38100" anchor="ctr">
                    <a:solidFill>
                      <a:srgbClr val="1A0F5C"/>
                    </a:solidFill>
                  </a:tcPr>
                </a:tc>
              </a:tr>
              <a:tr h="508000">
                <a:tc>
                  <a:txBody>
                    <a:bodyPr/>
                    <a:lstStyle/>
                    <a:p>
                      <a:r>
                        <a:rPr sz="11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1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508000">
                <a:tc>
                  <a:txBody>
                    <a:bodyPr/>
                    <a:lstStyle/>
                    <a:p>
                      <a:r>
                        <a:rPr sz="11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1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318008">
                <a:tc>
                  <a:txBody>
                    <a:bodyPr/>
                    <a:lstStyle/>
                    <a:p>
                      <a:r>
                        <a:rPr sz="1100" b="0" i="0">
                          <a:solidFill>
                            <a:srgbClr val="1A1440"/>
                          </a:solidFill>
                          <a:latin typeface="Calibri"/>
                        </a:rPr>
                        <a:t>"p = 0.03, so it is significant."</a:t>
                      </a:r>
                    </a:p>
                  </a:txBody>
                  <a:tcPr marL="101600" marR="101600" marT="38100" marB="38100" anchor="ctr">
                    <a:solidFill>
                      <a:srgbClr val="FFFFFF"/>
                    </a:solidFill>
                  </a:tcPr>
                </a:tc>
                <a:tc>
                  <a:txBody>
                    <a:bodyPr/>
                    <a:lstStyle/>
                    <a:p>
                      <a:r>
                        <a:rPr sz="11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38206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233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33088"/>
            <a:ext cx="237744" cy="237744"/>
          </a:xfrm>
          <a:prstGeom prst="rect">
            <a:avLst/>
          </a:prstGeom>
        </p:spPr>
      </p:pic>
      <p:sp>
        <p:nvSpPr>
          <p:cNvPr id="13" name="TextBox 12"/>
          <p:cNvSpPr txBox="1"/>
          <p:nvPr/>
        </p:nvSpPr>
        <p:spPr>
          <a:xfrm>
            <a:off x="1399031" y="39669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1864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Rounded Rectangle 14"/>
          <p:cNvSpPr/>
          <p:nvPr/>
        </p:nvSpPr>
        <p:spPr>
          <a:xfrm>
            <a:off x="530352" y="48478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289804"/>
            <a:ext cx="237744" cy="237744"/>
          </a:xfrm>
          <a:prstGeom prst="rect">
            <a:avLst/>
          </a:prstGeom>
        </p:spPr>
      </p:pic>
      <p:sp>
        <p:nvSpPr>
          <p:cNvPr id="18" name="TextBox 17"/>
          <p:cNvSpPr txBox="1"/>
          <p:nvPr/>
        </p:nvSpPr>
        <p:spPr>
          <a:xfrm>
            <a:off x="1399031" y="49941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604"/>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of every coin pattern give the flips'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584469"/>
                <a:gridCol w="6546521"/>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1400" b="0" i="0">
                          <a:solidFill>
                            <a:srgbClr val="1A1440"/>
                          </a:solidFill>
                          <a:latin typeface="Calibri"/>
                        </a:rPr>
                        <a:t>Flip each member's pair; 8 of 44 totals are zero</a:t>
                      </a:r>
                    </a:p>
                  </a:txBody>
                  <a:tcPr marL="101600" marR="101600" marT="38100" marB="38100" anchor="ctr">
                    <a:solidFill>
                      <a:srgbClr val="FFFFFF"/>
                    </a:solidFill>
                  </a:tcPr>
                </a:tc>
              </a:tr>
              <a:tr h="369824">
                <a:tc>
                  <a:txBody>
                    <a:bodyPr/>
                    <a:lstStyle/>
                    <a:p>
                      <a:r>
                        <a:rPr sz="1400" b="0" i="0">
                          <a:solidFill>
                            <a:srgbClr val="1A1440"/>
                          </a:solidFill>
                          <a:latin typeface="Calibri"/>
                        </a:rPr>
                        <a:t>2. Is Rs 880 surprising?</a:t>
                      </a:r>
                    </a:p>
                  </a:txBody>
                  <a:tcPr marL="101600" marR="101600" marT="38100" marB="38100" anchor="ctr">
                    <a:solidFill>
                      <a:srgbClr val="F4F2FA"/>
                    </a:solidFill>
                  </a:tcPr>
                </a:tc>
                <a:tc>
                  <a:txBody>
                    <a:bodyPr/>
                    <a:lstStyle/>
                    <a:p>
                      <a:r>
                        <a:rPr sz="1400" b="0" i="0">
                          <a:solidFill>
                            <a:srgbClr val="1A1440"/>
                          </a:solidFill>
                          <a:latin typeface="Calibri"/>
                        </a:rPr>
                        <a:t>35 of 1,000 tosses; exactly 1 of 32 patterns</a:t>
                      </a:r>
                    </a:p>
                  </a:txBody>
                  <a:tcPr marL="101600" marR="101600" marT="38100" marB="38100" anchor="ctr">
                    <a:solidFill>
                      <a:srgbClr val="F4F2FA"/>
                    </a:solidFill>
                  </a:tcPr>
                </a:tc>
              </a:tr>
              <a:tr h="369824">
                <a:tc>
                  <a:txBody>
                    <a:bodyPr/>
                    <a:lstStyle/>
                    <a:p>
                      <a:r>
                        <a:rPr sz="1400" b="0" i="0">
                          <a:solidFill>
                            <a:srgbClr val="1A1440"/>
                          </a:solidFill>
                          <a:latin typeface="Calibri"/>
                        </a:rPr>
                        <a:t>3. What is the usual wobble?</a:t>
                      </a:r>
                    </a:p>
                  </a:txBody>
                  <a:tcPr marL="101600" marR="101600" marT="38100" marB="38100" anchor="ctr">
                    <a:solidFill>
                      <a:srgbClr val="FFFFFF"/>
                    </a:solidFill>
                  </a:tcPr>
                </a:tc>
                <a:tc>
                  <a:txBody>
                    <a:bodyPr/>
                    <a:lstStyle/>
                    <a:p>
                      <a:r>
                        <a:rPr sz="1400" b="0" i="0">
                          <a:solidFill>
                            <a:srgbClr val="1A1440"/>
                          </a:solidFill>
                          <a:latin typeface="Calibri"/>
                        </a:rPr>
                        <a:t>Retail-Core's Rs 110: 0.358 falls, 0.723 either way</a:t>
                      </a:r>
                    </a:p>
                  </a:txBody>
                  <a:tcPr marL="101600" marR="101600" marT="38100" marB="38100" anchor="ctr">
                    <a:solidFill>
                      <a:srgbClr val="FFFFFF"/>
                    </a:solidFill>
                  </a:tcPr>
                </a:tc>
              </a:tr>
              <a:tr h="369824">
                <a:tc>
                  <a:txBody>
                    <a:bodyPr/>
                    <a:lstStyle/>
                    <a:p>
                      <a:r>
                        <a:rPr sz="1400" b="0" i="0">
                          <a:solidFill>
                            <a:srgbClr val="1A1440"/>
                          </a:solidFill>
                          <a:latin typeface="Calibri"/>
                        </a:rPr>
                        <a:t>4. How often by chance?</a:t>
                      </a:r>
                    </a:p>
                  </a:txBody>
                  <a:tcPr marL="101600" marR="101600" marT="38100" marB="38100" anchor="ctr">
                    <a:solidFill>
                      <a:srgbClr val="F4F2FA"/>
                    </a:solidFill>
                  </a:tcPr>
                </a:tc>
                <a:tc>
                  <a:txBody>
                    <a:bodyPr/>
                    <a:lstStyle/>
                    <a:p>
                      <a:r>
                        <a:rPr sz="1400" b="0" i="0">
                          <a:solidFill>
                            <a:srgbClr val="1A1440"/>
                          </a:solidFill>
                          <a:latin typeface="Calibri"/>
                        </a:rPr>
                        <a:t>Rs 1,110: 0.029 counting falls, 0.057 either way</a:t>
                      </a:r>
                    </a:p>
                  </a:txBody>
                  <a:tcPr marL="101600" marR="101600" marT="38100" marB="38100" anchor="ctr">
                    <a:solidFill>
                      <a:srgbClr val="F4F2FA"/>
                    </a:solidFill>
                  </a:tcPr>
                </a:tc>
              </a:tr>
              <a:tr h="369824">
                <a:tc>
                  <a:txBody>
                    <a:bodyPr/>
                    <a:lstStyle/>
                    <a:p>
                      <a:r>
                        <a:rPr sz="1400" b="0" i="0">
                          <a:solidFill>
                            <a:srgbClr val="1A1440"/>
                          </a:solidFill>
                          <a:latin typeface="Calibri"/>
                        </a:rPr>
                        <a:t>5. What does a share never say?</a:t>
                      </a:r>
                    </a:p>
                  </a:txBody>
                  <a:tcPr marL="101600" marR="101600" marT="38100" marB="38100" anchor="ctr">
                    <a:solidFill>
                      <a:srgbClr val="FFFFFF"/>
                    </a:solidFill>
                  </a:tcPr>
                </a:tc>
                <a:tc>
                  <a:txBody>
                    <a:bodyPr/>
                    <a:lstStyle/>
                    <a:p>
                      <a:r>
                        <a:rPr sz="1400" b="0" i="0">
                          <a:solidFill>
                            <a:srgbClr val="1A1440"/>
                          </a:solidFill>
                          <a:latin typeface="Calibri"/>
                        </a:rPr>
                        <a:t>The chance that the finding is wrong</a:t>
                      </a:r>
                    </a:p>
                  </a:txBody>
                  <a:tcPr marL="101600" marR="101600" marT="38100" marB="38100" anchor="ctr">
                    <a:solidFill>
                      <a:srgbClr val="FFFFFF"/>
                    </a:solidFill>
                  </a:tcPr>
                </a:tc>
              </a:tr>
              <a:tr h="369824">
                <a:tc>
                  <a:txBody>
                    <a:bodyPr/>
                    <a:lstStyle/>
                    <a:p>
                      <a:r>
                        <a:rPr sz="1400" b="0" i="0">
                          <a:solidFill>
                            <a:srgbClr val="1A1440"/>
                          </a:solidFill>
                          <a:latin typeface="Calibri"/>
                        </a:rPr>
                        <a:t>6. Do other routes agree?</a:t>
                      </a:r>
                    </a:p>
                  </a:txBody>
                  <a:tcPr marL="101600" marR="101600" marT="38100" marB="38100" anchor="ctr">
                    <a:solidFill>
                      <a:srgbClr val="F4F2FA"/>
                    </a:solidFill>
                  </a:tcPr>
                </a:tc>
                <a:tc>
                  <a:txBody>
                    <a:bodyPr/>
                    <a:lstStyle/>
                    <a:p>
                      <a:r>
                        <a:rPr sz="14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the retention budget request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fall is worth acting on,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Bing: one headline change was worth $100M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tells you the gap beats chance; the rupees beside the cost tell you whether to act.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a real gap that is large in rupees earns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24,420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Retail-Plus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1,28,64,680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COMPANY'S 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delivered revenue, every segment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0.19%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QUARTER</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against the company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Business, Kalpa's sales to companies, delivered Rs 1,27,64,460 of that quarter, about 268 times Retail-Plus, so every consumer segment's move is small against the company.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at 20,000 orders, Rs 20 beats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8f38c6326b1cd5c8.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4,895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A QUARTER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won back less the offer's cost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45 PERCENT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break-even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7,315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WINS BACK THREE QUARTERS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quarter's net gain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22" name="Rounded Rectangle 21"/>
          <p:cNvSpPr/>
          <p:nvPr/>
        </p:nvSpPr>
        <p:spPr>
          <a:xfrm>
            <a:off x="530352" y="4320031"/>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227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4"/>
          <a:stretch>
            <a:fillRect/>
          </a:stretch>
        </p:blipFill>
        <p:spPr>
          <a:xfrm>
            <a:off x="868680" y="4632452"/>
            <a:ext cx="237744" cy="237744"/>
          </a:xfrm>
          <a:prstGeom prst="rect">
            <a:avLst/>
          </a:prstGeom>
        </p:spPr>
      </p:pic>
      <p:sp>
        <p:nvSpPr>
          <p:cNvPr id="25" name="TextBox 24"/>
          <p:cNvSpPr txBox="1"/>
          <p:nvPr/>
        </p:nvSpPr>
        <p:spPr>
          <a:xfrm>
            <a:off x="1399031" y="4466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4685792"/>
            <a:ext cx="9987991" cy="42367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985531"/>
                <a:gridCol w="6145459"/>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Monday use?</a:t>
                      </a:r>
                    </a:p>
                  </a:txBody>
                  <a:tcPr marL="101600" marR="101600" marT="38100" marB="38100" anchor="ctr">
                    <a:solidFill>
                      <a:srgbClr val="FFFFFF"/>
                    </a:solidFill>
                  </a:tcPr>
                </a:tc>
                <a:tc>
                  <a:txBody>
                    <a:bodyPr/>
                    <a:lstStyle/>
                    <a:p>
                      <a:r>
                        <a:rPr sz="1400" b="0" i="0">
                          <a:solidFill>
                            <a:srgbClr val="1A1440"/>
                          </a:solidFill>
                          <a:latin typeface="Calibri"/>
                        </a:rPr>
                        <a:t>Break-even, with the range as its check</a:t>
                      </a:r>
                    </a:p>
                  </a:txBody>
                  <a:tcPr marL="101600" marR="101600" marT="38100" marB="38100" anchor="ctr">
                    <a:solidFill>
                      <a:srgbClr val="FFFFFF"/>
                    </a:solidFill>
                  </a:tcPr>
                </a:tc>
              </a:tr>
              <a:tr h="369824">
                <a:tc>
                  <a:txBody>
                    <a:bodyPr/>
                    <a:lstStyle/>
                    <a:p>
                      <a:r>
                        <a:rPr sz="1400" b="0" i="0">
                          <a:solidFill>
                            <a:srgbClr val="1A1440"/>
                          </a:solidFill>
                          <a:latin typeface="Calibri"/>
                        </a:rPr>
                        <a:t>2. How much in rupees?</a:t>
                      </a:r>
                    </a:p>
                  </a:txBody>
                  <a:tcPr marL="101600" marR="101600" marT="38100" marB="38100" anchor="ctr">
                    <a:solidFill>
                      <a:srgbClr val="F4F2FA"/>
                    </a:solidFill>
                  </a:tcPr>
                </a:tc>
                <a:tc>
                  <a:txBody>
                    <a:bodyPr/>
                    <a:lstStyle/>
                    <a:p>
                      <a:r>
                        <a:rPr sz="1400" b="0" i="0">
                          <a:solidFill>
                            <a:srgbClr val="1A1440"/>
                          </a:solidFill>
                          <a:latin typeface="Calibri"/>
                        </a:rPr>
                        <a:t>Rs 1,110 a member, Rs 24,420 a quarter</a:t>
                      </a:r>
                    </a:p>
                  </a:txBody>
                  <a:tcPr marL="101600" marR="101600" marT="38100" marB="38100" anchor="ctr">
                    <a:solidFill>
                      <a:srgbClr val="F4F2FA"/>
                    </a:solidFill>
                  </a:tcPr>
                </a:tc>
              </a:tr>
              <a:tr h="369824">
                <a:tc>
                  <a:txBody>
                    <a:bodyPr/>
                    <a:lstStyle/>
                    <a:p>
                      <a:r>
                        <a:rPr sz="1400" b="0" i="0">
                          <a:solidFill>
                            <a:srgbClr val="1A1440"/>
                          </a:solidFill>
                          <a:latin typeface="Calibri"/>
                        </a:rPr>
                        <a:t>3. Against the company?</a:t>
                      </a:r>
                    </a:p>
                  </a:txBody>
                  <a:tcPr marL="101600" marR="101600" marT="38100" marB="38100" anchor="ctr">
                    <a:solidFill>
                      <a:srgbClr val="FFFFFF"/>
                    </a:solidFill>
                  </a:tcPr>
                </a:tc>
                <a:tc>
                  <a:txBody>
                    <a:bodyPr/>
                    <a:lstStyle/>
                    <a:p>
                      <a:r>
                        <a:rPr sz="1400" b="0" i="0">
                          <a:solidFill>
                            <a:srgbClr val="1A1440"/>
                          </a:solidFill>
                          <a:latin typeface="Calibri"/>
                        </a:rPr>
                        <a:t>0.19 percent of Q2's Rs 1,28,64,680</a:t>
                      </a:r>
                    </a:p>
                  </a:txBody>
                  <a:tcPr marL="101600" marR="101600" marT="38100" marB="38100" anchor="ctr">
                    <a:solidFill>
                      <a:srgbClr val="FFFFFF"/>
                    </a:solidFill>
                  </a:tcPr>
                </a:tc>
              </a:tr>
              <a:tr h="369824">
                <a:tc>
                  <a:txBody>
                    <a:bodyPr/>
                    <a:lstStyle/>
                    <a:p>
                      <a:r>
                        <a:rPr sz="1400" b="0" i="0">
                          <a:solidFill>
                            <a:srgbClr val="1A1440"/>
                          </a:solidFill>
                          <a:latin typeface="Calibri"/>
                        </a:rPr>
                        <a:t>4. Smallest share first?</a:t>
                      </a:r>
                    </a:p>
                  </a:txBody>
                  <a:tcPr marL="101600" marR="101600" marT="38100" marB="38100" anchor="ctr">
                    <a:solidFill>
                      <a:srgbClr val="F4F2FA"/>
                    </a:solidFill>
                  </a:tcPr>
                </a:tc>
                <a:tc>
                  <a:txBody>
                    <a:bodyPr/>
                    <a:lstStyle/>
                    <a:p>
                      <a:r>
                        <a:rPr sz="1400" b="0" i="0">
                          <a:solidFill>
                            <a:srgbClr val="1A1440"/>
                          </a:solidFill>
                          <a:latin typeface="Calibri"/>
                        </a:rPr>
                        <a:t>No: by rupees, Business opens the review</a:t>
                      </a:r>
                    </a:p>
                  </a:txBody>
                  <a:tcPr marL="101600" marR="101600" marT="38100" marB="38100" anchor="ctr">
                    <a:solidFill>
                      <a:srgbClr val="F4F2FA"/>
                    </a:solidFill>
                  </a:tcPr>
                </a:tc>
              </a:tr>
              <a:tr h="369824">
                <a:tc>
                  <a:txBody>
                    <a:bodyPr/>
                    <a:lstStyle/>
                    <a:p>
                      <a:r>
                        <a:rPr sz="1400" b="0" i="0">
                          <a:solidFill>
                            <a:srgbClr val="1A1440"/>
                          </a:solidFill>
                          <a:latin typeface="Calibri"/>
                        </a:rPr>
                        <a:t>5. What must the offer win back?</a:t>
                      </a:r>
                    </a:p>
                  </a:txBody>
                  <a:tcPr marL="101600" marR="101600" marT="38100" marB="38100" anchor="ctr">
                    <a:solidFill>
                      <a:srgbClr val="FFFFFF"/>
                    </a:solidFill>
                  </a:tcPr>
                </a:tc>
                <a:tc>
                  <a:txBody>
                    <a:bodyPr/>
                    <a:lstStyle/>
                    <a:p>
                      <a:r>
                        <a:rPr sz="1400" b="0" i="0">
                          <a:solidFill>
                            <a:srgbClr val="1A1440"/>
                          </a:solidFill>
                          <a:latin typeface="Calibri"/>
                        </a:rPr>
                        <a:t>45 percent: Rs 11,000 against Rs 24,420</a:t>
                      </a:r>
                    </a:p>
                  </a:txBody>
                  <a:tcPr marL="101600" marR="101600" marT="38100" marB="38100" anchor="ctr">
                    <a:solidFill>
                      <a:srgbClr val="FFFFFF"/>
                    </a:solidFill>
                  </a:tcPr>
                </a:tc>
              </a:tr>
              <a:tr h="369824">
                <a:tc>
                  <a:txBody>
                    <a:bodyPr/>
                    <a:lstStyle/>
                    <a:p>
                      <a:r>
                        <a:rPr sz="1400" b="0" i="0">
                          <a:solidFill>
                            <a:srgbClr val="1A1440"/>
                          </a:solidFill>
                          <a:latin typeface="Calibri"/>
                        </a:rPr>
                        <a:t>6. How small could it be?</a:t>
                      </a:r>
                    </a:p>
                  </a:txBody>
                  <a:tcPr marL="101600" marR="101600" marT="38100" marB="38100" anchor="ctr">
                    <a:solidFill>
                      <a:srgbClr val="F4F2FA"/>
                    </a:solidFill>
                  </a:tcPr>
                </a:tc>
                <a:tc>
                  <a:txBody>
                    <a:bodyPr/>
                    <a:lstStyle/>
                    <a:p>
                      <a:r>
                        <a:rPr sz="14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Borderline against chance by two routes, worth Rs 24,420 a quarter, 0.19 percent of the company and a third of the tier. The range's low end sits far below the offer's cost, so this is a watch item; if the head of Retail-Plus wants to act, offer it to a coin-chosen half and hold back the rest.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any budget moves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what stands behind Student's 40 percent,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Meera deciding about Student, and on which number?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Gates backed small schools, found at both ends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alone rose: 140 orders for every 100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segment's orders rose fastest from Q1 to Q2?</a:t>
            </a:r>
          </a:p>
        </p:txBody>
      </p:sp>
      <p:pic>
        <p:nvPicPr>
          <p:cNvPr id="9" name="mermaid diagram" descr="a2bc131ec004973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Student is the only segment above 100: its orders rose 40 percent, while Retail-Core read 97, Business 94 and Retail-Plus 65. Meera's 40 percent counts orders placed, whatever their status.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acquisition budget move to the fastest riser?</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S43a  ·  48 / 87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87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87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 ten buyers, 38 in 100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87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87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87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42%</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12 USERS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higher rate, on a handful</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1,200 USERS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lower rate, on a hundred times more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22" name="Rounded Rectangle 21"/>
          <p:cNvSpPr/>
          <p:nvPr/>
        </p:nvSpPr>
        <p:spPr>
          <a:xfrm>
            <a:off x="530352" y="44470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5750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5659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7" name="Oval 2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9" name="Oval 2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1" name="Oval 3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3" name="Oval 3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31 on 1,200 is the estimate, 42 a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split gives 0.387; real handfuls give 0.344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split between the quarters, and real Retail-Core orders, give the flips' share?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093956"/>
                <a:gridCol w="7037034"/>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fits Monday?</a:t>
                      </a:r>
                    </a:p>
                  </a:txBody>
                  <a:tcPr marL="101600" marR="101600" marT="38100" marB="38100" anchor="ctr">
                    <a:solidFill>
                      <a:srgbClr val="FFFFFF"/>
                    </a:solidFill>
                  </a:tcPr>
                </a:tc>
                <a:tc>
                  <a:txBody>
                    <a:bodyPr/>
                    <a:lstStyle/>
                    <a:p>
                      <a:r>
                        <a:rPr sz="1400" b="0" i="0">
                          <a:solidFill>
                            <a:srgbClr val="1A1440"/>
                          </a:solidFill>
                          <a:latin typeface="Calibri"/>
                        </a:rPr>
                        <a:t>Coin flips on the count, said with the rule</a:t>
                      </a:r>
                    </a:p>
                  </a:txBody>
                  <a:tcPr marL="101600" marR="101600" marT="38100" marB="38100" anchor="ctr">
                    <a:solidFill>
                      <a:srgbClr val="FFFFFF"/>
                    </a:solidFill>
                  </a:tcPr>
                </a:tc>
              </a:tr>
              <a:tr h="369824">
                <a:tc>
                  <a:txBody>
                    <a:bodyPr/>
                    <a:lstStyle/>
                    <a:p>
                      <a:r>
                        <a:rPr sz="1400" b="0" i="0">
                          <a:solidFill>
                            <a:srgbClr val="1A1440"/>
                          </a:solidFill>
                          <a:latin typeface="Calibri"/>
                        </a:rPr>
                        <a:t>2. Which segment rose fastest?</a:t>
                      </a:r>
                    </a:p>
                  </a:txBody>
                  <a:tcPr marL="101600" marR="101600" marT="38100" marB="38100" anchor="ctr">
                    <a:solidFill>
                      <a:srgbClr val="F4F2FA"/>
                    </a:solidFill>
                  </a:tcPr>
                </a:tc>
                <a:tc>
                  <a:txBody>
                    <a:bodyPr/>
                    <a:lstStyle/>
                    <a:p>
                      <a:r>
                        <a:rPr sz="1400" b="0" i="0">
                          <a:solidFill>
                            <a:srgbClr val="1A1440"/>
                          </a:solidFill>
                          <a:latin typeface="Calibri"/>
                        </a:rPr>
                        <a:t>Student: 140 orders for every 100 in Q1</a:t>
                      </a:r>
                    </a:p>
                  </a:txBody>
                  <a:tcPr marL="101600" marR="101600" marT="38100" marB="38100" anchor="ctr">
                    <a:solidFill>
                      <a:srgbClr val="F4F2FA"/>
                    </a:solidFill>
                  </a:tcPr>
                </a:tc>
              </a:tr>
              <a:tr h="369824">
                <a:tc>
                  <a:txBody>
                    <a:bodyPr/>
                    <a:lstStyle/>
                    <a:p>
                      <a:r>
                        <a:rPr sz="1400" b="0" i="0">
                          <a:solidFill>
                            <a:srgbClr val="1A1440"/>
                          </a:solidFill>
                          <a:latin typeface="Calibri"/>
                        </a:rPr>
                        <a:t>3. Budget to the fastest riser?</a:t>
                      </a:r>
                    </a:p>
                  </a:txBody>
                  <a:tcPr marL="101600" marR="101600" marT="38100" marB="38100" anchor="ctr">
                    <a:solidFill>
                      <a:srgbClr val="FFFFFF"/>
                    </a:solidFill>
                  </a:tcPr>
                </a:tc>
                <a:tc>
                  <a:txBody>
                    <a:bodyPr/>
                    <a:lstStyle/>
                    <a:p>
                      <a:r>
                        <a:rPr sz="1400" b="0" i="0">
                          <a:solidFill>
                            <a:srgbClr val="1A1440"/>
                          </a:solidFill>
                          <a:latin typeface="Calibri"/>
                        </a:rPr>
                        <a:t>Not on the rate: under thirty customers stand behind it</a:t>
                      </a:r>
                    </a:p>
                  </a:txBody>
                  <a:tcPr marL="101600" marR="101600" marT="38100" marB="38100" anchor="ctr">
                    <a:solidFill>
                      <a:srgbClr val="FFFFFF"/>
                    </a:solidFill>
                  </a:tcPr>
                </a:tc>
              </a:tr>
              <a:tr h="369824">
                <a:tc>
                  <a:txBody>
                    <a:bodyPr/>
                    <a:lstStyle/>
                    <a:p>
                      <a:r>
                        <a:rPr sz="1400" b="0" i="0">
                          <a:solidFill>
                            <a:srgbClr val="1A1440"/>
                          </a:solidFill>
                          <a:latin typeface="Calibri"/>
                        </a:rPr>
                        <a:t>4. How often by chance?</a:t>
                      </a:r>
                    </a:p>
                  </a:txBody>
                  <a:tcPr marL="101600" marR="101600" marT="38100" marB="38100" anchor="ctr">
                    <a:solidFill>
                      <a:srgbClr val="F4F2FA"/>
                    </a:solidFill>
                  </a:tcPr>
                </a:tc>
                <a:tc>
                  <a:txBody>
                    <a:bodyPr/>
                    <a:lstStyle/>
                    <a:p>
                      <a:r>
                        <a:rPr sz="1400" b="0" i="0">
                          <a:solidFill>
                            <a:srgbClr val="1A1440"/>
                          </a:solidFill>
                          <a:latin typeface="Calibri"/>
                        </a:rPr>
                        <a:t>0.397 of worlds; 0.086 on Retail-Core's 73 orders</a:t>
                      </a:r>
                    </a:p>
                  </a:txBody>
                  <a:tcPr marL="101600" marR="101600" marT="38100" marB="38100" anchor="ctr">
                    <a:solidFill>
                      <a:srgbClr val="F4F2FA"/>
                    </a:solidFill>
                  </a:tcPr>
                </a:tc>
              </a:tr>
              <a:tr h="369824">
                <a:tc>
                  <a:txBody>
                    <a:bodyPr/>
                    <a:lstStyle/>
                    <a:p>
                      <a:r>
                        <a:rPr sz="1400" b="0" i="0">
                          <a:solidFill>
                            <a:srgbClr val="1A1440"/>
                          </a:solidFill>
                          <a:latin typeface="Calibri"/>
                        </a:rPr>
                        <a:t>5. 42 on 12, or 31 on 1,200?</a:t>
                      </a:r>
                    </a:p>
                  </a:txBody>
                  <a:tcPr marL="101600" marR="101600" marT="38100" marB="38100" anchor="ctr">
                    <a:solidFill>
                      <a:srgbClr val="FFFFFF"/>
                    </a:solidFill>
                  </a:tcPr>
                </a:tc>
                <a:tc>
                  <a:txBody>
                    <a:bodyPr/>
                    <a:lstStyle/>
                    <a:p>
                      <a:r>
                        <a:rPr sz="1400" b="0" i="0">
                          <a:solidFill>
                            <a:srgbClr val="1A1440"/>
                          </a:solidFill>
                          <a:latin typeface="Calibri"/>
                        </a:rPr>
                        <a:t>31 as the estimate; 42 as a lead to measure</a:t>
                      </a:r>
                    </a:p>
                  </a:txBody>
                  <a:tcPr marL="101600" marR="101600" marT="38100" marB="38100" anchor="ctr">
                    <a:solidFill>
                      <a:srgbClr val="FFFFFF"/>
                    </a:solidFill>
                  </a:tcPr>
                </a:tc>
              </a:tr>
              <a:tr h="369824">
                <a:tc>
                  <a:txBody>
                    <a:bodyPr/>
                    <a:lstStyle/>
                    <a:p>
                      <a:r>
                        <a:rPr sz="1400" b="0" i="0">
                          <a:solidFill>
                            <a:srgbClr val="1A1440"/>
                          </a:solidFill>
                          <a:latin typeface="Calibri"/>
                        </a:rPr>
                        <a:t>6. Do other routes agree?</a:t>
                      </a:r>
                    </a:p>
                  </a:txBody>
                  <a:tcPr marL="101600" marR="101600" marT="38100" marB="38100" anchor="ctr">
                    <a:solidFill>
                      <a:srgbClr val="F4F2FA"/>
                    </a:solidFill>
                  </a:tcPr>
                </a:tc>
                <a:tc>
                  <a:txBody>
                    <a:bodyPr/>
                    <a:lstStyle/>
                    <a:p>
                      <a:r>
                        <a:rPr sz="1400" b="0" i="0">
                          <a:solidFill>
                            <a:srgbClr val="1A1440"/>
                          </a:solidFill>
                          <a:latin typeface="Calibri"/>
                        </a:rPr>
                        <a:t>Yes: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from too few customers, to act on. Count both, say how often chance makes the rise, and give Meera the number of customers that would reopen it. Waiting for thirty customers costs Kalpa nothing but time.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59 / 87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Diwali's sale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discount worked, and which six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 one mix, still apart?</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that check can catch</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87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claim for the monsoon sale, and what does it want?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87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87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then say it as one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87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16158637cb791756.png"/>
          <p:cNvPicPr>
            <a:picLocks noChangeAspect="1"/>
          </p:cNvPicPr>
          <p:nvPr/>
        </p:nvPicPr>
        <p:blipFill>
          <a:blip r:embed="rId5"/>
          <a:stretch>
            <a:fillRect/>
          </a:stretch>
        </p:blipFill>
        <p:spPr>
          <a:xfrm>
            <a:off x="2152497" y="1956816"/>
            <a:ext cx="78867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48798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078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871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87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87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The number is right; nobody asked who is in each group.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87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87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each segment?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68249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14324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5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55668"/>
            <a:ext cx="237744" cy="237744"/>
          </a:xfrm>
          <a:prstGeom prst="rect">
            <a:avLst/>
          </a:prstGeom>
        </p:spPr>
      </p:pic>
      <p:sp>
        <p:nvSpPr>
          <p:cNvPr id="13" name="TextBox 12"/>
          <p:cNvSpPr txBox="1"/>
          <p:nvPr/>
        </p:nvSpPr>
        <p:spPr>
          <a:xfrm>
            <a:off x="1399031" y="4289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50900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Rounded Rectangle 14"/>
          <p:cNvSpPr/>
          <p:nvPr/>
        </p:nvSpPr>
        <p:spPr>
          <a:xfrm>
            <a:off x="530352" y="51704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731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82844"/>
            <a:ext cx="237744" cy="237744"/>
          </a:xfrm>
          <a:prstGeom prst="rect">
            <a:avLst/>
          </a:prstGeom>
        </p:spPr>
      </p:pic>
      <p:sp>
        <p:nvSpPr>
          <p:cNvPr id="18" name="TextBox 17"/>
          <p:cNvSpPr txBox="1"/>
          <p:nvPr/>
        </p:nvSpPr>
        <p:spPr>
          <a:xfrm>
            <a:off x="1399031" y="5316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36184"/>
            <a:ext cx="9987991" cy="42367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Put on the same segment mix, do the two groups still differ, and what can that check catch?</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828292"/>
          <a:ext cx="11130990" cy="2588768"/>
        </p:xfrm>
        <a:graphic>
          <a:graphicData uri="http://schemas.openxmlformats.org/drawingml/2006/table">
            <a:tbl>
              <a:tblPr firstRow="0" bandRow="0">
                <a:tableStyleId>{2D5ABB26-0587-4C30-8999-92F81FD0307C}</a:tableStyleId>
              </a:tblPr>
              <a:tblGrid>
                <a:gridCol w="4251807"/>
                <a:gridCol w="6879183"/>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1400" b="0" i="0">
                          <a:solidFill>
                            <a:srgbClr val="1A1440"/>
                          </a:solidFill>
                          <a:latin typeface="Calibri"/>
                        </a:rPr>
                        <a:t>The split inside each segment, then both groups put on one mix</a:t>
                      </a:r>
                    </a:p>
                  </a:txBody>
                  <a:tcPr marL="101600" marR="101600" marT="38100" marB="38100" anchor="ctr">
                    <a:solidFill>
                      <a:srgbClr val="FFFFFF"/>
                    </a:solidFill>
                  </a:tcPr>
                </a:tc>
              </a:tr>
              <a:tr h="369824">
                <a:tc>
                  <a:txBody>
                    <a:bodyPr/>
                    <a:lstStyle/>
                    <a:p>
                      <a:r>
                        <a:rPr sz="1400" b="0" i="0">
                          <a:solidFill>
                            <a:srgbClr val="1A1440"/>
                          </a:solidFill>
                          <a:latin typeface="Calibri"/>
                        </a:rPr>
                        <a:t>2. Does the 6 percent rebuild?</a:t>
                      </a:r>
                    </a:p>
                  </a:txBody>
                  <a:tcPr marL="101600" marR="101600" marT="38100" marB="38100" anchor="ctr">
                    <a:solidFill>
                      <a:srgbClr val="F4F2FA"/>
                    </a:solidFill>
                  </a:tcPr>
                </a:tc>
                <a:tc>
                  <a:txBody>
                    <a:bodyPr/>
                    <a:lstStyle/>
                    <a:p>
                      <a:r>
                        <a:rPr sz="1400" b="0" i="0">
                          <a:solidFill>
                            <a:srgbClr val="1A1440"/>
                          </a:solidFill>
                          <a:latin typeface="Calibri"/>
                        </a:rPr>
                        <a:t>Yes: Rs 3,395 against Rs 3,200, +6.1 percent</a:t>
                      </a:r>
                    </a:p>
                  </a:txBody>
                  <a:tcPr marL="101600" marR="101600" marT="38100" marB="38100" anchor="ctr">
                    <a:solidFill>
                      <a:srgbClr val="F4F2FA"/>
                    </a:solidFill>
                  </a:tcPr>
                </a:tc>
              </a:tr>
              <a:tr h="369824">
                <a:tc>
                  <a:txBody>
                    <a:bodyPr/>
                    <a:lstStyle/>
                    <a:p>
                      <a:r>
                        <a:rPr sz="1400" b="0" i="0">
                          <a:solidFill>
                            <a:srgbClr val="1A1440"/>
                          </a:solidFill>
                          <a:latin typeface="Calibri"/>
                        </a:rPr>
                        <a:t>3. Repeat it for Diwali?</a:t>
                      </a:r>
                    </a:p>
                  </a:txBody>
                  <a:tcPr marL="101600" marR="101600" marT="38100" marB="38100" anchor="ctr">
                    <a:solidFill>
                      <a:srgbClr val="FFFFFF"/>
                    </a:solidFill>
                  </a:tcPr>
                </a:tc>
                <a:tc>
                  <a:txBody>
                    <a:bodyPr/>
                    <a:lstStyle/>
                    <a:p>
                      <a:r>
                        <a:rPr sz="1400" b="0" i="0">
                          <a:solidFill>
                            <a:srgbClr val="1A1440"/>
                          </a:solidFill>
                          <a:latin typeface="Calibri"/>
                        </a:rPr>
                        <a:t>Not before asking who is in each group</a:t>
                      </a:r>
                    </a:p>
                  </a:txBody>
                  <a:tcPr marL="101600" marR="101600" marT="38100" marB="38100" anchor="ctr">
                    <a:solidFill>
                      <a:srgbClr val="FFFFFF"/>
                    </a:solidFill>
                  </a:tcPr>
                </a:tc>
              </a:tr>
              <a:tr h="369824">
                <a:tc>
                  <a:txBody>
                    <a:bodyPr/>
                    <a:lstStyle/>
                    <a:p>
                      <a:r>
                        <a:rPr sz="1400" b="0" i="0">
                          <a:solidFill>
                            <a:srgbClr val="1A1440"/>
                          </a:solidFill>
                          <a:latin typeface="Calibri"/>
                        </a:rPr>
                        <a:t>4. Inside each segment?</a:t>
                      </a:r>
                    </a:p>
                  </a:txBody>
                  <a:tcPr marL="101600" marR="101600" marT="38100" marB="38100" anchor="ctr">
                    <a:solidFill>
                      <a:srgbClr val="F4F2FA"/>
                    </a:solidFill>
                  </a:tcPr>
                </a:tc>
                <a:tc>
                  <a:txBody>
                    <a:bodyPr/>
                    <a:lstStyle/>
                    <a:p>
                      <a:r>
                        <a:rPr sz="1400" b="0" i="0">
                          <a:solidFill>
                            <a:srgbClr val="1A1440"/>
                          </a:solidFill>
                          <a:latin typeface="Calibri"/>
                        </a:rPr>
                        <a:t>3.0 percent less in both segments</a:t>
                      </a:r>
                    </a:p>
                  </a:txBody>
                  <a:tcPr marL="101600" marR="101600" marT="38100" marB="38100" anchor="ctr">
                    <a:solidFill>
                      <a:srgbClr val="F4F2FA"/>
                    </a:solidFill>
                  </a:tcPr>
                </a:tc>
              </a:tr>
              <a:tr h="369824">
                <a:tc>
                  <a:txBody>
                    <a:bodyPr/>
                    <a:lstStyle/>
                    <a:p>
                      <a:r>
                        <a:rPr sz="1400" b="0" i="0">
                          <a:solidFill>
                            <a:srgbClr val="1A1440"/>
                          </a:solidFill>
                          <a:latin typeface="Calibri"/>
                        </a:rPr>
                        <a:t>5. What does the note say?</a:t>
                      </a:r>
                    </a:p>
                  </a:txBody>
                  <a:tcPr marL="101600" marR="101600" marT="38100" marB="38100" anchor="ctr">
                    <a:solidFill>
                      <a:srgbClr val="FFFFFF"/>
                    </a:solidFill>
                  </a:tcPr>
                </a:tc>
                <a:tc>
                  <a:txBody>
                    <a:bodyPr/>
                    <a:lstStyle/>
                    <a:p>
                      <a:r>
                        <a:rPr sz="1400" b="0" i="0">
                          <a:solidFill>
                            <a:srgbClr val="1A1440"/>
                          </a:solidFill>
                          <a:latin typeface="Calibri"/>
                        </a:rPr>
                        <a:t>Do not repeat as designed; hold back at Diwali</a:t>
                      </a:r>
                    </a:p>
                  </a:txBody>
                  <a:tcPr marL="101600" marR="101600" marT="38100" marB="38100" anchor="ctr">
                    <a:solidFill>
                      <a:srgbClr val="FFFFFF"/>
                    </a:solidFill>
                  </a:tcPr>
                </a:tc>
              </a:tr>
              <a:tr h="369824">
                <a:tc>
                  <a:txBody>
                    <a:bodyPr/>
                    <a:lstStyle/>
                    <a:p>
                      <a:r>
                        <a:rPr sz="1400" b="0" i="0">
                          <a:solidFill>
                            <a:srgbClr val="1A1440"/>
                          </a:solidFill>
                          <a:latin typeface="Calibri"/>
                        </a:rPr>
                        <a:t>6. On one mix, still apart?</a:t>
                      </a:r>
                    </a:p>
                  </a:txBody>
                  <a:tcPr marL="101600" marR="101600" marT="38100" marB="38100" anchor="ctr">
                    <a:solidFill>
                      <a:srgbClr val="F4F2FA"/>
                    </a:solidFill>
                  </a:tcPr>
                </a:tc>
                <a:tc>
                  <a:txBody>
                    <a:bodyPr/>
                    <a:lstStyle/>
                    <a:p>
                      <a:r>
                        <a:rPr sz="14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73 / 87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Meera's two minutes on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one-page note, and which six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74 / 87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75 / 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76 / 87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77 / 87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78 / 87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79 / 87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no line has a base, a count or a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80 / 87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an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81 / 87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asks each line for base, count,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82 / 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say "not yet": what makes that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83 / 87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Rounded Rectangle 10"/>
          <p:cNvSpPr/>
          <p:nvPr/>
        </p:nvSpPr>
        <p:spPr>
          <a:xfrm>
            <a:off x="530352" y="459231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2455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034279"/>
            <a:ext cx="237744" cy="237744"/>
          </a:xfrm>
          <a:prstGeom prst="rect">
            <a:avLst/>
          </a:prstGeom>
        </p:spPr>
      </p:pic>
      <p:sp>
        <p:nvSpPr>
          <p:cNvPr id="14" name="TextBox 13"/>
          <p:cNvSpPr txBox="1"/>
          <p:nvPr/>
        </p:nvSpPr>
        <p:spPr>
          <a:xfrm>
            <a:off x="1399031" y="473862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958080"/>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2" name="Oval 2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4" name="Oval 23"/>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84 / 87</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a:t>
            </a:r>
          </a:p>
        </p:txBody>
      </p:sp>
      <p:pic>
        <p:nvPicPr>
          <p:cNvPr id="9" name="mermaid diagram" descr="1a26f96d84cb83b6.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85 / 87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828292"/>
          <a:ext cx="11130991" cy="2588768"/>
        </p:xfrm>
        <a:graphic>
          <a:graphicData uri="http://schemas.openxmlformats.org/drawingml/2006/table">
            <a:tbl>
              <a:tblPr firstRow="0" bandRow="0">
                <a:tableStyleId>{2D5ABB26-0587-4C30-8999-92F81FD0307C}</a:tableStyleId>
              </a:tblPr>
              <a:tblGrid>
                <a:gridCol w="4360708"/>
                <a:gridCol w="6770283"/>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form fits two minutes?</a:t>
                      </a:r>
                    </a:p>
                  </a:txBody>
                  <a:tcPr marL="101600" marR="101600" marT="38100" marB="38100" anchor="ctr">
                    <a:solidFill>
                      <a:srgbClr val="FFFFFF"/>
                    </a:solidFill>
                  </a:tcPr>
                </a:tc>
                <a:tc>
                  <a:txBody>
                    <a:bodyPr/>
                    <a:lstStyle/>
                    <a:p>
                      <a:r>
                        <a:rPr sz="1400" b="0" i="0">
                          <a:solidFill>
                            <a:srgbClr val="1A1440"/>
                          </a:solidFill>
                          <a:latin typeface="Calibri"/>
                        </a:rPr>
                        <a:t>The four-part note, under 200 words</a:t>
                      </a:r>
                    </a:p>
                  </a:txBody>
                  <a:tcPr marL="101600" marR="101600" marT="38100" marB="38100" anchor="ctr">
                    <a:solidFill>
                      <a:srgbClr val="FFFFFF"/>
                    </a:solidFill>
                  </a:tcPr>
                </a:tc>
              </a:tr>
              <a:tr h="369824">
                <a:tc>
                  <a:txBody>
                    <a:bodyPr/>
                    <a:lstStyle/>
                    <a:p>
                      <a:r>
                        <a:rPr sz="1400" b="0" i="0">
                          <a:solidFill>
                            <a:srgbClr val="1A1440"/>
                          </a:solidFill>
                          <a:latin typeface="Calibri"/>
                        </a:rPr>
                        <a:t>2. What sits beside each number?</a:t>
                      </a:r>
                    </a:p>
                  </a:txBody>
                  <a:tcPr marL="101600" marR="101600" marT="38100" marB="38100" anchor="ctr">
                    <a:solidFill>
                      <a:srgbClr val="F4F2FA"/>
                    </a:solidFill>
                  </a:tcPr>
                </a:tc>
                <a:tc>
                  <a:txBody>
                    <a:bodyPr/>
                    <a:lstStyle/>
                    <a:p>
                      <a:r>
                        <a:rPr sz="1400" b="0" i="0">
                          <a:solidFill>
                            <a:srgbClr val="1A1440"/>
                          </a:solidFill>
                          <a:latin typeface="Calibri"/>
                        </a:rPr>
                        <a:t>Its world, its whole, its count or its groups</a:t>
                      </a:r>
                    </a:p>
                  </a:txBody>
                  <a:tcPr marL="101600" marR="101600" marT="38100" marB="38100" anchor="ctr">
                    <a:solidFill>
                      <a:srgbClr val="F4F2FA"/>
                    </a:solidFill>
                  </a:tcPr>
                </a:tc>
              </a:tr>
              <a:tr h="369824">
                <a:tc>
                  <a:txBody>
                    <a:bodyPr/>
                    <a:lstStyle/>
                    <a:p>
                      <a:r>
                        <a:rPr sz="1400" b="0" i="0">
                          <a:solidFill>
                            <a:srgbClr val="1A1440"/>
                          </a:solidFill>
                          <a:latin typeface="Calibri"/>
                        </a:rPr>
                        <a:t>3. What goes wrong?</a:t>
                      </a:r>
                    </a:p>
                  </a:txBody>
                  <a:tcPr marL="101600" marR="101600" marT="38100" marB="38100" anchor="ctr">
                    <a:solidFill>
                      <a:srgbClr val="FFFFFF"/>
                    </a:solidFill>
                  </a:tcPr>
                </a:tc>
                <a:tc>
                  <a:txBody>
                    <a:bodyPr/>
                    <a:lstStyle/>
                    <a:p>
                      <a:r>
                        <a:rPr sz="1400" b="0" i="0">
                          <a:solidFill>
                            <a:srgbClr val="1A1440"/>
                          </a:solidFill>
                          <a:latin typeface="Calibri"/>
                        </a:rPr>
                        <a:t>Three true numbers, three wrong decisions</a:t>
                      </a:r>
                    </a:p>
                  </a:txBody>
                  <a:tcPr marL="101600" marR="101600" marT="38100" marB="38100" anchor="ctr">
                    <a:solidFill>
                      <a:srgbClr val="FFFFFF"/>
                    </a:solidFill>
                  </a:tcPr>
                </a:tc>
              </a:tr>
              <a:tr h="369824">
                <a:tc>
                  <a:txBody>
                    <a:bodyPr/>
                    <a:lstStyle/>
                    <a:p>
                      <a:r>
                        <a:rPr sz="1400" b="0" i="0">
                          <a:solidFill>
                            <a:srgbClr val="1A1440"/>
                          </a:solidFill>
                          <a:latin typeface="Calibri"/>
                        </a:rPr>
                        <a:t>4. How does a line pass?</a:t>
                      </a:r>
                    </a:p>
                  </a:txBody>
                  <a:tcPr marL="101600" marR="101600" marT="38100" marB="38100" anchor="ctr">
                    <a:solidFill>
                      <a:srgbClr val="F4F2FA"/>
                    </a:solidFill>
                  </a:tcPr>
                </a:tc>
                <a:tc>
                  <a:txBody>
                    <a:bodyPr/>
                    <a:lstStyle/>
                    <a:p>
                      <a:r>
                        <a:rPr sz="1400" b="0" i="0">
                          <a:solidFill>
                            <a:srgbClr val="1A1440"/>
                          </a:solidFill>
                          <a:latin typeface="Calibri"/>
                        </a:rPr>
                        <a:t>Claim, evidence with its base, caveat, action</a:t>
                      </a:r>
                    </a:p>
                  </a:txBody>
                  <a:tcPr marL="101600" marR="101600" marT="38100" marB="38100" anchor="ctr">
                    <a:solidFill>
                      <a:srgbClr val="F4F2FA"/>
                    </a:solidFill>
                  </a:tcPr>
                </a:tc>
              </a:tr>
              <a:tr h="369824">
                <a:tc>
                  <a:txBody>
                    <a:bodyPr/>
                    <a:lstStyle/>
                    <a:p>
                      <a:r>
                        <a:rPr sz="1400" b="0" i="0">
                          <a:solidFill>
                            <a:srgbClr val="1A1440"/>
                          </a:solidFill>
                          <a:latin typeface="Calibri"/>
                        </a:rPr>
                        <a:t>5. When is not yet an answer?</a:t>
                      </a:r>
                    </a:p>
                  </a:txBody>
                  <a:tcPr marL="101600" marR="101600" marT="38100" marB="38100" anchor="ctr">
                    <a:solidFill>
                      <a:srgbClr val="FFFFFF"/>
                    </a:solidFill>
                  </a:tcPr>
                </a:tc>
                <a:tc>
                  <a:txBody>
                    <a:bodyPr/>
                    <a:lstStyle/>
                    <a:p>
                      <a:r>
                        <a:rPr sz="1400" b="0" i="0">
                          <a:solidFill>
                            <a:srgbClr val="1A1440"/>
                          </a:solidFill>
                          <a:latin typeface="Calibri"/>
                        </a:rPr>
                        <a:t>When it names what would make it a yes</a:t>
                      </a:r>
                    </a:p>
                  </a:txBody>
                  <a:tcPr marL="101600" marR="101600" marT="38100" marB="38100" anchor="ctr">
                    <a:solidFill>
                      <a:srgbClr val="FFFFFF"/>
                    </a:solidFill>
                  </a:tcPr>
                </a:tc>
              </a:tr>
              <a:tr h="369824">
                <a:tc>
                  <a:txBody>
                    <a:bodyPr/>
                    <a:lstStyle/>
                    <a:p>
                      <a:r>
                        <a:rPr sz="1400" b="0" i="0">
                          <a:solidFill>
                            <a:srgbClr val="1A1440"/>
                          </a:solidFill>
                          <a:latin typeface="Calibri"/>
                        </a:rPr>
                        <a:t>6. Do the decisions follow?</a:t>
                      </a:r>
                    </a:p>
                  </a:txBody>
                  <a:tcPr marL="101600" marR="101600" marT="38100" marB="38100" anchor="ctr">
                    <a:solidFill>
                      <a:srgbClr val="F4F2FA"/>
                    </a:solidFill>
                  </a:tcPr>
                </a:tc>
                <a:tc>
                  <a:txBody>
                    <a:bodyPr/>
                    <a:lstStyle/>
                    <a:p>
                      <a:r>
                        <a:rPr sz="14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6730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4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4592"/>
            <a:ext cx="237744" cy="237744"/>
          </a:xfrm>
          <a:prstGeom prst="rect">
            <a:avLst/>
          </a:prstGeom>
        </p:spPr>
      </p:pic>
      <p:sp>
        <p:nvSpPr>
          <p:cNvPr id="13" name="TextBox 12"/>
          <p:cNvSpPr txBox="1"/>
          <p:nvPr/>
        </p:nvSpPr>
        <p:spPr>
          <a:xfrm>
            <a:off x="1399031" y="48193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38852"/>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and chapter 6 checks what else changed in August.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86 / 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87 /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