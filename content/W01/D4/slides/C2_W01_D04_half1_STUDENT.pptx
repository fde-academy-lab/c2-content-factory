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tree, Tuesday found the branch that moved,</a:t>
            </a:r>
          </a:p>
          <a:p>
            <a:r>
              <a:t>Wednesday made the numbers trustworthy, and today asks whether what moved is real, whether it</a:t>
            </a:r>
          </a:p>
          <a:p>
            <a:r>
              <a:t>matters, and whether anyone caused it. Friday rebuilds the week without an assistant.</a:t>
            </a:r>
          </a:p>
          <a:p>
            <a:r>
              <a:t>Transition: the next 19 minutes are the ask and the thinking, with no laptop open.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from the row: "One page, two</a:t>
            </a:r>
          </a:p>
          <a:p>
            <a:r>
              <a:t>minutes. If the honest answer is 'we do not know yet', say so and tell me what would tell us."</a:t>
            </a:r>
          </a:p>
          <a:p>
            <a:r>
              <a:t>Ask which of the three questions would cost Kalpa the most if answered wrongly. Most say the</a:t>
            </a:r>
          </a:p>
          <a:p>
            <a:r>
              <a:t>discount, because it is about to be repeated for Diwali. Hold that; chapters 4 and 6 answer it.</a:t>
            </a:r>
          </a:p>
          <a:p>
            <a:r>
              <a:t>Watch for anyone answering a question now. Every number on this slide is somebody's claim, and</a:t>
            </a:r>
          </a:p>
          <a:p>
            <a:r>
              <a:t>today tests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 answer slide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habit, chapter 3 the second, chapters 4 and 6 the third, and chapter 5 writes the note on</a:t>
            </a:r>
          </a:p>
          <a:p>
            <a:r>
              <a:t>the right. Say that every chapter ends on one line of that note.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chapter today ends on one line of this note. The caveat is the part most</a:t>
            </a:r>
          </a:p>
          <a:p>
            <a:r>
              <a:t>analysts leave out and the part a CEO keeps them for. Model it once: "Not yet, and here is what</a:t>
            </a:r>
          </a:p>
          <a:p>
            <a:r>
              <a:t>would tell us" is a claim, a caveat and an action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what not to redo: nobody re-cleans the file, and nobody re-derives the tree.</a:t>
            </a:r>
          </a:p>
          <a:p>
            <a:r>
              <a:t>Recall from Monday's domain story (content/W01/D1/study-notes/C2_W01_D01_domain_retail_STUDENT.md)</a:t>
            </a:r>
          </a:p>
          <a:p>
            <a:r>
              <a:t>that a membership tier is where a retailer's most frequent buyers sit, which is why a fall there</a:t>
            </a:r>
          </a:p>
          <a:p>
            <a:r>
              <a:t>worries the head of the tier. Wednesday's return question is the Kahoot's last item.</a:t>
            </a:r>
          </a:p>
          <a:p>
            <a:r>
              <a:t>Transition: a gap exists; chapter 1 asks whether chance alone could have made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five members'</a:t>
            </a:r>
          </a:p>
          <a:p>
            <a:r>
              <a:t>cards by hand (8, never cut), Retail-Core and the room's Retail-Plus run (6), the trap and its fix</a:t>
            </a:r>
          </a:p>
          <a:p>
            <a:r>
              <a:t>(5), the second route (2), and Kavya's review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Say it plainly: the same 22 people are measured twice, and that fact chooses the test.</a:t>
            </a:r>
          </a:p>
          <a:p>
            <a:r>
              <a:t>Write the measure on the board beside the tree.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The point: a company that tests constantly treats a gap as noise until it beats chance.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the design, and compute decides nothing here. The</a:t>
            </a:r>
          </a:p>
          <a:p>
            <a:r>
              <a:t>same 22 members sit in both quarters; B treats them as 44 strangers, which is the right test only</a:t>
            </a:r>
          </a:p>
          <a:p>
            <a:r>
              <a:t>when the two groups are different customers. How far B strays rests on how well a member's Q1</a:t>
            </a:r>
          </a:p>
          <a:p>
            <a:r>
              <a:t>predicts their Q2: on this file the correlation is 0.04, so it strays little, and on a tier where</a:t>
            </a:r>
          </a:p>
          <a:p>
            <a:r>
              <a:t>heavy buyers stay heavy it strays far. Eight of the 44 totals are zero (six members bought nothing in</a:t>
            </a:r>
          </a:p>
          <a:p>
            <a:r>
              <a:t>Q2, two nothing in Q1), the lumpy shape a formula assumes away. Notebook 1's sizing cell measures each.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flips assume only that, if nothing changed, each member's two quarters could</a:t>
            </a:r>
          </a:p>
          <a:p>
            <a:r>
              <a:t>have come in either order; they do not assume a bell shape. Say the switch facts aloud: at</a:t>
            </a:r>
          </a:p>
          <a:p>
            <a:r>
              <a:t>Booking.com's scale the textbook call is the standard, and chapter 6, comparing Retail-Plus with</a:t>
            </a:r>
          </a:p>
          <a:p>
            <a:r>
              <a:t>Retail-Core, is where the label shuffle comes back, because those are different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 For two groups of different</a:t>
            </a:r>
          </a:p>
          <a:p>
            <a:r>
              <a:t>customers the same idea deals the labels at random instead; that version returns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five members' cards, two per member, with these amounts;</a:t>
            </a:r>
          </a:p>
          <a:p>
            <a:r>
              <a:t>the numbers are invented and the slide says so. For each toss, a coin per member: heads keeps the</a:t>
            </a:r>
          </a:p>
          <a:p>
            <a:r>
              <a:t>member's pair as recorded, tails swaps it, so that member's difference changes sign. Each pair</a:t>
            </a:r>
          </a:p>
          <a:p>
            <a:r>
              <a:t>tosses ten times and writes each gap on the board in a row. Then count, as a room, how many gaps</a:t>
            </a:r>
          </a:p>
          <a:p>
            <a:r>
              <a:t>reached Rs 880 or more. Ask: if the quarter made no difference, how surprising is 880? The guided</a:t>
            </a:r>
          </a:p>
          <a:p>
            <a:r>
              <a:t>sheet is exercises/guided/C2_W01_D04_ten_cards_STUDENT.md.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toss produced, a fair stand-in</a:t>
            </a:r>
          </a:p>
          <a:p>
            <a:r>
              <a:t>for a pair's ten. Take letters. The traps are a and b: none in ten sounds rare, and ten draws say</a:t>
            </a:r>
          </a:p>
          <a:p>
            <a:r>
              <a:t>almost nothing about a share.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Why 1 in 32: a gap of Rs 880 needs every member to keep their order, and five coins</a:t>
            </a:r>
          </a:p>
          <a:p>
            <a:r>
              <a:t>land that way once in 32; swapping any one member pulls the gap down by at least Rs 240. Say the</a:t>
            </a:r>
          </a:p>
          <a:p>
            <a:r>
              <a:t>sentence aloud: "If the quarter made no difference, a gap of Rs 880 or more turns up in about 3 of</a:t>
            </a:r>
          </a:p>
          <a:p>
            <a:r>
              <a:t>every 100 tosses." The flip in notebook 1 is a few lines, each something the room just did: the</a:t>
            </a:r>
          </a:p>
          <a:p>
            <a:r>
              <a:t>differences, a coin per member, the average, the count.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live in notebook 1, level 2. The bars are chance-only worlds, and the real gap</a:t>
            </a:r>
          </a:p>
          <a:p>
            <a:r>
              <a:t>sits in the tallest bars. Kavya's point: this is what "nothing happened" looks like, and the room</a:t>
            </a:r>
          </a:p>
          <a:p>
            <a:r>
              <a:t>needs to have seen it before judging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runs level 3 of notebook 1 and writes a first-draft sentence without help.</a:t>
            </a:r>
          </a:p>
          <a:p>
            <a:r>
              <a:t>Do not read a number out first; every laptop gets the same shares because of the seed. Ask one pair</a:t>
            </a:r>
          </a:p>
          <a:p>
            <a:r>
              <a:t>to read theirs aloud and write it on the board. Those numbers belong to the room, and the next three</a:t>
            </a:r>
          </a:p>
          <a:p>
            <a:r>
              <a:t>slides work on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 next slide corrects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0.003. Ask of any p-value sentence: in which world was</a:t>
            </a:r>
          </a:p>
          <a:p>
            <a:r>
              <a:t>this share counted? The chance that a finding is wrong depends on what the flips never saw: how</a:t>
            </a:r>
          </a:p>
          <a:p>
            <a:r>
              <a:t>plausible a fall was before the data, what else changed, how many segments were tested, and</a:t>
            </a:r>
          </a:p>
          <a:p>
            <a:r>
              <a:t>whether the direction was chosen before the fall was seen.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numbers stay 0.029 and 0.057; the claim shrinks from "97 percent certain" to</a:t>
            </a:r>
          </a:p>
          <a:p>
            <a:r>
              <a:t>"borderline". Both directions go in because nobody fixed the direction before the fall was seen.</a:t>
            </a:r>
          </a:p>
          <a:p>
            <a:r>
              <a:t>Each pair rewrites its first draft in the right-hand form.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1's second route: the exact count covers all 4,194,304 ways 22 coins can</a:t>
            </a:r>
          </a:p>
          <a:p>
            <a:r>
              <a:t>land; the paired test gives t = 2.03 on 21 degrees of freedom. The pooled shuffle and the two-sample</a:t>
            </a:r>
          </a:p>
          <a:p>
            <a:r>
              <a:t>test are the unpaired numbers: here they sit near the paired ones because the correlation between a</a:t>
            </a:r>
          </a:p>
          <a:p>
            <a:r>
              <a:t>member's quarters is 0.04, and on a tier where heavy buyers stay heavy they would sit far higher. The</a:t>
            </a:r>
          </a:p>
          <a:p>
            <a:r>
              <a:t>formula behind the paired test is a later week's topic; today it is a second opinion.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answers are in notebook 1 and in one breath in the afternoon drill. The</a:t>
            </a:r>
          </a:p>
          <a:p>
            <a:r>
              <a:t>chapter 1 set (exercises/unguided/C2_W01_D04_ch1_real_or_wobble_STUDENT.md) is self-study or the</a:t>
            </a:r>
          </a:p>
          <a:p>
            <a:r>
              <a:t>lab's warm-up if the chapter ran to time. Transition: the fall is borderline; 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two axes (3),</a:t>
            </a:r>
          </a:p>
          <a:p>
            <a:r>
              <a:t>the trap and its check (7), the sizing and the offer (8), the second route (4), and Kavya's review</a:t>
            </a:r>
          </a:p>
          <a:p>
            <a:r>
              <a:t>(1).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option reaches a decision by a different kind of evidence: arithmetic on an</a:t>
            </a:r>
          </a:p>
          <a:p>
            <a:r>
              <a:t>estimate, a range, an experiment, a benchmark. The call follows the decision: a budget line needs</a:t>
            </a:r>
          </a:p>
          <a:p>
            <a:r>
              <a:t>rupees beside the quarter and the cost. The low end of the range moves between about Rs 15 and</a:t>
            </a:r>
          </a:p>
          <a:p>
            <a:r>
              <a:t>Rs 100 with the seed, which is what "rough" means here; notebook 2's sizing cell measures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where Retail-Core's Rs 110 belongs: bottom left. Hold Retail-Plus until the</a:t>
            </a:r>
          </a:p>
          <a:p>
            <a:r>
              <a:t>room has sized it; a borderline share puts it near the middle of the chance axis. The quadrant is</a:t>
            </a:r>
          </a:p>
          <a:p>
            <a:r>
              <a:t>the day's second board drawing.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second trap of the day and the one that costs money. Ask what the</a:t>
            </a:r>
          </a:p>
          <a:p>
            <a:r>
              <a:t>share would be for a twenty-rupee gap on twenty thousand orders. Take guesses; the next slide shows</a:t>
            </a:r>
          </a:p>
          <a:p>
            <a:r>
              <a:t>it, and then orders the same three segments by money.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orders are invented in notebook 2, level 3: two quarters of different orders,</a:t>
            </a:r>
          </a:p>
          <a:p>
            <a:r>
              <a:t>the earlier one set exactly Rs 20 higher at every size. The share falls from 0.43 to 0.002 on sample</a:t>
            </a:r>
          </a:p>
          <a:p>
            <a:r>
              <a:t>size alone. The share measures how surely a gap beats chance; the rupees measure how big it is.</a:t>
            </a:r>
          </a:p>
          <a:p>
            <a:r>
              <a:t>Business's rise does not shrink the Retail-Plus fall; it changes what the review opens 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computes these in notebook 2, levels 1 and 2. Business carries the</a:t>
            </a:r>
          </a:p>
          <a:p>
            <a:r>
              <a:t>company's quarter, which is why every consumer segment's move is small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chart draws the consumer segments alone so their bars stand in proportion; with</a:t>
            </a:r>
          </a:p>
          <a:p>
            <a:r>
              <a:t>Business on one axis all three would sit on the floor. Company Q2 delivered revenue: Rs 1,28,64,680.</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notebook 2, level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more than the whole fall. Say that revenue is not margin, once.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Under 2 in 100 redraws land at or below zero (0.016), a consistency check beside</a:t>
            </a:r>
          </a:p>
          <a:p>
            <a:r>
              <a:t>the flips' 0.029. The low end moves between about Rs 15 and Rs 100 with the seed, so it sits close</a:t>
            </a:r>
          </a:p>
          <a:p>
            <a:r>
              <a:t>to zero, and at about Rs 80 a member it is about Rs 1,780 a quarter for the tier. That is why the</a:t>
            </a:r>
          </a:p>
          <a:p>
            <a:r>
              <a:t>line is "watch it", and a test on a coin-chosen half if anyone acts. CUT FIRST if the chapter runs</a:t>
            </a:r>
          </a:p>
          <a:p>
            <a:r>
              <a:t>long: say the name and the verdict only.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answers are in notebook 2. Eleven members a side can show only a large</a:t>
            </a:r>
          </a:p>
          <a:p>
            <a:r>
              <a:t>recovery; how many a test needs is power, a later week. Transition: Meera's second question is</a:t>
            </a:r>
          </a:p>
          <a:p>
            <a:r>
              <a:t>about a rise, the biggest on the page, and it needs a different check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check first</a:t>
            </a:r>
          </a:p>
          <a:p>
            <a:r>
              <a:t>(3), the trap (3), why small counts swing (4), the room's count and flips (7), the interview pair</a:t>
            </a:r>
          </a:p>
          <a:p>
            <a:r>
              <a:t>(3), the second route (2), and Kavya's review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Ask which number the room would want beside the 40 percent</a:t>
            </a:r>
          </a:p>
          <a:p>
            <a:r>
              <a:t>before answering. Hold the answers; the question slide asks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rule counts customers because more orders from the same few customers add</a:t>
            </a:r>
          </a:p>
          <a:p>
            <a:r>
              <a:t>orders and no new evidence: thirty orders from three people are still three people's habits. D is the</a:t>
            </a:r>
          </a:p>
          <a:p>
            <a:r>
              <a:t>action the answer may lead to, and the room sizes it in notebook 3's second empty cell, once the</a:t>
            </a:r>
          </a:p>
          <a:p>
            <a:r>
              <a:t>count is found.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orders and customers, in notebook</a:t>
            </a:r>
          </a:p>
          <a:p>
            <a:r>
              <a:t>3's empty cell.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rate is correct arithmetic. What is wrong is repeating it without the count,</a:t>
            </a:r>
          </a:p>
          <a:p>
            <a:r>
              <a:t>the same mistake as Monday's number without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chart is exact arithmetic on fair coin flips, one flip per independent buyer</a:t>
            </a:r>
          </a:p>
          <a:p>
            <a:r>
              <a:t>deciding its quarter, with no Kalpa data in it. Ten buyers, 38 percent of worlds; four hundred,</a:t>
            </a:r>
          </a:p>
          <a:p>
            <a:r>
              <a:t>four in ten thousand. That curve is why the rule of thumb exists, and why it counts customers:</a:t>
            </a:r>
          </a:p>
          <a:p>
            <a:r>
              <a:t>thirty orders from three customers are three buyers, and the curve reads them at three.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count is the room's discovery; do not say it. When a pair has it, ask how many</a:t>
            </a:r>
          </a:p>
          <a:p>
            <a:r>
              <a:t>customers stand behind the orders, and watch the faces. Then the wait: at the pace new customers</a:t>
            </a:r>
          </a:p>
          <a:p>
            <a:r>
              <a:t>arrive, how long until thirty? The flips come back near four in ten. Collect two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 level 4: a true 31 percent shows 42 or more in about 31 percent of</a:t>
            </a:r>
          </a:p>
          <a:p>
            <a:r>
              <a:t>groups of twelve, and groups of 1,200 land between about 28 and 35 percent.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exact count checks the arithmetic; the handfuls</a:t>
            </a:r>
          </a:p>
          <a:p>
            <a:r>
              <a:t>check the idea: Retail-Core's orders fell 3 percent, yet a Student-sized handful of them shows a 40</a:t>
            </a:r>
          </a:p>
          <a:p>
            <a:r>
              <a:t>percent rise about a third of the time, and a handful of sixty almost never does. Do not name the</a:t>
            </a:r>
          </a:p>
          <a:p>
            <a:r>
              <a:t>number of deals or the size of a handful, which would give the count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more customers buy, thirty</a:t>
            </a:r>
          </a:p>
          <a:p>
            <a:r>
              <a:t>or more behind the rise, before any budget moves."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(4), the options and the call (4), Marketing's</a:t>
            </a:r>
          </a:p>
          <a:p>
            <a:r>
              <a:t>number reproduced (3), the trap (3), why it can be wrong (4), the room's split (6), the fix (2),</a:t>
            </a:r>
          </a:p>
          <a:p>
            <a:r>
              <a:t>the second route (3), and Kavya's review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Blake, Nosko and Tadelis, NBER working paper 20171; Bickel, Hammel and</a:t>
            </a:r>
          </a:p>
          <a:p>
            <a:r>
              <a:t>O'Connell, Science, 1975, as quoted by Alex Reinhart (8,442 men, 4,321 women).</a:t>
            </a:r>
          </a:p>
          <a:p>
            <a:r>
              <a:t>Checked 30 September 2026: https://www.nber.org/papers/w20171</a:t>
            </a:r>
          </a:p>
          <a:p>
            <a:r>
              <a:t>Checked 30 September 2026: https://www.refsmmat.com/posts/2016-05-08-simpsons-paradox-berkeley.html</a:t>
            </a:r>
          </a:p>
          <a:p>
            <a:r>
              <a:t>eBay's average hid a split by customer type; Berkeley's total hid a split by department, because</a:t>
            </a:r>
          </a:p>
          <a:p>
            <a:r>
              <a:t>women applied more to departments that admitted few applicants. Do not draw the Kalpa parallel;</a:t>
            </a:r>
          </a:p>
          <a:p>
            <a:r>
              <a:t>the room finds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which file each stands on and what each takes on</a:t>
            </a:r>
          </a:p>
          <a:p>
            <a:r>
              <a:t>trust; the call rests on one check the notebook runs before any spend is compared: who is in each</a:t>
            </a:r>
          </a:p>
          <a:p>
            <a:r>
              <a:t>group. A returns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list in full once: the 160 Retail-Plus and Retail-Core customers the</a:t>
            </a:r>
          </a:p>
          <a:p>
            <a:r>
              <a:t>platform held, under the platform's own customer ids, with one average August spend for each group.</a:t>
            </a:r>
          </a:p>
          <a:p>
            <a:r>
              <a:t>It records who received the sale, whatever it was aimed at, which is why it shows Retail-Core</a:t>
            </a:r>
          </a:p>
          <a:p>
            <a:r>
              <a:t>customers among them although the campaigns table aimed the sale at Retail-Plus. Finance's order</a:t>
            </a:r>
          </a:p>
          <a:p>
            <a:r>
              <a:t>file, whose 22 Retail-Plus members and discount column carry no record of the sale, cannot be</a:t>
            </a:r>
          </a:p>
          <a:p>
            <a:r>
              <a:t>matched to it. So the list answers who got the sale and how the groups differ; the Diwali hold-back</a:t>
            </a:r>
          </a:p>
          <a:p>
            <a:r>
              <a:t>is sized on it and the retention offer on Finance's file. Predict, then run notebook 4, level 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The question is whether the</a:t>
            </a:r>
          </a:p>
          <a:p>
            <a:r>
              <a:t>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would have to be true of the two groups for this sentence to hold. Take</a:t>
            </a:r>
          </a:p>
          <a:p>
            <a:r>
              <a:t>two answers. The next slide shows,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Both stores' promoted customers</a:t>
            </a:r>
          </a:p>
          <a:p>
            <a:r>
              <a:t>spent 10 percent less than the same store's others, and the blend more than doubles because eight of</a:t>
            </a:r>
          </a:p>
          <a:p>
            <a:r>
              <a:t>the ten promoted customers are big-store customers. This is the Berkeley pattern in rupees. Do not</a:t>
            </a:r>
          </a:p>
          <a:p>
            <a:r>
              <a:t>state Kalpa's split: the room runs it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room runs level 3. When most laptops show the chart, ask one pair to read the</a:t>
            </a:r>
          </a:p>
          <a:p>
            <a:r>
              <a:t>two segment changes and the two mixes aloud. The reversal belongs to the room. Then point at the</a:t>
            </a:r>
          </a:p>
          <a:p>
            <a:r>
              <a:t>blended column and ask how both can be true.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blank is filled from the room's own run. What changed: the decision, from</a:t>
            </a:r>
          </a:p>
          <a:p>
            <a:r>
              <a:t>repeat to redesign, and the reason is a mix of customers; Marketing's arithmetic was right.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4's second route. It cannot disagree with the split and cannot catch an</a:t>
            </a:r>
          </a:p>
          <a:p>
            <a:r>
              <a:t>error in the four cells; what it checks is that the mix is the whole reason the blend rose, since</a:t>
            </a:r>
          </a:p>
          <a:p>
            <a:r>
              <a:t>putting both groups on one mix removes the whole 6.1 percent, both ways round. The independent</a:t>
            </a:r>
          </a:p>
          <a:p>
            <a:r>
              <a:t>check, from Finance's months, comes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6 opens the afternoon on "what else changed". Transition: three questions</a:t>
            </a:r>
          </a:p>
          <a:p>
            <a:r>
              <a:t>answered; now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trap (4), the</a:t>
            </a:r>
          </a:p>
          <a:p>
            <a:r>
              <a:t>audit (4), the Retail-Plus line built together (7), the not-yet lines (4), the second route (3),</a:t>
            </a:r>
          </a:p>
          <a:p>
            <a:r>
              <a:t>and Kavya's review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Meera asked for one page, which is Amazon's idea at a sixth of the length. Say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5's sizing cell counts the words; the dashboard is everything notebooks</a:t>
            </a:r>
          </a:p>
          <a:p>
            <a:r>
              <a:t>1 to 4 printed. A drops what Meera explicitly allowed; B and D hand her the analysis instead of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34 percent is Rs 24,420 over the tier's Rs 72,130 in Q1: true, and a crisis</a:t>
            </a:r>
          </a:p>
          <a:p>
            <a:r>
              <a:t>only for a tier that delivered under one percent of the company's revenue. The 40 percent and the 6</a:t>
            </a:r>
          </a:p>
          <a:p>
            <a:r>
              <a:t>percent are chapters 3 and 4's traps, back in a note.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5, level 2, runs the audit as a small function over each line and draws</a:t>
            </a:r>
          </a:p>
          <a:p>
            <a:r>
              <a:t>this grid. Ask the room for the base each line needs: the company's quarter, the count and the</a:t>
            </a:r>
          </a:p>
          <a:p>
            <a:r>
              <a:t>coin flips, who got the sale.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on the board part by part, with the room dictating. The caveat is the</a:t>
            </a:r>
          </a:p>
          <a:p>
            <a:r>
              <a:t>part most often missing and the one a CEO keeps an analyst for. The row asks for this line guided;</a:t>
            </a:r>
          </a:p>
          <a:p>
            <a:r>
              <a:t>the Student and discount lines are the room's.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Expect a. Hold it for the answer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level 4, writes both lines, audits the whole note and traces every</a:t>
            </a:r>
          </a:p>
          <a:p>
            <a:r>
              <a:t>figure: every line passes all three questions, and 11 of 11 figures trace.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note whose action does not follow from its own numbers would pass every figure</a:t>
            </a:r>
          </a:p>
          <a:p>
            <a:r>
              <a:t>check and fail here. Notebook 5's second route applies chapter 2's, 3's and 4's rules to the numbers</a:t>
            </a:r>
          </a:p>
          <a:p>
            <a:r>
              <a:t>and reaches the note's three decisions.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under five other seeds: 0.026 to 0.030 counting falls, 0.051 to 0.059</a:t>
            </a:r>
          </a:p>
          <a:p>
            <a:r>
              <a:t>either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4.xml"/><Relationship Id="rId6"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6.png"/><Relationship Id="rId6"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9.png"/><Relationship Id="rId6" Type="http://schemas.openxmlformats.org/officeDocument/2006/relationships/image" Target="../media/image31.png"/><Relationship Id="rId7" Type="http://schemas.openxmlformats.org/officeDocument/2006/relationships/image" Target="../media/image10.png"/><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16.png"/><Relationship Id="rId6"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4.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image" Target="../media/image41.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16.png"/><Relationship Id="rId6" Type="http://schemas.openxmlformats.org/officeDocument/2006/relationships/image" Target="../media/image4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4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4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2.xml"/><Relationship Id="rId6"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16.png"/><Relationship Id="rId6" Type="http://schemas.openxmlformats.org/officeDocument/2006/relationships/image" Target="../media/image4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4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Real, or the usual wobble?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Real, or the usual wobble</a:t>
            </a:r>
          </a:p>
        </p:txBody>
      </p:sp>
      <p:sp>
        <p:nvSpPr>
          <p:cNvPr id="13" name="TextBox 12"/>
          <p:cNvSpPr txBox="1"/>
          <p:nvPr/>
        </p:nvSpPr>
        <p:spPr>
          <a:xfrm>
            <a:off x="28503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Real, and worth acting on</a:t>
            </a:r>
          </a:p>
        </p:txBody>
      </p:sp>
      <p:sp>
        <p:nvSpPr>
          <p:cNvPr id="15" name="TextBox 14"/>
          <p:cNvSpPr txBox="1"/>
          <p:nvPr/>
        </p:nvSpPr>
        <p:spPr>
          <a:xfrm>
            <a:off x="507892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462968"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count behind 40 percent</a:t>
            </a:r>
          </a:p>
        </p:txBody>
      </p:sp>
      <p:sp>
        <p:nvSpPr>
          <p:cNvPr id="17" name="TextBox 16"/>
          <p:cNvSpPr txBox="1"/>
          <p:nvPr/>
        </p:nvSpPr>
        <p:spPr>
          <a:xfrm>
            <a:off x="742578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809833"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discount, split by segment</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three questions, in her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reconciled the quarters, so the numbers are trusted; now she asks what they mean.</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habit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and need three different checks before any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question fails in its own way, so each gets its own check before it reaches the note.</a:t>
            </a:r>
          </a:p>
        </p:txBody>
      </p:sp>
      <p:pic>
        <p:nvPicPr>
          <p:cNvPr id="9" name="mermaid diagram" descr="ee9a8c4d9f064960.png"/>
          <p:cNvPicPr>
            <a:picLocks noChangeAspect="1"/>
          </p:cNvPicPr>
          <p:nvPr/>
        </p:nvPicPr>
        <p:blipFill>
          <a:blip r:embed="rId5"/>
          <a:stretch>
            <a:fillRect/>
          </a:stretch>
        </p:blipFill>
        <p:spPr>
          <a:xfrm>
            <a:off x="1695297" y="1874488"/>
            <a:ext cx="8801100"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Meera reads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parts, in order, and "not yet" is an answer when the evidence says so.</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7" name="Oval 3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9" name="Oval 3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41" name="Oval 4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3" name="Oval 4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week has already settled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days of work stand behind today's numbers, so today inherits them rather than redoing them.</a:t>
            </a:r>
          </a:p>
        </p:txBody>
      </p:sp>
      <p:pic>
        <p:nvPicPr>
          <p:cNvPr id="9" name="mermaid diagram" descr="1a045318fd539ba1.png"/>
          <p:cNvPicPr>
            <a:picLocks noChangeAspect="1"/>
          </p:cNvPicPr>
          <p:nvPr/>
        </p:nvPicPr>
        <p:blipFill>
          <a:blip r:embed="rId5"/>
          <a:stretch>
            <a:fillRect/>
          </a:stretch>
        </p:blipFill>
        <p:spPr>
          <a:xfrm>
            <a:off x="980922" y="1956816"/>
            <a:ext cx="10229850" cy="1371600"/>
          </a:xfrm>
          <a:prstGeom prst="rect">
            <a:avLst/>
          </a:prstGeom>
        </p:spPr>
      </p:pic>
      <p:sp>
        <p:nvSpPr>
          <p:cNvPr id="10" name="TextBox 9"/>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plus the Student segment's own orders and the campaigns table. Retail-Plus is Kalpa's membership tier, as Monday's domain story told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72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usual wobble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Flip each member's own two quarters thousands of times and see how often chance alone makes a fall this large.</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72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is the Retail-Plus fall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first question, the metric at stake, and what a wrong call costs before Monday.</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the same 22 members in Q1 and in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9" name="Oval 2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1" name="Oval 30"/>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3" name="Oval 3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5" name="Oval 3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company that runs thousands of tests a year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ask "is it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by what separates them on this file: the design of the data and what each one assumes.</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2000737"/>
                <a:gridCol w="2348297"/>
                <a:gridCol w="3599514"/>
                <a:gridCol w="31824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stands on</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542544">
                <a:tc>
                  <a:txBody>
                    <a:bodyPr/>
                    <a:lstStyle/>
                    <a:p>
                      <a:r>
                        <a:rPr sz="1200" b="0" i="0">
                          <a:solidFill>
                            <a:srgbClr val="1A1440"/>
                          </a:solidFill>
                          <a:latin typeface="Calibri"/>
                        </a:rPr>
                        <a:t>A. Flip each member's pair</a:t>
                      </a:r>
                    </a:p>
                  </a:txBody>
                  <a:tcPr marL="101600" marR="101600" marT="38100" marB="38100" anchor="ctr">
                    <a:solidFill>
                      <a:srgbClr val="FFFFFF"/>
                    </a:solidFill>
                  </a:tcPr>
                </a:tc>
                <a:tc>
                  <a:txBody>
                    <a:bodyPr/>
                    <a:lstStyle/>
                    <a:p>
                      <a:r>
                        <a:rPr sz="1200" b="0" i="0">
                          <a:solidFill>
                            <a:srgbClr val="1A1440"/>
                          </a:solidFill>
                          <a:latin typeface="Calibri"/>
                        </a:rPr>
                        <a:t>22 members, one Q1 less Q2 each</a:t>
                      </a:r>
                    </a:p>
                  </a:txBody>
                  <a:tcPr marL="101600" marR="101600" marT="38100" marB="38100" anchor="ctr">
                    <a:solidFill>
                      <a:srgbClr val="FFFFFF"/>
                    </a:solidFill>
                  </a:tcPr>
                </a:tc>
                <a:tc>
                  <a:txBody>
                    <a:bodyPr/>
                    <a:lstStyle/>
                    <a:p>
                      <a:r>
                        <a:rPr sz="1200" b="0" i="0">
                          <a:solidFill>
                            <a:srgbClr val="1A1440"/>
                          </a:solidFill>
                          <a:latin typeface="Calibri"/>
                        </a:rPr>
                        <a:t>either order of a member's quarters was as likely</a:t>
                      </a:r>
                    </a:p>
                  </a:txBody>
                  <a:tcPr marL="101600" marR="101600" marT="38100" marB="38100" anchor="ctr">
                    <a:solidFill>
                      <a:srgbClr val="FFFFFF"/>
                    </a:solidFill>
                  </a:tcPr>
                </a:tc>
                <a:tc>
                  <a:txBody>
                    <a:bodyPr/>
                    <a:lstStyle/>
                    <a:p>
                      <a:r>
                        <a:rPr sz="1200" b="0" i="0">
                          <a:solidFill>
                            <a:srgbClr val="1A1440"/>
                          </a:solidFill>
                          <a:latin typeface="Calibri"/>
                        </a:rPr>
                        <a:t>moves 0.004 across seeds</a:t>
                      </a:r>
                    </a:p>
                  </a:txBody>
                  <a:tcPr marL="101600" marR="101600" marT="38100" marB="38100" anchor="ctr">
                    <a:solidFill>
                      <a:srgbClr val="FFFFFF"/>
                    </a:solidFill>
                  </a:tcPr>
                </a:tc>
              </a:tr>
              <a:tr h="542544">
                <a:tc>
                  <a:txBody>
                    <a:bodyPr/>
                    <a:lstStyle/>
                    <a:p>
                      <a:r>
                        <a:rPr sz="1200" b="0" i="0">
                          <a:solidFill>
                            <a:srgbClr val="1A1440"/>
                          </a:solidFill>
                          <a:latin typeface="Calibri"/>
                        </a:rPr>
                        <a:t>B. Pool and deal two piles</a:t>
                      </a:r>
                    </a:p>
                  </a:txBody>
                  <a:tcPr marL="101600" marR="101600" marT="38100" marB="38100" anchor="ctr">
                    <a:solidFill>
                      <a:srgbClr val="F4F2FA"/>
                    </a:solidFill>
                  </a:tcPr>
                </a:tc>
                <a:tc>
                  <a:txBody>
                    <a:bodyPr/>
                    <a:lstStyle/>
                    <a:p>
                      <a:r>
                        <a:rPr sz="1200" b="0" i="0">
                          <a:solidFill>
                            <a:srgbClr val="1A1440"/>
                          </a:solidFill>
                          <a:latin typeface="Calibri"/>
                        </a:rPr>
                        <a:t>44 totals as 44 people</a:t>
                      </a:r>
                    </a:p>
                  </a:txBody>
                  <a:tcPr marL="101600" marR="101600" marT="38100" marB="38100" anchor="ctr">
                    <a:solidFill>
                      <a:srgbClr val="F4F2FA"/>
                    </a:solidFill>
                  </a:tcPr>
                </a:tc>
                <a:tc>
                  <a:txBody>
                    <a:bodyPr/>
                    <a:lstStyle/>
                    <a:p>
                      <a:r>
                        <a:rPr sz="1200" b="0" i="0">
                          <a:solidFill>
                            <a:srgbClr val="1A1440"/>
                          </a:solidFill>
                          <a:latin typeface="Calibri"/>
                        </a:rPr>
                        <a:t>the quarters hold different customers</a:t>
                      </a:r>
                    </a:p>
                  </a:txBody>
                  <a:tcPr marL="101600" marR="101600" marT="38100" marB="38100" anchor="ctr">
                    <a:solidFill>
                      <a:srgbClr val="F4F2FA"/>
                    </a:solidFill>
                  </a:tcPr>
                </a:tc>
                <a:tc>
                  <a:txBody>
                    <a:bodyPr/>
                    <a:lstStyle/>
                    <a:p>
                      <a:r>
                        <a:rPr sz="1200" b="0" i="0">
                          <a:solidFill>
                            <a:srgbClr val="1A1440"/>
                          </a:solidFill>
                          <a:latin typeface="Calibri"/>
                        </a:rPr>
                        <a:t>counts gaps between members as chance</a:t>
                      </a:r>
                    </a:p>
                  </a:txBody>
                  <a:tcPr marL="101600" marR="101600" marT="38100" marB="38100" anchor="ctr">
                    <a:solidFill>
                      <a:srgbClr val="F4F2FA"/>
                    </a:solidFill>
                  </a:tcPr>
                </a:tc>
              </a:tr>
              <a:tr h="542544">
                <a:tc>
                  <a:txBody>
                    <a:bodyPr/>
                    <a:lstStyle/>
                    <a:p>
                      <a:r>
                        <a:rPr sz="1200" b="0" i="0">
                          <a:solidFill>
                            <a:srgbClr val="1A1440"/>
                          </a:solidFill>
                          <a:latin typeface="Calibri"/>
                        </a:rPr>
                        <a:t>C. Textbook paired test</a:t>
                      </a:r>
                    </a:p>
                  </a:txBody>
                  <a:tcPr marL="101600" marR="101600" marT="38100" marB="38100" anchor="ctr">
                    <a:solidFill>
                      <a:srgbClr val="FFFFFF"/>
                    </a:solidFill>
                  </a:tcPr>
                </a:tc>
                <a:tc>
                  <a:txBody>
                    <a:bodyPr/>
                    <a:lstStyle/>
                    <a:p>
                      <a:r>
                        <a:rPr sz="1200" b="0" i="0">
                          <a:solidFill>
                            <a:srgbClr val="1A1440"/>
                          </a:solidFill>
                          <a:latin typeface="Calibri"/>
                        </a:rPr>
                        <a:t>22 differences, one call</a:t>
                      </a:r>
                    </a:p>
                  </a:txBody>
                  <a:tcPr marL="101600" marR="101600" marT="38100" marB="38100" anchor="ctr">
                    <a:solidFill>
                      <a:srgbClr val="FFFFFF"/>
                    </a:solidFill>
                  </a:tcPr>
                </a:tc>
                <a:tc>
                  <a:txBody>
                    <a:bodyPr/>
                    <a:lstStyle/>
                    <a:p>
                      <a:r>
                        <a:rPr sz="1200" b="0" i="0">
                          <a:solidFill>
                            <a:srgbClr val="1A1440"/>
                          </a:solidFill>
                          <a:latin typeface="Calibri"/>
                        </a:rPr>
                        <a:t>a bell-shaped average difference</a:t>
                      </a:r>
                    </a:p>
                  </a:txBody>
                  <a:tcPr marL="101600" marR="101600" marT="38100" marB="38100" anchor="ctr">
                    <a:solidFill>
                      <a:srgbClr val="FFFFFF"/>
                    </a:solidFill>
                  </a:tcPr>
                </a:tc>
                <a:tc>
                  <a:txBody>
                    <a:bodyPr/>
                    <a:lstStyle/>
                    <a:p>
                      <a:r>
                        <a:rPr sz="1200" b="0" i="0">
                          <a:solidFill>
                            <a:srgbClr val="1A1440"/>
                          </a:solidFill>
                          <a:latin typeface="Calibri"/>
                        </a:rPr>
                        <a:t>a formula on lumpy totals: 8 of 44 are zero</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nothing new</a:t>
                      </a:r>
                    </a:p>
                  </a:txBody>
                  <a:tcPr marL="101600" marR="101600" marT="38100" marB="38100" anchor="ctr">
                    <a:solidFill>
                      <a:srgbClr val="F4F2FA"/>
                    </a:solidFill>
                  </a:tcPr>
                </a:tc>
                <a:tc>
                  <a:txBody>
                    <a:bodyPr/>
                    <a:lstStyle/>
                    <a:p>
                      <a:r>
                        <a:rPr sz="1200" b="0" i="0">
                          <a:solidFill>
                            <a:srgbClr val="1A1440"/>
                          </a:solidFill>
                          <a:latin typeface="Calibri"/>
                        </a:rPr>
                        <a:t>Monday passes unanswered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4" name="Oval 1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6" name="Oval 1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8" name="Oval 1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for Monday: flip each member's pair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members sit in both quarters, so the test keeps each member's two quarters together.</a:t>
            </a:r>
          </a:p>
        </p:txBody>
      </p:sp>
      <p:pic>
        <p:nvPicPr>
          <p:cNvPr id="9" name="mermaid diagram" descr="c514c4689a3573c0.png"/>
          <p:cNvPicPr>
            <a:picLocks noChangeAspect="1"/>
          </p:cNvPicPr>
          <p:nvPr/>
        </p:nvPicPr>
        <p:blipFill>
          <a:blip r:embed="rId5"/>
          <a:stretch>
            <a:fillRect/>
          </a:stretch>
        </p:blipFill>
        <p:spPr>
          <a:xfrm>
            <a:off x="530352" y="1956816"/>
            <a:ext cx="11130991" cy="1955799"/>
          </a:xfrm>
          <a:prstGeom prst="rect">
            <a:avLst/>
          </a:prstGeom>
        </p:spPr>
      </p:pic>
      <p:sp>
        <p:nvSpPr>
          <p:cNvPr id="10" name="Rounded Rectangle 9"/>
          <p:cNvSpPr/>
          <p:nvPr/>
        </p:nvSpPr>
        <p:spPr>
          <a:xfrm>
            <a:off x="530352" y="40589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69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77791"/>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Thousands of well-behaved members make the textbook paired test the house standard; two groups of different customers make the label shuffle the test.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chance reference: a coin per member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each member's two quarters could have come in either order.</a:t>
            </a:r>
          </a:p>
        </p:txBody>
      </p:sp>
      <p:pic>
        <p:nvPicPr>
          <p:cNvPr id="9" name="mermaid diagram" descr="230751d7849d6254.png"/>
          <p:cNvPicPr>
            <a:picLocks noChangeAspect="1"/>
          </p:cNvPicPr>
          <p:nvPr/>
        </p:nvPicPr>
        <p:blipFill>
          <a:blip r:embed="rId5"/>
          <a:stretch>
            <a:fillRect/>
          </a:stretch>
        </p:blipFill>
        <p:spPr>
          <a:xfrm>
            <a:off x="530352" y="1956816"/>
            <a:ext cx="11130991" cy="977053"/>
          </a:xfrm>
          <a:prstGeom prst="rect">
            <a:avLst/>
          </a:prstGeom>
        </p:spPr>
      </p:pic>
      <p:sp>
        <p:nvSpPr>
          <p:cNvPr id="10" name="TextBox 9"/>
          <p:cNvSpPr txBox="1"/>
          <p:nvPr/>
        </p:nvSpPr>
        <p:spPr>
          <a:xfrm>
            <a:off x="530352" y="3080173"/>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members, two cards each, tossed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members' Q1 and Q2 spend, in rupees, invented for the table, one member per row.</a:t>
            </a:r>
          </a:p>
        </p:txBody>
      </p:sp>
      <p:graphicFrame>
        <p:nvGraphicFramePr>
          <p:cNvPr id="9" name="Table 8"/>
          <p:cNvGraphicFramePr>
            <a:graphicFrameLocks noGrp="1"/>
          </p:cNvGraphicFramePr>
          <p:nvPr/>
        </p:nvGraphicFramePr>
        <p:xfrm>
          <a:off x="530352" y="1956816"/>
          <a:ext cx="11130991" cy="2346960"/>
        </p:xfrm>
        <a:graphic>
          <a:graphicData uri="http://schemas.openxmlformats.org/drawingml/2006/table">
            <a:tbl>
              <a:tblPr firstRow="0" bandRow="0">
                <a:tableStyleId>{2D5ABB26-0587-4C30-8999-92F81FD0307C}</a:tableStyleId>
              </a:tblPr>
              <a:tblGrid>
                <a:gridCol w="914400"/>
                <a:gridCol w="914400"/>
                <a:gridCol w="914400"/>
                <a:gridCol w="8387791"/>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c>
                  <a:txBody>
                    <a:bodyPr/>
                    <a:lstStyle/>
                    <a:p>
                      <a:r>
                        <a:rPr sz="1250" b="1" i="0">
                          <a:solidFill>
                            <a:srgbClr val="FFFFFF"/>
                          </a:solidFill>
                          <a:latin typeface="Calibri"/>
                        </a:rPr>
                        <a:t>Q1 less 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2,200</a:t>
                      </a:r>
                    </a:p>
                  </a:txBody>
                  <a:tcPr marL="101600" marR="101600" marT="38100" marB="38100" anchor="ctr">
                    <a:solidFill>
                      <a:srgbClr val="F4F2FA"/>
                    </a:solidFill>
                  </a:tcPr>
                </a:tc>
                <a:tc>
                  <a:txBody>
                    <a:bodyPr/>
                    <a:lstStyle/>
                    <a:p>
                      <a:r>
                        <a:rPr sz="1200" b="0" i="0">
                          <a:solidFill>
                            <a:srgbClr val="1A1440"/>
                          </a:solidFill>
                          <a:latin typeface="Calibri"/>
                        </a:rPr>
                        <a:t>700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3,100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1,900</a:t>
                      </a:r>
                    </a:p>
                  </a:txBody>
                  <a:tcPr marL="101600" marR="101600" marT="38100" marB="38100" anchor="ctr">
                    <a:solidFill>
                      <a:srgbClr val="F4F2FA"/>
                    </a:solidFill>
                  </a:tcPr>
                </a:tc>
                <a:tc>
                  <a:txBody>
                    <a:bodyPr/>
                    <a:lstStyle/>
                    <a:p>
                      <a:r>
                        <a:rPr sz="1200" b="0" i="0">
                          <a:solidFill>
                            <a:srgbClr val="1A1440"/>
                          </a:solidFill>
                          <a:latin typeface="Calibri"/>
                        </a:rPr>
                        <a:t>600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2,700</a:t>
                      </a:r>
                    </a:p>
                  </a:txBody>
                  <a:tcPr marL="101600" marR="101600" marT="38100" marB="38100" anchor="ctr">
                    <a:solidFill>
                      <a:srgbClr val="FFFFFF"/>
                    </a:solidFill>
                  </a:tcPr>
                </a:tc>
                <a:tc>
                  <a:txBody>
                    <a:bodyPr/>
                    <a:lstStyle/>
                    <a:p>
                      <a:r>
                        <a:rPr sz="1200" b="0" i="0">
                          <a:solidFill>
                            <a:srgbClr val="1A1440"/>
                          </a:solidFill>
                          <a:latin typeface="Calibri"/>
                        </a:rPr>
                        <a:t>1,100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c>
                  <a:txBody>
                    <a:bodyPr/>
                    <a:lstStyle/>
                    <a:p>
                      <a:r>
                        <a:rPr sz="1200" b="1" i="0">
                          <a:solidFill>
                            <a:srgbClr val="1A1440"/>
                          </a:solidFill>
                          <a:latin typeface="Calibri"/>
                        </a:rPr>
                        <a:t>880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real gap is Rs 880. Toss a coin per member: heads keeps the pair, tails swaps it. Add the five signed differences, divide by five, and write the gap. Ten tosses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tosses are on the board, and the real gap sits above all of them.</a:t>
            </a:r>
          </a:p>
        </p:txBody>
      </p:sp>
      <p:pic>
        <p:nvPicPr>
          <p:cNvPr id="9" name="mermaid diagram" descr="d159d520f6b13a2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None of the ten tosses reached Rs 880. What do you say? a) the gap is real, since no toss reached it; b) chance never makes 880, so it is a finding; c) ten tosses are too few to say, so run many more; d) nothing, since tossing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tosses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thousand tosses by computer show 35 gaps at Rs 880 or more; the exact count is 1 of 32.</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TOSSES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five coins each,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EXACT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 in 32 counting either way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tosses taught what a flip is; a thousand measure how rare the real gap is, and with five members the rarest a gap can be is 1 in 32.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usual wobble, measured on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spent Rs 110 less per member in Q2, and 5,000 flips make falls like that all the time.</a:t>
            </a:r>
          </a:p>
        </p:txBody>
      </p:sp>
      <p:pic>
        <p:nvPicPr>
          <p:cNvPr id="9" name="mermaid diagram" descr="a1ab3b8eebc7d7c4.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1,789 of the 5,000 flips made a fall at least that large, a share of 0.36, and 3,617 a move that large either way: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Retail-Plus, 5,000 flips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flips on the segment Meera asked about, run by the room before anyone says a number.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 notebook 1, level 3.</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flip runs.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flips</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5,000, seed 2026: the share at least as large, then the share either way.</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first draft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to Meera on what your share means, written fast and kept.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draft note, written in a hurry from the share the room has just computed.</a:t>
            </a:r>
          </a:p>
        </p:txBody>
      </p:sp>
      <p:pic>
        <p:nvPicPr>
          <p:cNvPr id="9" name="mermaid diagram" descr="483a837187b61d44.png"/>
          <p:cNvPicPr>
            <a:picLocks noChangeAspect="1"/>
          </p:cNvPicPr>
          <p:nvPr/>
        </p:nvPicPr>
        <p:blipFill>
          <a:blip r:embed="rId6"/>
          <a:stretch>
            <a:fillRect/>
          </a:stretch>
        </p:blipFill>
        <p:spPr>
          <a:xfrm>
            <a:off x="1945328" y="1956816"/>
            <a:ext cx="8301037" cy="1371600"/>
          </a:xfrm>
          <a:prstGeom prst="rect">
            <a:avLst/>
          </a:prstGeom>
        </p:spPr>
      </p:pic>
      <p:sp>
        <p:nvSpPr>
          <p:cNvPr id="10" name="Rounded Rectangle 9"/>
          <p:cNvSpPr/>
          <p:nvPr/>
        </p:nvSpPr>
        <p:spPr>
          <a:xfrm>
            <a:off x="530352" y="34747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069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16680"/>
            <a:ext cx="237744" cy="237744"/>
          </a:xfrm>
          <a:prstGeom prst="rect">
            <a:avLst/>
          </a:prstGeom>
        </p:spPr>
      </p:pic>
      <p:sp>
        <p:nvSpPr>
          <p:cNvPr id="13" name="TextBox 12"/>
          <p:cNvSpPr txBox="1"/>
          <p:nvPr/>
        </p:nvSpPr>
        <p:spPr>
          <a:xfrm>
            <a:off x="1399031" y="36210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40480"/>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in a no-change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flip assumed the quarter made no difference, so the share says nothing about being wrong.</a:t>
            </a:r>
          </a:p>
        </p:txBody>
      </p:sp>
      <p:pic>
        <p:nvPicPr>
          <p:cNvPr id="9" name="mermaid diagram" descr="4dc9930ac66d9ec1.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One no-change segment came back at 0.003. Its note would say "a 0.3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sentence that survives an audit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Say the share, the world it was counted in, both directions, and what they let you conclude.</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853440">
                <a:tc>
                  <a:txBody>
                    <a:bodyPr/>
                    <a:lstStyle/>
                    <a:p>
                      <a:r>
                        <a:rPr sz="14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of Rs 1,110 per member or more would turn up in about 3 of every 100 flips, and a move that large either way in about 6."</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"The question came after the fall was seen, so we read it as borderline: well outside the usual wobble, at the edge of what chance makes."</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"It is more than the usual wobble by a borderline margin;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6593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62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971796"/>
            <a:ext cx="237744" cy="237744"/>
          </a:xfrm>
          <a:prstGeom prst="rect">
            <a:avLst/>
          </a:prstGeom>
        </p:spPr>
      </p:pic>
      <p:sp>
        <p:nvSpPr>
          <p:cNvPr id="13" name="TextBox 12"/>
          <p:cNvSpPr txBox="1"/>
          <p:nvPr/>
        </p:nvSpPr>
        <p:spPr>
          <a:xfrm>
            <a:off x="1399031" y="4805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5136"/>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paired test agrees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library's paired test and the exact count of every coin pattern reach the same reading.</a:t>
            </a:r>
          </a:p>
        </p:txBody>
      </p:sp>
      <p:pic>
        <p:nvPicPr>
          <p:cNvPr id="9" name="mermaid diagram" descr="12c2505f4dd391d8.png"/>
          <p:cNvPicPr>
            <a:picLocks noChangeAspect="1"/>
          </p:cNvPicPr>
          <p:nvPr/>
        </p:nvPicPr>
        <p:blipFill>
          <a:blip r:embed="rId5"/>
          <a:stretch>
            <a:fillRect/>
          </a:stretch>
        </p:blipFill>
        <p:spPr>
          <a:xfrm>
            <a:off x="3338423" y="1664208"/>
            <a:ext cx="5514848" cy="2757424"/>
          </a:xfrm>
          <a:prstGeom prst="rect">
            <a:avLst/>
          </a:prstGeom>
        </p:spPr>
      </p:pic>
      <p:sp>
        <p:nvSpPr>
          <p:cNvPr id="10" name="TextBox 9"/>
          <p:cNvSpPr txBox="1"/>
          <p:nvPr/>
        </p:nvSpPr>
        <p:spPr>
          <a:xfrm>
            <a:off x="530352" y="446735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Either way, the three paired routes give 0.055 to 0.057. The last two bars ignore the pairing, and land close only because a member's Q1 barely predicts their Q2 here.</a:t>
            </a:r>
          </a:p>
        </p:txBody>
      </p:sp>
      <p:sp>
        <p:nvSpPr>
          <p:cNvPr id="11" name="Rounded Rectangle 10"/>
          <p:cNvSpPr/>
          <p:nvPr/>
        </p:nvSpPr>
        <p:spPr>
          <a:xfrm>
            <a:off x="530352" y="5298440"/>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26456"/>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17312"/>
            <a:ext cx="10564063" cy="553720"/>
          </a:xfrm>
          <a:prstGeom prst="rect">
            <a:avLst/>
          </a:prstGeom>
          <a:noFill/>
        </p:spPr>
        <p:txBody>
          <a:bodyPr wrap="square" anchor="ctr" lIns="0" rIns="0" tIns="0" bIns="0">
            <a:spAutoFit/>
          </a:bodyPr>
          <a:lstStyle/>
          <a:p>
            <a:r>
              <a:rPr sz="1300" b="1">
                <a:solidFill>
                  <a:srgbClr val="5B3FD6"/>
                </a:solidFill>
                <a:latin typeface="Calibri"/>
              </a:rPr>
              <a:t>When to switch. </a:t>
            </a:r>
            <a:r>
              <a:rPr sz="1300" b="0" i="0">
                <a:solidFill>
                  <a:srgbClr val="1A1440"/>
                </a:solidFill>
                <a:latin typeface="Calibri"/>
              </a:rPr>
              <a:t>The textbook paired call for thousands of well-behaved members or a team standard; the flips for few members or lumpy data, or when the reader needs to see how it was made.</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8" name="Oval 17"/>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0" name="Oval 1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2" name="Oval 2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reads the sentence before the number, because the sentence is what Meera repeats.</a:t>
            </a:r>
          </a:p>
        </p:txBody>
      </p:sp>
      <p:pic>
        <p:nvPicPr>
          <p:cNvPr id="9" name="mermaid diagram" descr="87bf7265a0782490.png"/>
          <p:cNvPicPr>
            <a:picLocks noChangeAspect="1"/>
          </p:cNvPicPr>
          <p:nvPr/>
        </p:nvPicPr>
        <p:blipFill>
          <a:blip r:embed="rId7"/>
          <a:stretch>
            <a:fillRect/>
          </a:stretch>
        </p:blipFill>
        <p:spPr>
          <a:xfrm>
            <a:off x="1588141" y="1956816"/>
            <a:ext cx="9015412" cy="871537"/>
          </a:xfrm>
          <a:prstGeom prst="rect">
            <a:avLst/>
          </a:prstGeom>
        </p:spPr>
      </p:pic>
      <p:sp>
        <p:nvSpPr>
          <p:cNvPr id="10" name="Rounded Rectangle 9"/>
          <p:cNvSpPr/>
          <p:nvPr/>
        </p:nvSpPr>
        <p:spPr>
          <a:xfrm>
            <a:off x="530352" y="29746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64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546157"/>
            <a:ext cx="237744" cy="237744"/>
          </a:xfrm>
          <a:prstGeom prst="rect">
            <a:avLst/>
          </a:prstGeom>
        </p:spPr>
      </p:pic>
      <p:sp>
        <p:nvSpPr>
          <p:cNvPr id="13" name="TextBox 12"/>
          <p:cNvSpPr txBox="1"/>
          <p:nvPr/>
        </p:nvSpPr>
        <p:spPr>
          <a:xfrm>
            <a:off x="1399031" y="3120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340417"/>
            <a:ext cx="9987991" cy="941832"/>
          </a:xfrm>
          <a:prstGeom prst="rect">
            <a:avLst/>
          </a:prstGeom>
          <a:noFill/>
        </p:spPr>
        <p:txBody>
          <a:bodyPr wrap="square" anchor="t" lIns="0" rIns="0" tIns="0" bIns="0">
            <a:spAutoFit/>
          </a:bodyPr>
          <a:lstStyle/>
          <a:p>
            <a:r>
              <a:rPr sz="1500" b="0" i="0">
                <a:solidFill>
                  <a:srgbClr val="1A1440"/>
                </a:solidFill>
                <a:latin typeface="Calibri"/>
              </a:rPr>
              <a:t>Retail-Core's third is the wobble. Retail-Plus sits at about 3 in 100 counting falls and 6 in 100 either way, three routes that keep each member's pair agree, and you said which direction you counted and why. Borderline is an honest answer. Now tell me how much money it is.</a:t>
            </a:r>
          </a:p>
        </p:txBody>
      </p:sp>
      <p:sp>
        <p:nvSpPr>
          <p:cNvPr id="15" name="Rounded Rectangle 14"/>
          <p:cNvSpPr/>
          <p:nvPr/>
        </p:nvSpPr>
        <p:spPr>
          <a:xfrm>
            <a:off x="530352" y="451999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85222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961953"/>
            <a:ext cx="237744" cy="237744"/>
          </a:xfrm>
          <a:prstGeom prst="rect">
            <a:avLst/>
          </a:prstGeom>
        </p:spPr>
      </p:pic>
      <p:sp>
        <p:nvSpPr>
          <p:cNvPr id="18" name="TextBox 17"/>
          <p:cNvSpPr txBox="1"/>
          <p:nvPr/>
        </p:nvSpPr>
        <p:spPr>
          <a:xfrm>
            <a:off x="1399031" y="466629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85753"/>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 [D] Four ways to ask whether a fall is real: which do you run for a CEO's Monday?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72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and worth acting 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gap can edge past chance and still be too small to spend on, so size it in rupees before ranking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what does the tier get to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wants a retention budget, and Meera has to weigh it against the quarter.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fa348e1ba0e330ae.png"/>
          <p:cNvPicPr>
            <a:picLocks noChangeAspect="1"/>
          </p:cNvPicPr>
          <p:nvPr/>
        </p:nvPicPr>
        <p:blipFill>
          <a:blip r:embed="rId6"/>
          <a:stretch>
            <a:fillRect/>
          </a:stretch>
        </p:blipFill>
        <p:spPr>
          <a:xfrm>
            <a:off x="1959616" y="3243072"/>
            <a:ext cx="8272462" cy="130016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Microsoft Bing: the size in money decided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small change was worth a fortune, and most changes were worth nothing, so size told them apart.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is the start of the question. The rupees, beside the cost, finish 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"worth acting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break-even, the low end of a range, a test on half the tier, or a past offer's recovery rate.</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2292921"/>
                <a:gridCol w="4419034"/>
                <a:gridCol w="441903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Break-even on the estimate</a:t>
                      </a:r>
                    </a:p>
                  </a:txBody>
                  <a:tcPr marL="101600" marR="101600" marT="38100" marB="38100" anchor="ctr">
                    <a:solidFill>
                      <a:srgbClr val="FFFFFF"/>
                    </a:solidFill>
                  </a:tcPr>
                </a:tc>
                <a:tc>
                  <a:txBody>
                    <a:bodyPr/>
                    <a:lstStyle/>
                    <a:p>
                      <a:r>
                        <a:rPr sz="1400" b="0" i="0">
                          <a:solidFill>
                            <a:srgbClr val="1A1440"/>
                          </a:solidFill>
                          <a:latin typeface="Calibri"/>
                        </a:rPr>
                        <a:t>The fall against the company's quarter and the offer's cost</a:t>
                      </a:r>
                    </a:p>
                  </a:txBody>
                  <a:tcPr marL="101600" marR="101600" marT="38100" marB="38100" anchor="ctr">
                    <a:solidFill>
                      <a:srgbClr val="FFFFFF"/>
                    </a:solidFill>
                  </a:tcPr>
                </a:tc>
                <a:tc>
                  <a:txBody>
                    <a:bodyPr/>
                    <a:lstStyle/>
                    <a:p>
                      <a:r>
                        <a:rPr sz="1400" b="0" i="0">
                          <a:solidFill>
                            <a:srgbClr val="1A1440"/>
                          </a:solidFill>
                          <a:latin typeface="Calibri"/>
                        </a:rPr>
                        <a:t>Treats Rs 1,110 as the true fall</a:t>
                      </a:r>
                    </a:p>
                  </a:txBody>
                  <a:tcPr marL="101600" marR="101600" marT="38100" marB="38100" anchor="ctr">
                    <a:solidFill>
                      <a:srgbClr val="FFFFFF"/>
                    </a:solidFill>
                  </a:tcPr>
                </a:tc>
              </a:tr>
              <a:tr h="611632">
                <a:tc>
                  <a:txBody>
                    <a:bodyPr/>
                    <a:lstStyle/>
                    <a:p>
                      <a:r>
                        <a:rPr sz="1400" b="0" i="0">
                          <a:solidFill>
                            <a:srgbClr val="1A1440"/>
                          </a:solidFill>
                          <a:latin typeface="Calibri"/>
                        </a:rPr>
                        <a:t>B. The low end of a range</a:t>
                      </a:r>
                    </a:p>
                  </a:txBody>
                  <a:tcPr marL="101600" marR="101600" marT="38100" marB="38100" anchor="ctr">
                    <a:solidFill>
                      <a:srgbClr val="F4F2FA"/>
                    </a:solidFill>
                  </a:tcPr>
                </a:tc>
                <a:tc>
                  <a:txBody>
                    <a:bodyPr/>
                    <a:lstStyle/>
                    <a:p>
                      <a:r>
                        <a:rPr sz="1400" b="0" i="0">
                          <a:solidFill>
                            <a:srgbClr val="1A1440"/>
                          </a:solidFill>
                          <a:latin typeface="Calibri"/>
                        </a:rPr>
                        <a:t>Redraws the members' own falls: can even a small fall clear the cost?</a:t>
                      </a:r>
                    </a:p>
                  </a:txBody>
                  <a:tcPr marL="101600" marR="101600" marT="38100" marB="38100" anchor="ctr">
                    <a:solidFill>
                      <a:srgbClr val="F4F2FA"/>
                    </a:solidFill>
                  </a:tcPr>
                </a:tc>
                <a:tc>
                  <a:txBody>
                    <a:bodyPr/>
                    <a:lstStyle/>
                    <a:p>
                      <a:r>
                        <a:rPr sz="1400" b="0" i="0">
                          <a:solidFill>
                            <a:srgbClr val="1A1440"/>
                          </a:solidFill>
                          <a:latin typeface="Calibri"/>
                        </a:rPr>
                        <a:t>A rough low end from 22 members</a:t>
                      </a:r>
                    </a:p>
                  </a:txBody>
                  <a:tcPr marL="101600" marR="101600" marT="38100" marB="38100" anchor="ctr">
                    <a:solidFill>
                      <a:srgbClr val="F4F2FA"/>
                    </a:solidFill>
                  </a:tcPr>
                </a:tc>
              </a:tr>
              <a:tr h="611632">
                <a:tc>
                  <a:txBody>
                    <a:bodyPr/>
                    <a:lstStyle/>
                    <a:p>
                      <a:r>
                        <a:rPr sz="1400" b="0" i="0">
                          <a:solidFill>
                            <a:srgbClr val="1A1440"/>
                          </a:solidFill>
                          <a:latin typeface="Calibri"/>
                        </a:rPr>
                        <a:t>C. Test the offer on half</a:t>
                      </a:r>
                    </a:p>
                  </a:txBody>
                  <a:tcPr marL="101600" marR="101600" marT="38100" marB="38100" anchor="ctr">
                    <a:solidFill>
                      <a:srgbClr val="FFFFFF"/>
                    </a:solidFill>
                  </a:tcPr>
                </a:tc>
                <a:tc>
                  <a:txBody>
                    <a:bodyPr/>
                    <a:lstStyle/>
                    <a:p>
                      <a:r>
                        <a:rPr sz="1400" b="0" i="0">
                          <a:solidFill>
                            <a:srgbClr val="1A1440"/>
                          </a:solidFill>
                          <a:latin typeface="Calibri"/>
                        </a:rPr>
                        <a:t>A coin-chosen half gets it; the other half is held back</a:t>
                      </a:r>
                    </a:p>
                  </a:txBody>
                  <a:tcPr marL="101600" marR="101600" marT="38100" marB="38100" anchor="ctr">
                    <a:solidFill>
                      <a:srgbClr val="FFFFFF"/>
                    </a:solidFill>
                  </a:tcPr>
                </a:tc>
                <a:tc>
                  <a:txBody>
                    <a:bodyPr/>
                    <a:lstStyle/>
                    <a:p>
                      <a:r>
                        <a:rPr sz="1400" b="0" i="0">
                          <a:solidFill>
                            <a:srgbClr val="1A1440"/>
                          </a:solidFill>
                          <a:latin typeface="Calibri"/>
                        </a:rPr>
                        <a:t>A quarter's wait; eleven a side shows only a large recovery</a:t>
                      </a:r>
                    </a:p>
                  </a:txBody>
                  <a:tcPr marL="101600" marR="101600" marT="38100" marB="38100" anchor="ctr">
                    <a:solidFill>
                      <a:srgbClr val="FFFFFF"/>
                    </a:solidFill>
                  </a:tcPr>
                </a:tc>
              </a:tr>
              <a:tr h="611632">
                <a:tc>
                  <a:txBody>
                    <a:bodyPr/>
                    <a:lstStyle/>
                    <a:p>
                      <a:r>
                        <a:rPr sz="1400" b="0" i="0">
                          <a:solidFill>
                            <a:srgbClr val="1A1440"/>
                          </a:solidFill>
                          <a:latin typeface="Calibri"/>
                        </a:rPr>
                        <a:t>D. A past offer's recovery</a:t>
                      </a:r>
                    </a:p>
                  </a:txBody>
                  <a:tcPr marL="101600" marR="101600" marT="38100" marB="38100" anchor="ctr">
                    <a:solidFill>
                      <a:srgbClr val="F4F2FA"/>
                    </a:solidFill>
                  </a:tcPr>
                </a:tc>
                <a:tc>
                  <a:txBody>
                    <a:bodyPr/>
                    <a:lstStyle/>
                    <a:p>
                      <a:r>
                        <a:rPr sz="1400" b="0" i="0">
                          <a:solidFill>
                            <a:srgbClr val="1A1440"/>
                          </a:solidFill>
                          <a:latin typeface="Calibri"/>
                        </a:rPr>
                        <a:t>Reads what an earlier offer won back</a:t>
                      </a:r>
                    </a:p>
                  </a:txBody>
                  <a:tcPr marL="101600" marR="101600" marT="38100" marB="38100" anchor="ctr">
                    <a:solidFill>
                      <a:srgbClr val="F4F2FA"/>
                    </a:solidFill>
                  </a:tcPr>
                </a:tc>
                <a:tc>
                  <a:txBody>
                    <a:bodyPr/>
                    <a:lstStyle/>
                    <a:p>
                      <a:r>
                        <a:rPr sz="1400" b="0" i="0">
                          <a:solidFill>
                            <a:srgbClr val="1A1440"/>
                          </a:solidFill>
                          <a:latin typeface="Calibri"/>
                        </a:rPr>
                        <a:t>Kalpa has never measured one</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with B as the second route; C is where the answer can lead. </a:t>
            </a:r>
            <a:r>
              <a:rPr sz="1500" b="1" i="0">
                <a:solidFill>
                  <a:srgbClr val="1A1440"/>
                </a:solidFill>
                <a:latin typeface="Calibri"/>
              </a:rPr>
              <a:t>What would change it.</a:t>
            </a:r>
            <a:r>
              <a:rPr sz="1500" b="0" i="0">
                <a:solidFill>
                  <a:srgbClr val="1A1440"/>
                </a:solidFill>
                <a:latin typeface="Calibri"/>
              </a:rPr>
              <a:t> A measured recovery rate, option D, which lets the break-even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important are two different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finding lands in one of four boxes, and only one box earns a budget line on Monday.</a:t>
            </a:r>
          </a:p>
        </p:txBody>
      </p:sp>
      <p:pic>
        <p:nvPicPr>
          <p:cNvPr id="9" name="mermaid diagram" descr="8c263040f7b1cccf.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edge past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ranked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orders the growth review by the share, so Retail-Plus opens it and gets the first budget.</a:t>
            </a:r>
          </a:p>
        </p:txBody>
      </p:sp>
      <p:pic>
        <p:nvPicPr>
          <p:cNvPr id="9" name="mermaid diagram" descr="700975a15d6d6935.png"/>
          <p:cNvPicPr>
            <a:picLocks noChangeAspect="1"/>
          </p:cNvPicPr>
          <p:nvPr/>
        </p:nvPicPr>
        <p:blipFill>
          <a:blip r:embed="rId6"/>
          <a:stretch>
            <a:fillRect/>
          </a:stretch>
        </p:blipFill>
        <p:spPr>
          <a:xfrm>
            <a:off x="2173928" y="1956816"/>
            <a:ext cx="7843837" cy="1628775"/>
          </a:xfrm>
          <a:prstGeom prst="rect">
            <a:avLst/>
          </a:prstGeom>
        </p:spPr>
      </p:pic>
      <p:sp>
        <p:nvSpPr>
          <p:cNvPr id="10" name="Rounded Rectangle 9"/>
          <p:cNvSpPr/>
          <p:nvPr/>
        </p:nvSpPr>
        <p:spPr>
          <a:xfrm>
            <a:off x="530352" y="37318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9345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044315"/>
            <a:ext cx="237744" cy="237744"/>
          </a:xfrm>
          <a:prstGeom prst="rect">
            <a:avLst/>
          </a:prstGeom>
        </p:spPr>
      </p:pic>
      <p:sp>
        <p:nvSpPr>
          <p:cNvPr id="13" name="TextBox 12"/>
          <p:cNvSpPr txBox="1"/>
          <p:nvPr/>
        </p:nvSpPr>
        <p:spPr>
          <a:xfrm>
            <a:off x="1399031" y="38781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97655"/>
            <a:ext cx="9987991" cy="423672"/>
          </a:xfrm>
          <a:prstGeom prst="rect">
            <a:avLst/>
          </a:prstGeom>
          <a:noFill/>
        </p:spPr>
        <p:txBody>
          <a:bodyPr wrap="square" anchor="t" lIns="0" rIns="0" tIns="0" bIns="0">
            <a:spAutoFit/>
          </a:bodyPr>
          <a:lstStyle/>
          <a:p>
            <a:r>
              <a:rPr sz="1500" b="0" i="0">
                <a:solidFill>
                  <a:srgbClr val="1A1440"/>
                </a:solidFill>
                <a:latin typeface="Calibri"/>
              </a:rPr>
              <a:t>"Significant" becomes "big", and the smallest share takes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enough orders, chance rarely makes even a Rs 20 gap, so a small share can carry a tiny finding.</a:t>
            </a:r>
          </a:p>
        </p:txBody>
      </p:sp>
      <p:pic>
        <p:nvPicPr>
          <p:cNvPr id="9" name="mermaid diagram" descr="a06523e61db59fcf.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Order the same three segments by money: Business moved Rs 6,18,460, Retail-Plus Rs 24,420, Retail-Core Rs 3,750. The review opens on Business, and Retail-Plus's fall is judged on its own terms, against the company's quarter and the offer's cost.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gap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Per member, for the whole segment, and as a share of the company's quarter.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Real and worth acting on are two separate calls: a chance reference answers the first, rupees against cost answer the second.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7" name="Oval 3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39" name="Oval 3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41" name="Oval 4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3" name="Oval 4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company's delivered revenue sits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carries the quarter, so every consumer segment's gap is small against the whole.</a:t>
            </a:r>
          </a:p>
        </p:txBody>
      </p:sp>
      <p:pic>
        <p:nvPicPr>
          <p:cNvPr id="9" name="mermaid diagram" descr="4eb0c9ea19cf8c7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a retention offer of Rs 500 per member a quarter, a figure assumed for the chapter.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6" name="Oval 2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8" name="Oval 27"/>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0" name="Oval 2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2" name="Oval 3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11,000 a quarter against a Rs 24,420 fall, so the offer must win back almost half.</a:t>
            </a:r>
          </a:p>
        </p:txBody>
      </p:sp>
      <p:pic>
        <p:nvPicPr>
          <p:cNvPr id="9" name="mermaid diagram" descr="84ae6caec128005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decision rests on a recovery rate nobody has measured, which is what the note should say.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range of the members'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Redraw the 22 members' own falls 5,000 times and read the middle 95 percent of the averages.</a:t>
            </a:r>
          </a:p>
        </p:txBody>
      </p:sp>
      <p:pic>
        <p:nvPicPr>
          <p:cNvPr id="9" name="mermaid diagram" descr="3d01172c410b2c07.png"/>
          <p:cNvPicPr>
            <a:picLocks noChangeAspect="1"/>
          </p:cNvPicPr>
          <p:nvPr/>
        </p:nvPicPr>
        <p:blipFill>
          <a:blip r:embed="rId5"/>
          <a:stretch>
            <a:fillRect/>
          </a:stretch>
        </p:blipFill>
        <p:spPr>
          <a:xfrm>
            <a:off x="530352" y="1956816"/>
            <a:ext cx="11130991" cy="1073685"/>
          </a:xfrm>
          <a:prstGeom prst="rect">
            <a:avLst/>
          </a:prstGeom>
        </p:spPr>
      </p:pic>
      <p:sp>
        <p:nvSpPr>
          <p:cNvPr id="10" name="TextBox 9"/>
          <p:cNvSpPr txBox="1"/>
          <p:nvPr/>
        </p:nvSpPr>
        <p:spPr>
          <a:xfrm>
            <a:off x="530352" y="317680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approximate 95 percent range only just stays above zero, and the offer sits far above its low end.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asks for the size before the significance, because size is what gets funded.</a:t>
            </a:r>
          </a:p>
        </p:txBody>
      </p:sp>
      <p:pic>
        <p:nvPicPr>
          <p:cNvPr id="9" name="mermaid diagram" descr="0d3b23c6e3f4e34f.png"/>
          <p:cNvPicPr>
            <a:picLocks noChangeAspect="1"/>
          </p:cNvPicPr>
          <p:nvPr/>
        </p:nvPicPr>
        <p:blipFill>
          <a:blip r:embed="rId7"/>
          <a:stretch>
            <a:fillRect/>
          </a:stretch>
        </p:blipFill>
        <p:spPr>
          <a:xfrm>
            <a:off x="1688153" y="1840516"/>
            <a:ext cx="8815387" cy="1128712"/>
          </a:xfrm>
          <a:prstGeom prst="rect">
            <a:avLst/>
          </a:prstGeom>
        </p:spPr>
      </p:pic>
      <p:sp>
        <p:nvSpPr>
          <p:cNvPr id="10" name="Rounded Rectangle 9"/>
          <p:cNvSpPr/>
          <p:nvPr/>
        </p:nvSpPr>
        <p:spPr>
          <a:xfrm>
            <a:off x="530352" y="3115532"/>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06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816572"/>
            <a:ext cx="237744" cy="237744"/>
          </a:xfrm>
          <a:prstGeom prst="rect">
            <a:avLst/>
          </a:prstGeom>
        </p:spPr>
      </p:pic>
      <p:sp>
        <p:nvSpPr>
          <p:cNvPr id="13" name="TextBox 12"/>
          <p:cNvSpPr txBox="1"/>
          <p:nvPr/>
        </p:nvSpPr>
        <p:spPr>
          <a:xfrm>
            <a:off x="1399031" y="32618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481292"/>
            <a:ext cx="9987991" cy="1200912"/>
          </a:xfrm>
          <a:prstGeom prst="rect">
            <a:avLst/>
          </a:prstGeom>
          <a:noFill/>
        </p:spPr>
        <p:txBody>
          <a:bodyPr wrap="square" anchor="t" lIns="0" rIns="0" tIns="0" bIns="0">
            <a:spAutoFit/>
          </a:bodyPr>
          <a:lstStyle/>
          <a:p>
            <a:r>
              <a:rPr sz="1500" b="0" i="0">
                <a:solidFill>
                  <a:srgbClr val="1A1440"/>
                </a:solidFill>
                <a:latin typeface="Calibri"/>
              </a:rPr>
              <a:t>Borderline against chance by two routes, worth Rs 24,420 a quarter, 0.19 percent of the company and a third of the tier. The range's low end sits far below what the offer costs, so this is a watch item. If the head of Retail-Plus wants to act, offer it to a coin-chosen half and hold back the other half.</a:t>
            </a:r>
          </a:p>
        </p:txBody>
      </p:sp>
      <p:sp>
        <p:nvSpPr>
          <p:cNvPr id="15" name="Rounded Rectangle 14"/>
          <p:cNvSpPr/>
          <p:nvPr/>
        </p:nvSpPr>
        <p:spPr>
          <a:xfrm>
            <a:off x="530352" y="49199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52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61908"/>
            <a:ext cx="237744" cy="237744"/>
          </a:xfrm>
          <a:prstGeom prst="rect">
            <a:avLst/>
          </a:prstGeom>
        </p:spPr>
      </p:pic>
      <p:sp>
        <p:nvSpPr>
          <p:cNvPr id="18" name="TextBox 17"/>
          <p:cNvSpPr txBox="1"/>
          <p:nvPr/>
        </p:nvSpPr>
        <p:spPr>
          <a:xfrm>
            <a:off x="1399031" y="50662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85708"/>
            <a:ext cx="9987991" cy="68275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 [D] Break-even, a range, a test on half, or a past offer's rate: which goes to the budget meeting?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count behind 40 percent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is only as good as the count it stands on, so count before you repeat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should budget move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Student rose 40 percent, the fastest rise on the page, and Meera asked about it by name.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4" name="Oval 3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6" name="Oval 35"/>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8" name="Oval 3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0" name="Oval 3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Small schools topped the charts, and the bottom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Small groups swing further in both directions, and a foundation learned it at scale.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"follow the 40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Trust it, test it on its count, apply the rule of thumb, or wait for more customers.</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886905"/>
                <a:gridCol w="4882127"/>
                <a:gridCol w="336195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customers,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and stops there</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customers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How long depends on new customers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reach new students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and one check comes before any other.</a:t>
            </a:r>
          </a:p>
        </p:txBody>
      </p:sp>
      <p:pic>
        <p:nvPicPr>
          <p:cNvPr id="9" name="mermaid diagram" descr="99301f37f537034a.png"/>
          <p:cNvPicPr>
            <a:picLocks noChangeAspect="1"/>
          </p:cNvPicPr>
          <p:nvPr/>
        </p:nvPicPr>
        <p:blipFill>
          <a:blip r:embed="rId5"/>
          <a:stretch>
            <a:fillRect/>
          </a:stretch>
        </p:blipFill>
        <p:spPr>
          <a:xfrm>
            <a:off x="3902716" y="1956816"/>
            <a:ext cx="4386262" cy="1543050"/>
          </a:xfrm>
          <a:prstGeom prst="rect">
            <a:avLst/>
          </a:prstGeom>
        </p:spPr>
      </p:pic>
      <p:sp>
        <p:nvSpPr>
          <p:cNvPr id="10" name="Rounded Rectangle 9"/>
          <p:cNvSpPr/>
          <p:nvPr/>
        </p:nvSpPr>
        <p:spPr>
          <a:xfrm>
            <a:off x="530352" y="364617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7418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6504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Forty percent of a handful is a few orders, and a few orders move by chance every quarter.</a:t>
            </a:r>
          </a:p>
        </p:txBody>
      </p:sp>
      <p:pic>
        <p:nvPicPr>
          <p:cNvPr id="9" name="mermaid diagram" descr="dd83605a24be8e9d.png"/>
          <p:cNvPicPr>
            <a:picLocks noChangeAspect="1"/>
          </p:cNvPicPr>
          <p:nvPr/>
        </p:nvPicPr>
        <p:blipFill>
          <a:blip r:embed="rId5"/>
          <a:stretch>
            <a:fillRect/>
          </a:stretch>
        </p:blipFill>
        <p:spPr>
          <a:xfrm>
            <a:off x="1030928" y="1956816"/>
            <a:ext cx="1012983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and the count that settles a rate is customers: more orders from the same few people add no new evidence.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leads with the biggest rate on the page and moves money to it.</a:t>
            </a:r>
          </a:p>
        </p:txBody>
      </p:sp>
      <p:pic>
        <p:nvPicPr>
          <p:cNvPr id="9" name="mermaid diagram" descr="8036df1fbc3dc1fe.png"/>
          <p:cNvPicPr>
            <a:picLocks noChangeAspect="1"/>
          </p:cNvPicPr>
          <p:nvPr/>
        </p:nvPicPr>
        <p:blipFill>
          <a:blip r:embed="rId6"/>
          <a:stretch>
            <a:fillRect/>
          </a:stretch>
        </p:blipFill>
        <p:spPr>
          <a:xfrm>
            <a:off x="1673866" y="1956816"/>
            <a:ext cx="8843962" cy="1628775"/>
          </a:xfrm>
          <a:prstGeom prst="rect">
            <a:avLst/>
          </a:prstGeom>
        </p:spPr>
      </p:pic>
      <p:sp>
        <p:nvSpPr>
          <p:cNvPr id="10" name="Rounded Rectangle 9"/>
          <p:cNvSpPr/>
          <p:nvPr/>
        </p:nvSpPr>
        <p:spPr>
          <a:xfrm>
            <a:off x="530352" y="37318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9345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044315"/>
            <a:ext cx="237744" cy="237744"/>
          </a:xfrm>
          <a:prstGeom prst="rect">
            <a:avLst/>
          </a:prstGeom>
        </p:spPr>
      </p:pic>
      <p:sp>
        <p:nvSpPr>
          <p:cNvPr id="13" name="TextBox 12"/>
          <p:cNvSpPr txBox="1"/>
          <p:nvPr/>
        </p:nvSpPr>
        <p:spPr>
          <a:xfrm>
            <a:off x="1399031" y="38781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97655"/>
            <a:ext cx="9987991" cy="423672"/>
          </a:xfrm>
          <a:prstGeom prst="rect">
            <a:avLst/>
          </a:prstGeom>
          <a:noFill/>
        </p:spPr>
        <p:txBody>
          <a:bodyPr wrap="square" anchor="t" lIns="0" rIns="0" tIns="0" bIns="0">
            <a:spAutoFit/>
          </a:bodyPr>
          <a:lstStyle/>
          <a:p>
            <a:r>
              <a:rPr sz="1500" b="0" i="0">
                <a:solidFill>
                  <a:srgbClr val="1A1440"/>
                </a:solidFill>
                <a:latin typeface="Calibri"/>
              </a:rPr>
              <a:t>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a small number of independent buyers between two quarters at random, and big rises appear.</a:t>
            </a:r>
          </a:p>
        </p:txBody>
      </p:sp>
      <p:pic>
        <p:nvPicPr>
          <p:cNvPr id="9" name="mermaid diagram" descr="6e879bd6159d8f90.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With ten independent buyers, more than a third of chance-only worlds show a 40 percent rise; with four hundred, almost none do. Orders from the same customer move together, so the count that matters is customers.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Student, counted and flipped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counts the orders and customers behind the 40 percent, flips them, and writes Meera's line.</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LEVEL 2</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Orders and distinct customers, Q1 and Q2, in the empty cell of notebook 3.</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OPTION D</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Size the wait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How many customers are new in Q2, in the second empty cell.</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uffle_1f5f2f56d507.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Flip</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coin per order, 5,000 times; the share with a 40 percent rise or more.</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The rate, its count in customers, and what would make it worth testing.</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5" name="Oval 3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7" name="Oval 3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9" name="Oval 3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1" name="Oval 4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interview's version of Student, asked with users where Kalpa has orders.</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9839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1120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10286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9" name="Oval 1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1" name="Oval 20"/>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3" name="Oval 2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5" name="Oval 2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user moves a rate on twelve by eight points, so 42 is a lead and 31 is the estimate.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deal, and real handfuls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deal of the orders can be counted, and real orders from a segment that fell check the idea.</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0.344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HANDFULS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Student-sized, from a segment that fell 3 percent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 The handfuls show the swing belongs to small counts, whatever segment they come from.</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8" name="Oval 27"/>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0" name="Oval 2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2" name="Oval 3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repeats a rate only with its count beside it, in orders and in customers, every time.</a:t>
            </a:r>
          </a:p>
        </p:txBody>
      </p:sp>
      <p:pic>
        <p:nvPicPr>
          <p:cNvPr id="9" name="mermaid diagram" descr="abbdd0df37b594d5.png"/>
          <p:cNvPicPr>
            <a:picLocks noChangeAspect="1"/>
          </p:cNvPicPr>
          <p:nvPr/>
        </p:nvPicPr>
        <p:blipFill>
          <a:blip r:embed="rId7"/>
          <a:stretch>
            <a:fillRect/>
          </a:stretch>
        </p:blipFill>
        <p:spPr>
          <a:xfrm>
            <a:off x="1681010" y="1956816"/>
            <a:ext cx="8829675" cy="1128712"/>
          </a:xfrm>
          <a:prstGeom prst="rect">
            <a:avLst/>
          </a:prstGeom>
        </p:spPr>
      </p:pic>
      <p:sp>
        <p:nvSpPr>
          <p:cNvPr id="10" name="Rounded Rectangle 9"/>
          <p:cNvSpPr/>
          <p:nvPr/>
        </p:nvSpPr>
        <p:spPr>
          <a:xfrm>
            <a:off x="530352" y="32318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3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80333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97592"/>
            <a:ext cx="9987991" cy="941832"/>
          </a:xfrm>
          <a:prstGeom prst="rect">
            <a:avLst/>
          </a:prstGeom>
          <a:noFill/>
        </p:spPr>
        <p:txBody>
          <a:bodyPr wrap="square" anchor="t" lIns="0" rIns="0" tIns="0" bIns="0">
            <a:spAutoFit/>
          </a:bodyPr>
          <a:lstStyle/>
          <a:p>
            <a:r>
              <a:rPr sz="1500" b="0" i="0">
                <a:solidFill>
                  <a:srgbClr val="1A1440"/>
                </a:solidFill>
                <a:latin typeface="Calibri"/>
              </a:rPr>
              <a:t>Student's rise is real arithmetic on too few orders, from too few customers, to act on. Count both, say how often chance makes the rise, and give Meera the number of customers that would reopen it. That is a complete answer, and it costs nothing to be right later.</a:t>
            </a:r>
          </a:p>
        </p:txBody>
      </p:sp>
      <p:sp>
        <p:nvSpPr>
          <p:cNvPr id="15" name="Rounded Rectangle 14"/>
          <p:cNvSpPr/>
          <p:nvPr/>
        </p:nvSpPr>
        <p:spPr>
          <a:xfrm>
            <a:off x="530352" y="47771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094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19128"/>
            <a:ext cx="237744" cy="237744"/>
          </a:xfrm>
          <a:prstGeom prst="rect">
            <a:avLst/>
          </a:prstGeom>
        </p:spPr>
      </p:pic>
      <p:sp>
        <p:nvSpPr>
          <p:cNvPr id="18" name="TextBox 17"/>
          <p:cNvSpPr txBox="1"/>
          <p:nvPr/>
        </p:nvSpPr>
        <p:spPr>
          <a:xfrm>
            <a:off x="1399031" y="49234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42928"/>
            <a:ext cx="9987991" cy="68275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 [D] A segment is up 40 percent and the CEO wants to move budget: trust, test or wait?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discount, split by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campaign's lift is a comparison of two groups, so check who is in each group before trusting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49 / 72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did the monsoon sale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it lifted revenue 6 percent and wants it again for Diwali, at 15 percent off.</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0" name="Oval 29"/>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2" name="Oval 31"/>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4" name="Oval 33"/>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campaign's lift, split by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online marketplace split its ads' effect by customer, and a university's admissions show a blend reversing.</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eBay, search ads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New and infrequent users bought more after an ad; frequent users, whose buying the ads did not change, took most of the ad spend, so the average return was negative.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3" name="Oval 2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5" name="Oval 2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7" name="Oval 26"/>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9" name="Oval 2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"did the discount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compares two things on one of two files, and each rests on a different assumption.</a:t>
            </a:r>
          </a:p>
        </p:txBody>
      </p:sp>
      <p:graphicFrame>
        <p:nvGraphicFramePr>
          <p:cNvPr id="9" name="Table 8"/>
          <p:cNvGraphicFramePr>
            <a:graphicFrameLocks noGrp="1"/>
          </p:cNvGraphicFramePr>
          <p:nvPr/>
        </p:nvGraphicFramePr>
        <p:xfrm>
          <a:off x="530352" y="1956816"/>
          <a:ext cx="11130991" cy="2816352"/>
        </p:xfrm>
        <a:graphic>
          <a:graphicData uri="http://schemas.openxmlformats.org/drawingml/2006/table">
            <a:tbl>
              <a:tblPr firstRow="0" bandRow="0">
                <a:tableStyleId>{2D5ABB26-0587-4C30-8999-92F81FD0307C}</a:tableStyleId>
              </a:tblPr>
              <a:tblGrid>
                <a:gridCol w="1977531"/>
                <a:gridCol w="4905244"/>
                <a:gridCol w="42482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611632">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The platform's list: 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Nothing beyond C: it agrees with C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its one-line form.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rebuild it from the same tables.</a:t>
            </a:r>
          </a:p>
        </p:txBody>
      </p:sp>
      <p:pic>
        <p:nvPicPr>
          <p:cNvPr id="9" name="mermaid diagram" descr="0a35c3f8ce1dc42c.png"/>
          <p:cNvPicPr>
            <a:picLocks noChangeAspect="1"/>
          </p:cNvPicPr>
          <p:nvPr/>
        </p:nvPicPr>
        <p:blipFill>
          <a:blip r:embed="rId5"/>
          <a:stretch>
            <a:fillRect/>
          </a:stretch>
        </p:blipFill>
        <p:spPr>
          <a:xfrm>
            <a:off x="2381097" y="1684496"/>
            <a:ext cx="7429500" cy="2300287"/>
          </a:xfrm>
          <a:prstGeom prst="rect">
            <a:avLst/>
          </a:prstGeom>
        </p:spPr>
      </p:pic>
      <p:sp>
        <p:nvSpPr>
          <p:cNvPr id="10" name="TextBox 9"/>
          <p:cNvSpPr txBox="1"/>
          <p:nvPr/>
        </p:nvSpPr>
        <p:spPr>
          <a:xfrm>
            <a:off x="530352" y="40507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exposure table is the campaign platform's August list: 160 customers under its own ids, one average August spend per group, recording who received the sale whatever it was aimed at. It cannot be matched to Finance's order file.</a:t>
            </a:r>
          </a:p>
        </p:txBody>
      </p:sp>
      <p:sp>
        <p:nvSpPr>
          <p:cNvPr id="11" name="Rounded Rectangle 10"/>
          <p:cNvSpPr/>
          <p:nvPr/>
        </p:nvSpPr>
        <p:spPr>
          <a:xfrm>
            <a:off x="530352" y="5227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8" name="Oval 17"/>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0" name="Oval 19"/>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2" name="Oval 2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arithmetic is right, which is why the next step matters.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Reproducing the number first is what keeps Monday civil.</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trusts the reproduced number and writes the plan.</a:t>
            </a:r>
          </a:p>
        </p:txBody>
      </p:sp>
      <p:pic>
        <p:nvPicPr>
          <p:cNvPr id="9" name="mermaid diagram" descr="36c6bfefa5b574b7.png"/>
          <p:cNvPicPr>
            <a:picLocks noChangeAspect="1"/>
          </p:cNvPicPr>
          <p:nvPr/>
        </p:nvPicPr>
        <p:blipFill>
          <a:blip r:embed="rId6"/>
          <a:stretch>
            <a:fillRect/>
          </a:stretch>
        </p:blipFill>
        <p:spPr>
          <a:xfrm>
            <a:off x="2159641" y="1956816"/>
            <a:ext cx="7872412" cy="1371600"/>
          </a:xfrm>
          <a:prstGeom prst="rect">
            <a:avLst/>
          </a:prstGeom>
        </p:spPr>
      </p:pic>
      <p:sp>
        <p:nvSpPr>
          <p:cNvPr id="10" name="Rounded Rectangle 9"/>
          <p:cNvSpPr/>
          <p:nvPr/>
        </p:nvSpPr>
        <p:spPr>
          <a:xfrm>
            <a:off x="530352" y="34747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069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16680"/>
            <a:ext cx="237744" cy="237744"/>
          </a:xfrm>
          <a:prstGeom prst="rect">
            <a:avLst/>
          </a:prstGeom>
        </p:spPr>
      </p:pic>
      <p:sp>
        <p:nvSpPr>
          <p:cNvPr id="13" name="TextBox 12"/>
          <p:cNvSpPr txBox="1"/>
          <p:nvPr/>
        </p:nvSpPr>
        <p:spPr>
          <a:xfrm>
            <a:off x="1399031" y="36210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40480"/>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A correct number on a comparison nobody checked.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two stores, a promotion, and a total that rises while both stores fall.</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93928"/>
                <a:gridCol w="3693928"/>
                <a:gridCol w="3743134"/>
              </a:tblGrid>
              <a:tr h="369824">
                <a:tc>
                  <a:txBody>
                    <a:bodyPr/>
                    <a:lstStyle/>
                    <a:p>
                      <a:r>
                        <a:rPr sz="1450" b="1" i="0">
                          <a:solidFill>
                            <a:srgbClr val="FFFFFF"/>
                          </a:solidFill>
                          <a:latin typeface="Calibri"/>
                        </a:rPr>
                        <a:t>Invented, 20 customers</a:t>
                      </a:r>
                    </a:p>
                  </a:txBody>
                  <a:tcPr marL="101600" marR="101600" marT="38100" marB="38100" anchor="ctr">
                    <a:solidFill>
                      <a:srgbClr val="1A0F5C"/>
                    </a:solidFill>
                  </a:tcPr>
                </a:tc>
                <a:tc>
                  <a:txBody>
                    <a:bodyPr/>
                    <a:lstStyle/>
                    <a:p>
                      <a:r>
                        <a:rPr sz="1450" b="1" i="0">
                          <a:solidFill>
                            <a:srgbClr val="FFFFFF"/>
                          </a:solidFill>
                          <a:latin typeface="Calibri"/>
                        </a:rPr>
                        <a:t>Promoted, 10 customers</a:t>
                      </a:r>
                    </a:p>
                  </a:txBody>
                  <a:tcPr marL="101600" marR="101600" marT="38100" marB="38100" anchor="ctr">
                    <a:solidFill>
                      <a:srgbClr val="1A0F5C"/>
                    </a:solidFill>
                  </a:tcPr>
                </a:tc>
                <a:tc>
                  <a:txBody>
                    <a:bodyPr/>
                    <a:lstStyle/>
                    <a:p>
                      <a:r>
                        <a:rPr sz="1450" b="1" i="0">
                          <a:solidFill>
                            <a:srgbClr val="FFFFFF"/>
                          </a:solidFill>
                          <a:latin typeface="Calibri"/>
                        </a:rPr>
                        <a:t>Others, 10 customers</a:t>
                      </a:r>
                    </a:p>
                  </a:txBody>
                  <a:tcPr marL="101600" marR="101600" marT="38100" marB="38100" anchor="ctr">
                    <a:solidFill>
                      <a:srgbClr val="1A0F5C"/>
                    </a:solidFill>
                  </a:tcPr>
                </a:tc>
              </a:tr>
              <a:tr h="369824">
                <a:tc>
                  <a:txBody>
                    <a:bodyPr/>
                    <a:lstStyle/>
                    <a:p>
                      <a:r>
                        <a:rPr sz="1400" b="0" i="0">
                          <a:solidFill>
                            <a:srgbClr val="1A1440"/>
                          </a:solidFill>
                          <a:latin typeface="Calibri"/>
                        </a:rPr>
                        <a:t>Big-store customers</a:t>
                      </a:r>
                    </a:p>
                  </a:txBody>
                  <a:tcPr marL="101600" marR="101600" marT="38100" marB="38100" anchor="ctr">
                    <a:solidFill>
                      <a:srgbClr val="FFFFFF"/>
                    </a:solidFill>
                  </a:tcPr>
                </a:tc>
                <a:tc>
                  <a:txBody>
                    <a:bodyPr/>
                    <a:lstStyle/>
                    <a:p>
                      <a:r>
                        <a:rPr sz="1400" b="0" i="0">
                          <a:solidFill>
                            <a:srgbClr val="1A1440"/>
                          </a:solidFill>
                          <a:latin typeface="Calibri"/>
                        </a:rPr>
                        <a:t>8, spending Rs 900 each</a:t>
                      </a:r>
                    </a:p>
                  </a:txBody>
                  <a:tcPr marL="101600" marR="101600" marT="38100" marB="38100" anchor="ctr">
                    <a:solidFill>
                      <a:srgbClr val="FFFFFF"/>
                    </a:solidFill>
                  </a:tcPr>
                </a:tc>
                <a:tc>
                  <a:txBody>
                    <a:bodyPr/>
                    <a:lstStyle/>
                    <a:p>
                      <a:r>
                        <a:rPr sz="1400" b="0" i="0">
                          <a:solidFill>
                            <a:srgbClr val="1A1440"/>
                          </a:solidFill>
                          <a:latin typeface="Calibri"/>
                        </a:rPr>
                        <a:t>2, spending Rs 1,000 each</a:t>
                      </a:r>
                    </a:p>
                  </a:txBody>
                  <a:tcPr marL="101600" marR="101600" marT="38100" marB="38100" anchor="ctr">
                    <a:solidFill>
                      <a:srgbClr val="FFFFFF"/>
                    </a:solidFill>
                  </a:tcPr>
                </a:tc>
              </a:tr>
              <a:tr h="369824">
                <a:tc>
                  <a:txBody>
                    <a:bodyPr/>
                    <a:lstStyle/>
                    <a:p>
                      <a:r>
                        <a:rPr sz="1400" b="0" i="0">
                          <a:solidFill>
                            <a:srgbClr val="1A1440"/>
                          </a:solidFill>
                          <a:latin typeface="Calibri"/>
                        </a:rPr>
                        <a:t>Small-store customers</a:t>
                      </a:r>
                    </a:p>
                  </a:txBody>
                  <a:tcPr marL="101600" marR="101600" marT="38100" marB="38100" anchor="ctr">
                    <a:solidFill>
                      <a:srgbClr val="F4F2FA"/>
                    </a:solidFill>
                  </a:tcPr>
                </a:tc>
                <a:tc>
                  <a:txBody>
                    <a:bodyPr/>
                    <a:lstStyle/>
                    <a:p>
                      <a:r>
                        <a:rPr sz="1400" b="0" i="0">
                          <a:solidFill>
                            <a:srgbClr val="1A1440"/>
                          </a:solidFill>
                          <a:latin typeface="Calibri"/>
                        </a:rPr>
                        <a:t>2, spending Rs 180 each</a:t>
                      </a:r>
                    </a:p>
                  </a:txBody>
                  <a:tcPr marL="101600" marR="101600" marT="38100" marB="38100" anchor="ctr">
                    <a:solidFill>
                      <a:srgbClr val="F4F2FA"/>
                    </a:solidFill>
                  </a:tcPr>
                </a:tc>
                <a:tc>
                  <a:txBody>
                    <a:bodyPr/>
                    <a:lstStyle/>
                    <a:p>
                      <a:r>
                        <a:rPr sz="1400" b="0" i="0">
                          <a:solidFill>
                            <a:srgbClr val="1A1440"/>
                          </a:solidFill>
                          <a:latin typeface="Calibri"/>
                        </a:rPr>
                        <a:t>8, spending Rs 200 each</a:t>
                      </a:r>
                    </a:p>
                  </a:txBody>
                  <a:tcPr marL="101600" marR="101600" marT="38100" marB="38100" anchor="ctr">
                    <a:solidFill>
                      <a:srgbClr val="F4F2FA"/>
                    </a:solidFill>
                  </a:tcPr>
                </a:tc>
              </a:tr>
              <a:tr h="369824">
                <a:tc>
                  <a:txBody>
                    <a:bodyPr/>
                    <a:lstStyle/>
                    <a:p>
                      <a:r>
                        <a:rPr sz="1400" b="1" i="0">
                          <a:solidFill>
                            <a:srgbClr val="1A1440"/>
                          </a:solidFill>
                          <a:latin typeface="Calibri"/>
                        </a:rPr>
                        <a:t>Blended, per customer</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split,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comparison run in Retail-Plus and in Retail-Core, with the count behind every average.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mix</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share of each group who are Retail-Plus members, from notebook 4's options cell.</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split</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Got it against did not, inside Retail-Plus and inside Retail-Core, notebook 4, level 3.</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picture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Both segments and the blend side by side, one column chart.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line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What you tell Meera, with the reason the blend and the segments differ.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what to tell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segments are the fair comparison, and the mix of customers is the reason the blend rose.</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___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one mix, and what it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reuses the split's four cells, so it agrees by construction; it checks that the mix explains the blend.</a:t>
            </a:r>
          </a:p>
        </p:txBody>
      </p:sp>
      <p:pic>
        <p:nvPicPr>
          <p:cNvPr id="9" name="mermaid diagram" descr="108070c859c663c1.png"/>
          <p:cNvPicPr>
            <a:picLocks noChangeAspect="1"/>
          </p:cNvPicPr>
          <p:nvPr/>
        </p:nvPicPr>
        <p:blipFill>
          <a:blip r:embed="rId5"/>
          <a:stretch>
            <a:fillRect/>
          </a:stretch>
        </p:blipFill>
        <p:spPr>
          <a:xfrm>
            <a:off x="2438247" y="1956816"/>
            <a:ext cx="7315200"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split when the reader takes a table; one mix when the answer must be one number, or when there are too many segments to show.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rebuilds the other side's number before disagreeing with it.</a:t>
            </a:r>
          </a:p>
        </p:txBody>
      </p:sp>
      <p:pic>
        <p:nvPicPr>
          <p:cNvPr id="9" name="mermaid diagram" descr="551427cb317493aa.png"/>
          <p:cNvPicPr>
            <a:picLocks noChangeAspect="1"/>
          </p:cNvPicPr>
          <p:nvPr/>
        </p:nvPicPr>
        <p:blipFill>
          <a:blip r:embed="rId7"/>
          <a:stretch>
            <a:fillRect/>
          </a:stretch>
        </p:blipFill>
        <p:spPr>
          <a:xfrm>
            <a:off x="1559566" y="1956816"/>
            <a:ext cx="9072562" cy="1128712"/>
          </a:xfrm>
          <a:prstGeom prst="rect">
            <a:avLst/>
          </a:prstGeom>
        </p:spPr>
      </p:pic>
      <p:sp>
        <p:nvSpPr>
          <p:cNvPr id="10" name="Rounded Rectangle 9"/>
          <p:cNvSpPr/>
          <p:nvPr/>
        </p:nvSpPr>
        <p:spPr>
          <a:xfrm>
            <a:off x="530352" y="32318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3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80333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97592"/>
            <a:ext cx="9987991" cy="941832"/>
          </a:xfrm>
          <a:prstGeom prst="rect">
            <a:avLst/>
          </a:prstGeom>
          <a:noFill/>
        </p:spPr>
        <p:txBody>
          <a:bodyPr wrap="square" anchor="t" lIns="0" rIns="0" tIns="0" bIns="0">
            <a:spAutoFit/>
          </a:bodyPr>
          <a:lstStyle/>
          <a:p>
            <a:r>
              <a:rPr sz="1500" b="0" i="0">
                <a:solidFill>
                  <a:srgbClr val="1A1440"/>
                </a:solidFill>
                <a:latin typeface="Calibri"/>
              </a:rPr>
              <a:t>You rebuilt Marketing's number before disagreeing with it. The split says 3 percent less in both segments, one mix says the same by construction, and the reason is who got the sale. Now tell me what else changed in August, because neither can see that.</a:t>
            </a:r>
          </a:p>
        </p:txBody>
      </p:sp>
      <p:sp>
        <p:nvSpPr>
          <p:cNvPr id="15" name="Rounded Rectangle 14"/>
          <p:cNvSpPr/>
          <p:nvPr/>
        </p:nvSpPr>
        <p:spPr>
          <a:xfrm>
            <a:off x="530352" y="47771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094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19128"/>
            <a:ext cx="237744" cy="237744"/>
          </a:xfrm>
          <a:prstGeom prst="rect">
            <a:avLst/>
          </a:prstGeom>
        </p:spPr>
      </p:pic>
      <p:sp>
        <p:nvSpPr>
          <p:cNvPr id="18" name="TextBox 17"/>
          <p:cNvSpPr txBox="1"/>
          <p:nvPr/>
        </p:nvSpPr>
        <p:spPr>
          <a:xfrm>
            <a:off x="1399031" y="49234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42928"/>
            <a:ext cx="9987991" cy="682752"/>
          </a:xfrm>
          <a:prstGeom prst="rect">
            <a:avLst/>
          </a:prstGeom>
          <a:noFill/>
        </p:spPr>
        <p:txBody>
          <a:bodyPr wrap="square" anchor="t" lIns="0" rIns="0" tIns="0" bIns="0">
            <a:spAutoFit/>
          </a:bodyPr>
          <a:lstStyle/>
          <a:p>
            <a:r>
              <a:rPr sz="1500" b="0" i="0">
                <a:solidFill>
                  <a:srgbClr val="1A1440"/>
                </a:solidFill>
                <a:latin typeface="Calibri"/>
              </a:rPr>
              <a:t>[F] Revenue rose after a discount; did the campaign work, and what would you need to know? [F] The campaign lifted revenue overall but every segment fell; which do you report?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note that may say not yet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one page, each number with its base, and "not yet" where the evidence says so.</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page,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constraint, and what a line without its base costs on Monday.</a:t>
            </a:r>
          </a:p>
        </p:txBody>
      </p:sp>
      <p:sp>
        <p:nvSpPr>
          <p:cNvPr id="9" name="Rounded Rectangle 8"/>
          <p:cNvSpPr/>
          <p:nvPr/>
        </p:nvSpPr>
        <p:spPr>
          <a:xfrm>
            <a:off x="530352" y="1940623"/>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28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82583"/>
            <a:ext cx="237744" cy="237744"/>
          </a:xfrm>
          <a:prstGeom prst="rect">
            <a:avLst/>
          </a:prstGeom>
        </p:spPr>
      </p:pic>
      <p:sp>
        <p:nvSpPr>
          <p:cNvPr id="12" name="TextBox 11"/>
          <p:cNvSpPr txBox="1"/>
          <p:nvPr/>
        </p:nvSpPr>
        <p:spPr>
          <a:xfrm>
            <a:off x="1399031" y="2086927"/>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06383"/>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94183a560d9a352.png"/>
          <p:cNvPicPr>
            <a:picLocks noChangeAspect="1"/>
          </p:cNvPicPr>
          <p:nvPr/>
        </p:nvPicPr>
        <p:blipFill>
          <a:blip r:embed="rId6"/>
          <a:stretch>
            <a:fillRect/>
          </a:stretch>
        </p:blipFill>
        <p:spPr>
          <a:xfrm>
            <a:off x="2445391" y="3226879"/>
            <a:ext cx="7300912" cy="27146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narrative forces each claim to sit beside its evidence, which is the note's whole job.</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Meera in writing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in the words she has to read and in what each carries.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44179"/>
                <a:gridCol w="1435312"/>
                <a:gridCol w="3007320"/>
                <a:gridCol w="334417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506</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true numbers, each written the way it first appeared, and three decisions they drive.</a:t>
            </a:r>
          </a:p>
        </p:txBody>
      </p:sp>
      <p:pic>
        <p:nvPicPr>
          <p:cNvPr id="9" name="mermaid diagram" descr="810a2e1c7cde81d1.png"/>
          <p:cNvPicPr>
            <a:picLocks noChangeAspect="1"/>
          </p:cNvPicPr>
          <p:nvPr/>
        </p:nvPicPr>
        <p:blipFill>
          <a:blip r:embed="rId6"/>
          <a:stretch>
            <a:fillRect/>
          </a:stretch>
        </p:blipFill>
        <p:spPr>
          <a:xfrm>
            <a:off x="3338360" y="1949767"/>
            <a:ext cx="5514975" cy="2714625"/>
          </a:xfrm>
          <a:prstGeom prst="rect">
            <a:avLst/>
          </a:prstGeom>
        </p:spPr>
      </p:pic>
      <p:sp>
        <p:nvSpPr>
          <p:cNvPr id="10" name="Rounded Rectangle 9"/>
          <p:cNvSpPr/>
          <p:nvPr/>
        </p:nvSpPr>
        <p:spPr>
          <a:xfrm>
            <a:off x="530352" y="48106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429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52656"/>
            <a:ext cx="237744" cy="237744"/>
          </a:xfrm>
          <a:prstGeom prst="rect">
            <a:avLst/>
          </a:prstGeom>
        </p:spPr>
      </p:pic>
      <p:sp>
        <p:nvSpPr>
          <p:cNvPr id="13" name="TextBox 12"/>
          <p:cNvSpPr txBox="1"/>
          <p:nvPr/>
        </p:nvSpPr>
        <p:spPr>
          <a:xfrm>
            <a:off x="1399031" y="49570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176456"/>
            <a:ext cx="9987991" cy="68275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an audit for every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yes-or-no questions per line, and the headline note fails nine of nine.</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together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with its base, caveat, action with its cost: built as a room.</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Borderline,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is spending less by a borderline amount,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flips counting falls, 6 either way.</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 asked after seeing the fall, and it could be as small as Rs 80 a member.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Watch it; if we act, test the offer on a coin-chosen half, Rs 5,500 a quarter, holding back the rest.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carry a verdict that is not a yes.</a:t>
            </a:r>
          </a:p>
        </p:txBody>
      </p:sp>
      <p:pic>
        <p:nvPicPr>
          <p:cNvPr id="9" name="mermaid diagram" descr="0cfee7a38e033446.png"/>
          <p:cNvPicPr>
            <a:picLocks noChangeAspect="1"/>
          </p:cNvPicPr>
          <p:nvPr/>
        </p:nvPicPr>
        <p:blipFill>
          <a:blip r:embed="rId5"/>
          <a:stretch>
            <a:fillRect/>
          </a:stretch>
        </p:blipFill>
        <p:spPr>
          <a:xfrm>
            <a:off x="4345628" y="1844802"/>
            <a:ext cx="3500437"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"not yet" with its threshold is a decision; without one it is a shrug.</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1402158"/>
                <a:gridCol w="3392507"/>
                <a:gridCol w="633632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 more customers behind the rise,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Borderline and small: watch it</a:t>
                      </a:r>
                    </a:p>
                  </a:txBody>
                  <a:tcPr marL="101600" marR="101600" marT="38100" marB="38100" anchor="ctr">
                    <a:solidFill>
                      <a:srgbClr val="FFFFFF"/>
                    </a:solidFill>
                  </a:tcPr>
                </a:tc>
                <a:tc>
                  <a:txBody>
                    <a:bodyPr/>
                    <a:lstStyle/>
                    <a:p>
                      <a:r>
                        <a:rPr sz="1400" b="0" i="0">
                          <a:solidFill>
                            <a:srgbClr val="1A1440"/>
                          </a:solidFill>
                          <a:latin typeface="Calibri"/>
                        </a:rPr>
                        <a:t>A second quarter's fall, or a recovery rate from a half-tier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193 words, and each of its 11 figures traces to a number a chapter computed.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day's rules, applied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Reach the note's three decisions again from the numbers alone, and compare.</a:t>
            </a:r>
          </a:p>
        </p:txBody>
      </p:sp>
      <p:pic>
        <p:nvPicPr>
          <p:cNvPr id="9" name="mermaid diagram" descr="08a439402be6f0db.png"/>
          <p:cNvPicPr>
            <a:picLocks noChangeAspect="1"/>
          </p:cNvPicPr>
          <p:nvPr/>
        </p:nvPicPr>
        <p:blipFill>
          <a:blip r:embed="rId5"/>
          <a:stretch>
            <a:fillRect/>
          </a:stretch>
        </p:blipFill>
        <p:spPr>
          <a:xfrm>
            <a:off x="530352" y="1956816"/>
            <a:ext cx="11130991" cy="1344119"/>
          </a:xfrm>
          <a:prstGeom prst="rect">
            <a:avLst/>
          </a:prstGeom>
        </p:spPr>
      </p:pic>
      <p:sp>
        <p:nvSpPr>
          <p:cNvPr id="10" name="Rounded Rectangle 9"/>
          <p:cNvSpPr/>
          <p:nvPr/>
        </p:nvSpPr>
        <p:spPr>
          <a:xfrm>
            <a:off x="530352" y="34472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752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66111"/>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Apply the rules by hand for a one-off note; write them as code when the same note comes every week, because a rule in code cannot drift toward the answer someone wants.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note is done when every line would survive Marketing reading it first.</a:t>
            </a:r>
          </a:p>
        </p:txBody>
      </p:sp>
      <p:pic>
        <p:nvPicPr>
          <p:cNvPr id="9" name="mermaid diagram" descr="6cf715f06ce7411c.png"/>
          <p:cNvPicPr>
            <a:picLocks noChangeAspect="1"/>
          </p:cNvPicPr>
          <p:nvPr/>
        </p:nvPicPr>
        <p:blipFill>
          <a:blip r:embed="rId7"/>
          <a:stretch>
            <a:fillRect/>
          </a:stretch>
        </p:blipFill>
        <p:spPr>
          <a:xfrm>
            <a:off x="1966760" y="1956816"/>
            <a:ext cx="8258175" cy="871537"/>
          </a:xfrm>
          <a:prstGeom prst="rect">
            <a:avLst/>
          </a:prstGeom>
        </p:spPr>
      </p:pic>
      <p:sp>
        <p:nvSpPr>
          <p:cNvPr id="10" name="Rounded Rectangle 9"/>
          <p:cNvSpPr/>
          <p:nvPr/>
        </p:nvSpPr>
        <p:spPr>
          <a:xfrm>
            <a:off x="530352" y="29746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64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546157"/>
            <a:ext cx="237744" cy="237744"/>
          </a:xfrm>
          <a:prstGeom prst="rect">
            <a:avLst/>
          </a:prstGeom>
        </p:spPr>
      </p:pic>
      <p:sp>
        <p:nvSpPr>
          <p:cNvPr id="13" name="TextBox 12"/>
          <p:cNvSpPr txBox="1"/>
          <p:nvPr/>
        </p:nvSpPr>
        <p:spPr>
          <a:xfrm>
            <a:off x="1399031" y="3120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340417"/>
            <a:ext cx="9987991" cy="941832"/>
          </a:xfrm>
          <a:prstGeom prst="rect">
            <a:avLst/>
          </a:prstGeom>
          <a:noFill/>
        </p:spPr>
        <p:txBody>
          <a:bodyPr wrap="square" anchor="t" lIns="0" rIns="0" tIns="0" bIns="0">
            <a:spAutoFit/>
          </a:bodyPr>
          <a:lstStyle/>
          <a:p>
            <a:r>
              <a:rPr sz="1500" b="0" i="0">
                <a:solidFill>
                  <a:srgbClr val="1A1440"/>
                </a:solidFill>
                <a:latin typeface="Calibri"/>
              </a:rPr>
              <a:t>Three answers, each with its base, its caveat and a cost, and two of them say not yet with the thing that would change them. Marketing will push on the third on Monday; this afternoon is the ground you will stand on.</a:t>
            </a:r>
          </a:p>
        </p:txBody>
      </p:sp>
      <p:sp>
        <p:nvSpPr>
          <p:cNvPr id="15" name="Rounded Rectangle 14"/>
          <p:cNvSpPr/>
          <p:nvPr/>
        </p:nvSpPr>
        <p:spPr>
          <a:xfrm>
            <a:off x="530352" y="451999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85222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961953"/>
            <a:ext cx="237744" cy="237744"/>
          </a:xfrm>
          <a:prstGeom prst="rect">
            <a:avLst/>
          </a:prstGeom>
        </p:spPr>
      </p:pic>
      <p:sp>
        <p:nvSpPr>
          <p:cNvPr id="18" name="TextBox 17"/>
          <p:cNvSpPr txBox="1"/>
          <p:nvPr/>
        </p:nvSpPr>
        <p:spPr>
          <a:xfrm>
            <a:off x="1399031" y="466629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85753"/>
            <a:ext cx="9987991" cy="682752"/>
          </a:xfrm>
          <a:prstGeom prst="rect">
            <a:avLst/>
          </a:prstGeom>
          <a:noFill/>
        </p:spPr>
        <p:txBody>
          <a:bodyPr wrap="square" anchor="t" lIns="0" rIns="0" tIns="0" bIns="0">
            <a:spAutoFit/>
          </a:bodyPr>
          <a:lstStyle/>
          <a:p>
            <a:r>
              <a:rPr sz="1500" b="0" i="0">
                <a:solidFill>
                  <a:srgbClr val="1A1440"/>
                </a:solidFill>
                <a:latin typeface="Calibri"/>
              </a:rPr>
              <a:t>[D] The CEO wants a yes or no and the honest answer is "not yet"; what do you say, and how do you hold the line when marketing pushes?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one direction or both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Chapter 1 counted both directions, because Meera's question came after the fall was seen.</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66947"/>
                <a:gridCol w="4502085"/>
                <a:gridCol w="3361958"/>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0.029 by the flips, 0.027 exactly</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0.057 by the flips, 0.055 exactly</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direction is decided before the test is run. Had Meera asked before Q2 closed, 0.029 would carry the reading alone; she asked after, so the note reports both.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6" name="Oval 1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8" name="Oval 1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0" name="Oval 19"/>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