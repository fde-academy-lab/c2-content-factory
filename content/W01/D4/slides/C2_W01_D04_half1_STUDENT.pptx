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revenue tree, Tuesday found the branch that moved,</a:t>
            </a:r>
          </a:p>
          <a:p>
            <a:r>
              <a:t>Wednesday made the numbers trustworthy, and today asks whether what moved is real, whether it</a:t>
            </a:r>
          </a:p>
          <a:p>
            <a:r>
              <a:t>matters, and whether anyone caused it. Friday rebuilds the week without an assistant.</a:t>
            </a:r>
          </a:p>
          <a:p>
            <a:r>
              <a:t>Then the day's 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after lunch. Leave the question up while you set</a:t>
            </a:r>
          </a:p>
          <a:p>
            <a:r>
              <a:t>the scene. Then Meera's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"One page, two minutes. If the</a:t>
            </a:r>
          </a:p>
          <a:p>
            <a:r>
              <a:t>honest answer is 'we do not know yet', say so and tell me what would tell us." Retail-Plus is</a:t>
            </a:r>
          </a:p>
          <a:p>
            <a:r>
              <a:t>Kalpa's paid membership tier, where the customers who buy most often sit. Ask which of the three questions would cost Kalpa the most if</a:t>
            </a:r>
          </a:p>
          <a:p>
            <a:r>
              <a:t>answered wrongly. Most say the discount, because it is about to be repeated for Diwali. Hold that;</a:t>
            </a:r>
          </a:p>
          <a:p>
            <a:r>
              <a:t>chapters 4 and 6 answer it. Watch for anyone answering a question now: every number on this slide</a:t>
            </a:r>
          </a:p>
          <a:p>
            <a:r>
              <a:t>is somebody's claim, and today tests each one. Then the question of which check each claim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check, chapter 3 the second, chapters 4 and 6 the third, and chapter 5 writes the note on the</a:t>
            </a:r>
          </a:p>
          <a:p>
            <a:r>
              <a:t>right. Every chapter ends on one line of that note. Then the note's four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chapter today ends on one line of this note. The caveat is the part most</a:t>
            </a:r>
          </a:p>
          <a:p>
            <a:r>
              <a:t>analysts leave out and the part a CEO keeps them for. Model it once: "Not yet, and here is what</a:t>
            </a:r>
          </a:p>
          <a:p>
            <a:r>
              <a:t>would tell us" is a claim, a caveat and an action in one sentence. Then what the week has already</a:t>
            </a:r>
          </a:p>
          <a:p>
            <a:r>
              <a:t>settled.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Monday's revenue tree wrote revenue as customers times orders per customer times revenue per order;</a:t>
            </a:r>
          </a:p>
          <a:p>
            <a:r>
              <a:t>Tuesday found Retail-Plus's orders per customer was the branch that moved; Wednesday reconciled the</a:t>
            </a:r>
          </a:p>
          <a:p>
            <a:r>
              <a:t>quarters to Finance's books. The retail dossier from Monday</a:t>
            </a:r>
          </a:p>
          <a:p>
            <a:r>
              <a:t>(content/W01/D1/study-notes/C2_W01_D01_domain_retail_STUDENT.md) tells why a fall in the membership</a:t>
            </a:r>
          </a:p>
          <a:p>
            <a:r>
              <a:t>tier worries its head. Wednesday's return question is the Kahoot's last item.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five members'</a:t>
            </a:r>
          </a:p>
          <a:p>
            <a:r>
              <a:t>cards by hand (8, never cut), the code, Retail-Core and the room's Retail-Plus run (7), the trap and</a:t>
            </a:r>
          </a:p>
          <a:p>
            <a:r>
              <a:t>its fix (5), the second route (1), and the close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 Then a company that tests changes all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A company that tests constantly treats a gap as</a:t>
            </a:r>
          </a:p>
          <a:p>
            <a:r>
              <a:t>noise until it beats chance. Then the four ways a team could ask.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separates the options is the design of the data, and compute decides nothing</a:t>
            </a:r>
          </a:p>
          <a:p>
            <a:r>
              <a:t>here. The same 22 members sit in both quarters; B treats them as 44 strangers, which is the right</a:t>
            </a:r>
          </a:p>
          <a:p>
            <a:r>
              <a:t>test only when the two groups are different customers. How far B strays rests on how well a</a:t>
            </a:r>
          </a:p>
          <a:p>
            <a:r>
              <a:t>member's Q1 predicts their Q2: on this file the correlation is 0.04, so it strays little, and on a</a:t>
            </a:r>
          </a:p>
          <a:p>
            <a:r>
              <a:t>tier where heavy buyers stay heavy it strays far. Eight of the 44 totals are zero (six members</a:t>
            </a:r>
          </a:p>
          <a:p>
            <a:r>
              <a:t>bought nothing in Q2, two nothing in Q1), the lumpy shape a formula assumes away. Then what would</a:t>
            </a:r>
          </a:p>
          <a:p>
            <a:r>
              <a:t>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 Then the</a:t>
            </a:r>
          </a:p>
          <a:p>
            <a:r>
              <a:t>picture of one chance-only world.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a:p>
            <a:r>
              <a:t>Then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For each toss, a coin per member: heads keeps the member's pair as recorded, tails swaps it. Each</a:t>
            </a:r>
          </a:p>
          <a:p>
            <a:r>
              <a:t>pair tosses ten times and writes each gap on the board in a row. Then count, as a room, how many</a:t>
            </a:r>
          </a:p>
          <a:p>
            <a:r>
              <a:t>gaps reached Rs 880 or more. Ask: if the quarter made no difference, how surprising is 880? The</a:t>
            </a:r>
          </a:p>
          <a:p>
            <a:r>
              <a:t>guided sheet is exercises/guided/C2_W01_D04_ten_cards_STUDENT.md. Then the question on the board's</a:t>
            </a:r>
          </a:p>
          <a:p>
            <a:r>
              <a:t>row of gaps.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Then the same steps as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each line against the cards: the differences, a coin per member, the average,</a:t>
            </a:r>
          </a:p>
          <a:p>
            <a:r>
              <a:t>the count. The notebook's helper is flip_gaps, with random.seed(2026) so every laptop gets the same</a:t>
            </a:r>
          </a:p>
          <a:p>
            <a:r>
              <a:t>coins. A NameError from an unrun cell gets Restart and Run All and at most two minutes. Then an</a:t>
            </a:r>
          </a:p>
          <a:p>
            <a:r>
              <a:t>ordinary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live in notebook 1. The bars are chance-only worlds, and the real gap sits in</a:t>
            </a:r>
          </a:p>
          <a:p>
            <a:r>
              <a:t>the tallest bars. Kavya's point: this is what "nothing happened" looks like, and the room needs to</a:t>
            </a:r>
          </a:p>
          <a:p>
            <a:r>
              <a:t>have seen it before judging Retail-Plus. Then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predicts, then runs notebook 1's Retail-Plus section and writes a first</a:t>
            </a:r>
          </a:p>
          <a:p>
            <a:r>
              <a:t>draft sentence to Meera without help. Do not read a number out first; every laptop gets the same</a:t>
            </a:r>
          </a:p>
          <a:p>
            <a:r>
              <a:t>shares because of the seed. Ask one pair to read theirs aloud and write it on the board. Those</a:t>
            </a:r>
          </a:p>
          <a:p>
            <a:r>
              <a:t>numbers belong to the room, and the next slides work on them.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numbers off the room's board. The real gap sits out in the right-hand</a:t>
            </a:r>
          </a:p>
          <a:p>
            <a:r>
              <a:t>tail, past the Rs 1,000 bar: far outside Retail-Core's pile, at the edge of what chance makes. Which</a:t>
            </a:r>
          </a:p>
          <a:p>
            <a:r>
              <a:t>of the two shares is the p-value is a choice made before the test runs, and Meera asked after the</a:t>
            </a:r>
          </a:p>
          <a:p>
            <a:r>
              <a:t>fall was seen, so both go in. Then the first draft most of the room wrote.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 Then the sentence that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Nair is the team's senior analyst, who checks every number before it leaves.</a:t>
            </a:r>
          </a:p>
          <a:p>
            <a:r>
              <a:t>The design question for the drill: four ways to ask whether a fall is real, which would you run for</a:t>
            </a:r>
          </a:p>
          <a:p>
            <a:r>
              <a:t>a CEO's Monday? The chapter 1 set (exercises/unguided/C2_W01_D04_ch1_real_or_wobble_STUDENT.md)</a:t>
            </a:r>
          </a:p>
          <a:p>
            <a:r>
              <a:t>runs its items 1 and 2 now if the chapter ran to time. Then chapter 2: the fall is borderline, so</a:t>
            </a:r>
          </a:p>
          <a:p>
            <a:r>
              <a:t>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two axes (5), the fall in</a:t>
            </a:r>
          </a:p>
          <a:p>
            <a:r>
              <a:t>rupees and against the company (8), the trap and its check (6), the offer priced (4), the second</a:t>
            </a:r>
          </a:p>
          <a:p>
            <a:r>
              <a:t>route (3), and the close (1).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 1 left the fall borderline: about 3 in 100 flips</a:t>
            </a:r>
          </a:p>
          <a:p>
            <a:r>
              <a:t>counting falls, 6 either way, on Rs 1,110 a member. Then the 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 Then a company where size</a:t>
            </a:r>
          </a:p>
          <a:p>
            <a:r>
              <a:t>decided.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a:p>
            <a:r>
              <a:t>Then the four ways to answer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Then the picture of the two calls.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where Retail-Core's Rs 110 belongs: bottom left. Hold Retail-Plus until the</a:t>
            </a:r>
          </a:p>
          <a:p>
            <a:r>
              <a:t>room has sized it; a borderline share puts it near the middle of the chance axis. The quadrant is</a:t>
            </a:r>
          </a:p>
          <a:p>
            <a:r>
              <a:t>the day's second board drawing. Then the first size.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Pairs work it on paper first: a rate per member times the members who exist in both</a:t>
            </a:r>
          </a:p>
          <a:p>
            <a:r>
              <a:t>quarters. The second line is the company's quarter, which the next slides need.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computes these in notebook 2's first two sections. A third of the tier is</a:t>
            </a:r>
          </a:p>
          <a:p>
            <a:r>
              <a:t>why the head of Retail-Plus is worried; the company line is why Meera may not be. Then the whole</a:t>
            </a:r>
          </a:p>
          <a:p>
            <a:r>
              <a:t>company on one chart.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Retail-Plus delivered Rs 47,710 in Q2, Retail-Core Rs 47,550 and Student about</a:t>
            </a:r>
          </a:p>
          <a:p>
            <a:r>
              <a:t>Rs 5,000, against Business's Rs 1,27,64,460: every Business order is in lakhs. Then the draft that</a:t>
            </a:r>
          </a:p>
          <a:p>
            <a:r>
              <a:t>ranks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day's second trap and the one that costs money. The shares count a</a:t>
            </a:r>
          </a:p>
          <a:p>
            <a:r>
              <a:t>move that large either way, since no direction was fixed before the quarter was seen. Ask what the</a:t>
            </a:r>
          </a:p>
          <a:p>
            <a:r>
              <a:t>share would be for a twenty-rupee gap on twenty thousand orders. Take guesses. Then why the share</a:t>
            </a:r>
          </a:p>
          <a:p>
            <a:r>
              <a:t>cannot rank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orders are invented in notebook 2: two quarters of different orders, the</a:t>
            </a:r>
          </a:p>
          <a:p>
            <a:r>
              <a:t>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 The fix</a:t>
            </a:r>
          </a:p>
          <a:p>
            <a:r>
              <a:t>is two sentences: borderline against chance, and Rs 24,420 a quarter, 0.19 percent of the company.</a:t>
            </a:r>
          </a:p>
          <a:p>
            <a:r>
              <a:t>Then the cost of a fix.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the notebook's offer section.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150 percent, more than the whole fall. Say that revenue is not margin, once. Then how</a:t>
            </a:r>
          </a:p>
          <a:p>
            <a:r>
              <a:t>small the fall could really 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half-tier test costs Rs 5,500 a quarter; eleven members a side can show only a</a:t>
            </a:r>
          </a:p>
          <a:p>
            <a:r>
              <a:t>large recovery, and how many a test needs is power, a later week. The design question for the</a:t>
            </a:r>
          </a:p>
          <a:p>
            <a:r>
              <a:t>drill: break-even, a range, a test on half, or a past offer's rate, which goes to the budget</a:t>
            </a:r>
          </a:p>
          <a:p>
            <a:r>
              <a:t>meeting? Then chapter 3: Meera's second question is about a rise, the biggest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trap and the</a:t>
            </a:r>
          </a:p>
          <a:p>
            <a:r>
              <a:t>check (5), why small counts swing (3), the room's count (5), chance on the count (4), the interview</a:t>
            </a:r>
          </a:p>
          <a:p>
            <a:r>
              <a:t>pair (3), the second route (2), and the close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and 2 answered Meera's first question: borderline,</a:t>
            </a:r>
          </a:p>
          <a:p>
            <a:r>
              <a:t>worth watching, and not worth acting on alone. Then her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Her 40 percent counts orders placed, whatever their status.</a:t>
            </a:r>
          </a:p>
          <a:p>
            <a:r>
              <a:t>Ask which number the room would want beside the 40 percent before answering. Hold the answers.</a:t>
            </a:r>
          </a:p>
          <a:p>
            <a:r>
              <a:t>Then a funder that learned what small groups 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 Then the four ways to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rule counts customers because more orders from the same few customers add</a:t>
            </a:r>
          </a:p>
          <a:p>
            <a:r>
              <a:t>orders and no new evidence: thirty orders from three people are still three people's habits. D is</a:t>
            </a:r>
          </a:p>
          <a:p>
            <a:r>
              <a:t>the action the answer may lead to, and the room sizes it in notebook 3's second empty cell, once</a:t>
            </a:r>
          </a:p>
          <a:p>
            <a:r>
              <a:t>the count is found. Then the leaderboard a hurried draft reads.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as a leaderboard, the way a hurried draft will. Then the draft.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rate is correct arithmetic. What is</a:t>
            </a:r>
          </a:p>
          <a:p>
            <a:r>
              <a:t>wrong is repeating it without the count, the same mistake as Monday's number without its</a:t>
            </a:r>
          </a:p>
          <a:p>
            <a:r>
              <a:t>definition. Then the check that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 in a few minutes. Then why small counts swing.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fair coin flips, one flip per independent buyer deciding its</a:t>
            </a:r>
          </a:p>
          <a:p>
            <a:r>
              <a:t>quarter, with no Kalpa data in it. Ten buyers, 38 percent of worlds; four hundred, four in ten</a:t>
            </a:r>
          </a:p>
          <a:p>
            <a:r>
              <a:t>thousand. That curve is why the rule of thumb exists, and why it counts customers: thirty orders</a:t>
            </a:r>
          </a:p>
          <a:p>
            <a:r>
              <a:t>from three customers are three buyers, and the curve reads them at three. Then the room's count.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count is the room's discovery; do not say it, and no slide shows it. When a</a:t>
            </a:r>
          </a:p>
          <a:p>
            <a:r>
              <a:t>pair has it, ask how many customers stand behind the orders, and watch the faces. Then the wait: at</a:t>
            </a:r>
          </a:p>
          <a:p>
            <a:r>
              <a:t>the pace new customers arrive, how long until thirty? Collect two lines aloud. Then how often chance</a:t>
            </a:r>
          </a:p>
          <a:p>
            <a:r>
              <a:t>makes the rise on that count.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Student's ordering had not changed, each order was as likely to land in Q1 as</a:t>
            </a:r>
          </a:p>
          <a:p>
            <a:r>
              <a:t>in Q2. The notebook's helper, flip_rises, also counts a world with no Q1 orders as a rise. Letters,</a:t>
            </a:r>
          </a:p>
          <a:p>
            <a:r>
              <a:t>then the run.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are generous: they treat each order as its own draw, while Student's</a:t>
            </a:r>
          </a:p>
          <a:p>
            <a:r>
              <a:t>orders come from very few customers, whose orders move together. The fix, said aloud: "Not yet: we</a:t>
            </a:r>
          </a:p>
          <a:p>
            <a:r>
              <a:t>watch Student until more customers buy, thirty or more behind the rise." Then the interview's</a:t>
            </a:r>
          </a:p>
          <a:p>
            <a:r>
              <a:t>version of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3's invented simulation: a true 31 percent shows 42 or more in about 31</a:t>
            </a:r>
          </a:p>
          <a:p>
            <a:r>
              <a:t>percent of groups of twelve, and groups of 1,200 land between about 28 and 35 percent. Then a second</a:t>
            </a:r>
          </a:p>
          <a:p>
            <a:r>
              <a:t>route to the Student share.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The design question for the drill: a segment is</a:t>
            </a:r>
          </a:p>
          <a:p>
            <a:r>
              <a:t>up 40 percent and the CEO wants to move budget; trust, test or wait? Break for 10 minutes after this</a:t>
            </a:r>
          </a:p>
          <a:p>
            <a:r>
              <a:t>slide. Then chapter 4,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(5), the options and the call (3), Marketing's</a:t>
            </a:r>
          </a:p>
          <a:p>
            <a:r>
              <a:t>number reproduced (4), the trap (2), why a blend can mislead (4), the room's split and its result</a:t>
            </a:r>
          </a:p>
          <a:p>
            <a:r>
              <a:t>(7), the fix (2), the second route (2), and the close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to 3 answered Meera's first two: the Retail-Plus</a:t>
            </a:r>
          </a:p>
          <a:p>
            <a:r>
              <a:t>fall is borderline and worth watching, and Student is not yet. Then her third.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 Then</a:t>
            </a:r>
          </a:p>
          <a:p>
            <a:r>
              <a:t>two cases where an average hid a split.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 Then the four ways to answer.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 Then Marketing's own number, rebuilt.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Then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Reproducing the number first is</a:t>
            </a:r>
          </a:p>
          <a:p>
            <a:r>
              <a:t>what keeps Monday civil. The question is whether the comparison is fair. Then the draft that trusts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would have to be true of the two groups for this sentence to hold. Take</a:t>
            </a:r>
          </a:p>
          <a:p>
            <a:r>
              <a:t>two answers. Then,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The blend more than doubles because</a:t>
            </a:r>
          </a:p>
          <a:p>
            <a:r>
              <a:t>eight of the ten promoted customers are big-store customers. This is the Berkeley pattern in rupees.</a:t>
            </a:r>
          </a:p>
          <a:p>
            <a:r>
              <a:t>Do not state Kalpa's split: the room runs it next. Then the room's split.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runs notebook 4's split. When most laptops show the chart, ask one pair to</a:t>
            </a:r>
          </a:p>
          <a:p>
            <a:r>
              <a:t>read the two segment changes and the two mixes aloud. The reversal belongs to the room. Then point</a:t>
            </a:r>
          </a:p>
          <a:p>
            <a:r>
              <a:t>at the blended column and ask how both can be true. Then the result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Thirty exposed customers in each segment, against 40 Retail-Plus and 60</a:t>
            </a:r>
          </a:p>
          <a:p>
            <a:r>
              <a:t>Retail-Core who did not get it. This is Simpson's reversal, with segment as the confounder: a</a:t>
            </a:r>
          </a:p>
          <a:p>
            <a:r>
              <a:t>thing that differs between the groups and moves the outcome on its own. Then the line to Meera.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decision, from repeat to redesign, and the reason is a mix of</a:t>
            </a:r>
          </a:p>
          <a:p>
            <a:r>
              <a:t>customers; Marketing's arithmetic was right. Then a second route, and what it can check.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4's second route. Putting both groups on one mix removes the whole 6.1</a:t>
            </a:r>
          </a:p>
          <a:p>
            <a:r>
              <a:t>percent, both ways round, which is what it would do if the mix were the whole story. The</a:t>
            </a:r>
          </a:p>
          <a:p>
            <a:r>
              <a:t>independent check, from Finance's months, comes in chapter 6.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follow-up for the drill: the campaign lifted revenue overall but every segment</a:t>
            </a:r>
          </a:p>
          <a:p>
            <a:r>
              <a:t>fell; which do you report? Chapter 6 opens the afternoon on "what else changed". Then the note:</a:t>
            </a:r>
          </a:p>
          <a:p>
            <a:r>
              <a:t>three questions answered,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each number's</a:t>
            </a:r>
          </a:p>
          <a:p>
            <a:r>
              <a:t>partner (2), the trap and the audit (6), the Retail-Plus line built together (6), the audit's logic</a:t>
            </a:r>
          </a:p>
          <a:p>
            <a:r>
              <a:t>(1), the not-yet lines (4), the second route (3), and the close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morning's three answers are in: borderline and worth</a:t>
            </a:r>
          </a:p>
          <a:p>
            <a:r>
              <a:t>watching; not yet; not as designed. Then Meera's terms for the page.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 Then a company that writes where others present.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A narrative forces each claim to sit beside its evidence, which is the note's whole job. Meera asked</a:t>
            </a:r>
          </a:p>
          <a:p>
            <a:r>
              <a:t>for one page, which is Amazon's idea at a sixth of the length. Then the four ways to write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5's sizing cell counts the words; the dashboard is everything notebooks</a:t>
            </a:r>
          </a:p>
          <a:p>
            <a:r>
              <a:t>1 to 4 printed. A drops what Meera explicitly allowed; B and D hand her the analysis instead of the</a:t>
            </a:r>
          </a:p>
          <a:p>
            <a:r>
              <a:t>answer. Then what each number needs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of the four rows the room would have written without a partner. Most say</a:t>
            </a:r>
          </a:p>
          <a:p>
            <a:r>
              <a:t>the 40 percent. A number without its partner is the next slide's trap. Then the headline note.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34 percent is Rs 24,420 over the tier's Rs 72,130 in Q1: true, and a crisis</a:t>
            </a:r>
          </a:p>
          <a:p>
            <a:r>
              <a:t>only for a tier that delivered under one percent of the company's revenue. The 40 percent and the 6</a:t>
            </a:r>
          </a:p>
          <a:p>
            <a:r>
              <a:t>percent are chapters 3 and 4's traps, back in a note. Then the audit that catches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 runs the audit as a small function over each line and draws this grid.</a:t>
            </a:r>
          </a:p>
          <a:p>
            <a:r>
              <a:t>Ask the room for the base each line needs: the company's quarter, the count and the coin flips, who</a:t>
            </a:r>
          </a:p>
          <a:p>
            <a:r>
              <a:t>got the sale. Then the first line, built together.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on the board part by part, with the room dictating. The caveat is the</a:t>
            </a:r>
          </a:p>
          <a:p>
            <a:r>
              <a:t>part most often missing and the one a CEO keeps an analyst for. This line is built together; the</a:t>
            </a:r>
          </a:p>
          <a:p>
            <a:r>
              <a:t>Student and discount lines are the room's. Then the audit's logic.</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same three tests run on every line, whoever wrote it. The Retail-Plus line passes</a:t>
            </a:r>
          </a:p>
          <a:p>
            <a:r>
              <a:t>all three. Then the two lines that say not yet.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pick a, so hold it until the answer slide.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writes both lines, audits the whole note and traces every figure:</a:t>
            </a:r>
          </a:p>
          <a:p>
            <a:r>
              <a:t>every line passes all three questions, and 11 of 11 figures trace. Then a second route to the</a:t>
            </a:r>
          </a:p>
          <a:p>
            <a:r>
              <a:t>note's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rules: the range's low end below the offer's cost, fewer than thirty</a:t>
            </a:r>
          </a:p>
          <a:p>
            <a:r>
              <a:t>customers behind the rise, and a blend up while every segment falls. A note whose action does not</a:t>
            </a:r>
          </a:p>
          <a:p>
            <a:r>
              <a:t>follow from its own numbers would pass every figure check and fail here. Notebook 5's second route applies chapter 2's, 3's and 4's rules to the</a:t>
            </a:r>
          </a:p>
          <a:p>
            <a:r>
              <a:t>numbers and reaches the note's three decisions.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6.png"/><Relationship Id="rId6"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 Id="rId6"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6.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27.png"/><Relationship Id="rId7" Type="http://schemas.openxmlformats.org/officeDocument/2006/relationships/image" Target="../media/image10.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16.png"/><Relationship Id="rId6" Type="http://schemas.openxmlformats.org/officeDocument/2006/relationships/image" Target="../media/image3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3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34.png"/><Relationship Id="rId6" Type="http://schemas.openxmlformats.org/officeDocument/2006/relationships/image" Target="../media/image4.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16.png"/><Relationship Id="rId6"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4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5.xml"/><Relationship Id="rId6" Type="http://schemas.openxmlformats.org/officeDocument/2006/relationships/image" Target="../media/image4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 Id="rId5" Type="http://schemas.openxmlformats.org/officeDocument/2006/relationships/image" Target="../media/image16.png"/><Relationship Id="rId6" Type="http://schemas.openxmlformats.org/officeDocument/2006/relationships/image" Target="../media/image4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 Id="rId5" Type="http://schemas.openxmlformats.org/officeDocument/2006/relationships/image" Target="../media/image4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 Id="rId5" Type="http://schemas.openxmlformats.org/officeDocument/2006/relationships/image" Target="../media/image4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of Meera's three numbers is real?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Real, or the wobble?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Worth acting on?</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many behind 40%?</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Did the discount work?</a:t>
            </a:r>
          </a:p>
        </p:txBody>
      </p:sp>
      <p:sp>
        <p:nvSpPr>
          <p:cNvPr id="19" name="TextBox 18"/>
          <p:cNvSpPr txBox="1"/>
          <p:nvPr/>
        </p:nvSpPr>
        <p:spPr>
          <a:xfrm>
            <a:off x="82347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18791"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the page?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Real, or the wobble?</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Is the Retail-Plus fall more than chance makes?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Worth acting on?</a:t>
            </a:r>
          </a:p>
        </p:txBody>
      </p:sp>
      <p:sp>
        <p:nvSpPr>
          <p:cNvPr id="19" name="TextBox 18"/>
          <p:cNvSpPr txBox="1"/>
          <p:nvPr/>
        </p:nvSpPr>
        <p:spPr>
          <a:xfrm>
            <a:off x="2580589"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How big is it, against what a fix costs?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behind 40%?</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Should budget move to Student?</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the discount work?</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Or did those customers buy anyway?</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when is "not yet" the answer?</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would settle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who got it, and Diwali</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2" name="Oval 4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8" name="Oval 4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one page, before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does she want back?</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which check must each pass before its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must each of Meera's questions pass before its number goes in the note?</a:t>
            </a:r>
          </a:p>
        </p:txBody>
      </p:sp>
      <p:pic>
        <p:nvPicPr>
          <p:cNvPr id="9" name="mermaid diagram" descr="2e4b824e262ecd17.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claim, evidence, caveat, 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read in her two minutes, and in what order?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7" name="Oval 3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1" name="Oval 4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3" name="Oval 4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days of work stand behind today's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week already settled, and what does today's file hold?</a:t>
            </a:r>
          </a:p>
        </p:txBody>
      </p:sp>
      <p:pic>
        <p:nvPicPr>
          <p:cNvPr id="9" name="mermaid diagram" descr="aa24d82df5574a25.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of orders, plus the Student segment's own orders and the campaigns table. Retail-Plus is Kalpa's paid membership tier, and delivered revenue, the money kept once cancelled and returned orders are left out, is the measure all day. Kavya Nair, the team's senior analyst, reviews each chapter's answer before it reaches Meera.</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wobble?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or the wobble Kalpa sees every quarter?</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Meera's budget call on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Retail-Plus fall is real,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at Monday's growth review whether the Retail-Plus tier's fall gets a budget of its own. A wobble read as a real fall funds a fix for nothing, and a real fall read as a wobble lets the tier drain.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 fits?</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ask "is it real?"</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Rs 880 surprising?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members' cards, by hand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a wobble?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Retail-Core, 5,000 flips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5,000 flips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share never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paired test, every pattern</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measure: revenue per member, the same 22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Meera's first question measure, and on whom?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 each member's pair; pooling treats 22 as 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"is it real?" fits 22 members measured twice?</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the same members sit in both quarters, so the test keeps each member's two quarters together.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Scale or different customers would switch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the flips?</a:t>
            </a:r>
          </a:p>
        </p:txBody>
      </p:sp>
      <p:pic>
        <p:nvPicPr>
          <p:cNvPr id="9" name="mermaid diagram" descr="47677069bec454b2.png"/>
          <p:cNvPicPr>
            <a:picLocks noChangeAspect="1"/>
          </p:cNvPicPr>
          <p:nvPr/>
        </p:nvPicPr>
        <p:blipFill>
          <a:blip r:embed="rId5"/>
          <a:stretch>
            <a:fillRect/>
          </a:stretch>
        </p:blipFill>
        <p:spPr>
          <a:xfrm>
            <a:off x="1314988" y="1664208"/>
            <a:ext cx="956171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per member builds one chance-only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what could each member's two quarters have been?</a:t>
            </a:r>
          </a:p>
        </p:txBody>
      </p:sp>
      <p:pic>
        <p:nvPicPr>
          <p:cNvPr id="9" name="mermaid diagram" descr="4b736892f360b984.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cards: heads keeps, tails swaps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chance-only world tossed by hand on five members?</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Invented for the table. The real gap is Rs 880. Toss a coin per member: heads keeps the pair, tails swaps it, so that member's difference changes sign.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of the room's ten tosses reached Rs 880: what do you say?</a:t>
            </a:r>
          </a:p>
        </p:txBody>
      </p:sp>
      <p:graphicFrame>
        <p:nvGraphicFramePr>
          <p:cNvPr id="9" name="Table 8"/>
          <p:cNvGraphicFramePr>
            <a:graphicFrameLocks noGrp="1"/>
          </p:cNvGraphicFramePr>
          <p:nvPr/>
        </p:nvGraphicFramePr>
        <p:xfrm>
          <a:off x="530352" y="1956816"/>
          <a:ext cx="11130988" cy="670560"/>
        </p:xfrm>
        <a:graphic>
          <a:graphicData uri="http://schemas.openxmlformats.org/drawingml/2006/table">
            <a:tbl>
              <a:tblPr firstRow="0" bandRow="0">
                <a:tableStyleId>{2D5ABB26-0587-4C30-8999-92F81FD0307C}</a:tableStyleId>
              </a:tblPr>
              <a:tblGrid>
                <a:gridCol w="1011908"/>
                <a:gridCol w="1011908"/>
                <a:gridCol w="1011908"/>
                <a:gridCol w="1011908"/>
                <a:gridCol w="1011908"/>
                <a:gridCol w="1011908"/>
                <a:gridCol w="1011908"/>
                <a:gridCol w="1011908"/>
                <a:gridCol w="1011908"/>
                <a:gridCol w="1011908"/>
                <a:gridCol w="1011908"/>
              </a:tblGrid>
              <a:tr h="335280">
                <a:tc>
                  <a:txBody>
                    <a:bodyPr/>
                    <a:lstStyle/>
                    <a:p>
                      <a:r>
                        <a:rPr sz="1250" b="1" i="0">
                          <a:solidFill>
                            <a:srgbClr val="FFFFFF"/>
                          </a:solidFill>
                          <a:latin typeface="Calibri"/>
                        </a:rPr>
                        <a:t>Toss</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c>
                  <a:txBody>
                    <a:bodyPr/>
                    <a:lstStyle/>
                    <a:p>
                      <a:r>
                        <a:rPr sz="1250" b="1" i="0">
                          <a:solidFill>
                            <a:srgbClr val="FFFFFF"/>
                          </a:solidFill>
                          <a:latin typeface="Calibri"/>
                        </a:rPr>
                        <a:t>9</a:t>
                      </a:r>
                    </a:p>
                  </a:txBody>
                  <a:tcPr marL="101600" marR="101600" marT="38100" marB="38100" anchor="ctr">
                    <a:solidFill>
                      <a:srgbClr val="1A0F5C"/>
                    </a:solidFill>
                  </a:tcPr>
                </a:tc>
                <a:tc>
                  <a:txBody>
                    <a:bodyPr/>
                    <a:lstStyle/>
                    <a:p>
                      <a:r>
                        <a:rPr sz="1250" b="1" i="0">
                          <a:solidFill>
                            <a:srgbClr val="FFFFFF"/>
                          </a:solidFill>
                          <a:latin typeface="Calibri"/>
                        </a:rPr>
                        <a:t>10</a:t>
                      </a:r>
                    </a:p>
                  </a:txBody>
                  <a:tcPr marL="101600" marR="101600" marT="38100" marB="38100" anchor="ctr">
                    <a:solidFill>
                      <a:srgbClr val="1A0F5C"/>
                    </a:solidFill>
                  </a:tcPr>
                </a:tc>
              </a:tr>
              <a:tr h="335280">
                <a:tc>
                  <a:txBody>
                    <a:bodyPr/>
                    <a:lstStyle/>
                    <a:p>
                      <a:r>
                        <a:rPr sz="1200" b="0" i="0">
                          <a:solidFill>
                            <a:srgbClr val="1A1440"/>
                          </a:solidFill>
                          <a:latin typeface="Calibri"/>
                        </a:rPr>
                        <a:t>Gap, Rs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-480</a:t>
                      </a:r>
                    </a:p>
                  </a:txBody>
                  <a:tcPr marL="101600" marR="101600" marT="38100" marB="38100" anchor="ctr">
                    <a:solidFill>
                      <a:srgbClr val="FFFFFF"/>
                    </a:solidFill>
                  </a:tcPr>
                </a:tc>
                <a:tc>
                  <a:txBody>
                    <a:bodyPr/>
                    <a:lstStyle/>
                    <a:p>
                      <a:r>
                        <a:rPr sz="1200" b="0" i="0">
                          <a:solidFill>
                            <a:srgbClr val="1A1440"/>
                          </a:solidFill>
                          <a:latin typeface="Calibri"/>
                        </a:rPr>
                        <a:t>-440</a:t>
                      </a:r>
                    </a:p>
                  </a:txBody>
                  <a:tcPr marL="101600" marR="101600" marT="38100" marB="38100" anchor="ctr">
                    <a:solidFill>
                      <a:srgbClr val="FFFFFF"/>
                    </a:solidFill>
                  </a:tcPr>
                </a:tc>
                <a:tc>
                  <a:txBody>
                    <a:bodyPr/>
                    <a:lstStyle/>
                    <a:p>
                      <a:r>
                        <a:rPr sz="1200" b="0" i="0">
                          <a:solidFill>
                            <a:srgbClr val="1A1440"/>
                          </a:solidFill>
                          <a:latin typeface="Calibri"/>
                        </a:rPr>
                        <a:t>-360</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c>
                  <a:txBody>
                    <a:bodyPr/>
                    <a:lstStyle/>
                    <a:p>
                      <a:r>
                        <a:rPr sz="1200" b="0" i="0">
                          <a:solidFill>
                            <a:srgbClr val="1A1440"/>
                          </a:solidFill>
                          <a:latin typeface="Calibri"/>
                        </a:rPr>
                        <a:t>-440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480</a:t>
                      </a:r>
                    </a:p>
                  </a:txBody>
                  <a:tcPr marL="101600" marR="101600" marT="38100" marB="38100" anchor="ctr">
                    <a:solidFill>
                      <a:srgbClr val="FFFFFF"/>
                    </a:solidFill>
                  </a:tcPr>
                </a:tc>
                <a:tc>
                  <a:txBody>
                    <a:bodyPr/>
                    <a:lstStyle/>
                    <a:p>
                      <a:r>
                        <a:rPr sz="1200" b="0" i="0">
                          <a:solidFill>
                            <a:srgbClr val="1A1440"/>
                          </a:solidFill>
                          <a:latin typeface="Calibri"/>
                        </a:rPr>
                        <a:t>-640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real gap is Rs 880, and none of the ten tosses reached it.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in 1,000 tosses, exactly 1 of 32 patterns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 coin tosses on five members' cards make a gap of Rs 880?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flip is five lines, each a step done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coin per member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diffs = [a - b for a, b in zip(q1, q2)]    # each member's Q1 less Q2</a:t>
            </a:r>
          </a:p>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coins = [d if random.random() &lt; 0.5 else -d for d in diffs]</a:t>
            </a:r>
          </a:p>
          <a:p>
            <a:pPr>
              <a:spcAft>
                <a:spcPts val="200"/>
              </a:spcAft>
            </a:pPr>
            <a:r>
              <a:rPr sz="1400" b="0" i="0">
                <a:solidFill>
                  <a:srgbClr val="E4E1F1"/>
                </a:solidFill>
                <a:latin typeface="Consolas"/>
              </a:rPr>
              <a:t>    gaps.append(mean(coins))                # heads keeps, tails swaps</a:t>
            </a:r>
          </a:p>
          <a:p>
            <a:pPr>
              <a:spcAft>
                <a:spcPts val="200"/>
              </a:spcAft>
            </a:pPr>
            <a:r>
              <a:rPr sz="1400" b="0" i="0">
                <a:solidFill>
                  <a:srgbClr val="E4E1F1"/>
                </a:solidFill>
                <a:latin typeface="Consolas"/>
              </a:rPr>
              <a:t>share = sum(g &gt;= real for g in gaps)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counts the worlds with a gap at least as large as the real one, which is the share the cards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Retail-Core's Rs 110 fall: a third of flips match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usual wobble look like on Retail-Core?</a:t>
            </a:r>
          </a:p>
        </p:txBody>
      </p:sp>
      <p:pic>
        <p:nvPicPr>
          <p:cNvPr id="9" name="mermaid diagram" descr="d4d7888d6463278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match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same flips on the segment Meera asked about: will chance make its fall as often?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flips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5,000, seed 2026: the share at least as large, then the share either way.</a:t>
            </a:r>
          </a:p>
        </p:txBody>
      </p:sp>
      <p:sp>
        <p:nvSpPr>
          <p:cNvPr id="25" name="Rounded Rectangle 24"/>
          <p:cNvSpPr/>
          <p:nvPr/>
        </p:nvSpPr>
        <p:spPr>
          <a:xfrm>
            <a:off x="530352" y="4103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4231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4222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Retail-Core's third, Retail-Plus's share will be: a) about the same; b) larger, since the segment is smaller; c) much smaller, if its fall is bigger than chance makes; d) impossible to compute, since some members have zeros.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6" name="Oval 3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145 of 5,000 flips, and 286 either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fall as large as Retail-Plus's?</a:t>
            </a:r>
          </a:p>
        </p:txBody>
      </p:sp>
      <p:pic>
        <p:nvPicPr>
          <p:cNvPr id="9" name="mermaid diagram" descr="416787e063cbd47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Retail-Plus members delivered Rs 3,279 each in Q1 and Rs 2,169 in Q2, a fall of Rs 1,110. Counting falls, 145 of 5,000 flips made one that large (0.029); counting either way, 286 did (0.057).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3% chance we're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share say about the chance that the finding is wrong?</a:t>
            </a:r>
          </a:p>
        </p:txBody>
      </p:sp>
      <p:pic>
        <p:nvPicPr>
          <p:cNvPr id="9" name="mermaid diagram" descr="eb6c9721ff9c8c25.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where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world was the share counted, and what does that make it?</a:t>
            </a:r>
          </a:p>
        </p:txBody>
      </p:sp>
      <p:pic>
        <p:nvPicPr>
          <p:cNvPr id="9" name="mermaid diagram" descr="4ff8f4861b932a5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flip assumed the quarter made no difference. 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share, its world, both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does the share support?</a:t>
            </a:r>
          </a:p>
        </p:txBody>
      </p:sp>
      <p:graphicFrame>
        <p:nvGraphicFramePr>
          <p:cNvPr id="9" name="Table 8"/>
          <p:cNvGraphicFramePr>
            <a:graphicFrameLocks noGrp="1"/>
          </p:cNvGraphicFramePr>
          <p:nvPr/>
        </p:nvGraphicFramePr>
        <p:xfrm>
          <a:off x="530352" y="1912620"/>
          <a:ext cx="11130990" cy="1652016"/>
        </p:xfrm>
        <a:graphic>
          <a:graphicData uri="http://schemas.openxmlformats.org/drawingml/2006/table">
            <a:tbl>
              <a:tblPr firstRow="0" bandRow="0">
                <a:tableStyleId>{2D5ABB26-0587-4C30-8999-92F81FD0307C}</a:tableStyleId>
              </a:tblPr>
              <a:tblGrid>
                <a:gridCol w="4321384"/>
                <a:gridCol w="6809606"/>
              </a:tblGrid>
              <a:tr h="318008">
                <a:tc>
                  <a:txBody>
                    <a:bodyPr/>
                    <a:lstStyle/>
                    <a:p>
                      <a:r>
                        <a:rPr sz="1150" b="1" i="0">
                          <a:solidFill>
                            <a:srgbClr val="FFFFFF"/>
                          </a:solidFill>
                          <a:latin typeface="Calibri"/>
                        </a:rPr>
                        <a:t>Draft</a:t>
                      </a:r>
                    </a:p>
                  </a:txBody>
                  <a:tcPr marL="101600" marR="101600" marT="38100" marB="38100" anchor="ctr">
                    <a:solidFill>
                      <a:srgbClr val="1A0F5C"/>
                    </a:solidFill>
                  </a:tcPr>
                </a:tc>
                <a:tc>
                  <a:txBody>
                    <a:bodyPr/>
                    <a:lstStyle/>
                    <a:p>
                      <a:r>
                        <a:rPr sz="1150" b="1" i="0">
                          <a:solidFill>
                            <a:srgbClr val="FFFFFF"/>
                          </a:solidFill>
                          <a:latin typeface="Calibri"/>
                        </a:rPr>
                        <a:t>Rewritten</a:t>
                      </a:r>
                    </a:p>
                  </a:txBody>
                  <a:tcPr marL="101600" marR="101600" marT="38100" marB="38100" anchor="ctr">
                    <a:solidFill>
                      <a:srgbClr val="1A0F5C"/>
                    </a:solidFill>
                  </a:tcPr>
                </a:tc>
              </a:tr>
              <a:tr h="508000">
                <a:tc>
                  <a:txBody>
                    <a:bodyPr/>
                    <a:lstStyle/>
                    <a:p>
                      <a:r>
                        <a:rPr sz="11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1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508000">
                <a:tc>
                  <a:txBody>
                    <a:bodyPr/>
                    <a:lstStyle/>
                    <a:p>
                      <a:r>
                        <a:rPr sz="11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1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318008">
                <a:tc>
                  <a:txBody>
                    <a:bodyPr/>
                    <a:lstStyle/>
                    <a:p>
                      <a:r>
                        <a:rPr sz="1100" b="0" i="0">
                          <a:solidFill>
                            <a:srgbClr val="1A1440"/>
                          </a:solidFill>
                          <a:latin typeface="Calibri"/>
                        </a:rPr>
                        <a:t>"p = 0.03, so it is significant."</a:t>
                      </a:r>
                    </a:p>
                  </a:txBody>
                  <a:tcPr marL="101600" marR="101600" marT="38100" marB="38100" anchor="ctr">
                    <a:solidFill>
                      <a:srgbClr val="FFFFFF"/>
                    </a:solidFill>
                  </a:tcPr>
                </a:tc>
                <a:tc>
                  <a:txBody>
                    <a:bodyPr/>
                    <a:lstStyle/>
                    <a:p>
                      <a:r>
                        <a:rPr sz="11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38206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233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33088"/>
            <a:ext cx="237744" cy="237744"/>
          </a:xfrm>
          <a:prstGeom prst="rect">
            <a:avLst/>
          </a:prstGeom>
        </p:spPr>
      </p:pic>
      <p:sp>
        <p:nvSpPr>
          <p:cNvPr id="13" name="TextBox 12"/>
          <p:cNvSpPr txBox="1"/>
          <p:nvPr/>
        </p:nvSpPr>
        <p:spPr>
          <a:xfrm>
            <a:off x="1399031" y="39669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1864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Rounded Rectangle 14"/>
          <p:cNvSpPr/>
          <p:nvPr/>
        </p:nvSpPr>
        <p:spPr>
          <a:xfrm>
            <a:off x="530352" y="48478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80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289804"/>
            <a:ext cx="237744" cy="237744"/>
          </a:xfrm>
          <a:prstGeom prst="rect">
            <a:avLst/>
          </a:prstGeom>
        </p:spPr>
      </p:pic>
      <p:sp>
        <p:nvSpPr>
          <p:cNvPr id="18" name="TextBox 17"/>
          <p:cNvSpPr txBox="1"/>
          <p:nvPr/>
        </p:nvSpPr>
        <p:spPr>
          <a:xfrm>
            <a:off x="1399031" y="49941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13604"/>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pattern and the paired test agree: 0.027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textbook paired test and an exact count of every coin pattern give the flips' reading?</a:t>
            </a:r>
          </a:p>
        </p:txBody>
      </p:sp>
      <p:pic>
        <p:nvPicPr>
          <p:cNvPr id="9" name="mermaid diagram" descr="4ec5408e284f5ee0.png"/>
          <p:cNvPicPr>
            <a:picLocks noChangeAspect="1"/>
          </p:cNvPicPr>
          <p:nvPr/>
        </p:nvPicPr>
        <p:blipFill>
          <a:blip r:embed="rId5"/>
          <a:stretch>
            <a:fillRect/>
          </a:stretch>
        </p:blipFill>
        <p:spPr>
          <a:xfrm>
            <a:off x="2839567" y="1664208"/>
            <a:ext cx="6512559"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Either way, the three paired routes give 0.055 to 0.057. The last two bars ignore the pairing, and land close only because a member's Q1 barely predicts their Q2 here. </a:t>
            </a:r>
            <a:r>
              <a:rPr sz="1600" b="1" i="0">
                <a:solidFill>
                  <a:srgbClr val="1A1440"/>
                </a:solidFill>
                <a:latin typeface="Calibri"/>
              </a:rPr>
              <a:t>When to switch.</a:t>
            </a:r>
            <a:r>
              <a:rPr sz="1600" b="0" i="0">
                <a:solidFill>
                  <a:srgbClr val="1A1440"/>
                </a:solidFill>
                <a:latin typeface="Calibri"/>
              </a:rPr>
              <a:t> The textbook paired call for thousands of well-behaved members or a team standard; the flips for few members or lumpy data, or when the reader needs to see how it was made.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outside the wobble, at chance's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Retail-Plus fall real, or the wobble Kalpa sees every quarter?</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584469"/>
                <a:gridCol w="6546521"/>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fits 22 members twice?</a:t>
                      </a:r>
                    </a:p>
                  </a:txBody>
                  <a:tcPr marL="101600" marR="101600" marT="38100" marB="38100" anchor="ctr">
                    <a:solidFill>
                      <a:srgbClr val="FFFFFF"/>
                    </a:solidFill>
                  </a:tcPr>
                </a:tc>
                <a:tc>
                  <a:txBody>
                    <a:bodyPr/>
                    <a:lstStyle/>
                    <a:p>
                      <a:r>
                        <a:rPr sz="1400" b="0" i="0">
                          <a:solidFill>
                            <a:srgbClr val="1A1440"/>
                          </a:solidFill>
                          <a:latin typeface="Calibri"/>
                        </a:rPr>
                        <a:t>Flip each member's pair; 8 of 44 totals are zero</a:t>
                      </a:r>
                    </a:p>
                  </a:txBody>
                  <a:tcPr marL="101600" marR="101600" marT="38100" marB="38100" anchor="ctr">
                    <a:solidFill>
                      <a:srgbClr val="FFFFFF"/>
                    </a:solidFill>
                  </a:tcPr>
                </a:tc>
              </a:tr>
              <a:tr h="369824">
                <a:tc>
                  <a:txBody>
                    <a:bodyPr/>
                    <a:lstStyle/>
                    <a:p>
                      <a:r>
                        <a:rPr sz="1400" b="0" i="0">
                          <a:solidFill>
                            <a:srgbClr val="1A1440"/>
                          </a:solidFill>
                          <a:latin typeface="Calibri"/>
                        </a:rPr>
                        <a:t>2. Is Rs 880 surprising?</a:t>
                      </a:r>
                    </a:p>
                  </a:txBody>
                  <a:tcPr marL="101600" marR="101600" marT="38100" marB="38100" anchor="ctr">
                    <a:solidFill>
                      <a:srgbClr val="F4F2FA"/>
                    </a:solidFill>
                  </a:tcPr>
                </a:tc>
                <a:tc>
                  <a:txBody>
                    <a:bodyPr/>
                    <a:lstStyle/>
                    <a:p>
                      <a:r>
                        <a:rPr sz="1400" b="0" i="0">
                          <a:solidFill>
                            <a:srgbClr val="1A1440"/>
                          </a:solidFill>
                          <a:latin typeface="Calibri"/>
                        </a:rPr>
                        <a:t>35 of 1,000 tosses; exactly 1 of 32 patterns</a:t>
                      </a:r>
                    </a:p>
                  </a:txBody>
                  <a:tcPr marL="101600" marR="101600" marT="38100" marB="38100" anchor="ctr">
                    <a:solidFill>
                      <a:srgbClr val="F4F2FA"/>
                    </a:solidFill>
                  </a:tcPr>
                </a:tc>
              </a:tr>
              <a:tr h="369824">
                <a:tc>
                  <a:txBody>
                    <a:bodyPr/>
                    <a:lstStyle/>
                    <a:p>
                      <a:r>
                        <a:rPr sz="1400" b="0" i="0">
                          <a:solidFill>
                            <a:srgbClr val="1A1440"/>
                          </a:solidFill>
                          <a:latin typeface="Calibri"/>
                        </a:rPr>
                        <a:t>3. What is the usual wobble?</a:t>
                      </a:r>
                    </a:p>
                  </a:txBody>
                  <a:tcPr marL="101600" marR="101600" marT="38100" marB="38100" anchor="ctr">
                    <a:solidFill>
                      <a:srgbClr val="FFFFFF"/>
                    </a:solidFill>
                  </a:tcPr>
                </a:tc>
                <a:tc>
                  <a:txBody>
                    <a:bodyPr/>
                    <a:lstStyle/>
                    <a:p>
                      <a:r>
                        <a:rPr sz="1400" b="0" i="0">
                          <a:solidFill>
                            <a:srgbClr val="1A1440"/>
                          </a:solidFill>
                          <a:latin typeface="Calibri"/>
                        </a:rPr>
                        <a:t>Retail-Core's Rs 110: 0.358 falls, 0.723 either way</a:t>
                      </a:r>
                    </a:p>
                  </a:txBody>
                  <a:tcPr marL="101600" marR="101600" marT="38100" marB="38100" anchor="ctr">
                    <a:solidFill>
                      <a:srgbClr val="FFFFFF"/>
                    </a:solidFill>
                  </a:tcPr>
                </a:tc>
              </a:tr>
              <a:tr h="369824">
                <a:tc>
                  <a:txBody>
                    <a:bodyPr/>
                    <a:lstStyle/>
                    <a:p>
                      <a:r>
                        <a:rPr sz="1400" b="0" i="0">
                          <a:solidFill>
                            <a:srgbClr val="1A1440"/>
                          </a:solidFill>
                          <a:latin typeface="Calibri"/>
                        </a:rPr>
                        <a:t>4. How often by chance?</a:t>
                      </a:r>
                    </a:p>
                  </a:txBody>
                  <a:tcPr marL="101600" marR="101600" marT="38100" marB="38100" anchor="ctr">
                    <a:solidFill>
                      <a:srgbClr val="F4F2FA"/>
                    </a:solidFill>
                  </a:tcPr>
                </a:tc>
                <a:tc>
                  <a:txBody>
                    <a:bodyPr/>
                    <a:lstStyle/>
                    <a:p>
                      <a:r>
                        <a:rPr sz="1400" b="0" i="0">
                          <a:solidFill>
                            <a:srgbClr val="1A1440"/>
                          </a:solidFill>
                          <a:latin typeface="Calibri"/>
                        </a:rPr>
                        <a:t>Rs 1,110: 0.029 counting falls, 0.057 either way</a:t>
                      </a:r>
                    </a:p>
                  </a:txBody>
                  <a:tcPr marL="101600" marR="101600" marT="38100" marB="38100" anchor="ctr">
                    <a:solidFill>
                      <a:srgbClr val="F4F2FA"/>
                    </a:solidFill>
                  </a:tcPr>
                </a:tc>
              </a:tr>
              <a:tr h="369824">
                <a:tc>
                  <a:txBody>
                    <a:bodyPr/>
                    <a:lstStyle/>
                    <a:p>
                      <a:r>
                        <a:rPr sz="1400" b="0" i="0">
                          <a:solidFill>
                            <a:srgbClr val="1A1440"/>
                          </a:solidFill>
                          <a:latin typeface="Calibri"/>
                        </a:rPr>
                        <a:t>5. What does a share never say?</a:t>
                      </a:r>
                    </a:p>
                  </a:txBody>
                  <a:tcPr marL="101600" marR="101600" marT="38100" marB="38100" anchor="ctr">
                    <a:solidFill>
                      <a:srgbClr val="FFFFFF"/>
                    </a:solidFill>
                  </a:tcPr>
                </a:tc>
                <a:tc>
                  <a:txBody>
                    <a:bodyPr/>
                    <a:lstStyle/>
                    <a:p>
                      <a:r>
                        <a:rPr sz="1400" b="0" i="0">
                          <a:solidFill>
                            <a:srgbClr val="1A1440"/>
                          </a:solidFill>
                          <a:latin typeface="Calibri"/>
                        </a:rPr>
                        <a:t>The chance that the finding is wrong</a:t>
                      </a:r>
                    </a:p>
                  </a:txBody>
                  <a:tcPr marL="101600" marR="101600" marT="38100" marB="38100" anchor="ctr">
                    <a:solidFill>
                      <a:srgbClr val="FFFFFF"/>
                    </a:solidFill>
                  </a:tcPr>
                </a:tc>
              </a:tr>
              <a:tr h="369824">
                <a:tc>
                  <a:txBody>
                    <a:bodyPr/>
                    <a:lstStyle/>
                    <a:p>
                      <a:r>
                        <a:rPr sz="1400" b="0" i="0">
                          <a:solidFill>
                            <a:srgbClr val="1A1440"/>
                          </a:solidFill>
                          <a:latin typeface="Calibri"/>
                        </a:rPr>
                        <a:t>6. Do other routes agree?</a:t>
                      </a:r>
                    </a:p>
                  </a:txBody>
                  <a:tcPr marL="101600" marR="101600" marT="38100" marB="38100" anchor="ctr">
                    <a:solidFill>
                      <a:srgbClr val="F4F2FA"/>
                    </a:solidFill>
                  </a:tcPr>
                </a:tc>
                <a:tc>
                  <a:txBody>
                    <a:bodyPr/>
                    <a:lstStyle/>
                    <a:p>
                      <a:r>
                        <a:rPr sz="1400" b="0" i="0">
                          <a:solidFill>
                            <a:srgbClr val="1A1440"/>
                          </a:solidFill>
                          <a:latin typeface="Calibri"/>
                        </a:rPr>
                        <a:t>Yes: every pattern 0.027, the paired test 0.0275</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Worth acting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fall edges past chance: is it big enough, in rupees against what a fix costs, to act 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the retention budget request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fall is worth acting on,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wants a retention budget, and Meera weighs it against every other line in the quarter. A wrong call funds an offer that cannot pay back, or ignores a fall that keeps draining the tier.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Monday use?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Break-even, range, test, benchmark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in rupees?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Per member and for the tier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Against the company?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the quarter's money sits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Smallest share first?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an offer win back?</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Rs 500 offer, priced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How small could it be?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range of the members' falls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for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want, and what is missing before anyone talks money?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bfa9a946d5518e51.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Bing: one headline change was worth $100M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told one change from the rest by its size in money?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tells you the gap beats chance; the rupees beside the cost tell you whether to act.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Break-even for Monday, with the range as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"worth acting on?" can Monday use?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a real gap that is large in rupees earns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 finding land once it is sized, and which box earns a budget line?</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is the fall in rupees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Rs 1,110 per member: what is that for the whole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fall = round(real * len(plus_q1))             # Rs 1,110 x 22 members</a:t>
            </a:r>
          </a:p>
          <a:p>
            <a:pPr>
              <a:spcAft>
                <a:spcPts val="200"/>
              </a:spcAft>
            </a:pPr>
            <a:r>
              <a:rPr sz="1400" b="0" i="0">
                <a:solidFill>
                  <a:srgbClr val="E4E1F1"/>
                </a:solidFill>
                <a:latin typeface="Consolas"/>
              </a:rPr>
              <a:t>company_q2 = sum(delivered(s, "Q2") for s in SEGMENTS)</a:t>
            </a:r>
          </a:p>
          <a:p>
            <a:pPr>
              <a:spcAft>
                <a:spcPts val="200"/>
              </a:spcAft>
            </a:pPr>
            <a:r>
              <a:rPr sz="1400" b="0" i="0">
                <a:solidFill>
                  <a:srgbClr val="E4E1F1"/>
                </a:solidFill>
                <a:latin typeface="Consolas"/>
              </a:rPr>
              <a:t>print(fall, f"{fall / company_q2:.2%}")       # rupees, and share of Q2</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total, per quarter, the fall is roughly: a) Rs 2,400; b) Rs 24,000; c) Rs 2.4 lakh; d) Rs 24 lakh.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24,420 a quarter, a third of the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is the fall in rupees, per member and for the tier?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tier delivered Rs 72,130 in Q1 and Rs 47,710 in Q2, so for the segment the fall is a third of its money.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7" name="Oval 3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9" name="Oval 3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Against the company, the fall is 0.19 percent of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the fall against the company's quarter?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24,420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Retail-Plus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1,28,64,680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COMPANY'S 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delivered revenue, every segment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0.19%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QUARTER</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against the company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Business, Kalpa's sales to companies, delivered Rs 1,27,64,460 of that quarter, about 268 times Retail-Plus, so every consumer segment's move is small against the company.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 the review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smallest share open the growth review?</a:t>
            </a:r>
          </a:p>
        </p:txBody>
      </p:sp>
      <p:pic>
        <p:nvPicPr>
          <p:cNvPr id="9" name="mermaid diagram" descr="27be9666fc49d9d3.png"/>
          <p:cNvPicPr>
            <a:picLocks noChangeAspect="1"/>
          </p:cNvPicPr>
          <p:nvPr/>
        </p:nvPicPr>
        <p:blipFill>
          <a:blip r:embed="rId6"/>
          <a:stretch>
            <a:fillRect/>
          </a:stretch>
        </p:blipFill>
        <p:spPr>
          <a:xfrm>
            <a:off x="2152497" y="1956816"/>
            <a:ext cx="7886700" cy="2614612"/>
          </a:xfrm>
          <a:prstGeom prst="rect">
            <a:avLst/>
          </a:prstGeom>
        </p:spPr>
      </p:pic>
      <p:sp>
        <p:nvSpPr>
          <p:cNvPr id="10" name="Rounded Rectangle 9"/>
          <p:cNvSpPr/>
          <p:nvPr/>
        </p:nvSpPr>
        <p:spPr>
          <a:xfrm>
            <a:off x="530352" y="47177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49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59692"/>
            <a:ext cx="237744" cy="237744"/>
          </a:xfrm>
          <a:prstGeom prst="rect">
            <a:avLst/>
          </a:prstGeom>
        </p:spPr>
      </p:pic>
      <p:sp>
        <p:nvSpPr>
          <p:cNvPr id="13" name="TextBox 12"/>
          <p:cNvSpPr txBox="1"/>
          <p:nvPr/>
        </p:nvSpPr>
        <p:spPr>
          <a:xfrm>
            <a:off x="1399031" y="48640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83492"/>
            <a:ext cx="9987991" cy="682752"/>
          </a:xfrm>
          <a:prstGeom prst="rect">
            <a:avLst/>
          </a:prstGeom>
          <a:noFill/>
        </p:spPr>
        <p:txBody>
          <a:bodyPr wrap="square" anchor="t" lIns="0" rIns="0" tIns="0" bIns="0">
            <a:spAutoFit/>
          </a:bodyPr>
          <a:lstStyle/>
          <a:p>
            <a:r>
              <a:rPr sz="1500" b="0" i="0">
                <a:solidFill>
                  <a:srgbClr val="1A1440"/>
                </a:solidFill>
                <a:latin typeface="Calibri"/>
              </a:rPr>
              <a:t>"Retail-Plus is the surest move of the quarter, so it opens the growth review: fund its retention programme first." 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at 20,000 orders, Rs 20 beats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small share sit on a tiny gap, and which order does money give?</a:t>
            </a:r>
          </a:p>
        </p:txBody>
      </p:sp>
      <p:pic>
        <p:nvPicPr>
          <p:cNvPr id="9" name="mermaid diagram" descr="8f38c6326b1cd5c8.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Rs 500 per member a quarter: how much of the fall must it win back?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Rs 500 retention offer win back to pay for itself?</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4,895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A QUARTER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won back less the offer's cost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45 PERCENT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break-even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7,315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THREE QUARTERS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quarter's net gain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11,000 a quarter against a Rs 24,420 fall means winning back almost half, and the decision rests on a recovery rate nobody has measured.</a:t>
            </a:r>
          </a:p>
        </p:txBody>
      </p:sp>
      <p:sp>
        <p:nvSpPr>
          <p:cNvPr id="22" name="Rounded Rectangle 21"/>
          <p:cNvSpPr/>
          <p:nvPr/>
        </p:nvSpPr>
        <p:spPr>
          <a:xfrm>
            <a:off x="530352" y="4320031"/>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227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4"/>
          <a:stretch>
            <a:fillRect/>
          </a:stretch>
        </p:blipFill>
        <p:spPr>
          <a:xfrm>
            <a:off x="868680" y="4632452"/>
            <a:ext cx="237744" cy="237744"/>
          </a:xfrm>
          <a:prstGeom prst="rect">
            <a:avLst/>
          </a:prstGeom>
        </p:spPr>
      </p:pic>
      <p:sp>
        <p:nvSpPr>
          <p:cNvPr id="25" name="TextBox 24"/>
          <p:cNvSpPr txBox="1"/>
          <p:nvPr/>
        </p:nvSpPr>
        <p:spPr>
          <a:xfrm>
            <a:off x="1399031" y="4466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4685792"/>
            <a:ext cx="9987991" cy="42367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fall could be as small as Rs 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small could the fall really be?</a:t>
            </a:r>
          </a:p>
        </p:txBody>
      </p:sp>
      <p:pic>
        <p:nvPicPr>
          <p:cNvPr id="9" name="mermaid diagram" descr="3bd29f3ccb8e59b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Redrawing the 22 members' own falls 5,000 times gives an approximate 95 percent range that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Worth watching, and not worth acting on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fall big enough, in rupees against what a fix costs, to act on?</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985531"/>
                <a:gridCol w="6145459"/>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Monday use?</a:t>
                      </a:r>
                    </a:p>
                  </a:txBody>
                  <a:tcPr marL="101600" marR="101600" marT="38100" marB="38100" anchor="ctr">
                    <a:solidFill>
                      <a:srgbClr val="FFFFFF"/>
                    </a:solidFill>
                  </a:tcPr>
                </a:tc>
                <a:tc>
                  <a:txBody>
                    <a:bodyPr/>
                    <a:lstStyle/>
                    <a:p>
                      <a:r>
                        <a:rPr sz="1400" b="0" i="0">
                          <a:solidFill>
                            <a:srgbClr val="1A1440"/>
                          </a:solidFill>
                          <a:latin typeface="Calibri"/>
                        </a:rPr>
                        <a:t>Break-even, with the range as its check</a:t>
                      </a:r>
                    </a:p>
                  </a:txBody>
                  <a:tcPr marL="101600" marR="101600" marT="38100" marB="38100" anchor="ctr">
                    <a:solidFill>
                      <a:srgbClr val="FFFFFF"/>
                    </a:solidFill>
                  </a:tcPr>
                </a:tc>
              </a:tr>
              <a:tr h="369824">
                <a:tc>
                  <a:txBody>
                    <a:bodyPr/>
                    <a:lstStyle/>
                    <a:p>
                      <a:r>
                        <a:rPr sz="1400" b="0" i="0">
                          <a:solidFill>
                            <a:srgbClr val="1A1440"/>
                          </a:solidFill>
                          <a:latin typeface="Calibri"/>
                        </a:rPr>
                        <a:t>2. How much in rupees?</a:t>
                      </a:r>
                    </a:p>
                  </a:txBody>
                  <a:tcPr marL="101600" marR="101600" marT="38100" marB="38100" anchor="ctr">
                    <a:solidFill>
                      <a:srgbClr val="F4F2FA"/>
                    </a:solidFill>
                  </a:tcPr>
                </a:tc>
                <a:tc>
                  <a:txBody>
                    <a:bodyPr/>
                    <a:lstStyle/>
                    <a:p>
                      <a:r>
                        <a:rPr sz="1400" b="0" i="0">
                          <a:solidFill>
                            <a:srgbClr val="1A1440"/>
                          </a:solidFill>
                          <a:latin typeface="Calibri"/>
                        </a:rPr>
                        <a:t>Rs 1,110 a member, Rs 24,420 a quarter</a:t>
                      </a:r>
                    </a:p>
                  </a:txBody>
                  <a:tcPr marL="101600" marR="101600" marT="38100" marB="38100" anchor="ctr">
                    <a:solidFill>
                      <a:srgbClr val="F4F2FA"/>
                    </a:solidFill>
                  </a:tcPr>
                </a:tc>
              </a:tr>
              <a:tr h="369824">
                <a:tc>
                  <a:txBody>
                    <a:bodyPr/>
                    <a:lstStyle/>
                    <a:p>
                      <a:r>
                        <a:rPr sz="1400" b="0" i="0">
                          <a:solidFill>
                            <a:srgbClr val="1A1440"/>
                          </a:solidFill>
                          <a:latin typeface="Calibri"/>
                        </a:rPr>
                        <a:t>3. Against the company?</a:t>
                      </a:r>
                    </a:p>
                  </a:txBody>
                  <a:tcPr marL="101600" marR="101600" marT="38100" marB="38100" anchor="ctr">
                    <a:solidFill>
                      <a:srgbClr val="FFFFFF"/>
                    </a:solidFill>
                  </a:tcPr>
                </a:tc>
                <a:tc>
                  <a:txBody>
                    <a:bodyPr/>
                    <a:lstStyle/>
                    <a:p>
                      <a:r>
                        <a:rPr sz="1400" b="0" i="0">
                          <a:solidFill>
                            <a:srgbClr val="1A1440"/>
                          </a:solidFill>
                          <a:latin typeface="Calibri"/>
                        </a:rPr>
                        <a:t>0.19 percent of Q2's Rs 1,28,64,680</a:t>
                      </a:r>
                    </a:p>
                  </a:txBody>
                  <a:tcPr marL="101600" marR="101600" marT="38100" marB="38100" anchor="ctr">
                    <a:solidFill>
                      <a:srgbClr val="FFFFFF"/>
                    </a:solidFill>
                  </a:tcPr>
                </a:tc>
              </a:tr>
              <a:tr h="369824">
                <a:tc>
                  <a:txBody>
                    <a:bodyPr/>
                    <a:lstStyle/>
                    <a:p>
                      <a:r>
                        <a:rPr sz="1400" b="0" i="0">
                          <a:solidFill>
                            <a:srgbClr val="1A1440"/>
                          </a:solidFill>
                          <a:latin typeface="Calibri"/>
                        </a:rPr>
                        <a:t>4. Smallest share first?</a:t>
                      </a:r>
                    </a:p>
                  </a:txBody>
                  <a:tcPr marL="101600" marR="101600" marT="38100" marB="38100" anchor="ctr">
                    <a:solidFill>
                      <a:srgbClr val="F4F2FA"/>
                    </a:solidFill>
                  </a:tcPr>
                </a:tc>
                <a:tc>
                  <a:txBody>
                    <a:bodyPr/>
                    <a:lstStyle/>
                    <a:p>
                      <a:r>
                        <a:rPr sz="1400" b="0" i="0">
                          <a:solidFill>
                            <a:srgbClr val="1A1440"/>
                          </a:solidFill>
                          <a:latin typeface="Calibri"/>
                        </a:rPr>
                        <a:t>No: by rupees, Business opens the review</a:t>
                      </a:r>
                    </a:p>
                  </a:txBody>
                  <a:tcPr marL="101600" marR="101600" marT="38100" marB="38100" anchor="ctr">
                    <a:solidFill>
                      <a:srgbClr val="F4F2FA"/>
                    </a:solidFill>
                  </a:tcPr>
                </a:tc>
              </a:tr>
              <a:tr h="369824">
                <a:tc>
                  <a:txBody>
                    <a:bodyPr/>
                    <a:lstStyle/>
                    <a:p>
                      <a:r>
                        <a:rPr sz="1400" b="0" i="0">
                          <a:solidFill>
                            <a:srgbClr val="1A1440"/>
                          </a:solidFill>
                          <a:latin typeface="Calibri"/>
                        </a:rPr>
                        <a:t>5. What must the offer win back?</a:t>
                      </a:r>
                    </a:p>
                  </a:txBody>
                  <a:tcPr marL="101600" marR="101600" marT="38100" marB="38100" anchor="ctr">
                    <a:solidFill>
                      <a:srgbClr val="FFFFFF"/>
                    </a:solidFill>
                  </a:tcPr>
                </a:tc>
                <a:tc>
                  <a:txBody>
                    <a:bodyPr/>
                    <a:lstStyle/>
                    <a:p>
                      <a:r>
                        <a:rPr sz="1400" b="0" i="0">
                          <a:solidFill>
                            <a:srgbClr val="1A1440"/>
                          </a:solidFill>
                          <a:latin typeface="Calibri"/>
                        </a:rPr>
                        <a:t>45 percent: Rs 11,000 against Rs 24,420</a:t>
                      </a:r>
                    </a:p>
                  </a:txBody>
                  <a:tcPr marL="101600" marR="101600" marT="38100" marB="38100" anchor="ctr">
                    <a:solidFill>
                      <a:srgbClr val="FFFFFF"/>
                    </a:solidFill>
                  </a:tcPr>
                </a:tc>
              </a:tr>
              <a:tr h="369824">
                <a:tc>
                  <a:txBody>
                    <a:bodyPr/>
                    <a:lstStyle/>
                    <a:p>
                      <a:r>
                        <a:rPr sz="1400" b="0" i="0">
                          <a:solidFill>
                            <a:srgbClr val="1A1440"/>
                          </a:solidFill>
                          <a:latin typeface="Calibri"/>
                        </a:rPr>
                        <a:t>6. How small could it be?</a:t>
                      </a:r>
                    </a:p>
                  </a:txBody>
                  <a:tcPr marL="101600" marR="101600" marT="38100" marB="38100" anchor="ctr">
                    <a:solidFill>
                      <a:srgbClr val="F4F2FA"/>
                    </a:solidFill>
                  </a:tcPr>
                </a:tc>
                <a:tc>
                  <a:txBody>
                    <a:bodyPr/>
                    <a:lstStyle/>
                    <a:p>
                      <a:r>
                        <a:rPr sz="1400" b="0" i="0">
                          <a:solidFill>
                            <a:srgbClr val="1A1440"/>
                          </a:solidFill>
                          <a:latin typeface="Calibri"/>
                        </a:rPr>
                        <a:t>About Rs 80 a member, far below Rs 500</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Borderline against chance by two routes, worth Rs 24,420 a quarter, 0.19 percent of the company and a third of the tier. The range's low end sits far below the offer's cost, so this is a watch item; if the head of Retail-Plus wants to act, offer it to a coin-chosen half and hold back the rest.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behind 40%?</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Student is up 40 percent, the fastest rise on the page: how many customers stand behind it, and should budget move there?</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any budget moves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what stands behind Student's 40 percent,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acquisition budget follows the fastest-growing segment. A rise that chance made sends a quarter's spend to a segment that may be flat next quarter.</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fits Monday?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Trust, test, rule, wait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rose fastest?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Every segment's orders, Q2 against Q1</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Budget to the fastest riser?</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coin flip per order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42 on 12, or 31 on 1,200?</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interview's version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deal, and real handfuls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rose 40 percent, and budget may follow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Meera deciding about Student, and on which number?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6" name="Oval 3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0" name="Oval 3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Gates backed small schools, found at both ends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funder paid for trusting a small group's rate?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Coin flips on the count, said with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"should budget follow the 40 percent?" fits Monday?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alone rose: 140 orders for every 100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segment's orders rose fastest from Q1 to Q2?</a:t>
            </a:r>
          </a:p>
        </p:txBody>
      </p:sp>
      <p:pic>
        <p:nvPicPr>
          <p:cNvPr id="9" name="mermaid diagram" descr="a2bc131ec004973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Student is the only segment above 100: its orders rose 40 percent, while Retail-Core read 97, Business 94 and Retail-Plus 65. Meera's 40 percent counts orders placed, whatever their status.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fund the fastest riser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acquisition budget move to the fastest riser?</a:t>
            </a:r>
          </a:p>
        </p:txBody>
      </p:sp>
      <p:pic>
        <p:nvPicPr>
          <p:cNvPr id="9" name="mermaid diagram" descr="6fedc191b053011a.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"Student is up 40 percent, the fastest on the page: move acquisition budget to Student." 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S43a  ·  48 / 87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which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87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comes before any other on a rate?</a:t>
            </a:r>
          </a:p>
        </p:txBody>
      </p:sp>
      <p:pic>
        <p:nvPicPr>
          <p:cNvPr id="9" name="mermaid diagram" descr="e2b65e0f0a5abc24.png"/>
          <p:cNvPicPr>
            <a:picLocks noChangeAspect="1"/>
          </p:cNvPicPr>
          <p:nvPr/>
        </p:nvPicPr>
        <p:blipFill>
          <a:blip r:embed="rId5"/>
          <a:stretch>
            <a:fillRect/>
          </a:stretch>
        </p:blipFill>
        <p:spPr>
          <a:xfrm>
            <a:off x="566585" y="1956816"/>
            <a:ext cx="11058525"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87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 ten buyers, 38 in 100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can chance alone swing a rate on a small count?</a:t>
            </a:r>
          </a:p>
        </p:txBody>
      </p:sp>
      <p:pic>
        <p:nvPicPr>
          <p:cNvPr id="9" name="mermaid diagram" descr="73978195ee04412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87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orders and the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customers stand behind Meera's 40 percent?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orders in Q1 and Q2, and the distinct customers who placed them.</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of those customers are new in Q2, and how long thirty would take at that pace.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87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make that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Student's own count, how often would coin flips alone show a 40 percent rise?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q2 = sum(random.random() &lt; 0.5 for _ in range(n_orders))</a:t>
            </a:r>
          </a:p>
          <a:p>
            <a:pPr>
              <a:spcAft>
                <a:spcPts val="200"/>
              </a:spcAft>
            </a:pPr>
            <a:r>
              <a:rPr sz="1400" b="0" i="0">
                <a:solidFill>
                  <a:srgbClr val="E4E1F1"/>
                </a:solidFill>
                <a:latin typeface="Consolas"/>
              </a:rPr>
              <a:t>    q1 = n_orders - q2                      # each order lands by a coin</a:t>
            </a:r>
          </a:p>
          <a:p>
            <a:pPr>
              <a:spcAft>
                <a:spcPts val="200"/>
              </a:spcAft>
            </a:pPr>
            <a:r>
              <a:rPr sz="1400" b="0" i="0">
                <a:solidFill>
                  <a:srgbClr val="E4E1F1"/>
                </a:solidFill>
                <a:latin typeface="Consolas"/>
              </a:rPr>
              <a:t>    rises.append(q2 / q1 - 1)               # one world's rise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coin-flip worlds show a rise of 40 percent or more? a) under 1 percent; b) about 5 percent; c) about 40 percent; d) all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87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0.397 of worlds, about four in 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40 percent rise on Student's count?</a:t>
            </a:r>
          </a:p>
        </p:txBody>
      </p:sp>
      <p:pic>
        <p:nvPicPr>
          <p:cNvPr id="9" name="mermaid diagram" descr="a945d6cb70eab69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Chance makes Meera's headline in 1,985 of 5,000 worlds, 0.397. On Retail-Core's 73 orders the same rise turns up in 0.086, and on an invented 400 in under 0.002.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rate does an interviewer expect you to trust, and why?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42%</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12 USERS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higher rate, on a handful</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1,200 USERS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lower rate, on a hundred times more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22" name="Rounded Rectangle 21"/>
          <p:cNvSpPr/>
          <p:nvPr/>
        </p:nvSpPr>
        <p:spPr>
          <a:xfrm>
            <a:off x="530352" y="44470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5750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5659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7" name="Oval 2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9" name="Oval 2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1" name="Oval 3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3" name="Oval 3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31 on 1,200 is the estimate, 42 a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 you trust, 42 percent on 12 users or 31 percent on 1,200?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 At a true 31 percent, groups of twelve show 42 or more about a third of the time.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deal gives 0.387; real handfuls give 0.344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an exact count of every way the orders could split between the quarters, and real Retail-Core orders, give the flips' reading?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yet: too few customers behind the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customers stand behind the 40 percent, and should budget move there?</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fits Monday?</a:t>
                      </a:r>
                    </a:p>
                  </a:txBody>
                  <a:tcPr marL="101600" marR="101600" marT="38100" marB="38100" anchor="ctr">
                    <a:solidFill>
                      <a:srgbClr val="FFFFFF"/>
                    </a:solidFill>
                  </a:tcPr>
                </a:tc>
                <a:tc>
                  <a:txBody>
                    <a:bodyPr/>
                    <a:lstStyle/>
                    <a:p>
                      <a:r>
                        <a:rPr sz="1400" b="0" i="0">
                          <a:solidFill>
                            <a:srgbClr val="1A1440"/>
                          </a:solidFill>
                          <a:latin typeface="Calibri"/>
                        </a:rPr>
                        <a:t>Coin flips on the count, said with the rule</a:t>
                      </a:r>
                    </a:p>
                  </a:txBody>
                  <a:tcPr marL="101600" marR="101600" marT="38100" marB="38100" anchor="ctr">
                    <a:solidFill>
                      <a:srgbClr val="FFFFFF"/>
                    </a:solidFill>
                  </a:tcPr>
                </a:tc>
              </a:tr>
              <a:tr h="369824">
                <a:tc>
                  <a:txBody>
                    <a:bodyPr/>
                    <a:lstStyle/>
                    <a:p>
                      <a:r>
                        <a:rPr sz="1400" b="0" i="0">
                          <a:solidFill>
                            <a:srgbClr val="1A1440"/>
                          </a:solidFill>
                          <a:latin typeface="Calibri"/>
                        </a:rPr>
                        <a:t>2. Which segment rose fastest?</a:t>
                      </a:r>
                    </a:p>
                  </a:txBody>
                  <a:tcPr marL="101600" marR="101600" marT="38100" marB="38100" anchor="ctr">
                    <a:solidFill>
                      <a:srgbClr val="F4F2FA"/>
                    </a:solidFill>
                  </a:tcPr>
                </a:tc>
                <a:tc>
                  <a:txBody>
                    <a:bodyPr/>
                    <a:lstStyle/>
                    <a:p>
                      <a:r>
                        <a:rPr sz="1400" b="0" i="0">
                          <a:solidFill>
                            <a:srgbClr val="1A1440"/>
                          </a:solidFill>
                          <a:latin typeface="Calibri"/>
                        </a:rPr>
                        <a:t>Student: 140 orders for every 100 in Q1</a:t>
                      </a:r>
                    </a:p>
                  </a:txBody>
                  <a:tcPr marL="101600" marR="101600" marT="38100" marB="38100" anchor="ctr">
                    <a:solidFill>
                      <a:srgbClr val="F4F2FA"/>
                    </a:solidFill>
                  </a:tcPr>
                </a:tc>
              </a:tr>
              <a:tr h="369824">
                <a:tc>
                  <a:txBody>
                    <a:bodyPr/>
                    <a:lstStyle/>
                    <a:p>
                      <a:r>
                        <a:rPr sz="1400" b="0" i="0">
                          <a:solidFill>
                            <a:srgbClr val="1A1440"/>
                          </a:solidFill>
                          <a:latin typeface="Calibri"/>
                        </a:rPr>
                        <a:t>3. Budget to the fastest riser?</a:t>
                      </a:r>
                    </a:p>
                  </a:txBody>
                  <a:tcPr marL="101600" marR="101600" marT="38100" marB="38100" anchor="ctr">
                    <a:solidFill>
                      <a:srgbClr val="FFFFFF"/>
                    </a:solidFill>
                  </a:tcPr>
                </a:tc>
                <a:tc>
                  <a:txBody>
                    <a:bodyPr/>
                    <a:lstStyle/>
                    <a:p>
                      <a:r>
                        <a:rPr sz="1400" b="0" i="0">
                          <a:solidFill>
                            <a:srgbClr val="1A1440"/>
                          </a:solidFill>
                          <a:latin typeface="Calibri"/>
                        </a:rPr>
                        <a:t>Not on the rate: under thirty customers stand behind it</a:t>
                      </a:r>
                    </a:p>
                  </a:txBody>
                  <a:tcPr marL="101600" marR="101600" marT="38100" marB="38100" anchor="ctr">
                    <a:solidFill>
                      <a:srgbClr val="FFFFFF"/>
                    </a:solidFill>
                  </a:tcPr>
                </a:tc>
              </a:tr>
              <a:tr h="369824">
                <a:tc>
                  <a:txBody>
                    <a:bodyPr/>
                    <a:lstStyle/>
                    <a:p>
                      <a:r>
                        <a:rPr sz="1400" b="0" i="0">
                          <a:solidFill>
                            <a:srgbClr val="1A1440"/>
                          </a:solidFill>
                          <a:latin typeface="Calibri"/>
                        </a:rPr>
                        <a:t>4. How often by chance?</a:t>
                      </a:r>
                    </a:p>
                  </a:txBody>
                  <a:tcPr marL="101600" marR="101600" marT="38100" marB="38100" anchor="ctr">
                    <a:solidFill>
                      <a:srgbClr val="F4F2FA"/>
                    </a:solidFill>
                  </a:tcPr>
                </a:tc>
                <a:tc>
                  <a:txBody>
                    <a:bodyPr/>
                    <a:lstStyle/>
                    <a:p>
                      <a:r>
                        <a:rPr sz="1400" b="0" i="0">
                          <a:solidFill>
                            <a:srgbClr val="1A1440"/>
                          </a:solidFill>
                          <a:latin typeface="Calibri"/>
                        </a:rPr>
                        <a:t>0.397 of worlds; 0.086 on Retail-Core's 73 orders</a:t>
                      </a:r>
                    </a:p>
                  </a:txBody>
                  <a:tcPr marL="101600" marR="101600" marT="38100" marB="38100" anchor="ctr">
                    <a:solidFill>
                      <a:srgbClr val="F4F2FA"/>
                    </a:solidFill>
                  </a:tcPr>
                </a:tc>
              </a:tr>
              <a:tr h="369824">
                <a:tc>
                  <a:txBody>
                    <a:bodyPr/>
                    <a:lstStyle/>
                    <a:p>
                      <a:r>
                        <a:rPr sz="1400" b="0" i="0">
                          <a:solidFill>
                            <a:srgbClr val="1A1440"/>
                          </a:solidFill>
                          <a:latin typeface="Calibri"/>
                        </a:rPr>
                        <a:t>5. 42 on 12, or 31 on 1,200?</a:t>
                      </a:r>
                    </a:p>
                  </a:txBody>
                  <a:tcPr marL="101600" marR="101600" marT="38100" marB="38100" anchor="ctr">
                    <a:solidFill>
                      <a:srgbClr val="FFFFFF"/>
                    </a:solidFill>
                  </a:tcPr>
                </a:tc>
                <a:tc>
                  <a:txBody>
                    <a:bodyPr/>
                    <a:lstStyle/>
                    <a:p>
                      <a:r>
                        <a:rPr sz="1400" b="0" i="0">
                          <a:solidFill>
                            <a:srgbClr val="1A1440"/>
                          </a:solidFill>
                          <a:latin typeface="Calibri"/>
                        </a:rPr>
                        <a:t>31 as the estimate; 42 as a lead to measure</a:t>
                      </a:r>
                    </a:p>
                  </a:txBody>
                  <a:tcPr marL="101600" marR="101600" marT="38100" marB="38100" anchor="ctr">
                    <a:solidFill>
                      <a:srgbClr val="FFFFFF"/>
                    </a:solidFill>
                  </a:tcPr>
                </a:tc>
              </a:tr>
              <a:tr h="369824">
                <a:tc>
                  <a:txBody>
                    <a:bodyPr/>
                    <a:lstStyle/>
                    <a:p>
                      <a:r>
                        <a:rPr sz="1400" b="0" i="0">
                          <a:solidFill>
                            <a:srgbClr val="1A1440"/>
                          </a:solidFill>
                          <a:latin typeface="Calibri"/>
                        </a:rPr>
                        <a:t>6. Do other routes agree?</a:t>
                      </a:r>
                    </a:p>
                  </a:txBody>
                  <a:tcPr marL="101600" marR="101600" marT="38100" marB="38100" anchor="ctr">
                    <a:solidFill>
                      <a:srgbClr val="F4F2FA"/>
                    </a:solidFill>
                  </a:tcPr>
                </a:tc>
                <a:tc>
                  <a:txBody>
                    <a:bodyPr/>
                    <a:lstStyle/>
                    <a:p>
                      <a:r>
                        <a:rPr sz="1400" b="0" i="0">
                          <a:solidFill>
                            <a:srgbClr val="1A1440"/>
                          </a:solidFill>
                          <a:latin typeface="Calibri"/>
                        </a:rPr>
                        <a:t>Yes, the same reading: every deal 0.387, real handfuls 0.344</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Student's rise is real arithmetic on too few orders, from too few customers, to act on. Count both, say how often chance makes the rise, and give Meera the number of customers that would reopen it. Waiting for thirty customers costs Kalpa nothing but time.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discount work?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monsoon sale lifted revenue 6 percent: did the discount work, or did those customers buy anyway?</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59 / 87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Diwali's sale is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discount worked,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budget, and the marketing lead, who owns the campaign, wants it repeated at 15 percent off. A wrong yes gives 15 percent of the price to customers who would have bought anyway, at Diwali's scale.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support?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blend, split, one mix</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6 percent rebuild?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number,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Repeat it for Diwali?</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Inside each segment?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split, by the room</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line to Meera</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On one mix, still apart?</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that check can catch</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87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claims 6 percent, and wants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claim for the monsoon sale, and what does it want?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4" name="Oval 33"/>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87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and Berkeley: averages that hid a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Have real organisations seen a total say the opposite of its parts?</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3" name="Oval 2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5" name="Oval 2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7" name="Oval 2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9" name="Oval 2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87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inside each segment, then say it as one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"did the discount work?" can the files support?</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87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does it rebuild from the same tables?</a:t>
            </a:r>
          </a:p>
        </p:txBody>
      </p:sp>
      <p:pic>
        <p:nvPicPr>
          <p:cNvPr id="9" name="mermaid diagram" descr="16158637cb791756.png"/>
          <p:cNvPicPr>
            <a:picLocks noChangeAspect="1"/>
          </p:cNvPicPr>
          <p:nvPr/>
        </p:nvPicPr>
        <p:blipFill>
          <a:blip r:embed="rId5"/>
          <a:stretch>
            <a:fillRect/>
          </a:stretch>
        </p:blipFill>
        <p:spPr>
          <a:xfrm>
            <a:off x="2152497" y="1956816"/>
            <a:ext cx="78867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48798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078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9871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8" name="Oval 1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0" name="Oval 1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2" name="Oval 2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87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Marketing's 6 percent rebuild from the same tables?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Marketing's arithmetic is right, so any disagreement has to be about which customers the two averages compare.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87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repeat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reproduced lift send the sale to Diwali?</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The number is right; nobody asked who is in each group.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87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rise while every group inside it falls?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 here both stores' promoted customers spent 10 percent less, and the blend more than doubles.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87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same comparison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show inside each segment?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s in ["Retail-Plus", "Retail-Core"]:</a:t>
            </a:r>
          </a:p>
          <a:p>
            <a:pPr>
              <a:spcAft>
                <a:spcPts val="200"/>
              </a:spcAft>
            </a:pPr>
            <a:r>
              <a:rPr sz="1400" b="0" i="0">
                <a:solidFill>
                  <a:srgbClr val="E4E1F1"/>
                </a:solidFill>
                <a:latin typeface="Consolas"/>
              </a:rPr>
              <a:t>    got, did_not = spend(group("yes", s)), spend(group("no", s))</a:t>
            </a:r>
          </a:p>
          <a:p>
            <a:pPr>
              <a:spcAft>
                <a:spcPts val="200"/>
              </a:spcAft>
            </a:pPr>
            <a:r>
              <a:rPr sz="1400" b="0" i="0">
                <a:solidFill>
                  <a:srgbClr val="E4E1F1"/>
                </a:solidFill>
                <a:latin typeface="Consolas"/>
              </a:rPr>
              <a:t>    print(s, f"{got / did_not - 1:+.1%}")      # inside one segment</a:t>
            </a:r>
          </a:p>
          <a:p>
            <a:pPr>
              <a:spcAft>
                <a:spcPts val="200"/>
              </a:spcAft>
            </a:pPr>
            <a:r>
              <a:rPr sz="1400" b="0" i="0">
                <a:solidFill>
                  <a:srgbClr val="E4E1F1"/>
                </a:solidFill>
                <a:latin typeface="Consolas"/>
              </a:rPr>
              <a:t>share_plus = len(group("yes", "Retail-Plus")) / len(group("yes"))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it, read the change inside each segment and the share of each group who are Retail-Plus members, and write what you would tell Meera.</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Inside both segments, the exposed spent 3%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split show, and why did the blend rise?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4,850 against Rs 5,000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1,940 against Rs 2,000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 vs 40%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group who got it, and of the rest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blend rose because the group who got the sale held more Retail-Plus members, who spend more than twice as much whatever the sale does: one way in every segment, the other in the blend.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do not repeat it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tell Meera about the discount?</a:t>
            </a:r>
          </a:p>
        </p:txBody>
      </p:sp>
      <p:graphicFrame>
        <p:nvGraphicFramePr>
          <p:cNvPr id="9" name="Table 8"/>
          <p:cNvGraphicFramePr>
            <a:graphicFrameLocks noGrp="1"/>
          </p:cNvGraphicFramePr>
          <p:nvPr/>
        </p:nvGraphicFramePr>
        <p:xfrm>
          <a:off x="530352" y="168249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3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14324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45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55668"/>
            <a:ext cx="237744" cy="237744"/>
          </a:xfrm>
          <a:prstGeom prst="rect">
            <a:avLst/>
          </a:prstGeom>
        </p:spPr>
      </p:pic>
      <p:sp>
        <p:nvSpPr>
          <p:cNvPr id="13" name="TextBox 12"/>
          <p:cNvSpPr txBox="1"/>
          <p:nvPr/>
        </p:nvSpPr>
        <p:spPr>
          <a:xfrm>
            <a:off x="1399031" y="4289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50900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Rounded Rectangle 14"/>
          <p:cNvSpPr/>
          <p:nvPr/>
        </p:nvSpPr>
        <p:spPr>
          <a:xfrm>
            <a:off x="530352" y="51704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731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82844"/>
            <a:ext cx="237744" cy="237744"/>
          </a:xfrm>
          <a:prstGeom prst="rect">
            <a:avLst/>
          </a:prstGeom>
        </p:spPr>
      </p:pic>
      <p:sp>
        <p:nvSpPr>
          <p:cNvPr id="18" name="TextBox 17"/>
          <p:cNvSpPr txBox="1"/>
          <p:nvPr/>
        </p:nvSpPr>
        <p:spPr>
          <a:xfrm>
            <a:off x="1399031" y="5316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36184"/>
            <a:ext cx="9987991" cy="423672"/>
          </a:xfrm>
          <a:prstGeom prst="rect">
            <a:avLst/>
          </a:prstGeom>
          <a:noFill/>
        </p:spPr>
        <p:txBody>
          <a:bodyPr wrap="square" anchor="t" lIns="0" rIns="0" tIns="0" bIns="0">
            <a:spAutoFit/>
          </a:bodyPr>
          <a:lstStyle/>
          <a:p>
            <a:r>
              <a:rPr sz="1500" b="0" i="0">
                <a:solidFill>
                  <a:srgbClr val="1A1440"/>
                </a:solidFill>
                <a:latin typeface="Calibri"/>
              </a:rPr>
              <a:t>[F] Revenue rose after a discount; did the campaign work, and what would you need to know?</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mix gives 3.0 percent less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Put on the same segment mix, do the two groups still differ, and what can that check catch?</a:t>
            </a:r>
          </a:p>
        </p:txBody>
      </p:sp>
      <p:pic>
        <p:nvPicPr>
          <p:cNvPr id="9" name="mermaid diagram" descr="7bffcbef64e2ea93.png"/>
          <p:cNvPicPr>
            <a:picLocks noChangeAspect="1"/>
          </p:cNvPicPr>
          <p:nvPr/>
        </p:nvPicPr>
        <p:blipFill>
          <a:blip r:embed="rId5"/>
          <a:stretch>
            <a:fillRect/>
          </a:stretch>
        </p:blipFill>
        <p:spPr>
          <a:xfrm>
            <a:off x="2430409" y="1664208"/>
            <a:ext cx="73308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 reuses the split's four cells, so it agrees by construction and cannot catch an error in them; it checks that the mix explains the whole 6.1 percent. </a:t>
            </a:r>
            <a:r>
              <a:rPr sz="1600" b="1" i="0">
                <a:solidFill>
                  <a:srgbClr val="1A1440"/>
                </a:solidFill>
                <a:latin typeface="Calibri"/>
              </a:rPr>
              <a:t>When to switch.</a:t>
            </a:r>
            <a:r>
              <a:rPr sz="1600" b="0" i="0">
                <a:solidFill>
                  <a:srgbClr val="1A1440"/>
                </a:solidFill>
                <a:latin typeface="Calibri"/>
              </a:rPr>
              <a:t> The split when the reader takes a table; one mix when the answer must be one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as designed: the mix made the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did the discount work, or did those customers buy anyway?</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251807"/>
                <a:gridCol w="6879183"/>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the files support?</a:t>
                      </a:r>
                    </a:p>
                  </a:txBody>
                  <a:tcPr marL="101600" marR="101600" marT="38100" marB="38100" anchor="ctr">
                    <a:solidFill>
                      <a:srgbClr val="FFFFFF"/>
                    </a:solidFill>
                  </a:tcPr>
                </a:tc>
                <a:tc>
                  <a:txBody>
                    <a:bodyPr/>
                    <a:lstStyle/>
                    <a:p>
                      <a:r>
                        <a:rPr sz="1400" b="0" i="0">
                          <a:solidFill>
                            <a:srgbClr val="1A1440"/>
                          </a:solidFill>
                          <a:latin typeface="Calibri"/>
                        </a:rPr>
                        <a:t>The split inside each segment, then both groups put on one mix</a:t>
                      </a:r>
                    </a:p>
                  </a:txBody>
                  <a:tcPr marL="101600" marR="101600" marT="38100" marB="38100" anchor="ctr">
                    <a:solidFill>
                      <a:srgbClr val="FFFFFF"/>
                    </a:solidFill>
                  </a:tcPr>
                </a:tc>
              </a:tr>
              <a:tr h="369824">
                <a:tc>
                  <a:txBody>
                    <a:bodyPr/>
                    <a:lstStyle/>
                    <a:p>
                      <a:r>
                        <a:rPr sz="1400" b="0" i="0">
                          <a:solidFill>
                            <a:srgbClr val="1A1440"/>
                          </a:solidFill>
                          <a:latin typeface="Calibri"/>
                        </a:rPr>
                        <a:t>2. Does the 6 percent rebuild?</a:t>
                      </a:r>
                    </a:p>
                  </a:txBody>
                  <a:tcPr marL="101600" marR="101600" marT="38100" marB="38100" anchor="ctr">
                    <a:solidFill>
                      <a:srgbClr val="F4F2FA"/>
                    </a:solidFill>
                  </a:tcPr>
                </a:tc>
                <a:tc>
                  <a:txBody>
                    <a:bodyPr/>
                    <a:lstStyle/>
                    <a:p>
                      <a:r>
                        <a:rPr sz="1400" b="0" i="0">
                          <a:solidFill>
                            <a:srgbClr val="1A1440"/>
                          </a:solidFill>
                          <a:latin typeface="Calibri"/>
                        </a:rPr>
                        <a:t>Yes: Rs 3,395 against Rs 3,200, +6.1 percent</a:t>
                      </a:r>
                    </a:p>
                  </a:txBody>
                  <a:tcPr marL="101600" marR="101600" marT="38100" marB="38100" anchor="ctr">
                    <a:solidFill>
                      <a:srgbClr val="F4F2FA"/>
                    </a:solidFill>
                  </a:tcPr>
                </a:tc>
              </a:tr>
              <a:tr h="369824">
                <a:tc>
                  <a:txBody>
                    <a:bodyPr/>
                    <a:lstStyle/>
                    <a:p>
                      <a:r>
                        <a:rPr sz="1400" b="0" i="0">
                          <a:solidFill>
                            <a:srgbClr val="1A1440"/>
                          </a:solidFill>
                          <a:latin typeface="Calibri"/>
                        </a:rPr>
                        <a:t>3. Repeat it for Diwali?</a:t>
                      </a:r>
                    </a:p>
                  </a:txBody>
                  <a:tcPr marL="101600" marR="101600" marT="38100" marB="38100" anchor="ctr">
                    <a:solidFill>
                      <a:srgbClr val="FFFFFF"/>
                    </a:solidFill>
                  </a:tcPr>
                </a:tc>
                <a:tc>
                  <a:txBody>
                    <a:bodyPr/>
                    <a:lstStyle/>
                    <a:p>
                      <a:r>
                        <a:rPr sz="1400" b="0" i="0">
                          <a:solidFill>
                            <a:srgbClr val="1A1440"/>
                          </a:solidFill>
                          <a:latin typeface="Calibri"/>
                        </a:rPr>
                        <a:t>Not before asking who is in each group</a:t>
                      </a:r>
                    </a:p>
                  </a:txBody>
                  <a:tcPr marL="101600" marR="101600" marT="38100" marB="38100" anchor="ctr">
                    <a:solidFill>
                      <a:srgbClr val="FFFFFF"/>
                    </a:solidFill>
                  </a:tcPr>
                </a:tc>
              </a:tr>
              <a:tr h="369824">
                <a:tc>
                  <a:txBody>
                    <a:bodyPr/>
                    <a:lstStyle/>
                    <a:p>
                      <a:r>
                        <a:rPr sz="1400" b="0" i="0">
                          <a:solidFill>
                            <a:srgbClr val="1A1440"/>
                          </a:solidFill>
                          <a:latin typeface="Calibri"/>
                        </a:rPr>
                        <a:t>4. Inside each segment?</a:t>
                      </a:r>
                    </a:p>
                  </a:txBody>
                  <a:tcPr marL="101600" marR="101600" marT="38100" marB="38100" anchor="ctr">
                    <a:solidFill>
                      <a:srgbClr val="F4F2FA"/>
                    </a:solidFill>
                  </a:tcPr>
                </a:tc>
                <a:tc>
                  <a:txBody>
                    <a:bodyPr/>
                    <a:lstStyle/>
                    <a:p>
                      <a:r>
                        <a:rPr sz="1400" b="0" i="0">
                          <a:solidFill>
                            <a:srgbClr val="1A1440"/>
                          </a:solidFill>
                          <a:latin typeface="Calibri"/>
                        </a:rPr>
                        <a:t>3.0 percent less in both segments</a:t>
                      </a:r>
                    </a:p>
                  </a:txBody>
                  <a:tcPr marL="101600" marR="101600" marT="38100" marB="38100" anchor="ctr">
                    <a:solidFill>
                      <a:srgbClr val="F4F2FA"/>
                    </a:solidFill>
                  </a:tcPr>
                </a:tc>
              </a:tr>
              <a:tr h="369824">
                <a:tc>
                  <a:txBody>
                    <a:bodyPr/>
                    <a:lstStyle/>
                    <a:p>
                      <a:r>
                        <a:rPr sz="1400" b="0" i="0">
                          <a:solidFill>
                            <a:srgbClr val="1A1440"/>
                          </a:solidFill>
                          <a:latin typeface="Calibri"/>
                        </a:rPr>
                        <a:t>5. What does the note say?</a:t>
                      </a:r>
                    </a:p>
                  </a:txBody>
                  <a:tcPr marL="101600" marR="101600" marT="38100" marB="38100" anchor="ctr">
                    <a:solidFill>
                      <a:srgbClr val="FFFFFF"/>
                    </a:solidFill>
                  </a:tcPr>
                </a:tc>
                <a:tc>
                  <a:txBody>
                    <a:bodyPr/>
                    <a:lstStyle/>
                    <a:p>
                      <a:r>
                        <a:rPr sz="1400" b="0" i="0">
                          <a:solidFill>
                            <a:srgbClr val="1A1440"/>
                          </a:solidFill>
                          <a:latin typeface="Calibri"/>
                        </a:rPr>
                        <a:t>Do not repeat as designed; hold back at Diwali</a:t>
                      </a:r>
                    </a:p>
                  </a:txBody>
                  <a:tcPr marL="101600" marR="101600" marT="38100" marB="38100" anchor="ctr">
                    <a:solidFill>
                      <a:srgbClr val="FFFFFF"/>
                    </a:solidFill>
                  </a:tcPr>
                </a:tc>
              </a:tr>
              <a:tr h="369824">
                <a:tc>
                  <a:txBody>
                    <a:bodyPr/>
                    <a:lstStyle/>
                    <a:p>
                      <a:r>
                        <a:rPr sz="1400" b="0" i="0">
                          <a:solidFill>
                            <a:srgbClr val="1A1440"/>
                          </a:solidFill>
                          <a:latin typeface="Calibri"/>
                        </a:rPr>
                        <a:t>6. On one mix, still apart?</a:t>
                      </a:r>
                    </a:p>
                  </a:txBody>
                  <a:tcPr marL="101600" marR="101600" marT="38100" marB="38100" anchor="ctr">
                    <a:solidFill>
                      <a:srgbClr val="F4F2FA"/>
                    </a:solidFill>
                  </a:tcPr>
                </a:tc>
                <a:tc>
                  <a:txBody>
                    <a:bodyPr/>
                    <a:lstStyle/>
                    <a:p>
                      <a:r>
                        <a:rPr sz="1400" b="0" i="0">
                          <a:solidFill>
                            <a:srgbClr val="1A1440"/>
                          </a:solidFill>
                          <a:latin typeface="Calibri"/>
                        </a:rPr>
                        <a:t>Yes, 3.0 percent less both ways,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are in: what goes on Meera's one page, and when is "not yet" the honest answer?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73 / 87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Meera's two minutes on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one-page note, and which six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reads the page in two minutes before Monday's growth review, where Marketing will defend its campaign against it. A line that loses its base sends money the wrong way, and a line that hedges everything gives her nothing to decide.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form fits two minutes?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Yes-no, dashboard, note, deck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sits beside each number?</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table, four chapters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goes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does a line pass?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four-part note, guided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is not yet an answer?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Student and discount lines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decisions follow?</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day's rules, applied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74 / 87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page, two minutes, and "not yet" allowed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of the page, and what does a line without its base cost?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75 / 87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made each claim sit beside its evidence?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76 / 87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four-part note under 200 words fits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Meera in writing fits two minutes?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77 / 87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number needs its partner before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sit beside each of the day's numbers before it goes in a sentence?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272305"/>
                <a:gridCol w="6858685"/>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Its partner</a:t>
                      </a:r>
                    </a:p>
                  </a:txBody>
                  <a:tcPr marL="101600" marR="101600" marT="38100" marB="38100" anchor="ctr">
                    <a:solidFill>
                      <a:srgbClr val="1A0F5C"/>
                    </a:solidFill>
                  </a:tcPr>
                </a:tc>
              </a:tr>
              <a:tr h="369824">
                <a:tc>
                  <a:txBody>
                    <a:bodyPr/>
                    <a:lstStyle/>
                    <a:p>
                      <a:r>
                        <a:rPr sz="1400" b="0" i="0">
                          <a:solidFill>
                            <a:srgbClr val="1A1440"/>
                          </a:solidFill>
                          <a:latin typeface="Calibri"/>
                        </a:rPr>
                        <a:t>A share: 0.029 counting falls</a:t>
                      </a:r>
                    </a:p>
                  </a:txBody>
                  <a:tcPr marL="101600" marR="101600" marT="38100" marB="38100" anchor="ctr">
                    <a:solidFill>
                      <a:srgbClr val="FFFFFF"/>
                    </a:solidFill>
                  </a:tcPr>
                </a:tc>
                <a:tc>
                  <a:txBody>
                    <a:bodyPr/>
                    <a:lstStyle/>
                    <a:p>
                      <a:r>
                        <a:rPr sz="1400" b="0" i="0">
                          <a:solidFill>
                            <a:srgbClr val="1A1440"/>
                          </a:solidFill>
                          <a:latin typeface="Calibri"/>
                        </a:rPr>
                        <a:t>The world it was counted in, and both directions</a:t>
                      </a:r>
                    </a:p>
                  </a:txBody>
                  <a:tcPr marL="101600" marR="101600" marT="38100" marB="38100" anchor="ctr">
                    <a:solidFill>
                      <a:srgbClr val="FFFFFF"/>
                    </a:solidFill>
                  </a:tcPr>
                </a:tc>
              </a:tr>
              <a:tr h="369824">
                <a:tc>
                  <a:txBody>
                    <a:bodyPr/>
                    <a:lstStyle/>
                    <a:p>
                      <a:r>
                        <a:rPr sz="1400" b="0" i="0">
                          <a:solidFill>
                            <a:srgbClr val="1A1440"/>
                          </a:solidFill>
                          <a:latin typeface="Calibri"/>
                        </a:rPr>
                        <a:t>Rupees: Rs 24,420 a quarter</a:t>
                      </a:r>
                    </a:p>
                  </a:txBody>
                  <a:tcPr marL="101600" marR="101600" marT="38100" marB="38100" anchor="ctr">
                    <a:solidFill>
                      <a:srgbClr val="F4F2FA"/>
                    </a:solidFill>
                  </a:tcPr>
                </a:tc>
                <a:tc>
                  <a:txBody>
                    <a:bodyPr/>
                    <a:lstStyle/>
                    <a:p>
                      <a:r>
                        <a:rPr sz="1400" b="0" i="0">
                          <a:solidFill>
                            <a:srgbClr val="1A1440"/>
                          </a:solidFill>
                          <a:latin typeface="Calibri"/>
                        </a:rPr>
                        <a:t>The whole: 0.19 percent of the company's quarter</a:t>
                      </a:r>
                    </a:p>
                  </a:txBody>
                  <a:tcPr marL="101600" marR="101600" marT="38100" marB="38100" anchor="ctr">
                    <a:solidFill>
                      <a:srgbClr val="F4F2FA"/>
                    </a:solidFill>
                  </a:tcPr>
                </a:tc>
              </a:tr>
              <a:tr h="369824">
                <a:tc>
                  <a:txBody>
                    <a:bodyPr/>
                    <a:lstStyle/>
                    <a:p>
                      <a:r>
                        <a:rPr sz="1400" b="0" i="0">
                          <a:solidFill>
                            <a:srgbClr val="1A1440"/>
                          </a:solidFill>
                          <a:latin typeface="Calibri"/>
                        </a:rPr>
                        <a:t>A rate: Student up 40 percent</a:t>
                      </a:r>
                    </a:p>
                  </a:txBody>
                  <a:tcPr marL="101600" marR="101600" marT="38100" marB="38100" anchor="ctr">
                    <a:solidFill>
                      <a:srgbClr val="FFFFFF"/>
                    </a:solidFill>
                  </a:tcPr>
                </a:tc>
                <a:tc>
                  <a:txBody>
                    <a:bodyPr/>
                    <a:lstStyle/>
                    <a:p>
                      <a:r>
                        <a:rPr sz="1400" b="0" i="0">
                          <a:solidFill>
                            <a:srgbClr val="1A1440"/>
                          </a:solidFill>
                          <a:latin typeface="Calibri"/>
                        </a:rPr>
                        <a:t>Its count, and how often chance makes it</a:t>
                      </a:r>
                    </a:p>
                  </a:txBody>
                  <a:tcPr marL="101600" marR="101600" marT="38100" marB="38100" anchor="ctr">
                    <a:solidFill>
                      <a:srgbClr val="FFFFFF"/>
                    </a:solidFill>
                  </a:tcPr>
                </a:tc>
              </a:tr>
              <a:tr h="369824">
                <a:tc>
                  <a:txBody>
                    <a:bodyPr/>
                    <a:lstStyle/>
                    <a:p>
                      <a:r>
                        <a:rPr sz="1400" b="0" i="0">
                          <a:solidFill>
                            <a:srgbClr val="1A1440"/>
                          </a:solidFill>
                          <a:latin typeface="Calibri"/>
                        </a:rPr>
                        <a:t>A lift: 6.1 percent blended</a:t>
                      </a:r>
                    </a:p>
                  </a:txBody>
                  <a:tcPr marL="101600" marR="101600" marT="38100" marB="38100" anchor="ctr">
                    <a:solidFill>
                      <a:srgbClr val="F4F2FA"/>
                    </a:solidFill>
                  </a:tcPr>
                </a:tc>
                <a:tc>
                  <a:txBody>
                    <a:bodyPr/>
                    <a:lstStyle/>
                    <a:p>
                      <a:r>
                        <a:rPr sz="1400" b="0" i="0">
                          <a:solidFill>
                            <a:srgbClr val="1A1440"/>
                          </a:solidFill>
                          <a:latin typeface="Calibri"/>
                        </a:rPr>
                        <a:t>The groups it compares, split by segment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 gathers nine of the day's numbers into one table, and not one can go in a sentence alone.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78 / 87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each number is written the way it first appeared?</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79 / 87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no line has a base, a count or a caveat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three questions does every line of a note have to pass?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80 / 87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Retail-Plus line survive an audit?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81 / 87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 asks each line for base, count, caveat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 check in each line, as logic?</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audit(line):</a:t>
            </a:r>
          </a:p>
          <a:p>
            <a:pPr>
              <a:spcAft>
                <a:spcPts val="200"/>
              </a:spcAft>
            </a:pPr>
            <a:r>
              <a:rPr sz="1400" b="0" i="0">
                <a:solidFill>
                  <a:srgbClr val="E4E1F1"/>
                </a:solidFill>
                <a:latin typeface="Consolas"/>
              </a:rPr>
              <a:t>    base = "a quarter" in line or "of the company" in line</a:t>
            </a:r>
          </a:p>
          <a:p>
            <a:pPr>
              <a:spcAft>
                <a:spcPts val="200"/>
              </a:spcAft>
            </a:pPr>
            <a:r>
              <a:rPr sz="1400" b="0" i="0">
                <a:solidFill>
                  <a:srgbClr val="E4E1F1"/>
                </a:solidFill>
                <a:latin typeface="Consolas"/>
              </a:rPr>
              <a:t>    count = "in 100" in line or "customers" in line</a:t>
            </a:r>
          </a:p>
          <a:p>
            <a:pPr>
              <a:spcAft>
                <a:spcPts val="200"/>
              </a:spcAft>
            </a:pPr>
            <a:r>
              <a:rPr sz="1400" b="0" i="0">
                <a:solidFill>
                  <a:srgbClr val="E4E1F1"/>
                </a:solidFill>
                <a:latin typeface="Consolas"/>
              </a:rPr>
              <a:t>    caveat = any(w in line for w in ["if ", "until", "not yet"])</a:t>
            </a:r>
          </a:p>
          <a:p>
            <a:pPr>
              <a:spcAft>
                <a:spcPts val="200"/>
              </a:spcAft>
            </a:pPr>
            <a:r>
              <a:rPr sz="1400" b="0" i="0">
                <a:solidFill>
                  <a:srgbClr val="E4E1F1"/>
                </a:solidFill>
                <a:latin typeface="Consolas"/>
              </a:rPr>
              <a:t>    return base, count, caveat          # three yes-or-no answers</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notebook's version looks for more words of each kind; the idea is three tests a reader can run by eye on any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82 / 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say "not yet": what makes that usable?</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83 / 87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is "not yet" an answer Meera can use?</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Rounded Rectangle 10"/>
          <p:cNvSpPr/>
          <p:nvPr/>
        </p:nvSpPr>
        <p:spPr>
          <a:xfrm>
            <a:off x="530352" y="459231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2455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034279"/>
            <a:ext cx="237744" cy="237744"/>
          </a:xfrm>
          <a:prstGeom prst="rect">
            <a:avLst/>
          </a:prstGeom>
        </p:spPr>
      </p:pic>
      <p:sp>
        <p:nvSpPr>
          <p:cNvPr id="14" name="TextBox 13"/>
          <p:cNvSpPr txBox="1"/>
          <p:nvPr/>
        </p:nvSpPr>
        <p:spPr>
          <a:xfrm>
            <a:off x="1399031" y="473862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958080"/>
            <a:ext cx="9987991" cy="682752"/>
          </a:xfrm>
          <a:prstGeom prst="rect">
            <a:avLst/>
          </a:prstGeom>
          <a:noFill/>
        </p:spPr>
        <p:txBody>
          <a:bodyPr wrap="square" anchor="t" lIns="0" rIns="0" tIns="0" bIns="0">
            <a:spAutoFit/>
          </a:bodyPr>
          <a:lstStyle/>
          <a:p>
            <a:r>
              <a:rPr sz="1500" b="0" i="0">
                <a:solidFill>
                  <a:srgbClr val="1A1440"/>
                </a:solidFill>
                <a:latin typeface="Calibri"/>
              </a:rPr>
              <a:t>[D] The CEO wants a yes or no and the honest answer is "not yet"; what do you say, and how do you hold the line when marketing pushes?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2" name="Oval 2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4" name="Oval 23"/>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84 / 87</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reach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note's decisions follow from its numbers?</a:t>
            </a:r>
          </a:p>
        </p:txBody>
      </p:sp>
      <p:pic>
        <p:nvPicPr>
          <p:cNvPr id="9" name="mermaid diagram" descr="1a26f96d84cb83b6.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85 / 87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193-word note: watch, not yet,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goes on Meera's one page, and when is "not yet" the honest answer?</a:t>
            </a:r>
          </a:p>
        </p:txBody>
      </p:sp>
      <p:graphicFrame>
        <p:nvGraphicFramePr>
          <p:cNvPr id="9" name="Table 8"/>
          <p:cNvGraphicFramePr>
            <a:graphicFrameLocks noGrp="1"/>
          </p:cNvGraphicFramePr>
          <p:nvPr/>
        </p:nvGraphicFramePr>
        <p:xfrm>
          <a:off x="530352" y="1828292"/>
          <a:ext cx="11130991" cy="2588768"/>
        </p:xfrm>
        <a:graphic>
          <a:graphicData uri="http://schemas.openxmlformats.org/drawingml/2006/table">
            <a:tbl>
              <a:tblPr firstRow="0" bandRow="0">
                <a:tableStyleId>{2D5ABB26-0587-4C30-8999-92F81FD0307C}</a:tableStyleId>
              </a:tblPr>
              <a:tblGrid>
                <a:gridCol w="4360708"/>
                <a:gridCol w="6770283"/>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form fits two minutes?</a:t>
                      </a:r>
                    </a:p>
                  </a:txBody>
                  <a:tcPr marL="101600" marR="101600" marT="38100" marB="38100" anchor="ctr">
                    <a:solidFill>
                      <a:srgbClr val="FFFFFF"/>
                    </a:solidFill>
                  </a:tcPr>
                </a:tc>
                <a:tc>
                  <a:txBody>
                    <a:bodyPr/>
                    <a:lstStyle/>
                    <a:p>
                      <a:r>
                        <a:rPr sz="1400" b="0" i="0">
                          <a:solidFill>
                            <a:srgbClr val="1A1440"/>
                          </a:solidFill>
                          <a:latin typeface="Calibri"/>
                        </a:rPr>
                        <a:t>The four-part note, under 200 words</a:t>
                      </a:r>
                    </a:p>
                  </a:txBody>
                  <a:tcPr marL="101600" marR="101600" marT="38100" marB="38100" anchor="ctr">
                    <a:solidFill>
                      <a:srgbClr val="FFFFFF"/>
                    </a:solidFill>
                  </a:tcPr>
                </a:tc>
              </a:tr>
              <a:tr h="369824">
                <a:tc>
                  <a:txBody>
                    <a:bodyPr/>
                    <a:lstStyle/>
                    <a:p>
                      <a:r>
                        <a:rPr sz="1400" b="0" i="0">
                          <a:solidFill>
                            <a:srgbClr val="1A1440"/>
                          </a:solidFill>
                          <a:latin typeface="Calibri"/>
                        </a:rPr>
                        <a:t>2. What sits beside each number?</a:t>
                      </a:r>
                    </a:p>
                  </a:txBody>
                  <a:tcPr marL="101600" marR="101600" marT="38100" marB="38100" anchor="ctr">
                    <a:solidFill>
                      <a:srgbClr val="F4F2FA"/>
                    </a:solidFill>
                  </a:tcPr>
                </a:tc>
                <a:tc>
                  <a:txBody>
                    <a:bodyPr/>
                    <a:lstStyle/>
                    <a:p>
                      <a:r>
                        <a:rPr sz="1400" b="0" i="0">
                          <a:solidFill>
                            <a:srgbClr val="1A1440"/>
                          </a:solidFill>
                          <a:latin typeface="Calibri"/>
                        </a:rPr>
                        <a:t>Its world, its whole, its count or its groups</a:t>
                      </a:r>
                    </a:p>
                  </a:txBody>
                  <a:tcPr marL="101600" marR="101600" marT="38100" marB="38100" anchor="ctr">
                    <a:solidFill>
                      <a:srgbClr val="F4F2FA"/>
                    </a:solidFill>
                  </a:tcPr>
                </a:tc>
              </a:tr>
              <a:tr h="369824">
                <a:tc>
                  <a:txBody>
                    <a:bodyPr/>
                    <a:lstStyle/>
                    <a:p>
                      <a:r>
                        <a:rPr sz="1400" b="0" i="0">
                          <a:solidFill>
                            <a:srgbClr val="1A1440"/>
                          </a:solidFill>
                          <a:latin typeface="Calibri"/>
                        </a:rPr>
                        <a:t>3. What goes wrong?</a:t>
                      </a:r>
                    </a:p>
                  </a:txBody>
                  <a:tcPr marL="101600" marR="101600" marT="38100" marB="38100" anchor="ctr">
                    <a:solidFill>
                      <a:srgbClr val="FFFFFF"/>
                    </a:solidFill>
                  </a:tcPr>
                </a:tc>
                <a:tc>
                  <a:txBody>
                    <a:bodyPr/>
                    <a:lstStyle/>
                    <a:p>
                      <a:r>
                        <a:rPr sz="1400" b="0" i="0">
                          <a:solidFill>
                            <a:srgbClr val="1A1440"/>
                          </a:solidFill>
                          <a:latin typeface="Calibri"/>
                        </a:rPr>
                        <a:t>Three true numbers, three wrong decisions</a:t>
                      </a:r>
                    </a:p>
                  </a:txBody>
                  <a:tcPr marL="101600" marR="101600" marT="38100" marB="38100" anchor="ctr">
                    <a:solidFill>
                      <a:srgbClr val="FFFFFF"/>
                    </a:solidFill>
                  </a:tcPr>
                </a:tc>
              </a:tr>
              <a:tr h="369824">
                <a:tc>
                  <a:txBody>
                    <a:bodyPr/>
                    <a:lstStyle/>
                    <a:p>
                      <a:r>
                        <a:rPr sz="1400" b="0" i="0">
                          <a:solidFill>
                            <a:srgbClr val="1A1440"/>
                          </a:solidFill>
                          <a:latin typeface="Calibri"/>
                        </a:rPr>
                        <a:t>4. How does a line pass?</a:t>
                      </a:r>
                    </a:p>
                  </a:txBody>
                  <a:tcPr marL="101600" marR="101600" marT="38100" marB="38100" anchor="ctr">
                    <a:solidFill>
                      <a:srgbClr val="F4F2FA"/>
                    </a:solidFill>
                  </a:tcPr>
                </a:tc>
                <a:tc>
                  <a:txBody>
                    <a:bodyPr/>
                    <a:lstStyle/>
                    <a:p>
                      <a:r>
                        <a:rPr sz="1400" b="0" i="0">
                          <a:solidFill>
                            <a:srgbClr val="1A1440"/>
                          </a:solidFill>
                          <a:latin typeface="Calibri"/>
                        </a:rPr>
                        <a:t>Claim, evidence with its base, caveat, action</a:t>
                      </a:r>
                    </a:p>
                  </a:txBody>
                  <a:tcPr marL="101600" marR="101600" marT="38100" marB="38100" anchor="ctr">
                    <a:solidFill>
                      <a:srgbClr val="F4F2FA"/>
                    </a:solidFill>
                  </a:tcPr>
                </a:tc>
              </a:tr>
              <a:tr h="369824">
                <a:tc>
                  <a:txBody>
                    <a:bodyPr/>
                    <a:lstStyle/>
                    <a:p>
                      <a:r>
                        <a:rPr sz="1400" b="0" i="0">
                          <a:solidFill>
                            <a:srgbClr val="1A1440"/>
                          </a:solidFill>
                          <a:latin typeface="Calibri"/>
                        </a:rPr>
                        <a:t>5. When is not yet an answer?</a:t>
                      </a:r>
                    </a:p>
                  </a:txBody>
                  <a:tcPr marL="101600" marR="101600" marT="38100" marB="38100" anchor="ctr">
                    <a:solidFill>
                      <a:srgbClr val="FFFFFF"/>
                    </a:solidFill>
                  </a:tcPr>
                </a:tc>
                <a:tc>
                  <a:txBody>
                    <a:bodyPr/>
                    <a:lstStyle/>
                    <a:p>
                      <a:r>
                        <a:rPr sz="1400" b="0" i="0">
                          <a:solidFill>
                            <a:srgbClr val="1A1440"/>
                          </a:solidFill>
                          <a:latin typeface="Calibri"/>
                        </a:rPr>
                        <a:t>When it names what would make it a yes</a:t>
                      </a:r>
                    </a:p>
                  </a:txBody>
                  <a:tcPr marL="101600" marR="101600" marT="38100" marB="38100" anchor="ctr">
                    <a:solidFill>
                      <a:srgbClr val="FFFFFF"/>
                    </a:solidFill>
                  </a:tcPr>
                </a:tc>
              </a:tr>
              <a:tr h="369824">
                <a:tc>
                  <a:txBody>
                    <a:bodyPr/>
                    <a:lstStyle/>
                    <a:p>
                      <a:r>
                        <a:rPr sz="1400" b="0" i="0">
                          <a:solidFill>
                            <a:srgbClr val="1A1440"/>
                          </a:solidFill>
                          <a:latin typeface="Calibri"/>
                        </a:rPr>
                        <a:t>6. Do the decisions follow?</a:t>
                      </a:r>
                    </a:p>
                  </a:txBody>
                  <a:tcPr marL="101600" marR="101600" marT="38100" marB="38100" anchor="ctr">
                    <a:solidFill>
                      <a:srgbClr val="F4F2FA"/>
                    </a:solidFill>
                  </a:tcPr>
                </a:tc>
                <a:tc>
                  <a:txBody>
                    <a:bodyPr/>
                    <a:lstStyle/>
                    <a:p>
                      <a:r>
                        <a:rPr sz="1400" b="0" i="0">
                          <a:solidFill>
                            <a:srgbClr val="1A1440"/>
                          </a:solidFill>
                          <a:latin typeface="Calibri"/>
                        </a:rPr>
                        <a:t>Yes: the rules reach 3 of 3; 11 of 11 figures trace</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Three answers, each with its base, its caveat and a cost, and two of them say not yet with the thing that would change them. Marketing will push on the third on Monday, and chapter 6 checks what else changed in August.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86 / 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direction is fixed before the test runs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chapter 1 report both directions for Retail-Plus?</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6" name="Oval 1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8" name="Oval 1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0" name="Oval 19"/>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D80  ·  87 / 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