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Python. The job of this chapter is to sort Meera's three questions into</a:t>
            </a:r>
          </a:p>
          <a:p>
            <a:r>
              <a:t>three habits and to draw the note's shape before any tool opens. Draw each habit on the board as the</a:t>
            </a:r>
          </a:p>
          <a:p>
            <a:r>
              <a:t>slides build it; the board stays up all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it is the afternoon.</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Rounds one to three climb the first</a:t>
            </a:r>
          </a:p>
          <a:p>
            <a:r>
              <a:t>two habits this morning; the third habit is the afternoon's case. Say that the note on the right</a:t>
            </a:r>
          </a:p>
          <a:p>
            <a:r>
              <a:t>is where every round 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round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Wednesday's return question is the Kahoot's last item: the duplicates shrank the Retail-Plus drop,</a:t>
            </a:r>
          </a:p>
          <a:p>
            <a:r>
              <a:t>so does it survive? That is round one's question.</a:t>
            </a:r>
          </a:p>
          <a:p>
            <a:r>
              <a:t>Transition: a gap exists; the first habit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and its picture (5), the ten-card shuffle by hand (12), the loop</a:t>
            </a:r>
          </a:p>
          <a:p>
            <a:r>
              <a:t>in code and the Retail-Core demonstration (13), the trap (8), the room's Retail-Plus run (10), and</a:t>
            </a:r>
          </a:p>
          <a:p>
            <a:r>
              <a:t>Kavya's review (2).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measure all morning is delivered revenue per member per quarter: Monday</a:t>
            </a:r>
          </a:p>
          <a:p>
            <a:r>
              <a:t>settled that cancelled and returned orders are not money kept, and a member is the unit that</a:t>
            </a:r>
          </a:p>
          <a:p>
            <a:r>
              <a:t>exists in both 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name once and move on; the definition earns its place after the room has</a:t>
            </a:r>
          </a:p>
          <a:p>
            <a:r>
              <a:t>counted shares by hand. No formulas today, and no test catalogue: the shuffle is the whole idea.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Hand each pair ten index cards with these amounts written on them; the numbers are</a:t>
            </a:r>
          </a:p>
          <a:p>
            <a:r>
              <a:t>invented and the slide says so. Each pair shuffles ten times and writes each gap on the board in a</a:t>
            </a:r>
          </a:p>
          <a:p>
            <a:r>
              <a:t>row. Then count, as a room, how many gaps reached Rs 880 or more. Expect one or two out of a</a:t>
            </a:r>
          </a:p>
          <a:p>
            <a:r>
              <a:t>hundred and some. Ask: if the quarter made no difference, how surprising is 880?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ten gaps are the first ten a seeded computer shuffle produced, which is a</a:t>
            </a:r>
          </a:p>
          <a:p>
            <a:r>
              <a:t>fair stand-in for a pair's ten. Take letters. The trap is b: one in ten sounds common, but ten</a:t>
            </a:r>
          </a:p>
          <a:p>
            <a:r>
              <a:t>draws say almost 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hand shuffle was for the idea; the loop is for the number. Say the sentence</a:t>
            </a:r>
          </a:p>
          <a:p>
            <a:r>
              <a:t>aloud: "If the quarter made no difference, a gap of Rs 880 or more turns up in about 2 of every 100</a:t>
            </a:r>
          </a:p>
          <a:p>
            <a:r>
              <a:t>shuffles." That is the only sentence a p-value supports.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each line against the cards: pool is the ten cards face down, shuffle is the</a:t>
            </a:r>
          </a:p>
          <a:p>
            <a:r>
              <a:t>deal, the two slices are the two piles, and the gap is what pairs wrote on the board. The seed is</a:t>
            </a:r>
          </a:p>
          <a:p>
            <a:r>
              <a:t>there so every laptop in the room gets the same thousand shuffles; say that a different seed moves</a:t>
            </a:r>
          </a:p>
          <a:p>
            <a:r>
              <a:t>the share a little and never the verdict. If someone meets a NameError, it is an unrun cell: two</a:t>
            </a:r>
          </a:p>
          <a:p>
            <a:r>
              <a:t>minutes, the last line of the trace, Restart and Run 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demonstration on Kalpa data, run live in notebook 1, level 3. Read the</a:t>
            </a:r>
          </a:p>
          <a:p>
            <a:r>
              <a:t>picture: the bars are chance-only worlds, and the real gap sits in the tallest bar. One shuffle in</a:t>
            </a:r>
          </a:p>
          <a:p>
            <a:r>
              <a:t>three makes a gap at least that large, so Retail-Core's dip is exactly the wobble Meera means.</a:t>
            </a:r>
          </a:p>
          <a:p>
            <a:r>
              <a:t>Kavya's point to make: this is what "nothing happened" looks like, and the room needs to have seen</a:t>
            </a:r>
          </a:p>
          <a:p>
            <a:r>
              <a:t>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sentence up and ask who would have written it. Most hands go up; it is the</a:t>
            </a:r>
          </a:p>
          <a:p>
            <a:r>
              <a:t>most common p-value sentence in industry and it appears in the row's list of what the room must</a:t>
            </a:r>
          </a:p>
          <a:p>
            <a:r>
              <a:t>handle. Do not correct it yet; the next slide does.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chance that a finding is wrong depends on things the shuffle never saw: how</a:t>
            </a:r>
          </a:p>
          <a:p>
            <a:r>
              <a:t>plausible a drop was before the data, what else changed, how many segments were tested. Name that</a:t>
            </a:r>
          </a:p>
          <a:p>
            <a:r>
              <a:t>in one line and stop; it is a later week's topic.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rewritten column is what Kavya signs. The third row hands over to round two:</a:t>
            </a:r>
          </a:p>
          <a:p>
            <a:r>
              <a:t>real is one call, worth acting on is another.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room runs level 4 of notebook 1 and writes the sentence. Do not read a</a:t>
            </a:r>
          </a:p>
          <a:p>
            <a:r>
              <a:t>number out first; every laptop gets the same share because of the seed. Collect three sentences</a:t>
            </a:r>
          </a:p>
          <a:p>
            <a:r>
              <a:t>aloud and have the room vote each one defensible or wrong. The share they find is the round's</a:t>
            </a:r>
          </a:p>
          <a:p>
            <a:r>
              <a:t>answer and belongs to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interview questions are answered in full in notebook 1 and in one breath in</a:t>
            </a:r>
          </a:p>
          <a:p>
            <a:r>
              <a:t>the drill this afternoon. Transition: Retail-Plus beat the wobble, so the next question is whether</a:t>
            </a:r>
          </a:p>
          <a:p>
            <a:r>
              <a:t>the gap is big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two calls drawn (8), the trap (10), the check and the fix</a:t>
            </a:r>
          </a:p>
          <a:p>
            <a:r>
              <a:t>(12), the room sizes it (12), and Kavya's review (3).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then letters. Expect d from anyone who liked Tuesday's percentages. Do not</a:t>
            </a:r>
          </a:p>
          <a:p>
            <a:r>
              <a:t>settle it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calls, two questions, two lines in the note. Draw them side by side on the</a:t>
            </a:r>
          </a:p>
          <a:p>
            <a:r>
              <a:t>board under the morning's three habits.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where Retail-Core's Rs 110 belongs: bottom left, chance-sized and small. Ask</a:t>
            </a:r>
          </a:p>
          <a:p>
            <a:r>
              <a:t>where the room would put Retail-Plus; hold the answer until they have sized it. The quadrant is the</a:t>
            </a:r>
          </a:p>
          <a:p>
            <a:r>
              <a:t>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second trap of the day and the one that costs money. Ask what the</a:t>
            </a:r>
          </a:p>
          <a:p>
            <a:r>
              <a:t>p-value would be for a gap of five rupees on two lakh orders. Take guesses, then show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a Rs 5 gap between two quarters</a:t>
            </a:r>
          </a:p>
          <a:p>
            <a:r>
              <a:t>whose orders vary by about Rs 700, with the count on the axis being orders in each quarter, and the</a:t>
            </a:r>
          </a:p>
          <a:p>
            <a:r>
              <a:t>title says so. With two lakh orders a quarter the five-rupee gap reaches 0.02; with ten lakh it is</a:t>
            </a:r>
          </a:p>
          <a:p>
            <a:r>
              <a:t>off the chart. It is "significant" and still worthless. Size is a separate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steps without numbers; the room computes them in notebook 2, level 3.</a:t>
            </a:r>
          </a:p>
          <a:p>
            <a:r>
              <a:t>The company's Q2 delivered revenue is Tuesday's and Wednesday's number and is on their sheets.</a:t>
            </a:r>
          </a:p>
          <a:p>
            <a:r>
              <a:t>Business carries most of it, which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Delivered revenue in Q2 was Rs 1,28,64,680, of which Business delivered</a:t>
            </a:r>
          </a:p>
          <a:p>
            <a:r>
              <a:t>Rs 1,27,64,460. The room computed these on Tuesday and Wednesday. Do not state the Retail-Plus gap</a:t>
            </a:r>
          </a:p>
          <a:p>
            <a:r>
              <a:t>in rupees; the room computes it next.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blanks are on purpose: the room fills them in notebook 2, level 3, and reads</a:t>
            </a:r>
          </a:p>
          <a:p>
            <a:r>
              <a:t>the three sentences to a partner. Walk the room and check that the second blank is a share of the</a:t>
            </a:r>
          </a:p>
          <a:p>
            <a:r>
              <a:t>company, not of the segment.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CUT FIRST if the round runs long. Say the name, say that the gap per member is one</a:t>
            </a:r>
          </a:p>
          <a:p>
            <a:r>
              <a:t>estimate from 22 members, and stop.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Rs 500 per member offer is an assumption for the exercise and the notebook</a:t>
            </a:r>
          </a:p>
          <a:p>
            <a:r>
              <a:t>labels it so. Pairs compute whether recovering half the fall would cover it. Watch for pairs</a:t>
            </a:r>
          </a:p>
          <a:p>
            <a:r>
              <a:t>comparing the offer with the percentage fall; send them back to rupees.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interview question is a case follow-up built on the row's staple; its answer is</a:t>
            </a:r>
          </a:p>
          <a:p>
            <a:r>
              <a:t>in notebook 2 and the day sheet.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(5), the trap (8), the check with the chance reference (15), the</a:t>
            </a:r>
          </a:p>
          <a:p>
            <a:r>
              <a:t>rule of thumb and the interview pair (10), the room's run (10), and Kavya's review (2). Notebook 3</a:t>
            </a:r>
          </a:p>
          <a:p>
            <a:r>
              <a:t>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Expect a, which is round two's habit, and c, which is the headline habit.</a:t>
            </a:r>
          </a:p>
          <a:p>
            <a:r>
              <a:t>Both are reasonable next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 level 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out that the rate is correct arithmetic. What is wrong is repeating it without</a:t>
            </a:r>
          </a:p>
          <a:p>
            <a:r>
              <a:t>the count, 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is exact arithmetic on fair coin flips, one flip per order deciding its</a:t>
            </a:r>
          </a:p>
          <a:p>
            <a:r>
              <a:t>quarter, with no Kalpa data in it. Read two points aloud: ten orders, 38 percent of worlds; four</a:t>
            </a:r>
          </a:p>
          <a:p>
            <a:r>
              <a:t>hundred, four in ten 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round one's shuffle, pointed at a count. The room runs it in notebook 3,</a:t>
            </a:r>
          </a:p>
          <a:p>
            <a:r>
              <a:t>levels 3 and 4. The rule of thumb is thirty; say that it is a habit, not a law, and that it is the</a:t>
            </a:r>
          </a:p>
          <a:p>
            <a:r>
              <a:t>row's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one-person swing is the fastest way to say it in an interview: one user out of</a:t>
            </a:r>
          </a:p>
          <a:p>
            <a:r>
              <a:t>12 is 8.3 points.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count is the room's discovery; do not say it. When a pair has it, ask them how</a:t>
            </a:r>
          </a:p>
          <a:p>
            <a:r>
              <a:t>many customers stand behind the orders, and watch the faces. 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morning closes on three lines of the note, one per round. The afternoon adds the</a:t>
            </a:r>
          </a:p>
          <a:p>
            <a:r>
              <a:t>discount and ships the page.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dashed arrow. Tuesday's mix against rate is the tool the afternoon</a:t>
            </a:r>
          </a:p>
          <a:p>
            <a:r>
              <a:t>needs; say that once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their friend's tool reports a bigger p-value. Notebook</a:t>
            </a:r>
          </a:p>
          <a:p>
            <a:r>
              <a:t>1's depth section runs both counts on the same 5,000 shuffles.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3.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image" Target="../media/image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3.png"/><Relationship Id="rId6"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4.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Round 1. Real, or the wobble</a:t>
            </a:r>
          </a:p>
        </p:txBody>
      </p:sp>
      <p:sp>
        <p:nvSpPr>
          <p:cNvPr id="15" name="TextBox 14"/>
          <p:cNvSpPr txBox="1"/>
          <p:nvPr/>
        </p:nvSpPr>
        <p:spPr>
          <a:xfrm>
            <a:off x="419166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75714"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Round 2. Worth acting on</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745128"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The count behind 40 percent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questions before Monday's growth review, one page to answer them, and "not yet" allowed.</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3c7741ded1982860.png"/>
          <p:cNvPicPr>
            <a:picLocks noChangeAspect="1"/>
          </p:cNvPicPr>
          <p:nvPr/>
        </p:nvPicPr>
        <p:blipFill>
          <a:blip r:embed="rId5"/>
          <a:stretch>
            <a:fillRect/>
          </a:stretch>
        </p:blipFill>
        <p:spPr>
          <a:xfrm>
            <a:off x="1695297" y="1874488"/>
            <a:ext cx="88011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d84fc4cb5de170c.png"/>
          <p:cNvPicPr>
            <a:picLocks noChangeAspect="1"/>
          </p:cNvPicPr>
          <p:nvPr/>
        </p:nvPicPr>
        <p:blipFill>
          <a:blip r:embed="rId5"/>
          <a:stretch>
            <a:fillRect/>
          </a:stretch>
        </p:blipFill>
        <p:spPr>
          <a:xfrm>
            <a:off x="1016641" y="1956816"/>
            <a:ext cx="10158412" cy="1371600"/>
          </a:xfrm>
          <a:prstGeom prst="rect">
            <a:avLst/>
          </a:prstGeom>
        </p:spPr>
      </p:pic>
      <p:sp>
        <p:nvSpPr>
          <p:cNvPr id="10" name="TextBox 9"/>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two things they did not have: the Student segment's own orders and the campaigns table.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Real, or the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stories fit any gap between two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Either something changed for these members, or the same members just had an ordinary quarter.</a:t>
            </a:r>
          </a:p>
        </p:txBody>
      </p:sp>
      <p:pic>
        <p:nvPicPr>
          <p:cNvPr id="9" name="mermaid diagram" descr="5f696db36999a42c.png"/>
          <p:cNvPicPr>
            <a:picLocks noChangeAspect="1"/>
          </p:cNvPicPr>
          <p:nvPr/>
        </p:nvPicPr>
        <p:blipFill>
          <a:blip r:embed="rId5"/>
          <a:stretch>
            <a:fillRect/>
          </a:stretch>
        </p:blipFill>
        <p:spPr>
          <a:xfrm>
            <a:off x="3195485" y="1732756"/>
            <a:ext cx="5800725" cy="3671887"/>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Meera's word for the second story is "wobble". The test asks how big the wobble gets when nothing has changed at 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6ad6373122f26cc8.png"/>
          <p:cNvPicPr>
            <a:picLocks noChangeAspect="1"/>
          </p:cNvPicPr>
          <p:nvPr/>
        </p:nvPicPr>
        <p:blipFill>
          <a:blip r:embed="rId5"/>
          <a:stretch>
            <a:fillRect/>
          </a:stretch>
        </p:blipFill>
        <p:spPr>
          <a:xfrm>
            <a:off x="530352" y="1956816"/>
            <a:ext cx="11130991" cy="1027276"/>
          </a:xfrm>
          <a:prstGeom prst="rect">
            <a:avLst/>
          </a:prstGeom>
        </p:spPr>
      </p:pic>
      <p:sp>
        <p:nvSpPr>
          <p:cNvPr id="10" name="TextBox 9"/>
          <p:cNvSpPr txBox="1"/>
          <p:nvPr/>
        </p:nvSpPr>
        <p:spPr>
          <a:xfrm>
            <a:off x="530352" y="31303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hundreds of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c0f802a677c2a3b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shuffle, as a loop in Python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Twelve lines, and every one of them is something the room just did with cards.</a:t>
            </a:r>
          </a:p>
        </p:txBody>
      </p:sp>
      <p:sp>
        <p:nvSpPr>
          <p:cNvPr id="9" name="Rounded Rectangle 8"/>
          <p:cNvSpPr/>
          <p:nvPr/>
        </p:nvSpPr>
        <p:spPr>
          <a:xfrm>
            <a:off x="530352" y="1945132"/>
            <a:ext cx="11130991" cy="3991863"/>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7314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7314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7314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74316"/>
            <a:ext cx="10673791" cy="3589527"/>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import random</a:t>
            </a:r>
          </a:p>
          <a:p>
            <a:pPr>
              <a:spcAft>
                <a:spcPts val="200"/>
              </a:spcAft>
            </a:pPr>
          </a:p>
          <a:p>
            <a:pPr>
              <a:spcAft>
                <a:spcPts val="200"/>
              </a:spcAft>
            </a:pPr>
            <a:r>
              <a:rPr sz="1400" b="0" i="0">
                <a:solidFill>
                  <a:srgbClr val="E4E1F1"/>
                </a:solidFill>
                <a:latin typeface="Consolas"/>
              </a:rPr>
              <a:t>def shuffle_gaps(q1, q2, times, seed):</a:t>
            </a:r>
          </a:p>
          <a:p>
            <a:pPr>
              <a:spcAft>
                <a:spcPts val="200"/>
              </a:spcAft>
            </a:pPr>
            <a:r>
              <a:rPr sz="1400" b="0" i="0">
                <a:solidFill>
                  <a:srgbClr val="E4E1F1"/>
                </a:solidFill>
                <a:latin typeface="Consolas"/>
              </a:rPr>
              <a:t>    random.seed(seed)                  # the same shuffles every run</a:t>
            </a:r>
          </a:p>
          <a:p>
            <a:pPr>
              <a:spcAft>
                <a:spcPts val="200"/>
              </a:spcAft>
            </a:pPr>
            <a:r>
              <a:rPr sz="1400" b="0" i="0">
                <a:solidFill>
                  <a:srgbClr val="E4E1F1"/>
                </a:solidFill>
                <a:latin typeface="Consolas"/>
              </a:rPr>
              <a:t>    pool = q1 + q2                     # all the cards, labels ignored</a:t>
            </a:r>
          </a:p>
          <a:p>
            <a:pPr>
              <a:spcAft>
                <a:spcPts val="200"/>
              </a:spcAft>
            </a:pPr>
            <a:r>
              <a:rPr sz="1400" b="0" i="0">
                <a:solidFill>
                  <a:srgbClr val="E4E1F1"/>
                </a:solidFill>
                <a:latin typeface="Consolas"/>
              </a:rPr>
              <a:t>    gaps = []</a:t>
            </a:r>
          </a:p>
          <a:p>
            <a:pPr>
              <a:spcAft>
                <a:spcPts val="200"/>
              </a:spcAft>
            </a:pPr>
            <a:r>
              <a:rPr sz="1400" b="0" i="0">
                <a:solidFill>
                  <a:srgbClr val="E4E1F1"/>
                </a:solidFill>
                <a:latin typeface="Consolas"/>
              </a:rPr>
              <a:t>    for _ in range(times):</a:t>
            </a:r>
          </a:p>
          <a:p>
            <a:pPr>
              <a:spcAft>
                <a:spcPts val="200"/>
              </a:spcAft>
            </a:pPr>
            <a:r>
              <a:rPr sz="1400" b="0" i="0">
                <a:solidFill>
                  <a:srgbClr val="E4E1F1"/>
                </a:solidFill>
                <a:latin typeface="Consolas"/>
              </a:rPr>
              <a:t>        random.shuffle(pool)           # deal at random</a:t>
            </a:r>
          </a:p>
          <a:p>
            <a:pPr>
              <a:spcAft>
                <a:spcPts val="200"/>
              </a:spcAft>
            </a:pPr>
            <a:r>
              <a:rPr sz="1400" b="0" i="0">
                <a:solidFill>
                  <a:srgbClr val="E4E1F1"/>
                </a:solidFill>
                <a:latin typeface="Consolas"/>
              </a:rPr>
              <a:t>        a, b = pool[:len(q1)], pool[len(q1):]</a:t>
            </a:r>
          </a:p>
          <a:p>
            <a:pPr>
              <a:spcAft>
                <a:spcPts val="200"/>
              </a:spcAft>
            </a:pPr>
            <a:r>
              <a:rPr sz="1400" b="0" i="0">
                <a:solidFill>
                  <a:srgbClr val="E4E1F1"/>
                </a:solidFill>
                <a:latin typeface="Consolas"/>
              </a:rPr>
              <a:t>        gaps.append(sum(a) / len(a) - sum(b) / len(b))</a:t>
            </a:r>
          </a:p>
          <a:p>
            <a:pPr>
              <a:spcAft>
                <a:spcPts val="200"/>
              </a:spcAft>
            </a:pPr>
            <a:r>
              <a:rPr sz="1400" b="0" i="0">
                <a:solidFill>
                  <a:srgbClr val="E4E1F1"/>
                </a:solidFill>
                <a:latin typeface="Consolas"/>
              </a:rPr>
              <a:t>    return gaps</a:t>
            </a:r>
          </a:p>
          <a:p>
            <a:pPr>
              <a:spcAft>
                <a:spcPts val="200"/>
              </a:spcAft>
            </a:pPr>
          </a:p>
          <a:p>
            <a:pPr>
              <a:spcAft>
                <a:spcPts val="200"/>
              </a:spcAft>
            </a:pPr>
            <a:r>
              <a:rPr sz="1400" b="0" i="0">
                <a:solidFill>
                  <a:srgbClr val="E4E1F1"/>
                </a:solidFill>
                <a:latin typeface="Consolas"/>
              </a:rPr>
              <a:t>gaps = shuffle_gaps(q1, q2, 1000, seed=2026)</a:t>
            </a:r>
          </a:p>
          <a:p>
            <a:pPr>
              <a:spcAft>
                <a:spcPts val="200"/>
              </a:spcAft>
            </a:pPr>
            <a:r>
              <a:rPr sz="1400" b="0" i="0">
                <a:solidFill>
                  <a:srgbClr val="E4E1F1"/>
                </a:solidFill>
                <a:latin typeface="Consolas"/>
              </a:rPr>
              <a:t>share = sum(1 for g in gaps if g &gt;= real_gap) / len(gaps)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6" name="Oval 15"/>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6d2fae8ae8f94e9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which is what an ordinary quarter looks like.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after a shuffle test came back at 0.03.</a:t>
            </a:r>
          </a:p>
        </p:txBody>
      </p:sp>
      <p:pic>
        <p:nvPicPr>
          <p:cNvPr id="9" name="mermaid diagram" descr="e3c7a847657e72e7.png"/>
          <p:cNvPicPr>
            <a:picLocks noChangeAspect="1"/>
          </p:cNvPicPr>
          <p:nvPr/>
        </p:nvPicPr>
        <p:blipFill>
          <a:blip r:embed="rId6"/>
          <a:stretch>
            <a:fillRect/>
          </a:stretch>
        </p:blipFill>
        <p:spPr>
          <a:xfrm>
            <a:off x="2166785" y="1956816"/>
            <a:ext cx="7858125"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percent chance we are wrong"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share was counted under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18f8eff8cb2fdbee.png"/>
          <p:cNvPicPr>
            <a:picLocks noChangeAspect="1"/>
          </p:cNvPicPr>
          <p:nvPr/>
        </p:nvPicPr>
        <p:blipFill>
          <a:blip r:embed="rId5"/>
          <a:stretch>
            <a:fillRect/>
          </a:stretch>
        </p:blipFill>
        <p:spPr>
          <a:xfrm>
            <a:off x="4757580" y="1664208"/>
            <a:ext cx="26765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of any p-value sentence: in which world was this share counted? If the sentence talks about the real world, it has claimed what the shuffle never measured.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771618"/>
                <a:gridCol w="6359372"/>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percent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this large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with the sentence written after.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from notebook 1, level 4.</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in the rewritten form, read aloud to your partner.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34" name="Oval 3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6" name="Oval 3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Show me the usual wobble first, then the gap against it. Say the share and the world it was counted in. If your sentence would still be true when the drop was a fluke, it is the right sentence.</a:t>
            </a:r>
          </a:p>
        </p:txBody>
      </p:sp>
      <p:sp>
        <p:nvSpPr>
          <p:cNvPr id="14" name="Rounded Rectangle 13"/>
          <p:cNvSpPr/>
          <p:nvPr/>
        </p:nvSpPr>
        <p:spPr>
          <a:xfrm>
            <a:off x="530352" y="3243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575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68503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Retail-Plus beat the wobble. Now what?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shuffle said the fall is larger than chance makes, and the head of Retail-Plus wants a budget.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dbcda6ed700dee1a.png"/>
          <p:cNvPicPr>
            <a:picLocks noChangeAspect="1"/>
          </p:cNvPicPr>
          <p:nvPr/>
        </p:nvPicPr>
        <p:blipFill>
          <a:blip r:embed="rId6"/>
          <a:stretch>
            <a:fillRect/>
          </a:stretch>
        </p:blipFill>
        <p:spPr>
          <a:xfrm>
            <a:off x="2595410" y="3243072"/>
            <a:ext cx="7000875" cy="1171575"/>
          </a:xfrm>
          <a:prstGeom prst="rect">
            <a:avLst/>
          </a:prstGeom>
        </p:spPr>
      </p:pic>
      <p:sp>
        <p:nvSpPr>
          <p:cNvPr id="15" name="Rounded Rectangle 14"/>
          <p:cNvSpPr/>
          <p:nvPr/>
        </p:nvSpPr>
        <p:spPr>
          <a:xfrm>
            <a:off x="530352" y="456095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68896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679823"/>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before any budget talk? a) nothing, since the test settled it; b) the fall in rupees against what fixing it would cost; c) a second test with a smaller p-value; d) the fall as a percentage, since percentages compare across segments.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rupees against the cost of acting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Significance answers "is it real"; only size against cost answers "is it worth money".</a:t>
            </a:r>
          </a:p>
        </p:txBody>
      </p:sp>
      <p:pic>
        <p:nvPicPr>
          <p:cNvPr id="9" name="mermaid diagram" descr="99b103e6c8fe47c5.png"/>
          <p:cNvPicPr>
            <a:picLocks noChangeAspect="1"/>
          </p:cNvPicPr>
          <p:nvPr/>
        </p:nvPicPr>
        <p:blipFill>
          <a:blip r:embed="rId5"/>
          <a:stretch>
            <a:fillRect/>
          </a:stretch>
        </p:blipFill>
        <p:spPr>
          <a:xfrm>
            <a:off x="1831028" y="1956816"/>
            <a:ext cx="8529637" cy="1800225"/>
          </a:xfrm>
          <a:prstGeom prst="rect">
            <a:avLst/>
          </a:prstGeom>
        </p:spPr>
      </p:pic>
      <p:sp>
        <p:nvSpPr>
          <p:cNvPr id="10" name="TextBox 9"/>
          <p:cNvSpPr txBox="1"/>
          <p:nvPr/>
        </p:nvSpPr>
        <p:spPr>
          <a:xfrm>
            <a:off x="530352" y="390334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percentage on a small segment inflates; a second test answers the same question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64e53266ecf0a7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its p-value is the smallest on the page.</a:t>
            </a:r>
          </a:p>
        </p:txBody>
      </p:sp>
      <p:pic>
        <p:nvPicPr>
          <p:cNvPr id="9" name="mermaid diagram" descr="c1625a15d5586065.png"/>
          <p:cNvPicPr>
            <a:picLocks noChangeAspect="1"/>
          </p:cNvPicPr>
          <p:nvPr/>
        </p:nvPicPr>
        <p:blipFill>
          <a:blip r:embed="rId6"/>
          <a:stretch>
            <a:fillRect/>
          </a:stretch>
        </p:blipFill>
        <p:spPr>
          <a:xfrm>
            <a:off x="2188216" y="1956816"/>
            <a:ext cx="7815262"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p-value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p-value can carry a tiny finding.</a:t>
            </a:r>
          </a:p>
        </p:txBody>
      </p:sp>
      <p:pic>
        <p:nvPicPr>
          <p:cNvPr id="9" name="mermaid diagram" descr="ae91a8adc8a43fb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gap never changes and the p-value falls toward zero. The p-value measures how surely a gap beats chance; it never measures how big the gap 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in rupees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gap times the members who exist in both quarters.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segment's loss over the company's delivered revenue in Q2.</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loss a quarter against what the fix would cost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1d9c244cae2f94d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consumer bars are too small to see at this scale, which is itself the finding: size every consumer gap against a quarter that Business dominates.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sentences where the draft had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sentence for real, one for size, and the decision follows the second.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"Retail-Plus is significant, so it is our biggest problem."</a:t>
                      </a:r>
                    </a:p>
                  </a:txBody>
                  <a:tcPr marL="101600" marR="101600" marT="38100" marB="38100" anchor="ctr">
                    <a:solidFill>
                      <a:srgbClr val="FFFFFF"/>
                    </a:solidFill>
                  </a:tcPr>
                </a:tc>
                <a:tc>
                  <a:txBody>
                    <a:bodyPr/>
                    <a:lstStyle/>
                    <a:p>
                      <a:r>
                        <a:rPr sz="1400" b="0" i="0">
                          <a:solidFill>
                            <a:srgbClr val="1A1440"/>
                          </a:solidFill>
                          <a:latin typeface="Calibri"/>
                        </a:rPr>
                        <a:t>"The Retail-Plus fall is larger than the usual wobble."</a:t>
                      </a:r>
                    </a:p>
                  </a:txBody>
                  <a:tcPr marL="101600" marR="101600" marT="38100" marB="38100" anchor="ctr">
                    <a:solidFill>
                      <a:srgbClr val="FFFFFF"/>
                    </a:solidFill>
                  </a:tcPr>
                </a:tc>
              </a:tr>
              <a:tr h="611632">
                <a:tc>
                  <a:txBody>
                    <a:bodyPr/>
                    <a:lstStyle/>
                    <a:p/>
                  </a:txBody>
                  <a:tcPr marL="101600" marR="101600" marT="38100" marB="38100" anchor="ctr">
                    <a:solidFill>
                      <a:srgbClr val="F4F2FA"/>
                    </a:solidFill>
                  </a:tcPr>
                </a:tc>
                <a:tc>
                  <a:txBody>
                    <a:bodyPr/>
                    <a:lstStyle/>
                    <a:p>
                      <a:r>
                        <a:rPr sz="1400" b="0" i="0">
                          <a:solidFill>
                            <a:srgbClr val="1A1440"/>
                          </a:solidFill>
                          <a:latin typeface="Calibri"/>
                        </a:rPr>
                        <a:t>"It is worth Rs ___ a quarter, which is ___ percent of the company's delivered revenue."</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"A fix is worth funding only if it costs less than Rs ___ a quarter."</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Fill the blanks from your notebook, not from the p-value.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range, named once: the confidence interval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gap is an estimate, so a careful note gives a range of plausible sizes; building one comes later.</a:t>
            </a:r>
          </a:p>
        </p:txBody>
      </p:sp>
      <p:pic>
        <p:nvPicPr>
          <p:cNvPr id="9" name="mermaid diagram" descr="a07731f85fa470d9.png"/>
          <p:cNvPicPr>
            <a:picLocks noChangeAspect="1"/>
          </p:cNvPicPr>
          <p:nvPr/>
        </p:nvPicPr>
        <p:blipFill>
          <a:blip r:embed="rId5"/>
          <a:stretch>
            <a:fillRect/>
          </a:stretch>
        </p:blipFill>
        <p:spPr>
          <a:xfrm>
            <a:off x="2545403" y="1956816"/>
            <a:ext cx="7100887" cy="1143000"/>
          </a:xfrm>
          <a:prstGeom prst="rect">
            <a:avLst/>
          </a:prstGeom>
        </p:spPr>
      </p:pic>
      <p:sp>
        <p:nvSpPr>
          <p:cNvPr id="10" name="TextBox 9"/>
          <p:cNvSpPr txBox="1"/>
          <p:nvPr/>
        </p:nvSpPr>
        <p:spPr>
          <a:xfrm>
            <a:off x="530352" y="324612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 the name is enough: a confidence interval is that range. How it is built arrives in a later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size it, then decide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and the room decides whether the fall pays for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it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Compute the three sizes from notebook 2 and fill the fix's blanks.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fix</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retention offer of Rs 500 per member a quarter, a figure assumed for the exercise, against the fall it would have to recover.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Two sentences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for real, one for worth, read aloud to your partner.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33" name="Oval 3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Tell me how big it is in rupees, next to the whole company, and next to what the fix costs. Then tell me it is real. A small p-value on a small gap is a watch item, never a budget line.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Round 2. Worth acting on</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Real, or the wobble</a:t>
            </a:r>
          </a:p>
        </p:txBody>
      </p:sp>
      <p:sp>
        <p:nvSpPr>
          <p:cNvPr id="12" name="Rounded Rectangle 11"/>
          <p:cNvSpPr/>
          <p:nvPr/>
        </p:nvSpPr>
        <p:spPr>
          <a:xfrm>
            <a:off x="375505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Worth acting on</a:t>
            </a:r>
          </a:p>
        </p:txBody>
      </p:sp>
      <p:sp>
        <p:nvSpPr>
          <p:cNvPr id="13" name="Rounded Rectangle 12"/>
          <p:cNvSpPr/>
          <p:nvPr/>
        </p:nvSpPr>
        <p:spPr>
          <a:xfrm>
            <a:off x="565172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The count behind 40 percent</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worth it, and caused?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pic>
        <p:nvPicPr>
          <p:cNvPr id="14" name="mermaid diagram" descr="92ef42c876cc61f8.png"/>
          <p:cNvPicPr>
            <a:picLocks noChangeAspect="1"/>
          </p:cNvPicPr>
          <p:nvPr/>
        </p:nvPicPr>
        <p:blipFill>
          <a:blip r:embed="rId6"/>
          <a:stretch>
            <a:fillRect/>
          </a:stretch>
        </p:blipFill>
        <p:spPr>
          <a:xfrm>
            <a:off x="3902716" y="2983992"/>
            <a:ext cx="4386262" cy="1543050"/>
          </a:xfrm>
          <a:prstGeom prst="rect">
            <a:avLst/>
          </a:prstGeom>
        </p:spPr>
      </p:pic>
      <p:sp>
        <p:nvSpPr>
          <p:cNvPr id="15" name="Rounded Rectangle 14"/>
          <p:cNvSpPr/>
          <p:nvPr/>
        </p:nvSpPr>
        <p:spPr>
          <a:xfrm>
            <a:off x="530352" y="467334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013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9221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before answering her? a) the rise in rupees, since money is what moves; b) the number of orders and customers the rate stands on; c) whether 40 percent beats every other segment; d) Student's rise in the previous year.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e8b966b40ec251ed.png"/>
          <p:cNvPicPr>
            <a:picLocks noChangeAspect="1"/>
          </p:cNvPicPr>
          <p:nvPr/>
        </p:nvPicPr>
        <p:blipFill>
          <a:blip r:embed="rId5"/>
          <a:stretch>
            <a:fillRect/>
          </a:stretch>
        </p:blipFill>
        <p:spPr>
          <a:xfrm>
            <a:off x="1773878" y="1956816"/>
            <a:ext cx="864393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598add6b9579536c.png"/>
          <p:cNvPicPr>
            <a:picLocks noChangeAspect="1"/>
          </p:cNvPicPr>
          <p:nvPr/>
        </p:nvPicPr>
        <p:blipFill>
          <a:blip r:embed="rId6"/>
          <a:stretch>
            <a:fillRect/>
          </a:stretch>
        </p:blipFill>
        <p:spPr>
          <a:xfrm>
            <a:off x="1723872" y="1956816"/>
            <a:ext cx="8743950"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8a8465c2c9ebf86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count, then shuffle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chance reference as round one, run on the orders behind the rate.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Count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Orders and distinct customers behind Student's rate, in both quarters.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Shuffle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Deal the same orders to Q1 and Q2 at random, 5,000 times.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Share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often chance alone makes a rise of 40 percent or more.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Compare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rise on a segment the size of Retail-Core.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Count what a rate stands on before you repeat it; under thirty, it is a lead.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9" name="Oval 3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41" name="Oval 4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1" name="Oval 2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3" name="Oval 2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does not make 31 true, it makes it stable.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shuffled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shuffles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4</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Shuffle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5,000 random splits of the same orders;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31" name="Oval 30"/>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33" name="Oval 32"/>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Write the count next to the rate, and say whether chance makes that rate on that count. If it does, the line to Meera is "not yet": what we saw, what it stands on, and how many more orders would settle it.</a:t>
            </a:r>
          </a:p>
        </p:txBody>
      </p:sp>
      <p:sp>
        <p:nvSpPr>
          <p:cNvPr id="14" name="Rounded Rectangle 13"/>
          <p:cNvSpPr/>
          <p:nvPr/>
        </p:nvSpPr>
        <p:spPr>
          <a:xfrm>
            <a:off x="530352" y="35021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04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814572"/>
            <a:ext cx="237744" cy="237744"/>
          </a:xfrm>
          <a:prstGeom prst="rect">
            <a:avLst/>
          </a:prstGeom>
        </p:spPr>
      </p:pic>
      <p:sp>
        <p:nvSpPr>
          <p:cNvPr id="17" name="TextBox 16"/>
          <p:cNvSpPr txBox="1"/>
          <p:nvPr/>
        </p:nvSpPr>
        <p:spPr>
          <a:xfrm>
            <a:off x="1399031" y="36484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867912"/>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settled, and what it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of Meera's questions have a habit and a number; the third needs a fair comparison.</a:t>
            </a:r>
          </a:p>
        </p:txBody>
      </p:sp>
      <p:pic>
        <p:nvPicPr>
          <p:cNvPr id="9" name="mermaid diagram" descr="117e5037b1000e71.png"/>
          <p:cNvPicPr>
            <a:picLocks noChangeAspect="1"/>
          </p:cNvPicPr>
          <p:nvPr/>
        </p:nvPicPr>
        <p:blipFill>
          <a:blip r:embed="rId5"/>
          <a:stretch>
            <a:fillRect/>
          </a:stretch>
        </p:blipFill>
        <p:spPr>
          <a:xfrm>
            <a:off x="2616841" y="1956816"/>
            <a:ext cx="6958012" cy="2014537"/>
          </a:xfrm>
          <a:prstGeom prst="rect">
            <a:avLst/>
          </a:prstGeom>
        </p:spPr>
      </p:pic>
      <p:sp>
        <p:nvSpPr>
          <p:cNvPr id="10" name="TextBox 9"/>
          <p:cNvSpPr txBox="1"/>
          <p:nvPr/>
        </p:nvSpPr>
        <p:spPr>
          <a:xfrm>
            <a:off x="530352" y="41176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afternoon opens on the discount, unguided, with the whole note due at the end of the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3323687"/>
                <a:gridCol w="4580276"/>
                <a:gridCol w="3227026"/>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The morning's share</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About twice the morning's share</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morning counted drops. A note that tested both directions says so, and the share it reports is the two-sided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Round 1. Real, or the wobble</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Round 2. Worth acting on</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Round 3. The count behind 40 percent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