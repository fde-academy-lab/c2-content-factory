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Describe without misleading</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Yesterday you decided which of Kalpa's fifty orders were usable. Today somebody asks what they say.</a:t>
            </a:r>
          </a:p>
          <a:p>
            <a:pPr>
              <a:spcAft>
                <a:spcPts val="1000"/>
              </a:spcAft>
            </a:pPr>
            <a:r>
              <a:rPr sz="2100" b="0">
                <a:solidFill>
                  <a:srgbClr val="1C1C1A"/>
                </a:solidFill>
                <a:latin typeface="Calibri"/>
              </a:rPr>
              <a:t>The three questions this half answers: what is a typical order, what does one strange order do to that answer, and what shape is hiding behind the number you are about to send.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2524125"/>
          </a:xfrm>
          <a:prstGeom prst="rect">
            <a:avLst/>
          </a:prstGeom>
          <a:noFill/>
        </p:spPr>
        <p:txBody>
          <a:bodyPr wrap="square">
            <a:spAutoFit/>
          </a:bodyPr>
          <a:lstStyle/>
          <a:p>
            <a:pPr>
              <a:spcAft>
                <a:spcPts val="1000"/>
              </a:spcAft>
            </a:pPr>
            <a:r>
              <a:rPr sz="2100" b="0">
                <a:solidFill>
                  <a:srgbClr val="1C1C1A"/>
                </a:solidFill>
                <a:latin typeface="Calibri"/>
              </a:rPr>
              <a:t>[one column] &gt; [what is typical] &gt; [what one order does] &gt; [what the shape says] &gt; [per segment, with denominators]</a:t>
            </a:r>
          </a:p>
          <a:p>
            <a:pPr>
              <a:spcAft>
                <a:spcPts val="1000"/>
              </a:spcAft>
            </a:pPr>
            <a:r>
              <a:rPr sz="2100" b="0">
                <a:solidFill>
                  <a:srgbClr val="1C1C1A"/>
                </a:solidFill>
                <a:latin typeface="Calibri"/>
              </a:rPr>
              <a:t>You own a profiled file and a decisions log. Every number today comes off that file and nothing else. Describing data you have not cleaned is yesterday's mistake, and this room already made it once on purpose.</a:t>
            </a:r>
          </a:p>
          <a:p>
            <a:pPr>
              <a:spcAft>
                <a:spcPts val="1000"/>
              </a:spcAft>
            </a:pPr>
            <a:r>
              <a:rPr sz="2100" b="0">
                <a:solidFill>
                  <a:srgbClr val="1C1C1A"/>
                </a:solidFill>
                <a:latin typeface="Calibri"/>
              </a:rPr>
              <a:t>Two things you inherited and should keep in view: KR4201 still appears twice, because you chose to keep both rows and flag the pair. Student held twelve orders in the raw file and holds ten now, because two failed conversion.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this is going</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Two true statements about the same 44 orders:</a:t>
            </a:r>
          </a:p>
        </p:txBody>
      </p:sp>
      <p:sp>
        <p:nvSpPr>
          <p:cNvPr id="5" name="TextBox 4"/>
          <p:cNvSpPr txBox="1"/>
          <p:nvPr/>
        </p:nvSpPr>
        <p:spPr>
          <a:xfrm>
            <a:off x="777240" y="2646045"/>
            <a:ext cx="10607040" cy="666750"/>
          </a:xfrm>
          <a:prstGeom prst="rect">
            <a:avLst/>
          </a:prstGeom>
          <a:noFill/>
        </p:spPr>
        <p:txBody>
          <a:bodyPr wrap="square">
            <a:spAutoFit/>
          </a:bodyPr>
          <a:lstStyle/>
          <a:p>
            <a:pPr>
              <a:spcAft>
                <a:spcPts val="400"/>
              </a:spcAft>
            </a:pPr>
            <a:r>
              <a:rPr sz="1700" b="0">
                <a:solidFill>
                  <a:srgbClr val="2B4A7D"/>
                </a:solidFill>
                <a:latin typeface="Consolas"/>
              </a:rPr>
              <a:t>The average Kalpa order is Rs 12,753.30.</a:t>
            </a:r>
          </a:p>
          <a:p>
            <a:pPr>
              <a:spcAft>
                <a:spcPts val="400"/>
              </a:spcAft>
            </a:pPr>
            <a:r>
              <a:rPr sz="1700" b="0">
                <a:solidFill>
                  <a:srgbClr val="2B4A7D"/>
                </a:solidFill>
                <a:latin typeface="Consolas"/>
              </a:rPr>
              <a:t>Forty-three of the forty-four orders are below Rs 3,000.</a:t>
            </a:r>
          </a:p>
        </p:txBody>
      </p:sp>
      <p:sp>
        <p:nvSpPr>
          <p:cNvPr id="6" name="TextBox 5"/>
          <p:cNvSpPr txBox="1"/>
          <p:nvPr/>
        </p:nvSpPr>
        <p:spPr>
          <a:xfrm>
            <a:off x="777240" y="3449954"/>
            <a:ext cx="10607040" cy="914400"/>
          </a:xfrm>
          <a:prstGeom prst="rect">
            <a:avLst/>
          </a:prstGeom>
          <a:noFill/>
        </p:spPr>
        <p:txBody>
          <a:bodyPr wrap="square">
            <a:spAutoFit/>
          </a:bodyPr>
          <a:lstStyle/>
          <a:p>
            <a:pPr>
              <a:spcAft>
                <a:spcPts val="1000"/>
              </a:spcAft>
            </a:pPr>
            <a:r>
              <a:rPr sz="2100" b="0">
                <a:solidFill>
                  <a:srgbClr val="1C1C1A"/>
                </a:solidFill>
                <a:latin typeface="Calibri"/>
              </a:rPr>
              <a:t>Both are correct. One of them would get you removed from the account.</a:t>
            </a:r>
          </a:p>
          <a:p>
            <a:pPr>
              <a:spcAft>
                <a:spcPts val="1000"/>
              </a:spcAft>
            </a:pPr>
            <a:r>
              <a:rPr sz="2100" b="0">
                <a:solidFill>
                  <a:srgbClr val="1C1C1A"/>
                </a:solidFill>
                <a:latin typeface="Calibri"/>
              </a:rPr>
              <a:t>By the end of this half you will know which number to send and what sentence has to go with it.</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anchor</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Somebody outside your team asks a question you have heard a hundred times:</a:t>
            </a:r>
          </a:p>
          <a:p>
            <a:pPr>
              <a:spcAft>
                <a:spcPts val="1000"/>
              </a:spcAft>
            </a:pPr>
            <a:r>
              <a:rPr sz="2100" b="0">
                <a:solidFill>
                  <a:srgbClr val="1C1C1A"/>
                </a:solidFill>
                <a:latin typeface="Calibri"/>
              </a:rPr>
              <a:t>&gt; What is our average order value?</a:t>
            </a:r>
          </a:p>
          <a:p>
            <a:pPr>
              <a:spcAft>
                <a:spcPts val="1000"/>
              </a:spcAft>
            </a:pPr>
            <a:r>
              <a:rPr sz="2100" b="0">
                <a:solidFill>
                  <a:srgbClr val="1C1C1A"/>
                </a:solidFill>
                <a:latin typeface="Calibri"/>
              </a:rPr>
              <a:t>It sounds like a request for one number. It is a request for a description of a shape, and the shape is what nobody has looked at yet.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whole day in one picture</a:t>
            </a:r>
          </a:p>
        </p:txBody>
      </p:sp>
      <p:pic>
        <p:nvPicPr>
          <p:cNvPr id="4" name="Picture 3" descr="421083506242fccb.png"/>
          <p:cNvPicPr>
            <a:picLocks noChangeAspect="1"/>
          </p:cNvPicPr>
          <p:nvPr/>
        </p:nvPicPr>
        <p:blipFill>
          <a:blip r:embed="rId2"/>
          <a:stretch>
            <a:fillRect/>
          </a:stretch>
        </p:blipFill>
        <p:spPr>
          <a:xfrm>
            <a:off x="777240" y="1965960"/>
            <a:ext cx="10607040" cy="655961"/>
          </a:xfrm>
          <a:prstGeom prst="rect">
            <a:avLst/>
          </a:prstGeom>
        </p:spPr>
      </p:pic>
      <p:sp>
        <p:nvSpPr>
          <p:cNvPr id="5" name="TextBox 4"/>
          <p:cNvSpPr txBox="1"/>
          <p:nvPr/>
        </p:nvSpPr>
        <p:spPr>
          <a:xfrm>
            <a:off x="777240" y="2759081"/>
            <a:ext cx="10607040" cy="790575"/>
          </a:xfrm>
          <a:prstGeom prst="rect">
            <a:avLst/>
          </a:prstGeom>
          <a:noFill/>
        </p:spPr>
        <p:txBody>
          <a:bodyPr wrap="square">
            <a:spAutoFit/>
          </a:bodyPr>
          <a:lstStyle/>
          <a:p>
            <a:pPr>
              <a:spcAft>
                <a:spcPts val="1000"/>
              </a:spcAft>
            </a:pPr>
            <a:r>
              <a:rPr sz="2100" b="0">
                <a:solidFill>
                  <a:srgbClr val="1C1C1A"/>
                </a:solidFill>
                <a:latin typeface="Calibri"/>
              </a:rPr>
              <a:t>Half one is the first four stops. Half two is the last one, and it is the one that decides whether anybody should act on your number.</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1: WHAT IS TYPICAL</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a:t>
            </a:r>
            <a:r>
              <a:rPr sz="2100" b="1">
                <a:solidFill>
                  <a:srgbClr val="FFFFFF"/>
                </a:solidFill>
                <a:latin typeface="Calibri"/>
              </a:rPr>
              <a:t>[what is typical]</a:t>
            </a:r>
            <a:r>
              <a:rPr sz="2100" b="0">
                <a:solidFill>
                  <a:srgbClr val="FFFFFF"/>
                </a:solidFill>
                <a:latin typeface="Calibri"/>
              </a:rPr>
              <a:t> &gt; [what one order does] &gt; [what the shape says] &gt; [per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Seven orders, on paper</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The first seven orders in your profiled file, amount column only:</a:t>
            </a:r>
          </a:p>
        </p:txBody>
      </p:sp>
      <p:sp>
        <p:nvSpPr>
          <p:cNvPr id="5" name="TextBox 4"/>
          <p:cNvSpPr txBox="1"/>
          <p:nvPr/>
        </p:nvSpPr>
        <p:spPr>
          <a:xfrm>
            <a:off x="777240" y="2646045"/>
            <a:ext cx="10607040" cy="502920"/>
          </a:xfrm>
          <a:prstGeom prst="rect">
            <a:avLst/>
          </a:prstGeom>
          <a:noFill/>
        </p:spPr>
        <p:txBody>
          <a:bodyPr wrap="square">
            <a:spAutoFit/>
          </a:bodyPr>
          <a:lstStyle/>
          <a:p>
            <a:pPr>
              <a:spcAft>
                <a:spcPts val="400"/>
              </a:spcAft>
            </a:pPr>
            <a:r>
              <a:rPr sz="1700" b="0">
                <a:solidFill>
                  <a:srgbClr val="2B4A7D"/>
                </a:solidFill>
                <a:latin typeface="Consolas"/>
              </a:rPr>
              <a:t>1280   1865   2270   2835   1310   1145   1030</a:t>
            </a:r>
          </a:p>
        </p:txBody>
      </p:sp>
      <p:sp>
        <p:nvSpPr>
          <p:cNvPr id="6" name="TextBox 5"/>
          <p:cNvSpPr txBox="1"/>
          <p:nvPr/>
        </p:nvSpPr>
        <p:spPr>
          <a:xfrm>
            <a:off x="777240" y="3286125"/>
            <a:ext cx="10607040" cy="542925"/>
          </a:xfrm>
          <a:prstGeom prst="rect">
            <a:avLst/>
          </a:prstGeom>
          <a:noFill/>
        </p:spPr>
        <p:txBody>
          <a:bodyPr wrap="square">
            <a:spAutoFit/>
          </a:bodyPr>
          <a:lstStyle/>
          <a:p>
            <a:pPr>
              <a:spcAft>
                <a:spcPts val="1000"/>
              </a:spcAft>
            </a:pPr>
            <a:r>
              <a:rPr sz="2100" b="0">
                <a:solidFill>
                  <a:srgbClr val="1C1C1A"/>
                </a:solidFill>
                <a:latin typeface="Calibri"/>
              </a:rPr>
              <a:t>Pens down on the keyboard. This one is done by hand.</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Mean: add them up, share them out</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1280 + 1865 + 2270 + 2835 + 1310 + 1145 + 1030 = 11735</a:t>
            </a:r>
          </a:p>
          <a:p>
            <a:pPr>
              <a:spcAft>
                <a:spcPts val="400"/>
              </a:spcAft>
            </a:pPr>
            <a:r>
              <a:rPr sz="1700" b="0">
                <a:solidFill>
                  <a:srgbClr val="2B4A7D"/>
                </a:solidFill>
                <a:latin typeface="Consolas"/>
              </a:rPr>
              <a:t>11735 / 7 = 1676.43</a:t>
            </a:r>
          </a:p>
        </p:txBody>
      </p:sp>
      <p:sp>
        <p:nvSpPr>
          <p:cNvPr id="5" name="TextBox 4"/>
          <p:cNvSpPr txBox="1"/>
          <p:nvPr/>
        </p:nvSpPr>
        <p:spPr>
          <a:xfrm>
            <a:off x="777240" y="2769870"/>
            <a:ext cx="10607040" cy="1162050"/>
          </a:xfrm>
          <a:prstGeom prst="rect">
            <a:avLst/>
          </a:prstGeom>
          <a:noFill/>
        </p:spPr>
        <p:txBody>
          <a:bodyPr wrap="square">
            <a:spAutoFit/>
          </a:bodyPr>
          <a:lstStyle/>
          <a:p>
            <a:pPr>
              <a:spcAft>
                <a:spcPts val="1000"/>
              </a:spcAft>
            </a:pPr>
            <a:r>
              <a:rPr sz="2100" b="0">
                <a:solidFill>
                  <a:srgbClr val="1C1C1A"/>
                </a:solidFill>
                <a:latin typeface="Calibri"/>
              </a:rPr>
              <a:t>The mean is Rs 1,676.43. It is the value every order would carry if the total were shared out equally.</a:t>
            </a:r>
          </a:p>
          <a:p>
            <a:pPr>
              <a:spcAft>
                <a:spcPts val="1000"/>
              </a:spcAft>
            </a:pPr>
            <a:r>
              <a:rPr sz="2100" b="0">
                <a:solidFill>
                  <a:srgbClr val="1C1C1A"/>
                </a:solidFill>
                <a:latin typeface="Calibri"/>
              </a:rPr>
              <a:t>It uses every order, which is its strength and the whole of its weakness.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Median: stand them in a line, take the middle one</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400"/>
              </a:spcAft>
            </a:pPr>
            <a:r>
              <a:rPr sz="1700" b="0">
                <a:solidFill>
                  <a:srgbClr val="2B4A7D"/>
                </a:solidFill>
                <a:latin typeface="Consolas"/>
              </a:rPr>
              <a:t>1030   1145   1280   [1310]   1865   2270   2835</a:t>
            </a:r>
          </a:p>
          <a:p>
            <a:pPr>
              <a:spcAft>
                <a:spcPts val="400"/>
              </a:spcAft>
            </a:pPr>
            <a:r>
              <a:rPr sz="1700" b="0">
                <a:solidFill>
                  <a:srgbClr val="2B4A7D"/>
                </a:solidFill>
                <a:latin typeface="Consolas"/>
              </a:rPr>
              <a:t>                       ^</a:t>
            </a:r>
          </a:p>
          <a:p>
            <a:pPr>
              <a:spcAft>
                <a:spcPts val="400"/>
              </a:spcAft>
            </a:pPr>
            <a:r>
              <a:rPr sz="1700" b="0">
                <a:solidFill>
                  <a:srgbClr val="2B4A7D"/>
                </a:solidFill>
                <a:latin typeface="Consolas"/>
              </a:rPr>
              <a:t>                  4th of 7</a:t>
            </a:r>
          </a:p>
        </p:txBody>
      </p:sp>
      <p:sp>
        <p:nvSpPr>
          <p:cNvPr id="5" name="TextBox 4"/>
          <p:cNvSpPr txBox="1"/>
          <p:nvPr/>
        </p:nvSpPr>
        <p:spPr>
          <a:xfrm>
            <a:off x="777240" y="3017520"/>
            <a:ext cx="10607040" cy="914400"/>
          </a:xfrm>
          <a:prstGeom prst="rect">
            <a:avLst/>
          </a:prstGeom>
          <a:noFill/>
        </p:spPr>
        <p:txBody>
          <a:bodyPr wrap="square">
            <a:spAutoFit/>
          </a:bodyPr>
          <a:lstStyle/>
          <a:p>
            <a:pPr>
              <a:spcAft>
                <a:spcPts val="1000"/>
              </a:spcAft>
            </a:pPr>
            <a:r>
              <a:rPr sz="2100" b="0">
                <a:solidFill>
                  <a:srgbClr val="1C1C1A"/>
                </a:solidFill>
                <a:latin typeface="Calibri"/>
              </a:rPr>
              <a:t>The median is Rs 1,310. Half the orders sit at or below it, half at or above it.</a:t>
            </a:r>
          </a:p>
          <a:p>
            <a:pPr>
              <a:spcAft>
                <a:spcPts val="1000"/>
              </a:spcAft>
            </a:pPr>
            <a:r>
              <a:rPr sz="2100" b="0">
                <a:solidFill>
                  <a:srgbClr val="1C1C1A"/>
                </a:solidFill>
                <a:latin typeface="Calibri"/>
              </a:rPr>
              <a:t>It uses the order of the records and almost nothing about their size.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Now swap one order</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Keep the same seven. Replace the largest, Rs 2,835, with the largest order in the real file: Rs 480,000.</a:t>
            </a:r>
          </a:p>
        </p:txBody>
      </p:sp>
      <p:graphicFrame>
        <p:nvGraphicFramePr>
          <p:cNvPr id="5" name="Table 4"/>
          <p:cNvGraphicFramePr>
            <a:graphicFrameLocks noGrp="1"/>
          </p:cNvGraphicFramePr>
          <p:nvPr/>
        </p:nvGraphicFramePr>
        <p:xfrm>
          <a:off x="777240" y="2893695"/>
          <a:ext cx="10607040" cy="1152144"/>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Statistic</a:t>
                      </a:r>
                    </a:p>
                  </a:txBody>
                  <a:tcPr marT="25400" marB="25400"/>
                </a:tc>
                <a:tc>
                  <a:txBody>
                    <a:bodyPr/>
                    <a:lstStyle/>
                    <a:p>
                      <a:r>
                        <a:rPr sz="1300" b="1">
                          <a:solidFill>
                            <a:srgbClr val="2B4A7D"/>
                          </a:solidFill>
                          <a:latin typeface="Calibri"/>
                        </a:rPr>
                        <a:t>Before</a:t>
                      </a:r>
                    </a:p>
                  </a:txBody>
                  <a:tcPr marT="25400" marB="25400"/>
                </a:tc>
                <a:tc>
                  <a:txBody>
                    <a:bodyPr/>
                    <a:lstStyle/>
                    <a:p>
                      <a:r>
                        <a:rPr sz="1300" b="1">
                          <a:solidFill>
                            <a:srgbClr val="2B4A7D"/>
                          </a:solidFill>
                          <a:latin typeface="Calibri"/>
                        </a:rPr>
                        <a:t>After</a:t>
                      </a:r>
                    </a:p>
                  </a:txBody>
                  <a:tcPr marT="25400" marB="25400"/>
                </a:tc>
              </a:tr>
              <a:tr h="384048">
                <a:tc>
                  <a:txBody>
                    <a:bodyPr/>
                    <a:lstStyle/>
                    <a:p>
                      <a:r>
                        <a:rPr sz="1400" b="0">
                          <a:solidFill>
                            <a:srgbClr val="1C1C1A"/>
                          </a:solidFill>
                          <a:latin typeface="Calibri"/>
                        </a:rPr>
                        <a:t>Mean</a:t>
                      </a:r>
                    </a:p>
                  </a:txBody>
                  <a:tcPr marT="25400" marB="25400"/>
                </a:tc>
                <a:tc>
                  <a:txBody>
                    <a:bodyPr/>
                    <a:lstStyle/>
                    <a:p>
                      <a:r>
                        <a:rPr sz="1400" b="0">
                          <a:solidFill>
                            <a:srgbClr val="1C1C1A"/>
                          </a:solidFill>
                          <a:latin typeface="Calibri"/>
                        </a:rPr>
                        <a:t>Rs 1,676.43</a:t>
                      </a:r>
                    </a:p>
                  </a:txBody>
                  <a:tcPr marT="25400" marB="25400"/>
                </a:tc>
                <a:tc>
                  <a:txBody>
                    <a:bodyPr/>
                    <a:lstStyle/>
                    <a:p>
                      <a:r>
                        <a:rPr sz="1400" b="0">
                          <a:solidFill>
                            <a:srgbClr val="1C1C1A"/>
                          </a:solidFill>
                          <a:latin typeface="Calibri"/>
                        </a:rPr>
                        <a:t>Rs 69,842.86</a:t>
                      </a:r>
                    </a:p>
                  </a:txBody>
                  <a:tcPr marT="25400" marB="25400"/>
                </a:tc>
              </a:tr>
              <a:tr h="384048">
                <a:tc>
                  <a:txBody>
                    <a:bodyPr/>
                    <a:lstStyle/>
                    <a:p>
                      <a:r>
                        <a:rPr sz="1400" b="0">
                          <a:solidFill>
                            <a:srgbClr val="1C1C1A"/>
                          </a:solidFill>
                          <a:latin typeface="Calibri"/>
                        </a:rPr>
                        <a:t>Median</a:t>
                      </a:r>
                    </a:p>
                  </a:txBody>
                  <a:tcPr marT="25400" marB="25400"/>
                </a:tc>
                <a:tc>
                  <a:txBody>
                    <a:bodyPr/>
                    <a:lstStyle/>
                    <a:p>
                      <a:r>
                        <a:rPr sz="1400" b="0">
                          <a:solidFill>
                            <a:srgbClr val="1C1C1A"/>
                          </a:solidFill>
                          <a:latin typeface="Calibri"/>
                        </a:rPr>
                        <a:t>Rs 1,310</a:t>
                      </a:r>
                    </a:p>
                  </a:txBody>
                  <a:tcPr marT="25400" marB="25400"/>
                </a:tc>
                <a:tc>
                  <a:txBody>
                    <a:bodyPr/>
                    <a:lstStyle/>
                    <a:p>
                      <a:r>
                        <a:rPr sz="1400" b="0">
                          <a:solidFill>
                            <a:srgbClr val="1C1C1A"/>
                          </a:solidFill>
                          <a:latin typeface="Calibri"/>
                        </a:rPr>
                        <a:t>Rs 1,310</a:t>
                      </a:r>
                    </a:p>
                  </a:txBody>
                  <a:tcPr marT="25400" marB="25400"/>
                </a:tc>
              </a:tr>
            </a:tbl>
          </a:graphicData>
        </a:graphic>
      </p:graphicFrame>
      <p:sp>
        <p:nvSpPr>
          <p:cNvPr id="6" name="TextBox 5"/>
          <p:cNvSpPr txBox="1"/>
          <p:nvPr/>
        </p:nvSpPr>
        <p:spPr>
          <a:xfrm>
            <a:off x="777240" y="4228719"/>
            <a:ext cx="10607040" cy="914400"/>
          </a:xfrm>
          <a:prstGeom prst="rect">
            <a:avLst/>
          </a:prstGeom>
          <a:noFill/>
        </p:spPr>
        <p:txBody>
          <a:bodyPr wrap="square">
            <a:spAutoFit/>
          </a:bodyPr>
          <a:lstStyle/>
          <a:p>
            <a:pPr>
              <a:spcAft>
                <a:spcPts val="1000"/>
              </a:spcAft>
            </a:pPr>
            <a:r>
              <a:rPr sz="2100" b="0">
                <a:solidFill>
                  <a:srgbClr val="1C1C1A"/>
                </a:solidFill>
                <a:latin typeface="Calibri"/>
              </a:rPr>
              <a:t>One order moved the mean by nearly forty-two times. The median did not move at all.</a:t>
            </a:r>
          </a:p>
          <a:p>
            <a:pPr>
              <a:spcAft>
                <a:spcPts val="1000"/>
              </a:spcAft>
            </a:pPr>
            <a:r>
              <a:rPr sz="2100" b="0">
                <a:solidFill>
                  <a:srgbClr val="1C1C1A"/>
                </a:solidFill>
                <a:latin typeface="Calibri"/>
              </a:rPr>
              <a:t>That is the entire day in one table.</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three, written as arithmetic</a:t>
            </a:r>
          </a:p>
        </p:txBody>
      </p:sp>
      <p:sp>
        <p:nvSpPr>
          <p:cNvPr id="5" name="TextBox 4"/>
          <p:cNvSpPr txBox="1"/>
          <p:nvPr/>
        </p:nvSpPr>
        <p:spPr>
          <a:xfrm>
            <a:off x="777240" y="1965960"/>
            <a:ext cx="10607040" cy="2771775"/>
          </a:xfrm>
          <a:prstGeom prst="rect">
            <a:avLst/>
          </a:prstGeom>
          <a:noFill/>
        </p:spPr>
        <p:txBody>
          <a:bodyPr wrap="square">
            <a:spAutoFit/>
          </a:bodyPr>
          <a:lstStyle/>
          <a:p>
            <a:pPr>
              <a:spcAft>
                <a:spcPts val="1000"/>
              </a:spcAft>
            </a:pPr>
            <a:r>
              <a:rPr sz="2100" b="0">
                <a:solidFill>
                  <a:srgbClr val="1C1C1A"/>
                </a:solidFill>
                <a:latin typeface="Calibri"/>
              </a:rPr>
              <a:t>Sorted values are written $x_1 \le x_2 \le \dots \le x_n$.</a:t>
            </a:r>
          </a:p>
          <a:p>
            <a:pPr>
              <a:spcAft>
                <a:spcPts val="1000"/>
              </a:spcAft>
            </a:pPr>
            <a:r>
              <a:rPr sz="2100" b="0">
                <a:solidFill>
                  <a:srgbClr val="1C1C1A"/>
                </a:solidFill>
                <a:latin typeface="Calibri"/>
              </a:rPr>
              <a:t>$$\text{mean} = \bar{x} = \frac{1}{n}\sum_{i=1}^{n} x_i$$</a:t>
            </a:r>
          </a:p>
          <a:p>
            <a:pPr>
              <a:spcAft>
                <a:spcPts val="1000"/>
              </a:spcAft>
            </a:pPr>
            <a:r>
              <a:rPr sz="2100" b="0">
                <a:solidFill>
                  <a:srgbClr val="1C1C1A"/>
                </a:solidFill>
                <a:latin typeface="Calibri"/>
              </a:rPr>
              <a:t>$$\text{median} = \begin{cases} x_{(n+1)/2} &amp; n \text{ odd} \\[4pt] \dfrac{x_{n/2} + x_{n/2+1}}{2} &amp; n \text{ even} \end{cases}$$</a:t>
            </a:r>
          </a:p>
          <a:p>
            <a:pPr>
              <a:spcAft>
                <a:spcPts val="1000"/>
              </a:spcAft>
            </a:pPr>
            <a:r>
              <a:rPr sz="2100" b="0">
                <a:solidFill>
                  <a:srgbClr val="1C1C1A"/>
                </a:solidFill>
                <a:latin typeface="Calibri"/>
              </a:rPr>
              <a:t>$$\text{mode} = \text{the value } x \text{ occurring most often}$$</a:t>
            </a:r>
          </a:p>
          <a:p>
            <a:pPr>
              <a:spcAft>
                <a:spcPts val="1000"/>
              </a:spcAft>
            </a:pPr>
            <a:r>
              <a:rPr sz="2100" b="0">
                <a:solidFill>
                  <a:srgbClr val="1C1C1A"/>
                </a:solidFill>
                <a:latin typeface="Calibri"/>
              </a:rPr>
              <a:t>Read the mean formula and notice that every $x_i$ appears in it exactly once, with equal weight. Read the median formula and notice that almost none of them appear at all. That difference is not a detail, it is the whole of today.</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Mean and median as two different machines</a:t>
            </a:r>
          </a:p>
        </p:txBody>
      </p:sp>
      <p:pic>
        <p:nvPicPr>
          <p:cNvPr id="5" name="Picture 4" descr="f541c1545d0993c3.png"/>
          <p:cNvPicPr>
            <a:picLocks noChangeAspect="1"/>
          </p:cNvPicPr>
          <p:nvPr/>
        </p:nvPicPr>
        <p:blipFill>
          <a:blip r:embed="rId2"/>
          <a:stretch>
            <a:fillRect/>
          </a:stretch>
        </p:blipFill>
        <p:spPr>
          <a:xfrm>
            <a:off x="777240" y="1965960"/>
            <a:ext cx="10607040" cy="1114317"/>
          </a:xfrm>
          <a:prstGeom prst="rect">
            <a:avLst/>
          </a:prstGeom>
        </p:spPr>
      </p:pic>
      <p:sp>
        <p:nvSpPr>
          <p:cNvPr id="6" name="TextBox 5"/>
          <p:cNvSpPr txBox="1"/>
          <p:nvPr/>
        </p:nvSpPr>
        <p:spPr>
          <a:xfrm>
            <a:off x="777240" y="3217437"/>
            <a:ext cx="10607040" cy="790575"/>
          </a:xfrm>
          <a:prstGeom prst="rect">
            <a:avLst/>
          </a:prstGeom>
          <a:noFill/>
        </p:spPr>
        <p:txBody>
          <a:bodyPr wrap="square">
            <a:spAutoFit/>
          </a:bodyPr>
          <a:lstStyle/>
          <a:p>
            <a:pPr>
              <a:spcAft>
                <a:spcPts val="1000"/>
              </a:spcAft>
            </a:pPr>
            <a:r>
              <a:rPr sz="2100" b="0">
                <a:solidFill>
                  <a:srgbClr val="1C1C1A"/>
                </a:solidFill>
                <a:latin typeface="Calibri"/>
              </a:rPr>
              <a:t>The mean asks how much. The median asks how many are on each side. That is why one of them can be dragged by a single record and the other cannot.</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Mode: the value that shows up most</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In your 44 orders, the most repeated amount appears </a:t>
            </a:r>
            <a:r>
              <a:rPr sz="2100" b="1">
                <a:solidFill>
                  <a:srgbClr val="1C1C1A"/>
                </a:solidFill>
                <a:latin typeface="Calibri"/>
              </a:rPr>
              <a:t>twice</a:t>
            </a:r>
            <a:r>
              <a:rPr sz="2100" b="0">
                <a:solidFill>
                  <a:srgbClr val="1C1C1A"/>
                </a:solidFill>
                <a:latin typeface="Calibri"/>
              </a:rPr>
              <a:t>.</a:t>
            </a:r>
          </a:p>
          <a:p>
            <a:pPr>
              <a:spcAft>
                <a:spcPts val="1000"/>
              </a:spcAft>
            </a:pPr>
            <a:r>
              <a:rPr sz="2100" b="0">
                <a:solidFill>
                  <a:srgbClr val="1C1C1A"/>
                </a:solidFill>
                <a:latin typeface="Calibri"/>
              </a:rPr>
              <a:t>Twice out of forty-four. It describes four percent of the file and nothing else.</a:t>
            </a:r>
          </a:p>
          <a:p>
            <a:pPr>
              <a:spcAft>
                <a:spcPts val="1000"/>
              </a:spcAft>
            </a:pPr>
            <a:r>
              <a:rPr sz="2100" b="0">
                <a:solidFill>
                  <a:srgbClr val="1C1C1A"/>
                </a:solidFill>
                <a:latin typeface="Calibri"/>
              </a:rPr>
              <a:t>Mode earns its keep on categories, where "the most common segment" or "the most common status" is a real answer. On a money column it is close to useless, and knowing why is more valuable than knowing the definition.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How wrong can the data be before the statistic is wrong</a:t>
            </a:r>
          </a:p>
        </p:txBody>
      </p:sp>
      <p:sp>
        <p:nvSpPr>
          <p:cNvPr id="5" name="TextBox 4"/>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Ask of any summary: how many records would have to be corrupted before the number stops describing the file.</a:t>
            </a:r>
          </a:p>
        </p:txBody>
      </p:sp>
      <p:graphicFrame>
        <p:nvGraphicFramePr>
          <p:cNvPr id="6" name="Table 5"/>
          <p:cNvGraphicFramePr>
            <a:graphicFrameLocks noGrp="1"/>
          </p:cNvGraphicFramePr>
          <p:nvPr/>
        </p:nvGraphicFramePr>
        <p:xfrm>
          <a:off x="777240" y="2893695"/>
          <a:ext cx="10607040" cy="1536192"/>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Statistic</a:t>
                      </a:r>
                    </a:p>
                  </a:txBody>
                  <a:tcPr marT="25400" marB="25400"/>
                </a:tc>
                <a:tc>
                  <a:txBody>
                    <a:bodyPr/>
                    <a:lstStyle/>
                    <a:p>
                      <a:r>
                        <a:rPr sz="1300" b="1">
                          <a:solidFill>
                            <a:srgbClr val="2B4A7D"/>
                          </a:solidFill>
                          <a:latin typeface="Calibri"/>
                        </a:rPr>
                        <a:t>Records that must be wrong</a:t>
                      </a:r>
                    </a:p>
                  </a:txBody>
                  <a:tcPr marT="25400" marB="25400"/>
                </a:tc>
                <a:tc>
                  <a:txBody>
                    <a:bodyPr/>
                    <a:lstStyle/>
                    <a:p>
                      <a:r>
                        <a:rPr sz="1300" b="1">
                          <a:solidFill>
                            <a:srgbClr val="2B4A7D"/>
                          </a:solidFill>
                          <a:latin typeface="Calibri"/>
                        </a:rPr>
                        <a:t>As a share of today's 44</a:t>
                      </a:r>
                    </a:p>
                  </a:txBody>
                  <a:tcPr marT="25400" marB="25400"/>
                </a:tc>
              </a:tr>
              <a:tr h="384048">
                <a:tc>
                  <a:txBody>
                    <a:bodyPr/>
                    <a:lstStyle/>
                    <a:p>
                      <a:r>
                        <a:rPr sz="1400" b="0">
                          <a:solidFill>
                            <a:srgbClr val="1C1C1A"/>
                          </a:solidFill>
                          <a:latin typeface="Calibri"/>
                        </a:rPr>
                        <a:t>Mean</a:t>
                      </a:r>
                    </a:p>
                  </a:txBody>
                  <a:tcPr marT="25400" marB="25400"/>
                </a:tc>
                <a:tc>
                  <a:txBody>
                    <a:bodyPr/>
                    <a:lstStyle/>
                    <a:p>
                      <a:r>
                        <a:rPr sz="1400" b="0">
                          <a:solidFill>
                            <a:srgbClr val="1C1C1A"/>
                          </a:solidFill>
                          <a:latin typeface="Calibri"/>
                        </a:rPr>
                        <a:t>One is enough, if it is extreme enough</a:t>
                      </a:r>
                    </a:p>
                  </a:txBody>
                  <a:tcPr marT="25400" marB="25400"/>
                </a:tc>
                <a:tc>
                  <a:txBody>
                    <a:bodyPr/>
                    <a:lstStyle/>
                    <a:p>
                      <a:r>
                        <a:rPr sz="1400" b="0">
                          <a:solidFill>
                            <a:srgbClr val="1C1C1A"/>
                          </a:solidFill>
                          <a:latin typeface="Calibri"/>
                        </a:rPr>
                        <a:t>2.3 percent</a:t>
                      </a:r>
                    </a:p>
                  </a:txBody>
                  <a:tcPr marT="25400" marB="25400"/>
                </a:tc>
              </a:tr>
              <a:tr h="384048">
                <a:tc>
                  <a:txBody>
                    <a:bodyPr/>
                    <a:lstStyle/>
                    <a:p>
                      <a:r>
                        <a:rPr sz="1400" b="0">
                          <a:solidFill>
                            <a:srgbClr val="1C1C1A"/>
                          </a:solidFill>
                          <a:latin typeface="Calibri"/>
                        </a:rPr>
                        <a:t>Median</a:t>
                      </a:r>
                    </a:p>
                  </a:txBody>
                  <a:tcPr marT="25400" marB="25400"/>
                </a:tc>
                <a:tc>
                  <a:txBody>
                    <a:bodyPr/>
                    <a:lstStyle/>
                    <a:p>
                      <a:r>
                        <a:rPr sz="1400" b="0">
                          <a:solidFill>
                            <a:srgbClr val="1C1C1A"/>
                          </a:solidFill>
                          <a:latin typeface="Calibri"/>
                        </a:rPr>
                        <a:t>Half the file, because the middle position cannot be moved from one side alone</a:t>
                      </a:r>
                    </a:p>
                  </a:txBody>
                  <a:tcPr marT="25400" marB="25400"/>
                </a:tc>
                <a:tc>
                  <a:txBody>
                    <a:bodyPr/>
                    <a:lstStyle/>
                    <a:p>
                      <a:r>
                        <a:rPr sz="1400" b="0">
                          <a:solidFill>
                            <a:srgbClr val="1C1C1A"/>
                          </a:solidFill>
                          <a:latin typeface="Calibri"/>
                        </a:rPr>
                        <a:t>50 percent</a:t>
                      </a:r>
                    </a:p>
                  </a:txBody>
                  <a:tcPr marT="25400" marB="25400"/>
                </a:tc>
              </a:tr>
              <a:tr h="384048">
                <a:tc>
                  <a:txBody>
                    <a:bodyPr/>
                    <a:lstStyle/>
                    <a:p>
                      <a:r>
                        <a:rPr sz="1400" b="0">
                          <a:solidFill>
                            <a:srgbClr val="1C1C1A"/>
                          </a:solidFill>
                          <a:latin typeface="Calibri"/>
                        </a:rPr>
                        <a:t>Mode</a:t>
                      </a:r>
                    </a:p>
                  </a:txBody>
                  <a:tcPr marT="25400" marB="25400"/>
                </a:tc>
                <a:tc>
                  <a:txBody>
                    <a:bodyPr/>
                    <a:lstStyle/>
                    <a:p>
                      <a:r>
                        <a:rPr sz="1400" b="0">
                          <a:solidFill>
                            <a:srgbClr val="1C1C1A"/>
                          </a:solidFill>
                          <a:latin typeface="Calibri"/>
                        </a:rPr>
                        <a:t>Enough repeats of one value to overtake the current winner, so it depends entirely on the data</a:t>
                      </a:r>
                    </a:p>
                  </a:txBody>
                  <a:tcPr marT="25400" marB="25400"/>
                </a:tc>
                <a:tc>
                  <a:txBody>
                    <a:bodyPr/>
                    <a:lstStyle/>
                    <a:p>
                      <a:r>
                        <a:rPr sz="1400" b="0">
                          <a:solidFill>
                            <a:srgbClr val="1C1C1A"/>
                          </a:solidFill>
                          <a:latin typeface="Calibri"/>
                        </a:rPr>
                        <a:t>Not fixed</a:t>
                      </a:r>
                    </a:p>
                  </a:txBody>
                  <a:tcPr marT="25400" marB="25400"/>
                </a:tc>
              </a:tr>
            </a:tbl>
          </a:graphicData>
        </a:graphic>
      </p:graphicFrame>
      <p:sp>
        <p:nvSpPr>
          <p:cNvPr id="7" name="TextBox 6"/>
          <p:cNvSpPr txBox="1"/>
          <p:nvPr/>
        </p:nvSpPr>
        <p:spPr>
          <a:xfrm>
            <a:off x="777240" y="4612767"/>
            <a:ext cx="10607040" cy="790575"/>
          </a:xfrm>
          <a:prstGeom prst="rect">
            <a:avLst/>
          </a:prstGeom>
          <a:noFill/>
        </p:spPr>
        <p:txBody>
          <a:bodyPr wrap="square">
            <a:spAutoFit/>
          </a:bodyPr>
          <a:lstStyle/>
          <a:p>
            <a:pPr>
              <a:spcAft>
                <a:spcPts val="1000"/>
              </a:spcAft>
            </a:pPr>
            <a:r>
              <a:rPr sz="2100" b="0">
                <a:solidFill>
                  <a:srgbClr val="1C1C1A"/>
                </a:solidFill>
                <a:latin typeface="Calibri"/>
              </a:rPr>
              <a:t>This is the reason a median is the safer default on a column you have not fully audited. It is not that the median is more accurate. It is that it is harder to break.</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Three answers, three questions</a:t>
            </a:r>
          </a:p>
        </p:txBody>
      </p:sp>
      <p:graphicFrame>
        <p:nvGraphicFramePr>
          <p:cNvPr id="4" name="Table 3"/>
          <p:cNvGraphicFramePr>
            <a:graphicFrameLocks noGrp="1"/>
          </p:cNvGraphicFramePr>
          <p:nvPr/>
        </p:nvGraphicFramePr>
        <p:xfrm>
          <a:off x="777240" y="1965960"/>
          <a:ext cx="10607040" cy="1536192"/>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Statistic</a:t>
                      </a:r>
                    </a:p>
                  </a:txBody>
                  <a:tcPr marT="25400" marB="25400"/>
                </a:tc>
                <a:tc>
                  <a:txBody>
                    <a:bodyPr/>
                    <a:lstStyle/>
                    <a:p>
                      <a:r>
                        <a:rPr sz="1300" b="1">
                          <a:solidFill>
                            <a:srgbClr val="2B4A7D"/>
                          </a:solidFill>
                          <a:latin typeface="Calibri"/>
                        </a:rPr>
                        <a:t>The question it actually answers</a:t>
                      </a:r>
                    </a:p>
                  </a:txBody>
                  <a:tcPr marT="25400" marB="25400"/>
                </a:tc>
              </a:tr>
              <a:tr h="384048">
                <a:tc>
                  <a:txBody>
                    <a:bodyPr/>
                    <a:lstStyle/>
                    <a:p>
                      <a:r>
                        <a:rPr sz="1400" b="0">
                          <a:solidFill>
                            <a:srgbClr val="1C1C1A"/>
                          </a:solidFill>
                          <a:latin typeface="Calibri"/>
                        </a:rPr>
                        <a:t>Mean</a:t>
                      </a:r>
                    </a:p>
                  </a:txBody>
                  <a:tcPr marT="25400" marB="25400"/>
                </a:tc>
                <a:tc>
                  <a:txBody>
                    <a:bodyPr/>
                    <a:lstStyle/>
                    <a:p>
                      <a:r>
                        <a:rPr sz="1400" b="0">
                          <a:solidFill>
                            <a:srgbClr val="1C1C1A"/>
                          </a:solidFill>
                          <a:latin typeface="Calibri"/>
                        </a:rPr>
                        <a:t>If the total were shared equally, what would each order carry</a:t>
                      </a:r>
                    </a:p>
                  </a:txBody>
                  <a:tcPr marT="25400" marB="25400"/>
                </a:tc>
              </a:tr>
              <a:tr h="384048">
                <a:tc>
                  <a:txBody>
                    <a:bodyPr/>
                    <a:lstStyle/>
                    <a:p>
                      <a:r>
                        <a:rPr sz="1400" b="0">
                          <a:solidFill>
                            <a:srgbClr val="1C1C1A"/>
                          </a:solidFill>
                          <a:latin typeface="Calibri"/>
                        </a:rPr>
                        <a:t>Median</a:t>
                      </a:r>
                    </a:p>
                  </a:txBody>
                  <a:tcPr marT="25400" marB="25400"/>
                </a:tc>
                <a:tc>
                  <a:txBody>
                    <a:bodyPr/>
                    <a:lstStyle/>
                    <a:p>
                      <a:r>
                        <a:rPr sz="1400" b="0">
                          <a:solidFill>
                            <a:srgbClr val="1C1C1A"/>
                          </a:solidFill>
                          <a:latin typeface="Calibri"/>
                        </a:rPr>
                        <a:t>What does the order in the middle of the queue look like</a:t>
                      </a:r>
                    </a:p>
                  </a:txBody>
                  <a:tcPr marT="25400" marB="25400"/>
                </a:tc>
              </a:tr>
              <a:tr h="384048">
                <a:tc>
                  <a:txBody>
                    <a:bodyPr/>
                    <a:lstStyle/>
                    <a:p>
                      <a:r>
                        <a:rPr sz="1400" b="0">
                          <a:solidFill>
                            <a:srgbClr val="1C1C1A"/>
                          </a:solidFill>
                          <a:latin typeface="Calibri"/>
                        </a:rPr>
                        <a:t>Mode</a:t>
                      </a:r>
                    </a:p>
                  </a:txBody>
                  <a:tcPr marT="25400" marB="25400"/>
                </a:tc>
                <a:tc>
                  <a:txBody>
                    <a:bodyPr/>
                    <a:lstStyle/>
                    <a:p>
                      <a:r>
                        <a:rPr sz="1400" b="0">
                          <a:solidFill>
                            <a:srgbClr val="1C1C1A"/>
                          </a:solidFill>
                          <a:latin typeface="Calibri"/>
                        </a:rPr>
                        <a:t>Which exact value repeats most often</a:t>
                      </a:r>
                    </a:p>
                  </a:txBody>
                  <a:tcPr marT="25400" marB="25400"/>
                </a:tc>
              </a:tr>
            </a:tbl>
          </a:graphicData>
        </a:graphic>
      </p:graphicFrame>
      <p:sp>
        <p:nvSpPr>
          <p:cNvPr id="5" name="TextBox 4"/>
          <p:cNvSpPr txBox="1"/>
          <p:nvPr/>
        </p:nvSpPr>
        <p:spPr>
          <a:xfrm>
            <a:off x="777240" y="3685032"/>
            <a:ext cx="10607040" cy="790575"/>
          </a:xfrm>
          <a:prstGeom prst="rect">
            <a:avLst/>
          </a:prstGeom>
          <a:noFill/>
        </p:spPr>
        <p:txBody>
          <a:bodyPr wrap="square">
            <a:spAutoFit/>
          </a:bodyPr>
          <a:lstStyle/>
          <a:p>
            <a:pPr>
              <a:spcAft>
                <a:spcPts val="1000"/>
              </a:spcAft>
            </a:pPr>
            <a:r>
              <a:rPr sz="2100" b="0">
                <a:solidFill>
                  <a:srgbClr val="1C1C1A"/>
                </a:solidFill>
                <a:latin typeface="Calibri"/>
              </a:rPr>
              <a:t>Nobody is right. They answer different questions, and the asker rarely says which one they meant.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2: WHAT ONE ORDER DOES</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[what is typical] &gt; </a:t>
            </a:r>
            <a:r>
              <a:rPr sz="2100" b="1">
                <a:solidFill>
                  <a:srgbClr val="FFFFFF"/>
                </a:solidFill>
                <a:latin typeface="Calibri"/>
              </a:rPr>
              <a:t>[what one order does]</a:t>
            </a:r>
            <a:r>
              <a:rPr sz="2100" b="0">
                <a:solidFill>
                  <a:srgbClr val="FFFFFF"/>
                </a:solidFill>
                <a:latin typeface="Calibri"/>
              </a:rPr>
              <a:t> &gt; [what the shape says] &gt; [per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same code, on the real column</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You just did this by hand on seven orders. Here it is on all 44.</a:t>
            </a:r>
          </a:p>
        </p:txBody>
      </p:sp>
      <p:sp>
        <p:nvSpPr>
          <p:cNvPr id="5" name="TextBox 4"/>
          <p:cNvSpPr txBox="1"/>
          <p:nvPr/>
        </p:nvSpPr>
        <p:spPr>
          <a:xfrm>
            <a:off x="777240" y="2646045"/>
            <a:ext cx="10607040" cy="502920"/>
          </a:xfrm>
          <a:prstGeom prst="rect">
            <a:avLst/>
          </a:prstGeom>
          <a:noFill/>
        </p:spPr>
        <p:txBody>
          <a:bodyPr wrap="square">
            <a:spAutoFit/>
          </a:bodyPr>
          <a:lstStyle/>
          <a:p>
            <a:pPr>
              <a:spcAft>
                <a:spcPts val="400"/>
              </a:spcAft>
            </a:pPr>
            <a:r>
              <a:rPr sz="1700" b="0">
                <a:solidFill>
                  <a:srgbClr val="2B4A7D"/>
                </a:solidFill>
                <a:latin typeface="Consolas"/>
              </a:rPr>
              <a:t>mean amount over 44 orders: Rs 12,753.30</a:t>
            </a:r>
          </a:p>
        </p:txBody>
      </p:sp>
      <p:sp>
        <p:nvSpPr>
          <p:cNvPr id="6" name="TextBox 5"/>
          <p:cNvSpPr txBox="1"/>
          <p:nvPr/>
        </p:nvSpPr>
        <p:spPr>
          <a:xfrm>
            <a:off x="777240" y="3286125"/>
            <a:ext cx="10607040" cy="542925"/>
          </a:xfrm>
          <a:prstGeom prst="rect">
            <a:avLst/>
          </a:prstGeom>
          <a:noFill/>
        </p:spPr>
        <p:txBody>
          <a:bodyPr wrap="square">
            <a:spAutoFit/>
          </a:bodyPr>
          <a:lstStyle/>
          <a:p>
            <a:pPr>
              <a:spcAft>
                <a:spcPts val="1000"/>
              </a:spcAft>
            </a:pPr>
            <a:r>
              <a:rPr sz="2100" b="0">
                <a:solidFill>
                  <a:srgbClr val="1C1C1A"/>
                </a:solidFill>
                <a:latin typeface="Calibri"/>
              </a:rPr>
              <a:t>The code is correct. Check it if you like. Add them, divide by 44, you get Rs 12,753.30.</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Two more lines, and the number falls apart</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400"/>
              </a:spcAft>
            </a:pPr>
            <a:r>
              <a:rPr sz="1700" b="0">
                <a:solidFill>
                  <a:srgbClr val="2B4A7D"/>
                </a:solidFill>
                <a:latin typeface="Consolas"/>
              </a:rPr>
              <a:t>mean amount over 44 orders: Rs 12,753.30</a:t>
            </a:r>
          </a:p>
          <a:p>
            <a:pPr>
              <a:spcAft>
                <a:spcPts val="400"/>
              </a:spcAft>
            </a:pPr>
            <a:r>
              <a:rPr sz="1700" b="0">
                <a:solidFill>
                  <a:srgbClr val="2B4A7D"/>
                </a:solidFill>
                <a:latin typeface="Consolas"/>
              </a:rPr>
              <a:t>orders at or above Rs 12,753.30: 1</a:t>
            </a:r>
          </a:p>
          <a:p>
            <a:pPr>
              <a:spcAft>
                <a:spcPts val="400"/>
              </a:spcAft>
            </a:pPr>
            <a:r>
              <a:rPr sz="1700" b="0">
                <a:solidFill>
                  <a:srgbClr val="2B4A7D"/>
                </a:solidFill>
                <a:latin typeface="Consolas"/>
              </a:rPr>
              <a:t>orders below Rs 12,753.30: 43</a:t>
            </a:r>
          </a:p>
        </p:txBody>
      </p:sp>
      <p:sp>
        <p:nvSpPr>
          <p:cNvPr id="5" name="TextBox 4"/>
          <p:cNvSpPr txBox="1"/>
          <p:nvPr/>
        </p:nvSpPr>
        <p:spPr>
          <a:xfrm>
            <a:off x="777240" y="3017520"/>
            <a:ext cx="10607040" cy="914400"/>
          </a:xfrm>
          <a:prstGeom prst="rect">
            <a:avLst/>
          </a:prstGeom>
          <a:noFill/>
        </p:spPr>
        <p:txBody>
          <a:bodyPr wrap="square">
            <a:spAutoFit/>
          </a:bodyPr>
          <a:lstStyle/>
          <a:p>
            <a:pPr>
              <a:spcAft>
                <a:spcPts val="1000"/>
              </a:spcAft>
            </a:pPr>
            <a:r>
              <a:rPr sz="2100" b="0">
                <a:solidFill>
                  <a:srgbClr val="1C1C1A"/>
                </a:solidFill>
                <a:latin typeface="Calibri"/>
              </a:rPr>
              <a:t>The average describes one order out of forty-four.</a:t>
            </a:r>
          </a:p>
          <a:p>
            <a:pPr>
              <a:spcAft>
                <a:spcPts val="1000"/>
              </a:spcAft>
            </a:pPr>
            <a:r>
              <a:rPr sz="2100" b="0">
                <a:solidFill>
                  <a:srgbClr val="1C1C1A"/>
                </a:solidFill>
                <a:latin typeface="Calibri"/>
              </a:rPr>
              <a:t>Forty-three of Kalpa's customers are below the number you were about to call typical.</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Sort the column and look at the tail</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 2,855   2,895   2,895   2,930   2,990   2,995   480,000</a:t>
            </a:r>
          </a:p>
        </p:txBody>
      </p:sp>
      <p:sp>
        <p:nvSpPr>
          <p:cNvPr id="5" name="TextBox 4"/>
          <p:cNvSpPr txBox="1"/>
          <p:nvPr/>
        </p:nvSpPr>
        <p:spPr>
          <a:xfrm>
            <a:off x="777240" y="2606040"/>
            <a:ext cx="10607040" cy="1162050"/>
          </a:xfrm>
          <a:prstGeom prst="rect">
            <a:avLst/>
          </a:prstGeom>
          <a:noFill/>
        </p:spPr>
        <p:txBody>
          <a:bodyPr wrap="square">
            <a:spAutoFit/>
          </a:bodyPr>
          <a:lstStyle/>
          <a:p>
            <a:pPr>
              <a:spcAft>
                <a:spcPts val="1000"/>
              </a:spcAft>
            </a:pPr>
            <a:r>
              <a:rPr sz="2100" b="0">
                <a:solidFill>
                  <a:srgbClr val="1C1C1A"/>
                </a:solidFill>
                <a:latin typeface="Calibri"/>
              </a:rPr>
              <a:t>There it is.</a:t>
            </a:r>
          </a:p>
          <a:p>
            <a:pPr>
              <a:spcAft>
                <a:spcPts val="1000"/>
              </a:spcAft>
            </a:pPr>
            <a:r>
              <a:rPr sz="2100" b="0">
                <a:solidFill>
                  <a:srgbClr val="1C1C1A"/>
                </a:solidFill>
                <a:latin typeface="Calibri"/>
              </a:rPr>
              <a:t>The second largest order in the entire file is Rs 2,995. The largest is Rs 480,000, which is a hundred and sixty times the one below it.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whale</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KR4232   C1749   Retail-Core   480000   delivered   2026-08-19</a:t>
            </a:r>
          </a:p>
        </p:txBody>
      </p:sp>
      <p:sp>
        <p:nvSpPr>
          <p:cNvPr id="5" name="TextBox 4"/>
          <p:cNvSpPr txBox="1"/>
          <p:nvPr/>
        </p:nvSpPr>
        <p:spPr>
          <a:xfrm>
            <a:off x="777240" y="2606040"/>
            <a:ext cx="10607040" cy="1781175"/>
          </a:xfrm>
          <a:prstGeom prst="rect">
            <a:avLst/>
          </a:prstGeom>
          <a:noFill/>
        </p:spPr>
        <p:txBody>
          <a:bodyPr wrap="square">
            <a:spAutoFit/>
          </a:bodyPr>
          <a:lstStyle/>
          <a:p>
            <a:pPr>
              <a:spcAft>
                <a:spcPts val="1000"/>
              </a:spcAft>
            </a:pPr>
            <a:r>
              <a:rPr sz="2100" b="0">
                <a:solidFill>
                  <a:srgbClr val="1C1C1A"/>
                </a:solidFill>
                <a:latin typeface="Calibri"/>
              </a:rPr>
              <a:t>One order. It carries </a:t>
            </a:r>
            <a:r>
              <a:rPr sz="2100" b="1">
                <a:solidFill>
                  <a:srgbClr val="1C1C1A"/>
                </a:solidFill>
                <a:latin typeface="Calibri"/>
              </a:rPr>
              <a:t>85.5 percent of every rupee in the file</a:t>
            </a:r>
            <a:r>
              <a:rPr sz="2100" b="0">
                <a:solidFill>
                  <a:srgbClr val="1C1C1A"/>
                </a:solidFill>
                <a:latin typeface="Calibri"/>
              </a:rPr>
              <a:t>.</a:t>
            </a:r>
          </a:p>
          <a:p>
            <a:pPr>
              <a:spcAft>
                <a:spcPts val="1000"/>
              </a:spcAft>
            </a:pPr>
            <a:r>
              <a:rPr sz="2100" b="0">
                <a:solidFill>
                  <a:srgbClr val="1C1C1A"/>
                </a:solidFill>
                <a:latin typeface="Calibri"/>
              </a:rPr>
              <a:t>It is not a typo, not a text value, not a duplicate. Yesterday's pass looked at it and kept it, and the decisions log says why: it converts cleanly and is well formed, so it is real until somebody says otherwise, and it was raised with the order book owner.</a:t>
            </a:r>
          </a:p>
          <a:p>
            <a:pPr>
              <a:spcAft>
                <a:spcPts val="1000"/>
              </a:spcAft>
            </a:pPr>
            <a:r>
              <a:rPr sz="2100" b="0">
                <a:solidFill>
                  <a:srgbClr val="1C1C1A"/>
                </a:solidFill>
                <a:latin typeface="Calibri"/>
              </a:rPr>
              <a:t>An order can be correct and still wreck every summary it touches.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it costs, in two rows</a:t>
            </a:r>
          </a:p>
        </p:txBody>
      </p:sp>
      <p:graphicFrame>
        <p:nvGraphicFramePr>
          <p:cNvPr id="4" name="Table 3"/>
          <p:cNvGraphicFramePr>
            <a:graphicFrameLocks noGrp="1"/>
          </p:cNvGraphicFramePr>
          <p:nvPr/>
        </p:nvGraphicFramePr>
        <p:xfrm>
          <a:off x="777240" y="1965960"/>
          <a:ext cx="10607040" cy="1152144"/>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Column</a:t>
                      </a:r>
                    </a:p>
                  </a:txBody>
                  <a:tcPr marT="25400" marB="25400"/>
                </a:tc>
                <a:tc>
                  <a:txBody>
                    <a:bodyPr/>
                    <a:lstStyle/>
                    <a:p>
                      <a:r>
                        <a:rPr sz="1300" b="1">
                          <a:solidFill>
                            <a:srgbClr val="2B4A7D"/>
                          </a:solidFill>
                          <a:latin typeface="Calibri"/>
                        </a:rPr>
                        <a:t>With the whale</a:t>
                      </a:r>
                    </a:p>
                  </a:txBody>
                  <a:tcPr marT="25400" marB="25400"/>
                </a:tc>
                <a:tc>
                  <a:txBody>
                    <a:bodyPr/>
                    <a:lstStyle/>
                    <a:p>
                      <a:r>
                        <a:rPr sz="1300" b="1">
                          <a:solidFill>
                            <a:srgbClr val="2B4A7D"/>
                          </a:solidFill>
                          <a:latin typeface="Calibri"/>
                        </a:rPr>
                        <a:t>Without it</a:t>
                      </a:r>
                    </a:p>
                  </a:txBody>
                  <a:tcPr marT="25400" marB="25400"/>
                </a:tc>
              </a:tr>
              <a:tr h="384048">
                <a:tc>
                  <a:txBody>
                    <a:bodyPr/>
                    <a:lstStyle/>
                    <a:p>
                      <a:r>
                        <a:rPr sz="1400" b="0">
                          <a:solidFill>
                            <a:srgbClr val="1C1C1A"/>
                          </a:solidFill>
                          <a:latin typeface="Calibri"/>
                        </a:rPr>
                        <a:t>All orders, mean</a:t>
                      </a:r>
                    </a:p>
                  </a:txBody>
                  <a:tcPr marT="25400" marB="25400"/>
                </a:tc>
                <a:tc>
                  <a:txBody>
                    <a:bodyPr/>
                    <a:lstStyle/>
                    <a:p>
                      <a:r>
                        <a:rPr sz="1400" b="0">
                          <a:solidFill>
                            <a:srgbClr val="1C1C1A"/>
                          </a:solidFill>
                          <a:latin typeface="Calibri"/>
                        </a:rPr>
                        <a:t>Rs 12,753.30</a:t>
                      </a:r>
                    </a:p>
                  </a:txBody>
                  <a:tcPr marT="25400" marB="25400"/>
                </a:tc>
                <a:tc>
                  <a:txBody>
                    <a:bodyPr/>
                    <a:lstStyle/>
                    <a:p>
                      <a:r>
                        <a:rPr sz="1400" b="0">
                          <a:solidFill>
                            <a:srgbClr val="1C1C1A"/>
                          </a:solidFill>
                          <a:latin typeface="Calibri"/>
                        </a:rPr>
                        <a:t>Rs 1,887.09</a:t>
                      </a:r>
                    </a:p>
                  </a:txBody>
                  <a:tcPr marT="25400" marB="25400"/>
                </a:tc>
              </a:tr>
              <a:tr h="384048">
                <a:tc>
                  <a:txBody>
                    <a:bodyPr/>
                    <a:lstStyle/>
                    <a:p>
                      <a:r>
                        <a:rPr sz="1400" b="0">
                          <a:solidFill>
                            <a:srgbClr val="1C1C1A"/>
                          </a:solidFill>
                          <a:latin typeface="Calibri"/>
                        </a:rPr>
                        <a:t>All orders, median</a:t>
                      </a:r>
                    </a:p>
                  </a:txBody>
                  <a:tcPr marT="25400" marB="25400"/>
                </a:tc>
                <a:tc>
                  <a:txBody>
                    <a:bodyPr/>
                    <a:lstStyle/>
                    <a:p>
                      <a:r>
                        <a:rPr sz="1400" b="0">
                          <a:solidFill>
                            <a:srgbClr val="1C1C1A"/>
                          </a:solidFill>
                          <a:latin typeface="Calibri"/>
                        </a:rPr>
                        <a:t>Rs 1,910.00</a:t>
                      </a:r>
                    </a:p>
                  </a:txBody>
                  <a:tcPr marT="25400" marB="25400"/>
                </a:tc>
                <a:tc>
                  <a:txBody>
                    <a:bodyPr/>
                    <a:lstStyle/>
                    <a:p>
                      <a:r>
                        <a:rPr sz="1400" b="0">
                          <a:solidFill>
                            <a:srgbClr val="1C1C1A"/>
                          </a:solidFill>
                          <a:latin typeface="Calibri"/>
                        </a:rPr>
                        <a:t>Rs 1,865.00</a:t>
                      </a:r>
                    </a:p>
                  </a:txBody>
                  <a:tcPr marT="25400" marB="25400"/>
                </a:tc>
              </a:tr>
            </a:tbl>
          </a:graphicData>
        </a:graphic>
      </p:graphicFrame>
      <p:sp>
        <p:nvSpPr>
          <p:cNvPr id="5" name="TextBox 4"/>
          <p:cNvSpPr txBox="1"/>
          <p:nvPr/>
        </p:nvSpPr>
        <p:spPr>
          <a:xfrm>
            <a:off x="777240" y="3300984"/>
            <a:ext cx="10607040" cy="1409700"/>
          </a:xfrm>
          <a:prstGeom prst="rect">
            <a:avLst/>
          </a:prstGeom>
          <a:noFill/>
        </p:spPr>
        <p:txBody>
          <a:bodyPr wrap="square">
            <a:spAutoFit/>
          </a:bodyPr>
          <a:lstStyle/>
          <a:p>
            <a:pPr>
              <a:spcAft>
                <a:spcPts val="1000"/>
              </a:spcAft>
            </a:pPr>
            <a:r>
              <a:rPr sz="2100" b="0">
                <a:solidFill>
                  <a:srgbClr val="1C1C1A"/>
                </a:solidFill>
                <a:latin typeface="Calibri"/>
              </a:rPr>
              <a:t>Take one order out of forty-four and the mean falls by a factor of nearly seven, landing within Rs 22 of the median. The median moves by Rs 45.</a:t>
            </a:r>
          </a:p>
          <a:p>
            <a:pPr>
              <a:spcAft>
                <a:spcPts val="1000"/>
              </a:spcAft>
            </a:pPr>
            <a:r>
              <a:rPr sz="2100" b="1">
                <a:solidFill>
                  <a:srgbClr val="1C1C1A"/>
                </a:solidFill>
                <a:latin typeface="Calibri"/>
              </a:rPr>
              <a:t>That is the tell.</a:t>
            </a:r>
            <a:r>
              <a:rPr sz="2100" b="0">
                <a:solidFill>
                  <a:srgbClr val="1C1C1A"/>
                </a:solidFill>
                <a:latin typeface="Calibri"/>
              </a:rPr>
              <a:t> When removing a single record makes the mean and the median agree, the mean was describing that record rather than the business.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 delete it?</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No.</a:t>
            </a:r>
          </a:p>
          <a:p>
            <a:pPr>
              <a:spcAft>
                <a:spcPts val="1000"/>
              </a:spcAft>
            </a:pPr>
            <a:r>
              <a:rPr sz="2100" b="0">
                <a:solidFill>
                  <a:srgbClr val="1C1C1A"/>
                </a:solidFill>
                <a:latin typeface="Calibri"/>
              </a:rPr>
              <a:t>Deleting a real order to make a number look nicer is how a report becomes fiction. Yesterday you wrote a decisions log precisely so that nobody could do this quietly.</a:t>
            </a:r>
          </a:p>
          <a:p>
            <a:pPr>
              <a:spcAft>
                <a:spcPts val="1000"/>
              </a:spcAft>
            </a:pPr>
            <a:r>
              <a:rPr sz="2100" b="0">
                <a:solidFill>
                  <a:srgbClr val="1C1C1A"/>
                </a:solidFill>
                <a:latin typeface="Calibri"/>
              </a:rPr>
              <a:t>The order stays. The statistic changes.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Which statistic survives a wrong record, on this file</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Suppose exactly one amount in the file is wrong, and you do not know which.</a:t>
            </a:r>
          </a:p>
        </p:txBody>
      </p:sp>
      <p:graphicFrame>
        <p:nvGraphicFramePr>
          <p:cNvPr id="6" name="Table 5"/>
          <p:cNvGraphicFramePr>
            <a:graphicFrameLocks noGrp="1"/>
          </p:cNvGraphicFramePr>
          <p:nvPr/>
        </p:nvGraphicFramePr>
        <p:xfrm>
          <a:off x="777240" y="2646045"/>
          <a:ext cx="10607040" cy="1536192"/>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What is wrong</a:t>
                      </a:r>
                    </a:p>
                  </a:txBody>
                  <a:tcPr marT="25400" marB="25400"/>
                </a:tc>
                <a:tc>
                  <a:txBody>
                    <a:bodyPr/>
                    <a:lstStyle/>
                    <a:p>
                      <a:r>
                        <a:rPr sz="1300" b="1">
                          <a:solidFill>
                            <a:srgbClr val="2B4A7D"/>
                          </a:solidFill>
                          <a:latin typeface="Calibri"/>
                        </a:rPr>
                        <a:t>What happens to the mean</a:t>
                      </a:r>
                    </a:p>
                  </a:txBody>
                  <a:tcPr marT="25400" marB="25400"/>
                </a:tc>
                <a:tc>
                  <a:txBody>
                    <a:bodyPr/>
                    <a:lstStyle/>
                    <a:p>
                      <a:r>
                        <a:rPr sz="1300" b="1">
                          <a:solidFill>
                            <a:srgbClr val="2B4A7D"/>
                          </a:solidFill>
                          <a:latin typeface="Calibri"/>
                        </a:rPr>
                        <a:t>What happens to the median</a:t>
                      </a:r>
                    </a:p>
                  </a:txBody>
                  <a:tcPr marT="25400" marB="25400"/>
                </a:tc>
              </a:tr>
              <a:tr h="384048">
                <a:tc>
                  <a:txBody>
                    <a:bodyPr/>
                    <a:lstStyle/>
                    <a:p>
                      <a:r>
                        <a:rPr sz="1400" b="0">
                          <a:solidFill>
                            <a:srgbClr val="1C1C1A"/>
                          </a:solidFill>
                          <a:latin typeface="Calibri"/>
                        </a:rPr>
                        <a:t>The Rs 480,000 order should have been Rs 4,800</a:t>
                      </a:r>
                    </a:p>
                  </a:txBody>
                  <a:tcPr marT="25400" marB="25400"/>
                </a:tc>
                <a:tc>
                  <a:txBody>
                    <a:bodyPr/>
                    <a:lstStyle/>
                    <a:p>
                      <a:r>
                        <a:rPr sz="1400" b="0">
                          <a:solidFill>
                            <a:srgbClr val="1C1C1A"/>
                          </a:solidFill>
                          <a:latin typeface="Calibri"/>
                        </a:rPr>
                        <a:t>Falls from Rs 12,753.30 to Rs 1,953.30</a:t>
                      </a:r>
                    </a:p>
                  </a:txBody>
                  <a:tcPr marT="25400" marB="25400"/>
                </a:tc>
                <a:tc>
                  <a:txBody>
                    <a:bodyPr/>
                    <a:lstStyle/>
                    <a:p>
                      <a:r>
                        <a:rPr sz="1400" b="0">
                          <a:solidFill>
                            <a:srgbClr val="1C1C1A"/>
                          </a:solidFill>
                          <a:latin typeface="Calibri"/>
                        </a:rPr>
                        <a:t>Stays at Rs 1,910</a:t>
                      </a:r>
                    </a:p>
                  </a:txBody>
                  <a:tcPr marT="25400" marB="25400"/>
                </a:tc>
              </a:tr>
              <a:tr h="384048">
                <a:tc>
                  <a:txBody>
                    <a:bodyPr/>
                    <a:lstStyle/>
                    <a:p>
                      <a:r>
                        <a:rPr sz="1400" b="0">
                          <a:solidFill>
                            <a:srgbClr val="1C1C1A"/>
                          </a:solidFill>
                          <a:latin typeface="Calibri"/>
                        </a:rPr>
                        <a:t>An ordinary Rs 1,865 order should have been Rs 1,900</a:t>
                      </a:r>
                    </a:p>
                  </a:txBody>
                  <a:tcPr marT="25400" marB="25400"/>
                </a:tc>
                <a:tc>
                  <a:txBody>
                    <a:bodyPr/>
                    <a:lstStyle/>
                    <a:p>
                      <a:r>
                        <a:rPr sz="1400" b="0">
                          <a:solidFill>
                            <a:srgbClr val="1C1C1A"/>
                          </a:solidFill>
                          <a:latin typeface="Calibri"/>
                        </a:rPr>
                        <a:t>Rises by 80 paise</a:t>
                      </a:r>
                    </a:p>
                  </a:txBody>
                  <a:tcPr marT="25400" marB="25400"/>
                </a:tc>
                <a:tc>
                  <a:txBody>
                    <a:bodyPr/>
                    <a:lstStyle/>
                    <a:p>
                      <a:r>
                        <a:rPr sz="1400" b="0">
                          <a:solidFill>
                            <a:srgbClr val="1C1C1A"/>
                          </a:solidFill>
                          <a:latin typeface="Calibri"/>
                        </a:rPr>
                        <a:t>Moves to Rs 1,927.50</a:t>
                      </a:r>
                    </a:p>
                  </a:txBody>
                  <a:tcPr marT="25400" marB="25400"/>
                </a:tc>
              </a:tr>
              <a:tr h="384048">
                <a:tc>
                  <a:txBody>
                    <a:bodyPr/>
                    <a:lstStyle/>
                    <a:p>
                      <a:r>
                        <a:rPr sz="1400" b="0">
                          <a:solidFill>
                            <a:srgbClr val="1C1C1A"/>
                          </a:solidFill>
                          <a:latin typeface="Calibri"/>
                        </a:rPr>
                        <a:t>A Rs 2,995 order is a duplicate and should not be there</a:t>
                      </a:r>
                    </a:p>
                  </a:txBody>
                  <a:tcPr marT="25400" marB="25400"/>
                </a:tc>
                <a:tc>
                  <a:txBody>
                    <a:bodyPr/>
                    <a:lstStyle/>
                    <a:p>
                      <a:r>
                        <a:rPr sz="1400" b="0">
                          <a:solidFill>
                            <a:srgbClr val="1C1C1A"/>
                          </a:solidFill>
                          <a:latin typeface="Calibri"/>
                        </a:rPr>
                        <a:t>Rises by Rs 226.94, because the whale is now shared among 43</a:t>
                      </a:r>
                    </a:p>
                  </a:txBody>
                  <a:tcPr marT="25400" marB="25400"/>
                </a:tc>
                <a:tc>
                  <a:txBody>
                    <a:bodyPr/>
                    <a:lstStyle/>
                    <a:p>
                      <a:r>
                        <a:rPr sz="1400" b="0">
                          <a:solidFill>
                            <a:srgbClr val="1C1C1A"/>
                          </a:solidFill>
                          <a:latin typeface="Calibri"/>
                        </a:rPr>
                        <a:t>Falls to Rs 1,865</a:t>
                      </a:r>
                    </a:p>
                  </a:txBody>
                  <a:tcPr marT="25400" marB="25400"/>
                </a:tc>
              </a:tr>
            </a:tbl>
          </a:graphicData>
        </a:graphic>
      </p:graphicFrame>
      <p:sp>
        <p:nvSpPr>
          <p:cNvPr id="7" name="TextBox 6"/>
          <p:cNvSpPr txBox="1"/>
          <p:nvPr/>
        </p:nvSpPr>
        <p:spPr>
          <a:xfrm>
            <a:off x="777240" y="4365117"/>
            <a:ext cx="10607040" cy="1657350"/>
          </a:xfrm>
          <a:prstGeom prst="rect">
            <a:avLst/>
          </a:prstGeom>
          <a:noFill/>
        </p:spPr>
        <p:txBody>
          <a:bodyPr wrap="square">
            <a:spAutoFit/>
          </a:bodyPr>
          <a:lstStyle/>
          <a:p>
            <a:pPr>
              <a:spcAft>
                <a:spcPts val="1000"/>
              </a:spcAft>
            </a:pPr>
            <a:r>
              <a:rPr sz="2100" b="0">
                <a:solidFill>
                  <a:srgbClr val="1C1C1A"/>
                </a:solidFill>
                <a:latin typeface="Calibri"/>
              </a:rPr>
              <a:t>One row in the first line does more damage to the mean than every other error you are likely to have, put together. That is what the breakdown table above means in practice.</a:t>
            </a:r>
          </a:p>
          <a:p>
            <a:pPr>
              <a:spcAft>
                <a:spcPts val="1000"/>
              </a:spcAft>
            </a:pPr>
            <a:r>
              <a:rPr sz="2100" b="0">
                <a:solidFill>
                  <a:srgbClr val="1C1C1A"/>
                </a:solidFill>
                <a:latin typeface="Calibri"/>
              </a:rPr>
              <a:t>Read the third line twice. Removing an ordinary order made the mean go up by Rs 226.94, because the whale is now divided among forty three orders instead of forty four. On a column with a tail, even the direction of a change stops being intuitive.</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rule for money columns</a:t>
            </a:r>
          </a:p>
        </p:txBody>
      </p:sp>
      <p:sp>
        <p:nvSpPr>
          <p:cNvPr id="4" name="TextBox 3"/>
          <p:cNvSpPr txBox="1"/>
          <p:nvPr/>
        </p:nvSpPr>
        <p:spPr>
          <a:xfrm>
            <a:off x="777240" y="1965960"/>
            <a:ext cx="10607040" cy="2028825"/>
          </a:xfrm>
          <a:prstGeom prst="rect">
            <a:avLst/>
          </a:prstGeom>
          <a:noFill/>
        </p:spPr>
        <p:txBody>
          <a:bodyPr wrap="square">
            <a:spAutoFit/>
          </a:bodyPr>
          <a:lstStyle/>
          <a:p>
            <a:pPr>
              <a:spcAft>
                <a:spcPts val="1000"/>
              </a:spcAft>
            </a:pPr>
            <a:r>
              <a:rPr sz="2100" b="0">
                <a:solidFill>
                  <a:srgbClr val="1C1C1A"/>
                </a:solidFill>
                <a:latin typeface="Calibri"/>
              </a:rPr>
              <a:t>&gt; On any money column, report the median and say so.</a:t>
            </a:r>
          </a:p>
          <a:p>
            <a:pPr>
              <a:spcAft>
                <a:spcPts val="1000"/>
              </a:spcAft>
            </a:pPr>
            <a:r>
              <a:rPr sz="2100" b="0">
                <a:solidFill>
                  <a:srgbClr val="1C1C1A"/>
                </a:solidFill>
                <a:latin typeface="Calibri"/>
              </a:rPr>
              <a:t>This is not this programme's opinion. Statistical agencies report median household income rather than mean household income, because a small number of very large incomes drag the mean away from anything a household would recognise.</a:t>
            </a:r>
          </a:p>
          <a:p>
            <a:pPr>
              <a:spcAft>
                <a:spcPts val="1000"/>
              </a:spcAft>
            </a:pPr>
            <a:r>
              <a:rPr sz="2100" b="0">
                <a:solidFill>
                  <a:srgbClr val="1C1C1A"/>
                </a:solidFill>
                <a:latin typeface="Calibri"/>
              </a:rPr>
              <a:t>Order values behave the same way. So do salaries, claim sizes, invoice amounts and basket totals.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3: WHAT THE SPREAD SAYS</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[what is typical] &gt; [what one order does] &gt; </a:t>
            </a:r>
            <a:r>
              <a:rPr sz="2100" b="1">
                <a:solidFill>
                  <a:srgbClr val="FFFFFF"/>
                </a:solidFill>
                <a:latin typeface="Calibri"/>
              </a:rPr>
              <a:t>[what the shape says]</a:t>
            </a:r>
            <a:r>
              <a:rPr sz="2100" b="0">
                <a:solidFill>
                  <a:srgbClr val="FFFFFF"/>
                </a:solidFill>
                <a:latin typeface="Calibri"/>
              </a:rPr>
              <a:t> &gt; [per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Three numbers you get for free</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400"/>
              </a:spcAft>
            </a:pPr>
            <a:r>
              <a:rPr sz="1700" b="0">
                <a:solidFill>
                  <a:srgbClr val="2B4A7D"/>
                </a:solidFill>
                <a:latin typeface="Consolas"/>
              </a:rPr>
              <a:t>min:    Rs      800</a:t>
            </a:r>
          </a:p>
          <a:p>
            <a:pPr>
              <a:spcAft>
                <a:spcPts val="400"/>
              </a:spcAft>
            </a:pPr>
            <a:r>
              <a:rPr sz="1700" b="0">
                <a:solidFill>
                  <a:srgbClr val="2B4A7D"/>
                </a:solidFill>
                <a:latin typeface="Consolas"/>
              </a:rPr>
              <a:t>max:    Rs  480,000</a:t>
            </a:r>
          </a:p>
          <a:p>
            <a:pPr>
              <a:spcAft>
                <a:spcPts val="400"/>
              </a:spcAft>
            </a:pPr>
            <a:r>
              <a:rPr sz="1700" b="0">
                <a:solidFill>
                  <a:srgbClr val="2B4A7D"/>
                </a:solidFill>
                <a:latin typeface="Consolas"/>
              </a:rPr>
              <a:t>range:  Rs  479,200</a:t>
            </a:r>
          </a:p>
        </p:txBody>
      </p:sp>
      <p:sp>
        <p:nvSpPr>
          <p:cNvPr id="5" name="TextBox 4"/>
          <p:cNvSpPr txBox="1"/>
          <p:nvPr/>
        </p:nvSpPr>
        <p:spPr>
          <a:xfrm>
            <a:off x="777240" y="3017520"/>
            <a:ext cx="10607040" cy="1162050"/>
          </a:xfrm>
          <a:prstGeom prst="rect">
            <a:avLst/>
          </a:prstGeom>
          <a:noFill/>
        </p:spPr>
        <p:txBody>
          <a:bodyPr wrap="square">
            <a:spAutoFit/>
          </a:bodyPr>
          <a:lstStyle/>
          <a:p>
            <a:pPr>
              <a:spcAft>
                <a:spcPts val="1000"/>
              </a:spcAft>
            </a:pPr>
            <a:r>
              <a:rPr sz="2100" b="0">
                <a:solidFill>
                  <a:srgbClr val="1C1C1A"/>
                </a:solidFill>
                <a:latin typeface="Calibri"/>
              </a:rPr>
              <a:t>The range is one subtraction and the least stable number on this slide. It is built from exactly two orders out of forty-four, and one of them is the whale.</a:t>
            </a:r>
          </a:p>
          <a:p>
            <a:pPr>
              <a:spcAft>
                <a:spcPts val="1000"/>
              </a:spcAft>
            </a:pPr>
            <a:r>
              <a:rPr sz="2100" b="0">
                <a:solidFill>
                  <a:srgbClr val="1C1C1A"/>
                </a:solidFill>
                <a:latin typeface="Calibri"/>
              </a:rPr>
              <a:t>A statistic computed from two orders out of forty-four tells you about those two orders.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fence, done properly</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Yesterday you flagged the whale with a fence at ten times the middle order. That worked and it was deliberately crude, because somebody chose the ten.</a:t>
            </a:r>
          </a:p>
          <a:p>
            <a:pPr>
              <a:spcAft>
                <a:spcPts val="1000"/>
              </a:spcAft>
            </a:pPr>
            <a:r>
              <a:rPr sz="2100" b="0">
                <a:solidFill>
                  <a:srgbClr val="1C1C1A"/>
                </a:solidFill>
                <a:latin typeface="Calibri"/>
              </a:rPr>
              <a:t>Here is the standard version, built from the spread of the middle half rather than from a number anybody picked.</a:t>
            </a:r>
          </a:p>
        </p:txBody>
      </p:sp>
      <p:sp>
        <p:nvSpPr>
          <p:cNvPr id="5" name="TextBox 4"/>
          <p:cNvSpPr txBox="1"/>
          <p:nvPr/>
        </p:nvSpPr>
        <p:spPr>
          <a:xfrm>
            <a:off x="777240" y="3512820"/>
            <a:ext cx="10607040" cy="1162050"/>
          </a:xfrm>
          <a:prstGeom prst="rect">
            <a:avLst/>
          </a:prstGeom>
          <a:noFill/>
        </p:spPr>
        <p:txBody>
          <a:bodyPr wrap="square">
            <a:spAutoFit/>
          </a:bodyPr>
          <a:lstStyle/>
          <a:p>
            <a:pPr>
              <a:spcAft>
                <a:spcPts val="400"/>
              </a:spcAft>
            </a:pPr>
            <a:r>
              <a:rPr sz="1700" b="0">
                <a:solidFill>
                  <a:srgbClr val="2B4A7D"/>
                </a:solidFill>
                <a:latin typeface="Consolas"/>
              </a:rPr>
              <a:t>Q1 (a quarter of the way up):        Rs  1,287.50</a:t>
            </a:r>
          </a:p>
          <a:p>
            <a:pPr>
              <a:spcAft>
                <a:spcPts val="400"/>
              </a:spcAft>
            </a:pPr>
            <a:r>
              <a:rPr sz="1700" b="0">
                <a:solidFill>
                  <a:srgbClr val="2B4A7D"/>
                </a:solidFill>
                <a:latin typeface="Consolas"/>
              </a:rPr>
              <a:t>Q3 (three quarters of the way up):   Rs  2,718.75</a:t>
            </a:r>
          </a:p>
          <a:p>
            <a:pPr>
              <a:spcAft>
                <a:spcPts val="400"/>
              </a:spcAft>
            </a:pPr>
            <a:r>
              <a:rPr sz="1700" b="0">
                <a:solidFill>
                  <a:srgbClr val="2B4A7D"/>
                </a:solidFill>
                <a:latin typeface="Consolas"/>
              </a:rPr>
              <a:t>IQR = Q3 - Q1 =                      Rs  1,431.25</a:t>
            </a:r>
          </a:p>
          <a:p>
            <a:pPr>
              <a:spcAft>
                <a:spcPts val="400"/>
              </a:spcAft>
            </a:pPr>
            <a:r>
              <a:rPr sz="1700" b="0">
                <a:solidFill>
                  <a:srgbClr val="2B4A7D"/>
                </a:solidFill>
                <a:latin typeface="Consolas"/>
              </a:rPr>
              <a:t>upper fence = Q3 + 1.5 x IQR =       Rs  4,865.62</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How the fence is built, step by step</a:t>
            </a:r>
          </a:p>
        </p:txBody>
      </p:sp>
      <p:pic>
        <p:nvPicPr>
          <p:cNvPr id="5" name="Picture 4" descr="ea95201259754e02.png"/>
          <p:cNvPicPr>
            <a:picLocks noChangeAspect="1"/>
          </p:cNvPicPr>
          <p:nvPr/>
        </p:nvPicPr>
        <p:blipFill>
          <a:blip r:embed="rId2"/>
          <a:stretch>
            <a:fillRect/>
          </a:stretch>
        </p:blipFill>
        <p:spPr>
          <a:xfrm>
            <a:off x="4342051" y="1965960"/>
            <a:ext cx="3477417" cy="4023360"/>
          </a:xfrm>
          <a:prstGeom prst="rect">
            <a:avLst/>
          </a:prstGeom>
        </p:spPr>
      </p:pic>
      <p:sp>
        <p:nvSpPr>
          <p:cNvPr id="6" name="TextBox 5"/>
          <p:cNvSpPr txBox="1"/>
          <p:nvPr/>
        </p:nvSpPr>
        <p:spPr>
          <a:xfrm>
            <a:off x="777240" y="6126480"/>
            <a:ext cx="10607040" cy="1038225"/>
          </a:xfrm>
          <a:prstGeom prst="rect">
            <a:avLst/>
          </a:prstGeom>
          <a:noFill/>
        </p:spPr>
        <p:txBody>
          <a:bodyPr wrap="square">
            <a:spAutoFit/>
          </a:bodyPr>
          <a:lstStyle/>
          <a:p>
            <a:pPr>
              <a:spcAft>
                <a:spcPts val="1000"/>
              </a:spcAft>
            </a:pPr>
            <a:r>
              <a:rPr sz="2100" b="0">
                <a:solidFill>
                  <a:srgbClr val="1C1C1A"/>
                </a:solidFill>
                <a:latin typeface="Calibri"/>
              </a:rPr>
              <a:t>The middle half is what makes this better than yesterday's fence. Q1 and Q3 are positions, so the whale cannot pull on them, which means the threshold that catches the whale is built from data the whale did not touch.</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the fence catches here</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orders above Rs 4,865.62: 1</a:t>
            </a:r>
          </a:p>
        </p:txBody>
      </p:sp>
      <p:sp>
        <p:nvSpPr>
          <p:cNvPr id="5" name="TextBox 4"/>
          <p:cNvSpPr txBox="1"/>
          <p:nvPr/>
        </p:nvSpPr>
        <p:spPr>
          <a:xfrm>
            <a:off x="777240" y="2606040"/>
            <a:ext cx="10607040" cy="1409700"/>
          </a:xfrm>
          <a:prstGeom prst="rect">
            <a:avLst/>
          </a:prstGeom>
          <a:noFill/>
        </p:spPr>
        <p:txBody>
          <a:bodyPr wrap="square">
            <a:spAutoFit/>
          </a:bodyPr>
          <a:lstStyle/>
          <a:p>
            <a:pPr>
              <a:spcAft>
                <a:spcPts val="1000"/>
              </a:spcAft>
            </a:pPr>
            <a:r>
              <a:rPr sz="2100" b="0">
                <a:solidFill>
                  <a:srgbClr val="1C1C1A"/>
                </a:solidFill>
                <a:latin typeface="Calibri"/>
              </a:rPr>
              <a:t>One order. The whale, and nothing else. The largest ordinary order at Rs 2,995 sits comfortably inside the fence.</a:t>
            </a:r>
          </a:p>
          <a:p>
            <a:pPr>
              <a:spcAft>
                <a:spcPts val="1000"/>
              </a:spcAft>
            </a:pPr>
            <a:r>
              <a:rPr sz="2100" b="0">
                <a:solidFill>
                  <a:srgbClr val="1C1C1A"/>
                </a:solidFill>
                <a:latin typeface="Calibri"/>
              </a:rPr>
              <a:t>Two rules, built differently, agreeing on the same single record. That agreement is worth more than either rule alone.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 fence is a flag, never a delete key</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The fence says "look at this order". It does not say "remove this order".</a:t>
            </a:r>
          </a:p>
          <a:p>
            <a:pPr>
              <a:spcAft>
                <a:spcPts val="1000"/>
              </a:spcAft>
            </a:pPr>
            <a:r>
              <a:rPr sz="2100" b="0">
                <a:solidFill>
                  <a:srgbClr val="1C1C1A"/>
                </a:solidFill>
                <a:latin typeface="Calibri"/>
              </a:rPr>
              <a:t>Yesterday's language holds: an outlier is a finding to investigate before it is a row to delete. The fence just finds it faster, on a file too large to eyeball.</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4: THE SHAPE BEHIND THE NUMBER</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[what is typical] &gt; [what one order does] &gt; </a:t>
            </a:r>
            <a:r>
              <a:rPr sz="2100" b="1">
                <a:solidFill>
                  <a:srgbClr val="FFFFFF"/>
                </a:solidFill>
                <a:latin typeface="Calibri"/>
              </a:rPr>
              <a:t>[what the shape says]</a:t>
            </a:r>
            <a:r>
              <a:rPr sz="2100" b="0">
                <a:solidFill>
                  <a:srgbClr val="FFFFFF"/>
                </a:solidFill>
                <a:latin typeface="Calibri"/>
              </a:rPr>
              <a:t> &gt; [per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today deliberately does not compute, and why</a:t>
            </a:r>
          </a:p>
        </p:txBody>
      </p:sp>
      <p:sp>
        <p:nvSpPr>
          <p:cNvPr id="5" name="TextBox 4"/>
          <p:cNvSpPr txBox="1"/>
          <p:nvPr/>
        </p:nvSpPr>
        <p:spPr>
          <a:xfrm>
            <a:off x="777240" y="1965960"/>
            <a:ext cx="10607040" cy="2895600"/>
          </a:xfrm>
          <a:prstGeom prst="rect">
            <a:avLst/>
          </a:prstGeom>
          <a:noFill/>
        </p:spPr>
        <p:txBody>
          <a:bodyPr wrap="square">
            <a:spAutoFit/>
          </a:bodyPr>
          <a:lstStyle/>
          <a:p>
            <a:pPr>
              <a:spcAft>
                <a:spcPts val="1000"/>
              </a:spcAft>
            </a:pPr>
            <a:r>
              <a:rPr sz="2100" b="0">
                <a:solidFill>
                  <a:srgbClr val="1C1C1A"/>
                </a:solidFill>
                <a:latin typeface="Calibri"/>
              </a:rPr>
              <a:t>You could put a number on the lopsidedness. There is a standard one, and it needs the standard deviation, which needs the squared distance of every value from the mean.</a:t>
            </a:r>
          </a:p>
          <a:p>
            <a:pPr>
              <a:spcAft>
                <a:spcPts val="1000"/>
              </a:spcAft>
            </a:pPr>
            <a:r>
              <a:rPr sz="2100" b="0">
                <a:solidFill>
                  <a:srgbClr val="1C1C1A"/>
                </a:solidFill>
                <a:latin typeface="Calibri"/>
              </a:rPr>
              <a:t>That is not on today's list, and the reason is worth saying out loud rather than hiding.</a:t>
            </a:r>
          </a:p>
          <a:p>
            <a:pPr>
              <a:spcAft>
                <a:spcPts val="1000"/>
              </a:spcAft>
            </a:pPr>
            <a:r>
              <a:rPr sz="2100" b="0">
                <a:solidFill>
                  <a:srgbClr val="1C1C1A"/>
                </a:solidFill>
                <a:latin typeface="Calibri"/>
              </a:rPr>
              <a:t>Every one of those distances is measured from the mean, and you have just spent an hour establishing that the mean of this column is Rs 12,753.30 and describes one order out of forty four. A number built on top of it inherits the same problem and hides it under a Greek letter.</a:t>
            </a:r>
          </a:p>
          <a:p>
            <a:pPr>
              <a:spcAft>
                <a:spcPts val="1000"/>
              </a:spcAft>
            </a:pPr>
            <a:r>
              <a:rPr sz="2100" b="0">
                <a:solidFill>
                  <a:srgbClr val="1C1C1A"/>
                </a:solidFill>
                <a:latin typeface="Calibri"/>
              </a:rPr>
              <a:t>So today you read the shape off sorted values, which needs no assumption at all. The formal version arrives when the distribution behind it does, and you will meet it knowing exactly what it is compensating for.</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Skew, without a formula</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Sort the column. Stand on the median. Look both ways.</a:t>
            </a:r>
          </a:p>
        </p:txBody>
      </p:sp>
      <p:sp>
        <p:nvSpPr>
          <p:cNvPr id="5" name="TextBox 4"/>
          <p:cNvSpPr txBox="1"/>
          <p:nvPr/>
        </p:nvSpPr>
        <p:spPr>
          <a:xfrm>
            <a:off x="777240" y="2646045"/>
            <a:ext cx="10607040" cy="1162050"/>
          </a:xfrm>
          <a:prstGeom prst="rect">
            <a:avLst/>
          </a:prstGeom>
          <a:noFill/>
        </p:spPr>
        <p:txBody>
          <a:bodyPr wrap="square">
            <a:spAutoFit/>
          </a:bodyPr>
          <a:lstStyle/>
          <a:p>
            <a:pPr>
              <a:spcAft>
                <a:spcPts val="400"/>
              </a:spcAft>
            </a:pPr>
            <a:r>
              <a:rPr sz="1700" b="0">
                <a:solidFill>
                  <a:srgbClr val="2B4A7D"/>
                </a:solidFill>
                <a:latin typeface="Consolas"/>
              </a:rPr>
              <a:t> min      median                                            max</a:t>
            </a:r>
          </a:p>
          <a:p>
            <a:pPr>
              <a:spcAft>
                <a:spcPts val="400"/>
              </a:spcAft>
            </a:pPr>
            <a:r>
              <a:rPr sz="1700" b="0">
                <a:solidFill>
                  <a:srgbClr val="2B4A7D"/>
                </a:solidFill>
                <a:latin typeface="Consolas"/>
              </a:rPr>
              <a:t>  800      1,910                                        480,000</a:t>
            </a:r>
          </a:p>
          <a:p>
            <a:pPr>
              <a:spcAft>
                <a:spcPts val="400"/>
              </a:spcAft>
            </a:pPr>
            <a:r>
              <a:rPr sz="1700" b="0">
                <a:solidFill>
                  <a:srgbClr val="2B4A7D"/>
                </a:solidFill>
                <a:latin typeface="Consolas"/>
              </a:rPr>
              <a:t>   |---------|-----------------------------------------------|</a:t>
            </a:r>
          </a:p>
          <a:p>
            <a:pPr>
              <a:spcAft>
                <a:spcPts val="400"/>
              </a:spcAft>
            </a:pPr>
            <a:r>
              <a:rPr sz="1700" b="0">
                <a:solidFill>
                  <a:srgbClr val="2B4A7D"/>
                </a:solidFill>
                <a:latin typeface="Consolas"/>
              </a:rPr>
              <a:t>    1,110 down                478,090 up</a:t>
            </a:r>
          </a:p>
        </p:txBody>
      </p:sp>
      <p:sp>
        <p:nvSpPr>
          <p:cNvPr id="6" name="TextBox 5"/>
          <p:cNvSpPr txBox="1"/>
          <p:nvPr/>
        </p:nvSpPr>
        <p:spPr>
          <a:xfrm>
            <a:off x="777240" y="3945255"/>
            <a:ext cx="10607040" cy="790575"/>
          </a:xfrm>
          <a:prstGeom prst="rect">
            <a:avLst/>
          </a:prstGeom>
          <a:noFill/>
        </p:spPr>
        <p:txBody>
          <a:bodyPr wrap="square">
            <a:spAutoFit/>
          </a:bodyPr>
          <a:lstStyle/>
          <a:p>
            <a:pPr>
              <a:spcAft>
                <a:spcPts val="1000"/>
              </a:spcAft>
            </a:pPr>
            <a:r>
              <a:rPr sz="2100" b="0">
                <a:solidFill>
                  <a:srgbClr val="1C1C1A"/>
                </a:solidFill>
                <a:latin typeface="Calibri"/>
              </a:rPr>
              <a:t>The distance up is 431 times the distance down. That lopsidedness is the skew, and you read it off sorted values with no arithmetic beyond one subtraction each way.</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tell you can use in any interview</a:t>
            </a:r>
          </a:p>
        </p:txBody>
      </p:sp>
      <p:sp>
        <p:nvSpPr>
          <p:cNvPr id="4" name="TextBox 3"/>
          <p:cNvSpPr txBox="1"/>
          <p:nvPr/>
        </p:nvSpPr>
        <p:spPr>
          <a:xfrm>
            <a:off x="777240" y="1965960"/>
            <a:ext cx="10607040" cy="1905000"/>
          </a:xfrm>
          <a:prstGeom prst="rect">
            <a:avLst/>
          </a:prstGeom>
          <a:noFill/>
        </p:spPr>
        <p:txBody>
          <a:bodyPr wrap="square">
            <a:spAutoFit/>
          </a:bodyPr>
          <a:lstStyle/>
          <a:p>
            <a:pPr>
              <a:spcAft>
                <a:spcPts val="1000"/>
              </a:spcAft>
            </a:pPr>
            <a:r>
              <a:rPr sz="2100" b="0">
                <a:solidFill>
                  <a:srgbClr val="1C1C1A"/>
                </a:solidFill>
                <a:latin typeface="Calibri"/>
              </a:rPr>
              <a:t>&gt; If the mean is much larger than the median, something large is pulling on the right.</a:t>
            </a:r>
          </a:p>
          <a:p>
            <a:pPr>
              <a:spcAft>
                <a:spcPts val="1000"/>
              </a:spcAft>
            </a:pPr>
            <a:r>
              <a:rPr sz="2100" b="0">
                <a:solidFill>
                  <a:srgbClr val="1C1C1A"/>
                </a:solidFill>
                <a:latin typeface="Calibri"/>
              </a:rPr>
              <a:t>&gt; If the mean is much smaller, something small is pulling on the left.</a:t>
            </a:r>
          </a:p>
          <a:p>
            <a:pPr>
              <a:spcAft>
                <a:spcPts val="1000"/>
              </a:spcAft>
            </a:pPr>
            <a:r>
              <a:rPr sz="2100" b="0">
                <a:solidFill>
                  <a:srgbClr val="1C1C1A"/>
                </a:solidFill>
                <a:latin typeface="Calibri"/>
              </a:rPr>
              <a:t>&gt; If they sit close together, the shape is roughly even and either one describes it.</a:t>
            </a:r>
          </a:p>
          <a:p>
            <a:pPr>
              <a:spcAft>
                <a:spcPts val="1000"/>
              </a:spcAft>
            </a:pPr>
            <a:r>
              <a:rPr sz="2100" b="0">
                <a:solidFill>
                  <a:srgbClr val="1C1C1A"/>
                </a:solidFill>
                <a:latin typeface="Calibri"/>
              </a:rPr>
              <a:t>On this file: mean Rs 12,753.30, median Rs 1,910.00. The mean is 6.68 times the median, so you already know there is a tail before you look at a single order.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Anscombe's quartet, 1973</a:t>
            </a:r>
          </a:p>
        </p:txBody>
      </p:sp>
      <p:sp>
        <p:nvSpPr>
          <p:cNvPr id="4" name="TextBox 3"/>
          <p:cNvSpPr txBox="1"/>
          <p:nvPr/>
        </p:nvSpPr>
        <p:spPr>
          <a:xfrm>
            <a:off x="777240" y="1965960"/>
            <a:ext cx="10607040" cy="2028825"/>
          </a:xfrm>
          <a:prstGeom prst="rect">
            <a:avLst/>
          </a:prstGeom>
          <a:noFill/>
        </p:spPr>
        <p:txBody>
          <a:bodyPr wrap="square">
            <a:spAutoFit/>
          </a:bodyPr>
          <a:lstStyle/>
          <a:p>
            <a:pPr>
              <a:spcAft>
                <a:spcPts val="1000"/>
              </a:spcAft>
            </a:pPr>
            <a:r>
              <a:rPr sz="2100" b="0">
                <a:solidFill>
                  <a:srgbClr val="1C1C1A"/>
                </a:solidFill>
                <a:latin typeface="Calibri"/>
              </a:rPr>
              <a:t>Frank Anscombe built four datasets that share almost identical means, variances and correlations, and look nothing alike when drawn.</a:t>
            </a:r>
          </a:p>
          <a:p>
            <a:pPr>
              <a:spcAft>
                <a:spcPts val="1000"/>
              </a:spcAft>
            </a:pPr>
            <a:r>
              <a:rPr sz="2100" b="0">
                <a:solidFill>
                  <a:srgbClr val="1C1C1A"/>
                </a:solidFill>
                <a:latin typeface="Calibri"/>
              </a:rPr>
              <a:t>The lesson he was making has not aged: a summary statistic is a compression, and compression discards. Two datasets can hand you the same numbers and describe two different worlds.</a:t>
            </a:r>
          </a:p>
          <a:p>
            <a:pPr>
              <a:spcAft>
                <a:spcPts val="1000"/>
              </a:spcAft>
            </a:pPr>
            <a:r>
              <a:rPr sz="2100" b="0">
                <a:solidFill>
                  <a:srgbClr val="1C1C1A"/>
                </a:solidFill>
                <a:latin typeface="Calibri"/>
              </a:rPr>
              <a:t>You have no charting library until Week 2, so today the sorted list is your picture. Look at it before you trust the summary.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Anscombe's quartet, what he actually built</a:t>
            </a:r>
          </a:p>
        </p:txBody>
      </p:sp>
      <p:sp>
        <p:nvSpPr>
          <p:cNvPr id="5" name="TextBox 4"/>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Four datasets of eleven points each, constructed so that the summaries agree and the pictures do not.</a:t>
            </a:r>
          </a:p>
        </p:txBody>
      </p:sp>
      <p:graphicFrame>
        <p:nvGraphicFramePr>
          <p:cNvPr id="6" name="Table 5"/>
          <p:cNvGraphicFramePr>
            <a:graphicFrameLocks noGrp="1"/>
          </p:cNvGraphicFramePr>
          <p:nvPr/>
        </p:nvGraphicFramePr>
        <p:xfrm>
          <a:off x="777240" y="2893695"/>
          <a:ext cx="10607040" cy="1536192"/>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What is shared across all four</a:t>
                      </a:r>
                    </a:p>
                  </a:txBody>
                  <a:tcPr marT="25400" marB="25400"/>
                </a:tc>
                <a:tc>
                  <a:txBody>
                    <a:bodyPr/>
                    <a:lstStyle/>
                    <a:p>
                      <a:r>
                        <a:rPr sz="1300" b="1">
                          <a:solidFill>
                            <a:srgbClr val="2B4A7D"/>
                          </a:solidFill>
                          <a:latin typeface="Calibri"/>
                        </a:rPr>
                        <a:t>What differs</a:t>
                      </a:r>
                    </a:p>
                  </a:txBody>
                  <a:tcPr marT="25400" marB="25400"/>
                </a:tc>
              </a:tr>
              <a:tr h="384048">
                <a:tc>
                  <a:txBody>
                    <a:bodyPr/>
                    <a:lstStyle/>
                    <a:p>
                      <a:r>
                        <a:rPr sz="1400" b="0">
                          <a:solidFill>
                            <a:srgbClr val="1C1C1A"/>
                          </a:solidFill>
                          <a:latin typeface="Calibri"/>
                        </a:rPr>
                        <a:t>The mean of x, and the mean of y</a:t>
                      </a:r>
                    </a:p>
                  </a:txBody>
                  <a:tcPr marT="25400" marB="25400"/>
                </a:tc>
                <a:tc>
                  <a:txBody>
                    <a:bodyPr/>
                    <a:lstStyle/>
                    <a:p>
                      <a:r>
                        <a:rPr sz="1400" b="0">
                          <a:solidFill>
                            <a:srgbClr val="1C1C1A"/>
                          </a:solidFill>
                          <a:latin typeface="Calibri"/>
                        </a:rPr>
                        <a:t>One is roughly linear, one is a clean curve, one is linear with a single outlier dragging the line, and one is a vertical stack with a single point setting the whole slope</a:t>
                      </a:r>
                    </a:p>
                  </a:txBody>
                  <a:tcPr marT="25400" marB="25400"/>
                </a:tc>
              </a:tr>
              <a:tr h="384048">
                <a:tc>
                  <a:txBody>
                    <a:bodyPr/>
                    <a:lstStyle/>
                    <a:p>
                      <a:r>
                        <a:rPr sz="1400" b="0">
                          <a:solidFill>
                            <a:srgbClr val="1C1C1A"/>
                          </a:solidFill>
                          <a:latin typeface="Calibri"/>
                        </a:rPr>
                        <a:t>The variance of x, and the variance of y</a:t>
                      </a:r>
                    </a:p>
                  </a:txBody>
                  <a:tcPr marT="25400" marB="25400"/>
                </a:tc>
                <a:tc>
                  <a:txBody>
                    <a:bodyPr/>
                    <a:lstStyle/>
                    <a:p/>
                  </a:txBody>
                  <a:tcPr marT="25400" marB="25400"/>
                </a:tc>
              </a:tr>
              <a:tr h="384048">
                <a:tc>
                  <a:txBody>
                    <a:bodyPr/>
                    <a:lstStyle/>
                    <a:p>
                      <a:r>
                        <a:rPr sz="1400" b="0">
                          <a:solidFill>
                            <a:srgbClr val="1C1C1A"/>
                          </a:solidFill>
                          <a:latin typeface="Calibri"/>
                        </a:rPr>
                        <a:t>The correlation between x and y, and the fitted straight line</a:t>
                      </a:r>
                    </a:p>
                  </a:txBody>
                  <a:tcPr marT="25400" marB="25400"/>
                </a:tc>
                <a:tc>
                  <a:txBody>
                    <a:bodyPr/>
                    <a:lstStyle/>
                    <a:p/>
                  </a:txBody>
                  <a:tcPr marT="25400" marB="25400"/>
                </a:tc>
              </a:tr>
            </a:tbl>
          </a:graphicData>
        </a:graphic>
      </p:graphicFrame>
      <p:sp>
        <p:nvSpPr>
          <p:cNvPr id="7" name="TextBox 6"/>
          <p:cNvSpPr txBox="1"/>
          <p:nvPr/>
        </p:nvSpPr>
        <p:spPr>
          <a:xfrm>
            <a:off x="777240" y="4612767"/>
            <a:ext cx="10607040" cy="1409700"/>
          </a:xfrm>
          <a:prstGeom prst="rect">
            <a:avLst/>
          </a:prstGeom>
          <a:noFill/>
        </p:spPr>
        <p:txBody>
          <a:bodyPr wrap="square">
            <a:spAutoFit/>
          </a:bodyPr>
          <a:lstStyle/>
          <a:p>
            <a:pPr>
              <a:spcAft>
                <a:spcPts val="1000"/>
              </a:spcAft>
            </a:pPr>
            <a:r>
              <a:rPr sz="2100" b="0">
                <a:solidFill>
                  <a:srgbClr val="1C1C1A"/>
                </a:solidFill>
                <a:latin typeface="Calibri"/>
              </a:rPr>
              <a:t>Anscombe published them in The American Statistician in 1973 under the title "Graphs in Statistical Analysis", volume 27, number 1, pages 17 to 21, to argue that computation should not replace looking.</a:t>
            </a:r>
          </a:p>
          <a:p>
            <a:pPr>
              <a:spcAft>
                <a:spcPts val="1000"/>
              </a:spcAft>
            </a:pPr>
            <a:r>
              <a:rPr sz="2100" b="0">
                <a:solidFill>
                  <a:srgbClr val="1C1C1A"/>
                </a:solidFill>
                <a:latin typeface="Calibri"/>
              </a:rPr>
              <a:t>Reference, verified 09 September 2026: https://en.wikipedia.org/wiki/Anscombe%27s_quartet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tell, applied to columns you have not met yet</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The mean against median comparison is a two second test and it works on any numeric column.</a:t>
            </a:r>
          </a:p>
        </p:txBody>
      </p:sp>
      <p:graphicFrame>
        <p:nvGraphicFramePr>
          <p:cNvPr id="6" name="Table 5"/>
          <p:cNvGraphicFramePr>
            <a:graphicFrameLocks noGrp="1"/>
          </p:cNvGraphicFramePr>
          <p:nvPr/>
        </p:nvGraphicFramePr>
        <p:xfrm>
          <a:off x="777240" y="2646045"/>
          <a:ext cx="10607040" cy="1920240"/>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Column</a:t>
                      </a:r>
                    </a:p>
                  </a:txBody>
                  <a:tcPr marT="25400" marB="25400"/>
                </a:tc>
                <a:tc>
                  <a:txBody>
                    <a:bodyPr/>
                    <a:lstStyle/>
                    <a:p>
                      <a:r>
                        <a:rPr sz="1300" b="1">
                          <a:solidFill>
                            <a:srgbClr val="2B4A7D"/>
                          </a:solidFill>
                          <a:latin typeface="Calibri"/>
                        </a:rPr>
                        <a:t>What you would expect</a:t>
                      </a:r>
                    </a:p>
                  </a:txBody>
                  <a:tcPr marT="25400" marB="25400"/>
                </a:tc>
                <a:tc>
                  <a:txBody>
                    <a:bodyPr/>
                    <a:lstStyle/>
                    <a:p>
                      <a:r>
                        <a:rPr sz="1300" b="1">
                          <a:solidFill>
                            <a:srgbClr val="2B4A7D"/>
                          </a:solidFill>
                          <a:latin typeface="Calibri"/>
                        </a:rPr>
                        <a:t>What it would mean if the mean sat far above the median</a:t>
                      </a:r>
                    </a:p>
                  </a:txBody>
                  <a:tcPr marT="25400" marB="25400"/>
                </a:tc>
              </a:tr>
              <a:tr h="384048">
                <a:tc>
                  <a:txBody>
                    <a:bodyPr/>
                    <a:lstStyle/>
                    <a:p>
                      <a:r>
                        <a:rPr sz="1400" b="0">
                          <a:solidFill>
                            <a:srgbClr val="1C1C1A"/>
                          </a:solidFill>
                          <a:latin typeface="Calibri"/>
                        </a:rPr>
                        <a:t>Order amounts</a:t>
                      </a:r>
                    </a:p>
                  </a:txBody>
                  <a:tcPr marT="25400" marB="25400"/>
                </a:tc>
                <a:tc>
                  <a:txBody>
                    <a:bodyPr/>
                    <a:lstStyle/>
                    <a:p>
                      <a:r>
                        <a:rPr sz="1400" b="0">
                          <a:solidFill>
                            <a:srgbClr val="1C1C1A"/>
                          </a:solidFill>
                          <a:latin typeface="Calibri"/>
                        </a:rPr>
                        <a:t>Mean above median, because money has a floor at zero and no ceiling</a:t>
                      </a:r>
                    </a:p>
                  </a:txBody>
                  <a:tcPr marT="25400" marB="25400"/>
                </a:tc>
                <a:tc>
                  <a:txBody>
                    <a:bodyPr/>
                    <a:lstStyle/>
                    <a:p>
                      <a:r>
                        <a:rPr sz="1400" b="0">
                          <a:solidFill>
                            <a:srgbClr val="1C1C1A"/>
                          </a:solidFill>
                          <a:latin typeface="Calibri"/>
                        </a:rPr>
                        <a:t>Normal, and a reason to send the median</a:t>
                      </a:r>
                    </a:p>
                  </a:txBody>
                  <a:tcPr marT="25400" marB="25400"/>
                </a:tc>
              </a:tr>
              <a:tr h="384048">
                <a:tc>
                  <a:txBody>
                    <a:bodyPr/>
                    <a:lstStyle/>
                    <a:p>
                      <a:r>
                        <a:rPr sz="1400" b="0">
                          <a:solidFill>
                            <a:srgbClr val="1C1C1A"/>
                          </a:solidFill>
                          <a:latin typeface="Calibri"/>
                        </a:rPr>
                        <a:t>Delivery times in hours</a:t>
                      </a:r>
                    </a:p>
                  </a:txBody>
                  <a:tcPr marT="25400" marB="25400"/>
                </a:tc>
                <a:tc>
                  <a:txBody>
                    <a:bodyPr/>
                    <a:lstStyle/>
                    <a:p>
                      <a:r>
                        <a:rPr sz="1400" b="0">
                          <a:solidFill>
                            <a:srgbClr val="1C1C1A"/>
                          </a:solidFill>
                          <a:latin typeface="Calibri"/>
                        </a:rPr>
                        <a:t>Mean slightly above median</a:t>
                      </a:r>
                    </a:p>
                  </a:txBody>
                  <a:tcPr marT="25400" marB="25400"/>
                </a:tc>
                <a:tc>
                  <a:txBody>
                    <a:bodyPr/>
                    <a:lstStyle/>
                    <a:p>
                      <a:r>
                        <a:rPr sz="1400" b="0">
                          <a:solidFill>
                            <a:srgbClr val="1C1C1A"/>
                          </a:solidFill>
                          <a:latin typeface="Calibri"/>
                        </a:rPr>
                        <a:t>A tail of very late deliveries worth naming separately</a:t>
                      </a:r>
                    </a:p>
                  </a:txBody>
                  <a:tcPr marT="25400" marB="25400"/>
                </a:tc>
              </a:tr>
              <a:tr h="384048">
                <a:tc>
                  <a:txBody>
                    <a:bodyPr/>
                    <a:lstStyle/>
                    <a:p>
                      <a:r>
                        <a:rPr sz="1400" b="0">
                          <a:solidFill>
                            <a:srgbClr val="1C1C1A"/>
                          </a:solidFill>
                          <a:latin typeface="Calibri"/>
                        </a:rPr>
                        <a:t>Customer age</a:t>
                      </a:r>
                    </a:p>
                  </a:txBody>
                  <a:tcPr marT="25400" marB="25400"/>
                </a:tc>
                <a:tc>
                  <a:txBody>
                    <a:bodyPr/>
                    <a:lstStyle/>
                    <a:p>
                      <a:r>
                        <a:rPr sz="1400" b="0">
                          <a:solidFill>
                            <a:srgbClr val="1C1C1A"/>
                          </a:solidFill>
                          <a:latin typeface="Calibri"/>
                        </a:rPr>
                        <a:t>Mean and median close together</a:t>
                      </a:r>
                    </a:p>
                  </a:txBody>
                  <a:tcPr marT="25400" marB="25400"/>
                </a:tc>
                <a:tc>
                  <a:txBody>
                    <a:bodyPr/>
                    <a:lstStyle/>
                    <a:p>
                      <a:r>
                        <a:rPr sz="1400" b="0">
                          <a:solidFill>
                            <a:srgbClr val="1C1C1A"/>
                          </a:solidFill>
                          <a:latin typeface="Calibri"/>
                        </a:rPr>
                        <a:t>Somebody's date of birth is stored as a default such as 1900</a:t>
                      </a:r>
                    </a:p>
                  </a:txBody>
                  <a:tcPr marT="25400" marB="25400"/>
                </a:tc>
              </a:tr>
              <a:tr h="384048">
                <a:tc>
                  <a:txBody>
                    <a:bodyPr/>
                    <a:lstStyle/>
                    <a:p>
                      <a:r>
                        <a:rPr sz="1400" b="0">
                          <a:solidFill>
                            <a:srgbClr val="1C1C1A"/>
                          </a:solidFill>
                          <a:latin typeface="Calibri"/>
                        </a:rPr>
                        <a:t>Discount amounts</a:t>
                      </a:r>
                    </a:p>
                  </a:txBody>
                  <a:tcPr marT="25400" marB="25400"/>
                </a:tc>
                <a:tc>
                  <a:txBody>
                    <a:bodyPr/>
                    <a:lstStyle/>
                    <a:p>
                      <a:r>
                        <a:rPr sz="1400" b="0">
                          <a:solidFill>
                            <a:srgbClr val="1C1C1A"/>
                          </a:solidFill>
                          <a:latin typeface="Calibri"/>
                        </a:rPr>
                        <a:t>Close together</a:t>
                      </a:r>
                    </a:p>
                  </a:txBody>
                  <a:tcPr marT="25400" marB="25400"/>
                </a:tc>
                <a:tc>
                  <a:txBody>
                    <a:bodyPr/>
                    <a:lstStyle/>
                    <a:p>
                      <a:r>
                        <a:rPr sz="1400" b="0">
                          <a:solidFill>
                            <a:srgbClr val="1C1C1A"/>
                          </a:solidFill>
                          <a:latin typeface="Calibri"/>
                        </a:rPr>
                        <a:t>A few very large discounts that somebody approved individually</a:t>
                      </a:r>
                    </a:p>
                  </a:txBody>
                  <a:tcPr marT="25400" marB="25400"/>
                </a:tc>
              </a:tr>
            </a:tbl>
          </a:graphicData>
        </a:graphic>
      </p:graphicFrame>
      <p:sp>
        <p:nvSpPr>
          <p:cNvPr id="7" name="TextBox 6"/>
          <p:cNvSpPr txBox="1"/>
          <p:nvPr/>
        </p:nvSpPr>
        <p:spPr>
          <a:xfrm>
            <a:off x="777240" y="4749165"/>
            <a:ext cx="10607040" cy="790575"/>
          </a:xfrm>
          <a:prstGeom prst="rect">
            <a:avLst/>
          </a:prstGeom>
          <a:noFill/>
        </p:spPr>
        <p:txBody>
          <a:bodyPr wrap="square">
            <a:spAutoFit/>
          </a:bodyPr>
          <a:lstStyle/>
          <a:p>
            <a:pPr>
              <a:spcAft>
                <a:spcPts val="1000"/>
              </a:spcAft>
            </a:pPr>
            <a:r>
              <a:rPr sz="2100" b="0">
                <a:solidFill>
                  <a:srgbClr val="1C1C1A"/>
                </a:solidFill>
                <a:latin typeface="Calibri"/>
              </a:rPr>
              <a:t>The test never tells you the answer. It tells you whether to go and look, which is all a two second test should ever do.</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decision card</a:t>
            </a:r>
          </a:p>
        </p:txBody>
      </p:sp>
      <p:graphicFrame>
        <p:nvGraphicFramePr>
          <p:cNvPr id="4" name="Table 3"/>
          <p:cNvGraphicFramePr>
            <a:graphicFrameLocks noGrp="1"/>
          </p:cNvGraphicFramePr>
          <p:nvPr/>
        </p:nvGraphicFramePr>
        <p:xfrm>
          <a:off x="777240" y="1965960"/>
          <a:ext cx="10607040" cy="1920240"/>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The column looks like</a:t>
                      </a:r>
                    </a:p>
                  </a:txBody>
                  <a:tcPr marT="25400" marB="25400"/>
                </a:tc>
                <a:tc>
                  <a:txBody>
                    <a:bodyPr/>
                    <a:lstStyle/>
                    <a:p>
                      <a:r>
                        <a:rPr sz="1300" b="1">
                          <a:solidFill>
                            <a:srgbClr val="2B4A7D"/>
                          </a:solidFill>
                          <a:latin typeface="Calibri"/>
                        </a:rPr>
                        <a:t>Send</a:t>
                      </a:r>
                    </a:p>
                  </a:txBody>
                  <a:tcPr marT="25400" marB="25400"/>
                </a:tc>
                <a:tc>
                  <a:txBody>
                    <a:bodyPr/>
                    <a:lstStyle/>
                    <a:p>
                      <a:r>
                        <a:rPr sz="1300" b="1">
                          <a:solidFill>
                            <a:srgbClr val="2B4A7D"/>
                          </a:solidFill>
                          <a:latin typeface="Calibri"/>
                        </a:rPr>
                        <a:t>Say alongside</a:t>
                      </a:r>
                    </a:p>
                  </a:txBody>
                  <a:tcPr marT="25400" marB="25400"/>
                </a:tc>
              </a:tr>
              <a:tr h="384048">
                <a:tc>
                  <a:txBody>
                    <a:bodyPr/>
                    <a:lstStyle/>
                    <a:p>
                      <a:r>
                        <a:rPr sz="1400" b="0">
                          <a:solidFill>
                            <a:srgbClr val="1C1C1A"/>
                          </a:solidFill>
                          <a:latin typeface="Calibri"/>
                        </a:rPr>
                        <a:t>Money, or anything with a long tail</a:t>
                      </a:r>
                    </a:p>
                  </a:txBody>
                  <a:tcPr marT="25400" marB="25400"/>
                </a:tc>
                <a:tc>
                  <a:txBody>
                    <a:bodyPr/>
                    <a:lstStyle/>
                    <a:p>
                      <a:r>
                        <a:rPr sz="1400" b="0">
                          <a:solidFill>
                            <a:srgbClr val="1C1C1A"/>
                          </a:solidFill>
                          <a:latin typeface="Calibri"/>
                        </a:rPr>
                        <a:t>Median</a:t>
                      </a:r>
                    </a:p>
                  </a:txBody>
                  <a:tcPr marT="25400" marB="25400"/>
                </a:tc>
                <a:tc>
                  <a:txBody>
                    <a:bodyPr/>
                    <a:lstStyle/>
                    <a:p>
                      <a:r>
                        <a:rPr sz="1400" b="0">
                          <a:solidFill>
                            <a:srgbClr val="1C1C1A"/>
                          </a:solidFill>
                          <a:latin typeface="Calibri"/>
                        </a:rPr>
                        <a:t>The count it rests on</a:t>
                      </a:r>
                    </a:p>
                  </a:txBody>
                  <a:tcPr marT="25400" marB="25400"/>
                </a:tc>
              </a:tr>
              <a:tr h="384048">
                <a:tc>
                  <a:txBody>
                    <a:bodyPr/>
                    <a:lstStyle/>
                    <a:p>
                      <a:r>
                        <a:rPr sz="1400" b="0">
                          <a:solidFill>
                            <a:srgbClr val="1C1C1A"/>
                          </a:solidFill>
                          <a:latin typeface="Calibri"/>
                        </a:rPr>
                        <a:t>Roughly even, no extreme values</a:t>
                      </a:r>
                    </a:p>
                  </a:txBody>
                  <a:tcPr marT="25400" marB="25400"/>
                </a:tc>
                <a:tc>
                  <a:txBody>
                    <a:bodyPr/>
                    <a:lstStyle/>
                    <a:p>
                      <a:r>
                        <a:rPr sz="1400" b="0">
                          <a:solidFill>
                            <a:srgbClr val="1C1C1A"/>
                          </a:solidFill>
                          <a:latin typeface="Calibri"/>
                        </a:rPr>
                        <a:t>Mean is fine</a:t>
                      </a:r>
                    </a:p>
                  </a:txBody>
                  <a:tcPr marT="25400" marB="25400"/>
                </a:tc>
                <a:tc>
                  <a:txBody>
                    <a:bodyPr/>
                    <a:lstStyle/>
                    <a:p>
                      <a:r>
                        <a:rPr sz="1400" b="0">
                          <a:solidFill>
                            <a:srgbClr val="1C1C1A"/>
                          </a:solidFill>
                          <a:latin typeface="Calibri"/>
                        </a:rPr>
                        <a:t>The count it rests on</a:t>
                      </a:r>
                    </a:p>
                  </a:txBody>
                  <a:tcPr marT="25400" marB="25400"/>
                </a:tc>
              </a:tr>
              <a:tr h="384048">
                <a:tc>
                  <a:txBody>
                    <a:bodyPr/>
                    <a:lstStyle/>
                    <a:p>
                      <a:r>
                        <a:rPr sz="1400" b="0">
                          <a:solidFill>
                            <a:srgbClr val="1C1C1A"/>
                          </a:solidFill>
                          <a:latin typeface="Calibri"/>
                        </a:rPr>
                        <a:t>A category, such as segment or status</a:t>
                      </a:r>
                    </a:p>
                  </a:txBody>
                  <a:tcPr marT="25400" marB="25400"/>
                </a:tc>
                <a:tc>
                  <a:txBody>
                    <a:bodyPr/>
                    <a:lstStyle/>
                    <a:p>
                      <a:r>
                        <a:rPr sz="1400" b="0">
                          <a:solidFill>
                            <a:srgbClr val="1C1C1A"/>
                          </a:solidFill>
                          <a:latin typeface="Calibri"/>
                        </a:rPr>
                        <a:t>Mode, as "the most common"</a:t>
                      </a:r>
                    </a:p>
                  </a:txBody>
                  <a:tcPr marT="25400" marB="25400"/>
                </a:tc>
                <a:tc>
                  <a:txBody>
                    <a:bodyPr/>
                    <a:lstStyle/>
                    <a:p>
                      <a:r>
                        <a:rPr sz="1400" b="0">
                          <a:solidFill>
                            <a:srgbClr val="1C1C1A"/>
                          </a:solidFill>
                          <a:latin typeface="Calibri"/>
                        </a:rPr>
                        <a:t>The count it rests on</a:t>
                      </a:r>
                    </a:p>
                  </a:txBody>
                  <a:tcPr marT="25400" marB="25400"/>
                </a:tc>
              </a:tr>
              <a:tr h="384048">
                <a:tc>
                  <a:txBody>
                    <a:bodyPr/>
                    <a:lstStyle/>
                    <a:p>
                      <a:r>
                        <a:rPr sz="1400" b="0">
                          <a:solidFill>
                            <a:srgbClr val="1C1C1A"/>
                          </a:solidFill>
                          <a:latin typeface="Calibri"/>
                        </a:rPr>
                        <a:t>You have not sorted it yet</a:t>
                      </a:r>
                    </a:p>
                  </a:txBody>
                  <a:tcPr marT="25400" marB="25400"/>
                </a:tc>
                <a:tc>
                  <a:txBody>
                    <a:bodyPr/>
                    <a:lstStyle/>
                    <a:p>
                      <a:r>
                        <a:rPr sz="1400" b="0">
                          <a:solidFill>
                            <a:srgbClr val="1C1C1A"/>
                          </a:solidFill>
                          <a:latin typeface="Calibri"/>
                        </a:rPr>
                        <a:t>Nothing</a:t>
                      </a:r>
                    </a:p>
                  </a:txBody>
                  <a:tcPr marT="25400" marB="25400"/>
                </a:tc>
                <a:tc>
                  <a:txBody>
                    <a:bodyPr/>
                    <a:lstStyle/>
                    <a:p>
                      <a:r>
                        <a:rPr sz="1400" b="0">
                          <a:solidFill>
                            <a:srgbClr val="1C1C1A"/>
                          </a:solidFill>
                          <a:latin typeface="Calibri"/>
                        </a:rPr>
                        <a:t>Sort it first</a:t>
                      </a:r>
                    </a:p>
                  </a:txBody>
                  <a:tcPr marT="25400" marB="25400"/>
                </a:tc>
              </a:tr>
            </a:tbl>
          </a:graphicData>
        </a:graphic>
      </p:graphicFrame>
      <p:sp>
        <p:nvSpPr>
          <p:cNvPr id="5" name="TextBox 4"/>
          <p:cNvSpPr txBox="1"/>
          <p:nvPr/>
        </p:nvSpPr>
        <p:spPr>
          <a:xfrm>
            <a:off x="777240" y="4069080"/>
            <a:ext cx="10607040" cy="542925"/>
          </a:xfrm>
          <a:prstGeom prst="rect">
            <a:avLst/>
          </a:prstGeom>
          <a:noFill/>
        </p:spPr>
        <p:txBody>
          <a:bodyPr wrap="square">
            <a:spAutoFit/>
          </a:bodyPr>
          <a:lstStyle/>
          <a:p>
            <a:pPr>
              <a:spcAft>
                <a:spcPts val="1000"/>
              </a:spcAft>
            </a:pPr>
            <a:r>
              <a:rPr sz="2100" b="0">
                <a:solidFill>
                  <a:srgbClr val="1C1C1A"/>
                </a:solidFill>
                <a:latin typeface="Calibri"/>
              </a:rPr>
              <a:t>The right-hand column is the same in every row. That is half two's subject.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failure you will meet again</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Not a crash. Correct code, correct arithmetic, and a description that misleads a person who trusted you.</a:t>
            </a:r>
          </a:p>
          <a:p>
            <a:pPr>
              <a:spcAft>
                <a:spcPts val="1000"/>
              </a:spcAft>
            </a:pPr>
            <a:r>
              <a:rPr sz="2100" b="0">
                <a:solidFill>
                  <a:srgbClr val="1C1C1A"/>
                </a:solidFill>
                <a:latin typeface="Calibri"/>
              </a:rPr>
              <a:t>Nothing in a traceback catches this. The only thing that catches it is looking at the shape before you send the number.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5: THE INTERVIEW BLOCK</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[one column] &gt; [what is typical] &gt; [what one order does] &gt; [what the shape says] &gt; [per segment, with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this section is</a:t>
            </a:r>
          </a:p>
        </p:txBody>
      </p:sp>
      <p:sp>
        <p:nvSpPr>
          <p:cNvPr id="4" name="TextBox 3"/>
          <p:cNvSpPr txBox="1"/>
          <p:nvPr/>
        </p:nvSpPr>
        <p:spPr>
          <a:xfrm>
            <a:off x="777240" y="1965960"/>
            <a:ext cx="10607040" cy="1285875"/>
          </a:xfrm>
          <a:prstGeom prst="rect">
            <a:avLst/>
          </a:prstGeom>
          <a:noFill/>
        </p:spPr>
        <p:txBody>
          <a:bodyPr wrap="square">
            <a:spAutoFit/>
          </a:bodyPr>
          <a:lstStyle/>
          <a:p>
            <a:pPr>
              <a:spcAft>
                <a:spcPts val="1000"/>
              </a:spcAft>
            </a:pPr>
            <a:r>
              <a:rPr sz="2100" b="0">
                <a:solidFill>
                  <a:srgbClr val="1C1C1A"/>
                </a:solidFill>
                <a:latin typeface="Calibri"/>
              </a:rPr>
              <a:t>The first question below is on this week's own question set and will be on Saturday's paper. It is tagged as a service-major screen opener, which means it is often the first technical thing you are asked. The rest are asked often enough at this level that this programme puts them in front of you now.</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mean or median for a money field, and why</a:t>
            </a:r>
          </a:p>
        </p:txBody>
      </p:sp>
      <p:sp>
        <p:nvSpPr>
          <p:cNvPr id="4" name="TextBox 3"/>
          <p:cNvSpPr txBox="1"/>
          <p:nvPr/>
        </p:nvSpPr>
        <p:spPr>
          <a:xfrm>
            <a:off x="777240" y="1965960"/>
            <a:ext cx="10607040" cy="3638550"/>
          </a:xfrm>
          <a:prstGeom prst="rect">
            <a:avLst/>
          </a:prstGeom>
          <a:noFill/>
        </p:spPr>
        <p:txBody>
          <a:bodyPr wrap="square">
            <a:spAutoFit/>
          </a:bodyPr>
          <a:lstStyle/>
          <a:p>
            <a:pPr>
              <a:spcAft>
                <a:spcPts val="1000"/>
              </a:spcAft>
            </a:pPr>
            <a:r>
              <a:rPr sz="2100" b="0">
                <a:solidFill>
                  <a:srgbClr val="1C1C1A"/>
                </a:solidFill>
                <a:latin typeface="Calibri"/>
              </a:rPr>
              <a:t>This is on the week's question set.</a:t>
            </a:r>
          </a:p>
          <a:p>
            <a:pPr>
              <a:spcAft>
                <a:spcPts val="1000"/>
              </a:spcAft>
            </a:pPr>
            <a:r>
              <a:rPr sz="2100" b="1">
                <a:solidFill>
                  <a:srgbClr val="1C1C1A"/>
                </a:solidFill>
                <a:latin typeface="Calibri"/>
              </a:rPr>
              <a:t>What it is really testing.</a:t>
            </a:r>
            <a:r>
              <a:rPr sz="2100" b="0">
                <a:solidFill>
                  <a:srgbClr val="1C1C1A"/>
                </a:solidFill>
                <a:latin typeface="Calibri"/>
              </a:rPr>
              <a:t> Whether you know that the two answer different questions, and whether you will name evidence rather than a rule.</a:t>
            </a:r>
          </a:p>
          <a:p>
            <a:pPr>
              <a:spcAft>
                <a:spcPts val="1000"/>
              </a:spcAft>
            </a:pPr>
            <a:r>
              <a:rPr sz="2100" b="1">
                <a:solidFill>
                  <a:srgbClr val="1C1C1A"/>
                </a:solidFill>
                <a:latin typeface="Calibri"/>
              </a:rPr>
              <a:t>The answer, in three beats.</a:t>
            </a:r>
            <a:r>
              <a:rPr sz="2100" b="0">
                <a:solidFill>
                  <a:srgbClr val="1C1C1A"/>
                </a:solidFill>
                <a:latin typeface="Calibri"/>
              </a:rPr>
              <a:t> The median, on any money column, and I would say that is what I sent. Money has a floor at zero and no ceiling, so a few very large values sit in a long tail and drag the mean away from anything a typical record looks like. On today's file the mean order value is Rs 12,753.30 and the median is Rs 1,910, and exactly one order out of forty four sits at or above the mean. The mean is arithmetically correct and it describes one customer.</a:t>
            </a:r>
          </a:p>
          <a:p>
            <a:pPr>
              <a:spcAft>
                <a:spcPts val="1000"/>
              </a:spcAft>
            </a:pPr>
            <a:r>
              <a:rPr sz="2100" b="1">
                <a:solidFill>
                  <a:srgbClr val="1C1C1A"/>
                </a:solidFill>
                <a:latin typeface="Calibri"/>
              </a:rPr>
              <a:t>The follow-up.</a:t>
            </a:r>
            <a:r>
              <a:rPr sz="2100" b="0">
                <a:solidFill>
                  <a:srgbClr val="1C1C1A"/>
                </a:solidFill>
                <a:latin typeface="Calibri"/>
              </a:rPr>
              <a:t> "When would you send the mean?" When the column has no long tail, or when the total genuinely matters, because the mean is the total divided by the count and sometimes the total is the question. If somebody asks what an order is worth, that is the median. If somebody asks what the orders came to, that is the total.</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the version that separates you from the room</a:t>
            </a:r>
          </a:p>
        </p:txBody>
      </p:sp>
      <p:sp>
        <p:nvSpPr>
          <p:cNvPr id="5" name="TextBox 4"/>
          <p:cNvSpPr txBox="1"/>
          <p:nvPr/>
        </p:nvSpPr>
        <p:spPr>
          <a:xfrm>
            <a:off x="777240" y="1965960"/>
            <a:ext cx="10607040" cy="2771775"/>
          </a:xfrm>
          <a:prstGeom prst="rect">
            <a:avLst/>
          </a:prstGeom>
          <a:noFill/>
        </p:spPr>
        <p:txBody>
          <a:bodyPr wrap="square">
            <a:spAutoFit/>
          </a:bodyPr>
          <a:lstStyle/>
          <a:p>
            <a:pPr>
              <a:spcAft>
                <a:spcPts val="1000"/>
              </a:spcAft>
            </a:pPr>
            <a:r>
              <a:rPr sz="2100" b="0">
                <a:solidFill>
                  <a:srgbClr val="1C1C1A"/>
                </a:solidFill>
                <a:latin typeface="Calibri"/>
              </a:rPr>
              <a:t>Add the breakdown argument, because it turns a preference into a property.</a:t>
            </a:r>
          </a:p>
          <a:p>
            <a:pPr>
              <a:spcAft>
                <a:spcPts val="1000"/>
              </a:spcAft>
            </a:pPr>
            <a:r>
              <a:rPr sz="2100" b="0">
                <a:solidFill>
                  <a:srgbClr val="1C1C1A"/>
                </a:solidFill>
                <a:latin typeface="Calibri"/>
              </a:rPr>
              <a:t>Say that the mean can be moved arbitrarily far by one record, so its breakdown point is one record out of $n$, while the median cannot be moved at all until half the data changes side. Then say you check the two against each other as a habit: when the mean sits far above the median, something large is pulling on the right and you go and look at the sorted tail before you send anything.</a:t>
            </a:r>
          </a:p>
          <a:p>
            <a:pPr>
              <a:spcAft>
                <a:spcPts val="1000"/>
              </a:spcAft>
            </a:pPr>
            <a:r>
              <a:rPr sz="2100" b="0">
                <a:solidFill>
                  <a:srgbClr val="1C1C1A"/>
                </a:solidFill>
                <a:latin typeface="Calibri"/>
              </a:rPr>
              <a:t>Finish with the number, not the principle: remove one order from this file and the mean falls from Rs 12,753.30 to Rs 1,887.09, landing within Rs 22 of the median. When removing one record makes the two agree, the mean was describing that record.</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what is an outlier and what do you do with one</a:t>
            </a:r>
          </a:p>
        </p:txBody>
      </p:sp>
      <p:sp>
        <p:nvSpPr>
          <p:cNvPr id="4" name="TextBox 3"/>
          <p:cNvSpPr txBox="1"/>
          <p:nvPr/>
        </p:nvSpPr>
        <p:spPr>
          <a:xfrm>
            <a:off x="777240" y="1965960"/>
            <a:ext cx="10607040" cy="264795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A value far enough from the rest that it changes the summaries, and the first thing I do is check whether it is even an outlier rather than a parsing failure wearing one. If it converts cleanly and the rest of the record is complete, it is real until somebody who owns the data says otherwise, so it is kept, flagged and raised. I change the statistic rather than the data.</a:t>
            </a:r>
          </a:p>
          <a:p>
            <a:pPr>
              <a:spcAft>
                <a:spcPts val="1000"/>
              </a:spcAft>
            </a:pPr>
            <a:r>
              <a:rPr sz="2100" b="1">
                <a:solidFill>
                  <a:srgbClr val="1C1C1A"/>
                </a:solidFill>
                <a:latin typeface="Calibri"/>
              </a:rPr>
              <a:t>The follow-up.</a:t>
            </a:r>
            <a:r>
              <a:rPr sz="2100" b="0">
                <a:solidFill>
                  <a:srgbClr val="1C1C1A"/>
                </a:solidFill>
                <a:latin typeface="Calibri"/>
              </a:rPr>
              <a:t> "How do you find them?" Sort and read the tail first, because that is the only method that shows me actual values. Then a fence built from the interquartile range when I need a rule somebody else can reproduce, and I say the multiplier out loud because it is a convention.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3: why not just remove the outlier so the average looks sensible</a:t>
            </a:r>
          </a:p>
        </p:txBody>
      </p:sp>
      <p:sp>
        <p:nvSpPr>
          <p:cNvPr id="4" name="TextBox 3"/>
          <p:cNvSpPr txBox="1"/>
          <p:nvPr/>
        </p:nvSpPr>
        <p:spPr>
          <a:xfrm>
            <a:off x="777240" y="1965960"/>
            <a:ext cx="10607040" cy="2771775"/>
          </a:xfrm>
          <a:prstGeom prst="rect">
            <a:avLst/>
          </a:prstGeom>
          <a:noFill/>
        </p:spPr>
        <p:txBody>
          <a:bodyPr wrap="square">
            <a:spAutoFit/>
          </a:bodyPr>
          <a:lstStyle/>
          <a:p>
            <a:pPr>
              <a:spcAft>
                <a:spcPts val="1000"/>
              </a:spcAft>
            </a:pPr>
            <a:r>
              <a:rPr sz="2100" b="0">
                <a:solidFill>
                  <a:srgbClr val="1C1C1A"/>
                </a:solidFill>
                <a:latin typeface="Calibri"/>
              </a:rPr>
              <a:t>This programme's own calibration, and it is asked to see whether you will defend the data or the number.</a:t>
            </a:r>
          </a:p>
          <a:p>
            <a:pPr>
              <a:spcAft>
                <a:spcPts val="1000"/>
              </a:spcAft>
            </a:pPr>
            <a:r>
              <a:rPr sz="2100" b="1">
                <a:solidFill>
                  <a:srgbClr val="1C1C1A"/>
                </a:solidFill>
                <a:latin typeface="Calibri"/>
              </a:rPr>
              <a:t>The answer.</a:t>
            </a:r>
            <a:r>
              <a:rPr sz="2100" b="0">
                <a:solidFill>
                  <a:srgbClr val="1C1C1A"/>
                </a:solidFill>
                <a:latin typeface="Calibri"/>
              </a:rPr>
              <a:t> Because the order is real, and deleting a real record to improve a number is how a report becomes fiction. The problem is not the record, it is that the mean was the wrong summary for a column with a tail. So the record stays and the statistic changes, and both facts go in the decisions log where a reviewer can see them.</a:t>
            </a:r>
          </a:p>
          <a:p>
            <a:pPr>
              <a:spcAft>
                <a:spcPts val="1000"/>
              </a:spcAft>
            </a:pPr>
            <a:r>
              <a:rPr sz="2100" b="1">
                <a:solidFill>
                  <a:srgbClr val="1C1C1A"/>
                </a:solidFill>
                <a:latin typeface="Calibri"/>
              </a:rPr>
              <a:t>The follow-up.</a:t>
            </a:r>
            <a:r>
              <a:rPr sz="2100" b="0">
                <a:solidFill>
                  <a:srgbClr val="1C1C1A"/>
                </a:solidFill>
                <a:latin typeface="Calibri"/>
              </a:rPr>
              <a:t> "What if your manager asks you to remove it?" Then I show them the median next to the mean and the count each rests on, and ask which question they are answering. Usually they wanted a typical order value, which is the median, and the disagreement disappears.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4: what does the range tell you</a:t>
            </a:r>
          </a:p>
        </p:txBody>
      </p:sp>
      <p:sp>
        <p:nvSpPr>
          <p:cNvPr id="4" name="TextBox 3"/>
          <p:cNvSpPr txBox="1"/>
          <p:nvPr/>
        </p:nvSpPr>
        <p:spPr>
          <a:xfrm>
            <a:off x="777240" y="1965960"/>
            <a:ext cx="10607040" cy="215265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Very little on its own, because it is built from exactly two records out of the whole file. On today's column the range is Rs 479,200 and it describes the smallest order and the whale, and nothing about the forty two orders in between. I use the interquartile range instead when I want a spread that survives a tail, because it is built from positions rather than from the extremes.</a:t>
            </a:r>
          </a:p>
          <a:p>
            <a:pPr>
              <a:spcAft>
                <a:spcPts val="1000"/>
              </a:spcAft>
            </a:pPr>
            <a:r>
              <a:rPr sz="2100" b="1">
                <a:solidFill>
                  <a:srgbClr val="1C1C1A"/>
                </a:solidFill>
                <a:latin typeface="Calibri"/>
              </a:rPr>
              <a:t>The follow-up.</a:t>
            </a:r>
            <a:r>
              <a:rPr sz="2100" b="0">
                <a:solidFill>
                  <a:srgbClr val="1C1C1A"/>
                </a:solidFill>
                <a:latin typeface="Calibri"/>
              </a:rPr>
              <a:t> "So when is the range useful?" When the extremes are the point, such as a service level where the worst case is what somebody is accountable for.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Crux</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&gt; The mean was right and the description was wrong.</a:t>
            </a:r>
          </a:p>
          <a:p>
            <a:pPr>
              <a:spcAft>
                <a:spcPts val="1000"/>
              </a:spcAft>
            </a:pPr>
            <a:r>
              <a:rPr sz="2100" b="0">
                <a:solidFill>
                  <a:srgbClr val="1C1C1A"/>
                </a:solidFill>
                <a:latin typeface="Calibri"/>
              </a:rPr>
              <a:t>&gt; On a money column, send the median, and say that is what you sent.</a:t>
            </a:r>
          </a:p>
          <a:p>
            <a:pPr>
              <a:spcAft>
                <a:spcPts val="1000"/>
              </a:spcAft>
            </a:pPr>
            <a:r>
              <a:rPr sz="2100" b="0">
                <a:solidFill>
                  <a:srgbClr val="1C1C1A"/>
                </a:solidFill>
                <a:latin typeface="Calibri"/>
              </a:rPr>
              <a:t>And never send a number without the count it rests on.</a:t>
            </a:r>
          </a:p>
          <a:p>
            <a:pPr>
              <a:spcAft>
                <a:spcPts val="1000"/>
              </a:spcAft>
            </a:pPr>
            <a:r>
              <a:rPr sz="2100" b="0">
                <a:solidFill>
                  <a:srgbClr val="1C1C1A"/>
                </a:solidFill>
                <a:latin typeface="Calibri"/>
              </a:rPr>
              <a:t>Half two: the count it rests 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