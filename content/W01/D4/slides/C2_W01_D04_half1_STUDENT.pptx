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tree, Tuesday found the branch that moved,</a:t>
            </a:r>
          </a:p>
          <a:p>
            <a:r>
              <a:t>Wednesday made the numbers trustworthy, and today asks whether what moved is real, whether it</a:t>
            </a:r>
          </a:p>
          <a:p>
            <a:r>
              <a:t>matters, and whether anyone caused it. Friday rebuilds the week without an assistant.</a:t>
            </a:r>
          </a:p>
          <a:p>
            <a:r>
              <a:t>Transition: the next 19 minutes are the ask and the thinking, with no laptop open.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from the row: "One page, two</a:t>
            </a:r>
          </a:p>
          <a:p>
            <a:r>
              <a:t>minutes. If the honest answer is 'we do not know yet', say so and tell me what would tell us."</a:t>
            </a:r>
          </a:p>
          <a:p>
            <a:r>
              <a:t>Ask which of the three questions would cost Kalpa the most if answered wrongly. Most say the</a:t>
            </a:r>
          </a:p>
          <a:p>
            <a:r>
              <a:t>discount, because it is about to be repeated for Diwali. Hold that; chapters 4 and 6 answer it.</a:t>
            </a:r>
          </a:p>
          <a:p>
            <a:r>
              <a:t>Watch for anyone answering a question now. Every number on this slide is somebody's claim, and</a:t>
            </a:r>
          </a:p>
          <a:p>
            <a:r>
              <a:t>today tests each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 answer slide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habit, chapter 3 the second, chapters 4 and 6 the third, and chapter 5 writes the note on</a:t>
            </a:r>
          </a:p>
          <a:p>
            <a:r>
              <a:t>the right. Say that every chapter ends on one line of that note.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chapter today ends on one line of this note. The caveat is the part most</a:t>
            </a:r>
          </a:p>
          <a:p>
            <a:r>
              <a:t>analysts leave out and the part a CEO keeps them for. Model it once: "Not yet, and here is what</a:t>
            </a:r>
          </a:p>
          <a:p>
            <a:r>
              <a:t>would tell us" is a claim, a caveat and an action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what not to redo: nobody re-cleans the file, and nobody re-derives the tree.</a:t>
            </a:r>
          </a:p>
          <a:p>
            <a:r>
              <a:t>Recall from Monday's domain story (content/W01/D1/study-notes/C2_W01_D01_domain_retail_STUDENT.md)</a:t>
            </a:r>
          </a:p>
          <a:p>
            <a:r>
              <a:t>that a membership tier is where a retailer's most frequent buyers sit, which is why a fall there</a:t>
            </a:r>
          </a:p>
          <a:p>
            <a:r>
              <a:t>worries the head of the tier. Wednesday's return question is the Kahoot's last item.</a:t>
            </a:r>
          </a:p>
          <a:p>
            <a:r>
              <a:t>Transition: a gap exists; chapter 1 asks whether chance alone could have made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ten cards by</a:t>
            </a:r>
          </a:p>
          <a:p>
            <a:r>
              <a:t>hand (8, never cut), Retail-Core and the room's Retail-Plus run (6), the trap and its fix (5), the</a:t>
            </a:r>
          </a:p>
          <a:p>
            <a:r>
              <a:t>second route (2), and Kavya's review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Write the measure on the board beside the tree.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The point: a company that tests constantly treats a gap as noise until it beats chance.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Compute decides nothing at 44 rows: every option is instant. What decides is the</a:t>
            </a:r>
          </a:p>
          <a:p>
            <a:r>
              <a:t>shape of the data and the reader. Eight of the 44 totals are zero (six members bought nothing in Q2, two nothing in Q1), which is the</a:t>
            </a:r>
          </a:p>
          <a:p>
            <a:r>
              <a:t>lumpy shape a textbook formula assumes away. Notebook 1's sizing cell times each option live.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the bootstrap, returns in chapter 2 where the question becomes how big. Say</a:t>
            </a:r>
          </a:p>
          <a:p>
            <a:r>
              <a:t>the switch fact aloud: at Booking.com's scale the textbook test is the house standard.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ten index cards with these amounts; the numbers are</a:t>
            </a:r>
          </a:p>
          <a:p>
            <a:r>
              <a:t>invented and the slide says so. Each pair shuffles ten times and writes each gap on the board in a</a:t>
            </a:r>
          </a:p>
          <a:p>
            <a:r>
              <a:t>row. Then count, as a room, how many gaps reached Rs 880 or more. Ask: if the quarter made no</a:t>
            </a:r>
          </a:p>
          <a:p>
            <a:r>
              <a:t>difference, how surprising is 880? The guided sheet is exercises/guided/C2_W01_D04_ten_cards_STUDENT.md.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shuffle produced, a fair stand-in</a:t>
            </a:r>
          </a:p>
          <a:p>
            <a:r>
              <a:t>for a pair's ten. Take letters. The trap is b: one in ten sounds common, but ten draws say almost</a:t>
            </a:r>
          </a:p>
          <a:p>
            <a:r>
              <a:t>nothing about a share.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sentence aloud: "If the quarter made no difference, a gap of Rs 880 or more</a:t>
            </a:r>
          </a:p>
          <a:p>
            <a:r>
              <a:t>turns up in about 2 of every 100 shuffles." The loop in notebook 1 is twelve lines, and every line</a:t>
            </a:r>
          </a:p>
          <a:p>
            <a:r>
              <a:t>is something the room just did with cards: pool, shuffle, deal, subtract, count.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live in notebook 1, level 2. The bars are chance-only worlds, and the real gap</a:t>
            </a:r>
          </a:p>
          <a:p>
            <a:r>
              <a:t>sits in the tallest bar. Kavya's point: this is what "nothing happened" looks like, and the room</a:t>
            </a:r>
          </a:p>
          <a:p>
            <a:r>
              <a:t>needs to have seen it before judging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runs level 3 of notebook 1 and writes a first-draft sentence without help.</a:t>
            </a:r>
          </a:p>
          <a:p>
            <a:r>
              <a:t>Do not read a number out first; every laptop gets the same share because of the seed. Ask one pair</a:t>
            </a:r>
          </a:p>
          <a:p>
            <a:r>
              <a:t>to read theirs aloud and write it on the board. That number belongs to the room, and the next</a:t>
            </a:r>
          </a:p>
          <a:p>
            <a:r>
              <a:t>three slides work on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 next slide corrects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0.005. Ask of any p-value sentence: in which world was</a:t>
            </a:r>
          </a:p>
          <a:p>
            <a:r>
              <a:t>this share counted? The chance that a finding is wrong depends on what the shuffle never saw: how</a:t>
            </a:r>
          </a:p>
          <a:p>
            <a:r>
              <a:t>plausible a fall was before the data, what else changed, and how many segments were tested.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stays 0.027; the claim shrinks from "97 percent certain" to "larger than</a:t>
            </a:r>
          </a:p>
          <a:p>
            <a:r>
              <a:t>the usual wobble". Each pair rewrites its first draft in the right-hand form.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1's second route. Two routes built on different ideas land within a</a:t>
            </a:r>
          </a:p>
          <a:p>
            <a:r>
              <a:t>thousandth or so, so the verdict can go in the note. The formula behind the textbook test is a</a:t>
            </a:r>
          </a:p>
          <a:p>
            <a:r>
              <a:t>later week's topic; today it is a second opinion.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answers are in notebook 1 and in one breath in the afternoon drill. The</a:t>
            </a:r>
          </a:p>
          <a:p>
            <a:r>
              <a:t>chapter 1 set (exercises/unguided/C2_W01_D04_ch1_real_or_wobble_STUDENT.md) is self-study or the</a:t>
            </a:r>
          </a:p>
          <a:p>
            <a:r>
              <a:t>lab's warm-up if the chapter ran to time. Transition: Retail-Plus beat the wobble; 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two axes (3),</a:t>
            </a:r>
          </a:p>
          <a:p>
            <a:r>
              <a:t>the trap and its check (7), the sizing and the offer (8), the second route (4), and Kavya's review</a:t>
            </a:r>
          </a:p>
          <a:p>
            <a:r>
              <a:t>(1).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option runs in under a second on this file; notebook 2's sizing cell times</a:t>
            </a:r>
          </a:p>
          <a:p>
            <a:r>
              <a:t>them. The call follows the decision: a budget line needs rupees beside the quarter and the cost.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where Retail-Core's Rs 110 belongs: bottom left. Hold Retail-Plus until the</a:t>
            </a:r>
          </a:p>
          <a:p>
            <a:r>
              <a:t>room has sized it. The quadrant is the day's second board drawing.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second trap of the day and the one that costs money. Ask what the</a:t>
            </a:r>
          </a:p>
          <a:p>
            <a:r>
              <a:t>share would be for a twenty-rupee gap on twenty thousand orders. Take guesses; the next slide shows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orders are invented in notebook 2, level 3, and the gap is Rs 20 at every</a:t>
            </a:r>
          </a:p>
          <a:p>
            <a:r>
              <a:t>size. The share falls from 0.45 to 0.002 on sample size alone. The share measures how surely a gap</a:t>
            </a:r>
          </a:p>
          <a:p>
            <a:r>
              <a:t>beats chance; it never measures how big the gap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computes these in notebook 2, levels 1 and 2. Business carries the</a:t>
            </a:r>
          </a:p>
          <a:p>
            <a:r>
              <a:t>company's quarter, which is why every consumer segment's move is small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chart draws the consumer segments alone so their bars stand in proportion; with</a:t>
            </a:r>
          </a:p>
          <a:p>
            <a:r>
              <a:t>Business on one axis all three would sit on the floor. Company Q2 delivered revenue: Rs 1,28,64,680.</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notebook 2, level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more than the whole fall. Say that revenue is not margin, once.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About 2 in 100 redraws land at or below zero, against the shuffle's 0.027: two</a:t>
            </a:r>
          </a:p>
          <a:p>
            <a:r>
              <a:t>routes, one verdict. The low end, about Rs 920 a quarter for the tier, is why the offer goes to half</a:t>
            </a:r>
          </a:p>
          <a:p>
            <a:r>
              <a:t>the members first. CUT FIRST if the chapter runs long: say the name and the verdict only.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answers are in notebook 2. Transition: Meera's second question is about a</a:t>
            </a:r>
          </a:p>
          <a:p>
            <a:r>
              <a:t>rise, the biggest on the page, and it needs a different check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check first</a:t>
            </a:r>
          </a:p>
          <a:p>
            <a:r>
              <a:t>(3), the trap (3), why small counts swing (4), the room's count and flips (7), the interview pair</a:t>
            </a:r>
          </a:p>
          <a:p>
            <a:r>
              <a:t>(3), the second route (2), and Kavya's review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Ask which number the room would want beside the 40 percent</a:t>
            </a:r>
          </a:p>
          <a:p>
            <a:r>
              <a:t>before answering. Hold the answers; the question slide asks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3's sizing cell runs B in well under a second. D is the action the</a:t>
            </a:r>
          </a:p>
          <a:p>
            <a:r>
              <a:t>answer leads to; the note names the count that would reopen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in notebook 3's empty cell.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rate is correct arithmetic. What is wrong is repeating it without the count,</a:t>
            </a:r>
          </a:p>
          <a:p>
            <a:r>
              <a:t>the same mistake as Monday's number without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chart is exact arithmetic on fair coin flips, one flip per order deciding its</a:t>
            </a:r>
          </a:p>
          <a:p>
            <a:r>
              <a:t>quarter, with no Kalpa data in it. Ten orders, 38 percent of worlds; four hundred, four in ten</a:t>
            </a:r>
          </a:p>
          <a:p>
            <a:r>
              <a:t>thousand. That curve is why the rule of thumb exists.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count is the room's discovery; do not say it. When a pair has it, ask how many</a:t>
            </a:r>
          </a:p>
          <a:p>
            <a:r>
              <a:t>customers stand behind the orders, and watch the faces. The flips come back near four in ten.</a:t>
            </a:r>
          </a:p>
          <a:p>
            <a:r>
              <a:t>Collect two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 level 4: a true 31 percent shows 42 or more in about 31 percent of</a:t>
            </a:r>
          </a:p>
          <a:p>
            <a:r>
              <a:t>groups of twelve, and groups of 1,200 land between about 28 and 35 percent.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two routes land within a point. Do not name the</a:t>
            </a:r>
          </a:p>
          <a:p>
            <a:r>
              <a:t>number of deals, which would give the count away.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it carries thirty orders a</a:t>
            </a:r>
          </a:p>
          <a:p>
            <a:r>
              <a:t>quarter before any budget moves." Break for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(4), the options and the call (4), Marketing's</a:t>
            </a:r>
          </a:p>
          <a:p>
            <a:r>
              <a:t>number reproduced (3), the trap (3), why it can be wrong (4), the room's split (6), the fix (2),</a:t>
            </a:r>
          </a:p>
          <a:p>
            <a:r>
              <a:t>the second route (3), and Kavya's review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Walmart's corporate newsroom, 25 October 2022; Bickel, Hammel and</a:t>
            </a:r>
          </a:p>
          <a:p>
            <a:r>
              <a:t>O'Connell, Science, 1975, as quoted by Alex Reinhart (8,442 men, 4,321 women).</a:t>
            </a:r>
          </a:p>
          <a:p>
            <a:r>
              <a:t>Checked 30 September 2026: https://corporate.walmart.com/news/2022/10/25/ahead-of-the-u-s-holidays-indias-shoppers-and-sellers-go-big</a:t>
            </a:r>
          </a:p>
          <a:p>
            <a:r>
              <a:t>Checked 30 September 2026: https://www.refsmmat.com/posts/2016-05-08-simpsons-paradox-berkeley.html</a:t>
            </a:r>
          </a:p>
          <a:p>
            <a:r>
              <a:t>Women applied more to departments that admitted few applicants. Do not draw the Kalpa parallel;</a:t>
            </a:r>
          </a:p>
          <a:p>
            <a:r>
              <a:t>the room finds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All four run instantly on 160 customers; notebook 4's sizing cell shows it. The</a:t>
            </a:r>
          </a:p>
          <a:p>
            <a:r>
              <a:t>call rests on one check the notebook runs before any spend is compared: who is in each group. A</a:t>
            </a:r>
          </a:p>
          <a:p>
            <a:r>
              <a:t>returns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Predict, then run notebook 4, level 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The question is whether the</a:t>
            </a:r>
          </a:p>
          <a:p>
            <a:r>
              <a:t>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what would have to be true of the two groups for this sentence to hold. Take</a:t>
            </a:r>
          </a:p>
          <a:p>
            <a:r>
              <a:t>two answers. The next slide shows,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Both stores' promoted customers</a:t>
            </a:r>
          </a:p>
          <a:p>
            <a:r>
              <a:t>spent 10 percent less, and the blend more than doubles because the promoted group is mostly</a:t>
            </a:r>
          </a:p>
          <a:p>
            <a:r>
              <a:t>big-store customers. This is the Berkeley pattern in rupees. Do not state Kalpa's split: the room</a:t>
            </a:r>
          </a:p>
          <a:p>
            <a:r>
              <a:t>runs it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room runs level 3. When most laptops show the chart, ask one pair to read the</a:t>
            </a:r>
          </a:p>
          <a:p>
            <a:r>
              <a:t>two segment changes and the two mixes aloud. The reversal belongs to the room. Then point at the</a:t>
            </a:r>
          </a:p>
          <a:p>
            <a:r>
              <a:t>blended column and ask how both can be true.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blank is filled from the room's own run. What changed: the decision, from</a:t>
            </a:r>
          </a:p>
          <a:p>
            <a:r>
              <a:t>repeat to redesign, and the reason is a mix of customers, never a mistake in Marketing's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4's second route. This slide comes after the room's split, so the</a:t>
            </a:r>
          </a:p>
          <a:p>
            <a:r>
              <a:t>numbers are theirs already. Both directions give the same 3.0 percent, which is the split said as</a:t>
            </a:r>
          </a:p>
          <a:p>
            <a:r>
              <a:t>one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6 opens the afternoon on "what else changed". Transition: three questions</a:t>
            </a:r>
          </a:p>
          <a:p>
            <a:r>
              <a:t>answered; now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trap (4), the</a:t>
            </a:r>
          </a:p>
          <a:p>
            <a:r>
              <a:t>audit (4), the Retail-Plus line built together (7), the not-yet lines (4), the second route (3),</a:t>
            </a:r>
          </a:p>
          <a:p>
            <a:r>
              <a:t>and Kavya's review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Meera asked for one page, which is Amazon's idea at a sixth of the length. Say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5's sizing cell counts the words; the dashboard is everything notebooks</a:t>
            </a:r>
          </a:p>
          <a:p>
            <a:r>
              <a:t>1 to 4 printed. A drops what Meera explicitly allowed;</a:t>
            </a:r>
          </a:p>
          <a:p>
            <a:r>
              <a:t>B and D hand her the analysis instead of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34 percent is Rs 24,420 over the tier's Rs 72,130 in Q1: true, and a crisis</a:t>
            </a:r>
          </a:p>
          <a:p>
            <a:r>
              <a:t>only for a tier that delivered under one percent of the company's revenue. The 40 percent and the 6</a:t>
            </a:r>
          </a:p>
          <a:p>
            <a:r>
              <a:t>percent are chapters 3 and 4's traps, back in a note.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5, level 2, runs the audit as a small function over each line and draws</a:t>
            </a:r>
          </a:p>
          <a:p>
            <a:r>
              <a:t>this grid. Ask the room for the base each line needs: the company's quarter, the count and the</a:t>
            </a:r>
          </a:p>
          <a:p>
            <a:r>
              <a:t>coin flips, who got the sale.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on the board part by part, with the room dictating. The caveat is the</a:t>
            </a:r>
          </a:p>
          <a:p>
            <a:r>
              <a:t>part most often missing and the one a CEO keeps an analyst for. The row asks for this line guided;</a:t>
            </a:r>
          </a:p>
          <a:p>
            <a:r>
              <a:t>the Student and discount lines are the room's.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Expect a. Hold it for the answer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level 4, writes both lines and audits the whole note: every line passes</a:t>
            </a:r>
          </a:p>
          <a:p>
            <a:r>
              <a:t>all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figure that traces nowhere was typed by hand and is the likeliest to be wrong.</a:t>
            </a:r>
          </a:p>
          <a:p>
            <a:r>
              <a:t>Notebook 5's second route finds ten figures and traces all ten.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on the same 5,000 shuffles, and five other seeds give 0.026 to 0.029.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4.xml"/><Relationship Id="rId6"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6.png"/><Relationship Id="rId6"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9.png"/><Relationship Id="rId6" Type="http://schemas.openxmlformats.org/officeDocument/2006/relationships/image" Target="../media/image31.png"/><Relationship Id="rId7" Type="http://schemas.openxmlformats.org/officeDocument/2006/relationships/image" Target="../media/image10.png"/><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16.png"/><Relationship Id="rId6"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7.png"/><Relationship Id="rId6" Type="http://schemas.openxmlformats.org/officeDocument/2006/relationships/image" Target="../media/image4.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3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image" Target="../media/image40.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4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16.png"/><Relationship Id="rId6"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4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2.xml"/><Relationship Id="rId6" Type="http://schemas.openxmlformats.org/officeDocument/2006/relationships/image" Target="../media/image4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16.png"/><Relationship Id="rId6" Type="http://schemas.openxmlformats.org/officeDocument/2006/relationships/image" Target="../media/image4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5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Real, or the usual wobble?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Real, or the usual wobble</a:t>
            </a:r>
          </a:p>
        </p:txBody>
      </p:sp>
      <p:sp>
        <p:nvSpPr>
          <p:cNvPr id="13" name="TextBox 12"/>
          <p:cNvSpPr txBox="1"/>
          <p:nvPr/>
        </p:nvSpPr>
        <p:spPr>
          <a:xfrm>
            <a:off x="28503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Real, and worth acting on</a:t>
            </a:r>
          </a:p>
        </p:txBody>
      </p:sp>
      <p:sp>
        <p:nvSpPr>
          <p:cNvPr id="15" name="TextBox 14"/>
          <p:cNvSpPr txBox="1"/>
          <p:nvPr/>
        </p:nvSpPr>
        <p:spPr>
          <a:xfrm>
            <a:off x="507892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462968"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count behind 40 percent</a:t>
            </a:r>
          </a:p>
        </p:txBody>
      </p:sp>
      <p:sp>
        <p:nvSpPr>
          <p:cNvPr id="17" name="TextBox 16"/>
          <p:cNvSpPr txBox="1"/>
          <p:nvPr/>
        </p:nvSpPr>
        <p:spPr>
          <a:xfrm>
            <a:off x="742578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809833"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discount, split by segment</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three questions, in her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reconciled the quarters, so the numbers are trusted; now she asks what they mean.</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habit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and need three different checks before any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question fails in its own way, so each gets its own check before it reaches the note.</a:t>
            </a:r>
          </a:p>
        </p:txBody>
      </p:sp>
      <p:pic>
        <p:nvPicPr>
          <p:cNvPr id="9" name="mermaid diagram" descr="d1fc255141dfee8d.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Meera reads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parts, in order, and "not yet" is an answer when the evidence says so.</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7" name="Oval 3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9" name="Oval 3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41" name="Oval 4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3" name="Oval 4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week has already settled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days of work stand behind today's numbers, so today inherits them rather than redoing them.</a:t>
            </a:r>
          </a:p>
        </p:txBody>
      </p:sp>
      <p:pic>
        <p:nvPicPr>
          <p:cNvPr id="9" name="mermaid diagram" descr="cb649dca84b1dd0b.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plus the Student segment's own orders and the campaigns table. Retail-Plus is Kalpa's membership tier, as Monday's domain story told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72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usual wobble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Shuffle the quarter labels thousands of times and see how often chance alone makes a gap this large.</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72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is the Retail-Plus fall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first question, the metric at stake, and what a wrong call costs before Monday.</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Q1 against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9" name="Oval 2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1" name="Oval 30"/>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3" name="Oval 3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5" name="Oval 3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company that runs thousands of tests a year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ask "is it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44 member totals, one quarter against the other.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59583"/>
                <a:gridCol w="2481610"/>
                <a:gridCol w="1555035"/>
                <a:gridCol w="433476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touches</a:t>
                      </a:r>
                    </a:p>
                  </a:txBody>
                  <a:tcPr marL="101600" marR="101600" marT="38100" marB="38100" anchor="ctr">
                    <a:solidFill>
                      <a:srgbClr val="1A0F5C"/>
                    </a:solidFill>
                  </a:tcPr>
                </a:tc>
                <a:tc>
                  <a:txBody>
                    <a:bodyPr/>
                    <a:lstStyle/>
                    <a:p>
                      <a:r>
                        <a:rPr sz="1250" b="1" i="0">
                          <a:solidFill>
                            <a:srgbClr val="FFFFFF"/>
                          </a:solidFill>
                          <a:latin typeface="Calibri"/>
                        </a:rPr>
                        <a:t>Time here</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335280">
                <a:tc>
                  <a:txBody>
                    <a:bodyPr/>
                    <a:lstStyle/>
                    <a:p>
                      <a:r>
                        <a:rPr sz="1200" b="0" i="0">
                          <a:solidFill>
                            <a:srgbClr val="1A1440"/>
                          </a:solidFill>
                          <a:latin typeface="Calibri"/>
                        </a:rPr>
                        <a:t>A. Shuffle test</a:t>
                      </a:r>
                    </a:p>
                  </a:txBody>
                  <a:tcPr marL="101600" marR="101600" marT="38100" marB="38100" anchor="ctr">
                    <a:solidFill>
                      <a:srgbClr val="FFFFFF"/>
                    </a:solidFill>
                  </a:tcPr>
                </a:tc>
                <a:tc>
                  <a:txBody>
                    <a:bodyPr/>
                    <a:lstStyle/>
                    <a:p>
                      <a:r>
                        <a:rPr sz="1200" b="0" i="0">
                          <a:solidFill>
                            <a:srgbClr val="1A1440"/>
                          </a:solidFill>
                          <a:latin typeface="Calibri"/>
                        </a:rPr>
                        <a:t>44 totals, 5,000 deals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a few thousandths between seeds</a:t>
                      </a:r>
                    </a:p>
                  </a:txBody>
                  <a:tcPr marL="101600" marR="101600" marT="38100" marB="38100" anchor="ctr">
                    <a:solidFill>
                      <a:srgbClr val="FFFFFF"/>
                    </a:solidFill>
                  </a:tcPr>
                </a:tc>
              </a:tr>
              <a:tr h="335280">
                <a:tc>
                  <a:txBody>
                    <a:bodyPr/>
                    <a:lstStyle/>
                    <a:p>
                      <a:r>
                        <a:rPr sz="1200" b="0" i="0">
                          <a:solidFill>
                            <a:srgbClr val="1A1440"/>
                          </a:solidFill>
                          <a:latin typeface="Calibri"/>
                        </a:rPr>
                        <a:t>B. Textbook two-sample test</a:t>
                      </a:r>
                    </a:p>
                  </a:txBody>
                  <a:tcPr marL="101600" marR="101600" marT="38100" marB="38100" anchor="ctr">
                    <a:solidFill>
                      <a:srgbClr val="F4F2FA"/>
                    </a:solidFill>
                  </a:tcPr>
                </a:tc>
                <a:tc>
                  <a:txBody>
                    <a:bodyPr/>
                    <a:lstStyle/>
                    <a:p>
                      <a:r>
                        <a:rPr sz="1200" b="0" i="0">
                          <a:solidFill>
                            <a:srgbClr val="1A1440"/>
                          </a:solidFill>
                          <a:latin typeface="Calibri"/>
                        </a:rPr>
                        <a:t>44 totals, one call</a:t>
                      </a:r>
                    </a:p>
                  </a:txBody>
                  <a:tcPr marL="101600" marR="101600" marT="38100" marB="38100" anchor="ctr">
                    <a:solidFill>
                      <a:srgbClr val="F4F2FA"/>
                    </a:solidFill>
                  </a:tcPr>
                </a:tc>
                <a:tc>
                  <a:txBody>
                    <a:bodyPr/>
                    <a:lstStyle/>
                    <a:p>
                      <a:r>
                        <a:rPr sz="1200" b="0" i="0">
                          <a:solidFill>
                            <a:srgbClr val="1A1440"/>
                          </a:solidFill>
                          <a:latin typeface="Calibri"/>
                        </a:rPr>
                        <a:t>instant</a:t>
                      </a:r>
                    </a:p>
                  </a:txBody>
                  <a:tcPr marL="101600" marR="101600" marT="38100" marB="38100" anchor="ctr">
                    <a:solidFill>
                      <a:srgbClr val="F4F2FA"/>
                    </a:solidFill>
                  </a:tcPr>
                </a:tc>
                <a:tc>
                  <a:txBody>
                    <a:bodyPr/>
                    <a:lstStyle/>
                    <a:p>
                      <a:r>
                        <a:rPr sz="1200" b="0" i="0">
                          <a:solidFill>
                            <a:srgbClr val="1A1440"/>
                          </a:solidFill>
                          <a:latin typeface="Calibri"/>
                        </a:rPr>
                        <a:t>assumes bell-shaped totals; 8 of 44 are zero</a:t>
                      </a:r>
                    </a:p>
                  </a:txBody>
                  <a:tcPr marL="101600" marR="101600" marT="38100" marB="38100" anchor="ctr">
                    <a:solidFill>
                      <a:srgbClr val="F4F2FA"/>
                    </a:solidFill>
                  </a:tcPr>
                </a:tc>
              </a:tr>
              <a:tr h="335280">
                <a:tc>
                  <a:txBody>
                    <a:bodyPr/>
                    <a:lstStyle/>
                    <a:p>
                      <a:r>
                        <a:rPr sz="1200" b="0" i="0">
                          <a:solidFill>
                            <a:srgbClr val="1A1440"/>
                          </a:solidFill>
                          <a:latin typeface="Calibri"/>
                        </a:rPr>
                        <a:t>C. Bootstrap interval</a:t>
                      </a:r>
                    </a:p>
                  </a:txBody>
                  <a:tcPr marL="101600" marR="101600" marT="38100" marB="38100" anchor="ctr">
                    <a:solidFill>
                      <a:srgbClr val="FFFFFF"/>
                    </a:solidFill>
                  </a:tcPr>
                </a:tc>
                <a:tc>
                  <a:txBody>
                    <a:bodyPr/>
                    <a:lstStyle/>
                    <a:p>
                      <a:r>
                        <a:rPr sz="1200" b="0" i="0">
                          <a:solidFill>
                            <a:srgbClr val="1A1440"/>
                          </a:solidFill>
                          <a:latin typeface="Calibri"/>
                        </a:rPr>
                        <a:t>44 totals, 5,000 redraws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says how big more than how rare</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one quarter</a:t>
                      </a:r>
                    </a:p>
                  </a:txBody>
                  <a:tcPr marL="101600" marR="101600" marT="38100" marB="38100" anchor="ctr">
                    <a:solidFill>
                      <a:srgbClr val="F4F2FA"/>
                    </a:solidFill>
                  </a:tcPr>
                </a:tc>
                <a:tc>
                  <a:txBody>
                    <a:bodyPr/>
                    <a:lstStyle/>
                    <a:p>
                      <a:r>
                        <a:rPr sz="1200" b="0" i="0">
                          <a:solidFill>
                            <a:srgbClr val="1A1440"/>
                          </a:solidFill>
                          <a:latin typeface="Calibri"/>
                        </a:rPr>
                        <a:t>Monday passes with no answer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4" name="Oval 1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6" name="Oval 1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8" name="Oval 1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for Monday: the shuffle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assumes nothing about shape and Meera can watch it done with ten cards.</a:t>
            </a:r>
          </a:p>
        </p:txBody>
      </p:sp>
      <p:pic>
        <p:nvPicPr>
          <p:cNvPr id="9" name="mermaid diagram" descr="3256b180cf30c56b.png"/>
          <p:cNvPicPr>
            <a:picLocks noChangeAspect="1"/>
          </p:cNvPicPr>
          <p:nvPr/>
        </p:nvPicPr>
        <p:blipFill>
          <a:blip r:embed="rId5"/>
          <a:stretch>
            <a:fillRect/>
          </a:stretch>
        </p:blipFill>
        <p:spPr>
          <a:xfrm>
            <a:off x="1433112" y="1664208"/>
            <a:ext cx="932546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Tens of thousands of members and a well-behaved metric, where the textbook call gives the same answer in one line.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chance reference: shuffle the labels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the Q1 and Q2 labels are arbitrary, so mixing them changes nothing real.</a:t>
            </a:r>
          </a:p>
        </p:txBody>
      </p:sp>
      <p:pic>
        <p:nvPicPr>
          <p:cNvPr id="9" name="mermaid diagram" descr="42b3d7cefa4a0351.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Ten cards, shuffled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members' Q1 spend and five members' Q2 spend, in rupees, invented for the table.</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2,200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G</a:t>
                      </a:r>
                    </a:p>
                  </a:txBody>
                  <a:tcPr marL="101600" marR="101600" marT="38100" marB="38100" anchor="ctr">
                    <a:solidFill>
                      <a:srgbClr val="F4F2FA"/>
                    </a:solidFill>
                  </a:tcPr>
                </a:tc>
                <a:tc>
                  <a:txBody>
                    <a:bodyPr/>
                    <a:lstStyle/>
                    <a:p>
                      <a:r>
                        <a:rPr sz="1200" b="0" i="0">
                          <a:solidFill>
                            <a:srgbClr val="1A1440"/>
                          </a:solidFill>
                          <a:latin typeface="Calibri"/>
                        </a:rPr>
                        <a:t>3,100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H</a:t>
                      </a:r>
                    </a:p>
                  </a:txBody>
                  <a:tcPr marL="101600" marR="101600" marT="38100" marB="38100" anchor="ctr">
                    <a:solidFill>
                      <a:srgbClr val="FFFFFF"/>
                    </a:solidFill>
                  </a:tcPr>
                </a:tc>
                <a:tc>
                  <a:txBody>
                    <a:bodyPr/>
                    <a:lstStyle/>
                    <a:p>
                      <a:r>
                        <a:rPr sz="1200" b="0" i="0">
                          <a:solidFill>
                            <a:srgbClr val="1A1440"/>
                          </a:solidFill>
                          <a:latin typeface="Calibri"/>
                        </a:rPr>
                        <a:t>1,900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I</a:t>
                      </a:r>
                    </a:p>
                  </a:txBody>
                  <a:tcPr marL="101600" marR="101600" marT="38100" marB="38100" anchor="ctr">
                    <a:solidFill>
                      <a:srgbClr val="F4F2FA"/>
                    </a:solidFill>
                  </a:tcPr>
                </a:tc>
                <a:tc>
                  <a:txBody>
                    <a:bodyPr/>
                    <a:lstStyle/>
                    <a:p>
                      <a:r>
                        <a:rPr sz="1200" b="0" i="0">
                          <a:solidFill>
                            <a:srgbClr val="1A1440"/>
                          </a:solidFill>
                          <a:latin typeface="Calibri"/>
                        </a:rPr>
                        <a:t>2,700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J</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real gap is Rs 880. Shuffle the ten cards, deal five to each pile, and write down the new gap. Ten shuffles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shuffles are on the board, and the real gap sits among them.</a:t>
            </a:r>
          </a:p>
        </p:txBody>
      </p:sp>
      <p:pic>
        <p:nvPicPr>
          <p:cNvPr id="9" name="mermaid diagram" descr="764e5d2248ca752c.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One shuffle in ten reached Rs 880. What do you say? a) the gap is real, since 880 is large; b) chance makes 880 often, so it is noise; c) ten shuffles are too few to say, so run many more; d) nothing, since shuffling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shuffles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thousand shuffles by computer show 21 gaps at Rs 880 or more, a share of about 2 in 100.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ten cards,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0.021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this is the p-value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shuffles taught what a shuffle is; a thousand measure how rare the real gap is.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usual wobble, measured on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spent Rs 110 less per member in Q2, and 5,000 shuffles make gaps like that all the time.</a:t>
            </a:r>
          </a:p>
        </p:txBody>
      </p:sp>
      <p:pic>
        <p:nvPicPr>
          <p:cNvPr id="9" name="mermaid diagram" descr="94c8f87ef98acee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1,724 of the 5,000 shuffles made a gap at least that large, a share of 0.34: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Retail-Plus, 5,000 shuffles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loop on the segment Meera asked about, run by the room before anyone says a number.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 notebook 1, level 3.</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shuffle runs.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shuffles</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5,000, seed 2026, and the share at least as large as the real gap.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first draft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to Meera on what your share means, written fast and kept.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draft note, written in a hurry from the share the room has just computed.</a:t>
            </a:r>
          </a:p>
        </p:txBody>
      </p:sp>
      <p:pic>
        <p:nvPicPr>
          <p:cNvPr id="9" name="mermaid diagram" descr="fcd48ee92414177d.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in a no-change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shuffle assumed the quarter made no difference, so the share says nothing about being wrong.</a:t>
            </a:r>
          </a:p>
        </p:txBody>
      </p:sp>
      <p:pic>
        <p:nvPicPr>
          <p:cNvPr id="9" name="mermaid diagram" descr="753e3c4de34a7364.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One no-change segment came back at 0.005. Its note would say "a 0.5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sentence that survives an audit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Say the share, the world it was counted in, and what it lets you conclude, in that order.</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611632">
                <a:tc>
                  <a:txBody>
                    <a:bodyPr/>
                    <a:lstStyle/>
                    <a:p>
                      <a:r>
                        <a:rPr sz="14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of Rs 1,110 per member or more would turn up in about 3 of every 100 shuffles."</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"Chance alone rarely makes a fall this large, so we treat the drop as real."</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"The fall is larger than the usual wobble;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textbook test agrees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library's two-sample test, named today and taught later, reaches the same verdict.</a:t>
            </a:r>
          </a:p>
        </p:txBody>
      </p:sp>
      <p:pic>
        <p:nvPicPr>
          <p:cNvPr id="9" name="mermaid diagram" descr="5a600586e9612e8e.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textbook call for large, well-behaved data or a team standard; the shuffle for small or lumpy data, or when the reader needs to see how it was made.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reads the sentence before the number, because the sentence is what Meera repeats.</a:t>
            </a:r>
          </a:p>
        </p:txBody>
      </p:sp>
      <p:pic>
        <p:nvPicPr>
          <p:cNvPr id="9" name="mermaid diagram" descr="5920b5f812dfb7bf.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Retail-Core's share of about a third shows the usual wobble, Retail-Plus's 0.027 sits well outside it, the textbook test agrees, and your sentence would still be true if the drop turned out to be a fluke. Now tell me how much money it is.</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 [D] A shuffle test, a textbook test, or wait a quarter: which do you run for a CEO's Monday?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72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and worth acting 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gap can beat chance and still be too small to spend on, so size it in rupees before ranking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72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what does the tier get to fix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wants a retention budget, and Meera has to weigh it against the quarter.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753a63782f174b33.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Microsoft Bing: the size in money decided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small change was worth a fortune, and most changes were worth nothing, so size told them apart.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is the start of the question. The rupees, beside the cost, finish 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"worth acting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size against the tier, size against the company and the cost, or read a range.</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2384780"/>
                <a:gridCol w="4900620"/>
                <a:gridCol w="384559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Rank by p-value</a:t>
                      </a:r>
                    </a:p>
                  </a:txBody>
                  <a:tcPr marL="101600" marR="101600" marT="38100" marB="38100" anchor="ctr">
                    <a:solidFill>
                      <a:srgbClr val="FFFFFF"/>
                    </a:solidFill>
                  </a:tcPr>
                </a:tc>
                <a:tc>
                  <a:txBody>
                    <a:bodyPr/>
                    <a:lstStyle/>
                    <a:p>
                      <a:r>
                        <a:rPr sz="1400" b="0" i="0">
                          <a:solidFill>
                            <a:srgbClr val="1A1440"/>
                          </a:solidFill>
                          <a:latin typeface="Calibri"/>
                        </a:rPr>
                        <a:t>Fix the smallest share first</a:t>
                      </a:r>
                    </a:p>
                  </a:txBody>
                  <a:tcPr marL="101600" marR="101600" marT="38100" marB="38100" anchor="ctr">
                    <a:solidFill>
                      <a:srgbClr val="FFFFFF"/>
                    </a:solidFill>
                  </a:tcPr>
                </a:tc>
                <a:tc>
                  <a:txBody>
                    <a:bodyPr/>
                    <a:lstStyle/>
                    <a:p>
                      <a:r>
                        <a:rPr sz="1400" b="0" i="0">
                          <a:solidFill>
                            <a:srgbClr val="1A1440"/>
                          </a:solidFill>
                          <a:latin typeface="Calibri"/>
                        </a:rPr>
                        <a:t>Reads the smallest share as the biggest money</a:t>
                      </a:r>
                    </a:p>
                  </a:txBody>
                  <a:tcPr marL="101600" marR="101600" marT="38100" marB="38100" anchor="ctr">
                    <a:solidFill>
                      <a:srgbClr val="FFFFFF"/>
                    </a:solidFill>
                  </a:tcPr>
                </a:tc>
              </a:tr>
              <a:tr h="611632">
                <a:tc>
                  <a:txBody>
                    <a:bodyPr/>
                    <a:lstStyle/>
                    <a:p>
                      <a:r>
                        <a:rPr sz="1400" b="0" i="0">
                          <a:solidFill>
                            <a:srgbClr val="1A1440"/>
                          </a:solidFill>
                          <a:latin typeface="Calibri"/>
                        </a:rPr>
                        <a:t>B. Against the segment</a:t>
                      </a:r>
                    </a:p>
                  </a:txBody>
                  <a:tcPr marL="101600" marR="101600" marT="38100" marB="38100" anchor="ctr">
                    <a:solidFill>
                      <a:srgbClr val="F4F2FA"/>
                    </a:solidFill>
                  </a:tcPr>
                </a:tc>
                <a:tc>
                  <a:txBody>
                    <a:bodyPr/>
                    <a:lstStyle/>
                    <a:p>
                      <a:r>
                        <a:rPr sz="1400" b="0" i="0">
                          <a:solidFill>
                            <a:srgbClr val="1A1440"/>
                          </a:solidFill>
                          <a:latin typeface="Calibri"/>
                        </a:rPr>
                        <a:t>The fall as a share of the tier</a:t>
                      </a:r>
                    </a:p>
                  </a:txBody>
                  <a:tcPr marL="101600" marR="101600" marT="38100" marB="38100" anchor="ctr">
                    <a:solidFill>
                      <a:srgbClr val="F4F2FA"/>
                    </a:solidFill>
                  </a:tcPr>
                </a:tc>
                <a:tc>
                  <a:txBody>
                    <a:bodyPr/>
                    <a:lstStyle/>
                    <a:p>
                      <a:r>
                        <a:rPr sz="1400" b="0" i="0">
                          <a:solidFill>
                            <a:srgbClr val="1A1440"/>
                          </a:solidFill>
                          <a:latin typeface="Calibri"/>
                        </a:rPr>
                        <a:t>A third of a small tier reads as a crisis</a:t>
                      </a:r>
                    </a:p>
                  </a:txBody>
                  <a:tcPr marL="101600" marR="101600" marT="38100" marB="38100" anchor="ctr">
                    <a:solidFill>
                      <a:srgbClr val="F4F2FA"/>
                    </a:solidFill>
                  </a:tcPr>
                </a:tc>
              </a:tr>
              <a:tr h="611632">
                <a:tc>
                  <a:txBody>
                    <a:bodyPr/>
                    <a:lstStyle/>
                    <a:p>
                      <a:r>
                        <a:rPr sz="1400" b="0" i="0">
                          <a:solidFill>
                            <a:srgbClr val="1A1440"/>
                          </a:solidFill>
                          <a:latin typeface="Calibri"/>
                        </a:rPr>
                        <a:t>C. Against company and cost</a:t>
                      </a:r>
                    </a:p>
                  </a:txBody>
                  <a:tcPr marL="101600" marR="101600" marT="38100" marB="38100" anchor="ctr">
                    <a:solidFill>
                      <a:srgbClr val="FFFFFF"/>
                    </a:solidFill>
                  </a:tcPr>
                </a:tc>
                <a:tc>
                  <a:txBody>
                    <a:bodyPr/>
                    <a:lstStyle/>
                    <a:p>
                      <a:r>
                        <a:rPr sz="1400" b="0" i="0">
                          <a:solidFill>
                            <a:srgbClr val="1A1440"/>
                          </a:solidFill>
                          <a:latin typeface="Calibri"/>
                        </a:rPr>
                        <a:t>Rupees beside the quarter and the offer, with a break-even</a:t>
                      </a:r>
                    </a:p>
                  </a:txBody>
                  <a:tcPr marL="101600" marR="101600" marT="38100" marB="38100" anchor="ctr">
                    <a:solidFill>
                      <a:srgbClr val="FFFFFF"/>
                    </a:solidFill>
                  </a:tcPr>
                </a:tc>
                <a:tc>
                  <a:txBody>
                    <a:bodyPr/>
                    <a:lstStyle/>
                    <a:p>
                      <a:r>
                        <a:rPr sz="1400" b="0" i="0">
                          <a:solidFill>
                            <a:srgbClr val="1A1440"/>
                          </a:solidFill>
                          <a:latin typeface="Calibri"/>
                        </a:rPr>
                        <a:t>Needs a cost; today's is assumed</a:t>
                      </a:r>
                    </a:p>
                  </a:txBody>
                  <a:tcPr marL="101600" marR="101600" marT="38100" marB="38100" anchor="ctr">
                    <a:solidFill>
                      <a:srgbClr val="FFFFFF"/>
                    </a:solidFill>
                  </a:tcPr>
                </a:tc>
              </a:tr>
              <a:tr h="369824">
                <a:tc>
                  <a:txBody>
                    <a:bodyPr/>
                    <a:lstStyle/>
                    <a:p>
                      <a:r>
                        <a:rPr sz="1400" b="0" i="0">
                          <a:solidFill>
                            <a:srgbClr val="1A1440"/>
                          </a:solidFill>
                          <a:latin typeface="Calibri"/>
                        </a:rPr>
                        <a:t>D. Bootstrap range</a:t>
                      </a:r>
                    </a:p>
                  </a:txBody>
                  <a:tcPr marL="101600" marR="101600" marT="38100" marB="38100" anchor="ctr">
                    <a:solidFill>
                      <a:srgbClr val="F4F2FA"/>
                    </a:solidFill>
                  </a:tcPr>
                </a:tc>
                <a:tc>
                  <a:txBody>
                    <a:bodyPr/>
                    <a:lstStyle/>
                    <a:p>
                      <a:r>
                        <a:rPr sz="1400" b="0" i="0">
                          <a:solidFill>
                            <a:srgbClr val="1A1440"/>
                          </a:solidFill>
                          <a:latin typeface="Calibri"/>
                        </a:rPr>
                        <a:t>How small or large the fall could be</a:t>
                      </a:r>
                    </a:p>
                  </a:txBody>
                  <a:tcPr marL="101600" marR="101600" marT="38100" marB="38100" anchor="ctr">
                    <a:solidFill>
                      <a:srgbClr val="F4F2FA"/>
                    </a:solidFill>
                  </a:tcPr>
                </a:tc>
                <a:tc>
                  <a:txBody>
                    <a:bodyPr/>
                    <a:lstStyle/>
                    <a:p>
                      <a:r>
                        <a:rPr sz="1400" b="0" i="0">
                          <a:solidFill>
                            <a:srgbClr val="1A1440"/>
                          </a:solidFill>
                          <a:latin typeface="Calibri"/>
                        </a:rPr>
                        <a:t>A stakeholder has to read a range</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the second route. </a:t>
            </a:r>
            <a:r>
              <a:rPr sz="1500" b="1" i="0">
                <a:solidFill>
                  <a:srgbClr val="1A1440"/>
                </a:solidFill>
                <a:latin typeface="Calibri"/>
              </a:rPr>
              <a:t>What would change it.</a:t>
            </a:r>
            <a:r>
              <a:rPr sz="1500" b="0" i="0">
                <a:solidFill>
                  <a:srgbClr val="1A1440"/>
                </a:solidFill>
                <a:latin typeface="Calibri"/>
              </a:rPr>
              <a:t> A recovery rate from a past retention offer, which lets C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important are two different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finding lands in one of four boxes, and only one box earns a budget line on Monday.</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beat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ranked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ranks Retail-Plus first because its share is the smallest on the page.</a:t>
            </a:r>
          </a:p>
        </p:txBody>
      </p:sp>
      <p:pic>
        <p:nvPicPr>
          <p:cNvPr id="9" name="mermaid diagram" descr="d45ce03da07b7870.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6324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77297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423672"/>
          </a:xfrm>
          <a:prstGeom prst="rect">
            <a:avLst/>
          </a:prstGeom>
          <a:noFill/>
        </p:spPr>
        <p:txBody>
          <a:bodyPr wrap="square" anchor="t" lIns="0" rIns="0" tIns="0" bIns="0">
            <a:spAutoFit/>
          </a:bodyPr>
          <a:lstStyle/>
          <a:p>
            <a:r>
              <a:rPr sz="1500" b="0" i="0">
                <a:solidFill>
                  <a:srgbClr val="1A1440"/>
                </a:solidFill>
                <a:latin typeface="Calibri"/>
              </a:rPr>
              <a:t>"Significant" becomes "big", and the smallest share becomes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enough orders, chance never makes even a trivial gap, so a small share can carry a tiny finding.</a:t>
            </a:r>
          </a:p>
        </p:txBody>
      </p:sp>
      <p:pic>
        <p:nvPicPr>
          <p:cNvPr id="9" name="mermaid diagram" descr="5f60c0da8c52a44c.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Put the rupees beside the share: Retail-Plus fell Rs 24,420 in the quarter, 0.19 percent of the company's Q2, while Business rose Rs 6,18,460.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gap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Per member, for the whole segment, and as a share of the company's quarter.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Real and worth acting on are two separate calls: the shuffle answers the first, rupees against cost answer the second.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7" name="Oval 3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39" name="Oval 3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41" name="Oval 4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3" name="Oval 4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company's delivered revenue sits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carries the quarter, so every consumer segment's gap is small against the whole.</a:t>
            </a:r>
          </a:p>
        </p:txBody>
      </p:sp>
      <p:pic>
        <p:nvPicPr>
          <p:cNvPr id="9" name="mermaid diagram" descr="553e9428023dcf5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Business delivered Rs 1,27,64,460 in the same quarter, about 268 times Retail-Plus, so on this axis its bar would stand 268 times as tall.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a retention offer of Rs 500 per member a quarter, a figure assumed for the chapter.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6" name="Oval 2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8" name="Oval 27"/>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0" name="Oval 29"/>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2" name="Oval 3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11,000 a quarter against a Rs 24,420 fall, so the offer must win back almost half.</a:t>
            </a:r>
          </a:p>
        </p:txBody>
      </p:sp>
      <p:pic>
        <p:nvPicPr>
          <p:cNvPr id="9" name="mermaid diagram" descr="f64cd5b172b726c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decision rests on a recovery rate nobody has measured, which is what the note should say.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bootstrap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Redraw each quarter's members 5,000 times and read the middle 95 percent of the gaps.</a:t>
            </a:r>
          </a:p>
        </p:txBody>
      </p:sp>
      <p:pic>
        <p:nvPicPr>
          <p:cNvPr id="9" name="mermaid diagram" descr="d74ddc09d640ad7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approximate 95 percent range stays above zero, the same verdict as the shuffle, and the offer sits inside it.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asks for the size before the significance, because size is what gets funded.</a:t>
            </a:r>
          </a:p>
        </p:txBody>
      </p:sp>
      <p:pic>
        <p:nvPicPr>
          <p:cNvPr id="9" name="mermaid diagram" descr="557cd82bcd11f650.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Real, yes, by two routes. Worth Rs 24,420 a quarter, 0.19 percent of the company and a third of the tier. The range dips below what the offer costs, so offer it to half, hold back half, and measure. That is a watch item with a test attached, never a budget line.</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 [D] Rank by p-value, by rupees, or by rupees against the cost: which goes to the budget meeting?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count behind 40 percent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is only as good as the count it stands on, so count before you repeat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should budget move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Student rose 40 percent, the fastest rise on the page, and Meera asked about it by name.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4" name="Oval 3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6" name="Oval 35"/>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8" name="Oval 3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0" name="Oval 3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Small schools topped the charts, and the bottom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Small groups swing further in both directions, and a foundation learned it at scale.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"follow the 40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Trust it, test it on its count, apply the rule of thumb, or wait for more orders.</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693848"/>
                <a:gridCol w="5054709"/>
                <a:gridCol w="3382433"/>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observations,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never how careful</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orders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Several quarters at today's pace</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buy Student orders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and one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Forty percent of a handful is a few orders, and a few orders move by chance every quarter.</a:t>
            </a:r>
          </a:p>
        </p:txBody>
      </p:sp>
      <p:pic>
        <p:nvPicPr>
          <p:cNvPr id="9" name="mermaid diagram" descr="590217e6261349ba.png"/>
          <p:cNvPicPr>
            <a:picLocks noChangeAspect="1"/>
          </p:cNvPicPr>
          <p:nvPr/>
        </p:nvPicPr>
        <p:blipFill>
          <a:blip r:embed="rId5"/>
          <a:stretch>
            <a:fillRect/>
          </a:stretch>
        </p:blipFill>
        <p:spPr>
          <a:xfrm>
            <a:off x="1202378" y="1956816"/>
            <a:ext cx="9786937"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because a rate on a handful can rank first by accident.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leads with the biggest rate on the page and moves money to it.</a:t>
            </a:r>
          </a:p>
        </p:txBody>
      </p:sp>
      <p:pic>
        <p:nvPicPr>
          <p:cNvPr id="9" name="mermaid diagram" descr="edb3311b5b0d9973.png"/>
          <p:cNvPicPr>
            <a:picLocks noChangeAspect="1"/>
          </p:cNvPicPr>
          <p:nvPr/>
        </p:nvPicPr>
        <p:blipFill>
          <a:blip r:embed="rId6"/>
          <a:stretch>
            <a:fillRect/>
          </a:stretch>
        </p:blipFill>
        <p:spPr>
          <a:xfrm>
            <a:off x="2152497" y="1956816"/>
            <a:ext cx="7886700" cy="1857375"/>
          </a:xfrm>
          <a:prstGeom prst="rect">
            <a:avLst/>
          </a:prstGeom>
        </p:spPr>
      </p:pic>
      <p:sp>
        <p:nvSpPr>
          <p:cNvPr id="10" name="Rounded Rectangle 9"/>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27291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a small number of orders between two quarters at random, and big rises appear on their own.</a:t>
            </a:r>
          </a:p>
        </p:txBody>
      </p:sp>
      <p:pic>
        <p:nvPicPr>
          <p:cNvPr id="9" name="mermaid diagram" descr="73978195ee04412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With ten orders, more than a third of chance-only worlds show a 40 percent rise. With four hundred, almost none do.</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Student, counted and flipped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 counts the orders behind the 40 percent, flips them, and writes Meera's line.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2</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and distinct customers, Q1 and Q2, in the empty cell of notebook 3.</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coin per order, 5,000 times; the share with a 40 percent rise or more.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and what would make it a finding.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9" name="Oval 2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1" name="Oval 30"/>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3" name="Oval 3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5" name="Oval 3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interview's version of Student, asked with users where Kalpa has orders.</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9839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1120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10286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9" name="Oval 1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1" name="Oval 20"/>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3" name="Oval 2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5" name="Oval 2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user moves a rate on twelve by eight points, so 42 is a lead and 31 is the estimate.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count every possible deal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a count this small, every way of dealing the orders to two quarters can be listed and counted.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VERDICT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chance makes Meera's headline often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8" name="Oval 27"/>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0" name="Oval 29"/>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2" name="Oval 3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repeats a rate only with its count beside it, every time.</a:t>
            </a:r>
          </a:p>
        </p:txBody>
      </p:sp>
      <p:pic>
        <p:nvPicPr>
          <p:cNvPr id="9" name="mermaid diagram" descr="f6bf7532b1bae9fb.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Student's rise is real arithmetic on too few orders to act on. Count them, say how often chance makes the rise, and give Meera the count that would reopen it. That is a complete answer, and it costs nothing to be right later.</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 [D] A segment is up 40 percent and the CEO wants to move budget: trust, test or wait?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discount, split by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campaign's lift is a comparison of two groups, so check who is in each group before trusting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49 / 72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did the monsoon sale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it lifted revenue 6 percent and wants it again for Diwali, at 15 percent off.</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0" name="Oval 29"/>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2" name="Oval 31"/>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4" name="Oval 33"/>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sale's lift, and a blend that reverses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marketplace reads every sale's lift, and a university's admissions show how a blend can mislead.</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Flipkart, Big Billion Days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2022 sale ran 23 to 30 September and passed a billion customer visits for the first time; the question is which customers the rise came from.</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3" name="Oval 2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5" name="Oval 2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7" name="Oval 26"/>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9" name="Oval 2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"did the discount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compares two things, and each rests on a different assumption.</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297233"/>
                <a:gridCol w="4746601"/>
                <a:gridCol w="408715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369824">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369824">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369824">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The same as C, said as one number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the second route.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rebuild it from the same tables.</a:t>
            </a:r>
          </a:p>
        </p:txBody>
      </p:sp>
      <p:pic>
        <p:nvPicPr>
          <p:cNvPr id="9" name="mermaid diagram" descr="0f3d5ec314288c83.png"/>
          <p:cNvPicPr>
            <a:picLocks noChangeAspect="1"/>
          </p:cNvPicPr>
          <p:nvPr/>
        </p:nvPicPr>
        <p:blipFill>
          <a:blip r:embed="rId5"/>
          <a:stretch>
            <a:fillRect/>
          </a:stretch>
        </p:blipFill>
        <p:spPr>
          <a:xfrm>
            <a:off x="2665458" y="1664208"/>
            <a:ext cx="6860778"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arithmetic is right, which is why the next step matters.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Reproducing the number first is what keeps Monday civil.</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trusts the reproduced number and writes the plan.</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A correct number on a comparison nobody checked.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two stores, a promotion, and a total that rises while both stores fall.</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215393"/>
                <a:gridCol w="3457798"/>
                <a:gridCol w="3457798"/>
              </a:tblGrid>
              <a:tr h="369824">
                <a:tc>
                  <a:txBody>
                    <a:bodyPr/>
                    <a:lstStyle/>
                    <a:p>
                      <a:r>
                        <a:rPr sz="1450" b="1" i="0">
                          <a:solidFill>
                            <a:srgbClr val="FFFFFF"/>
                          </a:solidFill>
                          <a:latin typeface="Calibri"/>
                        </a:rPr>
                        <a:t>Invented</a:t>
                      </a:r>
                    </a:p>
                  </a:txBody>
                  <a:tcPr marL="101600" marR="101600" marT="38100" marB="38100" anchor="ctr">
                    <a:solidFill>
                      <a:srgbClr val="1A0F5C"/>
                    </a:solidFill>
                  </a:tcPr>
                </a:tc>
                <a:tc>
                  <a:txBody>
                    <a:bodyPr/>
                    <a:lstStyle/>
                    <a:p>
                      <a:r>
                        <a:rPr sz="1450" b="1" i="0">
                          <a:solidFill>
                            <a:srgbClr val="FFFFFF"/>
                          </a:solidFill>
                          <a:latin typeface="Calibri"/>
                        </a:rPr>
                        <a:t>Promoted customers</a:t>
                      </a:r>
                    </a:p>
                  </a:txBody>
                  <a:tcPr marL="101600" marR="101600" marT="38100" marB="38100" anchor="ctr">
                    <a:solidFill>
                      <a:srgbClr val="1A0F5C"/>
                    </a:solidFill>
                  </a:tcPr>
                </a:tc>
                <a:tc>
                  <a:txBody>
                    <a:bodyPr/>
                    <a:lstStyle/>
                    <a:p>
                      <a:r>
                        <a:rPr sz="1450" b="1" i="0">
                          <a:solidFill>
                            <a:srgbClr val="FFFFFF"/>
                          </a:solidFill>
                          <a:latin typeface="Calibri"/>
                        </a:rPr>
                        <a:t>Others</a:t>
                      </a:r>
                    </a:p>
                  </a:txBody>
                  <a:tcPr marL="101600" marR="101600" marT="38100" marB="38100" anchor="ctr">
                    <a:solidFill>
                      <a:srgbClr val="1A0F5C"/>
                    </a:solidFill>
                  </a:tcPr>
                </a:tc>
              </a:tr>
              <a:tr h="369824">
                <a:tc>
                  <a:txBody>
                    <a:bodyPr/>
                    <a:lstStyle/>
                    <a:p>
                      <a:r>
                        <a:rPr sz="1400" b="0" i="0">
                          <a:solidFill>
                            <a:srgbClr val="1A1440"/>
                          </a:solidFill>
                          <a:latin typeface="Calibri"/>
                        </a:rPr>
                        <a:t>Big store, spend per customer</a:t>
                      </a:r>
                    </a:p>
                  </a:txBody>
                  <a:tcPr marL="101600" marR="101600" marT="38100" marB="38100" anchor="ctr">
                    <a:solidFill>
                      <a:srgbClr val="FFFFFF"/>
                    </a:solidFill>
                  </a:tcPr>
                </a:tc>
                <a:tc>
                  <a:txBody>
                    <a:bodyPr/>
                    <a:lstStyle/>
                    <a:p>
                      <a:r>
                        <a:rPr sz="1400" b="0" i="0">
                          <a:solidFill>
                            <a:srgbClr val="1A1440"/>
                          </a:solidFill>
                          <a:latin typeface="Calibri"/>
                        </a:rPr>
                        <a:t>Rs 900 (8 of 10 promoted)</a:t>
                      </a:r>
                    </a:p>
                  </a:txBody>
                  <a:tcPr marL="101600" marR="101600" marT="38100" marB="38100" anchor="ctr">
                    <a:solidFill>
                      <a:srgbClr val="FFFFFF"/>
                    </a:solidFill>
                  </a:tcPr>
                </a:tc>
                <a:tc>
                  <a:txBody>
                    <a:bodyPr/>
                    <a:lstStyle/>
                    <a:p>
                      <a:r>
                        <a:rPr sz="1400" b="0" i="0">
                          <a:solidFill>
                            <a:srgbClr val="1A1440"/>
                          </a:solidFill>
                          <a:latin typeface="Calibri"/>
                        </a:rPr>
                        <a:t>Rs 1,000 (2 of 10 others)</a:t>
                      </a:r>
                    </a:p>
                  </a:txBody>
                  <a:tcPr marL="101600" marR="101600" marT="38100" marB="38100" anchor="ctr">
                    <a:solidFill>
                      <a:srgbClr val="FFFFFF"/>
                    </a:solidFill>
                  </a:tcPr>
                </a:tc>
              </a:tr>
              <a:tr h="369824">
                <a:tc>
                  <a:txBody>
                    <a:bodyPr/>
                    <a:lstStyle/>
                    <a:p>
                      <a:r>
                        <a:rPr sz="1400" b="0" i="0">
                          <a:solidFill>
                            <a:srgbClr val="1A1440"/>
                          </a:solidFill>
                          <a:latin typeface="Calibri"/>
                        </a:rPr>
                        <a:t>Small store, spend per customer</a:t>
                      </a:r>
                    </a:p>
                  </a:txBody>
                  <a:tcPr marL="101600" marR="101600" marT="38100" marB="38100" anchor="ctr">
                    <a:solidFill>
                      <a:srgbClr val="F4F2FA"/>
                    </a:solidFill>
                  </a:tcPr>
                </a:tc>
                <a:tc>
                  <a:txBody>
                    <a:bodyPr/>
                    <a:lstStyle/>
                    <a:p>
                      <a:r>
                        <a:rPr sz="1400" b="0" i="0">
                          <a:solidFill>
                            <a:srgbClr val="1A1440"/>
                          </a:solidFill>
                          <a:latin typeface="Calibri"/>
                        </a:rPr>
                        <a:t>Rs 180 (2 of 10 promoted)</a:t>
                      </a:r>
                    </a:p>
                  </a:txBody>
                  <a:tcPr marL="101600" marR="101600" marT="38100" marB="38100" anchor="ctr">
                    <a:solidFill>
                      <a:srgbClr val="F4F2FA"/>
                    </a:solidFill>
                  </a:tcPr>
                </a:tc>
                <a:tc>
                  <a:txBody>
                    <a:bodyPr/>
                    <a:lstStyle/>
                    <a:p>
                      <a:r>
                        <a:rPr sz="1400" b="0" i="0">
                          <a:solidFill>
                            <a:srgbClr val="1A1440"/>
                          </a:solidFill>
                          <a:latin typeface="Calibri"/>
                        </a:rPr>
                        <a:t>Rs 200 (8 of 10 others)</a:t>
                      </a:r>
                    </a:p>
                  </a:txBody>
                  <a:tcPr marL="101600" marR="101600" marT="38100" marB="38100" anchor="ctr">
                    <a:solidFill>
                      <a:srgbClr val="F4F2FA"/>
                    </a:solidFill>
                  </a:tcPr>
                </a:tc>
              </a:tr>
              <a:tr h="369824">
                <a:tc>
                  <a:txBody>
                    <a:bodyPr/>
                    <a:lstStyle/>
                    <a:p>
                      <a:r>
                        <a:rPr sz="1400" b="1" i="0">
                          <a:solidFill>
                            <a:srgbClr val="1A1440"/>
                          </a:solidFill>
                          <a:latin typeface="Calibri"/>
                        </a:rPr>
                        <a:t>Blended</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split,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comparison run in Retail-Plus and in Retail-Core, with the count behind every average.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mix</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share of each group who are Retail-Plus members, from notebook 4's options cell.</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split</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Got it against did not, inside Retail-Plus and inside Retail-Core, notebook 4, level 3.</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picture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Both segments and the blend side by side, one column chart.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line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What you tell Meera, with the reason the blend and the segments differ.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what to tell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segments are the fair comparison, and the mix of customers is the reason the blend rose.</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___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both groups on one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Put each group's segment averages into the other group's mix, and compare again.</a:t>
            </a:r>
          </a:p>
        </p:txBody>
      </p:sp>
      <p:pic>
        <p:nvPicPr>
          <p:cNvPr id="9" name="mermaid diagram" descr="7bffcbef64e2ea93.png"/>
          <p:cNvPicPr>
            <a:picLocks noChangeAspect="1"/>
          </p:cNvPicPr>
          <p:nvPr/>
        </p:nvPicPr>
        <p:blipFill>
          <a:blip r:embed="rId5"/>
          <a:stretch>
            <a:fillRect/>
          </a:stretch>
        </p:blipFill>
        <p:spPr>
          <a:xfrm>
            <a:off x="2446222" y="1664208"/>
            <a:ext cx="729924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split when the reader takes a table; one mix when the answer must be one number, or when there are too many segments to show.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rebuilds the other side's number before disagreeing with it.</a:t>
            </a:r>
          </a:p>
        </p:txBody>
      </p:sp>
      <p:pic>
        <p:nvPicPr>
          <p:cNvPr id="9" name="mermaid diagram" descr="5af94b24cf372e42.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You rebuilt Marketing's number before disagreeing with it. The split and one mix say the same thing, and the reason is who got the sale. Now tell me what else changed in August, because the split cannot see that.</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[F] Revenue rose after a discount; did the campaign work, and what would you need to know? [F] The campaign lifted revenue overall but every segment fell; which do you report?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note that may say not yet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one page, each number with its base, and "not yet" where the evidence says so.</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page,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constraint, and what a line without its base costs on Monday.</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narrative forces each claim to sit beside its evidence, which is the note's whole job.</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Meera in writing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in the words she has to read and in what each carries.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232022"/>
                <a:gridCol w="1760485"/>
                <a:gridCol w="2906461"/>
                <a:gridCol w="323202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 about</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443</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true numbers, each written the way it first appeared, and three decisions they drive.</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an audit for every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yes-or-no questions per line, and the headline note fails nine of nine.</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together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with its base, caveat, action with its cost: built as a room.</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Real,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really is spending less,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shuffles.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size could be much smaller than Rs 1,110 a member, so an offer may not pay back.</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Test the Rs 500-a-member offer on half the tier, Rs 5,500 a quarter, and hold back the other half.</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carry a verdict that is not a yes.</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"not yet" with its threshold is a decision; without one it is a shrug.</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39144"/>
                <a:gridCol w="3740282"/>
                <a:gridCol w="605156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orders a quarter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Real, small: test the offer on half</a:t>
                      </a:r>
                    </a:p>
                  </a:txBody>
                  <a:tcPr marL="101600" marR="101600" marT="38100" marB="38100" anchor="ctr">
                    <a:solidFill>
                      <a:srgbClr val="FFFFFF"/>
                    </a:solidFill>
                  </a:tcPr>
                </a:tc>
                <a:tc>
                  <a:txBody>
                    <a:bodyPr/>
                    <a:lstStyle/>
                    <a:p>
                      <a:r>
                        <a:rPr sz="1400" b="0" i="0">
                          <a:solidFill>
                            <a:srgbClr val="1A1440"/>
                          </a:solidFill>
                          <a:latin typeface="Calibri"/>
                        </a:rPr>
                        <a:t>A recovery rate from the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about 170 words.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every figure traced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Pull every number out of the note and trace each one to the chapter that computed it.</a:t>
            </a:r>
          </a:p>
        </p:txBody>
      </p:sp>
      <p:pic>
        <p:nvPicPr>
          <p:cNvPr id="9" name="mermaid diagram" descr="793ad7177f348fc1.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Trace by hand for a one-off note; generate the note from the numbers when it repeats weekly, because a template cannot mistype.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note is done when every line would survive Marketing reading it first.</a:t>
            </a:r>
          </a:p>
        </p:txBody>
      </p:sp>
      <p:pic>
        <p:nvPicPr>
          <p:cNvPr id="9" name="mermaid diagram" descr="a5fe24a3e11fcae4.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Three answers, each with its base, its caveat and a cost, and two of them say not yet with the thing that would change them. Marketing will push on the third on Monday; this afternoon is the ground you will stand on.</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[D] The CEO wants a yes or no and the honest answer is "not yet"; what do you say, and how do you hold the line when marketing pushes?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one direction or both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Chapter 1 counted falls at least as large; counting rises as well roughly doubles the share.</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791185"/>
                <a:gridCol w="5224521"/>
                <a:gridCol w="2115284"/>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0.027</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0.050</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 asked about a drop, so the chapter counted drops. A note that tested both directions says so, and reports the two-direction share.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6" name="Oval 1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8" name="Oval 1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0" name="Oval 19"/>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