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three questions aloud and leave them on screen while the room settles.</a:t>
            </a:r>
          </a:p>
          <a:p>
            <a:r>
              <a:t>Say the week's arc in one breath: Monday drew the revenue tree, Tuesday found the branch that moved,</a:t>
            </a:r>
          </a:p>
          <a:p>
            <a:r>
              <a:t>Wednesday made the numbers trustworthy, and today asks whether what moved is real, whether it</a:t>
            </a:r>
          </a:p>
          <a:p>
            <a:r>
              <a:t>matters, and whether anyone caused it. Friday rebuilds the week without an assistant.</a:t>
            </a:r>
          </a:p>
          <a:p>
            <a:r>
              <a:t>Then the day's question and its six chapters.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Chapters 1 to 5 run this morning and chapter 6 after lunch. Leave the question up while you set</a:t>
            </a:r>
          </a:p>
          <a:p>
            <a:r>
              <a:t>the scene. Then Meera's message in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message aloud. Then read her constraint: "One page, two minutes. If the</a:t>
            </a:r>
          </a:p>
          <a:p>
            <a:r>
              <a:t>honest answer is 'we do not know yet', say so and tell me what would tell us." Retail-Plus is</a:t>
            </a:r>
          </a:p>
          <a:p>
            <a:r>
              <a:t>Kalpa's paid membership tier, where the customers who buy most often sit; Student is a small</a:t>
            </a:r>
          </a:p>
          <a:p>
            <a:r>
              <a:t>segment of student customers. Ask which of the three questions would cost Kalpa the most if</a:t>
            </a:r>
          </a:p>
          <a:p>
            <a:r>
              <a:t>answered wrongly. Most say the discount, because it is about to be repeated for Diwali. Hold that;</a:t>
            </a:r>
          </a:p>
          <a:p>
            <a:r>
              <a:t>chapters 4 and 6 answer it. Watch for anyone answering a question now: every number on this slide</a:t>
            </a:r>
          </a:p>
          <a:p>
            <a:r>
              <a:t>is somebody's claim, and today tests each one. Then the question of which check each claim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and c, which both sound rigorous.</a:t>
            </a:r>
          </a:p>
          <a:p>
            <a:r>
              <a:t>Do not resolve it here.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on the board and leave it there all day. Chapters 1 and 2 climb the</a:t>
            </a:r>
          </a:p>
          <a:p>
            <a:r>
              <a:t>first check, chapter 3 the second, chapters 4 and 6 the third, and chapter 5 writes the note on the</a:t>
            </a:r>
          </a:p>
          <a:p>
            <a:r>
              <a:t>right. Every chapter ends on one line of that note. Then the note's four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chapter today ends on one line of this note. The caveat is the part most</a:t>
            </a:r>
          </a:p>
          <a:p>
            <a:r>
              <a:t>analysts leave out and the part a CEO keeps them for. Model it once: "Not yet, and here is what</a:t>
            </a:r>
          </a:p>
          <a:p>
            <a:r>
              <a:t>would tell us" is a claim, a caveat and an action in one sentence. Then what the week has already</a:t>
            </a:r>
          </a:p>
          <a:p>
            <a:r>
              <a:t>settled.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Name what not to redo: nobody re-cleans the file, and nobody re-derives the tree.</a:t>
            </a:r>
          </a:p>
          <a:p>
            <a:r>
              <a:t>Monday's revenue tree wrote revenue as customers times orders per customer times revenue per order;</a:t>
            </a:r>
          </a:p>
          <a:p>
            <a:r>
              <a:t>Tuesday found Retail-Plus's orders per customer was the branch that moved; Wednesday reconciled the</a:t>
            </a:r>
          </a:p>
          <a:p>
            <a:r>
              <a:t>quarters to Finance's books. The retail dossier from Monday</a:t>
            </a:r>
          </a:p>
          <a:p>
            <a:r>
              <a:t>(content/W01/D1/study-notes/C2_W01_D01_domain_retail_STUDENT.md) tells why a fall in the membership</a:t>
            </a:r>
          </a:p>
          <a:p>
            <a:r>
              <a:t>tier worries its head. Wednesday's return question is the Kahoot's last item.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(4), five members'</a:t>
            </a:r>
          </a:p>
          <a:p>
            <a:r>
              <a:t>cards by hand (8, never cut), the code, Retail-Core and the room's Retail-Plus run (7), the trap and</a:t>
            </a:r>
          </a:p>
          <a:p>
            <a:r>
              <a:t>its fix (5), the second route (1), and the close (1). Notebook 1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Delivered revenue per member is the measure all day: Monday settled that</a:t>
            </a:r>
          </a:p>
          <a:p>
            <a:r>
              <a:t>cancelled and returned orders are not money kept, and a member is the unit that exists in both</a:t>
            </a:r>
          </a:p>
          <a:p>
            <a:r>
              <a:t>quarters. Say it plainly: the same 22 people are measured twice, and that fact chooses the test.</a:t>
            </a:r>
          </a:p>
          <a:p>
            <a:r>
              <a:t>Write the measure on the board beside the tree. Then a company that tests changes all year.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"Building a Culture of Experimentation" (2020), and the HBR podcast</a:t>
            </a:r>
          </a:p>
          <a:p>
            <a:r>
              <a:t>"At Booking.com, Innovation Means Constant Failure" (2019).</a:t>
            </a:r>
          </a:p>
          <a:p>
            <a:r>
              <a:t>Checked 30 September 2026: https://hbr.org/2020/03/building-a-culture-of-experimentation</a:t>
            </a:r>
          </a:p>
          <a:p>
            <a:r>
              <a:t>Checked 30 September 2026: https://hbr.org/podcast/2019/09/at-booking-com-innovation-means-constant-failure</a:t>
            </a:r>
          </a:p>
          <a:p>
            <a:r>
              <a:t>The 25,000 a year is Thomke's figure; say "about". A company that tests constantly treats a gap as</a:t>
            </a:r>
          </a:p>
          <a:p>
            <a:r>
              <a:t>noise until it beats chance. Then the four ways a team could ask.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separates the options is the design of the data, and compute decides nothing</a:t>
            </a:r>
          </a:p>
          <a:p>
            <a:r>
              <a:t>here. The same 22 members sit in both quarters; B treats them as 44 strangers, which is the right</a:t>
            </a:r>
          </a:p>
          <a:p>
            <a:r>
              <a:t>test only when the two groups are different customers. How far B strays rests on how well a</a:t>
            </a:r>
          </a:p>
          <a:p>
            <a:r>
              <a:t>member's Q1 predicts their Q2: on this file the correlation is 0.04, so it strays little, and on a</a:t>
            </a:r>
          </a:p>
          <a:p>
            <a:r>
              <a:t>tier where heavy buyers stay heavy it strays far. Eight of the 44 totals are zero (six members</a:t>
            </a:r>
          </a:p>
          <a:p>
            <a:r>
              <a:t>bought nothing in Q2, two nothing in Q1), the lumpy shape a formula assumes away. Then what would</a:t>
            </a:r>
          </a:p>
          <a:p>
            <a:r>
              <a:t>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flips assume only that, if nothing changed, each member's two quarters could</a:t>
            </a:r>
          </a:p>
          <a:p>
            <a:r>
              <a:t>have come in either order; they do not assume a bell shape. Say the switch facts aloud: at</a:t>
            </a:r>
          </a:p>
          <a:p>
            <a:r>
              <a:t>Booking.com's scale the textbook call is the standard, and chapter 6, comparing Retail-Plus with</a:t>
            </a:r>
          </a:p>
          <a:p>
            <a:r>
              <a:t>Retail-Core, is where the label shuffle comes back, because those are different customers. Then the</a:t>
            </a:r>
          </a:p>
          <a:p>
            <a:r>
              <a:t>picture of one chance-only world.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name once and move on; the definition earns its place after the room has</a:t>
            </a:r>
          </a:p>
          <a:p>
            <a:r>
              <a:t>counted shares by hand. No formulas today, and no test catalogue. For two groups of different</a:t>
            </a:r>
          </a:p>
          <a:p>
            <a:r>
              <a:t>customers the same idea deals the labels at random instead; that version returns in chapter 6.</a:t>
            </a:r>
          </a:p>
          <a:p>
            <a:r>
              <a:t>Then the cards.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never cut. Hand each pair five members' cards, two per member, with these amounts.</a:t>
            </a:r>
          </a:p>
          <a:p>
            <a:r>
              <a:t>For each toss, a coin per member: heads keeps the member's pair as recorded, tails swaps it. Each</a:t>
            </a:r>
          </a:p>
          <a:p>
            <a:r>
              <a:t>pair tosses ten times and writes each gap on the board in a row. Then count, as a room, how many</a:t>
            </a:r>
          </a:p>
          <a:p>
            <a:r>
              <a:t>gaps reached Rs 880 or more. Ask: if the quarter made no difference, how surprising is 880? The</a:t>
            </a:r>
          </a:p>
          <a:p>
            <a:r>
              <a:t>guided sheet is exercises/guided/C2_W01_D04_ten_cards_STUDENT.md. Then the question on the board's</a:t>
            </a:r>
          </a:p>
          <a:p>
            <a:r>
              <a:t>row of gaps.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ten gaps are the first ten a seeded computer toss produced, a fair stand-in</a:t>
            </a:r>
          </a:p>
          <a:p>
            <a:r>
              <a:t>for a pair's ten. Take letters. The traps are a and b: none in ten sounds rare, and ten draws say</a:t>
            </a:r>
          </a:p>
          <a:p>
            <a:r>
              <a:t>almost nothing about a share.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Why 1 in 32: a gap of Rs 880 needs every member to keep their order, and five coins</a:t>
            </a:r>
          </a:p>
          <a:p>
            <a:r>
              <a:t>land that way once in 32; swapping any one member pulls the gap down by at least Rs 240. Say the</a:t>
            </a:r>
          </a:p>
          <a:p>
            <a:r>
              <a:t>sentence aloud: "If the quarter made no difference, a gap of Rs 880 or more turns up in about 3 of</a:t>
            </a:r>
          </a:p>
          <a:p>
            <a:r>
              <a:t>every 100 tosses." Then the same steps as code.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each line against the cards: the differences, a coin per member, the average,</a:t>
            </a:r>
          </a:p>
          <a:p>
            <a:r>
              <a:t>the count. The notebook's helper is flip_gaps, with random.seed(2026) so every laptop gets the same</a:t>
            </a:r>
          </a:p>
          <a:p>
            <a:r>
              <a:t>coins. A NameError from an unrun cell gets Restart and Run All and two minutes, no more. Then an</a:t>
            </a:r>
          </a:p>
          <a:p>
            <a:r>
              <a:t>ordinary quarter.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live in notebook 1. The bars are chance-only worlds, and the real gap sits in</a:t>
            </a:r>
          </a:p>
          <a:p>
            <a:r>
              <a:t>the tallest bars. Kavya's point: this is what "nothing happened" looks like, and the room needs to</a:t>
            </a:r>
          </a:p>
          <a:p>
            <a:r>
              <a:t>have seen it before judging Retail-Plus. Then the room's own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predicts, then runs notebook 1's Retail-Plus section and writes a first</a:t>
            </a:r>
          </a:p>
          <a:p>
            <a:r>
              <a:t>draft sentence to Meera without help. Do not read a number out first; every laptop gets the same</a:t>
            </a:r>
          </a:p>
          <a:p>
            <a:r>
              <a:t>shares because of the seed. Ask one pair to read theirs aloud and write it on the board. Those</a:t>
            </a:r>
          </a:p>
          <a:p>
            <a:r>
              <a:t>numbers belong to the room, and the next slides work on them.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numbers off the room's board. The real gap sits out in the right-hand</a:t>
            </a:r>
          </a:p>
          <a:p>
            <a:r>
              <a:t>tail, past the Rs 1,000 bar: far outside Retail-Core's pile, at the edge of what chance makes. Which</a:t>
            </a:r>
          </a:p>
          <a:p>
            <a:r>
              <a:t>of the two shares is the p-value is a choice made before the test runs, and Meera asked after the</a:t>
            </a:r>
          </a:p>
          <a:p>
            <a:r>
              <a:t>fall was seen, so both go in. Then the first draft most of the room wrote.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Put the sentence up next to the room's share and ask whose first draft looks like</a:t>
            </a:r>
          </a:p>
          <a:p>
            <a:r>
              <a:t>it. Most hands go up; it is the most common p-value sentence in industry.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notebook 1's twenty invented segments with nothing changed, the shares</a:t>
            </a:r>
          </a:p>
          <a:p>
            <a:r>
              <a:t>its run produced. Segment 8 comes back at 0.003. Ask of any p-value sentence: in which world was</a:t>
            </a:r>
          </a:p>
          <a:p>
            <a:r>
              <a:t>this share counted? The chance that a finding is wrong depends on what the flips never saw: how</a:t>
            </a:r>
          </a:p>
          <a:p>
            <a:r>
              <a:t>plausible a fall was before the data, what else changed, how many segments were tested, and</a:t>
            </a:r>
          </a:p>
          <a:p>
            <a:r>
              <a:t>whether the direction was chosen before the fall was seen. Then the sentence that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numbers stay 0.029 and 0.057; the claim shrinks from "97 percent certain" to</a:t>
            </a:r>
          </a:p>
          <a:p>
            <a:r>
              <a:t>"borderline". Both directions go in because nobody fixed the direction before the fall was seen.</a:t>
            </a:r>
          </a:p>
          <a:p>
            <a:r>
              <a:t>Each pair rewrites its first draft in the right-hand form.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1's second route: the exact count covers all 4,194,304 ways 22 coins can</a:t>
            </a:r>
          </a:p>
          <a:p>
            <a:r>
              <a:t>land; the paired test gives t = 2.03 on 21 degrees of freedom. The pooled shuffle and the two-sample</a:t>
            </a:r>
          </a:p>
          <a:p>
            <a:r>
              <a:t>test are the unpaired numbers: here they sit near the paired ones because the correlation between a</a:t>
            </a:r>
          </a:p>
          <a:p>
            <a:r>
              <a:t>member's quarters is 0.04, and on a tier where heavy buyers stay heavy they would sit far higher. The</a:t>
            </a:r>
          </a:p>
          <a:p>
            <a:r>
              <a:t>formula behind the paired test is a later week's topic; today it is a second opinion.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Nair is the team's senior analyst, who checks every number before it leaves.</a:t>
            </a:r>
          </a:p>
          <a:p>
            <a:r>
              <a:t>The design question for the drill: four ways to ask whether a fall is real, which would you run for</a:t>
            </a:r>
          </a:p>
          <a:p>
            <a:r>
              <a:t>a CEO's Monday? The chapter 1 set (exercises/unguided/C2_W01_D04_ch1_real_or_wobble_STUDENT.md)</a:t>
            </a:r>
          </a:p>
          <a:p>
            <a:r>
              <a:t>runs its items 1 and 2 now if the chapter ran to time. Then chapter 2: the fall is borderline, so</a:t>
            </a:r>
          </a:p>
          <a:p>
            <a:r>
              <a:t>is it worth money?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two axes (5), the fall in</a:t>
            </a:r>
          </a:p>
          <a:p>
            <a:r>
              <a:t>rupees and against the company (8), the trap and its check (6), the offer priced (4), the second</a:t>
            </a:r>
          </a:p>
          <a:p>
            <a:r>
              <a:t>route (3), and the close (1). Notebook 2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 1 left the fall borderline: about 3 in 100 flips</a:t>
            </a:r>
          </a:p>
          <a:p>
            <a:r>
              <a:t>counting falls, 6 either way, on Rs 1,110 a member. Then the ask.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is the same revenue per member, now multiplied out to rupees a quarter.</a:t>
            </a:r>
          </a:p>
          <a:p>
            <a:r>
              <a:t>A wrong call either funds an offer that cannot pay back or ignores a fall that keeps draining the</a:t>
            </a:r>
          </a:p>
          <a:p>
            <a:r>
              <a:t>tier. Ask what the missing box should hold before anyone talks budget. Then a company where size</a:t>
            </a:r>
          </a:p>
          <a:p>
            <a:r>
              <a:t>decided.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HBR, "The Surprising Power of Online Experiments" (2017) for the 12</a:t>
            </a:r>
          </a:p>
          <a:p>
            <a:r>
              <a:t>percent and the 100 million dollars; "Online Experimentation at Microsoft" (2009) for about a third</a:t>
            </a:r>
          </a:p>
          <a:p>
            <a:r>
              <a:t>of experiments improving the metric they were built for.</a:t>
            </a:r>
          </a:p>
          <a:p>
            <a:r>
              <a:t>Checked 30 September 2026: https://hbr.org/2017/09/the-surprising-power-of-online-experiments</a:t>
            </a:r>
          </a:p>
          <a:p>
            <a:r>
              <a:t>Checked 30 September 2026: https://ai.stanford.edu/~ronnyk/ExPThinkWeek2009Public.pdf</a:t>
            </a:r>
          </a:p>
          <a:p>
            <a:r>
              <a:t>Then the four ways to answer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option reaches a decision by a different kind of evidence: arithmetic on an</a:t>
            </a:r>
          </a:p>
          <a:p>
            <a:r>
              <a:t>estimate, a range, an experiment, a benchmark. The call follows the decision: a budget line needs</a:t>
            </a:r>
          </a:p>
          <a:p>
            <a:r>
              <a:t>rupees beside the quarter and the cost. The low end of the range moves between about Rs 15 and</a:t>
            </a:r>
          </a:p>
          <a:p>
            <a:r>
              <a:t>Rs 100 with the seed, which is what "rough" means here. Then the picture of the two calls.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where Retail-Core's Rs 110 belongs: bottom left. Hold Retail-Plus until the</a:t>
            </a:r>
          </a:p>
          <a:p>
            <a:r>
              <a:t>room has sized it; a borderline share puts it near the middle of the chance axis. The quadrant is</a:t>
            </a:r>
          </a:p>
          <a:p>
            <a:r>
              <a:t>the day's second board drawing. Then the first size.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Pairs work it on paper first: a rate per member times the members who exist in both</a:t>
            </a:r>
          </a:p>
          <a:p>
            <a:r>
              <a:t>quarters. The second line is the company's quarter, which the next slides need.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room computes these in notebook 2's first two sections. A third of the tier is</a:t>
            </a:r>
          </a:p>
          <a:p>
            <a:r>
              <a:t>why the head of Retail-Plus is worried; the company line is why Meera may not be. Then the whole</a:t>
            </a:r>
          </a:p>
          <a:p>
            <a:r>
              <a:t>company on one chart.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chart draws the consumer segments alone so their bars stand in proportion;</a:t>
            </a:r>
          </a:p>
          <a:p>
            <a:r>
              <a:t>with Business on one axis all three would sit on the floor. Business is Kalpa's sales to companies,</a:t>
            </a:r>
          </a:p>
          <a:p>
            <a:r>
              <a:t>every order in lakhs. Then the draft that ranks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day's second trap and the one that costs money. The shares count a</a:t>
            </a:r>
          </a:p>
          <a:p>
            <a:r>
              <a:t>move that large either way, since no direction was fixed before the quarter was seen. Ask what the</a:t>
            </a:r>
          </a:p>
          <a:p>
            <a:r>
              <a:t>share would be for a twenty-rupee gap on twenty thousand orders. Take guesses. Then why the share</a:t>
            </a:r>
          </a:p>
          <a:p>
            <a:r>
              <a:t>cannot rank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orders are invented in notebook 2: two quarters of different orders, the</a:t>
            </a:r>
          </a:p>
          <a:p>
            <a:r>
              <a:t>earlier one set exactly Rs 20 higher at every size. The share falls from 0.43 to 0.002 on sample</a:t>
            </a:r>
          </a:p>
          <a:p>
            <a:r>
              <a:t>size alone. The share measures how surely a gap beats chance; the rupees measure how big it is.</a:t>
            </a:r>
          </a:p>
          <a:p>
            <a:r>
              <a:t>Business's rise does not shrink the Retail-Plus fall; it changes what the review opens on. The fix</a:t>
            </a:r>
          </a:p>
          <a:p>
            <a:r>
              <a:t>is two sentences: borderline against chance, and Rs 24,420 a quarter, 0.19 percent of the company.</a:t>
            </a:r>
          </a:p>
          <a:p>
            <a:r>
              <a:t>Then the cost of a fix.</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 Kalpa figure exists for the offer's cost; the notebook labels it assumed. Pairs</a:t>
            </a:r>
          </a:p>
          <a:p>
            <a:r>
              <a:t>work it on paper before running the notebook's offer section.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At an assumed 30 percent margin (notebook 2's depth section) the offer would need</a:t>
            </a:r>
          </a:p>
          <a:p>
            <a:r>
              <a:t>to win back 150 percent, more than the whole fall. Say that revenue is not margin, once. Then how</a:t>
            </a:r>
          </a:p>
          <a:p>
            <a:r>
              <a:t>small the fall could really be.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Under 2 in 100 redraws land at or below zero (0.016), a consistency check beside</a:t>
            </a:r>
          </a:p>
          <a:p>
            <a:r>
              <a:t>the flips' 0.029. The low end moves between about Rs 15 and Rs 100 with the seed, so it sits close</a:t>
            </a:r>
          </a:p>
          <a:p>
            <a:r>
              <a:t>to zero, and at about Rs 80 a member it is about Rs 1,780 a quarter for the tier. That is why the</a:t>
            </a:r>
          </a:p>
          <a:p>
            <a:r>
              <a:t>line is "watch it", and a test on a coin-chosen half if anyone acts. CUT FIRST if the chapter runs</a:t>
            </a:r>
          </a:p>
          <a:p>
            <a:r>
              <a:t>long: say the name and the verdict only.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interview line in full: a metric moved and the test says significant; how do</a:t>
            </a:r>
          </a:p>
          <a:p>
            <a:r>
              <a:t>you decide whether the business should act? The half-tier test costs Rs 5,500 a quarter; eleven members a side can show only a</a:t>
            </a:r>
          </a:p>
          <a:p>
            <a:r>
              <a:t>large recovery, and how many a test needs is power, a later week. The design question for the</a:t>
            </a:r>
          </a:p>
          <a:p>
            <a:r>
              <a:t>drill: break-even, a range, a test on half, or a past offer's rate, which goes to the budget</a:t>
            </a:r>
          </a:p>
          <a:p>
            <a:r>
              <a:t>meeting? Then chapter 3: Meera's second question is about a rise, the biggest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the trap and the</a:t>
            </a:r>
          </a:p>
          <a:p>
            <a:r>
              <a:t>check (5), why small counts swing (3), the room's count (5), chance on the count (4), the interview</a:t>
            </a:r>
          </a:p>
          <a:p>
            <a:r>
              <a:t>pair (3), the second route (2), and the close (1). Notebook 3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and 2 answered Meera's first question: borderline,</a:t>
            </a:r>
          </a:p>
          <a:p>
            <a:r>
              <a:t>worth watching, and not worth acting on alone. Then her second.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question. Her 40 percent counts orders placed, whatever their status.</a:t>
            </a:r>
          </a:p>
          <a:p>
            <a:r>
              <a:t>Ask which number the room would want beside the 40 percent before answering. Hold the answers.</a:t>
            </a:r>
          </a:p>
          <a:p>
            <a:r>
              <a:t>Then a funder that learned what small groups 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Howard Wainer, "The Most Dangerous Equation", reprinted in Picturing the</a:t>
            </a:r>
          </a:p>
          <a:p>
            <a:r>
              <a:t>Uncertain World (Princeton University Press, 2009).</a:t>
            </a:r>
          </a:p>
          <a:p>
            <a:r>
              <a:t>Checked 30 September 2026: https://assets.press.princeton.edu/chapters/s8863.pdf</a:t>
            </a:r>
          </a:p>
          <a:p>
            <a:r>
              <a:t>The Foundation backed small schools partly because they appeared at the top; Wainer's point is</a:t>
            </a:r>
          </a:p>
          <a:p>
            <a:r>
              <a:t>that they appeared at the bottom too. Then the four ways to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rule counts customers because more orders from the same few customers add</a:t>
            </a:r>
          </a:p>
          <a:p>
            <a:r>
              <a:t>orders and no new evidence: thirty orders from three people are still three people's habits. D is</a:t>
            </a:r>
          </a:p>
          <a:p>
            <a:r>
              <a:t>the action the answer may lead to, and the room sizes it in notebook 3's second empty cell, once</a:t>
            </a:r>
          </a:p>
          <a:p>
            <a:r>
              <a:t>the count is found. Then the leaderboard a hurried draft reads.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Student is the only segment above 100. The rate is correct arithmetic. What is</a:t>
            </a:r>
          </a:p>
          <a:p>
            <a:r>
              <a:t>wrong is repeating it without the count, the same mistake as Monday's number without its</a:t>
            </a:r>
          </a:p>
          <a:p>
            <a:r>
              <a:t>definition. Then the check that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which is chapter 2's habit, and c, which is the headline habit.</a:t>
            </a:r>
          </a:p>
          <a:p>
            <a:r>
              <a:t>Both are reasonable later steps and neither comes first.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say Student's count. The room counts it, orders and customers, in notebook</a:t>
            </a:r>
          </a:p>
          <a:p>
            <a:r>
              <a:t>3's empty cell in a few minutes. Then why small counts swing.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chart is fair coin flips, one flip per independent buyer deciding its</a:t>
            </a:r>
          </a:p>
          <a:p>
            <a:r>
              <a:t>quarter, with no Kalpa data in it. Ten buyers, 38 percent of worlds; four hundred, four in ten</a:t>
            </a:r>
          </a:p>
          <a:p>
            <a:r>
              <a:t>thousand. That curve is why the rule of thumb exists, and why it counts customers: thirty orders</a:t>
            </a:r>
          </a:p>
          <a:p>
            <a:r>
              <a:t>from three customers are three buyers, and the curve reads them at three. Then the room's count.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count is the room's discovery; do not say it, and no slide shows it. When a</a:t>
            </a:r>
          </a:p>
          <a:p>
            <a:r>
              <a:t>pair has it, ask how many customers stand behind the orders, and watch the faces. Then the wait: at</a:t>
            </a:r>
          </a:p>
          <a:p>
            <a:r>
              <a:t>the pace new customers arrive, how long until thirty? Collect two lines aloud. Then how often chance</a:t>
            </a:r>
          </a:p>
          <a:p>
            <a:r>
              <a:t>makes the rise on that count.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Student's ordering had not changed, each order was as likely to land in Q1 as</a:t>
            </a:r>
          </a:p>
          <a:p>
            <a:r>
              <a:t>in Q2. The notebook's helper, flip_rises, also counts a world with no Q1 orders as a rise. Letters,</a:t>
            </a:r>
          </a:p>
          <a:p>
            <a:r>
              <a:t>then the run.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flips are generous: they treat each order as its own draw, while Student's</a:t>
            </a:r>
          </a:p>
          <a:p>
            <a:r>
              <a:t>orders come from very few customers, whose orders move together. The fix, said aloud: "Not yet: we</a:t>
            </a:r>
          </a:p>
          <a:p>
            <a:r>
              <a:t>watch Student until more customers buy, thirty or more behind the rise." Then the interview's</a:t>
            </a:r>
          </a:p>
          <a:p>
            <a:r>
              <a:t>version of the same question.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one learner answers aloud in thirty seconds. Listen for the count,</a:t>
            </a:r>
          </a:p>
          <a:p>
            <a:r>
              <a:t>the swing, and what they would do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3's invented simulation: a true 31 percent shows 42 or more in about 31</a:t>
            </a:r>
          </a:p>
          <a:p>
            <a:r>
              <a:t>percent of groups of twelve, and groups of 1,200 land between about 28 and 35 percent. Then a second</a:t>
            </a:r>
          </a:p>
          <a:p>
            <a:r>
              <a:t>route to the Student share.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3's second route. The exact count checks the arithmetic; the handfuls</a:t>
            </a:r>
          </a:p>
          <a:p>
            <a:r>
              <a:t>check the idea: Retail-Core's orders fell 3 percent, yet a Student-sized handful of them shows a 40</a:t>
            </a:r>
          </a:p>
          <a:p>
            <a:r>
              <a:t>percent rise about a third of the time, and a handful of sixty almost never does. Do not name the</a:t>
            </a:r>
          </a:p>
          <a:p>
            <a:r>
              <a:t>number of deals or the size of a handful, which would give the count away.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line for the note: "Not yet: we watch Student until more customers buy, thirty</a:t>
            </a:r>
          </a:p>
          <a:p>
            <a:r>
              <a:t>or more behind the rise, before any budget moves." The design question for the drill: a segment is</a:t>
            </a:r>
          </a:p>
          <a:p>
            <a:r>
              <a:t>up 40 percent and the CEO wants to move budget; trust, test or wait? Break for 10 minutes after this</a:t>
            </a:r>
          </a:p>
          <a:p>
            <a:r>
              <a:t>slide. Then chapter 4, the discount.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companies (5), the options and the call (3), Marketing's</a:t>
            </a:r>
          </a:p>
          <a:p>
            <a:r>
              <a:t>number reproduced (4), the trap (2), why a blend can mislead (4), the room's split and its result</a:t>
            </a:r>
          </a:p>
          <a:p>
            <a:r>
              <a:t>(7), the fix (2), the second route (2), and the close (1). Notebook 4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Chapters 1 to 3 answered Meera's first two: the Retail-Plus</a:t>
            </a:r>
          </a:p>
          <a:p>
            <a:r>
              <a:t>fall is borderline and worth watching, and Student is not yet. Then her third.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17.6 percent is Monday's rule: at 15 percent off, orders must rise by 1 over</a:t>
            </a:r>
          </a:p>
          <a:p>
            <a:r>
              <a:t>0.85 less 1 to keep revenue flat. A sale that did not lift spend gives margin away. The metric:</a:t>
            </a:r>
          </a:p>
          <a:p>
            <a:r>
              <a:t>August revenue per customer, for customers who got the sale against customers who did not. Then</a:t>
            </a:r>
          </a:p>
          <a:p>
            <a:r>
              <a:t>two cases where an average hid a split.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Blake, Nosko and Tadelis, NBER working paper 20171; Bickel, Hammel and</a:t>
            </a:r>
          </a:p>
          <a:p>
            <a:r>
              <a:t>O'Connell, Science, 1975, as quoted by Alex Reinhart (8,442 men, 4,321 women).</a:t>
            </a:r>
          </a:p>
          <a:p>
            <a:r>
              <a:t>Checked 30 September 2026: https://www.nber.org/papers/w20171</a:t>
            </a:r>
          </a:p>
          <a:p>
            <a:r>
              <a:t>Checked 30 September 2026: https://www.refsmmat.com/posts/2016-05-08-simpsons-paradox-berkeley.html</a:t>
            </a:r>
          </a:p>
          <a:p>
            <a:r>
              <a:t>eBay's average hid a split by customer type; Berkeley's total hid a split by department, because</a:t>
            </a:r>
          </a:p>
          <a:p>
            <a:r>
              <a:t>women applied more to departments that admitted few applicants. Do not draw the Kalpa parallel;</a:t>
            </a:r>
          </a:p>
          <a:p>
            <a:r>
              <a:t>the room finds it. Then the four ways to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separates the options is which file each stands on and what each takes on</a:t>
            </a:r>
          </a:p>
          <a:p>
            <a:r>
              <a:t>trust; the call rests on one check the notebook runs before any spend is compared: who is in each</a:t>
            </a:r>
          </a:p>
          <a:p>
            <a:r>
              <a:t>group. A returns in chapter 6. Then Marketing's own number, rebuilt.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list in full once: the 160 Retail-Plus and Retail-Core customers the</a:t>
            </a:r>
          </a:p>
          <a:p>
            <a:r>
              <a:t>platform held, under the platform's own customer ids, with one average August spend for each group.</a:t>
            </a:r>
          </a:p>
          <a:p>
            <a:r>
              <a:t>It records who received the sale, whatever it was aimed at, which is why it shows Retail-Core</a:t>
            </a:r>
          </a:p>
          <a:p>
            <a:r>
              <a:t>customers among them although the campaigns table aimed the sale at Retail-Plus. Finance's order</a:t>
            </a:r>
          </a:p>
          <a:p>
            <a:r>
              <a:t>file, whose 22 Retail-Plus members and discount column carry no record of the sale, cannot be</a:t>
            </a:r>
          </a:p>
          <a:p>
            <a:r>
              <a:t>matched to it. So the list answers who got the sale and how the groups differ; the Diwali hold-back</a:t>
            </a:r>
          </a:p>
          <a:p>
            <a:r>
              <a:t>is sized on it and the retention offer on Finance's file. Predict, then run notebook 4. Then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it plainly: nobody made an arithmetic mistake. Reproducing the number first is</a:t>
            </a:r>
          </a:p>
          <a:p>
            <a:r>
              <a:t>what keeps Monday civil. The question is whether the comparison is fair. Then the draft that trusts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would have to be true of the two groups for this sentence to hold. Take</a:t>
            </a:r>
          </a:p>
          <a:p>
            <a:r>
              <a:t>two answers. Then, on invented stores, how a blend can say the opposite of its parts.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numbers are invented for the illustration. The blend more than doubles because</a:t>
            </a:r>
          </a:p>
          <a:p>
            <a:r>
              <a:t>eight of the ten promoted customers are big-store customers. This is the Berkeley pattern in rupees.</a:t>
            </a:r>
          </a:p>
          <a:p>
            <a:r>
              <a:t>Do not state Kalpa's split: the room runs it next. Then the room's split.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room runs notebook 4's split. When most laptops show the chart, ask one pair to</a:t>
            </a:r>
          </a:p>
          <a:p>
            <a:r>
              <a:t>read the two segment changes and the two mixes aloud. The reversal belongs to the room. Then point</a:t>
            </a:r>
          </a:p>
          <a:p>
            <a:r>
              <a:t>at the blended column and ask how both can be true. Then the result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Thirty exposed customers in each segment, against 40 Retail-Plus and 60</a:t>
            </a:r>
          </a:p>
          <a:p>
            <a:r>
              <a:t>Retail-Core who did not get it. This is Simpson's reversal, with segment as the confounder: a</a:t>
            </a:r>
          </a:p>
          <a:p>
            <a:r>
              <a:t>thing that differs between the groups and moves the outcome on its own. Then the line to Meera.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decision, from repeat to redesign, and the reason is a mix of</a:t>
            </a:r>
          </a:p>
          <a:p>
            <a:r>
              <a:t>customers; Marketing's arithmetic was right. Then a second route, and what it can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4's second route. Putting both groups on one mix removes the whole 6.1</a:t>
            </a:r>
          </a:p>
          <a:p>
            <a:r>
              <a:t>percent, both ways round, which is what it would do if the mix were the whole story. The</a:t>
            </a:r>
          </a:p>
          <a:p>
            <a:r>
              <a:t>independent check, from Finance's months, comes in chapter 6.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follow-up for the drill: the campaign lifted revenue overall but every segment</a:t>
            </a:r>
          </a:p>
          <a:p>
            <a:r>
              <a:t>fell; which do you report? Chapter 6 opens the afternoon on "what else changed". Then the note:</a:t>
            </a:r>
          </a:p>
          <a:p>
            <a:r>
              <a:t>three questions answered, one page for Meera.</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(4), the options and the call (3), each number's</a:t>
            </a:r>
          </a:p>
          <a:p>
            <a:r>
              <a:t>partner (2), the trap and the audit (6), the Retail-Plus line built together (6), the audit's logic</a:t>
            </a:r>
          </a:p>
          <a:p>
            <a:r>
              <a:t>(1), the not-yet lines (4), the second route (3), and the close (1). Notebook 5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morning's three answers are in: borderline and worth</a:t>
            </a:r>
          </a:p>
          <a:p>
            <a:r>
              <a:t>watching; not yet; not as designed. Then Meera's terms for the page.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line that loses its base sends money the wrong way; a line that hedges everything</a:t>
            </a:r>
          </a:p>
          <a:p>
            <a:r>
              <a:t>gives Meera nothing to decide. The note carries every number the chapters produced, each with the</a:t>
            </a:r>
          </a:p>
          <a:p>
            <a:r>
              <a:t>partner it needs. Then a company that writes where others present.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Jeff Bezos, 2017 letter to shareholders.</a:t>
            </a:r>
          </a:p>
          <a:p>
            <a:r>
              <a:t>Checked 30 September 2026: https://www.aboutamazon.com/news/company-news/2017-letter-to-shareholders</a:t>
            </a:r>
          </a:p>
          <a:p>
            <a:r>
              <a:t>A narrative forces each claim to sit beside its evidence, which is the note's whole job. Meera asked</a:t>
            </a:r>
          </a:p>
          <a:p>
            <a:r>
              <a:t>for one page, which is Amazon's idea at a sixth of the length. Then the four ways to write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5's sizing cell counts the words; the dashboard is everything notebooks</a:t>
            </a:r>
          </a:p>
          <a:p>
            <a:r>
              <a:t>1 to 4 printed. A drops what Meera explicitly allowed; B and D hand her the analysis instead of the</a:t>
            </a:r>
          </a:p>
          <a:p>
            <a:r>
              <a:t>answer. Then what each number needs beside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of the four rows the room would have written without a partner. Most say</a:t>
            </a:r>
          </a:p>
          <a:p>
            <a:r>
              <a:t>the 40 percent. A number without its partner is the next slide's trap. Then the headline note.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34 percent is Rs 24,420 over the tier's Rs 72,130 in Q1: true, and a crisis</a:t>
            </a:r>
          </a:p>
          <a:p>
            <a:r>
              <a:t>only for a tier that delivered under one percent of the company's revenue. The 40 percent and the 6</a:t>
            </a:r>
          </a:p>
          <a:p>
            <a:r>
              <a:t>percent are chapters 3 and 4's traps, back in a note. Then the audit that catches all three.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5 runs the audit as a small function over each line and draws this grid.</a:t>
            </a:r>
          </a:p>
          <a:p>
            <a:r>
              <a:t>Ask the room for the base each line needs: the company's quarter, the count and the coin flips, who</a:t>
            </a:r>
          </a:p>
          <a:p>
            <a:r>
              <a:t>got the sale. Then the first line, built together.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it on the board part by part, with the room dictating. The caveat is the</a:t>
            </a:r>
          </a:p>
          <a:p>
            <a:r>
              <a:t>part most often missing and the one a CEO keeps an analyst for. This line is built together; the</a:t>
            </a:r>
          </a:p>
          <a:p>
            <a:r>
              <a:t>Student and discount lines are the room's. Then the audit's logic.</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test that runs on every line cannot be talked round. The Retail-Plus line passes</a:t>
            </a:r>
          </a:p>
          <a:p>
            <a:r>
              <a:t>all three. Then the two lines that say not yet.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Expect a. Hold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5 writes both lines, audits the whole note and traces every figure:</a:t>
            </a:r>
          </a:p>
          <a:p>
            <a:r>
              <a:t>every line passes all three questions, and 11 of 11 figures trace. Then a second route to the</a:t>
            </a:r>
          </a:p>
          <a:p>
            <a:r>
              <a:t>note's decisions.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note whose action does not follow from its own numbers would pass every figure</a:t>
            </a:r>
          </a:p>
          <a:p>
            <a:r>
              <a:t>check and fail here. Notebook 5's second route applies chapter 2's, 3's and 4's rules to the</a:t>
            </a:r>
          </a:p>
          <a:p>
            <a:r>
              <a:t>numbers and reaches the note's three decisions.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morning ends here. The afternoon opens on chapter 6: who got the discount, who</a:t>
            </a:r>
          </a:p>
          <a:p>
            <a:r>
              <a:t>did not, and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5 minutes. For learners who ask why a tool reports a bigger p-value. Notebook 1's depth</a:t>
            </a:r>
          </a:p>
          <a:p>
            <a:r>
              <a:t>section runs both counts under five other seeds: 0.026 to 0.030 counting falls, 0.051 to 0.059</a:t>
            </a:r>
          </a:p>
          <a:p>
            <a:r>
              <a:t>either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7.png"/><Relationship Id="rId6"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9.xml"/><Relationship Id="rId6"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7.png"/><Relationship Id="rId6"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2.png"/><Relationship Id="rId6" Type="http://schemas.openxmlformats.org/officeDocument/2006/relationships/image" Target="../media/image30.png"/><Relationship Id="rId7" Type="http://schemas.openxmlformats.org/officeDocument/2006/relationships/image" Target="../media/image10.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17.png"/><Relationship Id="rId6"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6.png"/><Relationship Id="rId6" Type="http://schemas.openxmlformats.org/officeDocument/2006/relationships/image" Target="../media/image4.png"/><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5.png"/><Relationship Id="rId6" Type="http://schemas.openxmlformats.org/officeDocument/2006/relationships/image" Target="../media/image3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image" Target="../media/image40.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4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17.png"/><Relationship Id="rId6" Type="http://schemas.openxmlformats.org/officeDocument/2006/relationships/image" Target="../media/image4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4.xml"/><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17.png"/><Relationship Id="rId6" Type="http://schemas.openxmlformats.org/officeDocument/2006/relationships/image" Target="../media/image4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 Id="rId5" Type="http://schemas.openxmlformats.org/officeDocument/2006/relationships/image" Target="../media/image4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of Meera's three numbers is real?</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“Real, or the wobble we see every quarter? Should I move budget to Student? Did the discount work, or did those customers buy anyway?”</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Real, or the wobble?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Worth acting on?</a:t>
            </a:r>
          </a:p>
        </p:txBody>
      </p:sp>
      <p:sp>
        <p:nvSpPr>
          <p:cNvPr id="15" name="TextBox 14"/>
          <p:cNvSpPr txBox="1"/>
          <p:nvPr/>
        </p:nvSpPr>
        <p:spPr>
          <a:xfrm>
            <a:off x="42508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34865"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many behind 40%?</a:t>
            </a:r>
          </a:p>
        </p:txBody>
      </p:sp>
      <p:sp>
        <p:nvSpPr>
          <p:cNvPr id="17" name="TextBox 16"/>
          <p:cNvSpPr txBox="1"/>
          <p:nvPr/>
        </p:nvSpPr>
        <p:spPr>
          <a:xfrm>
            <a:off x="618362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56767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Did the discount work?</a:t>
            </a:r>
          </a:p>
        </p:txBody>
      </p:sp>
      <p:sp>
        <p:nvSpPr>
          <p:cNvPr id="19" name="TextBox 18"/>
          <p:cNvSpPr txBox="1"/>
          <p:nvPr/>
        </p:nvSpPr>
        <p:spPr>
          <a:xfrm>
            <a:off x="82347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618791"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goes on the page?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asking what the last answer raised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Real, or the wobble?</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Is the Retail-Plus fall more than chance makes?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Worth acting on?</a:t>
            </a:r>
          </a:p>
        </p:txBody>
      </p:sp>
      <p:sp>
        <p:nvSpPr>
          <p:cNvPr id="19" name="TextBox 18"/>
          <p:cNvSpPr txBox="1"/>
          <p:nvPr/>
        </p:nvSpPr>
        <p:spPr>
          <a:xfrm>
            <a:off x="2580589"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How big is it, against what a fix costs?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behind 40%?</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Should budget move to Student?</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Did the discount work?</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Or did those customers buy anyway?</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goes on the page?</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when is "not yet" the answer?</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would settle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After lunch: who got it, and Diwali</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2" name="Oval 4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4" name="Oval 4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6" name="Oval 4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8" name="Oval 4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one page, before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Meera asking, and what does she want back?</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"One: Retail-Plus is down, smaller than first reported. Real, or the wobble we see every quarter? Two: Student is up 40 percent; should I move budget there? Three: marketing ran a monsoon-sale discount for Retail-Plus in August, says it lifted revenue 6 percent, and wants to repeat it for Diwali. Did the discount work, or did those customers buy anyway?"</a:t>
            </a:r>
          </a:p>
        </p:txBody>
      </p:sp>
      <p:sp>
        <p:nvSpPr>
          <p:cNvPr id="14" name="TextBox 13"/>
          <p:cNvSpPr txBox="1"/>
          <p:nvPr/>
        </p:nvSpPr>
        <p:spPr>
          <a:xfrm>
            <a:off x="530352"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530352"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QUESTIONS</a:t>
            </a:r>
          </a:p>
        </p:txBody>
      </p:sp>
      <p:sp>
        <p:nvSpPr>
          <p:cNvPr id="16" name="TextBox 15"/>
          <p:cNvSpPr txBox="1"/>
          <p:nvPr/>
        </p:nvSpPr>
        <p:spPr>
          <a:xfrm>
            <a:off x="530352"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Monday's growth review</a:t>
            </a:r>
          </a:p>
        </p:txBody>
      </p:sp>
      <p:sp>
        <p:nvSpPr>
          <p:cNvPr id="17" name="Rectangle 16"/>
          <p:cNvSpPr/>
          <p:nvPr/>
        </p:nvSpPr>
        <p:spPr>
          <a:xfrm>
            <a:off x="530352"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40%</a:t>
            </a:r>
          </a:p>
        </p:txBody>
      </p:sp>
      <p:sp>
        <p:nvSpPr>
          <p:cNvPr id="19" name="TextBox 18"/>
          <p:cNvSpPr txBox="1"/>
          <p:nvPr/>
        </p:nvSpPr>
        <p:spPr>
          <a:xfrm>
            <a:off x="3381679"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STUDENT'S RISE</a:t>
            </a:r>
          </a:p>
        </p:txBody>
      </p:sp>
      <p:sp>
        <p:nvSpPr>
          <p:cNvPr id="20" name="TextBox 19"/>
          <p:cNvSpPr txBox="1"/>
          <p:nvPr/>
        </p:nvSpPr>
        <p:spPr>
          <a:xfrm>
            <a:off x="3381679"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as Meera heard it</a:t>
            </a:r>
          </a:p>
        </p:txBody>
      </p:sp>
      <p:sp>
        <p:nvSpPr>
          <p:cNvPr id="21" name="Rectangle 20"/>
          <p:cNvSpPr/>
          <p:nvPr/>
        </p:nvSpPr>
        <p:spPr>
          <a:xfrm>
            <a:off x="3381679"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23" name="TextBox 22"/>
          <p:cNvSpPr txBox="1"/>
          <p:nvPr/>
        </p:nvSpPr>
        <p:spPr>
          <a:xfrm>
            <a:off x="6233007"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MARKETING'S LIFT</a:t>
            </a:r>
          </a:p>
        </p:txBody>
      </p:sp>
      <p:sp>
        <p:nvSpPr>
          <p:cNvPr id="24" name="TextBox 23"/>
          <p:cNvSpPr txBox="1"/>
          <p:nvPr/>
        </p:nvSpPr>
        <p:spPr>
          <a:xfrm>
            <a:off x="6233007"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the monsoon sale, as claimed</a:t>
            </a:r>
          </a:p>
        </p:txBody>
      </p:sp>
      <p:sp>
        <p:nvSpPr>
          <p:cNvPr id="25" name="Rectangle 24"/>
          <p:cNvSpPr/>
          <p:nvPr/>
        </p:nvSpPr>
        <p:spPr>
          <a:xfrm>
            <a:off x="6233007"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761232"/>
            <a:ext cx="2577007" cy="698500"/>
          </a:xfrm>
          <a:prstGeom prst="rect">
            <a:avLst/>
          </a:prstGeom>
          <a:noFill/>
        </p:spPr>
        <p:txBody>
          <a:bodyPr wrap="square" anchor="t" lIns="0" rIns="0" tIns="0" bIns="0">
            <a:spAutoFit/>
          </a:bodyPr>
          <a:lstStyle/>
          <a:p>
            <a:pPr algn="l"/>
            <a:r>
              <a:rPr sz="4400" b="0" i="0">
                <a:solidFill>
                  <a:srgbClr val="5B3FD6"/>
                </a:solidFill>
                <a:latin typeface="Georgia"/>
              </a:rPr>
              <a:t>1 page</a:t>
            </a:r>
          </a:p>
        </p:txBody>
      </p:sp>
      <p:sp>
        <p:nvSpPr>
          <p:cNvPr id="27" name="TextBox 26"/>
          <p:cNvSpPr txBox="1"/>
          <p:nvPr/>
        </p:nvSpPr>
        <p:spPr>
          <a:xfrm>
            <a:off x="9084335" y="4496308"/>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TWO MINUTES</a:t>
            </a:r>
          </a:p>
        </p:txBody>
      </p:sp>
      <p:sp>
        <p:nvSpPr>
          <p:cNvPr id="28" name="TextBox 27"/>
          <p:cNvSpPr txBox="1"/>
          <p:nvPr/>
        </p:nvSpPr>
        <p:spPr>
          <a:xfrm>
            <a:off x="9084335" y="4697476"/>
            <a:ext cx="2577007" cy="193421"/>
          </a:xfrm>
          <a:prstGeom prst="rect">
            <a:avLst/>
          </a:prstGeom>
          <a:noFill/>
        </p:spPr>
        <p:txBody>
          <a:bodyPr wrap="square" anchor="t" lIns="0" rIns="0" tIns="0" bIns="0">
            <a:spAutoFit/>
          </a:bodyPr>
          <a:lstStyle/>
          <a:p>
            <a:pPr algn="l"/>
            <a:r>
              <a:rPr sz="950" b="0" i="0">
                <a:solidFill>
                  <a:srgbClr val="6B6690"/>
                </a:solidFill>
                <a:latin typeface="Calibri"/>
              </a:rPr>
              <a:t>her constraint on the answer</a:t>
            </a:r>
          </a:p>
        </p:txBody>
      </p:sp>
      <p:sp>
        <p:nvSpPr>
          <p:cNvPr id="29" name="Rectangle 28"/>
          <p:cNvSpPr/>
          <p:nvPr/>
        </p:nvSpPr>
        <p:spPr>
          <a:xfrm>
            <a:off x="9084335" y="4949952"/>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check does each question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questions look alike: which check must each pass before its number goes in the note?</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241779"/>
                <a:gridCol w="5889211"/>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claim inside it</a:t>
                      </a:r>
                    </a:p>
                  </a:txBody>
                  <a:tcPr marL="101600" marR="101600" marT="38100" marB="38100" anchor="ctr">
                    <a:solidFill>
                      <a:srgbClr val="1A0F5C"/>
                    </a:solidFill>
                  </a:tcPr>
                </a:tc>
              </a:tr>
              <a:tr h="369824">
                <a:tc>
                  <a:txBody>
                    <a:bodyPr/>
                    <a:lstStyle/>
                    <a:p>
                      <a:r>
                        <a:rPr sz="1400" b="0" i="0">
                          <a:solidFill>
                            <a:srgbClr val="1A1440"/>
                          </a:solidFill>
                          <a:latin typeface="Calibri"/>
                        </a:rPr>
                        <a:t>Is the Retail-Plus drop real?</a:t>
                      </a:r>
                    </a:p>
                  </a:txBody>
                  <a:tcPr marL="101600" marR="101600" marT="38100" marB="38100" anchor="ctr">
                    <a:solidFill>
                      <a:srgbClr val="FFFFFF"/>
                    </a:solidFill>
                  </a:tcPr>
                </a:tc>
                <a:tc>
                  <a:txBody>
                    <a:bodyPr/>
                    <a:lstStyle/>
                    <a:p>
                      <a:r>
                        <a:rPr sz="1400" b="0" i="0">
                          <a:solidFill>
                            <a:srgbClr val="1A1440"/>
                          </a:solidFill>
                          <a:latin typeface="Calibri"/>
                        </a:rPr>
                        <a:t>A gap between two quarters</a:t>
                      </a:r>
                    </a:p>
                  </a:txBody>
                  <a:tcPr marL="101600" marR="101600" marT="38100" marB="38100" anchor="ctr">
                    <a:solidFill>
                      <a:srgbClr val="FFFFFF"/>
                    </a:solidFill>
                  </a:tcPr>
                </a:tc>
              </a:tr>
              <a:tr h="369824">
                <a:tc>
                  <a:txBody>
                    <a:bodyPr/>
                    <a:lstStyle/>
                    <a:p>
                      <a:r>
                        <a:rPr sz="1400" b="0" i="0">
                          <a:solidFill>
                            <a:srgbClr val="1A1440"/>
                          </a:solidFill>
                          <a:latin typeface="Calibri"/>
                        </a:rPr>
                        <a:t>Should budget move to Student?</a:t>
                      </a:r>
                    </a:p>
                  </a:txBody>
                  <a:tcPr marL="101600" marR="101600" marT="38100" marB="38100" anchor="ctr">
                    <a:solidFill>
                      <a:srgbClr val="F4F2FA"/>
                    </a:solidFill>
                  </a:tcPr>
                </a:tc>
                <a:tc>
                  <a:txBody>
                    <a:bodyPr/>
                    <a:lstStyle/>
                    <a:p>
                      <a:r>
                        <a:rPr sz="1400" b="0" i="0">
                          <a:solidFill>
                            <a:srgbClr val="1A1440"/>
                          </a:solidFill>
                          <a:latin typeface="Calibri"/>
                        </a:rPr>
                        <a:t>A rate that rose 40 percent</a:t>
                      </a:r>
                    </a:p>
                  </a:txBody>
                  <a:tcPr marL="101600" marR="101600" marT="38100" marB="38100" anchor="ctr">
                    <a:solidFill>
                      <a:srgbClr val="F4F2FA"/>
                    </a:solidFill>
                  </a:tcPr>
                </a:tc>
              </a:tr>
              <a:tr h="369824">
                <a:tc>
                  <a:txBody>
                    <a:bodyPr/>
                    <a:lstStyle/>
                    <a:p>
                      <a:r>
                        <a:rPr sz="1400" b="0" i="0">
                          <a:solidFill>
                            <a:srgbClr val="1A1440"/>
                          </a:solidFill>
                          <a:latin typeface="Calibri"/>
                        </a:rPr>
                        <a:t>Did the discount work?</a:t>
                      </a:r>
                    </a:p>
                  </a:txBody>
                  <a:tcPr marL="101600" marR="101600" marT="38100" marB="38100" anchor="ctr">
                    <a:solidFill>
                      <a:srgbClr val="FFFFFF"/>
                    </a:solidFill>
                  </a:tcPr>
                </a:tc>
                <a:tc>
                  <a:txBody>
                    <a:bodyPr/>
                    <a:lstStyle/>
                    <a:p>
                      <a:r>
                        <a:rPr sz="1400" b="0" i="0">
                          <a:solidFill>
                            <a:srgbClr val="1A1440"/>
                          </a:solidFill>
                          <a:latin typeface="Calibri"/>
                        </a:rPr>
                        <a:t>Revenue that rose after a campaign</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pairing is right? a) all three need a bigger sample; b) chance for the first, the count behind the rate for the second, a fair comparison for the third; c) a significance test for all three; d) chance for the first two, and the campaign's own report for the third.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chance, the count, a fair comparison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must each of Meera's questions pass before its number goes in the note?</a:t>
            </a:r>
          </a:p>
        </p:txBody>
      </p:sp>
      <p:pic>
        <p:nvPicPr>
          <p:cNvPr id="9" name="mermaid diagram" descr="2e4b824e262ecd17.png"/>
          <p:cNvPicPr>
            <a:picLocks noChangeAspect="1"/>
          </p:cNvPicPr>
          <p:nvPr/>
        </p:nvPicPr>
        <p:blipFill>
          <a:blip r:embed="rId5"/>
          <a:stretch>
            <a:fillRect/>
          </a:stretch>
        </p:blipFill>
        <p:spPr>
          <a:xfrm>
            <a:off x="3358140" y="1664208"/>
            <a:ext cx="5475414"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Option d trusts the one party with a stake in the answer, and options a and c apply one tool to three different failures.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claim, evidence, caveat, 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read in her two minutes, and in what order?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One sentence Meera can act on, with the number that carries it.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number with its denominator, its window and how it was checked.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would change the claim, said before anyone else says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Action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to do next, and what it costs, including "wait and measure".</a:t>
            </a:r>
          </a:p>
        </p:txBody>
      </p:sp>
      <p:sp>
        <p:nvSpPr>
          <p:cNvPr id="30" name="Rounded Rectangle 29"/>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ic_caee7398c80d.png"/>
          <p:cNvPicPr>
            <a:picLocks noChangeAspect="1"/>
          </p:cNvPicPr>
          <p:nvPr/>
        </p:nvPicPr>
        <p:blipFill>
          <a:blip r:embed="rId4"/>
          <a:stretch>
            <a:fillRect/>
          </a:stretch>
        </p:blipFill>
        <p:spPr>
          <a:xfrm>
            <a:off x="868680" y="441604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4" name="TextBox 33"/>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[S] Explain a finding to a non-technical stakeholder.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7" name="Oval 3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9" name="Oval 3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1" name="Oval 4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3" name="Oval 4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days of work stand behind today's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week already settled, and what does today's file hold?</a:t>
            </a:r>
          </a:p>
        </p:txBody>
      </p:sp>
      <p:pic>
        <p:nvPicPr>
          <p:cNvPr id="9" name="mermaid diagram" descr="aa24d82df5574a25.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Today's file is Wednesday's cleaned two quarters of orders, plus the Student segment's own orders and the campaigns table. Retail-Plus is Kalpa's paid membership tier, and delivered revenue, the money kept once cancelled and returned orders are left out, is the measure all day.</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Real, or the wobble?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or the wobble Kalpa sees every quarter?</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Monday's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at Monday's growth review whether the Retail-Plus tier's fall gets a budget of its own. A wobble read as a real fall funds a fix for nothing, and a real fall read as a wobble lets the tier drain.</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 fits?</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ask "is it real?"</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Rs 880 surprising?</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Five members' cards, by hand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a wobble?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Retail-Core, 5,000 flips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5,000 flips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share never say?</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paired test, every pattern</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measure: revenue per member, the same 22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wrong call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the CEO</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She decides on Monday whether the tier's fall gets a budget of its own.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line_ded8d80bd4ff.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Delivered revenue per Retail-Plus member per quarter, the same 22 members in Q1 and in Q2.</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budget spent on noise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wobble read as a real fall funds a fix for nothing, and a real fall read as wobble lets the tier drain.</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Booking.com reads every change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learned that most changes do nothing at all?</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TESTS A YEAR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Booking.com, as Stefan Thomke reported in HBR in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RUNNING AT ONCE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at any point in time, the same source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FAIL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to improve anything, Thomke on HBR's podcast, 2019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most changes are noise, the first question about any move is how often chance alone makes one that size.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 each member's pair; pooling treats 22 as 44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"is it real?" fits 22 members measured twice?</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2000737"/>
                <a:gridCol w="2348297"/>
                <a:gridCol w="3599514"/>
                <a:gridCol w="31824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stands on</a:t>
                      </a:r>
                    </a:p>
                  </a:txBody>
                  <a:tcPr marL="101600" marR="101600" marT="38100" marB="38100" anchor="ctr">
                    <a:solidFill>
                      <a:srgbClr val="1A0F5C"/>
                    </a:solidFill>
                  </a:tcPr>
                </a:tc>
                <a:tc>
                  <a:txBody>
                    <a:bodyPr/>
                    <a:lstStyle/>
                    <a:p>
                      <a:r>
                        <a:rPr sz="1250" b="1" i="0">
                          <a:solidFill>
                            <a:srgbClr val="FFFFFF"/>
                          </a:solidFill>
                          <a:latin typeface="Calibri"/>
                        </a:rPr>
                        <a:t>What it assumes</a:t>
                      </a:r>
                    </a:p>
                  </a:txBody>
                  <a:tcPr marL="101600" marR="101600" marT="38100" marB="38100" anchor="ctr">
                    <a:solidFill>
                      <a:srgbClr val="1A0F5C"/>
                    </a:solidFill>
                  </a:tcPr>
                </a:tc>
                <a:tc>
                  <a:txBody>
                    <a:bodyPr/>
                    <a:lstStyle/>
                    <a:p>
                      <a:r>
                        <a:rPr sz="1250" b="1" i="0">
                          <a:solidFill>
                            <a:srgbClr val="FFFFFF"/>
                          </a:solidFill>
                          <a:latin typeface="Calibri"/>
                        </a:rPr>
                        <a:t>What it risks</a:t>
                      </a:r>
                    </a:p>
                  </a:txBody>
                  <a:tcPr marL="101600" marR="101600" marT="38100" marB="38100" anchor="ctr">
                    <a:solidFill>
                      <a:srgbClr val="1A0F5C"/>
                    </a:solidFill>
                  </a:tcPr>
                </a:tc>
              </a:tr>
              <a:tr h="542544">
                <a:tc>
                  <a:txBody>
                    <a:bodyPr/>
                    <a:lstStyle/>
                    <a:p>
                      <a:r>
                        <a:rPr sz="1200" b="0" i="0">
                          <a:solidFill>
                            <a:srgbClr val="1A1440"/>
                          </a:solidFill>
                          <a:latin typeface="Calibri"/>
                        </a:rPr>
                        <a:t>A. Flip each member's pair</a:t>
                      </a:r>
                    </a:p>
                  </a:txBody>
                  <a:tcPr marL="101600" marR="101600" marT="38100" marB="38100" anchor="ctr">
                    <a:solidFill>
                      <a:srgbClr val="FFFFFF"/>
                    </a:solidFill>
                  </a:tcPr>
                </a:tc>
                <a:tc>
                  <a:txBody>
                    <a:bodyPr/>
                    <a:lstStyle/>
                    <a:p>
                      <a:r>
                        <a:rPr sz="1200" b="0" i="0">
                          <a:solidFill>
                            <a:srgbClr val="1A1440"/>
                          </a:solidFill>
                          <a:latin typeface="Calibri"/>
                        </a:rPr>
                        <a:t>22 members, one Q1 less Q2 each</a:t>
                      </a:r>
                    </a:p>
                  </a:txBody>
                  <a:tcPr marL="101600" marR="101600" marT="38100" marB="38100" anchor="ctr">
                    <a:solidFill>
                      <a:srgbClr val="FFFFFF"/>
                    </a:solidFill>
                  </a:tcPr>
                </a:tc>
                <a:tc>
                  <a:txBody>
                    <a:bodyPr/>
                    <a:lstStyle/>
                    <a:p>
                      <a:r>
                        <a:rPr sz="1200" b="0" i="0">
                          <a:solidFill>
                            <a:srgbClr val="1A1440"/>
                          </a:solidFill>
                          <a:latin typeface="Calibri"/>
                        </a:rPr>
                        <a:t>either order of a member's quarters was as likely</a:t>
                      </a:r>
                    </a:p>
                  </a:txBody>
                  <a:tcPr marL="101600" marR="101600" marT="38100" marB="38100" anchor="ctr">
                    <a:solidFill>
                      <a:srgbClr val="FFFFFF"/>
                    </a:solidFill>
                  </a:tcPr>
                </a:tc>
                <a:tc>
                  <a:txBody>
                    <a:bodyPr/>
                    <a:lstStyle/>
                    <a:p>
                      <a:r>
                        <a:rPr sz="1200" b="0" i="0">
                          <a:solidFill>
                            <a:srgbClr val="1A1440"/>
                          </a:solidFill>
                          <a:latin typeface="Calibri"/>
                        </a:rPr>
                        <a:t>moves 0.004 across seeds</a:t>
                      </a:r>
                    </a:p>
                  </a:txBody>
                  <a:tcPr marL="101600" marR="101600" marT="38100" marB="38100" anchor="ctr">
                    <a:solidFill>
                      <a:srgbClr val="FFFFFF"/>
                    </a:solidFill>
                  </a:tcPr>
                </a:tc>
              </a:tr>
              <a:tr h="542544">
                <a:tc>
                  <a:txBody>
                    <a:bodyPr/>
                    <a:lstStyle/>
                    <a:p>
                      <a:r>
                        <a:rPr sz="1200" b="0" i="0">
                          <a:solidFill>
                            <a:srgbClr val="1A1440"/>
                          </a:solidFill>
                          <a:latin typeface="Calibri"/>
                        </a:rPr>
                        <a:t>B. Pool and deal two piles</a:t>
                      </a:r>
                    </a:p>
                  </a:txBody>
                  <a:tcPr marL="101600" marR="101600" marT="38100" marB="38100" anchor="ctr">
                    <a:solidFill>
                      <a:srgbClr val="F4F2FA"/>
                    </a:solidFill>
                  </a:tcPr>
                </a:tc>
                <a:tc>
                  <a:txBody>
                    <a:bodyPr/>
                    <a:lstStyle/>
                    <a:p>
                      <a:r>
                        <a:rPr sz="1200" b="0" i="0">
                          <a:solidFill>
                            <a:srgbClr val="1A1440"/>
                          </a:solidFill>
                          <a:latin typeface="Calibri"/>
                        </a:rPr>
                        <a:t>44 totals as 44 people</a:t>
                      </a:r>
                    </a:p>
                  </a:txBody>
                  <a:tcPr marL="101600" marR="101600" marT="38100" marB="38100" anchor="ctr">
                    <a:solidFill>
                      <a:srgbClr val="F4F2FA"/>
                    </a:solidFill>
                  </a:tcPr>
                </a:tc>
                <a:tc>
                  <a:txBody>
                    <a:bodyPr/>
                    <a:lstStyle/>
                    <a:p>
                      <a:r>
                        <a:rPr sz="1200" b="0" i="0">
                          <a:solidFill>
                            <a:srgbClr val="1A1440"/>
                          </a:solidFill>
                          <a:latin typeface="Calibri"/>
                        </a:rPr>
                        <a:t>the quarters hold different customers</a:t>
                      </a:r>
                    </a:p>
                  </a:txBody>
                  <a:tcPr marL="101600" marR="101600" marT="38100" marB="38100" anchor="ctr">
                    <a:solidFill>
                      <a:srgbClr val="F4F2FA"/>
                    </a:solidFill>
                  </a:tcPr>
                </a:tc>
                <a:tc>
                  <a:txBody>
                    <a:bodyPr/>
                    <a:lstStyle/>
                    <a:p>
                      <a:r>
                        <a:rPr sz="1200" b="0" i="0">
                          <a:solidFill>
                            <a:srgbClr val="1A1440"/>
                          </a:solidFill>
                          <a:latin typeface="Calibri"/>
                        </a:rPr>
                        <a:t>counts gaps between members as chance</a:t>
                      </a:r>
                    </a:p>
                  </a:txBody>
                  <a:tcPr marL="101600" marR="101600" marT="38100" marB="38100" anchor="ctr">
                    <a:solidFill>
                      <a:srgbClr val="F4F2FA"/>
                    </a:solidFill>
                  </a:tcPr>
                </a:tc>
              </a:tr>
              <a:tr h="542544">
                <a:tc>
                  <a:txBody>
                    <a:bodyPr/>
                    <a:lstStyle/>
                    <a:p>
                      <a:r>
                        <a:rPr sz="1200" b="0" i="0">
                          <a:solidFill>
                            <a:srgbClr val="1A1440"/>
                          </a:solidFill>
                          <a:latin typeface="Calibri"/>
                        </a:rPr>
                        <a:t>C. Textbook paired test</a:t>
                      </a:r>
                    </a:p>
                  </a:txBody>
                  <a:tcPr marL="101600" marR="101600" marT="38100" marB="38100" anchor="ctr">
                    <a:solidFill>
                      <a:srgbClr val="FFFFFF"/>
                    </a:solidFill>
                  </a:tcPr>
                </a:tc>
                <a:tc>
                  <a:txBody>
                    <a:bodyPr/>
                    <a:lstStyle/>
                    <a:p>
                      <a:r>
                        <a:rPr sz="1200" b="0" i="0">
                          <a:solidFill>
                            <a:srgbClr val="1A1440"/>
                          </a:solidFill>
                          <a:latin typeface="Calibri"/>
                        </a:rPr>
                        <a:t>22 differences, one call</a:t>
                      </a:r>
                    </a:p>
                  </a:txBody>
                  <a:tcPr marL="101600" marR="101600" marT="38100" marB="38100" anchor="ctr">
                    <a:solidFill>
                      <a:srgbClr val="FFFFFF"/>
                    </a:solidFill>
                  </a:tcPr>
                </a:tc>
                <a:tc>
                  <a:txBody>
                    <a:bodyPr/>
                    <a:lstStyle/>
                    <a:p>
                      <a:r>
                        <a:rPr sz="1200" b="0" i="0">
                          <a:solidFill>
                            <a:srgbClr val="1A1440"/>
                          </a:solidFill>
                          <a:latin typeface="Calibri"/>
                        </a:rPr>
                        <a:t>a bell-shaped average difference</a:t>
                      </a:r>
                    </a:p>
                  </a:txBody>
                  <a:tcPr marL="101600" marR="101600" marT="38100" marB="38100" anchor="ctr">
                    <a:solidFill>
                      <a:srgbClr val="FFFFFF"/>
                    </a:solidFill>
                  </a:tcPr>
                </a:tc>
                <a:tc>
                  <a:txBody>
                    <a:bodyPr/>
                    <a:lstStyle/>
                    <a:p>
                      <a:r>
                        <a:rPr sz="1200" b="0" i="0">
                          <a:solidFill>
                            <a:srgbClr val="1A1440"/>
                          </a:solidFill>
                          <a:latin typeface="Calibri"/>
                        </a:rPr>
                        <a:t>a formula on lumpy totals: 8 of 44 are zero</a:t>
                      </a:r>
                    </a:p>
                  </a:txBody>
                  <a:tcPr marL="101600" marR="101600" marT="38100" marB="38100" anchor="ctr">
                    <a:solidFill>
                      <a:srgbClr val="FFFFFF"/>
                    </a:solidFill>
                  </a:tcPr>
                </a:tc>
              </a:tr>
              <a:tr h="335280">
                <a:tc>
                  <a:txBody>
                    <a:bodyPr/>
                    <a:lstStyle/>
                    <a:p>
                      <a:r>
                        <a:rPr sz="1200" b="0" i="0">
                          <a:solidFill>
                            <a:srgbClr val="1A1440"/>
                          </a:solidFill>
                          <a:latin typeface="Calibri"/>
                        </a:rPr>
                        <a:t>D. Wait for Q3</a:t>
                      </a:r>
                    </a:p>
                  </a:txBody>
                  <a:tcPr marL="101600" marR="101600" marT="38100" marB="38100" anchor="ctr">
                    <a:solidFill>
                      <a:srgbClr val="F4F2FA"/>
                    </a:solidFill>
                  </a:tcPr>
                </a:tc>
                <a:tc>
                  <a:txBody>
                    <a:bodyPr/>
                    <a:lstStyle/>
                    <a:p>
                      <a:r>
                        <a:rPr sz="1200" b="0" i="0">
                          <a:solidFill>
                            <a:srgbClr val="1A1440"/>
                          </a:solidFill>
                          <a:latin typeface="Calibri"/>
                        </a:rPr>
                        <a:t>22 more member-quarters</a:t>
                      </a:r>
                    </a:p>
                  </a:txBody>
                  <a:tcPr marL="101600" marR="101600" marT="38100" marB="38100" anchor="ctr">
                    <a:solidFill>
                      <a:srgbClr val="F4F2FA"/>
                    </a:solidFill>
                  </a:tcPr>
                </a:tc>
                <a:tc>
                  <a:txBody>
                    <a:bodyPr/>
                    <a:lstStyle/>
                    <a:p>
                      <a:r>
                        <a:rPr sz="1200" b="0" i="0">
                          <a:solidFill>
                            <a:srgbClr val="1A1440"/>
                          </a:solidFill>
                          <a:latin typeface="Calibri"/>
                        </a:rPr>
                        <a:t>nothing new</a:t>
                      </a:r>
                    </a:p>
                  </a:txBody>
                  <a:tcPr marL="101600" marR="101600" marT="38100" marB="38100" anchor="ctr">
                    <a:solidFill>
                      <a:srgbClr val="F4F2FA"/>
                    </a:solidFill>
                  </a:tcPr>
                </a:tc>
                <a:tc>
                  <a:txBody>
                    <a:bodyPr/>
                    <a:lstStyle/>
                    <a:p>
                      <a:r>
                        <a:rPr sz="1200" b="0" i="0">
                          <a:solidFill>
                            <a:srgbClr val="1A1440"/>
                          </a:solidFill>
                          <a:latin typeface="Calibri"/>
                        </a:rPr>
                        <a:t>Monday passes unanswered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the same members sit in both quarters, so the test keeps each member's two quarters together.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Scale or different customers would switch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the flips?</a:t>
            </a:r>
          </a:p>
        </p:txBody>
      </p:sp>
      <p:pic>
        <p:nvPicPr>
          <p:cNvPr id="9" name="mermaid diagram" descr="47677069bec454b2.png"/>
          <p:cNvPicPr>
            <a:picLocks noChangeAspect="1"/>
          </p:cNvPicPr>
          <p:nvPr/>
        </p:nvPicPr>
        <p:blipFill>
          <a:blip r:embed="rId5"/>
          <a:stretch>
            <a:fillRect/>
          </a:stretch>
        </p:blipFill>
        <p:spPr>
          <a:xfrm>
            <a:off x="1314988" y="1664208"/>
            <a:ext cx="9561719" cy="3517391"/>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Thousands of well-behaved members make the textbook paired test the house standard; two groups of different customers make the label shuffle the test.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per member builds one chance-only world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quarter made no difference, what could each member's two quarters have been?</a:t>
            </a:r>
          </a:p>
        </p:txBody>
      </p:sp>
      <p:pic>
        <p:nvPicPr>
          <p:cNvPr id="9" name="mermaid diagram" descr="4b736892f360b984.png"/>
          <p:cNvPicPr>
            <a:picLocks noChangeAspect="1"/>
          </p:cNvPicPr>
          <p:nvPr/>
        </p:nvPicPr>
        <p:blipFill>
          <a:blip r:embed="rId5"/>
          <a:stretch>
            <a:fillRect/>
          </a:stretch>
        </p:blipFill>
        <p:spPr>
          <a:xfrm>
            <a:off x="530352" y="1956816"/>
            <a:ext cx="11130991" cy="1545971"/>
          </a:xfrm>
          <a:prstGeom prst="rect">
            <a:avLst/>
          </a:prstGeom>
        </p:spPr>
      </p:pic>
      <p:sp>
        <p:nvSpPr>
          <p:cNvPr id="10" name="TextBox 9"/>
          <p:cNvSpPr txBox="1"/>
          <p:nvPr/>
        </p:nvSpPr>
        <p:spPr>
          <a:xfrm>
            <a:off x="530352" y="3649091"/>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That share has a name, the p-value, and it is only ever a share of chance-only worlds.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members' cards: heads keeps, tails swaps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one chance-only world tossed by hand on five members?</a:t>
            </a:r>
          </a:p>
        </p:txBody>
      </p:sp>
      <p:graphicFrame>
        <p:nvGraphicFramePr>
          <p:cNvPr id="9" name="Table 8"/>
          <p:cNvGraphicFramePr>
            <a:graphicFrameLocks noGrp="1"/>
          </p:cNvGraphicFramePr>
          <p:nvPr/>
        </p:nvGraphicFramePr>
        <p:xfrm>
          <a:off x="530352" y="1956816"/>
          <a:ext cx="11130991" cy="2346960"/>
        </p:xfrm>
        <a:graphic>
          <a:graphicData uri="http://schemas.openxmlformats.org/drawingml/2006/table">
            <a:tbl>
              <a:tblPr firstRow="0" bandRow="0">
                <a:tableStyleId>{2D5ABB26-0587-4C30-8999-92F81FD0307C}</a:tableStyleId>
              </a:tblPr>
              <a:tblGrid>
                <a:gridCol w="914400"/>
                <a:gridCol w="914400"/>
                <a:gridCol w="914400"/>
                <a:gridCol w="8387791"/>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Q1, Rs</a:t>
                      </a:r>
                    </a:p>
                  </a:txBody>
                  <a:tcPr marL="101600" marR="101600" marT="38100" marB="38100" anchor="ctr">
                    <a:solidFill>
                      <a:srgbClr val="1A0F5C"/>
                    </a:solidFill>
                  </a:tcPr>
                </a:tc>
                <a:tc>
                  <a:txBody>
                    <a:bodyPr/>
                    <a:lstStyle/>
                    <a:p>
                      <a:r>
                        <a:rPr sz="1250" b="1" i="0">
                          <a:solidFill>
                            <a:srgbClr val="FFFFFF"/>
                          </a:solidFill>
                          <a:latin typeface="Calibri"/>
                        </a:rPr>
                        <a:t>Q2, Rs</a:t>
                      </a:r>
                    </a:p>
                  </a:txBody>
                  <a:tcPr marL="101600" marR="101600" marT="38100" marB="38100" anchor="ctr">
                    <a:solidFill>
                      <a:srgbClr val="1A0F5C"/>
                    </a:solidFill>
                  </a:tcPr>
                </a:tc>
                <a:tc>
                  <a:txBody>
                    <a:bodyPr/>
                    <a:lstStyle/>
                    <a:p>
                      <a:r>
                        <a:rPr sz="1250" b="1" i="0">
                          <a:solidFill>
                            <a:srgbClr val="FFFFFF"/>
                          </a:solidFill>
                          <a:latin typeface="Calibri"/>
                        </a:rPr>
                        <a:t>Q1 less Q2, Rs</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3,400</a:t>
                      </a:r>
                    </a:p>
                  </a:txBody>
                  <a:tcPr marL="101600" marR="101600" marT="38100" marB="38100" anchor="ctr">
                    <a:solidFill>
                      <a:srgbClr val="FFFFFF"/>
                    </a:solidFill>
                  </a:tcPr>
                </a:tc>
                <a:tc>
                  <a:txBody>
                    <a:bodyPr/>
                    <a:lstStyle/>
                    <a:p>
                      <a:r>
                        <a:rPr sz="1200" b="0" i="0">
                          <a:solidFill>
                            <a:srgbClr val="1A1440"/>
                          </a:solidFill>
                          <a:latin typeface="Calibri"/>
                        </a:rPr>
                        <a:t>2,400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2,900</a:t>
                      </a:r>
                    </a:p>
                  </a:txBody>
                  <a:tcPr marL="101600" marR="101600" marT="38100" marB="38100" anchor="ctr">
                    <a:solidFill>
                      <a:srgbClr val="F4F2FA"/>
                    </a:solidFill>
                  </a:tcPr>
                </a:tc>
                <a:tc>
                  <a:txBody>
                    <a:bodyPr/>
                    <a:lstStyle/>
                    <a:p>
                      <a:r>
                        <a:rPr sz="1200" b="0" i="0">
                          <a:solidFill>
                            <a:srgbClr val="1A1440"/>
                          </a:solidFill>
                          <a:latin typeface="Calibri"/>
                        </a:rPr>
                        <a:t>2,200</a:t>
                      </a:r>
                    </a:p>
                  </a:txBody>
                  <a:tcPr marL="101600" marR="101600" marT="38100" marB="38100" anchor="ctr">
                    <a:solidFill>
                      <a:srgbClr val="F4F2FA"/>
                    </a:solidFill>
                  </a:tcPr>
                </a:tc>
                <a:tc>
                  <a:txBody>
                    <a:bodyPr/>
                    <a:lstStyle/>
                    <a:p>
                      <a:r>
                        <a:rPr sz="1200" b="0" i="0">
                          <a:solidFill>
                            <a:srgbClr val="1A1440"/>
                          </a:solidFill>
                          <a:latin typeface="Calibri"/>
                        </a:rPr>
                        <a:t>700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c>
                  <a:txBody>
                    <a:bodyPr/>
                    <a:lstStyle/>
                    <a:p>
                      <a:r>
                        <a:rPr sz="1200" b="0" i="0">
                          <a:solidFill>
                            <a:srgbClr val="1A1440"/>
                          </a:solidFill>
                          <a:latin typeface="Calibri"/>
                        </a:rPr>
                        <a:t>3,100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2,500</a:t>
                      </a:r>
                    </a:p>
                  </a:txBody>
                  <a:tcPr marL="101600" marR="101600" marT="38100" marB="38100" anchor="ctr">
                    <a:solidFill>
                      <a:srgbClr val="F4F2FA"/>
                    </a:solidFill>
                  </a:tcPr>
                </a:tc>
                <a:tc>
                  <a:txBody>
                    <a:bodyPr/>
                    <a:lstStyle/>
                    <a:p>
                      <a:r>
                        <a:rPr sz="1200" b="0" i="0">
                          <a:solidFill>
                            <a:srgbClr val="1A1440"/>
                          </a:solidFill>
                          <a:latin typeface="Calibri"/>
                        </a:rPr>
                        <a:t>1,900</a:t>
                      </a:r>
                    </a:p>
                  </a:txBody>
                  <a:tcPr marL="101600" marR="101600" marT="38100" marB="38100" anchor="ctr">
                    <a:solidFill>
                      <a:srgbClr val="F4F2FA"/>
                    </a:solidFill>
                  </a:tcPr>
                </a:tc>
                <a:tc>
                  <a:txBody>
                    <a:bodyPr/>
                    <a:lstStyle/>
                    <a:p>
                      <a:r>
                        <a:rPr sz="1200" b="0" i="0">
                          <a:solidFill>
                            <a:srgbClr val="1A1440"/>
                          </a:solidFill>
                          <a:latin typeface="Calibri"/>
                        </a:rPr>
                        <a:t>600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3,800</a:t>
                      </a:r>
                    </a:p>
                  </a:txBody>
                  <a:tcPr marL="101600" marR="101600" marT="38100" marB="38100" anchor="ctr">
                    <a:solidFill>
                      <a:srgbClr val="FFFFFF"/>
                    </a:solidFill>
                  </a:tcPr>
                </a:tc>
                <a:tc>
                  <a:txBody>
                    <a:bodyPr/>
                    <a:lstStyle/>
                    <a:p>
                      <a:r>
                        <a:rPr sz="1200" b="0" i="0">
                          <a:solidFill>
                            <a:srgbClr val="1A1440"/>
                          </a:solidFill>
                          <a:latin typeface="Calibri"/>
                        </a:rPr>
                        <a:t>2,700</a:t>
                      </a:r>
                    </a:p>
                  </a:txBody>
                  <a:tcPr marL="101600" marR="101600" marT="38100" marB="38100" anchor="ctr">
                    <a:solidFill>
                      <a:srgbClr val="FFFFFF"/>
                    </a:solidFill>
                  </a:tcPr>
                </a:tc>
                <a:tc>
                  <a:txBody>
                    <a:bodyPr/>
                    <a:lstStyle/>
                    <a:p>
                      <a:r>
                        <a:rPr sz="1200" b="0" i="0">
                          <a:solidFill>
                            <a:srgbClr val="1A1440"/>
                          </a:solidFill>
                          <a:latin typeface="Calibri"/>
                        </a:rPr>
                        <a:t>1,100</a:t>
                      </a:r>
                    </a:p>
                  </a:txBody>
                  <a:tcPr marL="101600" marR="101600" marT="38100" marB="38100" anchor="ctr">
                    <a:solidFill>
                      <a:srgbClr val="FFFFFF"/>
                    </a:solidFill>
                  </a:tcPr>
                </a:tc>
              </a:tr>
              <a:tr h="335280">
                <a:tc>
                  <a:txBody>
                    <a:bodyPr/>
                    <a:lstStyle/>
                    <a:p>
                      <a:r>
                        <a:rPr sz="1200" b="1" i="0">
                          <a:solidFill>
                            <a:srgbClr val="1A1440"/>
                          </a:solidFill>
                          <a:latin typeface="Calibri"/>
                        </a:rPr>
                        <a:t>Mean</a:t>
                      </a:r>
                    </a:p>
                  </a:txBody>
                  <a:tcPr marL="101600" marR="101600" marT="38100" marB="38100" anchor="ctr">
                    <a:solidFill>
                      <a:srgbClr val="F4F2FA"/>
                    </a:solidFill>
                  </a:tcPr>
                </a:tc>
                <a:tc>
                  <a:txBody>
                    <a:bodyPr/>
                    <a:lstStyle/>
                    <a:p>
                      <a:r>
                        <a:rPr sz="1200" b="1" i="0">
                          <a:solidFill>
                            <a:srgbClr val="1A1440"/>
                          </a:solidFill>
                          <a:latin typeface="Calibri"/>
                        </a:rPr>
                        <a:t>3,340</a:t>
                      </a:r>
                    </a:p>
                  </a:txBody>
                  <a:tcPr marL="101600" marR="101600" marT="38100" marB="38100" anchor="ctr">
                    <a:solidFill>
                      <a:srgbClr val="F4F2FA"/>
                    </a:solidFill>
                  </a:tcPr>
                </a:tc>
                <a:tc>
                  <a:txBody>
                    <a:bodyPr/>
                    <a:lstStyle/>
                    <a:p>
                      <a:r>
                        <a:rPr sz="1200" b="1" i="0">
                          <a:solidFill>
                            <a:srgbClr val="1A1440"/>
                          </a:solidFill>
                          <a:latin typeface="Calibri"/>
                        </a:rPr>
                        <a:t>2,460</a:t>
                      </a:r>
                    </a:p>
                  </a:txBody>
                  <a:tcPr marL="101600" marR="101600" marT="38100" marB="38100" anchor="ctr">
                    <a:solidFill>
                      <a:srgbClr val="F4F2FA"/>
                    </a:solidFill>
                  </a:tcPr>
                </a:tc>
                <a:tc>
                  <a:txBody>
                    <a:bodyPr/>
                    <a:lstStyle/>
                    <a:p>
                      <a:r>
                        <a:rPr sz="1200" b="1" i="0">
                          <a:solidFill>
                            <a:srgbClr val="1A1440"/>
                          </a:solidFill>
                          <a:latin typeface="Calibri"/>
                        </a:rPr>
                        <a:t>880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Invented for the table. The real gap is Rs 880. Toss a coin per member: heads keeps the pair, tails swaps it, so that member's difference changes sign. Add the five signed differences, divide by five, and write the gap. Ten tosses per pair.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a gap of Rs 880 surprising?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None of the room's ten tosses reached Rs 880: what do you say?</a:t>
            </a:r>
          </a:p>
        </p:txBody>
      </p:sp>
      <p:pic>
        <p:nvPicPr>
          <p:cNvPr id="9" name="mermaid diagram" descr="26bce85057a1e9fc.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None of the ten tosses reached Rs 880. What do you say? a) the gap is real, since no toss reached it; b) chance never makes 880, so it is a finding; c) ten tosses are too few to say, so run many more; d) nothing, since tossing destroys the data.</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ten tosses cannot measure a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 coin tosses on five members' cards make a gap of Rs 880?</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TOSSES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five coins each, seeded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GAPS OF RS 880 OR MORE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chance-only worlds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EXACT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 in 32 counting either way</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Ten hand tosses taught what a flip is; a thousand measure how rare the real gap is, and with five members the rarest a gap can be is 1 in 32.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flip is five lines, each a step done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coin per member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diffs = [a - b for a, b in zip(q1, q2)]    # each member's Q1 less Q2</a:t>
            </a:r>
          </a:p>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coins = [d if random.random() &lt; 0.5 else -d for d in diffs]</a:t>
            </a:r>
          </a:p>
          <a:p>
            <a:pPr>
              <a:spcAft>
                <a:spcPts val="200"/>
              </a:spcAft>
            </a:pPr>
            <a:r>
              <a:rPr sz="1400" b="0" i="0">
                <a:solidFill>
                  <a:srgbClr val="E4E1F1"/>
                </a:solidFill>
                <a:latin typeface="Consolas"/>
              </a:rPr>
              <a:t>    gaps.append(mean(coins))                # heads keeps, tails swaps</a:t>
            </a:r>
          </a:p>
          <a:p>
            <a:pPr>
              <a:spcAft>
                <a:spcPts val="200"/>
              </a:spcAft>
            </a:pPr>
            <a:r>
              <a:rPr sz="1400" b="0" i="0">
                <a:solidFill>
                  <a:srgbClr val="E4E1F1"/>
                </a:solidFill>
                <a:latin typeface="Consolas"/>
              </a:rPr>
              <a:t>share = sum(g &gt;= real for g in gaps)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counts the worlds with a gap at least as large as the real one, which is the share the cards counted by hand.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Retail-Core's Rs 110 fall: a third of flips match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usual wobble look like on Retail-Core?</a:t>
            </a:r>
          </a:p>
        </p:txBody>
      </p:sp>
      <p:pic>
        <p:nvPicPr>
          <p:cNvPr id="9" name="mermaid diagram" descr="9b0006ceb7e57d47.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real gap is Rs 110 across 34 members. 1,789 of the 5,000 flips made a fall at least that large, a share of 0.36, and 3,617 a move that large either way: an ordinary quarter.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match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the same flips on the segment Meera asked about: will chance make its fall as often?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measure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Delivered revenue per Retail-Plus member, Q1 and Q2.</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real gap</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printed in rupees before any flip runs.</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The flips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5,000, seed 2026: the share at least as large, then the share either way.</a:t>
            </a:r>
          </a:p>
        </p:txBody>
      </p:sp>
      <p:sp>
        <p:nvSpPr>
          <p:cNvPr id="25" name="Rounded Rectangle 24"/>
          <p:cNvSpPr/>
          <p:nvPr/>
        </p:nvSpPr>
        <p:spPr>
          <a:xfrm>
            <a:off x="530352" y="4103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4231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422249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Retail-Core's third, Retail-Plus's share will be: a) about the same; b) larger, since the segment is smaller; c) much smaller, if its fall is bigger than chance makes; d) impossible to compute, since some members have zeros.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2" name="Oval 31"/>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4" name="Oval 3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6" name="Oval 3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145 of 5,000 flips, and 286 either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fall as large as Retail-Plus's?</a:t>
            </a:r>
          </a:p>
        </p:txBody>
      </p:sp>
      <p:pic>
        <p:nvPicPr>
          <p:cNvPr id="9" name="mermaid diagram" descr="a85720c6a6366321.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Retail-Plus members delivered Rs 3,279 each in Q1 and Rs 2,169 in Q2, a fall of Rs 1,110. Counting falls, 145 of 5,000 flips made one that large (0.029); counting either way, 286 did (0.057).</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3% chance we're wrong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share say about the chance that the finding is wrong?</a:t>
            </a:r>
          </a:p>
        </p:txBody>
      </p:sp>
      <p:pic>
        <p:nvPicPr>
          <p:cNvPr id="9" name="mermaid diagram" descr="eb6c9721ff9c8c25.png"/>
          <p:cNvPicPr>
            <a:picLocks noChangeAspect="1"/>
          </p:cNvPicPr>
          <p:nvPr/>
        </p:nvPicPr>
        <p:blipFill>
          <a:blip r:embed="rId6"/>
          <a:stretch>
            <a:fillRect/>
          </a:stretch>
        </p:blipFill>
        <p:spPr>
          <a:xfrm>
            <a:off x="2152497" y="1956816"/>
            <a:ext cx="7886700" cy="2100262"/>
          </a:xfrm>
          <a:prstGeom prst="rect">
            <a:avLst/>
          </a:prstGeom>
        </p:spPr>
      </p:pic>
      <p:sp>
        <p:nvSpPr>
          <p:cNvPr id="10" name="Rounded Rectangle 9"/>
          <p:cNvSpPr/>
          <p:nvPr/>
        </p:nvSpPr>
        <p:spPr>
          <a:xfrm>
            <a:off x="530352" y="420338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3561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64534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69142"/>
            <a:ext cx="9987991" cy="682752"/>
          </a:xfrm>
          <a:prstGeom prst="rect">
            <a:avLst/>
          </a:prstGeom>
          <a:noFill/>
        </p:spPr>
        <p:txBody>
          <a:bodyPr wrap="square" anchor="t" lIns="0" rIns="0" tIns="0" bIns="0">
            <a:spAutoFit/>
          </a:bodyPr>
          <a:lstStyle/>
          <a:p>
            <a:r>
              <a:rPr sz="1500" b="0" i="0">
                <a:solidFill>
                  <a:srgbClr val="1A1440"/>
                </a:solidFill>
                <a:latin typeface="Calibri"/>
              </a:rPr>
              <a:t>"p = 0.03, so there is a 3% chance we are wrong about the drop" reads as precise, sounds like probability, and sends Meera into Monday certain.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counted where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which world was the share counted, and what does that make it?</a:t>
            </a:r>
          </a:p>
        </p:txBody>
      </p:sp>
      <p:pic>
        <p:nvPicPr>
          <p:cNvPr id="9" name="mermaid diagram" descr="4ff8f4861b932a5d.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Every flip assumed the quarter made no difference. One no-change segment came back at 0.003: its note would say "a 0.3 percent chance we are wrong", and it would be wrong for certain.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share, its world, both directions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does the share support?</a:t>
            </a:r>
          </a:p>
        </p:txBody>
      </p:sp>
      <p:graphicFrame>
        <p:nvGraphicFramePr>
          <p:cNvPr id="9" name="Table 8"/>
          <p:cNvGraphicFramePr>
            <a:graphicFrameLocks noGrp="1"/>
          </p:cNvGraphicFramePr>
          <p:nvPr/>
        </p:nvGraphicFramePr>
        <p:xfrm>
          <a:off x="530352" y="1956816"/>
          <a:ext cx="11130990" cy="2446528"/>
        </p:xfrm>
        <a:graphic>
          <a:graphicData uri="http://schemas.openxmlformats.org/drawingml/2006/table">
            <a:tbl>
              <a:tblPr firstRow="0" bandRow="0">
                <a:tableStyleId>{2D5ABB26-0587-4C30-8999-92F81FD0307C}</a:tableStyleId>
              </a:tblPr>
              <a:tblGrid>
                <a:gridCol w="4321384"/>
                <a:gridCol w="6809606"/>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Rewritten</a:t>
                      </a:r>
                    </a:p>
                  </a:txBody>
                  <a:tcPr marL="101600" marR="101600" marT="38100" marB="38100" anchor="ctr">
                    <a:solidFill>
                      <a:srgbClr val="1A0F5C"/>
                    </a:solidFill>
                  </a:tcPr>
                </a:tc>
              </a:tr>
              <a:tr h="853440">
                <a:tc>
                  <a:txBody>
                    <a:bodyPr/>
                    <a:lstStyle/>
                    <a:p>
                      <a:r>
                        <a:rPr sz="1400" b="0" i="0">
                          <a:solidFill>
                            <a:srgbClr val="1A1440"/>
                          </a:solidFill>
                          <a:latin typeface="Calibri"/>
                        </a:rPr>
                        <a:t>"There is a 3% chance we are wrong."</a:t>
                      </a:r>
                    </a:p>
                  </a:txBody>
                  <a:tcPr marL="101600" marR="101600" marT="38100" marB="38100" anchor="ctr">
                    <a:solidFill>
                      <a:srgbClr val="FFFFFF"/>
                    </a:solidFill>
                  </a:tcPr>
                </a:tc>
                <a:tc>
                  <a:txBody>
                    <a:bodyPr/>
                    <a:lstStyle/>
                    <a:p>
                      <a:r>
                        <a:rPr sz="1400" b="0" i="0">
                          <a:solidFill>
                            <a:srgbClr val="1A1440"/>
                          </a:solidFill>
                          <a:latin typeface="Calibri"/>
                        </a:rPr>
                        <a:t>"If nothing had changed between the quarters, a fall of Rs 1,110 per member or more would turn up in about 3 of every 100 flips, and a move that large either way in about 6."</a:t>
                      </a:r>
                    </a:p>
                  </a:txBody>
                  <a:tcPr marL="101600" marR="101600" marT="38100" marB="38100" anchor="ctr">
                    <a:solidFill>
                      <a:srgbClr val="FFFFFF"/>
                    </a:solidFill>
                  </a:tcPr>
                </a:tc>
              </a:tr>
              <a:tr h="611632">
                <a:tc>
                  <a:txBody>
                    <a:bodyPr/>
                    <a:lstStyle/>
                    <a:p>
                      <a:r>
                        <a:rPr sz="1400" b="0" i="0">
                          <a:solidFill>
                            <a:srgbClr val="1A1440"/>
                          </a:solidFill>
                          <a:latin typeface="Calibri"/>
                        </a:rPr>
                        <a:t>"The drop is 97 percent certain."</a:t>
                      </a:r>
                    </a:p>
                  </a:txBody>
                  <a:tcPr marL="101600" marR="101600" marT="38100" marB="38100" anchor="ctr">
                    <a:solidFill>
                      <a:srgbClr val="F4F2FA"/>
                    </a:solidFill>
                  </a:tcPr>
                </a:tc>
                <a:tc>
                  <a:txBody>
                    <a:bodyPr/>
                    <a:lstStyle/>
                    <a:p>
                      <a:r>
                        <a:rPr sz="1400" b="0" i="0">
                          <a:solidFill>
                            <a:srgbClr val="1A1440"/>
                          </a:solidFill>
                          <a:latin typeface="Calibri"/>
                        </a:rPr>
                        <a:t>"The question came after the fall was seen, so we read it as borderline: well outside the usual wobble, at the edge of what chance makes."</a:t>
                      </a:r>
                    </a:p>
                  </a:txBody>
                  <a:tcPr marL="101600" marR="101600" marT="38100" marB="38100" anchor="ctr">
                    <a:solidFill>
                      <a:srgbClr val="F4F2FA"/>
                    </a:solidFill>
                  </a:tcPr>
                </a:tc>
              </a:tr>
              <a:tr h="611632">
                <a:tc>
                  <a:txBody>
                    <a:bodyPr/>
                    <a:lstStyle/>
                    <a:p>
                      <a:r>
                        <a:rPr sz="1400" b="0" i="0">
                          <a:solidFill>
                            <a:srgbClr val="1A1440"/>
                          </a:solidFill>
                          <a:latin typeface="Calibri"/>
                        </a:rPr>
                        <a:t>"p = 0.03, so it is significant."</a:t>
                      </a:r>
                    </a:p>
                  </a:txBody>
                  <a:tcPr marL="101600" marR="101600" marT="38100" marB="38100" anchor="ctr">
                    <a:solidFill>
                      <a:srgbClr val="FFFFFF"/>
                    </a:solidFill>
                  </a:tcPr>
                </a:tc>
                <a:tc>
                  <a:txBody>
                    <a:bodyPr/>
                    <a:lstStyle/>
                    <a:p>
                      <a:r>
                        <a:rPr sz="1400" b="0" i="0">
                          <a:solidFill>
                            <a:srgbClr val="1A1440"/>
                          </a:solidFill>
                          <a:latin typeface="Calibri"/>
                        </a:rPr>
                        <a:t>"It is more than the usual wobble by a borderline margin; its size is the next question."</a:t>
                      </a:r>
                    </a:p>
                  </a:txBody>
                  <a:tcPr marL="101600" marR="101600" marT="38100" marB="38100" anchor="ctr">
                    <a:solidFill>
                      <a:srgbClr val="FFFFFF"/>
                    </a:solidFill>
                  </a:tcPr>
                </a:tc>
              </a:tr>
            </a:tbl>
          </a:graphicData>
        </a:graphic>
      </p:graphicFrame>
      <p:sp>
        <p:nvSpPr>
          <p:cNvPr id="10" name="Rounded Rectangle 9"/>
          <p:cNvSpPr/>
          <p:nvPr/>
        </p:nvSpPr>
        <p:spPr>
          <a:xfrm>
            <a:off x="530352" y="46593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62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971796"/>
            <a:ext cx="237744" cy="237744"/>
          </a:xfrm>
          <a:prstGeom prst="rect">
            <a:avLst/>
          </a:prstGeom>
        </p:spPr>
      </p:pic>
      <p:sp>
        <p:nvSpPr>
          <p:cNvPr id="13" name="TextBox 12"/>
          <p:cNvSpPr txBox="1"/>
          <p:nvPr/>
        </p:nvSpPr>
        <p:spPr>
          <a:xfrm>
            <a:off x="1399031" y="4805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5136"/>
            <a:ext cx="9987991" cy="423672"/>
          </a:xfrm>
          <a:prstGeom prst="rect">
            <a:avLst/>
          </a:prstGeom>
          <a:noFill/>
        </p:spPr>
        <p:txBody>
          <a:bodyPr wrap="square" anchor="t" lIns="0" rIns="0" tIns="0" bIns="0">
            <a:spAutoFit/>
          </a:bodyPr>
          <a:lstStyle/>
          <a:p>
            <a:r>
              <a:rPr sz="1500" b="0" i="0">
                <a:solidFill>
                  <a:srgbClr val="1A1440"/>
                </a:solidFill>
                <a:latin typeface="Calibri"/>
              </a:rPr>
              <a:t>A p-value is a share of chance-only worlds; it is never the chance the finding is wrong.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86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pattern and the paired test agree: 0.027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textbook paired test and an exact count reach the same reading?</a:t>
            </a:r>
          </a:p>
        </p:txBody>
      </p:sp>
      <p:pic>
        <p:nvPicPr>
          <p:cNvPr id="9" name="mermaid diagram" descr="4ec5408e284f5ee0.png"/>
          <p:cNvPicPr>
            <a:picLocks noChangeAspect="1"/>
          </p:cNvPicPr>
          <p:nvPr/>
        </p:nvPicPr>
        <p:blipFill>
          <a:blip r:embed="rId5"/>
          <a:stretch>
            <a:fillRect/>
          </a:stretch>
        </p:blipFill>
        <p:spPr>
          <a:xfrm>
            <a:off x="2839567" y="1664208"/>
            <a:ext cx="6512559"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Either way, the three paired routes give 0.055 to 0.057. The last two bars ignore the pairing, and land close only because a member's Q1 barely predicts their Q2 here. </a:t>
            </a:r>
            <a:r>
              <a:rPr sz="1600" b="1" i="0">
                <a:solidFill>
                  <a:srgbClr val="1A1440"/>
                </a:solidFill>
                <a:latin typeface="Calibri"/>
              </a:rPr>
              <a:t>When to switch.</a:t>
            </a:r>
            <a:r>
              <a:rPr sz="1600" b="0" i="0">
                <a:solidFill>
                  <a:srgbClr val="1A1440"/>
                </a:solidFill>
                <a:latin typeface="Calibri"/>
              </a:rPr>
              <a:t> The textbook paired call for thousands of well-behaved members or a team standard; the flips for few members or lumpy data, or when the reader needs to see how it was made.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outside the wobble, at chance's edge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Retail-Plus fall real, or the wobble Kalpa sees every 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12298"/>
                <a:gridCol w="651869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22 members twice?</a:t>
                      </a:r>
                    </a:p>
                  </a:txBody>
                  <a:tcPr marL="101600" marR="101600" marT="38100" marB="38100" anchor="ctr">
                    <a:solidFill>
                      <a:srgbClr val="FFFFFF"/>
                    </a:solidFill>
                  </a:tcPr>
                </a:tc>
                <a:tc>
                  <a:txBody>
                    <a:bodyPr/>
                    <a:lstStyle/>
                    <a:p>
                      <a:r>
                        <a:rPr sz="900" b="0" i="0">
                          <a:solidFill>
                            <a:srgbClr val="1A1440"/>
                          </a:solidFill>
                          <a:latin typeface="Calibri"/>
                        </a:rPr>
                        <a:t>Flip each member's pair; 8 of 44 totals are zero</a:t>
                      </a:r>
                    </a:p>
                  </a:txBody>
                  <a:tcPr marL="101600" marR="101600" marT="38100" marB="38100" anchor="ctr">
                    <a:solidFill>
                      <a:srgbClr val="FFFFFF"/>
                    </a:solidFill>
                  </a:tcPr>
                </a:tc>
              </a:tr>
              <a:tr h="310896">
                <a:tc>
                  <a:txBody>
                    <a:bodyPr/>
                    <a:lstStyle/>
                    <a:p>
                      <a:r>
                        <a:rPr sz="900" b="0" i="0">
                          <a:solidFill>
                            <a:srgbClr val="1A1440"/>
                          </a:solidFill>
                          <a:latin typeface="Calibri"/>
                        </a:rPr>
                        <a:t>2. Is Rs 880 surprising?</a:t>
                      </a:r>
                    </a:p>
                  </a:txBody>
                  <a:tcPr marL="101600" marR="101600" marT="38100" marB="38100" anchor="ctr">
                    <a:solidFill>
                      <a:srgbClr val="F4F2FA"/>
                    </a:solidFill>
                  </a:tcPr>
                </a:tc>
                <a:tc>
                  <a:txBody>
                    <a:bodyPr/>
                    <a:lstStyle/>
                    <a:p>
                      <a:r>
                        <a:rPr sz="900" b="0" i="0">
                          <a:solidFill>
                            <a:srgbClr val="1A1440"/>
                          </a:solidFill>
                          <a:latin typeface="Calibri"/>
                        </a:rPr>
                        <a:t>35 of 1,000 tosses; exactly 1 of 32 patterns</a:t>
                      </a:r>
                    </a:p>
                  </a:txBody>
                  <a:tcPr marL="101600" marR="101600" marT="38100" marB="38100" anchor="ctr">
                    <a:solidFill>
                      <a:srgbClr val="F4F2FA"/>
                    </a:solidFill>
                  </a:tcPr>
                </a:tc>
              </a:tr>
              <a:tr h="310896">
                <a:tc>
                  <a:txBody>
                    <a:bodyPr/>
                    <a:lstStyle/>
                    <a:p>
                      <a:r>
                        <a:rPr sz="900" b="0" i="0">
                          <a:solidFill>
                            <a:srgbClr val="1A1440"/>
                          </a:solidFill>
                          <a:latin typeface="Calibri"/>
                        </a:rPr>
                        <a:t>3. What is the usual wobble?</a:t>
                      </a:r>
                    </a:p>
                  </a:txBody>
                  <a:tcPr marL="101600" marR="101600" marT="38100" marB="38100" anchor="ctr">
                    <a:solidFill>
                      <a:srgbClr val="FFFFFF"/>
                    </a:solidFill>
                  </a:tcPr>
                </a:tc>
                <a:tc>
                  <a:txBody>
                    <a:bodyPr/>
                    <a:lstStyle/>
                    <a:p>
                      <a:r>
                        <a:rPr sz="900" b="0" i="0">
                          <a:solidFill>
                            <a:srgbClr val="1A1440"/>
                          </a:solidFill>
                          <a:latin typeface="Calibri"/>
                        </a:rPr>
                        <a:t>Retail-Core's Rs 110: 0.358 falls, 0.723 either way</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Rs 1,110: 0.029 counting falls, 0.057 either way</a:t>
                      </a:r>
                    </a:p>
                  </a:txBody>
                  <a:tcPr marL="101600" marR="101600" marT="38100" marB="38100" anchor="ctr">
                    <a:solidFill>
                      <a:srgbClr val="F4F2FA"/>
                    </a:solidFill>
                  </a:tcPr>
                </a:tc>
              </a:tr>
              <a:tr h="310896">
                <a:tc>
                  <a:txBody>
                    <a:bodyPr/>
                    <a:lstStyle/>
                    <a:p>
                      <a:r>
                        <a:rPr sz="900" b="0" i="0">
                          <a:solidFill>
                            <a:srgbClr val="1A1440"/>
                          </a:solidFill>
                          <a:latin typeface="Calibri"/>
                        </a:rPr>
                        <a:t>5. What does a share never say?</a:t>
                      </a:r>
                    </a:p>
                  </a:txBody>
                  <a:tcPr marL="101600" marR="101600" marT="38100" marB="38100" anchor="ctr">
                    <a:solidFill>
                      <a:srgbClr val="FFFFFF"/>
                    </a:solidFill>
                  </a:tcPr>
                </a:tc>
                <a:tc>
                  <a:txBody>
                    <a:bodyPr/>
                    <a:lstStyle/>
                    <a:p>
                      <a:r>
                        <a:rPr sz="900" b="0" i="0">
                          <a:solidFill>
                            <a:srgbClr val="1A1440"/>
                          </a:solidFill>
                          <a:latin typeface="Calibri"/>
                        </a:rPr>
                        <a:t>The chance that the finding is wrong</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pattern 0.027, the paired test 0.0275</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Retail-Core's third is the wobble. Retail-Plus sits at about 3 in 100 counting falls and 6 in 100 either way, three routes that keep each member's pair agree, and you said which direction you counted and why. Borderline is an honest answer. Now tell me how much money it is.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does p = 0.03 mean, and not mean? [S] How do you know whether a change in a metric is significant?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86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Worth acting on?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fall edges past chance: is it big enough, in rupees against what a fix costs, to act 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budget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wants a retention budget, and Meera weighs it against every other line in the quarter. A wrong call funds an offer that cannot pay back, or ignores a fall that keeps draining the tier.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Monday use?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Break-even, range, test, benchmark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in rupees?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Per member and for the tier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Against the company?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the quarter's money sits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Smallest share first?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an offer win back?</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Rs 500 offer, priced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How small could it be?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range of the members' falls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for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tier's head want, and what is missing before anyone talks money?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my tier really is slipping. What do I get to fix it?" The head of Retail-Plus, before the growth review</a:t>
            </a:r>
          </a:p>
        </p:txBody>
      </p:sp>
      <p:pic>
        <p:nvPicPr>
          <p:cNvPr id="14" name="mermaid diagram" descr="bfa9a946d5518e51.png"/>
          <p:cNvPicPr>
            <a:picLocks noChangeAspect="1"/>
          </p:cNvPicPr>
          <p:nvPr/>
        </p:nvPicPr>
        <p:blipFill>
          <a:blip r:embed="rId6"/>
          <a:stretch>
            <a:fillRect/>
          </a:stretch>
        </p:blipFill>
        <p:spPr>
          <a:xfrm>
            <a:off x="2152497" y="3243072"/>
            <a:ext cx="7886700" cy="19145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Microsoft Bing: the size in money decided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told one change from the rest by its size in money?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LIFT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change to how Bing showed ad headlines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US ALONE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Thomke, HBR, 2017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in 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EXPERIMENTS THAT HELPED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Kohavi and others, Microsoft, 2009</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test that says "real" starts the question, and the rupees beside the cost finish it.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Break-even for Monday, with the range as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"worth acting on?" can Monday use?</a:t>
            </a:r>
          </a:p>
        </p:txBody>
      </p:sp>
      <p:graphicFrame>
        <p:nvGraphicFramePr>
          <p:cNvPr id="9" name="Table 8"/>
          <p:cNvGraphicFramePr>
            <a:graphicFrameLocks noGrp="1"/>
          </p:cNvGraphicFramePr>
          <p:nvPr/>
        </p:nvGraphicFramePr>
        <p:xfrm>
          <a:off x="530352" y="1956816"/>
          <a:ext cx="11130989" cy="2816352"/>
        </p:xfrm>
        <a:graphic>
          <a:graphicData uri="http://schemas.openxmlformats.org/drawingml/2006/table">
            <a:tbl>
              <a:tblPr firstRow="0" bandRow="0">
                <a:tableStyleId>{2D5ABB26-0587-4C30-8999-92F81FD0307C}</a:tableStyleId>
              </a:tblPr>
              <a:tblGrid>
                <a:gridCol w="2292921"/>
                <a:gridCol w="4419034"/>
                <a:gridCol w="441903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Break-even on the estimate</a:t>
                      </a:r>
                    </a:p>
                  </a:txBody>
                  <a:tcPr marL="101600" marR="101600" marT="38100" marB="38100" anchor="ctr">
                    <a:solidFill>
                      <a:srgbClr val="FFFFFF"/>
                    </a:solidFill>
                  </a:tcPr>
                </a:tc>
                <a:tc>
                  <a:txBody>
                    <a:bodyPr/>
                    <a:lstStyle/>
                    <a:p>
                      <a:r>
                        <a:rPr sz="1400" b="0" i="0">
                          <a:solidFill>
                            <a:srgbClr val="1A1440"/>
                          </a:solidFill>
                          <a:latin typeface="Calibri"/>
                        </a:rPr>
                        <a:t>The fall against the company's quarter and the offer's cost</a:t>
                      </a:r>
                    </a:p>
                  </a:txBody>
                  <a:tcPr marL="101600" marR="101600" marT="38100" marB="38100" anchor="ctr">
                    <a:solidFill>
                      <a:srgbClr val="FFFFFF"/>
                    </a:solidFill>
                  </a:tcPr>
                </a:tc>
                <a:tc>
                  <a:txBody>
                    <a:bodyPr/>
                    <a:lstStyle/>
                    <a:p>
                      <a:r>
                        <a:rPr sz="1400" b="0" i="0">
                          <a:solidFill>
                            <a:srgbClr val="1A1440"/>
                          </a:solidFill>
                          <a:latin typeface="Calibri"/>
                        </a:rPr>
                        <a:t>Treats Rs 1,110 as the true fall</a:t>
                      </a:r>
                    </a:p>
                  </a:txBody>
                  <a:tcPr marL="101600" marR="101600" marT="38100" marB="38100" anchor="ctr">
                    <a:solidFill>
                      <a:srgbClr val="FFFFFF"/>
                    </a:solidFill>
                  </a:tcPr>
                </a:tc>
              </a:tr>
              <a:tr h="611632">
                <a:tc>
                  <a:txBody>
                    <a:bodyPr/>
                    <a:lstStyle/>
                    <a:p>
                      <a:r>
                        <a:rPr sz="1400" b="0" i="0">
                          <a:solidFill>
                            <a:srgbClr val="1A1440"/>
                          </a:solidFill>
                          <a:latin typeface="Calibri"/>
                        </a:rPr>
                        <a:t>B. The low end of a range</a:t>
                      </a:r>
                    </a:p>
                  </a:txBody>
                  <a:tcPr marL="101600" marR="101600" marT="38100" marB="38100" anchor="ctr">
                    <a:solidFill>
                      <a:srgbClr val="F4F2FA"/>
                    </a:solidFill>
                  </a:tcPr>
                </a:tc>
                <a:tc>
                  <a:txBody>
                    <a:bodyPr/>
                    <a:lstStyle/>
                    <a:p>
                      <a:r>
                        <a:rPr sz="1400" b="0" i="0">
                          <a:solidFill>
                            <a:srgbClr val="1A1440"/>
                          </a:solidFill>
                          <a:latin typeface="Calibri"/>
                        </a:rPr>
                        <a:t>Redraws the members' own falls: can even a small fall clear the cost?</a:t>
                      </a:r>
                    </a:p>
                  </a:txBody>
                  <a:tcPr marL="101600" marR="101600" marT="38100" marB="38100" anchor="ctr">
                    <a:solidFill>
                      <a:srgbClr val="F4F2FA"/>
                    </a:solidFill>
                  </a:tcPr>
                </a:tc>
                <a:tc>
                  <a:txBody>
                    <a:bodyPr/>
                    <a:lstStyle/>
                    <a:p>
                      <a:r>
                        <a:rPr sz="1400" b="0" i="0">
                          <a:solidFill>
                            <a:srgbClr val="1A1440"/>
                          </a:solidFill>
                          <a:latin typeface="Calibri"/>
                        </a:rPr>
                        <a:t>A rough low end from 22 members</a:t>
                      </a:r>
                    </a:p>
                  </a:txBody>
                  <a:tcPr marL="101600" marR="101600" marT="38100" marB="38100" anchor="ctr">
                    <a:solidFill>
                      <a:srgbClr val="F4F2FA"/>
                    </a:solidFill>
                  </a:tcPr>
                </a:tc>
              </a:tr>
              <a:tr h="611632">
                <a:tc>
                  <a:txBody>
                    <a:bodyPr/>
                    <a:lstStyle/>
                    <a:p>
                      <a:r>
                        <a:rPr sz="1400" b="0" i="0">
                          <a:solidFill>
                            <a:srgbClr val="1A1440"/>
                          </a:solidFill>
                          <a:latin typeface="Calibri"/>
                        </a:rPr>
                        <a:t>C. Test the offer on half</a:t>
                      </a:r>
                    </a:p>
                  </a:txBody>
                  <a:tcPr marL="101600" marR="101600" marT="38100" marB="38100" anchor="ctr">
                    <a:solidFill>
                      <a:srgbClr val="FFFFFF"/>
                    </a:solidFill>
                  </a:tcPr>
                </a:tc>
                <a:tc>
                  <a:txBody>
                    <a:bodyPr/>
                    <a:lstStyle/>
                    <a:p>
                      <a:r>
                        <a:rPr sz="1400" b="0" i="0">
                          <a:solidFill>
                            <a:srgbClr val="1A1440"/>
                          </a:solidFill>
                          <a:latin typeface="Calibri"/>
                        </a:rPr>
                        <a:t>A coin-chosen half gets it; the other half is held back</a:t>
                      </a:r>
                    </a:p>
                  </a:txBody>
                  <a:tcPr marL="101600" marR="101600" marT="38100" marB="38100" anchor="ctr">
                    <a:solidFill>
                      <a:srgbClr val="FFFFFF"/>
                    </a:solidFill>
                  </a:tcPr>
                </a:tc>
                <a:tc>
                  <a:txBody>
                    <a:bodyPr/>
                    <a:lstStyle/>
                    <a:p>
                      <a:r>
                        <a:rPr sz="1400" b="0" i="0">
                          <a:solidFill>
                            <a:srgbClr val="1A1440"/>
                          </a:solidFill>
                          <a:latin typeface="Calibri"/>
                        </a:rPr>
                        <a:t>A quarter's wait; eleven a side shows only a large recovery</a:t>
                      </a:r>
                    </a:p>
                  </a:txBody>
                  <a:tcPr marL="101600" marR="101600" marT="38100" marB="38100" anchor="ctr">
                    <a:solidFill>
                      <a:srgbClr val="FFFFFF"/>
                    </a:solidFill>
                  </a:tcPr>
                </a:tc>
              </a:tr>
              <a:tr h="611632">
                <a:tc>
                  <a:txBody>
                    <a:bodyPr/>
                    <a:lstStyle/>
                    <a:p>
                      <a:r>
                        <a:rPr sz="1400" b="0" i="0">
                          <a:solidFill>
                            <a:srgbClr val="1A1440"/>
                          </a:solidFill>
                          <a:latin typeface="Calibri"/>
                        </a:rPr>
                        <a:t>D. A past offer's recovery</a:t>
                      </a:r>
                    </a:p>
                  </a:txBody>
                  <a:tcPr marL="101600" marR="101600" marT="38100" marB="38100" anchor="ctr">
                    <a:solidFill>
                      <a:srgbClr val="F4F2FA"/>
                    </a:solidFill>
                  </a:tcPr>
                </a:tc>
                <a:tc>
                  <a:txBody>
                    <a:bodyPr/>
                    <a:lstStyle/>
                    <a:p>
                      <a:r>
                        <a:rPr sz="1400" b="0" i="0">
                          <a:solidFill>
                            <a:srgbClr val="1A1440"/>
                          </a:solidFill>
                          <a:latin typeface="Calibri"/>
                        </a:rPr>
                        <a:t>Reads what an earlier offer won back</a:t>
                      </a:r>
                    </a:p>
                  </a:txBody>
                  <a:tcPr marL="101600" marR="101600" marT="38100" marB="38100" anchor="ctr">
                    <a:solidFill>
                      <a:srgbClr val="F4F2FA"/>
                    </a:solidFill>
                  </a:tcPr>
                </a:tc>
                <a:tc>
                  <a:txBody>
                    <a:bodyPr/>
                    <a:lstStyle/>
                    <a:p>
                      <a:r>
                        <a:rPr sz="1400" b="0" i="0">
                          <a:solidFill>
                            <a:srgbClr val="1A1440"/>
                          </a:solidFill>
                          <a:latin typeface="Calibri"/>
                        </a:rPr>
                        <a:t>Kalpa has never measured one</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with B as the second route; C is where the answer can lead. </a:t>
            </a:r>
            <a:r>
              <a:rPr sz="1500" b="1" i="0">
                <a:solidFill>
                  <a:srgbClr val="1A1440"/>
                </a:solidFill>
                <a:latin typeface="Calibri"/>
              </a:rPr>
              <a:t>What would change it.</a:t>
            </a:r>
            <a:r>
              <a:rPr sz="1500" b="0" i="0">
                <a:solidFill>
                  <a:srgbClr val="1A1440"/>
                </a:solidFill>
                <a:latin typeface="Calibri"/>
              </a:rPr>
              <a:t> A measured recovery rate, option D, which lets the break-even decide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Real and worth acting on are two separate axes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 finding land once it is sized, and which box earns a budget line?</a:t>
            </a:r>
          </a:p>
        </p:txBody>
      </p:sp>
      <p:pic>
        <p:nvPicPr>
          <p:cNvPr id="9" name="mermaid diagram" descr="9dced317c31e6324.png"/>
          <p:cNvPicPr>
            <a:picLocks noChangeAspect="1"/>
          </p:cNvPicPr>
          <p:nvPr/>
        </p:nvPicPr>
        <p:blipFill>
          <a:blip r:embed="rId5"/>
          <a:stretch>
            <a:fillRect/>
          </a:stretch>
        </p:blipFill>
        <p:spPr>
          <a:xfrm>
            <a:off x="664947" y="1682496"/>
            <a:ext cx="4517136" cy="4517136"/>
          </a:xfrm>
          <a:prstGeom prst="rect">
            <a:avLst/>
          </a:prstGeom>
        </p:spPr>
      </p:pic>
      <p:sp>
        <p:nvSpPr>
          <p:cNvPr id="10" name="TextBox 9"/>
          <p:cNvSpPr txBox="1"/>
          <p:nvPr/>
        </p:nvSpPr>
        <p:spPr>
          <a:xfrm>
            <a:off x="5761917" y="1956816"/>
            <a:ext cx="589942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finding can edge past chance and sit in the bottom right. A large gap on few members can sit top left.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is the fall in rupees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Rs 1,110 per member: what is that for the whole tier?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fall = round(real * len(plus_q1))             # Rs 1,110 x 22 members</a:t>
            </a:r>
          </a:p>
          <a:p>
            <a:pPr>
              <a:spcAft>
                <a:spcPts val="200"/>
              </a:spcAft>
            </a:pPr>
            <a:r>
              <a:rPr sz="1400" b="0" i="0">
                <a:solidFill>
                  <a:srgbClr val="E4E1F1"/>
                </a:solidFill>
                <a:latin typeface="Consolas"/>
              </a:rPr>
              <a:t>company_q2 = sum(delivered(s, "Q2") for s in SEGMENTS)</a:t>
            </a:r>
          </a:p>
          <a:p>
            <a:pPr>
              <a:spcAft>
                <a:spcPts val="200"/>
              </a:spcAft>
            </a:pPr>
            <a:r>
              <a:rPr sz="1400" b="0" i="0">
                <a:solidFill>
                  <a:srgbClr val="E4E1F1"/>
                </a:solidFill>
                <a:latin typeface="Consolas"/>
              </a:rPr>
              <a:t>print(fall, f"{fall / company_q2:.2%}")       # rupees, and share of Q2</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total, per quarter, the fall is roughly: a) Rs 2,400; b) Rs 24,000; c) Rs 2.4 lakh; d) Rs 24 lakh.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1" name="Oval 20"/>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24,420 a quarter, a third of the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is the fall in rupees, per member and for the tier?</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PER MEMBER</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gap</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Q1 mean less Q2 mean: Rs 1,110 of delivered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SEGMENT</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Times members</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1,110 times 22 members is Rs 24,420 a quarter, a third of the tier.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COMPANY</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Against the quarter</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Rs 24,420 over Rs 1,28,64,680 is 0.19 percent.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DECISION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Against the cost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The fall a quarter against what the fix costs a quarter.</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tier delivered Rs 72,130 in Q1 and Rs 47,710 in Q2, so for the segment the fall is a third of its money.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3" name="Oval 3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35" name="Oval 3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7" name="Oval 3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9" name="Oval 3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Against the company, the fall is 0.19 percent of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the fall against the company's quarter?</a:t>
            </a:r>
          </a:p>
        </p:txBody>
      </p:sp>
      <p:pic>
        <p:nvPicPr>
          <p:cNvPr id="9" name="mermaid diagram" descr="553e9428023dcf50.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Business delivered Rs 1,27,64,460 in the same quarter, about 268 times Retail-Plus, so on this axis its bar would stand 268 times as tall. The company's Q2 was Rs 1,28,64,680.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rank the review by share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smallest share open the growth review?</a:t>
            </a:r>
          </a:p>
        </p:txBody>
      </p:sp>
      <p:pic>
        <p:nvPicPr>
          <p:cNvPr id="9" name="mermaid diagram" descr="27be9666fc49d9d3.png"/>
          <p:cNvPicPr>
            <a:picLocks noChangeAspect="1"/>
          </p:cNvPicPr>
          <p:nvPr/>
        </p:nvPicPr>
        <p:blipFill>
          <a:blip r:embed="rId6"/>
          <a:stretch>
            <a:fillRect/>
          </a:stretch>
        </p:blipFill>
        <p:spPr>
          <a:xfrm>
            <a:off x="2152497" y="1956816"/>
            <a:ext cx="7886700" cy="2614612"/>
          </a:xfrm>
          <a:prstGeom prst="rect">
            <a:avLst/>
          </a:prstGeom>
        </p:spPr>
      </p:pic>
      <p:sp>
        <p:nvSpPr>
          <p:cNvPr id="10" name="Rounded Rectangle 9"/>
          <p:cNvSpPr/>
          <p:nvPr/>
        </p:nvSpPr>
        <p:spPr>
          <a:xfrm>
            <a:off x="530352" y="47177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49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59692"/>
            <a:ext cx="237744" cy="237744"/>
          </a:xfrm>
          <a:prstGeom prst="rect">
            <a:avLst/>
          </a:prstGeom>
        </p:spPr>
      </p:pic>
      <p:sp>
        <p:nvSpPr>
          <p:cNvPr id="13" name="TextBox 12"/>
          <p:cNvSpPr txBox="1"/>
          <p:nvPr/>
        </p:nvSpPr>
        <p:spPr>
          <a:xfrm>
            <a:off x="1399031" y="48640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83492"/>
            <a:ext cx="9987991" cy="682752"/>
          </a:xfrm>
          <a:prstGeom prst="rect">
            <a:avLst/>
          </a:prstGeom>
          <a:noFill/>
        </p:spPr>
        <p:txBody>
          <a:bodyPr wrap="square" anchor="t" lIns="0" rIns="0" tIns="0" bIns="0">
            <a:spAutoFit/>
          </a:bodyPr>
          <a:lstStyle/>
          <a:p>
            <a:r>
              <a:rPr sz="1500" b="0" i="0">
                <a:solidFill>
                  <a:srgbClr val="1A1440"/>
                </a:solidFill>
                <a:latin typeface="Calibri"/>
              </a:rPr>
              <a:t>"Retail-Plus is the surest move of the quarter, so it opens the growth review: fund its retention programme first." Significant becomes big, and the smallest share takes the first budget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big samples make tiny gaps rare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small share sit on a tiny gap, and which order does money give?</a:t>
            </a:r>
          </a:p>
        </p:txBody>
      </p:sp>
      <p:pic>
        <p:nvPicPr>
          <p:cNvPr id="9" name="mermaid diagram" descr="979b5db5463d7fc7.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Order the same three segments by money: Business moved Rs 6,18,460, Retail-Plus Rs 24,420, Retail-Core Rs 3,750. The review opens on Business, and Retail-Plus's fall is judged on its own terms, against the company's quarter and the offer's cost.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must the offer win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head of Retail-Plus proposes Rs 500 per member a quarter: how much of the fall must it win back?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24,420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the whole tier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both quarters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per member a quarter, assumed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the fall must the offer win back just to pay for itself in revenue? a) all of it; b) about 45 percent; c) about 5 percent; d) none, since any recovery is a gain.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8" name="Oval 2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45 percent, before margin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Rs 500 retention offer win back to pay for itself?</a:t>
            </a:r>
          </a:p>
        </p:txBody>
      </p:sp>
      <p:pic>
        <p:nvPicPr>
          <p:cNvPr id="9" name="mermaid diagram" descr="f64cd5b172b726c2.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Rs 11,000 a quarter against a Rs 24,420 fall means winning back almost half, and the decision rests on a recovery rate nobody has measured.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fall could be as small as Rs 80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small could the fall really be, and does even that clear the offer?</a:t>
            </a:r>
          </a:p>
        </p:txBody>
      </p:sp>
      <p:pic>
        <p:nvPicPr>
          <p:cNvPr id="9" name="mermaid diagram" descr="3bd29f3ccb8e59bf.png"/>
          <p:cNvPicPr>
            <a:picLocks noChangeAspect="1"/>
          </p:cNvPicPr>
          <p:nvPr/>
        </p:nvPicPr>
        <p:blipFill>
          <a:blip r:embed="rId5"/>
          <a:stretch>
            <a:fillRect/>
          </a:stretch>
        </p:blipFill>
        <p:spPr>
          <a:xfrm>
            <a:off x="530352" y="1956816"/>
            <a:ext cx="11130991" cy="1129748"/>
          </a:xfrm>
          <a:prstGeom prst="rect">
            <a:avLst/>
          </a:prstGeom>
        </p:spPr>
      </p:pic>
      <p:sp>
        <p:nvSpPr>
          <p:cNvPr id="10" name="TextBox 9"/>
          <p:cNvSpPr txBox="1"/>
          <p:nvPr/>
        </p:nvSpPr>
        <p:spPr>
          <a:xfrm>
            <a:off x="530352" y="3232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Redrawing the 22 members' own falls 5,000 times gives an approximate 95 percent range that only just stays above zero, and the offer sits far above its low end. Such a range is a </a:t>
            </a:r>
            <a:r>
              <a:rPr sz="1600" b="1" i="0">
                <a:solidFill>
                  <a:srgbClr val="1A1440"/>
                </a:solidFill>
                <a:latin typeface="Calibri"/>
              </a:rPr>
              <a:t>confidence interval</a:t>
            </a:r>
            <a:r>
              <a:rPr sz="1600" b="0" i="0">
                <a:solidFill>
                  <a:srgbClr val="1A1440"/>
                </a:solidFill>
                <a:latin typeface="Calibri"/>
              </a:rPr>
              <a:t>; building one properly comes later.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86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Worth watching, and not worth acting on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is the fall big enough, in rupees against what a fix costs, to act 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5004883"/>
                <a:gridCol w="612610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Monday use?</a:t>
                      </a:r>
                    </a:p>
                  </a:txBody>
                  <a:tcPr marL="101600" marR="101600" marT="38100" marB="38100" anchor="ctr">
                    <a:solidFill>
                      <a:srgbClr val="FFFFFF"/>
                    </a:solidFill>
                  </a:tcPr>
                </a:tc>
                <a:tc>
                  <a:txBody>
                    <a:bodyPr/>
                    <a:lstStyle/>
                    <a:p>
                      <a:r>
                        <a:rPr sz="900" b="0" i="0">
                          <a:solidFill>
                            <a:srgbClr val="1A1440"/>
                          </a:solidFill>
                          <a:latin typeface="Calibri"/>
                        </a:rPr>
                        <a:t>Break-even, with the range as its check</a:t>
                      </a:r>
                    </a:p>
                  </a:txBody>
                  <a:tcPr marL="101600" marR="101600" marT="38100" marB="38100" anchor="ctr">
                    <a:solidFill>
                      <a:srgbClr val="FFFFFF"/>
                    </a:solidFill>
                  </a:tcPr>
                </a:tc>
              </a:tr>
              <a:tr h="310896">
                <a:tc>
                  <a:txBody>
                    <a:bodyPr/>
                    <a:lstStyle/>
                    <a:p>
                      <a:r>
                        <a:rPr sz="900" b="0" i="0">
                          <a:solidFill>
                            <a:srgbClr val="1A1440"/>
                          </a:solidFill>
                          <a:latin typeface="Calibri"/>
                        </a:rPr>
                        <a:t>2. How much in rupees?</a:t>
                      </a:r>
                    </a:p>
                  </a:txBody>
                  <a:tcPr marL="101600" marR="101600" marT="38100" marB="38100" anchor="ctr">
                    <a:solidFill>
                      <a:srgbClr val="F4F2FA"/>
                    </a:solidFill>
                  </a:tcPr>
                </a:tc>
                <a:tc>
                  <a:txBody>
                    <a:bodyPr/>
                    <a:lstStyle/>
                    <a:p>
                      <a:r>
                        <a:rPr sz="900" b="0" i="0">
                          <a:solidFill>
                            <a:srgbClr val="1A1440"/>
                          </a:solidFill>
                          <a:latin typeface="Calibri"/>
                        </a:rPr>
                        <a:t>Rs 1,110 a member, Rs 24,420 a quarter</a:t>
                      </a:r>
                    </a:p>
                  </a:txBody>
                  <a:tcPr marL="101600" marR="101600" marT="38100" marB="38100" anchor="ctr">
                    <a:solidFill>
                      <a:srgbClr val="F4F2FA"/>
                    </a:solidFill>
                  </a:tcPr>
                </a:tc>
              </a:tr>
              <a:tr h="310896">
                <a:tc>
                  <a:txBody>
                    <a:bodyPr/>
                    <a:lstStyle/>
                    <a:p>
                      <a:r>
                        <a:rPr sz="900" b="0" i="0">
                          <a:solidFill>
                            <a:srgbClr val="1A1440"/>
                          </a:solidFill>
                          <a:latin typeface="Calibri"/>
                        </a:rPr>
                        <a:t>3. Against the company?</a:t>
                      </a:r>
                    </a:p>
                  </a:txBody>
                  <a:tcPr marL="101600" marR="101600" marT="38100" marB="38100" anchor="ctr">
                    <a:solidFill>
                      <a:srgbClr val="FFFFFF"/>
                    </a:solidFill>
                  </a:tcPr>
                </a:tc>
                <a:tc>
                  <a:txBody>
                    <a:bodyPr/>
                    <a:lstStyle/>
                    <a:p>
                      <a:r>
                        <a:rPr sz="900" b="0" i="0">
                          <a:solidFill>
                            <a:srgbClr val="1A1440"/>
                          </a:solidFill>
                          <a:latin typeface="Calibri"/>
                        </a:rPr>
                        <a:t>0.19 percent of Q2's Rs 1,28,64,680</a:t>
                      </a:r>
                    </a:p>
                  </a:txBody>
                  <a:tcPr marL="101600" marR="101600" marT="38100" marB="38100" anchor="ctr">
                    <a:solidFill>
                      <a:srgbClr val="FFFFFF"/>
                    </a:solidFill>
                  </a:tcPr>
                </a:tc>
              </a:tr>
              <a:tr h="310896">
                <a:tc>
                  <a:txBody>
                    <a:bodyPr/>
                    <a:lstStyle/>
                    <a:p>
                      <a:r>
                        <a:rPr sz="900" b="0" i="0">
                          <a:solidFill>
                            <a:srgbClr val="1A1440"/>
                          </a:solidFill>
                          <a:latin typeface="Calibri"/>
                        </a:rPr>
                        <a:t>4. Smallest share first?</a:t>
                      </a:r>
                    </a:p>
                  </a:txBody>
                  <a:tcPr marL="101600" marR="101600" marT="38100" marB="38100" anchor="ctr">
                    <a:solidFill>
                      <a:srgbClr val="F4F2FA"/>
                    </a:solidFill>
                  </a:tcPr>
                </a:tc>
                <a:tc>
                  <a:txBody>
                    <a:bodyPr/>
                    <a:lstStyle/>
                    <a:p>
                      <a:r>
                        <a:rPr sz="900" b="0" i="0">
                          <a:solidFill>
                            <a:srgbClr val="1A1440"/>
                          </a:solidFill>
                          <a:latin typeface="Calibri"/>
                        </a:rPr>
                        <a:t>No: by rupees, Business opens the review</a:t>
                      </a:r>
                    </a:p>
                  </a:txBody>
                  <a:tcPr marL="101600" marR="101600" marT="38100" marB="38100" anchor="ctr">
                    <a:solidFill>
                      <a:srgbClr val="F4F2FA"/>
                    </a:solidFill>
                  </a:tcPr>
                </a:tc>
              </a:tr>
              <a:tr h="310896">
                <a:tc>
                  <a:txBody>
                    <a:bodyPr/>
                    <a:lstStyle/>
                    <a:p>
                      <a:r>
                        <a:rPr sz="900" b="0" i="0">
                          <a:solidFill>
                            <a:srgbClr val="1A1440"/>
                          </a:solidFill>
                          <a:latin typeface="Calibri"/>
                        </a:rPr>
                        <a:t>5. What must the offer win back?</a:t>
                      </a:r>
                    </a:p>
                  </a:txBody>
                  <a:tcPr marL="101600" marR="101600" marT="38100" marB="38100" anchor="ctr">
                    <a:solidFill>
                      <a:srgbClr val="FFFFFF"/>
                    </a:solidFill>
                  </a:tcPr>
                </a:tc>
                <a:tc>
                  <a:txBody>
                    <a:bodyPr/>
                    <a:lstStyle/>
                    <a:p>
                      <a:r>
                        <a:rPr sz="900" b="0" i="0">
                          <a:solidFill>
                            <a:srgbClr val="1A1440"/>
                          </a:solidFill>
                          <a:latin typeface="Calibri"/>
                        </a:rPr>
                        <a:t>45 percent: Rs 11,000 against Rs 24,420</a:t>
                      </a:r>
                    </a:p>
                  </a:txBody>
                  <a:tcPr marL="101600" marR="101600" marT="38100" marB="38100" anchor="ctr">
                    <a:solidFill>
                      <a:srgbClr val="FFFFFF"/>
                    </a:solidFill>
                  </a:tcPr>
                </a:tc>
              </a:tr>
              <a:tr h="310896">
                <a:tc>
                  <a:txBody>
                    <a:bodyPr/>
                    <a:lstStyle/>
                    <a:p>
                      <a:r>
                        <a:rPr sz="900" b="0" i="0">
                          <a:solidFill>
                            <a:srgbClr val="1A1440"/>
                          </a:solidFill>
                          <a:latin typeface="Calibri"/>
                        </a:rPr>
                        <a:t>6. How small could it be?</a:t>
                      </a:r>
                    </a:p>
                  </a:txBody>
                  <a:tcPr marL="101600" marR="101600" marT="38100" marB="38100" anchor="ctr">
                    <a:solidFill>
                      <a:srgbClr val="F4F2FA"/>
                    </a:solidFill>
                  </a:tcPr>
                </a:tc>
                <a:tc>
                  <a:txBody>
                    <a:bodyPr/>
                    <a:lstStyle/>
                    <a:p>
                      <a:r>
                        <a:rPr sz="900" b="0" i="0">
                          <a:solidFill>
                            <a:srgbClr val="1A1440"/>
                          </a:solidFill>
                          <a:latin typeface="Calibri"/>
                        </a:rPr>
                        <a:t>About Rs 80 a member, far below Rs 500</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Borderline by two routes, worth Rs 24,420 a quarter and 0.19 percent of the company. The range's low end sits far below the offer's cost, so watch it; to act, offer it to a coin-chosen half and hold back the rest.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The test says significant; should the business act?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41 / 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behind 40%?</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Student is up 40 percent, the fastest rise on the page: how many customers stand behind it, and should budget move there?</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budget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decides whether acquisition budget follows the fastest-growing segment. A rise that chance made sends a quarter's spend to a segment that may be flat next quarter.</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fits Monday?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Trust, test, rule, wait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rose fastest?</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Every segment's orders, Q2 against Q1</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Budget to the fastest riser?</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often by chance?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coin flip per order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42 on 12, or 31 on 1,200?</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interview's version</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routes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deal, and real handfuls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Student rose 40 percent, and budget may follow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rides on the answer, and what would a wrong call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"Student is up 40 percent; should I move budget there?" Meera Raghavan</a:t>
            </a:r>
          </a:p>
        </p:txBody>
      </p:sp>
      <p:sp>
        <p:nvSpPr>
          <p:cNvPr id="14" name="Rounded Rectangle 13"/>
          <p:cNvSpPr/>
          <p:nvPr/>
        </p:nvSpPr>
        <p:spPr>
          <a:xfrm>
            <a:off x="53035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chart-bar_8d512f0a15a3.png"/>
          <p:cNvPicPr>
            <a:picLocks noChangeAspect="1"/>
          </p:cNvPicPr>
          <p:nvPr/>
        </p:nvPicPr>
        <p:blipFill>
          <a:blip r:embed="rId5"/>
          <a:stretch>
            <a:fillRect/>
          </a:stretch>
        </p:blipFill>
        <p:spPr>
          <a:xfrm>
            <a:off x="841247" y="3294888"/>
            <a:ext cx="237744" cy="237744"/>
          </a:xfrm>
          <a:prstGeom prst="rect">
            <a:avLst/>
          </a:prstGeom>
        </p:spPr>
      </p:pic>
      <p:sp>
        <p:nvSpPr>
          <p:cNvPr id="17" name="TextBox 16"/>
          <p:cNvSpPr txBox="1"/>
          <p:nvPr/>
        </p:nvSpPr>
        <p:spPr>
          <a:xfrm>
            <a:off x="731519"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Orders a quarter</a:t>
            </a:r>
          </a:p>
        </p:txBody>
      </p:sp>
      <p:sp>
        <p:nvSpPr>
          <p:cNvPr id="19" name="TextBox 18"/>
          <p:cNvSpPr txBox="1"/>
          <p:nvPr/>
        </p:nvSpPr>
        <p:spPr>
          <a:xfrm>
            <a:off x="731519"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Q2 orders for every 100 in Q1, beside every other segment's.</a:t>
            </a:r>
          </a:p>
        </p:txBody>
      </p:sp>
      <p:sp>
        <p:nvSpPr>
          <p:cNvPr id="20" name="Rounded Rectangle 19"/>
          <p:cNvSpPr/>
          <p:nvPr/>
        </p:nvSpPr>
        <p:spPr>
          <a:xfrm>
            <a:off x="4301642" y="298399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18516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wallet_3a2d2f5ade12.png"/>
          <p:cNvPicPr>
            <a:picLocks noChangeAspect="1"/>
          </p:cNvPicPr>
          <p:nvPr/>
        </p:nvPicPr>
        <p:blipFill>
          <a:blip r:embed="rId6"/>
          <a:stretch>
            <a:fillRect/>
          </a:stretch>
        </p:blipFill>
        <p:spPr>
          <a:xfrm>
            <a:off x="4612538" y="3294888"/>
            <a:ext cx="237744" cy="237744"/>
          </a:xfrm>
          <a:prstGeom prst="rect">
            <a:avLst/>
          </a:prstGeom>
        </p:spPr>
      </p:pic>
      <p:sp>
        <p:nvSpPr>
          <p:cNvPr id="23" name="TextBox 22"/>
          <p:cNvSpPr txBox="1"/>
          <p:nvPr/>
        </p:nvSpPr>
        <p:spPr>
          <a:xfrm>
            <a:off x="4502810" y="375208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RIDES ON IT</a:t>
            </a:r>
          </a:p>
        </p:txBody>
      </p:sp>
      <p:sp>
        <p:nvSpPr>
          <p:cNvPr id="24" name="TextBox 23"/>
          <p:cNvSpPr txBox="1"/>
          <p:nvPr/>
        </p:nvSpPr>
        <p:spPr>
          <a:xfrm>
            <a:off x="4502810" y="3989832"/>
            <a:ext cx="3186074" cy="267716"/>
          </a:xfrm>
          <a:prstGeom prst="rect">
            <a:avLst/>
          </a:prstGeom>
          <a:noFill/>
        </p:spPr>
        <p:txBody>
          <a:bodyPr wrap="square" anchor="t" lIns="0" rIns="0" tIns="0" bIns="0">
            <a:spAutoFit/>
          </a:bodyPr>
          <a:lstStyle/>
          <a:p>
            <a:pPr algn="l"/>
            <a:r>
              <a:rPr sz="1400" b="1" i="0">
                <a:solidFill>
                  <a:srgbClr val="1A0F5C"/>
                </a:solidFill>
                <a:latin typeface="Calibri"/>
              </a:rPr>
              <a:t>Acquisition budget</a:t>
            </a:r>
          </a:p>
        </p:txBody>
      </p:sp>
      <p:sp>
        <p:nvSpPr>
          <p:cNvPr id="25" name="TextBox 24"/>
          <p:cNvSpPr txBox="1"/>
          <p:nvPr/>
        </p:nvSpPr>
        <p:spPr>
          <a:xfrm>
            <a:off x="4502810" y="4330700"/>
            <a:ext cx="3186074" cy="399796"/>
          </a:xfrm>
          <a:prstGeom prst="rect">
            <a:avLst/>
          </a:prstGeom>
          <a:noFill/>
        </p:spPr>
        <p:txBody>
          <a:bodyPr wrap="square" anchor="t" lIns="0" rIns="0" tIns="0" bIns="0">
            <a:spAutoFit/>
          </a:bodyPr>
          <a:lstStyle/>
          <a:p>
            <a:pPr algn="l"/>
            <a:r>
              <a:rPr sz="1100" b="0" i="0">
                <a:solidFill>
                  <a:srgbClr val="6B6690"/>
                </a:solidFill>
                <a:latin typeface="Calibri"/>
              </a:rPr>
              <a:t>Money moved to the fastest riser, before anyone asks what the rise stands on.</a:t>
            </a:r>
          </a:p>
        </p:txBody>
      </p:sp>
      <p:sp>
        <p:nvSpPr>
          <p:cNvPr id="26" name="Rounded Rectangle 25"/>
          <p:cNvSpPr/>
          <p:nvPr/>
        </p:nvSpPr>
        <p:spPr>
          <a:xfrm>
            <a:off x="8072932" y="298399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1851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294888"/>
            <a:ext cx="237744" cy="237744"/>
          </a:xfrm>
          <a:prstGeom prst="rect">
            <a:avLst/>
          </a:prstGeom>
        </p:spPr>
      </p:pic>
      <p:sp>
        <p:nvSpPr>
          <p:cNvPr id="29" name="TextBox 28"/>
          <p:cNvSpPr txBox="1"/>
          <p:nvPr/>
        </p:nvSpPr>
        <p:spPr>
          <a:xfrm>
            <a:off x="8274100" y="375208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3989832"/>
            <a:ext cx="3186074" cy="267716"/>
          </a:xfrm>
          <a:prstGeom prst="rect">
            <a:avLst/>
          </a:prstGeom>
          <a:noFill/>
        </p:spPr>
        <p:txBody>
          <a:bodyPr wrap="square" anchor="t" lIns="0" rIns="0" tIns="0" bIns="0">
            <a:spAutoFit/>
          </a:bodyPr>
          <a:lstStyle/>
          <a:p>
            <a:pPr algn="l"/>
            <a:r>
              <a:rPr sz="1400" b="1" i="0">
                <a:solidFill>
                  <a:srgbClr val="FFFFFF"/>
                </a:solidFill>
                <a:latin typeface="Calibri"/>
              </a:rPr>
              <a:t>A quarter's spend</a:t>
            </a:r>
          </a:p>
        </p:txBody>
      </p:sp>
      <p:sp>
        <p:nvSpPr>
          <p:cNvPr id="31" name="TextBox 30"/>
          <p:cNvSpPr txBox="1"/>
          <p:nvPr/>
        </p:nvSpPr>
        <p:spPr>
          <a:xfrm>
            <a:off x="8274100" y="4330700"/>
            <a:ext cx="3186074" cy="399796"/>
          </a:xfrm>
          <a:prstGeom prst="rect">
            <a:avLst/>
          </a:prstGeom>
          <a:noFill/>
        </p:spPr>
        <p:txBody>
          <a:bodyPr wrap="square" anchor="t" lIns="0" rIns="0" tIns="0" bIns="0">
            <a:spAutoFit/>
          </a:bodyPr>
          <a:lstStyle/>
          <a:p>
            <a:pPr algn="l"/>
            <a:r>
              <a:rPr sz="1100" b="0" i="0">
                <a:solidFill>
                  <a:srgbClr val="CFC9EE"/>
                </a:solidFill>
                <a:latin typeface="Calibri"/>
              </a:rPr>
              <a:t>Budget follows a rate that may be flat next quarter.</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6" name="Oval 3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8" name="Oval 3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40" name="Oval 3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Small schools topped the charts, and the bottom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funder paid for trusting a small group's rate?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EXPECTED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if size did not matter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FOUND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small schools among the best, Wainer's data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$1.7B</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EDUCATION PROJECTS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Gates Foundation, by 2001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Howard Wainer showed small schools were over-represented among the worst as well: small counts produce extremes at both ends.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8" name="Oval 2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Coin flips on the count, said with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"should budget follow the 40 percent?" fits Monday?</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886905"/>
                <a:gridCol w="4882127"/>
                <a:gridCol w="336195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369824">
                <a:tc>
                  <a:txBody>
                    <a:bodyPr/>
                    <a:lstStyle/>
                    <a:p>
                      <a:r>
                        <a:rPr sz="1400" b="0" i="0">
                          <a:solidFill>
                            <a:srgbClr val="1A1440"/>
                          </a:solidFill>
                          <a:latin typeface="Calibri"/>
                        </a:rPr>
                        <a:t>A. Trust the headline</a:t>
                      </a:r>
                    </a:p>
                  </a:txBody>
                  <a:tcPr marL="101600" marR="101600" marT="38100" marB="38100" anchor="ctr">
                    <a:solidFill>
                      <a:srgbClr val="FFFFFF"/>
                    </a:solidFill>
                  </a:tcPr>
                </a:tc>
                <a:tc>
                  <a:txBody>
                    <a:bodyPr/>
                    <a:lstStyle/>
                    <a:p>
                      <a:r>
                        <a:rPr sz="1400" b="0" i="0">
                          <a:solidFill>
                            <a:srgbClr val="1A1440"/>
                          </a:solidFill>
                          <a:latin typeface="Calibri"/>
                        </a:rPr>
                        <a:t>Fund the fastest riser</a:t>
                      </a:r>
                    </a:p>
                  </a:txBody>
                  <a:tcPr marL="101600" marR="101600" marT="38100" marB="38100" anchor="ctr">
                    <a:solidFill>
                      <a:srgbClr val="FFFFFF"/>
                    </a:solidFill>
                  </a:tcPr>
                </a:tc>
                <a:tc>
                  <a:txBody>
                    <a:bodyPr/>
                    <a:lstStyle/>
                    <a:p>
                      <a:r>
                        <a:rPr sz="1400" b="0" i="0">
                          <a:solidFill>
                            <a:srgbClr val="1A1440"/>
                          </a:solidFill>
                          <a:latin typeface="Calibri"/>
                        </a:rPr>
                        <a:t>Budget follows a coin</a:t>
                      </a:r>
                    </a:p>
                  </a:txBody>
                  <a:tcPr marL="101600" marR="101600" marT="38100" marB="38100" anchor="ctr">
                    <a:solidFill>
                      <a:srgbClr val="FFFFFF"/>
                    </a:solidFill>
                  </a:tcPr>
                </a:tc>
              </a:tr>
              <a:tr h="369824">
                <a:tc>
                  <a:txBody>
                    <a:bodyPr/>
                    <a:lstStyle/>
                    <a:p>
                      <a:r>
                        <a:rPr sz="1400" b="0" i="0">
                          <a:solidFill>
                            <a:srgbClr val="1A1440"/>
                          </a:solidFill>
                          <a:latin typeface="Calibri"/>
                        </a:rPr>
                        <a:t>B. Coin-flip reference</a:t>
                      </a:r>
                    </a:p>
                  </a:txBody>
                  <a:tcPr marL="101600" marR="101600" marT="38100" marB="38100" anchor="ctr">
                    <a:solidFill>
                      <a:srgbClr val="F4F2FA"/>
                    </a:solidFill>
                  </a:tcPr>
                </a:tc>
                <a:tc>
                  <a:txBody>
                    <a:bodyPr/>
                    <a:lstStyle/>
                    <a:p>
                      <a:r>
                        <a:rPr sz="1400" b="0" i="0">
                          <a:solidFill>
                            <a:srgbClr val="1A1440"/>
                          </a:solidFill>
                          <a:latin typeface="Calibri"/>
                        </a:rPr>
                        <a:t>Deal each order to a quarter by coin, 5,000 times</a:t>
                      </a:r>
                    </a:p>
                  </a:txBody>
                  <a:tcPr marL="101600" marR="101600" marT="38100" marB="38100" anchor="ctr">
                    <a:solidFill>
                      <a:srgbClr val="F4F2FA"/>
                    </a:solidFill>
                  </a:tcPr>
                </a:tc>
                <a:tc>
                  <a:txBody>
                    <a:bodyPr/>
                    <a:lstStyle/>
                    <a:p>
                      <a:r>
                        <a:rPr sz="1400" b="0" i="0">
                          <a:solidFill>
                            <a:srgbClr val="1A1440"/>
                          </a:solidFill>
                          <a:latin typeface="Calibri"/>
                        </a:rPr>
                        <a:t>Nothing, once the count is found</a:t>
                      </a:r>
                    </a:p>
                  </a:txBody>
                  <a:tcPr marL="101600" marR="101600" marT="38100" marB="38100" anchor="ctr">
                    <a:solidFill>
                      <a:srgbClr val="F4F2FA"/>
                    </a:solidFill>
                  </a:tcPr>
                </a:tc>
              </a:tr>
              <a:tr h="369824">
                <a:tc>
                  <a:txBody>
                    <a:bodyPr/>
                    <a:lstStyle/>
                    <a:p>
                      <a:r>
                        <a:rPr sz="1400" b="0" i="0">
                          <a:solidFill>
                            <a:srgbClr val="1A1440"/>
                          </a:solidFill>
                          <a:latin typeface="Calibri"/>
                        </a:rPr>
                        <a:t>C. Rule of thumb</a:t>
                      </a:r>
                    </a:p>
                  </a:txBody>
                  <a:tcPr marL="101600" marR="101600" marT="38100" marB="38100" anchor="ctr">
                    <a:solidFill>
                      <a:srgbClr val="FFFFFF"/>
                    </a:solidFill>
                  </a:tcPr>
                </a:tc>
                <a:tc>
                  <a:txBody>
                    <a:bodyPr/>
                    <a:lstStyle/>
                    <a:p>
                      <a:r>
                        <a:rPr sz="1400" b="0" i="0">
                          <a:solidFill>
                            <a:srgbClr val="1A1440"/>
                          </a:solidFill>
                          <a:latin typeface="Calibri"/>
                        </a:rPr>
                        <a:t>Under thirty customers, a rate is a lead</a:t>
                      </a:r>
                    </a:p>
                  </a:txBody>
                  <a:tcPr marL="101600" marR="101600" marT="38100" marB="38100" anchor="ctr">
                    <a:solidFill>
                      <a:srgbClr val="FFFFFF"/>
                    </a:solidFill>
                  </a:tcPr>
                </a:tc>
                <a:tc>
                  <a:txBody>
                    <a:bodyPr/>
                    <a:lstStyle/>
                    <a:p>
                      <a:r>
                        <a:rPr sz="1400" b="0" i="0">
                          <a:solidFill>
                            <a:srgbClr val="1A1440"/>
                          </a:solidFill>
                          <a:latin typeface="Calibri"/>
                        </a:rPr>
                        <a:t>Says careful, and stops there</a:t>
                      </a:r>
                    </a:p>
                  </a:txBody>
                  <a:tcPr marL="101600" marR="101600" marT="38100" marB="38100" anchor="ctr">
                    <a:solidFill>
                      <a:srgbClr val="FFFFFF"/>
                    </a:solidFill>
                  </a:tcPr>
                </a:tc>
              </a:tr>
              <a:tr h="369824">
                <a:tc>
                  <a:txBody>
                    <a:bodyPr/>
                    <a:lstStyle/>
                    <a:p>
                      <a:r>
                        <a:rPr sz="1400" b="0" i="0">
                          <a:solidFill>
                            <a:srgbClr val="1A1440"/>
                          </a:solidFill>
                          <a:latin typeface="Calibri"/>
                        </a:rPr>
                        <a:t>D. Wait for thirty customers</a:t>
                      </a:r>
                    </a:p>
                  </a:txBody>
                  <a:tcPr marL="101600" marR="101600" marT="38100" marB="38100" anchor="ctr">
                    <a:solidFill>
                      <a:srgbClr val="F4F2FA"/>
                    </a:solidFill>
                  </a:tcPr>
                </a:tc>
                <a:tc>
                  <a:txBody>
                    <a:bodyPr/>
                    <a:lstStyle/>
                    <a:p>
                      <a:r>
                        <a:rPr sz="1400" b="0" i="0">
                          <a:solidFill>
                            <a:srgbClr val="1A1440"/>
                          </a:solidFill>
                          <a:latin typeface="Calibri"/>
                        </a:rPr>
                        <a:t>Hold the decision</a:t>
                      </a:r>
                    </a:p>
                  </a:txBody>
                  <a:tcPr marL="101600" marR="101600" marT="38100" marB="38100" anchor="ctr">
                    <a:solidFill>
                      <a:srgbClr val="F4F2FA"/>
                    </a:solidFill>
                  </a:tcPr>
                </a:tc>
                <a:tc>
                  <a:txBody>
                    <a:bodyPr/>
                    <a:lstStyle/>
                    <a:p>
                      <a:r>
                        <a:rPr sz="1400" b="0" i="0">
                          <a:solidFill>
                            <a:srgbClr val="1A1440"/>
                          </a:solidFill>
                          <a:latin typeface="Calibri"/>
                        </a:rPr>
                        <a:t>How long depends on new customers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said with C. </a:t>
            </a:r>
            <a:r>
              <a:rPr sz="1500" b="1" i="0">
                <a:solidFill>
                  <a:srgbClr val="1A1440"/>
                </a:solidFill>
                <a:latin typeface="Calibri"/>
              </a:rPr>
              <a:t>What would change it.</a:t>
            </a:r>
            <a:r>
              <a:rPr sz="1500" b="0" i="0">
                <a:solidFill>
                  <a:srgbClr val="1A1440"/>
                </a:solidFill>
                <a:latin typeface="Calibri"/>
              </a:rPr>
              <a:t> A cheap way to reach new students fast, which turns D into a two-week experiment.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fund the fastest riser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rose fastest, and should acquisition budget follow it?</a:t>
            </a:r>
          </a:p>
        </p:txBody>
      </p:sp>
      <p:pic>
        <p:nvPicPr>
          <p:cNvPr id="9" name="mermaid diagram" descr="6fedc191b053011a.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"Student is up 40 percent, the fastest on the page: move acquisition budget to Student." A rate travels without its count, and the budget follows the rate.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answering?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wants a yes or no on Student: which check comes before any other?</a:t>
            </a:r>
          </a:p>
        </p:txBody>
      </p:sp>
      <p:pic>
        <p:nvPicPr>
          <p:cNvPr id="9" name="mermaid diagram" descr="7d6dd5dce9f5e36a.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 you check first? a) the rise in rupees, since money is what moves; b) the number of orders and customers the rate stands on; c) whether 40 percent beats every other segment; d) Student's rise in the previous year.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what the rate stands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comes before any other on a rate?</a:t>
            </a:r>
          </a:p>
        </p:txBody>
      </p:sp>
      <p:pic>
        <p:nvPicPr>
          <p:cNvPr id="9" name="mermaid diagram" descr="e2b65e0f0a5abc24.png"/>
          <p:cNvPicPr>
            <a:picLocks noChangeAspect="1"/>
          </p:cNvPicPr>
          <p:nvPr/>
        </p:nvPicPr>
        <p:blipFill>
          <a:blip r:embed="rId5"/>
          <a:stretch>
            <a:fillRect/>
          </a:stretch>
        </p:blipFill>
        <p:spPr>
          <a:xfrm>
            <a:off x="566585" y="1956816"/>
            <a:ext cx="11058525"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Rupees and rankings come after the count, and the count that settles a rate is customers: more orders from the same few people add no new evidence.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small counts swing by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can chance alone swing a rate on a small count?</a:t>
            </a:r>
          </a:p>
        </p:txBody>
      </p:sp>
      <p:pic>
        <p:nvPicPr>
          <p:cNvPr id="9" name="mermaid diagram" descr="73978195ee044129.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With ten independent buyers, more than a third of chance-only worlds show a 40 percent rise; with four hundred, almost none do. Orders from the same customer move together, so the count that matters is customers.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orders and the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and customers stand behind Meera's 40 percent?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Count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Student's orders in Q1 and Q2, and the distinct customers who placed them.</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EMPTY CELL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Size the wait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of those customers are new in Q2, and how long thirty would take at that pace.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NOTE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One line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rate, its count in customers, and what would make it worth testing.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1" name="Oval 3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3" name="Oval 3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5" name="Oval 3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often does chance make that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Student's own count, how often would coin flips alone show a 40 percent rise?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_ in range(5000):                       # 5,000 chance-only worlds</a:t>
            </a:r>
          </a:p>
          <a:p>
            <a:pPr>
              <a:spcAft>
                <a:spcPts val="200"/>
              </a:spcAft>
            </a:pPr>
            <a:r>
              <a:rPr sz="1400" b="0" i="0">
                <a:solidFill>
                  <a:srgbClr val="E4E1F1"/>
                </a:solidFill>
                <a:latin typeface="Consolas"/>
              </a:rPr>
              <a:t>    q2 = sum(random.random() &lt; 0.5 for _ in range(n_orders))</a:t>
            </a:r>
          </a:p>
          <a:p>
            <a:pPr>
              <a:spcAft>
                <a:spcPts val="200"/>
              </a:spcAft>
            </a:pPr>
            <a:r>
              <a:rPr sz="1400" b="0" i="0">
                <a:solidFill>
                  <a:srgbClr val="E4E1F1"/>
                </a:solidFill>
                <a:latin typeface="Consolas"/>
              </a:rPr>
              <a:t>    q1 = n_orders - q2                      # each order lands by a coin</a:t>
            </a:r>
          </a:p>
          <a:p>
            <a:pPr>
              <a:spcAft>
                <a:spcPts val="200"/>
              </a:spcAft>
            </a:pPr>
            <a:r>
              <a:rPr sz="1400" b="0" i="0">
                <a:solidFill>
                  <a:srgbClr val="E4E1F1"/>
                </a:solidFill>
                <a:latin typeface="Consolas"/>
              </a:rPr>
              <a:t>    rises.append(q2 / q1 - 1)               # one world's rise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share of coin-flip worlds show a rise of 40 percent or more? a) under 1 percent; b) about 5 percent; c) about 40 percent; d) all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1" name="Oval 20"/>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3" name="Oval 22"/>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5" name="Oval 24"/>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0.397 of worlds, about four in 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often does chance alone make a 40 percent rise on Student's count?</a:t>
            </a:r>
          </a:p>
        </p:txBody>
      </p:sp>
      <p:pic>
        <p:nvPicPr>
          <p:cNvPr id="9" name="mermaid diagram" descr="a945d6cb70eab69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c. Chance makes Meera's headline in 1,985 of 5,000 worlds, 0.397. On Retail-Core's 73 orders the same rise turns up in 0.086, and on an invented 400 in under 0.002.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42 percent on 12, or 31 on 1,200?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rate does an interviewer expect you to trust, and why?</a:t>
            </a:r>
          </a:p>
        </p:txBody>
      </p:sp>
      <p:sp>
        <p:nvSpPr>
          <p:cNvPr id="9" name="Rounded Rectangle 8"/>
          <p:cNvSpPr/>
          <p:nvPr/>
        </p:nvSpPr>
        <p:spPr>
          <a:xfrm>
            <a:off x="530352" y="168249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1885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ic_caee7398c80d.png"/>
          <p:cNvPicPr>
            <a:picLocks noChangeAspect="1"/>
          </p:cNvPicPr>
          <p:nvPr/>
        </p:nvPicPr>
        <p:blipFill>
          <a:blip r:embed="rId5"/>
          <a:stretch>
            <a:fillRect/>
          </a:stretch>
        </p:blipFill>
        <p:spPr>
          <a:xfrm>
            <a:off x="868680" y="199491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3" name="TextBox 12"/>
          <p:cNvSpPr txBox="1"/>
          <p:nvPr/>
        </p:nvSpPr>
        <p:spPr>
          <a:xfrm>
            <a:off x="1399031" y="2048256"/>
            <a:ext cx="9987991" cy="423672"/>
          </a:xfrm>
          <a:prstGeom prst="rect">
            <a:avLst/>
          </a:prstGeom>
          <a:noFill/>
        </p:spPr>
        <p:txBody>
          <a:bodyPr wrap="square" anchor="t" lIns="0" rIns="0" tIns="0" bIns="0">
            <a:spAutoFit/>
          </a:bodyPr>
          <a:lstStyle/>
          <a:p>
            <a:r>
              <a:rPr sz="1500" b="0" i="0">
                <a:solidFill>
                  <a:srgbClr val="1A1440"/>
                </a:solidFill>
                <a:latin typeface="Calibri"/>
              </a:rPr>
              <a:t>[F] 42 percent on 12 users against 31 percent on 1,200; which do you trust?</a:t>
            </a:r>
          </a:p>
        </p:txBody>
      </p:sp>
      <p:sp>
        <p:nvSpPr>
          <p:cNvPr id="14" name="Rounded Rectangle 13"/>
          <p:cNvSpPr/>
          <p:nvPr/>
        </p:nvSpPr>
        <p:spPr>
          <a:xfrm>
            <a:off x="530352" y="2709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837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82854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 earns the offer? a) 42 percent, since it is higher; b) 31 percent, since 1,200 is more; c) 31 percent as the estimate, 42 percent as a lead to measure further; d) neither, since they cannot be compared.</a:t>
            </a:r>
          </a:p>
        </p:txBody>
      </p:sp>
      <p:pic>
        <p:nvPicPr>
          <p:cNvPr id="17" name="mermaid diagram" descr="08a97fb9c9cd154b.png"/>
          <p:cNvPicPr>
            <a:picLocks noChangeAspect="1"/>
          </p:cNvPicPr>
          <p:nvPr/>
        </p:nvPicPr>
        <p:blipFill>
          <a:blip r:embed="rId6"/>
          <a:stretch>
            <a:fillRect/>
          </a:stretch>
        </p:blipFill>
        <p:spPr>
          <a:xfrm>
            <a:off x="3770282" y="3948684"/>
            <a:ext cx="4651130" cy="2250948"/>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2" name="Oval 21"/>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4" name="Oval 23"/>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6" name="Oval 25"/>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54 / 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trust the count, and keep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 you trust, 42 percent on 12 users or 31 percent on 1,200?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64041"/>
                <a:gridCol w="3802908"/>
                <a:gridCol w="366404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42 percent on 12</a:t>
                      </a:r>
                    </a:p>
                  </a:txBody>
                  <a:tcPr marL="101600" marR="101600" marT="38100" marB="38100" anchor="ctr">
                    <a:solidFill>
                      <a:srgbClr val="1A0F5C"/>
                    </a:solidFill>
                  </a:tcPr>
                </a:tc>
                <a:tc>
                  <a:txBody>
                    <a:bodyPr/>
                    <a:lstStyle/>
                    <a:p>
                      <a:r>
                        <a:rPr sz="1450" b="1" i="0">
                          <a:solidFill>
                            <a:srgbClr val="FFFFFF"/>
                          </a:solidFill>
                          <a:latin typeface="Calibri"/>
                        </a:rPr>
                        <a:t>31 percent on 1,200</a:t>
                      </a:r>
                    </a:p>
                  </a:txBody>
                  <a:tcPr marL="101600" marR="101600" marT="38100" marB="38100" anchor="ctr">
                    <a:solidFill>
                      <a:srgbClr val="1A0F5C"/>
                    </a:solidFill>
                  </a:tcPr>
                </a:tc>
              </a:tr>
              <a:tr h="369824">
                <a:tc>
                  <a:txBody>
                    <a:bodyPr/>
                    <a:lstStyle/>
                    <a:p>
                      <a:r>
                        <a:rPr sz="1400" b="0" i="0">
                          <a:solidFill>
                            <a:srgbClr val="1A1440"/>
                          </a:solidFill>
                          <a:latin typeface="Calibri"/>
                        </a:rPr>
                        <a:t>One person changes it by</a:t>
                      </a:r>
                    </a:p>
                  </a:txBody>
                  <a:tcPr marL="101600" marR="101600" marT="38100" marB="38100" anchor="ctr">
                    <a:solidFill>
                      <a:srgbClr val="FFFFFF"/>
                    </a:solidFill>
                  </a:tcPr>
                </a:tc>
                <a:tc>
                  <a:txBody>
                    <a:bodyPr/>
                    <a:lstStyle/>
                    <a:p>
                      <a:r>
                        <a:rPr sz="1400" b="0" i="0">
                          <a:solidFill>
                            <a:srgbClr val="1A1440"/>
                          </a:solidFill>
                          <a:latin typeface="Calibri"/>
                        </a:rPr>
                        <a:t>about 8 points</a:t>
                      </a:r>
                    </a:p>
                  </a:txBody>
                  <a:tcPr marL="101600" marR="101600" marT="38100" marB="38100" anchor="ctr">
                    <a:solidFill>
                      <a:srgbClr val="FFFFFF"/>
                    </a:solidFill>
                  </a:tcPr>
                </a:tc>
                <a:tc>
                  <a:txBody>
                    <a:bodyPr/>
                    <a:lstStyle/>
                    <a:p>
                      <a:r>
                        <a:rPr sz="1400" b="0" i="0">
                          <a:solidFill>
                            <a:srgbClr val="1A1440"/>
                          </a:solidFill>
                          <a:latin typeface="Calibri"/>
                        </a:rPr>
                        <a:t>under a tenth of a point</a:t>
                      </a:r>
                    </a:p>
                  </a:txBody>
                  <a:tcPr marL="101600" marR="101600" marT="38100" marB="38100" anchor="ctr">
                    <a:solidFill>
                      <a:srgbClr val="FFFFFF"/>
                    </a:solidFill>
                  </a:tcPr>
                </a:tc>
              </a:tr>
              <a:tr h="369824">
                <a:tc>
                  <a:txBody>
                    <a:bodyPr/>
                    <a:lstStyle/>
                    <a:p>
                      <a:r>
                        <a:rPr sz="1400" b="0" i="0">
                          <a:solidFill>
                            <a:srgbClr val="1A1440"/>
                          </a:solidFill>
                          <a:latin typeface="Calibri"/>
                        </a:rPr>
                        <a:t>What it is</a:t>
                      </a:r>
                    </a:p>
                  </a:txBody>
                  <a:tcPr marL="101600" marR="101600" marT="38100" marB="38100" anchor="ctr">
                    <a:solidFill>
                      <a:srgbClr val="F4F2FA"/>
                    </a:solidFill>
                  </a:tcPr>
                </a:tc>
                <a:tc>
                  <a:txBody>
                    <a:bodyPr/>
                    <a:lstStyle/>
                    <a:p>
                      <a:r>
                        <a:rPr sz="1400" b="0" i="0">
                          <a:solidFill>
                            <a:srgbClr val="1A1440"/>
                          </a:solidFill>
                          <a:latin typeface="Calibri"/>
                        </a:rPr>
                        <a:t>a lead to measure</a:t>
                      </a:r>
                    </a:p>
                  </a:txBody>
                  <a:tcPr marL="101600" marR="101600" marT="38100" marB="38100" anchor="ctr">
                    <a:solidFill>
                      <a:srgbClr val="F4F2FA"/>
                    </a:solidFill>
                  </a:tcPr>
                </a:tc>
                <a:tc>
                  <a:txBody>
                    <a:bodyPr/>
                    <a:lstStyle/>
                    <a:p>
                      <a:r>
                        <a:rPr sz="1400" b="0" i="0">
                          <a:solidFill>
                            <a:srgbClr val="1A1440"/>
                          </a:solidFill>
                          <a:latin typeface="Calibri"/>
                        </a:rPr>
                        <a:t>an estimate to use</a:t>
                      </a:r>
                    </a:p>
                  </a:txBody>
                  <a:tcPr marL="101600" marR="101600" marT="38100" marB="38100" anchor="ctr">
                    <a:solidFill>
                      <a:srgbClr val="F4F2FA"/>
                    </a:solidFill>
                  </a:tcPr>
                </a:tc>
              </a:tr>
              <a:tr h="369824">
                <a:tc>
                  <a:txBody>
                    <a:bodyPr/>
                    <a:lstStyle/>
                    <a:p>
                      <a:r>
                        <a:rPr sz="1400" b="0" i="0">
                          <a:solidFill>
                            <a:srgbClr val="1A1440"/>
                          </a:solidFill>
                          <a:latin typeface="Calibri"/>
                        </a:rPr>
                        <a:t>What you say</a:t>
                      </a:r>
                    </a:p>
                  </a:txBody>
                  <a:tcPr marL="101600" marR="101600" marT="38100" marB="38100" anchor="ctr">
                    <a:solidFill>
                      <a:srgbClr val="FFFFFF"/>
                    </a:solidFill>
                  </a:tcPr>
                </a:tc>
                <a:tc>
                  <a:txBody>
                    <a:bodyPr/>
                    <a:lstStyle/>
                    <a:p>
                      <a:r>
                        <a:rPr sz="1400" b="0" i="0">
                          <a:solidFill>
                            <a:srgbClr val="1A1440"/>
                          </a:solidFill>
                          <a:latin typeface="Calibri"/>
                        </a:rPr>
                        <a:t>"promising, measure more"</a:t>
                      </a:r>
                    </a:p>
                  </a:txBody>
                  <a:tcPr marL="101600" marR="101600" marT="38100" marB="38100" anchor="ctr">
                    <a:solidFill>
                      <a:srgbClr val="FFFFFF"/>
                    </a:solidFill>
                  </a:tcPr>
                </a:tc>
                <a:tc>
                  <a:txBody>
                    <a:bodyPr/>
                    <a:lstStyle/>
                    <a:p>
                      <a:r>
                        <a:rPr sz="1400" b="0" i="0">
                          <a:solidFill>
                            <a:srgbClr val="1A1440"/>
                          </a:solidFill>
                          <a:latin typeface="Calibri"/>
                        </a:rPr>
                        <a:t>"our working number"</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Option b is right for the wrong reason: 1,200 makes 31 stable, and stability is what earns trust. At a true 31 percent, groups of twelve show 42 or more about a third of the time.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55 /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every deal, and real handfuls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an exact count of every deal, and real handfuls from another segment, agree?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0.397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COIN FLIPS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5,000 sampled worlds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0.387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EVERY DEAL, COUNTED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exact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0.344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 HANDFULS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Student-sized, from a segment that fell 3 percent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Count every deal while the count is small enough to list; flip coins once the list runs into the billions. The handfuls show the swing belongs to small counts, whatever segment they come from.</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8" name="Oval 27"/>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30" name="Oval 29"/>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2" name="Oval 3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56 / 86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yet: too few customers behind the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how many customers stand behind the 40 percent, and should budget move there?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135700"/>
                <a:gridCol w="6995290"/>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fits Monday?</a:t>
                      </a:r>
                    </a:p>
                  </a:txBody>
                  <a:tcPr marL="101600" marR="101600" marT="38100" marB="38100" anchor="ctr">
                    <a:solidFill>
                      <a:srgbClr val="FFFFFF"/>
                    </a:solidFill>
                  </a:tcPr>
                </a:tc>
                <a:tc>
                  <a:txBody>
                    <a:bodyPr/>
                    <a:lstStyle/>
                    <a:p>
                      <a:r>
                        <a:rPr sz="900" b="0" i="0">
                          <a:solidFill>
                            <a:srgbClr val="1A1440"/>
                          </a:solidFill>
                          <a:latin typeface="Calibri"/>
                        </a:rPr>
                        <a:t>Coin flips on the count, said with the rule</a:t>
                      </a:r>
                    </a:p>
                  </a:txBody>
                  <a:tcPr marL="101600" marR="101600" marT="38100" marB="38100" anchor="ctr">
                    <a:solidFill>
                      <a:srgbClr val="FFFFFF"/>
                    </a:solidFill>
                  </a:tcPr>
                </a:tc>
              </a:tr>
              <a:tr h="310896">
                <a:tc>
                  <a:txBody>
                    <a:bodyPr/>
                    <a:lstStyle/>
                    <a:p>
                      <a:r>
                        <a:rPr sz="900" b="0" i="0">
                          <a:solidFill>
                            <a:srgbClr val="1A1440"/>
                          </a:solidFill>
                          <a:latin typeface="Calibri"/>
                        </a:rPr>
                        <a:t>2. Which segment rose fastest?</a:t>
                      </a:r>
                    </a:p>
                  </a:txBody>
                  <a:tcPr marL="101600" marR="101600" marT="38100" marB="38100" anchor="ctr">
                    <a:solidFill>
                      <a:srgbClr val="F4F2FA"/>
                    </a:solidFill>
                  </a:tcPr>
                </a:tc>
                <a:tc>
                  <a:txBody>
                    <a:bodyPr/>
                    <a:lstStyle/>
                    <a:p>
                      <a:r>
                        <a:rPr sz="900" b="0" i="0">
                          <a:solidFill>
                            <a:srgbClr val="1A1440"/>
                          </a:solidFill>
                          <a:latin typeface="Calibri"/>
                        </a:rPr>
                        <a:t>Student: 140 orders for every 100 in Q1</a:t>
                      </a:r>
                    </a:p>
                  </a:txBody>
                  <a:tcPr marL="101600" marR="101600" marT="38100" marB="38100" anchor="ctr">
                    <a:solidFill>
                      <a:srgbClr val="F4F2FA"/>
                    </a:solidFill>
                  </a:tcPr>
                </a:tc>
              </a:tr>
              <a:tr h="310896">
                <a:tc>
                  <a:txBody>
                    <a:bodyPr/>
                    <a:lstStyle/>
                    <a:p>
                      <a:r>
                        <a:rPr sz="900" b="0" i="0">
                          <a:solidFill>
                            <a:srgbClr val="1A1440"/>
                          </a:solidFill>
                          <a:latin typeface="Calibri"/>
                        </a:rPr>
                        <a:t>3. Budget to the fastest riser?</a:t>
                      </a:r>
                    </a:p>
                  </a:txBody>
                  <a:tcPr marL="101600" marR="101600" marT="38100" marB="38100" anchor="ctr">
                    <a:solidFill>
                      <a:srgbClr val="FFFFFF"/>
                    </a:solidFill>
                  </a:tcPr>
                </a:tc>
                <a:tc>
                  <a:txBody>
                    <a:bodyPr/>
                    <a:lstStyle/>
                    <a:p>
                      <a:r>
                        <a:rPr sz="900" b="0" i="0">
                          <a:solidFill>
                            <a:srgbClr val="1A1440"/>
                          </a:solidFill>
                          <a:latin typeface="Calibri"/>
                        </a:rPr>
                        <a:t>Not on the rate: under thirty customers stand behind it</a:t>
                      </a:r>
                    </a:p>
                  </a:txBody>
                  <a:tcPr marL="101600" marR="101600" marT="38100" marB="38100" anchor="ctr">
                    <a:solidFill>
                      <a:srgbClr val="FFFFFF"/>
                    </a:solidFill>
                  </a:tcPr>
                </a:tc>
              </a:tr>
              <a:tr h="310896">
                <a:tc>
                  <a:txBody>
                    <a:bodyPr/>
                    <a:lstStyle/>
                    <a:p>
                      <a:r>
                        <a:rPr sz="900" b="0" i="0">
                          <a:solidFill>
                            <a:srgbClr val="1A1440"/>
                          </a:solidFill>
                          <a:latin typeface="Calibri"/>
                        </a:rPr>
                        <a:t>4. How often by chance?</a:t>
                      </a:r>
                    </a:p>
                  </a:txBody>
                  <a:tcPr marL="101600" marR="101600" marT="38100" marB="38100" anchor="ctr">
                    <a:solidFill>
                      <a:srgbClr val="F4F2FA"/>
                    </a:solidFill>
                  </a:tcPr>
                </a:tc>
                <a:tc>
                  <a:txBody>
                    <a:bodyPr/>
                    <a:lstStyle/>
                    <a:p>
                      <a:r>
                        <a:rPr sz="900" b="0" i="0">
                          <a:solidFill>
                            <a:srgbClr val="1A1440"/>
                          </a:solidFill>
                          <a:latin typeface="Calibri"/>
                        </a:rPr>
                        <a:t>0.397 of worlds; 0.086 on Retail-Core's 73 orders</a:t>
                      </a:r>
                    </a:p>
                  </a:txBody>
                  <a:tcPr marL="101600" marR="101600" marT="38100" marB="38100" anchor="ctr">
                    <a:solidFill>
                      <a:srgbClr val="F4F2FA"/>
                    </a:solidFill>
                  </a:tcPr>
                </a:tc>
              </a:tr>
              <a:tr h="310896">
                <a:tc>
                  <a:txBody>
                    <a:bodyPr/>
                    <a:lstStyle/>
                    <a:p>
                      <a:r>
                        <a:rPr sz="900" b="0" i="0">
                          <a:solidFill>
                            <a:srgbClr val="1A1440"/>
                          </a:solidFill>
                          <a:latin typeface="Calibri"/>
                        </a:rPr>
                        <a:t>5. 42 on 12, or 31 on 1,200?</a:t>
                      </a:r>
                    </a:p>
                  </a:txBody>
                  <a:tcPr marL="101600" marR="101600" marT="38100" marB="38100" anchor="ctr">
                    <a:solidFill>
                      <a:srgbClr val="FFFFFF"/>
                    </a:solidFill>
                  </a:tcPr>
                </a:tc>
                <a:tc>
                  <a:txBody>
                    <a:bodyPr/>
                    <a:lstStyle/>
                    <a:p>
                      <a:r>
                        <a:rPr sz="900" b="0" i="0">
                          <a:solidFill>
                            <a:srgbClr val="1A1440"/>
                          </a:solidFill>
                          <a:latin typeface="Calibri"/>
                        </a:rPr>
                        <a:t>31 as the estimate; 42 as a lead to measure</a:t>
                      </a:r>
                    </a:p>
                  </a:txBody>
                  <a:tcPr marL="101600" marR="101600" marT="38100" marB="38100" anchor="ctr">
                    <a:solidFill>
                      <a:srgbClr val="FFFFFF"/>
                    </a:solidFill>
                  </a:tcPr>
                </a:tc>
              </a:tr>
              <a:tr h="310896">
                <a:tc>
                  <a:txBody>
                    <a:bodyPr/>
                    <a:lstStyle/>
                    <a:p>
                      <a:r>
                        <a:rPr sz="900" b="0" i="0">
                          <a:solidFill>
                            <a:srgbClr val="1A1440"/>
                          </a:solidFill>
                          <a:latin typeface="Calibri"/>
                        </a:rPr>
                        <a:t>6. Do other routes agree?</a:t>
                      </a:r>
                    </a:p>
                  </a:txBody>
                  <a:tcPr marL="101600" marR="101600" marT="38100" marB="38100" anchor="ctr">
                    <a:solidFill>
                      <a:srgbClr val="F4F2FA"/>
                    </a:solidFill>
                  </a:tcPr>
                </a:tc>
                <a:tc>
                  <a:txBody>
                    <a:bodyPr/>
                    <a:lstStyle/>
                    <a:p>
                      <a:r>
                        <a:rPr sz="900" b="0" i="0">
                          <a:solidFill>
                            <a:srgbClr val="1A1440"/>
                          </a:solidFill>
                          <a:latin typeface="Calibri"/>
                        </a:rPr>
                        <a:t>Yes: every deal 0.387, real handfuls 0.344</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Student's rise is real arithmetic on too few orders, from too few customers, to act on. Count both, say how often chance makes the rise, and give Meera the number of customers that would reopen it. That is a complete answer, and it costs nothing to be right later.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42 percent on 12 users against 31 percent on 1,200; which do you trust?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57 / 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discount work?</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says the monsoon sale lifted revenue 6 percent: did the discount work, or did those customers buy anyway?</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58 /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Diwali is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budget, and the marketing lead, who owns the campaign, wants it repeated at 15 percent off. A wrong yes gives 15 percent of the price to customers who would have bought anyway, at Diwali's scale.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support?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blend, split, one mix</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6 percent rebuild?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Marketing's number, reproduced</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Repeat it for Diwali?</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Inside each segment?</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split, by the room</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line to Meera</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One mix, the same answer?</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it can and cannot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51" name="Oval 5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claims 6 percent, and wants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sale do, what does Marketing claim, and what would a repeat cost?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"Did the discount work, or did those customers buy anyway?" Meera Raghavan, with the marketing lead's report open</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OFF</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Monsoon Sale, 5 to 19 August, aimed at Retail-Plus</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CLAIMED LIFT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marketing lead's report</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17.6%</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MORE ORDERS</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needed at 15 percent off just to stand still</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0" name="Oval 29"/>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2" name="Oval 31"/>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4" name="Oval 33"/>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and Berkeley: averages that hid a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Have real organisations seen a total say the opposite of its parts?</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A MARKETPLACE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eBay, search ads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New and infrequent users bought more after an ad; frequent users, whose buying the ads did not change, took most of the ad spend, so the average return was negative.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raduation-cap_203dca4ca8a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A PUBLIC CASE</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UC Berkeley, 1973</a:t>
            </a:r>
          </a:p>
        </p:txBody>
      </p:sp>
      <p:sp>
        <p:nvSpPr>
          <p:cNvPr id="20" name="TextBox 19"/>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About 44 percent of men and 35 percent of women were admitted overall; department by department the small bias ran in favour of women.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3" name="Oval 2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5" name="Oval 2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7" name="Oval 2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9" name="Oval 2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Split inside each segment; one mix as its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"did the discount work?" can the files support?</a:t>
            </a:r>
          </a:p>
        </p:txBody>
      </p:sp>
      <p:graphicFrame>
        <p:nvGraphicFramePr>
          <p:cNvPr id="9" name="Table 8"/>
          <p:cNvGraphicFramePr>
            <a:graphicFrameLocks noGrp="1"/>
          </p:cNvGraphicFramePr>
          <p:nvPr/>
        </p:nvGraphicFramePr>
        <p:xfrm>
          <a:off x="530352" y="1956816"/>
          <a:ext cx="11130991" cy="2816352"/>
        </p:xfrm>
        <a:graphic>
          <a:graphicData uri="http://schemas.openxmlformats.org/drawingml/2006/table">
            <a:tbl>
              <a:tblPr firstRow="0" bandRow="0">
                <a:tableStyleId>{2D5ABB26-0587-4C30-8999-92F81FD0307C}</a:tableStyleId>
              </a:tblPr>
              <a:tblGrid>
                <a:gridCol w="1977531"/>
                <a:gridCol w="4905244"/>
                <a:gridCol w="42482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What it risks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the sale month against the month before</a:t>
                      </a:r>
                    </a:p>
                  </a:txBody>
                  <a:tcPr marL="101600" marR="101600" marT="38100" marB="38100" anchor="ctr">
                    <a:solidFill>
                      <a:srgbClr val="FFFFFF"/>
                    </a:solidFill>
                  </a:tcPr>
                </a:tc>
                <a:tc>
                  <a:txBody>
                    <a:bodyPr/>
                    <a:lstStyle/>
                    <a:p>
                      <a:r>
                        <a:rPr sz="1400" b="0" i="0">
                          <a:solidFill>
                            <a:srgbClr val="1A1440"/>
                          </a:solidFill>
                          <a:latin typeface="Calibri"/>
                        </a:rPr>
                        <a:t>Everything else that changed that month</a:t>
                      </a:r>
                    </a:p>
                  </a:txBody>
                  <a:tcPr marL="101600" marR="101600" marT="38100" marB="38100" anchor="ctr">
                    <a:solidFill>
                      <a:srgbClr val="FFFFFF"/>
                    </a:solidFill>
                  </a:tcPr>
                </a:tc>
              </a:tr>
              <a:tr h="611632">
                <a:tc>
                  <a:txBody>
                    <a:bodyPr/>
                    <a:lstStyle/>
                    <a:p>
                      <a:r>
                        <a:rPr sz="1400" b="0" i="0">
                          <a:solidFill>
                            <a:srgbClr val="1A1440"/>
                          </a:solidFill>
                          <a:latin typeface="Calibri"/>
                        </a:rPr>
                        <a:t>B. Blended</a:t>
                      </a:r>
                    </a:p>
                  </a:txBody>
                  <a:tcPr marL="101600" marR="101600" marT="38100" marB="38100" anchor="ctr">
                    <a:solidFill>
                      <a:srgbClr val="F4F2FA"/>
                    </a:solidFill>
                  </a:tcPr>
                </a:tc>
                <a:tc>
                  <a:txBody>
                    <a:bodyPr/>
                    <a:lstStyle/>
                    <a:p>
                      <a:r>
                        <a:rPr sz="1400" b="0" i="0">
                          <a:solidFill>
                            <a:srgbClr val="1A1440"/>
                          </a:solidFill>
                          <a:latin typeface="Calibri"/>
                        </a:rPr>
                        <a:t>The platform's list: everyone who got it against everyone who did not</a:t>
                      </a:r>
                    </a:p>
                  </a:txBody>
                  <a:tcPr marL="101600" marR="101600" marT="38100" marB="38100" anchor="ctr">
                    <a:solidFill>
                      <a:srgbClr val="F4F2FA"/>
                    </a:solidFill>
                  </a:tcPr>
                </a:tc>
                <a:tc>
                  <a:txBody>
                    <a:bodyPr/>
                    <a:lstStyle/>
                    <a:p>
                      <a:r>
                        <a:rPr sz="1400" b="0" i="0">
                          <a:solidFill>
                            <a:srgbClr val="1A1440"/>
                          </a:solidFill>
                          <a:latin typeface="Calibri"/>
                        </a:rPr>
                        <a:t>Two groups built from different customers</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same comparison, segment by segment</a:t>
                      </a:r>
                    </a:p>
                  </a:txBody>
                  <a:tcPr marL="101600" marR="101600" marT="38100" marB="38100" anchor="ctr">
                    <a:solidFill>
                      <a:srgbClr val="FFFFFF"/>
                    </a:solidFill>
                  </a:tcPr>
                </a:tc>
                <a:tc>
                  <a:txBody>
                    <a:bodyPr/>
                    <a:lstStyle/>
                    <a:p>
                      <a:r>
                        <a:rPr sz="1400" b="0" i="0">
                          <a:solidFill>
                            <a:srgbClr val="1A1440"/>
                          </a:solidFill>
                          <a:latin typeface="Calibri"/>
                        </a:rPr>
                        <a:t>Anything that differs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Both on one mix</a:t>
                      </a:r>
                    </a:p>
                  </a:txBody>
                  <a:tcPr marL="101600" marR="101600" marT="38100" marB="38100" anchor="ctr">
                    <a:solidFill>
                      <a:srgbClr val="F4F2FA"/>
                    </a:solidFill>
                  </a:tcPr>
                </a:tc>
                <a:tc>
                  <a:txBody>
                    <a:bodyPr/>
                    <a:lstStyle/>
                    <a:p>
                      <a:r>
                        <a:rPr sz="1400" b="0" i="0">
                          <a:solidFill>
                            <a:srgbClr val="1A1440"/>
                          </a:solidFill>
                          <a:latin typeface="Calibri"/>
                        </a:rPr>
                        <a:t>Segment averages weighted to one mix</a:t>
                      </a:r>
                    </a:p>
                  </a:txBody>
                  <a:tcPr marL="101600" marR="101600" marT="38100" marB="38100" anchor="ctr">
                    <a:solidFill>
                      <a:srgbClr val="F4F2FA"/>
                    </a:solidFill>
                  </a:tcPr>
                </a:tc>
                <a:tc>
                  <a:txBody>
                    <a:bodyPr/>
                    <a:lstStyle/>
                    <a:p>
                      <a:r>
                        <a:rPr sz="1400" b="0" i="0">
                          <a:solidFill>
                            <a:srgbClr val="1A1440"/>
                          </a:solidFill>
                          <a:latin typeface="Calibri"/>
                        </a:rPr>
                        <a:t>Nothing beyond C: it agrees with C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50292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572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4807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with D as its one-line form. </a:t>
            </a:r>
            <a:r>
              <a:rPr sz="1500" b="1" i="0">
                <a:solidFill>
                  <a:srgbClr val="1A1440"/>
                </a:solidFill>
                <a:latin typeface="Calibri"/>
              </a:rPr>
              <a:t>What would change it.</a:t>
            </a:r>
            <a:r>
              <a:rPr sz="1500" b="0" i="0">
                <a:solidFill>
                  <a:srgbClr val="1A1440"/>
                </a:solidFill>
                <a:latin typeface="Calibri"/>
              </a:rPr>
              <a:t> A group chosen at random, which makes B fair.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Marketing's number reproduce?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disagreeing with anyone's number, does it rebuild from the same tables?</a:t>
            </a:r>
          </a:p>
        </p:txBody>
      </p:sp>
      <p:pic>
        <p:nvPicPr>
          <p:cNvPr id="9" name="mermaid diagram" descr="92cc521a839d8ba8.png"/>
          <p:cNvPicPr>
            <a:picLocks noChangeAspect="1"/>
          </p:cNvPicPr>
          <p:nvPr/>
        </p:nvPicPr>
        <p:blipFill>
          <a:blip r:embed="rId5"/>
          <a:stretch>
            <a:fillRect/>
          </a:stretch>
        </p:blipFill>
        <p:spPr>
          <a:xfrm>
            <a:off x="3490692" y="1664208"/>
            <a:ext cx="5210310" cy="2340863"/>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exposure table is the campaign platform's August list: 160 customers under its own ids, one average August spend per group, recording who received the sale whatever it was aimed at. It cannot be matched to Finance's order file.</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Marketing's lift will come out at: a) about 6 percent, as reported; b) about 3 percent; c) negative; d) impossible to reproduce from these tables.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6" name="Oval 1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8" name="Oval 17"/>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0" name="Oval 19"/>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2" name="Oval 21"/>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as 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Marketing's 6 percent rebuild from the same tables?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3,395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GOT THE SALE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3,200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DID NOT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 revenue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BLENDED LIFT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number, reproduced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Marketing's arithmetic is right, so any disagreement has to be about which customers the two averages compare.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repeat it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reproduced lift send the sale to Diwali?</a:t>
            </a:r>
          </a:p>
        </p:txBody>
      </p:sp>
      <p:pic>
        <p:nvPicPr>
          <p:cNvPr id="9" name="mermaid diagram" descr="797fc483bbb751ec.png"/>
          <p:cNvPicPr>
            <a:picLocks noChangeAspect="1"/>
          </p:cNvPicPr>
          <p:nvPr/>
        </p:nvPicPr>
        <p:blipFill>
          <a:blip r:embed="rId6"/>
          <a:stretch>
            <a:fillRect/>
          </a:stretch>
        </p:blipFill>
        <p:spPr>
          <a:xfrm>
            <a:off x="2152497" y="1956816"/>
            <a:ext cx="7886700" cy="2357437"/>
          </a:xfrm>
          <a:prstGeom prst="rect">
            <a:avLst/>
          </a:prstGeom>
        </p:spPr>
      </p:pic>
      <p:sp>
        <p:nvSpPr>
          <p:cNvPr id="10" name="Rounded Rectangle 9"/>
          <p:cNvSpPr/>
          <p:nvPr/>
        </p:nvSpPr>
        <p:spPr>
          <a:xfrm>
            <a:off x="530352" y="446055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9278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902517"/>
            <a:ext cx="237744" cy="237744"/>
          </a:xfrm>
          <a:prstGeom prst="rect">
            <a:avLst/>
          </a:prstGeom>
        </p:spPr>
      </p:pic>
      <p:sp>
        <p:nvSpPr>
          <p:cNvPr id="13" name="TextBox 12"/>
          <p:cNvSpPr txBox="1"/>
          <p:nvPr/>
        </p:nvSpPr>
        <p:spPr>
          <a:xfrm>
            <a:off x="1399031" y="46068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826317"/>
            <a:ext cx="9987991" cy="682752"/>
          </a:xfrm>
          <a:prstGeom prst="rect">
            <a:avLst/>
          </a:prstGeom>
          <a:noFill/>
        </p:spPr>
        <p:txBody>
          <a:bodyPr wrap="square" anchor="t" lIns="0" rIns="0" tIns="0" bIns="0">
            <a:spAutoFit/>
          </a:bodyPr>
          <a:lstStyle/>
          <a:p>
            <a:r>
              <a:rPr sz="1500" b="0" i="0">
                <a:solidFill>
                  <a:srgbClr val="1A1440"/>
                </a:solidFill>
                <a:latin typeface="Calibri"/>
              </a:rPr>
              <a:t>"The discount worked: exposed customers spent Rs 3,395 against Rs 3,200, up 6.1%; repeat it for Diwali." A correct number on a comparison nobody checked.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can be wrong: a blend of unlike groups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rise while every group inside it falls?</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3693928"/>
                <a:gridCol w="3693928"/>
                <a:gridCol w="3743134"/>
              </a:tblGrid>
              <a:tr h="369824">
                <a:tc>
                  <a:txBody>
                    <a:bodyPr/>
                    <a:lstStyle/>
                    <a:p>
                      <a:r>
                        <a:rPr sz="1450" b="1" i="0">
                          <a:solidFill>
                            <a:srgbClr val="FFFFFF"/>
                          </a:solidFill>
                          <a:latin typeface="Calibri"/>
                        </a:rPr>
                        <a:t>Invented, 20 customers</a:t>
                      </a:r>
                    </a:p>
                  </a:txBody>
                  <a:tcPr marL="101600" marR="101600" marT="38100" marB="38100" anchor="ctr">
                    <a:solidFill>
                      <a:srgbClr val="1A0F5C"/>
                    </a:solidFill>
                  </a:tcPr>
                </a:tc>
                <a:tc>
                  <a:txBody>
                    <a:bodyPr/>
                    <a:lstStyle/>
                    <a:p>
                      <a:r>
                        <a:rPr sz="1450" b="1" i="0">
                          <a:solidFill>
                            <a:srgbClr val="FFFFFF"/>
                          </a:solidFill>
                          <a:latin typeface="Calibri"/>
                        </a:rPr>
                        <a:t>Promoted, 10 customers</a:t>
                      </a:r>
                    </a:p>
                  </a:txBody>
                  <a:tcPr marL="101600" marR="101600" marT="38100" marB="38100" anchor="ctr">
                    <a:solidFill>
                      <a:srgbClr val="1A0F5C"/>
                    </a:solidFill>
                  </a:tcPr>
                </a:tc>
                <a:tc>
                  <a:txBody>
                    <a:bodyPr/>
                    <a:lstStyle/>
                    <a:p>
                      <a:r>
                        <a:rPr sz="1450" b="1" i="0">
                          <a:solidFill>
                            <a:srgbClr val="FFFFFF"/>
                          </a:solidFill>
                          <a:latin typeface="Calibri"/>
                        </a:rPr>
                        <a:t>Others, 10 customers</a:t>
                      </a:r>
                    </a:p>
                  </a:txBody>
                  <a:tcPr marL="101600" marR="101600" marT="38100" marB="38100" anchor="ctr">
                    <a:solidFill>
                      <a:srgbClr val="1A0F5C"/>
                    </a:solidFill>
                  </a:tcPr>
                </a:tc>
              </a:tr>
              <a:tr h="369824">
                <a:tc>
                  <a:txBody>
                    <a:bodyPr/>
                    <a:lstStyle/>
                    <a:p>
                      <a:r>
                        <a:rPr sz="1400" b="0" i="0">
                          <a:solidFill>
                            <a:srgbClr val="1A1440"/>
                          </a:solidFill>
                          <a:latin typeface="Calibri"/>
                        </a:rPr>
                        <a:t>Big-store customers</a:t>
                      </a:r>
                    </a:p>
                  </a:txBody>
                  <a:tcPr marL="101600" marR="101600" marT="38100" marB="38100" anchor="ctr">
                    <a:solidFill>
                      <a:srgbClr val="FFFFFF"/>
                    </a:solidFill>
                  </a:tcPr>
                </a:tc>
                <a:tc>
                  <a:txBody>
                    <a:bodyPr/>
                    <a:lstStyle/>
                    <a:p>
                      <a:r>
                        <a:rPr sz="1400" b="0" i="0">
                          <a:solidFill>
                            <a:srgbClr val="1A1440"/>
                          </a:solidFill>
                          <a:latin typeface="Calibri"/>
                        </a:rPr>
                        <a:t>8, spending Rs 900 each</a:t>
                      </a:r>
                    </a:p>
                  </a:txBody>
                  <a:tcPr marL="101600" marR="101600" marT="38100" marB="38100" anchor="ctr">
                    <a:solidFill>
                      <a:srgbClr val="FFFFFF"/>
                    </a:solidFill>
                  </a:tcPr>
                </a:tc>
                <a:tc>
                  <a:txBody>
                    <a:bodyPr/>
                    <a:lstStyle/>
                    <a:p>
                      <a:r>
                        <a:rPr sz="1400" b="0" i="0">
                          <a:solidFill>
                            <a:srgbClr val="1A1440"/>
                          </a:solidFill>
                          <a:latin typeface="Calibri"/>
                        </a:rPr>
                        <a:t>2, spending Rs 1,000 each</a:t>
                      </a:r>
                    </a:p>
                  </a:txBody>
                  <a:tcPr marL="101600" marR="101600" marT="38100" marB="38100" anchor="ctr">
                    <a:solidFill>
                      <a:srgbClr val="FFFFFF"/>
                    </a:solidFill>
                  </a:tcPr>
                </a:tc>
              </a:tr>
              <a:tr h="369824">
                <a:tc>
                  <a:txBody>
                    <a:bodyPr/>
                    <a:lstStyle/>
                    <a:p>
                      <a:r>
                        <a:rPr sz="1400" b="0" i="0">
                          <a:solidFill>
                            <a:srgbClr val="1A1440"/>
                          </a:solidFill>
                          <a:latin typeface="Calibri"/>
                        </a:rPr>
                        <a:t>Small-store customers</a:t>
                      </a:r>
                    </a:p>
                  </a:txBody>
                  <a:tcPr marL="101600" marR="101600" marT="38100" marB="38100" anchor="ctr">
                    <a:solidFill>
                      <a:srgbClr val="F4F2FA"/>
                    </a:solidFill>
                  </a:tcPr>
                </a:tc>
                <a:tc>
                  <a:txBody>
                    <a:bodyPr/>
                    <a:lstStyle/>
                    <a:p>
                      <a:r>
                        <a:rPr sz="1400" b="0" i="0">
                          <a:solidFill>
                            <a:srgbClr val="1A1440"/>
                          </a:solidFill>
                          <a:latin typeface="Calibri"/>
                        </a:rPr>
                        <a:t>2, spending Rs 180 each</a:t>
                      </a:r>
                    </a:p>
                  </a:txBody>
                  <a:tcPr marL="101600" marR="101600" marT="38100" marB="38100" anchor="ctr">
                    <a:solidFill>
                      <a:srgbClr val="F4F2FA"/>
                    </a:solidFill>
                  </a:tcPr>
                </a:tc>
                <a:tc>
                  <a:txBody>
                    <a:bodyPr/>
                    <a:lstStyle/>
                    <a:p>
                      <a:r>
                        <a:rPr sz="1400" b="0" i="0">
                          <a:solidFill>
                            <a:srgbClr val="1A1440"/>
                          </a:solidFill>
                          <a:latin typeface="Calibri"/>
                        </a:rPr>
                        <a:t>8, spending Rs 200 each</a:t>
                      </a:r>
                    </a:p>
                  </a:txBody>
                  <a:tcPr marL="101600" marR="101600" marT="38100" marB="38100" anchor="ctr">
                    <a:solidFill>
                      <a:srgbClr val="F4F2FA"/>
                    </a:solidFill>
                  </a:tcPr>
                </a:tc>
              </a:tr>
              <a:tr h="369824">
                <a:tc>
                  <a:txBody>
                    <a:bodyPr/>
                    <a:lstStyle/>
                    <a:p>
                      <a:r>
                        <a:rPr sz="1400" b="1" i="0">
                          <a:solidFill>
                            <a:srgbClr val="1A1440"/>
                          </a:solidFill>
                          <a:latin typeface="Calibri"/>
                        </a:rPr>
                        <a:t>Blended, per customer</a:t>
                      </a:r>
                    </a:p>
                  </a:txBody>
                  <a:tcPr marL="101600" marR="101600" marT="38100" marB="38100" anchor="ctr">
                    <a:solidFill>
                      <a:srgbClr val="FFFFFF"/>
                    </a:solidFill>
                  </a:tcPr>
                </a:tc>
                <a:tc>
                  <a:txBody>
                    <a:bodyPr/>
                    <a:lstStyle/>
                    <a:p>
                      <a:r>
                        <a:rPr sz="1400" b="1" i="0">
                          <a:solidFill>
                            <a:srgbClr val="1A1440"/>
                          </a:solidFill>
                          <a:latin typeface="Calibri"/>
                        </a:rPr>
                        <a:t>Rs 756</a:t>
                      </a:r>
                    </a:p>
                  </a:txBody>
                  <a:tcPr marL="101600" marR="101600" marT="38100" marB="38100" anchor="ctr">
                    <a:solidFill>
                      <a:srgbClr val="FFFFFF"/>
                    </a:solidFill>
                  </a:tcPr>
                </a:tc>
                <a:tc>
                  <a:txBody>
                    <a:bodyPr/>
                    <a:lstStyle/>
                    <a:p>
                      <a:r>
                        <a:rPr sz="1400" b="1" i="0">
                          <a:solidFill>
                            <a:srgbClr val="1A1440"/>
                          </a:solidFill>
                          <a:latin typeface="Calibri"/>
                        </a:rPr>
                        <a:t>Rs 360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Split by segment before trusting a blend, and ask who is in each group: here both stores' promoted customers spent 10 percent less, and the blend more than doubles.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1" name="Oval 20"/>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the same comparison inside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comparison show inside Retail-Plus and inside Retail-Core?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s in ["Retail-Plus", "Retail-Core"]:</a:t>
            </a:r>
          </a:p>
          <a:p>
            <a:pPr>
              <a:spcAft>
                <a:spcPts val="200"/>
              </a:spcAft>
            </a:pPr>
            <a:r>
              <a:rPr sz="1400" b="0" i="0">
                <a:solidFill>
                  <a:srgbClr val="E4E1F1"/>
                </a:solidFill>
                <a:latin typeface="Consolas"/>
              </a:rPr>
              <a:t>    got, did_not = spend(group("yes", s)), spend(group("no", s))</a:t>
            </a:r>
          </a:p>
          <a:p>
            <a:pPr>
              <a:spcAft>
                <a:spcPts val="200"/>
              </a:spcAft>
            </a:pPr>
            <a:r>
              <a:rPr sz="1400" b="0" i="0">
                <a:solidFill>
                  <a:srgbClr val="E4E1F1"/>
                </a:solidFill>
                <a:latin typeface="Consolas"/>
              </a:rPr>
              <a:t>    print(s, f"{got / did_not - 1:+.1%}")      # inside one segment</a:t>
            </a:r>
          </a:p>
          <a:p>
            <a:pPr>
              <a:spcAft>
                <a:spcPts val="200"/>
              </a:spcAft>
            </a:pPr>
            <a:r>
              <a:rPr sz="1400" b="0" i="0">
                <a:solidFill>
                  <a:srgbClr val="E4E1F1"/>
                </a:solidFill>
                <a:latin typeface="Consolas"/>
              </a:rPr>
              <a:t>share_plus = len(group("yes", "Retail-Plus")) / len(group("yes"))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it, read the change inside each segment and the share of each group who are Retail-Plus members, and write what you would tell Meera.</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Inside both segments, the exposed spent 3%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split show, and why did the blend rise?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4,850 against Rs 5,000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1,940 against Rs 2,000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 vs 40%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SHARE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group who got it, and of the rest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blend rose because the group who got the sale held more Retail-Plus members, who spend more than twice as much whatever the sale does: one way in every segment, the other in the blend.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6" name="Oval 2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8" name="Oval 27"/>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30" name="Oval 29"/>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do not repeat it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tell Meera about the discount?</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3958677"/>
                <a:gridCol w="7172313"/>
              </a:tblGrid>
              <a:tr h="369824">
                <a:tc>
                  <a:txBody>
                    <a:bodyPr/>
                    <a:lstStyle/>
                    <a:p>
                      <a:r>
                        <a:rPr sz="1450" b="1" i="0">
                          <a:solidFill>
                            <a:srgbClr val="FFFFFF"/>
                          </a:solidFill>
                          <a:latin typeface="Calibri"/>
                        </a:rPr>
                        <a:t>The draft</a:t>
                      </a:r>
                    </a:p>
                  </a:txBody>
                  <a:tcPr marL="101600" marR="101600" marT="38100" marB="38100" anchor="ctr">
                    <a:solidFill>
                      <a:srgbClr val="1A0F5C"/>
                    </a:solidFill>
                  </a:tcPr>
                </a:tc>
                <a:tc>
                  <a:txBody>
                    <a:bodyPr/>
                    <a:lstStyle/>
                    <a:p>
                      <a:r>
                        <a:rPr sz="1450" b="1" i="0">
                          <a:solidFill>
                            <a:srgbClr val="FFFFFF"/>
                          </a:solidFill>
                          <a:latin typeface="Calibri"/>
                        </a:rPr>
                        <a:t>The fix</a:t>
                      </a:r>
                    </a:p>
                  </a:txBody>
                  <a:tcPr marL="101600" marR="101600" marT="38100" marB="38100" anchor="ctr">
                    <a:solidFill>
                      <a:srgbClr val="1A0F5C"/>
                    </a:solidFill>
                  </a:tcPr>
                </a:tc>
              </a:tr>
              <a:tr h="611632">
                <a:tc>
                  <a:txBody>
                    <a:bodyPr/>
                    <a:lstStyle/>
                    <a:p>
                      <a:r>
                        <a:rPr sz="1400" b="0" i="0">
                          <a:solidFill>
                            <a:srgbClr val="1A1440"/>
                          </a:solidFill>
                          <a:latin typeface="Calibri"/>
                        </a:rPr>
                        <a:t>"The discount worked, up 6.1%."</a:t>
                      </a:r>
                    </a:p>
                  </a:txBody>
                  <a:tcPr marL="101600" marR="101600" marT="38100" marB="38100" anchor="ctr">
                    <a:solidFill>
                      <a:srgbClr val="FFFFFF"/>
                    </a:solidFill>
                  </a:tcPr>
                </a:tc>
                <a:tc>
                  <a:txBody>
                    <a:bodyPr/>
                    <a:lstStyle/>
                    <a:p>
                      <a:r>
                        <a:rPr sz="1400" b="0" i="0">
                          <a:solidFill>
                            <a:srgbClr val="1A1440"/>
                          </a:solidFill>
                          <a:latin typeface="Calibri"/>
                        </a:rPr>
                        <a:t>"Inside each segment, customers who got the sale spent 3 percent less than customers who did not."</a:t>
                      </a:r>
                    </a:p>
                  </a:txBody>
                  <a:tcPr marL="101600" marR="101600" marT="38100" marB="38100" anchor="ctr">
                    <a:solidFill>
                      <a:srgbClr val="FFFFFF"/>
                    </a:solidFill>
                  </a:tcPr>
                </a:tc>
              </a:tr>
              <a:tr h="611632">
                <a:tc>
                  <a:txBody>
                    <a:bodyPr/>
                    <a:lstStyle/>
                    <a:p>
                      <a:r>
                        <a:rPr sz="1400" b="0" i="0">
                          <a:solidFill>
                            <a:srgbClr val="1A1440"/>
                          </a:solidFill>
                          <a:latin typeface="Calibri"/>
                        </a:rPr>
                        <a:t>"Repeat it for Diwali."</a:t>
                      </a:r>
                    </a:p>
                  </a:txBody>
                  <a:tcPr marL="101600" marR="101600" marT="38100" marB="38100" anchor="ctr">
                    <a:solidFill>
                      <a:srgbClr val="F4F2FA"/>
                    </a:solidFill>
                  </a:tcPr>
                </a:tc>
                <a:tc>
                  <a:txBody>
                    <a:bodyPr/>
                    <a:lstStyle/>
                    <a:p>
                      <a:r>
                        <a:rPr sz="1400" b="0" i="0">
                          <a:solidFill>
                            <a:srgbClr val="1A1440"/>
                          </a:solidFill>
                          <a:latin typeface="Calibri"/>
                        </a:rPr>
                        <a:t>"The blend rose because the group who got it held more Retail-Plus members, who spend more anyway."</a:t>
                      </a:r>
                    </a:p>
                  </a:txBody>
                  <a:tcPr marL="101600" marR="101600" marT="38100" marB="38100" anchor="ctr">
                    <a:solidFill>
                      <a:srgbClr val="F4F2FA"/>
                    </a:solidFill>
                  </a:tcPr>
                </a:tc>
              </a:tr>
              <a:tr h="611632">
                <a:tc>
                  <a:txBody>
                    <a:bodyPr/>
                    <a:lstStyle/>
                    <a:p/>
                  </a:txBody>
                  <a:tcPr marL="101600" marR="101600" marT="38100" marB="38100" anchor="ctr">
                    <a:solidFill>
                      <a:srgbClr val="FFFFFF"/>
                    </a:solidFill>
                  </a:tcPr>
                </a:tc>
                <a:tc>
                  <a:txBody>
                    <a:bodyPr/>
                    <a:lstStyle/>
                    <a:p>
                      <a:r>
                        <a:rPr sz="1400" b="0" i="0">
                          <a:solidFill>
                            <a:srgbClr val="1A1440"/>
                          </a:solidFill>
                          <a:latin typeface="Calibri"/>
                        </a:rPr>
                        <a:t>"Do not repeat it as designed; if Diwali runs a sale, hold back a random slice of each segment."</a:t>
                      </a:r>
                    </a:p>
                  </a:txBody>
                  <a:tcPr marL="101600" marR="101600" marT="38100" marB="38100" anchor="ctr">
                    <a:solidFill>
                      <a:srgbClr val="FFFFFF"/>
                    </a:solidFill>
                  </a:tcPr>
                </a:tc>
              </a:tr>
            </a:tbl>
          </a:graphicData>
        </a:graphic>
      </p:graphicFrame>
      <p:sp>
        <p:nvSpPr>
          <p:cNvPr id="10" name="Rounded Rectangle 9"/>
          <p:cNvSpPr/>
          <p:nvPr/>
        </p:nvSpPr>
        <p:spPr>
          <a:xfrm>
            <a:off x="530352" y="4417568"/>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202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29988"/>
            <a:ext cx="237744" cy="237744"/>
          </a:xfrm>
          <a:prstGeom prst="rect">
            <a:avLst/>
          </a:prstGeom>
        </p:spPr>
      </p:pic>
      <p:sp>
        <p:nvSpPr>
          <p:cNvPr id="13" name="TextBox 12"/>
          <p:cNvSpPr txBox="1"/>
          <p:nvPr/>
        </p:nvSpPr>
        <p:spPr>
          <a:xfrm>
            <a:off x="1399031" y="45638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83328"/>
            <a:ext cx="9987991" cy="423672"/>
          </a:xfrm>
          <a:prstGeom prst="rect">
            <a:avLst/>
          </a:prstGeom>
          <a:noFill/>
        </p:spPr>
        <p:txBody>
          <a:bodyPr wrap="square" anchor="t" lIns="0" rIns="0" tIns="0" bIns="0">
            <a:spAutoFit/>
          </a:bodyPr>
          <a:lstStyle/>
          <a:p>
            <a:r>
              <a:rPr sz="1500" b="0" i="0">
                <a:solidFill>
                  <a:srgbClr val="1A1440"/>
                </a:solidFill>
                <a:latin typeface="Calibri"/>
              </a:rPr>
              <a:t>Split a campaign's lift by segment, and name who got it, before the lift goes in a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3" name="Oval 22"/>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69 /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mix gives 3.0 percent less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mix for both groups give the same answer, and what can it check?</a:t>
            </a:r>
          </a:p>
        </p:txBody>
      </p:sp>
      <p:pic>
        <p:nvPicPr>
          <p:cNvPr id="9" name="mermaid diagram" descr="7bffcbef64e2ea93.png"/>
          <p:cNvPicPr>
            <a:picLocks noChangeAspect="1"/>
          </p:cNvPicPr>
          <p:nvPr/>
        </p:nvPicPr>
        <p:blipFill>
          <a:blip r:embed="rId5"/>
          <a:stretch>
            <a:fillRect/>
          </a:stretch>
        </p:blipFill>
        <p:spPr>
          <a:xfrm>
            <a:off x="2430409" y="1664208"/>
            <a:ext cx="7330875"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It reuses the split's four cells, so it agrees by construction and cannot catch an error in them; it checks that the mix explains the whole 6.1 percent. </a:t>
            </a:r>
            <a:r>
              <a:rPr sz="1600" b="1" i="0">
                <a:solidFill>
                  <a:srgbClr val="1A1440"/>
                </a:solidFill>
                <a:latin typeface="Calibri"/>
              </a:rPr>
              <a:t>When to switch.</a:t>
            </a:r>
            <a:r>
              <a:rPr sz="1600" b="0" i="0">
                <a:solidFill>
                  <a:srgbClr val="1A1440"/>
                </a:solidFill>
                <a:latin typeface="Calibri"/>
              </a:rPr>
              <a:t> The split when the reader takes a table; one mix when the answer must be one number.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19" name="Oval 18"/>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70 / 86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Not as designed: the mix made the 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did the discount work, or did those customers buy anyway?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62204"/>
                <a:gridCol w="6468786"/>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can the files support?</a:t>
                      </a:r>
                    </a:p>
                  </a:txBody>
                  <a:tcPr marL="101600" marR="101600" marT="38100" marB="38100" anchor="ctr">
                    <a:solidFill>
                      <a:srgbClr val="FFFFFF"/>
                    </a:solidFill>
                  </a:tcPr>
                </a:tc>
                <a:tc>
                  <a:txBody>
                    <a:bodyPr/>
                    <a:lstStyle/>
                    <a:p>
                      <a:r>
                        <a:rPr sz="900" b="0" i="0">
                          <a:solidFill>
                            <a:srgbClr val="1A1440"/>
                          </a:solidFill>
                          <a:latin typeface="Calibri"/>
                        </a:rPr>
                        <a:t>The split inside each segment, one mix as its line</a:t>
                      </a:r>
                    </a:p>
                  </a:txBody>
                  <a:tcPr marL="101600" marR="101600" marT="38100" marB="38100" anchor="ctr">
                    <a:solidFill>
                      <a:srgbClr val="FFFFFF"/>
                    </a:solidFill>
                  </a:tcPr>
                </a:tc>
              </a:tr>
              <a:tr h="310896">
                <a:tc>
                  <a:txBody>
                    <a:bodyPr/>
                    <a:lstStyle/>
                    <a:p>
                      <a:r>
                        <a:rPr sz="900" b="0" i="0">
                          <a:solidFill>
                            <a:srgbClr val="1A1440"/>
                          </a:solidFill>
                          <a:latin typeface="Calibri"/>
                        </a:rPr>
                        <a:t>2. Does the 6 percent rebuild?</a:t>
                      </a:r>
                    </a:p>
                  </a:txBody>
                  <a:tcPr marL="101600" marR="101600" marT="38100" marB="38100" anchor="ctr">
                    <a:solidFill>
                      <a:srgbClr val="F4F2FA"/>
                    </a:solidFill>
                  </a:tcPr>
                </a:tc>
                <a:tc>
                  <a:txBody>
                    <a:bodyPr/>
                    <a:lstStyle/>
                    <a:p>
                      <a:r>
                        <a:rPr sz="900" b="0" i="0">
                          <a:solidFill>
                            <a:srgbClr val="1A1440"/>
                          </a:solidFill>
                          <a:latin typeface="Calibri"/>
                        </a:rPr>
                        <a:t>Yes: Rs 3,395 against Rs 3,200, +6.1 percent</a:t>
                      </a:r>
                    </a:p>
                  </a:txBody>
                  <a:tcPr marL="101600" marR="101600" marT="38100" marB="38100" anchor="ctr">
                    <a:solidFill>
                      <a:srgbClr val="F4F2FA"/>
                    </a:solidFill>
                  </a:tcPr>
                </a:tc>
              </a:tr>
              <a:tr h="310896">
                <a:tc>
                  <a:txBody>
                    <a:bodyPr/>
                    <a:lstStyle/>
                    <a:p>
                      <a:r>
                        <a:rPr sz="900" b="0" i="0">
                          <a:solidFill>
                            <a:srgbClr val="1A1440"/>
                          </a:solidFill>
                          <a:latin typeface="Calibri"/>
                        </a:rPr>
                        <a:t>3. Repeat it for Diwali?</a:t>
                      </a:r>
                    </a:p>
                  </a:txBody>
                  <a:tcPr marL="101600" marR="101600" marT="38100" marB="38100" anchor="ctr">
                    <a:solidFill>
                      <a:srgbClr val="FFFFFF"/>
                    </a:solidFill>
                  </a:tcPr>
                </a:tc>
                <a:tc>
                  <a:txBody>
                    <a:bodyPr/>
                    <a:lstStyle/>
                    <a:p>
                      <a:r>
                        <a:rPr sz="900" b="0" i="0">
                          <a:solidFill>
                            <a:srgbClr val="1A1440"/>
                          </a:solidFill>
                          <a:latin typeface="Calibri"/>
                        </a:rPr>
                        <a:t>Not before asking who is in each group</a:t>
                      </a:r>
                    </a:p>
                  </a:txBody>
                  <a:tcPr marL="101600" marR="101600" marT="38100" marB="38100" anchor="ctr">
                    <a:solidFill>
                      <a:srgbClr val="FFFFFF"/>
                    </a:solidFill>
                  </a:tcPr>
                </a:tc>
              </a:tr>
              <a:tr h="310896">
                <a:tc>
                  <a:txBody>
                    <a:bodyPr/>
                    <a:lstStyle/>
                    <a:p>
                      <a:r>
                        <a:rPr sz="900" b="0" i="0">
                          <a:solidFill>
                            <a:srgbClr val="1A1440"/>
                          </a:solidFill>
                          <a:latin typeface="Calibri"/>
                        </a:rPr>
                        <a:t>4. Inside each segment?</a:t>
                      </a:r>
                    </a:p>
                  </a:txBody>
                  <a:tcPr marL="101600" marR="101600" marT="38100" marB="38100" anchor="ctr">
                    <a:solidFill>
                      <a:srgbClr val="F4F2FA"/>
                    </a:solidFill>
                  </a:tcPr>
                </a:tc>
                <a:tc>
                  <a:txBody>
                    <a:bodyPr/>
                    <a:lstStyle/>
                    <a:p>
                      <a:r>
                        <a:rPr sz="900" b="0" i="0">
                          <a:solidFill>
                            <a:srgbClr val="1A1440"/>
                          </a:solidFill>
                          <a:latin typeface="Calibri"/>
                        </a:rPr>
                        <a:t>3.0 percent less in both segments</a:t>
                      </a:r>
                    </a:p>
                  </a:txBody>
                  <a:tcPr marL="101600" marR="101600" marT="38100" marB="38100" anchor="ctr">
                    <a:solidFill>
                      <a:srgbClr val="F4F2FA"/>
                    </a:solidFill>
                  </a:tcPr>
                </a:tc>
              </a:tr>
              <a:tr h="310896">
                <a:tc>
                  <a:txBody>
                    <a:bodyPr/>
                    <a:lstStyle/>
                    <a:p>
                      <a:r>
                        <a:rPr sz="900" b="0" i="0">
                          <a:solidFill>
                            <a:srgbClr val="1A1440"/>
                          </a:solidFill>
                          <a:latin typeface="Calibri"/>
                        </a:rPr>
                        <a:t>5. What does the note say?</a:t>
                      </a:r>
                    </a:p>
                  </a:txBody>
                  <a:tcPr marL="101600" marR="101600" marT="38100" marB="38100" anchor="ctr">
                    <a:solidFill>
                      <a:srgbClr val="FFFFFF"/>
                    </a:solidFill>
                  </a:tcPr>
                </a:tc>
                <a:tc>
                  <a:txBody>
                    <a:bodyPr/>
                    <a:lstStyle/>
                    <a:p>
                      <a:r>
                        <a:rPr sz="900" b="0" i="0">
                          <a:solidFill>
                            <a:srgbClr val="1A1440"/>
                          </a:solidFill>
                          <a:latin typeface="Calibri"/>
                        </a:rPr>
                        <a:t>Do not repeat as designed; hold back at Diwali</a:t>
                      </a:r>
                    </a:p>
                  </a:txBody>
                  <a:tcPr marL="101600" marR="101600" marT="38100" marB="38100" anchor="ctr">
                    <a:solidFill>
                      <a:srgbClr val="FFFFFF"/>
                    </a:solidFill>
                  </a:tcPr>
                </a:tc>
              </a:tr>
              <a:tr h="310896">
                <a:tc>
                  <a:txBody>
                    <a:bodyPr/>
                    <a:lstStyle/>
                    <a:p>
                      <a:r>
                        <a:rPr sz="900" b="0" i="0">
                          <a:solidFill>
                            <a:srgbClr val="1A1440"/>
                          </a:solidFill>
                          <a:latin typeface="Calibri"/>
                        </a:rPr>
                        <a:t>6. One mix, the same answer?</a:t>
                      </a:r>
                    </a:p>
                  </a:txBody>
                  <a:tcPr marL="101600" marR="101600" marT="38100" marB="38100" anchor="ctr">
                    <a:solidFill>
                      <a:srgbClr val="F4F2FA"/>
                    </a:solidFill>
                  </a:tcPr>
                </a:tc>
                <a:tc>
                  <a:txBody>
                    <a:bodyPr/>
                    <a:lstStyle/>
                    <a:p>
                      <a:r>
                        <a:rPr sz="900" b="0" i="0">
                          <a:solidFill>
                            <a:srgbClr val="1A1440"/>
                          </a:solidFill>
                          <a:latin typeface="Calibri"/>
                        </a:rPr>
                        <a:t>Yes, 3.0 percent less both ways, by construction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rebuilt Marketing's number before disagreeing with it. The split says 3 percent less in both segments, one mix says the same by construction, and the reason is who got the sale. Now tell me what else changed in August, because neither can see that.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rose after a discount; did the campaign work, and what would you need to know?</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Did the discount work?</a:t>
            </a:r>
          </a:p>
        </p:txBody>
      </p:sp>
      <p:sp>
        <p:nvSpPr>
          <p:cNvPr id="28" name="Oval 27"/>
          <p:cNvSpPr/>
          <p:nvPr/>
        </p:nvSpPr>
        <p:spPr>
          <a:xfrm>
            <a:off x="60207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71 /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Three answers are in: what goes on Meera's one page, and when is "not yet" the honest answer?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Real, or the wobble?</a:t>
            </a:r>
          </a:p>
        </p:txBody>
      </p:sp>
      <p:sp>
        <p:nvSpPr>
          <p:cNvPr id="11" name="Rounded Rectangle 10"/>
          <p:cNvSpPr/>
          <p:nvPr/>
        </p:nvSpPr>
        <p:spPr>
          <a:xfrm>
            <a:off x="2391327"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Worth acting on?</a:t>
            </a:r>
          </a:p>
        </p:txBody>
      </p:sp>
      <p:sp>
        <p:nvSpPr>
          <p:cNvPr id="12" name="Rounded Rectangle 11"/>
          <p:cNvSpPr/>
          <p:nvPr/>
        </p:nvSpPr>
        <p:spPr>
          <a:xfrm>
            <a:off x="3814271"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many behind 40%?</a:t>
            </a:r>
          </a:p>
        </p:txBody>
      </p:sp>
      <p:sp>
        <p:nvSpPr>
          <p:cNvPr id="13" name="Rounded Rectangle 12"/>
          <p:cNvSpPr/>
          <p:nvPr/>
        </p:nvSpPr>
        <p:spPr>
          <a:xfrm>
            <a:off x="547407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discount work?</a:t>
            </a:r>
          </a:p>
        </p:txBody>
      </p:sp>
      <p:sp>
        <p:nvSpPr>
          <p:cNvPr id="14" name="Rounded Rectangle 13"/>
          <p:cNvSpPr/>
          <p:nvPr/>
        </p:nvSpPr>
        <p:spPr>
          <a:xfrm>
            <a:off x="7252317"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page?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Which of Meera's three numbers is real?</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72 / 86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page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reads the page in two minutes before Monday's growth review, where Marketing will defend its campaign against it. A line that loses its base sends money the wrong way, and a line that hedges everything gives her nothing to decide.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form fits two minutes?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Yes-no, dashboard, note, deck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sits beside each number?</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table, four chapters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goes wrong?</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does a line pass?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four-part note, guided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is not yet an answer?</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Student and discount lines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decisions follow?</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day's rules, applied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47" name="Oval 4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49" name="Oval 4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51" name="Oval 5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page, two minutes, and "not yet" allowed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of the page, and what does a line without its base cost?</a:t>
            </a:r>
          </a:p>
        </p:txBody>
      </p:sp>
      <p:sp>
        <p:nvSpPr>
          <p:cNvPr id="9" name="Rounded Rectangle 8"/>
          <p:cNvSpPr/>
          <p:nvPr/>
        </p:nvSpPr>
        <p:spPr>
          <a:xfrm>
            <a:off x="530352" y="168249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014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12445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9987991" cy="682752"/>
          </a:xfrm>
          <a:prstGeom prst="rect">
            <a:avLst/>
          </a:prstGeom>
          <a:noFill/>
        </p:spPr>
        <p:txBody>
          <a:bodyPr wrap="square" anchor="t" lIns="0" rIns="0" tIns="0" bIns="0">
            <a:spAutoFit/>
          </a:bodyPr>
          <a:lstStyle/>
          <a:p>
            <a:r>
              <a:rPr sz="1500" b="0" i="0">
                <a:solidFill>
                  <a:srgbClr val="FFFFFF"/>
                </a:solidFill>
                <a:latin typeface="Calibri"/>
              </a:rPr>
              <a:t>"One page, two minutes. If the honest answer is 'we do not know yet', say so and tell me what would tell us." Meera Raghavan</a:t>
            </a:r>
          </a:p>
        </p:txBody>
      </p:sp>
      <p:pic>
        <p:nvPicPr>
          <p:cNvPr id="14" name="mermaid diagram" descr="84de6334a0e0882d.png"/>
          <p:cNvPicPr>
            <a:picLocks noChangeAspect="1"/>
          </p:cNvPicPr>
          <p:nvPr/>
        </p:nvPicPr>
        <p:blipFill>
          <a:blip r:embed="rId6"/>
          <a:stretch>
            <a:fillRect/>
          </a:stretch>
        </p:blipFill>
        <p:spPr>
          <a:xfrm>
            <a:off x="3401820" y="2968752"/>
            <a:ext cx="5388053" cy="323088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writes memos where others show slides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made each claim sit beside its evidence?</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"We don't do PowerPoint (or any other slide-oriented) presentations at Amazon. Instead, we write narratively structured six-page memos. We silently read one at the beginning of each meeting."</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Jeff Bezos, letter to shareholders, 2017</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four-part note under 200 words fits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answer Meera in writing fits two minutes?</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344179"/>
                <a:gridCol w="1435312"/>
                <a:gridCol w="3007320"/>
                <a:gridCol w="334417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What it carries</a:t>
                      </a:r>
                    </a:p>
                  </a:txBody>
                  <a:tcPr marL="101600" marR="101600" marT="38100" marB="38100" anchor="ctr">
                    <a:solidFill>
                      <a:srgbClr val="1A0F5C"/>
                    </a:solidFill>
                  </a:tcPr>
                </a:tc>
                <a:tc>
                  <a:txBody>
                    <a:bodyPr/>
                    <a:lstStyle/>
                    <a:p>
                      <a:r>
                        <a:rPr sz="1250" b="1" i="0">
                          <a:solidFill>
                            <a:srgbClr val="FFFFFF"/>
                          </a:solidFill>
                          <a:latin typeface="Calibri"/>
                        </a:rPr>
                        <a:t>What it loses</a:t>
                      </a:r>
                    </a:p>
                  </a:txBody>
                  <a:tcPr marL="101600" marR="101600" marT="38100" marB="38100" anchor="ctr">
                    <a:solidFill>
                      <a:srgbClr val="1A0F5C"/>
                    </a:solidFill>
                  </a:tcPr>
                </a:tc>
              </a:tr>
              <a:tr h="335280">
                <a:tc>
                  <a:txBody>
                    <a:bodyPr/>
                    <a:lstStyle/>
                    <a:p>
                      <a:r>
                        <a:rPr sz="1200" b="0" i="0">
                          <a:solidFill>
                            <a:srgbClr val="1A1440"/>
                          </a:solidFill>
                          <a:latin typeface="Calibri"/>
                        </a:rPr>
                        <a:t>A. A yes or no per question</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nothing but the verdicts</a:t>
                      </a:r>
                    </a:p>
                  </a:txBody>
                  <a:tcPr marL="101600" marR="101600" marT="38100" marB="38100" anchor="ctr">
                    <a:solidFill>
                      <a:srgbClr val="FFFFFF"/>
                    </a:solidFill>
                  </a:tcPr>
                </a:tc>
                <a:tc>
                  <a:txBody>
                    <a:bodyPr/>
                    <a:lstStyle/>
                    <a:p>
                      <a:r>
                        <a:rPr sz="1200" b="0" i="0">
                          <a:solidFill>
                            <a:srgbClr val="1A1440"/>
                          </a:solidFill>
                          <a:latin typeface="Calibri"/>
                        </a:rPr>
                        <a:t>every caveat, and "not yet"</a:t>
                      </a:r>
                    </a:p>
                  </a:txBody>
                  <a:tcPr marL="101600" marR="101600" marT="38100" marB="38100" anchor="ctr">
                    <a:solidFill>
                      <a:srgbClr val="FFFFFF"/>
                    </a:solidFill>
                  </a:tcPr>
                </a:tc>
              </a:tr>
              <a:tr h="335280">
                <a:tc>
                  <a:txBody>
                    <a:bodyPr/>
                    <a:lstStyle/>
                    <a:p>
                      <a:r>
                        <a:rPr sz="1200" b="0" i="0">
                          <a:solidFill>
                            <a:srgbClr val="1A1440"/>
                          </a:solidFill>
                          <a:latin typeface="Calibri"/>
                        </a:rPr>
                        <a:t>B. The dashboard</a:t>
                      </a:r>
                    </a:p>
                  </a:txBody>
                  <a:tcPr marL="101600" marR="101600" marT="38100" marB="38100" anchor="ctr">
                    <a:solidFill>
                      <a:srgbClr val="F4F2FA"/>
                    </a:solidFill>
                  </a:tcPr>
                </a:tc>
                <a:tc>
                  <a:txBody>
                    <a:bodyPr/>
                    <a:lstStyle/>
                    <a:p>
                      <a:r>
                        <a:rPr sz="1200" b="0" i="0">
                          <a:solidFill>
                            <a:srgbClr val="1A1440"/>
                          </a:solidFill>
                          <a:latin typeface="Calibri"/>
                        </a:rPr>
                        <a:t>506</a:t>
                      </a:r>
                    </a:p>
                  </a:txBody>
                  <a:tcPr marL="101600" marR="101600" marT="38100" marB="38100" anchor="ctr">
                    <a:solidFill>
                      <a:srgbClr val="F4F2FA"/>
                    </a:solidFill>
                  </a:tcPr>
                </a:tc>
                <a:tc>
                  <a:txBody>
                    <a:bodyPr/>
                    <a:lstStyle/>
                    <a:p>
                      <a:r>
                        <a:rPr sz="1200" b="0" i="0">
                          <a:solidFill>
                            <a:srgbClr val="1A1440"/>
                          </a:solidFill>
                          <a:latin typeface="Calibri"/>
                        </a:rPr>
                        <a:t>every number, unsorted</a:t>
                      </a:r>
                    </a:p>
                  </a:txBody>
                  <a:tcPr marL="101600" marR="101600" marT="38100" marB="38100" anchor="ctr">
                    <a:solidFill>
                      <a:srgbClr val="F4F2FA"/>
                    </a:solidFill>
                  </a:tcPr>
                </a:tc>
                <a:tc>
                  <a:txBody>
                    <a:bodyPr/>
                    <a:lstStyle/>
                    <a:p>
                      <a:r>
                        <a:rPr sz="1200" b="0" i="0">
                          <a:solidFill>
                            <a:srgbClr val="1A1440"/>
                          </a:solidFill>
                          <a:latin typeface="Calibri"/>
                        </a:rPr>
                        <a:t>the decision</a:t>
                      </a:r>
                    </a:p>
                  </a:txBody>
                  <a:tcPr marL="101600" marR="101600" marT="38100" marB="38100" anchor="ctr">
                    <a:solidFill>
                      <a:srgbClr val="F4F2FA"/>
                    </a:solidFill>
                  </a:tcPr>
                </a:tc>
              </a:tr>
              <a:tr h="335280">
                <a:tc>
                  <a:txBody>
                    <a:bodyPr/>
                    <a:lstStyle/>
                    <a:p>
                      <a:r>
                        <a:rPr sz="1200" b="0" i="0">
                          <a:solidFill>
                            <a:srgbClr val="1A1440"/>
                          </a:solidFill>
                          <a:latin typeface="Calibri"/>
                        </a:rPr>
                        <a:t>C. The four-part note</a:t>
                      </a:r>
                    </a:p>
                  </a:txBody>
                  <a:tcPr marL="101600" marR="101600" marT="38100" marB="38100" anchor="ctr">
                    <a:solidFill>
                      <a:srgbClr val="FFFFFF"/>
                    </a:solidFill>
                  </a:tcPr>
                </a:tc>
                <a:tc>
                  <a:txBody>
                    <a:bodyPr/>
                    <a:lstStyle/>
                    <a:p>
                      <a:r>
                        <a:rPr sz="1200" b="0" i="0">
                          <a:solidFill>
                            <a:srgbClr val="1A1440"/>
                          </a:solidFill>
                          <a:latin typeface="Calibri"/>
                        </a:rPr>
                        <a:t>under 200</a:t>
                      </a:r>
                    </a:p>
                  </a:txBody>
                  <a:tcPr marL="101600" marR="101600" marT="38100" marB="38100" anchor="ctr">
                    <a:solidFill>
                      <a:srgbClr val="FFFFFF"/>
                    </a:solidFill>
                  </a:tcPr>
                </a:tc>
                <a:tc>
                  <a:txBody>
                    <a:bodyPr/>
                    <a:lstStyle/>
                    <a:p>
                      <a:r>
                        <a:rPr sz="1200" b="0" i="0">
                          <a:solidFill>
                            <a:srgbClr val="1A1440"/>
                          </a:solidFill>
                          <a:latin typeface="Calibri"/>
                        </a:rPr>
                        <a:t>each claim with its base</a:t>
                      </a:r>
                    </a:p>
                  </a:txBody>
                  <a:tcPr marL="101600" marR="101600" marT="38100" marB="38100" anchor="ctr">
                    <a:solidFill>
                      <a:srgbClr val="FFFFFF"/>
                    </a:solidFill>
                  </a:tcPr>
                </a:tc>
                <a:tc>
                  <a:txBody>
                    <a:bodyPr/>
                    <a:lstStyle/>
                    <a:p>
                      <a:r>
                        <a:rPr sz="1200" b="0" i="0">
                          <a:solidFill>
                            <a:srgbClr val="1A1440"/>
                          </a:solidFill>
                          <a:latin typeface="Calibri"/>
                        </a:rPr>
                        <a:t>only length</a:t>
                      </a:r>
                    </a:p>
                  </a:txBody>
                  <a:tcPr marL="101600" marR="101600" marT="38100" marB="38100" anchor="ctr">
                    <a:solidFill>
                      <a:srgbClr val="FFFFFF"/>
                    </a:solidFill>
                  </a:tcPr>
                </a:tc>
              </a:tr>
              <a:tr h="335280">
                <a:tc>
                  <a:txBody>
                    <a:bodyPr/>
                    <a:lstStyle/>
                    <a:p>
                      <a:r>
                        <a:rPr sz="1200" b="0" i="0">
                          <a:solidFill>
                            <a:srgbClr val="1A1440"/>
                          </a:solidFill>
                          <a:latin typeface="Calibri"/>
                        </a:rPr>
                        <a:t>D. A slide deck</a:t>
                      </a:r>
                    </a:p>
                  </a:txBody>
                  <a:tcPr marL="101600" marR="101600" marT="38100" marB="38100" anchor="ctr">
                    <a:solidFill>
                      <a:srgbClr val="F4F2FA"/>
                    </a:solidFill>
                  </a:tcPr>
                </a:tc>
                <a:tc>
                  <a:txBody>
                    <a:bodyPr/>
                    <a:lstStyle/>
                    <a:p>
                      <a:r>
                        <a:rPr sz="1200" b="0" i="0">
                          <a:solidFill>
                            <a:srgbClr val="1A1440"/>
                          </a:solidFill>
                          <a:latin typeface="Calibri"/>
                        </a:rPr>
                        <a:t>ten slides</a:t>
                      </a:r>
                    </a:p>
                  </a:txBody>
                  <a:tcPr marL="101600" marR="101600" marT="38100" marB="38100" anchor="ctr">
                    <a:solidFill>
                      <a:srgbClr val="F4F2FA"/>
                    </a:solidFill>
                  </a:tcPr>
                </a:tc>
                <a:tc>
                  <a:txBody>
                    <a:bodyPr/>
                    <a:lstStyle/>
                    <a:p>
                      <a:r>
                        <a:rPr sz="1200" b="0" i="0">
                          <a:solidFill>
                            <a:srgbClr val="1A1440"/>
                          </a:solidFill>
                          <a:latin typeface="Calibri"/>
                        </a:rPr>
                        <a:t>what the slides draw</a:t>
                      </a:r>
                    </a:p>
                  </a:txBody>
                  <a:tcPr marL="101600" marR="101600" marT="38100" marB="38100" anchor="ctr">
                    <a:solidFill>
                      <a:srgbClr val="F4F2FA"/>
                    </a:solidFill>
                  </a:tcPr>
                </a:tc>
                <a:tc>
                  <a:txBody>
                    <a:bodyPr/>
                    <a:lstStyle/>
                    <a:p>
                      <a:r>
                        <a:rPr sz="1200" b="0" i="0">
                          <a:solidFill>
                            <a:srgbClr val="1A1440"/>
                          </a:solidFill>
                          <a:latin typeface="Calibri"/>
                        </a:rPr>
                        <a:t>a meeting to present 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under 200 words. </a:t>
            </a:r>
            <a:r>
              <a:rPr sz="1500" b="1" i="0">
                <a:solidFill>
                  <a:srgbClr val="1A1440"/>
                </a:solidFill>
                <a:latin typeface="Calibri"/>
              </a:rPr>
              <a:t>What would change it.</a:t>
            </a:r>
            <a:r>
              <a:rPr sz="1500" b="0" i="0">
                <a:solidFill>
                  <a:srgbClr val="1A1440"/>
                </a:solidFill>
                <a:latin typeface="Calibri"/>
              </a:rPr>
              <a:t> A weekly review of the same metrics, where a small dashboard with fixed bases beats rewriting the note each week.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number needs its partner before a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sit beside each of the day's numbers before it goes in a sentence?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4272305"/>
                <a:gridCol w="6858685"/>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Its partner</a:t>
                      </a:r>
                    </a:p>
                  </a:txBody>
                  <a:tcPr marL="101600" marR="101600" marT="38100" marB="38100" anchor="ctr">
                    <a:solidFill>
                      <a:srgbClr val="1A0F5C"/>
                    </a:solidFill>
                  </a:tcPr>
                </a:tc>
              </a:tr>
              <a:tr h="369824">
                <a:tc>
                  <a:txBody>
                    <a:bodyPr/>
                    <a:lstStyle/>
                    <a:p>
                      <a:r>
                        <a:rPr sz="1400" b="0" i="0">
                          <a:solidFill>
                            <a:srgbClr val="1A1440"/>
                          </a:solidFill>
                          <a:latin typeface="Calibri"/>
                        </a:rPr>
                        <a:t>A share: 0.029 counting falls</a:t>
                      </a:r>
                    </a:p>
                  </a:txBody>
                  <a:tcPr marL="101600" marR="101600" marT="38100" marB="38100" anchor="ctr">
                    <a:solidFill>
                      <a:srgbClr val="FFFFFF"/>
                    </a:solidFill>
                  </a:tcPr>
                </a:tc>
                <a:tc>
                  <a:txBody>
                    <a:bodyPr/>
                    <a:lstStyle/>
                    <a:p>
                      <a:r>
                        <a:rPr sz="1400" b="0" i="0">
                          <a:solidFill>
                            <a:srgbClr val="1A1440"/>
                          </a:solidFill>
                          <a:latin typeface="Calibri"/>
                        </a:rPr>
                        <a:t>The world it was counted in, and both directions</a:t>
                      </a:r>
                    </a:p>
                  </a:txBody>
                  <a:tcPr marL="101600" marR="101600" marT="38100" marB="38100" anchor="ctr">
                    <a:solidFill>
                      <a:srgbClr val="FFFFFF"/>
                    </a:solidFill>
                  </a:tcPr>
                </a:tc>
              </a:tr>
              <a:tr h="369824">
                <a:tc>
                  <a:txBody>
                    <a:bodyPr/>
                    <a:lstStyle/>
                    <a:p>
                      <a:r>
                        <a:rPr sz="1400" b="0" i="0">
                          <a:solidFill>
                            <a:srgbClr val="1A1440"/>
                          </a:solidFill>
                          <a:latin typeface="Calibri"/>
                        </a:rPr>
                        <a:t>Rupees: Rs 24,420 a quarter</a:t>
                      </a:r>
                    </a:p>
                  </a:txBody>
                  <a:tcPr marL="101600" marR="101600" marT="38100" marB="38100" anchor="ctr">
                    <a:solidFill>
                      <a:srgbClr val="F4F2FA"/>
                    </a:solidFill>
                  </a:tcPr>
                </a:tc>
                <a:tc>
                  <a:txBody>
                    <a:bodyPr/>
                    <a:lstStyle/>
                    <a:p>
                      <a:r>
                        <a:rPr sz="1400" b="0" i="0">
                          <a:solidFill>
                            <a:srgbClr val="1A1440"/>
                          </a:solidFill>
                          <a:latin typeface="Calibri"/>
                        </a:rPr>
                        <a:t>The whole: 0.19 percent of the company's quarter</a:t>
                      </a:r>
                    </a:p>
                  </a:txBody>
                  <a:tcPr marL="101600" marR="101600" marT="38100" marB="38100" anchor="ctr">
                    <a:solidFill>
                      <a:srgbClr val="F4F2FA"/>
                    </a:solidFill>
                  </a:tcPr>
                </a:tc>
              </a:tr>
              <a:tr h="369824">
                <a:tc>
                  <a:txBody>
                    <a:bodyPr/>
                    <a:lstStyle/>
                    <a:p>
                      <a:r>
                        <a:rPr sz="1400" b="0" i="0">
                          <a:solidFill>
                            <a:srgbClr val="1A1440"/>
                          </a:solidFill>
                          <a:latin typeface="Calibri"/>
                        </a:rPr>
                        <a:t>A rate: Student up 40 percent</a:t>
                      </a:r>
                    </a:p>
                  </a:txBody>
                  <a:tcPr marL="101600" marR="101600" marT="38100" marB="38100" anchor="ctr">
                    <a:solidFill>
                      <a:srgbClr val="FFFFFF"/>
                    </a:solidFill>
                  </a:tcPr>
                </a:tc>
                <a:tc>
                  <a:txBody>
                    <a:bodyPr/>
                    <a:lstStyle/>
                    <a:p>
                      <a:r>
                        <a:rPr sz="1400" b="0" i="0">
                          <a:solidFill>
                            <a:srgbClr val="1A1440"/>
                          </a:solidFill>
                          <a:latin typeface="Calibri"/>
                        </a:rPr>
                        <a:t>Its count, and how often chance makes it</a:t>
                      </a:r>
                    </a:p>
                  </a:txBody>
                  <a:tcPr marL="101600" marR="101600" marT="38100" marB="38100" anchor="ctr">
                    <a:solidFill>
                      <a:srgbClr val="FFFFFF"/>
                    </a:solidFill>
                  </a:tcPr>
                </a:tc>
              </a:tr>
              <a:tr h="369824">
                <a:tc>
                  <a:txBody>
                    <a:bodyPr/>
                    <a:lstStyle/>
                    <a:p>
                      <a:r>
                        <a:rPr sz="1400" b="0" i="0">
                          <a:solidFill>
                            <a:srgbClr val="1A1440"/>
                          </a:solidFill>
                          <a:latin typeface="Calibri"/>
                        </a:rPr>
                        <a:t>A lift: 6.1 percent blended</a:t>
                      </a:r>
                    </a:p>
                  </a:txBody>
                  <a:tcPr marL="101600" marR="101600" marT="38100" marB="38100" anchor="ctr">
                    <a:solidFill>
                      <a:srgbClr val="F4F2FA"/>
                    </a:solidFill>
                  </a:tcPr>
                </a:tc>
                <a:tc>
                  <a:txBody>
                    <a:bodyPr/>
                    <a:lstStyle/>
                    <a:p>
                      <a:r>
                        <a:rPr sz="1400" b="0" i="0">
                          <a:solidFill>
                            <a:srgbClr val="1A1440"/>
                          </a:solidFill>
                          <a:latin typeface="Calibri"/>
                        </a:rPr>
                        <a:t>The groups it compares, split by segment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 gathers nine of the day's numbers into one table, and not one can go in a sentence alone.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headline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each number is written the way it first appeared?</a:t>
            </a:r>
          </a:p>
        </p:txBody>
      </p:sp>
      <p:pic>
        <p:nvPicPr>
          <p:cNvPr id="9" name="mermaid diagram" descr="5e5eb59d76ead1d2.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Thirty words, three correct percentages, and three wrong decisions, because no number carries its base.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the headline note fails nine of nine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three questions does every line of a note have to pass?</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77078"/>
                <a:gridCol w="914400"/>
                <a:gridCol w="3229126"/>
                <a:gridCol w="1810386"/>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A base?</a:t>
                      </a:r>
                    </a:p>
                  </a:txBody>
                  <a:tcPr marL="101600" marR="101600" marT="38100" marB="38100" anchor="ctr">
                    <a:solidFill>
                      <a:srgbClr val="1A0F5C"/>
                    </a:solidFill>
                  </a:tcPr>
                </a:tc>
                <a:tc>
                  <a:txBody>
                    <a:bodyPr/>
                    <a:lstStyle/>
                    <a:p>
                      <a:r>
                        <a:rPr sz="1250" b="1" i="0">
                          <a:solidFill>
                            <a:srgbClr val="FFFFFF"/>
                          </a:solidFill>
                          <a:latin typeface="Calibri"/>
                        </a:rPr>
                        <a:t>A count or chance?</a:t>
                      </a:r>
                    </a:p>
                  </a:txBody>
                  <a:tcPr marL="101600" marR="101600" marT="38100" marB="38100" anchor="ctr">
                    <a:solidFill>
                      <a:srgbClr val="1A0F5C"/>
                    </a:solidFill>
                  </a:tcPr>
                </a:tc>
                <a:tc>
                  <a:txBody>
                    <a:bodyPr/>
                    <a:lstStyle/>
                    <a:p>
                      <a:r>
                        <a:rPr sz="1250" b="1" i="0">
                          <a:solidFill>
                            <a:srgbClr val="FFFFFF"/>
                          </a:solidFill>
                          <a:latin typeface="Calibri"/>
                        </a:rPr>
                        <a:t>A caveat?</a:t>
                      </a:r>
                    </a:p>
                  </a:txBody>
                  <a:tcPr marL="101600" marR="101600" marT="38100" marB="38100" anchor="ctr">
                    <a:solidFill>
                      <a:srgbClr val="1A0F5C"/>
                    </a:solidFill>
                  </a:tcPr>
                </a:tc>
              </a:tr>
              <a:tr h="335280">
                <a:tc>
                  <a:txBody>
                    <a:bodyPr/>
                    <a:lstStyle/>
                    <a:p>
                      <a:r>
                        <a:rPr sz="1200" b="0" i="0">
                          <a:solidFill>
                            <a:srgbClr val="1A1440"/>
                          </a:solidFill>
                          <a:latin typeface="Calibri"/>
                        </a:rPr>
                        <a:t>Retail-Plus revenue fell 34%</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r h="335280">
                <a:tc>
                  <a:txBody>
                    <a:bodyPr/>
                    <a:lstStyle/>
                    <a:p>
                      <a:r>
                        <a:rPr sz="1200" b="0" i="0">
                          <a:solidFill>
                            <a:srgbClr val="1A1440"/>
                          </a:solidFill>
                          <a:latin typeface="Calibri"/>
                        </a:rPr>
                        <a:t>Student is up 40%</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c>
                  <a:txBody>
                    <a:bodyPr/>
                    <a:lstStyle/>
                    <a:p>
                      <a:r>
                        <a:rPr sz="1200" b="0" i="0">
                          <a:solidFill>
                            <a:srgbClr val="1A1440"/>
                          </a:solidFill>
                          <a:latin typeface="Calibri"/>
                        </a:rPr>
                        <a:t>missing</a:t>
                      </a:r>
                    </a:p>
                  </a:txBody>
                  <a:tcPr marL="101600" marR="101600" marT="38100" marB="38100" anchor="ctr">
                    <a:solidFill>
                      <a:srgbClr val="F4F2FA"/>
                    </a:solidFill>
                  </a:tcPr>
                </a:tc>
              </a:tr>
              <a:tr h="335280">
                <a:tc>
                  <a:txBody>
                    <a:bodyPr/>
                    <a:lstStyle/>
                    <a:p>
                      <a:r>
                        <a:rPr sz="1200" b="0" i="0">
                          <a:solidFill>
                            <a:srgbClr val="1A1440"/>
                          </a:solidFill>
                          <a:latin typeface="Calibri"/>
                        </a:rPr>
                        <a:t>The monsoon sale lifted revenue 6%</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c>
                  <a:txBody>
                    <a:bodyPr/>
                    <a:lstStyle/>
                    <a:p>
                      <a:r>
                        <a:rPr sz="1200" b="0" i="0">
                          <a:solidFill>
                            <a:srgbClr val="1A1440"/>
                          </a:solidFill>
                          <a:latin typeface="Calibri"/>
                        </a:rPr>
                        <a:t>missing</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886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99592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682752"/>
          </a:xfrm>
          <a:prstGeom prst="rect">
            <a:avLst/>
          </a:prstGeom>
          <a:noFill/>
        </p:spPr>
        <p:txBody>
          <a:bodyPr wrap="square" anchor="t" lIns="0" rIns="0" tIns="0" bIns="0">
            <a:spAutoFit/>
          </a:bodyPr>
          <a:lstStyle/>
          <a:p>
            <a:r>
              <a:rPr sz="1500" b="0" i="0">
                <a:solidFill>
                  <a:srgbClr val="1A1440"/>
                </a:solidFill>
                <a:latin typeface="Calibri"/>
              </a:rPr>
              <a:t>Every number in a note carries its base, its count or its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Retail-Plus line,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Retail-Plus line survive the audit?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Borderline, and small</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Retail-Plus is spending less by a borderline amount, and it is small against the company.</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 its base</a:t>
            </a:r>
          </a:p>
        </p:txBody>
      </p:sp>
      <p:sp>
        <p:nvSpPr>
          <p:cNvPr id="19" name="TextBox 18"/>
          <p:cNvSpPr txBox="1"/>
          <p:nvPr/>
        </p:nvSpPr>
        <p:spPr>
          <a:xfrm>
            <a:off x="3523411" y="3277870"/>
            <a:ext cx="2316403" cy="696976"/>
          </a:xfrm>
          <a:prstGeom prst="rect">
            <a:avLst/>
          </a:prstGeom>
          <a:noFill/>
        </p:spPr>
        <p:txBody>
          <a:bodyPr wrap="square" anchor="t" lIns="0" rIns="0" tIns="0" bIns="0">
            <a:spAutoFit/>
          </a:bodyPr>
          <a:lstStyle/>
          <a:p>
            <a:pPr algn="l"/>
            <a:r>
              <a:rPr sz="1000" b="0" i="0">
                <a:solidFill>
                  <a:srgbClr val="6B6690"/>
                </a:solidFill>
                <a:latin typeface="Calibri"/>
              </a:rPr>
              <a:t>Rs 1,110 less a member, Rs 24,420 a quarter, 0.19 percent of the company; about 3 in 100 flips counting falls, 6 either way.</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would change it</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 asked after seeing the fall, and it could be as small as Rs 80 a member.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With its cost</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Watch it; if we act, test the offer on a coin-chosen half, Rs 5,500 a quarter, holding back the rest.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32" name="Oval 3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34" name="Oval 3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36" name="Oval 3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38" name="Oval 3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 is three yes-or-no tests per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 check in each line, as logic?</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audit(line):</a:t>
            </a:r>
          </a:p>
          <a:p>
            <a:pPr>
              <a:spcAft>
                <a:spcPts val="200"/>
              </a:spcAft>
            </a:pPr>
            <a:r>
              <a:rPr sz="1400" b="0" i="0">
                <a:solidFill>
                  <a:srgbClr val="E4E1F1"/>
                </a:solidFill>
                <a:latin typeface="Consolas"/>
              </a:rPr>
              <a:t>    base = "a quarter" in line or "of the company" in line</a:t>
            </a:r>
          </a:p>
          <a:p>
            <a:pPr>
              <a:spcAft>
                <a:spcPts val="200"/>
              </a:spcAft>
            </a:pPr>
            <a:r>
              <a:rPr sz="1400" b="0" i="0">
                <a:solidFill>
                  <a:srgbClr val="E4E1F1"/>
                </a:solidFill>
                <a:latin typeface="Consolas"/>
              </a:rPr>
              <a:t>    count = "in 100" in line or "customers" in line</a:t>
            </a:r>
          </a:p>
          <a:p>
            <a:pPr>
              <a:spcAft>
                <a:spcPts val="200"/>
              </a:spcAft>
            </a:pPr>
            <a:r>
              <a:rPr sz="1400" b="0" i="0">
                <a:solidFill>
                  <a:srgbClr val="E4E1F1"/>
                </a:solidFill>
                <a:latin typeface="Consolas"/>
              </a:rPr>
              <a:t>    caveat = any(w in line for w in ["if ", "until", "not yet"])</a:t>
            </a:r>
          </a:p>
          <a:p>
            <a:pPr>
              <a:spcAft>
                <a:spcPts val="200"/>
              </a:spcAft>
            </a:pPr>
            <a:r>
              <a:rPr sz="1400" b="0" i="0">
                <a:solidFill>
                  <a:srgbClr val="E4E1F1"/>
                </a:solidFill>
                <a:latin typeface="Consolas"/>
              </a:rPr>
              <a:t>    return base, count, caveat          # three yes-or-no answers</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notebook's version looks for more words of each kind; the idea is three tests a reader can run by eye on any line.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9" name="Oval 18"/>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1" name="Oval 20"/>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3" name="Oval 22"/>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is "not yet" an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Student line and the discount line both carry a verdict that is no yes: what makes it usable?</a:t>
            </a:r>
          </a:p>
        </p:txBody>
      </p:sp>
      <p:pic>
        <p:nvPicPr>
          <p:cNvPr id="9" name="mermaid diagram" descr="293071be314d5728.png"/>
          <p:cNvPicPr>
            <a:picLocks noChangeAspect="1"/>
          </p:cNvPicPr>
          <p:nvPr/>
        </p:nvPicPr>
        <p:blipFill>
          <a:blip r:embed="rId5"/>
          <a:stretch>
            <a:fillRect/>
          </a:stretch>
        </p:blipFill>
        <p:spPr>
          <a:xfrm>
            <a:off x="530352" y="1973352"/>
            <a:ext cx="4786326" cy="3935423"/>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turns "not yet" into an answer Meera can use? a) a promise to look again later; b) the count or the test that would turn it into a yes; c) a softer word such as "possibly"; d) a second analyst's agreement.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name what would turn it into a yes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is "not yet" an answer Meera can use?</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1402158"/>
                <a:gridCol w="3392507"/>
                <a:gridCol w="633632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Today's line</a:t>
                      </a:r>
                    </a:p>
                  </a:txBody>
                  <a:tcPr marL="101600" marR="101600" marT="38100" marB="38100" anchor="ctr">
                    <a:solidFill>
                      <a:srgbClr val="1A0F5C"/>
                    </a:solidFill>
                  </a:tcPr>
                </a:tc>
                <a:tc>
                  <a:txBody>
                    <a:bodyPr/>
                    <a:lstStyle/>
                    <a:p>
                      <a:r>
                        <a:rPr sz="1450" b="1" i="0">
                          <a:solidFill>
                            <a:srgbClr val="FFFFFF"/>
                          </a:solidFill>
                          <a:latin typeface="Calibri"/>
                        </a:rPr>
                        <a:t>What would turn it</a:t>
                      </a:r>
                    </a:p>
                  </a:txBody>
                  <a:tcPr marL="101600" marR="101600" marT="38100" marB="38100" anchor="ctr">
                    <a:solidFill>
                      <a:srgbClr val="1A0F5C"/>
                    </a:solidFill>
                  </a:tcPr>
                </a:tc>
              </a:tr>
              <a:tr h="369824">
                <a:tc>
                  <a:txBody>
                    <a:bodyPr/>
                    <a:lstStyle/>
                    <a:p>
                      <a:r>
                        <a:rPr sz="1400" b="0" i="0">
                          <a:solidFill>
                            <a:srgbClr val="1A1440"/>
                          </a:solidFill>
                          <a:latin typeface="Calibri"/>
                        </a:rPr>
                        <a:t>Student</a:t>
                      </a:r>
                    </a:p>
                  </a:txBody>
                  <a:tcPr marL="101600" marR="101600" marT="38100" marB="38100" anchor="ctr">
                    <a:solidFill>
                      <a:srgbClr val="FFFFFF"/>
                    </a:solidFill>
                  </a:tcPr>
                </a:tc>
                <a:tc>
                  <a:txBody>
                    <a:bodyPr/>
                    <a:lstStyle/>
                    <a:p>
                      <a:r>
                        <a:rPr sz="1400" b="0" i="0">
                          <a:solidFill>
                            <a:srgbClr val="1A1440"/>
                          </a:solidFill>
                          <a:latin typeface="Calibri"/>
                        </a:rPr>
                        <a:t>Not yet: no budget moves</a:t>
                      </a:r>
                    </a:p>
                  </a:txBody>
                  <a:tcPr marL="101600" marR="101600" marT="38100" marB="38100" anchor="ctr">
                    <a:solidFill>
                      <a:srgbClr val="FFFFFF"/>
                    </a:solidFill>
                  </a:tcPr>
                </a:tc>
                <a:tc>
                  <a:txBody>
                    <a:bodyPr/>
                    <a:lstStyle/>
                    <a:p>
                      <a:r>
                        <a:rPr sz="1400" b="0" i="0">
                          <a:solidFill>
                            <a:srgbClr val="1A1440"/>
                          </a:solidFill>
                          <a:latin typeface="Calibri"/>
                        </a:rPr>
                        <a:t>Thirty or more customers behind the rise, with the rise holding</a:t>
                      </a:r>
                    </a:p>
                  </a:txBody>
                  <a:tcPr marL="101600" marR="101600" marT="38100" marB="38100" anchor="ctr">
                    <a:solidFill>
                      <a:srgbClr val="FFFFFF"/>
                    </a:solidFill>
                  </a:tcPr>
                </a:tc>
              </a:tr>
              <a:tr h="369824">
                <a:tc>
                  <a:txBody>
                    <a:bodyPr/>
                    <a:lstStyle/>
                    <a:p>
                      <a:r>
                        <a:rPr sz="1400" b="0" i="0">
                          <a:solidFill>
                            <a:srgbClr val="1A1440"/>
                          </a:solidFill>
                          <a:latin typeface="Calibri"/>
                        </a:rPr>
                        <a:t>Discount</a:t>
                      </a:r>
                    </a:p>
                  </a:txBody>
                  <a:tcPr marL="101600" marR="101600" marT="38100" marB="38100" anchor="ctr">
                    <a:solidFill>
                      <a:srgbClr val="F4F2FA"/>
                    </a:solidFill>
                  </a:tcPr>
                </a:tc>
                <a:tc>
                  <a:txBody>
                    <a:bodyPr/>
                    <a:lstStyle/>
                    <a:p>
                      <a:r>
                        <a:rPr sz="1400" b="0" i="0">
                          <a:solidFill>
                            <a:srgbClr val="1A1440"/>
                          </a:solidFill>
                          <a:latin typeface="Calibri"/>
                        </a:rPr>
                        <a:t>Do not repeat it as designed</a:t>
                      </a:r>
                    </a:p>
                  </a:txBody>
                  <a:tcPr marL="101600" marR="101600" marT="38100" marB="38100" anchor="ctr">
                    <a:solidFill>
                      <a:srgbClr val="F4F2FA"/>
                    </a:solidFill>
                  </a:tcPr>
                </a:tc>
                <a:tc>
                  <a:txBody>
                    <a:bodyPr/>
                    <a:lstStyle/>
                    <a:p>
                      <a:r>
                        <a:rPr sz="1400" b="0" i="0">
                          <a:solidFill>
                            <a:srgbClr val="1A1440"/>
                          </a:solidFill>
                          <a:latin typeface="Calibri"/>
                        </a:rPr>
                        <a:t>A random hold-back at Diwali showing a lift inside segments</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Borderline and small: watch it</a:t>
                      </a:r>
                    </a:p>
                  </a:txBody>
                  <a:tcPr marL="101600" marR="101600" marT="38100" marB="38100" anchor="ctr">
                    <a:solidFill>
                      <a:srgbClr val="FFFFFF"/>
                    </a:solidFill>
                  </a:tcPr>
                </a:tc>
                <a:tc>
                  <a:txBody>
                    <a:bodyPr/>
                    <a:lstStyle/>
                    <a:p>
                      <a:r>
                        <a:rPr sz="1400" b="0" i="0">
                          <a:solidFill>
                            <a:srgbClr val="1A1440"/>
                          </a:solidFill>
                          <a:latin typeface="Calibri"/>
                        </a:rPr>
                        <a:t>A second quarter's fall, or a recovery rate from a half-tier test</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full note, all three lines, runs to 193 words, and each of its 11 figures traces to a number a chapter computed.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5" name="Oval 14"/>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7" name="Oval 16"/>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19" name="Oval 18"/>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day's rules reach all three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note's decisions follow from its numbers alone?</a:t>
            </a:r>
          </a:p>
        </p:txBody>
      </p:sp>
      <p:pic>
        <p:nvPicPr>
          <p:cNvPr id="9" name="mermaid diagram" descr="15028f890500644d.png"/>
          <p:cNvPicPr>
            <a:picLocks noChangeAspect="1"/>
          </p:cNvPicPr>
          <p:nvPr/>
        </p:nvPicPr>
        <p:blipFill>
          <a:blip r:embed="rId5"/>
          <a:stretch>
            <a:fillRect/>
          </a:stretch>
        </p:blipFill>
        <p:spPr>
          <a:xfrm>
            <a:off x="780897" y="1906714"/>
            <a:ext cx="10629900" cy="3114675"/>
          </a:xfrm>
          <a:prstGeom prst="rect">
            <a:avLst/>
          </a:prstGeom>
        </p:spPr>
      </p:pic>
      <p:sp>
        <p:nvSpPr>
          <p:cNvPr id="10" name="Rounded Rectangle 9"/>
          <p:cNvSpPr/>
          <p:nvPr/>
        </p:nvSpPr>
        <p:spPr>
          <a:xfrm>
            <a:off x="530352" y="516769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9570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86565"/>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Apply the rules by hand for a one-off note; write them as code when the same note comes every week, because a rule in code cannot drift toward the answer someone wants.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7" name="Oval 16"/>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9" name="Oval 18"/>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1" name="Oval 20"/>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193-word note: watch, not yet,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goes on Meera's one page, and when is "not yet" the honest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396018"/>
                <a:gridCol w="6734972"/>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form fits two minutes?</a:t>
                      </a:r>
                    </a:p>
                  </a:txBody>
                  <a:tcPr marL="101600" marR="101600" marT="38100" marB="38100" anchor="ctr">
                    <a:solidFill>
                      <a:srgbClr val="FFFFFF"/>
                    </a:solidFill>
                  </a:tcPr>
                </a:tc>
                <a:tc>
                  <a:txBody>
                    <a:bodyPr/>
                    <a:lstStyle/>
                    <a:p>
                      <a:r>
                        <a:rPr sz="900" b="0" i="0">
                          <a:solidFill>
                            <a:srgbClr val="1A1440"/>
                          </a:solidFill>
                          <a:latin typeface="Calibri"/>
                        </a:rPr>
                        <a:t>The four-part note, under 200 words</a:t>
                      </a:r>
                    </a:p>
                  </a:txBody>
                  <a:tcPr marL="101600" marR="101600" marT="38100" marB="38100" anchor="ctr">
                    <a:solidFill>
                      <a:srgbClr val="FFFFFF"/>
                    </a:solidFill>
                  </a:tcPr>
                </a:tc>
              </a:tr>
              <a:tr h="310896">
                <a:tc>
                  <a:txBody>
                    <a:bodyPr/>
                    <a:lstStyle/>
                    <a:p>
                      <a:r>
                        <a:rPr sz="900" b="0" i="0">
                          <a:solidFill>
                            <a:srgbClr val="1A1440"/>
                          </a:solidFill>
                          <a:latin typeface="Calibri"/>
                        </a:rPr>
                        <a:t>2. What sits beside each number?</a:t>
                      </a:r>
                    </a:p>
                  </a:txBody>
                  <a:tcPr marL="101600" marR="101600" marT="38100" marB="38100" anchor="ctr">
                    <a:solidFill>
                      <a:srgbClr val="F4F2FA"/>
                    </a:solidFill>
                  </a:tcPr>
                </a:tc>
                <a:tc>
                  <a:txBody>
                    <a:bodyPr/>
                    <a:lstStyle/>
                    <a:p>
                      <a:r>
                        <a:rPr sz="900" b="0" i="0">
                          <a:solidFill>
                            <a:srgbClr val="1A1440"/>
                          </a:solidFill>
                          <a:latin typeface="Calibri"/>
                        </a:rPr>
                        <a:t>Its world, its whole, its count or its groups</a:t>
                      </a:r>
                    </a:p>
                  </a:txBody>
                  <a:tcPr marL="101600" marR="101600" marT="38100" marB="38100" anchor="ctr">
                    <a:solidFill>
                      <a:srgbClr val="F4F2FA"/>
                    </a:solidFill>
                  </a:tcPr>
                </a:tc>
              </a:tr>
              <a:tr h="310896">
                <a:tc>
                  <a:txBody>
                    <a:bodyPr/>
                    <a:lstStyle/>
                    <a:p>
                      <a:r>
                        <a:rPr sz="900" b="0" i="0">
                          <a:solidFill>
                            <a:srgbClr val="1A1440"/>
                          </a:solidFill>
                          <a:latin typeface="Calibri"/>
                        </a:rPr>
                        <a:t>3. What goes wrong?</a:t>
                      </a:r>
                    </a:p>
                  </a:txBody>
                  <a:tcPr marL="101600" marR="101600" marT="38100" marB="38100" anchor="ctr">
                    <a:solidFill>
                      <a:srgbClr val="FFFFFF"/>
                    </a:solidFill>
                  </a:tcPr>
                </a:tc>
                <a:tc>
                  <a:txBody>
                    <a:bodyPr/>
                    <a:lstStyle/>
                    <a:p>
                      <a:r>
                        <a:rPr sz="900" b="0" i="0">
                          <a:solidFill>
                            <a:srgbClr val="1A1440"/>
                          </a:solidFill>
                          <a:latin typeface="Calibri"/>
                        </a:rPr>
                        <a:t>Three true numbers, three wrong decisions</a:t>
                      </a:r>
                    </a:p>
                  </a:txBody>
                  <a:tcPr marL="101600" marR="101600" marT="38100" marB="38100" anchor="ctr">
                    <a:solidFill>
                      <a:srgbClr val="FFFFFF"/>
                    </a:solidFill>
                  </a:tcPr>
                </a:tc>
              </a:tr>
              <a:tr h="310896">
                <a:tc>
                  <a:txBody>
                    <a:bodyPr/>
                    <a:lstStyle/>
                    <a:p>
                      <a:r>
                        <a:rPr sz="900" b="0" i="0">
                          <a:solidFill>
                            <a:srgbClr val="1A1440"/>
                          </a:solidFill>
                          <a:latin typeface="Calibri"/>
                        </a:rPr>
                        <a:t>4. How does a line pass?</a:t>
                      </a:r>
                    </a:p>
                  </a:txBody>
                  <a:tcPr marL="101600" marR="101600" marT="38100" marB="38100" anchor="ctr">
                    <a:solidFill>
                      <a:srgbClr val="F4F2FA"/>
                    </a:solidFill>
                  </a:tcPr>
                </a:tc>
                <a:tc>
                  <a:txBody>
                    <a:bodyPr/>
                    <a:lstStyle/>
                    <a:p>
                      <a:r>
                        <a:rPr sz="900" b="0" i="0">
                          <a:solidFill>
                            <a:srgbClr val="1A1440"/>
                          </a:solidFill>
                          <a:latin typeface="Calibri"/>
                        </a:rPr>
                        <a:t>Claim, evidence with its base, caveat, action</a:t>
                      </a:r>
                    </a:p>
                  </a:txBody>
                  <a:tcPr marL="101600" marR="101600" marT="38100" marB="38100" anchor="ctr">
                    <a:solidFill>
                      <a:srgbClr val="F4F2FA"/>
                    </a:solidFill>
                  </a:tcPr>
                </a:tc>
              </a:tr>
              <a:tr h="310896">
                <a:tc>
                  <a:txBody>
                    <a:bodyPr/>
                    <a:lstStyle/>
                    <a:p>
                      <a:r>
                        <a:rPr sz="900" b="0" i="0">
                          <a:solidFill>
                            <a:srgbClr val="1A1440"/>
                          </a:solidFill>
                          <a:latin typeface="Calibri"/>
                        </a:rPr>
                        <a:t>5. When is not yet an answer?</a:t>
                      </a:r>
                    </a:p>
                  </a:txBody>
                  <a:tcPr marL="101600" marR="101600" marT="38100" marB="38100" anchor="ctr">
                    <a:solidFill>
                      <a:srgbClr val="FFFFFF"/>
                    </a:solidFill>
                  </a:tcPr>
                </a:tc>
                <a:tc>
                  <a:txBody>
                    <a:bodyPr/>
                    <a:lstStyle/>
                    <a:p>
                      <a:r>
                        <a:rPr sz="900" b="0" i="0">
                          <a:solidFill>
                            <a:srgbClr val="1A1440"/>
                          </a:solidFill>
                          <a:latin typeface="Calibri"/>
                        </a:rPr>
                        <a:t>When it names what would make it a yes</a:t>
                      </a:r>
                    </a:p>
                  </a:txBody>
                  <a:tcPr marL="101600" marR="101600" marT="38100" marB="38100" anchor="ctr">
                    <a:solidFill>
                      <a:srgbClr val="FFFFFF"/>
                    </a:solidFill>
                  </a:tcPr>
                </a:tc>
              </a:tr>
              <a:tr h="310896">
                <a:tc>
                  <a:txBody>
                    <a:bodyPr/>
                    <a:lstStyle/>
                    <a:p>
                      <a:r>
                        <a:rPr sz="900" b="0" i="0">
                          <a:solidFill>
                            <a:srgbClr val="1A1440"/>
                          </a:solidFill>
                          <a:latin typeface="Calibri"/>
                        </a:rPr>
                        <a:t>6. Do the decisions follow?</a:t>
                      </a:r>
                    </a:p>
                  </a:txBody>
                  <a:tcPr marL="101600" marR="101600" marT="38100" marB="38100" anchor="ctr">
                    <a:solidFill>
                      <a:srgbClr val="F4F2FA"/>
                    </a:solidFill>
                  </a:tcPr>
                </a:tc>
                <a:tc>
                  <a:txBody>
                    <a:bodyPr/>
                    <a:lstStyle/>
                    <a:p>
                      <a:r>
                        <a:rPr sz="900" b="0" i="0">
                          <a:solidFill>
                            <a:srgbClr val="1A1440"/>
                          </a:solidFill>
                          <a:latin typeface="Calibri"/>
                        </a:rPr>
                        <a:t>Yes: the rules reach 3 of 3; 11 of 11 figures trace</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Three answers, each with its base, its caveat and a cost, and two of them say not yet with the thing that would change them. Marketing will push on the third on Monday; this afternoon is the ground you will stand on.</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The CEO wants a yes or no and the honest answer is "not yet"; what do you say, and how do you hold the line when marketing pushes?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24" name="Oval 23"/>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26" name="Oval 25"/>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8" name="Oval 27"/>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85 / 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direction is fixed before the test runs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chapter 1 report both directions for Retail-Plus?</a:t>
            </a:r>
          </a:p>
        </p:txBody>
      </p:sp>
      <p:graphicFrame>
        <p:nvGraphicFramePr>
          <p:cNvPr id="10" name="Table 9"/>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3266947"/>
                <a:gridCol w="4502085"/>
                <a:gridCol w="3361958"/>
              </a:tblGrid>
              <a:tr h="369824">
                <a:tc>
                  <a:txBody>
                    <a:bodyPr/>
                    <a:lstStyle/>
                    <a:p>
                      <a:r>
                        <a:rPr sz="1450" b="1" i="0">
                          <a:solidFill>
                            <a:srgbClr val="FFFFFF"/>
                          </a:solidFill>
                          <a:latin typeface="Calibri"/>
                        </a:rPr>
                        <a:t>Counted</a:t>
                      </a:r>
                    </a:p>
                  </a:txBody>
                  <a:tcPr marL="101600" marR="101600" marT="38100" marB="38100" anchor="ctr">
                    <a:solidFill>
                      <a:srgbClr val="1A0F5C"/>
                    </a:solidFill>
                  </a:tcPr>
                </a:tc>
                <a:tc>
                  <a:txBody>
                    <a:bodyPr/>
                    <a:lstStyle/>
                    <a:p>
                      <a:r>
                        <a:rPr sz="1450" b="1" i="0">
                          <a:solidFill>
                            <a:srgbClr val="FFFFFF"/>
                          </a:solidFill>
                          <a:latin typeface="Calibri"/>
                        </a:rPr>
                        <a:t>What it asks</a:t>
                      </a:r>
                    </a:p>
                  </a:txBody>
                  <a:tcPr marL="101600" marR="101600" marT="38100" marB="38100" anchor="ctr">
                    <a:solidFill>
                      <a:srgbClr val="1A0F5C"/>
                    </a:solidFill>
                  </a:tcPr>
                </a:tc>
                <a:tc>
                  <a:txBody>
                    <a:bodyPr/>
                    <a:lstStyle/>
                    <a:p>
                      <a:r>
                        <a:rPr sz="1450" b="1" i="0">
                          <a:solidFill>
                            <a:srgbClr val="FFFFFF"/>
                          </a:solidFill>
                          <a:latin typeface="Calibri"/>
                        </a:rPr>
                        <a:t>For Retail-Plus</a:t>
                      </a:r>
                    </a:p>
                  </a:txBody>
                  <a:tcPr marL="101600" marR="101600" marT="38100" marB="38100" anchor="ctr">
                    <a:solidFill>
                      <a:srgbClr val="1A0F5C"/>
                    </a:solidFill>
                  </a:tcPr>
                </a:tc>
              </a:tr>
              <a:tr h="369824">
                <a:tc>
                  <a:txBody>
                    <a:bodyPr/>
                    <a:lstStyle/>
                    <a:p>
                      <a:r>
                        <a:rPr sz="1400" b="0" i="0">
                          <a:solidFill>
                            <a:srgbClr val="1A1440"/>
                          </a:solidFill>
                          <a:latin typeface="Calibri"/>
                        </a:rPr>
                        <a:t>Falls at least as large</a:t>
                      </a:r>
                    </a:p>
                  </a:txBody>
                  <a:tcPr marL="101600" marR="101600" marT="38100" marB="38100" anchor="ctr">
                    <a:solidFill>
                      <a:srgbClr val="FFFFFF"/>
                    </a:solidFill>
                  </a:tcPr>
                </a:tc>
                <a:tc>
                  <a:txBody>
                    <a:bodyPr/>
                    <a:lstStyle/>
                    <a:p>
                      <a:r>
                        <a:rPr sz="1400" b="0" i="0">
                          <a:solidFill>
                            <a:srgbClr val="1A1440"/>
                          </a:solidFill>
                          <a:latin typeface="Calibri"/>
                        </a:rPr>
                        <a:t>Could chance make a drop this big?</a:t>
                      </a:r>
                    </a:p>
                  </a:txBody>
                  <a:tcPr marL="101600" marR="101600" marT="38100" marB="38100" anchor="ctr">
                    <a:solidFill>
                      <a:srgbClr val="FFFFFF"/>
                    </a:solidFill>
                  </a:tcPr>
                </a:tc>
                <a:tc>
                  <a:txBody>
                    <a:bodyPr/>
                    <a:lstStyle/>
                    <a:p>
                      <a:r>
                        <a:rPr sz="1400" b="0" i="0">
                          <a:solidFill>
                            <a:srgbClr val="1A1440"/>
                          </a:solidFill>
                          <a:latin typeface="Calibri"/>
                        </a:rPr>
                        <a:t>0.029 by the flips, 0.027 exactly</a:t>
                      </a:r>
                    </a:p>
                  </a:txBody>
                  <a:tcPr marL="101600" marR="101600" marT="38100" marB="38100" anchor="ctr">
                    <a:solidFill>
                      <a:srgbClr val="FFFFFF"/>
                    </a:solidFill>
                  </a:tcPr>
                </a:tc>
              </a:tr>
              <a:tr h="369824">
                <a:tc>
                  <a:txBody>
                    <a:bodyPr/>
                    <a:lstStyle/>
                    <a:p>
                      <a:r>
                        <a:rPr sz="1400" b="0" i="0">
                          <a:solidFill>
                            <a:srgbClr val="1A1440"/>
                          </a:solidFill>
                          <a:latin typeface="Calibri"/>
                        </a:rPr>
                        <a:t>Falls or rises at least as large</a:t>
                      </a:r>
                    </a:p>
                  </a:txBody>
                  <a:tcPr marL="101600" marR="101600" marT="38100" marB="38100" anchor="ctr">
                    <a:solidFill>
                      <a:srgbClr val="F4F2FA"/>
                    </a:solidFill>
                  </a:tcPr>
                </a:tc>
                <a:tc>
                  <a:txBody>
                    <a:bodyPr/>
                    <a:lstStyle/>
                    <a:p>
                      <a:r>
                        <a:rPr sz="1400" b="0" i="0">
                          <a:solidFill>
                            <a:srgbClr val="1A1440"/>
                          </a:solidFill>
                          <a:latin typeface="Calibri"/>
                        </a:rPr>
                        <a:t>Could chance make a move this big either way?</a:t>
                      </a:r>
                    </a:p>
                  </a:txBody>
                  <a:tcPr marL="101600" marR="101600" marT="38100" marB="38100" anchor="ctr">
                    <a:solidFill>
                      <a:srgbClr val="F4F2FA"/>
                    </a:solidFill>
                  </a:tcPr>
                </a:tc>
                <a:tc>
                  <a:txBody>
                    <a:bodyPr/>
                    <a:lstStyle/>
                    <a:p>
                      <a:r>
                        <a:rPr sz="1400" b="0" i="0">
                          <a:solidFill>
                            <a:srgbClr val="1A1440"/>
                          </a:solidFill>
                          <a:latin typeface="Calibri"/>
                        </a:rPr>
                        <a:t>0.057 by the flips, 0.055 exactly</a:t>
                      </a:r>
                    </a:p>
                  </a:txBody>
                  <a:tcPr marL="101600" marR="101600" marT="38100" marB="38100" anchor="ctr">
                    <a:solidFill>
                      <a:srgbClr val="F4F2FA"/>
                    </a:solidFill>
                  </a:tcPr>
                </a:tc>
              </a:tr>
            </a:tbl>
          </a:graphicData>
        </a:graphic>
      </p:graphicFrame>
      <p:sp>
        <p:nvSpPr>
          <p:cNvPr id="11" name="TextBox 10"/>
          <p:cNvSpPr txBox="1"/>
          <p:nvPr/>
        </p:nvSpPr>
        <p:spPr>
          <a:xfrm>
            <a:off x="530352" y="3322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direction is decided before the test is run. Had Meera asked before Q2 closed, 0.029 would carry the reading alone; she asked after, so the note reports both.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Real, or the wobble?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Worth acting on?</a:t>
            </a:r>
          </a:p>
        </p:txBody>
      </p:sp>
      <p:sp>
        <p:nvSpPr>
          <p:cNvPr id="16" name="Oval 15"/>
          <p:cNvSpPr/>
          <p:nvPr/>
        </p:nvSpPr>
        <p:spPr>
          <a:xfrm>
            <a:off x="313753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47263"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many behind 40%?</a:t>
            </a:r>
          </a:p>
        </p:txBody>
      </p:sp>
      <p:sp>
        <p:nvSpPr>
          <p:cNvPr id="18" name="Oval 17"/>
          <p:cNvSpPr/>
          <p:nvPr/>
        </p:nvSpPr>
        <p:spPr>
          <a:xfrm>
            <a:off x="45331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4286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Did the discount work?</a:t>
            </a:r>
          </a:p>
        </p:txBody>
      </p:sp>
      <p:sp>
        <p:nvSpPr>
          <p:cNvPr id="20" name="Oval 19"/>
          <p:cNvSpPr/>
          <p:nvPr/>
        </p:nvSpPr>
        <p:spPr>
          <a:xfrm>
            <a:off x="60207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304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the page?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D80  ·  86 / 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