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tree, Tuesday found the branch that moved,</a:t>
            </a:r>
          </a:p>
          <a:p>
            <a:r>
              <a:t>Wednesday made the numbers trustworthy, and today asks whether what moved is real, whether it</a:t>
            </a:r>
          </a:p>
          <a:p>
            <a:r>
              <a:t>matters, and whether anyone caused it. Friday rebuilds the week without an assistant.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no Python. The job of this chapter is to sort Meera's three questions into</a:t>
            </a:r>
          </a:p>
          <a:p>
            <a:r>
              <a:t>three habits and to draw the note's shape before any tool opens. Draw each habit on the board as the</a:t>
            </a:r>
          </a:p>
          <a:p>
            <a:r>
              <a:t>slides build it; the board stays up all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from the row: "One page, two</a:t>
            </a:r>
          </a:p>
          <a:p>
            <a:r>
              <a:t>minutes. If the honest answer is 'we do not know yet', say so and tell me what would tell us."</a:t>
            </a:r>
          </a:p>
          <a:p>
            <a:r>
              <a:t>Ask which of the three questions would cost Kalpa the most if answered wrongly. Most say the</a:t>
            </a:r>
          </a:p>
          <a:p>
            <a:r>
              <a:t>discount, because it is about to be repeated for Diwali. Hold that; it is the afternoon.</a:t>
            </a:r>
          </a:p>
          <a:p>
            <a:r>
              <a:t>Watch for anyone answering a question now. Every number on this slide is somebody's claim, and</a:t>
            </a:r>
          </a:p>
          <a:p>
            <a:r>
              <a:t>today tests each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 answer slide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Rounds one to three climb the first</a:t>
            </a:r>
          </a:p>
          <a:p>
            <a:r>
              <a:t>two habits this morning; the third habit is the afternoon's case. Say that the note on the right</a:t>
            </a:r>
          </a:p>
          <a:p>
            <a:r>
              <a:t>is where every round ends.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round today ends on one line of this note. The caveat is the part most</a:t>
            </a:r>
          </a:p>
          <a:p>
            <a:r>
              <a:t>analysts leave out and the part a CEO keeps them for. Model it once: "Not yet, and here is what</a:t>
            </a:r>
          </a:p>
          <a:p>
            <a:r>
              <a:t>would tell us" is a claim, a caveat and an action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what not to redo: nobody re-cleans the file, and nobody re-derives the tree.</a:t>
            </a:r>
          </a:p>
          <a:p>
            <a:r>
              <a:t>Wednesday's return question is the Kahoot's last item: the duplicates shrank the Retail-Plus drop,</a:t>
            </a:r>
          </a:p>
          <a:p>
            <a:r>
              <a:t>so does it survive? That is round one's question.</a:t>
            </a:r>
          </a:p>
          <a:p>
            <a:r>
              <a:t>Transition: a gap exists; the first habit asks whether chance alone could have made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the question and its picture (5), the ten-card shuffle by hand (12), the loop</a:t>
            </a:r>
          </a:p>
          <a:p>
            <a:r>
              <a:t>in code and the Retail-Core demonstration (13), the room's Retail-Plus run (8), the trap staged on</a:t>
            </a:r>
          </a:p>
          <a:p>
            <a:r>
              <a:t>the room's own share and its fix (10), and Kavya's review (2).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measure all morning is delivered revenue per member per quarter: Monday</a:t>
            </a:r>
          </a:p>
          <a:p>
            <a:r>
              <a:t>settled that cancelled and returned orders are not money kept, and a member is the unit that</a:t>
            </a:r>
          </a:p>
          <a:p>
            <a:r>
              <a:t>exists in both quarters. Write the measure on the board beside the tree.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name once and move on; the definition earns its place after the room has</a:t>
            </a:r>
          </a:p>
          <a:p>
            <a:r>
              <a:t>counted shares by hand. No formulas today, and no test catalogue: the shuffle is the whole idea.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Hand each pair ten index cards with these amounts written on them; the numbers are</a:t>
            </a:r>
          </a:p>
          <a:p>
            <a:r>
              <a:t>invented and the slide says so. Each pair shuffles ten times and writes each gap on the board in a</a:t>
            </a:r>
          </a:p>
          <a:p>
            <a:r>
              <a:t>row. Then count, as a room, how many gaps reached Rs 880 or more. Expect one or two out of a</a:t>
            </a:r>
          </a:p>
          <a:p>
            <a:r>
              <a:t>hundred and some. Ask: if the quarter made no difference, how surprising is 880?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ten gaps are the first ten a seeded computer shuffle produced, which is a</a:t>
            </a:r>
          </a:p>
          <a:p>
            <a:r>
              <a:t>fair stand-in for a pair's ten. Take letters. The trap is b: one in ten sounds common, but ten</a:t>
            </a:r>
          </a:p>
          <a:p>
            <a:r>
              <a:t>draws say almost nothing about a share.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hand shuffle was for the idea; the loop is for the number. Say the sentence</a:t>
            </a:r>
          </a:p>
          <a:p>
            <a:r>
              <a:t>aloud: "If the quarter made no difference, a gap of Rs 880 or more turns up in about 2 of every 100</a:t>
            </a:r>
          </a:p>
          <a:p>
            <a:r>
              <a:t>shuffles." That is the only sentence a p-value supports.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each line against the cards: pool is the ten cards face down, shuffle is the</a:t>
            </a:r>
          </a:p>
          <a:p>
            <a:r>
              <a:t>deal, the two slices are the two piles, and the gap is what pairs wrote on the board. The seed is</a:t>
            </a:r>
          </a:p>
          <a:p>
            <a:r>
              <a:t>there so every laptop in the room gets the same thousand shuffles; say that a different seed moves</a:t>
            </a:r>
          </a:p>
          <a:p>
            <a:r>
              <a:t>the share a little and never the verdict. If someone meets a NameError, it is an unrun cell: two</a:t>
            </a:r>
          </a:p>
          <a:p>
            <a:r>
              <a:t>minutes, the last line of the trace, Restart and Run 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the demonstration on Kalpa data, run live in notebook 1, level 3. Read the</a:t>
            </a:r>
          </a:p>
          <a:p>
            <a:r>
              <a:t>picture: the bars are chance-only worlds, and the real gap sits in the tallest bar. One shuffle in</a:t>
            </a:r>
          </a:p>
          <a:p>
            <a:r>
              <a:t>three makes a gap at least that large, so Retail-Core's dip is exactly the wobble Meera means.</a:t>
            </a:r>
          </a:p>
          <a:p>
            <a:r>
              <a:t>Kavya's point to make: this is what "nothing happened" looks like, and the room needs to have seen</a:t>
            </a:r>
          </a:p>
          <a:p>
            <a:r>
              <a:t>it before judging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room runs level 4 of notebook 1 and writes a first-draft sentence without help.</a:t>
            </a:r>
          </a:p>
          <a:p>
            <a:r>
              <a:t>Do not read a number out first; every laptop gets the same share because of the seed. When most</a:t>
            </a:r>
          </a:p>
          <a:p>
            <a:r>
              <a:t>laptops show a share, ask one pair to read theirs aloud and write it on the board. That number is</a:t>
            </a:r>
          </a:p>
          <a:p>
            <a:r>
              <a:t>the one the next three slides work on, and it belongs to the room.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the sentence up next to the room's share on the board and ask whose first</a:t>
            </a:r>
          </a:p>
          <a:p>
            <a:r>
              <a:t>draft looks like it. Most hands go up; it is the most common p-value sentence in industry and it</a:t>
            </a:r>
          </a:p>
          <a:p>
            <a:r>
              <a:t>appears in the row's list of what the room must handle. Do not correct it yet; the next slide does.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chance that a finding is wrong depends on things the shuffle never saw: how</a:t>
            </a:r>
          </a:p>
          <a:p>
            <a:r>
              <a:t>plausible a drop was before the data, what else changed, how many segments were tested. Name that</a:t>
            </a:r>
          </a:p>
          <a:p>
            <a:r>
              <a:t>in one line and stop; it is a later week's topic.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pair rewrites its first draft in the rewritten form and reads it to the</a:t>
            </a:r>
          </a:p>
          <a:p>
            <a:r>
              <a:t>partner. Collect three sentences aloud and have the room vote each one defensible or wrong. The</a:t>
            </a:r>
          </a:p>
          <a:p>
            <a:r>
              <a:t>rewritten column is what Kavya signs. The third row hands over to round two: real is one call,</a:t>
            </a:r>
          </a:p>
          <a:p>
            <a:r>
              <a:t>worth acting on is another.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two interview questions are answered in full in notebook 1 and in one breath in</a:t>
            </a:r>
          </a:p>
          <a:p>
            <a:r>
              <a:t>the drill this afternoon. Transition: Retail-Plus beat the wobble, so the next question is whether</a:t>
            </a:r>
          </a:p>
          <a:p>
            <a:r>
              <a:t>the gap is big enough to act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the question (5), the two calls drawn (8), the trap (10), the check and the fix</a:t>
            </a:r>
          </a:p>
          <a:p>
            <a:r>
              <a:t>(12), the room sizes it (12), and Kavya's review (3).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then letters. Expect d from anyone who liked Tuesday's percentages. Do not</a:t>
            </a:r>
          </a:p>
          <a:p>
            <a:r>
              <a:t>settle it 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calls, two questions, two lines in the note. Draw them side by side on the</a:t>
            </a:r>
          </a:p>
          <a:p>
            <a:r>
              <a:t>board under the morning's three habits.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where Retail-Core's Rs 110 belongs: bottom left, chance-sized and small. Ask</a:t>
            </a:r>
          </a:p>
          <a:p>
            <a:r>
              <a:t>where the room would put Retail-Plus; hold the answer until they have sized it. The quadrant is the</a:t>
            </a:r>
          </a:p>
          <a:p>
            <a:r>
              <a:t>day's second board drawing.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second trap of the day and the one that costs money. Ask what the</a:t>
            </a:r>
          </a:p>
          <a:p>
            <a:r>
              <a:t>p-value would be for a gap of five rupees on two lakh orders. Take guesses, then show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a Rs 5 gap between two quarters</a:t>
            </a:r>
          </a:p>
          <a:p>
            <a:r>
              <a:t>whose orders vary by about Rs 700, with the count on the axis being orders in each quarter, and the</a:t>
            </a:r>
          </a:p>
          <a:p>
            <a:r>
              <a:t>title says so. With two lakh orders a quarter the five-rupee gap reaches 0.02; with ten lakh it is</a:t>
            </a:r>
          </a:p>
          <a:p>
            <a:r>
              <a:t>off the chart. Five rupees on an order of about Rs 2,200 is a quarter of one percent: "significant",</a:t>
            </a:r>
          </a:p>
          <a:p>
            <a:r>
              <a:t>and whether it is worth anything depends on what acting costs. Size is a separate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steps without numbers; the room computes them in notebook 2, level 3.</a:t>
            </a:r>
          </a:p>
          <a:p>
            <a:r>
              <a:t>The company's Q2 delivered revenue is Tuesday's and Wednesday's number and is on their sheets.</a:t>
            </a:r>
          </a:p>
          <a:p>
            <a:r>
              <a:t>Business carries most of it, which the next slide shows.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draws the consumer segments alone so their bars stand in proportion; a</a:t>
            </a:r>
          </a:p>
          <a:p>
            <a:r>
              <a:t>single axis with Business on it would flatten all three to the floor. Delivered revenue in Q2 was</a:t>
            </a:r>
          </a:p>
          <a:p>
            <a:r>
              <a:t>Rs 1,28,64,680, of which Business delivered Rs 1,27,64,460. The room computed these on Tuesday and Wednesday. Do not state the Retail-Plus gap</a:t>
            </a:r>
          </a:p>
          <a:p>
            <a:r>
              <a:t>in rupees; the room computes it next.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blanks are on purpose: the room fills them in notebook 2, level 3, and reads</a:t>
            </a:r>
          </a:p>
          <a:p>
            <a:r>
              <a:t>the three sentences to a partner. Walk the room and check that the second blank is a share of the</a:t>
            </a:r>
          </a:p>
          <a:p>
            <a:r>
              <a:t>company, not of the segment.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CUT FIRST if the round runs long. Say the name, say that the gap per member is one</a:t>
            </a:r>
          </a:p>
          <a:p>
            <a:r>
              <a:t>estimate from 22 members, and stop.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Rs 500 per member offer is an assumption for the exercise and the notebook</a:t>
            </a:r>
          </a:p>
          <a:p>
            <a:r>
              <a:t>labels it so. Pairs compute whether recovering half the fall would cover it. Watch for pairs</a:t>
            </a:r>
          </a:p>
          <a:p>
            <a:r>
              <a:t>comparing the offer with the percentage fall; send them back to rupees.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interview question is a case follow-up built on the row's staple; its answer is</a:t>
            </a:r>
          </a:p>
          <a:p>
            <a:r>
              <a:t>in notebook 2 and the day sheet. Break for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the question (5), the trap (8), the check with the chance reference (15), the</a:t>
            </a:r>
          </a:p>
          <a:p>
            <a:r>
              <a:t>rule of thumb and the interview pair (10), the room's run (10), and Kavya's review (2). Notebook 3</a:t>
            </a:r>
          </a:p>
          <a:p>
            <a:r>
              <a:t>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Expect a, which is round two's habit, and c, which is the headline habit.</a:t>
            </a:r>
          </a:p>
          <a:p>
            <a:r>
              <a:t>Both are reasonable next steps and neither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in notebook 3, level 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out that the rate is correct arithmetic. What is wrong is repeating it without</a:t>
            </a:r>
          </a:p>
          <a:p>
            <a:r>
              <a:t>the count, the same mistake as Monday's number without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is exact arithmetic on fair coin flips, one flip per order deciding its</a:t>
            </a:r>
          </a:p>
          <a:p>
            <a:r>
              <a:t>quarter, with no Kalpa data in it. Read two points aloud: ten orders, 38 percent of worlds; four</a:t>
            </a:r>
          </a:p>
          <a:p>
            <a:r>
              <a:t>hundred, four in ten thousand. That curve is why the rule of thumb exists.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round one's shuffle, pointed at a count. The room runs it in notebook 3,</a:t>
            </a:r>
          </a:p>
          <a:p>
            <a:r>
              <a:t>levels 3 and 4. The rule of thumb is thirty; say that it is a habit, not a law, and that it is the</a:t>
            </a:r>
          </a:p>
          <a:p>
            <a:r>
              <a:t>row's rule.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then one learner answers aloud in thirty seconds. Listen for the count,</a:t>
            </a:r>
          </a:p>
          <a:p>
            <a:r>
              <a:t>the swing, and what they would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one-person swing is the fastest way to say it in an interview: one user out of</a:t>
            </a:r>
          </a:p>
          <a:p>
            <a:r>
              <a:t>12 is 8.3 points.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count is the room's discovery; do not say it. When a pair has it, ask them how</a:t>
            </a:r>
          </a:p>
          <a:p>
            <a:r>
              <a:t>many customers stand behind the orders, and watch the faces. Collect two lines aloud.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morning closes on three lines of the note, one per round. The afternoon adds the</a:t>
            </a:r>
          </a:p>
          <a:p>
            <a:r>
              <a:t>discount and ships the page.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dashed arrow. Tuesday's mix against rate is the tool the afternoon</a:t>
            </a:r>
          </a:p>
          <a:p>
            <a:r>
              <a:t>needs; say that once and stop.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their friend's tool reports a bigger p-value. Notebook</a:t>
            </a:r>
          </a:p>
          <a:p>
            <a:r>
              <a:t>1's depth section runs both counts on the same 5,000 shuffles.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3.png"/><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2.xml"/><Relationship Id="rId6"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3.png"/><Relationship Id="rId6"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image" Target="../media/image4.pn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4.xml"/><Relationship Id="rId6"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3.png"/><Relationship Id="rId6"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image" Target="../media/image31.png"/><Relationship Id="rId6" Type="http://schemas.openxmlformats.org/officeDocument/2006/relationships/image" Target="../media/image4.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Real, or the usual wobble?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Round 1. Real, or the wobble</a:t>
            </a:r>
          </a:p>
        </p:txBody>
      </p:sp>
      <p:sp>
        <p:nvSpPr>
          <p:cNvPr id="15" name="TextBox 14"/>
          <p:cNvSpPr txBox="1"/>
          <p:nvPr/>
        </p:nvSpPr>
        <p:spPr>
          <a:xfrm>
            <a:off x="419166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575714"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Round 2. Worth acting on</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745128"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Round 3. The count behind 40 percent</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questions before Monday's growth review, one page to answer them, and "not yet" allowed.</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three questions, in her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reconciled the quarters, so the numbers are trusted; now she asks what they mean.</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4" name="Oval 3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36" name="Oval 3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habit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and need three different checks before any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question fails in its own way, so each gets its own check before it reaches the note.</a:t>
            </a:r>
          </a:p>
        </p:txBody>
      </p:sp>
      <p:pic>
        <p:nvPicPr>
          <p:cNvPr id="9" name="mermaid diagram" descr="3c7741ded1982860.png"/>
          <p:cNvPicPr>
            <a:picLocks noChangeAspect="1"/>
          </p:cNvPicPr>
          <p:nvPr/>
        </p:nvPicPr>
        <p:blipFill>
          <a:blip r:embed="rId5"/>
          <a:stretch>
            <a:fillRect/>
          </a:stretch>
        </p:blipFill>
        <p:spPr>
          <a:xfrm>
            <a:off x="1695297" y="1874488"/>
            <a:ext cx="8801100"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Meera reads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parts, in order, and "not yet" is an answer when the evidence says so.</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9" name="Oval 3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41" name="Oval 4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week has already settled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days of work stand behind today's numbers, so today inherits them rather than redoing them.</a:t>
            </a:r>
          </a:p>
        </p:txBody>
      </p:sp>
      <p:pic>
        <p:nvPicPr>
          <p:cNvPr id="9" name="mermaid diagram" descr="cd84fc4cb5de170c.png"/>
          <p:cNvPicPr>
            <a:picLocks noChangeAspect="1"/>
          </p:cNvPicPr>
          <p:nvPr/>
        </p:nvPicPr>
        <p:blipFill>
          <a:blip r:embed="rId5"/>
          <a:stretch>
            <a:fillRect/>
          </a:stretch>
        </p:blipFill>
        <p:spPr>
          <a:xfrm>
            <a:off x="1016641" y="1956816"/>
            <a:ext cx="10158412" cy="1371600"/>
          </a:xfrm>
          <a:prstGeom prst="rect">
            <a:avLst/>
          </a:prstGeom>
        </p:spPr>
      </p:pic>
      <p:sp>
        <p:nvSpPr>
          <p:cNvPr id="10" name="TextBox 9"/>
          <p:cNvSpPr txBox="1"/>
          <p:nvPr/>
        </p:nvSpPr>
        <p:spPr>
          <a:xfrm>
            <a:off x="530352" y="34747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plus two things they did not have: the Student segment's own orders and the campaigns table.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Real, or the wobble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Shuffle the quarter labels thousands of times and see how often chance alone makes a gap this large.</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stories fit any gap between two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Either something changed for these members, or the same members just had an ordinary quarter.</a:t>
            </a:r>
          </a:p>
        </p:txBody>
      </p:sp>
      <p:pic>
        <p:nvPicPr>
          <p:cNvPr id="9" name="mermaid diagram" descr="5f696db36999a42c.png"/>
          <p:cNvPicPr>
            <a:picLocks noChangeAspect="1"/>
          </p:cNvPicPr>
          <p:nvPr/>
        </p:nvPicPr>
        <p:blipFill>
          <a:blip r:embed="rId5"/>
          <a:stretch>
            <a:fillRect/>
          </a:stretch>
        </p:blipFill>
        <p:spPr>
          <a:xfrm>
            <a:off x="3195485" y="1732756"/>
            <a:ext cx="5800725" cy="3671887"/>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Meera's word for the second story is "wobble". The test asks how big the wobble gets when nothing has changed at 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chance reference: shuffle the labels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the Q1 and Q2 labels are arbitrary, so mixing them changes nothing real.</a:t>
            </a:r>
          </a:p>
        </p:txBody>
      </p:sp>
      <p:pic>
        <p:nvPicPr>
          <p:cNvPr id="9" name="mermaid diagram" descr="6ad6373122f26cc8.png"/>
          <p:cNvPicPr>
            <a:picLocks noChangeAspect="1"/>
          </p:cNvPicPr>
          <p:nvPr/>
        </p:nvPicPr>
        <p:blipFill>
          <a:blip r:embed="rId5"/>
          <a:stretch>
            <a:fillRect/>
          </a:stretch>
        </p:blipFill>
        <p:spPr>
          <a:xfrm>
            <a:off x="530352" y="1956816"/>
            <a:ext cx="11130991" cy="1027276"/>
          </a:xfrm>
          <a:prstGeom prst="rect">
            <a:avLst/>
          </a:prstGeom>
        </p:spPr>
      </p:pic>
      <p:sp>
        <p:nvSpPr>
          <p:cNvPr id="10" name="TextBox 9"/>
          <p:cNvSpPr txBox="1"/>
          <p:nvPr/>
        </p:nvSpPr>
        <p:spPr>
          <a:xfrm>
            <a:off x="530352" y="313039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Ten cards, shuffled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members' Q1 spend and five members' Q2 spend, in hundreds of rupees, invented for the table.</a:t>
            </a:r>
          </a:p>
        </p:txBody>
      </p:sp>
      <p:graphicFrame>
        <p:nvGraphicFramePr>
          <p:cNvPr id="9" name="Table 8"/>
          <p:cNvGraphicFramePr>
            <a:graphicFrameLocks noGrp="1"/>
          </p:cNvGraphicFramePr>
          <p:nvPr/>
        </p:nvGraphicFramePr>
        <p:xfrm>
          <a:off x="530352" y="1956816"/>
          <a:ext cx="11130988" cy="234696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2,200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G</a:t>
                      </a:r>
                    </a:p>
                  </a:txBody>
                  <a:tcPr marL="101600" marR="101600" marT="38100" marB="38100" anchor="ctr">
                    <a:solidFill>
                      <a:srgbClr val="F4F2FA"/>
                    </a:solidFill>
                  </a:tcPr>
                </a:tc>
                <a:tc>
                  <a:txBody>
                    <a:bodyPr/>
                    <a:lstStyle/>
                    <a:p>
                      <a:r>
                        <a:rPr sz="1200" b="0" i="0">
                          <a:solidFill>
                            <a:srgbClr val="1A1440"/>
                          </a:solidFill>
                          <a:latin typeface="Calibri"/>
                        </a:rPr>
                        <a:t>3,100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H</a:t>
                      </a:r>
                    </a:p>
                  </a:txBody>
                  <a:tcPr marL="101600" marR="101600" marT="38100" marB="38100" anchor="ctr">
                    <a:solidFill>
                      <a:srgbClr val="FFFFFF"/>
                    </a:solidFill>
                  </a:tcPr>
                </a:tc>
                <a:tc>
                  <a:txBody>
                    <a:bodyPr/>
                    <a:lstStyle/>
                    <a:p>
                      <a:r>
                        <a:rPr sz="1200" b="0" i="0">
                          <a:solidFill>
                            <a:srgbClr val="1A1440"/>
                          </a:solidFill>
                          <a:latin typeface="Calibri"/>
                        </a:rPr>
                        <a:t>1,900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I</a:t>
                      </a:r>
                    </a:p>
                  </a:txBody>
                  <a:tcPr marL="101600" marR="101600" marT="38100" marB="38100" anchor="ctr">
                    <a:solidFill>
                      <a:srgbClr val="F4F2FA"/>
                    </a:solidFill>
                  </a:tcPr>
                </a:tc>
                <a:tc>
                  <a:txBody>
                    <a:bodyPr/>
                    <a:lstStyle/>
                    <a:p>
                      <a:r>
                        <a:rPr sz="1200" b="0" i="0">
                          <a:solidFill>
                            <a:srgbClr val="1A1440"/>
                          </a:solidFill>
                          <a:latin typeface="Calibri"/>
                        </a:rPr>
                        <a:t>2,700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J</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real gap is Rs 880. Shuffle the ten cards, deal five to each pile, and write down the new gap. Ten shuffles per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room's shuffles are on the board, and the real gap sits among them.</a:t>
            </a:r>
          </a:p>
        </p:txBody>
      </p:sp>
      <p:pic>
        <p:nvPicPr>
          <p:cNvPr id="9" name="mermaid diagram" descr="c0f802a677c2a3b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One shuffle in ten reached Rs 880. What do you say? a) the gap is real, since 880 is large; b) chance makes 880 often, so it is noise; c) ten shuffles are too few to say, so run many more; d) nothing, since shuffling destroys the data.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shuffles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thousand shuffles by computer show 21 gaps at Rs 880 or more, a share of about 2 in 100.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ten cards,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0.021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this is the p-value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shuffles taught what a shuffle is; a thousand measure how rare the real gap is.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shuffle, as a loop in Python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Twelve lines, and every one of them is something the room just did with cards.</a:t>
            </a:r>
          </a:p>
        </p:txBody>
      </p:sp>
      <p:sp>
        <p:nvSpPr>
          <p:cNvPr id="9" name="Rounded Rectangle 8"/>
          <p:cNvSpPr/>
          <p:nvPr/>
        </p:nvSpPr>
        <p:spPr>
          <a:xfrm>
            <a:off x="530352" y="1945132"/>
            <a:ext cx="11130991" cy="3991863"/>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7314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7314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7314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74316"/>
            <a:ext cx="10673791" cy="3589527"/>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import random</a:t>
            </a:r>
          </a:p>
          <a:p>
            <a:pPr>
              <a:spcAft>
                <a:spcPts val="200"/>
              </a:spcAft>
            </a:pPr>
          </a:p>
          <a:p>
            <a:pPr>
              <a:spcAft>
                <a:spcPts val="200"/>
              </a:spcAft>
            </a:pPr>
            <a:r>
              <a:rPr sz="1400" b="0" i="0">
                <a:solidFill>
                  <a:srgbClr val="E4E1F1"/>
                </a:solidFill>
                <a:latin typeface="Consolas"/>
              </a:rPr>
              <a:t>def shuffle_gaps(q1, q2, times, seed):</a:t>
            </a:r>
          </a:p>
          <a:p>
            <a:pPr>
              <a:spcAft>
                <a:spcPts val="200"/>
              </a:spcAft>
            </a:pPr>
            <a:r>
              <a:rPr sz="1400" b="0" i="0">
                <a:solidFill>
                  <a:srgbClr val="E4E1F1"/>
                </a:solidFill>
                <a:latin typeface="Consolas"/>
              </a:rPr>
              <a:t>    random.seed(seed)                  # the same shuffles every run</a:t>
            </a:r>
          </a:p>
          <a:p>
            <a:pPr>
              <a:spcAft>
                <a:spcPts val="200"/>
              </a:spcAft>
            </a:pPr>
            <a:r>
              <a:rPr sz="1400" b="0" i="0">
                <a:solidFill>
                  <a:srgbClr val="E4E1F1"/>
                </a:solidFill>
                <a:latin typeface="Consolas"/>
              </a:rPr>
              <a:t>    pool = q1 + q2                     # all the cards, labels ignored</a:t>
            </a:r>
          </a:p>
          <a:p>
            <a:pPr>
              <a:spcAft>
                <a:spcPts val="200"/>
              </a:spcAft>
            </a:pPr>
            <a:r>
              <a:rPr sz="1400" b="0" i="0">
                <a:solidFill>
                  <a:srgbClr val="E4E1F1"/>
                </a:solidFill>
                <a:latin typeface="Consolas"/>
              </a:rPr>
              <a:t>    gaps = []</a:t>
            </a:r>
          </a:p>
          <a:p>
            <a:pPr>
              <a:spcAft>
                <a:spcPts val="200"/>
              </a:spcAft>
            </a:pPr>
            <a:r>
              <a:rPr sz="1400" b="0" i="0">
                <a:solidFill>
                  <a:srgbClr val="E4E1F1"/>
                </a:solidFill>
                <a:latin typeface="Consolas"/>
              </a:rPr>
              <a:t>    for _ in range(times):</a:t>
            </a:r>
          </a:p>
          <a:p>
            <a:pPr>
              <a:spcAft>
                <a:spcPts val="200"/>
              </a:spcAft>
            </a:pPr>
            <a:r>
              <a:rPr sz="1400" b="0" i="0">
                <a:solidFill>
                  <a:srgbClr val="E4E1F1"/>
                </a:solidFill>
                <a:latin typeface="Consolas"/>
              </a:rPr>
              <a:t>        random.shuffle(pool)           # deal at random</a:t>
            </a:r>
          </a:p>
          <a:p>
            <a:pPr>
              <a:spcAft>
                <a:spcPts val="200"/>
              </a:spcAft>
            </a:pPr>
            <a:r>
              <a:rPr sz="1400" b="0" i="0">
                <a:solidFill>
                  <a:srgbClr val="E4E1F1"/>
                </a:solidFill>
                <a:latin typeface="Consolas"/>
              </a:rPr>
              <a:t>        a, b = pool[:len(q1)], pool[len(q1):]</a:t>
            </a:r>
          </a:p>
          <a:p>
            <a:pPr>
              <a:spcAft>
                <a:spcPts val="200"/>
              </a:spcAft>
            </a:pPr>
            <a:r>
              <a:rPr sz="1400" b="0" i="0">
                <a:solidFill>
                  <a:srgbClr val="E4E1F1"/>
                </a:solidFill>
                <a:latin typeface="Consolas"/>
              </a:rPr>
              <a:t>        gaps.append(sum(a) / len(a) - sum(b) / len(b))</a:t>
            </a:r>
          </a:p>
          <a:p>
            <a:pPr>
              <a:spcAft>
                <a:spcPts val="200"/>
              </a:spcAft>
            </a:pPr>
            <a:r>
              <a:rPr sz="1400" b="0" i="0">
                <a:solidFill>
                  <a:srgbClr val="E4E1F1"/>
                </a:solidFill>
                <a:latin typeface="Consolas"/>
              </a:rPr>
              <a:t>    return gaps</a:t>
            </a:r>
          </a:p>
          <a:p>
            <a:pPr>
              <a:spcAft>
                <a:spcPts val="200"/>
              </a:spcAft>
            </a:pPr>
          </a:p>
          <a:p>
            <a:pPr>
              <a:spcAft>
                <a:spcPts val="200"/>
              </a:spcAft>
            </a:pPr>
            <a:r>
              <a:rPr sz="1400" b="0" i="0">
                <a:solidFill>
                  <a:srgbClr val="E4E1F1"/>
                </a:solidFill>
                <a:latin typeface="Consolas"/>
              </a:rPr>
              <a:t>gaps = shuffle_gaps(q1, q2, 1000, seed=2026)</a:t>
            </a:r>
          </a:p>
          <a:p>
            <a:pPr>
              <a:spcAft>
                <a:spcPts val="200"/>
              </a:spcAft>
            </a:pPr>
            <a:r>
              <a:rPr sz="1400" b="0" i="0">
                <a:solidFill>
                  <a:srgbClr val="E4E1F1"/>
                </a:solidFill>
                <a:latin typeface="Consolas"/>
              </a:rPr>
              <a:t>share = sum(1 for g in gaps if g &gt;= real_gap) / len(gaps)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6" name="Oval 15"/>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8" name="Oval 1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usual wobble, measured on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spent Rs 110 less per member in Q2, and 5,000 shuffles make gaps like that all the time.</a:t>
            </a:r>
          </a:p>
        </p:txBody>
      </p:sp>
      <p:pic>
        <p:nvPicPr>
          <p:cNvPr id="9" name="mermaid diagram" descr="6d2fae8ae8f94e95.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1,724 of the 5,000 shuffles made a gap at least that large, a share of 0.34, which is what an ordinary quarter looks like.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Retail-Plus, 5,000 shuffles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loop on the segment Meera asked about, run by the room before anyone says a number.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 from notebook 1, level 4.</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shuffle runs.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shuffles</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5,000, seed 2026, and the share at least as large as the real gap.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first draft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to Meera on what your share means, written fast and kept.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34" name="Oval 3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36" name="Oval 3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draft note, written in a hurry from the share the room has just computed.</a:t>
            </a:r>
          </a:p>
        </p:txBody>
      </p:sp>
      <p:pic>
        <p:nvPicPr>
          <p:cNvPr id="9" name="mermaid diagram" descr="110e5667504f6893.png"/>
          <p:cNvPicPr>
            <a:picLocks noChangeAspect="1"/>
          </p:cNvPicPr>
          <p:nvPr/>
        </p:nvPicPr>
        <p:blipFill>
          <a:blip r:embed="rId6"/>
          <a:stretch>
            <a:fillRect/>
          </a:stretch>
        </p:blipFill>
        <p:spPr>
          <a:xfrm>
            <a:off x="1566710" y="1956816"/>
            <a:ext cx="9058275"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percent chance we are wrong"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share was counted under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shuffle assumed the quarter made no difference, so the share says nothing about being wrong.</a:t>
            </a:r>
          </a:p>
        </p:txBody>
      </p:sp>
      <p:pic>
        <p:nvPicPr>
          <p:cNvPr id="9" name="mermaid diagram" descr="18f8eff8cb2fdbee.png"/>
          <p:cNvPicPr>
            <a:picLocks noChangeAspect="1"/>
          </p:cNvPicPr>
          <p:nvPr/>
        </p:nvPicPr>
        <p:blipFill>
          <a:blip r:embed="rId5"/>
          <a:stretch>
            <a:fillRect/>
          </a:stretch>
        </p:blipFill>
        <p:spPr>
          <a:xfrm>
            <a:off x="4757580" y="1664208"/>
            <a:ext cx="2676533"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of any p-value sentence: in which world was this share counted? If the sentence talks about the real world, it has claimed what the shuffle never measured.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sentence that survives an audit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Say the share, the world it was counted in, and what it lets you conclude, in that order.</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771618"/>
                <a:gridCol w="6359372"/>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611632">
                <a:tc>
                  <a:txBody>
                    <a:bodyPr/>
                    <a:lstStyle/>
                    <a:p>
                      <a:r>
                        <a:rPr sz="1400" b="0" i="0">
                          <a:solidFill>
                            <a:srgbClr val="1A1440"/>
                          </a:solidFill>
                          <a:latin typeface="Calibri"/>
                        </a:rPr>
                        <a:t>"There is a 3 percent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this large would turn up in about 3 of every 100 shuffles."</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"Chance alone rarely makes a fall this large, so we treat the drop as real."</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"The fall is larger than the usual wobble;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reads the sentence before the number, because the sentence is what Meera repeats.</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Show me the usual wobble first, then the gap against it. Say the share and the world it was counted in. If your sentence would still be true when the drop was a fluke, it is the right sentence.</a:t>
            </a:r>
          </a:p>
        </p:txBody>
      </p:sp>
      <p:sp>
        <p:nvSpPr>
          <p:cNvPr id="14" name="Rounded Rectangle 13"/>
          <p:cNvSpPr/>
          <p:nvPr/>
        </p:nvSpPr>
        <p:spPr>
          <a:xfrm>
            <a:off x="530352" y="3243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575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68503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682752"/>
          </a:xfrm>
          <a:prstGeom prst="rect">
            <a:avLst/>
          </a:prstGeom>
          <a:noFill/>
        </p:spPr>
        <p:txBody>
          <a:bodyPr wrap="square" anchor="t" lIns="0" rIns="0" tIns="0" bIns="0">
            <a:spAutoFit/>
          </a:bodyPr>
          <a:lstStyle/>
          <a:p>
            <a:r>
              <a:rPr sz="1500" b="0" i="0">
                <a:solidFill>
                  <a:srgbClr val="1A1440"/>
                </a:solidFill>
                <a:latin typeface="Calibri"/>
              </a:rPr>
              <a:t>[S] What does p = 0.03 mean, and not mean? [S] How do you know whether a change in a metric is significant?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23" name="Oval 2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Worth acting 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gap can beat chance and still be too small to spend on, so size it in rupees before ranking it.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Retail-Plus beat the wobble. Now what?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shuffle said the fall is larger than chance makes, and the head of Retail-Plus wants a budget.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dbcda6ed700dee1a.png"/>
          <p:cNvPicPr>
            <a:picLocks noChangeAspect="1"/>
          </p:cNvPicPr>
          <p:nvPr/>
        </p:nvPicPr>
        <p:blipFill>
          <a:blip r:embed="rId6"/>
          <a:stretch>
            <a:fillRect/>
          </a:stretch>
        </p:blipFill>
        <p:spPr>
          <a:xfrm>
            <a:off x="2595410" y="3243072"/>
            <a:ext cx="7000875" cy="1171575"/>
          </a:xfrm>
          <a:prstGeom prst="rect">
            <a:avLst/>
          </a:prstGeom>
        </p:spPr>
      </p:pic>
      <p:sp>
        <p:nvSpPr>
          <p:cNvPr id="15" name="Rounded Rectangle 14"/>
          <p:cNvSpPr/>
          <p:nvPr/>
        </p:nvSpPr>
        <p:spPr>
          <a:xfrm>
            <a:off x="530352" y="4560951"/>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688967"/>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679823"/>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comes before any budget talk? a) nothing, since the test settled it; b) the fall in rupees against what fixing it would cost; c) a second test with a smaller p-value; d) the fall as a percentage, since percentages compare across segments.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0" name="Oval 19"/>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2" name="Oval 21"/>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rupees against the cost of acting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Significance answers "is it real"; only size against cost answers "is it worth money".</a:t>
            </a:r>
          </a:p>
        </p:txBody>
      </p:sp>
      <p:pic>
        <p:nvPicPr>
          <p:cNvPr id="9" name="mermaid diagram" descr="99b103e6c8fe47c5.png"/>
          <p:cNvPicPr>
            <a:picLocks noChangeAspect="1"/>
          </p:cNvPicPr>
          <p:nvPr/>
        </p:nvPicPr>
        <p:blipFill>
          <a:blip r:embed="rId5"/>
          <a:stretch>
            <a:fillRect/>
          </a:stretch>
        </p:blipFill>
        <p:spPr>
          <a:xfrm>
            <a:off x="1831028" y="1956816"/>
            <a:ext cx="8529637" cy="1800225"/>
          </a:xfrm>
          <a:prstGeom prst="rect">
            <a:avLst/>
          </a:prstGeom>
        </p:spPr>
      </p:pic>
      <p:sp>
        <p:nvSpPr>
          <p:cNvPr id="10" name="TextBox 9"/>
          <p:cNvSpPr txBox="1"/>
          <p:nvPr/>
        </p:nvSpPr>
        <p:spPr>
          <a:xfrm>
            <a:off x="530352" y="3903345"/>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 percentage on a small segment inflates; a second test answers the same question twice.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important are two different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finding lands in one of four boxes, and only one box earns a budget line on Monday.</a:t>
            </a:r>
          </a:p>
        </p:txBody>
      </p:sp>
      <p:pic>
        <p:nvPicPr>
          <p:cNvPr id="9" name="mermaid diagram" descr="64e53266ecf0a7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beat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ranks Retail-Plus first because the room's own p-value is the smallest on the page.</a:t>
            </a:r>
          </a:p>
        </p:txBody>
      </p:sp>
      <p:pic>
        <p:nvPicPr>
          <p:cNvPr id="9" name="mermaid diagram" descr="b50dc4998ea915b9.png"/>
          <p:cNvPicPr>
            <a:picLocks noChangeAspect="1"/>
          </p:cNvPicPr>
          <p:nvPr/>
        </p:nvPicPr>
        <p:blipFill>
          <a:blip r:embed="rId6"/>
          <a:stretch>
            <a:fillRect/>
          </a:stretch>
        </p:blipFill>
        <p:spPr>
          <a:xfrm>
            <a:off x="2188216" y="1956816"/>
            <a:ext cx="7815262"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"Significant" becomes "big", and the smallest p-value becomes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9" name="Oval 1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enough orders, chance never makes even a trivial gap, so a small p-value can carry a tiny finding.</a:t>
            </a:r>
          </a:p>
        </p:txBody>
      </p:sp>
      <p:pic>
        <p:nvPicPr>
          <p:cNvPr id="9" name="mermaid diagram" descr="ae91a8adc8a43fb0.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gap never changes and the p-value falls toward zero. The p-value measures how surely a gap beats chance; it never measures how big the gap is.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gap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Per member, for the whole segment, and as a share of the company's quarter.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in rupees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gap times the members who exist in both quarters.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segment's loss over the company's delivered revenue in Q2.</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loss a quarter against what the fix would cost a quarter.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Real and worth acting on are two separate calls: the shuffle answers the first, rupees against cost answer the second.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9" name="Oval 3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41" name="Oval 4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company's delivered revenue sits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carries the quarter, so every consumer segment's gap is small against the whole.</a:t>
            </a:r>
          </a:p>
        </p:txBody>
      </p:sp>
      <p:pic>
        <p:nvPicPr>
          <p:cNvPr id="9" name="mermaid diagram" descr="7622c699aa10bf66.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Business delivered Rs 1,27,64,460 in the same quarter, about 268 times Retail-Plus, so on this axis its bar would stand 268 times as tall. Size every consumer gap against a quarter that Business dominates.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two sentences where the draft had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sentence for real, one for size, and the decision follows the second.</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"Retail-Plus is significant, so it is our biggest problem."</a:t>
                      </a:r>
                    </a:p>
                  </a:txBody>
                  <a:tcPr marL="101600" marR="101600" marT="38100" marB="38100" anchor="ctr">
                    <a:solidFill>
                      <a:srgbClr val="FFFFFF"/>
                    </a:solidFill>
                  </a:tcPr>
                </a:tc>
                <a:tc>
                  <a:txBody>
                    <a:bodyPr/>
                    <a:lstStyle/>
                    <a:p>
                      <a:r>
                        <a:rPr sz="1400" b="0" i="0">
                          <a:solidFill>
                            <a:srgbClr val="1A1440"/>
                          </a:solidFill>
                          <a:latin typeface="Calibri"/>
                        </a:rPr>
                        <a:t>"The Retail-Plus fall is larger than the usual wobble."</a:t>
                      </a:r>
                    </a:p>
                  </a:txBody>
                  <a:tcPr marL="101600" marR="101600" marT="38100" marB="38100" anchor="ctr">
                    <a:solidFill>
                      <a:srgbClr val="FFFFFF"/>
                    </a:solidFill>
                  </a:tcPr>
                </a:tc>
              </a:tr>
              <a:tr h="611632">
                <a:tc>
                  <a:txBody>
                    <a:bodyPr/>
                    <a:lstStyle/>
                    <a:p/>
                  </a:txBody>
                  <a:tcPr marL="101600" marR="101600" marT="38100" marB="38100" anchor="ctr">
                    <a:solidFill>
                      <a:srgbClr val="F4F2FA"/>
                    </a:solidFill>
                  </a:tcPr>
                </a:tc>
                <a:tc>
                  <a:txBody>
                    <a:bodyPr/>
                    <a:lstStyle/>
                    <a:p>
                      <a:r>
                        <a:rPr sz="1400" b="0" i="0">
                          <a:solidFill>
                            <a:srgbClr val="1A1440"/>
                          </a:solidFill>
                          <a:latin typeface="Calibri"/>
                        </a:rPr>
                        <a:t>"It is worth Rs ___ a quarter, which is ___ percent of the company's delivered revenue."</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"A fix is worth funding only if it costs less than Rs ___ a quarter."</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Fill the blanks from your notebook, not from the p-value.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9" name="Oval 1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range, named once: the confidence interval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gap is an estimate, so a careful note gives a range of plausible sizes; building one comes later.</a:t>
            </a:r>
          </a:p>
        </p:txBody>
      </p:sp>
      <p:pic>
        <p:nvPicPr>
          <p:cNvPr id="9" name="mermaid diagram" descr="a07731f85fa470d9.png"/>
          <p:cNvPicPr>
            <a:picLocks noChangeAspect="1"/>
          </p:cNvPicPr>
          <p:nvPr/>
        </p:nvPicPr>
        <p:blipFill>
          <a:blip r:embed="rId5"/>
          <a:stretch>
            <a:fillRect/>
          </a:stretch>
        </p:blipFill>
        <p:spPr>
          <a:xfrm>
            <a:off x="2545403" y="1956816"/>
            <a:ext cx="7100887" cy="1143000"/>
          </a:xfrm>
          <a:prstGeom prst="rect">
            <a:avLst/>
          </a:prstGeom>
        </p:spPr>
      </p:pic>
      <p:sp>
        <p:nvSpPr>
          <p:cNvPr id="10" name="TextBox 9"/>
          <p:cNvSpPr txBox="1"/>
          <p:nvPr/>
        </p:nvSpPr>
        <p:spPr>
          <a:xfrm>
            <a:off x="530352" y="324612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 the name is enough: a confidence interval is that range. How it is built arrives in a later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size it, then decide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a retention offer, and the room decides whether the fall pays for it.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Size it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Compute the three sizes from notebook 2 and fill the fix's blanks.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b0ee069e815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4</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Price the fix</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retention offer of Rs 500 per member a quarter, a figure assumed for the exercise, against the fall it would have to recover.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Two sentences</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One for real, one for worth, read aloud to your partner.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1" name="Oval 30"/>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33" name="Oval 32"/>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asks for the size before the significance, because size is what gets funded.</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Tell me how big it is in rupees, next to the whole company, and next to what the fix costs. Then tell me it is real. A small p-value on a small gap is a watch item, never a budget line.</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[F] A metric moved and the test says significant; how do you decide whether the business should act?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3" name="Oval 22"/>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The count behind 40 percent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is only as good as the count it stands on, so count before you repeat it.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should budget move to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Student rose 40 percent, the fastest rise on the page, and Meera asked about it by name.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pic>
        <p:nvPicPr>
          <p:cNvPr id="14" name="mermaid diagram" descr="92ef42c876cc61f8.png"/>
          <p:cNvPicPr>
            <a:picLocks noChangeAspect="1"/>
          </p:cNvPicPr>
          <p:nvPr/>
        </p:nvPicPr>
        <p:blipFill>
          <a:blip r:embed="rId6"/>
          <a:stretch>
            <a:fillRect/>
          </a:stretch>
        </p:blipFill>
        <p:spPr>
          <a:xfrm>
            <a:off x="3902716" y="2983992"/>
            <a:ext cx="4386262" cy="1543050"/>
          </a:xfrm>
          <a:prstGeom prst="rect">
            <a:avLst/>
          </a:prstGeom>
        </p:spPr>
      </p:pic>
      <p:sp>
        <p:nvSpPr>
          <p:cNvPr id="15" name="Rounded Rectangle 14"/>
          <p:cNvSpPr/>
          <p:nvPr/>
        </p:nvSpPr>
        <p:spPr>
          <a:xfrm>
            <a:off x="530352" y="467334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013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79221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before answering her? a) the rise in rupees, since money is what moves; b) the number of orders and customers the rate stands on; c) whether 40 percent beats every other segment; d) Student's rise in the previous year.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0" name="Oval 19"/>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2" name="Oval 21"/>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Forty percent of a handful is a few orders, and a few orders move by chance every quarter.</a:t>
            </a:r>
          </a:p>
        </p:txBody>
      </p:sp>
      <p:pic>
        <p:nvPicPr>
          <p:cNvPr id="9" name="mermaid diagram" descr="e8b966b40ec251ed.png"/>
          <p:cNvPicPr>
            <a:picLocks noChangeAspect="1"/>
          </p:cNvPicPr>
          <p:nvPr/>
        </p:nvPicPr>
        <p:blipFill>
          <a:blip r:embed="rId5"/>
          <a:stretch>
            <a:fillRect/>
          </a:stretch>
        </p:blipFill>
        <p:spPr>
          <a:xfrm>
            <a:off x="1773878" y="1956816"/>
            <a:ext cx="8643937"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because a rate on a handful can rank first by accident.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leads with the biggest rate on the page and moves money to it.</a:t>
            </a:r>
          </a:p>
        </p:txBody>
      </p:sp>
      <p:pic>
        <p:nvPicPr>
          <p:cNvPr id="9" name="mermaid diagram" descr="598add6b9579536c.png"/>
          <p:cNvPicPr>
            <a:picLocks noChangeAspect="1"/>
          </p:cNvPicPr>
          <p:nvPr/>
        </p:nvPicPr>
        <p:blipFill>
          <a:blip r:embed="rId6"/>
          <a:stretch>
            <a:fillRect/>
          </a:stretch>
        </p:blipFill>
        <p:spPr>
          <a:xfrm>
            <a:off x="1723872" y="1956816"/>
            <a:ext cx="8743950"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a small number of orders between two quarters at random, and big "rises" appear on their own.</a:t>
            </a:r>
          </a:p>
        </p:txBody>
      </p:sp>
      <p:pic>
        <p:nvPicPr>
          <p:cNvPr id="9" name="mermaid diagram" descr="8a8465c2c9ebf86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With ten orders, more than a third of chance-only worlds show a 40 percent rise. With four hundred, almost none do.</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count, then shuffle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chance reference as round one, run on the orders behind the rate.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Count</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Orders and distinct customers behind Student's rate, in both quarters.</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Shuffle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Deal the same orders to Q1 and Q2 at random, 5,000 times.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Share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How often chance alone makes a rise of 40 percent or more.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Compare</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same rise on a segment the size of Retail-Core.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Count what a rate stands on before you repeat it; under thirty, it is a lead.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9" name="Oval 3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41" name="Oval 4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interview's version of Student, asked with users where Kalpa has orders.</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9839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1120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10286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1" name="Oval 2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3" name="Oval 22"/>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user moves a rate on twelve by eight points, so 42 is a lead and 31 is the estimate.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does not make 31 true, it makes it stable.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Student, counted and shuffled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 counts the orders behind the 40 percent, shuffles them, and writes Meera's line.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and distinct customers, Q1 and Q2, in the empty cell of notebook 3.</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4</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Shuffle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5,000 random splits of the same orders; the share with a 40 percent rise or more.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and what would make it a finding.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1" name="Oval 3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33" name="Oval 32"/>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repeats a rate only with its count beside it, every time.</a:t>
            </a:r>
          </a:p>
        </p:txBody>
      </p:sp>
      <p:sp>
        <p:nvSpPr>
          <p:cNvPr id="9" name="Rounded Rectangle 8"/>
          <p:cNvSpPr/>
          <p:nvPr/>
        </p:nvSpPr>
        <p:spPr>
          <a:xfrm>
            <a:off x="530352" y="195681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1A1440"/>
                </a:solidFill>
                <a:latin typeface="Calibri"/>
              </a:rPr>
              <a:t>Write the count next to the rate, and say whether chance makes that rate on that count. If it does, the line to Meera is "not yet": what we saw, what it stands on, and how many more orders would settle it.</a:t>
            </a:r>
          </a:p>
        </p:txBody>
      </p:sp>
      <p:sp>
        <p:nvSpPr>
          <p:cNvPr id="14" name="Rounded Rectangle 13"/>
          <p:cNvSpPr/>
          <p:nvPr/>
        </p:nvSpPr>
        <p:spPr>
          <a:xfrm>
            <a:off x="530352" y="350215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7048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814572"/>
            <a:ext cx="237744" cy="237744"/>
          </a:xfrm>
          <a:prstGeom prst="rect">
            <a:avLst/>
          </a:prstGeom>
        </p:spPr>
      </p:pic>
      <p:sp>
        <p:nvSpPr>
          <p:cNvPr id="17" name="TextBox 16"/>
          <p:cNvSpPr txBox="1"/>
          <p:nvPr/>
        </p:nvSpPr>
        <p:spPr>
          <a:xfrm>
            <a:off x="1399031" y="36484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867912"/>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3" name="Oval 2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5" name="Oval 24"/>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morning settled, and what it did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of Meera's questions have a habit and a number; the third needs a fair comparison.</a:t>
            </a:r>
          </a:p>
        </p:txBody>
      </p:sp>
      <p:pic>
        <p:nvPicPr>
          <p:cNvPr id="9" name="mermaid diagram" descr="117e5037b1000e71.png"/>
          <p:cNvPicPr>
            <a:picLocks noChangeAspect="1"/>
          </p:cNvPicPr>
          <p:nvPr/>
        </p:nvPicPr>
        <p:blipFill>
          <a:blip r:embed="rId5"/>
          <a:stretch>
            <a:fillRect/>
          </a:stretch>
        </p:blipFill>
        <p:spPr>
          <a:xfrm>
            <a:off x="2616841" y="1956816"/>
            <a:ext cx="6958012" cy="2014537"/>
          </a:xfrm>
          <a:prstGeom prst="rect">
            <a:avLst/>
          </a:prstGeom>
        </p:spPr>
      </p:pic>
      <p:sp>
        <p:nvSpPr>
          <p:cNvPr id="10" name="TextBox 9"/>
          <p:cNvSpPr txBox="1"/>
          <p:nvPr/>
        </p:nvSpPr>
        <p:spPr>
          <a:xfrm>
            <a:off x="530352" y="41176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afternoon opens on the discount, unguided, with the whole note due at the end of the hour.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one direction or both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morning counted falls at least as large; counting rises as well roughly doubles the share.</a:t>
            </a:r>
          </a:p>
        </p:txBody>
      </p:sp>
      <p:graphicFrame>
        <p:nvGraphicFramePr>
          <p:cNvPr id="10" name="Table 9"/>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3323687"/>
                <a:gridCol w="4580276"/>
                <a:gridCol w="3227026"/>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The morning's share</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About twice the morning's share</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 asked about a drop, so the morning counted drops. A note that tested both directions says so, and the share it reports is the two-sided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4" name="Oval 1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D39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