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Per segment, with denominators</a:t>
            </a:r>
          </a:p>
        </p:txBody>
      </p:sp>
      <p:sp>
        <p:nvSpPr>
          <p:cNvPr id="4" name="TextBox 3"/>
          <p:cNvSpPr txBox="1"/>
          <p:nvPr/>
        </p:nvSpPr>
        <p:spPr>
          <a:xfrm>
            <a:off x="777240" y="1965960"/>
            <a:ext cx="10607040" cy="1162050"/>
          </a:xfrm>
          <a:prstGeom prst="rect">
            <a:avLst/>
          </a:prstGeom>
          <a:noFill/>
        </p:spPr>
        <p:txBody>
          <a:bodyPr wrap="square">
            <a:spAutoFit/>
          </a:bodyPr>
          <a:lstStyle/>
          <a:p>
            <a:pPr>
              <a:spcAft>
                <a:spcPts val="1000"/>
              </a:spcAft>
            </a:pPr>
            <a:r>
              <a:rPr sz="2100" b="0">
                <a:solidFill>
                  <a:srgbClr val="1C1C1A"/>
                </a:solidFill>
                <a:latin typeface="Calibri"/>
              </a:rPr>
              <a:t>Half one gave you one number for the whole file. Nobody runs a business unit on one number.</a:t>
            </a:r>
          </a:p>
          <a:p>
            <a:pPr>
              <a:spcAft>
                <a:spcPts val="1000"/>
              </a:spcAft>
            </a:pPr>
            <a:r>
              <a:rPr sz="2100" b="0">
                <a:solidFill>
                  <a:srgbClr val="1C1C1A"/>
                </a:solidFill>
                <a:latin typeface="Calibri"/>
              </a:rPr>
              <a:t>The question is always the same one level down: which part of Kalpa Retail is working, and how sure can you be.</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4, half two: the segment summary, and the count it rests 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Where we are</a:t>
            </a:r>
          </a:p>
        </p:txBody>
      </p:sp>
      <p:sp>
        <p:nvSpPr>
          <p:cNvPr id="4" name="TextBox 3"/>
          <p:cNvSpPr txBox="1"/>
          <p:nvPr/>
        </p:nvSpPr>
        <p:spPr>
          <a:xfrm>
            <a:off x="777240" y="1965960"/>
            <a:ext cx="10607040" cy="1657350"/>
          </a:xfrm>
          <a:prstGeom prst="rect">
            <a:avLst/>
          </a:prstGeom>
          <a:noFill/>
        </p:spPr>
        <p:txBody>
          <a:bodyPr wrap="square">
            <a:spAutoFit/>
          </a:bodyPr>
          <a:lstStyle/>
          <a:p>
            <a:pPr>
              <a:spcAft>
                <a:spcPts val="1000"/>
              </a:spcAft>
            </a:pPr>
            <a:r>
              <a:rPr sz="2100" b="0">
                <a:solidFill>
                  <a:srgbClr val="1C1C1A"/>
                </a:solidFill>
                <a:latin typeface="Calibri"/>
              </a:rPr>
              <a:t>[one column] &gt; [what is typical] &gt; [what one order does] &gt; [what the shape says] &gt; </a:t>
            </a:r>
            <a:r>
              <a:rPr sz="2100" b="1">
                <a:solidFill>
                  <a:srgbClr val="1C1C1A"/>
                </a:solidFill>
                <a:latin typeface="Calibri"/>
              </a:rPr>
              <a:t>[per segment, with denominators]</a:t>
            </a:r>
          </a:p>
          <a:p>
            <a:pPr>
              <a:spcAft>
                <a:spcPts val="1000"/>
              </a:spcAft>
            </a:pPr>
            <a:r>
              <a:rPr sz="2100" b="0">
                <a:solidFill>
                  <a:srgbClr val="1C1C1A"/>
                </a:solidFill>
                <a:latin typeface="Calibri"/>
              </a:rPr>
              <a:t>You can now pick an honest statistic for a column. Half two splits the file by segment, computes that statistic per group, and attaches the one thing that decides whether the answer means anything.</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4, half two: the segment summary, and the count it rests 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metric, named before it is computed</a:t>
            </a:r>
          </a:p>
        </p:txBody>
      </p:sp>
      <p:sp>
        <p:nvSpPr>
          <p:cNvPr id="4" name="TextBox 3"/>
          <p:cNvSpPr txBox="1"/>
          <p:nvPr/>
        </p:nvSpPr>
        <p:spPr>
          <a:xfrm>
            <a:off x="777240" y="1965960"/>
            <a:ext cx="10607040" cy="790575"/>
          </a:xfrm>
          <a:prstGeom prst="rect">
            <a:avLst/>
          </a:prstGeom>
          <a:noFill/>
        </p:spPr>
        <p:txBody>
          <a:bodyPr wrap="square">
            <a:spAutoFit/>
          </a:bodyPr>
          <a:lstStyle/>
          <a:p>
            <a:pPr>
              <a:spcAft>
                <a:spcPts val="1000"/>
              </a:spcAft>
            </a:pPr>
            <a:r>
              <a:rPr sz="2100" b="0">
                <a:solidFill>
                  <a:srgbClr val="1C1C1A"/>
                </a:solidFill>
                <a:latin typeface="Calibri"/>
              </a:rPr>
              <a:t>Kalpa Retail cares about returns. A returned order costs the delivery, the reverse logistics and usually the margin.</a:t>
            </a:r>
          </a:p>
        </p:txBody>
      </p:sp>
      <p:sp>
        <p:nvSpPr>
          <p:cNvPr id="5" name="TextBox 4"/>
          <p:cNvSpPr txBox="1"/>
          <p:nvPr/>
        </p:nvSpPr>
        <p:spPr>
          <a:xfrm>
            <a:off x="777240" y="2893695"/>
            <a:ext cx="10607040" cy="502920"/>
          </a:xfrm>
          <a:prstGeom prst="rect">
            <a:avLst/>
          </a:prstGeom>
          <a:noFill/>
        </p:spPr>
        <p:txBody>
          <a:bodyPr wrap="square">
            <a:spAutoFit/>
          </a:bodyPr>
          <a:lstStyle/>
          <a:p>
            <a:pPr>
              <a:spcAft>
                <a:spcPts val="400"/>
              </a:spcAft>
            </a:pPr>
            <a:r>
              <a:rPr sz="1700" b="0">
                <a:solidFill>
                  <a:srgbClr val="2B4A7D"/>
                </a:solidFill>
                <a:latin typeface="Consolas"/>
              </a:rPr>
              <a:t>return rate  =  orders with status "returned"  /  all orders in the group</a:t>
            </a:r>
          </a:p>
        </p:txBody>
      </p:sp>
      <p:sp>
        <p:nvSpPr>
          <p:cNvPr id="6" name="TextBox 5"/>
          <p:cNvSpPr txBox="1"/>
          <p:nvPr/>
        </p:nvSpPr>
        <p:spPr>
          <a:xfrm>
            <a:off x="777240" y="3533775"/>
            <a:ext cx="10607040" cy="1038225"/>
          </a:xfrm>
          <a:prstGeom prst="rect">
            <a:avLst/>
          </a:prstGeom>
          <a:noFill/>
        </p:spPr>
        <p:txBody>
          <a:bodyPr wrap="square">
            <a:spAutoFit/>
          </a:bodyPr>
          <a:lstStyle/>
          <a:p>
            <a:pPr>
              <a:spcAft>
                <a:spcPts val="1000"/>
              </a:spcAft>
            </a:pPr>
            <a:r>
              <a:rPr sz="2100" b="0">
                <a:solidFill>
                  <a:srgbClr val="1C1C1A"/>
                </a:solidFill>
                <a:latin typeface="Calibri"/>
              </a:rPr>
              <a:t>This is the first metric in the programme where </a:t>
            </a:r>
            <a:r>
              <a:rPr sz="2100" b="1">
                <a:solidFill>
                  <a:srgbClr val="1C1C1A"/>
                </a:solidFill>
                <a:latin typeface="Calibri"/>
              </a:rPr>
              <a:t>lower is better</a:t>
            </a:r>
            <a:r>
              <a:rPr sz="2100" b="0">
                <a:solidFill>
                  <a:srgbClr val="1C1C1A"/>
                </a:solidFill>
                <a:latin typeface="Calibri"/>
              </a:rPr>
              <a:t>. A ranking of return rates puts the best performer at the top with the smallest number beside it. Keep that straight or the next four slides will read backwards.</a:t>
            </a:r>
          </a:p>
        </p:txBody>
      </p:sp>
      <p:sp>
        <p:nvSpPr>
          <p:cNvPr id="7" name="TextBox 6"/>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4, half two: the segment summary, and the count it rests 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Where this is going</a:t>
            </a:r>
          </a:p>
        </p:txBody>
      </p:sp>
      <p:sp>
        <p:nvSpPr>
          <p:cNvPr id="4" name="TextBox 3"/>
          <p:cNvSpPr txBox="1"/>
          <p:nvPr/>
        </p:nvSpPr>
        <p:spPr>
          <a:xfrm>
            <a:off x="777240" y="1965960"/>
            <a:ext cx="10607040" cy="1409700"/>
          </a:xfrm>
          <a:prstGeom prst="rect">
            <a:avLst/>
          </a:prstGeom>
          <a:noFill/>
        </p:spPr>
        <p:txBody>
          <a:bodyPr wrap="square">
            <a:spAutoFit/>
          </a:bodyPr>
          <a:lstStyle/>
          <a:p>
            <a:pPr>
              <a:spcAft>
                <a:spcPts val="400"/>
              </a:spcAft>
            </a:pPr>
            <a:r>
              <a:rPr sz="1700" b="0">
                <a:solidFill>
                  <a:srgbClr val="2B4A7D"/>
                </a:solidFill>
                <a:latin typeface="Consolas"/>
              </a:rPr>
              <a:t>segment        orders   median amount   return rate</a:t>
            </a:r>
          </a:p>
          <a:p>
            <a:pPr>
              <a:spcAft>
                <a:spcPts val="400"/>
              </a:spcAft>
            </a:pPr>
            <a:r>
              <a:rPr sz="1700" b="0">
                <a:solidFill>
                  <a:srgbClr val="2B4A7D"/>
                </a:solidFill>
                <a:latin typeface="Consolas"/>
              </a:rPr>
              <a:t>Business            9        Rs 2,050          11.1%</a:t>
            </a:r>
          </a:p>
          <a:p>
            <a:pPr>
              <a:spcAft>
                <a:spcPts val="400"/>
              </a:spcAft>
            </a:pPr>
            <a:r>
              <a:rPr sz="1700" b="0">
                <a:solidFill>
                  <a:srgbClr val="2B4A7D"/>
                </a:solidFill>
                <a:latin typeface="Consolas"/>
              </a:rPr>
              <a:t>Student            10        Rs 1,430          20.0%</a:t>
            </a:r>
          </a:p>
          <a:p>
            <a:pPr>
              <a:spcAft>
                <a:spcPts val="400"/>
              </a:spcAft>
            </a:pPr>
            <a:r>
              <a:rPr sz="1700" b="0">
                <a:solidFill>
                  <a:srgbClr val="2B4A7D"/>
                </a:solidFill>
                <a:latin typeface="Consolas"/>
              </a:rPr>
              <a:t>Retail-Core        14        Rs 1,910          35.7%</a:t>
            </a:r>
          </a:p>
          <a:p>
            <a:pPr>
              <a:spcAft>
                <a:spcPts val="400"/>
              </a:spcAft>
            </a:pPr>
            <a:r>
              <a:rPr sz="1700" b="0">
                <a:solidFill>
                  <a:srgbClr val="2B4A7D"/>
                </a:solidFill>
                <a:latin typeface="Consolas"/>
              </a:rPr>
              <a:t>Retail-Plus        11        Rs 1,435          36.4%</a:t>
            </a:r>
          </a:p>
        </p:txBody>
      </p:sp>
      <p:sp>
        <p:nvSpPr>
          <p:cNvPr id="5" name="TextBox 4"/>
          <p:cNvSpPr txBox="1"/>
          <p:nvPr/>
        </p:nvSpPr>
        <p:spPr>
          <a:xfrm>
            <a:off x="777240" y="3512820"/>
            <a:ext cx="10607040" cy="790575"/>
          </a:xfrm>
          <a:prstGeom prst="rect">
            <a:avLst/>
          </a:prstGeom>
          <a:noFill/>
        </p:spPr>
        <p:txBody>
          <a:bodyPr wrap="square">
            <a:spAutoFit/>
          </a:bodyPr>
          <a:lstStyle/>
          <a:p>
            <a:pPr>
              <a:spcAft>
                <a:spcPts val="1000"/>
              </a:spcAft>
            </a:pPr>
            <a:r>
              <a:rPr sz="2100" b="0">
                <a:solidFill>
                  <a:srgbClr val="1C1C1A"/>
                </a:solidFill>
                <a:latin typeface="Calibri"/>
              </a:rPr>
              <a:t>You will have built this inside the hour. Then you will spend the rest of the session refusing to send it as it stands.</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4, half two: the segment summary, and the count it rests 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Half two in one picture</a:t>
            </a:r>
          </a:p>
        </p:txBody>
      </p:sp>
      <p:pic>
        <p:nvPicPr>
          <p:cNvPr id="4" name="Picture 3" descr="86583b010eb28668.png"/>
          <p:cNvPicPr>
            <a:picLocks noChangeAspect="1"/>
          </p:cNvPicPr>
          <p:nvPr/>
        </p:nvPicPr>
        <p:blipFill>
          <a:blip r:embed="rId2"/>
          <a:stretch>
            <a:fillRect/>
          </a:stretch>
        </p:blipFill>
        <p:spPr>
          <a:xfrm>
            <a:off x="777240" y="1965960"/>
            <a:ext cx="10607040" cy="786200"/>
          </a:xfrm>
          <a:prstGeom prst="rect">
            <a:avLst/>
          </a:prstGeom>
        </p:spPr>
      </p:pic>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4, half two: the segment summary, and the count it rests 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pPr algn="ctr"/>
            <a:r>
              <a:rPr sz="3600" b="1">
                <a:solidFill>
                  <a:srgbClr val="FFFFFF"/>
                </a:solidFill>
                <a:latin typeface="Calibri"/>
              </a:rPr>
              <a:t>SECTION 1: THE DENOMINATOR</a:t>
            </a:r>
          </a:p>
        </p:txBody>
      </p:sp>
      <p:sp>
        <p:nvSpPr>
          <p:cNvPr id="4" name="TextBox 3"/>
          <p:cNvSpPr txBox="1"/>
          <p:nvPr/>
        </p:nvSpPr>
        <p:spPr>
          <a:xfrm>
            <a:off x="777240" y="1965960"/>
            <a:ext cx="10607040" cy="790575"/>
          </a:xfrm>
          <a:prstGeom prst="rect">
            <a:avLst/>
          </a:prstGeom>
          <a:noFill/>
        </p:spPr>
        <p:txBody>
          <a:bodyPr wrap="square">
            <a:spAutoFit/>
          </a:bodyPr>
          <a:lstStyle/>
          <a:p>
            <a:pPr algn="ctr">
              <a:spcAft>
                <a:spcPts val="1000"/>
              </a:spcAft>
            </a:pPr>
            <a:r>
              <a:rPr sz="2100" b="0">
                <a:solidFill>
                  <a:srgbClr val="FFFFFF"/>
                </a:solidFill>
                <a:latin typeface="Calibri"/>
              </a:rPr>
              <a:t>[one column] &gt; [what is typical] &gt; [what one order does] &gt; [what the shape says] &gt; </a:t>
            </a:r>
            <a:r>
              <a:rPr sz="2100" b="1">
                <a:solidFill>
                  <a:srgbClr val="FFFFFF"/>
                </a:solidFill>
                <a:latin typeface="Calibri"/>
              </a:rPr>
              <a:t>[per segment, with denominators]</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4, half two: the segment summary, and the count it rests 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One rate, two files</a:t>
            </a:r>
          </a:p>
        </p:txBody>
      </p:sp>
      <p:sp>
        <p:nvSpPr>
          <p:cNvPr id="4" name="TextBox 3"/>
          <p:cNvSpPr txBox="1"/>
          <p:nvPr/>
        </p:nvSpPr>
        <p:spPr>
          <a:xfrm>
            <a:off x="777240" y="1965960"/>
            <a:ext cx="10607040" cy="542925"/>
          </a:xfrm>
          <a:prstGeom prst="rect">
            <a:avLst/>
          </a:prstGeom>
          <a:noFill/>
        </p:spPr>
        <p:txBody>
          <a:bodyPr wrap="square">
            <a:spAutoFit/>
          </a:bodyPr>
          <a:lstStyle/>
          <a:p>
            <a:pPr>
              <a:spcAft>
                <a:spcPts val="1000"/>
              </a:spcAft>
            </a:pPr>
            <a:r>
              <a:rPr sz="2100" b="0">
                <a:solidFill>
                  <a:srgbClr val="1C1C1A"/>
                </a:solidFill>
                <a:latin typeface="Calibri"/>
              </a:rPr>
              <a:t>Two segments in two different companies, same reported number:</a:t>
            </a:r>
          </a:p>
        </p:txBody>
      </p:sp>
      <p:sp>
        <p:nvSpPr>
          <p:cNvPr id="5" name="TextBox 4"/>
          <p:cNvSpPr txBox="1"/>
          <p:nvPr/>
        </p:nvSpPr>
        <p:spPr>
          <a:xfrm>
            <a:off x="777240" y="2646045"/>
            <a:ext cx="10607040" cy="666750"/>
          </a:xfrm>
          <a:prstGeom prst="rect">
            <a:avLst/>
          </a:prstGeom>
          <a:noFill/>
        </p:spPr>
        <p:txBody>
          <a:bodyPr wrap="square">
            <a:spAutoFit/>
          </a:bodyPr>
          <a:lstStyle/>
          <a:p>
            <a:pPr>
              <a:spcAft>
                <a:spcPts val="400"/>
              </a:spcAft>
            </a:pPr>
            <a:r>
              <a:rPr sz="1700" b="0">
                <a:solidFill>
                  <a:srgbClr val="2B4A7D"/>
                </a:solidFill>
                <a:latin typeface="Consolas"/>
              </a:rPr>
              <a:t>segment X:   returned 5 of 12          41.7%</a:t>
            </a:r>
          </a:p>
          <a:p>
            <a:pPr>
              <a:spcAft>
                <a:spcPts val="400"/>
              </a:spcAft>
            </a:pPr>
            <a:r>
              <a:rPr sz="1700" b="0">
                <a:solidFill>
                  <a:srgbClr val="2B4A7D"/>
                </a:solidFill>
                <a:latin typeface="Consolas"/>
              </a:rPr>
              <a:t>segment Y:   returned 500 of 1200      41.7%</a:t>
            </a:r>
          </a:p>
        </p:txBody>
      </p:sp>
      <p:sp>
        <p:nvSpPr>
          <p:cNvPr id="6" name="TextBox 5"/>
          <p:cNvSpPr txBox="1"/>
          <p:nvPr/>
        </p:nvSpPr>
        <p:spPr>
          <a:xfrm>
            <a:off x="777240" y="3449954"/>
            <a:ext cx="10607040" cy="542925"/>
          </a:xfrm>
          <a:prstGeom prst="rect">
            <a:avLst/>
          </a:prstGeom>
          <a:noFill/>
        </p:spPr>
        <p:txBody>
          <a:bodyPr wrap="square">
            <a:spAutoFit/>
          </a:bodyPr>
          <a:lstStyle/>
          <a:p>
            <a:pPr>
              <a:spcAft>
                <a:spcPts val="1000"/>
              </a:spcAft>
            </a:pPr>
            <a:r>
              <a:rPr sz="2100" b="0">
                <a:solidFill>
                  <a:srgbClr val="1C1C1A"/>
                </a:solidFill>
                <a:latin typeface="Calibri"/>
              </a:rPr>
              <a:t>Identical rates. Which one would you build a quarter's plan on?</a:t>
            </a:r>
          </a:p>
        </p:txBody>
      </p:sp>
      <p:sp>
        <p:nvSpPr>
          <p:cNvPr id="7" name="TextBox 6"/>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4, half two: the segment summary, and the count it rests 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Why the small one moves</a:t>
            </a:r>
          </a:p>
        </p:txBody>
      </p:sp>
      <p:sp>
        <p:nvSpPr>
          <p:cNvPr id="4" name="TextBox 3"/>
          <p:cNvSpPr txBox="1"/>
          <p:nvPr/>
        </p:nvSpPr>
        <p:spPr>
          <a:xfrm>
            <a:off x="777240" y="1965960"/>
            <a:ext cx="10607040" cy="1533525"/>
          </a:xfrm>
          <a:prstGeom prst="rect">
            <a:avLst/>
          </a:prstGeom>
          <a:noFill/>
        </p:spPr>
        <p:txBody>
          <a:bodyPr wrap="square">
            <a:spAutoFit/>
          </a:bodyPr>
          <a:lstStyle/>
          <a:p>
            <a:pPr>
              <a:spcAft>
                <a:spcPts val="1000"/>
              </a:spcAft>
            </a:pPr>
            <a:r>
              <a:rPr sz="2100" b="0">
                <a:solidFill>
                  <a:srgbClr val="1C1C1A"/>
                </a:solidFill>
                <a:latin typeface="Calibri"/>
              </a:rPr>
              <a:t>In the 12-order segment, one order changing its status moves the rate by 8.3 points.</a:t>
            </a:r>
          </a:p>
          <a:p>
            <a:pPr>
              <a:spcAft>
                <a:spcPts val="1000"/>
              </a:spcAft>
            </a:pPr>
            <a:r>
              <a:rPr sz="2100" b="0">
                <a:solidFill>
                  <a:srgbClr val="1C1C1A"/>
                </a:solidFill>
                <a:latin typeface="Calibri"/>
              </a:rPr>
              <a:t>In the 1,200-order segment, one order moves it by 0.08 points.</a:t>
            </a:r>
          </a:p>
          <a:p>
            <a:pPr>
              <a:spcAft>
                <a:spcPts val="1000"/>
              </a:spcAft>
            </a:pPr>
            <a:r>
              <a:rPr sz="2100" b="0">
                <a:solidFill>
                  <a:srgbClr val="1C1C1A"/>
                </a:solidFill>
                <a:latin typeface="Calibri"/>
              </a:rPr>
              <a:t>The small segment is not wrong. It is loud. Its number swings on evidence too thin to swing on, and next month it will report something different for no reason you can name.</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4, half two: the segment summary, and the count it rests 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What a rate actually is</a:t>
            </a:r>
          </a:p>
        </p:txBody>
      </p:sp>
      <p:sp>
        <p:nvSpPr>
          <p:cNvPr id="4" name="TextBox 3"/>
          <p:cNvSpPr txBox="1"/>
          <p:nvPr/>
        </p:nvSpPr>
        <p:spPr>
          <a:xfrm>
            <a:off x="777240" y="1965960"/>
            <a:ext cx="10607040" cy="502920"/>
          </a:xfrm>
          <a:prstGeom prst="rect">
            <a:avLst/>
          </a:prstGeom>
          <a:noFill/>
        </p:spPr>
        <p:txBody>
          <a:bodyPr wrap="square">
            <a:spAutoFit/>
          </a:bodyPr>
          <a:lstStyle/>
          <a:p>
            <a:pPr>
              <a:spcAft>
                <a:spcPts val="400"/>
              </a:spcAft>
            </a:pPr>
            <a:r>
              <a:rPr sz="1700" b="0">
                <a:solidFill>
                  <a:srgbClr val="2B4A7D"/>
                </a:solidFill>
                <a:latin typeface="Consolas"/>
              </a:rPr>
              <a:t>rate = how many did the thing  /  how many could have</a:t>
            </a:r>
          </a:p>
        </p:txBody>
      </p:sp>
      <p:sp>
        <p:nvSpPr>
          <p:cNvPr id="5" name="TextBox 4"/>
          <p:cNvSpPr txBox="1"/>
          <p:nvPr/>
        </p:nvSpPr>
        <p:spPr>
          <a:xfrm>
            <a:off x="777240" y="2606040"/>
            <a:ext cx="10607040" cy="914400"/>
          </a:xfrm>
          <a:prstGeom prst="rect">
            <a:avLst/>
          </a:prstGeom>
          <a:noFill/>
        </p:spPr>
        <p:txBody>
          <a:bodyPr wrap="square">
            <a:spAutoFit/>
          </a:bodyPr>
          <a:lstStyle/>
          <a:p>
            <a:pPr>
              <a:spcAft>
                <a:spcPts val="1000"/>
              </a:spcAft>
            </a:pPr>
            <a:r>
              <a:rPr sz="2100" b="0">
                <a:solidFill>
                  <a:srgbClr val="1C1C1A"/>
                </a:solidFill>
                <a:latin typeface="Calibri"/>
              </a:rPr>
              <a:t>Two numbers, and the reporting convention throws one of them away.</a:t>
            </a:r>
          </a:p>
          <a:p>
            <a:pPr>
              <a:spcAft>
                <a:spcPts val="1000"/>
              </a:spcAft>
            </a:pPr>
            <a:r>
              <a:rPr sz="2100" b="0">
                <a:solidFill>
                  <a:srgbClr val="1C1C1A"/>
                </a:solidFill>
                <a:latin typeface="Calibri"/>
              </a:rPr>
              <a:t>Every argument in this section comes from the thrown-away number.</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4, half two: the segment summary, and the count it rests 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A rate written properly, and the number nobody prints</a:t>
            </a:r>
          </a:p>
        </p:txBody>
      </p:sp>
      <p:sp>
        <p:nvSpPr>
          <p:cNvPr id="5" name="TextBox 4"/>
          <p:cNvSpPr txBox="1"/>
          <p:nvPr/>
        </p:nvSpPr>
        <p:spPr>
          <a:xfrm>
            <a:off x="777240" y="1965960"/>
            <a:ext cx="10607040" cy="2400300"/>
          </a:xfrm>
          <a:prstGeom prst="rect">
            <a:avLst/>
          </a:prstGeom>
          <a:noFill/>
        </p:spPr>
        <p:txBody>
          <a:bodyPr wrap="square">
            <a:spAutoFit/>
          </a:bodyPr>
          <a:lstStyle/>
          <a:p>
            <a:pPr>
              <a:spcAft>
                <a:spcPts val="1000"/>
              </a:spcAft>
            </a:pPr>
            <a:r>
              <a:rPr sz="2100" b="0">
                <a:solidFill>
                  <a:srgbClr val="1C1C1A"/>
                </a:solidFill>
                <a:latin typeface="Calibri"/>
              </a:rPr>
              <a:t>$$\text{rate} = \frac{k}{n} \qquad \text{where } k \text{ did the thing and } n \text{ could have}$$</a:t>
            </a:r>
          </a:p>
          <a:p>
            <a:pPr>
              <a:spcAft>
                <a:spcPts val="1000"/>
              </a:spcAft>
            </a:pPr>
            <a:r>
              <a:rPr sz="2100" b="0">
                <a:solidFill>
                  <a:srgbClr val="1C1C1A"/>
                </a:solidFill>
                <a:latin typeface="Calibri"/>
              </a:rPr>
              <a:t>The reporting convention prints the quotient and discards $n$, and $n$ is the number that decides whether the quotient means anything.</a:t>
            </a:r>
          </a:p>
          <a:p>
            <a:pPr>
              <a:spcAft>
                <a:spcPts val="1000"/>
              </a:spcAft>
            </a:pPr>
            <a:r>
              <a:rPr sz="2100" b="0">
                <a:solidFill>
                  <a:srgbClr val="1C1C1A"/>
                </a:solidFill>
                <a:latin typeface="Calibri"/>
              </a:rPr>
              <a:t>Here is the arithmetic that makes the discard visible. One record changing side moves the rate by</a:t>
            </a:r>
          </a:p>
          <a:p>
            <a:pPr>
              <a:spcAft>
                <a:spcPts val="1000"/>
              </a:spcAft>
            </a:pPr>
            <a:r>
              <a:rPr sz="2100" b="0">
                <a:solidFill>
                  <a:srgbClr val="1C1C1A"/>
                </a:solidFill>
                <a:latin typeface="Calibri"/>
              </a:rPr>
              <a:t>$$\Delta = \frac{1}{n} \qquad \text{or, in percentage points, } \frac{100}{n}$$</a:t>
            </a:r>
          </a:p>
        </p:txBody>
      </p:sp>
      <p:graphicFrame>
        <p:nvGraphicFramePr>
          <p:cNvPr id="6" name="Table 5"/>
          <p:cNvGraphicFramePr>
            <a:graphicFrameLocks noGrp="1"/>
          </p:cNvGraphicFramePr>
          <p:nvPr/>
        </p:nvGraphicFramePr>
        <p:xfrm>
          <a:off x="777240" y="4503420"/>
          <a:ext cx="10607040" cy="1920240"/>
        </p:xfrm>
        <a:graphic>
          <a:graphicData uri="http://schemas.openxmlformats.org/drawingml/2006/table">
            <a:tbl>
              <a:tblPr firstRow="1" bandRow="1">
                <a:tableStyleId>{5C22544A-7EE6-4342-B048-85BDC9FD1C3A}</a:tableStyleId>
              </a:tblPr>
              <a:tblGrid>
                <a:gridCol w="3535680"/>
                <a:gridCol w="3535680"/>
                <a:gridCol w="3535680"/>
              </a:tblGrid>
              <a:tr h="384048">
                <a:tc>
                  <a:txBody>
                    <a:bodyPr/>
                    <a:lstStyle/>
                    <a:p>
                      <a:r>
                        <a:rPr sz="1300" b="1">
                          <a:solidFill>
                            <a:srgbClr val="2B4A7D"/>
                          </a:solidFill>
                          <a:latin typeface="Calibri"/>
                        </a:rPr>
                        <a:t>Segment</a:t>
                      </a:r>
                    </a:p>
                  </a:txBody>
                  <a:tcPr marT="25400" marB="25400"/>
                </a:tc>
                <a:tc>
                  <a:txBody>
                    <a:bodyPr/>
                    <a:lstStyle/>
                    <a:p>
                      <a:r>
                        <a:rPr sz="1300" b="1">
                          <a:solidFill>
                            <a:srgbClr val="2B4A7D"/>
                          </a:solidFill>
                          <a:latin typeface="Calibri"/>
                        </a:rPr>
                        <a:t>$n$</a:t>
                      </a:r>
                    </a:p>
                  </a:txBody>
                  <a:tcPr marT="25400" marB="25400"/>
                </a:tc>
                <a:tc>
                  <a:txBody>
                    <a:bodyPr/>
                    <a:lstStyle/>
                    <a:p>
                      <a:r>
                        <a:rPr sz="1300" b="1">
                          <a:solidFill>
                            <a:srgbClr val="2B4A7D"/>
                          </a:solidFill>
                          <a:latin typeface="Calibri"/>
                        </a:rPr>
                        <a:t>One order moves the rate by</a:t>
                      </a:r>
                    </a:p>
                  </a:txBody>
                  <a:tcPr marT="25400" marB="25400"/>
                </a:tc>
              </a:tr>
              <a:tr h="384048">
                <a:tc>
                  <a:txBody>
                    <a:bodyPr/>
                    <a:lstStyle/>
                    <a:p>
                      <a:r>
                        <a:rPr sz="1400" b="0">
                          <a:solidFill>
                            <a:srgbClr val="1C1C1A"/>
                          </a:solidFill>
                          <a:latin typeface="Calibri"/>
                        </a:rPr>
                        <a:t>Business</a:t>
                      </a:r>
                    </a:p>
                  </a:txBody>
                  <a:tcPr marT="25400" marB="25400"/>
                </a:tc>
                <a:tc>
                  <a:txBody>
                    <a:bodyPr/>
                    <a:lstStyle/>
                    <a:p>
                      <a:r>
                        <a:rPr sz="1400" b="0">
                          <a:solidFill>
                            <a:srgbClr val="1C1C1A"/>
                          </a:solidFill>
                          <a:latin typeface="Calibri"/>
                        </a:rPr>
                        <a:t>9</a:t>
                      </a:r>
                    </a:p>
                  </a:txBody>
                  <a:tcPr marT="25400" marB="25400"/>
                </a:tc>
                <a:tc>
                  <a:txBody>
                    <a:bodyPr/>
                    <a:lstStyle/>
                    <a:p>
                      <a:r>
                        <a:rPr sz="1400" b="0">
                          <a:solidFill>
                            <a:srgbClr val="1C1C1A"/>
                          </a:solidFill>
                          <a:latin typeface="Calibri"/>
                        </a:rPr>
                        <a:t>11.1 points</a:t>
                      </a:r>
                    </a:p>
                  </a:txBody>
                  <a:tcPr marT="25400" marB="25400"/>
                </a:tc>
              </a:tr>
              <a:tr h="384048">
                <a:tc>
                  <a:txBody>
                    <a:bodyPr/>
                    <a:lstStyle/>
                    <a:p>
                      <a:r>
                        <a:rPr sz="1400" b="0">
                          <a:solidFill>
                            <a:srgbClr val="1C1C1A"/>
                          </a:solidFill>
                          <a:latin typeface="Calibri"/>
                        </a:rPr>
                        <a:t>Student</a:t>
                      </a:r>
                    </a:p>
                  </a:txBody>
                  <a:tcPr marT="25400" marB="25400"/>
                </a:tc>
                <a:tc>
                  <a:txBody>
                    <a:bodyPr/>
                    <a:lstStyle/>
                    <a:p>
                      <a:r>
                        <a:rPr sz="1400" b="0">
                          <a:solidFill>
                            <a:srgbClr val="1C1C1A"/>
                          </a:solidFill>
                          <a:latin typeface="Calibri"/>
                        </a:rPr>
                        <a:t>10</a:t>
                      </a:r>
                    </a:p>
                  </a:txBody>
                  <a:tcPr marT="25400" marB="25400"/>
                </a:tc>
                <a:tc>
                  <a:txBody>
                    <a:bodyPr/>
                    <a:lstStyle/>
                    <a:p>
                      <a:r>
                        <a:rPr sz="1400" b="0">
                          <a:solidFill>
                            <a:srgbClr val="1C1C1A"/>
                          </a:solidFill>
                          <a:latin typeface="Calibri"/>
                        </a:rPr>
                        <a:t>10.0 points</a:t>
                      </a:r>
                    </a:p>
                  </a:txBody>
                  <a:tcPr marT="25400" marB="25400"/>
                </a:tc>
              </a:tr>
              <a:tr h="384048">
                <a:tc>
                  <a:txBody>
                    <a:bodyPr/>
                    <a:lstStyle/>
                    <a:p>
                      <a:r>
                        <a:rPr sz="1400" b="0">
                          <a:solidFill>
                            <a:srgbClr val="1C1C1A"/>
                          </a:solidFill>
                          <a:latin typeface="Calibri"/>
                        </a:rPr>
                        <a:t>Retail-Plus</a:t>
                      </a:r>
                    </a:p>
                  </a:txBody>
                  <a:tcPr marT="25400" marB="25400"/>
                </a:tc>
                <a:tc>
                  <a:txBody>
                    <a:bodyPr/>
                    <a:lstStyle/>
                    <a:p>
                      <a:r>
                        <a:rPr sz="1400" b="0">
                          <a:solidFill>
                            <a:srgbClr val="1C1C1A"/>
                          </a:solidFill>
                          <a:latin typeface="Calibri"/>
                        </a:rPr>
                        <a:t>11</a:t>
                      </a:r>
                    </a:p>
                  </a:txBody>
                  <a:tcPr marT="25400" marB="25400"/>
                </a:tc>
                <a:tc>
                  <a:txBody>
                    <a:bodyPr/>
                    <a:lstStyle/>
                    <a:p>
                      <a:r>
                        <a:rPr sz="1400" b="0">
                          <a:solidFill>
                            <a:srgbClr val="1C1C1A"/>
                          </a:solidFill>
                          <a:latin typeface="Calibri"/>
                        </a:rPr>
                        <a:t>9.1 points</a:t>
                      </a:r>
                    </a:p>
                  </a:txBody>
                  <a:tcPr marT="25400" marB="25400"/>
                </a:tc>
              </a:tr>
              <a:tr h="384048">
                <a:tc>
                  <a:txBody>
                    <a:bodyPr/>
                    <a:lstStyle/>
                    <a:p>
                      <a:r>
                        <a:rPr sz="1400" b="0">
                          <a:solidFill>
                            <a:srgbClr val="1C1C1A"/>
                          </a:solidFill>
                          <a:latin typeface="Calibri"/>
                        </a:rPr>
                        <a:t>Retail-Core</a:t>
                      </a:r>
                    </a:p>
                  </a:txBody>
                  <a:tcPr marT="25400" marB="25400"/>
                </a:tc>
                <a:tc>
                  <a:txBody>
                    <a:bodyPr/>
                    <a:lstStyle/>
                    <a:p>
                      <a:r>
                        <a:rPr sz="1400" b="0">
                          <a:solidFill>
                            <a:srgbClr val="1C1C1A"/>
                          </a:solidFill>
                          <a:latin typeface="Calibri"/>
                        </a:rPr>
                        <a:t>14</a:t>
                      </a:r>
                    </a:p>
                  </a:txBody>
                  <a:tcPr marT="25400" marB="25400"/>
                </a:tc>
                <a:tc>
                  <a:txBody>
                    <a:bodyPr/>
                    <a:lstStyle/>
                    <a:p>
                      <a:r>
                        <a:rPr sz="1400" b="0">
                          <a:solidFill>
                            <a:srgbClr val="1C1C1A"/>
                          </a:solidFill>
                          <a:latin typeface="Calibri"/>
                        </a:rPr>
                        <a:t>7.1 points</a:t>
                      </a:r>
                    </a:p>
                  </a:txBody>
                  <a:tcPr marT="25400" marB="25400"/>
                </a:tc>
              </a:tr>
            </a:tbl>
          </a:graphicData>
        </a:graphic>
      </p:graphicFrame>
      <p:sp>
        <p:nvSpPr>
          <p:cNvPr id="7" name="TextBox 6"/>
          <p:cNvSpPr txBox="1"/>
          <p:nvPr/>
        </p:nvSpPr>
        <p:spPr>
          <a:xfrm>
            <a:off x="777240" y="6606540"/>
            <a:ext cx="10607040" cy="790575"/>
          </a:xfrm>
          <a:prstGeom prst="rect">
            <a:avLst/>
          </a:prstGeom>
          <a:noFill/>
        </p:spPr>
        <p:txBody>
          <a:bodyPr wrap="square">
            <a:spAutoFit/>
          </a:bodyPr>
          <a:lstStyle/>
          <a:p>
            <a:pPr>
              <a:spcAft>
                <a:spcPts val="1000"/>
              </a:spcAft>
            </a:pPr>
            <a:r>
              <a:rPr sz="2100" b="0">
                <a:solidFill>
                  <a:srgbClr val="1C1C1A"/>
                </a:solidFill>
                <a:latin typeface="Calibri"/>
              </a:rPr>
              <a:t>Business's entire lead over Student is 8.9 points. One order in Business is worth 11.1. The lead is smaller than the resolution of the instrument that measured it.</a:t>
            </a:r>
          </a:p>
        </p:txBody>
      </p:sp>
      <p:sp>
        <p:nvSpPr>
          <p:cNvPr id="8" name="TextBox 7"/>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4, half two: the segment summary, and the count it rests 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Why a ranking of small groups reads size as much as performance</a:t>
            </a:r>
          </a:p>
        </p:txBody>
      </p:sp>
      <p:pic>
        <p:nvPicPr>
          <p:cNvPr id="5" name="Picture 4" descr="f726f2b897394eda.png"/>
          <p:cNvPicPr>
            <a:picLocks noChangeAspect="1"/>
          </p:cNvPicPr>
          <p:nvPr/>
        </p:nvPicPr>
        <p:blipFill>
          <a:blip r:embed="rId2"/>
          <a:stretch>
            <a:fillRect/>
          </a:stretch>
        </p:blipFill>
        <p:spPr>
          <a:xfrm>
            <a:off x="5448386" y="1965960"/>
            <a:ext cx="1264746" cy="4023360"/>
          </a:xfrm>
          <a:prstGeom prst="rect">
            <a:avLst/>
          </a:prstGeom>
        </p:spPr>
      </p:pic>
      <p:sp>
        <p:nvSpPr>
          <p:cNvPr id="6" name="TextBox 5"/>
          <p:cNvSpPr txBox="1"/>
          <p:nvPr/>
        </p:nvSpPr>
        <p:spPr>
          <a:xfrm>
            <a:off x="777240" y="6126480"/>
            <a:ext cx="10607040" cy="790575"/>
          </a:xfrm>
          <a:prstGeom prst="rect">
            <a:avLst/>
          </a:prstGeom>
          <a:noFill/>
        </p:spPr>
        <p:txBody>
          <a:bodyPr wrap="square">
            <a:spAutoFit/>
          </a:bodyPr>
          <a:lstStyle/>
          <a:p>
            <a:pPr>
              <a:spcAft>
                <a:spcPts val="1000"/>
              </a:spcAft>
            </a:pPr>
            <a:r>
              <a:rPr sz="2100" b="0">
                <a:solidFill>
                  <a:srgbClr val="1C1C1A"/>
                </a:solidFill>
                <a:latin typeface="Calibri"/>
              </a:rPr>
              <a:t>Nothing is causing this and nothing is wrong with the data. It is what quotients over small denominators do, and it is why the fix is the denominator column rather than a better statistic.</a:t>
            </a:r>
          </a:p>
        </p:txBody>
      </p:sp>
      <p:sp>
        <p:nvSpPr>
          <p:cNvPr id="7" name="TextBox 6"/>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4, half two: the segment summary, and the count it rests 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rule</a:t>
            </a:r>
          </a:p>
        </p:txBody>
      </p:sp>
      <p:sp>
        <p:nvSpPr>
          <p:cNvPr id="4" name="TextBox 3"/>
          <p:cNvSpPr txBox="1"/>
          <p:nvPr/>
        </p:nvSpPr>
        <p:spPr>
          <a:xfrm>
            <a:off x="777240" y="1965960"/>
            <a:ext cx="10607040" cy="1162050"/>
          </a:xfrm>
          <a:prstGeom prst="rect">
            <a:avLst/>
          </a:prstGeom>
          <a:noFill/>
        </p:spPr>
        <p:txBody>
          <a:bodyPr wrap="square">
            <a:spAutoFit/>
          </a:bodyPr>
          <a:lstStyle/>
          <a:p>
            <a:pPr>
              <a:spcAft>
                <a:spcPts val="1000"/>
              </a:spcAft>
            </a:pPr>
            <a:r>
              <a:rPr sz="2100" b="0">
                <a:solidFill>
                  <a:srgbClr val="1C1C1A"/>
                </a:solidFill>
                <a:latin typeface="Calibri"/>
              </a:rPr>
              <a:t>&gt; A rate travels with its denominator or it does not travel.</a:t>
            </a:r>
          </a:p>
          <a:p>
            <a:pPr>
              <a:spcAft>
                <a:spcPts val="1000"/>
              </a:spcAft>
            </a:pPr>
            <a:r>
              <a:rPr sz="2100" b="0">
                <a:solidFill>
                  <a:srgbClr val="1C1C1A"/>
                </a:solidFill>
                <a:latin typeface="Calibri"/>
              </a:rPr>
              <a:t>Write it as 11.1 percent of 9 and nobody can misread it. Write it as 11.1 percent and everybody will.</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4, half two: the segment summary, and the count it rests 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pPr algn="ctr"/>
            <a:r>
              <a:rPr sz="3600" b="1">
                <a:solidFill>
                  <a:srgbClr val="FFFFFF"/>
                </a:solidFill>
                <a:latin typeface="Calibri"/>
              </a:rPr>
              <a:t>SECTION 2: THE ACCUMULATOR</a:t>
            </a:r>
          </a:p>
        </p:txBody>
      </p:sp>
      <p:sp>
        <p:nvSpPr>
          <p:cNvPr id="4" name="TextBox 3"/>
          <p:cNvSpPr txBox="1"/>
          <p:nvPr/>
        </p:nvSpPr>
        <p:spPr>
          <a:xfrm>
            <a:off x="777240" y="1965960"/>
            <a:ext cx="10607040" cy="790575"/>
          </a:xfrm>
          <a:prstGeom prst="rect">
            <a:avLst/>
          </a:prstGeom>
          <a:noFill/>
        </p:spPr>
        <p:txBody>
          <a:bodyPr wrap="square">
            <a:spAutoFit/>
          </a:bodyPr>
          <a:lstStyle/>
          <a:p>
            <a:pPr algn="ctr">
              <a:spcAft>
                <a:spcPts val="1000"/>
              </a:spcAft>
            </a:pPr>
            <a:r>
              <a:rPr sz="2100" b="0">
                <a:solidFill>
                  <a:srgbClr val="FFFFFF"/>
                </a:solidFill>
                <a:latin typeface="Calibri"/>
              </a:rPr>
              <a:t>[one column] &gt; [what is typical] &gt; [what one order does] &gt; [what the shape says] &gt; </a:t>
            </a:r>
            <a:r>
              <a:rPr sz="2100" b="1">
                <a:solidFill>
                  <a:srgbClr val="FFFFFF"/>
                </a:solidFill>
                <a:latin typeface="Calibri"/>
              </a:rPr>
              <a:t>[per segment, with denominators]</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4, half two: the segment summary, and the count it rests 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Counting into buckets</a:t>
            </a:r>
          </a:p>
        </p:txBody>
      </p:sp>
      <p:sp>
        <p:nvSpPr>
          <p:cNvPr id="4" name="TextBox 3"/>
          <p:cNvSpPr txBox="1"/>
          <p:nvPr/>
        </p:nvSpPr>
        <p:spPr>
          <a:xfrm>
            <a:off x="777240" y="1965960"/>
            <a:ext cx="10607040" cy="790575"/>
          </a:xfrm>
          <a:prstGeom prst="rect">
            <a:avLst/>
          </a:prstGeom>
          <a:noFill/>
        </p:spPr>
        <p:txBody>
          <a:bodyPr wrap="square">
            <a:spAutoFit/>
          </a:bodyPr>
          <a:lstStyle/>
          <a:p>
            <a:pPr>
              <a:spcAft>
                <a:spcPts val="1000"/>
              </a:spcAft>
            </a:pPr>
            <a:r>
              <a:rPr sz="2100" b="0">
                <a:solidFill>
                  <a:srgbClr val="1C1C1A"/>
                </a:solidFill>
                <a:latin typeface="Calibri"/>
              </a:rPr>
              <a:t>Monday you counted orders that passed a test. Today you count them into named piles, one pile per segment.</a:t>
            </a:r>
          </a:p>
        </p:txBody>
      </p:sp>
      <p:sp>
        <p:nvSpPr>
          <p:cNvPr id="5" name="TextBox 4"/>
          <p:cNvSpPr txBox="1"/>
          <p:nvPr/>
        </p:nvSpPr>
        <p:spPr>
          <a:xfrm>
            <a:off x="777240" y="2893695"/>
            <a:ext cx="10607040" cy="1162050"/>
          </a:xfrm>
          <a:prstGeom prst="rect">
            <a:avLst/>
          </a:prstGeom>
          <a:noFill/>
        </p:spPr>
        <p:txBody>
          <a:bodyPr wrap="square">
            <a:spAutoFit/>
          </a:bodyPr>
          <a:lstStyle/>
          <a:p>
            <a:pPr>
              <a:spcAft>
                <a:spcPts val="400"/>
              </a:spcAft>
            </a:pPr>
            <a:r>
              <a:rPr sz="1700" b="0">
                <a:solidFill>
                  <a:srgbClr val="2B4A7D"/>
                </a:solidFill>
                <a:latin typeface="Consolas"/>
              </a:rPr>
              <a:t>counts = {"Retail-Core": 0, "Retail-Plus": 0, "Business": 0}</a:t>
            </a:r>
          </a:p>
          <a:p>
            <a:pPr>
              <a:spcAft>
                <a:spcPts val="400"/>
              </a:spcAft>
            </a:pPr>
          </a:p>
          <a:p>
            <a:pPr>
              <a:spcAft>
                <a:spcPts val="400"/>
              </a:spcAft>
            </a:pPr>
            <a:r>
              <a:rPr sz="1700" b="0">
                <a:solidFill>
                  <a:srgbClr val="2B4A7D"/>
                </a:solidFill>
                <a:latin typeface="Consolas"/>
              </a:rPr>
              <a:t>for r in orders:</a:t>
            </a:r>
          </a:p>
          <a:p>
            <a:pPr>
              <a:spcAft>
                <a:spcPts val="400"/>
              </a:spcAft>
            </a:pPr>
            <a:r>
              <a:rPr sz="1700" b="0">
                <a:solidFill>
                  <a:srgbClr val="2B4A7D"/>
                </a:solidFill>
                <a:latin typeface="Consolas"/>
              </a:rPr>
              <a:t>    counts[r["segment"]] = counts[r["segment"]] + 1</a:t>
            </a:r>
          </a:p>
        </p:txBody>
      </p:sp>
      <p:sp>
        <p:nvSpPr>
          <p:cNvPr id="6" name="TextBox 5"/>
          <p:cNvSpPr txBox="1"/>
          <p:nvPr/>
        </p:nvSpPr>
        <p:spPr>
          <a:xfrm>
            <a:off x="777240" y="4192904"/>
            <a:ext cx="10607040" cy="542925"/>
          </a:xfrm>
          <a:prstGeom prst="rect">
            <a:avLst/>
          </a:prstGeom>
          <a:noFill/>
        </p:spPr>
        <p:txBody>
          <a:bodyPr wrap="square">
            <a:spAutoFit/>
          </a:bodyPr>
          <a:lstStyle/>
          <a:p>
            <a:pPr>
              <a:spcAft>
                <a:spcPts val="1000"/>
              </a:spcAft>
            </a:pPr>
            <a:r>
              <a:rPr sz="2100" b="0">
                <a:solidFill>
                  <a:srgbClr val="1C1C1A"/>
                </a:solidFill>
                <a:latin typeface="Calibri"/>
              </a:rPr>
              <a:t>Reasonable code. The analyst listed the segments they remembered.</a:t>
            </a:r>
          </a:p>
        </p:txBody>
      </p:sp>
      <p:sp>
        <p:nvSpPr>
          <p:cNvPr id="7" name="TextBox 6"/>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4, half two: the segment summary, and the count it rests 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Run it</a:t>
            </a:r>
          </a:p>
        </p:txBody>
      </p:sp>
      <p:sp>
        <p:nvSpPr>
          <p:cNvPr id="4" name="TextBox 3"/>
          <p:cNvSpPr txBox="1"/>
          <p:nvPr/>
        </p:nvSpPr>
        <p:spPr>
          <a:xfrm>
            <a:off x="777240" y="1965960"/>
            <a:ext cx="10607040" cy="502920"/>
          </a:xfrm>
          <a:prstGeom prst="rect">
            <a:avLst/>
          </a:prstGeom>
          <a:noFill/>
        </p:spPr>
        <p:txBody>
          <a:bodyPr wrap="square">
            <a:spAutoFit/>
          </a:bodyPr>
          <a:lstStyle/>
          <a:p>
            <a:pPr>
              <a:spcAft>
                <a:spcPts val="400"/>
              </a:spcAft>
            </a:pPr>
            <a:r>
              <a:rPr sz="1700" b="0">
                <a:solidFill>
                  <a:srgbClr val="2B4A7D"/>
                </a:solidFill>
                <a:latin typeface="Consolas"/>
              </a:rPr>
              <a:t>KeyError: 'Student'</a:t>
            </a:r>
          </a:p>
        </p:txBody>
      </p:sp>
      <p:sp>
        <p:nvSpPr>
          <p:cNvPr id="5" name="TextBox 4"/>
          <p:cNvSpPr txBox="1"/>
          <p:nvPr/>
        </p:nvSpPr>
        <p:spPr>
          <a:xfrm>
            <a:off x="777240" y="2606040"/>
            <a:ext cx="10607040" cy="542925"/>
          </a:xfrm>
          <a:prstGeom prst="rect">
            <a:avLst/>
          </a:prstGeom>
          <a:noFill/>
        </p:spPr>
        <p:txBody>
          <a:bodyPr wrap="square">
            <a:spAutoFit/>
          </a:bodyPr>
          <a:lstStyle/>
          <a:p>
            <a:pPr>
              <a:spcAft>
                <a:spcPts val="1000"/>
              </a:spcAft>
            </a:pPr>
            <a:r>
              <a:rPr sz="2100" b="0">
                <a:solidFill>
                  <a:srgbClr val="1C1C1A"/>
                </a:solidFill>
                <a:latin typeface="Calibri"/>
              </a:rPr>
              <a:t>It failed on the very first order in the file.</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4, half two: the segment summary, and the count it rests 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Reading it</a:t>
            </a:r>
          </a:p>
        </p:txBody>
      </p:sp>
      <p:sp>
        <p:nvSpPr>
          <p:cNvPr id="4" name="TextBox 3"/>
          <p:cNvSpPr txBox="1"/>
          <p:nvPr/>
        </p:nvSpPr>
        <p:spPr>
          <a:xfrm>
            <a:off x="777240" y="1965960"/>
            <a:ext cx="10607040" cy="2400300"/>
          </a:xfrm>
          <a:prstGeom prst="rect">
            <a:avLst/>
          </a:prstGeom>
          <a:noFill/>
        </p:spPr>
        <p:txBody>
          <a:bodyPr wrap="square">
            <a:spAutoFit/>
          </a:bodyPr>
          <a:lstStyle/>
          <a:p>
            <a:pPr>
              <a:spcAft>
                <a:spcPts val="1000"/>
              </a:spcAft>
            </a:pPr>
            <a:r>
              <a:rPr sz="2100" b="0">
                <a:solidFill>
                  <a:srgbClr val="1C1C1A"/>
                </a:solidFill>
                <a:latin typeface="Calibri"/>
              </a:rPr>
              <a:t>KeyError means a dictionary was asked for a key it does not hold. The key it did not hold is printed for you: Student.</a:t>
            </a:r>
          </a:p>
          <a:p>
            <a:pPr>
              <a:spcAft>
                <a:spcPts val="1000"/>
              </a:spcAft>
            </a:pPr>
            <a:r>
              <a:rPr sz="2100" b="0">
                <a:solidFill>
                  <a:srgbClr val="1C1C1A"/>
                </a:solidFill>
                <a:latin typeface="Calibri"/>
              </a:rPr>
              <a:t>The dictionary held three segments because a person typed three segments. Kalpa Retail has four.</a:t>
            </a:r>
          </a:p>
          <a:p>
            <a:pPr>
              <a:spcAft>
                <a:spcPts val="1000"/>
              </a:spcAft>
            </a:pPr>
            <a:r>
              <a:rPr sz="2100" b="0">
                <a:solidFill>
                  <a:srgbClr val="1C1C1A"/>
                </a:solidFill>
                <a:latin typeface="Calibri"/>
              </a:rPr>
              <a:t>Every hard-coded list of categories is a promise about data you have not read yet.</a:t>
            </a:r>
          </a:p>
          <a:p>
            <a:pPr>
              <a:spcAft>
                <a:spcPts val="1000"/>
              </a:spcAft>
            </a:pPr>
            <a:r>
              <a:rPr sz="2100" b="0">
                <a:solidFill>
                  <a:srgbClr val="1C1C1A"/>
                </a:solidFill>
                <a:latin typeface="Calibri"/>
              </a:rPr>
              <a:t>This one is loud, because the first order in the file is a Student order. The dangerous version runs for six months and breaks the week a new segment launches.</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4, half two: the segment summary, and the count it rests 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failure that is worse than the KeyError</a:t>
            </a:r>
          </a:p>
        </p:txBody>
      </p:sp>
      <p:sp>
        <p:nvSpPr>
          <p:cNvPr id="5" name="TextBox 4"/>
          <p:cNvSpPr txBox="1"/>
          <p:nvPr/>
        </p:nvSpPr>
        <p:spPr>
          <a:xfrm>
            <a:off x="777240" y="1965960"/>
            <a:ext cx="10607040" cy="542925"/>
          </a:xfrm>
          <a:prstGeom prst="rect">
            <a:avLst/>
          </a:prstGeom>
          <a:noFill/>
        </p:spPr>
        <p:txBody>
          <a:bodyPr wrap="square">
            <a:spAutoFit/>
          </a:bodyPr>
          <a:lstStyle/>
          <a:p>
            <a:pPr>
              <a:spcAft>
                <a:spcPts val="1000"/>
              </a:spcAft>
            </a:pPr>
            <a:r>
              <a:rPr sz="2100" b="0">
                <a:solidFill>
                  <a:srgbClr val="1C1C1A"/>
                </a:solidFill>
                <a:latin typeface="Calibri"/>
              </a:rPr>
              <a:t>The KeyError was the good case, because it stopped.</a:t>
            </a:r>
          </a:p>
        </p:txBody>
      </p:sp>
      <p:sp>
        <p:nvSpPr>
          <p:cNvPr id="6" name="TextBox 5"/>
          <p:cNvSpPr txBox="1"/>
          <p:nvPr/>
        </p:nvSpPr>
        <p:spPr>
          <a:xfrm>
            <a:off x="777240" y="2646045"/>
            <a:ext cx="10607040" cy="1409700"/>
          </a:xfrm>
          <a:prstGeom prst="rect">
            <a:avLst/>
          </a:prstGeom>
          <a:noFill/>
        </p:spPr>
        <p:txBody>
          <a:bodyPr wrap="square">
            <a:spAutoFit/>
          </a:bodyPr>
          <a:lstStyle/>
          <a:p>
            <a:pPr>
              <a:spcAft>
                <a:spcPts val="400"/>
              </a:spcAft>
            </a:pPr>
            <a:r>
              <a:rPr sz="1700" b="0">
                <a:solidFill>
                  <a:srgbClr val="2B4A7D"/>
                </a:solidFill>
                <a:latin typeface="Consolas"/>
              </a:rPr>
              <a:t>counts = {"Retail-Core": 0, "Retail-Plus": 0, "Business": 0}</a:t>
            </a:r>
          </a:p>
          <a:p>
            <a:pPr>
              <a:spcAft>
                <a:spcPts val="400"/>
              </a:spcAft>
            </a:pPr>
          </a:p>
          <a:p>
            <a:pPr>
              <a:spcAft>
                <a:spcPts val="400"/>
              </a:spcAft>
            </a:pPr>
            <a:r>
              <a:rPr sz="1700" b="0">
                <a:solidFill>
                  <a:srgbClr val="2B4A7D"/>
                </a:solidFill>
                <a:latin typeface="Consolas"/>
              </a:rPr>
              <a:t>for r in orders:</a:t>
            </a:r>
          </a:p>
          <a:p>
            <a:pPr>
              <a:spcAft>
                <a:spcPts val="400"/>
              </a:spcAft>
            </a:pPr>
            <a:r>
              <a:rPr sz="1700" b="0">
                <a:solidFill>
                  <a:srgbClr val="2B4A7D"/>
                </a:solidFill>
                <a:latin typeface="Consolas"/>
              </a:rPr>
              <a:t>    if r["segment"] in counts:</a:t>
            </a:r>
          </a:p>
          <a:p>
            <a:pPr>
              <a:spcAft>
                <a:spcPts val="400"/>
              </a:spcAft>
            </a:pPr>
            <a:r>
              <a:rPr sz="1700" b="0">
                <a:solidFill>
                  <a:srgbClr val="2B4A7D"/>
                </a:solidFill>
                <a:latin typeface="Consolas"/>
              </a:rPr>
              <a:t>        counts[r["segment"]] = counts[r["segment"]] + 1</a:t>
            </a:r>
          </a:p>
        </p:txBody>
      </p:sp>
      <p:sp>
        <p:nvSpPr>
          <p:cNvPr id="7" name="TextBox 6"/>
          <p:cNvSpPr txBox="1"/>
          <p:nvPr/>
        </p:nvSpPr>
        <p:spPr>
          <a:xfrm>
            <a:off x="777240" y="4192904"/>
            <a:ext cx="10607040" cy="1657350"/>
          </a:xfrm>
          <a:prstGeom prst="rect">
            <a:avLst/>
          </a:prstGeom>
          <a:noFill/>
        </p:spPr>
        <p:txBody>
          <a:bodyPr wrap="square">
            <a:spAutoFit/>
          </a:bodyPr>
          <a:lstStyle/>
          <a:p>
            <a:pPr>
              <a:spcAft>
                <a:spcPts val="1000"/>
              </a:spcAft>
            </a:pPr>
            <a:r>
              <a:rPr sz="2100" b="0">
                <a:solidFill>
                  <a:srgbClr val="1C1C1A"/>
                </a:solidFill>
                <a:latin typeface="Calibri"/>
              </a:rPr>
              <a:t>Somebody who has met a KeyError once often writes this next. It never raises. It silently ignores every Student order, so the counts come to 34 rather than 44, the totals are all understated, and the file looks fine.</a:t>
            </a:r>
          </a:p>
          <a:p>
            <a:pPr>
              <a:spcAft>
                <a:spcPts val="1000"/>
              </a:spcAft>
            </a:pPr>
            <a:r>
              <a:rPr sz="2100" b="0">
                <a:solidFill>
                  <a:srgbClr val="1C1C1A"/>
                </a:solidFill>
                <a:latin typeface="Calibri"/>
              </a:rPr>
              <a:t>The check that catches it is the one you already write: the segment counts have to add up to the order count. Ten orders are missing and the last line is the only place that shows.</a:t>
            </a:r>
          </a:p>
        </p:txBody>
      </p:sp>
      <p:sp>
        <p:nvSpPr>
          <p:cNvPr id="8" name="TextBox 7"/>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4, half two: the segment summary, and the count it rests 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Build the key when you first see it</a:t>
            </a:r>
          </a:p>
        </p:txBody>
      </p:sp>
      <p:sp>
        <p:nvSpPr>
          <p:cNvPr id="4" name="TextBox 3"/>
          <p:cNvSpPr txBox="1"/>
          <p:nvPr/>
        </p:nvSpPr>
        <p:spPr>
          <a:xfrm>
            <a:off x="777240" y="1965960"/>
            <a:ext cx="10607040" cy="1905000"/>
          </a:xfrm>
          <a:prstGeom prst="rect">
            <a:avLst/>
          </a:prstGeom>
          <a:noFill/>
        </p:spPr>
        <p:txBody>
          <a:bodyPr wrap="square">
            <a:spAutoFit/>
          </a:bodyPr>
          <a:lstStyle/>
          <a:p>
            <a:pPr>
              <a:spcAft>
                <a:spcPts val="400"/>
              </a:spcAft>
            </a:pPr>
            <a:r>
              <a:rPr sz="1700" b="0">
                <a:solidFill>
                  <a:srgbClr val="2B4A7D"/>
                </a:solidFill>
                <a:latin typeface="Consolas"/>
              </a:rPr>
              <a:t>counts = {}</a:t>
            </a:r>
          </a:p>
          <a:p>
            <a:pPr>
              <a:spcAft>
                <a:spcPts val="400"/>
              </a:spcAft>
            </a:pPr>
          </a:p>
          <a:p>
            <a:pPr>
              <a:spcAft>
                <a:spcPts val="400"/>
              </a:spcAft>
            </a:pPr>
            <a:r>
              <a:rPr sz="1700" b="0">
                <a:solidFill>
                  <a:srgbClr val="2B4A7D"/>
                </a:solidFill>
                <a:latin typeface="Consolas"/>
              </a:rPr>
              <a:t>for r in orders:</a:t>
            </a:r>
          </a:p>
          <a:p>
            <a:pPr>
              <a:spcAft>
                <a:spcPts val="400"/>
              </a:spcAft>
            </a:pPr>
            <a:r>
              <a:rPr sz="1700" b="0">
                <a:solidFill>
                  <a:srgbClr val="2B4A7D"/>
                </a:solidFill>
                <a:latin typeface="Consolas"/>
              </a:rPr>
              <a:t>    key = r["segment"]</a:t>
            </a:r>
          </a:p>
          <a:p>
            <a:pPr>
              <a:spcAft>
                <a:spcPts val="400"/>
              </a:spcAft>
            </a:pPr>
            <a:r>
              <a:rPr sz="1700" b="0">
                <a:solidFill>
                  <a:srgbClr val="2B4A7D"/>
                </a:solidFill>
                <a:latin typeface="Consolas"/>
              </a:rPr>
              <a:t>    if key not in counts:</a:t>
            </a:r>
          </a:p>
          <a:p>
            <a:pPr>
              <a:spcAft>
                <a:spcPts val="400"/>
              </a:spcAft>
            </a:pPr>
            <a:r>
              <a:rPr sz="1700" b="0">
                <a:solidFill>
                  <a:srgbClr val="2B4A7D"/>
                </a:solidFill>
                <a:latin typeface="Consolas"/>
              </a:rPr>
              <a:t>        counts[key] = 0</a:t>
            </a:r>
          </a:p>
          <a:p>
            <a:pPr>
              <a:spcAft>
                <a:spcPts val="400"/>
              </a:spcAft>
            </a:pPr>
            <a:r>
              <a:rPr sz="1700" b="0">
                <a:solidFill>
                  <a:srgbClr val="2B4A7D"/>
                </a:solidFill>
                <a:latin typeface="Consolas"/>
              </a:rPr>
              <a:t>    counts[key] = counts[key] + 1</a:t>
            </a:r>
          </a:p>
        </p:txBody>
      </p:sp>
      <p:sp>
        <p:nvSpPr>
          <p:cNvPr id="5" name="TextBox 4"/>
          <p:cNvSpPr txBox="1"/>
          <p:nvPr/>
        </p:nvSpPr>
        <p:spPr>
          <a:xfrm>
            <a:off x="777240" y="4008119"/>
            <a:ext cx="10607040" cy="1162050"/>
          </a:xfrm>
          <a:prstGeom prst="rect">
            <a:avLst/>
          </a:prstGeom>
          <a:noFill/>
        </p:spPr>
        <p:txBody>
          <a:bodyPr wrap="square">
            <a:spAutoFit/>
          </a:bodyPr>
          <a:lstStyle/>
          <a:p>
            <a:pPr>
              <a:spcAft>
                <a:spcPts val="1000"/>
              </a:spcAft>
            </a:pPr>
            <a:r>
              <a:rPr sz="2100" b="0">
                <a:solidFill>
                  <a:srgbClr val="1C1C1A"/>
                </a:solidFill>
                <a:latin typeface="Calibri"/>
              </a:rPr>
              <a:t>Three lines instead of one declaration, and the code now works on a file with segments nobody told you about.</a:t>
            </a:r>
          </a:p>
          <a:p>
            <a:pPr>
              <a:spcAft>
                <a:spcPts val="1000"/>
              </a:spcAft>
            </a:pPr>
            <a:r>
              <a:rPr sz="2100" b="0">
                <a:solidFill>
                  <a:srgbClr val="1C1C1A"/>
                </a:solidFill>
                <a:latin typeface="Calibri"/>
              </a:rPr>
              <a:t>The same shape written shorter, which you will meet again in Week 2:</a:t>
            </a:r>
          </a:p>
        </p:txBody>
      </p:sp>
      <p:sp>
        <p:nvSpPr>
          <p:cNvPr id="6" name="TextBox 5"/>
          <p:cNvSpPr txBox="1"/>
          <p:nvPr/>
        </p:nvSpPr>
        <p:spPr>
          <a:xfrm>
            <a:off x="777240" y="5307330"/>
            <a:ext cx="10607040" cy="502920"/>
          </a:xfrm>
          <a:prstGeom prst="rect">
            <a:avLst/>
          </a:prstGeom>
          <a:noFill/>
        </p:spPr>
        <p:txBody>
          <a:bodyPr wrap="square">
            <a:spAutoFit/>
          </a:bodyPr>
          <a:lstStyle/>
          <a:p>
            <a:pPr>
              <a:spcAft>
                <a:spcPts val="400"/>
              </a:spcAft>
            </a:pPr>
            <a:r>
              <a:rPr sz="1700" b="0">
                <a:solidFill>
                  <a:srgbClr val="2B4A7D"/>
                </a:solidFill>
                <a:latin typeface="Consolas"/>
              </a:rPr>
              <a:t>counts[key] = counts.get(key, 0) + 1</a:t>
            </a:r>
          </a:p>
        </p:txBody>
      </p:sp>
      <p:sp>
        <p:nvSpPr>
          <p:cNvPr id="7" name="TextBox 6"/>
          <p:cNvSpPr txBox="1"/>
          <p:nvPr/>
        </p:nvSpPr>
        <p:spPr>
          <a:xfrm>
            <a:off x="777240" y="5947410"/>
            <a:ext cx="10607040" cy="542925"/>
          </a:xfrm>
          <a:prstGeom prst="rect">
            <a:avLst/>
          </a:prstGeom>
          <a:noFill/>
        </p:spPr>
        <p:txBody>
          <a:bodyPr wrap="square">
            <a:spAutoFit/>
          </a:bodyPr>
          <a:lstStyle/>
          <a:p>
            <a:pPr>
              <a:spcAft>
                <a:spcPts val="1000"/>
              </a:spcAft>
            </a:pPr>
            <a:r>
              <a:rPr sz="2100" b="0">
                <a:solidFill>
                  <a:srgbClr val="1C1C1A"/>
                </a:solidFill>
                <a:latin typeface="Calibri"/>
              </a:rPr>
              <a:t>That is Monday's .get() with a default, doing exactly what it did on Monday.</a:t>
            </a:r>
          </a:p>
        </p:txBody>
      </p:sp>
      <p:sp>
        <p:nvSpPr>
          <p:cNvPr id="8" name="TextBox 7"/>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4, half two: the segment summary, and the count it rests 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fixed count</a:t>
            </a:r>
          </a:p>
        </p:txBody>
      </p:sp>
      <p:sp>
        <p:nvSpPr>
          <p:cNvPr id="4" name="TextBox 3"/>
          <p:cNvSpPr txBox="1"/>
          <p:nvPr/>
        </p:nvSpPr>
        <p:spPr>
          <a:xfrm>
            <a:off x="777240" y="1965960"/>
            <a:ext cx="10607040" cy="1409700"/>
          </a:xfrm>
          <a:prstGeom prst="rect">
            <a:avLst/>
          </a:prstGeom>
          <a:noFill/>
        </p:spPr>
        <p:txBody>
          <a:bodyPr wrap="square">
            <a:spAutoFit/>
          </a:bodyPr>
          <a:lstStyle/>
          <a:p>
            <a:pPr>
              <a:spcAft>
                <a:spcPts val="400"/>
              </a:spcAft>
            </a:pPr>
            <a:r>
              <a:rPr sz="1700" b="0">
                <a:solidFill>
                  <a:srgbClr val="2B4A7D"/>
                </a:solidFill>
                <a:latin typeface="Consolas"/>
              </a:rPr>
              <a:t>Business       9</a:t>
            </a:r>
          </a:p>
          <a:p>
            <a:pPr>
              <a:spcAft>
                <a:spcPts val="400"/>
              </a:spcAft>
            </a:pPr>
            <a:r>
              <a:rPr sz="1700" b="0">
                <a:solidFill>
                  <a:srgbClr val="2B4A7D"/>
                </a:solidFill>
                <a:latin typeface="Consolas"/>
              </a:rPr>
              <a:t>Retail-Core   14</a:t>
            </a:r>
          </a:p>
          <a:p>
            <a:pPr>
              <a:spcAft>
                <a:spcPts val="400"/>
              </a:spcAft>
            </a:pPr>
            <a:r>
              <a:rPr sz="1700" b="0">
                <a:solidFill>
                  <a:srgbClr val="2B4A7D"/>
                </a:solidFill>
                <a:latin typeface="Consolas"/>
              </a:rPr>
              <a:t>Retail-Plus   11</a:t>
            </a:r>
          </a:p>
          <a:p>
            <a:pPr>
              <a:spcAft>
                <a:spcPts val="400"/>
              </a:spcAft>
            </a:pPr>
            <a:r>
              <a:rPr sz="1700" b="0">
                <a:solidFill>
                  <a:srgbClr val="2B4A7D"/>
                </a:solidFill>
                <a:latin typeface="Consolas"/>
              </a:rPr>
              <a:t>Student       10</a:t>
            </a:r>
          </a:p>
          <a:p>
            <a:pPr>
              <a:spcAft>
                <a:spcPts val="400"/>
              </a:spcAft>
            </a:pPr>
            <a:r>
              <a:rPr sz="1700" b="0">
                <a:solidFill>
                  <a:srgbClr val="2B4A7D"/>
                </a:solidFill>
                <a:latin typeface="Consolas"/>
              </a:rPr>
              <a:t>      total   44</a:t>
            </a:r>
          </a:p>
        </p:txBody>
      </p:sp>
      <p:sp>
        <p:nvSpPr>
          <p:cNvPr id="5" name="TextBox 4"/>
          <p:cNvSpPr txBox="1"/>
          <p:nvPr/>
        </p:nvSpPr>
        <p:spPr>
          <a:xfrm>
            <a:off x="777240" y="3512820"/>
            <a:ext cx="10607040" cy="1905000"/>
          </a:xfrm>
          <a:prstGeom prst="rect">
            <a:avLst/>
          </a:prstGeom>
          <a:noFill/>
        </p:spPr>
        <p:txBody>
          <a:bodyPr wrap="square">
            <a:spAutoFit/>
          </a:bodyPr>
          <a:lstStyle/>
          <a:p>
            <a:pPr>
              <a:spcAft>
                <a:spcPts val="1000"/>
              </a:spcAft>
            </a:pPr>
            <a:r>
              <a:rPr sz="2100" b="0">
                <a:solidFill>
                  <a:srgbClr val="1C1C1A"/>
                </a:solidFill>
                <a:latin typeface="Calibri"/>
              </a:rPr>
              <a:t>The total matches your profiled order count. If it did not, you would have a bug and the last line is how you would know.</a:t>
            </a:r>
          </a:p>
          <a:p>
            <a:pPr>
              <a:spcAft>
                <a:spcPts val="1000"/>
              </a:spcAft>
            </a:pPr>
            <a:r>
              <a:rPr sz="2100" b="0">
                <a:solidFill>
                  <a:srgbClr val="1C1C1A"/>
                </a:solidFill>
                <a:latin typeface="Calibri"/>
              </a:rPr>
              <a:t>One number here deserves a second look. Student holds ten. The raw file held twelve, and two Student orders were rejected yesterday for failing conversion. </a:t>
            </a:r>
            <a:r>
              <a:rPr sz="2100" b="1">
                <a:solidFill>
                  <a:srgbClr val="1C1C1A"/>
                </a:solidFill>
                <a:latin typeface="Calibri"/>
              </a:rPr>
              <a:t>Your cleaning changed the denominator of your smallest segment by seventeen percent</a:t>
            </a:r>
            <a:r>
              <a:rPr sz="2100" b="0">
                <a:solidFill>
                  <a:srgbClr val="1C1C1A"/>
                </a:solidFill>
                <a:latin typeface="Calibri"/>
              </a:rPr>
              <a:t>, and nothing in today's code would tell you. Yesterday's rejects log is the only place it is written down.</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4, half two: the segment summary, and the count it rests 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pPr algn="ctr"/>
            <a:r>
              <a:rPr sz="3600" b="1">
                <a:solidFill>
                  <a:srgbClr val="FFFFFF"/>
                </a:solidFill>
                <a:latin typeface="Calibri"/>
              </a:rPr>
              <a:t>SECTION 3: THE SEGMENT SUMMARY</a:t>
            </a:r>
          </a:p>
        </p:txBody>
      </p:sp>
      <p:sp>
        <p:nvSpPr>
          <p:cNvPr id="4" name="TextBox 3"/>
          <p:cNvSpPr txBox="1"/>
          <p:nvPr/>
        </p:nvSpPr>
        <p:spPr>
          <a:xfrm>
            <a:off x="777240" y="1965960"/>
            <a:ext cx="10607040" cy="790575"/>
          </a:xfrm>
          <a:prstGeom prst="rect">
            <a:avLst/>
          </a:prstGeom>
          <a:noFill/>
        </p:spPr>
        <p:txBody>
          <a:bodyPr wrap="square">
            <a:spAutoFit/>
          </a:bodyPr>
          <a:lstStyle/>
          <a:p>
            <a:pPr algn="ctr">
              <a:spcAft>
                <a:spcPts val="1000"/>
              </a:spcAft>
            </a:pPr>
            <a:r>
              <a:rPr sz="2100" b="0">
                <a:solidFill>
                  <a:srgbClr val="FFFFFF"/>
                </a:solidFill>
                <a:latin typeface="Calibri"/>
              </a:rPr>
              <a:t>[one column] &gt; [what is typical] &gt; [what one order does] &gt; [what the shape says] &gt; </a:t>
            </a:r>
            <a:r>
              <a:rPr sz="2100" b="1">
                <a:solidFill>
                  <a:srgbClr val="FFFFFF"/>
                </a:solidFill>
                <a:latin typeface="Calibri"/>
              </a:rPr>
              <a:t>[per segment, with denominators]</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4, half two: the segment summary, and the count it rests 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Why the median cannot be accumulated and the count can</a:t>
            </a:r>
          </a:p>
        </p:txBody>
      </p:sp>
      <p:pic>
        <p:nvPicPr>
          <p:cNvPr id="5" name="Picture 4" descr="35ad2645dce4da21.png"/>
          <p:cNvPicPr>
            <a:picLocks noChangeAspect="1"/>
          </p:cNvPicPr>
          <p:nvPr/>
        </p:nvPicPr>
        <p:blipFill>
          <a:blip r:embed="rId2"/>
          <a:stretch>
            <a:fillRect/>
          </a:stretch>
        </p:blipFill>
        <p:spPr>
          <a:xfrm>
            <a:off x="2203623" y="1965960"/>
            <a:ext cx="7754273" cy="4023360"/>
          </a:xfrm>
          <a:prstGeom prst="rect">
            <a:avLst/>
          </a:prstGeom>
        </p:spPr>
      </p:pic>
      <p:sp>
        <p:nvSpPr>
          <p:cNvPr id="6" name="TextBox 5"/>
          <p:cNvSpPr txBox="1"/>
          <p:nvPr/>
        </p:nvSpPr>
        <p:spPr>
          <a:xfrm>
            <a:off x="777240" y="6126480"/>
            <a:ext cx="10607040" cy="1285875"/>
          </a:xfrm>
          <a:prstGeom prst="rect">
            <a:avLst/>
          </a:prstGeom>
          <a:noFill/>
        </p:spPr>
        <p:txBody>
          <a:bodyPr wrap="square">
            <a:spAutoFit/>
          </a:bodyPr>
          <a:lstStyle/>
          <a:p>
            <a:pPr>
              <a:spcAft>
                <a:spcPts val="1000"/>
              </a:spcAft>
            </a:pPr>
            <a:r>
              <a:rPr sz="2100" b="0">
                <a:solidFill>
                  <a:srgbClr val="1C1C1A"/>
                </a:solidFill>
                <a:latin typeface="Calibri"/>
              </a:rPr>
              <a:t>A count is a running total, so it is finished the moment the pass is. A median is a position in a sorted list, so it cannot exist until every value has arrived. That distinction is why the code collects amounts into a list rather than trying to be clever, and it is the same reason a median is expensive on data too large to hold.</a:t>
            </a:r>
          </a:p>
        </p:txBody>
      </p:sp>
      <p:sp>
        <p:nvSpPr>
          <p:cNvPr id="7" name="TextBox 6"/>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4, half two: the segment summary, and the count it rests 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Three accumulators, one pass</a:t>
            </a:r>
          </a:p>
        </p:txBody>
      </p:sp>
      <p:sp>
        <p:nvSpPr>
          <p:cNvPr id="4" name="TextBox 3"/>
          <p:cNvSpPr txBox="1"/>
          <p:nvPr/>
        </p:nvSpPr>
        <p:spPr>
          <a:xfrm>
            <a:off x="777240" y="1965960"/>
            <a:ext cx="10607040" cy="790575"/>
          </a:xfrm>
          <a:prstGeom prst="rect">
            <a:avLst/>
          </a:prstGeom>
          <a:noFill/>
        </p:spPr>
        <p:txBody>
          <a:bodyPr wrap="square">
            <a:spAutoFit/>
          </a:bodyPr>
          <a:lstStyle/>
          <a:p>
            <a:pPr>
              <a:spcAft>
                <a:spcPts val="1000"/>
              </a:spcAft>
            </a:pPr>
            <a:r>
              <a:rPr sz="2100" b="0">
                <a:solidFill>
                  <a:srgbClr val="1C1C1A"/>
                </a:solidFill>
                <a:latin typeface="Calibri"/>
              </a:rPr>
              <a:t>Per segment you need three things: how many orders, what a typical amount looks like, and what share came back.</a:t>
            </a:r>
          </a:p>
        </p:txBody>
      </p:sp>
      <p:sp>
        <p:nvSpPr>
          <p:cNvPr id="5" name="TextBox 4"/>
          <p:cNvSpPr txBox="1"/>
          <p:nvPr/>
        </p:nvSpPr>
        <p:spPr>
          <a:xfrm>
            <a:off x="777240" y="2893695"/>
            <a:ext cx="10607040" cy="1409700"/>
          </a:xfrm>
          <a:prstGeom prst="rect">
            <a:avLst/>
          </a:prstGeom>
          <a:noFill/>
        </p:spPr>
        <p:txBody>
          <a:bodyPr wrap="square">
            <a:spAutoFit/>
          </a:bodyPr>
          <a:lstStyle/>
          <a:p>
            <a:pPr>
              <a:spcAft>
                <a:spcPts val="400"/>
              </a:spcAft>
            </a:pPr>
            <a:r>
              <a:rPr sz="1700" b="0">
                <a:solidFill>
                  <a:srgbClr val="2B4A7D"/>
                </a:solidFill>
                <a:latin typeface="Consolas"/>
              </a:rPr>
              <a:t>per_segment[key] = {</a:t>
            </a:r>
          </a:p>
          <a:p>
            <a:pPr>
              <a:spcAft>
                <a:spcPts val="400"/>
              </a:spcAft>
            </a:pPr>
            <a:r>
              <a:rPr sz="1700" b="0">
                <a:solidFill>
                  <a:srgbClr val="2B4A7D"/>
                </a:solidFill>
                <a:latin typeface="Consolas"/>
              </a:rPr>
              <a:t>    "count":    how many orders landed here,</a:t>
            </a:r>
          </a:p>
          <a:p>
            <a:pPr>
              <a:spcAft>
                <a:spcPts val="400"/>
              </a:spcAft>
            </a:pPr>
            <a:r>
              <a:rPr sz="1700" b="0">
                <a:solidFill>
                  <a:srgbClr val="2B4A7D"/>
                </a:solidFill>
                <a:latin typeface="Consolas"/>
              </a:rPr>
              <a:t>    "amounts":  every amount, collected so the median can be taken at the end,</a:t>
            </a:r>
          </a:p>
          <a:p>
            <a:pPr>
              <a:spcAft>
                <a:spcPts val="400"/>
              </a:spcAft>
            </a:pPr>
            <a:r>
              <a:rPr sz="1700" b="0">
                <a:solidFill>
                  <a:srgbClr val="2B4A7D"/>
                </a:solidFill>
                <a:latin typeface="Consolas"/>
              </a:rPr>
              <a:t>    "returned": how many had status "returned",</a:t>
            </a:r>
          </a:p>
          <a:p>
            <a:pPr>
              <a:spcAft>
                <a:spcPts val="400"/>
              </a:spcAft>
            </a:pPr>
            <a:r>
              <a:rPr sz="1700" b="0">
                <a:solidFill>
                  <a:srgbClr val="2B4A7D"/>
                </a:solidFill>
                <a:latin typeface="Consolas"/>
              </a:rPr>
              <a:t>}</a:t>
            </a:r>
          </a:p>
        </p:txBody>
      </p:sp>
      <p:sp>
        <p:nvSpPr>
          <p:cNvPr id="6" name="TextBox 5"/>
          <p:cNvSpPr txBox="1"/>
          <p:nvPr/>
        </p:nvSpPr>
        <p:spPr>
          <a:xfrm>
            <a:off x="777240" y="4440555"/>
            <a:ext cx="10607040" cy="790575"/>
          </a:xfrm>
          <a:prstGeom prst="rect">
            <a:avLst/>
          </a:prstGeom>
          <a:noFill/>
        </p:spPr>
        <p:txBody>
          <a:bodyPr wrap="square">
            <a:spAutoFit/>
          </a:bodyPr>
          <a:lstStyle/>
          <a:p>
            <a:pPr>
              <a:spcAft>
                <a:spcPts val="1000"/>
              </a:spcAft>
            </a:pPr>
            <a:r>
              <a:rPr sz="2100" b="0">
                <a:solidFill>
                  <a:srgbClr val="1C1C1A"/>
                </a:solidFill>
                <a:latin typeface="Calibri"/>
              </a:rPr>
              <a:t>The median cannot be accumulated one order at a time. It needs the whole list sorted, so the list is collected during the pass and the median is taken after it.</a:t>
            </a:r>
          </a:p>
        </p:txBody>
      </p:sp>
      <p:sp>
        <p:nvSpPr>
          <p:cNvPr id="7" name="TextBox 6"/>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4, half two: the segment summary, and the count it rests 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table</a:t>
            </a:r>
          </a:p>
        </p:txBody>
      </p:sp>
      <p:sp>
        <p:nvSpPr>
          <p:cNvPr id="4" name="TextBox 3"/>
          <p:cNvSpPr txBox="1"/>
          <p:nvPr/>
        </p:nvSpPr>
        <p:spPr>
          <a:xfrm>
            <a:off x="777240" y="1965960"/>
            <a:ext cx="10607040" cy="1409700"/>
          </a:xfrm>
          <a:prstGeom prst="rect">
            <a:avLst/>
          </a:prstGeom>
          <a:noFill/>
        </p:spPr>
        <p:txBody>
          <a:bodyPr wrap="square">
            <a:spAutoFit/>
          </a:bodyPr>
          <a:lstStyle/>
          <a:p>
            <a:pPr>
              <a:spcAft>
                <a:spcPts val="400"/>
              </a:spcAft>
            </a:pPr>
            <a:r>
              <a:rPr sz="1700" b="0">
                <a:solidFill>
                  <a:srgbClr val="2B4A7D"/>
                </a:solidFill>
                <a:latin typeface="Consolas"/>
              </a:rPr>
              <a:t>segment        orders   median amount   returned   rate</a:t>
            </a:r>
          </a:p>
          <a:p>
            <a:pPr>
              <a:spcAft>
                <a:spcPts val="400"/>
              </a:spcAft>
            </a:pPr>
            <a:r>
              <a:rPr sz="1700" b="0">
                <a:solidFill>
                  <a:srgbClr val="2B4A7D"/>
                </a:solidFill>
                <a:latin typeface="Consolas"/>
              </a:rPr>
              <a:t>Business            9        Rs 2,050          1   11.1%</a:t>
            </a:r>
          </a:p>
          <a:p>
            <a:pPr>
              <a:spcAft>
                <a:spcPts val="400"/>
              </a:spcAft>
            </a:pPr>
            <a:r>
              <a:rPr sz="1700" b="0">
                <a:solidFill>
                  <a:srgbClr val="2B4A7D"/>
                </a:solidFill>
                <a:latin typeface="Consolas"/>
              </a:rPr>
              <a:t>Retail-Core        14        Rs 1,910          5   35.7%</a:t>
            </a:r>
          </a:p>
          <a:p>
            <a:pPr>
              <a:spcAft>
                <a:spcPts val="400"/>
              </a:spcAft>
            </a:pPr>
            <a:r>
              <a:rPr sz="1700" b="0">
                <a:solidFill>
                  <a:srgbClr val="2B4A7D"/>
                </a:solidFill>
                <a:latin typeface="Consolas"/>
              </a:rPr>
              <a:t>Retail-Plus        11        Rs 1,435          4   36.4%</a:t>
            </a:r>
          </a:p>
          <a:p>
            <a:pPr>
              <a:spcAft>
                <a:spcPts val="400"/>
              </a:spcAft>
            </a:pPr>
            <a:r>
              <a:rPr sz="1700" b="0">
                <a:solidFill>
                  <a:srgbClr val="2B4A7D"/>
                </a:solidFill>
                <a:latin typeface="Consolas"/>
              </a:rPr>
              <a:t>Student            10        Rs 1,430          2   20.0%</a:t>
            </a:r>
          </a:p>
        </p:txBody>
      </p:sp>
      <p:sp>
        <p:nvSpPr>
          <p:cNvPr id="5" name="TextBox 4"/>
          <p:cNvSpPr txBox="1"/>
          <p:nvPr/>
        </p:nvSpPr>
        <p:spPr>
          <a:xfrm>
            <a:off x="777240" y="3512820"/>
            <a:ext cx="10607040" cy="542925"/>
          </a:xfrm>
          <a:prstGeom prst="rect">
            <a:avLst/>
          </a:prstGeom>
          <a:noFill/>
        </p:spPr>
        <p:txBody>
          <a:bodyPr wrap="square">
            <a:spAutoFit/>
          </a:bodyPr>
          <a:lstStyle/>
          <a:p>
            <a:pPr>
              <a:spcAft>
                <a:spcPts val="1000"/>
              </a:spcAft>
            </a:pPr>
            <a:r>
              <a:rPr sz="2100" b="0">
                <a:solidFill>
                  <a:srgbClr val="1C1C1A"/>
                </a:solidFill>
                <a:latin typeface="Calibri"/>
              </a:rPr>
              <a:t>Note what is absent from every row: the mean. Half one settled that.</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4, half two: the segment summary, and the count it rests 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Sort by rate, the way anyone would</a:t>
            </a:r>
          </a:p>
        </p:txBody>
      </p:sp>
      <p:sp>
        <p:nvSpPr>
          <p:cNvPr id="4" name="TextBox 3"/>
          <p:cNvSpPr txBox="1"/>
          <p:nvPr/>
        </p:nvSpPr>
        <p:spPr>
          <a:xfrm>
            <a:off x="777240" y="1965960"/>
            <a:ext cx="10607040" cy="1162050"/>
          </a:xfrm>
          <a:prstGeom prst="rect">
            <a:avLst/>
          </a:prstGeom>
          <a:noFill/>
        </p:spPr>
        <p:txBody>
          <a:bodyPr wrap="square">
            <a:spAutoFit/>
          </a:bodyPr>
          <a:lstStyle/>
          <a:p>
            <a:pPr>
              <a:spcAft>
                <a:spcPts val="400"/>
              </a:spcAft>
            </a:pPr>
            <a:r>
              <a:rPr sz="1700" b="0">
                <a:solidFill>
                  <a:srgbClr val="2B4A7D"/>
                </a:solidFill>
                <a:latin typeface="Consolas"/>
              </a:rPr>
              <a:t>Business      11.1%</a:t>
            </a:r>
          </a:p>
          <a:p>
            <a:pPr>
              <a:spcAft>
                <a:spcPts val="400"/>
              </a:spcAft>
            </a:pPr>
            <a:r>
              <a:rPr sz="1700" b="0">
                <a:solidFill>
                  <a:srgbClr val="2B4A7D"/>
                </a:solidFill>
                <a:latin typeface="Consolas"/>
              </a:rPr>
              <a:t>Student       20.0%</a:t>
            </a:r>
          </a:p>
          <a:p>
            <a:pPr>
              <a:spcAft>
                <a:spcPts val="400"/>
              </a:spcAft>
            </a:pPr>
            <a:r>
              <a:rPr sz="1700" b="0">
                <a:solidFill>
                  <a:srgbClr val="2B4A7D"/>
                </a:solidFill>
                <a:latin typeface="Consolas"/>
              </a:rPr>
              <a:t>Retail-Core   35.7%</a:t>
            </a:r>
          </a:p>
          <a:p>
            <a:pPr>
              <a:spcAft>
                <a:spcPts val="400"/>
              </a:spcAft>
            </a:pPr>
            <a:r>
              <a:rPr sz="1700" b="0">
                <a:solidFill>
                  <a:srgbClr val="2B4A7D"/>
                </a:solidFill>
                <a:latin typeface="Consolas"/>
              </a:rPr>
              <a:t>Retail-Plus   36.4%</a:t>
            </a:r>
          </a:p>
        </p:txBody>
      </p:sp>
      <p:sp>
        <p:nvSpPr>
          <p:cNvPr id="5" name="TextBox 4"/>
          <p:cNvSpPr txBox="1"/>
          <p:nvPr/>
        </p:nvSpPr>
        <p:spPr>
          <a:xfrm>
            <a:off x="777240" y="3265169"/>
            <a:ext cx="10607040" cy="914400"/>
          </a:xfrm>
          <a:prstGeom prst="rect">
            <a:avLst/>
          </a:prstGeom>
          <a:noFill/>
        </p:spPr>
        <p:txBody>
          <a:bodyPr wrap="square">
            <a:spAutoFit/>
          </a:bodyPr>
          <a:lstStyle/>
          <a:p>
            <a:pPr>
              <a:spcAft>
                <a:spcPts val="1000"/>
              </a:spcAft>
            </a:pPr>
            <a:r>
              <a:rPr sz="2100" b="0">
                <a:solidFill>
                  <a:srgbClr val="1C1C1A"/>
                </a:solidFill>
                <a:latin typeface="Calibri"/>
              </a:rPr>
              <a:t>A clean ranking. Business returns at less than a third of the worst segment.</a:t>
            </a:r>
          </a:p>
          <a:p>
            <a:pPr>
              <a:spcAft>
                <a:spcPts val="1000"/>
              </a:spcAft>
            </a:pPr>
            <a:r>
              <a:rPr sz="2100" b="0">
                <a:solidFill>
                  <a:srgbClr val="1C1C1A"/>
                </a:solidFill>
                <a:latin typeface="Calibri"/>
              </a:rPr>
              <a:t>Somebody in a meeting is about to move budget towards Business.</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4, half two: the segment summary, and the count it rests 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Put the count back</a:t>
            </a:r>
          </a:p>
        </p:txBody>
      </p:sp>
      <p:sp>
        <p:nvSpPr>
          <p:cNvPr id="4" name="TextBox 3"/>
          <p:cNvSpPr txBox="1"/>
          <p:nvPr/>
        </p:nvSpPr>
        <p:spPr>
          <a:xfrm>
            <a:off x="777240" y="1965960"/>
            <a:ext cx="10607040" cy="1162050"/>
          </a:xfrm>
          <a:prstGeom prst="rect">
            <a:avLst/>
          </a:prstGeom>
          <a:noFill/>
        </p:spPr>
        <p:txBody>
          <a:bodyPr wrap="square">
            <a:spAutoFit/>
          </a:bodyPr>
          <a:lstStyle/>
          <a:p>
            <a:pPr>
              <a:spcAft>
                <a:spcPts val="400"/>
              </a:spcAft>
            </a:pPr>
            <a:r>
              <a:rPr sz="1700" b="0">
                <a:solidFill>
                  <a:srgbClr val="2B4A7D"/>
                </a:solidFill>
                <a:latin typeface="Consolas"/>
              </a:rPr>
              <a:t>Business      11.1%   on  9 orders</a:t>
            </a:r>
          </a:p>
          <a:p>
            <a:pPr>
              <a:spcAft>
                <a:spcPts val="400"/>
              </a:spcAft>
            </a:pPr>
            <a:r>
              <a:rPr sz="1700" b="0">
                <a:solidFill>
                  <a:srgbClr val="2B4A7D"/>
                </a:solidFill>
                <a:latin typeface="Consolas"/>
              </a:rPr>
              <a:t>Student       20.0%   on 10 orders</a:t>
            </a:r>
          </a:p>
          <a:p>
            <a:pPr>
              <a:spcAft>
                <a:spcPts val="400"/>
              </a:spcAft>
            </a:pPr>
            <a:r>
              <a:rPr sz="1700" b="0">
                <a:solidFill>
                  <a:srgbClr val="2B4A7D"/>
                </a:solidFill>
                <a:latin typeface="Consolas"/>
              </a:rPr>
              <a:t>Retail-Core   35.7%   on 14 orders</a:t>
            </a:r>
          </a:p>
          <a:p>
            <a:pPr>
              <a:spcAft>
                <a:spcPts val="400"/>
              </a:spcAft>
            </a:pPr>
            <a:r>
              <a:rPr sz="1700" b="0">
                <a:solidFill>
                  <a:srgbClr val="2B4A7D"/>
                </a:solidFill>
                <a:latin typeface="Consolas"/>
              </a:rPr>
              <a:t>Retail-Plus   36.4%   on 11 orders</a:t>
            </a:r>
          </a:p>
        </p:txBody>
      </p:sp>
      <p:sp>
        <p:nvSpPr>
          <p:cNvPr id="5" name="TextBox 4"/>
          <p:cNvSpPr txBox="1"/>
          <p:nvPr/>
        </p:nvSpPr>
        <p:spPr>
          <a:xfrm>
            <a:off x="777240" y="3265169"/>
            <a:ext cx="10607040" cy="914400"/>
          </a:xfrm>
          <a:prstGeom prst="rect">
            <a:avLst/>
          </a:prstGeom>
          <a:noFill/>
        </p:spPr>
        <p:txBody>
          <a:bodyPr wrap="square">
            <a:spAutoFit/>
          </a:bodyPr>
          <a:lstStyle/>
          <a:p>
            <a:pPr>
              <a:spcAft>
                <a:spcPts val="1000"/>
              </a:spcAft>
            </a:pPr>
            <a:r>
              <a:rPr sz="2100" b="0">
                <a:solidFill>
                  <a:srgbClr val="1C1C1A"/>
                </a:solidFill>
                <a:latin typeface="Calibri"/>
              </a:rPr>
              <a:t>The top two performers are the two smallest segments in the file.</a:t>
            </a:r>
          </a:p>
          <a:p>
            <a:pPr>
              <a:spcAft>
                <a:spcPts val="1000"/>
              </a:spcAft>
            </a:pPr>
            <a:r>
              <a:rPr sz="2100" b="0">
                <a:solidFill>
                  <a:srgbClr val="1C1C1A"/>
                </a:solidFill>
                <a:latin typeface="Calibri"/>
              </a:rPr>
              <a:t>Business wins on nine orders.</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4, half two: the segment summary, and the count it rests 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same argument, run on every segment</a:t>
            </a:r>
          </a:p>
        </p:txBody>
      </p:sp>
      <p:sp>
        <p:nvSpPr>
          <p:cNvPr id="5" name="TextBox 4"/>
          <p:cNvSpPr txBox="1"/>
          <p:nvPr/>
        </p:nvSpPr>
        <p:spPr>
          <a:xfrm>
            <a:off x="777240" y="1965960"/>
            <a:ext cx="10607040" cy="542925"/>
          </a:xfrm>
          <a:prstGeom prst="rect">
            <a:avLst/>
          </a:prstGeom>
          <a:noFill/>
        </p:spPr>
        <p:txBody>
          <a:bodyPr wrap="square">
            <a:spAutoFit/>
          </a:bodyPr>
          <a:lstStyle/>
          <a:p>
            <a:pPr>
              <a:spcAft>
                <a:spcPts val="1000"/>
              </a:spcAft>
            </a:pPr>
            <a:r>
              <a:rPr sz="2100" b="0">
                <a:solidFill>
                  <a:srgbClr val="1C1C1A"/>
                </a:solidFill>
                <a:latin typeface="Calibri"/>
              </a:rPr>
              <a:t>Take each segment in turn and ask what one more return would do.</a:t>
            </a:r>
          </a:p>
        </p:txBody>
      </p:sp>
      <p:graphicFrame>
        <p:nvGraphicFramePr>
          <p:cNvPr id="6" name="Table 5"/>
          <p:cNvGraphicFramePr>
            <a:graphicFrameLocks noGrp="1"/>
          </p:cNvGraphicFramePr>
          <p:nvPr/>
        </p:nvGraphicFramePr>
        <p:xfrm>
          <a:off x="777240" y="2646045"/>
          <a:ext cx="10607040" cy="1920240"/>
        </p:xfrm>
        <a:graphic>
          <a:graphicData uri="http://schemas.openxmlformats.org/drawingml/2006/table">
            <a:tbl>
              <a:tblPr firstRow="1" bandRow="1">
                <a:tableStyleId>{5C22544A-7EE6-4342-B048-85BDC9FD1C3A}</a:tableStyleId>
              </a:tblPr>
              <a:tblGrid>
                <a:gridCol w="2651760"/>
                <a:gridCol w="2651760"/>
                <a:gridCol w="2651760"/>
                <a:gridCol w="2651760"/>
              </a:tblGrid>
              <a:tr h="384048">
                <a:tc>
                  <a:txBody>
                    <a:bodyPr/>
                    <a:lstStyle/>
                    <a:p>
                      <a:r>
                        <a:rPr sz="1300" b="1">
                          <a:solidFill>
                            <a:srgbClr val="2B4A7D"/>
                          </a:solidFill>
                          <a:latin typeface="Calibri"/>
                        </a:rPr>
                        <a:t>Segment</a:t>
                      </a:r>
                    </a:p>
                  </a:txBody>
                  <a:tcPr marT="25400" marB="25400"/>
                </a:tc>
                <a:tc>
                  <a:txBody>
                    <a:bodyPr/>
                    <a:lstStyle/>
                    <a:p>
                      <a:r>
                        <a:rPr sz="1300" b="1">
                          <a:solidFill>
                            <a:srgbClr val="2B4A7D"/>
                          </a:solidFill>
                          <a:latin typeface="Calibri"/>
                        </a:rPr>
                        <a:t>Now</a:t>
                      </a:r>
                    </a:p>
                  </a:txBody>
                  <a:tcPr marT="25400" marB="25400"/>
                </a:tc>
                <a:tc>
                  <a:txBody>
                    <a:bodyPr/>
                    <a:lstStyle/>
                    <a:p>
                      <a:r>
                        <a:rPr sz="1300" b="1">
                          <a:solidFill>
                            <a:srgbClr val="2B4A7D"/>
                          </a:solidFill>
                          <a:latin typeface="Calibri"/>
                        </a:rPr>
                        <a:t>With one more return</a:t>
                      </a:r>
                    </a:p>
                  </a:txBody>
                  <a:tcPr marT="25400" marB="25400"/>
                </a:tc>
                <a:tc>
                  <a:txBody>
                    <a:bodyPr/>
                    <a:lstStyle/>
                    <a:p>
                      <a:r>
                        <a:rPr sz="1300" b="1">
                          <a:solidFill>
                            <a:srgbClr val="2B4A7D"/>
                          </a:solidFill>
                          <a:latin typeface="Calibri"/>
                        </a:rPr>
                        <a:t>Does the ranking change</a:t>
                      </a:r>
                    </a:p>
                  </a:txBody>
                  <a:tcPr marT="25400" marB="25400"/>
                </a:tc>
              </a:tr>
              <a:tr h="384048">
                <a:tc>
                  <a:txBody>
                    <a:bodyPr/>
                    <a:lstStyle/>
                    <a:p>
                      <a:r>
                        <a:rPr sz="1400" b="0">
                          <a:solidFill>
                            <a:srgbClr val="1C1C1A"/>
                          </a:solidFill>
                          <a:latin typeface="Calibri"/>
                        </a:rPr>
                        <a:t>Business</a:t>
                      </a:r>
                    </a:p>
                  </a:txBody>
                  <a:tcPr marT="25400" marB="25400"/>
                </a:tc>
                <a:tc>
                  <a:txBody>
                    <a:bodyPr/>
                    <a:lstStyle/>
                    <a:p>
                      <a:r>
                        <a:rPr sz="1400" b="0">
                          <a:solidFill>
                            <a:srgbClr val="1C1C1A"/>
                          </a:solidFill>
                          <a:latin typeface="Calibri"/>
                        </a:rPr>
                        <a:t>1 of 9, 11.1 percent</a:t>
                      </a:r>
                    </a:p>
                  </a:txBody>
                  <a:tcPr marT="25400" marB="25400"/>
                </a:tc>
                <a:tc>
                  <a:txBody>
                    <a:bodyPr/>
                    <a:lstStyle/>
                    <a:p>
                      <a:r>
                        <a:rPr sz="1400" b="0">
                          <a:solidFill>
                            <a:srgbClr val="1C1C1A"/>
                          </a:solidFill>
                          <a:latin typeface="Calibri"/>
                        </a:rPr>
                        <a:t>2 of 9, 22.2 percent</a:t>
                      </a:r>
                    </a:p>
                  </a:txBody>
                  <a:tcPr marT="25400" marB="25400"/>
                </a:tc>
                <a:tc>
                  <a:txBody>
                    <a:bodyPr/>
                    <a:lstStyle/>
                    <a:p>
                      <a:r>
                        <a:rPr sz="1400" b="0">
                          <a:solidFill>
                            <a:srgbClr val="1C1C1A"/>
                          </a:solidFill>
                          <a:latin typeface="Calibri"/>
                        </a:rPr>
                        <a:t>Yes. It falls behind Student and stops being the best segment.</a:t>
                      </a:r>
                    </a:p>
                  </a:txBody>
                  <a:tcPr marT="25400" marB="25400"/>
                </a:tc>
              </a:tr>
              <a:tr h="384048">
                <a:tc>
                  <a:txBody>
                    <a:bodyPr/>
                    <a:lstStyle/>
                    <a:p>
                      <a:r>
                        <a:rPr sz="1400" b="0">
                          <a:solidFill>
                            <a:srgbClr val="1C1C1A"/>
                          </a:solidFill>
                          <a:latin typeface="Calibri"/>
                        </a:rPr>
                        <a:t>Student</a:t>
                      </a:r>
                    </a:p>
                  </a:txBody>
                  <a:tcPr marT="25400" marB="25400"/>
                </a:tc>
                <a:tc>
                  <a:txBody>
                    <a:bodyPr/>
                    <a:lstStyle/>
                    <a:p>
                      <a:r>
                        <a:rPr sz="1400" b="0">
                          <a:solidFill>
                            <a:srgbClr val="1C1C1A"/>
                          </a:solidFill>
                          <a:latin typeface="Calibri"/>
                        </a:rPr>
                        <a:t>2 of 10, 20.0 percent</a:t>
                      </a:r>
                    </a:p>
                  </a:txBody>
                  <a:tcPr marT="25400" marB="25400"/>
                </a:tc>
                <a:tc>
                  <a:txBody>
                    <a:bodyPr/>
                    <a:lstStyle/>
                    <a:p>
                      <a:r>
                        <a:rPr sz="1400" b="0">
                          <a:solidFill>
                            <a:srgbClr val="1C1C1A"/>
                          </a:solidFill>
                          <a:latin typeface="Calibri"/>
                        </a:rPr>
                        <a:t>3 of 10, 30.0 percent</a:t>
                      </a:r>
                    </a:p>
                  </a:txBody>
                  <a:tcPr marT="25400" marB="25400"/>
                </a:tc>
                <a:tc>
                  <a:txBody>
                    <a:bodyPr/>
                    <a:lstStyle/>
                    <a:p>
                      <a:r>
                        <a:rPr sz="1400" b="0">
                          <a:solidFill>
                            <a:srgbClr val="1C1C1A"/>
                          </a:solidFill>
                          <a:latin typeface="Calibri"/>
                        </a:rPr>
                        <a:t>No. It stays second, because it was already ahead of Retail-Core.</a:t>
                      </a:r>
                    </a:p>
                  </a:txBody>
                  <a:tcPr marT="25400" marB="25400"/>
                </a:tc>
              </a:tr>
              <a:tr h="384048">
                <a:tc>
                  <a:txBody>
                    <a:bodyPr/>
                    <a:lstStyle/>
                    <a:p>
                      <a:r>
                        <a:rPr sz="1400" b="0">
                          <a:solidFill>
                            <a:srgbClr val="1C1C1A"/>
                          </a:solidFill>
                          <a:latin typeface="Calibri"/>
                        </a:rPr>
                        <a:t>Retail-Core</a:t>
                      </a:r>
                    </a:p>
                  </a:txBody>
                  <a:tcPr marT="25400" marB="25400"/>
                </a:tc>
                <a:tc>
                  <a:txBody>
                    <a:bodyPr/>
                    <a:lstStyle/>
                    <a:p>
                      <a:r>
                        <a:rPr sz="1400" b="0">
                          <a:solidFill>
                            <a:srgbClr val="1C1C1A"/>
                          </a:solidFill>
                          <a:latin typeface="Calibri"/>
                        </a:rPr>
                        <a:t>5 of 14, 35.7 percent</a:t>
                      </a:r>
                    </a:p>
                  </a:txBody>
                  <a:tcPr marT="25400" marB="25400"/>
                </a:tc>
                <a:tc>
                  <a:txBody>
                    <a:bodyPr/>
                    <a:lstStyle/>
                    <a:p>
                      <a:r>
                        <a:rPr sz="1400" b="0">
                          <a:solidFill>
                            <a:srgbClr val="1C1C1A"/>
                          </a:solidFill>
                          <a:latin typeface="Calibri"/>
                        </a:rPr>
                        <a:t>6 of 14, 42.9 percent</a:t>
                      </a:r>
                    </a:p>
                  </a:txBody>
                  <a:tcPr marT="25400" marB="25400"/>
                </a:tc>
                <a:tc>
                  <a:txBody>
                    <a:bodyPr/>
                    <a:lstStyle/>
                    <a:p>
                      <a:r>
                        <a:rPr sz="1400" b="0">
                          <a:solidFill>
                            <a:srgbClr val="1C1C1A"/>
                          </a:solidFill>
                          <a:latin typeface="Calibri"/>
                        </a:rPr>
                        <a:t>Yes. It becomes the worst segment.</a:t>
                      </a:r>
                    </a:p>
                  </a:txBody>
                  <a:tcPr marT="25400" marB="25400"/>
                </a:tc>
              </a:tr>
              <a:tr h="384048">
                <a:tc>
                  <a:txBody>
                    <a:bodyPr/>
                    <a:lstStyle/>
                    <a:p>
                      <a:r>
                        <a:rPr sz="1400" b="0">
                          <a:solidFill>
                            <a:srgbClr val="1C1C1A"/>
                          </a:solidFill>
                          <a:latin typeface="Calibri"/>
                        </a:rPr>
                        <a:t>Retail-Plus</a:t>
                      </a:r>
                    </a:p>
                  </a:txBody>
                  <a:tcPr marT="25400" marB="25400"/>
                </a:tc>
                <a:tc>
                  <a:txBody>
                    <a:bodyPr/>
                    <a:lstStyle/>
                    <a:p>
                      <a:r>
                        <a:rPr sz="1400" b="0">
                          <a:solidFill>
                            <a:srgbClr val="1C1C1A"/>
                          </a:solidFill>
                          <a:latin typeface="Calibri"/>
                        </a:rPr>
                        <a:t>4 of 11, 36.4 percent</a:t>
                      </a:r>
                    </a:p>
                  </a:txBody>
                  <a:tcPr marT="25400" marB="25400"/>
                </a:tc>
                <a:tc>
                  <a:txBody>
                    <a:bodyPr/>
                    <a:lstStyle/>
                    <a:p>
                      <a:r>
                        <a:rPr sz="1400" b="0">
                          <a:solidFill>
                            <a:srgbClr val="1C1C1A"/>
                          </a:solidFill>
                          <a:latin typeface="Calibri"/>
                        </a:rPr>
                        <a:t>5 of 11, 45.5 percent</a:t>
                      </a:r>
                    </a:p>
                  </a:txBody>
                  <a:tcPr marT="25400" marB="25400"/>
                </a:tc>
                <a:tc>
                  <a:txBody>
                    <a:bodyPr/>
                    <a:lstStyle/>
                    <a:p>
                      <a:r>
                        <a:rPr sz="1400" b="0">
                          <a:solidFill>
                            <a:srgbClr val="1C1C1A"/>
                          </a:solidFill>
                          <a:latin typeface="Calibri"/>
                        </a:rPr>
                        <a:t>It was already last and stays there.</a:t>
                      </a:r>
                    </a:p>
                  </a:txBody>
                  <a:tcPr marT="25400" marB="25400"/>
                </a:tc>
              </a:tr>
            </a:tbl>
          </a:graphicData>
        </a:graphic>
      </p:graphicFrame>
      <p:sp>
        <p:nvSpPr>
          <p:cNvPr id="7" name="TextBox 6"/>
          <p:cNvSpPr txBox="1"/>
          <p:nvPr/>
        </p:nvSpPr>
        <p:spPr>
          <a:xfrm>
            <a:off x="777240" y="4749165"/>
            <a:ext cx="10607040" cy="1038225"/>
          </a:xfrm>
          <a:prstGeom prst="rect">
            <a:avLst/>
          </a:prstGeom>
          <a:noFill/>
        </p:spPr>
        <p:txBody>
          <a:bodyPr wrap="square">
            <a:spAutoFit/>
          </a:bodyPr>
          <a:lstStyle/>
          <a:p>
            <a:pPr>
              <a:spcAft>
                <a:spcPts val="1000"/>
              </a:spcAft>
            </a:pPr>
            <a:r>
              <a:rPr sz="2100" b="0">
                <a:solidFill>
                  <a:srgbClr val="1C1C1A"/>
                </a:solidFill>
                <a:latin typeface="Calibri"/>
              </a:rPr>
              <a:t>Two of the four positions change on one order, and one of those two is the top of the table. A ranking whose leader can be overturned by a single record is a ranking that should be sent with its counts and a sentence, which is exactly what the next section builds.</a:t>
            </a:r>
          </a:p>
        </p:txBody>
      </p:sp>
      <p:sp>
        <p:nvSpPr>
          <p:cNvPr id="8" name="TextBox 7"/>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4, half two: the segment summary, and the count it rests 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One order</a:t>
            </a:r>
          </a:p>
        </p:txBody>
      </p:sp>
      <p:sp>
        <p:nvSpPr>
          <p:cNvPr id="4" name="TextBox 3"/>
          <p:cNvSpPr txBox="1"/>
          <p:nvPr/>
        </p:nvSpPr>
        <p:spPr>
          <a:xfrm>
            <a:off x="777240" y="1965960"/>
            <a:ext cx="10607040" cy="666750"/>
          </a:xfrm>
          <a:prstGeom prst="rect">
            <a:avLst/>
          </a:prstGeom>
          <a:noFill/>
        </p:spPr>
        <p:txBody>
          <a:bodyPr wrap="square">
            <a:spAutoFit/>
          </a:bodyPr>
          <a:lstStyle/>
          <a:p>
            <a:pPr>
              <a:spcAft>
                <a:spcPts val="400"/>
              </a:spcAft>
            </a:pPr>
            <a:r>
              <a:rPr sz="1700" b="0">
                <a:solidFill>
                  <a:srgbClr val="2B4A7D"/>
                </a:solidFill>
                <a:latin typeface="Consolas"/>
              </a:rPr>
              <a:t>if 0 more Business orders had been returned:  11.1%   still best</a:t>
            </a:r>
          </a:p>
          <a:p>
            <a:pPr>
              <a:spcAft>
                <a:spcPts val="400"/>
              </a:spcAft>
            </a:pPr>
            <a:r>
              <a:rPr sz="1700" b="0">
                <a:solidFill>
                  <a:srgbClr val="2B4A7D"/>
                </a:solidFill>
                <a:latin typeface="Consolas"/>
              </a:rPr>
              <a:t>if 1 more Business order  had been returned:  22.2%   no longer best</a:t>
            </a:r>
          </a:p>
        </p:txBody>
      </p:sp>
      <p:sp>
        <p:nvSpPr>
          <p:cNvPr id="5" name="TextBox 4"/>
          <p:cNvSpPr txBox="1"/>
          <p:nvPr/>
        </p:nvSpPr>
        <p:spPr>
          <a:xfrm>
            <a:off x="777240" y="2769870"/>
            <a:ext cx="10607040" cy="2028825"/>
          </a:xfrm>
          <a:prstGeom prst="rect">
            <a:avLst/>
          </a:prstGeom>
          <a:noFill/>
        </p:spPr>
        <p:txBody>
          <a:bodyPr wrap="square">
            <a:spAutoFit/>
          </a:bodyPr>
          <a:lstStyle/>
          <a:p>
            <a:pPr>
              <a:spcAft>
                <a:spcPts val="1000"/>
              </a:spcAft>
            </a:pPr>
            <a:r>
              <a:rPr sz="2100" b="1">
                <a:solidFill>
                  <a:srgbClr val="1C1C1A"/>
                </a:solidFill>
                <a:latin typeface="Calibri"/>
              </a:rPr>
              <a:t>One order</a:t>
            </a:r>
            <a:r>
              <a:rPr sz="2100" b="0">
                <a:solidFill>
                  <a:srgbClr val="1C1C1A"/>
                </a:solidFill>
                <a:latin typeface="Calibri"/>
              </a:rPr>
              <a:t> out of forty-four, in a segment of nine, and the best segment in the file is no longer the best segment in the file.</a:t>
            </a:r>
          </a:p>
          <a:p>
            <a:pPr>
              <a:spcAft>
                <a:spcPts val="1000"/>
              </a:spcAft>
            </a:pPr>
            <a:r>
              <a:rPr sz="2100" b="0">
                <a:solidFill>
                  <a:srgbClr val="1C1C1A"/>
                </a:solidFill>
                <a:latin typeface="Calibri"/>
              </a:rPr>
              <a:t>Small groups produce extreme rates in both directions, in any dataset, with nothing causing it. Rank groups by a rate and the smallest drift to both ends of the list, so the ranking reads group size as much as performance.</a:t>
            </a:r>
          </a:p>
          <a:p>
            <a:pPr>
              <a:spcAft>
                <a:spcPts val="1000"/>
              </a:spcAft>
            </a:pPr>
            <a:r>
              <a:rPr sz="2100" b="0">
                <a:solidFill>
                  <a:srgbClr val="1C1C1A"/>
                </a:solidFill>
                <a:latin typeface="Calibri"/>
              </a:rPr>
              <a:t>The fix is not a cleverer statistic. It is the column you already have.</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4, half two: the segment summary, and the count it rests 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pPr algn="ctr"/>
            <a:r>
              <a:rPr sz="3600" b="1">
                <a:solidFill>
                  <a:srgbClr val="FFFFFF"/>
                </a:solidFill>
                <a:latin typeface="Calibri"/>
              </a:rPr>
              <a:t>SECTION 4: THE HONEST SENTENCE</a:t>
            </a:r>
          </a:p>
        </p:txBody>
      </p:sp>
      <p:sp>
        <p:nvSpPr>
          <p:cNvPr id="4" name="TextBox 3"/>
          <p:cNvSpPr txBox="1"/>
          <p:nvPr/>
        </p:nvSpPr>
        <p:spPr>
          <a:xfrm>
            <a:off x="777240" y="1965960"/>
            <a:ext cx="10607040" cy="790575"/>
          </a:xfrm>
          <a:prstGeom prst="rect">
            <a:avLst/>
          </a:prstGeom>
          <a:noFill/>
        </p:spPr>
        <p:txBody>
          <a:bodyPr wrap="square">
            <a:spAutoFit/>
          </a:bodyPr>
          <a:lstStyle/>
          <a:p>
            <a:pPr algn="ctr">
              <a:spcAft>
                <a:spcPts val="1000"/>
              </a:spcAft>
            </a:pPr>
            <a:r>
              <a:rPr sz="2100" b="0">
                <a:solidFill>
                  <a:srgbClr val="FFFFFF"/>
                </a:solidFill>
                <a:latin typeface="Calibri"/>
              </a:rPr>
              <a:t>[one column] &gt; [what is typical] &gt; [what one order does] &gt; [what the shape says] &gt; </a:t>
            </a:r>
            <a:r>
              <a:rPr sz="2100" b="1">
                <a:solidFill>
                  <a:srgbClr val="FFFFFF"/>
                </a:solidFill>
                <a:latin typeface="Calibri"/>
              </a:rPr>
              <a:t>[per segment, with denominators]</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4, half two: the segment summary, and the count it rests 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shape of the sentence</a:t>
            </a:r>
          </a:p>
        </p:txBody>
      </p:sp>
      <p:sp>
        <p:nvSpPr>
          <p:cNvPr id="4" name="TextBox 3"/>
          <p:cNvSpPr txBox="1"/>
          <p:nvPr/>
        </p:nvSpPr>
        <p:spPr>
          <a:xfrm>
            <a:off x="777240" y="1965960"/>
            <a:ext cx="10607040" cy="542925"/>
          </a:xfrm>
          <a:prstGeom prst="rect">
            <a:avLst/>
          </a:prstGeom>
          <a:noFill/>
        </p:spPr>
        <p:txBody>
          <a:bodyPr wrap="square">
            <a:spAutoFit/>
          </a:bodyPr>
          <a:lstStyle/>
          <a:p>
            <a:pPr>
              <a:spcAft>
                <a:spcPts val="1000"/>
              </a:spcAft>
            </a:pPr>
            <a:r>
              <a:rPr sz="2100" b="0">
                <a:solidFill>
                  <a:srgbClr val="1C1C1A"/>
                </a:solidFill>
                <a:latin typeface="Calibri"/>
              </a:rPr>
              <a:t>Three parts, in this order, every time:</a:t>
            </a:r>
          </a:p>
        </p:txBody>
      </p:sp>
      <p:sp>
        <p:nvSpPr>
          <p:cNvPr id="5" name="TextBox 4"/>
          <p:cNvSpPr txBox="1"/>
          <p:nvPr/>
        </p:nvSpPr>
        <p:spPr>
          <a:xfrm>
            <a:off x="777240" y="2646045"/>
            <a:ext cx="10607040" cy="502920"/>
          </a:xfrm>
          <a:prstGeom prst="rect">
            <a:avLst/>
          </a:prstGeom>
          <a:noFill/>
        </p:spPr>
        <p:txBody>
          <a:bodyPr wrap="square">
            <a:spAutoFit/>
          </a:bodyPr>
          <a:lstStyle/>
          <a:p>
            <a:pPr>
              <a:spcAft>
                <a:spcPts val="400"/>
              </a:spcAft>
            </a:pPr>
            <a:r>
              <a:rPr sz="1700" b="0">
                <a:solidFill>
                  <a:srgbClr val="2B4A7D"/>
                </a:solidFill>
                <a:latin typeface="Consolas"/>
              </a:rPr>
              <a:t>[the number]   [the denominator]   [what it does not yet support]</a:t>
            </a:r>
          </a:p>
        </p:txBody>
      </p:sp>
      <p:sp>
        <p:nvSpPr>
          <p:cNvPr id="6" name="TextBox 5"/>
          <p:cNvSpPr txBox="1"/>
          <p:nvPr/>
        </p:nvSpPr>
        <p:spPr>
          <a:xfrm>
            <a:off x="777240" y="3286125"/>
            <a:ext cx="10607040" cy="790575"/>
          </a:xfrm>
          <a:prstGeom prst="rect">
            <a:avLst/>
          </a:prstGeom>
          <a:noFill/>
        </p:spPr>
        <p:txBody>
          <a:bodyPr wrap="square">
            <a:spAutoFit/>
          </a:bodyPr>
          <a:lstStyle/>
          <a:p>
            <a:pPr>
              <a:spcAft>
                <a:spcPts val="1000"/>
              </a:spcAft>
            </a:pPr>
            <a:r>
              <a:rPr sz="2100" b="0">
                <a:solidFill>
                  <a:srgbClr val="1C1C1A"/>
                </a:solidFill>
                <a:latin typeface="Calibri"/>
              </a:rPr>
              <a:t>Leaving out the third part is how a caveat gets lost between your notebook and a slide somebody else builds.</a:t>
            </a:r>
          </a:p>
        </p:txBody>
      </p:sp>
      <p:sp>
        <p:nvSpPr>
          <p:cNvPr id="7" name="TextBox 6"/>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4, half two: the segment summary, and the count it rests 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Four sentences, one per segment</a:t>
            </a:r>
          </a:p>
        </p:txBody>
      </p:sp>
      <p:sp>
        <p:nvSpPr>
          <p:cNvPr id="4" name="TextBox 3"/>
          <p:cNvSpPr txBox="1"/>
          <p:nvPr/>
        </p:nvSpPr>
        <p:spPr>
          <a:xfrm>
            <a:off x="777240" y="1965960"/>
            <a:ext cx="10607040" cy="3390900"/>
          </a:xfrm>
          <a:prstGeom prst="rect">
            <a:avLst/>
          </a:prstGeom>
          <a:noFill/>
        </p:spPr>
        <p:txBody>
          <a:bodyPr wrap="square">
            <a:spAutoFit/>
          </a:bodyPr>
          <a:lstStyle/>
          <a:p>
            <a:pPr>
              <a:spcAft>
                <a:spcPts val="400"/>
              </a:spcAft>
            </a:pPr>
            <a:r>
              <a:rPr sz="1700" b="0">
                <a:solidFill>
                  <a:srgbClr val="2B4A7D"/>
                </a:solidFill>
                <a:latin typeface="Consolas"/>
              </a:rPr>
              <a:t>Business:    returned on 1 of 9 orders, 11.1 percent. Lowest in the file and the</a:t>
            </a:r>
          </a:p>
          <a:p>
            <a:pPr>
              <a:spcAft>
                <a:spcPts val="400"/>
              </a:spcAft>
            </a:pPr>
            <a:r>
              <a:rPr sz="1700" b="0">
                <a:solidFill>
                  <a:srgbClr val="2B4A7D"/>
                </a:solidFill>
                <a:latin typeface="Consolas"/>
              </a:rPr>
              <a:t>             smallest segment in it. One more return takes it to 22.2 percent and</a:t>
            </a:r>
          </a:p>
          <a:p>
            <a:pPr>
              <a:spcAft>
                <a:spcPts val="400"/>
              </a:spcAft>
            </a:pPr>
            <a:r>
              <a:rPr sz="1700" b="0">
                <a:solidFill>
                  <a:srgbClr val="2B4A7D"/>
                </a:solidFill>
                <a:latin typeface="Consolas"/>
              </a:rPr>
              <a:t>             behind Student, so this is not yet a finding.</a:t>
            </a:r>
          </a:p>
          <a:p>
            <a:pPr>
              <a:spcAft>
                <a:spcPts val="400"/>
              </a:spcAft>
            </a:pPr>
          </a:p>
          <a:p>
            <a:pPr>
              <a:spcAft>
                <a:spcPts val="400"/>
              </a:spcAft>
            </a:pPr>
            <a:r>
              <a:rPr sz="1700" b="0">
                <a:solidFill>
                  <a:srgbClr val="2B4A7D"/>
                </a:solidFill>
                <a:latin typeface="Consolas"/>
              </a:rPr>
              <a:t>Student:     returned on 2 of 10 orders, 20.0 percent. Ten orders, and the raw file</a:t>
            </a:r>
          </a:p>
          <a:p>
            <a:pPr>
              <a:spcAft>
                <a:spcPts val="400"/>
              </a:spcAft>
            </a:pPr>
            <a:r>
              <a:rPr sz="1700" b="0">
                <a:solidFill>
                  <a:srgbClr val="2B4A7D"/>
                </a:solidFill>
                <a:latin typeface="Consolas"/>
              </a:rPr>
              <a:t>             held twelve before two failed conversion. Treat as unmeasured.</a:t>
            </a:r>
          </a:p>
          <a:p>
            <a:pPr>
              <a:spcAft>
                <a:spcPts val="400"/>
              </a:spcAft>
            </a:pPr>
          </a:p>
          <a:p>
            <a:pPr>
              <a:spcAft>
                <a:spcPts val="400"/>
              </a:spcAft>
            </a:pPr>
            <a:r>
              <a:rPr sz="1700" b="0">
                <a:solidFill>
                  <a:srgbClr val="2B4A7D"/>
                </a:solidFill>
                <a:latin typeface="Consolas"/>
              </a:rPr>
              <a:t>Retail-Core: returned on 5 of 14 orders, 35.7 percent. Largest segment and the</a:t>
            </a:r>
          </a:p>
          <a:p>
            <a:pPr>
              <a:spcAft>
                <a:spcPts val="400"/>
              </a:spcAft>
            </a:pPr>
            <a:r>
              <a:rPr sz="1700" b="0">
                <a:solidFill>
                  <a:srgbClr val="2B4A7D"/>
                </a:solidFill>
                <a:latin typeface="Consolas"/>
              </a:rPr>
              <a:t>             steadiest number here. Median order Rs 1,910; the mean of Rs 36,027.14</a:t>
            </a:r>
          </a:p>
          <a:p>
            <a:pPr>
              <a:spcAft>
                <a:spcPts val="400"/>
              </a:spcAft>
            </a:pPr>
            <a:r>
              <a:rPr sz="1700" b="0">
                <a:solidFill>
                  <a:srgbClr val="2B4A7D"/>
                </a:solidFill>
                <a:latin typeface="Consolas"/>
              </a:rPr>
              <a:t>             is the Rs 480,000 order and should not be quoted.</a:t>
            </a:r>
          </a:p>
          <a:p>
            <a:pPr>
              <a:spcAft>
                <a:spcPts val="400"/>
              </a:spcAft>
            </a:pPr>
          </a:p>
          <a:p>
            <a:pPr>
              <a:spcAft>
                <a:spcPts val="400"/>
              </a:spcAft>
            </a:pPr>
            <a:r>
              <a:rPr sz="1700" b="0">
                <a:solidFill>
                  <a:srgbClr val="2B4A7D"/>
                </a:solidFill>
                <a:latin typeface="Consolas"/>
              </a:rPr>
              <a:t>Retail-Plus: returned on 4 of 11 orders, 36.4 percent. Highest in the file, within</a:t>
            </a:r>
          </a:p>
          <a:p>
            <a:pPr>
              <a:spcAft>
                <a:spcPts val="400"/>
              </a:spcAft>
            </a:pPr>
            <a:r>
              <a:rPr sz="1700" b="0">
                <a:solidFill>
                  <a:srgbClr val="2B4A7D"/>
                </a:solidFill>
                <a:latin typeface="Consolas"/>
              </a:rPr>
              <a:t>             one order of Retail-Core. The two are not separated by this data.</a:t>
            </a:r>
          </a:p>
        </p:txBody>
      </p:sp>
      <p:sp>
        <p:nvSpPr>
          <p:cNvPr id="5" name="TextBox 4"/>
          <p:cNvSpPr txBox="1"/>
          <p:nvPr/>
        </p:nvSpPr>
        <p:spPr>
          <a:xfrm>
            <a:off x="777240" y="5494020"/>
            <a:ext cx="10607040" cy="790575"/>
          </a:xfrm>
          <a:prstGeom prst="rect">
            <a:avLst/>
          </a:prstGeom>
          <a:noFill/>
        </p:spPr>
        <p:txBody>
          <a:bodyPr wrap="square">
            <a:spAutoFit/>
          </a:bodyPr>
          <a:lstStyle/>
          <a:p>
            <a:pPr>
              <a:spcAft>
                <a:spcPts val="1000"/>
              </a:spcAft>
            </a:pPr>
            <a:r>
              <a:rPr sz="2100" b="0">
                <a:solidFill>
                  <a:srgbClr val="1C1C1A"/>
                </a:solidFill>
                <a:latin typeface="Calibri"/>
              </a:rPr>
              <a:t>Two decline to make a claim and a third says two segments cannot be told apart. That is the sentence doing its job.</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4, half two: the segment summary, and the count it rests 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convention this follows</a:t>
            </a:r>
          </a:p>
        </p:txBody>
      </p:sp>
      <p:sp>
        <p:nvSpPr>
          <p:cNvPr id="4" name="TextBox 3"/>
          <p:cNvSpPr txBox="1"/>
          <p:nvPr/>
        </p:nvSpPr>
        <p:spPr>
          <a:xfrm>
            <a:off x="777240" y="1965960"/>
            <a:ext cx="10607040" cy="1657350"/>
          </a:xfrm>
          <a:prstGeom prst="rect">
            <a:avLst/>
          </a:prstGeom>
          <a:noFill/>
        </p:spPr>
        <p:txBody>
          <a:bodyPr wrap="square">
            <a:spAutoFit/>
          </a:bodyPr>
          <a:lstStyle/>
          <a:p>
            <a:pPr>
              <a:spcAft>
                <a:spcPts val="1000"/>
              </a:spcAft>
            </a:pPr>
            <a:r>
              <a:rPr sz="2100" b="0">
                <a:solidFill>
                  <a:srgbClr val="1C1C1A"/>
                </a:solidFill>
                <a:latin typeface="Calibri"/>
              </a:rPr>
              <a:t>Retail-Core's mean order value is Rs 36,027.14. Its median is Rs 1,910. One order separates those.</a:t>
            </a:r>
          </a:p>
          <a:p>
            <a:pPr>
              <a:spcAft>
                <a:spcPts val="1000"/>
              </a:spcAft>
            </a:pPr>
            <a:r>
              <a:rPr sz="2100" b="0">
                <a:solidFill>
                  <a:srgbClr val="1C1C1A"/>
                </a:solidFill>
                <a:latin typeface="Calibri"/>
              </a:rPr>
              <a:t>Reporting the median for money is the standing convention wherever a few very large values sit in a long tail, which is why national statistics report median household income. You applied it in half one to a column. Here it applies to a cell in a table somebody will screenshot.</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4, half two: the segment summary, and the count it rests on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question you are not answering today</a:t>
            </a:r>
          </a:p>
        </p:txBody>
      </p:sp>
      <p:sp>
        <p:nvSpPr>
          <p:cNvPr id="4" name="TextBox 3"/>
          <p:cNvSpPr txBox="1"/>
          <p:nvPr/>
        </p:nvSpPr>
        <p:spPr>
          <a:xfrm>
            <a:off x="777240" y="1965960"/>
            <a:ext cx="10607040" cy="1781175"/>
          </a:xfrm>
          <a:prstGeom prst="rect">
            <a:avLst/>
          </a:prstGeom>
          <a:noFill/>
        </p:spPr>
        <p:txBody>
          <a:bodyPr wrap="square">
            <a:spAutoFit/>
          </a:bodyPr>
          <a:lstStyle/>
          <a:p>
            <a:pPr>
              <a:spcAft>
                <a:spcPts val="1000"/>
              </a:spcAft>
            </a:pPr>
            <a:r>
              <a:rPr sz="2100" b="0">
                <a:solidFill>
                  <a:srgbClr val="1C1C1A"/>
                </a:solidFill>
                <a:latin typeface="Calibri"/>
              </a:rPr>
              <a:t>Is Business genuinely better than Retail-Plus, or is 11.1 against 36.4 what four groups of these sizes do on their own?</a:t>
            </a:r>
          </a:p>
          <a:p>
            <a:pPr>
              <a:spcAft>
                <a:spcPts val="1000"/>
              </a:spcAft>
            </a:pPr>
            <a:r>
              <a:rPr sz="2100" b="0">
                <a:solidFill>
                  <a:srgbClr val="1C1C1A"/>
                </a:solidFill>
                <a:latin typeface="Calibri"/>
              </a:rPr>
              <a:t>That question has a real answer and a method behind it, and it is Monday's session.</a:t>
            </a:r>
          </a:p>
          <a:p>
            <a:pPr>
              <a:spcAft>
                <a:spcPts val="1000"/>
              </a:spcAft>
            </a:pPr>
            <a:r>
              <a:rPr sz="2100" b="0">
                <a:solidFill>
                  <a:srgbClr val="1C1C1A"/>
                </a:solidFill>
                <a:latin typeface="Calibri"/>
              </a:rPr>
              <a:t>Today you name the question, write it in the notebook, and stop. Saying "we do not know yet, and here is what would tell us" is a complete professional answer.</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4, half two: the segment summary, and the count it rests 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Where the number thirty comes from, and why you should not lean on it</a:t>
            </a:r>
          </a:p>
        </p:txBody>
      </p:sp>
      <p:sp>
        <p:nvSpPr>
          <p:cNvPr id="5" name="TextBox 4"/>
          <p:cNvSpPr txBox="1"/>
          <p:nvPr/>
        </p:nvSpPr>
        <p:spPr>
          <a:xfrm>
            <a:off x="777240" y="1965960"/>
            <a:ext cx="10607040" cy="3638550"/>
          </a:xfrm>
          <a:prstGeom prst="rect">
            <a:avLst/>
          </a:prstGeom>
          <a:noFill/>
        </p:spPr>
        <p:txBody>
          <a:bodyPr wrap="square">
            <a:spAutoFit/>
          </a:bodyPr>
          <a:lstStyle/>
          <a:p>
            <a:pPr>
              <a:spcAft>
                <a:spcPts val="1000"/>
              </a:spcAft>
            </a:pPr>
            <a:r>
              <a:rPr sz="2100" b="0">
                <a:solidFill>
                  <a:srgbClr val="1C1C1A"/>
                </a:solidFill>
                <a:latin typeface="Calibri"/>
              </a:rPr>
              <a:t>You will hear that a group under about thirty is too small to trust. It is a useful habit and a bad rule, and knowing why is worth more than obeying it.</a:t>
            </a:r>
          </a:p>
          <a:p>
            <a:pPr>
              <a:spcAft>
                <a:spcPts val="1000"/>
              </a:spcAft>
            </a:pPr>
            <a:r>
              <a:rPr sz="2100" b="0">
                <a:solidFill>
                  <a:srgbClr val="1C1C1A"/>
                </a:solidFill>
                <a:latin typeface="Calibri"/>
              </a:rPr>
              <a:t>The thirty is a rule of thumb from a result about how averages of samples behave as samples get larger. It is a threshold about a particular kind of approximation becoming reasonable, not a line where a number becomes true.</a:t>
            </a:r>
          </a:p>
          <a:p>
            <a:pPr>
              <a:spcAft>
                <a:spcPts val="1000"/>
              </a:spcAft>
            </a:pPr>
            <a:r>
              <a:rPr sz="2100" b="0">
                <a:solidFill>
                  <a:srgbClr val="1C1C1A"/>
                </a:solidFill>
                <a:latin typeface="Calibri"/>
              </a:rPr>
              <a:t>Two things follow. A group of forty can still be far too small when the thing you are counting is rare, because what matters is how many events you saw rather than how many rows. And a group of twenty can be perfectly informative when you are describing it rather than generalising from it.</a:t>
            </a:r>
          </a:p>
          <a:p>
            <a:pPr>
              <a:spcAft>
                <a:spcPts val="1000"/>
              </a:spcAft>
            </a:pPr>
            <a:r>
              <a:rPr sz="2100" b="0">
                <a:solidFill>
                  <a:srgbClr val="1C1C1A"/>
                </a:solidFill>
                <a:latin typeface="Calibri"/>
              </a:rPr>
              <a:t>So the honest habit is not a threshold. It is to say the count out loud and let the reader judge, which is what the sentence on the previous slide does, and to name what would settle the question, which is Monday.</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4, half two: the segment summary, and the count it rests 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convention behind reporting a median, and where it comes from</a:t>
            </a:r>
          </a:p>
        </p:txBody>
      </p:sp>
      <p:sp>
        <p:nvSpPr>
          <p:cNvPr id="5" name="TextBox 4"/>
          <p:cNvSpPr txBox="1"/>
          <p:nvPr/>
        </p:nvSpPr>
        <p:spPr>
          <a:xfrm>
            <a:off x="777240" y="1965960"/>
            <a:ext cx="10607040" cy="3019425"/>
          </a:xfrm>
          <a:prstGeom prst="rect">
            <a:avLst/>
          </a:prstGeom>
          <a:noFill/>
        </p:spPr>
        <p:txBody>
          <a:bodyPr wrap="square">
            <a:spAutoFit/>
          </a:bodyPr>
          <a:lstStyle/>
          <a:p>
            <a:pPr>
              <a:spcAft>
                <a:spcPts val="1000"/>
              </a:spcAft>
            </a:pPr>
            <a:r>
              <a:rPr sz="2100" b="0">
                <a:solidFill>
                  <a:srgbClr val="1C1C1A"/>
                </a:solidFill>
                <a:latin typeface="Calibri"/>
              </a:rPr>
              <a:t>Reporting the median rather than the mean on money is not this programme's preference. It is what statistical agencies do with household income, because a small number of very large incomes drag the mean away from anything a household would recognise.</a:t>
            </a:r>
          </a:p>
          <a:p>
            <a:pPr>
              <a:spcAft>
                <a:spcPts val="1000"/>
              </a:spcAft>
            </a:pPr>
            <a:r>
              <a:rPr sz="2100" b="0">
                <a:solidFill>
                  <a:srgbClr val="1C1C1A"/>
                </a:solidFill>
                <a:latin typeface="Calibri"/>
              </a:rPr>
              <a:t>The same shape appears wherever money is measured: salaries, claim sizes, invoice amounts, basket totals and order values. All of them have a floor at zero and no ceiling, so all of them have a right tail.</a:t>
            </a:r>
          </a:p>
          <a:p>
            <a:pPr>
              <a:spcAft>
                <a:spcPts val="1000"/>
              </a:spcAft>
            </a:pPr>
            <a:r>
              <a:rPr sz="2100" b="0">
                <a:solidFill>
                  <a:srgbClr val="1C1C1A"/>
                </a:solidFill>
                <a:latin typeface="Calibri"/>
              </a:rPr>
              <a:t>Retail-Core in your own table is the case in miniature. Its mean order value is Rs 36,027.14 and its median is Rs 1,910, and one order out of fourteen separates them. If you put the mean in that cell, every reader who screenshots the table carries that one order into their next meeting without knowing it.</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4, half two: the segment summary, and the count it rests 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decision card</a:t>
            </a:r>
          </a:p>
        </p:txBody>
      </p:sp>
      <p:graphicFrame>
        <p:nvGraphicFramePr>
          <p:cNvPr id="4" name="Table 3"/>
          <p:cNvGraphicFramePr>
            <a:graphicFrameLocks noGrp="1"/>
          </p:cNvGraphicFramePr>
          <p:nvPr/>
        </p:nvGraphicFramePr>
        <p:xfrm>
          <a:off x="777240" y="1965960"/>
          <a:ext cx="10607040" cy="2304288"/>
        </p:xfrm>
        <a:graphic>
          <a:graphicData uri="http://schemas.openxmlformats.org/drawingml/2006/table">
            <a:tbl>
              <a:tblPr firstRow="1" bandRow="1">
                <a:tableStyleId>{5C22544A-7EE6-4342-B048-85BDC9FD1C3A}</a:tableStyleId>
              </a:tblPr>
              <a:tblGrid>
                <a:gridCol w="5303520"/>
                <a:gridCol w="5303520"/>
              </a:tblGrid>
              <a:tr h="384048">
                <a:tc>
                  <a:txBody>
                    <a:bodyPr/>
                    <a:lstStyle/>
                    <a:p>
                      <a:r>
                        <a:rPr sz="1300" b="1">
                          <a:solidFill>
                            <a:srgbClr val="2B4A7D"/>
                          </a:solidFill>
                          <a:latin typeface="Calibri"/>
                        </a:rPr>
                        <a:t>Before you send a rate</a:t>
                      </a:r>
                    </a:p>
                  </a:txBody>
                  <a:tcPr marT="25400" marB="25400"/>
                </a:tc>
                <a:tc>
                  <a:txBody>
                    <a:bodyPr/>
                    <a:lstStyle/>
                    <a:p>
                      <a:r>
                        <a:rPr sz="1300" b="1">
                          <a:solidFill>
                            <a:srgbClr val="2B4A7D"/>
                          </a:solidFill>
                          <a:latin typeface="Calibri"/>
                        </a:rPr>
                        <a:t>Check</a:t>
                      </a:r>
                    </a:p>
                  </a:txBody>
                  <a:tcPr marT="25400" marB="25400"/>
                </a:tc>
              </a:tr>
              <a:tr h="384048">
                <a:tc>
                  <a:txBody>
                    <a:bodyPr/>
                    <a:lstStyle/>
                    <a:p>
                      <a:r>
                        <a:rPr sz="1400" b="0">
                          <a:solidFill>
                            <a:srgbClr val="1C1C1A"/>
                          </a:solidFill>
                          <a:latin typeface="Calibri"/>
                        </a:rPr>
                        <a:t>Is the denominator on the same line as the number</a:t>
                      </a:r>
                    </a:p>
                  </a:txBody>
                  <a:tcPr marT="25400" marB="25400"/>
                </a:tc>
                <a:tc>
                  <a:txBody>
                    <a:bodyPr/>
                    <a:lstStyle/>
                    <a:p>
                      <a:r>
                        <a:rPr sz="1400" b="0">
                          <a:solidFill>
                            <a:srgbClr val="1C1C1A"/>
                          </a:solidFill>
                          <a:latin typeface="Calibri"/>
                        </a:rPr>
                        <a:t>If not, it is not ready</a:t>
                      </a:r>
                    </a:p>
                  </a:txBody>
                  <a:tcPr marT="25400" marB="25400"/>
                </a:tc>
              </a:tr>
              <a:tr h="384048">
                <a:tc>
                  <a:txBody>
                    <a:bodyPr/>
                    <a:lstStyle/>
                    <a:p>
                      <a:r>
                        <a:rPr sz="1400" b="0">
                          <a:solidFill>
                            <a:srgbClr val="1C1C1A"/>
                          </a:solidFill>
                          <a:latin typeface="Calibri"/>
                        </a:rPr>
                        <a:t>Is any group under about 30 orders</a:t>
                      </a:r>
                    </a:p>
                  </a:txBody>
                  <a:tcPr marT="25400" marB="25400"/>
                </a:tc>
                <a:tc>
                  <a:txBody>
                    <a:bodyPr/>
                    <a:lstStyle/>
                    <a:p>
                      <a:r>
                        <a:rPr sz="1400" b="0">
                          <a:solidFill>
                            <a:srgbClr val="1C1C1A"/>
                          </a:solidFill>
                          <a:latin typeface="Calibri"/>
                        </a:rPr>
                        <a:t>Say so in the sentence, in words</a:t>
                      </a:r>
                    </a:p>
                  </a:txBody>
                  <a:tcPr marT="25400" marB="25400"/>
                </a:tc>
              </a:tr>
              <a:tr h="384048">
                <a:tc>
                  <a:txBody>
                    <a:bodyPr/>
                    <a:lstStyle/>
                    <a:p>
                      <a:r>
                        <a:rPr sz="1400" b="0">
                          <a:solidFill>
                            <a:srgbClr val="1C1C1A"/>
                          </a:solidFill>
                          <a:latin typeface="Calibri"/>
                        </a:rPr>
                        <a:t>Did you rank groups of very different sizes</a:t>
                      </a:r>
                    </a:p>
                  </a:txBody>
                  <a:tcPr marT="25400" marB="25400"/>
                </a:tc>
                <a:tc>
                  <a:txBody>
                    <a:bodyPr/>
                    <a:lstStyle/>
                    <a:p>
                      <a:r>
                        <a:rPr sz="1400" b="0">
                          <a:solidFill>
                            <a:srgbClr val="1C1C1A"/>
                          </a:solidFill>
                          <a:latin typeface="Calibri"/>
                        </a:rPr>
                        <a:t>Say what the ranking is partly measuring</a:t>
                      </a:r>
                    </a:p>
                  </a:txBody>
                  <a:tcPr marT="25400" marB="25400"/>
                </a:tc>
              </a:tr>
              <a:tr h="384048">
                <a:tc>
                  <a:txBody>
                    <a:bodyPr/>
                    <a:lstStyle/>
                    <a:p>
                      <a:r>
                        <a:rPr sz="1400" b="0">
                          <a:solidFill>
                            <a:srgbClr val="1C1C1A"/>
                          </a:solidFill>
                          <a:latin typeface="Calibri"/>
                        </a:rPr>
                        <a:t>Is a mean quoted on a money column</a:t>
                      </a:r>
                    </a:p>
                  </a:txBody>
                  <a:tcPr marT="25400" marB="25400"/>
                </a:tc>
                <a:tc>
                  <a:txBody>
                    <a:bodyPr/>
                    <a:lstStyle/>
                    <a:p>
                      <a:r>
                        <a:rPr sz="1400" b="0">
                          <a:solidFill>
                            <a:srgbClr val="1C1C1A"/>
                          </a:solidFill>
                          <a:latin typeface="Calibri"/>
                        </a:rPr>
                        <a:t>Replace it with the median</a:t>
                      </a:r>
                    </a:p>
                  </a:txBody>
                  <a:tcPr marT="25400" marB="25400"/>
                </a:tc>
              </a:tr>
              <a:tr h="384048">
                <a:tc>
                  <a:txBody>
                    <a:bodyPr/>
                    <a:lstStyle/>
                    <a:p>
                      <a:r>
                        <a:rPr sz="1400" b="0">
                          <a:solidFill>
                            <a:srgbClr val="1C1C1A"/>
                          </a:solidFill>
                          <a:latin typeface="Calibri"/>
                        </a:rPr>
                        <a:t>Is a difference being called real</a:t>
                      </a:r>
                    </a:p>
                  </a:txBody>
                  <a:tcPr marT="25400" marB="25400"/>
                </a:tc>
                <a:tc>
                  <a:txBody>
                    <a:bodyPr/>
                    <a:lstStyle/>
                    <a:p>
                      <a:r>
                        <a:rPr sz="1400" b="0">
                          <a:solidFill>
                            <a:srgbClr val="1C1C1A"/>
                          </a:solidFill>
                          <a:latin typeface="Calibri"/>
                        </a:rPr>
                        <a:t>Park it and name what would settle it</a:t>
                      </a:r>
                    </a:p>
                  </a:txBody>
                  <a:tcPr marT="25400" marB="25400"/>
                </a:tc>
              </a:tr>
            </a:tbl>
          </a:graphicData>
        </a:graphic>
      </p:graphicFrame>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4, half two: the segment summary, and the count it rests 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pPr algn="ctr"/>
            <a:r>
              <a:rPr sz="3600" b="1">
                <a:solidFill>
                  <a:srgbClr val="FFFFFF"/>
                </a:solidFill>
                <a:latin typeface="Calibri"/>
              </a:rPr>
              <a:t>SECTION 5: THE INTERVIEW BLOCK</a:t>
            </a:r>
          </a:p>
        </p:txBody>
      </p:sp>
      <p:sp>
        <p:nvSpPr>
          <p:cNvPr id="4" name="TextBox 3"/>
          <p:cNvSpPr txBox="1"/>
          <p:nvPr/>
        </p:nvSpPr>
        <p:spPr>
          <a:xfrm>
            <a:off x="777240" y="1965960"/>
            <a:ext cx="10607040" cy="790575"/>
          </a:xfrm>
          <a:prstGeom prst="rect">
            <a:avLst/>
          </a:prstGeom>
          <a:noFill/>
        </p:spPr>
        <p:txBody>
          <a:bodyPr wrap="square">
            <a:spAutoFit/>
          </a:bodyPr>
          <a:lstStyle/>
          <a:p>
            <a:pPr algn="ctr">
              <a:spcAft>
                <a:spcPts val="1000"/>
              </a:spcAft>
            </a:pPr>
            <a:r>
              <a:rPr sz="2100" b="0">
                <a:solidFill>
                  <a:srgbClr val="FFFFFF"/>
                </a:solidFill>
                <a:latin typeface="Calibri"/>
              </a:rPr>
              <a:t>[one column] &gt; [what is typical] &gt; [what one order does] &gt; [what the shape says] &gt; </a:t>
            </a:r>
            <a:r>
              <a:rPr sz="2100" b="1">
                <a:solidFill>
                  <a:srgbClr val="FFFFFF"/>
                </a:solidFill>
                <a:latin typeface="Calibri"/>
              </a:rPr>
              <a:t>[per segment, with denominators]</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4, half two: the segment summary, and the count it rests 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Question 1: why does every rate need its denominator</a:t>
            </a:r>
          </a:p>
        </p:txBody>
      </p:sp>
      <p:sp>
        <p:nvSpPr>
          <p:cNvPr id="4" name="TextBox 3"/>
          <p:cNvSpPr txBox="1"/>
          <p:nvPr/>
        </p:nvSpPr>
        <p:spPr>
          <a:xfrm>
            <a:off x="777240" y="1965960"/>
            <a:ext cx="10607040" cy="3019425"/>
          </a:xfrm>
          <a:prstGeom prst="rect">
            <a:avLst/>
          </a:prstGeom>
          <a:noFill/>
        </p:spPr>
        <p:txBody>
          <a:bodyPr wrap="square">
            <a:spAutoFit/>
          </a:bodyPr>
          <a:lstStyle/>
          <a:p>
            <a:pPr>
              <a:spcAft>
                <a:spcPts val="1000"/>
              </a:spcAft>
            </a:pPr>
            <a:r>
              <a:rPr sz="2100" b="1">
                <a:solidFill>
                  <a:srgbClr val="1C1C1A"/>
                </a:solidFill>
                <a:latin typeface="Calibri"/>
              </a:rPr>
              <a:t>What it is really testing.</a:t>
            </a:r>
            <a:r>
              <a:rPr sz="2100" b="0">
                <a:solidFill>
                  <a:srgbClr val="1C1C1A"/>
                </a:solidFill>
                <a:latin typeface="Calibri"/>
              </a:rPr>
              <a:t> Whether you have ever been burned by a percentage, or only computed them.</a:t>
            </a:r>
          </a:p>
          <a:p>
            <a:pPr>
              <a:spcAft>
                <a:spcPts val="1000"/>
              </a:spcAft>
            </a:pPr>
            <a:r>
              <a:rPr sz="2100" b="1">
                <a:solidFill>
                  <a:srgbClr val="1C1C1A"/>
                </a:solidFill>
                <a:latin typeface="Calibri"/>
              </a:rPr>
              <a:t>The answer, in three beats.</a:t>
            </a:r>
            <a:r>
              <a:rPr sz="2100" b="0">
                <a:solidFill>
                  <a:srgbClr val="1C1C1A"/>
                </a:solidFill>
                <a:latin typeface="Calibri"/>
              </a:rPr>
              <a:t> A rate is two numbers and the convention prints one of them, so the reader cannot tell 1 of 9 from 100 of 900 and those are different claims. The denominator decides how much the number can move: one record changes a rate over nine by 11.1 points and a rate over 1,200 by 0.08. In today's table the best segment returns on 1 of 9 orders, and one more return takes it from best to fourth, so the ranking is one order deep.</a:t>
            </a:r>
          </a:p>
          <a:p>
            <a:pPr>
              <a:spcAft>
                <a:spcPts val="1000"/>
              </a:spcAft>
            </a:pPr>
            <a:r>
              <a:rPr sz="2100" b="1">
                <a:solidFill>
                  <a:srgbClr val="1C1C1A"/>
                </a:solidFill>
                <a:latin typeface="Calibri"/>
              </a:rPr>
              <a:t>The follow-up.</a:t>
            </a:r>
            <a:r>
              <a:rPr sz="2100" b="0">
                <a:solidFill>
                  <a:srgbClr val="1C1C1A"/>
                </a:solidFill>
                <a:latin typeface="Calibri"/>
              </a:rPr>
              <a:t> "How do you present it then?" The count on the same line as the number, and a sentence saying what the number does not yet support. A caveat that lives in my head gets lost between my notebook and somebody else's slide.</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4, half two: the segment summary, and the count it rests on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Question 2: your smallest segment has the best conversion rate, what do you say</a:t>
            </a:r>
          </a:p>
        </p:txBody>
      </p:sp>
      <p:sp>
        <p:nvSpPr>
          <p:cNvPr id="4" name="TextBox 3"/>
          <p:cNvSpPr txBox="1"/>
          <p:nvPr/>
        </p:nvSpPr>
        <p:spPr>
          <a:xfrm>
            <a:off x="777240" y="1965960"/>
            <a:ext cx="10607040" cy="2771775"/>
          </a:xfrm>
          <a:prstGeom prst="rect">
            <a:avLst/>
          </a:prstGeom>
          <a:noFill/>
        </p:spPr>
        <p:txBody>
          <a:bodyPr wrap="square">
            <a:spAutoFit/>
          </a:bodyPr>
          <a:lstStyle/>
          <a:p>
            <a:pPr>
              <a:spcAft>
                <a:spcPts val="1000"/>
              </a:spcAft>
            </a:pPr>
            <a:r>
              <a:rPr sz="2100" b="0">
                <a:solidFill>
                  <a:srgbClr val="1C1C1A"/>
                </a:solidFill>
                <a:latin typeface="Calibri"/>
              </a:rPr>
              <a:t>This programme's own calibration, and it is close to a real first task.</a:t>
            </a:r>
          </a:p>
          <a:p>
            <a:pPr>
              <a:spcAft>
                <a:spcPts val="1000"/>
              </a:spcAft>
            </a:pPr>
            <a:r>
              <a:rPr sz="2100" b="1">
                <a:solidFill>
                  <a:srgbClr val="1C1C1A"/>
                </a:solidFill>
                <a:latin typeface="Calibri"/>
              </a:rPr>
              <a:t>The answer.</a:t>
            </a:r>
            <a:r>
              <a:rPr sz="2100" b="0">
                <a:solidFill>
                  <a:srgbClr val="1C1C1A"/>
                </a:solidFill>
                <a:latin typeface="Calibri"/>
              </a:rPr>
              <a:t> I say it is the smallest segment and the best rate, in that order, and that I cannot yet separate those two facts. Small groups produce extreme rates in both directions with nothing causing it, so a ranking of groups of very different sizes is partly a ranking by size. I would give the count beside every rate, say how many events the leader rests on, and name what would settle it rather than pretending the data already has.</a:t>
            </a:r>
          </a:p>
          <a:p>
            <a:pPr>
              <a:spcAft>
                <a:spcPts val="1000"/>
              </a:spcAft>
            </a:pPr>
            <a:r>
              <a:rPr sz="2100" b="1">
                <a:solidFill>
                  <a:srgbClr val="1C1C1A"/>
                </a:solidFill>
                <a:latin typeface="Calibri"/>
              </a:rPr>
              <a:t>The follow-up.</a:t>
            </a:r>
            <a:r>
              <a:rPr sz="2100" b="0">
                <a:solidFill>
                  <a:srgbClr val="1C1C1A"/>
                </a:solidFill>
                <a:latin typeface="Calibri"/>
              </a:rPr>
              <a:t> "What would settle it?" A formal comparison of the two proportions, which is the method arriving on Monday, or more data on the small group, which is usually cheaper than it sounds.</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4, half two: the segment summary, and the count it rests on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Question 3: what is the difference between a count and a rate</a:t>
            </a:r>
          </a:p>
        </p:txBody>
      </p:sp>
      <p:sp>
        <p:nvSpPr>
          <p:cNvPr id="4" name="TextBox 3"/>
          <p:cNvSpPr txBox="1"/>
          <p:nvPr/>
        </p:nvSpPr>
        <p:spPr>
          <a:xfrm>
            <a:off x="777240" y="1965960"/>
            <a:ext cx="10607040" cy="1905000"/>
          </a:xfrm>
          <a:prstGeom prst="rect">
            <a:avLst/>
          </a:prstGeom>
          <a:noFill/>
        </p:spPr>
        <p:txBody>
          <a:bodyPr wrap="square">
            <a:spAutoFit/>
          </a:bodyPr>
          <a:lstStyle/>
          <a:p>
            <a:pPr>
              <a:spcAft>
                <a:spcPts val="1000"/>
              </a:spcAft>
            </a:pPr>
            <a:r>
              <a:rPr sz="2100" b="1">
                <a:solidFill>
                  <a:srgbClr val="1C1C1A"/>
                </a:solidFill>
                <a:latin typeface="Calibri"/>
              </a:rPr>
              <a:t>The answer.</a:t>
            </a:r>
            <a:r>
              <a:rPr sz="2100" b="0">
                <a:solidFill>
                  <a:srgbClr val="1C1C1A"/>
                </a:solidFill>
                <a:latin typeface="Calibri"/>
              </a:rPr>
              <a:t> A count answers how many and a rate answers how often, and they fail in opposite ways. A count is unarguable and useless for comparing groups of different sizes. A rate compares cleanly and hides how much evidence it rests on. So they travel together, which is why the table has an orders column beside the rate column.</a:t>
            </a:r>
          </a:p>
          <a:p>
            <a:pPr>
              <a:spcAft>
                <a:spcPts val="1000"/>
              </a:spcAft>
            </a:pPr>
            <a:r>
              <a:rPr sz="2100" b="1">
                <a:solidFill>
                  <a:srgbClr val="1C1C1A"/>
                </a:solidFill>
                <a:latin typeface="Calibri"/>
              </a:rPr>
              <a:t>The follow-up.</a:t>
            </a:r>
            <a:r>
              <a:rPr sz="2100" b="0">
                <a:solidFill>
                  <a:srgbClr val="1C1C1A"/>
                </a:solidFill>
                <a:latin typeface="Calibri"/>
              </a:rPr>
              <a:t> "Which do you lead with?" The rate, because it is the comparable one, with the count immediately beside it so nobody has to ask.</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4, half two: the segment summary, and the count it rests on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Question 4: you are asked for the average order value and one order is enormous</a:t>
            </a:r>
          </a:p>
        </p:txBody>
      </p:sp>
      <p:sp>
        <p:nvSpPr>
          <p:cNvPr id="4" name="TextBox 3"/>
          <p:cNvSpPr txBox="1"/>
          <p:nvPr/>
        </p:nvSpPr>
        <p:spPr>
          <a:xfrm>
            <a:off x="777240" y="1965960"/>
            <a:ext cx="10607040" cy="2524125"/>
          </a:xfrm>
          <a:prstGeom prst="rect">
            <a:avLst/>
          </a:prstGeom>
          <a:noFill/>
        </p:spPr>
        <p:txBody>
          <a:bodyPr wrap="square">
            <a:spAutoFit/>
          </a:bodyPr>
          <a:lstStyle/>
          <a:p>
            <a:pPr>
              <a:spcAft>
                <a:spcPts val="1000"/>
              </a:spcAft>
            </a:pPr>
            <a:r>
              <a:rPr sz="2100" b="0">
                <a:solidFill>
                  <a:srgbClr val="1C1C1A"/>
                </a:solidFill>
                <a:latin typeface="Calibri"/>
              </a:rPr>
              <a:t>This is half one's question arriving in the shape it actually arrives in.</a:t>
            </a:r>
          </a:p>
          <a:p>
            <a:pPr>
              <a:spcAft>
                <a:spcPts val="1000"/>
              </a:spcAft>
            </a:pPr>
            <a:r>
              <a:rPr sz="2100" b="1">
                <a:solidFill>
                  <a:srgbClr val="1C1C1A"/>
                </a:solidFill>
                <a:latin typeface="Calibri"/>
              </a:rPr>
              <a:t>The answer.</a:t>
            </a:r>
            <a:r>
              <a:rPr sz="2100" b="0">
                <a:solidFill>
                  <a:srgbClr val="1C1C1A"/>
                </a:solidFill>
                <a:latin typeface="Calibri"/>
              </a:rPr>
              <a:t> I would send the median and say that is what I sent, and I would give the count it rests on. On this file the mean is Rs 12,753.30 and one order out of forty four sits at or above it, while the median is Rs 1,910. I would also name the large order separately rather than hiding it, because it is real and it is interesting on its own.</a:t>
            </a:r>
          </a:p>
          <a:p>
            <a:pPr>
              <a:spcAft>
                <a:spcPts val="1000"/>
              </a:spcAft>
            </a:pPr>
            <a:r>
              <a:rPr sz="2100" b="1">
                <a:solidFill>
                  <a:srgbClr val="1C1C1A"/>
                </a:solidFill>
                <a:latin typeface="Calibri"/>
              </a:rPr>
              <a:t>The follow-up.</a:t>
            </a:r>
            <a:r>
              <a:rPr sz="2100" b="0">
                <a:solidFill>
                  <a:srgbClr val="1C1C1A"/>
                </a:solidFill>
                <a:latin typeface="Calibri"/>
              </a:rPr>
              <a:t> "What if they insist on the mean?" Then I give both with the counts, and I say which question each one answers. Usually the disagreement is about the question rather than the statistic.</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4, half two: the segment summary, and the count it rests on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Crux</a:t>
            </a:r>
          </a:p>
        </p:txBody>
      </p:sp>
      <p:sp>
        <p:nvSpPr>
          <p:cNvPr id="4" name="TextBox 3"/>
          <p:cNvSpPr txBox="1"/>
          <p:nvPr/>
        </p:nvSpPr>
        <p:spPr>
          <a:xfrm>
            <a:off x="777240" y="1965960"/>
            <a:ext cx="10607040" cy="2028825"/>
          </a:xfrm>
          <a:prstGeom prst="rect">
            <a:avLst/>
          </a:prstGeom>
          <a:noFill/>
        </p:spPr>
        <p:txBody>
          <a:bodyPr wrap="square">
            <a:spAutoFit/>
          </a:bodyPr>
          <a:lstStyle/>
          <a:p>
            <a:pPr>
              <a:spcAft>
                <a:spcPts val="1000"/>
              </a:spcAft>
            </a:pPr>
            <a:r>
              <a:rPr sz="2100" b="0">
                <a:solidFill>
                  <a:srgbClr val="1C1C1A"/>
                </a:solidFill>
                <a:latin typeface="Calibri"/>
              </a:rPr>
              <a:t>&gt; Every rate carries its denominator, or it lies for you while you are not in the room.</a:t>
            </a:r>
          </a:p>
          <a:p>
            <a:pPr>
              <a:spcAft>
                <a:spcPts val="1000"/>
              </a:spcAft>
            </a:pPr>
            <a:r>
              <a:rPr sz="2100" b="0">
                <a:solidFill>
                  <a:srgbClr val="1C1C1A"/>
                </a:solidFill>
                <a:latin typeface="Calibri"/>
              </a:rPr>
              <a:t>&gt; The best-performing segment in this file is also the smallest, and one order takes the lead away.</a:t>
            </a:r>
          </a:p>
          <a:p>
            <a:pPr>
              <a:spcAft>
                <a:spcPts val="1000"/>
              </a:spcAft>
            </a:pPr>
            <a:r>
              <a:rPr sz="2100" b="0">
                <a:solidFill>
                  <a:srgbClr val="1C1C1A"/>
                </a:solidFill>
                <a:latin typeface="Calibri"/>
              </a:rPr>
              <a:t>Tomorrow is Gandhi Jayanti and the institute is closed. These same orders, cleaned by you, come back as SQL tables and pandas frames in Week 2, and the summary you built by hand today becomes one line of code you will already know the answer to.</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4, half two: the segment summary, and the count it rests 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