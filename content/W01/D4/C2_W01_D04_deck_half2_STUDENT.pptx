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Half two: the segment summary, and the count it rests on</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Week 1, Day 4. Slide source. One idea per slide.</a:t>
            </a:r>
          </a:p>
          <a:p>
            <a:r>
              <a:rPr sz="2100">
                <a:solidFill>
                  <a:srgbClr val="1C1C1A"/>
                </a:solidFill>
                <a:latin typeface="Calibri"/>
              </a:rPr>
              <a:t>Position bar, repeated at every section boundary:</a:t>
            </a:r>
          </a:p>
          <a:p>
            <a:r>
              <a:rPr sz="2100">
                <a:solidFill>
                  <a:srgbClr val="1C1C1A"/>
                </a:solidFill>
                <a:latin typeface="Calibri"/>
              </a:rPr>
              <a:t>[one column] &gt; [what is typical] &gt; [what one record does] &gt; [what the shape says] &gt; [per segment, with denominators]</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Per segment, with denominators</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Half one gave you one number for the whole file. Nobody runs a business on one number.</a:t>
            </a:r>
          </a:p>
          <a:p>
            <a:r>
              <a:rPr sz="2100">
                <a:solidFill>
                  <a:srgbClr val="1C1C1A"/>
                </a:solidFill>
                <a:latin typeface="Calibri"/>
              </a:rPr>
              <a:t>The question is always the same one level down: which part of this is working, and how sure can you be.</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Where we are</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[one column] &gt; [what is typical] &gt; [what one record does] &gt; [what the shape says] &gt; [per segment, with denominators]</a:t>
            </a:r>
          </a:p>
          <a:p>
            <a:r>
              <a:rPr sz="2100">
                <a:solidFill>
                  <a:srgbClr val="1C1C1A"/>
                </a:solidFill>
                <a:latin typeface="Calibri"/>
              </a:rPr>
              <a:t>You can now pick an honest statistic for a column. Half two splits the file into groups, computes that statistic per group, and attaches the one thing that decides whether the answer means anything.</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Where this is going</a:t>
            </a:r>
          </a:p>
        </p:txBody>
      </p:sp>
      <p:sp>
        <p:nvSpPr>
          <p:cNvPr id="4" name="TextBox 3"/>
          <p:cNvSpPr txBox="1"/>
          <p:nvPr/>
        </p:nvSpPr>
        <p:spPr>
          <a:xfrm>
            <a:off x="777240" y="1965960"/>
            <a:ext cx="10607040" cy="4206240"/>
          </a:xfrm>
          <a:prstGeom prst="rect">
            <a:avLst/>
          </a:prstGeom>
          <a:noFill/>
        </p:spPr>
        <p:txBody>
          <a:bodyPr wrap="square">
            <a:spAutoFit/>
          </a:bodyPr>
          <a:lstStyle/>
          <a:p>
            <a:r>
              <a:rPr sz="1700">
                <a:solidFill>
                  <a:srgbClr val="2B4A7D"/>
                </a:solidFill>
                <a:latin typeface="Consolas"/>
              </a:rPr>
              <a:t>segment      count   median amount   accepted rate</a:t>
            </a:r>
          </a:p>
          <a:p>
            <a:r>
              <a:rPr sz="1700">
                <a:solidFill>
                  <a:srgbClr val="2B4A7D"/>
                </a:solidFill>
                <a:latin typeface="Consolas"/>
              </a:rPr>
              <a:t>segment_d       12        Rs 6,750           58.3%</a:t>
            </a:r>
          </a:p>
          <a:p>
            <a:r>
              <a:rPr sz="1700">
                <a:solidFill>
                  <a:srgbClr val="2B4A7D"/>
                </a:solidFill>
                <a:latin typeface="Consolas"/>
              </a:rPr>
              <a:t>segment_c        6        Rs 6,800           50.0%</a:t>
            </a:r>
          </a:p>
          <a:p>
            <a:r>
              <a:rPr sz="1700">
                <a:solidFill>
                  <a:srgbClr val="2B4A7D"/>
                </a:solidFill>
                <a:latin typeface="Consolas"/>
              </a:rPr>
              <a:t>segment_a       20        Rs 7,950           45.0%</a:t>
            </a:r>
          </a:p>
          <a:p>
            <a:r>
              <a:rPr sz="1700">
                <a:solidFill>
                  <a:srgbClr val="2B4A7D"/>
                </a:solidFill>
                <a:latin typeface="Consolas"/>
              </a:rPr>
              <a:t>segment_b        9        Rs 8,000           44.4%</a:t>
            </a:r>
          </a:p>
          <a:p>
            <a:r>
              <a:rPr sz="2100">
                <a:solidFill>
                  <a:srgbClr val="1C1C1A"/>
                </a:solidFill>
                <a:latin typeface="Calibri"/>
              </a:rPr>
              <a:t>You will have built this inside the hour. Then you will spend the rest of the session refusing to send it as it stands.</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FFFFFF"/>
                </a:solidFill>
                <a:latin typeface="Calibri"/>
              </a:rPr>
              <a:t>SECTION 1: THE DENOMINATOR</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FFFFFF"/>
                </a:solidFill>
                <a:latin typeface="Calibri"/>
              </a:rPr>
              <a:t>[one column] &gt; [what is typical] &gt; [what one record does] &gt; [what the shape says] &gt; [per segment, with denominators]</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One rate, two files</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Two segments in two different companies, same reported number:</a:t>
            </a:r>
          </a:p>
          <a:p>
            <a:r>
              <a:rPr sz="1700">
                <a:solidFill>
                  <a:srgbClr val="2B4A7D"/>
                </a:solidFill>
                <a:latin typeface="Consolas"/>
              </a:rPr>
              <a:t>segment X:   accepted 5 of 12          41.7%</a:t>
            </a:r>
          </a:p>
          <a:p>
            <a:r>
              <a:rPr sz="1700">
                <a:solidFill>
                  <a:srgbClr val="2B4A7D"/>
                </a:solidFill>
                <a:latin typeface="Consolas"/>
              </a:rPr>
              <a:t>segment Y:   accepted 500 of 1200      41.7%</a:t>
            </a:r>
          </a:p>
          <a:p>
            <a:r>
              <a:rPr sz="2100">
                <a:solidFill>
                  <a:srgbClr val="1C1C1A"/>
                </a:solidFill>
                <a:latin typeface="Calibri"/>
              </a:rPr>
              <a:t>Identical rates. Which one would you build a quarter's plan on?</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Why the small one moves</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In the 12-record segment, one record changing its outcome moves the rate by 8.3 points.</a:t>
            </a:r>
          </a:p>
          <a:p>
            <a:r>
              <a:rPr sz="2100">
                <a:solidFill>
                  <a:srgbClr val="1C1C1A"/>
                </a:solidFill>
                <a:latin typeface="Calibri"/>
              </a:rPr>
              <a:t>In the 1,200-record segment, one record moves it by 0.08 points.</a:t>
            </a:r>
          </a:p>
          <a:p>
            <a:r>
              <a:rPr sz="2100">
                <a:solidFill>
                  <a:srgbClr val="1C1C1A"/>
                </a:solidFill>
                <a:latin typeface="Calibri"/>
              </a:rPr>
              <a:t>The small segment is not wrong. It is loud. Its number swings on evidence too thin to swing on, and next month it will report something different for no reason you can name.</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What a rate actually is</a:t>
            </a:r>
          </a:p>
        </p:txBody>
      </p:sp>
      <p:sp>
        <p:nvSpPr>
          <p:cNvPr id="4" name="TextBox 3"/>
          <p:cNvSpPr txBox="1"/>
          <p:nvPr/>
        </p:nvSpPr>
        <p:spPr>
          <a:xfrm>
            <a:off x="777240" y="1965960"/>
            <a:ext cx="10607040" cy="4206240"/>
          </a:xfrm>
          <a:prstGeom prst="rect">
            <a:avLst/>
          </a:prstGeom>
          <a:noFill/>
        </p:spPr>
        <p:txBody>
          <a:bodyPr wrap="square">
            <a:spAutoFit/>
          </a:bodyPr>
          <a:lstStyle/>
          <a:p>
            <a:r>
              <a:rPr sz="1700">
                <a:solidFill>
                  <a:srgbClr val="2B4A7D"/>
                </a:solidFill>
                <a:latin typeface="Consolas"/>
              </a:rPr>
              <a:t>rate = how many did the thing  /  how many could have</a:t>
            </a:r>
          </a:p>
          <a:p>
            <a:r>
              <a:rPr sz="2100">
                <a:solidFill>
                  <a:srgbClr val="1C1C1A"/>
                </a:solidFill>
                <a:latin typeface="Calibri"/>
              </a:rPr>
              <a:t>Two numbers, and the reporting convention throws one of them away.</a:t>
            </a:r>
          </a:p>
          <a:p>
            <a:r>
              <a:rPr sz="2100">
                <a:solidFill>
                  <a:srgbClr val="1C1C1A"/>
                </a:solidFill>
                <a:latin typeface="Calibri"/>
              </a:rPr>
              <a:t>Every argument in this section comes from the thrown-away number.</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The rule</a:t>
            </a:r>
          </a:p>
        </p:txBody>
      </p:sp>
      <p:sp>
        <p:nvSpPr>
          <p:cNvPr id="4" name="TextBox 3"/>
          <p:cNvSpPr txBox="1"/>
          <p:nvPr/>
        </p:nvSpPr>
        <p:spPr>
          <a:xfrm>
            <a:off x="777240" y="1965960"/>
            <a:ext cx="10607040" cy="4206240"/>
          </a:xfrm>
          <a:prstGeom prst="rect">
            <a:avLst/>
          </a:prstGeom>
          <a:noFill/>
        </p:spPr>
        <p:txBody>
          <a:bodyPr wrap="square">
            <a:spAutoFit/>
          </a:bodyPr>
          <a:lstStyle/>
          <a:p>
            <a:r>
              <a:rPr sz="2100" b="1">
                <a:solidFill>
                  <a:srgbClr val="1C1C1A"/>
                </a:solidFill>
                <a:latin typeface="Calibri"/>
              </a:rPr>
              <a:t>&gt; A rate travels with its denominator or it does not travel.</a:t>
            </a:r>
          </a:p>
          <a:p>
            <a:r>
              <a:rPr sz="2100">
                <a:solidFill>
                  <a:srgbClr val="1C1C1A"/>
                </a:solidFill>
                <a:latin typeface="Calibri"/>
              </a:rPr>
              <a:t>Write it as 58.3 percent of 12 and nobody can misread it. Write it as 58.3 percent and everybody will.</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FFFFFF"/>
                </a:solidFill>
                <a:latin typeface="Calibri"/>
              </a:rPr>
              <a:t>SECTION 2: THE ACCUMULATOR</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FFFFFF"/>
                </a:solidFill>
                <a:latin typeface="Calibri"/>
              </a:rPr>
              <a:t>[one column] &gt; [what is typical] &gt; [what one record does] &gt; [what the shape says] &gt; [per segment, with denominators]</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Counting into buckets</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Monday you counted records that passed a test. Today you count them into named piles, one pile per segment.</a:t>
            </a:r>
          </a:p>
          <a:p>
            <a:r>
              <a:rPr sz="1700">
                <a:solidFill>
                  <a:srgbClr val="2B4A7D"/>
                </a:solidFill>
                <a:latin typeface="Consolas"/>
              </a:rPr>
              <a:t>counts = {"segment_a": 0, "segment_b": 0, "segment_c": 0}</a:t>
            </a:r>
          </a:p>
          <a:p>
            <a:r>
              <a:rPr sz="1700">
                <a:solidFill>
                  <a:srgbClr val="2B4A7D"/>
                </a:solidFill>
                <a:latin typeface="Consolas"/>
              </a:rPr>
              <a:t/>
            </a:r>
          </a:p>
          <a:p>
            <a:r>
              <a:rPr sz="1700">
                <a:solidFill>
                  <a:srgbClr val="2B4A7D"/>
                </a:solidFill>
                <a:latin typeface="Consolas"/>
              </a:rPr>
              <a:t>for r in records:</a:t>
            </a:r>
          </a:p>
          <a:p>
            <a:r>
              <a:rPr sz="1700">
                <a:solidFill>
                  <a:srgbClr val="2B4A7D"/>
                </a:solidFill>
                <a:latin typeface="Consolas"/>
              </a:rPr>
              <a:t>    counts[r["segment"]] = counts[r["segment"]] + 1</a:t>
            </a:r>
          </a:p>
          <a:p>
            <a:r>
              <a:rPr sz="2100">
                <a:solidFill>
                  <a:srgbClr val="1C1C1A"/>
                </a:solidFill>
                <a:latin typeface="Calibri"/>
              </a:rPr>
              <a:t>Reasonable code. The trainer listed the segments they remembered.</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Run it</a:t>
            </a:r>
          </a:p>
        </p:txBody>
      </p:sp>
      <p:sp>
        <p:nvSpPr>
          <p:cNvPr id="4" name="TextBox 3"/>
          <p:cNvSpPr txBox="1"/>
          <p:nvPr/>
        </p:nvSpPr>
        <p:spPr>
          <a:xfrm>
            <a:off x="777240" y="1965960"/>
            <a:ext cx="10607040" cy="4206240"/>
          </a:xfrm>
          <a:prstGeom prst="rect">
            <a:avLst/>
          </a:prstGeom>
          <a:noFill/>
        </p:spPr>
        <p:txBody>
          <a:bodyPr wrap="square">
            <a:spAutoFit/>
          </a:bodyPr>
          <a:lstStyle/>
          <a:p>
            <a:r>
              <a:rPr sz="1700">
                <a:solidFill>
                  <a:srgbClr val="2B4A7D"/>
                </a:solidFill>
                <a:latin typeface="Consolas"/>
              </a:rPr>
              <a:t>KeyError: 'segment_d'</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Reading it</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KeyError means a dictionary was asked for a key it does not hold. The key it did not hold is printed for you: segment_d.</a:t>
            </a:r>
          </a:p>
          <a:p>
            <a:r>
              <a:rPr sz="2100">
                <a:solidFill>
                  <a:srgbClr val="1C1C1A"/>
                </a:solidFill>
                <a:latin typeface="Calibri"/>
              </a:rPr>
              <a:t>The dictionary held three segments because a person typed three segments. The file holds four.</a:t>
            </a:r>
          </a:p>
          <a:p>
            <a:r>
              <a:rPr sz="2100">
                <a:solidFill>
                  <a:srgbClr val="1C1C1A"/>
                </a:solidFill>
                <a:latin typeface="Calibri"/>
              </a:rPr>
              <a:t>Every hard-coded list of categories is a promise about data you have not read yet.</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Build the key when you first see it</a:t>
            </a:r>
          </a:p>
        </p:txBody>
      </p:sp>
      <p:sp>
        <p:nvSpPr>
          <p:cNvPr id="4" name="TextBox 3"/>
          <p:cNvSpPr txBox="1"/>
          <p:nvPr/>
        </p:nvSpPr>
        <p:spPr>
          <a:xfrm>
            <a:off x="777240" y="1965960"/>
            <a:ext cx="10607040" cy="4206240"/>
          </a:xfrm>
          <a:prstGeom prst="rect">
            <a:avLst/>
          </a:prstGeom>
          <a:noFill/>
        </p:spPr>
        <p:txBody>
          <a:bodyPr wrap="square">
            <a:spAutoFit/>
          </a:bodyPr>
          <a:lstStyle/>
          <a:p>
            <a:r>
              <a:rPr sz="1700">
                <a:solidFill>
                  <a:srgbClr val="2B4A7D"/>
                </a:solidFill>
                <a:latin typeface="Consolas"/>
              </a:rPr>
              <a:t>counts = {}</a:t>
            </a:r>
          </a:p>
          <a:p>
            <a:r>
              <a:rPr sz="1700">
                <a:solidFill>
                  <a:srgbClr val="2B4A7D"/>
                </a:solidFill>
                <a:latin typeface="Consolas"/>
              </a:rPr>
              <a:t/>
            </a:r>
          </a:p>
          <a:p>
            <a:r>
              <a:rPr sz="1700">
                <a:solidFill>
                  <a:srgbClr val="2B4A7D"/>
                </a:solidFill>
                <a:latin typeface="Consolas"/>
              </a:rPr>
              <a:t>for r in records:</a:t>
            </a:r>
          </a:p>
          <a:p>
            <a:r>
              <a:rPr sz="1700">
                <a:solidFill>
                  <a:srgbClr val="2B4A7D"/>
                </a:solidFill>
                <a:latin typeface="Consolas"/>
              </a:rPr>
              <a:t>    key = r["segment"]</a:t>
            </a:r>
          </a:p>
          <a:p>
            <a:r>
              <a:rPr sz="1700">
                <a:solidFill>
                  <a:srgbClr val="2B4A7D"/>
                </a:solidFill>
                <a:latin typeface="Consolas"/>
              </a:rPr>
              <a:t>    if key not in counts:</a:t>
            </a:r>
          </a:p>
          <a:p>
            <a:r>
              <a:rPr sz="1700">
                <a:solidFill>
                  <a:srgbClr val="2B4A7D"/>
                </a:solidFill>
                <a:latin typeface="Consolas"/>
              </a:rPr>
              <a:t>        counts[key] = 0</a:t>
            </a:r>
          </a:p>
          <a:p>
            <a:r>
              <a:rPr sz="1700">
                <a:solidFill>
                  <a:srgbClr val="2B4A7D"/>
                </a:solidFill>
                <a:latin typeface="Consolas"/>
              </a:rPr>
              <a:t>    counts[key] = counts[key] + 1</a:t>
            </a:r>
          </a:p>
          <a:p>
            <a:r>
              <a:rPr sz="2100">
                <a:solidFill>
                  <a:srgbClr val="1C1C1A"/>
                </a:solidFill>
                <a:latin typeface="Calibri"/>
              </a:rPr>
              <a:t>Three lines instead of one declaration, and the code now works on a file with segments nobody told you about.</a:t>
            </a:r>
          </a:p>
          <a:p>
            <a:r>
              <a:rPr sz="2100">
                <a:solidFill>
                  <a:srgbClr val="1C1C1A"/>
                </a:solidFill>
                <a:latin typeface="Calibri"/>
              </a:rPr>
              <a:t>The same shape written shorter, which you will meet again in Week 2:</a:t>
            </a:r>
          </a:p>
          <a:p>
            <a:r>
              <a:rPr sz="1700">
                <a:solidFill>
                  <a:srgbClr val="2B4A7D"/>
                </a:solidFill>
                <a:latin typeface="Consolas"/>
              </a:rPr>
              <a:t>counts[key] = counts.get(key, 0) + 1</a:t>
            </a:r>
          </a:p>
          <a:p>
            <a:r>
              <a:rPr sz="2100">
                <a:solidFill>
                  <a:srgbClr val="1C1C1A"/>
                </a:solidFill>
                <a:latin typeface="Calibri"/>
              </a:rPr>
              <a:t>That is Monday's .get() with a default, doing exactly what it did on Monday.</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The fixed count</a:t>
            </a:r>
          </a:p>
        </p:txBody>
      </p:sp>
      <p:sp>
        <p:nvSpPr>
          <p:cNvPr id="4" name="TextBox 3"/>
          <p:cNvSpPr txBox="1"/>
          <p:nvPr/>
        </p:nvSpPr>
        <p:spPr>
          <a:xfrm>
            <a:off x="777240" y="1965960"/>
            <a:ext cx="10607040" cy="4206240"/>
          </a:xfrm>
          <a:prstGeom prst="rect">
            <a:avLst/>
          </a:prstGeom>
          <a:noFill/>
        </p:spPr>
        <p:txBody>
          <a:bodyPr wrap="square">
            <a:spAutoFit/>
          </a:bodyPr>
          <a:lstStyle/>
          <a:p>
            <a:r>
              <a:rPr sz="1700">
                <a:solidFill>
                  <a:srgbClr val="2B4A7D"/>
                </a:solidFill>
                <a:latin typeface="Consolas"/>
              </a:rPr>
              <a:t>segment_a: 20</a:t>
            </a:r>
          </a:p>
          <a:p>
            <a:r>
              <a:rPr sz="1700">
                <a:solidFill>
                  <a:srgbClr val="2B4A7D"/>
                </a:solidFill>
                <a:latin typeface="Consolas"/>
              </a:rPr>
              <a:t>segment_b: 9</a:t>
            </a:r>
          </a:p>
          <a:p>
            <a:r>
              <a:rPr sz="1700">
                <a:solidFill>
                  <a:srgbClr val="2B4A7D"/>
                </a:solidFill>
                <a:latin typeface="Consolas"/>
              </a:rPr>
              <a:t>segment_c: 6</a:t>
            </a:r>
          </a:p>
          <a:p>
            <a:r>
              <a:rPr sz="1700">
                <a:solidFill>
                  <a:srgbClr val="2B4A7D"/>
                </a:solidFill>
                <a:latin typeface="Consolas"/>
              </a:rPr>
              <a:t>segment_d: 12</a:t>
            </a:r>
          </a:p>
          <a:p>
            <a:r>
              <a:rPr sz="1700">
                <a:solidFill>
                  <a:srgbClr val="2B4A7D"/>
                </a:solidFill>
                <a:latin typeface="Consolas"/>
              </a:rPr>
              <a:t>        total: 47</a:t>
            </a:r>
          </a:p>
          <a:p>
            <a:r>
              <a:rPr sz="2100">
                <a:solidFill>
                  <a:srgbClr val="1C1C1A"/>
                </a:solidFill>
                <a:latin typeface="Calibri"/>
              </a:rPr>
              <a:t>The total matches your cleaned record count. If it did not, you would have a bug and the last line is how you would know.</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FFFFFF"/>
                </a:solidFill>
                <a:latin typeface="Calibri"/>
              </a:rPr>
              <a:t>SECTION 3: THE SEGMENT SUMMARY</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FFFFFF"/>
                </a:solidFill>
                <a:latin typeface="Calibri"/>
              </a:rPr>
              <a:t>[one column] &gt; [what is typical] &gt; [what one record does] &gt; [what the shape says] &gt; [per segment, with denominators]</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Three accumulators, one pass</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Per segment you need three things: how many records, what a typical amount looks like, and what share were accepted.</a:t>
            </a:r>
          </a:p>
          <a:p>
            <a:r>
              <a:rPr sz="1700">
                <a:solidFill>
                  <a:srgbClr val="2B4A7D"/>
                </a:solidFill>
                <a:latin typeface="Consolas"/>
              </a:rPr>
              <a:t>per_segment[key] = {</a:t>
            </a:r>
          </a:p>
          <a:p>
            <a:r>
              <a:rPr sz="1700">
                <a:solidFill>
                  <a:srgbClr val="2B4A7D"/>
                </a:solidFill>
                <a:latin typeface="Consolas"/>
              </a:rPr>
              <a:t>    "count":    how many records landed here,</a:t>
            </a:r>
          </a:p>
          <a:p>
            <a:r>
              <a:rPr sz="1700">
                <a:solidFill>
                  <a:srgbClr val="2B4A7D"/>
                </a:solidFill>
                <a:latin typeface="Consolas"/>
              </a:rPr>
              <a:t>    "amounts":  every amount, collected so the median can be taken at the end,</a:t>
            </a:r>
          </a:p>
          <a:p>
            <a:r>
              <a:rPr sz="1700">
                <a:solidFill>
                  <a:srgbClr val="2B4A7D"/>
                </a:solidFill>
                <a:latin typeface="Consolas"/>
              </a:rPr>
              <a:t>    "accepted": how many had outcome "accepted",</a:t>
            </a:r>
          </a:p>
          <a:p>
            <a:r>
              <a:rPr sz="1700">
                <a:solidFill>
                  <a:srgbClr val="2B4A7D"/>
                </a:solidFill>
                <a:latin typeface="Consolas"/>
              </a:rPr>
              <a:t>}</a:t>
            </a:r>
          </a:p>
          <a:p>
            <a:r>
              <a:rPr sz="2100">
                <a:solidFill>
                  <a:srgbClr val="1C1C1A"/>
                </a:solidFill>
                <a:latin typeface="Calibri"/>
              </a:rPr>
              <a:t>The median cannot be accumulated one record at a time. It needs the whole list sorted, so the list is collected during the pass and the median is taken after it.</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The table</a:t>
            </a:r>
          </a:p>
        </p:txBody>
      </p:sp>
      <p:sp>
        <p:nvSpPr>
          <p:cNvPr id="4" name="TextBox 3"/>
          <p:cNvSpPr txBox="1"/>
          <p:nvPr/>
        </p:nvSpPr>
        <p:spPr>
          <a:xfrm>
            <a:off x="777240" y="1965960"/>
            <a:ext cx="10607040" cy="4206240"/>
          </a:xfrm>
          <a:prstGeom prst="rect">
            <a:avLst/>
          </a:prstGeom>
          <a:noFill/>
        </p:spPr>
        <p:txBody>
          <a:bodyPr wrap="square">
            <a:spAutoFit/>
          </a:bodyPr>
          <a:lstStyle/>
          <a:p>
            <a:r>
              <a:rPr sz="1700">
                <a:solidFill>
                  <a:srgbClr val="2B4A7D"/>
                </a:solidFill>
                <a:latin typeface="Consolas"/>
              </a:rPr>
              <a:t>segment      count   median amount   accepted   rate</a:t>
            </a:r>
          </a:p>
          <a:p>
            <a:r>
              <a:rPr sz="1700">
                <a:solidFill>
                  <a:srgbClr val="2B4A7D"/>
                </a:solidFill>
                <a:latin typeface="Consolas"/>
              </a:rPr>
              <a:t>segment_a       20        Rs 7,950          9   45.0%</a:t>
            </a:r>
          </a:p>
          <a:p>
            <a:r>
              <a:rPr sz="1700">
                <a:solidFill>
                  <a:srgbClr val="2B4A7D"/>
                </a:solidFill>
                <a:latin typeface="Consolas"/>
              </a:rPr>
              <a:t>segment_b        9        Rs 8,000          4   44.4%</a:t>
            </a:r>
          </a:p>
          <a:p>
            <a:r>
              <a:rPr sz="1700">
                <a:solidFill>
                  <a:srgbClr val="2B4A7D"/>
                </a:solidFill>
                <a:latin typeface="Consolas"/>
              </a:rPr>
              <a:t>segment_c        6        Rs 6,800          3   50.0%</a:t>
            </a:r>
          </a:p>
          <a:p>
            <a:r>
              <a:rPr sz="1700">
                <a:solidFill>
                  <a:srgbClr val="2B4A7D"/>
                </a:solidFill>
                <a:latin typeface="Consolas"/>
              </a:rPr>
              <a:t>segment_d       12        Rs 6,750          7   58.3%</a:t>
            </a:r>
          </a:p>
          <a:p>
            <a:r>
              <a:rPr sz="2100">
                <a:solidFill>
                  <a:srgbClr val="1C1C1A"/>
                </a:solidFill>
                <a:latin typeface="Calibri"/>
              </a:rPr>
              <a:t>Note what is absent from every row: the mean. Half one settled that.</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Sort by rate, the way anyone would</a:t>
            </a:r>
          </a:p>
        </p:txBody>
      </p:sp>
      <p:sp>
        <p:nvSpPr>
          <p:cNvPr id="4" name="TextBox 3"/>
          <p:cNvSpPr txBox="1"/>
          <p:nvPr/>
        </p:nvSpPr>
        <p:spPr>
          <a:xfrm>
            <a:off x="777240" y="1965960"/>
            <a:ext cx="10607040" cy="4206240"/>
          </a:xfrm>
          <a:prstGeom prst="rect">
            <a:avLst/>
          </a:prstGeom>
          <a:noFill/>
        </p:spPr>
        <p:txBody>
          <a:bodyPr wrap="square">
            <a:spAutoFit/>
          </a:bodyPr>
          <a:lstStyle/>
          <a:p>
            <a:r>
              <a:rPr sz="1700">
                <a:solidFill>
                  <a:srgbClr val="2B4A7D"/>
                </a:solidFill>
                <a:latin typeface="Consolas"/>
              </a:rPr>
              <a:t>segment_d   58.3%</a:t>
            </a:r>
          </a:p>
          <a:p>
            <a:r>
              <a:rPr sz="1700">
                <a:solidFill>
                  <a:srgbClr val="2B4A7D"/>
                </a:solidFill>
                <a:latin typeface="Consolas"/>
              </a:rPr>
              <a:t>segment_c   50.0%</a:t>
            </a:r>
          </a:p>
          <a:p>
            <a:r>
              <a:rPr sz="1700">
                <a:solidFill>
                  <a:srgbClr val="2B4A7D"/>
                </a:solidFill>
                <a:latin typeface="Consolas"/>
              </a:rPr>
              <a:t>segment_a   45.0%</a:t>
            </a:r>
          </a:p>
          <a:p>
            <a:r>
              <a:rPr sz="1700">
                <a:solidFill>
                  <a:srgbClr val="2B4A7D"/>
                </a:solidFill>
                <a:latin typeface="Consolas"/>
              </a:rPr>
              <a:t>segment_b   44.4%</a:t>
            </a:r>
          </a:p>
          <a:p>
            <a:r>
              <a:rPr sz="2100">
                <a:solidFill>
                  <a:srgbClr val="1C1C1A"/>
                </a:solidFill>
                <a:latin typeface="Calibri"/>
              </a:rPr>
              <a:t>A clean ranking. segment_d is the winner by more than eight points.</a:t>
            </a:r>
          </a:p>
          <a:p>
            <a:r>
              <a:rPr sz="2100">
                <a:solidFill>
                  <a:srgbClr val="1C1C1A"/>
                </a:solidFill>
                <a:latin typeface="Calibri"/>
              </a:rPr>
              <a:t>Somebody in a meeting is about to move budget.</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Put the count back</a:t>
            </a:r>
          </a:p>
        </p:txBody>
      </p:sp>
      <p:sp>
        <p:nvSpPr>
          <p:cNvPr id="4" name="TextBox 3"/>
          <p:cNvSpPr txBox="1"/>
          <p:nvPr/>
        </p:nvSpPr>
        <p:spPr>
          <a:xfrm>
            <a:off x="777240" y="1965960"/>
            <a:ext cx="10607040" cy="4206240"/>
          </a:xfrm>
          <a:prstGeom prst="rect">
            <a:avLst/>
          </a:prstGeom>
          <a:noFill/>
        </p:spPr>
        <p:txBody>
          <a:bodyPr wrap="square">
            <a:spAutoFit/>
          </a:bodyPr>
          <a:lstStyle/>
          <a:p>
            <a:r>
              <a:rPr sz="1700">
                <a:solidFill>
                  <a:srgbClr val="2B4A7D"/>
                </a:solidFill>
                <a:latin typeface="Consolas"/>
              </a:rPr>
              <a:t>segment_d   58.3%   on 12 records</a:t>
            </a:r>
          </a:p>
          <a:p>
            <a:r>
              <a:rPr sz="1700">
                <a:solidFill>
                  <a:srgbClr val="2B4A7D"/>
                </a:solidFill>
                <a:latin typeface="Consolas"/>
              </a:rPr>
              <a:t>segment_c   50.0%   on  6 records</a:t>
            </a:r>
          </a:p>
          <a:p>
            <a:r>
              <a:rPr sz="1700">
                <a:solidFill>
                  <a:srgbClr val="2B4A7D"/>
                </a:solidFill>
                <a:latin typeface="Consolas"/>
              </a:rPr>
              <a:t>segment_a   45.0%   on 20 records</a:t>
            </a:r>
          </a:p>
          <a:p>
            <a:r>
              <a:rPr sz="1700">
                <a:solidFill>
                  <a:srgbClr val="2B4A7D"/>
                </a:solidFill>
                <a:latin typeface="Consolas"/>
              </a:rPr>
              <a:t>segment_b   44.4%   on  9 records</a:t>
            </a:r>
          </a:p>
          <a:p>
            <a:r>
              <a:rPr sz="2100">
                <a:solidFill>
                  <a:srgbClr val="1C1C1A"/>
                </a:solidFill>
                <a:latin typeface="Calibri"/>
              </a:rPr>
              <a:t>The top two performers are the two smallest segments in the file.</a:t>
            </a:r>
          </a:p>
          <a:p>
            <a:r>
              <a:rPr sz="2100">
                <a:solidFill>
                  <a:srgbClr val="1C1C1A"/>
                </a:solidFill>
                <a:latin typeface="Calibri"/>
              </a:rPr>
              <a:t>segment_d's lead over segment_a is 13.3 points and rests on 12 records. Move two of those records and the lead is gone.</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What the ranking was measuring</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Small groups produce extreme rates in both directions, every time, in any dataset, with no cause behind it at all.</a:t>
            </a:r>
          </a:p>
          <a:p>
            <a:r>
              <a:rPr sz="2100">
                <a:solidFill>
                  <a:srgbClr val="1C1C1A"/>
                </a:solidFill>
                <a:latin typeface="Calibri"/>
              </a:rPr>
              <a:t>Rank any set of groups by a rate and the smallest groups drift to both ends of the list. The ranking is reading group size as much as it is reading performance.</a:t>
            </a:r>
          </a:p>
          <a:p>
            <a:r>
              <a:rPr sz="2100">
                <a:solidFill>
                  <a:srgbClr val="1C1C1A"/>
                </a:solidFill>
                <a:latin typeface="Calibri"/>
              </a:rPr>
              <a:t>The fix is not a cleverer statistic. It is the column you already have.</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FFFFFF"/>
                </a:solidFill>
                <a:latin typeface="Calibri"/>
              </a:rPr>
              <a:t>SECTION 4: THE HONEST SENTENCE</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FFFFFF"/>
                </a:solidFill>
                <a:latin typeface="Calibri"/>
              </a:rPr>
              <a:t>[one column] &gt; [what is typical] &gt; [what one record does] &gt; [what the shape says] &gt; [per segment, with denominators]</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The shape of the sentence</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Three parts, in this order, every time:</a:t>
            </a:r>
          </a:p>
          <a:p>
            <a:r>
              <a:rPr sz="1700">
                <a:solidFill>
                  <a:srgbClr val="2B4A7D"/>
                </a:solidFill>
                <a:latin typeface="Consolas"/>
              </a:rPr>
              <a:t>[the number]   [the denominator]   [what it does not yet support]</a:t>
            </a:r>
          </a:p>
          <a:p>
            <a:r>
              <a:rPr sz="2100">
                <a:solidFill>
                  <a:srgbClr val="1C1C1A"/>
                </a:solidFill>
                <a:latin typeface="Calibri"/>
              </a:rPr>
              <a:t>Leaving out the third part is how a caveat gets lost between your notebook and a slide somebody else builds.</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Four sentences, one per segment</a:t>
            </a:r>
          </a:p>
        </p:txBody>
      </p:sp>
      <p:sp>
        <p:nvSpPr>
          <p:cNvPr id="4" name="TextBox 3"/>
          <p:cNvSpPr txBox="1"/>
          <p:nvPr/>
        </p:nvSpPr>
        <p:spPr>
          <a:xfrm>
            <a:off x="777240" y="1965960"/>
            <a:ext cx="10607040" cy="4206240"/>
          </a:xfrm>
          <a:prstGeom prst="rect">
            <a:avLst/>
          </a:prstGeom>
          <a:noFill/>
        </p:spPr>
        <p:txBody>
          <a:bodyPr wrap="square">
            <a:spAutoFit/>
          </a:bodyPr>
          <a:lstStyle/>
          <a:p>
            <a:r>
              <a:rPr sz="1700">
                <a:solidFill>
                  <a:srgbClr val="2B4A7D"/>
                </a:solidFill>
                <a:latin typeface="Consolas"/>
              </a:rPr>
              <a:t>segment_a: accepted on 9 of 20 records, 45.0 percent. The largest segment</a:t>
            </a:r>
          </a:p>
          <a:p>
            <a:r>
              <a:rPr sz="1700">
                <a:solidFill>
                  <a:srgbClr val="2B4A7D"/>
                </a:solidFill>
                <a:latin typeface="Consolas"/>
              </a:rPr>
              <a:t>           in the file and the steadiest number here.</a:t>
            </a:r>
          </a:p>
          <a:p>
            <a:r>
              <a:rPr sz="1700">
                <a:solidFill>
                  <a:srgbClr val="2B4A7D"/>
                </a:solidFill>
                <a:latin typeface="Consolas"/>
              </a:rPr>
              <a:t/>
            </a:r>
          </a:p>
          <a:p>
            <a:r>
              <a:rPr sz="1700">
                <a:solidFill>
                  <a:srgbClr val="2B4A7D"/>
                </a:solidFill>
                <a:latin typeface="Consolas"/>
              </a:rPr>
              <a:t>segment_b: accepted on 4 of 9 records, 44.4 percent. Median order Rs 8,000;</a:t>
            </a:r>
          </a:p>
          <a:p>
            <a:r>
              <a:rPr sz="1700">
                <a:solidFill>
                  <a:srgbClr val="2B4A7D"/>
                </a:solidFill>
                <a:latin typeface="Consolas"/>
              </a:rPr>
              <a:t>           the mean of Rs 60,255.56 is one order and should not be quoted.</a:t>
            </a:r>
          </a:p>
          <a:p>
            <a:r>
              <a:rPr sz="1700">
                <a:solidFill>
                  <a:srgbClr val="2B4A7D"/>
                </a:solidFill>
                <a:latin typeface="Consolas"/>
              </a:rPr>
              <a:t/>
            </a:r>
          </a:p>
          <a:p>
            <a:r>
              <a:rPr sz="1700">
                <a:solidFill>
                  <a:srgbClr val="2B4A7D"/>
                </a:solidFill>
                <a:latin typeface="Consolas"/>
              </a:rPr>
              <a:t>segment_c: accepted on 3 of 6 records, 50.0 percent. Six records support</a:t>
            </a:r>
          </a:p>
          <a:p>
            <a:r>
              <a:rPr sz="1700">
                <a:solidFill>
                  <a:srgbClr val="2B4A7D"/>
                </a:solidFill>
                <a:latin typeface="Consolas"/>
              </a:rPr>
              <a:t>           nothing; treat as unmeasured.</a:t>
            </a:r>
          </a:p>
          <a:p>
            <a:r>
              <a:rPr sz="1700">
                <a:solidFill>
                  <a:srgbClr val="2B4A7D"/>
                </a:solidFill>
                <a:latin typeface="Consolas"/>
              </a:rPr>
              <a:t/>
            </a:r>
          </a:p>
          <a:p>
            <a:r>
              <a:rPr sz="1700">
                <a:solidFill>
                  <a:srgbClr val="2B4A7D"/>
                </a:solidFill>
                <a:latin typeface="Consolas"/>
              </a:rPr>
              <a:t>segment_d: accepted on 7 of 12 records, 58.3 percent. Highest in the file</a:t>
            </a:r>
          </a:p>
          <a:p>
            <a:r>
              <a:rPr sz="1700">
                <a:solidFill>
                  <a:srgbClr val="2B4A7D"/>
                </a:solidFill>
                <a:latin typeface="Consolas"/>
              </a:rPr>
              <a:t>           and resting on twelve records; two different outcomes erase</a:t>
            </a:r>
          </a:p>
          <a:p>
            <a:r>
              <a:rPr sz="1700">
                <a:solidFill>
                  <a:srgbClr val="2B4A7D"/>
                </a:solidFill>
                <a:latin typeface="Consolas"/>
              </a:rPr>
              <a:t>           the lead.</a:t>
            </a:r>
          </a:p>
          <a:p>
            <a:r>
              <a:rPr sz="2100">
                <a:solidFill>
                  <a:srgbClr val="1C1C1A"/>
                </a:solidFill>
                <a:latin typeface="Calibri"/>
              </a:rPr>
              <a:t>Every sentence carries its denominator. Two of them refuse to make a claim, which is the sentence doing its job.</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The convention this follows</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segment_b's mean order value is Rs 60,255.56. Its median is Rs 8,000. One record separates those.</a:t>
            </a:r>
          </a:p>
          <a:p>
            <a:r>
              <a:rPr sz="2100">
                <a:solidFill>
                  <a:srgbClr val="1C1C1A"/>
                </a:solidFill>
                <a:latin typeface="Calibri"/>
              </a:rPr>
              <a:t>Reporting the median for money is the standing convention wherever a few very large values sit in a long tail, which is why national statistics report median household income. You applied it in half one to a column. Here it applies to a cell in a table somebody will screenshot.</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The question you are not answering today</a:t>
            </a:r>
          </a:p>
        </p:txBody>
      </p:sp>
      <p:sp>
        <p:nvSpPr>
          <p:cNvPr id="4" name="TextBox 3"/>
          <p:cNvSpPr txBox="1"/>
          <p:nvPr/>
        </p:nvSpPr>
        <p:spPr>
          <a:xfrm>
            <a:off x="777240" y="1965960"/>
            <a:ext cx="10607040" cy="4206240"/>
          </a:xfrm>
          <a:prstGeom prst="rect">
            <a:avLst/>
          </a:prstGeom>
          <a:noFill/>
        </p:spPr>
        <p:txBody>
          <a:bodyPr wrap="square">
            <a:spAutoFit/>
          </a:bodyPr>
          <a:lstStyle/>
          <a:p>
            <a:r>
              <a:rPr sz="2100">
                <a:solidFill>
                  <a:srgbClr val="1C1C1A"/>
                </a:solidFill>
                <a:latin typeface="Calibri"/>
              </a:rPr>
              <a:t>Is segment_d genuinely better than segment_a, or is 58.3 against 45.0 what four groups of this size do on their own?</a:t>
            </a:r>
          </a:p>
          <a:p>
            <a:r>
              <a:rPr sz="2100">
                <a:solidFill>
                  <a:srgbClr val="1C1C1A"/>
                </a:solidFill>
                <a:latin typeface="Calibri"/>
              </a:rPr>
              <a:t>That question has a real answer and a method behind it, and it is Monday's session.</a:t>
            </a:r>
          </a:p>
          <a:p>
            <a:r>
              <a:rPr sz="2100">
                <a:solidFill>
                  <a:srgbClr val="1C1C1A"/>
                </a:solidFill>
                <a:latin typeface="Calibri"/>
              </a:rPr>
              <a:t>Today you name the question, write it in the notebook, and stop. Saying "we do not know yet, and here is what would tell us" is a complete professional answer.</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The decision card</a:t>
            </a:r>
          </a:p>
        </p:txBody>
      </p:sp>
      <p:sp>
        <p:nvSpPr>
          <p:cNvPr id="4" name="TextBox 3"/>
          <p:cNvSpPr txBox="1"/>
          <p:nvPr/>
        </p:nvSpPr>
        <p:spPr>
          <a:xfrm>
            <a:off x="777240" y="1965960"/>
            <a:ext cx="10607040" cy="4206240"/>
          </a:xfrm>
          <a:prstGeom prst="rect">
            <a:avLst/>
          </a:prstGeom>
          <a:noFill/>
        </p:spPr>
        <p:txBody>
          <a:bodyPr wrap="square">
            <a:spAutoFit/>
          </a:bodyPr>
          <a:lstStyle/>
          <a:p>
            <a:r>
              <a:rPr sz="1700">
                <a:solidFill>
                  <a:srgbClr val="2B4A7D"/>
                </a:solidFill>
                <a:latin typeface="Consolas"/>
              </a:rPr>
              <a:t>| Before you send a rate | Check |</a:t>
            </a:r>
          </a:p>
          <a:p>
            <a:r>
              <a:rPr sz="1700">
                <a:solidFill>
                  <a:srgbClr val="2B4A7D"/>
                </a:solidFill>
                <a:latin typeface="Consolas"/>
              </a:rPr>
              <a:t>|---|---|</a:t>
            </a:r>
          </a:p>
          <a:p>
            <a:r>
              <a:rPr sz="1700">
                <a:solidFill>
                  <a:srgbClr val="2B4A7D"/>
                </a:solidFill>
                <a:latin typeface="Consolas"/>
              </a:rPr>
              <a:t>| Is the denominator on the same line as the number | If not, it is not ready |</a:t>
            </a:r>
          </a:p>
          <a:p>
            <a:r>
              <a:rPr sz="1700">
                <a:solidFill>
                  <a:srgbClr val="2B4A7D"/>
                </a:solidFill>
                <a:latin typeface="Consolas"/>
              </a:rPr>
              <a:t>| Is any group under about 30 records | Say so in the sentence, in words |</a:t>
            </a:r>
          </a:p>
          <a:p>
            <a:r>
              <a:rPr sz="1700">
                <a:solidFill>
                  <a:srgbClr val="2B4A7D"/>
                </a:solidFill>
                <a:latin typeface="Consolas"/>
              </a:rPr>
              <a:t>| Did you rank groups of very different sizes | Say what the ranking is partly measuring |</a:t>
            </a:r>
          </a:p>
          <a:p>
            <a:r>
              <a:rPr sz="1700">
                <a:solidFill>
                  <a:srgbClr val="2B4A7D"/>
                </a:solidFill>
                <a:latin typeface="Consolas"/>
              </a:rPr>
              <a:t>| Is a mean quoted on a money column | Replace it with the median |</a:t>
            </a:r>
          </a:p>
          <a:p>
            <a:r>
              <a:rPr sz="1700">
                <a:solidFill>
                  <a:srgbClr val="2B4A7D"/>
                </a:solidFill>
                <a:latin typeface="Consolas"/>
              </a:rPr>
              <a:t>| Is a difference being called real | Park it and name what would settle it |</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1C1C1A"/>
                </a:solidFill>
                <a:latin typeface="Calibri"/>
              </a:rPr>
              <a:t>Crux</a:t>
            </a:r>
          </a:p>
        </p:txBody>
      </p:sp>
      <p:sp>
        <p:nvSpPr>
          <p:cNvPr id="4" name="TextBox 3"/>
          <p:cNvSpPr txBox="1"/>
          <p:nvPr/>
        </p:nvSpPr>
        <p:spPr>
          <a:xfrm>
            <a:off x="777240" y="1965960"/>
            <a:ext cx="10607040" cy="4206240"/>
          </a:xfrm>
          <a:prstGeom prst="rect">
            <a:avLst/>
          </a:prstGeom>
          <a:noFill/>
        </p:spPr>
        <p:txBody>
          <a:bodyPr wrap="square">
            <a:spAutoFit/>
          </a:bodyPr>
          <a:lstStyle/>
          <a:p>
            <a:r>
              <a:rPr sz="2100" b="1">
                <a:solidFill>
                  <a:srgbClr val="1C1C1A"/>
                </a:solidFill>
                <a:latin typeface="Calibri"/>
              </a:rPr>
              <a:t>&gt; Every rate carries its denominator, or it lies for you while you are not in the room.</a:t>
            </a:r>
          </a:p>
          <a:p>
            <a:r>
              <a:rPr sz="2100" b="1">
                <a:solidFill>
                  <a:srgbClr val="1C1C1A"/>
                </a:solidFill>
                <a:latin typeface="Calibri"/>
              </a:rPr>
              <a:t>&gt; The two best-performing segments in this file are also the two smallest, and that is not a coincidence.</a:t>
            </a:r>
          </a:p>
          <a:p>
            <a:r>
              <a:rPr sz="2100">
                <a:solidFill>
                  <a:srgbClr val="1C1C1A"/>
                </a:solidFill>
                <a:latin typeface="Calibri"/>
              </a:rPr>
              <a:t>Tomorrow is Gandhi Jayanti and the institute is closed. The week's records, cleaned by you, come back as SQL tables and pandas frames in Week 2, and the summary you built by hand today becomes one line of code you will already know the answer to.</a:t>
            </a:r>
          </a:p>
        </p:txBody>
      </p:sp>
      <p:sp>
        <p:nvSpPr>
          <p:cNvPr id="5" name="TextBox 4"/>
          <p:cNvSpPr txBox="1"/>
          <p:nvPr/>
        </p:nvSpPr>
        <p:spPr>
          <a:xfrm>
            <a:off x="777240" y="6263640"/>
            <a:ext cx="10607040" cy="365760"/>
          </a:xfrm>
          <a:prstGeom prst="rect">
            <a:avLst/>
          </a:prstGeom>
          <a:noFill/>
        </p:spPr>
        <p:txBody>
          <a:bodyPr wrap="none">
            <a:spAutoFit/>
          </a:bodyPr>
          <a:lstStyle/>
          <a:p>
            <a:r>
              <a:rPr sz="1000">
                <a:solidFill>
                  <a:srgbClr val="5F6360"/>
                </a:solidFill>
                <a:latin typeface="Calibri"/>
              </a:rPr>
              <a:t>Week 1 Day 4, half two: the segment summary and its denominators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