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Half two: the segment summary, and the count it rests on</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Week 1, Day 4. Slide source. One idea per slide.</a:t>
            </a:r>
          </a:p>
          <a:p>
            <a:r>
              <a:rPr sz="2100">
                <a:solidFill>
                  <a:srgbClr val="1C1C1A"/>
                </a:solidFill>
                <a:latin typeface="Calibri"/>
              </a:rPr>
              <a:t>Position bar, repeated at every section boundary:</a:t>
            </a:r>
          </a:p>
          <a:p>
            <a:r>
              <a:rPr sz="2100">
                <a:solidFill>
                  <a:srgbClr val="1C1C1A"/>
                </a:solidFill>
                <a:latin typeface="Calibri"/>
              </a:rPr>
              <a:t>[one column] &gt; [what is typical] &gt; [what one order does] &gt; [what the shape says] &gt; [per segment, with denominators]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Per segment, with denominators</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Half one gave you one number for the whole file. Nobody runs a business unit on one number.</a:t>
            </a:r>
          </a:p>
          <a:p>
            <a:r>
              <a:rPr sz="2100">
                <a:solidFill>
                  <a:srgbClr val="1C1C1A"/>
                </a:solidFill>
                <a:latin typeface="Calibri"/>
              </a:rPr>
              <a:t>The question is always the same one level down: which part of Kalpa Retail is working, and how sure can you be.</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Where we are</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[one column] &gt; [what is typical] &gt; [what one order does] &gt; [what the shape says] &gt; [per segment, with denominators]</a:t>
            </a:r>
          </a:p>
          <a:p>
            <a:r>
              <a:rPr sz="2100">
                <a:solidFill>
                  <a:srgbClr val="1C1C1A"/>
                </a:solidFill>
                <a:latin typeface="Calibri"/>
              </a:rPr>
              <a:t>You can now pick an honest statistic for a column. Half two splits the file by segment, computes that statistic per group, and attaches the one thing that decides whether the answer means anything.</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The metric, named before it is computed</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Kalpa Retail cares about returns. A returned order costs the delivery, the reverse logistics and usually the margin.</a:t>
            </a:r>
          </a:p>
          <a:p>
            <a:r>
              <a:rPr sz="1700">
                <a:solidFill>
                  <a:srgbClr val="2B4A7D"/>
                </a:solidFill>
                <a:latin typeface="Consolas"/>
              </a:rPr>
              <a:t>return rate  =  orders with status "returned"  /  all orders in the group</a:t>
            </a:r>
          </a:p>
          <a:p>
            <a:r>
              <a:rPr sz="2100">
                <a:solidFill>
                  <a:srgbClr val="1C1C1A"/>
                </a:solidFill>
                <a:latin typeface="Calibri"/>
              </a:rPr>
              <a:t>This is the first metric in the programme where lower is better. A ranking of return rates puts the best performer at the top with the smallest number beside it. Keep that straight or the next four slides will read backwards.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Where this is going</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segment        orders   median amount   return rate</a:t>
            </a:r>
          </a:p>
          <a:p>
            <a:r>
              <a:rPr sz="1700">
                <a:solidFill>
                  <a:srgbClr val="2B4A7D"/>
                </a:solidFill>
                <a:latin typeface="Consolas"/>
              </a:rPr>
              <a:t>Business            9        Rs 2,050          11.1%</a:t>
            </a:r>
          </a:p>
          <a:p>
            <a:r>
              <a:rPr sz="1700">
                <a:solidFill>
                  <a:srgbClr val="2B4A7D"/>
                </a:solidFill>
                <a:latin typeface="Consolas"/>
              </a:rPr>
              <a:t>Student            10        Rs 1,430          20.0%</a:t>
            </a:r>
          </a:p>
          <a:p>
            <a:r>
              <a:rPr sz="1700">
                <a:solidFill>
                  <a:srgbClr val="2B4A7D"/>
                </a:solidFill>
                <a:latin typeface="Consolas"/>
              </a:rPr>
              <a:t>Retail-Core        14        Rs 1,910          35.7%</a:t>
            </a:r>
          </a:p>
          <a:p>
            <a:r>
              <a:rPr sz="1700">
                <a:solidFill>
                  <a:srgbClr val="2B4A7D"/>
                </a:solidFill>
                <a:latin typeface="Consolas"/>
              </a:rPr>
              <a:t>Retail-Plus        11        Rs 1,435          36.4%</a:t>
            </a:r>
          </a:p>
          <a:p>
            <a:r>
              <a:rPr sz="2100">
                <a:solidFill>
                  <a:srgbClr val="1C1C1A"/>
                </a:solidFill>
                <a:latin typeface="Calibri"/>
              </a:rPr>
              <a:t>You will have built this inside the hour. Then you will spend the rest of the session refusing to send it as it stands.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FFFFFF"/>
                </a:solidFill>
                <a:latin typeface="Calibri"/>
              </a:rPr>
              <a:t>SECTION 1: THE DENOMINATOR</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FFFFFF"/>
                </a:solidFill>
                <a:latin typeface="Calibri"/>
              </a:rPr>
              <a:t>[one column] &gt; [what is typical] &gt; [what one order does] &gt; [what the shape says] &gt; [per segment, with denominators]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One rate, two files</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Two segments in two different companies, same reported number:</a:t>
            </a:r>
          </a:p>
          <a:p>
            <a:r>
              <a:rPr sz="1700">
                <a:solidFill>
                  <a:srgbClr val="2B4A7D"/>
                </a:solidFill>
                <a:latin typeface="Consolas"/>
              </a:rPr>
              <a:t>segment X:   returned 5 of 12          41.7%</a:t>
            </a:r>
          </a:p>
          <a:p>
            <a:r>
              <a:rPr sz="1700">
                <a:solidFill>
                  <a:srgbClr val="2B4A7D"/>
                </a:solidFill>
                <a:latin typeface="Consolas"/>
              </a:rPr>
              <a:t>segment Y:   returned 500 of 1200      41.7%</a:t>
            </a:r>
          </a:p>
          <a:p>
            <a:r>
              <a:rPr sz="2100">
                <a:solidFill>
                  <a:srgbClr val="1C1C1A"/>
                </a:solidFill>
                <a:latin typeface="Calibri"/>
              </a:rPr>
              <a:t>Identical rates. Which one would you build a quarter's plan on?</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Why the small one moves</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In the 12-order segment, one order changing its status moves the rate by 8.3 points.</a:t>
            </a:r>
          </a:p>
          <a:p>
            <a:r>
              <a:rPr sz="2100">
                <a:solidFill>
                  <a:srgbClr val="1C1C1A"/>
                </a:solidFill>
                <a:latin typeface="Calibri"/>
              </a:rPr>
              <a:t>In the 1,200-order segment, one order moves it by 0.08 points.</a:t>
            </a:r>
          </a:p>
          <a:p>
            <a:r>
              <a:rPr sz="2100">
                <a:solidFill>
                  <a:srgbClr val="1C1C1A"/>
                </a:solidFill>
                <a:latin typeface="Calibri"/>
              </a:rPr>
              <a:t>The small segment is not wrong. It is loud. Its number swings on evidence too thin to swing on, and next month it will report something different for no reason you can name.</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What a rate actually is</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rate = how many did the thing  /  how many could have</a:t>
            </a:r>
          </a:p>
          <a:p>
            <a:r>
              <a:rPr sz="2100">
                <a:solidFill>
                  <a:srgbClr val="1C1C1A"/>
                </a:solidFill>
                <a:latin typeface="Calibri"/>
              </a:rPr>
              <a:t>Two numbers, and the reporting convention throws one of them away.</a:t>
            </a:r>
          </a:p>
          <a:p>
            <a:r>
              <a:rPr sz="2100">
                <a:solidFill>
                  <a:srgbClr val="1C1C1A"/>
                </a:solidFill>
                <a:latin typeface="Calibri"/>
              </a:rPr>
              <a:t>Every argument in this section comes from the thrown-away number.</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The rule</a:t>
            </a:r>
          </a:p>
        </p:txBody>
      </p:sp>
      <p:sp>
        <p:nvSpPr>
          <p:cNvPr id="4" name="TextBox 3"/>
          <p:cNvSpPr txBox="1"/>
          <p:nvPr/>
        </p:nvSpPr>
        <p:spPr>
          <a:xfrm>
            <a:off x="777240" y="1965960"/>
            <a:ext cx="10607040" cy="4206240"/>
          </a:xfrm>
          <a:prstGeom prst="rect">
            <a:avLst/>
          </a:prstGeom>
          <a:noFill/>
        </p:spPr>
        <p:txBody>
          <a:bodyPr wrap="square">
            <a:spAutoFit/>
          </a:bodyPr>
          <a:lstStyle/>
          <a:p>
            <a:r>
              <a:rPr sz="2100" b="1">
                <a:solidFill>
                  <a:srgbClr val="1C1C1A"/>
                </a:solidFill>
                <a:latin typeface="Calibri"/>
              </a:rPr>
              <a:t>&gt; A rate travels with its denominator or it does not travel.</a:t>
            </a:r>
          </a:p>
          <a:p>
            <a:r>
              <a:rPr sz="2100">
                <a:solidFill>
                  <a:srgbClr val="1C1C1A"/>
                </a:solidFill>
                <a:latin typeface="Calibri"/>
              </a:rPr>
              <a:t>Write it as 11.1 percent of 9 and nobody can misread it. Write it as 11.1 percent and everybody will.</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FFFFFF"/>
                </a:solidFill>
                <a:latin typeface="Calibri"/>
              </a:rPr>
              <a:t>SECTION 2: THE ACCUMULATOR</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FFFFFF"/>
                </a:solidFill>
                <a:latin typeface="Calibri"/>
              </a:rPr>
              <a:t>[one column] &gt; [what is typical] &gt; [what one order does] &gt; [what the shape says] &gt; [per segment, with denominators]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Counting into buckets</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Monday you counted orders that passed a test. Today you count them into named piles, one pile per segment.</a:t>
            </a:r>
          </a:p>
          <a:p>
            <a:r>
              <a:rPr sz="1700">
                <a:solidFill>
                  <a:srgbClr val="2B4A7D"/>
                </a:solidFill>
                <a:latin typeface="Consolas"/>
              </a:rPr>
              <a:t>counts = {"Retail-Core": 0, "Retail-Plus": 0, "Business": 0}</a:t>
            </a:r>
          </a:p>
          <a:p>
            <a:r>
              <a:rPr sz="1700">
                <a:solidFill>
                  <a:srgbClr val="2B4A7D"/>
                </a:solidFill>
                <a:latin typeface="Consolas"/>
              </a:rPr>
              <a:t/>
            </a:r>
          </a:p>
          <a:p>
            <a:r>
              <a:rPr sz="1700">
                <a:solidFill>
                  <a:srgbClr val="2B4A7D"/>
                </a:solidFill>
                <a:latin typeface="Consolas"/>
              </a:rPr>
              <a:t>for r in orders:</a:t>
            </a:r>
          </a:p>
          <a:p>
            <a:r>
              <a:rPr sz="1700">
                <a:solidFill>
                  <a:srgbClr val="2B4A7D"/>
                </a:solidFill>
                <a:latin typeface="Consolas"/>
              </a:rPr>
              <a:t>    counts[r["segment"]] = counts[r["segment"]] + 1</a:t>
            </a:r>
          </a:p>
          <a:p>
            <a:r>
              <a:rPr sz="2100">
                <a:solidFill>
                  <a:srgbClr val="1C1C1A"/>
                </a:solidFill>
                <a:latin typeface="Calibri"/>
              </a:rPr>
              <a:t>Reasonable code. The analyst listed the segments they remembered.</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Run it</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KeyError: 'Student'</a:t>
            </a:r>
          </a:p>
          <a:p>
            <a:r>
              <a:rPr sz="2100">
                <a:solidFill>
                  <a:srgbClr val="1C1C1A"/>
                </a:solidFill>
                <a:latin typeface="Calibri"/>
              </a:rPr>
              <a:t>It failed on the very first order in the file.</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Reading it</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KeyError means a dictionary was asked for a key it does not hold. The key it did not hold is printed for you: Student.</a:t>
            </a:r>
          </a:p>
          <a:p>
            <a:r>
              <a:rPr sz="2100">
                <a:solidFill>
                  <a:srgbClr val="1C1C1A"/>
                </a:solidFill>
                <a:latin typeface="Calibri"/>
              </a:rPr>
              <a:t>The dictionary held three segments because a person typed three segments. Kalpa Retail has four.</a:t>
            </a:r>
          </a:p>
          <a:p>
            <a:r>
              <a:rPr sz="2100">
                <a:solidFill>
                  <a:srgbClr val="1C1C1A"/>
                </a:solidFill>
                <a:latin typeface="Calibri"/>
              </a:rPr>
              <a:t>Every hard-coded list of categories is a promise about data you have not read yet.</a:t>
            </a:r>
          </a:p>
          <a:p>
            <a:r>
              <a:rPr sz="2100">
                <a:solidFill>
                  <a:srgbClr val="1C1C1A"/>
                </a:solidFill>
                <a:latin typeface="Calibri"/>
              </a:rPr>
              <a:t>This one is loud, because the first order in the file is a Student order. The dangerous version runs for six months and breaks the week a new segment launches.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Build the key when you first see it</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counts = {}</a:t>
            </a:r>
          </a:p>
          <a:p>
            <a:r>
              <a:rPr sz="1700">
                <a:solidFill>
                  <a:srgbClr val="2B4A7D"/>
                </a:solidFill>
                <a:latin typeface="Consolas"/>
              </a:rPr>
              <a:t/>
            </a:r>
          </a:p>
          <a:p>
            <a:r>
              <a:rPr sz="1700">
                <a:solidFill>
                  <a:srgbClr val="2B4A7D"/>
                </a:solidFill>
                <a:latin typeface="Consolas"/>
              </a:rPr>
              <a:t>for r in orders:</a:t>
            </a:r>
          </a:p>
          <a:p>
            <a:r>
              <a:rPr sz="1700">
                <a:solidFill>
                  <a:srgbClr val="2B4A7D"/>
                </a:solidFill>
                <a:latin typeface="Consolas"/>
              </a:rPr>
              <a:t>    key = r["segment"]</a:t>
            </a:r>
          </a:p>
          <a:p>
            <a:r>
              <a:rPr sz="1700">
                <a:solidFill>
                  <a:srgbClr val="2B4A7D"/>
                </a:solidFill>
                <a:latin typeface="Consolas"/>
              </a:rPr>
              <a:t>    if key not in counts:</a:t>
            </a:r>
          </a:p>
          <a:p>
            <a:r>
              <a:rPr sz="1700">
                <a:solidFill>
                  <a:srgbClr val="2B4A7D"/>
                </a:solidFill>
                <a:latin typeface="Consolas"/>
              </a:rPr>
              <a:t>        counts[key] = 0</a:t>
            </a:r>
          </a:p>
          <a:p>
            <a:r>
              <a:rPr sz="1700">
                <a:solidFill>
                  <a:srgbClr val="2B4A7D"/>
                </a:solidFill>
                <a:latin typeface="Consolas"/>
              </a:rPr>
              <a:t>    counts[key] = counts[key] + 1</a:t>
            </a:r>
          </a:p>
          <a:p>
            <a:r>
              <a:rPr sz="2100">
                <a:solidFill>
                  <a:srgbClr val="1C1C1A"/>
                </a:solidFill>
                <a:latin typeface="Calibri"/>
              </a:rPr>
              <a:t>Three lines instead of one declaration, and the code now works on a file with segments nobody told you about.</a:t>
            </a:r>
          </a:p>
          <a:p>
            <a:r>
              <a:rPr sz="2100">
                <a:solidFill>
                  <a:srgbClr val="1C1C1A"/>
                </a:solidFill>
                <a:latin typeface="Calibri"/>
              </a:rPr>
              <a:t>The same shape written shorter, which you will meet again in Week 2:</a:t>
            </a:r>
          </a:p>
          <a:p>
            <a:r>
              <a:rPr sz="1700">
                <a:solidFill>
                  <a:srgbClr val="2B4A7D"/>
                </a:solidFill>
                <a:latin typeface="Consolas"/>
              </a:rPr>
              <a:t>counts[key] = counts.get(key, 0) + 1</a:t>
            </a:r>
          </a:p>
          <a:p>
            <a:r>
              <a:rPr sz="2100">
                <a:solidFill>
                  <a:srgbClr val="1C1C1A"/>
                </a:solidFill>
                <a:latin typeface="Calibri"/>
              </a:rPr>
              <a:t>That is Monday's .get() with a default, doing exactly what it did on Monday.</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The fixed count</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Business       9</a:t>
            </a:r>
          </a:p>
          <a:p>
            <a:r>
              <a:rPr sz="1700">
                <a:solidFill>
                  <a:srgbClr val="2B4A7D"/>
                </a:solidFill>
                <a:latin typeface="Consolas"/>
              </a:rPr>
              <a:t>Retail-Core   14</a:t>
            </a:r>
          </a:p>
          <a:p>
            <a:r>
              <a:rPr sz="1700">
                <a:solidFill>
                  <a:srgbClr val="2B4A7D"/>
                </a:solidFill>
                <a:latin typeface="Consolas"/>
              </a:rPr>
              <a:t>Retail-Plus   11</a:t>
            </a:r>
          </a:p>
          <a:p>
            <a:r>
              <a:rPr sz="1700">
                <a:solidFill>
                  <a:srgbClr val="2B4A7D"/>
                </a:solidFill>
                <a:latin typeface="Consolas"/>
              </a:rPr>
              <a:t>Student       10</a:t>
            </a:r>
          </a:p>
          <a:p>
            <a:r>
              <a:rPr sz="1700">
                <a:solidFill>
                  <a:srgbClr val="2B4A7D"/>
                </a:solidFill>
                <a:latin typeface="Consolas"/>
              </a:rPr>
              <a:t>      total   44</a:t>
            </a:r>
          </a:p>
          <a:p>
            <a:r>
              <a:rPr sz="2100">
                <a:solidFill>
                  <a:srgbClr val="1C1C1A"/>
                </a:solidFill>
                <a:latin typeface="Calibri"/>
              </a:rPr>
              <a:t>The total matches your profiled order count. If it did not, you would have a bug and the last line is how you would know.</a:t>
            </a:r>
          </a:p>
          <a:p>
            <a:r>
              <a:rPr sz="2100">
                <a:solidFill>
                  <a:srgbClr val="1C1C1A"/>
                </a:solidFill>
                <a:latin typeface="Calibri"/>
              </a:rPr>
              <a:t>One number here deserves a second look. Student holds ten. The raw file held twelve, and two Student orders were rejected yesterday for failing conversion. Your cleaning changed the denominator of your smallest segment by seventeen percent, and nothing in today's code would tell you. Yesterday's rejects log is the only place it is written down.</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FFFFFF"/>
                </a:solidFill>
                <a:latin typeface="Calibri"/>
              </a:rPr>
              <a:t>SECTION 3: THE SEGMENT SUMMARY</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FFFFFF"/>
                </a:solidFill>
                <a:latin typeface="Calibri"/>
              </a:rPr>
              <a:t>[one column] &gt; [what is typical] &gt; [what one order does] &gt; [what the shape says] &gt; [per segment, with denominators]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Three accumulators, one pass</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Per segment you need three things: how many orders, what a typical amount looks like, and what share came back.</a:t>
            </a:r>
          </a:p>
          <a:p>
            <a:r>
              <a:rPr sz="1700">
                <a:solidFill>
                  <a:srgbClr val="2B4A7D"/>
                </a:solidFill>
                <a:latin typeface="Consolas"/>
              </a:rPr>
              <a:t>per_segment[key] = {</a:t>
            </a:r>
          </a:p>
          <a:p>
            <a:r>
              <a:rPr sz="1700">
                <a:solidFill>
                  <a:srgbClr val="2B4A7D"/>
                </a:solidFill>
                <a:latin typeface="Consolas"/>
              </a:rPr>
              <a:t>    "count":    how many orders landed here,</a:t>
            </a:r>
          </a:p>
          <a:p>
            <a:r>
              <a:rPr sz="1700">
                <a:solidFill>
                  <a:srgbClr val="2B4A7D"/>
                </a:solidFill>
                <a:latin typeface="Consolas"/>
              </a:rPr>
              <a:t>    "amounts":  every amount, collected so the median can be taken at the end,</a:t>
            </a:r>
          </a:p>
          <a:p>
            <a:r>
              <a:rPr sz="1700">
                <a:solidFill>
                  <a:srgbClr val="2B4A7D"/>
                </a:solidFill>
                <a:latin typeface="Consolas"/>
              </a:rPr>
              <a:t>    "returned": how many had status "returned",</a:t>
            </a:r>
          </a:p>
          <a:p>
            <a:r>
              <a:rPr sz="1700">
                <a:solidFill>
                  <a:srgbClr val="2B4A7D"/>
                </a:solidFill>
                <a:latin typeface="Consolas"/>
              </a:rPr>
              <a:t>}</a:t>
            </a:r>
          </a:p>
          <a:p>
            <a:r>
              <a:rPr sz="2100">
                <a:solidFill>
                  <a:srgbClr val="1C1C1A"/>
                </a:solidFill>
                <a:latin typeface="Calibri"/>
              </a:rPr>
              <a:t>The median cannot be accumulated one order at a time. It needs the whole list sorted, so the list is collected during the pass and the median is taken after it.</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The table</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segment        orders   median amount   returned   rate</a:t>
            </a:r>
          </a:p>
          <a:p>
            <a:r>
              <a:rPr sz="1700">
                <a:solidFill>
                  <a:srgbClr val="2B4A7D"/>
                </a:solidFill>
                <a:latin typeface="Consolas"/>
              </a:rPr>
              <a:t>Business            9        Rs 2,050          1   11.1%</a:t>
            </a:r>
          </a:p>
          <a:p>
            <a:r>
              <a:rPr sz="1700">
                <a:solidFill>
                  <a:srgbClr val="2B4A7D"/>
                </a:solidFill>
                <a:latin typeface="Consolas"/>
              </a:rPr>
              <a:t>Retail-Core        14        Rs 1,910          5   35.7%</a:t>
            </a:r>
          </a:p>
          <a:p>
            <a:r>
              <a:rPr sz="1700">
                <a:solidFill>
                  <a:srgbClr val="2B4A7D"/>
                </a:solidFill>
                <a:latin typeface="Consolas"/>
              </a:rPr>
              <a:t>Retail-Plus        11        Rs 1,435          4   36.4%</a:t>
            </a:r>
          </a:p>
          <a:p>
            <a:r>
              <a:rPr sz="1700">
                <a:solidFill>
                  <a:srgbClr val="2B4A7D"/>
                </a:solidFill>
                <a:latin typeface="Consolas"/>
              </a:rPr>
              <a:t>Student            10        Rs 1,430          2   20.0%</a:t>
            </a:r>
          </a:p>
          <a:p>
            <a:r>
              <a:rPr sz="2100">
                <a:solidFill>
                  <a:srgbClr val="1C1C1A"/>
                </a:solidFill>
                <a:latin typeface="Calibri"/>
              </a:rPr>
              <a:t>Note what is absent from every row: the mean. Half one settled that.</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Sort by rate, the way anyone would</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Business      11.1%</a:t>
            </a:r>
          </a:p>
          <a:p>
            <a:r>
              <a:rPr sz="1700">
                <a:solidFill>
                  <a:srgbClr val="2B4A7D"/>
                </a:solidFill>
                <a:latin typeface="Consolas"/>
              </a:rPr>
              <a:t>Student       20.0%</a:t>
            </a:r>
          </a:p>
          <a:p>
            <a:r>
              <a:rPr sz="1700">
                <a:solidFill>
                  <a:srgbClr val="2B4A7D"/>
                </a:solidFill>
                <a:latin typeface="Consolas"/>
              </a:rPr>
              <a:t>Retail-Core   35.7%</a:t>
            </a:r>
          </a:p>
          <a:p>
            <a:r>
              <a:rPr sz="1700">
                <a:solidFill>
                  <a:srgbClr val="2B4A7D"/>
                </a:solidFill>
                <a:latin typeface="Consolas"/>
              </a:rPr>
              <a:t>Retail-Plus   36.4%</a:t>
            </a:r>
          </a:p>
          <a:p>
            <a:r>
              <a:rPr sz="2100">
                <a:solidFill>
                  <a:srgbClr val="1C1C1A"/>
                </a:solidFill>
                <a:latin typeface="Calibri"/>
              </a:rPr>
              <a:t>A clean ranking. Business returns at less than a third of the worst segment.</a:t>
            </a:r>
          </a:p>
          <a:p>
            <a:r>
              <a:rPr sz="2100">
                <a:solidFill>
                  <a:srgbClr val="1C1C1A"/>
                </a:solidFill>
                <a:latin typeface="Calibri"/>
              </a:rPr>
              <a:t>Somebody in a meeting is about to move budget towards Business.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Put the count back</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Business      11.1%   on  9 orders</a:t>
            </a:r>
          </a:p>
          <a:p>
            <a:r>
              <a:rPr sz="1700">
                <a:solidFill>
                  <a:srgbClr val="2B4A7D"/>
                </a:solidFill>
                <a:latin typeface="Consolas"/>
              </a:rPr>
              <a:t>Student       20.0%   on 10 orders</a:t>
            </a:r>
          </a:p>
          <a:p>
            <a:r>
              <a:rPr sz="1700">
                <a:solidFill>
                  <a:srgbClr val="2B4A7D"/>
                </a:solidFill>
                <a:latin typeface="Consolas"/>
              </a:rPr>
              <a:t>Retail-Core   35.7%   on 14 orders</a:t>
            </a:r>
          </a:p>
          <a:p>
            <a:r>
              <a:rPr sz="1700">
                <a:solidFill>
                  <a:srgbClr val="2B4A7D"/>
                </a:solidFill>
                <a:latin typeface="Consolas"/>
              </a:rPr>
              <a:t>Retail-Plus   36.4%   on 11 orders</a:t>
            </a:r>
          </a:p>
          <a:p>
            <a:r>
              <a:rPr sz="2100">
                <a:solidFill>
                  <a:srgbClr val="1C1C1A"/>
                </a:solidFill>
                <a:latin typeface="Calibri"/>
              </a:rPr>
              <a:t>The top two performers are the two smallest segments in the file.</a:t>
            </a:r>
          </a:p>
          <a:p>
            <a:r>
              <a:rPr sz="2100">
                <a:solidFill>
                  <a:srgbClr val="1C1C1A"/>
                </a:solidFill>
                <a:latin typeface="Calibri"/>
              </a:rPr>
              <a:t>Business wins on nine orders.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One order</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if 0 more Business orders had been returned:  11.1%   still best</a:t>
            </a:r>
          </a:p>
          <a:p>
            <a:r>
              <a:rPr sz="1700">
                <a:solidFill>
                  <a:srgbClr val="2B4A7D"/>
                </a:solidFill>
                <a:latin typeface="Consolas"/>
              </a:rPr>
              <a:t>if 1 more Business order  had been returned:  22.2%   no longer best</a:t>
            </a:r>
          </a:p>
          <a:p>
            <a:r>
              <a:rPr sz="2100">
                <a:solidFill>
                  <a:srgbClr val="1C1C1A"/>
                </a:solidFill>
                <a:latin typeface="Calibri"/>
              </a:rPr>
              <a:t>One order out of forty-four, in a segment of nine, and the best segment in the file is no longer the best segment in the file.</a:t>
            </a:r>
          </a:p>
          <a:p>
            <a:r>
              <a:rPr sz="2100">
                <a:solidFill>
                  <a:srgbClr val="1C1C1A"/>
                </a:solidFill>
                <a:latin typeface="Calibri"/>
              </a:rPr>
              <a:t>Small groups produce extreme rates in both directions, in any dataset, with nothing causing it. Rank groups by a rate and the smallest drift to both ends of the list, so the ranking reads group size as much as performance.</a:t>
            </a:r>
          </a:p>
          <a:p>
            <a:r>
              <a:rPr sz="2100">
                <a:solidFill>
                  <a:srgbClr val="1C1C1A"/>
                </a:solidFill>
                <a:latin typeface="Calibri"/>
              </a:rPr>
              <a:t>The fix is not a cleverer statistic. It is the column you already have.</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FFFFFF"/>
                </a:solidFill>
                <a:latin typeface="Calibri"/>
              </a:rPr>
              <a:t>SECTION 4: THE HONEST SENTENCE</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FFFFFF"/>
                </a:solidFill>
                <a:latin typeface="Calibri"/>
              </a:rPr>
              <a:t>[one column] &gt; [what is typical] &gt; [what one order does] &gt; [what the shape says] &gt; [per segment, with denominators]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The shape of the sentence</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Three parts, in this order, every time:</a:t>
            </a:r>
          </a:p>
          <a:p>
            <a:r>
              <a:rPr sz="1700">
                <a:solidFill>
                  <a:srgbClr val="2B4A7D"/>
                </a:solidFill>
                <a:latin typeface="Consolas"/>
              </a:rPr>
              <a:t>[the number]   [the denominator]   [what it does not yet support]</a:t>
            </a:r>
          </a:p>
          <a:p>
            <a:r>
              <a:rPr sz="2100">
                <a:solidFill>
                  <a:srgbClr val="1C1C1A"/>
                </a:solidFill>
                <a:latin typeface="Calibri"/>
              </a:rPr>
              <a:t>Leaving out the third part is how a caveat gets lost between your notebook and a slide somebody else builds.</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Four sentences, one per segment</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Business:    returned on 1 of 9 orders, 11.1 percent. Lowest in the file and the</a:t>
            </a:r>
          </a:p>
          <a:p>
            <a:r>
              <a:rPr sz="1700">
                <a:solidFill>
                  <a:srgbClr val="2B4A7D"/>
                </a:solidFill>
                <a:latin typeface="Consolas"/>
              </a:rPr>
              <a:t>             smallest segment in it. One more return takes it to 22.2 percent and</a:t>
            </a:r>
          </a:p>
          <a:p>
            <a:r>
              <a:rPr sz="1700">
                <a:solidFill>
                  <a:srgbClr val="2B4A7D"/>
                </a:solidFill>
                <a:latin typeface="Consolas"/>
              </a:rPr>
              <a:t>             behind Student, so this is not yet a finding.</a:t>
            </a:r>
          </a:p>
          <a:p>
            <a:r>
              <a:rPr sz="1700">
                <a:solidFill>
                  <a:srgbClr val="2B4A7D"/>
                </a:solidFill>
                <a:latin typeface="Consolas"/>
              </a:rPr>
              <a:t/>
            </a:r>
          </a:p>
          <a:p>
            <a:r>
              <a:rPr sz="1700">
                <a:solidFill>
                  <a:srgbClr val="2B4A7D"/>
                </a:solidFill>
                <a:latin typeface="Consolas"/>
              </a:rPr>
              <a:t>Student:     returned on 2 of 10 orders, 20.0 percent. Ten orders, and the raw file</a:t>
            </a:r>
          </a:p>
          <a:p>
            <a:r>
              <a:rPr sz="1700">
                <a:solidFill>
                  <a:srgbClr val="2B4A7D"/>
                </a:solidFill>
                <a:latin typeface="Consolas"/>
              </a:rPr>
              <a:t>             held twelve before two failed conversion. Treat as unmeasured.</a:t>
            </a:r>
          </a:p>
          <a:p>
            <a:r>
              <a:rPr sz="1700">
                <a:solidFill>
                  <a:srgbClr val="2B4A7D"/>
                </a:solidFill>
                <a:latin typeface="Consolas"/>
              </a:rPr>
              <a:t/>
            </a:r>
          </a:p>
          <a:p>
            <a:r>
              <a:rPr sz="1700">
                <a:solidFill>
                  <a:srgbClr val="2B4A7D"/>
                </a:solidFill>
                <a:latin typeface="Consolas"/>
              </a:rPr>
              <a:t>Retail-Core: returned on 5 of 14 orders, 35.7 percent. Largest segment and the</a:t>
            </a:r>
          </a:p>
          <a:p>
            <a:r>
              <a:rPr sz="1700">
                <a:solidFill>
                  <a:srgbClr val="2B4A7D"/>
                </a:solidFill>
                <a:latin typeface="Consolas"/>
              </a:rPr>
              <a:t>             steadiest number here. Median order Rs 1,910; the mean of Rs 36,027.14</a:t>
            </a:r>
          </a:p>
          <a:p>
            <a:r>
              <a:rPr sz="1700">
                <a:solidFill>
                  <a:srgbClr val="2B4A7D"/>
                </a:solidFill>
                <a:latin typeface="Consolas"/>
              </a:rPr>
              <a:t>             is the Rs 480,000 order and should not be quoted.</a:t>
            </a:r>
          </a:p>
          <a:p>
            <a:r>
              <a:rPr sz="1700">
                <a:solidFill>
                  <a:srgbClr val="2B4A7D"/>
                </a:solidFill>
                <a:latin typeface="Consolas"/>
              </a:rPr>
              <a:t/>
            </a:r>
          </a:p>
          <a:p>
            <a:r>
              <a:rPr sz="1700">
                <a:solidFill>
                  <a:srgbClr val="2B4A7D"/>
                </a:solidFill>
                <a:latin typeface="Consolas"/>
              </a:rPr>
              <a:t>Retail-Plus: returned on 4 of 11 orders, 36.4 percent. Highest in the file, within</a:t>
            </a:r>
          </a:p>
          <a:p>
            <a:r>
              <a:rPr sz="1700">
                <a:solidFill>
                  <a:srgbClr val="2B4A7D"/>
                </a:solidFill>
                <a:latin typeface="Consolas"/>
              </a:rPr>
              <a:t>             one order of Retail-Core. The two are not separated by this data.</a:t>
            </a:r>
          </a:p>
          <a:p>
            <a:r>
              <a:rPr sz="2100">
                <a:solidFill>
                  <a:srgbClr val="1C1C1A"/>
                </a:solidFill>
                <a:latin typeface="Calibri"/>
              </a:rPr>
              <a:t>Two decline to make a claim and a third says two segments cannot be told apart. That is the sentence doing its job.</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The convention this follows</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Retail-Core's mean order value is Rs 36,027.14. Its median is Rs 1,910. One order separates those.</a:t>
            </a:r>
          </a:p>
          <a:p>
            <a:r>
              <a:rPr sz="2100">
                <a:solidFill>
                  <a:srgbClr val="1C1C1A"/>
                </a:solidFill>
                <a:latin typeface="Calibri"/>
              </a:rPr>
              <a:t>Reporting the median for money is the standing convention wherever a few very large values sit in a long tail, which is why national statistics report median household income. You applied it in half one to a column. Here it applies to a cell in a table somebody will screenshot.</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The question you are not answering today</a:t>
            </a:r>
          </a:p>
        </p:txBody>
      </p:sp>
      <p:sp>
        <p:nvSpPr>
          <p:cNvPr id="4" name="TextBox 3"/>
          <p:cNvSpPr txBox="1"/>
          <p:nvPr/>
        </p:nvSpPr>
        <p:spPr>
          <a:xfrm>
            <a:off x="777240" y="1965960"/>
            <a:ext cx="10607040" cy="4206240"/>
          </a:xfrm>
          <a:prstGeom prst="rect">
            <a:avLst/>
          </a:prstGeom>
          <a:noFill/>
        </p:spPr>
        <p:txBody>
          <a:bodyPr wrap="square">
            <a:spAutoFit/>
          </a:bodyPr>
          <a:lstStyle/>
          <a:p>
            <a:r>
              <a:rPr sz="2100">
                <a:solidFill>
                  <a:srgbClr val="1C1C1A"/>
                </a:solidFill>
                <a:latin typeface="Calibri"/>
              </a:rPr>
              <a:t>Is Business genuinely better than Retail-Plus, or is 11.1 against 36.4 what four groups of these sizes do on their own?</a:t>
            </a:r>
          </a:p>
          <a:p>
            <a:r>
              <a:rPr sz="2100">
                <a:solidFill>
                  <a:srgbClr val="1C1C1A"/>
                </a:solidFill>
                <a:latin typeface="Calibri"/>
              </a:rPr>
              <a:t>That question has a real answer and a method behind it, and it is Monday's session.</a:t>
            </a:r>
          </a:p>
          <a:p>
            <a:r>
              <a:rPr sz="2100">
                <a:solidFill>
                  <a:srgbClr val="1C1C1A"/>
                </a:solidFill>
                <a:latin typeface="Calibri"/>
              </a:rPr>
              <a:t>Today you name the question, write it in the notebook, and stop. Saying "we do not know yet, and here is what would tell us" is a complete professional answer.</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The decision card</a:t>
            </a:r>
          </a:p>
        </p:txBody>
      </p:sp>
      <p:sp>
        <p:nvSpPr>
          <p:cNvPr id="4" name="TextBox 3"/>
          <p:cNvSpPr txBox="1"/>
          <p:nvPr/>
        </p:nvSpPr>
        <p:spPr>
          <a:xfrm>
            <a:off x="777240" y="1965960"/>
            <a:ext cx="10607040" cy="4206240"/>
          </a:xfrm>
          <a:prstGeom prst="rect">
            <a:avLst/>
          </a:prstGeom>
          <a:noFill/>
        </p:spPr>
        <p:txBody>
          <a:bodyPr wrap="square">
            <a:spAutoFit/>
          </a:bodyPr>
          <a:lstStyle/>
          <a:p>
            <a:r>
              <a:rPr sz="1700">
                <a:solidFill>
                  <a:srgbClr val="2B4A7D"/>
                </a:solidFill>
                <a:latin typeface="Consolas"/>
              </a:rPr>
              <a:t>| Before you send a rate | Check |</a:t>
            </a:r>
          </a:p>
          <a:p>
            <a:r>
              <a:rPr sz="1700">
                <a:solidFill>
                  <a:srgbClr val="2B4A7D"/>
                </a:solidFill>
                <a:latin typeface="Consolas"/>
              </a:rPr>
              <a:t>|---|---|</a:t>
            </a:r>
          </a:p>
          <a:p>
            <a:r>
              <a:rPr sz="1700">
                <a:solidFill>
                  <a:srgbClr val="2B4A7D"/>
                </a:solidFill>
                <a:latin typeface="Consolas"/>
              </a:rPr>
              <a:t>| Is the denominator on the same line as the number | If not, it is not ready |</a:t>
            </a:r>
          </a:p>
          <a:p>
            <a:r>
              <a:rPr sz="1700">
                <a:solidFill>
                  <a:srgbClr val="2B4A7D"/>
                </a:solidFill>
                <a:latin typeface="Consolas"/>
              </a:rPr>
              <a:t>| Is any group under about 30 orders | Say so in the sentence, in words |</a:t>
            </a:r>
          </a:p>
          <a:p>
            <a:r>
              <a:rPr sz="1700">
                <a:solidFill>
                  <a:srgbClr val="2B4A7D"/>
                </a:solidFill>
                <a:latin typeface="Consolas"/>
              </a:rPr>
              <a:t>| Did you rank groups of very different sizes | Say what the ranking is partly measuring |</a:t>
            </a:r>
          </a:p>
          <a:p>
            <a:r>
              <a:rPr sz="1700">
                <a:solidFill>
                  <a:srgbClr val="2B4A7D"/>
                </a:solidFill>
                <a:latin typeface="Consolas"/>
              </a:rPr>
              <a:t>| Is a mean quoted on a money column | Replace it with the median |</a:t>
            </a:r>
          </a:p>
          <a:p>
            <a:r>
              <a:rPr sz="1700">
                <a:solidFill>
                  <a:srgbClr val="2B4A7D"/>
                </a:solidFill>
                <a:latin typeface="Consolas"/>
              </a:rPr>
              <a:t>| Is a difference being called real | Park it and name what would settle it |</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600" b="1">
                <a:solidFill>
                  <a:srgbClr val="1C1C1A"/>
                </a:solidFill>
                <a:latin typeface="Calibri"/>
              </a:rPr>
              <a:t>Crux</a:t>
            </a:r>
          </a:p>
        </p:txBody>
      </p:sp>
      <p:sp>
        <p:nvSpPr>
          <p:cNvPr id="4" name="TextBox 3"/>
          <p:cNvSpPr txBox="1"/>
          <p:nvPr/>
        </p:nvSpPr>
        <p:spPr>
          <a:xfrm>
            <a:off x="777240" y="1965960"/>
            <a:ext cx="10607040" cy="4206240"/>
          </a:xfrm>
          <a:prstGeom prst="rect">
            <a:avLst/>
          </a:prstGeom>
          <a:noFill/>
        </p:spPr>
        <p:txBody>
          <a:bodyPr wrap="square">
            <a:spAutoFit/>
          </a:bodyPr>
          <a:lstStyle/>
          <a:p>
            <a:r>
              <a:rPr sz="2100" b="1">
                <a:solidFill>
                  <a:srgbClr val="1C1C1A"/>
                </a:solidFill>
                <a:latin typeface="Calibri"/>
              </a:rPr>
              <a:t>&gt; Every rate carries its denominator, or it lies for you while you are not in the room.</a:t>
            </a:r>
          </a:p>
          <a:p>
            <a:r>
              <a:rPr sz="2100" b="1">
                <a:solidFill>
                  <a:srgbClr val="1C1C1A"/>
                </a:solidFill>
                <a:latin typeface="Calibri"/>
              </a:rPr>
              <a:t>&gt; The best-performing segment in this file is also the smallest, and one order takes the lead away.</a:t>
            </a:r>
          </a:p>
          <a:p>
            <a:r>
              <a:rPr sz="2100">
                <a:solidFill>
                  <a:srgbClr val="1C1C1A"/>
                </a:solidFill>
                <a:latin typeface="Calibri"/>
              </a:rPr>
              <a:t>Tomorrow is Gandhi Jayanti and the institute is closed. These same orders, cleaned by you, come back as SQL tables and pandas frames in Week 2, and the summary you built by hand today becomes one line of code you will already know the answer to.</a:t>
            </a:r>
          </a:p>
        </p:txBody>
      </p:sp>
      <p:sp>
        <p:nvSpPr>
          <p:cNvPr id="5" name="TextBox 4"/>
          <p:cNvSpPr txBox="1"/>
          <p:nvPr/>
        </p:nvSpPr>
        <p:spPr>
          <a:xfrm>
            <a:off x="777240" y="6263640"/>
            <a:ext cx="10607040" cy="365760"/>
          </a:xfrm>
          <a:prstGeom prst="rect">
            <a:avLst/>
          </a:prstGeom>
          <a:noFill/>
        </p:spPr>
        <p:txBody>
          <a:bodyPr wrap="none">
            <a:spAutoFit/>
          </a:bodyPr>
          <a:lstStyle/>
          <a:p>
            <a:r>
              <a:rPr sz="1000">
                <a:solidFill>
                  <a:srgbClr val="5F6360"/>
                </a:solidFill>
                <a:latin typeface="Calibri"/>
              </a:rPr>
              <a:t>Week 1 Day 4, half two: the segment summary and its denominators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