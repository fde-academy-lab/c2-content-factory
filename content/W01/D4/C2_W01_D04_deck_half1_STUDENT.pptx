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C1A"/>
                </a:solidFill>
                <a:latin typeface="Calibri"/>
              </a:rPr>
              <a:t>Half one: describe without misleading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C1C1A"/>
                </a:solidFill>
                <a:latin typeface="Calibri"/>
              </a:rPr>
              <a:t>Week 1, Day 4. Slide source. One idea per slide.</a:t>
            </a:r>
          </a:p>
          <a:p>
            <a:r>
              <a:rPr sz="2100">
                <a:solidFill>
                  <a:srgbClr val="1C1C1A"/>
                </a:solidFill>
                <a:latin typeface="Calibri"/>
              </a:rPr>
              <a:t>Position bar, repeated at every section boundary:</a:t>
            </a:r>
          </a:p>
          <a:p>
            <a:r>
              <a:rPr sz="2100">
                <a:solidFill>
                  <a:srgbClr val="1C1C1A"/>
                </a:solidFill>
                <a:latin typeface="Calibri"/>
              </a:rPr>
              <a:t>[one column] &gt; [what is typical] &gt; [what one record does] &gt; [what the shape says] &gt; [per segment, with denominators]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4, half one: describe without misleading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C1A"/>
                </a:solidFill>
                <a:latin typeface="Calibri"/>
              </a:rPr>
              <a:t>Describe without misleading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C1C1A"/>
                </a:solidFill>
                <a:latin typeface="Calibri"/>
              </a:rPr>
              <a:t>Yesterday you decided which records were usable. Today somebody asks you what they say.</a:t>
            </a:r>
          </a:p>
          <a:p>
            <a:r>
              <a:rPr sz="2100">
                <a:solidFill>
                  <a:srgbClr val="1C1C1A"/>
                </a:solidFill>
                <a:latin typeface="Calibri"/>
              </a:rPr>
              <a:t>The three questions this half answers: what is a typical value, what does one strange record do to that answer, and what shape is hiding behind the number you are about to send.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4, half one: describe without misleading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C1A"/>
                </a:solidFill>
                <a:latin typeface="Calibri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C1C1A"/>
                </a:solidFill>
                <a:latin typeface="Calibri"/>
              </a:rPr>
              <a:t>[one column] &gt; [what is typical] &gt; [what one record does] &gt; [what the shape says] &gt; [per segment, with denominators]</a:t>
            </a:r>
          </a:p>
          <a:p>
            <a:r>
              <a:rPr sz="2100">
                <a:solidFill>
                  <a:srgbClr val="1C1C1A"/>
                </a:solidFill>
                <a:latin typeface="Calibri"/>
              </a:rPr>
              <a:t>You own a cleaned file and a decisions log. Every number today comes off that file and nothing else. Describing data you have not cleaned is yesterday's mistake, and this room already made it once on purpose.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4, half one: describe without misleading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C1A"/>
                </a:solidFill>
                <a:latin typeface="Calibri"/>
              </a:rPr>
              <a:t>Where this is going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C1C1A"/>
                </a:solidFill>
                <a:latin typeface="Calibri"/>
              </a:rPr>
              <a:t>Two true claims about the same 47 records:</a:t>
            </a:r>
          </a:p>
          <a:p>
            <a:r>
              <a:rPr sz="1700">
                <a:solidFill>
                  <a:srgbClr val="2B4A7D"/>
                </a:solidFill>
                <a:latin typeface="Consolas"/>
              </a:rPr>
              <a:t>The average order is Rs 18,000.</a:t>
            </a:r>
          </a:p>
          <a:p>
            <a:r>
              <a:rPr sz="1700">
                <a:solidFill>
                  <a:srgbClr val="2B4A7D"/>
                </a:solidFill>
                <a:latin typeface="Consolas"/>
              </a:rPr>
              <a:t>Not one order in this file reached Rs 18,000, except a single order of Rs 480,000.</a:t>
            </a:r>
          </a:p>
          <a:p>
            <a:r>
              <a:rPr sz="2100">
                <a:solidFill>
                  <a:srgbClr val="1C1C1A"/>
                </a:solidFill>
                <a:latin typeface="Calibri"/>
              </a:rPr>
              <a:t>Both statements are correct. One of them would get you removed from the account.</a:t>
            </a:r>
          </a:p>
          <a:p>
            <a:r>
              <a:rPr sz="2100">
                <a:solidFill>
                  <a:srgbClr val="1C1C1A"/>
                </a:solidFill>
                <a:latin typeface="Calibri"/>
              </a:rPr>
              <a:t>By the end of this half you will know which number to send and what sentence has to go with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4, half one: describe without misleading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C1A"/>
                </a:solidFill>
                <a:latin typeface="Calibri"/>
              </a:rPr>
              <a:t>The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C1C1A"/>
                </a:solidFill>
                <a:latin typeface="Calibri"/>
              </a:rPr>
              <a:t>Somebody outside your team asks a question you have heard a hundred times:</a:t>
            </a:r>
          </a:p>
          <a:p>
            <a:r>
              <a:rPr sz="2100" b="1">
                <a:solidFill>
                  <a:srgbClr val="1C1C1A"/>
                </a:solidFill>
                <a:latin typeface="Calibri"/>
              </a:rPr>
              <a:t>&gt; What is the average order value?</a:t>
            </a:r>
          </a:p>
          <a:p>
            <a:r>
              <a:rPr sz="2100">
                <a:solidFill>
                  <a:srgbClr val="1C1C1A"/>
                </a:solidFill>
                <a:latin typeface="Calibri"/>
              </a:rPr>
              <a:t>It sounds like a request for one number. It is a request for a description of a shape, and the shape is what nobody has looked at yet.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4, half one: describe without misleading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SECTION 1: WHAT IS TYPICAL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FFFFFF"/>
                </a:solidFill>
                <a:latin typeface="Calibri"/>
              </a:rPr>
              <a:t>[one column] &gt; [what is typical] &gt; [what one record does] &gt; [what the shape says] &gt; [per segment, with denominators]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4, half one: describe without misleading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C1A"/>
                </a:solidFill>
                <a:latin typeface="Calibri"/>
              </a:rPr>
              <a:t>Seven values, on paper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C1C1A"/>
                </a:solidFill>
                <a:latin typeface="Calibri"/>
              </a:rPr>
              <a:t>The first seven records of your cleaned file, amount column only:</a:t>
            </a:r>
          </a:p>
          <a:p>
            <a:r>
              <a:rPr sz="1700">
                <a:solidFill>
                  <a:srgbClr val="2B4A7D"/>
                </a:solidFill>
                <a:latin typeface="Consolas"/>
              </a:rPr>
              <a:t>2000   3000   4000   4500   5000   6500   10000</a:t>
            </a:r>
          </a:p>
          <a:p>
            <a:r>
              <a:rPr sz="2100">
                <a:solidFill>
                  <a:srgbClr val="1C1C1A"/>
                </a:solidFill>
                <a:latin typeface="Calibri"/>
              </a:rPr>
              <a:t>Pens down on the keyboard. This one is done by hand.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4, half one: describe without misleading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C1A"/>
                </a:solidFill>
                <a:latin typeface="Calibri"/>
              </a:rPr>
              <a:t>Mean: add them up, share them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2B4A7D"/>
                </a:solidFill>
                <a:latin typeface="Consolas"/>
              </a:rPr>
              <a:t>2000 + 3000 + 4000 + 4500 + 5000 + 6500 + 10000 = 35000</a:t>
            </a:r>
          </a:p>
          <a:p>
            <a:r>
              <a:rPr sz="1700">
                <a:solidFill>
                  <a:srgbClr val="2B4A7D"/>
                </a:solidFill>
                <a:latin typeface="Consolas"/>
              </a:rPr>
              <a:t>35000 / 7 = 5000</a:t>
            </a:r>
          </a:p>
          <a:p>
            <a:r>
              <a:rPr sz="2100">
                <a:solidFill>
                  <a:srgbClr val="1C1C1A"/>
                </a:solidFill>
                <a:latin typeface="Calibri"/>
              </a:rPr>
              <a:t>The mean is Rs 5,000. It is the value every record would hold if the total were shared out equally.</a:t>
            </a:r>
          </a:p>
          <a:p>
            <a:r>
              <a:rPr sz="2100">
                <a:solidFill>
                  <a:srgbClr val="1C1C1A"/>
                </a:solidFill>
                <a:latin typeface="Calibri"/>
              </a:rPr>
              <a:t>It uses every record, which is its strength and the whole of its weakness.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4, half one: describe without misleading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C1A"/>
                </a:solidFill>
                <a:latin typeface="Calibri"/>
              </a:rPr>
              <a:t>Median: stand them in a line, take the middle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2B4A7D"/>
                </a:solidFill>
                <a:latin typeface="Consolas"/>
              </a:rPr>
              <a:t>2000   3000   4000   [4500]   5000   6500   10000</a:t>
            </a:r>
          </a:p>
          <a:p>
            <a:r>
              <a:rPr sz="1700">
                <a:solidFill>
                  <a:srgbClr val="2B4A7D"/>
                </a:solidFill>
                <a:latin typeface="Consolas"/>
              </a:rPr>
              <a:t>                       ^</a:t>
            </a:r>
          </a:p>
          <a:p>
            <a:r>
              <a:rPr sz="1700">
                <a:solidFill>
                  <a:srgbClr val="2B4A7D"/>
                </a:solidFill>
                <a:latin typeface="Consolas"/>
              </a:rPr>
              <a:t>                  4th of 7</a:t>
            </a:r>
          </a:p>
          <a:p>
            <a:r>
              <a:rPr sz="2100">
                <a:solidFill>
                  <a:srgbClr val="1C1C1A"/>
                </a:solidFill>
                <a:latin typeface="Calibri"/>
              </a:rPr>
              <a:t>The median is Rs 4,500. Half the records sit at or below it, half at or above it.</a:t>
            </a:r>
          </a:p>
          <a:p>
            <a:r>
              <a:rPr sz="2100">
                <a:solidFill>
                  <a:srgbClr val="1C1C1A"/>
                </a:solidFill>
                <a:latin typeface="Calibri"/>
              </a:rPr>
              <a:t>It uses the order of the records and almost nothing about their size.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4, half one: describe without misleading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C1A"/>
                </a:solidFill>
                <a:latin typeface="Calibri"/>
              </a:rPr>
              <a:t>Now change one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C1C1A"/>
                </a:solidFill>
                <a:latin typeface="Calibri"/>
              </a:rPr>
              <a:t>The last value was Rs 10,000. Make it Rs 80,000. Nothing else changes.</a:t>
            </a:r>
          </a:p>
          <a:p>
            <a:r>
              <a:rPr sz="1700">
                <a:solidFill>
                  <a:srgbClr val="2B4A7D"/>
                </a:solidFill>
                <a:latin typeface="Consolas"/>
              </a:rPr>
              <a:t>| Statistic | Before | After |</a:t>
            </a:r>
          </a:p>
          <a:p>
            <a:r>
              <a:rPr sz="1700">
                <a:solidFill>
                  <a:srgbClr val="2B4A7D"/>
                </a:solidFill>
                <a:latin typeface="Consolas"/>
              </a:rPr>
              <a:t>|---|---|---|</a:t>
            </a:r>
          </a:p>
          <a:p>
            <a:r>
              <a:rPr sz="1700">
                <a:solidFill>
                  <a:srgbClr val="2B4A7D"/>
                </a:solidFill>
                <a:latin typeface="Consolas"/>
              </a:rPr>
              <a:t>| Mean | Rs 5,000 | Rs 15,000 |</a:t>
            </a:r>
          </a:p>
          <a:p>
            <a:r>
              <a:rPr sz="1700">
                <a:solidFill>
                  <a:srgbClr val="2B4A7D"/>
                </a:solidFill>
                <a:latin typeface="Consolas"/>
              </a:rPr>
              <a:t>| Median | Rs 4,500 | Rs 4,500 |</a:t>
            </a:r>
          </a:p>
          <a:p>
            <a:r>
              <a:rPr sz="2100">
                <a:solidFill>
                  <a:srgbClr val="1C1C1A"/>
                </a:solidFill>
                <a:latin typeface="Calibri"/>
              </a:rPr>
              <a:t>One record moved the mean by three times. The median did not move at all.</a:t>
            </a:r>
          </a:p>
          <a:p>
            <a:r>
              <a:rPr sz="2100">
                <a:solidFill>
                  <a:srgbClr val="1C1C1A"/>
                </a:solidFill>
                <a:latin typeface="Calibri"/>
              </a:rPr>
              <a:t>That is the entire day in one 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4, half one: describe without misleading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C1A"/>
                </a:solidFill>
                <a:latin typeface="Calibri"/>
              </a:rPr>
              <a:t>Mode: the value that shows up most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C1C1A"/>
                </a:solidFill>
                <a:latin typeface="Calibri"/>
              </a:rPr>
              <a:t>In your 47 records, the most common amount is Rs 4,500. It appears three times.</a:t>
            </a:r>
          </a:p>
          <a:p>
            <a:r>
              <a:rPr sz="2100">
                <a:solidFill>
                  <a:srgbClr val="1C1C1A"/>
                </a:solidFill>
                <a:latin typeface="Calibri"/>
              </a:rPr>
              <a:t>Three times out of 47. It describes six percent of the file and nothing else.</a:t>
            </a:r>
          </a:p>
          <a:p>
            <a:r>
              <a:rPr sz="2100">
                <a:solidFill>
                  <a:srgbClr val="1C1C1A"/>
                </a:solidFill>
                <a:latin typeface="Calibri"/>
              </a:rPr>
              <a:t>Mode earns its keep on categories, where "the most common segment" is a real answer. On a money column it is close to useless, and knowing why is more valuable than knowing the definition.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4, half one: describe without misleading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C1A"/>
                </a:solidFill>
                <a:latin typeface="Calibri"/>
              </a:rPr>
              <a:t>Three answers, three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2B4A7D"/>
                </a:solidFill>
                <a:latin typeface="Consolas"/>
              </a:rPr>
              <a:t>| Statistic | The question it actually answers |</a:t>
            </a:r>
          </a:p>
          <a:p>
            <a:r>
              <a:rPr sz="1700">
                <a:solidFill>
                  <a:srgbClr val="2B4A7D"/>
                </a:solidFill>
                <a:latin typeface="Consolas"/>
              </a:rPr>
              <a:t>|---|---|</a:t>
            </a:r>
          </a:p>
          <a:p>
            <a:r>
              <a:rPr sz="1700">
                <a:solidFill>
                  <a:srgbClr val="2B4A7D"/>
                </a:solidFill>
                <a:latin typeface="Consolas"/>
              </a:rPr>
              <a:t>| Mean | If the total were shared equally, what would each record hold |</a:t>
            </a:r>
          </a:p>
          <a:p>
            <a:r>
              <a:rPr sz="1700">
                <a:solidFill>
                  <a:srgbClr val="2B4A7D"/>
                </a:solidFill>
                <a:latin typeface="Consolas"/>
              </a:rPr>
              <a:t>| Median | What does the record in the middle of the queue look like |</a:t>
            </a:r>
          </a:p>
          <a:p>
            <a:r>
              <a:rPr sz="1700">
                <a:solidFill>
                  <a:srgbClr val="2B4A7D"/>
                </a:solidFill>
                <a:latin typeface="Consolas"/>
              </a:rPr>
              <a:t>| Mode | Which exact value repeats most often |</a:t>
            </a:r>
          </a:p>
          <a:p>
            <a:r>
              <a:rPr sz="2100">
                <a:solidFill>
                  <a:srgbClr val="1C1C1A"/>
                </a:solidFill>
                <a:latin typeface="Calibri"/>
              </a:rPr>
              <a:t>Nobody is right. They answer different questions, and the asker rarely says which one they meant.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4, half one: describe without misleading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SECTION 2: WHAT ONE RECORD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FFFFFF"/>
                </a:solidFill>
                <a:latin typeface="Calibri"/>
              </a:rPr>
              <a:t>[one column] &gt; [what is typical] &gt; [what one record does] &gt; [what the shape says] &gt; [per segment, with denominators]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4, half one: describe without misleading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C1A"/>
                </a:solidFill>
                <a:latin typeface="Calibri"/>
              </a:rPr>
              <a:t>The same code, on the real column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C1C1A"/>
                </a:solidFill>
                <a:latin typeface="Calibri"/>
              </a:rPr>
              <a:t>You just did this by hand on seven values. Here it is on all 47.</a:t>
            </a:r>
          </a:p>
          <a:p>
            <a:r>
              <a:rPr sz="1700">
                <a:solidFill>
                  <a:srgbClr val="2B4A7D"/>
                </a:solidFill>
                <a:latin typeface="Consolas"/>
              </a:rPr>
              <a:t>mean amount over 47 records: Rs 18000.00</a:t>
            </a:r>
          </a:p>
          <a:p>
            <a:r>
              <a:rPr sz="2100">
                <a:solidFill>
                  <a:srgbClr val="1C1C1A"/>
                </a:solidFill>
                <a:latin typeface="Calibri"/>
              </a:rPr>
              <a:t>The code is correct. Check it if you like. Add them, divide by 47, you get Rs 18,000.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4, half one: describe without misleading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C1A"/>
                </a:solidFill>
                <a:latin typeface="Calibri"/>
              </a:rPr>
              <a:t>Two more lines, and the number falls apart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2B4A7D"/>
                </a:solidFill>
                <a:latin typeface="Consolas"/>
              </a:rPr>
              <a:t>mean amount over 47 records: Rs 18000.00</a:t>
            </a:r>
          </a:p>
          <a:p>
            <a:r>
              <a:rPr sz="1700">
                <a:solidFill>
                  <a:srgbClr val="2B4A7D"/>
                </a:solidFill>
                <a:latin typeface="Consolas"/>
              </a:rPr>
              <a:t>records at or above Rs 18000.00: 1</a:t>
            </a:r>
          </a:p>
          <a:p>
            <a:r>
              <a:rPr sz="1700">
                <a:solidFill>
                  <a:srgbClr val="2B4A7D"/>
                </a:solidFill>
                <a:latin typeface="Consolas"/>
              </a:rPr>
              <a:t>records below Rs 18000.00: 46</a:t>
            </a:r>
          </a:p>
          <a:p>
            <a:r>
              <a:rPr sz="2100">
                <a:solidFill>
                  <a:srgbClr val="1C1C1A"/>
                </a:solidFill>
                <a:latin typeface="Calibri"/>
              </a:rPr>
              <a:t>The average describes one record out of 47.</a:t>
            </a:r>
          </a:p>
          <a:p>
            <a:r>
              <a:rPr sz="2100">
                <a:solidFill>
                  <a:srgbClr val="1C1C1A"/>
                </a:solidFill>
                <a:latin typeface="Calibri"/>
              </a:rPr>
              <a:t>Forty-six people in this file are below the number you were about to call typical.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4, half one: describe without misleading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C1A"/>
                </a:solidFill>
                <a:latin typeface="Calibri"/>
              </a:rPr>
              <a:t>Sort the column and look at the 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2B4A7D"/>
                </a:solidFill>
                <a:latin typeface="Consolas"/>
              </a:rPr>
              <a:t>... 13000   13600   14200   14800   15600   17400   480000</a:t>
            </a:r>
          </a:p>
          <a:p>
            <a:r>
              <a:rPr sz="2100">
                <a:solidFill>
                  <a:srgbClr val="1C1C1A"/>
                </a:solidFill>
                <a:latin typeface="Calibri"/>
              </a:rPr>
              <a:t>There it is.</a:t>
            </a:r>
          </a:p>
          <a:p>
            <a:r>
              <a:rPr sz="2100">
                <a:solidFill>
                  <a:srgbClr val="1C1C1A"/>
                </a:solidFill>
                <a:latin typeface="Calibri"/>
              </a:rPr>
              <a:t>The second largest order in the entire file is Rs 17,400. The largest is Rs 480,000, which is 27 times the one below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4, half one: describe without misleading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C1A"/>
                </a:solidFill>
                <a:latin typeface="Calibri"/>
              </a:rPr>
              <a:t>The whale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C1C1A"/>
                </a:solidFill>
                <a:latin typeface="Calibri"/>
              </a:rPr>
              <a:t>One record, Rs 480,000, in segment_b.</a:t>
            </a:r>
          </a:p>
          <a:p>
            <a:r>
              <a:rPr sz="2100">
                <a:solidFill>
                  <a:srgbClr val="1C1C1A"/>
                </a:solidFill>
                <a:latin typeface="Calibri"/>
              </a:rPr>
              <a:t>It is not a typo, not a text value, not a duplicate. Yesterday's cleaning pass looked at it and kept it, because it is a real order that a real customer really placed.</a:t>
            </a:r>
          </a:p>
          <a:p>
            <a:r>
              <a:rPr sz="2100">
                <a:solidFill>
                  <a:srgbClr val="1C1C1A"/>
                </a:solidFill>
                <a:latin typeface="Calibri"/>
              </a:rPr>
              <a:t>A record can be correct and still wreck every summary it touches.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4, half one: describe without misleading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C1A"/>
                </a:solidFill>
                <a:latin typeface="Calibri"/>
              </a:rPr>
              <a:t>What it costs, in two rows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2B4A7D"/>
                </a:solidFill>
                <a:latin typeface="Consolas"/>
              </a:rPr>
              <a:t>| Column | With the whale | Without it |</a:t>
            </a:r>
          </a:p>
          <a:p>
            <a:r>
              <a:rPr sz="1700">
                <a:solidFill>
                  <a:srgbClr val="2B4A7D"/>
                </a:solidFill>
                <a:latin typeface="Consolas"/>
              </a:rPr>
              <a:t>|---|---|---|</a:t>
            </a:r>
          </a:p>
          <a:p>
            <a:r>
              <a:rPr sz="1700">
                <a:solidFill>
                  <a:srgbClr val="2B4A7D"/>
                </a:solidFill>
                <a:latin typeface="Consolas"/>
              </a:rPr>
              <a:t>| All 47 records, mean | Rs 18,000.00 | Rs 7,956.52 |</a:t>
            </a:r>
          </a:p>
          <a:p>
            <a:r>
              <a:rPr sz="1700">
                <a:solidFill>
                  <a:srgbClr val="2B4A7D"/>
                </a:solidFill>
                <a:latin typeface="Consolas"/>
              </a:rPr>
              <a:t>| All 47 records, median | Rs 7,500 | Rs 7,300 |</a:t>
            </a:r>
          </a:p>
          <a:p>
            <a:r>
              <a:rPr sz="1700">
                <a:solidFill>
                  <a:srgbClr val="2B4A7D"/>
                </a:solidFill>
                <a:latin typeface="Consolas"/>
              </a:rPr>
              <a:t>| segment_b mean, 9 records | Rs 60,255.56 | Rs 7,787.50 |</a:t>
            </a:r>
          </a:p>
          <a:p>
            <a:r>
              <a:rPr sz="2100">
                <a:solidFill>
                  <a:srgbClr val="1C1C1A"/>
                </a:solidFill>
                <a:latin typeface="Calibri"/>
              </a:rPr>
              <a:t>Removing one record out of nine moves that segment's mean by a factor of nearly eight. The median barely twitches anywhere.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4, half one: describe without misleading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C1A"/>
                </a:solidFill>
                <a:latin typeface="Calibri"/>
              </a:rPr>
              <a:t>So delete 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C1C1A"/>
                </a:solidFill>
                <a:latin typeface="Calibri"/>
              </a:rPr>
              <a:t>No.</a:t>
            </a:r>
          </a:p>
          <a:p>
            <a:r>
              <a:rPr sz="2100">
                <a:solidFill>
                  <a:srgbClr val="1C1C1A"/>
                </a:solidFill>
                <a:latin typeface="Calibri"/>
              </a:rPr>
              <a:t>Deleting a real record to make a number look nicer is how a report becomes fiction. Yesterday you wrote a decisions log precisely so that nobody could do this quietly.</a:t>
            </a:r>
          </a:p>
          <a:p>
            <a:r>
              <a:rPr sz="2100">
                <a:solidFill>
                  <a:srgbClr val="1C1C1A"/>
                </a:solidFill>
                <a:latin typeface="Calibri"/>
              </a:rPr>
              <a:t>The record stays. The statistic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4, half one: describe without misleading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C1A"/>
                </a:solidFill>
                <a:latin typeface="Calibri"/>
              </a:rPr>
              <a:t>The rule for money columns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C1C1A"/>
                </a:solidFill>
                <a:latin typeface="Calibri"/>
              </a:rPr>
              <a:t>&gt; On any money column, report the median and say so.</a:t>
            </a:r>
          </a:p>
          <a:p>
            <a:r>
              <a:rPr sz="2100">
                <a:solidFill>
                  <a:srgbClr val="1C1C1A"/>
                </a:solidFill>
                <a:latin typeface="Calibri"/>
              </a:rPr>
              <a:t>This is not this programme's opinion. Statistical agencies report median household income rather than mean household income, because a small number of very large incomes drag the mean away from anything a household would recognise.</a:t>
            </a:r>
          </a:p>
          <a:p>
            <a:r>
              <a:rPr sz="2100">
                <a:solidFill>
                  <a:srgbClr val="1C1C1A"/>
                </a:solidFill>
                <a:latin typeface="Calibri"/>
              </a:rPr>
              <a:t>Order values behave the same way. So do salaries, claim sizes, invoice amounts and basket totals.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4, half one: describe without misleading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SECTION 3: WHAT THE SPREAD SAYS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FFFFFF"/>
                </a:solidFill>
                <a:latin typeface="Calibri"/>
              </a:rPr>
              <a:t>[one column] &gt; [what is typical] &gt; [what one record does] &gt; [what the shape says] &gt; [per segment, with denominators]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4, half one: describe without misleading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C1A"/>
                </a:solidFill>
                <a:latin typeface="Calibri"/>
              </a:rPr>
              <a:t>Three numbers you get for free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2B4A7D"/>
                </a:solidFill>
                <a:latin typeface="Consolas"/>
              </a:rPr>
              <a:t>min:    Rs 1,800</a:t>
            </a:r>
          </a:p>
          <a:p>
            <a:r>
              <a:rPr sz="1700">
                <a:solidFill>
                  <a:srgbClr val="2B4A7D"/>
                </a:solidFill>
                <a:latin typeface="Consolas"/>
              </a:rPr>
              <a:t>max:    Rs 480,000</a:t>
            </a:r>
          </a:p>
          <a:p>
            <a:r>
              <a:rPr sz="1700">
                <a:solidFill>
                  <a:srgbClr val="2B4A7D"/>
                </a:solidFill>
                <a:latin typeface="Consolas"/>
              </a:rPr>
              <a:t>range:  Rs 478,200</a:t>
            </a:r>
          </a:p>
          <a:p>
            <a:r>
              <a:rPr sz="2100">
                <a:solidFill>
                  <a:srgbClr val="1C1C1A"/>
                </a:solidFill>
                <a:latin typeface="Calibri"/>
              </a:rPr>
              <a:t>The range is one subtraction and it is the least stable number on this slide. It is built from exactly two records, and one of them is the whale.</a:t>
            </a:r>
          </a:p>
          <a:p>
            <a:r>
              <a:rPr sz="2100">
                <a:solidFill>
                  <a:srgbClr val="1C1C1A"/>
                </a:solidFill>
                <a:latin typeface="Calibri"/>
              </a:rPr>
              <a:t>A statistic computed from two records out of 47 tells you about those two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4, half one: describe without misleading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C1A"/>
                </a:solidFill>
                <a:latin typeface="Calibri"/>
              </a:rPr>
              <a:t>The fence, met again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C1C1A"/>
                </a:solidFill>
                <a:latin typeface="Calibri"/>
              </a:rPr>
              <a:t>Yesterday you flagged an outlier by sorting and looking at the tail. Here is the same idea with a rule attached, so it runs without you.</a:t>
            </a:r>
          </a:p>
          <a:p>
            <a:r>
              <a:rPr sz="1700">
                <a:solidFill>
                  <a:srgbClr val="2B4A7D"/>
                </a:solidFill>
                <a:latin typeface="Consolas"/>
              </a:rPr>
              <a:t>Q1 (a quarter of the way up):        Rs 4,800</a:t>
            </a:r>
          </a:p>
          <a:p>
            <a:r>
              <a:rPr sz="1700">
                <a:solidFill>
                  <a:srgbClr val="2B4A7D"/>
                </a:solidFill>
                <a:latin typeface="Consolas"/>
              </a:rPr>
              <a:t>Q3 (three quarters of the way up):   Rs 10,900</a:t>
            </a:r>
          </a:p>
          <a:p>
            <a:r>
              <a:rPr sz="1700">
                <a:solidFill>
                  <a:srgbClr val="2B4A7D"/>
                </a:solidFill>
                <a:latin typeface="Consolas"/>
              </a:rPr>
              <a:t>IQR = Q3 - Q1 =                      Rs 6,100</a:t>
            </a:r>
          </a:p>
          <a:p>
            <a:r>
              <a:rPr sz="1700">
                <a:solidFill>
                  <a:srgbClr val="2B4A7D"/>
                </a:solidFill>
                <a:latin typeface="Consolas"/>
              </a:rPr>
              <a:t>upper fence = Q3 + 1.5 x IQR =       Rs 20,050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4, half one: describe without misleading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C1A"/>
                </a:solidFill>
                <a:latin typeface="Calibri"/>
              </a:rPr>
              <a:t>What the fence catches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2B4A7D"/>
                </a:solidFill>
                <a:latin typeface="Consolas"/>
              </a:rPr>
              <a:t>records above Rs 20,050: 1</a:t>
            </a:r>
          </a:p>
          <a:p>
            <a:r>
              <a:rPr sz="2100">
                <a:solidFill>
                  <a:srgbClr val="1C1C1A"/>
                </a:solidFill>
                <a:latin typeface="Calibri"/>
              </a:rPr>
              <a:t>One record. The whale, and nothing else. The highest ordinary order at Rs 17,400 sits comfortably inside the fence.</a:t>
            </a:r>
          </a:p>
          <a:p>
            <a:r>
              <a:rPr sz="2100">
                <a:solidFill>
                  <a:srgbClr val="1C1C1A"/>
                </a:solidFill>
                <a:latin typeface="Calibri"/>
              </a:rPr>
              <a:t>The fence did in one line what the room did by eye on S12. That is the point of writing a rule down.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4, half one: describe without misleading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C1A"/>
                </a:solidFill>
                <a:latin typeface="Calibri"/>
              </a:rPr>
              <a:t>A fence is a flag, never a delete key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C1C1A"/>
                </a:solidFill>
                <a:latin typeface="Calibri"/>
              </a:rPr>
              <a:t>The fence says "look at this record". It does not say "remove this record".</a:t>
            </a:r>
          </a:p>
          <a:p>
            <a:r>
              <a:rPr sz="2100">
                <a:solidFill>
                  <a:srgbClr val="1C1C1A"/>
                </a:solidFill>
                <a:latin typeface="Calibri"/>
              </a:rPr>
              <a:t>Yesterday's language holds: an outlier is a finding to investigate before it is a row to delete. The fence just finds it faster.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4, half one: describe without misleading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SECTION 4: THE SHAPE BEHIND THE NUMBER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FFFFFF"/>
                </a:solidFill>
                <a:latin typeface="Calibri"/>
              </a:rPr>
              <a:t>[one column] &gt; [what is typical] &gt; [what one record does] &gt; [what the shape says] &gt; [per segment, with denominators]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4, half one: describe without misleading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C1A"/>
                </a:solidFill>
                <a:latin typeface="Calibri"/>
              </a:rPr>
              <a:t>Skew, without a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C1C1A"/>
                </a:solidFill>
                <a:latin typeface="Calibri"/>
              </a:rPr>
              <a:t>Sort the column. Stand on the median. Look both ways.</a:t>
            </a:r>
          </a:p>
          <a:p>
            <a:r>
              <a:rPr sz="1700">
                <a:solidFill>
                  <a:srgbClr val="2B4A7D"/>
                </a:solidFill>
                <a:latin typeface="Consolas"/>
              </a:rPr>
              <a:t>min        median                                          max</a:t>
            </a:r>
          </a:p>
          <a:p>
            <a:r>
              <a:rPr sz="1700">
                <a:solidFill>
                  <a:srgbClr val="2B4A7D"/>
                </a:solidFill>
                <a:latin typeface="Consolas"/>
              </a:rPr>
              <a:t>1800        7500                                        480000</a:t>
            </a:r>
          </a:p>
          <a:p>
            <a:r>
              <a:rPr sz="1700">
                <a:solidFill>
                  <a:srgbClr val="2B4A7D"/>
                </a:solidFill>
                <a:latin typeface="Consolas"/>
              </a:rPr>
              <a:t> |------------|-------------------------------------------|</a:t>
            </a:r>
          </a:p>
          <a:p>
            <a:r>
              <a:rPr sz="1700">
                <a:solidFill>
                  <a:srgbClr val="2B4A7D"/>
                </a:solidFill>
                <a:latin typeface="Consolas"/>
              </a:rPr>
              <a:t>   5,700 down                472,500 up</a:t>
            </a:r>
          </a:p>
          <a:p>
            <a:r>
              <a:rPr sz="2100">
                <a:solidFill>
                  <a:srgbClr val="1C1C1A"/>
                </a:solidFill>
                <a:latin typeface="Calibri"/>
              </a:rPr>
              <a:t>The distance up is 83 times the distance down. That lopsidedness is the skew, and you read it off sorted values with no arithmetic beyond one subtraction each 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4, half one: describe without misleading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C1A"/>
                </a:solidFill>
                <a:latin typeface="Calibri"/>
              </a:rPr>
              <a:t>The tell you can use in any interview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C1C1A"/>
                </a:solidFill>
                <a:latin typeface="Calibri"/>
              </a:rPr>
              <a:t>&gt; If the mean is much larger than the median, something large is pulling on the right.</a:t>
            </a:r>
          </a:p>
          <a:p>
            <a:r>
              <a:rPr sz="2100" b="1">
                <a:solidFill>
                  <a:srgbClr val="1C1C1A"/>
                </a:solidFill>
                <a:latin typeface="Calibri"/>
              </a:rPr>
              <a:t>&gt; If the mean is much smaller, something small is pulling on the left.</a:t>
            </a:r>
          </a:p>
          <a:p>
            <a:r>
              <a:rPr sz="2100" b="1">
                <a:solidFill>
                  <a:srgbClr val="1C1C1A"/>
                </a:solidFill>
                <a:latin typeface="Calibri"/>
              </a:rPr>
              <a:t>&gt; If they sit close together, the shape is roughly even and either one describes it.</a:t>
            </a:r>
          </a:p>
          <a:p>
            <a:r>
              <a:rPr sz="2100">
                <a:solidFill>
                  <a:srgbClr val="1C1C1A"/>
                </a:solidFill>
                <a:latin typeface="Calibri"/>
              </a:rPr>
              <a:t>On this file: mean Rs 18,000, median Rs 7,500. The mean is 2.4 times the median, so you already know there is a tail before you look at a single record.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4, half one: describe without misleading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C1A"/>
                </a:solidFill>
                <a:latin typeface="Calibri"/>
              </a:rPr>
              <a:t>Anscombe's quartet, 1973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C1C1A"/>
                </a:solidFill>
                <a:latin typeface="Calibri"/>
              </a:rPr>
              <a:t>Frank Anscombe built four datasets that share almost identical means, variances and correlations, and look nothing alike when drawn.</a:t>
            </a:r>
          </a:p>
          <a:p>
            <a:r>
              <a:rPr sz="2100">
                <a:solidFill>
                  <a:srgbClr val="1C1C1A"/>
                </a:solidFill>
                <a:latin typeface="Calibri"/>
              </a:rPr>
              <a:t>The lesson he was making has not aged: a summary statistic is a compression, and compression discards. Two datasets can hand you the same numbers and describe two different worlds.</a:t>
            </a:r>
          </a:p>
          <a:p>
            <a:r>
              <a:rPr sz="2100">
                <a:solidFill>
                  <a:srgbClr val="1C1C1A"/>
                </a:solidFill>
                <a:latin typeface="Calibri"/>
              </a:rPr>
              <a:t>You have no charting library until Week 2, so today the sorted list is your picture. Look at it before you trust the summary.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4, half one: describe without misleading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C1A"/>
                </a:solidFill>
                <a:latin typeface="Calibri"/>
              </a:rPr>
              <a:t>The decision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2B4A7D"/>
                </a:solidFill>
                <a:latin typeface="Consolas"/>
              </a:rPr>
              <a:t>| The column looks like | Send | Say alongside |</a:t>
            </a:r>
          </a:p>
          <a:p>
            <a:r>
              <a:rPr sz="1700">
                <a:solidFill>
                  <a:srgbClr val="2B4A7D"/>
                </a:solidFill>
                <a:latin typeface="Consolas"/>
              </a:rPr>
              <a:t>|---|---|---|</a:t>
            </a:r>
          </a:p>
          <a:p>
            <a:r>
              <a:rPr sz="1700">
                <a:solidFill>
                  <a:srgbClr val="2B4A7D"/>
                </a:solidFill>
                <a:latin typeface="Consolas"/>
              </a:rPr>
              <a:t>| Money, or anything with a long tail | Median | The count it rests on |</a:t>
            </a:r>
          </a:p>
          <a:p>
            <a:r>
              <a:rPr sz="1700">
                <a:solidFill>
                  <a:srgbClr val="2B4A7D"/>
                </a:solidFill>
                <a:latin typeface="Consolas"/>
              </a:rPr>
              <a:t>| Roughly even, no extreme values | Mean is fine | The count it rests on |</a:t>
            </a:r>
          </a:p>
          <a:p>
            <a:r>
              <a:rPr sz="1700">
                <a:solidFill>
                  <a:srgbClr val="2B4A7D"/>
                </a:solidFill>
                <a:latin typeface="Consolas"/>
              </a:rPr>
              <a:t>| A category, such as segment or status | Mode, as "the most common" | The count it rests on |</a:t>
            </a:r>
          </a:p>
          <a:p>
            <a:r>
              <a:rPr sz="1700">
                <a:solidFill>
                  <a:srgbClr val="2B4A7D"/>
                </a:solidFill>
                <a:latin typeface="Consolas"/>
              </a:rPr>
              <a:t>| You have not sorted it yet | Nothing | Sort it first |</a:t>
            </a:r>
          </a:p>
          <a:p>
            <a:r>
              <a:rPr sz="2100">
                <a:solidFill>
                  <a:srgbClr val="1C1C1A"/>
                </a:solidFill>
                <a:latin typeface="Calibri"/>
              </a:rPr>
              <a:t>The right-hand column is the same in every row. That is half two's subject.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4, half one: describe without misleading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C1A"/>
                </a:solidFill>
                <a:latin typeface="Calibri"/>
              </a:rPr>
              <a:t>The failure you will meet again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C1C1A"/>
                </a:solidFill>
                <a:latin typeface="Calibri"/>
              </a:rPr>
              <a:t>Not a crash. Correct code, correct arithmetic, and a description that misleads a person who trusted you.</a:t>
            </a:r>
          </a:p>
          <a:p>
            <a:r>
              <a:rPr sz="2100">
                <a:solidFill>
                  <a:srgbClr val="1C1C1A"/>
                </a:solidFill>
                <a:latin typeface="Calibri"/>
              </a:rPr>
              <a:t>Nothing in a traceback catches this. The only thing that catches it is looking at the shape before you send the number.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4, half one: describe without misleading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C1A"/>
                </a:solidFill>
                <a:latin typeface="Calibri"/>
              </a:rPr>
              <a:t>Crux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C1C1A"/>
                </a:solidFill>
                <a:latin typeface="Calibri"/>
              </a:rPr>
              <a:t>&gt; The mean was right and the description was wrong.</a:t>
            </a:r>
          </a:p>
          <a:p>
            <a:r>
              <a:rPr sz="2100" b="1">
                <a:solidFill>
                  <a:srgbClr val="1C1C1A"/>
                </a:solidFill>
                <a:latin typeface="Calibri"/>
              </a:rPr>
              <a:t>&gt; On a money column, send the median, and say that is what you sent.</a:t>
            </a:r>
          </a:p>
          <a:p>
            <a:r>
              <a:rPr sz="2100">
                <a:solidFill>
                  <a:srgbClr val="1C1C1A"/>
                </a:solidFill>
                <a:latin typeface="Calibri"/>
              </a:rPr>
              <a:t>And never send a number without the count it rests on.</a:t>
            </a:r>
          </a:p>
          <a:p>
            <a:r>
              <a:rPr sz="2100">
                <a:solidFill>
                  <a:srgbClr val="1C1C1A"/>
                </a:solidFill>
                <a:latin typeface="Calibri"/>
              </a:rPr>
              <a:t>Half two: the count it rests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4, half one: describe without misleading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