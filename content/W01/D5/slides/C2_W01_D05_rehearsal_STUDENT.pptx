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S1's half minute. The afternoon, after the debrief's second half: the rehearsal in two rounds (100</a:t>
            </a:r>
          </a:p>
          <a:p>
            <a:r>
              <a:t>minutes), three timed design cases (40), and the Kahoot with Saturday's preview (20). Nothing new</a:t>
            </a:r>
          </a:p>
          <a:p>
            <a:r>
              <a:t>is taught; the afternoon is practice with a hostile listener.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three questions and start round one's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one is fifty minutes in pairs, round two is fifty minutes of call-outs to the room. If</a:t>
            </a:r>
          </a:p>
          <a:p>
            <a:r>
              <a:t>time is short, cut round two first and keep round one whole.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Name the four and the one thing each listens for. The note being rehearsed is the</a:t>
            </a:r>
          </a:p>
          <a:p>
            <a:r>
              <a:t>final version of Thursday's one-page note: Meera's three questions, the Retail-Plus gap, the Student</a:t>
            </a:r>
          </a:p>
          <a:p>
            <a:r>
              <a:t>rise and the monsoon sale, each as claim, evidence, caveat and action, which is what goes to</a:t>
            </a:r>
          </a:p>
          <a:p>
            <a:r>
              <a:t>Monday's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timings add to two minutes. A learner who runs long almost always ran long in</a:t>
            </a:r>
          </a:p>
          <a:p>
            <a:r>
              <a:t>the evidence; the fix is one number fewer at the same pace.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pushes in a fair Marketing voice. The partner playing Marketing is</a:t>
            </a:r>
          </a:p>
          <a:p>
            <a:r>
              <a:t>doing the defender a favour, and the room should hear that before round one starts. The first push</a:t>
            </a:r>
          </a:p>
          <a:p>
            <a:r>
              <a:t>is the sharpest: the brief answers it in full on invented figures, and at S7 a TA reads Marketing's</a:t>
            </a:r>
          </a:p>
          <a:p>
            <a:r>
              <a:t>lines while you model the answer once, in four minutes. It is on neither pair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Demonstrate the three moves once with a volunteer playing Marketing on the Student</a:t>
            </a:r>
          </a:p>
          <a:p>
            <a:r>
              <a:t>question. Then say what it would sound like to fold (dropping the caveat) and to overclaim (calling</a:t>
            </a:r>
          </a:p>
          <a:p>
            <a:r>
              <a:t>the rise noise when you only know it is uncertain); the three moves sit between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modelled push. A TA reads Marketing's lines from the rehearsal brief, whose</a:t>
            </a:r>
          </a:p>
          <a:p>
            <a:r>
              <a:t>invented averages are Rs 3,040 for the 60 customers who got the sale against Rs 2,900 for the 100</a:t>
            </a:r>
          </a:p>
          <a:p>
            <a:r>
              <a:t>who did not, and you answer once in the three moves from the brief's invented segment table:</a:t>
            </a:r>
          </a:p>
          <a:p>
            <a:r>
              <a:t>members Rs 3,990 against Rs 4,200 and Retail-Core Rs 2,090 against Rs 2,200, 5.0 percent less in</a:t>
            </a:r>
          </a:p>
          <a:p>
            <a:r>
              <a:t>each. Say once that the figures are invented and that each defender's note carries Thursday's real</a:t>
            </a:r>
          </a:p>
          <a:p>
            <a:r>
              <a:t>ones, which the same answer fits. The brief carries the answer in full; this slide is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S1 to S6 and S9 take eight, Marketing's sharpest push, modelled once at S7 with a</a:t>
            </a:r>
          </a:p>
          <a:p>
            <a:r>
              <a:t>TA, takes four, and the pairs take the other 38. The TAs walk the room. Each TA also uses this round to</a:t>
            </a:r>
          </a:p>
          <a:p>
            <a:r>
              <a:t>tell each of their learners, quietly and one at a time, the step the lab's observation sheet marked</a:t>
            </a:r>
          </a:p>
          <a:p>
            <a:r>
              <a:t>for them, never aloud and never to a group.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round starts. Say it once: the card has no score because a score turns</a:t>
            </a:r>
          </a:p>
          <a:p>
            <a:r>
              <a:t>the partner into a judge, and the job is to be the harder audience, then the useful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Call names from a shuffled list, never by volunteering. The room's push comes</a:t>
            </a:r>
          </a:p>
          <a:p>
            <a:r>
              <a:t>from a learner who has not yet been called. Kavya's review is the trainer's one minute: what held,</a:t>
            </a:r>
          </a:p>
          <a:p>
            <a:r>
              <a:t>and the one change. This is the first round to cut if the day runs 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thirteen per case plus one to set up. Show each answer slide only after the</a:t>
            </a:r>
          </a:p>
          <a:p>
            <a:r>
              <a:t>two call-outs.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three cases.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prompts are in exercises/unguided/C2_W01_D05_timed_cases_STUDENT.md. The model</a:t>
            </a:r>
          </a:p>
          <a:p>
            <a:r>
              <a:t>answers, their sizing and the real-company sources are in trainer/C2_W01_D05_timed_cases_key_TRAINER.md;</a:t>
            </a:r>
          </a:p>
          <a:p>
            <a:r>
              <a:t>read the model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read 1, think 3, pairs 4, two call-outs 3, the next slide 2. Listen for every plan</a:t>
            </a:r>
          </a:p>
          <a:p>
            <a:r>
              <a:t>sized from the lab's pace, for the reconciliation named as the step never dropped, and for the fact</a:t>
            </a:r>
          </a:p>
          <a:p>
            <a:r>
              <a:t>that would switch the plan. The 2,000 orders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The model answer in full is in the trainer's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checks ordered by cost against what each catches, for a stopping</a:t>
            </a:r>
          </a:p>
          <a:p>
            <a:r>
              <a:t>point, and for Finance's number treated as the reference until the bridge closes. The 50,000 rows</a:t>
            </a:r>
          </a:p>
          <a:p>
            <a:r>
              <a:t>and the Rs 20 lakh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three moves from S6 and a test sized in visits and days. Folding</a:t>
            </a:r>
          </a:p>
          <a:p>
            <a:r>
              <a:t>and overclaiming are both answers you will hear. The traffic figures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D gathers more evidence than C in four times the time; the</a:t>
            </a:r>
          </a:p>
          <a:p>
            <a:r>
              <a:t>arithmetic is in the trainer's key, for a TA asked, never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Saturday previewed, the crux lines, tonight's tasks.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kahoot/C2_W01_D05_quiz_STUDENT.md. After each item, one sentence on the wrong</a:t>
            </a:r>
          </a:p>
          <a:p>
            <a:r>
              <a:t>answer most people picked,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Describe the format only; never preview an item. The pre-read for Saturday is in</a:t>
            </a:r>
          </a:p>
          <a:p>
            <a:r>
              <a:t>preread/ and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all five, then ask two learners which line they broke this morning. Keep it</a:t>
            </a:r>
          </a:p>
          <a:p>
            <a:r>
              <a:t>light; everybody broke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and a half minutes. Close on the three tasks. The practice set is in exercises/practice/ and the TAs</a:t>
            </a:r>
          </a:p>
          <a:p>
            <a:r>
              <a:t>run the practice lab from it after this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5085213"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GROWTH-REVIEW REHEARSAL</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note hold when Marketing pushes?</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“Then say it to me the way you will say it to her, because I will push the way Marketing will.”</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Does the note hold?</a:t>
            </a:r>
          </a:p>
        </p:txBody>
      </p:sp>
      <p:sp>
        <p:nvSpPr>
          <p:cNvPr id="13" name="TextBox 12"/>
          <p:cNvSpPr txBox="1"/>
          <p:nvPr/>
        </p:nvSpPr>
        <p:spPr>
          <a:xfrm>
            <a:off x="249545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556758"/>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approach fits?</a:t>
            </a:r>
          </a:p>
        </p:txBody>
      </p:sp>
      <p:sp>
        <p:nvSpPr>
          <p:cNvPr id="15" name="TextBox 14"/>
          <p:cNvSpPr txBox="1"/>
          <p:nvPr/>
        </p:nvSpPr>
        <p:spPr>
          <a:xfrm>
            <a:off x="442826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12315"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What is yours now?</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your note hold when Marketing pushes, which approach fits each case, and what is yours now?</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You defend Thursday's note in pairs, then to the room.</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19" name="TextBox 18"/>
          <p:cNvSpPr txBox="1"/>
          <p:nvPr/>
        </p:nvSpPr>
        <p:spPr>
          <a:xfrm>
            <a:off x="446623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You answer three timed design cases aloud.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 close the week.</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7" name="Oval 2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9" name="Oval 2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note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your note hold when a partner playing Marketing pushes, and can you keep its caveat without folding or overclaiming?</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over two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note to hold, and which six questions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at Monday's growth review with Marketing in the room: a caveat that folds under a push sends her budget after a number that has not earned it, and one that overclaims loses the room.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hears the note?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of four listens for one weakness.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two minutes fit?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parts run in one fixed order.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Marketing push?</a:t>
            </a:r>
          </a:p>
        </p:txBody>
      </p:sp>
      <p:sp>
        <p:nvSpPr>
          <p:cNvPr id="27" name="TextBox 26"/>
          <p:cNvSpPr txBox="1"/>
          <p:nvPr/>
        </p:nvSpPr>
        <p:spPr>
          <a:xfrm>
            <a:off x="4466234"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push is a fair question with a motive.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you hold a caveat?</a:t>
            </a:r>
          </a:p>
        </p:txBody>
      </p:sp>
      <p:sp>
        <p:nvSpPr>
          <p:cNvPr id="32" name="TextBox 31"/>
          <p:cNvSpPr txBox="1"/>
          <p:nvPr/>
        </p:nvSpPr>
        <p:spPr>
          <a:xfrm>
            <a:off x="6351879"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Restate it, bound it, and offer the test.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the rounds run?</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You defend in pairs, then to the room.</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does a partner write?</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CFC9EE"/>
                </a:solidFill>
                <a:latin typeface="Calibri"/>
              </a:rPr>
              <a:t>The card holds four answers and no score.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7" name="Oval 46"/>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hear the note, each for a weakness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hears the note on Monday, and what does each listen for?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CEO</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She wants one page in two minutes that says what to do, and she acts on its first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OWNS CAMPAIGNS</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lead defends the monsoon sale and the acquisition budget against your reading.</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852ec1ae1794.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Anand Iyer</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checks that every number matches the books and can be audited.</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6a22696841d.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PAID TIER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wants to know whether the paid tier is slipping and whom to protect first.</a:t>
            </a:r>
          </a:p>
        </p:txBody>
      </p:sp>
      <p:sp>
        <p:nvSpPr>
          <p:cNvPr id="33" name="Rounded Rectangle 32"/>
          <p:cNvSpPr/>
          <p:nvPr/>
        </p:nvSpPr>
        <p:spPr>
          <a:xfrm>
            <a:off x="530352" y="429412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message-square_028dbd132a0a.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FFFFFF"/>
                </a:solidFill>
                <a:latin typeface="Calibri"/>
              </a:rPr>
              <a:t>How do you know, what did you leave out, and what would change your mind? These are the questions every interviewer asks about a project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0" name="Oval 3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2" name="Oval 4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in two minutes,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minutes carry the note's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carries the number and what it is out of.</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40 SECONDS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what you computed, on how many, and how you checked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Name what would change the claim before anyone finds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 SECONDS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Close on what to do, what it costs, and what would tell us more.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Say the caveat before Marketing finds it, so the room hears it as part of the claim.</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7" name="Oval 3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with numbers that are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a partner playing Marketing push on?</a:t>
            </a:r>
          </a:p>
        </p:txBody>
      </p:sp>
      <p:pic>
        <p:nvPicPr>
          <p:cNvPr id="9" name="mermaid diagram" descr="0e0c703932e10c36.png"/>
          <p:cNvPicPr>
            <a:picLocks noChangeAspect="1"/>
          </p:cNvPicPr>
          <p:nvPr/>
        </p:nvPicPr>
        <p:blipFill>
          <a:blip r:embed="rId5"/>
          <a:stretch>
            <a:fillRect/>
          </a:stretch>
        </p:blipFill>
        <p:spPr>
          <a:xfrm>
            <a:off x="1273023" y="1682496"/>
            <a:ext cx="3300984"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push is a fair question with a motive behind it, so the answer is to the question it asks. The pair lists, with a harder set for the second pairing, are in the rehearsal brief.</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a:t>
            </a:r>
          </a:p>
        </p:txBody>
      </p:sp>
      <p:pic>
        <p:nvPicPr>
          <p:cNvPr id="9" name="mermaid diagram" descr="d1926ba03ed1f24a.png"/>
          <p:cNvPicPr>
            <a:picLocks noChangeAspect="1"/>
          </p:cNvPicPr>
          <p:nvPr/>
        </p:nvPicPr>
        <p:blipFill>
          <a:blip r:embed="rId6"/>
          <a:stretch>
            <a:fillRect/>
          </a:stretch>
        </p:blipFill>
        <p:spPr>
          <a:xfrm>
            <a:off x="2193823" y="1682496"/>
            <a:ext cx="1459382"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answer that holds agrees with the numbers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answer a push whose every number is true?</a:t>
            </a:r>
          </a:p>
        </p:txBody>
      </p:sp>
      <p:pic>
        <p:nvPicPr>
          <p:cNvPr id="9" name="mermaid diagram" descr="8b4a7a0b9515533a.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invented figures, the blend rises 4.8 percent because half the sale's customers were members who spend more anyway, against 35 percent of the rest, while inside each segment the sale's customers spent 5.0 percent less.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person defends twice, to two partners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one run?</a:t>
            </a:r>
          </a:p>
        </p:txBody>
      </p:sp>
      <p:pic>
        <p:nvPicPr>
          <p:cNvPr id="9" name="mermaid diagram" descr="c22a4ac1a0df1c39.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 one each ten minutes runs: two minutes of the note read aloud, five of pushes and answers, three for the partner to fill the feedback card. Pair two takes nine: two, four and three.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partner writes four answers and no score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partner write on the card?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Quote the number and what it was out of, as you heard it.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Was it said before the push, after it, or not at all?</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words_27269e7e5d7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hardest push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Which one landed, and what answer would have held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cissors_1ca78285f5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Keep and cut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Name one sentence to keep and one to cut.</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card is exercises/guided/C2_W01_D05_feedback_card_STUDENT.md, one per defence; the defender keeps it.</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8" name="Oval 37"/>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dozen notes, two minutes each, to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two run?</a:t>
            </a:r>
          </a:p>
        </p:txBody>
      </p:sp>
      <p:pic>
        <p:nvPicPr>
          <p:cNvPr id="9" name="mermaid diagram" descr="85aedfa4d01344f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About a dozen people are called in fifty minutes, so everybody prepares as if they are next.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approach fits?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approach fits each case, sized how, and what would make you switch?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three cases, thirteen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acts on the approach you pick, and which three cases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 interviewer asking the design question, and behind each case a Kalpa stakeholder who acts on the call: Meera, Anand and the product head.</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do you leave out?</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Meera wants a first read in two hours.</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check runs first?</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Zero rejects meet a Rs 20 lakh gap.</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Can 5 of 12 beat 31 percent?</a:t>
            </a:r>
          </a:p>
        </p:txBody>
      </p:sp>
      <p:sp>
        <p:nvSpPr>
          <p:cNvPr id="27" name="TextBox 26"/>
          <p:cNvSpPr txBox="1"/>
          <p:nvPr/>
        </p:nvSpPr>
        <p:spPr>
          <a:xfrm>
            <a:off x="8237524" y="42501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product head wants to ship on 42 percent.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0" name="Oval 29"/>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2" name="Oval 3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think, answer aloud, then two call-outs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timed design case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 MINUTE</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Read</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Read the case, its options and the real company it is like.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 MINUTES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Think</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 paper, pick an option, size it, and name what would switch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 MINUTES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 aloud</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of you answers your partner for two minutes.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5 MINUTES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call-outs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Two answers go to the room, then the model answer.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design question is scored on three things said in order: the option you choose, its size in minutes, rupees or visits, and the fact that would move you to another.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do you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first read on Q3 in two hours, from a raw export of about 2,000 orders: which plan?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Each plan fits the clock at the lab's pace. Choose one: a) no reconciliation; b) no test, the note marked provisional; c) no tree: one segment's gap tested, with the note on that segment; d) no profile, straight to cleaning.</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DMart is the likeness: its July to September 2025 revenue went out as a provisional update eight days before it filed the results.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the reconciliation, leave out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fits, what does each cost, and what would switch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14400"/>
                <a:gridCol w="3416144"/>
                <a:gridCol w="6800446"/>
              </a:tblGrid>
              <a:tr h="369824">
                <a:tc>
                  <a:txBody>
                    <a:bodyPr/>
                    <a:lstStyle/>
                    <a:p>
                      <a:r>
                        <a:rPr sz="1450" b="1" i="0">
                          <a:solidFill>
                            <a:srgbClr val="FFFFFF"/>
                          </a:solidFill>
                          <a:latin typeface="Calibri"/>
                        </a:rPr>
                        <a:t>Plan</a:t>
                      </a:r>
                    </a:p>
                  </a:txBody>
                  <a:tcPr marL="101600" marR="101600" marT="38100" marB="38100" anchor="ctr">
                    <a:solidFill>
                      <a:srgbClr val="1A0F5C"/>
                    </a:solidFill>
                  </a:tcPr>
                </a:tc>
                <a:tc>
                  <a:txBody>
                    <a:bodyPr/>
                    <a:lstStyle/>
                    <a:p>
                      <a:r>
                        <a:rPr sz="1450" b="1" i="0">
                          <a:solidFill>
                            <a:srgbClr val="FFFFFF"/>
                          </a:solidFill>
                          <a:latin typeface="Calibri"/>
                        </a:rPr>
                        <a:t>Minutes at the lab's pace</a:t>
                      </a:r>
                    </a:p>
                  </a:txBody>
                  <a:tcPr marL="101600" marR="101600" marT="38100" marB="38100" anchor="ctr">
                    <a:solidFill>
                      <a:srgbClr val="1A0F5C"/>
                    </a:solidFill>
                  </a:tcPr>
                </a:tc>
                <a:tc>
                  <a:txBody>
                    <a:bodyPr/>
                    <a:lstStyle/>
                    <a:p>
                      <a:r>
                        <a:rPr sz="1450" b="1" i="0">
                          <a:solidFill>
                            <a:srgbClr val="FFFFFF"/>
                          </a:solidFill>
                          <a:latin typeface="Calibri"/>
                        </a:rPr>
                        <a:t>What it leaves out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105</a:t>
                      </a:r>
                    </a:p>
                  </a:txBody>
                  <a:tcPr marL="101600" marR="101600" marT="38100" marB="38100" anchor="ctr">
                    <a:solidFill>
                      <a:srgbClr val="FFFFFF"/>
                    </a:solidFill>
                  </a:tcPr>
                </a:tc>
                <a:tc>
                  <a:txBody>
                    <a:bodyPr/>
                    <a:lstStyle/>
                    <a:p>
                      <a:r>
                        <a:rPr sz="1400" b="0" i="0">
                          <a:solidFill>
                            <a:srgbClr val="1A1440"/>
                          </a:solidFill>
                          <a:latin typeface="Calibri"/>
                        </a:rPr>
                        <a:t>The reconciliation, the step that can flip the first line's sign</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105</a:t>
                      </a:r>
                    </a:p>
                  </a:txBody>
                  <a:tcPr marL="101600" marR="101600" marT="38100" marB="38100" anchor="ctr">
                    <a:solidFill>
                      <a:srgbClr val="F4F2FA"/>
                    </a:solidFill>
                  </a:tcPr>
                </a:tc>
                <a:tc>
                  <a:txBody>
                    <a:bodyPr/>
                    <a:lstStyle/>
                    <a:p>
                      <a:r>
                        <a:rPr sz="1400" b="0" i="0">
                          <a:solidFill>
                            <a:srgbClr val="1A1440"/>
                          </a:solidFill>
                          <a:latin typeface="Calibri"/>
                        </a:rPr>
                        <a:t>The test; the note says provisional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95</a:t>
                      </a:r>
                    </a:p>
                  </a:txBody>
                  <a:tcPr marL="101600" marR="101600" marT="38100" marB="38100" anchor="ctr">
                    <a:solidFill>
                      <a:srgbClr val="FFFFFF"/>
                    </a:solidFill>
                  </a:tcPr>
                </a:tc>
                <a:tc>
                  <a:txBody>
                    <a:bodyPr/>
                    <a:lstStyle/>
                    <a:p>
                      <a:r>
                        <a:rPr sz="1400" b="0" i="0">
                          <a:solidFill>
                            <a:srgbClr val="1A1440"/>
                          </a:solidFill>
                          <a:latin typeface="Calibri"/>
                        </a:rPr>
                        <a:t>The tree: one segment's gap is tested with no decomposition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100</a:t>
                      </a:r>
                    </a:p>
                  </a:txBody>
                  <a:tcPr marL="101600" marR="101600" marT="38100" marB="38100" anchor="ctr">
                    <a:solidFill>
                      <a:srgbClr val="F4F2FA"/>
                    </a:solidFill>
                  </a:tcPr>
                </a:tc>
                <a:tc>
                  <a:txBody>
                    <a:bodyPr/>
                    <a:lstStyle/>
                    <a:p>
                      <a:r>
                        <a:rPr sz="1400" b="0" i="0">
                          <a:solidFill>
                            <a:srgbClr val="1A1440"/>
                          </a:solidFill>
                          <a:latin typeface="Calibri"/>
                        </a:rPr>
                        <a:t>The profile, so it cleans only the defects someone expected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B, because every plan fits the clock and the call is which step to leave out. When Meera will act on one segment's gap, add the test on that gap and trim the tree to find the minutes, or take C if she named the segment herself. With no control total, B still holds, and the first line says the read is unreconciled.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runs first on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migrated ERP's first quarter shows zero rejects and a dashboard Rs 20 lakh above Anand's books: which check runs first?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About 50,000 rows. Choose the order: a) the ledger match first, since it names every order; b) ids against rows and the value accounting, then a monthly bridge; c) the monthly bridge first, then ids against rows once the gap is sized; d) the dashboard's own query first, since the dashboard has run for years.</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TSB is a loose likeness: its customers were locked out of a new platform, where this case is a total trusted before it was reconciled.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cells, then the bridge, then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runs first, and where do you stop?</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445726"/>
                <a:gridCol w="4579744"/>
                <a:gridCol w="3105520"/>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What it catches</a:t>
                      </a:r>
                    </a:p>
                  </a:txBody>
                  <a:tcPr marL="101600" marR="101600" marT="38100" marB="38100" anchor="ctr">
                    <a:solidFill>
                      <a:srgbClr val="1A0F5C"/>
                    </a:solidFill>
                  </a:tcPr>
                </a:tc>
                <a:tc>
                  <a:txBody>
                    <a:bodyPr/>
                    <a:lstStyle/>
                    <a:p>
                      <a:r>
                        <a:rPr sz="1450" b="1" i="0">
                          <a:solidFill>
                            <a:srgbClr val="FFFFFF"/>
                          </a:solidFill>
                          <a:latin typeface="Calibri"/>
                        </a:rPr>
                        <a:t>Cost on 50,000 rows</a:t>
                      </a:r>
                    </a:p>
                  </a:txBody>
                  <a:tcPr marL="101600" marR="101600" marT="38100" marB="38100" anchor="ctr">
                    <a:solidFill>
                      <a:srgbClr val="1A0F5C"/>
                    </a:solidFill>
                  </a:tcPr>
                </a:tc>
              </a:tr>
              <a:tr h="369824">
                <a:tc>
                  <a:txBody>
                    <a:bodyPr/>
                    <a:lstStyle/>
                    <a:p>
                      <a:r>
                        <a:rPr sz="1400" b="0" i="0">
                          <a:solidFill>
                            <a:srgbClr val="1A1440"/>
                          </a:solidFill>
                          <a:latin typeface="Calibri"/>
                        </a:rPr>
                        <a:t>Ids against rows</a:t>
                      </a:r>
                    </a:p>
                  </a:txBody>
                  <a:tcPr marL="101600" marR="101600" marT="38100" marB="38100" anchor="ctr">
                    <a:solidFill>
                      <a:srgbClr val="FFFFFF"/>
                    </a:solidFill>
                  </a:tcPr>
                </a:tc>
                <a:tc>
                  <a:txBody>
                    <a:bodyPr/>
                    <a:lstStyle/>
                    <a:p>
                      <a:r>
                        <a:rPr sz="1400" b="0" i="0">
                          <a:solidFill>
                            <a:srgbClr val="1A1440"/>
                          </a:solidFill>
                          <a:latin typeface="Calibri"/>
                        </a:rPr>
                        <a:t>A batch posted twice</a:t>
                      </a:r>
                    </a:p>
                  </a:txBody>
                  <a:tcPr marL="101600" marR="101600" marT="38100" marB="38100" anchor="ctr">
                    <a:solidFill>
                      <a:srgbClr val="FFFFFF"/>
                    </a:solidFill>
                  </a:tcPr>
                </a:tc>
                <a:tc>
                  <a:txBody>
                    <a:bodyPr/>
                    <a:lstStyle/>
                    <a:p>
                      <a:r>
                        <a:rPr sz="1400" b="0" i="0">
                          <a:solidFill>
                            <a:srgbClr val="1A1440"/>
                          </a:solidFill>
                          <a:latin typeface="Calibri"/>
                        </a:rPr>
                        <a:t>One cell, seconds</a:t>
                      </a:r>
                    </a:p>
                  </a:txBody>
                  <a:tcPr marL="101600" marR="101600" marT="38100" marB="38100" anchor="ctr">
                    <a:solidFill>
                      <a:srgbClr val="FFFFFF"/>
                    </a:solidFill>
                  </a:tcPr>
                </a:tc>
              </a:tr>
              <a:tr h="369824">
                <a:tc>
                  <a:txBody>
                    <a:bodyPr/>
                    <a:lstStyle/>
                    <a:p>
                      <a:r>
                        <a:rPr sz="1400" b="0" i="0">
                          <a:solidFill>
                            <a:srgbClr val="1A1440"/>
                          </a:solidFill>
                          <a:latin typeface="Calibri"/>
                        </a:rPr>
                        <a:t>Every value summed or logged</a:t>
                      </a:r>
                    </a:p>
                  </a:txBody>
                  <a:tcPr marL="101600" marR="101600" marT="38100" marB="38100" anchor="ctr">
                    <a:solidFill>
                      <a:srgbClr val="F4F2FA"/>
                    </a:solidFill>
                  </a:tcPr>
                </a:tc>
                <a:tc>
                  <a:txBody>
                    <a:bodyPr/>
                    <a:lstStyle/>
                    <a:p>
                      <a:r>
                        <a:rPr sz="1400" b="0" i="0">
                          <a:solidFill>
                            <a:srgbClr val="1A1440"/>
                          </a:solidFill>
                          <a:latin typeface="Calibri"/>
                        </a:rPr>
                        <a:t>Values set to zero without a log line</a:t>
                      </a:r>
                    </a:p>
                  </a:txBody>
                  <a:tcPr marL="101600" marR="101600" marT="38100" marB="38100" anchor="ctr">
                    <a:solidFill>
                      <a:srgbClr val="F4F2FA"/>
                    </a:solidFill>
                  </a:tcPr>
                </a:tc>
                <a:tc>
                  <a:txBody>
                    <a:bodyPr/>
                    <a:lstStyle/>
                    <a:p>
                      <a:r>
                        <a:rPr sz="1400" b="0" i="0">
                          <a:solidFill>
                            <a:srgbClr val="1A1440"/>
                          </a:solidFill>
                          <a:latin typeface="Calibri"/>
                        </a:rPr>
                        <a:t>One cell, minutes to read</a:t>
                      </a:r>
                    </a:p>
                  </a:txBody>
                  <a:tcPr marL="101600" marR="101600" marT="38100" marB="38100" anchor="ctr">
                    <a:solidFill>
                      <a:srgbClr val="F4F2FA"/>
                    </a:solidFill>
                  </a:tcPr>
                </a:tc>
              </a:tr>
              <a:tr h="369824">
                <a:tc>
                  <a:txBody>
                    <a:bodyPr/>
                    <a:lstStyle/>
                    <a:p>
                      <a:r>
                        <a:rPr sz="1400" b="0" i="0">
                          <a:solidFill>
                            <a:srgbClr val="1A1440"/>
                          </a:solidFill>
                          <a:latin typeface="Calibri"/>
                        </a:rPr>
                        <a:t>A rupee bridge by month</a:t>
                      </a:r>
                    </a:p>
                  </a:txBody>
                  <a:tcPr marL="101600" marR="101600" marT="38100" marB="38100" anchor="ctr">
                    <a:solidFill>
                      <a:srgbClr val="FFFFFF"/>
                    </a:solidFill>
                  </a:tcPr>
                </a:tc>
                <a:tc>
                  <a:txBody>
                    <a:bodyPr/>
                    <a:lstStyle/>
                    <a:p>
                      <a:r>
                        <a:rPr sz="1400" b="0" i="0">
                          <a:solidFill>
                            <a:srgbClr val="1A1440"/>
                          </a:solidFill>
                          <a:latin typeface="Calibri"/>
                        </a:rPr>
                        <a:t>How big the gap is, and in which month</a:t>
                      </a:r>
                    </a:p>
                  </a:txBody>
                  <a:tcPr marL="101600" marR="101600" marT="38100" marB="38100" anchor="ctr">
                    <a:solidFill>
                      <a:srgbClr val="FFFFFF"/>
                    </a:solidFill>
                  </a:tcPr>
                </a:tc>
                <a:tc>
                  <a:txBody>
                    <a:bodyPr/>
                    <a:lstStyle/>
                    <a:p>
                      <a:r>
                        <a:rPr sz="1400" b="0" i="0">
                          <a:solidFill>
                            <a:srgbClr val="1A1440"/>
                          </a:solidFill>
                          <a:latin typeface="Calibri"/>
                        </a:rPr>
                        <a:t>About 30 minutes</a:t>
                      </a:r>
                    </a:p>
                  </a:txBody>
                  <a:tcPr marL="101600" marR="101600" marT="38100" marB="38100" anchor="ctr">
                    <a:solidFill>
                      <a:srgbClr val="FFFFFF"/>
                    </a:solidFill>
                  </a:tcPr>
                </a:tc>
              </a:tr>
              <a:tr h="369824">
                <a:tc>
                  <a:txBody>
                    <a:bodyPr/>
                    <a:lstStyle/>
                    <a:p>
                      <a:r>
                        <a:rPr sz="1400" b="0" i="0">
                          <a:solidFill>
                            <a:srgbClr val="1A1440"/>
                          </a:solidFill>
                          <a:latin typeface="Calibri"/>
                        </a:rPr>
                        <a:t>The ledger, order by order</a:t>
                      </a:r>
                    </a:p>
                  </a:txBody>
                  <a:tcPr marL="101600" marR="101600" marT="38100" marB="38100" anchor="ctr">
                    <a:solidFill>
                      <a:srgbClr val="F4F2FA"/>
                    </a:solidFill>
                  </a:tcPr>
                </a:tc>
                <a:tc>
                  <a:txBody>
                    <a:bodyPr/>
                    <a:lstStyle/>
                    <a:p>
                      <a:r>
                        <a:rPr sz="1400" b="0" i="0">
                          <a:solidFill>
                            <a:srgbClr val="1A1440"/>
                          </a:solidFill>
                          <a:latin typeface="Calibri"/>
                        </a:rPr>
                        <a:t>Which orders differ</a:t>
                      </a:r>
                    </a:p>
                  </a:txBody>
                  <a:tcPr marL="101600" marR="101600" marT="38100" marB="38100" anchor="ctr">
                    <a:solidFill>
                      <a:srgbClr val="F4F2FA"/>
                    </a:solidFill>
                  </a:tcPr>
                </a:tc>
                <a:tc>
                  <a:txBody>
                    <a:bodyPr/>
                    <a:lstStyle/>
                    <a:p>
                      <a:r>
                        <a:rPr sz="1400" b="0" i="0">
                          <a:solidFill>
                            <a:srgbClr val="1A1440"/>
                          </a:solidFill>
                          <a:latin typeface="Calibri"/>
                        </a:rPr>
                        <a:t>Most of a day</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 The two cheap checks catch the commonest causes, the bridge says whether they explain the whole Rs 20 lakh, and only a month it cannot close is matched order by order. Tonight Anand hears that his number is the reference.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5 of 12 visits beat 31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redesigned checkout converted 5 of 12 visits; the current one converted 31 percent of 1,200. Ship it tomorrow?</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ship to everyone now, on the 42 percent; b) keep the pilot small and wait for more weeks, at about 12 visits a week; c) split the traffic in half until each checkout has about 300 visits; d) one visit in ten to the new checkout for a fortnight, as a cautious rollout.</a:t>
            </a:r>
          </a:p>
        </p:txBody>
      </p:sp>
      <p:sp>
        <p:nvSpPr>
          <p:cNvPr id="12" name="Rounded Rectangle 11"/>
          <p:cNvSpPr/>
          <p:nvPr/>
        </p:nvSpPr>
        <p:spPr>
          <a:xfrm>
            <a:off x="530352" y="3195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528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63778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68275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 Bing is the likeness: a 12 percent revenue lift checked before anyone believed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split the traffic for about half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option fits, sized in visits and days, and what would switch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300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VISITS PER CHECKOUT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given size to tell 42% from 31%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 a week</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1,200 VISITS A WEEK</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half-and-half split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 in 10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CHANCE ALONE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5 or more of 12 at a true 31%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c. Waiting at 12 visits a week takes about 14 weeks, and shipping now bets on five conversions. Switch to d, one visit in ten for a fortnight, when a worse checkout would lose money.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8" name="Oval 2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0" name="Oval 29"/>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yours now?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week make yours, what does Saturday ask, and what do you rerun tonight?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twenty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will test the week's lines, and which four questions lead to tonight's rerun?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before Saturday's paper and Monday's review: the lines you carry out of the week are the ones Marketing and an interviewer will test.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Did the method stick?</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Kahoot tests it in eight items.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Saturday ask?</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You hear the paper's format and marking.</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lines carry over?</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Five lines, one per step, close the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do you rerun?</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Tonight has three tasks, and one is a rerun.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ungraded questions show which calls wobble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you find out which of the week's calls still wobble?</a:t>
            </a:r>
          </a:p>
        </p:txBody>
      </p:sp>
      <p:pic>
        <p:nvPicPr>
          <p:cNvPr id="9" name="mermaid diagram" descr="6c2541ae5daca186.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Kahoot is ungraded: three items on the method, four design calls and Thursday's return question.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Saturday puts the week on paper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Saturday's paper ask, and how is it marked?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cil_56f1d29da1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PAPER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14" name="TextBox 13"/>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It mixes blanks from a word bank, pairs from a match table, statements judged with their reason, scenario sets, applied maths and ordering.</a:t>
            </a:r>
          </a:p>
        </p:txBody>
      </p:sp>
      <p:sp>
        <p:nvSpPr>
          <p:cNvPr id="15" name="Rounded Rectangle 14"/>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MARKING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Swapped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Papers change hands and are marked against the key, read out by the Academic TA.</a:t>
            </a:r>
          </a:p>
        </p:txBody>
      </p:sp>
      <p:sp>
        <p:nvSpPr>
          <p:cNvPr id="21" name="Rounded Rectangle 20"/>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square_e3c3acbf848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DISCUSSION</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Aloud</a:t>
            </a:r>
          </a:p>
        </p:txBody>
      </p:sp>
      <p:sp>
        <p:nvSpPr>
          <p:cNvPr id="26" name="TextBox 25"/>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The most-missed items are discussed first, then the week's interview questions are answered aloud.</a:t>
            </a:r>
          </a:p>
        </p:txBody>
      </p:sp>
      <p:sp>
        <p:nvSpPr>
          <p:cNvPr id="27" name="Rounded Rectangle 26"/>
          <p:cNvSpPr/>
          <p:nvPr/>
        </p:nvSpPr>
        <p:spPr>
          <a:xfrm>
            <a:off x="9015755"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STATUS</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Ungraded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 is a performance indicator for you and the team, with no ranking.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one per step the week made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lines carry out of the week?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Reconcile counts and rupees to a control total before you quote a total.</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zero-reject pass on a file you know is dirty is the first thing to investigate.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Count before rate: put the order count beside every rate before it leads a note.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in every shuffle.</a:t>
            </a:r>
          </a:p>
        </p:txBody>
      </p:sp>
      <p:sp>
        <p:nvSpPr>
          <p:cNvPr id="17" name="TextBox 16"/>
          <p:cNvSpPr txBox="1"/>
          <p:nvPr/>
        </p:nvSpPr>
        <p:spPr>
          <a:xfrm>
            <a:off x="530352" y="368808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724656"/>
            <a:ext cx="10564063" cy="368808"/>
          </a:xfrm>
          <a:prstGeom prst="rect">
            <a:avLst/>
          </a:prstGeom>
          <a:noFill/>
        </p:spPr>
        <p:txBody>
          <a:bodyPr wrap="square" anchor="t" lIns="0" rIns="0" tIns="0" bIns="0">
            <a:spAutoFit/>
          </a:bodyPr>
          <a:lstStyle/>
          <a:p>
            <a:r>
              <a:rPr sz="1500" b="0" i="0">
                <a:solidFill>
                  <a:srgbClr val="1A1440"/>
                </a:solidFill>
                <a:latin typeface="Calibri"/>
              </a:rPr>
              <a:t>Say the claim with its denominator, the caveat before they find it, and what would change your mind.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1" name="Oval 2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3" name="Oval 22"/>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rerun, one recap, and nothing to install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tonight, and what does Saturday ask you to bring?</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FIX</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your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Run the step the TA marked on the practice export, and write one line on what you will change.</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RECAP</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From memory</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Write the note's four parts and the p-value sentence; both are on Saturday's paper.</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SETUP</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Sunday evening</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Week 2 works in a live Postgres connection from VS Code; the setup steps arrive on Sunday.</a:t>
            </a:r>
          </a:p>
        </p:txBody>
      </p:sp>
      <p:sp>
        <p:nvSpPr>
          <p:cNvPr id="25" name="Rounded Rectangle 24"/>
          <p:cNvSpPr/>
          <p:nvPr/>
        </p:nvSpPr>
        <p:spPr>
          <a:xfrm>
            <a:off x="530352" y="4103624"/>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6949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80466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1200912"/>
          </a:xfrm>
          <a:prstGeom prst="rect">
            <a:avLst/>
          </a:prstGeom>
          <a:noFill/>
        </p:spPr>
        <p:txBody>
          <a:bodyPr wrap="square" anchor="t" lIns="0" rIns="0" tIns="0" bIns="0">
            <a:spAutoFit/>
          </a:bodyPr>
          <a:lstStyle/>
          <a:p>
            <a:r>
              <a:rPr sz="1500" b="0" i="0">
                <a:solidFill>
                  <a:srgbClr val="1A1440"/>
                </a:solidFill>
                <a:latin typeface="Calibri"/>
              </a:rPr>
              <a:t>You have the method when its six steps, from the profile to the note, run in order under a clock and the note's caveat comes before the push, and tonight you rerun the one step the lab showed you do not own yet. On Monday, Meera hears Thursday's note from someone who ran the whole method alone this morning and held it against Marketing's pushes this afternoon.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2" name="Oval 3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4" name="Oval 33"/>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