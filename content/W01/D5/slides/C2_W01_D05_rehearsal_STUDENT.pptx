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one minute. The afternoon, after the debrief's second half: the rehearsal in two rounds (100</a:t>
            </a:r>
          </a:p>
          <a:p>
            <a:r>
              <a:t>minutes), three timed design cases (40), and the Kahoot with Saturday's preview (20). Nothing new</a:t>
            </a:r>
          </a:p>
          <a:p>
            <a:r>
              <a:t>is taught; the afternoon is practice with a hostile listener.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LIVE. Round one is fifty minutes in pairs, round two is fifty minutes of call-outs to the room.</a:t>
            </a:r>
          </a:p>
          <a:p>
            <a:r>
              <a:t>If time is short, cut round two first and keep round one whole.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Name the four and the one thing each listens for. The note being rehearsed is the</a:t>
            </a:r>
          </a:p>
          <a:p>
            <a:r>
              <a:t>final version of Thursday's one-page note: the three answers Meera asked for, which is what goes to</a:t>
            </a:r>
          </a:p>
          <a:p>
            <a:r>
              <a:t>Monday's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The timings add to two minutes. A learner who runs long almost always ran long in</a:t>
            </a:r>
          </a:p>
          <a:p>
            <a:r>
              <a:t>the evidence; the fix is one number fewer at the same pace.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Read the four pushes in a fair Marketing voice. The partner playing</a:t>
            </a:r>
          </a:p>
          <a:p>
            <a:r>
              <a:t>Marketing is doing the defender a favour, and the room should hear that before round one starts.</a:t>
            </a:r>
          </a:p>
          <a:p>
            <a:r>
              <a:t>The first push is the sharpest: the brief answers it in full, and after S6 a TA reads Marketing's</a:t>
            </a:r>
          </a:p>
          <a:p>
            <a:r>
              <a:t>lines while you model the answer once, in four minutes. It is on neither pair 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Demonstrate the three moves once with a volunteer playing Marketing on the</a:t>
            </a:r>
          </a:p>
          <a:p>
            <a:r>
              <a:t>Student question. Then say what it would sound like to fold (dropping the caveat) and to overclaim</a:t>
            </a:r>
          </a:p>
          <a:p>
            <a:r>
              <a:t>(calling the rise noise when you only know it is uncertain); the three moves sit between the two.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50 minutes: S1 to S4 and S6 take eight, Marketing's sharpest push, modelled once with a TA,</a:t>
            </a:r>
          </a:p>
          <a:p>
            <a:r>
              <a:t>takes four, and the pairs take the other 38. The TAs walk the room. Each TA also uses this round to tell each of their learners,</a:t>
            </a:r>
          </a:p>
          <a:p>
            <a:r>
              <a:t>quietly and one at a time, the step the lab's observation sheet marked for them. Never aloud, never</a:t>
            </a:r>
          </a:p>
          <a:p>
            <a:r>
              <a:t>to a group.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 before the round starts. Say it once: the card has no score because a score turns</a:t>
            </a:r>
          </a:p>
          <a:p>
            <a:r>
              <a:t>the partner into a judge, and the job is to be the harder audience, then the useful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50 minutes. Call names from a shuffled list, never by volunteering. The room's push comes</a:t>
            </a:r>
          </a:p>
          <a:p>
            <a:r>
              <a:t>from a learner who has not yet been called. Kavya's review is the trainer's one minute: what held,</a:t>
            </a:r>
          </a:p>
          <a:p>
            <a:r>
              <a:t>and the one change. This is the first round to cut if the day runs long.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LIVE. Forty minutes, thirteen per case plus one to set up. The model answers are in the trainer's</a:t>
            </a:r>
          </a:p>
          <a:p>
            <a:r>
              <a:t>key and are read only after the room has answered.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The prompts are in exercises/unguided/C2_W01_D05_timed_cases_STUDENT.md. The model</a:t>
            </a:r>
          </a:p>
          <a:p>
            <a:r>
              <a:t>answers, their sizing and the real-company sources are in trainer/C2_W01_D05_timed_cases_key_TRAINER.md;</a:t>
            </a:r>
          </a:p>
          <a:p>
            <a:r>
              <a:t>read the model after the call-outs.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13 minutes. Listen for every plan sized from the lab's pace (all four cost between 95 and 105</a:t>
            </a:r>
          </a:p>
          <a:p>
            <a:r>
              <a:t>minutes, so the clock does not choose), for the reconciliation named as the step never dropped, and</a:t>
            </a:r>
          </a:p>
          <a:p>
            <a:r>
              <a:t>for the fact that would switch the plan.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13 minutes. Listen for the checks ordered by cost against what each catches, for a stopping</a:t>
            </a:r>
          </a:p>
          <a:p>
            <a:r>
              <a:t>point, and for Finance's number treated as the reference until the bridge closes.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13 minutes. Listen for the three moves from S4 and a test sized in visits and days: about 300</a:t>
            </a:r>
          </a:p>
          <a:p>
            <a:r>
              <a:t>visits each, about half a week at the current traffic. Folding and overclaiming are both answers you</a:t>
            </a:r>
          </a:p>
          <a:p>
            <a:r>
              <a:t>will hear.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LIVE. Twenty minutes: the Kahoot, Saturday previewed, the crux lines, tonight's tasks.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8 minutes. Run kahoot/C2_W01_D05_quiz_STUDENT.md. After each item, one sentence on the</a:t>
            </a:r>
          </a:p>
          <a:p>
            <a:r>
              <a:t>wrong answer most people picked, and move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Describe the format only; never preview an item. The pre-read for Saturday is in</a:t>
            </a:r>
          </a:p>
          <a:p>
            <a:r>
              <a:t>preread/ and ships tonight.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Read all five, then ask two learners which line they broke this morning. Keep it</a:t>
            </a:r>
          </a:p>
          <a:p>
            <a:r>
              <a:t>light; everybody broke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Close on the three tasks. The practice set is in exercises/practice/ and the TAs</a:t>
            </a:r>
          </a:p>
          <a:p>
            <a:r>
              <a:t>run the practice lab from it after this block.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.xml"/><Relationship Id="rId5" Type="http://schemas.openxmlformats.org/officeDocument/2006/relationships/image" Target="../media/image1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6.xml"/><Relationship Id="rId5" Type="http://schemas.openxmlformats.org/officeDocument/2006/relationships/image" Target="../media/image12.png"/><Relationship Id="rId6" Type="http://schemas.openxmlformats.org/officeDocument/2006/relationships/image" Target="../media/image1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7.xml"/><Relationship Id="rId5" Type="http://schemas.openxmlformats.org/officeDocument/2006/relationships/image" Target="../media/image1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0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Relationship Id="rId7" Type="http://schemas.openxmlformats.org/officeDocument/2006/relationships/image" Target="../media/image17.png"/><Relationship Id="rId8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9.xml"/><Relationship Id="rId5" Type="http://schemas.openxmlformats.org/officeDocument/2006/relationships/image" Target="../media/image1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2.png"/><Relationship Id="rId5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2.png"/><Relationship Id="rId5" Type="http://schemas.openxmlformats.org/officeDocument/2006/relationships/notesSlide" Target="../notesSlides/notesSlide12.xml"/><Relationship Id="rId6" Type="http://schemas.openxmlformats.org/officeDocument/2006/relationships/image" Target="../media/image2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2.png"/><Relationship Id="rId5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2.png"/><Relationship Id="rId5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6.xml"/><Relationship Id="rId5" Type="http://schemas.openxmlformats.org/officeDocument/2006/relationships/image" Target="../media/image2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8.png"/><Relationship Id="rId5" Type="http://schemas.openxmlformats.org/officeDocument/2006/relationships/image" Target="../media/image22.png"/><Relationship Id="rId6" Type="http://schemas.openxmlformats.org/officeDocument/2006/relationships/image" Target="../media/image23.png"/><Relationship Id="rId7" Type="http://schemas.openxmlformats.org/officeDocument/2006/relationships/image" Target="../media/image24.png"/><Relationship Id="rId8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566928"/>
            <a:ext cx="1051560" cy="1051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901952" y="804672"/>
            <a:ext cx="6858000" cy="3007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01952" y="1133856"/>
            <a:ext cx="777240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 spc="300">
                <a:solidFill>
                  <a:srgbClr val="D9A7FF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938528"/>
            <a:ext cx="10948111" cy="10972"/>
          </a:xfrm>
          <a:prstGeom prst="rect">
            <a:avLst/>
          </a:prstGeom>
          <a:solidFill>
            <a:srgbClr val="A9A3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1792" y="2240280"/>
            <a:ext cx="5085213" cy="32918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900" b="1" spc="250">
                <a:solidFill>
                  <a:srgbClr val="FFFFFF"/>
                </a:solidFill>
                <a:latin typeface="Calibri"/>
              </a:rPr>
              <a:t>WEEK 1  ·  FRIDAY  ·  THE GROWTH-REVIEW REHEARSAL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2807208"/>
            <a:ext cx="10582351" cy="6639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800" b="0" i="0">
                <a:solidFill>
                  <a:srgbClr val="FFFFFF"/>
                </a:solidFill>
                <a:latin typeface="Georgia"/>
              </a:rPr>
              <a:t>The note, defended aloud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3635756"/>
            <a:ext cx="10033711" cy="6639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1">
                <a:solidFill>
                  <a:srgbClr val="D9A7FF"/>
                </a:solidFill>
                <a:latin typeface="Georgia"/>
              </a:rPr>
              <a:t>“Then say it to me the way you will say it to her, because I will push the way Marketing will.”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4354576"/>
            <a:ext cx="10033711" cy="21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Kavya Nair, senior analyst, Kalpa Retail data team, to the trainees at Kalpa's Global Capability Centre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39" y="5248656"/>
            <a:ext cx="951833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The rehearsal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40553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24601" y="5248656"/>
            <a:ext cx="1602486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Three timed design cases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09967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94015" y="5248656"/>
            <a:ext cx="715232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The close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1, Day 5. The note, defended aloud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1 / 19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The rehearsal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2842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A finding that cannot be said in two minutes to someone who disagrees has not been communicated.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1135567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The rehearsal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976815" y="5074920"/>
            <a:ext cx="178694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Three timed design cases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873486" y="5074920"/>
            <a:ext cx="89870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close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1, Day 5. The note, defended aloud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2 / 19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Monday's room, and what each person wants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Four people will hear the note, and each listens for a different weakness.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2645587" cy="21544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crown_50cb0a914c8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19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CEO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19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Meera Raghavan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19" y="3303524"/>
            <a:ext cx="2243251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One page, two minutes, and what to do. She acts on the first line.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58819" y="1956816"/>
            <a:ext cx="2645587" cy="21544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59987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megaphone_df6318bcf2f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69715" y="226771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559987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OWNS CAMPAIGNS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59987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The marketing lead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59987" y="3303524"/>
            <a:ext cx="2243251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Defends the monsoon sale and the acquisition budget against your reading.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87287" y="1956816"/>
            <a:ext cx="2645587" cy="21544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88455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calculator_852ec1ae179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98183" y="2267712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388455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FINANCE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88455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Anand Iyer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88455" y="3303524"/>
            <a:ext cx="2243251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Checks that every number matches the books and can be audited.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15755" y="1956816"/>
            <a:ext cx="2645587" cy="21544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216923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9" name="Picture 28" descr="badge-check_d6a22696841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26651" y="2267712"/>
            <a:ext cx="237744" cy="237744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9216923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PAID TIER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16923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The head of Retail-Plus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16923" y="3303524"/>
            <a:ext cx="2243251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Wants to know whether his tier is slipping and who to protect.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30352" y="4294124"/>
            <a:ext cx="11130991" cy="1121664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58952" y="4626356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5" name="Picture 34" descr="message-square_028dbd132a0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68680" y="4736084"/>
            <a:ext cx="237744" cy="237744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1399031" y="4440428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THE CLIENT ASKS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99031" y="4659884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FFFFFF"/>
                </a:solidFill>
                <a:latin typeface="Calibri"/>
              </a:rPr>
              <a:t>How do you know, what did you leave out, and what would change your mind? These are the questions every interviewer asks about a project too.</a:t>
            </a:r>
          </a:p>
        </p:txBody>
      </p:sp>
      <p:sp>
        <p:nvSpPr>
          <p:cNvPr id="38" name="Oval 3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0080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rehearsal</a:t>
            </a:r>
          </a:p>
        </p:txBody>
      </p:sp>
      <p:sp>
        <p:nvSpPr>
          <p:cNvPr id="40" name="Oval 39"/>
          <p:cNvSpPr/>
          <p:nvPr/>
        </p:nvSpPr>
        <p:spPr>
          <a:xfrm>
            <a:off x="160391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713642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Three timed design cases</a:t>
            </a:r>
          </a:p>
        </p:txBody>
      </p:sp>
      <p:sp>
        <p:nvSpPr>
          <p:cNvPr id="42" name="Oval 41"/>
          <p:cNvSpPr/>
          <p:nvPr/>
        </p:nvSpPr>
        <p:spPr>
          <a:xfrm>
            <a:off x="318354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293268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  ·  3 / 19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Two minutes, four parts, one order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note read aloud keeps the shape it has on paper.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1853145" y="2523744"/>
            <a:ext cx="8485403" cy="18288"/>
          </a:xfrm>
          <a:prstGeom prst="rect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30 SECONDS</a:t>
            </a:r>
          </a:p>
        </p:txBody>
      </p:sp>
      <p:sp>
        <p:nvSpPr>
          <p:cNvPr id="11" name="Oval 10"/>
          <p:cNvSpPr/>
          <p:nvPr/>
        </p:nvSpPr>
        <p:spPr>
          <a:xfrm>
            <a:off x="1752561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30352" y="2843784"/>
            <a:ext cx="2645587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944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Claim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3277870"/>
            <a:ext cx="2316403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One sentence, with the number and what it is out of.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58819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40 SECONDS</a:t>
            </a:r>
          </a:p>
        </p:txBody>
      </p:sp>
      <p:sp>
        <p:nvSpPr>
          <p:cNvPr id="16" name="Oval 15"/>
          <p:cNvSpPr/>
          <p:nvPr/>
        </p:nvSpPr>
        <p:spPr>
          <a:xfrm>
            <a:off x="4581029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358819" y="2843784"/>
            <a:ext cx="2645587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23411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Evidence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3411" y="3277870"/>
            <a:ext cx="2316403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What you computed, on how many, and how you checked it.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87287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30 SECONDS</a:t>
            </a:r>
          </a:p>
        </p:txBody>
      </p:sp>
      <p:sp>
        <p:nvSpPr>
          <p:cNvPr id="21" name="Oval 20"/>
          <p:cNvSpPr/>
          <p:nvPr/>
        </p:nvSpPr>
        <p:spPr>
          <a:xfrm>
            <a:off x="7409497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187287" y="2843784"/>
            <a:ext cx="2645587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1879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Caveat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1879" y="3277870"/>
            <a:ext cx="2316403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The thing that would change the claim, said before anyone finds it.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15755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20 SECONDS</a:t>
            </a:r>
          </a:p>
        </p:txBody>
      </p:sp>
      <p:sp>
        <p:nvSpPr>
          <p:cNvPr id="26" name="Oval 25"/>
          <p:cNvSpPr/>
          <p:nvPr/>
        </p:nvSpPr>
        <p:spPr>
          <a:xfrm>
            <a:off x="10237965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015755" y="2843784"/>
            <a:ext cx="2645587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80347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Action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347" y="3277870"/>
            <a:ext cx="2316403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What to do, what it costs, and what would tell us more.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30352" y="4103624"/>
            <a:ext cx="11130991" cy="86258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58952" y="4306316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2" name="Picture 31" descr="search-check_6571e64a041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416044"/>
            <a:ext cx="237744" cy="237744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1399031" y="4249928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KAVYA'S REVIEW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99031" y="4469384"/>
            <a:ext cx="9987991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Say the caveat before Marketing finds it, so the room hears it as part of the claim.</a:t>
            </a:r>
          </a:p>
        </p:txBody>
      </p:sp>
      <p:sp>
        <p:nvSpPr>
          <p:cNvPr id="35" name="Oval 3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rehearsal</a:t>
            </a:r>
          </a:p>
        </p:txBody>
      </p:sp>
      <p:sp>
        <p:nvSpPr>
          <p:cNvPr id="37" name="Oval 36"/>
          <p:cNvSpPr/>
          <p:nvPr/>
        </p:nvSpPr>
        <p:spPr>
          <a:xfrm>
            <a:off x="160391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713642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Three timed design cases</a:t>
            </a:r>
          </a:p>
        </p:txBody>
      </p:sp>
      <p:sp>
        <p:nvSpPr>
          <p:cNvPr id="39" name="Oval 38"/>
          <p:cNvSpPr/>
          <p:nvPr/>
        </p:nvSpPr>
        <p:spPr>
          <a:xfrm>
            <a:off x="318354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293268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  ·  4 / 19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What a partner playing Marketing pushes 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Every push is a fair question with a motive behind it; answer the question it asks.</a:t>
            </a:r>
          </a:p>
        </p:txBody>
      </p:sp>
      <p:pic>
        <p:nvPicPr>
          <p:cNvPr id="9" name="mermaid diagram" descr="9ad772b26513e7b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77621" y="1664208"/>
            <a:ext cx="4636452" cy="38089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5518912"/>
            <a:ext cx="11130991" cy="68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0">
                <a:solidFill>
                  <a:srgbClr val="1A1440"/>
                </a:solidFill>
                <a:latin typeface="Calibri"/>
              </a:rPr>
              <a:t>The full list, with a harder set for the second pairing, is in exercises/guided/C2_W01_D05_rehearsal_brief_STUDENT.md.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rehearsal</a:t>
            </a:r>
          </a:p>
        </p:txBody>
      </p:sp>
      <p:sp>
        <p:nvSpPr>
          <p:cNvPr id="13" name="Oval 12"/>
          <p:cNvSpPr/>
          <p:nvPr/>
        </p:nvSpPr>
        <p:spPr>
          <a:xfrm>
            <a:off x="160391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713642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Three timed design cases</a:t>
            </a:r>
          </a:p>
        </p:txBody>
      </p:sp>
      <p:sp>
        <p:nvSpPr>
          <p:cNvPr id="15" name="Oval 14"/>
          <p:cNvSpPr/>
          <p:nvPr/>
        </p:nvSpPr>
        <p:spPr>
          <a:xfrm>
            <a:off x="318354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93268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  ·  5 / 19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Holding a caveat without overclaiming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Restate, bound, offer the test: three moves that keep the claim the size the data supports.</a:t>
            </a:r>
          </a:p>
        </p:txBody>
      </p:sp>
      <p:pic>
        <p:nvPicPr>
          <p:cNvPr id="9" name="mermaid diagram" descr="658eabffd8fd6df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77335" y="1664208"/>
            <a:ext cx="2637024" cy="3462528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5172456"/>
            <a:ext cx="11130991" cy="86258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537514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mic_caee7398c80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5484876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531876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IN THE INTERVIEW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5538216"/>
            <a:ext cx="9987991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[D] A stakeholder attacks your caveat in front of the room; how do you hold it without overclaiming?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rehearsal</a:t>
            </a:r>
          </a:p>
        </p:txBody>
      </p:sp>
      <p:sp>
        <p:nvSpPr>
          <p:cNvPr id="17" name="Oval 16"/>
          <p:cNvSpPr/>
          <p:nvPr/>
        </p:nvSpPr>
        <p:spPr>
          <a:xfrm>
            <a:off x="160391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713642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Three timed design cases</a:t>
            </a:r>
          </a:p>
        </p:txBody>
      </p:sp>
      <p:sp>
        <p:nvSpPr>
          <p:cNvPr id="19" name="Oval 18"/>
          <p:cNvSpPr/>
          <p:nvPr/>
        </p:nvSpPr>
        <p:spPr>
          <a:xfrm>
            <a:off x="318354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93268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  ·  6 / 19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Round one: pairs, then a new pair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Fifty minutes: each person defends twice, to two different Marketing partners.</a:t>
            </a:r>
          </a:p>
        </p:txBody>
      </p:sp>
      <p:pic>
        <p:nvPicPr>
          <p:cNvPr id="9" name="mermaid diagram" descr="ea3b488851d317b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3797" y="1956816"/>
            <a:ext cx="9944100" cy="11287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231832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In pair one each ten minutes runs: two minutes of the note read aloud, five of pushes and answers, three for the partner to fill the feedback card. Pair two takes nine: two, four and three.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rehearsal</a:t>
            </a:r>
          </a:p>
        </p:txBody>
      </p:sp>
      <p:sp>
        <p:nvSpPr>
          <p:cNvPr id="13" name="Oval 12"/>
          <p:cNvSpPr/>
          <p:nvPr/>
        </p:nvSpPr>
        <p:spPr>
          <a:xfrm>
            <a:off x="160391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713642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Three timed design cases</a:t>
            </a:r>
          </a:p>
        </p:txBody>
      </p:sp>
      <p:sp>
        <p:nvSpPr>
          <p:cNvPr id="15" name="Oval 14"/>
          <p:cNvSpPr/>
          <p:nvPr/>
        </p:nvSpPr>
        <p:spPr>
          <a:xfrm>
            <a:off x="318354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93268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  ·  7 / 19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feedback card has no score on 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Four questions a partner answers in writing, and the defender keeps the card.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2645587" cy="19644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hash_29aa8cda0b5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19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19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The claim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19" y="3303524"/>
            <a:ext cx="2243251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Quote the number and what it was out of, as you heard it.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58819" y="1956816"/>
            <a:ext cx="2645587" cy="19644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59987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shield_1aa1fb98209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69715" y="226771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559987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59987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The caveat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59987" y="3303524"/>
            <a:ext cx="2243251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Said before the push, after it, or not at all?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87287" y="1956816"/>
            <a:ext cx="2645587" cy="19644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88455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swords_27269e7e5d7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98183" y="2267712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388455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88455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The hardest push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88455" y="3303524"/>
            <a:ext cx="2243251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Which one landed, and what answer would have held it?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15755" y="1956816"/>
            <a:ext cx="2645587" cy="19644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216923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9" name="Picture 28" descr="scissors_1ca78285f579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26651" y="2267712"/>
            <a:ext cx="237744" cy="237744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9216923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16923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Keep and cut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16923" y="3303524"/>
            <a:ext cx="2243251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One sentence to keep, one to cut.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0352" y="4104132"/>
            <a:ext cx="11130991" cy="495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The card is exercises/guided/C2_W01_D05_feedback_card_STUDENT.md, one per defence.</a:t>
            </a:r>
          </a:p>
        </p:txBody>
      </p:sp>
      <p:sp>
        <p:nvSpPr>
          <p:cNvPr id="34" name="Oval 33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rehearsal</a:t>
            </a:r>
          </a:p>
        </p:txBody>
      </p:sp>
      <p:sp>
        <p:nvSpPr>
          <p:cNvPr id="36" name="Oval 35"/>
          <p:cNvSpPr/>
          <p:nvPr/>
        </p:nvSpPr>
        <p:spPr>
          <a:xfrm>
            <a:off x="160391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713642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Three timed design cases</a:t>
            </a:r>
          </a:p>
        </p:txBody>
      </p:sp>
      <p:sp>
        <p:nvSpPr>
          <p:cNvPr id="38" name="Oval 37"/>
          <p:cNvSpPr/>
          <p:nvPr/>
        </p:nvSpPr>
        <p:spPr>
          <a:xfrm>
            <a:off x="318354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293268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S6  ·  8 / 19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Round two: two minutes, to the whole room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Random call-outs: the note read standing, one push from the room, Kavya's review.</a:t>
            </a:r>
          </a:p>
        </p:txBody>
      </p:sp>
      <p:pic>
        <p:nvPicPr>
          <p:cNvPr id="9" name="mermaid diagram" descr="5b384aa1cbb34c6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66685" y="1956816"/>
            <a:ext cx="9458325" cy="87153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2974657"/>
            <a:ext cx="11130991" cy="495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About a dozen people are called in fifty minutes, so everybody prepares as if they are next.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rehearsal</a:t>
            </a:r>
          </a:p>
        </p:txBody>
      </p:sp>
      <p:sp>
        <p:nvSpPr>
          <p:cNvPr id="13" name="Oval 12"/>
          <p:cNvSpPr/>
          <p:nvPr/>
        </p:nvSpPr>
        <p:spPr>
          <a:xfrm>
            <a:off x="160391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713642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Three timed design cases</a:t>
            </a:r>
          </a:p>
        </p:txBody>
      </p:sp>
      <p:sp>
        <p:nvSpPr>
          <p:cNvPr id="15" name="Oval 14"/>
          <p:cNvSpPr/>
          <p:nvPr/>
        </p:nvSpPr>
        <p:spPr>
          <a:xfrm>
            <a:off x="318354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93268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S7  ·  9 / 19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Three timed design cases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2842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The week's interview angles as a screen asks them: a situation, a clock, and your answer aloud.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113556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rehearsal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976815" y="5074920"/>
            <a:ext cx="1786943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Three timed design cases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873486" y="5074920"/>
            <a:ext cx="89870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close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1, Day 5. The note, defended aloud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10 / 19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How a timed design case runs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Read, think, answer to a partner, then the room hears two answers.</a:t>
            </a:r>
          </a:p>
        </p:txBody>
      </p:sp>
      <p:sp>
        <p:nvSpPr>
          <p:cNvPr id="9" name="Rectangle 8"/>
          <p:cNvSpPr/>
          <p:nvPr/>
        </p:nvSpPr>
        <p:spPr>
          <a:xfrm>
            <a:off x="1853145" y="2523744"/>
            <a:ext cx="8485403" cy="18288"/>
          </a:xfrm>
          <a:prstGeom prst="rect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1 MINUTE</a:t>
            </a:r>
          </a:p>
        </p:txBody>
      </p:sp>
      <p:sp>
        <p:nvSpPr>
          <p:cNvPr id="11" name="Oval 10"/>
          <p:cNvSpPr/>
          <p:nvPr/>
        </p:nvSpPr>
        <p:spPr>
          <a:xfrm>
            <a:off x="1752561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30352" y="2843784"/>
            <a:ext cx="2645587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944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Read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3277870"/>
            <a:ext cx="2316403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The case, its options and the real company it is like.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58819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3 MINUTES</a:t>
            </a:r>
          </a:p>
        </p:txBody>
      </p:sp>
      <p:sp>
        <p:nvSpPr>
          <p:cNvPr id="16" name="Oval 15"/>
          <p:cNvSpPr/>
          <p:nvPr/>
        </p:nvSpPr>
        <p:spPr>
          <a:xfrm>
            <a:off x="4581029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358819" y="2843784"/>
            <a:ext cx="2645587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23411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Think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3411" y="3277870"/>
            <a:ext cx="2316403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On paper: which option fits, sized how, and what would switch it.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87287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4 MINUTES</a:t>
            </a:r>
          </a:p>
        </p:txBody>
      </p:sp>
      <p:sp>
        <p:nvSpPr>
          <p:cNvPr id="21" name="Oval 20"/>
          <p:cNvSpPr/>
          <p:nvPr/>
        </p:nvSpPr>
        <p:spPr>
          <a:xfrm>
            <a:off x="7409497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187287" y="2843784"/>
            <a:ext cx="2645587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1879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Answer aloud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1879" y="3277870"/>
            <a:ext cx="2316403" cy="2016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Two minutes each, to your partner.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15755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5 MINUTES</a:t>
            </a:r>
          </a:p>
        </p:txBody>
      </p:sp>
      <p:sp>
        <p:nvSpPr>
          <p:cNvPr id="26" name="Oval 25"/>
          <p:cNvSpPr/>
          <p:nvPr/>
        </p:nvSpPr>
        <p:spPr>
          <a:xfrm>
            <a:off x="10237965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015755" y="2843784"/>
            <a:ext cx="2645587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80347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Two call-outs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347" y="3277870"/>
            <a:ext cx="2316403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Two answers to the room, then the model answer.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30352" y="4103624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58952" y="4435856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2" name="Picture 31" descr="mic_caee7398c80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545584"/>
            <a:ext cx="237744" cy="237744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1399031" y="4249928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IN THE INTERVIEW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99031" y="4469384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A design question is scored on three things said in order: the option you choose, its size in minutes, rupees or visits, and the fact that would move you to another.</a:t>
            </a:r>
          </a:p>
        </p:txBody>
      </p:sp>
      <p:sp>
        <p:nvSpPr>
          <p:cNvPr id="35" name="Oval 3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rehearsal</a:t>
            </a:r>
          </a:p>
        </p:txBody>
      </p:sp>
      <p:sp>
        <p:nvSpPr>
          <p:cNvPr id="37" name="Oval 36"/>
          <p:cNvSpPr/>
          <p:nvPr/>
        </p:nvSpPr>
        <p:spPr>
          <a:xfrm>
            <a:off x="1603914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713642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Three timed design cases</a:t>
            </a:r>
          </a:p>
        </p:txBody>
      </p:sp>
      <p:sp>
        <p:nvSpPr>
          <p:cNvPr id="39" name="Oval 38"/>
          <p:cNvSpPr/>
          <p:nvPr/>
        </p:nvSpPr>
        <p:spPr>
          <a:xfrm>
            <a:off x="318354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293268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S8  ·  11 / 19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Case 1: Meera's first read in two hours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raw export, a review on Monday, and four plans that each fit the clock and each leave a step out.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38074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58952" y="241858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mic_caee7398c80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528316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399031" y="210312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IN THE INTERVIEW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99031" y="2322576"/>
            <a:ext cx="9987991" cy="9418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[F] You have two hours and a raw export; what do you do first, and what do you skip? Here the export is Q3 from the ERP, and DMart is the likeness: it publishes a provisional quarter days before it files the results.</a:t>
            </a:r>
          </a:p>
        </p:txBody>
      </p:sp>
      <p:pic>
        <p:nvPicPr>
          <p:cNvPr id="14" name="mermaid diagram" descr="bf8c3587e878941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38147" y="3502152"/>
            <a:ext cx="8915400" cy="2271712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rehearsal</a:t>
            </a:r>
          </a:p>
        </p:txBody>
      </p:sp>
      <p:sp>
        <p:nvSpPr>
          <p:cNvPr id="17" name="Oval 16"/>
          <p:cNvSpPr/>
          <p:nvPr/>
        </p:nvSpPr>
        <p:spPr>
          <a:xfrm>
            <a:off x="1603914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713642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Three timed design cases</a:t>
            </a:r>
          </a:p>
        </p:txBody>
      </p:sp>
      <p:sp>
        <p:nvSpPr>
          <p:cNvPr id="19" name="Oval 18"/>
          <p:cNvSpPr/>
          <p:nvPr/>
        </p:nvSpPr>
        <p:spPr>
          <a:xfrm>
            <a:off x="318354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93268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S9  ·  12 / 19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Case 2: zero rejects and a Rs 20 lakh gap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first quarter out of the migrated ERP, a pass that reports nothing, and Finance disagreeing.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38074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58952" y="241858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mic_caee7398c80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528316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399031" y="210312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IN THE INTERVIEW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99031" y="2322576"/>
            <a:ext cx="9987991" cy="9418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[S] Walk me through how you clean and check a dataset you have never seen. Here four checks cost from seconds to a day, and TSB is a loose likeness: a new platform whose output was trusted before it was checked.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3502152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50,000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4237228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ROWS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4438396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illustrative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0352" y="4690872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32122" y="3502152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32122" y="4237228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REJECTS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32122" y="4438396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as the pass reports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32122" y="4690872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33892" y="3502152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Rs 20 lakh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33892" y="4237228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THE GAP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33892" y="4438396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dashboard above Finance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33892" y="4690872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rehearsal</a:t>
            </a:r>
          </a:p>
        </p:txBody>
      </p:sp>
      <p:sp>
        <p:nvSpPr>
          <p:cNvPr id="28" name="Oval 27"/>
          <p:cNvSpPr/>
          <p:nvPr/>
        </p:nvSpPr>
        <p:spPr>
          <a:xfrm>
            <a:off x="1603914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713642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Three timed design cases</a:t>
            </a:r>
          </a:p>
        </p:txBody>
      </p:sp>
      <p:sp>
        <p:nvSpPr>
          <p:cNvPr id="30" name="Oval 29"/>
          <p:cNvSpPr/>
          <p:nvPr/>
        </p:nvSpPr>
        <p:spPr>
          <a:xfrm>
            <a:off x="318354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293268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S10  ·  13 / 19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Case 3: 42 percent on twelve visits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product head wants to ship a result tomorrow, and your caveat is in the way.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38074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58952" y="241858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mic_caee7398c80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528316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399031" y="210312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IN THE INTERVIEW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99031" y="2322576"/>
            <a:ext cx="9987991" cy="9418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[D] A stakeholder attacks your caveat in front of the room; how do you hold it without overclaiming? Here a new checkout converted 42 percent on 12 visits against 31 percent on 1,200, and Bing is the likeness: a 12 percent lift checked before anyone believed it.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3502152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42%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4237228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NEW CHECKOUT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4438396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5 of 12 visits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0352" y="4690872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32122" y="3502152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31%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32122" y="4237228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CURRENT CHECKOUT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32122" y="4438396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of 1,200 visits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32122" y="4690872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33892" y="3502152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about 300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33892" y="4237228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VISITS PER CHECKOUT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33892" y="4438396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in an equal split, to tell the two apart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33892" y="4690872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rehearsal</a:t>
            </a:r>
          </a:p>
        </p:txBody>
      </p:sp>
      <p:sp>
        <p:nvSpPr>
          <p:cNvPr id="28" name="Oval 27"/>
          <p:cNvSpPr/>
          <p:nvPr/>
        </p:nvSpPr>
        <p:spPr>
          <a:xfrm>
            <a:off x="1603914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713642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Three timed design cases</a:t>
            </a:r>
          </a:p>
        </p:txBody>
      </p:sp>
      <p:sp>
        <p:nvSpPr>
          <p:cNvPr id="30" name="Oval 29"/>
          <p:cNvSpPr/>
          <p:nvPr/>
        </p:nvSpPr>
        <p:spPr>
          <a:xfrm>
            <a:off x="318354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293268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S11  ·  14 / 19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The close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2842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The week in eight questions, Saturday's paper, and the one step to rerun tonight.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113556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rehearsal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976815" y="5074920"/>
            <a:ext cx="178694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Three timed design cases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873486" y="5074920"/>
            <a:ext cx="898703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The close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1, Day 5. The note, defended aloud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15 / 19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Kahoot: the week's method in eight questions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Three on the method, four design calls and Thursday's return question, ungraded.</a:t>
            </a:r>
          </a:p>
        </p:txBody>
      </p:sp>
      <p:pic>
        <p:nvPicPr>
          <p:cNvPr id="9" name="mermaid diagram" descr="c5810a2e8673299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88178" y="1956816"/>
            <a:ext cx="8415337" cy="1628775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rehearsal</a:t>
            </a:r>
          </a:p>
        </p:txBody>
      </p:sp>
      <p:sp>
        <p:nvSpPr>
          <p:cNvPr id="12" name="Oval 11"/>
          <p:cNvSpPr/>
          <p:nvPr/>
        </p:nvSpPr>
        <p:spPr>
          <a:xfrm>
            <a:off x="160391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713642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Three timed design cases</a:t>
            </a:r>
          </a:p>
        </p:txBody>
      </p:sp>
      <p:sp>
        <p:nvSpPr>
          <p:cNvPr id="14" name="Oval 13"/>
          <p:cNvSpPr/>
          <p:nvPr/>
        </p:nvSpPr>
        <p:spPr>
          <a:xfrm>
            <a:off x="318354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93268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close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S12  ·  16 / 19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Saturday: the week on paper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Pen and paper, no assistant, objective items, marked by a peer against the key.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2645587" cy="253441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pencil_56f1d29da18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19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PAPER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19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120 minutes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19" y="3303524"/>
            <a:ext cx="2243251" cy="9446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Blanks from a word bank, pairs from a match table, statements judged with their reason, scenario sets, applied maths and ordering.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58819" y="1956816"/>
            <a:ext cx="2645587" cy="253441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59987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repeat_e3d62ee72e9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69715" y="226771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559987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MARKING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59987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Swapped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59987" y="3303524"/>
            <a:ext cx="2243251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Papers change hands and are marked against the key, read out by the Academic TA.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87287" y="1956816"/>
            <a:ext cx="2645587" cy="253441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88455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messages-square_e3c3acbf848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98183" y="2267712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388455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DISCUSSION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88455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Aloud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88455" y="3303524"/>
            <a:ext cx="2243251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The most-missed items first, then the week's interview questions as interview answers.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15755" y="1956816"/>
            <a:ext cx="2645587" cy="253441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216923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9" name="Picture 28" descr="circle-slash_1e230f308fa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26651" y="2267712"/>
            <a:ext cx="237744" cy="237744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9216923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STATUS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16923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Ungraded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16923" y="3303524"/>
            <a:ext cx="2243251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A performance indicator for you and the team, with no ranking.</a:t>
            </a:r>
          </a:p>
        </p:txBody>
      </p:sp>
      <p:sp>
        <p:nvSpPr>
          <p:cNvPr id="33" name="Oval 3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rehearsal</a:t>
            </a:r>
          </a:p>
        </p:txBody>
      </p:sp>
      <p:sp>
        <p:nvSpPr>
          <p:cNvPr id="35" name="Oval 34"/>
          <p:cNvSpPr/>
          <p:nvPr/>
        </p:nvSpPr>
        <p:spPr>
          <a:xfrm>
            <a:off x="160391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713642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Three timed design cases</a:t>
            </a:r>
          </a:p>
        </p:txBody>
      </p:sp>
      <p:sp>
        <p:nvSpPr>
          <p:cNvPr id="37" name="Oval 36"/>
          <p:cNvSpPr/>
          <p:nvPr/>
        </p:nvSpPr>
        <p:spPr>
          <a:xfrm>
            <a:off x="318354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293268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close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S13  ·  17 / 19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lines to carry out of the week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Five lines, one per step the week made yours.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20240"/>
            <a:ext cx="502920" cy="3337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5B3FD6"/>
                </a:solidFill>
                <a:latin typeface="Georgia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956816"/>
            <a:ext cx="10564063" cy="368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Reconcile counts and rupees to a control total before you quote a total.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362200"/>
            <a:ext cx="502920" cy="3337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5B3FD6"/>
                </a:solidFill>
                <a:latin typeface="Georgia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398776"/>
            <a:ext cx="10564063" cy="368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A zero-reject pass on a file you know is dirty is the first thing to investigate.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2804160"/>
            <a:ext cx="502920" cy="3337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5B3FD6"/>
                </a:solidFill>
                <a:latin typeface="Georgia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2840736"/>
            <a:ext cx="10564063" cy="368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Count before rate: put the order count beside every rate before it leads a note.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3246120"/>
            <a:ext cx="502920" cy="3337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5B3FD6"/>
                </a:solidFill>
                <a:latin typeface="Georgia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282696"/>
            <a:ext cx="10564063" cy="368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Keep each customer's own two quarters together in every shuffle.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3688080"/>
            <a:ext cx="502920" cy="3337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5B3FD6"/>
                </a:solidFill>
                <a:latin typeface="Georgia"/>
              </a:rPr>
              <a:t>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3724656"/>
            <a:ext cx="10564063" cy="368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Say the claim with its denominator, the caveat before they find it, and what would change your mind.</a:t>
            </a:r>
          </a:p>
        </p:txBody>
      </p:sp>
      <p:sp>
        <p:nvSpPr>
          <p:cNvPr id="19" name="Oval 18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rehearsal</a:t>
            </a:r>
          </a:p>
        </p:txBody>
      </p:sp>
      <p:sp>
        <p:nvSpPr>
          <p:cNvPr id="21" name="Oval 20"/>
          <p:cNvSpPr/>
          <p:nvPr/>
        </p:nvSpPr>
        <p:spPr>
          <a:xfrm>
            <a:off x="160391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713642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Three timed design cases</a:t>
            </a:r>
          </a:p>
        </p:txBody>
      </p:sp>
      <p:sp>
        <p:nvSpPr>
          <p:cNvPr id="23" name="Oval 22"/>
          <p:cNvSpPr/>
          <p:nvPr/>
        </p:nvSpPr>
        <p:spPr>
          <a:xfrm>
            <a:off x="318354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93268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close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S14  ·  18 / 19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Tonight, and what Saturday asks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One rerun, one recap, and nothing to install until Sunday.</a:t>
            </a:r>
          </a:p>
        </p:txBody>
      </p:sp>
      <p:sp>
        <p:nvSpPr>
          <p:cNvPr id="9" name="Rectangle 8"/>
          <p:cNvSpPr/>
          <p:nvPr/>
        </p:nvSpPr>
        <p:spPr>
          <a:xfrm>
            <a:off x="2324557" y="2523744"/>
            <a:ext cx="7542580" cy="18288"/>
          </a:xfrm>
          <a:prstGeom prst="rect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1956816"/>
            <a:ext cx="358841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FIX</a:t>
            </a:r>
          </a:p>
        </p:txBody>
      </p:sp>
      <p:sp>
        <p:nvSpPr>
          <p:cNvPr id="11" name="Oval 10"/>
          <p:cNvSpPr/>
          <p:nvPr/>
        </p:nvSpPr>
        <p:spPr>
          <a:xfrm>
            <a:off x="2223973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30352" y="2843784"/>
            <a:ext cx="3588410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944" y="2990088"/>
            <a:ext cx="3259226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Rerun your step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3277870"/>
            <a:ext cx="3259226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The step the TA marked, on the practice export, with one line on what you will do differently.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01642" y="1956816"/>
            <a:ext cx="358841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RECAP</a:t>
            </a:r>
          </a:p>
        </p:txBody>
      </p:sp>
      <p:sp>
        <p:nvSpPr>
          <p:cNvPr id="16" name="Oval 15"/>
          <p:cNvSpPr/>
          <p:nvPr/>
        </p:nvSpPr>
        <p:spPr>
          <a:xfrm>
            <a:off x="5995263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301642" y="2843784"/>
            <a:ext cx="3588410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66234" y="2990088"/>
            <a:ext cx="3259226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From memory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66234" y="3277870"/>
            <a:ext cx="3259226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The note's four parts and the p-value sentence; both are on Saturday's paper.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72932" y="1956816"/>
            <a:ext cx="358841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SETUP</a:t>
            </a:r>
          </a:p>
        </p:txBody>
      </p:sp>
      <p:sp>
        <p:nvSpPr>
          <p:cNvPr id="21" name="Oval 20"/>
          <p:cNvSpPr/>
          <p:nvPr/>
        </p:nvSpPr>
        <p:spPr>
          <a:xfrm>
            <a:off x="9766554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072932" y="2843784"/>
            <a:ext cx="3588410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37524" y="2990088"/>
            <a:ext cx="3259226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Sunday evening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37524" y="3277870"/>
            <a:ext cx="3259226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Week 2 works in a live Postgres connection from VS Code; the setup steps arrive on Sunday.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30352" y="4103624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58952" y="4435856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7" name="Picture 26" descr="search-check_6571e64a041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545584"/>
            <a:ext cx="237744" cy="237744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399031" y="4249928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KAVYA'S REVIEW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99031" y="4469384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On Monday, Meera hears a note from someone who rebuilt every number in it alone this morning and reconciled it to Anand's books.</a:t>
            </a:r>
          </a:p>
        </p:txBody>
      </p:sp>
      <p:sp>
        <p:nvSpPr>
          <p:cNvPr id="30" name="Oval 2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rehearsal</a:t>
            </a:r>
          </a:p>
        </p:txBody>
      </p:sp>
      <p:sp>
        <p:nvSpPr>
          <p:cNvPr id="32" name="Oval 31"/>
          <p:cNvSpPr/>
          <p:nvPr/>
        </p:nvSpPr>
        <p:spPr>
          <a:xfrm>
            <a:off x="160391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713642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Three timed design cases</a:t>
            </a:r>
          </a:p>
        </p:txBody>
      </p:sp>
      <p:sp>
        <p:nvSpPr>
          <p:cNvPr id="34" name="Oval 33"/>
          <p:cNvSpPr/>
          <p:nvPr/>
        </p:nvSpPr>
        <p:spPr>
          <a:xfrm>
            <a:off x="318354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293268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close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S15  ·  19 / 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