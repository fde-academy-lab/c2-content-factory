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one minute. The afternoon, after the debrief's second half: the rehearsal in two rounds (100</a:t>
            </a:r>
          </a:p>
          <a:p>
            <a:r>
              <a:t>minutes), three timed design cases (40), and the Kahoot with Saturday's preview (20). Nothing new</a:t>
            </a:r>
          </a:p>
          <a:p>
            <a:r>
              <a:t>is taught; the afternoon is practice with a hostile listener.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Round one is fifty minutes in pairs, round two is fifty minutes of call-outs to the room.</a:t>
            </a:r>
          </a:p>
          <a:p>
            <a:r>
              <a:t>If time is short, round two is the first thing cut, never round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Name the four and the one thing each listens for. The note being rehearsed is the</a:t>
            </a:r>
          </a:p>
          <a:p>
            <a:r>
              <a:t>final version of Thursday's one-page note: the three answers Meera asked for, which is what goes to</a:t>
            </a:r>
          </a:p>
          <a:p>
            <a:r>
              <a:t>Monday's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timings add to two minutes. A learner who runs long almost always ran long in</a:t>
            </a:r>
          </a:p>
          <a:p>
            <a:r>
              <a:t>the evidence; the fix is one number fewer at the same 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Read the four pushes in a fair Marketing voice. The partner playing</a:t>
            </a:r>
          </a:p>
          <a:p>
            <a:r>
              <a:t>Marketing is doing the defender a favour, and the room should hear that before round one starts.</a:t>
            </a:r>
          </a:p>
          <a:p>
            <a:r>
              <a:t>The first push is the sharpest: the brief answers it in full, and a TA reads Marketing's lines while</a:t>
            </a:r>
          </a:p>
          <a:p>
            <a:r>
              <a:t>you model the answer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Demonstrate the three moves once with a volunteer playing Marketing on the</a:t>
            </a:r>
          </a:p>
          <a:p>
            <a:r>
              <a:t>Student question. Then say what it would sound like to fold (dropping the caveat) and to overclaim</a:t>
            </a:r>
          </a:p>
          <a:p>
            <a:r>
              <a:t>(calling the rise noise when you only know it is uncertain); the three moves sit between the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50 minutes, of which S1 to S4 and S6 took the first six. The TAs walk the room. Each TA also uses this round to tell each of their learners,</a:t>
            </a:r>
          </a:p>
          <a:p>
            <a:r>
              <a:t>quietly and one at a time, the step the lab's observation sheet marked for them. Never aloud, never</a:t>
            </a:r>
          </a:p>
          <a:p>
            <a:r>
              <a:t>to a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 before the round starts. Say it once: the card has no score because a score turns</a:t>
            </a:r>
          </a:p>
          <a:p>
            <a:r>
              <a:t>the partner into a judge, and the job is to be the harder audience, then the useful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50 minutes. Call names from a shuffled list, never by volunteering. The room's push comes</a:t>
            </a:r>
          </a:p>
          <a:p>
            <a:r>
              <a:t>from a learner who has not yet been called. Kavya's review is the trainer's one minute: what held,</a:t>
            </a:r>
          </a:p>
          <a:p>
            <a:r>
              <a:t>and the one change. This is the first round to cut if the day runs long.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Forty minutes, thirteen per case plus one to set up. The model answers are in the trainer's</a:t>
            </a:r>
          </a:p>
          <a:p>
            <a:r>
              <a:t>key and are read only after the room has answered.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The prompts are in exercises/unguided/C2_W01_D05_timed_cases_STUDENT.md. The model</a:t>
            </a:r>
          </a:p>
          <a:p>
            <a:r>
              <a:t>answers, their sizing and the real-company sources are in trainer/C2_W01_D05_timed_cases_key_TRAINER.md;</a:t>
            </a:r>
          </a:p>
          <a:p>
            <a:r>
              <a:t>read the model after the call-outs.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13 minutes. Listen for the options sized against the two hours, for the reconciliation named</a:t>
            </a:r>
          </a:p>
          <a:p>
            <a:r>
              <a:t>as the step never dropped, and for the fact that would switch the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13 minutes. Listen for the checks ordered by cost against what each catches, for a stopping</a:t>
            </a:r>
          </a:p>
          <a:p>
            <a:r>
              <a:t>point, and for Finance's number treated as the reference until the bridge closes.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13 minutes. Listen for the three moves from S4 and a test sized in visits and days: about 300</a:t>
            </a:r>
          </a:p>
          <a:p>
            <a:r>
              <a:t>visits each, about half a week at the current traffic. Folding and overclaiming are both answers you</a:t>
            </a:r>
          </a:p>
          <a:p>
            <a:r>
              <a:t>will hear.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Twenty minutes: the Kahoot, Saturday previewed, the crux lines, tonight's tasks.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Run kahoot/C2_W01_D05_quiz_STUDENT.md. After each item, one sentence on the</a:t>
            </a:r>
          </a:p>
          <a:p>
            <a:r>
              <a:t>wrong answer most people picked,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Describe the format only; never preview an item. The pre-read for Saturday is in</a:t>
            </a:r>
          </a:p>
          <a:p>
            <a:r>
              <a:t>preread/ and ships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Read all five, then ask two learners which line they broke this morning. Keep it</a:t>
            </a:r>
          </a:p>
          <a:p>
            <a:r>
              <a:t>light; everybody broke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Close on the three tasks. The practice set is in exercises/practice/ and the TAs</a:t>
            </a:r>
          </a:p>
          <a:p>
            <a:r>
              <a:t>run the practice lab from it after this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Relationship Id="rId5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2.xml"/><Relationship Id="rId6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Relationship Id="rId5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5085213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1  ·  FRIDAY  ·  THE GROWTH-REVIEW REHEARSAL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The note, defended aloud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“Then say it to me the way you will say it to her, because I will push the way Marketing will.”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35457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Kavya Nair, senior analyst, Kalpa Retail data team, to the trainees at Kalpa's Global Capability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951833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rehearsal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0553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24601" y="5248656"/>
            <a:ext cx="1602486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9967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94015" y="5248656"/>
            <a:ext cx="715232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5. The note, defended aloud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rehearsal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A finding that cannot be said in two minutes to someone who disagrees has not been communicated.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13556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rehearsal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76815" y="5074920"/>
            <a:ext cx="178694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73486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close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5: the week rebuilt alone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Monday's room, and what each person wants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people will hear the note, and each listens for a different weakness.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crown_50cb0a914c8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CEO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Meera Raghavan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One page, two minutes, and what to do. She acts on the first line.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egaphone_df6318bcf2f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OWNS CAMPAIGNS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marketing lead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Defends the monsoon sale and the acquisition budget against your reading.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alculator_852ec1ae179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FINANCE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Anand Iyer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Checks that every number matches the books and can be audited.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badge-check_d6a22696841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PAID TIER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head of Retail-Plus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Wants to know whether his tier is slipping and who to protect.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0352" y="4294124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58952" y="462635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message-square_028dbd132a0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680" y="4736084"/>
            <a:ext cx="237744" cy="23774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399031" y="444042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99031" y="465988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How do you know, what did you leave out, and what would change your mind? These are the questions every interviewer asks about a project too.</a:t>
            </a:r>
          </a:p>
        </p:txBody>
      </p:sp>
      <p:sp>
        <p:nvSpPr>
          <p:cNvPr id="38" name="Oval 3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40" name="Oval 39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42" name="Oval 41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 minutes, four parts, one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note read aloud keeps the shape it has on paper.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30 SECONDS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Claim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One sentence, with the number and what it is out of.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40 SECONDS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Evidence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What you computed, on how many, and how you checked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30 SECONDS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Caveat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thing that would change the claim, said before anyone finds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20 SECONDS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Action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What to do, what it costs, and what would tell us more.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4103624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58952" y="443585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2" name="Picture 3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45584"/>
            <a:ext cx="237744" cy="23774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399031" y="424992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99031" y="446938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caveat said first is a sign of control. The same caveat dragged out of you by Marketing reads as a retreat.</a:t>
            </a:r>
          </a:p>
        </p:txBody>
      </p:sp>
      <p:sp>
        <p:nvSpPr>
          <p:cNvPr id="35" name="Oval 3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37" name="Oval 36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39" name="Oval 38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a partner playing Marketing pushes 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push is a fair question with a motive behind it; answer the question it asks.</a:t>
            </a:r>
          </a:p>
        </p:txBody>
      </p:sp>
      <p:pic>
        <p:nvPicPr>
          <p:cNvPr id="9" name="mermaid diagram" descr="9ad772b26513e7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7621" y="1664208"/>
            <a:ext cx="4636452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The full list, with a harder set for the second pairing, is in exercises/guided/C2_W01_D05_rehearsal_brief_STUDENT.md.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13" name="Oval 12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5" name="Oval 14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Holding a caveat without overclaiming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Restate, bound, offer the test: three moves that keep the claim the size the data supports.</a:t>
            </a:r>
          </a:p>
        </p:txBody>
      </p:sp>
      <p:pic>
        <p:nvPicPr>
          <p:cNvPr id="9" name="mermaid diagram" descr="658eabffd8fd6df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7335" y="1664208"/>
            <a:ext cx="2637024" cy="346252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172456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53751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mic_caee7398c8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48487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53187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553821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[D] A stakeholder attacks your caveat in front of the room; how do you hold it without overclaiming?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17" name="Oval 16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9" name="Oval 18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Round one: pairs, then a new pair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Fifty minutes: each person defends twice, to two different Marketing partners.</a:t>
            </a:r>
          </a:p>
        </p:txBody>
      </p:sp>
      <p:pic>
        <p:nvPicPr>
          <p:cNvPr id="9" name="mermaid diagram" descr="979168cf4128380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9591" y="1956816"/>
            <a:ext cx="8672512" cy="11287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231832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In pair one each twelve minutes runs: two minutes of the note read aloud, six of pushes and answers, four for the partner to fill the feedback card. Pair two takes ten: two, five and three.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13" name="Oval 12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5" name="Oval 14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feedback card has no score on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questions a partner answers in writing, and the defender keeps the card.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hash_29aa8cda0b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claim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Quote the number and what it was out of, as you heard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shield_1aa1fb98209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caveat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Said before the push, after it, or not at all?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swords_27269e7e5d7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hardest push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Which one landed, and what answer would have held it?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scissors_1ca78285f57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Keep and cut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One sentence to keep, one to cut.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" y="4104132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card is exercises/guided/C2_W01_D05_feedback_card_STUDENT.md, one per defence.</a:t>
            </a:r>
          </a:p>
        </p:txBody>
      </p:sp>
      <p:sp>
        <p:nvSpPr>
          <p:cNvPr id="34" name="Oval 3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36" name="Oval 35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38" name="Oval 37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Round two: two minutes, to the whole room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Random call-outs: the note read standing, one push from the room, Kavya's review.</a:t>
            </a:r>
          </a:p>
        </p:txBody>
      </p:sp>
      <p:pic>
        <p:nvPicPr>
          <p:cNvPr id="9" name="mermaid diagram" descr="5b384aa1cbb34c6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6685" y="1956816"/>
            <a:ext cx="9458325" cy="8715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74657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About a dozen people are called in fifty minutes, so everybody prepares as if they are next.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13" name="Oval 12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5" name="Oval 14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Three timed design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week's interview angles as a screen asks them: a situation, a clock, and your answer aloud.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13556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rehearsal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76815" y="5074920"/>
            <a:ext cx="178694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73486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close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5: the week rebuilt alone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a timed design case runs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Read, think, answer to a partner, then the room hears two answers.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 MINUTE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Read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case, its options and the real company it is like.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 MINUTES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On paper: which option fits, sized how, and what would switch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 MINUTES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Answer aloud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Two minutes each, to your partner.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5 MINUTES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Two call-outs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Two answers to the room, then the model answer.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4103624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58952" y="443585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2" name="Picture 31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45584"/>
            <a:ext cx="237744" cy="23774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399031" y="424992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99031" y="446938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design question is scored on three things said in order: the option you choose, its size in minutes, rupees or visits, and the fact that would move you to another.</a:t>
            </a:r>
          </a:p>
        </p:txBody>
      </p:sp>
      <p:sp>
        <p:nvSpPr>
          <p:cNvPr id="35" name="Oval 3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37" name="Oval 36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Three timed design cases</a:t>
            </a:r>
          </a:p>
        </p:txBody>
      </p:sp>
      <p:sp>
        <p:nvSpPr>
          <p:cNvPr id="39" name="Oval 38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Case 1: Meera's first read in two hours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raw export, a review on Monday, and four plans that fit the clock differently.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4185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52831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[F] You have two hours and a raw export; what do you do first, and what do you skip? Here the export is Q3 from the ERP, and DMart is the likeness: it publishes a provisional quarter days before its board signs the results.</a:t>
            </a:r>
          </a:p>
        </p:txBody>
      </p:sp>
      <p:pic>
        <p:nvPicPr>
          <p:cNvPr id="14" name="mermaid diagram" descr="2e76e40b7f31703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52" y="3502152"/>
            <a:ext cx="11130991" cy="2055548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17" name="Oval 16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9" name="Oval 18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Case 2: zero rejects and a Rs 20 lakh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first quarter out of the migrated ERP, a pass that reports nothing, and Finance disagreeing.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Walk me through how you clean and check a dataset you have never seen. Here four checks cost from seconds to a day, and TSB is the likeness: a migrated platform trusted before it was reconciled.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24307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97814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17931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illustrative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43179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324307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397814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REJECTS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417931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as the pass reports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443179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324307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20 lakh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397814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GAP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417931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dashboard above Finance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443179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28" name="Oval 27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Three timed design cases</a:t>
            </a:r>
          </a:p>
        </p:txBody>
      </p:sp>
      <p:sp>
        <p:nvSpPr>
          <p:cNvPr id="30" name="Oval 29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Case 3: 42 percent on twelve visits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product head wants to ship a result tomorrow, and your caveat is in the way.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4185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52831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[D] A stakeholder attacks your caveat in front of the room; how do you hold it without overclaiming? Here a new checkout converted 42 percent on 12 visits against 31 percent on 1,200, and Bing is the likeness: a 12 percent lift checked before anyone believed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50215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42%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423722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NEW CHECKOUT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43839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5 of 12 visits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69087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350215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423722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CURRENT CHECKOUT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443839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of 1,200 visits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469087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350215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about 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423722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VISITS PER CHECKOUT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443839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 an equal split, to tell the two apart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469087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28" name="Oval 27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Three timed design cases</a:t>
            </a:r>
          </a:p>
        </p:txBody>
      </p:sp>
      <p:sp>
        <p:nvSpPr>
          <p:cNvPr id="30" name="Oval 29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close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week in eight questions, Saturday's paper, and the one step to rerun tonight.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13556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rehearsal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76815" y="5074920"/>
            <a:ext cx="178694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73486" y="5074920"/>
            <a:ext cx="89870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close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5: the week rebuilt alone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Kahoot: the week's method in eight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on the method, two design calls and Thursday's return question, ungraded.</a:t>
            </a:r>
          </a:p>
        </p:txBody>
      </p:sp>
      <p:pic>
        <p:nvPicPr>
          <p:cNvPr id="9" name="mermaid diagram" descr="11a77ed4f1c2fc5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6697" y="1956816"/>
            <a:ext cx="9258300" cy="162877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12" name="Oval 11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4" name="Oval 13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Saturday: the week on paper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Pen and paper, no assistant, objective items, marked by a peer against the key.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5344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pencil_56f1d29da18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120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9446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Blanks from a word bank, pairs from a match table, statements judged with their reason, scenario sets, applied maths and ordering.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5344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repeat_e3d62ee72e9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MARKING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Swapped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Papers change hands and are marked against the key, read out by the Academic 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5344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messages-square_e3c3acbf848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DISCUSSION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Aloud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most-missed items first, then the week's interview questions as interview answers.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5344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circle-slash_1e230f308fa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STATUS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Ungraded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performance indicator for you and the team, never a ranking.</a:t>
            </a:r>
          </a:p>
        </p:txBody>
      </p:sp>
      <p:sp>
        <p:nvSpPr>
          <p:cNvPr id="33" name="Oval 3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35" name="Oval 34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37" name="Oval 36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lines to carry out of the week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lines, one per step the week made yours.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2024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95681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Reconcile counts and rupees to a control total before you quote a total.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36220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39877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zero-reject pass on a file you know is dirty is the first thing to investigate.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80416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84073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Count before rate: put the order count beside every rate before it leads a note.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24612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8269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Shuffle what belongs together, which this week is the customer.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68808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72465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Say the claim with its denominator, the caveat before they find it, and what would change your mind.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21" name="Oval 20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23" name="Oval 22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Tonight, and what Saturday 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rerun, one recap, and nothing to install until Sunday.</a:t>
            </a:r>
          </a:p>
        </p:txBody>
      </p:sp>
      <p:sp>
        <p:nvSpPr>
          <p:cNvPr id="9" name="Rectangle 8"/>
          <p:cNvSpPr/>
          <p:nvPr/>
        </p:nvSpPr>
        <p:spPr>
          <a:xfrm>
            <a:off x="2324557" y="2523744"/>
            <a:ext cx="7542580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FIX</a:t>
            </a:r>
          </a:p>
        </p:txBody>
      </p:sp>
      <p:sp>
        <p:nvSpPr>
          <p:cNvPr id="11" name="Oval 10"/>
          <p:cNvSpPr/>
          <p:nvPr/>
        </p:nvSpPr>
        <p:spPr>
          <a:xfrm>
            <a:off x="222397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Rerun your step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step the TA marked, on the practice export, with one line on what you will do differently.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164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RECAP</a:t>
            </a:r>
          </a:p>
        </p:txBody>
      </p:sp>
      <p:sp>
        <p:nvSpPr>
          <p:cNvPr id="16" name="Oval 15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0164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6623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From memory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623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note's four parts and the p-value sentence; both are on Saturday's paper.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293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SETUP</a:t>
            </a:r>
          </a:p>
        </p:txBody>
      </p:sp>
      <p:sp>
        <p:nvSpPr>
          <p:cNvPr id="21" name="Oval 20"/>
          <p:cNvSpPr/>
          <p:nvPr/>
        </p:nvSpPr>
        <p:spPr>
          <a:xfrm>
            <a:off x="9766554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7293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3752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Sunday evening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752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Week 2 works in a live Postgres connection from VS Code; the setup steps arrive on Sunday.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0352" y="4103624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8952" y="443585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45584"/>
            <a:ext cx="237744" cy="23774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399031" y="424992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99031" y="446938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On Monday, Meera hears a note from someone who rebuilt every number in it alone this morning and reconciled it to Anand's books.</a:t>
            </a:r>
          </a:p>
        </p:txBody>
      </p:sp>
      <p:sp>
        <p:nvSpPr>
          <p:cNvPr id="30" name="Oval 2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32" name="Oval 31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34" name="Oval 33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