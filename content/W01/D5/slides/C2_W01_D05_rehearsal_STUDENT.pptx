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The afternoon, after the debrief's second half: the rehearsal in two rounds (100</a:t>
            </a:r>
          </a:p>
          <a:p>
            <a:r>
              <a:t>minutes), three timed design cases (40), and the Kahoot with Saturday's preview (20). Nothing new</a:t>
            </a:r>
          </a:p>
          <a:p>
            <a:r>
              <a:t>is taught; the afternoon is practice with a hostile listener.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half a minute. Read the three questions and start round one's brief.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Round one is fifty minutes in pairs, round two is fifty minutes of call-outs to the room. If</a:t>
            </a:r>
          </a:p>
          <a:p>
            <a:r>
              <a:t>time is short, cut round two first and keep round one whole.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half a minute. Read who needs the answer and the six questions.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Name the four and the one thing each listens for. The note being rehearsed is the</a:t>
            </a:r>
          </a:p>
          <a:p>
            <a:r>
              <a:t>final version of Thursday's one-page note: Meera's three questions, the Retail-Plus gap, the Student</a:t>
            </a:r>
          </a:p>
          <a:p>
            <a:r>
              <a:t>rise and the monsoon sale, each as claim, evidence, caveat and action, which is what goes to</a:t>
            </a:r>
          </a:p>
          <a:p>
            <a:r>
              <a:t>Monday's review.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timings add to two minutes. A learner who runs long almost always ran long in</a:t>
            </a:r>
          </a:p>
          <a:p>
            <a:r>
              <a:t>the evidence; the fix is one number fewer at the same pace.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four pushes in a fair Marketing voice. The partner playing Marketing is</a:t>
            </a:r>
          </a:p>
          <a:p>
            <a:r>
              <a:t>doing the defender a favour, and the room should hear that before round one starts. The first push</a:t>
            </a:r>
          </a:p>
          <a:p>
            <a:r>
              <a:t>is the sharpest: the brief answers it in full, and after S7 a TA reads Marketing's lines while you</a:t>
            </a:r>
          </a:p>
          <a:p>
            <a:r>
              <a:t>model the answer once, in four minutes. It is on neither pair list.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Demonstrate the three moves once with a volunteer playing Marketing on the Student</a:t>
            </a:r>
          </a:p>
          <a:p>
            <a:r>
              <a:t>question. Then say what it would sound like to fold (dropping the caveat) and to overclaim (calling</a:t>
            </a:r>
          </a:p>
          <a:p>
            <a:r>
              <a:t>the rise noise when you only know it is uncertain); the three moves sit between the two.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modelled push. A TA reads Marketing's lines from the rehearsal brief, the</a:t>
            </a:r>
          </a:p>
          <a:p>
            <a:r>
              <a:t>monsoon sale's two averages, and you answer once in the three moves, using the segment table the</a:t>
            </a:r>
          </a:p>
          <a:p>
            <a:r>
              <a:t>brief prints. The brief carries the answer in full; this slide is its shape.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50 minutes: S1 to S6 and S9 take eight, Marketing's sharpest push, modelled once with a TA,</a:t>
            </a:r>
          </a:p>
          <a:p>
            <a:r>
              <a:t>takes four, and the pairs take the other 38. The TAs walk the room. Each TA also uses this round to</a:t>
            </a:r>
          </a:p>
          <a:p>
            <a:r>
              <a:t>tell each of their learners, quietly and one at a time, the step the lab's observation sheet marked</a:t>
            </a:r>
          </a:p>
          <a:p>
            <a:r>
              <a:t>for them, never aloud and never to a group.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before the round starts. Say it once: the card has no score because a score turns</a:t>
            </a:r>
          </a:p>
          <a:p>
            <a:r>
              <a:t>the partner into a judge, and the job is to be the harder audience, then the useful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50 minutes. Call names from a shuffled list, never by volunteering. The room's push comes</a:t>
            </a:r>
          </a:p>
          <a:p>
            <a:r>
              <a:t>from a learner who has not yet been called. Kavya's review is the trainer's one minute: what held,</a:t>
            </a:r>
          </a:p>
          <a:p>
            <a:r>
              <a:t>and the one change. This is the first round to cut if the day runs long.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Forty minutes, thirteen per case plus one to set up. Show each answer slide only after the</a:t>
            </a:r>
          </a:p>
          <a:p>
            <a:r>
              <a:t>two call-outs.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who needs the answer and the three cases.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prompts are in exercises/unguided/C2_W01_D05_timed_cases_STUDENT.md. The model</a:t>
            </a:r>
          </a:p>
          <a:p>
            <a:r>
              <a:t>answers, their sizing and the real-company sources are in trainer/C2_W01_D05_timed_cases_key_TRAINER.md;</a:t>
            </a:r>
          </a:p>
          <a:p>
            <a:r>
              <a:t>read the model after the call-outs.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13 minutes: read 1, think 3, pairs 4, two call-outs 3, the next slide 2. Listen for every plan</a:t>
            </a:r>
          </a:p>
          <a:p>
            <a:r>
              <a:t>sized from the lab's pace, for the reconciliation named as the step never dropped, and for the fact</a:t>
            </a:r>
          </a:p>
          <a:p>
            <a:r>
              <a:t>that would switch the plan. The 2,000 orders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after the call-outs. The model answer in full is in the trainer's key.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13 minutes. Listen for the checks ordered by cost against what each catches, for a stopping</a:t>
            </a:r>
          </a:p>
          <a:p>
            <a:r>
              <a:t>point, and for Finance's number treated as the reference until the bridge closes. The 50,000 rows</a:t>
            </a:r>
          </a:p>
          <a:p>
            <a:r>
              <a:t>and the Rs 20 lakh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after the call-outs.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13 minutes. Listen for the three moves from S6 and a test sized in visits and days. Folding</a:t>
            </a:r>
          </a:p>
          <a:p>
            <a:r>
              <a:t>and overclaiming are both answers you will hear. The traffic figures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after the call-outs. D gathers more evidence than C in four times the time; the</a:t>
            </a:r>
          </a:p>
          <a:p>
            <a:r>
              <a:t>arithmetic is in the trainer's key, for a TA asked, never for the room.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Twenty minutes: the Kahoot, Saturday previewed, the crux lines, tonight's tasks.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half a minute.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Run kahoot/C2_W01_D05_quiz_STUDENT.md. After each item, one sentence on the wrong</a:t>
            </a:r>
          </a:p>
          <a:p>
            <a:r>
              <a:t>answer most people picked,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Describe the format only; never preview an item. The pre-read for Saturday is in</a:t>
            </a:r>
          </a:p>
          <a:p>
            <a:r>
              <a:t>preread/ and ships tonight.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Read all five, then ask two learners which line they broke this morning. Keep it</a:t>
            </a:r>
          </a:p>
          <a:p>
            <a:r>
              <a:t>light; everybody broke 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Close on the three tasks. The practice set is in exercises/practice/ and the TAs</a:t>
            </a:r>
          </a:p>
          <a:p>
            <a:r>
              <a:t>run the practice lab from it after this block.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12.png"/><Relationship Id="rId6"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4.xml"/><Relationship Id="rId5"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5085213"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1  ·  FRIDAY  ·  THE GROWTH-REVIEW REHEARSAL</a:t>
            </a:r>
          </a:p>
        </p:txBody>
      </p:sp>
      <p:sp>
        <p:nvSpPr>
          <p:cNvPr id="8" name="TextBox 7"/>
          <p:cNvSpPr txBox="1"/>
          <p:nvPr/>
        </p:nvSpPr>
        <p:spPr>
          <a:xfrm>
            <a:off x="621792" y="2807208"/>
            <a:ext cx="10582351" cy="1291336"/>
          </a:xfrm>
          <a:prstGeom prst="rect">
            <a:avLst/>
          </a:prstGeom>
          <a:noFill/>
        </p:spPr>
        <p:txBody>
          <a:bodyPr wrap="square" anchor="t" lIns="0" rIns="0" tIns="0" bIns="0">
            <a:spAutoFit/>
          </a:bodyPr>
          <a:lstStyle/>
          <a:p>
            <a:pPr algn="l"/>
            <a:r>
              <a:rPr sz="3800" b="0" i="0">
                <a:solidFill>
                  <a:srgbClr val="FFFFFF"/>
                </a:solidFill>
                <a:latin typeface="Georgia"/>
              </a:rPr>
              <a:t>Does your note hold when Marketing pushes?</a:t>
            </a:r>
          </a:p>
        </p:txBody>
      </p:sp>
      <p:sp>
        <p:nvSpPr>
          <p:cNvPr id="9" name="TextBox 8"/>
          <p:cNvSpPr txBox="1"/>
          <p:nvPr/>
        </p:nvSpPr>
        <p:spPr>
          <a:xfrm>
            <a:off x="621792" y="4263136"/>
            <a:ext cx="10033711" cy="663956"/>
          </a:xfrm>
          <a:prstGeom prst="rect">
            <a:avLst/>
          </a:prstGeom>
          <a:noFill/>
        </p:spPr>
        <p:txBody>
          <a:bodyPr wrap="square" anchor="t" lIns="0" rIns="0" tIns="0" bIns="0">
            <a:spAutoFit/>
          </a:bodyPr>
          <a:lstStyle/>
          <a:p>
            <a:pPr algn="l"/>
            <a:r>
              <a:rPr sz="1900" b="0" i="1">
                <a:solidFill>
                  <a:srgbClr val="D9A7FF"/>
                </a:solidFill>
                <a:latin typeface="Georgia"/>
              </a:rPr>
              <a:t>“Then say it to me the way you will say it to her, because I will push the way Marketing will.”</a:t>
            </a:r>
          </a:p>
        </p:txBody>
      </p:sp>
      <p:sp>
        <p:nvSpPr>
          <p:cNvPr id="10" name="TextBox 9"/>
          <p:cNvSpPr txBox="1"/>
          <p:nvPr/>
        </p:nvSpPr>
        <p:spPr>
          <a:xfrm>
            <a:off x="621792" y="4981956"/>
            <a:ext cx="10033711" cy="218186"/>
          </a:xfrm>
          <a:prstGeom prst="rect">
            <a:avLst/>
          </a:prstGeom>
          <a:noFill/>
        </p:spPr>
        <p:txBody>
          <a:bodyPr wrap="square" anchor="t" lIns="0" rIns="0" tIns="0" bIns="0">
            <a:spAutoFit/>
          </a:bodyPr>
          <a:lstStyle/>
          <a:p>
            <a:pPr algn="l"/>
            <a:r>
              <a:rPr sz="1100" b="0" i="0">
                <a:solidFill>
                  <a:srgbClr val="CFC9EE"/>
                </a:solidFill>
                <a:latin typeface="Calibri"/>
              </a:rPr>
              <a:t>Kavya Nair, senior analyst, Kalpa Retail data team, to the trainees at Kalpa's Global Capability Centre</a:t>
            </a:r>
          </a:p>
        </p:txBody>
      </p:sp>
      <p:sp>
        <p:nvSpPr>
          <p:cNvPr id="11" name="TextBox 10"/>
          <p:cNvSpPr txBox="1"/>
          <p:nvPr/>
        </p:nvSpPr>
        <p:spPr>
          <a:xfrm>
            <a:off x="621792"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556758"/>
            <a:ext cx="1306734" cy="185166"/>
          </a:xfrm>
          <a:prstGeom prst="rect">
            <a:avLst/>
          </a:prstGeom>
          <a:noFill/>
        </p:spPr>
        <p:txBody>
          <a:bodyPr wrap="square" anchor="t" lIns="0" rIns="0" tIns="0" bIns="0">
            <a:spAutoFit/>
          </a:bodyPr>
          <a:lstStyle/>
          <a:p>
            <a:pPr algn="l"/>
            <a:r>
              <a:rPr sz="900" b="0" i="0">
                <a:solidFill>
                  <a:srgbClr val="FFFFFF"/>
                </a:solidFill>
                <a:latin typeface="Calibri"/>
              </a:rPr>
              <a:t>Does the note hold?</a:t>
            </a:r>
          </a:p>
        </p:txBody>
      </p:sp>
      <p:sp>
        <p:nvSpPr>
          <p:cNvPr id="13" name="TextBox 12"/>
          <p:cNvSpPr txBox="1"/>
          <p:nvPr/>
        </p:nvSpPr>
        <p:spPr>
          <a:xfrm>
            <a:off x="2495454"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2879502" y="5556758"/>
            <a:ext cx="1365885" cy="185166"/>
          </a:xfrm>
          <a:prstGeom prst="rect">
            <a:avLst/>
          </a:prstGeom>
          <a:noFill/>
        </p:spPr>
        <p:txBody>
          <a:bodyPr wrap="square" anchor="t" lIns="0" rIns="0" tIns="0" bIns="0">
            <a:spAutoFit/>
          </a:bodyPr>
          <a:lstStyle/>
          <a:p>
            <a:pPr algn="l"/>
            <a:r>
              <a:rPr sz="900" b="0" i="0">
                <a:solidFill>
                  <a:srgbClr val="FFFFFF"/>
                </a:solidFill>
                <a:latin typeface="Calibri"/>
              </a:rPr>
              <a:t>Which approach fits?</a:t>
            </a:r>
          </a:p>
        </p:txBody>
      </p:sp>
      <p:sp>
        <p:nvSpPr>
          <p:cNvPr id="15" name="TextBox 14"/>
          <p:cNvSpPr txBox="1"/>
          <p:nvPr/>
        </p:nvSpPr>
        <p:spPr>
          <a:xfrm>
            <a:off x="4428267"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4812315" y="5556758"/>
            <a:ext cx="1247584" cy="185166"/>
          </a:xfrm>
          <a:prstGeom prst="rect">
            <a:avLst/>
          </a:prstGeom>
          <a:noFill/>
        </p:spPr>
        <p:txBody>
          <a:bodyPr wrap="square" anchor="t" lIns="0" rIns="0" tIns="0" bIns="0">
            <a:spAutoFit/>
          </a:bodyPr>
          <a:lstStyle/>
          <a:p>
            <a:pPr algn="l"/>
            <a:r>
              <a:rPr sz="900" b="0" i="0">
                <a:solidFill>
                  <a:srgbClr val="FFFFFF"/>
                </a:solidFill>
                <a:latin typeface="Calibri"/>
              </a:rPr>
              <a:t>What is yours now?</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5. Does your note hold when Marketing pushes?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questions for the afternoon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your note hold when Marketing pushes, and what do you do when the clock runs?</a:t>
            </a:r>
          </a:p>
        </p:txBody>
      </p:sp>
      <p:sp>
        <p:nvSpPr>
          <p:cNvPr id="9" name="Rectangle 8"/>
          <p:cNvSpPr/>
          <p:nvPr/>
        </p:nvSpPr>
        <p:spPr>
          <a:xfrm>
            <a:off x="2324557" y="2523744"/>
            <a:ext cx="7542580"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SECTION 1</a:t>
            </a:r>
          </a:p>
        </p:txBody>
      </p:sp>
      <p:sp>
        <p:nvSpPr>
          <p:cNvPr id="11" name="Oval 10"/>
          <p:cNvSpPr/>
          <p:nvPr/>
        </p:nvSpPr>
        <p:spPr>
          <a:xfrm>
            <a:off x="222397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Does the note hold?</a:t>
            </a:r>
          </a:p>
        </p:txBody>
      </p:sp>
      <p:sp>
        <p:nvSpPr>
          <p:cNvPr id="14" name="TextBox 13"/>
          <p:cNvSpPr txBox="1"/>
          <p:nvPr/>
        </p:nvSpPr>
        <p:spPr>
          <a:xfrm>
            <a:off x="69494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Thursday's note, defended in pairs and then to the room.</a:t>
            </a:r>
          </a:p>
        </p:txBody>
      </p:sp>
      <p:sp>
        <p:nvSpPr>
          <p:cNvPr id="15" name="TextBox 14"/>
          <p:cNvSpPr txBox="1"/>
          <p:nvPr/>
        </p:nvSpPr>
        <p:spPr>
          <a:xfrm>
            <a:off x="430164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SECTION 2</a:t>
            </a:r>
          </a:p>
        </p:txBody>
      </p:sp>
      <p:sp>
        <p:nvSpPr>
          <p:cNvPr id="16" name="Oval 15"/>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430164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6623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Which approach fits?</a:t>
            </a:r>
          </a:p>
        </p:txBody>
      </p:sp>
      <p:sp>
        <p:nvSpPr>
          <p:cNvPr id="19" name="TextBox 18"/>
          <p:cNvSpPr txBox="1"/>
          <p:nvPr/>
        </p:nvSpPr>
        <p:spPr>
          <a:xfrm>
            <a:off x="4466234" y="3277870"/>
            <a:ext cx="3259226" cy="201676"/>
          </a:xfrm>
          <a:prstGeom prst="rect">
            <a:avLst/>
          </a:prstGeom>
          <a:noFill/>
        </p:spPr>
        <p:txBody>
          <a:bodyPr wrap="square" anchor="t" lIns="0" rIns="0" tIns="0" bIns="0">
            <a:spAutoFit/>
          </a:bodyPr>
          <a:lstStyle/>
          <a:p>
            <a:pPr algn="l"/>
            <a:r>
              <a:rPr sz="1000" b="0" i="0">
                <a:solidFill>
                  <a:srgbClr val="6B6690"/>
                </a:solidFill>
                <a:latin typeface="Calibri"/>
              </a:rPr>
              <a:t>Three timed design cases, answered aloud.</a:t>
            </a:r>
          </a:p>
        </p:txBody>
      </p:sp>
      <p:sp>
        <p:nvSpPr>
          <p:cNvPr id="20" name="TextBox 19"/>
          <p:cNvSpPr txBox="1"/>
          <p:nvPr/>
        </p:nvSpPr>
        <p:spPr>
          <a:xfrm>
            <a:off x="807293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SECTION 3</a:t>
            </a:r>
          </a:p>
        </p:txBody>
      </p:sp>
      <p:sp>
        <p:nvSpPr>
          <p:cNvPr id="21" name="Oval 20"/>
          <p:cNvSpPr/>
          <p:nvPr/>
        </p:nvSpPr>
        <p:spPr>
          <a:xfrm>
            <a:off x="9766554"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8072932" y="2843784"/>
            <a:ext cx="3588410"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37524" y="2990088"/>
            <a:ext cx="3259226" cy="251205"/>
          </a:xfrm>
          <a:prstGeom prst="rect">
            <a:avLst/>
          </a:prstGeom>
          <a:noFill/>
        </p:spPr>
        <p:txBody>
          <a:bodyPr wrap="square" anchor="t" lIns="0" rIns="0" tIns="0" bIns="0">
            <a:spAutoFit/>
          </a:bodyPr>
          <a:lstStyle/>
          <a:p>
            <a:pPr algn="l"/>
            <a:r>
              <a:rPr sz="1300" b="1" i="0">
                <a:solidFill>
                  <a:srgbClr val="FFFFFF"/>
                </a:solidFill>
                <a:latin typeface="Calibri"/>
              </a:rPr>
              <a:t>What is yours now?</a:t>
            </a:r>
          </a:p>
        </p:txBody>
      </p:sp>
      <p:sp>
        <p:nvSpPr>
          <p:cNvPr id="24" name="TextBox 23"/>
          <p:cNvSpPr txBox="1"/>
          <p:nvPr/>
        </p:nvSpPr>
        <p:spPr>
          <a:xfrm>
            <a:off x="8237524" y="3277870"/>
            <a:ext cx="3259226" cy="201676"/>
          </a:xfrm>
          <a:prstGeom prst="rect">
            <a:avLst/>
          </a:prstGeom>
          <a:noFill/>
        </p:spPr>
        <p:txBody>
          <a:bodyPr wrap="square" anchor="t" lIns="0" rIns="0" tIns="0" bIns="0">
            <a:spAutoFit/>
          </a:bodyPr>
          <a:lstStyle/>
          <a:p>
            <a:pPr algn="l"/>
            <a:r>
              <a:rPr sz="1000" b="0" i="0">
                <a:solidFill>
                  <a:srgbClr val="CFC9EE"/>
                </a:solidFill>
                <a:latin typeface="Calibri"/>
              </a:rPr>
              <a:t>The Kahoot, Saturday's paper and tonight's rerun.</a:t>
            </a:r>
          </a:p>
        </p:txBody>
      </p:sp>
      <p:sp>
        <p:nvSpPr>
          <p:cNvPr id="25" name="Oval 2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27" name="Oval 26"/>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29" name="Oval 28"/>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Does the note hold?</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Does your note hold when a partner playing Marketing pushes, and can you keep its caveat without folding or overclaiming?</a:t>
            </a:r>
          </a:p>
        </p:txBody>
      </p:sp>
      <p:sp>
        <p:nvSpPr>
          <p:cNvPr id="10" name="Rounded Rectangle 9"/>
          <p:cNvSpPr/>
          <p:nvPr/>
        </p:nvSpPr>
        <p:spPr>
          <a:xfrm>
            <a:off x="731519" y="5074920"/>
            <a:ext cx="149086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Does the note hold?</a:t>
            </a:r>
          </a:p>
        </p:txBody>
      </p:sp>
      <p:sp>
        <p:nvSpPr>
          <p:cNvPr id="11" name="Rounded Rectangle 10"/>
          <p:cNvSpPr/>
          <p:nvPr/>
        </p:nvSpPr>
        <p:spPr>
          <a:xfrm>
            <a:off x="2332111"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approach fits?</a:t>
            </a:r>
          </a:p>
        </p:txBody>
      </p:sp>
      <p:sp>
        <p:nvSpPr>
          <p:cNvPr id="12" name="Rounded Rectangle 11"/>
          <p:cNvSpPr/>
          <p:nvPr/>
        </p:nvSpPr>
        <p:spPr>
          <a:xfrm>
            <a:off x="3991918"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yours now?</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5. Does your note hold when Marketing pushes?</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 /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Answered in six questions, over two rounds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this answer, and which smaller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Meera, at Monday's growth review with Marketing in the room: a caveat that folds under a push sends her budget after a number that has not earned it, and one that overclaims loses the room.</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Who hears the note?</a:t>
            </a:r>
          </a:p>
        </p:txBody>
      </p:sp>
      <p:sp>
        <p:nvSpPr>
          <p:cNvPr id="17" name="TextBox 16"/>
          <p:cNvSpPr txBox="1"/>
          <p:nvPr/>
        </p:nvSpPr>
        <p:spPr>
          <a:xfrm>
            <a:off x="694944"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Four people, four weaknesses.</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How do two minutes fit?</a:t>
            </a:r>
          </a:p>
        </p:txBody>
      </p:sp>
      <p:sp>
        <p:nvSpPr>
          <p:cNvPr id="22" name="TextBox 21"/>
          <p:cNvSpPr txBox="1"/>
          <p:nvPr/>
        </p:nvSpPr>
        <p:spPr>
          <a:xfrm>
            <a:off x="2580589"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Four parts, one order.</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What will Marketing push?</a:t>
            </a:r>
          </a:p>
        </p:txBody>
      </p:sp>
      <p:sp>
        <p:nvSpPr>
          <p:cNvPr id="27" name="TextBox 26"/>
          <p:cNvSpPr txBox="1"/>
          <p:nvPr/>
        </p:nvSpPr>
        <p:spPr>
          <a:xfrm>
            <a:off x="4466234"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Fair questions with motives.</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How do you hold a caveat?</a:t>
            </a:r>
          </a:p>
        </p:txBody>
      </p:sp>
      <p:sp>
        <p:nvSpPr>
          <p:cNvPr id="32" name="TextBox 31"/>
          <p:cNvSpPr txBox="1"/>
          <p:nvPr/>
        </p:nvSpPr>
        <p:spPr>
          <a:xfrm>
            <a:off x="6351879"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Restate, bound, offer the test.</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How do the rounds run?</a:t>
            </a:r>
          </a:p>
        </p:txBody>
      </p:sp>
      <p:sp>
        <p:nvSpPr>
          <p:cNvPr id="37" name="TextBox 36"/>
          <p:cNvSpPr txBox="1"/>
          <p:nvPr/>
        </p:nvSpPr>
        <p:spPr>
          <a:xfrm>
            <a:off x="8237524"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Pairs, then the room.</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6</a:t>
            </a:r>
          </a:p>
        </p:txBody>
      </p:sp>
      <p:sp>
        <p:nvSpPr>
          <p:cNvPr id="39" name="Oval 38"/>
          <p:cNvSpPr/>
          <p:nvPr/>
        </p:nvSpPr>
        <p:spPr>
          <a:xfrm>
            <a:off x="10709376"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465836"/>
          </a:xfrm>
          <a:prstGeom prst="rect">
            <a:avLst/>
          </a:prstGeom>
          <a:noFill/>
        </p:spPr>
        <p:txBody>
          <a:bodyPr wrap="square" anchor="t" lIns="0" rIns="0" tIns="0" bIns="0">
            <a:spAutoFit/>
          </a:bodyPr>
          <a:lstStyle/>
          <a:p>
            <a:pPr algn="l"/>
            <a:r>
              <a:rPr sz="1300" b="1" i="0">
                <a:solidFill>
                  <a:srgbClr val="FFFFFF"/>
                </a:solidFill>
                <a:latin typeface="Calibri"/>
              </a:rPr>
              <a:t>What does a partner write?</a:t>
            </a:r>
          </a:p>
        </p:txBody>
      </p:sp>
      <p:sp>
        <p:nvSpPr>
          <p:cNvPr id="42" name="TextBox 41"/>
          <p:cNvSpPr txBox="1"/>
          <p:nvPr/>
        </p:nvSpPr>
        <p:spPr>
          <a:xfrm>
            <a:off x="10123170" y="4464812"/>
            <a:ext cx="1373581" cy="366776"/>
          </a:xfrm>
          <a:prstGeom prst="rect">
            <a:avLst/>
          </a:prstGeom>
          <a:noFill/>
        </p:spPr>
        <p:txBody>
          <a:bodyPr wrap="square" anchor="t" lIns="0" rIns="0" tIns="0" bIns="0">
            <a:spAutoFit/>
          </a:bodyPr>
          <a:lstStyle/>
          <a:p>
            <a:pPr algn="l"/>
            <a:r>
              <a:rPr sz="1000" b="0" i="0">
                <a:solidFill>
                  <a:srgbClr val="CFC9EE"/>
                </a:solidFill>
                <a:latin typeface="Calibri"/>
              </a:rPr>
              <a:t>Four answers, no score.</a:t>
            </a:r>
          </a:p>
        </p:txBody>
      </p:sp>
      <p:sp>
        <p:nvSpPr>
          <p:cNvPr id="43" name="Oval 4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Does the note hold?</a:t>
            </a:r>
          </a:p>
        </p:txBody>
      </p:sp>
      <p:sp>
        <p:nvSpPr>
          <p:cNvPr id="45" name="Oval 44"/>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47" name="Oval 46"/>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4 /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people hear the note, each for a weakness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hears the note on Monday, and what does each listen for?</a:t>
            </a:r>
          </a:p>
        </p:txBody>
      </p:sp>
      <p:sp>
        <p:nvSpPr>
          <p:cNvPr id="9" name="Rounded Rectangle 8"/>
          <p:cNvSpPr/>
          <p:nvPr/>
        </p:nvSpPr>
        <p:spPr>
          <a:xfrm>
            <a:off x="530352"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rown_50cb0a914c82.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CEO</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Meera Raghavan</a:t>
            </a:r>
          </a:p>
        </p:txBody>
      </p:sp>
      <p:sp>
        <p:nvSpPr>
          <p:cNvPr id="14" name="TextBox 13"/>
          <p:cNvSpPr txBox="1"/>
          <p:nvPr/>
        </p:nvSpPr>
        <p:spPr>
          <a:xfrm>
            <a:off x="731519"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One page, two minutes, and what to do. She acts on the first line.</a:t>
            </a:r>
          </a:p>
        </p:txBody>
      </p:sp>
      <p:sp>
        <p:nvSpPr>
          <p:cNvPr id="15" name="Rounded Rectangle 14"/>
          <p:cNvSpPr/>
          <p:nvPr/>
        </p:nvSpPr>
        <p:spPr>
          <a:xfrm>
            <a:off x="3358819"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egaphone_df6318bcf2f9.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OWNS CAMPAIGNS</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marketing lead</a:t>
            </a:r>
          </a:p>
        </p:txBody>
      </p:sp>
      <p:sp>
        <p:nvSpPr>
          <p:cNvPr id="20" name="TextBox 19"/>
          <p:cNvSpPr txBox="1"/>
          <p:nvPr/>
        </p:nvSpPr>
        <p:spPr>
          <a:xfrm>
            <a:off x="3559987"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Defends the monsoon sale and the acquisition budget against your reading.</a:t>
            </a:r>
          </a:p>
        </p:txBody>
      </p:sp>
      <p:sp>
        <p:nvSpPr>
          <p:cNvPr id="21" name="Rounded Rectangle 20"/>
          <p:cNvSpPr/>
          <p:nvPr/>
        </p:nvSpPr>
        <p:spPr>
          <a:xfrm>
            <a:off x="6187287"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alculator_852ec1ae1794.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FINANCE</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Anand Iyer</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Checks that every number matches the books and can be audited.</a:t>
            </a:r>
          </a:p>
        </p:txBody>
      </p:sp>
      <p:sp>
        <p:nvSpPr>
          <p:cNvPr id="27" name="Rounded Rectangle 26"/>
          <p:cNvSpPr/>
          <p:nvPr/>
        </p:nvSpPr>
        <p:spPr>
          <a:xfrm>
            <a:off x="9015755"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badge-check_d6a22696841d.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PAID TIER</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head of Retail-Plus</a:t>
            </a:r>
          </a:p>
        </p:txBody>
      </p:sp>
      <p:sp>
        <p:nvSpPr>
          <p:cNvPr id="32" name="TextBox 31"/>
          <p:cNvSpPr txBox="1"/>
          <p:nvPr/>
        </p:nvSpPr>
        <p:spPr>
          <a:xfrm>
            <a:off x="9216923"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Wants to know whether the paid tier is slipping and whom to protect first.</a:t>
            </a:r>
          </a:p>
        </p:txBody>
      </p:sp>
      <p:sp>
        <p:nvSpPr>
          <p:cNvPr id="33" name="Rounded Rectangle 32"/>
          <p:cNvSpPr/>
          <p:nvPr/>
        </p:nvSpPr>
        <p:spPr>
          <a:xfrm>
            <a:off x="530352" y="4294124"/>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758952" y="462635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message-square_028dbd132a0a.png"/>
          <p:cNvPicPr>
            <a:picLocks noChangeAspect="1"/>
          </p:cNvPicPr>
          <p:nvPr/>
        </p:nvPicPr>
        <p:blipFill>
          <a:blip r:embed="rId8"/>
          <a:stretch>
            <a:fillRect/>
          </a:stretch>
        </p:blipFill>
        <p:spPr>
          <a:xfrm>
            <a:off x="868680" y="4736084"/>
            <a:ext cx="237744" cy="237744"/>
          </a:xfrm>
          <a:prstGeom prst="rect">
            <a:avLst/>
          </a:prstGeom>
        </p:spPr>
      </p:pic>
      <p:sp>
        <p:nvSpPr>
          <p:cNvPr id="36" name="TextBox 35"/>
          <p:cNvSpPr txBox="1"/>
          <p:nvPr/>
        </p:nvSpPr>
        <p:spPr>
          <a:xfrm>
            <a:off x="1399031" y="4440428"/>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37" name="TextBox 36"/>
          <p:cNvSpPr txBox="1"/>
          <p:nvPr/>
        </p:nvSpPr>
        <p:spPr>
          <a:xfrm>
            <a:off x="1399031" y="4659884"/>
            <a:ext cx="9987991" cy="682752"/>
          </a:xfrm>
          <a:prstGeom prst="rect">
            <a:avLst/>
          </a:prstGeom>
          <a:noFill/>
        </p:spPr>
        <p:txBody>
          <a:bodyPr wrap="square" anchor="t" lIns="0" rIns="0" tIns="0" bIns="0">
            <a:spAutoFit/>
          </a:bodyPr>
          <a:lstStyle/>
          <a:p>
            <a:r>
              <a:rPr sz="1500" b="0" i="0">
                <a:solidFill>
                  <a:srgbClr val="FFFFFF"/>
                </a:solidFill>
                <a:latin typeface="Calibri"/>
              </a:rPr>
              <a:t>How do you know, what did you leave out, and what would change your mind? These are the questions every interviewer asks about a project too.</a:t>
            </a:r>
          </a:p>
        </p:txBody>
      </p:sp>
      <p:sp>
        <p:nvSpPr>
          <p:cNvPr id="38" name="Oval 3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08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Does the note hold?</a:t>
            </a:r>
          </a:p>
        </p:txBody>
      </p:sp>
      <p:sp>
        <p:nvSpPr>
          <p:cNvPr id="40" name="Oval 39"/>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42" name="Oval 41"/>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44" name="TextBox 4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parts in two minutes, always in one order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two minutes carry the note's four parts?</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30 SECONDS</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Claim</a:t>
            </a:r>
          </a:p>
        </p:txBody>
      </p:sp>
      <p:sp>
        <p:nvSpPr>
          <p:cNvPr id="14" name="TextBox 13"/>
          <p:cNvSpPr txBox="1"/>
          <p:nvPr/>
        </p:nvSpPr>
        <p:spPr>
          <a:xfrm>
            <a:off x="694944"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One sentence, with the number and what it is out of.</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40 SECONDS</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Evidence</a:t>
            </a:r>
          </a:p>
        </p:txBody>
      </p:sp>
      <p:sp>
        <p:nvSpPr>
          <p:cNvPr id="19" name="TextBox 18"/>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What you computed, on how many, and how you checked it.</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30 SECONDS</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Caveat</a:t>
            </a:r>
          </a:p>
        </p:txBody>
      </p:sp>
      <p:sp>
        <p:nvSpPr>
          <p:cNvPr id="24" name="TextBox 23"/>
          <p:cNvSpPr txBox="1"/>
          <p:nvPr/>
        </p:nvSpPr>
        <p:spPr>
          <a:xfrm>
            <a:off x="6351879"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The thing that would change the claim, said before anyone finds it.</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20 SECONDS</a:t>
            </a:r>
          </a:p>
        </p:txBody>
      </p:sp>
      <p:sp>
        <p:nvSpPr>
          <p:cNvPr id="26" name="Oval 25"/>
          <p:cNvSpPr/>
          <p:nvPr/>
        </p:nvSpPr>
        <p:spPr>
          <a:xfrm>
            <a:off x="1023796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Action</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What to do, what it costs, and what would tell us more.</a:t>
            </a:r>
          </a:p>
        </p:txBody>
      </p:sp>
      <p:sp>
        <p:nvSpPr>
          <p:cNvPr id="30" name="Rounded Rectangle 29"/>
          <p:cNvSpPr/>
          <p:nvPr/>
        </p:nvSpPr>
        <p:spPr>
          <a:xfrm>
            <a:off x="530352" y="410362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758952" y="43063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search-check_6571e64a041f.png"/>
          <p:cNvPicPr>
            <a:picLocks noChangeAspect="1"/>
          </p:cNvPicPr>
          <p:nvPr/>
        </p:nvPicPr>
        <p:blipFill>
          <a:blip r:embed="rId4"/>
          <a:stretch>
            <a:fillRect/>
          </a:stretch>
        </p:blipFill>
        <p:spPr>
          <a:xfrm>
            <a:off x="868680" y="4416044"/>
            <a:ext cx="237744" cy="237744"/>
          </a:xfrm>
          <a:prstGeom prst="rect">
            <a:avLst/>
          </a:prstGeom>
        </p:spPr>
      </p:pic>
      <p:sp>
        <p:nvSpPr>
          <p:cNvPr id="33" name="TextBox 32"/>
          <p:cNvSpPr txBox="1"/>
          <p:nvPr/>
        </p:nvSpPr>
        <p:spPr>
          <a:xfrm>
            <a:off x="1399031" y="424992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34" name="TextBox 33"/>
          <p:cNvSpPr txBox="1"/>
          <p:nvPr/>
        </p:nvSpPr>
        <p:spPr>
          <a:xfrm>
            <a:off x="1399031" y="4469384"/>
            <a:ext cx="9987991" cy="423672"/>
          </a:xfrm>
          <a:prstGeom prst="rect">
            <a:avLst/>
          </a:prstGeom>
          <a:noFill/>
        </p:spPr>
        <p:txBody>
          <a:bodyPr wrap="square" anchor="t" lIns="0" rIns="0" tIns="0" bIns="0">
            <a:spAutoFit/>
          </a:bodyPr>
          <a:lstStyle/>
          <a:p>
            <a:r>
              <a:rPr sz="1500" b="0" i="0">
                <a:solidFill>
                  <a:srgbClr val="1A1440"/>
                </a:solidFill>
                <a:latin typeface="Calibri"/>
              </a:rPr>
              <a:t>Say the caveat before Marketing finds it, so the room hears it as part of the claim.</a:t>
            </a:r>
          </a:p>
        </p:txBody>
      </p:sp>
      <p:sp>
        <p:nvSpPr>
          <p:cNvPr id="35" name="Oval 3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Does the note hold?</a:t>
            </a:r>
          </a:p>
        </p:txBody>
      </p:sp>
      <p:sp>
        <p:nvSpPr>
          <p:cNvPr id="37" name="Oval 36"/>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39" name="Oval 38"/>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41" name="TextBox 4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 pushes with numbers that are true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will a partner playing Marketing push on?</a:t>
            </a:r>
          </a:p>
        </p:txBody>
      </p:sp>
      <p:pic>
        <p:nvPicPr>
          <p:cNvPr id="9" name="mermaid diagram" descr="d24cc5219b206799.png"/>
          <p:cNvPicPr>
            <a:picLocks noChangeAspect="1"/>
          </p:cNvPicPr>
          <p:nvPr/>
        </p:nvPicPr>
        <p:blipFill>
          <a:blip r:embed="rId5"/>
          <a:stretch>
            <a:fillRect/>
          </a:stretch>
        </p:blipFill>
        <p:spPr>
          <a:xfrm>
            <a:off x="1325273" y="1682496"/>
            <a:ext cx="3196483" cy="4517136"/>
          </a:xfrm>
          <a:prstGeom prst="rect">
            <a:avLst/>
          </a:prstGeom>
        </p:spPr>
      </p:pic>
      <p:sp>
        <p:nvSpPr>
          <p:cNvPr id="10" name="TextBox 9"/>
          <p:cNvSpPr txBox="1"/>
          <p:nvPr/>
        </p:nvSpPr>
        <p:spPr>
          <a:xfrm>
            <a:off x="5761917" y="1956816"/>
            <a:ext cx="5899425"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Every push is a fair question with a motive behind it, so the answer is to the question it asks. The pair lists, with a harder set for the second pairing, are in the rehearsal brief.</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Does the note hold?</a:t>
            </a:r>
          </a:p>
        </p:txBody>
      </p:sp>
      <p:sp>
        <p:nvSpPr>
          <p:cNvPr id="13" name="Oval 12"/>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15" name="Oval 14"/>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Restate, bound, offer the test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you hold a caveat without folding or overclaiming?</a:t>
            </a:r>
          </a:p>
        </p:txBody>
      </p:sp>
      <p:pic>
        <p:nvPicPr>
          <p:cNvPr id="9" name="mermaid diagram" descr="d1926ba03ed1f24a.png"/>
          <p:cNvPicPr>
            <a:picLocks noChangeAspect="1"/>
          </p:cNvPicPr>
          <p:nvPr/>
        </p:nvPicPr>
        <p:blipFill>
          <a:blip r:embed="rId6"/>
          <a:stretch>
            <a:fillRect/>
          </a:stretch>
        </p:blipFill>
        <p:spPr>
          <a:xfrm>
            <a:off x="2193823" y="1682496"/>
            <a:ext cx="1459382" cy="4517136"/>
          </a:xfrm>
          <a:prstGeom prst="rect">
            <a:avLst/>
          </a:prstGeom>
        </p:spPr>
      </p:pic>
      <p:sp>
        <p:nvSpPr>
          <p:cNvPr id="10" name="Rounded Rectangle 9"/>
          <p:cNvSpPr/>
          <p:nvPr/>
        </p:nvSpPr>
        <p:spPr>
          <a:xfrm>
            <a:off x="5761917" y="1956816"/>
            <a:ext cx="5899425"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990517" y="24185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mic_caee7398c80d.png"/>
          <p:cNvPicPr>
            <a:picLocks noChangeAspect="1"/>
          </p:cNvPicPr>
          <p:nvPr/>
        </p:nvPicPr>
        <p:blipFill>
          <a:blip r:embed="rId5"/>
          <a:stretch>
            <a:fillRect/>
          </a:stretch>
        </p:blipFill>
        <p:spPr>
          <a:xfrm>
            <a:off x="6100245" y="2528316"/>
            <a:ext cx="237744" cy="237744"/>
          </a:xfrm>
          <a:prstGeom prst="rect">
            <a:avLst/>
          </a:prstGeom>
        </p:spPr>
      </p:pic>
      <p:sp>
        <p:nvSpPr>
          <p:cNvPr id="13" name="TextBox 12"/>
          <p:cNvSpPr txBox="1"/>
          <p:nvPr/>
        </p:nvSpPr>
        <p:spPr>
          <a:xfrm>
            <a:off x="6630597" y="2103120"/>
            <a:ext cx="4756425"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4" name="TextBox 13"/>
          <p:cNvSpPr txBox="1"/>
          <p:nvPr/>
        </p:nvSpPr>
        <p:spPr>
          <a:xfrm>
            <a:off x="6630597" y="2322576"/>
            <a:ext cx="4756425" cy="941832"/>
          </a:xfrm>
          <a:prstGeom prst="rect">
            <a:avLst/>
          </a:prstGeom>
          <a:noFill/>
        </p:spPr>
        <p:txBody>
          <a:bodyPr wrap="square" anchor="t" lIns="0" rIns="0" tIns="0" bIns="0">
            <a:spAutoFit/>
          </a:bodyPr>
          <a:lstStyle/>
          <a:p>
            <a:r>
              <a:rPr sz="1500" b="0" i="0">
                <a:solidFill>
                  <a:srgbClr val="1A1440"/>
                </a:solidFill>
                <a:latin typeface="Calibri"/>
              </a:rPr>
              <a:t>[D] A stakeholder attacks your caveat in front of the room; how do you hold it without overclaiming?</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Does the note hold?</a:t>
            </a:r>
          </a:p>
        </p:txBody>
      </p:sp>
      <p:sp>
        <p:nvSpPr>
          <p:cNvPr id="17" name="Oval 16"/>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19" name="Oval 18"/>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sharpest push agrees with the numbers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you answer a push whose every number is true?</a:t>
            </a:r>
          </a:p>
        </p:txBody>
      </p:sp>
      <p:pic>
        <p:nvPicPr>
          <p:cNvPr id="9" name="mermaid diagram" descr="c239db21db2649f3.png"/>
          <p:cNvPicPr>
            <a:picLocks noChangeAspect="1"/>
          </p:cNvPicPr>
          <p:nvPr/>
        </p:nvPicPr>
        <p:blipFill>
          <a:blip r:embed="rId5"/>
          <a:stretch>
            <a:fillRect/>
          </a:stretch>
        </p:blipFill>
        <p:spPr>
          <a:xfrm>
            <a:off x="780897" y="1956816"/>
            <a:ext cx="10629900" cy="1857375"/>
          </a:xfrm>
          <a:prstGeom prst="rect">
            <a:avLst/>
          </a:prstGeom>
        </p:spPr>
      </p:pic>
      <p:sp>
        <p:nvSpPr>
          <p:cNvPr id="10" name="TextBox 9"/>
          <p:cNvSpPr txBox="1"/>
          <p:nvPr/>
        </p:nvSpPr>
        <p:spPr>
          <a:xfrm>
            <a:off x="530352" y="3960495"/>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Folding loses the finding and overclaiming loses the room; the answer that holds agrees with Marketing's arithmetic and then shows who the blend was made of.</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Does the note hold?</a:t>
            </a:r>
          </a:p>
        </p:txBody>
      </p:sp>
      <p:sp>
        <p:nvSpPr>
          <p:cNvPr id="13" name="Oval 12"/>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15" name="Oval 14"/>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9 /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person defends twice, to two partners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round one run?</a:t>
            </a:r>
          </a:p>
        </p:txBody>
      </p:sp>
      <p:pic>
        <p:nvPicPr>
          <p:cNvPr id="9" name="mermaid diagram" descr="c22a4ac1a0df1c39.png"/>
          <p:cNvPicPr>
            <a:picLocks noChangeAspect="1"/>
          </p:cNvPicPr>
          <p:nvPr/>
        </p:nvPicPr>
        <p:blipFill>
          <a:blip r:embed="rId5"/>
          <a:stretch>
            <a:fillRect/>
          </a:stretch>
        </p:blipFill>
        <p:spPr>
          <a:xfrm>
            <a:off x="780897" y="1956816"/>
            <a:ext cx="10629900" cy="1600200"/>
          </a:xfrm>
          <a:prstGeom prst="rect">
            <a:avLst/>
          </a:prstGeom>
        </p:spPr>
      </p:pic>
      <p:sp>
        <p:nvSpPr>
          <p:cNvPr id="10" name="TextBox 9"/>
          <p:cNvSpPr txBox="1"/>
          <p:nvPr/>
        </p:nvSpPr>
        <p:spPr>
          <a:xfrm>
            <a:off x="530352" y="370332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In pair one each ten minutes runs: two minutes of the note read aloud, five of pushes and answers, three for the partner to fill the feedback card. Pair two takes nine: two, four and three.</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Does the note hold?</a:t>
            </a:r>
          </a:p>
        </p:txBody>
      </p:sp>
      <p:sp>
        <p:nvSpPr>
          <p:cNvPr id="13" name="Oval 12"/>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15" name="Oval 14"/>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10 /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partner writes four answers and no score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partner write on the card?</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hash_29aa8cda0b5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1</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claim</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Quote the number and what it was out of, as you heard it.</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shield_1aa1fb982097.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2</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caveat</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Said before the push, after it, or not at all?</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words_27269e7e5d7e.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3</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hardest push</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Which one landed, and what answer would have held it?</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scissors_1ca78285f579.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4</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Keep and cut</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One sentence to keep, one to cut.</a:t>
            </a:r>
          </a:p>
        </p:txBody>
      </p:sp>
      <p:sp>
        <p:nvSpPr>
          <p:cNvPr id="33" name="TextBox 32"/>
          <p:cNvSpPr txBox="1"/>
          <p:nvPr/>
        </p:nvSpPr>
        <p:spPr>
          <a:xfrm>
            <a:off x="530352" y="4104132"/>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card is exercises/guided/C2_W01_D05_feedback_card_STUDENT.md, one per defence; the defender keeps it.</a:t>
            </a:r>
          </a:p>
        </p:txBody>
      </p:sp>
      <p:sp>
        <p:nvSpPr>
          <p:cNvPr id="34" name="Oval 3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Does the note hold?</a:t>
            </a:r>
          </a:p>
        </p:txBody>
      </p:sp>
      <p:sp>
        <p:nvSpPr>
          <p:cNvPr id="36" name="Oval 35"/>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38" name="Oval 37"/>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11 /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dozen notes, two minutes each, to the room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round two run?</a:t>
            </a:r>
          </a:p>
        </p:txBody>
      </p:sp>
      <p:pic>
        <p:nvPicPr>
          <p:cNvPr id="9" name="mermaid diagram" descr="85aedfa4d01344f6.png"/>
          <p:cNvPicPr>
            <a:picLocks noChangeAspect="1"/>
          </p:cNvPicPr>
          <p:nvPr/>
        </p:nvPicPr>
        <p:blipFill>
          <a:blip r:embed="rId5"/>
          <a:stretch>
            <a:fillRect/>
          </a:stretch>
        </p:blipFill>
        <p:spPr>
          <a:xfrm>
            <a:off x="780897" y="1956816"/>
            <a:ext cx="10629900" cy="1357312"/>
          </a:xfrm>
          <a:prstGeom prst="rect">
            <a:avLst/>
          </a:prstGeom>
        </p:spPr>
      </p:pic>
      <p:sp>
        <p:nvSpPr>
          <p:cNvPr id="10" name="TextBox 9"/>
          <p:cNvSpPr txBox="1"/>
          <p:nvPr/>
        </p:nvSpPr>
        <p:spPr>
          <a:xfrm>
            <a:off x="530352" y="3460432"/>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About a dozen people are called in fifty minutes, so everybody prepares as if they are next.</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Does the note hold?</a:t>
            </a:r>
          </a:p>
        </p:txBody>
      </p:sp>
      <p:sp>
        <p:nvSpPr>
          <p:cNvPr id="13" name="Oval 12"/>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15" name="Oval 14"/>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12 /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approach fits?</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Which approach fits each case, sized how, and what would make you switch?</a:t>
            </a:r>
          </a:p>
        </p:txBody>
      </p:sp>
      <p:sp>
        <p:nvSpPr>
          <p:cNvPr id="10" name="Rounded Rectangle 9"/>
          <p:cNvSpPr/>
          <p:nvPr/>
        </p:nvSpPr>
        <p:spPr>
          <a:xfrm>
            <a:off x="731519"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the note hold?</a:t>
            </a:r>
          </a:p>
        </p:txBody>
      </p:sp>
      <p:sp>
        <p:nvSpPr>
          <p:cNvPr id="11" name="Rounded Rectangle 10"/>
          <p:cNvSpPr/>
          <p:nvPr/>
        </p:nvSpPr>
        <p:spPr>
          <a:xfrm>
            <a:off x="2332111" y="5074920"/>
            <a:ext cx="155007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approach fits?</a:t>
            </a:r>
          </a:p>
        </p:txBody>
      </p:sp>
      <p:sp>
        <p:nvSpPr>
          <p:cNvPr id="12" name="Rounded Rectangle 11"/>
          <p:cNvSpPr/>
          <p:nvPr/>
        </p:nvSpPr>
        <p:spPr>
          <a:xfrm>
            <a:off x="3991918"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yours now?</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5. Does your note hold when Marketing pushes?</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13 /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Answered in three cases, thirteen minutes each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this answer, and which cases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An interviewer asking the design question, and behind each case a Kalpa stakeholder who acts on the call: Meera, Anand and the product head.</a:t>
            </a:r>
          </a:p>
        </p:txBody>
      </p:sp>
      <p:sp>
        <p:nvSpPr>
          <p:cNvPr id="12" name="Rectangle 11"/>
          <p:cNvSpPr/>
          <p:nvPr/>
        </p:nvSpPr>
        <p:spPr>
          <a:xfrm>
            <a:off x="2324557" y="3496056"/>
            <a:ext cx="7542580"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CASE 1</a:t>
            </a:r>
          </a:p>
        </p:txBody>
      </p:sp>
      <p:sp>
        <p:nvSpPr>
          <p:cNvPr id="14" name="Oval 13"/>
          <p:cNvSpPr/>
          <p:nvPr/>
        </p:nvSpPr>
        <p:spPr>
          <a:xfrm>
            <a:off x="222397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3588410"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3259226" cy="251205"/>
          </a:xfrm>
          <a:prstGeom prst="rect">
            <a:avLst/>
          </a:prstGeom>
          <a:noFill/>
        </p:spPr>
        <p:txBody>
          <a:bodyPr wrap="square" anchor="t" lIns="0" rIns="0" tIns="0" bIns="0">
            <a:spAutoFit/>
          </a:bodyPr>
          <a:lstStyle/>
          <a:p>
            <a:pPr algn="l"/>
            <a:r>
              <a:rPr sz="1300" b="1" i="0">
                <a:solidFill>
                  <a:srgbClr val="1A0F5C"/>
                </a:solidFill>
                <a:latin typeface="Calibri"/>
              </a:rPr>
              <a:t>What do you leave out?</a:t>
            </a:r>
          </a:p>
        </p:txBody>
      </p:sp>
      <p:sp>
        <p:nvSpPr>
          <p:cNvPr id="17" name="TextBox 16"/>
          <p:cNvSpPr txBox="1"/>
          <p:nvPr/>
        </p:nvSpPr>
        <p:spPr>
          <a:xfrm>
            <a:off x="694944" y="4250182"/>
            <a:ext cx="3259226" cy="201676"/>
          </a:xfrm>
          <a:prstGeom prst="rect">
            <a:avLst/>
          </a:prstGeom>
          <a:noFill/>
        </p:spPr>
        <p:txBody>
          <a:bodyPr wrap="square" anchor="t" lIns="0" rIns="0" tIns="0" bIns="0">
            <a:spAutoFit/>
          </a:bodyPr>
          <a:lstStyle/>
          <a:p>
            <a:pPr algn="l"/>
            <a:r>
              <a:rPr sz="1000" b="0" i="0">
                <a:solidFill>
                  <a:srgbClr val="6B6690"/>
                </a:solidFill>
                <a:latin typeface="Calibri"/>
              </a:rPr>
              <a:t>Meera's first read in two hours.</a:t>
            </a:r>
          </a:p>
        </p:txBody>
      </p:sp>
      <p:sp>
        <p:nvSpPr>
          <p:cNvPr id="18" name="TextBox 17"/>
          <p:cNvSpPr txBox="1"/>
          <p:nvPr/>
        </p:nvSpPr>
        <p:spPr>
          <a:xfrm>
            <a:off x="4301642" y="2929128"/>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CASE 2</a:t>
            </a:r>
          </a:p>
        </p:txBody>
      </p:sp>
      <p:sp>
        <p:nvSpPr>
          <p:cNvPr id="19" name="Oval 18"/>
          <p:cNvSpPr/>
          <p:nvPr/>
        </p:nvSpPr>
        <p:spPr>
          <a:xfrm>
            <a:off x="599526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4301642" y="3816096"/>
            <a:ext cx="3588410"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466234" y="3962400"/>
            <a:ext cx="3259226" cy="251205"/>
          </a:xfrm>
          <a:prstGeom prst="rect">
            <a:avLst/>
          </a:prstGeom>
          <a:noFill/>
        </p:spPr>
        <p:txBody>
          <a:bodyPr wrap="square" anchor="t" lIns="0" rIns="0" tIns="0" bIns="0">
            <a:spAutoFit/>
          </a:bodyPr>
          <a:lstStyle/>
          <a:p>
            <a:pPr algn="l"/>
            <a:r>
              <a:rPr sz="1300" b="1" i="0">
                <a:solidFill>
                  <a:srgbClr val="1A0F5C"/>
                </a:solidFill>
                <a:latin typeface="Calibri"/>
              </a:rPr>
              <a:t>Which check runs first?</a:t>
            </a:r>
          </a:p>
        </p:txBody>
      </p:sp>
      <p:sp>
        <p:nvSpPr>
          <p:cNvPr id="22" name="TextBox 21"/>
          <p:cNvSpPr txBox="1"/>
          <p:nvPr/>
        </p:nvSpPr>
        <p:spPr>
          <a:xfrm>
            <a:off x="4466234" y="4250182"/>
            <a:ext cx="3259226" cy="201676"/>
          </a:xfrm>
          <a:prstGeom prst="rect">
            <a:avLst/>
          </a:prstGeom>
          <a:noFill/>
        </p:spPr>
        <p:txBody>
          <a:bodyPr wrap="square" anchor="t" lIns="0" rIns="0" tIns="0" bIns="0">
            <a:spAutoFit/>
          </a:bodyPr>
          <a:lstStyle/>
          <a:p>
            <a:pPr algn="l"/>
            <a:r>
              <a:rPr sz="1000" b="0" i="0">
                <a:solidFill>
                  <a:srgbClr val="6B6690"/>
                </a:solidFill>
                <a:latin typeface="Calibri"/>
              </a:rPr>
              <a:t>Zero rejects and a Rs 20 lakh gap.</a:t>
            </a:r>
          </a:p>
        </p:txBody>
      </p:sp>
      <p:sp>
        <p:nvSpPr>
          <p:cNvPr id="23" name="TextBox 22"/>
          <p:cNvSpPr txBox="1"/>
          <p:nvPr/>
        </p:nvSpPr>
        <p:spPr>
          <a:xfrm>
            <a:off x="8072932" y="2929128"/>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CASE 3</a:t>
            </a:r>
          </a:p>
        </p:txBody>
      </p:sp>
      <p:sp>
        <p:nvSpPr>
          <p:cNvPr id="24" name="Oval 23"/>
          <p:cNvSpPr/>
          <p:nvPr/>
        </p:nvSpPr>
        <p:spPr>
          <a:xfrm>
            <a:off x="9766554"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8072932" y="3816096"/>
            <a:ext cx="3588410" cy="90424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237524" y="3962400"/>
            <a:ext cx="3259226" cy="251205"/>
          </a:xfrm>
          <a:prstGeom prst="rect">
            <a:avLst/>
          </a:prstGeom>
          <a:noFill/>
        </p:spPr>
        <p:txBody>
          <a:bodyPr wrap="square" anchor="t" lIns="0" rIns="0" tIns="0" bIns="0">
            <a:spAutoFit/>
          </a:bodyPr>
          <a:lstStyle/>
          <a:p>
            <a:pPr algn="l"/>
            <a:r>
              <a:rPr sz="1300" b="1" i="0">
                <a:solidFill>
                  <a:srgbClr val="FFFFFF"/>
                </a:solidFill>
                <a:latin typeface="Calibri"/>
              </a:rPr>
              <a:t>Can 12 visits beat 1,200?</a:t>
            </a:r>
          </a:p>
        </p:txBody>
      </p:sp>
      <p:sp>
        <p:nvSpPr>
          <p:cNvPr id="27" name="TextBox 26"/>
          <p:cNvSpPr txBox="1"/>
          <p:nvPr/>
        </p:nvSpPr>
        <p:spPr>
          <a:xfrm>
            <a:off x="8237524" y="4250182"/>
            <a:ext cx="3259226" cy="201676"/>
          </a:xfrm>
          <a:prstGeom prst="rect">
            <a:avLst/>
          </a:prstGeom>
          <a:noFill/>
        </p:spPr>
        <p:txBody>
          <a:bodyPr wrap="square" anchor="t" lIns="0" rIns="0" tIns="0" bIns="0">
            <a:spAutoFit/>
          </a:bodyPr>
          <a:lstStyle/>
          <a:p>
            <a:pPr algn="l"/>
            <a:r>
              <a:rPr sz="1000" b="0" i="0">
                <a:solidFill>
                  <a:srgbClr val="CFC9EE"/>
                </a:solidFill>
                <a:latin typeface="Calibri"/>
              </a:rPr>
              <a:t>42 percent on twelve visits.</a:t>
            </a:r>
          </a:p>
        </p:txBody>
      </p:sp>
      <p:sp>
        <p:nvSpPr>
          <p:cNvPr id="28" name="Oval 2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30" name="Oval 29"/>
          <p:cNvSpPr/>
          <p:nvPr/>
        </p:nvSpPr>
        <p:spPr>
          <a:xfrm>
            <a:off x="187994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989677"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approach fits?</a:t>
            </a:r>
          </a:p>
        </p:txBody>
      </p:sp>
      <p:sp>
        <p:nvSpPr>
          <p:cNvPr id="32" name="Oval 31"/>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14 /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Read, think, answer aloud, then two call-outs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a timed design case run?</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 MINUTE</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Read</a:t>
            </a:r>
          </a:p>
        </p:txBody>
      </p:sp>
      <p:sp>
        <p:nvSpPr>
          <p:cNvPr id="14" name="TextBox 13"/>
          <p:cNvSpPr txBox="1"/>
          <p:nvPr/>
        </p:nvSpPr>
        <p:spPr>
          <a:xfrm>
            <a:off x="694944"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The case, its options and the real company it is like.</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 MINUTES</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Think</a:t>
            </a:r>
          </a:p>
        </p:txBody>
      </p:sp>
      <p:sp>
        <p:nvSpPr>
          <p:cNvPr id="19" name="TextBox 18"/>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On paper: which option fits, sized how, and what would switch it.</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 MINUTES</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Answer aloud</a:t>
            </a:r>
          </a:p>
        </p:txBody>
      </p:sp>
      <p:sp>
        <p:nvSpPr>
          <p:cNvPr id="24" name="TextBox 23"/>
          <p:cNvSpPr txBox="1"/>
          <p:nvPr/>
        </p:nvSpPr>
        <p:spPr>
          <a:xfrm>
            <a:off x="6351879" y="3277870"/>
            <a:ext cx="2316403" cy="201676"/>
          </a:xfrm>
          <a:prstGeom prst="rect">
            <a:avLst/>
          </a:prstGeom>
          <a:noFill/>
        </p:spPr>
        <p:txBody>
          <a:bodyPr wrap="square" anchor="t" lIns="0" rIns="0" tIns="0" bIns="0">
            <a:spAutoFit/>
          </a:bodyPr>
          <a:lstStyle/>
          <a:p>
            <a:pPr algn="l"/>
            <a:r>
              <a:rPr sz="1000" b="0" i="0">
                <a:solidFill>
                  <a:srgbClr val="6B6690"/>
                </a:solidFill>
                <a:latin typeface="Calibri"/>
              </a:rPr>
              <a:t>Two minutes each, to your partner.</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5 MINUTES</a:t>
            </a:r>
          </a:p>
        </p:txBody>
      </p:sp>
      <p:sp>
        <p:nvSpPr>
          <p:cNvPr id="26" name="Oval 25"/>
          <p:cNvSpPr/>
          <p:nvPr/>
        </p:nvSpPr>
        <p:spPr>
          <a:xfrm>
            <a:off x="1023796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Two call-outs</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Two answers to the room, then the model answer.</a:t>
            </a:r>
          </a:p>
        </p:txBody>
      </p:sp>
      <p:sp>
        <p:nvSpPr>
          <p:cNvPr id="30" name="Rounded Rectangle 29"/>
          <p:cNvSpPr/>
          <p:nvPr/>
        </p:nvSpPr>
        <p:spPr>
          <a:xfrm>
            <a:off x="530352" y="4103624"/>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758952" y="443585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mic_caee7398c80d.png"/>
          <p:cNvPicPr>
            <a:picLocks noChangeAspect="1"/>
          </p:cNvPicPr>
          <p:nvPr/>
        </p:nvPicPr>
        <p:blipFill>
          <a:blip r:embed="rId4"/>
          <a:stretch>
            <a:fillRect/>
          </a:stretch>
        </p:blipFill>
        <p:spPr>
          <a:xfrm>
            <a:off x="868680" y="4545584"/>
            <a:ext cx="237744" cy="237744"/>
          </a:xfrm>
          <a:prstGeom prst="rect">
            <a:avLst/>
          </a:prstGeom>
        </p:spPr>
      </p:pic>
      <p:sp>
        <p:nvSpPr>
          <p:cNvPr id="33" name="TextBox 32"/>
          <p:cNvSpPr txBox="1"/>
          <p:nvPr/>
        </p:nvSpPr>
        <p:spPr>
          <a:xfrm>
            <a:off x="1399031" y="424992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34" name="TextBox 33"/>
          <p:cNvSpPr txBox="1"/>
          <p:nvPr/>
        </p:nvSpPr>
        <p:spPr>
          <a:xfrm>
            <a:off x="1399031" y="4469384"/>
            <a:ext cx="9987991" cy="682752"/>
          </a:xfrm>
          <a:prstGeom prst="rect">
            <a:avLst/>
          </a:prstGeom>
          <a:noFill/>
        </p:spPr>
        <p:txBody>
          <a:bodyPr wrap="square" anchor="t" lIns="0" rIns="0" tIns="0" bIns="0">
            <a:spAutoFit/>
          </a:bodyPr>
          <a:lstStyle/>
          <a:p>
            <a:r>
              <a:rPr sz="1500" b="0" i="0">
                <a:solidFill>
                  <a:srgbClr val="1A1440"/>
                </a:solidFill>
                <a:latin typeface="Calibri"/>
              </a:rPr>
              <a:t>A design question is scored on three things said in order: the option you choose, its size in minutes, rupees or visits, and the fact that would move you to another.</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37" name="Oval 36"/>
          <p:cNvSpPr/>
          <p:nvPr/>
        </p:nvSpPr>
        <p:spPr>
          <a:xfrm>
            <a:off x="187994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989677"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approach fits?</a:t>
            </a:r>
          </a:p>
        </p:txBody>
      </p:sp>
      <p:sp>
        <p:nvSpPr>
          <p:cNvPr id="39" name="Oval 38"/>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41" name="TextBox 4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step do you leave out?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Meera wants a first read on Q3 in two hours, from a raw export of about 2,000 orders: which plan?</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Each plan fits the clock at the lab's pace. Choose one: a) no reconciliation; b) no test, the note marked provisional; c) the tree and a test for one segment only; d) no profile, straight to cleaning.</a:t>
            </a:r>
          </a:p>
        </p:txBody>
      </p:sp>
      <p:sp>
        <p:nvSpPr>
          <p:cNvPr id="12" name="Rounded Rectangle 11"/>
          <p:cNvSpPr/>
          <p:nvPr/>
        </p:nvSpPr>
        <p:spPr>
          <a:xfrm>
            <a:off x="530352" y="2929128"/>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758952" y="33909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mic_caee7398c80d.png"/>
          <p:cNvPicPr>
            <a:picLocks noChangeAspect="1"/>
          </p:cNvPicPr>
          <p:nvPr/>
        </p:nvPicPr>
        <p:blipFill>
          <a:blip r:embed="rId4"/>
          <a:stretch>
            <a:fillRect/>
          </a:stretch>
        </p:blipFill>
        <p:spPr>
          <a:xfrm>
            <a:off x="868680" y="3500628"/>
            <a:ext cx="237744" cy="237744"/>
          </a:xfrm>
          <a:prstGeom prst="rect">
            <a:avLst/>
          </a:prstGeom>
        </p:spPr>
      </p:pic>
      <p:sp>
        <p:nvSpPr>
          <p:cNvPr id="15" name="TextBox 14"/>
          <p:cNvSpPr txBox="1"/>
          <p:nvPr/>
        </p:nvSpPr>
        <p:spPr>
          <a:xfrm>
            <a:off x="1399031" y="307543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6" name="TextBox 15"/>
          <p:cNvSpPr txBox="1"/>
          <p:nvPr/>
        </p:nvSpPr>
        <p:spPr>
          <a:xfrm>
            <a:off x="1399031" y="3294888"/>
            <a:ext cx="9987991" cy="941832"/>
          </a:xfrm>
          <a:prstGeom prst="rect">
            <a:avLst/>
          </a:prstGeom>
          <a:noFill/>
        </p:spPr>
        <p:txBody>
          <a:bodyPr wrap="square" anchor="t" lIns="0" rIns="0" tIns="0" bIns="0">
            <a:spAutoFit/>
          </a:bodyPr>
          <a:lstStyle/>
          <a:p>
            <a:r>
              <a:rPr sz="1500" b="0" i="0">
                <a:solidFill>
                  <a:srgbClr val="1A1440"/>
                </a:solidFill>
                <a:latin typeface="Calibri"/>
              </a:rPr>
              <a:t>[F] You have two hours and a raw export; what do you do first, and what do you skip? DMart is the likeness: its July to September 2025 revenue went out as a provisional update eight days before it filed the results.</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19" name="Oval 18"/>
          <p:cNvSpPr/>
          <p:nvPr/>
        </p:nvSpPr>
        <p:spPr>
          <a:xfrm>
            <a:off x="187994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989677"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approach fits?</a:t>
            </a:r>
          </a:p>
        </p:txBody>
      </p:sp>
      <p:sp>
        <p:nvSpPr>
          <p:cNvPr id="21" name="Oval 20"/>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16 /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leave out the test, never the reconciliation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plan fits, what does each cost, and what would switch it?</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914400"/>
                <a:gridCol w="3416144"/>
                <a:gridCol w="6800446"/>
              </a:tblGrid>
              <a:tr h="369824">
                <a:tc>
                  <a:txBody>
                    <a:bodyPr/>
                    <a:lstStyle/>
                    <a:p>
                      <a:r>
                        <a:rPr sz="1450" b="1" i="0">
                          <a:solidFill>
                            <a:srgbClr val="FFFFFF"/>
                          </a:solidFill>
                          <a:latin typeface="Calibri"/>
                        </a:rPr>
                        <a:t>Plan</a:t>
                      </a:r>
                    </a:p>
                  </a:txBody>
                  <a:tcPr marL="101600" marR="101600" marT="38100" marB="38100" anchor="ctr">
                    <a:solidFill>
                      <a:srgbClr val="1A0F5C"/>
                    </a:solidFill>
                  </a:tcPr>
                </a:tc>
                <a:tc>
                  <a:txBody>
                    <a:bodyPr/>
                    <a:lstStyle/>
                    <a:p>
                      <a:r>
                        <a:rPr sz="1450" b="1" i="0">
                          <a:solidFill>
                            <a:srgbClr val="FFFFFF"/>
                          </a:solidFill>
                          <a:latin typeface="Calibri"/>
                        </a:rPr>
                        <a:t>Minutes at the lab's pace</a:t>
                      </a:r>
                    </a:p>
                  </a:txBody>
                  <a:tcPr marL="101600" marR="101600" marT="38100" marB="38100" anchor="ctr">
                    <a:solidFill>
                      <a:srgbClr val="1A0F5C"/>
                    </a:solidFill>
                  </a:tcPr>
                </a:tc>
                <a:tc>
                  <a:txBody>
                    <a:bodyPr/>
                    <a:lstStyle/>
                    <a:p>
                      <a:r>
                        <a:rPr sz="1450" b="1" i="0">
                          <a:solidFill>
                            <a:srgbClr val="FFFFFF"/>
                          </a:solidFill>
                          <a:latin typeface="Calibri"/>
                        </a:rPr>
                        <a:t>What it leaves out</a:t>
                      </a:r>
                    </a:p>
                  </a:txBody>
                  <a:tcPr marL="101600" marR="101600" marT="38100" marB="38100" anchor="ctr">
                    <a:solidFill>
                      <a:srgbClr val="1A0F5C"/>
                    </a:solidFill>
                  </a:tcPr>
                </a:tc>
              </a:tr>
              <a:tr h="369824">
                <a:tc>
                  <a:txBody>
                    <a:bodyPr/>
                    <a:lstStyle/>
                    <a:p>
                      <a:r>
                        <a:rPr sz="1400" b="0" i="0">
                          <a:solidFill>
                            <a:srgbClr val="1A1440"/>
                          </a:solidFill>
                          <a:latin typeface="Calibri"/>
                        </a:rPr>
                        <a:t>A</a:t>
                      </a:r>
                    </a:p>
                  </a:txBody>
                  <a:tcPr marL="101600" marR="101600" marT="38100" marB="38100" anchor="ctr">
                    <a:solidFill>
                      <a:srgbClr val="FFFFFF"/>
                    </a:solidFill>
                  </a:tcPr>
                </a:tc>
                <a:tc>
                  <a:txBody>
                    <a:bodyPr/>
                    <a:lstStyle/>
                    <a:p>
                      <a:r>
                        <a:rPr sz="1400" b="0" i="0">
                          <a:solidFill>
                            <a:srgbClr val="1A1440"/>
                          </a:solidFill>
                          <a:latin typeface="Calibri"/>
                        </a:rPr>
                        <a:t>105</a:t>
                      </a:r>
                    </a:p>
                  </a:txBody>
                  <a:tcPr marL="101600" marR="101600" marT="38100" marB="38100" anchor="ctr">
                    <a:solidFill>
                      <a:srgbClr val="FFFFFF"/>
                    </a:solidFill>
                  </a:tcPr>
                </a:tc>
                <a:tc>
                  <a:txBody>
                    <a:bodyPr/>
                    <a:lstStyle/>
                    <a:p>
                      <a:r>
                        <a:rPr sz="1400" b="0" i="0">
                          <a:solidFill>
                            <a:srgbClr val="1A1440"/>
                          </a:solidFill>
                          <a:latin typeface="Calibri"/>
                        </a:rPr>
                        <a:t>The reconciliation, the step that can flip the first line's sign</a:t>
                      </a:r>
                    </a:p>
                  </a:txBody>
                  <a:tcPr marL="101600" marR="101600" marT="38100" marB="38100" anchor="ctr">
                    <a:solidFill>
                      <a:srgbClr val="FFFFFF"/>
                    </a:solidFill>
                  </a:tcPr>
                </a:tc>
              </a:tr>
              <a:tr h="369824">
                <a:tc>
                  <a:txBody>
                    <a:bodyPr/>
                    <a:lstStyle/>
                    <a:p>
                      <a:r>
                        <a:rPr sz="1400" b="0" i="0">
                          <a:solidFill>
                            <a:srgbClr val="1A1440"/>
                          </a:solidFill>
                          <a:latin typeface="Calibri"/>
                        </a:rPr>
                        <a:t>B</a:t>
                      </a:r>
                    </a:p>
                  </a:txBody>
                  <a:tcPr marL="101600" marR="101600" marT="38100" marB="38100" anchor="ctr">
                    <a:solidFill>
                      <a:srgbClr val="F4F2FA"/>
                    </a:solidFill>
                  </a:tcPr>
                </a:tc>
                <a:tc>
                  <a:txBody>
                    <a:bodyPr/>
                    <a:lstStyle/>
                    <a:p>
                      <a:r>
                        <a:rPr sz="1400" b="0" i="0">
                          <a:solidFill>
                            <a:srgbClr val="1A1440"/>
                          </a:solidFill>
                          <a:latin typeface="Calibri"/>
                        </a:rPr>
                        <a:t>105</a:t>
                      </a:r>
                    </a:p>
                  </a:txBody>
                  <a:tcPr marL="101600" marR="101600" marT="38100" marB="38100" anchor="ctr">
                    <a:solidFill>
                      <a:srgbClr val="F4F2FA"/>
                    </a:solidFill>
                  </a:tcPr>
                </a:tc>
                <a:tc>
                  <a:txBody>
                    <a:bodyPr/>
                    <a:lstStyle/>
                    <a:p>
                      <a:r>
                        <a:rPr sz="1400" b="0" i="0">
                          <a:solidFill>
                            <a:srgbClr val="1A1440"/>
                          </a:solidFill>
                          <a:latin typeface="Calibri"/>
                        </a:rPr>
                        <a:t>The test; the note says provisional</a:t>
                      </a:r>
                    </a:p>
                  </a:txBody>
                  <a:tcPr marL="101600" marR="101600" marT="38100" marB="38100" anchor="ctr">
                    <a:solidFill>
                      <a:srgbClr val="F4F2FA"/>
                    </a:solidFill>
                  </a:tcPr>
                </a:tc>
              </a:tr>
              <a:tr h="369824">
                <a:tc>
                  <a:txBody>
                    <a:bodyPr/>
                    <a:lstStyle/>
                    <a:p>
                      <a:r>
                        <a:rPr sz="1400" b="0" i="0">
                          <a:solidFill>
                            <a:srgbClr val="1A1440"/>
                          </a:solidFill>
                          <a:latin typeface="Calibri"/>
                        </a:rPr>
                        <a:t>C</a:t>
                      </a:r>
                    </a:p>
                  </a:txBody>
                  <a:tcPr marL="101600" marR="101600" marT="38100" marB="38100" anchor="ctr">
                    <a:solidFill>
                      <a:srgbClr val="FFFFFF"/>
                    </a:solidFill>
                  </a:tcPr>
                </a:tc>
                <a:tc>
                  <a:txBody>
                    <a:bodyPr/>
                    <a:lstStyle/>
                    <a:p>
                      <a:r>
                        <a:rPr sz="1400" b="0" i="0">
                          <a:solidFill>
                            <a:srgbClr val="1A1440"/>
                          </a:solidFill>
                          <a:latin typeface="Calibri"/>
                        </a:rPr>
                        <a:t>95</a:t>
                      </a:r>
                    </a:p>
                  </a:txBody>
                  <a:tcPr marL="101600" marR="101600" marT="38100" marB="38100" anchor="ctr">
                    <a:solidFill>
                      <a:srgbClr val="FFFFFF"/>
                    </a:solidFill>
                  </a:tcPr>
                </a:tc>
                <a:tc>
                  <a:txBody>
                    <a:bodyPr/>
                    <a:lstStyle/>
                    <a:p>
                      <a:r>
                        <a:rPr sz="1400" b="0" i="0">
                          <a:solidFill>
                            <a:srgbClr val="1A1440"/>
                          </a:solidFill>
                          <a:latin typeface="Calibri"/>
                        </a:rPr>
                        <a:t>Every segment but one</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100</a:t>
                      </a:r>
                    </a:p>
                  </a:txBody>
                  <a:tcPr marL="101600" marR="101600" marT="38100" marB="38100" anchor="ctr">
                    <a:solidFill>
                      <a:srgbClr val="F4F2FA"/>
                    </a:solidFill>
                  </a:tcPr>
                </a:tc>
                <a:tc>
                  <a:txBody>
                    <a:bodyPr/>
                    <a:lstStyle/>
                    <a:p>
                      <a:r>
                        <a:rPr sz="1400" b="0" i="0">
                          <a:solidFill>
                            <a:srgbClr val="1A1440"/>
                          </a:solidFill>
                          <a:latin typeface="Calibri"/>
                        </a:rPr>
                        <a:t>The profile, so it cleans only the defects someone expected</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163982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65328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763008"/>
            <a:ext cx="237744" cy="237744"/>
          </a:xfrm>
          <a:prstGeom prst="rect">
            <a:avLst/>
          </a:prstGeom>
        </p:spPr>
      </p:pic>
      <p:sp>
        <p:nvSpPr>
          <p:cNvPr id="13" name="TextBox 12"/>
          <p:cNvSpPr txBox="1"/>
          <p:nvPr/>
        </p:nvSpPr>
        <p:spPr>
          <a:xfrm>
            <a:off x="1399031" y="4208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427728"/>
            <a:ext cx="9987991" cy="1200912"/>
          </a:xfrm>
          <a:prstGeom prst="rect">
            <a:avLst/>
          </a:prstGeom>
          <a:noFill/>
        </p:spPr>
        <p:txBody>
          <a:bodyPr wrap="square" anchor="t" lIns="0" rIns="0" tIns="0" bIns="0">
            <a:spAutoFit/>
          </a:bodyPr>
          <a:lstStyle/>
          <a:p>
            <a:r>
              <a:rPr sz="1500" b="0" i="0">
                <a:solidFill>
                  <a:srgbClr val="1A1440"/>
                </a:solidFill>
                <a:latin typeface="Calibri"/>
              </a:rPr>
              <a:t>B, because every plan fits the clock and the call is which step to leave out. When Meera will act on one segment's gap, add the test on that gap and trim the tree to find the minutes, or take C if she named the segment herself. With no control total, B still holds, and the first line says the read is unreconciled.</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17" name="Oval 16"/>
          <p:cNvSpPr/>
          <p:nvPr/>
        </p:nvSpPr>
        <p:spPr>
          <a:xfrm>
            <a:off x="187994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989677"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approach fits?</a:t>
            </a:r>
          </a:p>
        </p:txBody>
      </p:sp>
      <p:sp>
        <p:nvSpPr>
          <p:cNvPr id="19" name="Oval 18"/>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17 /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check runs first on the gap?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migrated ERP's first quarter shows zero rejects and a dashboard Rs 20 lakh above Anand's books: which check runs first?</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About 50,000 rows. Choose the order: a) the ledger match first, since it names every order; b) ids against rows and the value accounting, then a monthly bridge; c) the monthly bridge first, then ids against rows; d) the dashboard's own query, since it ran for years.</a:t>
            </a:r>
          </a:p>
        </p:txBody>
      </p:sp>
      <p:sp>
        <p:nvSpPr>
          <p:cNvPr id="12" name="Rounded Rectangle 11"/>
          <p:cNvSpPr/>
          <p:nvPr/>
        </p:nvSpPr>
        <p:spPr>
          <a:xfrm>
            <a:off x="530352" y="319582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758952" y="352806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mic_caee7398c80d.png"/>
          <p:cNvPicPr>
            <a:picLocks noChangeAspect="1"/>
          </p:cNvPicPr>
          <p:nvPr/>
        </p:nvPicPr>
        <p:blipFill>
          <a:blip r:embed="rId4"/>
          <a:stretch>
            <a:fillRect/>
          </a:stretch>
        </p:blipFill>
        <p:spPr>
          <a:xfrm>
            <a:off x="868680" y="3637788"/>
            <a:ext cx="237744" cy="237744"/>
          </a:xfrm>
          <a:prstGeom prst="rect">
            <a:avLst/>
          </a:prstGeom>
        </p:spPr>
      </p:pic>
      <p:sp>
        <p:nvSpPr>
          <p:cNvPr id="15" name="TextBox 14"/>
          <p:cNvSpPr txBox="1"/>
          <p:nvPr/>
        </p:nvSpPr>
        <p:spPr>
          <a:xfrm>
            <a:off x="1399031" y="334213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6" name="TextBox 15"/>
          <p:cNvSpPr txBox="1"/>
          <p:nvPr/>
        </p:nvSpPr>
        <p:spPr>
          <a:xfrm>
            <a:off x="1399031" y="3561588"/>
            <a:ext cx="9987991" cy="682752"/>
          </a:xfrm>
          <a:prstGeom prst="rect">
            <a:avLst/>
          </a:prstGeom>
          <a:noFill/>
        </p:spPr>
        <p:txBody>
          <a:bodyPr wrap="square" anchor="t" lIns="0" rIns="0" tIns="0" bIns="0">
            <a:spAutoFit/>
          </a:bodyPr>
          <a:lstStyle/>
          <a:p>
            <a:r>
              <a:rPr sz="1500" b="0" i="0">
                <a:solidFill>
                  <a:srgbClr val="1A1440"/>
                </a:solidFill>
                <a:latin typeface="Calibri"/>
              </a:rPr>
              <a:t>[S] Walk me through how you clean and check a dataset you have never seen. TSB is a loose likeness: a new platform whose output was trusted before it was checked.</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19" name="Oval 18"/>
          <p:cNvSpPr/>
          <p:nvPr/>
        </p:nvSpPr>
        <p:spPr>
          <a:xfrm>
            <a:off x="187994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989677"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approach fits?</a:t>
            </a:r>
          </a:p>
        </p:txBody>
      </p:sp>
      <p:sp>
        <p:nvSpPr>
          <p:cNvPr id="21" name="Oval 20"/>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18 /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two cells, then the bridge, then stop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 runs first, and where do you stop?</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3445726"/>
                <a:gridCol w="4579744"/>
                <a:gridCol w="3105520"/>
              </a:tblGrid>
              <a:tr h="369824">
                <a:tc>
                  <a:txBody>
                    <a:bodyPr/>
                    <a:lstStyle/>
                    <a:p>
                      <a:r>
                        <a:rPr sz="1450" b="1" i="0">
                          <a:solidFill>
                            <a:srgbClr val="FFFFFF"/>
                          </a:solidFill>
                          <a:latin typeface="Calibri"/>
                        </a:rPr>
                        <a:t>Check</a:t>
                      </a:r>
                    </a:p>
                  </a:txBody>
                  <a:tcPr marL="101600" marR="101600" marT="38100" marB="38100" anchor="ctr">
                    <a:solidFill>
                      <a:srgbClr val="1A0F5C"/>
                    </a:solidFill>
                  </a:tcPr>
                </a:tc>
                <a:tc>
                  <a:txBody>
                    <a:bodyPr/>
                    <a:lstStyle/>
                    <a:p>
                      <a:r>
                        <a:rPr sz="1450" b="1" i="0">
                          <a:solidFill>
                            <a:srgbClr val="FFFFFF"/>
                          </a:solidFill>
                          <a:latin typeface="Calibri"/>
                        </a:rPr>
                        <a:t>What it catches</a:t>
                      </a:r>
                    </a:p>
                  </a:txBody>
                  <a:tcPr marL="101600" marR="101600" marT="38100" marB="38100" anchor="ctr">
                    <a:solidFill>
                      <a:srgbClr val="1A0F5C"/>
                    </a:solidFill>
                  </a:tcPr>
                </a:tc>
                <a:tc>
                  <a:txBody>
                    <a:bodyPr/>
                    <a:lstStyle/>
                    <a:p>
                      <a:r>
                        <a:rPr sz="1450" b="1" i="0">
                          <a:solidFill>
                            <a:srgbClr val="FFFFFF"/>
                          </a:solidFill>
                          <a:latin typeface="Calibri"/>
                        </a:rPr>
                        <a:t>Cost on 50,000 rows</a:t>
                      </a:r>
                    </a:p>
                  </a:txBody>
                  <a:tcPr marL="101600" marR="101600" marT="38100" marB="38100" anchor="ctr">
                    <a:solidFill>
                      <a:srgbClr val="1A0F5C"/>
                    </a:solidFill>
                  </a:tcPr>
                </a:tc>
              </a:tr>
              <a:tr h="369824">
                <a:tc>
                  <a:txBody>
                    <a:bodyPr/>
                    <a:lstStyle/>
                    <a:p>
                      <a:r>
                        <a:rPr sz="1400" b="0" i="0">
                          <a:solidFill>
                            <a:srgbClr val="1A1440"/>
                          </a:solidFill>
                          <a:latin typeface="Calibri"/>
                        </a:rPr>
                        <a:t>Ids against rows</a:t>
                      </a:r>
                    </a:p>
                  </a:txBody>
                  <a:tcPr marL="101600" marR="101600" marT="38100" marB="38100" anchor="ctr">
                    <a:solidFill>
                      <a:srgbClr val="FFFFFF"/>
                    </a:solidFill>
                  </a:tcPr>
                </a:tc>
                <a:tc>
                  <a:txBody>
                    <a:bodyPr/>
                    <a:lstStyle/>
                    <a:p>
                      <a:r>
                        <a:rPr sz="1400" b="0" i="0">
                          <a:solidFill>
                            <a:srgbClr val="1A1440"/>
                          </a:solidFill>
                          <a:latin typeface="Calibri"/>
                        </a:rPr>
                        <a:t>A batch posted twice</a:t>
                      </a:r>
                    </a:p>
                  </a:txBody>
                  <a:tcPr marL="101600" marR="101600" marT="38100" marB="38100" anchor="ctr">
                    <a:solidFill>
                      <a:srgbClr val="FFFFFF"/>
                    </a:solidFill>
                  </a:tcPr>
                </a:tc>
                <a:tc>
                  <a:txBody>
                    <a:bodyPr/>
                    <a:lstStyle/>
                    <a:p>
                      <a:r>
                        <a:rPr sz="1400" b="0" i="0">
                          <a:solidFill>
                            <a:srgbClr val="1A1440"/>
                          </a:solidFill>
                          <a:latin typeface="Calibri"/>
                        </a:rPr>
                        <a:t>One cell, seconds</a:t>
                      </a:r>
                    </a:p>
                  </a:txBody>
                  <a:tcPr marL="101600" marR="101600" marT="38100" marB="38100" anchor="ctr">
                    <a:solidFill>
                      <a:srgbClr val="FFFFFF"/>
                    </a:solidFill>
                  </a:tcPr>
                </a:tc>
              </a:tr>
              <a:tr h="369824">
                <a:tc>
                  <a:txBody>
                    <a:bodyPr/>
                    <a:lstStyle/>
                    <a:p>
                      <a:r>
                        <a:rPr sz="1400" b="0" i="0">
                          <a:solidFill>
                            <a:srgbClr val="1A1440"/>
                          </a:solidFill>
                          <a:latin typeface="Calibri"/>
                        </a:rPr>
                        <a:t>Every value summed or logged</a:t>
                      </a:r>
                    </a:p>
                  </a:txBody>
                  <a:tcPr marL="101600" marR="101600" marT="38100" marB="38100" anchor="ctr">
                    <a:solidFill>
                      <a:srgbClr val="F4F2FA"/>
                    </a:solidFill>
                  </a:tcPr>
                </a:tc>
                <a:tc>
                  <a:txBody>
                    <a:bodyPr/>
                    <a:lstStyle/>
                    <a:p>
                      <a:r>
                        <a:rPr sz="1400" b="0" i="0">
                          <a:solidFill>
                            <a:srgbClr val="1A1440"/>
                          </a:solidFill>
                          <a:latin typeface="Calibri"/>
                        </a:rPr>
                        <a:t>Values set to zero without a log line</a:t>
                      </a:r>
                    </a:p>
                  </a:txBody>
                  <a:tcPr marL="101600" marR="101600" marT="38100" marB="38100" anchor="ctr">
                    <a:solidFill>
                      <a:srgbClr val="F4F2FA"/>
                    </a:solidFill>
                  </a:tcPr>
                </a:tc>
                <a:tc>
                  <a:txBody>
                    <a:bodyPr/>
                    <a:lstStyle/>
                    <a:p>
                      <a:r>
                        <a:rPr sz="1400" b="0" i="0">
                          <a:solidFill>
                            <a:srgbClr val="1A1440"/>
                          </a:solidFill>
                          <a:latin typeface="Calibri"/>
                        </a:rPr>
                        <a:t>One cell, minutes to read</a:t>
                      </a:r>
                    </a:p>
                  </a:txBody>
                  <a:tcPr marL="101600" marR="101600" marT="38100" marB="38100" anchor="ctr">
                    <a:solidFill>
                      <a:srgbClr val="F4F2FA"/>
                    </a:solidFill>
                  </a:tcPr>
                </a:tc>
              </a:tr>
              <a:tr h="369824">
                <a:tc>
                  <a:txBody>
                    <a:bodyPr/>
                    <a:lstStyle/>
                    <a:p>
                      <a:r>
                        <a:rPr sz="1400" b="0" i="0">
                          <a:solidFill>
                            <a:srgbClr val="1A1440"/>
                          </a:solidFill>
                          <a:latin typeface="Calibri"/>
                        </a:rPr>
                        <a:t>A rupee bridge by month</a:t>
                      </a:r>
                    </a:p>
                  </a:txBody>
                  <a:tcPr marL="101600" marR="101600" marT="38100" marB="38100" anchor="ctr">
                    <a:solidFill>
                      <a:srgbClr val="FFFFFF"/>
                    </a:solidFill>
                  </a:tcPr>
                </a:tc>
                <a:tc>
                  <a:txBody>
                    <a:bodyPr/>
                    <a:lstStyle/>
                    <a:p>
                      <a:r>
                        <a:rPr sz="1400" b="0" i="0">
                          <a:solidFill>
                            <a:srgbClr val="1A1440"/>
                          </a:solidFill>
                          <a:latin typeface="Calibri"/>
                        </a:rPr>
                        <a:t>How big the gap is, and in which month</a:t>
                      </a:r>
                    </a:p>
                  </a:txBody>
                  <a:tcPr marL="101600" marR="101600" marT="38100" marB="38100" anchor="ctr">
                    <a:solidFill>
                      <a:srgbClr val="FFFFFF"/>
                    </a:solidFill>
                  </a:tcPr>
                </a:tc>
                <a:tc>
                  <a:txBody>
                    <a:bodyPr/>
                    <a:lstStyle/>
                    <a:p>
                      <a:r>
                        <a:rPr sz="1400" b="0" i="0">
                          <a:solidFill>
                            <a:srgbClr val="1A1440"/>
                          </a:solidFill>
                          <a:latin typeface="Calibri"/>
                        </a:rPr>
                        <a:t>About 30 minutes</a:t>
                      </a:r>
                    </a:p>
                  </a:txBody>
                  <a:tcPr marL="101600" marR="101600" marT="38100" marB="38100" anchor="ctr">
                    <a:solidFill>
                      <a:srgbClr val="FFFFFF"/>
                    </a:solidFill>
                  </a:tcPr>
                </a:tc>
              </a:tr>
              <a:tr h="369824">
                <a:tc>
                  <a:txBody>
                    <a:bodyPr/>
                    <a:lstStyle/>
                    <a:p>
                      <a:r>
                        <a:rPr sz="1400" b="0" i="0">
                          <a:solidFill>
                            <a:srgbClr val="1A1440"/>
                          </a:solidFill>
                          <a:latin typeface="Calibri"/>
                        </a:rPr>
                        <a:t>The ledger, order by order</a:t>
                      </a:r>
                    </a:p>
                  </a:txBody>
                  <a:tcPr marL="101600" marR="101600" marT="38100" marB="38100" anchor="ctr">
                    <a:solidFill>
                      <a:srgbClr val="F4F2FA"/>
                    </a:solidFill>
                  </a:tcPr>
                </a:tc>
                <a:tc>
                  <a:txBody>
                    <a:bodyPr/>
                    <a:lstStyle/>
                    <a:p>
                      <a:r>
                        <a:rPr sz="1400" b="0" i="0">
                          <a:solidFill>
                            <a:srgbClr val="1A1440"/>
                          </a:solidFill>
                          <a:latin typeface="Calibri"/>
                        </a:rPr>
                        <a:t>Which orders differ</a:t>
                      </a:r>
                    </a:p>
                  </a:txBody>
                  <a:tcPr marL="101600" marR="101600" marT="38100" marB="38100" anchor="ctr">
                    <a:solidFill>
                      <a:srgbClr val="F4F2FA"/>
                    </a:solidFill>
                  </a:tcPr>
                </a:tc>
                <a:tc>
                  <a:txBody>
                    <a:bodyPr/>
                    <a:lstStyle/>
                    <a:p>
                      <a:r>
                        <a:rPr sz="1400" b="0" i="0">
                          <a:solidFill>
                            <a:srgbClr val="1A1440"/>
                          </a:solidFill>
                          <a:latin typeface="Calibri"/>
                        </a:rPr>
                        <a:t>Most of a day</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5237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633468"/>
            <a:ext cx="237744" cy="237744"/>
          </a:xfrm>
          <a:prstGeom prst="rect">
            <a:avLst/>
          </a:prstGeom>
        </p:spPr>
      </p:pic>
      <p:sp>
        <p:nvSpPr>
          <p:cNvPr id="13" name="TextBox 12"/>
          <p:cNvSpPr txBox="1"/>
          <p:nvPr/>
        </p:nvSpPr>
        <p:spPr>
          <a:xfrm>
            <a:off x="1399031" y="4208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427728"/>
            <a:ext cx="9987991" cy="941832"/>
          </a:xfrm>
          <a:prstGeom prst="rect">
            <a:avLst/>
          </a:prstGeom>
          <a:noFill/>
        </p:spPr>
        <p:txBody>
          <a:bodyPr wrap="square" anchor="t" lIns="0" rIns="0" tIns="0" bIns="0">
            <a:spAutoFit/>
          </a:bodyPr>
          <a:lstStyle/>
          <a:p>
            <a:r>
              <a:rPr sz="1500" b="0" i="0">
                <a:solidFill>
                  <a:srgbClr val="1A1440"/>
                </a:solidFill>
                <a:latin typeface="Calibri"/>
              </a:rPr>
              <a:t>b. The two cheap checks catch the commonest causes, the bridge says whether they explain the whole Rs 20 lakh, and only a month it cannot close is matched order by order. Tonight Anand hears that his number is the reference.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17" name="Oval 16"/>
          <p:cNvSpPr/>
          <p:nvPr/>
        </p:nvSpPr>
        <p:spPr>
          <a:xfrm>
            <a:off x="187994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989677"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approach fits?</a:t>
            </a:r>
          </a:p>
        </p:txBody>
      </p:sp>
      <p:sp>
        <p:nvSpPr>
          <p:cNvPr id="19" name="Oval 18"/>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19 /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can 5 of 12 visits beat 31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redesigned checkout converted 5 of 12 visits; the current one converted 31 percent of 1,200. Ship it tomorrow?</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Choose one: a) ship to everyone now; b) keep the pilot small and wait, at about 12 visits a week; c) split the traffic in half until each checkout has about 300 visits; d) one visit in ten to the new checkout for a fortnight.</a:t>
            </a:r>
          </a:p>
        </p:txBody>
      </p:sp>
      <p:sp>
        <p:nvSpPr>
          <p:cNvPr id="12" name="Rounded Rectangle 11"/>
          <p:cNvSpPr/>
          <p:nvPr/>
        </p:nvSpPr>
        <p:spPr>
          <a:xfrm>
            <a:off x="530352" y="319582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758952" y="352806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mic_caee7398c80d.png"/>
          <p:cNvPicPr>
            <a:picLocks noChangeAspect="1"/>
          </p:cNvPicPr>
          <p:nvPr/>
        </p:nvPicPr>
        <p:blipFill>
          <a:blip r:embed="rId4"/>
          <a:stretch>
            <a:fillRect/>
          </a:stretch>
        </p:blipFill>
        <p:spPr>
          <a:xfrm>
            <a:off x="868680" y="3637788"/>
            <a:ext cx="237744" cy="237744"/>
          </a:xfrm>
          <a:prstGeom prst="rect">
            <a:avLst/>
          </a:prstGeom>
        </p:spPr>
      </p:pic>
      <p:sp>
        <p:nvSpPr>
          <p:cNvPr id="15" name="TextBox 14"/>
          <p:cNvSpPr txBox="1"/>
          <p:nvPr/>
        </p:nvSpPr>
        <p:spPr>
          <a:xfrm>
            <a:off x="1399031" y="334213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6" name="TextBox 15"/>
          <p:cNvSpPr txBox="1"/>
          <p:nvPr/>
        </p:nvSpPr>
        <p:spPr>
          <a:xfrm>
            <a:off x="1399031" y="3561588"/>
            <a:ext cx="9987991" cy="682752"/>
          </a:xfrm>
          <a:prstGeom prst="rect">
            <a:avLst/>
          </a:prstGeom>
          <a:noFill/>
        </p:spPr>
        <p:txBody>
          <a:bodyPr wrap="square" anchor="t" lIns="0" rIns="0" tIns="0" bIns="0">
            <a:spAutoFit/>
          </a:bodyPr>
          <a:lstStyle/>
          <a:p>
            <a:r>
              <a:rPr sz="1500" b="0" i="0">
                <a:solidFill>
                  <a:srgbClr val="1A1440"/>
                </a:solidFill>
                <a:latin typeface="Calibri"/>
              </a:rPr>
              <a:t>[D] A stakeholder attacks your caveat in front of the room; how do you hold it without overclaiming? Bing is the likeness: a 12 percent revenue lift checked before anyone believed it.</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19" name="Oval 18"/>
          <p:cNvSpPr/>
          <p:nvPr/>
        </p:nvSpPr>
        <p:spPr>
          <a:xfrm>
            <a:off x="187994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989677"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approach fits?</a:t>
            </a:r>
          </a:p>
        </p:txBody>
      </p:sp>
      <p:sp>
        <p:nvSpPr>
          <p:cNvPr id="21" name="Oval 20"/>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20 /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split the traffic for about half a week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option fits, sized in visits and days, and what would switch it?</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300</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VISITS PER CHECKOUT</a:t>
            </a:r>
          </a:p>
        </p:txBody>
      </p:sp>
      <p:sp>
        <p:nvSpPr>
          <p:cNvPr id="11" name="TextBox 10"/>
          <p:cNvSpPr txBox="1"/>
          <p:nvPr/>
        </p:nvSpPr>
        <p:spPr>
          <a:xfrm>
            <a:off x="53035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case's given size to tell 42% from 31%</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half a week</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AT 1,200 VISITS A WEEK</a:t>
            </a:r>
          </a:p>
        </p:txBody>
      </p:sp>
      <p:sp>
        <p:nvSpPr>
          <p:cNvPr id="15" name="TextBox 14"/>
          <p:cNvSpPr txBox="1"/>
          <p:nvPr/>
        </p:nvSpPr>
        <p:spPr>
          <a:xfrm>
            <a:off x="433212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a half-and-half split</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3 in 10</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CHANCE ALONE</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5 or more of 12 at a true 31%</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checks_bd88901d2a37.png"/>
          <p:cNvPicPr>
            <a:picLocks noChangeAspect="1"/>
          </p:cNvPicPr>
          <p:nvPr/>
        </p:nvPicPr>
        <p:blipFill>
          <a:blip r:embed="rId4"/>
          <a:stretch>
            <a:fillRect/>
          </a:stretch>
        </p:blipFill>
        <p:spPr>
          <a:xfrm>
            <a:off x="868680" y="386181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25" name="TextBox 24"/>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1A1440"/>
                </a:solidFill>
                <a:latin typeface="Calibri"/>
              </a:rPr>
              <a:t>c. Waiting at 12 visits a week takes about 14 weeks, and shipping now bets on five conversions. Switch to d, one visit in ten for a fortnight, when a worse checkout would lose money.</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28" name="Oval 27"/>
          <p:cNvSpPr/>
          <p:nvPr/>
        </p:nvSpPr>
        <p:spPr>
          <a:xfrm>
            <a:off x="187994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989677"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Which approach fits?</a:t>
            </a:r>
          </a:p>
        </p:txBody>
      </p:sp>
      <p:sp>
        <p:nvSpPr>
          <p:cNvPr id="30" name="Oval 29"/>
          <p:cNvSpPr/>
          <p:nvPr/>
        </p:nvSpPr>
        <p:spPr>
          <a:xfrm>
            <a:off x="32755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3852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What is yours now?</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21 /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is yours now?</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did the week make yours, what does Saturday ask, and what do you rerun tonight?</a:t>
            </a:r>
          </a:p>
        </p:txBody>
      </p:sp>
      <p:sp>
        <p:nvSpPr>
          <p:cNvPr id="10" name="Rounded Rectangle 9"/>
          <p:cNvSpPr/>
          <p:nvPr/>
        </p:nvSpPr>
        <p:spPr>
          <a:xfrm>
            <a:off x="731519"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the note hold?</a:t>
            </a:r>
          </a:p>
        </p:txBody>
      </p:sp>
      <p:sp>
        <p:nvSpPr>
          <p:cNvPr id="11" name="Rounded Rectangle 10"/>
          <p:cNvSpPr/>
          <p:nvPr/>
        </p:nvSpPr>
        <p:spPr>
          <a:xfrm>
            <a:off x="2332111"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approach fits?</a:t>
            </a:r>
          </a:p>
        </p:txBody>
      </p:sp>
      <p:sp>
        <p:nvSpPr>
          <p:cNvPr id="12" name="Rounded Rectangle 11"/>
          <p:cNvSpPr/>
          <p:nvPr/>
        </p:nvSpPr>
        <p:spPr>
          <a:xfrm>
            <a:off x="3991918" y="5074920"/>
            <a:ext cx="143164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is yours now?</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5. Does your note hold when Marketing pushes?</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22 /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Answered in four questions, in twenty minutes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this answer, and which smaller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You, before Saturday's paper and Monday's review: the lines you carry out of the week are the ones Marketing and an interviewer will test.</a:t>
            </a:r>
          </a:p>
        </p:txBody>
      </p:sp>
      <p:sp>
        <p:nvSpPr>
          <p:cNvPr id="12" name="Rectangle 11"/>
          <p:cNvSpPr/>
          <p:nvPr/>
        </p:nvSpPr>
        <p:spPr>
          <a:xfrm>
            <a:off x="1853145" y="3496056"/>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4" name="Oval 13"/>
          <p:cNvSpPr/>
          <p:nvPr/>
        </p:nvSpPr>
        <p:spPr>
          <a:xfrm>
            <a:off x="175256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Did the method stick?</a:t>
            </a:r>
          </a:p>
        </p:txBody>
      </p:sp>
      <p:sp>
        <p:nvSpPr>
          <p:cNvPr id="17" name="TextBox 16"/>
          <p:cNvSpPr txBox="1"/>
          <p:nvPr/>
        </p:nvSpPr>
        <p:spPr>
          <a:xfrm>
            <a:off x="694944" y="4250182"/>
            <a:ext cx="2316403" cy="201676"/>
          </a:xfrm>
          <a:prstGeom prst="rect">
            <a:avLst/>
          </a:prstGeom>
          <a:noFill/>
        </p:spPr>
        <p:txBody>
          <a:bodyPr wrap="square" anchor="t" lIns="0" rIns="0" tIns="0" bIns="0">
            <a:spAutoFit/>
          </a:bodyPr>
          <a:lstStyle/>
          <a:p>
            <a:pPr algn="l"/>
            <a:r>
              <a:rPr sz="1000" b="0" i="0">
                <a:solidFill>
                  <a:srgbClr val="6B6690"/>
                </a:solidFill>
                <a:latin typeface="Calibri"/>
              </a:rPr>
              <a:t>The Kahoot, eight items.</a:t>
            </a:r>
          </a:p>
        </p:txBody>
      </p:sp>
      <p:sp>
        <p:nvSpPr>
          <p:cNvPr id="18" name="TextBox 17"/>
          <p:cNvSpPr txBox="1"/>
          <p:nvPr/>
        </p:nvSpPr>
        <p:spPr>
          <a:xfrm>
            <a:off x="3358819"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19" name="Oval 18"/>
          <p:cNvSpPr/>
          <p:nvPr/>
        </p:nvSpPr>
        <p:spPr>
          <a:xfrm>
            <a:off x="458102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3358819" y="3816096"/>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23411"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does Saturday ask?</a:t>
            </a:r>
          </a:p>
        </p:txBody>
      </p:sp>
      <p:sp>
        <p:nvSpPr>
          <p:cNvPr id="22" name="TextBox 21"/>
          <p:cNvSpPr txBox="1"/>
          <p:nvPr/>
        </p:nvSpPr>
        <p:spPr>
          <a:xfrm>
            <a:off x="3523411" y="4250182"/>
            <a:ext cx="2316403" cy="201676"/>
          </a:xfrm>
          <a:prstGeom prst="rect">
            <a:avLst/>
          </a:prstGeom>
          <a:noFill/>
        </p:spPr>
        <p:txBody>
          <a:bodyPr wrap="square" anchor="t" lIns="0" rIns="0" tIns="0" bIns="0">
            <a:spAutoFit/>
          </a:bodyPr>
          <a:lstStyle/>
          <a:p>
            <a:pPr algn="l"/>
            <a:r>
              <a:rPr sz="1000" b="0" i="0">
                <a:solidFill>
                  <a:srgbClr val="6B6690"/>
                </a:solidFill>
                <a:latin typeface="Calibri"/>
              </a:rPr>
              <a:t>The paper's format.</a:t>
            </a:r>
          </a:p>
        </p:txBody>
      </p:sp>
      <p:sp>
        <p:nvSpPr>
          <p:cNvPr id="23" name="TextBox 22"/>
          <p:cNvSpPr txBox="1"/>
          <p:nvPr/>
        </p:nvSpPr>
        <p:spPr>
          <a:xfrm>
            <a:off x="6187287"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4" name="Oval 23"/>
          <p:cNvSpPr/>
          <p:nvPr/>
        </p:nvSpPr>
        <p:spPr>
          <a:xfrm>
            <a:off x="740949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187287" y="3816096"/>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51879"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lines carry over?</a:t>
            </a:r>
          </a:p>
        </p:txBody>
      </p:sp>
      <p:sp>
        <p:nvSpPr>
          <p:cNvPr id="27" name="TextBox 26"/>
          <p:cNvSpPr txBox="1"/>
          <p:nvPr/>
        </p:nvSpPr>
        <p:spPr>
          <a:xfrm>
            <a:off x="6351879" y="4250182"/>
            <a:ext cx="2316403" cy="201676"/>
          </a:xfrm>
          <a:prstGeom prst="rect">
            <a:avLst/>
          </a:prstGeom>
          <a:noFill/>
        </p:spPr>
        <p:txBody>
          <a:bodyPr wrap="square" anchor="t" lIns="0" rIns="0" tIns="0" bIns="0">
            <a:spAutoFit/>
          </a:bodyPr>
          <a:lstStyle/>
          <a:p>
            <a:pPr algn="l"/>
            <a:r>
              <a:rPr sz="1000" b="0" i="0">
                <a:solidFill>
                  <a:srgbClr val="6B6690"/>
                </a:solidFill>
                <a:latin typeface="Calibri"/>
              </a:rPr>
              <a:t>Five, one per step.</a:t>
            </a:r>
          </a:p>
        </p:txBody>
      </p:sp>
      <p:sp>
        <p:nvSpPr>
          <p:cNvPr id="28" name="TextBox 27"/>
          <p:cNvSpPr txBox="1"/>
          <p:nvPr/>
        </p:nvSpPr>
        <p:spPr>
          <a:xfrm>
            <a:off x="9015755"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29" name="Oval 28"/>
          <p:cNvSpPr/>
          <p:nvPr/>
        </p:nvSpPr>
        <p:spPr>
          <a:xfrm>
            <a:off x="10237965"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015755" y="3816096"/>
            <a:ext cx="2645587" cy="90424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80347" y="3962400"/>
            <a:ext cx="2316403" cy="251205"/>
          </a:xfrm>
          <a:prstGeom prst="rect">
            <a:avLst/>
          </a:prstGeom>
          <a:noFill/>
        </p:spPr>
        <p:txBody>
          <a:bodyPr wrap="square" anchor="t" lIns="0" rIns="0" tIns="0" bIns="0">
            <a:spAutoFit/>
          </a:bodyPr>
          <a:lstStyle/>
          <a:p>
            <a:pPr algn="l"/>
            <a:r>
              <a:rPr sz="1300" b="1" i="0">
                <a:solidFill>
                  <a:srgbClr val="FFFFFF"/>
                </a:solidFill>
                <a:latin typeface="Calibri"/>
              </a:rPr>
              <a:t>What do you rerun?</a:t>
            </a:r>
          </a:p>
        </p:txBody>
      </p:sp>
      <p:sp>
        <p:nvSpPr>
          <p:cNvPr id="32" name="TextBox 31"/>
          <p:cNvSpPr txBox="1"/>
          <p:nvPr/>
        </p:nvSpPr>
        <p:spPr>
          <a:xfrm>
            <a:off x="9180347" y="4250182"/>
            <a:ext cx="2316403" cy="201676"/>
          </a:xfrm>
          <a:prstGeom prst="rect">
            <a:avLst/>
          </a:prstGeom>
          <a:noFill/>
        </p:spPr>
        <p:txBody>
          <a:bodyPr wrap="square" anchor="t" lIns="0" rIns="0" tIns="0" bIns="0">
            <a:spAutoFit/>
          </a:bodyPr>
          <a:lstStyle/>
          <a:p>
            <a:pPr algn="l"/>
            <a:r>
              <a:rPr sz="1000" b="0" i="0">
                <a:solidFill>
                  <a:srgbClr val="CFC9EE"/>
                </a:solidFill>
                <a:latin typeface="Calibri"/>
              </a:rPr>
              <a:t>Tonight's three tasks.</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35" name="Oval 34"/>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37" name="Oval 36"/>
          <p:cNvSpPr/>
          <p:nvPr/>
        </p:nvSpPr>
        <p:spPr>
          <a:xfrm>
            <a:off x="32755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3852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What is yours now?</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23 /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Eight questions test the week's method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Did the week's method stick, and which calls still wobble?</a:t>
            </a:r>
          </a:p>
        </p:txBody>
      </p:sp>
      <p:pic>
        <p:nvPicPr>
          <p:cNvPr id="9" name="mermaid diagram" descr="6c2541ae5daca186.png"/>
          <p:cNvPicPr>
            <a:picLocks noChangeAspect="1"/>
          </p:cNvPicPr>
          <p:nvPr/>
        </p:nvPicPr>
        <p:blipFill>
          <a:blip r:embed="rId5"/>
          <a:stretch>
            <a:fillRect/>
          </a:stretch>
        </p:blipFill>
        <p:spPr>
          <a:xfrm>
            <a:off x="2152497" y="1956816"/>
            <a:ext cx="7886700" cy="2357437"/>
          </a:xfrm>
          <a:prstGeom prst="rect">
            <a:avLst/>
          </a:prstGeom>
        </p:spPr>
      </p:pic>
      <p:sp>
        <p:nvSpPr>
          <p:cNvPr id="10" name="TextBox 9"/>
          <p:cNvSpPr txBox="1"/>
          <p:nvPr/>
        </p:nvSpPr>
        <p:spPr>
          <a:xfrm>
            <a:off x="530352" y="4460557"/>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Three items on the method, four design calls and Thursday's return question, ungraded.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13" name="Oval 12"/>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15" name="Oval 14"/>
          <p:cNvSpPr/>
          <p:nvPr/>
        </p:nvSpPr>
        <p:spPr>
          <a:xfrm>
            <a:off x="32755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852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What is yours now?</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24 /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Saturday puts the week on paper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Saturday's paper ask, and how is it marked?</a:t>
            </a:r>
          </a:p>
        </p:txBody>
      </p:sp>
      <p:sp>
        <p:nvSpPr>
          <p:cNvPr id="9" name="Rounded Rectangle 8"/>
          <p:cNvSpPr/>
          <p:nvPr/>
        </p:nvSpPr>
        <p:spPr>
          <a:xfrm>
            <a:off x="530352"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pencil_56f1d29da182.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THE PAPER</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120 minutes</a:t>
            </a:r>
          </a:p>
        </p:txBody>
      </p:sp>
      <p:sp>
        <p:nvSpPr>
          <p:cNvPr id="14" name="TextBox 13"/>
          <p:cNvSpPr txBox="1"/>
          <p:nvPr/>
        </p:nvSpPr>
        <p:spPr>
          <a:xfrm>
            <a:off x="731519" y="3303524"/>
            <a:ext cx="2243251" cy="944626"/>
          </a:xfrm>
          <a:prstGeom prst="rect">
            <a:avLst/>
          </a:prstGeom>
          <a:noFill/>
        </p:spPr>
        <p:txBody>
          <a:bodyPr wrap="square" anchor="t" lIns="0" rIns="0" tIns="0" bIns="0">
            <a:spAutoFit/>
          </a:bodyPr>
          <a:lstStyle/>
          <a:p>
            <a:pPr algn="l"/>
            <a:r>
              <a:rPr sz="1100" b="0" i="0">
                <a:solidFill>
                  <a:srgbClr val="6B6690"/>
                </a:solidFill>
                <a:latin typeface="Calibri"/>
              </a:rPr>
              <a:t>Blanks from a word bank, pairs from a match table, statements judged with their reason, scenario sets, applied maths and ordering.</a:t>
            </a:r>
          </a:p>
        </p:txBody>
      </p:sp>
      <p:sp>
        <p:nvSpPr>
          <p:cNvPr id="15" name="Rounded Rectangle 14"/>
          <p:cNvSpPr/>
          <p:nvPr/>
        </p:nvSpPr>
        <p:spPr>
          <a:xfrm>
            <a:off x="3358819"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repeat_e3d62ee72e92.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MARKING</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Swapped</a:t>
            </a:r>
          </a:p>
        </p:txBody>
      </p:sp>
      <p:sp>
        <p:nvSpPr>
          <p:cNvPr id="20" name="TextBox 19"/>
          <p:cNvSpPr txBox="1"/>
          <p:nvPr/>
        </p:nvSpPr>
        <p:spPr>
          <a:xfrm>
            <a:off x="3559987"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Papers change hands and are marked against the key, read out by the Academic TA.</a:t>
            </a:r>
          </a:p>
        </p:txBody>
      </p:sp>
      <p:sp>
        <p:nvSpPr>
          <p:cNvPr id="21" name="Rounded Rectangle 20"/>
          <p:cNvSpPr/>
          <p:nvPr/>
        </p:nvSpPr>
        <p:spPr>
          <a:xfrm>
            <a:off x="6187287"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square_e3c3acbf848b.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DISCUSSION</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Aloud</a:t>
            </a:r>
          </a:p>
        </p:txBody>
      </p:sp>
      <p:sp>
        <p:nvSpPr>
          <p:cNvPr id="26" name="TextBox 25"/>
          <p:cNvSpPr txBox="1"/>
          <p:nvPr/>
        </p:nvSpPr>
        <p:spPr>
          <a:xfrm>
            <a:off x="6388455"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The most-missed items first, then the week's interview questions as interview answers.</a:t>
            </a:r>
          </a:p>
        </p:txBody>
      </p:sp>
      <p:sp>
        <p:nvSpPr>
          <p:cNvPr id="27" name="Rounded Rectangle 26"/>
          <p:cNvSpPr/>
          <p:nvPr/>
        </p:nvSpPr>
        <p:spPr>
          <a:xfrm>
            <a:off x="9015755"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circle-slash_1e230f308fab.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STATUS</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Ungraded</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A performance indicator for you and the team, with no ranking.</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35" name="Oval 34"/>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37" name="Oval 36"/>
          <p:cNvSpPr/>
          <p:nvPr/>
        </p:nvSpPr>
        <p:spPr>
          <a:xfrm>
            <a:off x="32755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3852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What is yours now?</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25 /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lines, one per step the week made yours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lines carry out of the week?</a:t>
            </a:r>
          </a:p>
        </p:txBody>
      </p:sp>
      <p:sp>
        <p:nvSpPr>
          <p:cNvPr id="9" name="TextBox 8"/>
          <p:cNvSpPr txBox="1"/>
          <p:nvPr/>
        </p:nvSpPr>
        <p:spPr>
          <a:xfrm>
            <a:off x="530352" y="192024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956816"/>
            <a:ext cx="10564063" cy="368808"/>
          </a:xfrm>
          <a:prstGeom prst="rect">
            <a:avLst/>
          </a:prstGeom>
          <a:noFill/>
        </p:spPr>
        <p:txBody>
          <a:bodyPr wrap="square" anchor="t" lIns="0" rIns="0" tIns="0" bIns="0">
            <a:spAutoFit/>
          </a:bodyPr>
          <a:lstStyle/>
          <a:p>
            <a:r>
              <a:rPr sz="1500" b="0" i="0">
                <a:solidFill>
                  <a:srgbClr val="1A1440"/>
                </a:solidFill>
                <a:latin typeface="Calibri"/>
              </a:rPr>
              <a:t>Reconcile counts and rupees to a control total before you quote a total.</a:t>
            </a:r>
          </a:p>
        </p:txBody>
      </p:sp>
      <p:sp>
        <p:nvSpPr>
          <p:cNvPr id="11" name="TextBox 10"/>
          <p:cNvSpPr txBox="1"/>
          <p:nvPr/>
        </p:nvSpPr>
        <p:spPr>
          <a:xfrm>
            <a:off x="530352" y="236220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398776"/>
            <a:ext cx="10564063" cy="368808"/>
          </a:xfrm>
          <a:prstGeom prst="rect">
            <a:avLst/>
          </a:prstGeom>
          <a:noFill/>
        </p:spPr>
        <p:txBody>
          <a:bodyPr wrap="square" anchor="t" lIns="0" rIns="0" tIns="0" bIns="0">
            <a:spAutoFit/>
          </a:bodyPr>
          <a:lstStyle/>
          <a:p>
            <a:r>
              <a:rPr sz="1500" b="0" i="0">
                <a:solidFill>
                  <a:srgbClr val="1A1440"/>
                </a:solidFill>
                <a:latin typeface="Calibri"/>
              </a:rPr>
              <a:t>A zero-reject pass on a file you know is dirty is the first thing to investigate.</a:t>
            </a:r>
          </a:p>
        </p:txBody>
      </p:sp>
      <p:sp>
        <p:nvSpPr>
          <p:cNvPr id="13" name="TextBox 12"/>
          <p:cNvSpPr txBox="1"/>
          <p:nvPr/>
        </p:nvSpPr>
        <p:spPr>
          <a:xfrm>
            <a:off x="530352" y="280416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2840736"/>
            <a:ext cx="10564063" cy="368808"/>
          </a:xfrm>
          <a:prstGeom prst="rect">
            <a:avLst/>
          </a:prstGeom>
          <a:noFill/>
        </p:spPr>
        <p:txBody>
          <a:bodyPr wrap="square" anchor="t" lIns="0" rIns="0" tIns="0" bIns="0">
            <a:spAutoFit/>
          </a:bodyPr>
          <a:lstStyle/>
          <a:p>
            <a:r>
              <a:rPr sz="1500" b="0" i="0">
                <a:solidFill>
                  <a:srgbClr val="1A1440"/>
                </a:solidFill>
                <a:latin typeface="Calibri"/>
              </a:rPr>
              <a:t>Count before rate: put the order count beside every rate before it leads a note.</a:t>
            </a:r>
          </a:p>
        </p:txBody>
      </p:sp>
      <p:sp>
        <p:nvSpPr>
          <p:cNvPr id="15" name="TextBox 14"/>
          <p:cNvSpPr txBox="1"/>
          <p:nvPr/>
        </p:nvSpPr>
        <p:spPr>
          <a:xfrm>
            <a:off x="530352" y="324612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282696"/>
            <a:ext cx="10564063" cy="368808"/>
          </a:xfrm>
          <a:prstGeom prst="rect">
            <a:avLst/>
          </a:prstGeom>
          <a:noFill/>
        </p:spPr>
        <p:txBody>
          <a:bodyPr wrap="square" anchor="t" lIns="0" rIns="0" tIns="0" bIns="0">
            <a:spAutoFit/>
          </a:bodyPr>
          <a:lstStyle/>
          <a:p>
            <a:r>
              <a:rPr sz="1500" b="0" i="0">
                <a:solidFill>
                  <a:srgbClr val="1A1440"/>
                </a:solidFill>
                <a:latin typeface="Calibri"/>
              </a:rPr>
              <a:t>Keep each customer's own two quarters together in every shuffle.</a:t>
            </a:r>
          </a:p>
        </p:txBody>
      </p:sp>
      <p:sp>
        <p:nvSpPr>
          <p:cNvPr id="17" name="TextBox 16"/>
          <p:cNvSpPr txBox="1"/>
          <p:nvPr/>
        </p:nvSpPr>
        <p:spPr>
          <a:xfrm>
            <a:off x="530352" y="3688080"/>
            <a:ext cx="502920" cy="333756"/>
          </a:xfrm>
          <a:prstGeom prst="rect">
            <a:avLst/>
          </a:prstGeom>
          <a:noFill/>
        </p:spPr>
        <p:txBody>
          <a:bodyPr wrap="square" anchor="t" lIns="0" rIns="0" tIns="0" bIns="0">
            <a:spAutoFit/>
          </a:bodyPr>
          <a:lstStyle/>
          <a:p>
            <a:pPr algn="l"/>
            <a:r>
              <a:rPr sz="1800" b="0" i="0">
                <a:solidFill>
                  <a:srgbClr val="5B3FD6"/>
                </a:solidFill>
                <a:latin typeface="Georgia"/>
              </a:rPr>
              <a:t>05</a:t>
            </a:r>
          </a:p>
        </p:txBody>
      </p:sp>
      <p:sp>
        <p:nvSpPr>
          <p:cNvPr id="18" name="TextBox 17"/>
          <p:cNvSpPr txBox="1"/>
          <p:nvPr/>
        </p:nvSpPr>
        <p:spPr>
          <a:xfrm>
            <a:off x="1097280" y="3724656"/>
            <a:ext cx="10564063" cy="368808"/>
          </a:xfrm>
          <a:prstGeom prst="rect">
            <a:avLst/>
          </a:prstGeom>
          <a:noFill/>
        </p:spPr>
        <p:txBody>
          <a:bodyPr wrap="square" anchor="t" lIns="0" rIns="0" tIns="0" bIns="0">
            <a:spAutoFit/>
          </a:bodyPr>
          <a:lstStyle/>
          <a:p>
            <a:r>
              <a:rPr sz="1500" b="0" i="0">
                <a:solidFill>
                  <a:srgbClr val="1A1440"/>
                </a:solidFill>
                <a:latin typeface="Calibri"/>
              </a:rPr>
              <a:t>Say the claim with its denominator, the caveat before they find it, and what would change your mind.</a:t>
            </a:r>
          </a:p>
        </p:txBody>
      </p:sp>
      <p:sp>
        <p:nvSpPr>
          <p:cNvPr id="19" name="Oval 1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21" name="Oval 20"/>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23" name="Oval 22"/>
          <p:cNvSpPr/>
          <p:nvPr/>
        </p:nvSpPr>
        <p:spPr>
          <a:xfrm>
            <a:off x="32755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3852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What is yours now?</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26 /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rerun, one recap, and nothing to install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you do tonight, and what does Saturday ask you to bring?</a:t>
            </a:r>
          </a:p>
        </p:txBody>
      </p:sp>
      <p:sp>
        <p:nvSpPr>
          <p:cNvPr id="9" name="Rectangle 8"/>
          <p:cNvSpPr/>
          <p:nvPr/>
        </p:nvSpPr>
        <p:spPr>
          <a:xfrm>
            <a:off x="2324557" y="2523744"/>
            <a:ext cx="7542580"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FIX</a:t>
            </a:r>
          </a:p>
        </p:txBody>
      </p:sp>
      <p:sp>
        <p:nvSpPr>
          <p:cNvPr id="11" name="Oval 10"/>
          <p:cNvSpPr/>
          <p:nvPr/>
        </p:nvSpPr>
        <p:spPr>
          <a:xfrm>
            <a:off x="222397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Rerun your step</a:t>
            </a:r>
          </a:p>
        </p:txBody>
      </p:sp>
      <p:sp>
        <p:nvSpPr>
          <p:cNvPr id="14" name="TextBox 13"/>
          <p:cNvSpPr txBox="1"/>
          <p:nvPr/>
        </p:nvSpPr>
        <p:spPr>
          <a:xfrm>
            <a:off x="69494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The step the TA marked, on the practice export, with one line on what you will do differently.</a:t>
            </a:r>
          </a:p>
        </p:txBody>
      </p:sp>
      <p:sp>
        <p:nvSpPr>
          <p:cNvPr id="15" name="TextBox 14"/>
          <p:cNvSpPr txBox="1"/>
          <p:nvPr/>
        </p:nvSpPr>
        <p:spPr>
          <a:xfrm>
            <a:off x="430164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RECAP</a:t>
            </a:r>
          </a:p>
        </p:txBody>
      </p:sp>
      <p:sp>
        <p:nvSpPr>
          <p:cNvPr id="16" name="Oval 15"/>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430164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6623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From memory</a:t>
            </a:r>
          </a:p>
        </p:txBody>
      </p:sp>
      <p:sp>
        <p:nvSpPr>
          <p:cNvPr id="19" name="TextBox 18"/>
          <p:cNvSpPr txBox="1"/>
          <p:nvPr/>
        </p:nvSpPr>
        <p:spPr>
          <a:xfrm>
            <a:off x="446623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The note's four parts and the p-value sentence; both are on Saturday's paper.</a:t>
            </a:r>
          </a:p>
        </p:txBody>
      </p:sp>
      <p:sp>
        <p:nvSpPr>
          <p:cNvPr id="20" name="TextBox 19"/>
          <p:cNvSpPr txBox="1"/>
          <p:nvPr/>
        </p:nvSpPr>
        <p:spPr>
          <a:xfrm>
            <a:off x="807293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SETUP</a:t>
            </a:r>
          </a:p>
        </p:txBody>
      </p:sp>
      <p:sp>
        <p:nvSpPr>
          <p:cNvPr id="21" name="Oval 20"/>
          <p:cNvSpPr/>
          <p:nvPr/>
        </p:nvSpPr>
        <p:spPr>
          <a:xfrm>
            <a:off x="9766554"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807293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3752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Sunday evening</a:t>
            </a:r>
          </a:p>
        </p:txBody>
      </p:sp>
      <p:sp>
        <p:nvSpPr>
          <p:cNvPr id="24" name="TextBox 23"/>
          <p:cNvSpPr txBox="1"/>
          <p:nvPr/>
        </p:nvSpPr>
        <p:spPr>
          <a:xfrm>
            <a:off x="823752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Week 2 works in a live Postgres connection from VS Code; the setup steps arrive on Sunday.</a:t>
            </a:r>
          </a:p>
        </p:txBody>
      </p:sp>
      <p:sp>
        <p:nvSpPr>
          <p:cNvPr id="25" name="Rounded Rectangle 24"/>
          <p:cNvSpPr/>
          <p:nvPr/>
        </p:nvSpPr>
        <p:spPr>
          <a:xfrm>
            <a:off x="530352" y="4103624"/>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58952" y="443585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search-check_6571e64a041f.png"/>
          <p:cNvPicPr>
            <a:picLocks noChangeAspect="1"/>
          </p:cNvPicPr>
          <p:nvPr/>
        </p:nvPicPr>
        <p:blipFill>
          <a:blip r:embed="rId4"/>
          <a:stretch>
            <a:fillRect/>
          </a:stretch>
        </p:blipFill>
        <p:spPr>
          <a:xfrm>
            <a:off x="868680" y="4545584"/>
            <a:ext cx="237744" cy="237744"/>
          </a:xfrm>
          <a:prstGeom prst="rect">
            <a:avLst/>
          </a:prstGeom>
        </p:spPr>
      </p:pic>
      <p:sp>
        <p:nvSpPr>
          <p:cNvPr id="28" name="TextBox 27"/>
          <p:cNvSpPr txBox="1"/>
          <p:nvPr/>
        </p:nvSpPr>
        <p:spPr>
          <a:xfrm>
            <a:off x="1399031" y="424992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29" name="TextBox 28"/>
          <p:cNvSpPr txBox="1"/>
          <p:nvPr/>
        </p:nvSpPr>
        <p:spPr>
          <a:xfrm>
            <a:off x="1399031" y="4469384"/>
            <a:ext cx="9987991" cy="682752"/>
          </a:xfrm>
          <a:prstGeom prst="rect">
            <a:avLst/>
          </a:prstGeom>
          <a:noFill/>
        </p:spPr>
        <p:txBody>
          <a:bodyPr wrap="square" anchor="t" lIns="0" rIns="0" tIns="0" bIns="0">
            <a:spAutoFit/>
          </a:bodyPr>
          <a:lstStyle/>
          <a:p>
            <a:r>
              <a:rPr sz="1500" b="0" i="0">
                <a:solidFill>
                  <a:srgbClr val="1A1440"/>
                </a:solidFill>
                <a:latin typeface="Calibri"/>
              </a:rPr>
              <a:t>On Monday, Meera hears a note from someone who rebuilt every number in it alone this morning and reconciled it to Anand's books.</a:t>
            </a:r>
          </a:p>
        </p:txBody>
      </p:sp>
      <p:sp>
        <p:nvSpPr>
          <p:cNvPr id="30" name="Oval 2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Does the note hold?</a:t>
            </a:r>
          </a:p>
        </p:txBody>
      </p:sp>
      <p:sp>
        <p:nvSpPr>
          <p:cNvPr id="32" name="Oval 31"/>
          <p:cNvSpPr/>
          <p:nvPr/>
        </p:nvSpPr>
        <p:spPr>
          <a:xfrm>
            <a:off x="187994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989677"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Which approach fits?</a:t>
            </a:r>
          </a:p>
        </p:txBody>
      </p:sp>
      <p:sp>
        <p:nvSpPr>
          <p:cNvPr id="34" name="Oval 33"/>
          <p:cNvSpPr/>
          <p:nvPr/>
        </p:nvSpPr>
        <p:spPr>
          <a:xfrm>
            <a:off x="32755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3852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What is yours now?</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27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