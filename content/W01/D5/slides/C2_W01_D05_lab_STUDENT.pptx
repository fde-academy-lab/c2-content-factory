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Kavya's line aloud and leave it up. Today teaches nothing new: the morning</a:t>
            </a:r>
          </a:p>
          <a:p>
            <a:r>
              <a:t>finds out which of the week's ideas each person owns, and the afternoon finds out whether they can</a:t>
            </a:r>
          </a:p>
          <a:p>
            <a:r>
              <a:t>say it under pressure. Kavya's terms and the rules take ten minutes, then the clock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the day's question once, then the five parts. The first is the morning's</a:t>
            </a:r>
          </a:p>
          <a:p>
            <a:r>
              <a:t>question and the third is the afternoon's; the other three follow from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 minutes in all: who decides on Monday, the method as one picture, the first move, the</a:t>
            </a:r>
          </a:p>
          <a:p>
            <a:r>
              <a:t>rules and the hand-in. Nothing here is new, so keep to the ten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who needs the answer and the four questions, then start.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and a half minutes. Say the metric, who asks and what a wrong number costs, then the four</a:t>
            </a:r>
          </a:p>
          <a:p>
            <a:r>
              <a:t>questions on the table from the row: whether the pipeline is yours or the notebook's, which step you</a:t>
            </a:r>
          </a:p>
          <a:p>
            <a:r>
              <a:t>reach for first, whether the note survives a hostile question, and what you still cannot do without</a:t>
            </a:r>
          </a:p>
          <a:p>
            <a:r>
              <a:t>help. Do not add anything about which step matters most: the lab measures what each person does</a:t>
            </a:r>
          </a:p>
          <a:p>
            <a:r>
              <a:t>unprompted.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from three people. Expect some a: it is the instinct under time</a:t>
            </a:r>
          </a:p>
          <a:p>
            <a:r>
              <a:t>pressure and the reason a total gets quoted before anybody knows what the file holds.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b. Option d is closed by the rules anyway: no other notebook is open</a:t>
            </a:r>
          </a:p>
          <a:p>
            <a:r>
              <a:t>today, because code written for Wednesday's file assumes Wednesday's defects.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and a half minutes. Walk the six boxes left to right once, naming the day each came from.</a:t>
            </a:r>
          </a:p>
          <a:p>
            <a:r>
              <a:t>Then stop talking about the method. During the lab only S9, the step questions and their minutes,</a:t>
            </a:r>
          </a:p>
          <a:p>
            <a:r>
              <a:t>stays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cards. Say plainly that the observation sets each person's first</a:t>
            </a:r>
          </a:p>
          <a:p>
            <a:r>
              <a:t>stretch or remedial task and is never shown to the room. The support TA handles Codespace problems</a:t>
            </a:r>
          </a:p>
          <a:p>
            <a:r>
              <a:t>only; a question about the method gets "what would you check?" and nothing more.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and a half minutes. Everyone opens both files now and runs the first cell before the clock starts, so a</a:t>
            </a:r>
          </a:p>
          <a:p>
            <a:r>
              <a:t>Codespace problem is found in the ten minutes of terms and never inside the lab.</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clock starts when the next slide goes up. Leave S9 on screen for the whole lab, and change</a:t>
            </a:r>
          </a:p>
          <a:p>
            <a:r>
              <a:t>nothing on the projector until the 120-minute mark.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whole lab. At each mark the TAs walk their rows with the observation sheet and record the</a:t>
            </a:r>
          </a:p>
          <a:p>
            <a:r>
              <a:t>step each learner is on, without a word. Say nothing to the room except the time remaining at 60,</a:t>
            </a:r>
          </a:p>
          <a:p>
            <a:r>
              <a:t>90 and 110 minutes. Answer a method question with "what would you check?"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19 minutes, and S11 takes the twentieth. The TAs copy each learner's output folder at the 120-minute mark before anyone</a:t>
            </a:r>
          </a:p>
          <a:p>
            <a:r>
              <a:t>edits it; that snapshot is what the observation sheet records. Then read this slide aloud. Most of</a:t>
            </a:r>
          </a:p>
          <a:p>
            <a:r>
              <a:t>the room will find its first real number here. Do not comment on anybody's result until the</a:t>
            </a:r>
          </a:p>
          <a:p>
            <a:r>
              <a:t>debrief.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the ten-minute break. The debrief's first chapter, the reconciliation, runs for</a:t>
            </a:r>
          </a:p>
          <a:p>
            <a:r>
              <a:t>twenty minutes after the break and closes the morning. Over lunch the TAs total the observation</a:t>
            </a:r>
          </a:p>
          <a:p>
            <a:r>
              <a:t>sheets by step; all three chapters run whatever the tally says, and it decides where the trainer</a:t>
            </a:r>
          </a:p>
          <a:p>
            <a:r>
              <a:t>lingers and which reserve slide runs live.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5.png"/><Relationship Id="rId6"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951822"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AI-FREE LAB</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Can you rebuild the week alone?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“Before anything goes to Meera, rebuild the week from a raw export with no assistant and no notes.”</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 to the trainees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Why rebuild it alone?</a:t>
            </a:r>
          </a:p>
        </p:txBody>
      </p:sp>
      <p:sp>
        <p:nvSpPr>
          <p:cNvPr id="13" name="TextBox 12"/>
          <p:cNvSpPr txBox="1"/>
          <p:nvPr/>
        </p:nvSpPr>
        <p:spPr>
          <a:xfrm>
            <a:off x="261375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997803"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Can you run it alone?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Can you rebuild the week alone?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question for the whole day, in five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rebuild the week alone on a raw export, and hold your note when Marketing pushes?</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LAB</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Can you run it alone?</a:t>
            </a:r>
          </a:p>
        </p:txBody>
      </p:sp>
      <p:sp>
        <p:nvSpPr>
          <p:cNvPr id="14" name="TextBox 13"/>
          <p:cNvSpPr txBox="1"/>
          <p:nvPr/>
        </p:nvSpPr>
        <p:spPr>
          <a:xfrm>
            <a:off x="694944" y="349250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week's method on an export you have not seen, 150 minutes.</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DEBRIEF</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Where did it break?</a:t>
            </a:r>
          </a:p>
        </p:txBody>
      </p:sp>
      <p:sp>
        <p:nvSpPr>
          <p:cNvPr id="19" name="TextBox 18"/>
          <p:cNvSpPr txBox="1"/>
          <p:nvPr/>
        </p:nvSpPr>
        <p:spPr>
          <a:xfrm>
            <a:off x="2957718"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Three chapters, one per place most rooms break.</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REHEARSAL</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Does the note hold?</a:t>
            </a:r>
          </a:p>
        </p:txBody>
      </p:sp>
      <p:sp>
        <p:nvSpPr>
          <p:cNvPr id="24" name="TextBox 23"/>
          <p:cNvSpPr txBox="1"/>
          <p:nvPr/>
        </p:nvSpPr>
        <p:spPr>
          <a:xfrm>
            <a:off x="5220492"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Thursday's note, defended against Marketing.</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CASES</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approach fits?</a:t>
            </a:r>
          </a:p>
        </p:txBody>
      </p:sp>
      <p:sp>
        <p:nvSpPr>
          <p:cNvPr id="29" name="TextBox 28"/>
          <p:cNvSpPr txBox="1"/>
          <p:nvPr/>
        </p:nvSpPr>
        <p:spPr>
          <a:xfrm>
            <a:off x="7483266"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Three timed design cases, answered aloud.</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CLOSE</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is yours now?</a:t>
            </a:r>
          </a:p>
        </p:txBody>
      </p:sp>
      <p:sp>
        <p:nvSpPr>
          <p:cNvPr id="34" name="TextBox 33"/>
          <p:cNvSpPr txBox="1"/>
          <p:nvPr/>
        </p:nvSpPr>
        <p:spPr>
          <a:xfrm>
            <a:off x="9746040" y="3277870"/>
            <a:ext cx="1750710" cy="366776"/>
          </a:xfrm>
          <a:prstGeom prst="rect">
            <a:avLst/>
          </a:prstGeom>
          <a:noFill/>
        </p:spPr>
        <p:txBody>
          <a:bodyPr wrap="square" anchor="t" lIns="0" rIns="0" tIns="0" bIns="0">
            <a:spAutoFit/>
          </a:bodyPr>
          <a:lstStyle/>
          <a:p>
            <a:pPr algn="l"/>
            <a:r>
              <a:rPr sz="1000" b="0" i="0">
                <a:solidFill>
                  <a:srgbClr val="CFC9EE"/>
                </a:solidFill>
                <a:latin typeface="Calibri"/>
              </a:rPr>
              <a:t>The Kahoot, Saturday's paper and tonight's rerun.</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Why rebuild it alone?</a:t>
            </a:r>
          </a:p>
        </p:txBody>
      </p:sp>
      <p:sp>
        <p:nvSpPr>
          <p:cNvPr id="37" name="Oval 3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Why rebuild it alone?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Why does Kavya want the week rebuilt alone before Monday, and on what terms?</a:t>
            </a:r>
          </a:p>
        </p:txBody>
      </p:sp>
      <p:sp>
        <p:nvSpPr>
          <p:cNvPr id="10" name="Rounded Rectangle 9"/>
          <p:cNvSpPr/>
          <p:nvPr/>
        </p:nvSpPr>
        <p:spPr>
          <a:xfrm>
            <a:off x="73151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Why rebuild it alone?</a:t>
            </a:r>
          </a:p>
        </p:txBody>
      </p:sp>
      <p:sp>
        <p:nvSpPr>
          <p:cNvPr id="11" name="Rounded Rectangle 10"/>
          <p:cNvSpPr/>
          <p:nvPr/>
        </p:nvSpPr>
        <p:spPr>
          <a:xfrm>
            <a:off x="2450543"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run it alone?</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Can you rebuild the week alone?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four questions, in ten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lab run alone, and which four questions set its terms?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Kavya Nair, before Monday's growth review: Meera acts on a note only when the person who wrote it can rebuild every number in it, and Marketing will be in the room.</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Who decides on Monday?</a:t>
            </a:r>
          </a:p>
        </p:txBody>
      </p:sp>
      <p:sp>
        <p:nvSpPr>
          <p:cNvPr id="17" name="TextBox 16"/>
          <p:cNvSpPr txBox="1"/>
          <p:nvPr/>
        </p:nvSpPr>
        <p:spPr>
          <a:xfrm>
            <a:off x="694944"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Meera decides, on the note's first line.</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 you open first?</a:t>
            </a:r>
          </a:p>
        </p:txBody>
      </p:sp>
      <p:sp>
        <p:nvSpPr>
          <p:cNvPr id="22" name="TextBox 21"/>
          <p:cNvSpPr txBox="1"/>
          <p:nvPr/>
        </p:nvSpPr>
        <p:spPr>
          <a:xfrm>
            <a:off x="3523411" y="4250182"/>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first ten minutes set the rest.</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In what order does it run?</a:t>
            </a:r>
          </a:p>
        </p:txBody>
      </p:sp>
      <p:sp>
        <p:nvSpPr>
          <p:cNvPr id="27" name="TextBox 26"/>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The week's method has one fixed order.</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are the terms?</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The rules decide what you may open and hand in.</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decides Monday on what you can run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decides on Monday, and what will they act on?</a:t>
            </a:r>
          </a:p>
        </p:txBody>
      </p:sp>
      <p:pic>
        <p:nvPicPr>
          <p:cNvPr id="9" name="mermaid diagram" descr="7f3dff1c4fe1c126.png"/>
          <p:cNvPicPr>
            <a:picLocks noChangeAspect="1"/>
          </p:cNvPicPr>
          <p:nvPr/>
        </p:nvPicPr>
        <p:blipFill>
          <a:blip r:embed="rId6"/>
          <a:stretch>
            <a:fillRect/>
          </a:stretch>
        </p:blipFill>
        <p:spPr>
          <a:xfrm>
            <a:off x="780897" y="1956816"/>
            <a:ext cx="10629900" cy="2400300"/>
          </a:xfrm>
          <a:prstGeom prst="rect">
            <a:avLst/>
          </a:prstGeom>
        </p:spPr>
      </p:pic>
      <p:sp>
        <p:nvSpPr>
          <p:cNvPr id="10" name="Rounded Rectangle 9"/>
          <p:cNvSpPr/>
          <p:nvPr/>
        </p:nvSpPr>
        <p:spPr>
          <a:xfrm>
            <a:off x="530352" y="4503420"/>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9651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5074920"/>
            <a:ext cx="237744" cy="237744"/>
          </a:xfrm>
          <a:prstGeom prst="rect">
            <a:avLst/>
          </a:prstGeom>
        </p:spPr>
      </p:pic>
      <p:sp>
        <p:nvSpPr>
          <p:cNvPr id="13" name="TextBox 12"/>
          <p:cNvSpPr txBox="1"/>
          <p:nvPr/>
        </p:nvSpPr>
        <p:spPr>
          <a:xfrm>
            <a:off x="1399031" y="4649724"/>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4869180"/>
            <a:ext cx="9987991" cy="941832"/>
          </a:xfrm>
          <a:prstGeom prst="rect">
            <a:avLst/>
          </a:prstGeom>
          <a:noFill/>
        </p:spPr>
        <p:txBody>
          <a:bodyPr wrap="square" anchor="t" lIns="0" rIns="0" tIns="0" bIns="0">
            <a:spAutoFit/>
          </a:bodyPr>
          <a:lstStyle/>
          <a:p>
            <a:r>
              <a:rPr sz="1500" b="0" i="0">
                <a:solidFill>
                  <a:srgbClr val="FFFFFF"/>
                </a:solidFill>
                <a:latin typeface="Calibri"/>
              </a:rPr>
              <a:t>From Q1 to Q2 in this export, which branch of the revenue tree moved, in which segment, and do your numbers tie to Finance's control totals? Write it as you would write it to Meera, since on Monday a first line that does not tie to Anand's books is sent back.</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open first on a fresh export?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hours, a raw file and a stakeholder waiting: where do the first ten minutes go?</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quarter totals, so Meera has a number early; b) a profile of every field, before any number; c) the segment split, because that is where last week's finding sat; d) the notebook from Wednesday, to reuse its cleaning code.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profile, before any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profile come before any total?</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COUNTS PER FIELD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present, convertible, distinct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FINDING PER MISMATCH</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count that disagrees with the field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NUMBERS QUOTED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until the profile is read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profile costs twenty minutes and tells you which of the next hundred you will spend on repairs. Skipping it moves the repairs to Monday, in front of Marketing.</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28" name="Oval 2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steps in a fixed order, from profile to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does the week's method run, and why that order?</a:t>
            </a:r>
          </a:p>
        </p:txBody>
      </p:sp>
      <p:pic>
        <p:nvPicPr>
          <p:cNvPr id="9" name="mermaid diagram" descr="b5c81a6f4ee4d3c4.png"/>
          <p:cNvPicPr>
            <a:picLocks noChangeAspect="1"/>
          </p:cNvPicPr>
          <p:nvPr/>
        </p:nvPicPr>
        <p:blipFill>
          <a:blip r:embed="rId5"/>
          <a:stretch>
            <a:fillRect/>
          </a:stretch>
        </p:blipFill>
        <p:spPr>
          <a:xfrm>
            <a:off x="530352" y="1956816"/>
            <a:ext cx="11130991" cy="937450"/>
          </a:xfrm>
          <a:prstGeom prst="rect">
            <a:avLst/>
          </a:prstGeom>
        </p:spPr>
      </p:pic>
      <p:sp>
        <p:nvSpPr>
          <p:cNvPr id="10" name="TextBox 9"/>
          <p:cNvSpPr txBox="1"/>
          <p:nvPr/>
        </p:nvSpPr>
        <p:spPr>
          <a:xfrm>
            <a:off x="530352" y="3040570"/>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step answers a question the next one depends on: whether the file is what it claims, which rows count, whether the clean data is still the same data, which branch moved, whether chance could do it, and what Meera should do. Monday built the tree, Tuesday split it by segment, Wednesday profiled, cleaned and reconciled, and Thursday tested and wrote the note.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and no score on any wall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lab's rules, and why is it observed without a score?</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ot-off_476ef9dbbf6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assistant</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No chat model, code-writing autocomplete or search for code is allowed.</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ook-x_85577d4b193a.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2</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Notes closed</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No other notebook in notebooks/, deck or cheat sheet is open on any screen.</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imer_398117c312b8.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120 minutes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clock runs once; save as you go and hand in what you have.</a:t>
            </a:r>
          </a:p>
        </p:txBody>
      </p:sp>
      <p:sp>
        <p:nvSpPr>
          <p:cNvPr id="27" name="Rounded Rectangle 26"/>
          <p:cNvSpPr/>
          <p:nvPr/>
        </p:nvSpPr>
        <p:spPr>
          <a:xfrm>
            <a:off x="9015755"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eye_6af225eae81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4</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Observed, with no score</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A TA notes where each person is at each mark; nothing goes on a wall.</a:t>
            </a:r>
          </a:p>
        </p:txBody>
      </p:sp>
      <p:sp>
        <p:nvSpPr>
          <p:cNvPr id="33" name="Rounded Rectangle 32"/>
          <p:cNvSpPr/>
          <p:nvPr/>
        </p:nvSpPr>
        <p:spPr>
          <a:xfrm>
            <a:off x="530352" y="42941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758952" y="46263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list-checks_bd88901d2a37.png"/>
          <p:cNvPicPr>
            <a:picLocks noChangeAspect="1"/>
          </p:cNvPicPr>
          <p:nvPr/>
        </p:nvPicPr>
        <p:blipFill>
          <a:blip r:embed="rId8"/>
          <a:stretch>
            <a:fillRect/>
          </a:stretch>
        </p:blipFill>
        <p:spPr>
          <a:xfrm>
            <a:off x="868680" y="4736084"/>
            <a:ext cx="237744" cy="237744"/>
          </a:xfrm>
          <a:prstGeom prst="rect">
            <a:avLst/>
          </a:prstGeom>
        </p:spPr>
      </p:pic>
      <p:sp>
        <p:nvSpPr>
          <p:cNvPr id="36" name="TextBox 35"/>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7" name="TextBox 36"/>
          <p:cNvSpPr txBox="1"/>
          <p:nvPr/>
        </p:nvSpPr>
        <p:spPr>
          <a:xfrm>
            <a:off x="1399031" y="4659884"/>
            <a:ext cx="9987991" cy="682752"/>
          </a:xfrm>
          <a:prstGeom prst="rect">
            <a:avLst/>
          </a:prstGeom>
          <a:noFill/>
        </p:spPr>
        <p:txBody>
          <a:bodyPr wrap="square" anchor="t" lIns="0" rIns="0" tIns="0" bIns="0">
            <a:spAutoFit/>
          </a:bodyPr>
          <a:lstStyle/>
          <a:p>
            <a:r>
              <a:rPr sz="1500" b="0" i="0">
                <a:solidFill>
                  <a:srgbClr val="1A1440"/>
                </a:solidFill>
                <a:latin typeface="Calibri"/>
              </a:rPr>
              <a:t>Python's own documentation, reached from the notebook with help(), is allowed, because an analyst on the job has it too.</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40" name="Oval 39"/>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files, written by the notebook's last cell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hand in, and where does it go?</a:t>
            </a:r>
          </a:p>
        </p:txBody>
      </p:sp>
      <p:pic>
        <p:nvPicPr>
          <p:cNvPr id="9" name="mermaid diagram" descr="595bcb46c6418f8d.png"/>
          <p:cNvPicPr>
            <a:picLocks noChangeAspect="1"/>
          </p:cNvPicPr>
          <p:nvPr/>
        </p:nvPicPr>
        <p:blipFill>
          <a:blip r:embed="rId5"/>
          <a:stretch>
            <a:fillRect/>
          </a:stretch>
        </p:blipFill>
        <p:spPr>
          <a:xfrm>
            <a:off x="701972" y="1682496"/>
            <a:ext cx="4443084" cy="4517136"/>
          </a:xfrm>
          <a:prstGeom prst="rect">
            <a:avLst/>
          </a:prstGeom>
        </p:spPr>
      </p:pic>
      <p:sp>
        <p:nvSpPr>
          <p:cNvPr id="10" name="TextBox 9"/>
          <p:cNvSpPr txBox="1"/>
          <p:nvPr/>
        </p:nvSpPr>
        <p:spPr>
          <a:xfrm>
            <a:off x="5761917" y="1956816"/>
            <a:ext cx="5899425"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three files land in notebooks/output/ as clean_orders.csv, decisions_log.csv and note.md. Open notebooks/C2_W01_D05_lab_STUDENT.ipynb and exercises/unguided/C2_W01_D05_lab_brief_STUDENT.md now; the export and Finance's control totals load in the first cell.</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run it alone?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Can you take a raw export to a note Finance would sign, alone, in 120 minutes?</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rebuild it alone?</a:t>
            </a:r>
          </a:p>
        </p:txBody>
      </p:sp>
      <p:sp>
        <p:nvSpPr>
          <p:cNvPr id="11" name="Rounded Rectangle 10"/>
          <p:cNvSpPr/>
          <p:nvPr/>
        </p:nvSpPr>
        <p:spPr>
          <a:xfrm>
            <a:off x="2450543"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run it alone?</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Can you rebuild the week alone?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steps, at this pace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six questions does the lab ask, and how long does each take?</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0 TO 20</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file hold?</a:t>
            </a:r>
          </a:p>
        </p:txBody>
      </p:sp>
      <p:sp>
        <p:nvSpPr>
          <p:cNvPr id="14" name="TextBox 13"/>
          <p:cNvSpPr txBox="1"/>
          <p:nvPr/>
        </p:nvSpPr>
        <p:spPr>
          <a:xfrm>
            <a:off x="694944" y="3492500"/>
            <a:ext cx="1373581" cy="201676"/>
          </a:xfrm>
          <a:prstGeom prst="rect">
            <a:avLst/>
          </a:prstGeom>
          <a:noFill/>
        </p:spPr>
        <p:txBody>
          <a:bodyPr wrap="square" anchor="t" lIns="0" rIns="0" tIns="0" bIns="0">
            <a:spAutoFit/>
          </a:bodyPr>
          <a:lstStyle/>
          <a:p>
            <a:pPr algn="l"/>
            <a:r>
              <a:rPr sz="1000" b="0" i="0">
                <a:solidFill>
                  <a:srgbClr val="6B6690"/>
                </a:solidFill>
                <a:latin typeface="Calibri"/>
              </a:rPr>
              <a:t>Profile every field.</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20 TO 50</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rows count?</a:t>
            </a:r>
          </a:p>
        </p:txBody>
      </p:sp>
      <p:sp>
        <p:nvSpPr>
          <p:cNvPr id="19" name="TextBox 18"/>
          <p:cNvSpPr txBox="1"/>
          <p:nvPr/>
        </p:nvSpPr>
        <p:spPr>
          <a:xfrm>
            <a:off x="258058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Clean, and log each decision.</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50 TO 65</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Is it still Finance's data?</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Reconcile to the control file.</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65 TO 90</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branch moved?</a:t>
            </a:r>
          </a:p>
        </p:txBody>
      </p:sp>
      <p:sp>
        <p:nvSpPr>
          <p:cNvPr id="29" name="TextBox 28"/>
          <p:cNvSpPr txBox="1"/>
          <p:nvPr/>
        </p:nvSpPr>
        <p:spPr>
          <a:xfrm>
            <a:off x="635187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Split along the tree.</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90 TO 105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Could chance do it?</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Run one shuffle test.</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105 TO 120</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should Meera do?</a:t>
            </a:r>
          </a:p>
        </p:txBody>
      </p:sp>
      <p:sp>
        <p:nvSpPr>
          <p:cNvPr id="39" name="TextBox 38"/>
          <p:cNvSpPr txBox="1"/>
          <p:nvPr/>
        </p:nvSpPr>
        <p:spPr>
          <a:xfrm>
            <a:off x="10123170" y="3492500"/>
            <a:ext cx="1373581" cy="201676"/>
          </a:xfrm>
          <a:prstGeom prst="rect">
            <a:avLst/>
          </a:prstGeom>
          <a:noFill/>
        </p:spPr>
        <p:txBody>
          <a:bodyPr wrap="square" anchor="t" lIns="0" rIns="0" tIns="0" bIns="0">
            <a:spAutoFit/>
          </a:bodyPr>
          <a:lstStyle/>
          <a:p>
            <a:pPr algn="l"/>
            <a:r>
              <a:rPr sz="1000" b="0" i="0">
                <a:solidFill>
                  <a:srgbClr val="CFC9EE"/>
                </a:solidFill>
                <a:latin typeface="Calibri"/>
              </a:rPr>
              <a:t>Write the note.</a:t>
            </a:r>
          </a:p>
        </p:txBody>
      </p:sp>
      <p:sp>
        <p:nvSpPr>
          <p:cNvPr id="40" name="Rounded Rectangle 39"/>
          <p:cNvSpPr/>
          <p:nvPr/>
        </p:nvSpPr>
        <p:spPr>
          <a:xfrm>
            <a:off x="530352" y="410362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ounded Rectangle 40"/>
          <p:cNvSpPr/>
          <p:nvPr/>
        </p:nvSpPr>
        <p:spPr>
          <a:xfrm>
            <a:off x="676656" y="423164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77824" y="4222496"/>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Kavya reads each note the way Anand and Meera will read Monday's, first line against the books. The minutes are a pace, and the order of the steps is fixed.</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Why rebuild it alone?</a:t>
            </a:r>
          </a:p>
        </p:txBody>
      </p:sp>
      <p:sp>
        <p:nvSpPr>
          <p:cNvPr id="45" name="Oval 44"/>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run it alone?</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totals, set against the control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After the clock stops, what do you check, and what do you write down?</a:t>
            </a:r>
          </a:p>
        </p:txBody>
      </p:sp>
      <p:pic>
        <p:nvPicPr>
          <p:cNvPr id="9" name="mermaid diagram" descr="706f65063a320733.png"/>
          <p:cNvPicPr>
            <a:picLocks noChangeAspect="1"/>
          </p:cNvPicPr>
          <p:nvPr/>
        </p:nvPicPr>
        <p:blipFill>
          <a:blip r:embed="rId5"/>
          <a:stretch>
            <a:fillRect/>
          </a:stretch>
        </p:blipFill>
        <p:spPr>
          <a:xfrm>
            <a:off x="530352" y="1956816"/>
            <a:ext cx="11130991" cy="3026156"/>
          </a:xfrm>
          <a:prstGeom prst="rect">
            <a:avLst/>
          </a:prstGeom>
        </p:spPr>
      </p:pic>
      <p:sp>
        <p:nvSpPr>
          <p:cNvPr id="10" name="TextBox 9"/>
          <p:cNvSpPr txBox="1"/>
          <p:nvPr/>
        </p:nvSpPr>
        <p:spPr>
          <a:xfrm>
            <a:off x="530352" y="512927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Write the line under your note in a new markdown cell. What you handed in stays as it was, and this line is what you will say at the debrief.</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Why rebuild it alone?</a:t>
            </a:r>
          </a:p>
        </p:txBody>
      </p:sp>
      <p:sp>
        <p:nvSpPr>
          <p:cNvPr id="13" name="Oval 12"/>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run it alone?</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TA marks the one step you do not own yet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morning tell each of you?</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STEPS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one order, every time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STEP MARKED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one the clock took from you</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nothing goes on a wall</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step you skipped when the clock ran is the step you do not own yet, and this week you find out which one it is with nothing scored.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Why rebuild it alone?</a:t>
            </a:r>
          </a:p>
        </p:txBody>
      </p:sp>
      <p:sp>
        <p:nvSpPr>
          <p:cNvPr id="28" name="Oval 27"/>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run it alone?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