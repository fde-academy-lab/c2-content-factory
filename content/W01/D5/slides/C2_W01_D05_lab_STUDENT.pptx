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Kavya's line aloud and leave it up. Today teaches nothing new: the morning</a:t>
            </a:r>
          </a:p>
          <a:p>
            <a:r>
              <a:t>finds out which of the week's ideas each person owns, and the afternoon finds out whether they can</a:t>
            </a:r>
          </a:p>
          <a:p>
            <a:r>
              <a:t>say it under pressure. Kavya's terms and the rules take ten minutes, then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one is ten minutes in all: the stakes, the method as one picture, the rules and the</a:t>
            </a:r>
          </a:p>
          <a:p>
            <a:r>
              <a:t>hand-in. Nothing here is new, and the pace matters more than the words.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metric, who asks and what a wrong number costs, then the four questions on</a:t>
            </a:r>
          </a:p>
          <a:p>
            <a:r>
              <a:t>the table from the row: whether the pipeline is yours or the notebook's, which step you reach for</a:t>
            </a:r>
          </a:p>
          <a:p>
            <a:r>
              <a:t>first, whether the note survives a hostile question, and what you still cannot do without help. The</a:t>
            </a:r>
          </a:p>
          <a:p>
            <a:r>
              <a:t>first is the morning's question and the third is the afternoon's. Do not add anything about which step matters most: the</a:t>
            </a:r>
          </a:p>
          <a:p>
            <a:r>
              <a:t>lab measures what each person does unprompted.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six boxes left to right once, naming the day each came from. Then stop</a:t>
            </a:r>
          </a:p>
          <a:p>
            <a:r>
              <a:t>talking about the method. This picture stays on the second screen, if there is one, for the whole</a:t>
            </a:r>
          </a:p>
          <a:p>
            <a:r>
              <a:t>lab.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from three people. Expect some a: it is the instinct under time</a:t>
            </a:r>
          </a:p>
          <a:p>
            <a:r>
              <a:t>pressure and the reason a total gets quoted before anybody knows what the file holds.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Option d is closed by the rules anyway: no other day's notebook is</a:t>
            </a:r>
          </a:p>
          <a:p>
            <a:r>
              <a:t>open today, and the reason is that code written for Wednesday's file assumes Wednesday's defects.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cards. Say plainly that the observation sets each person's first</a:t>
            </a:r>
          </a:p>
          <a:p>
            <a:r>
              <a:t>stretch or remedial task and is never shown to the room. The support TA handles Codespace problems</a:t>
            </a:r>
          </a:p>
          <a:p>
            <a:r>
              <a:t>only; a question about the method gets "what would you check?" and nothing more.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Everyone opens both files now and runs the first cell before the clock starts, so</a:t>
            </a:r>
          </a:p>
          <a:p>
            <a:r>
              <a:t>a Codespace problem is found in the ten minutes of terms rather than inside the lab.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clock starts when this slide goes up. Leave S7 on screen for the whole lab, and change</a:t>
            </a:r>
          </a:p>
          <a:p>
            <a:r>
              <a:t>nothing on the projector until the 120-minute mark.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whole lab. At each mark the TAs walk their rows with the observation sheet and record the</a:t>
            </a:r>
          </a:p>
          <a:p>
            <a:r>
              <a:t>step each learner is on, without a word. Say nothing to the room except the time remaining at 60,</a:t>
            </a:r>
          </a:p>
          <a:p>
            <a:r>
              <a:t>90 and 110 minutes. Answer a method question with "what would you check?"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TAs copy each learner's output folder at the 120-minute mark before anyone</a:t>
            </a:r>
          </a:p>
          <a:p>
            <a:r>
              <a:t>edits it; that snapshot is what the observation sheet records. Then read this slide aloud. Most of</a:t>
            </a:r>
          </a:p>
          <a:p>
            <a:r>
              <a:t>the room will find its first real number here. Do not comment on anybody's result until the</a:t>
            </a:r>
          </a:p>
          <a:p>
            <a:r>
              <a:t>debrief.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ten-minute break. The first place the room broke, the reconciliation, runs for</a:t>
            </a:r>
          </a:p>
          <a:p>
            <a:r>
              <a:t>twenty minutes after the break and closes the morning. Over lunch the TAs total the observation</a:t>
            </a:r>
          </a:p>
          <a:p>
            <a:r>
              <a:t>sheets by step, and that tally decides which two breaks open the afternoon.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AI-FREE LAB</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week, rebuilt alone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anything goes to Meera, rebuild the week from a raw export with no assistant and no notes.”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951833" cy="185166"/>
          </a:xfrm>
          <a:prstGeom prst="rect">
            <a:avLst/>
          </a:prstGeom>
          <a:noFill/>
        </p:spPr>
        <p:txBody>
          <a:bodyPr wrap="square" anchor="t" lIns="0" rIns="0" tIns="0" bIns="0">
            <a:spAutoFit/>
          </a:bodyPr>
          <a:lstStyle/>
          <a:p>
            <a:pPr algn="l"/>
            <a:r>
              <a:rPr sz="900" b="0" i="0">
                <a:solidFill>
                  <a:srgbClr val="FFFFFF"/>
                </a:solidFill>
                <a:latin typeface="Calibri"/>
              </a:rPr>
              <a:t>Kavya's terms</a:t>
            </a:r>
          </a:p>
        </p:txBody>
      </p:sp>
      <p:sp>
        <p:nvSpPr>
          <p:cNvPr id="13" name="TextBox 12"/>
          <p:cNvSpPr txBox="1"/>
          <p:nvPr/>
        </p:nvSpPr>
        <p:spPr>
          <a:xfrm>
            <a:off x="214055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524601"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clock</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Kavya's terms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growth review is on Monday, Marketing will be in the room, and the method has to be yours.</a:t>
            </a:r>
          </a:p>
        </p:txBody>
      </p:sp>
      <p:sp>
        <p:nvSpPr>
          <p:cNvPr id="10" name="Rounded Rectangle 9"/>
          <p:cNvSpPr/>
          <p:nvPr/>
        </p:nvSpPr>
        <p:spPr>
          <a:xfrm>
            <a:off x="731519" y="5074920"/>
            <a:ext cx="11355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Kavya's terms</a:t>
            </a:r>
          </a:p>
        </p:txBody>
      </p:sp>
      <p:sp>
        <p:nvSpPr>
          <p:cNvPr id="11" name="Rounded Rectangle 10"/>
          <p:cNvSpPr/>
          <p:nvPr/>
        </p:nvSpPr>
        <p:spPr>
          <a:xfrm>
            <a:off x="1976815"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clock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room decides on what you can run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acts on a note only when the person who wrote it can rebuild every number in it.</a:t>
            </a:r>
          </a:p>
        </p:txBody>
      </p:sp>
      <p:pic>
        <p:nvPicPr>
          <p:cNvPr id="9" name="mermaid diagram" descr="d7d8ff8209a87d03.png"/>
          <p:cNvPicPr>
            <a:picLocks noChangeAspect="1"/>
          </p:cNvPicPr>
          <p:nvPr/>
        </p:nvPicPr>
        <p:blipFill>
          <a:blip r:embed="rId6"/>
          <a:stretch>
            <a:fillRect/>
          </a:stretch>
        </p:blipFill>
        <p:spPr>
          <a:xfrm>
            <a:off x="1902466" y="1956816"/>
            <a:ext cx="8386762" cy="1800225"/>
          </a:xfrm>
          <a:prstGeom prst="rect">
            <a:avLst/>
          </a:prstGeom>
        </p:spPr>
      </p:pic>
      <p:sp>
        <p:nvSpPr>
          <p:cNvPr id="10" name="Rounded Rectangle 9"/>
          <p:cNvSpPr/>
          <p:nvPr/>
        </p:nvSpPr>
        <p:spPr>
          <a:xfrm>
            <a:off x="530352" y="3903345"/>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511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4474845"/>
            <a:ext cx="237744" cy="237744"/>
          </a:xfrm>
          <a:prstGeom prst="rect">
            <a:avLst/>
          </a:prstGeom>
        </p:spPr>
      </p:pic>
      <p:sp>
        <p:nvSpPr>
          <p:cNvPr id="13" name="TextBox 12"/>
          <p:cNvSpPr txBox="1"/>
          <p:nvPr/>
        </p:nvSpPr>
        <p:spPr>
          <a:xfrm>
            <a:off x="1399031" y="4049649"/>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269105"/>
            <a:ext cx="9987991" cy="941832"/>
          </a:xfrm>
          <a:prstGeom prst="rect">
            <a:avLst/>
          </a:prstGeom>
          <a:noFill/>
        </p:spPr>
        <p:txBody>
          <a:bodyPr wrap="square" anchor="t" lIns="0" rIns="0" tIns="0" bIns="0">
            <a:spAutoFit/>
          </a:bodyPr>
          <a:lstStyle/>
          <a:p>
            <a:r>
              <a:rPr sz="1500" b="0" i="0">
                <a:solidFill>
                  <a:srgbClr val="FFFFFF"/>
                </a:solidFill>
                <a:latin typeface="Calibri"/>
              </a:rPr>
              <a:t>Which branch of the revenue tree moved booked revenue from Q1 to Q2, in which segment, and does the number tie to Anand's control totals? A first line with the wrong sign sends Monday's review home with nothing to investigate, while Marketing's Rs 12 crore request waits on the answer.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7" name="Oval 16"/>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method, in the order you run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steps, each one built on a day of this week, and the order never changes.</a:t>
            </a:r>
          </a:p>
        </p:txBody>
      </p:sp>
      <p:pic>
        <p:nvPicPr>
          <p:cNvPr id="9" name="mermaid diagram" descr="1432138c01826724.png"/>
          <p:cNvPicPr>
            <a:picLocks noChangeAspect="1"/>
          </p:cNvPicPr>
          <p:nvPr/>
        </p:nvPicPr>
        <p:blipFill>
          <a:blip r:embed="rId5"/>
          <a:stretch>
            <a:fillRect/>
          </a:stretch>
        </p:blipFill>
        <p:spPr>
          <a:xfrm>
            <a:off x="530352" y="1956816"/>
            <a:ext cx="11130991" cy="778658"/>
          </a:xfrm>
          <a:prstGeom prst="rect">
            <a:avLst/>
          </a:prstGeom>
        </p:spPr>
      </p:pic>
      <p:sp>
        <p:nvSpPr>
          <p:cNvPr id="10" name="TextBox 9"/>
          <p:cNvSpPr txBox="1"/>
          <p:nvPr/>
        </p:nvSpPr>
        <p:spPr>
          <a:xfrm>
            <a:off x="530352" y="288177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step answers a question the next one depends on: whether the file is what it claims, which rows count, whether the clean data is still the same data, which branch moved, whether chance could do it, and what Meera should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3" name="Oval 12"/>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open first on a fresh export?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hours, a raw file and a stakeholder waiting: the first ten minutes decide the rest.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quarter totals, so Meera has a number early; b) a profile of every field, before any number; c) the segment split, because that is where last week's finding sat; d) the notebook from Wednesday, to reuse its cleaning code.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4" name="Oval 13"/>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profile, before any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total computed before the profile is a number about a file nobody has looked at.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COUNTS PER FIELD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 convertible, distinct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FINDING PER MISMATCH</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count that disagrees with the field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NUMBERS QUOTED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until the profile is read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profile costs ten minutes and tells you which of the next ninety you will spend on repairs. Skipping it moves the repairs to Monday, in front of Marketing.</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28" name="Oval 27"/>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rules of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lab shows each person which steps they own, and ranks nobody.</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t-off_476ef9dbbf6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assistant</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chat model, no autocomplete that writes code, no search for code.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x_85577d4b193a.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Notes closed</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No earlier notebook, deck or cheat sheet open on any screen.</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imer_398117c312b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clock runs once; save as you go and hand in what you have.</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ye_6af225eae81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Observed, with no score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TA notes where each person is at each mark; nothing goes on a wall.</a:t>
            </a:r>
          </a:p>
        </p:txBody>
      </p:sp>
      <p:sp>
        <p:nvSpPr>
          <p:cNvPr id="33" name="Rounded Rectangle 32"/>
          <p:cNvSpPr/>
          <p:nvPr/>
        </p:nvSpPr>
        <p:spPr>
          <a:xfrm>
            <a:off x="530352" y="42941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list-checks_bd88901d2a37.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1A1440"/>
                </a:solidFill>
                <a:latin typeface="Calibri"/>
              </a:rPr>
              <a:t>Python's own documentation, reached from the notebook with help(), is allowed, because an analyst on the job has it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40" name="Oval 39"/>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you hand in, and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files, written by the notebook's last cell into its output folder.</a:t>
            </a:r>
          </a:p>
        </p:txBody>
      </p:sp>
      <p:pic>
        <p:nvPicPr>
          <p:cNvPr id="9" name="mermaid diagram" descr="4c7eb4f0a46ddb02.png"/>
          <p:cNvPicPr>
            <a:picLocks noChangeAspect="1"/>
          </p:cNvPicPr>
          <p:nvPr/>
        </p:nvPicPr>
        <p:blipFill>
          <a:blip r:embed="rId5"/>
          <a:stretch>
            <a:fillRect/>
          </a:stretch>
        </p:blipFill>
        <p:spPr>
          <a:xfrm>
            <a:off x="3252635" y="1874488"/>
            <a:ext cx="5686425" cy="3214687"/>
          </a:xfrm>
          <a:prstGeom prst="rect">
            <a:avLst/>
          </a:prstGeom>
        </p:spPr>
      </p:pic>
      <p:sp>
        <p:nvSpPr>
          <p:cNvPr id="10" name="TextBox 9"/>
          <p:cNvSpPr txBox="1"/>
          <p:nvPr/>
        </p:nvSpPr>
        <p:spPr>
          <a:xfrm>
            <a:off x="530352" y="52354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Open notebooks/C2_W01_D05_lab_STUDENT.ipynb and exercises/unguided/C2_W01_D05_lab_brief_STUDENT.md. The export and Finance's control totals load in the first cell.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3" name="Oval 12"/>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clock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120 minutes, one pass, the week's method from a raw file to a note.</a:t>
            </a:r>
          </a:p>
        </p:txBody>
      </p:sp>
      <p:sp>
        <p:nvSpPr>
          <p:cNvPr id="10" name="Rounded Rectangle 9"/>
          <p:cNvSpPr/>
          <p:nvPr/>
        </p:nvSpPr>
        <p:spPr>
          <a:xfrm>
            <a:off x="73151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Kavya's terms</a:t>
            </a:r>
          </a:p>
        </p:txBody>
      </p:sp>
      <p:sp>
        <p:nvSpPr>
          <p:cNvPr id="11" name="Rounded Rectangle 10"/>
          <p:cNvSpPr/>
          <p:nvPr/>
        </p:nvSpPr>
        <p:spPr>
          <a:xfrm>
            <a:off x="1976815"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clock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pace, if you want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minutes are a pace; the order of the steps is fixed.</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0 TO 20</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Profile</a:t>
            </a:r>
          </a:p>
        </p:txBody>
      </p:sp>
      <p:sp>
        <p:nvSpPr>
          <p:cNvPr id="14" name="TextBox 13"/>
          <p:cNvSpPr txBox="1"/>
          <p:nvPr/>
        </p:nvSpPr>
        <p:spPr>
          <a:xfrm>
            <a:off x="69494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Three counts per field, and every mismatch written down.</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20 TO 50</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Clean</a:t>
            </a:r>
          </a:p>
        </p:txBody>
      </p:sp>
      <p:sp>
        <p:nvSpPr>
          <p:cNvPr id="19" name="TextBox 18"/>
          <p:cNvSpPr txBox="1"/>
          <p:nvPr/>
        </p:nvSpPr>
        <p:spPr>
          <a:xfrm>
            <a:off x="2580589"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Drop, default, or keep and flag, each with a reason in the log.</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50 TO 65</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Reconcile</a:t>
            </a:r>
          </a:p>
        </p:txBody>
      </p:sp>
      <p:sp>
        <p:nvSpPr>
          <p:cNvPr id="24" name="TextBox 23"/>
          <p:cNvSpPr txBox="1"/>
          <p:nvPr/>
        </p:nvSpPr>
        <p:spPr>
          <a:xfrm>
            <a:off x="446623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Counts and rupees, against Finance's control totals.</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65 TO 90</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Decompose</a:t>
            </a:r>
          </a:p>
        </p:txBody>
      </p:sp>
      <p:sp>
        <p:nvSpPr>
          <p:cNvPr id="29" name="TextBox 28"/>
          <p:cNvSpPr txBox="1"/>
          <p:nvPr/>
        </p:nvSpPr>
        <p:spPr>
          <a:xfrm>
            <a:off x="6351879"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tree, Q1 against Q2, segment by segment.</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90 TO 105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Test</a:t>
            </a:r>
          </a:p>
        </p:txBody>
      </p:sp>
      <p:sp>
        <p:nvSpPr>
          <p:cNvPr id="34" name="TextBox 33"/>
          <p:cNvSpPr txBox="1"/>
          <p:nvPr/>
        </p:nvSpPr>
        <p:spPr>
          <a:xfrm>
            <a:off x="823752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One shuffle, 2,000 times, on the gap that matters.</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105 TO 120</a:t>
            </a:r>
          </a:p>
        </p:txBody>
      </p:sp>
      <p:sp>
        <p:nvSpPr>
          <p:cNvPr id="36" name="Oval 35"/>
          <p:cNvSpPr/>
          <p:nvPr/>
        </p:nvSpPr>
        <p:spPr>
          <a:xfrm>
            <a:off x="1070937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Note</a:t>
            </a:r>
          </a:p>
        </p:txBody>
      </p:sp>
      <p:sp>
        <p:nvSpPr>
          <p:cNvPr id="39" name="TextBox 38"/>
          <p:cNvSpPr txBox="1"/>
          <p:nvPr/>
        </p:nvSpPr>
        <p:spPr>
          <a:xfrm>
            <a:off x="10123170" y="3277870"/>
            <a:ext cx="1373581" cy="366776"/>
          </a:xfrm>
          <a:prstGeom prst="rect">
            <a:avLst/>
          </a:prstGeom>
          <a:noFill/>
        </p:spPr>
        <p:txBody>
          <a:bodyPr wrap="square" anchor="t" lIns="0" rIns="0" tIns="0" bIns="0">
            <a:spAutoFit/>
          </a:bodyPr>
          <a:lstStyle/>
          <a:p>
            <a:pPr algn="l"/>
            <a:r>
              <a:rPr sz="1000" b="0" i="0">
                <a:solidFill>
                  <a:srgbClr val="6B6690"/>
                </a:solidFill>
                <a:latin typeface="Calibri"/>
              </a:rPr>
              <a:t>Claim, evidence, caveat, action.</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42" name="Oval 41"/>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second look, after the clock stops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Hand-in is frozen at 120 minutes; the next twenty are yours to check what you sent.</a:t>
            </a:r>
          </a:p>
        </p:txBody>
      </p:sp>
      <p:pic>
        <p:nvPicPr>
          <p:cNvPr id="9" name="mermaid diagram" descr="bd3afd9b7bd14d54.png"/>
          <p:cNvPicPr>
            <a:picLocks noChangeAspect="1"/>
          </p:cNvPicPr>
          <p:nvPr/>
        </p:nvPicPr>
        <p:blipFill>
          <a:blip r:embed="rId5"/>
          <a:stretch>
            <a:fillRect/>
          </a:stretch>
        </p:blipFill>
        <p:spPr>
          <a:xfrm>
            <a:off x="559441" y="1956816"/>
            <a:ext cx="11072812" cy="2743200"/>
          </a:xfrm>
          <a:prstGeom prst="rect">
            <a:avLst/>
          </a:prstGeom>
        </p:spPr>
      </p:pic>
      <p:sp>
        <p:nvSpPr>
          <p:cNvPr id="10" name="TextBox 9"/>
          <p:cNvSpPr txBox="1"/>
          <p:nvPr/>
        </p:nvSpPr>
        <p:spPr>
          <a:xfrm>
            <a:off x="530352" y="4846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Write the line under your note in a new markdown cell. What you handed in stays as it was, and this line is what you will say at the debrief.</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13" name="Oval 12"/>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morning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method is yours when its order holds under a clock.</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STEPS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one order, every time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pass, observed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ASSISTANTS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file is new to every model too</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step you skipped when the clock ran is the step you do not own yet. Knowing which one it is, this week, costs nothing.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28" name="Oval 27"/>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