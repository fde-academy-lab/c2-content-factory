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is ten minutes in all: the stakes, the method as one picture, the rules and the</a:t>
            </a:r>
          </a:p>
          <a:p>
            <a:r>
              <a:t>hand-in. Nothing here is new, and the pace matters more than the words.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metric, who asks and what a wrong number costs, then the four questions on</a:t>
            </a:r>
          </a:p>
          <a:p>
            <a:r>
              <a:t>the table from the row: whether the pipeline is yours or the notebook's, which step you reach for</a:t>
            </a:r>
          </a:p>
          <a:p>
            <a:r>
              <a:t>first, whether the note survives a hostile question, and what you still cannot do without help. The</a:t>
            </a:r>
          </a:p>
          <a:p>
            <a:r>
              <a:t>first is the morning's question and the third is the afternoon's. Do not add anything about which step matters most: the</a:t>
            </a:r>
          </a:p>
          <a:p>
            <a:r>
              <a:t>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This picture stays on the second screen, if there is one, for the whole</a:t>
            </a:r>
          </a:p>
          <a:p>
            <a:r>
              <a:t>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day's notebook is</a:t>
            </a:r>
          </a:p>
          <a:p>
            <a:r>
              <a:t>open today, and the reason is that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a:t>
            </a:r>
          </a:p>
          <a:p>
            <a:r>
              <a:t>a Codespace problem is found in the ten minutes of terms rather than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this slide goes up. Leave S7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first place the room broke, the reconciliation, runs for</a:t>
            </a:r>
          </a:p>
          <a:p>
            <a:r>
              <a:t>twenty minutes after the break and closes the morning. Over lunch the TAs total the observation</a:t>
            </a:r>
          </a:p>
          <a:p>
            <a:r>
              <a:t>sheets by step, and that tally decides which two breaks open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week, rebuilt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Kavya's terms</a:t>
            </a:r>
          </a:p>
        </p:txBody>
      </p:sp>
      <p:sp>
        <p:nvSpPr>
          <p:cNvPr id="13" name="TextBox 12"/>
          <p:cNvSpPr txBox="1"/>
          <p:nvPr/>
        </p:nvSpPr>
        <p:spPr>
          <a:xfrm>
            <a:off x="21405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524601"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clock</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Kavya's terms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review is on Monday, Marketing will be in the room, and the method has to be yours.</a:t>
            </a:r>
          </a:p>
        </p:txBody>
      </p:sp>
      <p:sp>
        <p:nvSpPr>
          <p:cNvPr id="10" name="Rounded Rectangle 9"/>
          <p:cNvSpPr/>
          <p:nvPr/>
        </p:nvSpPr>
        <p:spPr>
          <a:xfrm>
            <a:off x="73151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acts on a note only when the person who wrote it can rebuild every number in it.</a:t>
            </a:r>
          </a:p>
        </p:txBody>
      </p:sp>
      <p:pic>
        <p:nvPicPr>
          <p:cNvPr id="9" name="mermaid diagram" descr="d7d8ff8209a87d03.png"/>
          <p:cNvPicPr>
            <a:picLocks noChangeAspect="1"/>
          </p:cNvPicPr>
          <p:nvPr/>
        </p:nvPicPr>
        <p:blipFill>
          <a:blip r:embed="rId6"/>
          <a:stretch>
            <a:fillRect/>
          </a:stretch>
        </p:blipFill>
        <p:spPr>
          <a:xfrm>
            <a:off x="1902466" y="1956816"/>
            <a:ext cx="8386762" cy="1800225"/>
          </a:xfrm>
          <a:prstGeom prst="rect">
            <a:avLst/>
          </a:prstGeom>
        </p:spPr>
      </p:pic>
      <p:sp>
        <p:nvSpPr>
          <p:cNvPr id="10" name="Rounded Rectangle 9"/>
          <p:cNvSpPr/>
          <p:nvPr/>
        </p:nvSpPr>
        <p:spPr>
          <a:xfrm>
            <a:off x="530352" y="3903345"/>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511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474845"/>
            <a:ext cx="237744" cy="237744"/>
          </a:xfrm>
          <a:prstGeom prst="rect">
            <a:avLst/>
          </a:prstGeom>
        </p:spPr>
      </p:pic>
      <p:sp>
        <p:nvSpPr>
          <p:cNvPr id="13" name="TextBox 12"/>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269105"/>
            <a:ext cx="9987991" cy="941832"/>
          </a:xfrm>
          <a:prstGeom prst="rect">
            <a:avLst/>
          </a:prstGeom>
          <a:noFill/>
        </p:spPr>
        <p:txBody>
          <a:bodyPr wrap="square" anchor="t" lIns="0" rIns="0" tIns="0" bIns="0">
            <a:spAutoFit/>
          </a:bodyPr>
          <a:lstStyle/>
          <a:p>
            <a:r>
              <a:rPr sz="1500" b="0" i="0">
                <a:solidFill>
                  <a:srgbClr val="FFFFFF"/>
                </a:solidFill>
                <a:latin typeface="Calibri"/>
              </a:rPr>
              <a:t>Which branch of the revenue tree moved booked revenue from Q1 to Q2, in which segment, and does the number tie to Anand's control totals? A first line with the wrong sign sends Monday's review home with nothing to investigate, while Marketing's Rs 12 crore request waits on the answer.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7" name="Oval 16"/>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in the order you run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steps, each one built on a day of this week, and the order never changes.</a:t>
            </a:r>
          </a:p>
        </p:txBody>
      </p:sp>
      <p:pic>
        <p:nvPicPr>
          <p:cNvPr id="9" name="mermaid diagram" descr="1432138c01826724.png"/>
          <p:cNvPicPr>
            <a:picLocks noChangeAspect="1"/>
          </p:cNvPicPr>
          <p:nvPr/>
        </p:nvPicPr>
        <p:blipFill>
          <a:blip r:embed="rId5"/>
          <a:stretch>
            <a:fillRect/>
          </a:stretch>
        </p:blipFill>
        <p:spPr>
          <a:xfrm>
            <a:off x="530352" y="1956816"/>
            <a:ext cx="11130991" cy="778658"/>
          </a:xfrm>
          <a:prstGeom prst="rect">
            <a:avLst/>
          </a:prstGeom>
        </p:spPr>
      </p:pic>
      <p:sp>
        <p:nvSpPr>
          <p:cNvPr id="10" name="TextBox 9"/>
          <p:cNvSpPr txBox="1"/>
          <p:nvPr/>
        </p:nvSpPr>
        <p:spPr>
          <a:xfrm>
            <a:off x="530352" y="288177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the first ten minutes decide the rest.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4" name="Oval 13"/>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total computed before the profile is a number about a file nobody has looked at.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ten minutes and tells you which of the next ninety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28" name="Oval 27"/>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rules of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 finds out what you own; it does not rank anybody.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 earlier notebook,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never scored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40" name="Oval 39"/>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hand in, and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files, written by the notebook's last cell into its output folder.</a:t>
            </a:r>
          </a:p>
        </p:txBody>
      </p:sp>
      <p:pic>
        <p:nvPicPr>
          <p:cNvPr id="9" name="mermaid diagram" descr="4c7eb4f0a46ddb02.png"/>
          <p:cNvPicPr>
            <a:picLocks noChangeAspect="1"/>
          </p:cNvPicPr>
          <p:nvPr/>
        </p:nvPicPr>
        <p:blipFill>
          <a:blip r:embed="rId5"/>
          <a:stretch>
            <a:fillRect/>
          </a:stretch>
        </p:blipFill>
        <p:spPr>
          <a:xfrm>
            <a:off x="3252635" y="1874488"/>
            <a:ext cx="5686425"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Open notebooks/C2_W01_D05_lab_STUDENT.ipynb and exercises/unguided/C2_W01_D05_lab_brief_STUDENT.md.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120 minutes, one pass, the week's method from a raw file to a note.</a:t>
            </a:r>
          </a:p>
        </p:txBody>
      </p:sp>
      <p:sp>
        <p:nvSpPr>
          <p:cNvPr id="10" name="Rounded Rectangle 9"/>
          <p:cNvSpPr/>
          <p:nvPr/>
        </p:nvSpPr>
        <p:spPr>
          <a:xfrm>
            <a:off x="73151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pace, if you want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minutes are a pace; the order of the steps is fixed.</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Profile</a:t>
            </a:r>
          </a:p>
        </p:txBody>
      </p:sp>
      <p:sp>
        <p:nvSpPr>
          <p:cNvPr id="14" name="TextBox 13"/>
          <p:cNvSpPr txBox="1"/>
          <p:nvPr/>
        </p:nvSpPr>
        <p:spPr>
          <a:xfrm>
            <a:off x="69494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Three counts per field, and every mismatch written down.</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Clean</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Drop, default, or keep and flag, each with a reason in the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4" name="TextBox 23"/>
          <p:cNvSpPr txBox="1"/>
          <p:nvPr/>
        </p:nvSpPr>
        <p:spPr>
          <a:xfrm>
            <a:off x="446623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Counts and rupees, against Finance's control totals.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Decompose</a:t>
            </a:r>
          </a:p>
        </p:txBody>
      </p:sp>
      <p:sp>
        <p:nvSpPr>
          <p:cNvPr id="29" name="TextBox 28"/>
          <p:cNvSpPr txBox="1"/>
          <p:nvPr/>
        </p:nvSpPr>
        <p:spPr>
          <a:xfrm>
            <a:off x="6351879"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Q1 against Q2, segment by segment.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Test</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One shuffle, 2,000 times, on the gap that matters.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Note</a:t>
            </a:r>
          </a:p>
        </p:txBody>
      </p:sp>
      <p:sp>
        <p:nvSpPr>
          <p:cNvPr id="39" name="TextBox 38"/>
          <p:cNvSpPr txBox="1"/>
          <p:nvPr/>
        </p:nvSpPr>
        <p:spPr>
          <a:xfrm>
            <a:off x="10123170"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Claim, evidence, caveat, action.</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42" name="Oval 41"/>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look, after the clock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Hand-in is frozen at 120 minutes; the next twenty are yours to check what you sent.</a:t>
            </a:r>
          </a:p>
        </p:txBody>
      </p:sp>
      <p:pic>
        <p:nvPicPr>
          <p:cNvPr id="9" name="mermaid diagram" descr="bd3afd9b7bd14d54.png"/>
          <p:cNvPicPr>
            <a:picLocks noChangeAspect="1"/>
          </p:cNvPicPr>
          <p:nvPr/>
        </p:nvPicPr>
        <p:blipFill>
          <a:blip r:embed="rId5"/>
          <a:stretch>
            <a:fillRect/>
          </a:stretch>
        </p:blipFill>
        <p:spPr>
          <a:xfrm>
            <a:off x="559441" y="1956816"/>
            <a:ext cx="11072812" cy="2743200"/>
          </a:xfrm>
          <a:prstGeom prst="rect">
            <a:avLst/>
          </a:prstGeom>
        </p:spPr>
      </p:pic>
      <p:sp>
        <p:nvSpPr>
          <p:cNvPr id="10" name="TextBox 9"/>
          <p:cNvSpPr txBox="1"/>
          <p:nvPr/>
        </p:nvSpPr>
        <p:spPr>
          <a:xfrm>
            <a:off x="530352" y="4846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It does not change what you handed in; it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13" name="Oval 12"/>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morning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method is yours when its order holds under a clock.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file is new to every model too</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Knowing which one it is, this week, costs nothing.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28" name="Oval 27"/>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