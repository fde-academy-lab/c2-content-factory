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Kavya's line aloud and leave it up. Today teaches nothing new: the morning</a:t>
            </a:r>
          </a:p>
          <a:p>
            <a:r>
              <a:t>finds out which of the week's ideas each person owns, and the afternoon finds out whether they can</a:t>
            </a:r>
          </a:p>
          <a:p>
            <a:r>
              <a:t>say it under pressure. Kavya's terms and the rules take ten minutes, then the clock starts.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day's question once, then the five parts. The first is the morning's</a:t>
            </a:r>
          </a:p>
          <a:p>
            <a:r>
              <a:t>question and the third is the afternoon's; the other three follow from them.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Ten minutes in all: who decides on Monday, the method as one picture, the first move, the</a:t>
            </a:r>
          </a:p>
          <a:p>
            <a:r>
              <a:t>rules and the hand-in. Nothing here is new, so keep to the ten minutes.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who needs the answer and the four questions, then start.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Say the metric, who asks and what a wrong number costs, then the four questions on</a:t>
            </a:r>
          </a:p>
          <a:p>
            <a:r>
              <a:t>the table from the row: whether the pipeline is yours or the notebook's, which step you reach for</a:t>
            </a:r>
          </a:p>
          <a:p>
            <a:r>
              <a:t>first, whether the note survives a hostile question, and what you still cannot do without help. Do</a:t>
            </a:r>
          </a:p>
          <a:p>
            <a:r>
              <a:t>not add anything about which step matters most: the lab measures what each person does unprompted.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Walk the six boxes left to right once, naming the day each came from. Then stop</a:t>
            </a:r>
          </a:p>
          <a:p>
            <a:r>
              <a:t>talking about the method. During the lab only S9, the step questions and their minutes, stays on</a:t>
            </a:r>
          </a:p>
          <a:p>
            <a:r>
              <a:t>the projector.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Take letters from three people. Expect some a: it is the instinct under time</a:t>
            </a:r>
          </a:p>
          <a:p>
            <a:r>
              <a:t>pressure and the reason a total gets quoted before anybody knows what the file holds.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answer is b. Option d is closed by the rules anyway: no other notebook is open</a:t>
            </a:r>
          </a:p>
          <a:p>
            <a:r>
              <a:t>today, because code written for Wednesday's file assumes Wednesday's defects.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cards. Say plainly that the observation sets each person's first</a:t>
            </a:r>
          </a:p>
          <a:p>
            <a:r>
              <a:t>stretch or remedial task and is never shown to the room. The support TA handles Codespace problems</a:t>
            </a:r>
          </a:p>
          <a:p>
            <a:r>
              <a:t>only; a question about the method gets "what would you check?" and nothing more.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Everyone opens both files now and runs the first cell before the clock starts, so a</a:t>
            </a:r>
          </a:p>
          <a:p>
            <a:r>
              <a:t>Codespace problem is found in the ten minutes of terms and never inside the lab.</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clock starts when the next slide goes up. Leave S9 on screen for the whole lab, and change</a:t>
            </a:r>
          </a:p>
          <a:p>
            <a:r>
              <a:t>nothing on the projector until the 120-minute mark.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whole lab. At each mark the TAs walk their rows with the observation sheet and record the</a:t>
            </a:r>
          </a:p>
          <a:p>
            <a:r>
              <a:t>step each learner is on, without a word. Say nothing to the room except the time remaining at 60,</a:t>
            </a:r>
          </a:p>
          <a:p>
            <a:r>
              <a:t>90 and 110 minutes. Answer a method question with "what would you check?"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The TAs copy each learner's output folder at the 120-minute mark before anyone</a:t>
            </a:r>
          </a:p>
          <a:p>
            <a:r>
              <a:t>edits it; that snapshot is what the observation sheet records. Then read this slide aloud. Most of</a:t>
            </a:r>
          </a:p>
          <a:p>
            <a:r>
              <a:t>the room will find its first real number here. Do not comment on anybody's result until the</a:t>
            </a:r>
          </a:p>
          <a:p>
            <a:r>
              <a:t>debrief.</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then the ten-minute break. The debrief's first chapter, the reconciliation, runs for</a:t>
            </a:r>
          </a:p>
          <a:p>
            <a:r>
              <a:t>twenty minutes after the break and closes the morning. Over lunch the TAs total the observation</a:t>
            </a:r>
          </a:p>
          <a:p>
            <a:r>
              <a:t>sheets by step; all three chapters run whatever the tally says, and it decides where the trainer</a:t>
            </a:r>
          </a:p>
          <a:p>
            <a:r>
              <a:t>lingers and which reserve slide runs live.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5.png"/><Relationship Id="rId6"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951822"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FRIDAY  ·  THE AI-FREE LAB</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Can you rebuild the week alone?</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“Before anything goes to Meera, rebuild the week from a raw export with no assistant and no notes.”</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Kavya Nair, senior analyst, Kalpa Retail data team, to the trainees at Kalpa's Global Capability Centre</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425035" cy="185166"/>
          </a:xfrm>
          <a:prstGeom prst="rect">
            <a:avLst/>
          </a:prstGeom>
          <a:noFill/>
        </p:spPr>
        <p:txBody>
          <a:bodyPr wrap="square" anchor="t" lIns="0" rIns="0" tIns="0" bIns="0">
            <a:spAutoFit/>
          </a:bodyPr>
          <a:lstStyle/>
          <a:p>
            <a:pPr algn="l"/>
            <a:r>
              <a:rPr sz="900" b="0" i="0">
                <a:solidFill>
                  <a:srgbClr val="FFFFFF"/>
                </a:solidFill>
                <a:latin typeface="Calibri"/>
              </a:rPr>
              <a:t>Why rebuild it alone?</a:t>
            </a:r>
          </a:p>
        </p:txBody>
      </p:sp>
      <p:sp>
        <p:nvSpPr>
          <p:cNvPr id="13" name="TextBox 12"/>
          <p:cNvSpPr txBox="1"/>
          <p:nvPr/>
        </p:nvSpPr>
        <p:spPr>
          <a:xfrm>
            <a:off x="2613755"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997803" y="5248656"/>
            <a:ext cx="1425035" cy="185166"/>
          </a:xfrm>
          <a:prstGeom prst="rect">
            <a:avLst/>
          </a:prstGeom>
          <a:noFill/>
        </p:spPr>
        <p:txBody>
          <a:bodyPr wrap="square" anchor="t" lIns="0" rIns="0" tIns="0" bIns="0">
            <a:spAutoFit/>
          </a:bodyPr>
          <a:lstStyle/>
          <a:p>
            <a:pPr algn="l"/>
            <a:r>
              <a:rPr sz="900" b="0" i="0">
                <a:solidFill>
                  <a:srgbClr val="FFFFFF"/>
                </a:solidFill>
                <a:latin typeface="Calibri"/>
              </a:rPr>
              <a:t>Can you run it alone?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Can you rebuild the week alone?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14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question for the whole day, in five parts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you rebuild the week alone on a raw export, and hold your note when Marketing pushes?</a:t>
            </a:r>
          </a:p>
        </p:txBody>
      </p:sp>
      <p:sp>
        <p:nvSpPr>
          <p:cNvPr id="9" name="Rectangle 8"/>
          <p:cNvSpPr/>
          <p:nvPr/>
        </p:nvSpPr>
        <p:spPr>
          <a:xfrm>
            <a:off x="1570299" y="2523744"/>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THE LAB</a:t>
            </a:r>
          </a:p>
        </p:txBody>
      </p:sp>
      <p:sp>
        <p:nvSpPr>
          <p:cNvPr id="11" name="Oval 10"/>
          <p:cNvSpPr/>
          <p:nvPr/>
        </p:nvSpPr>
        <p:spPr>
          <a:xfrm>
            <a:off x="146971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750710" cy="465836"/>
          </a:xfrm>
          <a:prstGeom prst="rect">
            <a:avLst/>
          </a:prstGeom>
          <a:noFill/>
        </p:spPr>
        <p:txBody>
          <a:bodyPr wrap="square" anchor="t" lIns="0" rIns="0" tIns="0" bIns="0">
            <a:spAutoFit/>
          </a:bodyPr>
          <a:lstStyle/>
          <a:p>
            <a:pPr algn="l"/>
            <a:r>
              <a:rPr sz="1300" b="1" i="0">
                <a:solidFill>
                  <a:srgbClr val="1A0F5C"/>
                </a:solidFill>
                <a:latin typeface="Calibri"/>
              </a:rPr>
              <a:t>Can you run it alone?</a:t>
            </a:r>
          </a:p>
        </p:txBody>
      </p:sp>
      <p:sp>
        <p:nvSpPr>
          <p:cNvPr id="14" name="TextBox 13"/>
          <p:cNvSpPr txBox="1"/>
          <p:nvPr/>
        </p:nvSpPr>
        <p:spPr>
          <a:xfrm>
            <a:off x="694944" y="3492500"/>
            <a:ext cx="1750710" cy="531876"/>
          </a:xfrm>
          <a:prstGeom prst="rect">
            <a:avLst/>
          </a:prstGeom>
          <a:noFill/>
        </p:spPr>
        <p:txBody>
          <a:bodyPr wrap="square" anchor="t" lIns="0" rIns="0" tIns="0" bIns="0">
            <a:spAutoFit/>
          </a:bodyPr>
          <a:lstStyle/>
          <a:p>
            <a:pPr algn="l"/>
            <a:r>
              <a:rPr sz="1000" b="0" i="0">
                <a:solidFill>
                  <a:srgbClr val="6B6690"/>
                </a:solidFill>
                <a:latin typeface="Calibri"/>
              </a:rPr>
              <a:t>The week's method on an export you have not seen, 150 minutes.</a:t>
            </a:r>
          </a:p>
        </p:txBody>
      </p:sp>
      <p:sp>
        <p:nvSpPr>
          <p:cNvPr id="15" name="TextBox 14"/>
          <p:cNvSpPr txBox="1"/>
          <p:nvPr/>
        </p:nvSpPr>
        <p:spPr>
          <a:xfrm>
            <a:off x="2793126"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THE DEBRIEF</a:t>
            </a:r>
          </a:p>
        </p:txBody>
      </p:sp>
      <p:sp>
        <p:nvSpPr>
          <p:cNvPr id="16" name="Oval 15"/>
          <p:cNvSpPr/>
          <p:nvPr/>
        </p:nvSpPr>
        <p:spPr>
          <a:xfrm>
            <a:off x="373248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793126"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57718"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Where did it break?</a:t>
            </a:r>
          </a:p>
        </p:txBody>
      </p:sp>
      <p:sp>
        <p:nvSpPr>
          <p:cNvPr id="19" name="TextBox 18"/>
          <p:cNvSpPr txBox="1"/>
          <p:nvPr/>
        </p:nvSpPr>
        <p:spPr>
          <a:xfrm>
            <a:off x="2957718" y="3277870"/>
            <a:ext cx="1750710" cy="366776"/>
          </a:xfrm>
          <a:prstGeom prst="rect">
            <a:avLst/>
          </a:prstGeom>
          <a:noFill/>
        </p:spPr>
        <p:txBody>
          <a:bodyPr wrap="square" anchor="t" lIns="0" rIns="0" tIns="0" bIns="0">
            <a:spAutoFit/>
          </a:bodyPr>
          <a:lstStyle/>
          <a:p>
            <a:pPr algn="l"/>
            <a:r>
              <a:rPr sz="1000" b="0" i="0">
                <a:solidFill>
                  <a:srgbClr val="6B6690"/>
                </a:solidFill>
                <a:latin typeface="Calibri"/>
              </a:rPr>
              <a:t>Three chapters, one per place most rooms break.</a:t>
            </a:r>
          </a:p>
        </p:txBody>
      </p:sp>
      <p:sp>
        <p:nvSpPr>
          <p:cNvPr id="20" name="TextBox 19"/>
          <p:cNvSpPr txBox="1"/>
          <p:nvPr/>
        </p:nvSpPr>
        <p:spPr>
          <a:xfrm>
            <a:off x="5055900"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THE REHEARSAL</a:t>
            </a:r>
          </a:p>
        </p:txBody>
      </p:sp>
      <p:sp>
        <p:nvSpPr>
          <p:cNvPr id="21" name="Oval 20"/>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055900"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220492"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Does the note hold?</a:t>
            </a:r>
          </a:p>
        </p:txBody>
      </p:sp>
      <p:sp>
        <p:nvSpPr>
          <p:cNvPr id="24" name="TextBox 23"/>
          <p:cNvSpPr txBox="1"/>
          <p:nvPr/>
        </p:nvSpPr>
        <p:spPr>
          <a:xfrm>
            <a:off x="5220492" y="3277870"/>
            <a:ext cx="1750710" cy="366776"/>
          </a:xfrm>
          <a:prstGeom prst="rect">
            <a:avLst/>
          </a:prstGeom>
          <a:noFill/>
        </p:spPr>
        <p:txBody>
          <a:bodyPr wrap="square" anchor="t" lIns="0" rIns="0" tIns="0" bIns="0">
            <a:spAutoFit/>
          </a:bodyPr>
          <a:lstStyle/>
          <a:p>
            <a:pPr algn="l"/>
            <a:r>
              <a:rPr sz="1000" b="0" i="0">
                <a:solidFill>
                  <a:srgbClr val="6B6690"/>
                </a:solidFill>
                <a:latin typeface="Calibri"/>
              </a:rPr>
              <a:t>Thursday's note, defended against Marketing.</a:t>
            </a:r>
          </a:p>
        </p:txBody>
      </p:sp>
      <p:sp>
        <p:nvSpPr>
          <p:cNvPr id="25" name="TextBox 24"/>
          <p:cNvSpPr txBox="1"/>
          <p:nvPr/>
        </p:nvSpPr>
        <p:spPr>
          <a:xfrm>
            <a:off x="7318674"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THE CASES</a:t>
            </a:r>
          </a:p>
        </p:txBody>
      </p:sp>
      <p:sp>
        <p:nvSpPr>
          <p:cNvPr id="26" name="Oval 25"/>
          <p:cNvSpPr/>
          <p:nvPr/>
        </p:nvSpPr>
        <p:spPr>
          <a:xfrm>
            <a:off x="825803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7318674"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483266"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Which approach fits?</a:t>
            </a:r>
          </a:p>
        </p:txBody>
      </p:sp>
      <p:sp>
        <p:nvSpPr>
          <p:cNvPr id="29" name="TextBox 28"/>
          <p:cNvSpPr txBox="1"/>
          <p:nvPr/>
        </p:nvSpPr>
        <p:spPr>
          <a:xfrm>
            <a:off x="7483266" y="3277870"/>
            <a:ext cx="1750710" cy="366776"/>
          </a:xfrm>
          <a:prstGeom prst="rect">
            <a:avLst/>
          </a:prstGeom>
          <a:noFill/>
        </p:spPr>
        <p:txBody>
          <a:bodyPr wrap="square" anchor="t" lIns="0" rIns="0" tIns="0" bIns="0">
            <a:spAutoFit/>
          </a:bodyPr>
          <a:lstStyle/>
          <a:p>
            <a:pPr algn="l"/>
            <a:r>
              <a:rPr sz="1000" b="0" i="0">
                <a:solidFill>
                  <a:srgbClr val="6B6690"/>
                </a:solidFill>
                <a:latin typeface="Calibri"/>
              </a:rPr>
              <a:t>Three timed design cases, answered aloud.</a:t>
            </a:r>
          </a:p>
        </p:txBody>
      </p:sp>
      <p:sp>
        <p:nvSpPr>
          <p:cNvPr id="30" name="TextBox 29"/>
          <p:cNvSpPr txBox="1"/>
          <p:nvPr/>
        </p:nvSpPr>
        <p:spPr>
          <a:xfrm>
            <a:off x="9581448"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THE CLOSE</a:t>
            </a:r>
          </a:p>
        </p:txBody>
      </p:sp>
      <p:sp>
        <p:nvSpPr>
          <p:cNvPr id="31" name="Oval 30"/>
          <p:cNvSpPr/>
          <p:nvPr/>
        </p:nvSpPr>
        <p:spPr>
          <a:xfrm>
            <a:off x="10520812"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9581448" y="2843784"/>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746040" y="2990088"/>
            <a:ext cx="1750710" cy="251205"/>
          </a:xfrm>
          <a:prstGeom prst="rect">
            <a:avLst/>
          </a:prstGeom>
          <a:noFill/>
        </p:spPr>
        <p:txBody>
          <a:bodyPr wrap="square" anchor="t" lIns="0" rIns="0" tIns="0" bIns="0">
            <a:spAutoFit/>
          </a:bodyPr>
          <a:lstStyle/>
          <a:p>
            <a:pPr algn="l"/>
            <a:r>
              <a:rPr sz="1300" b="1" i="0">
                <a:solidFill>
                  <a:srgbClr val="FFFFFF"/>
                </a:solidFill>
                <a:latin typeface="Calibri"/>
              </a:rPr>
              <a:t>What is yours now?</a:t>
            </a:r>
          </a:p>
        </p:txBody>
      </p:sp>
      <p:sp>
        <p:nvSpPr>
          <p:cNvPr id="34" name="TextBox 33"/>
          <p:cNvSpPr txBox="1"/>
          <p:nvPr/>
        </p:nvSpPr>
        <p:spPr>
          <a:xfrm>
            <a:off x="9746040" y="3277870"/>
            <a:ext cx="1750710" cy="366776"/>
          </a:xfrm>
          <a:prstGeom prst="rect">
            <a:avLst/>
          </a:prstGeom>
          <a:noFill/>
        </p:spPr>
        <p:txBody>
          <a:bodyPr wrap="square" anchor="t" lIns="0" rIns="0" tIns="0" bIns="0">
            <a:spAutoFit/>
          </a:bodyPr>
          <a:lstStyle/>
          <a:p>
            <a:pPr algn="l"/>
            <a:r>
              <a:rPr sz="1000" b="0" i="0">
                <a:solidFill>
                  <a:srgbClr val="CFC9EE"/>
                </a:solidFill>
                <a:latin typeface="Calibri"/>
              </a:rPr>
              <a:t>The Kahoot, Saturday's paper and tonight's rerun.</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Why rebuild it alone?</a:t>
            </a:r>
          </a:p>
        </p:txBody>
      </p:sp>
      <p:sp>
        <p:nvSpPr>
          <p:cNvPr id="37" name="Oval 3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run it alone?</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14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Why rebuild it alone?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Why does Kavya want the week rebuilt alone before Monday, and on what terms?</a:t>
            </a:r>
          </a:p>
        </p:txBody>
      </p:sp>
      <p:sp>
        <p:nvSpPr>
          <p:cNvPr id="10" name="Rounded Rectangle 9"/>
          <p:cNvSpPr/>
          <p:nvPr/>
        </p:nvSpPr>
        <p:spPr>
          <a:xfrm>
            <a:off x="731519"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Why rebuild it alone?</a:t>
            </a:r>
          </a:p>
        </p:txBody>
      </p:sp>
      <p:sp>
        <p:nvSpPr>
          <p:cNvPr id="11" name="Rounded Rectangle 10"/>
          <p:cNvSpPr/>
          <p:nvPr/>
        </p:nvSpPr>
        <p:spPr>
          <a:xfrm>
            <a:off x="2450543"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run it alone?</a:t>
            </a:r>
          </a:p>
        </p:txBody>
      </p:sp>
      <p:sp>
        <p:nvSpPr>
          <p:cNvPr id="12" name="TextBox 1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Can you rebuild the week alone?</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 / 14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four questions, in ten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smaller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Kavya Nair, before Monday's growth review: Meera acts on a note only when the person who wrote it can rebuild every number in it, and Marketing will be in the room.</a:t>
            </a:r>
          </a:p>
        </p:txBody>
      </p:sp>
      <p:sp>
        <p:nvSpPr>
          <p:cNvPr id="12" name="Rectangle 11"/>
          <p:cNvSpPr/>
          <p:nvPr/>
        </p:nvSpPr>
        <p:spPr>
          <a:xfrm>
            <a:off x="1853145" y="34960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75256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Who decides on Monday?</a:t>
            </a:r>
          </a:p>
        </p:txBody>
      </p:sp>
      <p:sp>
        <p:nvSpPr>
          <p:cNvPr id="17" name="TextBox 16"/>
          <p:cNvSpPr txBox="1"/>
          <p:nvPr/>
        </p:nvSpPr>
        <p:spPr>
          <a:xfrm>
            <a:off x="694944" y="4250182"/>
            <a:ext cx="2316403" cy="201676"/>
          </a:xfrm>
          <a:prstGeom prst="rect">
            <a:avLst/>
          </a:prstGeom>
          <a:noFill/>
        </p:spPr>
        <p:txBody>
          <a:bodyPr wrap="square" anchor="t" lIns="0" rIns="0" tIns="0" bIns="0">
            <a:spAutoFit/>
          </a:bodyPr>
          <a:lstStyle/>
          <a:p>
            <a:pPr algn="l"/>
            <a:r>
              <a:rPr sz="1000" b="0" i="0">
                <a:solidFill>
                  <a:srgbClr val="6B6690"/>
                </a:solidFill>
                <a:latin typeface="Calibri"/>
              </a:rPr>
              <a:t>And on what.</a:t>
            </a:r>
          </a:p>
        </p:txBody>
      </p:sp>
      <p:sp>
        <p:nvSpPr>
          <p:cNvPr id="18" name="TextBox 17"/>
          <p:cNvSpPr txBox="1"/>
          <p:nvPr/>
        </p:nvSpPr>
        <p:spPr>
          <a:xfrm>
            <a:off x="3358819"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458102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3816096"/>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In what order does it run?</a:t>
            </a:r>
          </a:p>
        </p:txBody>
      </p:sp>
      <p:sp>
        <p:nvSpPr>
          <p:cNvPr id="22" name="TextBox 21"/>
          <p:cNvSpPr txBox="1"/>
          <p:nvPr/>
        </p:nvSpPr>
        <p:spPr>
          <a:xfrm>
            <a:off x="3523411" y="4250182"/>
            <a:ext cx="2316403" cy="201676"/>
          </a:xfrm>
          <a:prstGeom prst="rect">
            <a:avLst/>
          </a:prstGeom>
          <a:noFill/>
        </p:spPr>
        <p:txBody>
          <a:bodyPr wrap="square" anchor="t" lIns="0" rIns="0" tIns="0" bIns="0">
            <a:spAutoFit/>
          </a:bodyPr>
          <a:lstStyle/>
          <a:p>
            <a:pPr algn="l"/>
            <a:r>
              <a:rPr sz="1000" b="0" i="0">
                <a:solidFill>
                  <a:srgbClr val="6B6690"/>
                </a:solidFill>
                <a:latin typeface="Calibri"/>
              </a:rPr>
              <a:t>The week's method, one picture.</a:t>
            </a:r>
          </a:p>
        </p:txBody>
      </p:sp>
      <p:sp>
        <p:nvSpPr>
          <p:cNvPr id="23" name="TextBox 22"/>
          <p:cNvSpPr txBox="1"/>
          <p:nvPr/>
        </p:nvSpPr>
        <p:spPr>
          <a:xfrm>
            <a:off x="6187287"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740949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3816096"/>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 you open first?</a:t>
            </a:r>
          </a:p>
        </p:txBody>
      </p:sp>
      <p:sp>
        <p:nvSpPr>
          <p:cNvPr id="27" name="TextBox 26"/>
          <p:cNvSpPr txBox="1"/>
          <p:nvPr/>
        </p:nvSpPr>
        <p:spPr>
          <a:xfrm>
            <a:off x="6351879" y="4250182"/>
            <a:ext cx="2316403" cy="201676"/>
          </a:xfrm>
          <a:prstGeom prst="rect">
            <a:avLst/>
          </a:prstGeom>
          <a:noFill/>
        </p:spPr>
        <p:txBody>
          <a:bodyPr wrap="square" anchor="t" lIns="0" rIns="0" tIns="0" bIns="0">
            <a:spAutoFit/>
          </a:bodyPr>
          <a:lstStyle/>
          <a:p>
            <a:pPr algn="l"/>
            <a:r>
              <a:rPr sz="1000" b="0" i="0">
                <a:solidFill>
                  <a:srgbClr val="6B6690"/>
                </a:solidFill>
                <a:latin typeface="Calibri"/>
              </a:rPr>
              <a:t>The first ten minutes.</a:t>
            </a:r>
          </a:p>
        </p:txBody>
      </p:sp>
      <p:sp>
        <p:nvSpPr>
          <p:cNvPr id="28" name="TextBox 27"/>
          <p:cNvSpPr txBox="1"/>
          <p:nvPr/>
        </p:nvSpPr>
        <p:spPr>
          <a:xfrm>
            <a:off x="9015755"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10237965"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3816096"/>
            <a:ext cx="2645587" cy="90424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3962400"/>
            <a:ext cx="2316403" cy="251205"/>
          </a:xfrm>
          <a:prstGeom prst="rect">
            <a:avLst/>
          </a:prstGeom>
          <a:noFill/>
        </p:spPr>
        <p:txBody>
          <a:bodyPr wrap="square" anchor="t" lIns="0" rIns="0" tIns="0" bIns="0">
            <a:spAutoFit/>
          </a:bodyPr>
          <a:lstStyle/>
          <a:p>
            <a:pPr algn="l"/>
            <a:r>
              <a:rPr sz="1300" b="1" i="0">
                <a:solidFill>
                  <a:srgbClr val="FFFFFF"/>
                </a:solidFill>
                <a:latin typeface="Calibri"/>
              </a:rPr>
              <a:t>What are the terms?</a:t>
            </a:r>
          </a:p>
        </p:txBody>
      </p:sp>
      <p:sp>
        <p:nvSpPr>
          <p:cNvPr id="32" name="TextBox 31"/>
          <p:cNvSpPr txBox="1"/>
          <p:nvPr/>
        </p:nvSpPr>
        <p:spPr>
          <a:xfrm>
            <a:off x="9180347" y="4250182"/>
            <a:ext cx="2316403" cy="201676"/>
          </a:xfrm>
          <a:prstGeom prst="rect">
            <a:avLst/>
          </a:prstGeom>
          <a:noFill/>
        </p:spPr>
        <p:txBody>
          <a:bodyPr wrap="square" anchor="t" lIns="0" rIns="0" tIns="0" bIns="0">
            <a:spAutoFit/>
          </a:bodyPr>
          <a:lstStyle/>
          <a:p>
            <a:pPr algn="l"/>
            <a:r>
              <a:rPr sz="1000" b="0" i="0">
                <a:solidFill>
                  <a:srgbClr val="CFC9EE"/>
                </a:solidFill>
                <a:latin typeface="Calibri"/>
              </a:rPr>
              <a:t>The rules and the hand-in.</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Why rebuild it alone?</a:t>
            </a:r>
          </a:p>
        </p:txBody>
      </p:sp>
      <p:sp>
        <p:nvSpPr>
          <p:cNvPr id="35" name="Oval 3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run it alone?</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14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Monday's room decides on what you can run alone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decides on Monday, and what will they act on?</a:t>
            </a:r>
          </a:p>
        </p:txBody>
      </p:sp>
      <p:pic>
        <p:nvPicPr>
          <p:cNvPr id="9" name="mermaid diagram" descr="7f3dff1c4fe1c126.png"/>
          <p:cNvPicPr>
            <a:picLocks noChangeAspect="1"/>
          </p:cNvPicPr>
          <p:nvPr/>
        </p:nvPicPr>
        <p:blipFill>
          <a:blip r:embed="rId6"/>
          <a:stretch>
            <a:fillRect/>
          </a:stretch>
        </p:blipFill>
        <p:spPr>
          <a:xfrm>
            <a:off x="780897" y="1847850"/>
            <a:ext cx="10629900" cy="2400300"/>
          </a:xfrm>
          <a:prstGeom prst="rect">
            <a:avLst/>
          </a:prstGeom>
        </p:spPr>
      </p:pic>
      <p:sp>
        <p:nvSpPr>
          <p:cNvPr id="10" name="Rounded Rectangle 9"/>
          <p:cNvSpPr/>
          <p:nvPr/>
        </p:nvSpPr>
        <p:spPr>
          <a:xfrm>
            <a:off x="530352" y="4394454"/>
            <a:ext cx="11130991" cy="163982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98576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essage-square_028dbd132a0a.png"/>
          <p:cNvPicPr>
            <a:picLocks noChangeAspect="1"/>
          </p:cNvPicPr>
          <p:nvPr/>
        </p:nvPicPr>
        <p:blipFill>
          <a:blip r:embed="rId5"/>
          <a:stretch>
            <a:fillRect/>
          </a:stretch>
        </p:blipFill>
        <p:spPr>
          <a:xfrm>
            <a:off x="868680" y="5095494"/>
            <a:ext cx="237744" cy="237744"/>
          </a:xfrm>
          <a:prstGeom prst="rect">
            <a:avLst/>
          </a:prstGeom>
        </p:spPr>
      </p:pic>
      <p:sp>
        <p:nvSpPr>
          <p:cNvPr id="13" name="TextBox 12"/>
          <p:cNvSpPr txBox="1"/>
          <p:nvPr/>
        </p:nvSpPr>
        <p:spPr>
          <a:xfrm>
            <a:off x="1399031" y="4540758"/>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4" name="TextBox 13"/>
          <p:cNvSpPr txBox="1"/>
          <p:nvPr/>
        </p:nvSpPr>
        <p:spPr>
          <a:xfrm>
            <a:off x="1399031" y="4760214"/>
            <a:ext cx="9987991" cy="1200912"/>
          </a:xfrm>
          <a:prstGeom prst="rect">
            <a:avLst/>
          </a:prstGeom>
          <a:noFill/>
        </p:spPr>
        <p:txBody>
          <a:bodyPr wrap="square" anchor="t" lIns="0" rIns="0" tIns="0" bIns="0">
            <a:spAutoFit/>
          </a:bodyPr>
          <a:lstStyle/>
          <a:p>
            <a:r>
              <a:rPr sz="1500" b="0" i="0">
                <a:solidFill>
                  <a:srgbClr val="FFFFFF"/>
                </a:solidFill>
                <a:latin typeface="Calibri"/>
              </a:rPr>
              <a:t>Which branch of the revenue tree moved booked revenue from Q1 to Q2, in which segment, and does the number tie to Anand's control totals? A first line that does not tie to his books is sent back, and a misread branch sends Monday's effort to the wrong team, while Marketing's Rs 12 crore request waits on the answer.</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Why rebuild it alone?</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run it alone?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steps, each built on a day of this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what order does the week's method run, and why that order?</a:t>
            </a:r>
          </a:p>
        </p:txBody>
      </p:sp>
      <p:pic>
        <p:nvPicPr>
          <p:cNvPr id="9" name="mermaid diagram" descr="600f677d232151b1.png"/>
          <p:cNvPicPr>
            <a:picLocks noChangeAspect="1"/>
          </p:cNvPicPr>
          <p:nvPr/>
        </p:nvPicPr>
        <p:blipFill>
          <a:blip r:embed="rId5"/>
          <a:stretch>
            <a:fillRect/>
          </a:stretch>
        </p:blipFill>
        <p:spPr>
          <a:xfrm>
            <a:off x="530352" y="1956816"/>
            <a:ext cx="11130991" cy="937450"/>
          </a:xfrm>
          <a:prstGeom prst="rect">
            <a:avLst/>
          </a:prstGeom>
        </p:spPr>
      </p:pic>
      <p:sp>
        <p:nvSpPr>
          <p:cNvPr id="10" name="TextBox 9"/>
          <p:cNvSpPr txBox="1"/>
          <p:nvPr/>
        </p:nvSpPr>
        <p:spPr>
          <a:xfrm>
            <a:off x="530352" y="304057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step answers a question the next one depends on: whether the file is what it claims, which rows count, whether the clean data is still the same data, which branch moved, whether chance could do it, and what Meera should do.</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Why rebuild it alone?</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run it alone?</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 you open first on a fresh export?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hours, a raw file and a stakeholder waiting: where do the first ten minutes go?</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the quarter totals, so Meera has a number early; b) a profile of every field, before any number; c) the segment split, because that is where last week's finding sat; d) the notebook from Wednesday, to reuse its cleaning code.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Why rebuild it alone?</a:t>
            </a:r>
          </a:p>
        </p:txBody>
      </p:sp>
      <p:sp>
        <p:nvSpPr>
          <p:cNvPr id="14" name="Oval 1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run it alone?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14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profile, before any number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the profile come before any total?</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COUNTS PER FIELD</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present, convertible, distinct</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FINDING PER MISMATCH</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each count that disagrees with the field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NUMBERS QUOTED</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until the profile is read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earch-check_6571e64a041f.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A profile costs twenty minutes and tells you which of the next hundred you will spend on repairs. Skipping it moves the repairs to Monday, in front of Marketing.</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Why rebuild it alone?</a:t>
            </a:r>
          </a:p>
        </p:txBody>
      </p:sp>
      <p:sp>
        <p:nvSpPr>
          <p:cNvPr id="28" name="Oval 27"/>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run it alone?</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14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and no score on any wall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are the lab's rules, and why is it observed without a score?</a:t>
            </a:r>
          </a:p>
        </p:txBody>
      </p:sp>
      <p:sp>
        <p:nvSpPr>
          <p:cNvPr id="9" name="Rounded Rectangle 8"/>
          <p:cNvSpPr/>
          <p:nvPr/>
        </p:nvSpPr>
        <p:spPr>
          <a:xfrm>
            <a:off x="530352"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ot-off_476ef9dbbf65.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RULE 1</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No assistant</a:t>
            </a:r>
          </a:p>
        </p:txBody>
      </p:sp>
      <p:sp>
        <p:nvSpPr>
          <p:cNvPr id="14" name="TextBox 13"/>
          <p:cNvSpPr txBox="1"/>
          <p:nvPr/>
        </p:nvSpPr>
        <p:spPr>
          <a:xfrm>
            <a:off x="731519"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No chat model, no autocomplete that writes code, no search for code.</a:t>
            </a:r>
          </a:p>
        </p:txBody>
      </p:sp>
      <p:sp>
        <p:nvSpPr>
          <p:cNvPr id="15" name="Rounded Rectangle 14"/>
          <p:cNvSpPr/>
          <p:nvPr/>
        </p:nvSpPr>
        <p:spPr>
          <a:xfrm>
            <a:off x="3358819"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book-x_85577d4b193a.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RULE 2</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Notes closed</a:t>
            </a:r>
          </a:p>
        </p:txBody>
      </p:sp>
      <p:sp>
        <p:nvSpPr>
          <p:cNvPr id="20" name="TextBox 19"/>
          <p:cNvSpPr txBox="1"/>
          <p:nvPr/>
        </p:nvSpPr>
        <p:spPr>
          <a:xfrm>
            <a:off x="3559987"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No other notebook in notebooks/, and no deck or cheat sheet, open on any screen.</a:t>
            </a:r>
          </a:p>
        </p:txBody>
      </p:sp>
      <p:sp>
        <p:nvSpPr>
          <p:cNvPr id="21" name="Rounded Rectangle 20"/>
          <p:cNvSpPr/>
          <p:nvPr/>
        </p:nvSpPr>
        <p:spPr>
          <a:xfrm>
            <a:off x="6187287"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imer_398117c312b8.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RULE 3</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120 minutes</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clock runs once; save as you go and hand in what you have.</a:t>
            </a:r>
          </a:p>
        </p:txBody>
      </p:sp>
      <p:sp>
        <p:nvSpPr>
          <p:cNvPr id="27" name="Rounded Rectangle 26"/>
          <p:cNvSpPr/>
          <p:nvPr/>
        </p:nvSpPr>
        <p:spPr>
          <a:xfrm>
            <a:off x="9015755"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eye_6af225eae812.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RULE 4</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Observed, with no score</a:t>
            </a:r>
          </a:p>
        </p:txBody>
      </p:sp>
      <p:sp>
        <p:nvSpPr>
          <p:cNvPr id="32" name="TextBox 31"/>
          <p:cNvSpPr txBox="1"/>
          <p:nvPr/>
        </p:nvSpPr>
        <p:spPr>
          <a:xfrm>
            <a:off x="9216923"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A TA notes where each person is at each mark; nothing goes on a wall.</a:t>
            </a:r>
          </a:p>
        </p:txBody>
      </p:sp>
      <p:sp>
        <p:nvSpPr>
          <p:cNvPr id="33" name="Rounded Rectangle 32"/>
          <p:cNvSpPr/>
          <p:nvPr/>
        </p:nvSpPr>
        <p:spPr>
          <a:xfrm>
            <a:off x="530352" y="429412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Oval 33"/>
          <p:cNvSpPr/>
          <p:nvPr/>
        </p:nvSpPr>
        <p:spPr>
          <a:xfrm>
            <a:off x="758952" y="46263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5" name="Picture 34" descr="list-checks_bd88901d2a37.png"/>
          <p:cNvPicPr>
            <a:picLocks noChangeAspect="1"/>
          </p:cNvPicPr>
          <p:nvPr/>
        </p:nvPicPr>
        <p:blipFill>
          <a:blip r:embed="rId8"/>
          <a:stretch>
            <a:fillRect/>
          </a:stretch>
        </p:blipFill>
        <p:spPr>
          <a:xfrm>
            <a:off x="868680" y="4736084"/>
            <a:ext cx="237744" cy="237744"/>
          </a:xfrm>
          <a:prstGeom prst="rect">
            <a:avLst/>
          </a:prstGeom>
        </p:spPr>
      </p:pic>
      <p:sp>
        <p:nvSpPr>
          <p:cNvPr id="36" name="TextBox 35"/>
          <p:cNvSpPr txBox="1"/>
          <p:nvPr/>
        </p:nvSpPr>
        <p:spPr>
          <a:xfrm>
            <a:off x="1399031" y="44404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37" name="TextBox 36"/>
          <p:cNvSpPr txBox="1"/>
          <p:nvPr/>
        </p:nvSpPr>
        <p:spPr>
          <a:xfrm>
            <a:off x="1399031" y="4659884"/>
            <a:ext cx="9987991" cy="682752"/>
          </a:xfrm>
          <a:prstGeom prst="rect">
            <a:avLst/>
          </a:prstGeom>
          <a:noFill/>
        </p:spPr>
        <p:txBody>
          <a:bodyPr wrap="square" anchor="t" lIns="0" rIns="0" tIns="0" bIns="0">
            <a:spAutoFit/>
          </a:bodyPr>
          <a:lstStyle/>
          <a:p>
            <a:r>
              <a:rPr sz="1500" b="0" i="0">
                <a:solidFill>
                  <a:srgbClr val="1A1440"/>
                </a:solidFill>
                <a:latin typeface="Calibri"/>
              </a:rPr>
              <a:t>Python's own documentation, reached from the notebook with help(), is allowed, because an analyst on the job has it too.</a:t>
            </a:r>
          </a:p>
        </p:txBody>
      </p:sp>
      <p:sp>
        <p:nvSpPr>
          <p:cNvPr id="38" name="Oval 3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Why rebuild it alone?</a:t>
            </a:r>
          </a:p>
        </p:txBody>
      </p:sp>
      <p:sp>
        <p:nvSpPr>
          <p:cNvPr id="40" name="Oval 39"/>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run it alone?</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14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files, written by the notebook's last cell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you hand in, and where does it go?</a:t>
            </a:r>
          </a:p>
        </p:txBody>
      </p:sp>
      <p:pic>
        <p:nvPicPr>
          <p:cNvPr id="9" name="mermaid diagram" descr="595bcb46c6418f8d.png"/>
          <p:cNvPicPr>
            <a:picLocks noChangeAspect="1"/>
          </p:cNvPicPr>
          <p:nvPr/>
        </p:nvPicPr>
        <p:blipFill>
          <a:blip r:embed="rId5"/>
          <a:stretch>
            <a:fillRect/>
          </a:stretch>
        </p:blipFill>
        <p:spPr>
          <a:xfrm>
            <a:off x="701972" y="1682496"/>
            <a:ext cx="4443084" cy="4517136"/>
          </a:xfrm>
          <a:prstGeom prst="rect">
            <a:avLst/>
          </a:prstGeom>
        </p:spPr>
      </p:pic>
      <p:sp>
        <p:nvSpPr>
          <p:cNvPr id="10" name="TextBox 9"/>
          <p:cNvSpPr txBox="1"/>
          <p:nvPr/>
        </p:nvSpPr>
        <p:spPr>
          <a:xfrm>
            <a:off x="5761917" y="1956816"/>
            <a:ext cx="5899425" cy="160121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three files land in notebooks/output/ as clean_orders.csv, decisions_log.csv and note.md. Open notebooks/C2_W01_D05_lab_STUDENT.ipynb and exercises/unguided/C2_W01_D05_lab_brief_STUDENT.md now; the export and Finance's control totals load in the first cell.</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Why rebuild it alone?</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run it alone?</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14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you run it alone?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Can you take a raw export to a note Anand would sign, alone, in 120 minutes?</a:t>
            </a:r>
          </a:p>
        </p:txBody>
      </p:sp>
      <p:sp>
        <p:nvSpPr>
          <p:cNvPr id="10" name="Rounded Rectangle 9"/>
          <p:cNvSpPr/>
          <p:nvPr/>
        </p:nvSpPr>
        <p:spPr>
          <a:xfrm>
            <a:off x="73151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Why rebuild it alone?</a:t>
            </a:r>
          </a:p>
        </p:txBody>
      </p:sp>
      <p:sp>
        <p:nvSpPr>
          <p:cNvPr id="11" name="Rounded Rectangle 10"/>
          <p:cNvSpPr/>
          <p:nvPr/>
        </p:nvSpPr>
        <p:spPr>
          <a:xfrm>
            <a:off x="2450543"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you run it alone?</a:t>
            </a:r>
          </a:p>
        </p:txBody>
      </p:sp>
      <p:sp>
        <p:nvSpPr>
          <p:cNvPr id="12" name="TextBox 1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Can you rebuild the week alone?</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11 / 14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six steps, at this pace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six questions does the lab ask, and how long does each take?</a:t>
            </a:r>
          </a:p>
        </p:txBody>
      </p:sp>
      <p:sp>
        <p:nvSpPr>
          <p:cNvPr id="9" name="Rectangle 8"/>
          <p:cNvSpPr/>
          <p:nvPr/>
        </p:nvSpPr>
        <p:spPr>
          <a:xfrm>
            <a:off x="1381734" y="2523744"/>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0 TO 20</a:t>
            </a:r>
          </a:p>
        </p:txBody>
      </p:sp>
      <p:sp>
        <p:nvSpPr>
          <p:cNvPr id="11" name="Oval 10"/>
          <p:cNvSpPr/>
          <p:nvPr/>
        </p:nvSpPr>
        <p:spPr>
          <a:xfrm>
            <a:off x="1281150"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1702765"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does the file hold?</a:t>
            </a:r>
          </a:p>
        </p:txBody>
      </p:sp>
      <p:sp>
        <p:nvSpPr>
          <p:cNvPr id="14" name="TextBox 13"/>
          <p:cNvSpPr txBox="1"/>
          <p:nvPr/>
        </p:nvSpPr>
        <p:spPr>
          <a:xfrm>
            <a:off x="694944" y="3492500"/>
            <a:ext cx="1373581" cy="201676"/>
          </a:xfrm>
          <a:prstGeom prst="rect">
            <a:avLst/>
          </a:prstGeom>
          <a:noFill/>
        </p:spPr>
        <p:txBody>
          <a:bodyPr wrap="square" anchor="t" lIns="0" rIns="0" tIns="0" bIns="0">
            <a:spAutoFit/>
          </a:bodyPr>
          <a:lstStyle/>
          <a:p>
            <a:pPr algn="l"/>
            <a:r>
              <a:rPr sz="1000" b="0" i="0">
                <a:solidFill>
                  <a:srgbClr val="6B6690"/>
                </a:solidFill>
                <a:latin typeface="Calibri"/>
              </a:rPr>
              <a:t>Profile.</a:t>
            </a:r>
          </a:p>
        </p:txBody>
      </p:sp>
      <p:sp>
        <p:nvSpPr>
          <p:cNvPr id="15" name="TextBox 14"/>
          <p:cNvSpPr txBox="1"/>
          <p:nvPr/>
        </p:nvSpPr>
        <p:spPr>
          <a:xfrm>
            <a:off x="241599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20 TO 50</a:t>
            </a:r>
          </a:p>
        </p:txBody>
      </p:sp>
      <p:sp>
        <p:nvSpPr>
          <p:cNvPr id="16" name="Oval 15"/>
          <p:cNvSpPr/>
          <p:nvPr/>
        </p:nvSpPr>
        <p:spPr>
          <a:xfrm>
            <a:off x="316679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415997" y="2843784"/>
            <a:ext cx="1702765"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58058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rows count?</a:t>
            </a:r>
          </a:p>
        </p:txBody>
      </p:sp>
      <p:sp>
        <p:nvSpPr>
          <p:cNvPr id="19" name="TextBox 18"/>
          <p:cNvSpPr txBox="1"/>
          <p:nvPr/>
        </p:nvSpPr>
        <p:spPr>
          <a:xfrm>
            <a:off x="2580589" y="3492500"/>
            <a:ext cx="1373581" cy="201676"/>
          </a:xfrm>
          <a:prstGeom prst="rect">
            <a:avLst/>
          </a:prstGeom>
          <a:noFill/>
        </p:spPr>
        <p:txBody>
          <a:bodyPr wrap="square" anchor="t" lIns="0" rIns="0" tIns="0" bIns="0">
            <a:spAutoFit/>
          </a:bodyPr>
          <a:lstStyle/>
          <a:p>
            <a:pPr algn="l"/>
            <a:r>
              <a:rPr sz="1000" b="0" i="0">
                <a:solidFill>
                  <a:srgbClr val="6B6690"/>
                </a:solidFill>
                <a:latin typeface="Calibri"/>
              </a:rPr>
              <a:t>Clean, with a log.</a:t>
            </a:r>
          </a:p>
        </p:txBody>
      </p:sp>
      <p:sp>
        <p:nvSpPr>
          <p:cNvPr id="20" name="TextBox 19"/>
          <p:cNvSpPr txBox="1"/>
          <p:nvPr/>
        </p:nvSpPr>
        <p:spPr>
          <a:xfrm>
            <a:off x="430164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50 TO 65</a:t>
            </a:r>
          </a:p>
        </p:txBody>
      </p:sp>
      <p:sp>
        <p:nvSpPr>
          <p:cNvPr id="21" name="Oval 20"/>
          <p:cNvSpPr/>
          <p:nvPr/>
        </p:nvSpPr>
        <p:spPr>
          <a:xfrm>
            <a:off x="505244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4301642" y="2843784"/>
            <a:ext cx="1702765"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46623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Is it still Finance's data?</a:t>
            </a:r>
          </a:p>
        </p:txBody>
      </p:sp>
      <p:sp>
        <p:nvSpPr>
          <p:cNvPr id="24" name="TextBox 23"/>
          <p:cNvSpPr txBox="1"/>
          <p:nvPr/>
        </p:nvSpPr>
        <p:spPr>
          <a:xfrm>
            <a:off x="4466234" y="3492500"/>
            <a:ext cx="1373581" cy="201676"/>
          </a:xfrm>
          <a:prstGeom prst="rect">
            <a:avLst/>
          </a:prstGeom>
          <a:noFill/>
        </p:spPr>
        <p:txBody>
          <a:bodyPr wrap="square" anchor="t" lIns="0" rIns="0" tIns="0" bIns="0">
            <a:spAutoFit/>
          </a:bodyPr>
          <a:lstStyle/>
          <a:p>
            <a:pPr algn="l"/>
            <a:r>
              <a:rPr sz="1000" b="0" i="0">
                <a:solidFill>
                  <a:srgbClr val="6B6690"/>
                </a:solidFill>
                <a:latin typeface="Calibri"/>
              </a:rPr>
              <a:t>Reconcile.</a:t>
            </a:r>
          </a:p>
        </p:txBody>
      </p:sp>
      <p:sp>
        <p:nvSpPr>
          <p:cNvPr id="25" name="TextBox 24"/>
          <p:cNvSpPr txBox="1"/>
          <p:nvPr/>
        </p:nvSpPr>
        <p:spPr>
          <a:xfrm>
            <a:off x="618728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65 TO 90</a:t>
            </a:r>
          </a:p>
        </p:txBody>
      </p:sp>
      <p:sp>
        <p:nvSpPr>
          <p:cNvPr id="26" name="Oval 25"/>
          <p:cNvSpPr/>
          <p:nvPr/>
        </p:nvSpPr>
        <p:spPr>
          <a:xfrm>
            <a:off x="6938086"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6187287" y="2843784"/>
            <a:ext cx="1702765"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5187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branch moved?</a:t>
            </a:r>
          </a:p>
        </p:txBody>
      </p:sp>
      <p:sp>
        <p:nvSpPr>
          <p:cNvPr id="29" name="TextBox 28"/>
          <p:cNvSpPr txBox="1"/>
          <p:nvPr/>
        </p:nvSpPr>
        <p:spPr>
          <a:xfrm>
            <a:off x="6351879" y="3492500"/>
            <a:ext cx="1373581" cy="201676"/>
          </a:xfrm>
          <a:prstGeom prst="rect">
            <a:avLst/>
          </a:prstGeom>
          <a:noFill/>
        </p:spPr>
        <p:txBody>
          <a:bodyPr wrap="square" anchor="t" lIns="0" rIns="0" tIns="0" bIns="0">
            <a:spAutoFit/>
          </a:bodyPr>
          <a:lstStyle/>
          <a:p>
            <a:pPr algn="l"/>
            <a:r>
              <a:rPr sz="1000" b="0" i="0">
                <a:solidFill>
                  <a:srgbClr val="6B6690"/>
                </a:solidFill>
                <a:latin typeface="Calibri"/>
              </a:rPr>
              <a:t>Decompose.</a:t>
            </a:r>
          </a:p>
        </p:txBody>
      </p:sp>
      <p:sp>
        <p:nvSpPr>
          <p:cNvPr id="30" name="TextBox 29"/>
          <p:cNvSpPr txBox="1"/>
          <p:nvPr/>
        </p:nvSpPr>
        <p:spPr>
          <a:xfrm>
            <a:off x="807293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90 TO 105</a:t>
            </a:r>
          </a:p>
        </p:txBody>
      </p:sp>
      <p:sp>
        <p:nvSpPr>
          <p:cNvPr id="31" name="Oval 30"/>
          <p:cNvSpPr/>
          <p:nvPr/>
        </p:nvSpPr>
        <p:spPr>
          <a:xfrm>
            <a:off x="882373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8072932" y="2843784"/>
            <a:ext cx="1702765"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3752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Could chance do it?</a:t>
            </a:r>
          </a:p>
        </p:txBody>
      </p:sp>
      <p:sp>
        <p:nvSpPr>
          <p:cNvPr id="34" name="TextBox 33"/>
          <p:cNvSpPr txBox="1"/>
          <p:nvPr/>
        </p:nvSpPr>
        <p:spPr>
          <a:xfrm>
            <a:off x="8237524" y="3492500"/>
            <a:ext cx="1373581" cy="201676"/>
          </a:xfrm>
          <a:prstGeom prst="rect">
            <a:avLst/>
          </a:prstGeom>
          <a:noFill/>
        </p:spPr>
        <p:txBody>
          <a:bodyPr wrap="square" anchor="t" lIns="0" rIns="0" tIns="0" bIns="0">
            <a:spAutoFit/>
          </a:bodyPr>
          <a:lstStyle/>
          <a:p>
            <a:pPr algn="l"/>
            <a:r>
              <a:rPr sz="1000" b="0" i="0">
                <a:solidFill>
                  <a:srgbClr val="6B6690"/>
                </a:solidFill>
                <a:latin typeface="Calibri"/>
              </a:rPr>
              <a:t>One shuffle test.</a:t>
            </a:r>
          </a:p>
        </p:txBody>
      </p:sp>
      <p:sp>
        <p:nvSpPr>
          <p:cNvPr id="35" name="TextBox 34"/>
          <p:cNvSpPr txBox="1"/>
          <p:nvPr/>
        </p:nvSpPr>
        <p:spPr>
          <a:xfrm>
            <a:off x="9958578"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105 TO 120</a:t>
            </a:r>
          </a:p>
        </p:txBody>
      </p:sp>
      <p:sp>
        <p:nvSpPr>
          <p:cNvPr id="36" name="Oval 35"/>
          <p:cNvSpPr/>
          <p:nvPr/>
        </p:nvSpPr>
        <p:spPr>
          <a:xfrm>
            <a:off x="10709376"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958578" y="2843784"/>
            <a:ext cx="1702765" cy="90424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0123170" y="2990088"/>
            <a:ext cx="1373581" cy="465836"/>
          </a:xfrm>
          <a:prstGeom prst="rect">
            <a:avLst/>
          </a:prstGeom>
          <a:noFill/>
        </p:spPr>
        <p:txBody>
          <a:bodyPr wrap="square" anchor="t" lIns="0" rIns="0" tIns="0" bIns="0">
            <a:spAutoFit/>
          </a:bodyPr>
          <a:lstStyle/>
          <a:p>
            <a:pPr algn="l"/>
            <a:r>
              <a:rPr sz="1300" b="1" i="0">
                <a:solidFill>
                  <a:srgbClr val="FFFFFF"/>
                </a:solidFill>
                <a:latin typeface="Calibri"/>
              </a:rPr>
              <a:t>What should Meera do?</a:t>
            </a:r>
          </a:p>
        </p:txBody>
      </p:sp>
      <p:sp>
        <p:nvSpPr>
          <p:cNvPr id="39" name="TextBox 38"/>
          <p:cNvSpPr txBox="1"/>
          <p:nvPr/>
        </p:nvSpPr>
        <p:spPr>
          <a:xfrm>
            <a:off x="10123170" y="3492500"/>
            <a:ext cx="1373581" cy="201676"/>
          </a:xfrm>
          <a:prstGeom prst="rect">
            <a:avLst/>
          </a:prstGeom>
          <a:noFill/>
        </p:spPr>
        <p:txBody>
          <a:bodyPr wrap="square" anchor="t" lIns="0" rIns="0" tIns="0" bIns="0">
            <a:spAutoFit/>
          </a:bodyPr>
          <a:lstStyle/>
          <a:p>
            <a:pPr algn="l"/>
            <a:r>
              <a:rPr sz="1000" b="0" i="0">
                <a:solidFill>
                  <a:srgbClr val="CFC9EE"/>
                </a:solidFill>
                <a:latin typeface="Calibri"/>
              </a:rPr>
              <a:t>The note.</a:t>
            </a:r>
          </a:p>
        </p:txBody>
      </p:sp>
      <p:sp>
        <p:nvSpPr>
          <p:cNvPr id="40" name="Rounded Rectangle 39"/>
          <p:cNvSpPr/>
          <p:nvPr/>
        </p:nvSpPr>
        <p:spPr>
          <a:xfrm>
            <a:off x="530352" y="393090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Rounded Rectangle 40"/>
          <p:cNvSpPr/>
          <p:nvPr/>
        </p:nvSpPr>
        <p:spPr>
          <a:xfrm>
            <a:off x="676656" y="405892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877824" y="4049776"/>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 checks the note's first line against his books, and Meera acts on it on Monday. The minutes are a pace; the order of the steps is fixed.</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Why rebuild it alone?</a:t>
            </a:r>
          </a:p>
        </p:txBody>
      </p:sp>
      <p:sp>
        <p:nvSpPr>
          <p:cNvPr id="45" name="Oval 44"/>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8168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you run it alone?</a:t>
            </a:r>
          </a:p>
        </p:txBody>
      </p:sp>
      <p:sp>
        <p:nvSpPr>
          <p:cNvPr id="47" name="TextBox 4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12 / 14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totals, set against the control file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After the clock stops, what do you check, and what do you write down?</a:t>
            </a:r>
          </a:p>
        </p:txBody>
      </p:sp>
      <p:pic>
        <p:nvPicPr>
          <p:cNvPr id="9" name="mermaid diagram" descr="706f65063a320733.png"/>
          <p:cNvPicPr>
            <a:picLocks noChangeAspect="1"/>
          </p:cNvPicPr>
          <p:nvPr/>
        </p:nvPicPr>
        <p:blipFill>
          <a:blip r:embed="rId5"/>
          <a:stretch>
            <a:fillRect/>
          </a:stretch>
        </p:blipFill>
        <p:spPr>
          <a:xfrm>
            <a:off x="530352" y="1956816"/>
            <a:ext cx="11130991" cy="3026156"/>
          </a:xfrm>
          <a:prstGeom prst="rect">
            <a:avLst/>
          </a:prstGeom>
        </p:spPr>
      </p:pic>
      <p:sp>
        <p:nvSpPr>
          <p:cNvPr id="10" name="TextBox 9"/>
          <p:cNvSpPr txBox="1"/>
          <p:nvPr/>
        </p:nvSpPr>
        <p:spPr>
          <a:xfrm>
            <a:off x="530352" y="512927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Write the line under your note in a new markdown cell. What you handed in stays as it was, and this line is what you will say at the debrief.</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Why rebuild it alone?</a:t>
            </a:r>
          </a:p>
        </p:txBody>
      </p:sp>
      <p:sp>
        <p:nvSpPr>
          <p:cNvPr id="13" name="Oval 12"/>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you run it alone?</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13 / 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step the clock took is the step to own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morning tell each of you?</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STEPS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in one order, every time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120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MINUTES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pass, observed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ASSISTANTS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no chat model and no autocomplete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earch-check_6571e64a041f.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The step you skipped when the clock ran is the step you do not own yet, and this week you find out which one it is with nothing scored.</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Why rebuild it alone?</a:t>
            </a:r>
          </a:p>
        </p:txBody>
      </p:sp>
      <p:sp>
        <p:nvSpPr>
          <p:cNvPr id="28" name="Oval 27"/>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8168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you run it alone?</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14 / 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