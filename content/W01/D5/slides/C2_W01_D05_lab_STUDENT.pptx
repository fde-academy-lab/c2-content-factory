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Kavya's line aloud and leave it up. Today teaches nothing new: the morning</a:t>
            </a:r>
          </a:p>
          <a:p>
            <a:r>
              <a:t>finds out which of the week's ideas each person owns, and the afternoon finds out whether they can</a:t>
            </a:r>
          </a:p>
          <a:p>
            <a:r>
              <a:t>say it under pressure. Kavya's terms and the rules take ten minutes, then the clock starts.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Chapter one is ten minutes in all: the stakes, the method as one picture, the rules and the</a:t>
            </a:r>
          </a:p>
          <a:p>
            <a:r>
              <a:t>hand-in. Nothing here is new, and the pace matters more than the words.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the four questions on the table from the row. The first one is the morning's</a:t>
            </a:r>
          </a:p>
          <a:p>
            <a:r>
              <a:t>question and the third is the afternoon's. Do not add anything about which step matters most: the</a:t>
            </a:r>
          </a:p>
          <a:p>
            <a:r>
              <a:t>lab measures what each person does unprompted.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Walk the six boxes left to right once, naming the day each came from. Then stop</a:t>
            </a:r>
          </a:p>
          <a:p>
            <a:r>
              <a:t>talking about the method. This picture stays on the second screen, if there is one, for the whole</a:t>
            </a:r>
          </a:p>
          <a:p>
            <a:r>
              <a:t>lab.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from three people. Expect some a: it is the instinct under time</a:t>
            </a:r>
          </a:p>
          <a:p>
            <a:r>
              <a:t>pressure and the reason a total gets quoted before anybody knows what the file holds.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answer is b. Option d is closed by the rules anyway: no other day's notebook is</a:t>
            </a:r>
          </a:p>
          <a:p>
            <a:r>
              <a:t>open today, and the reason is that code written for Wednesday's file assumes Wednesday's defects.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cards. Say plainly that the observation sets each person's first</a:t>
            </a:r>
          </a:p>
          <a:p>
            <a:r>
              <a:t>stretch or remedial task and is never shown to the room. The support TA handles Codespace problems</a:t>
            </a:r>
          </a:p>
          <a:p>
            <a:r>
              <a:t>only; a question about the method gets "what would you check?" and nothing more.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Everyone opens both files now and runs the first cell before the clock starts, so</a:t>
            </a:r>
          </a:p>
          <a:p>
            <a:r>
              <a:t>a Codespace problem is found in the ten minutes of terms rather than inside the lab.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clock starts when this slide goes up. Leave S7 on screen for the whole lab, and change</a:t>
            </a:r>
          </a:p>
          <a:p>
            <a:r>
              <a:t>nothing on the projector until the 120-minute mark.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whole lab. At each mark the TAs walk their rows with the observation sheet and record the</a:t>
            </a:r>
          </a:p>
          <a:p>
            <a:r>
              <a:t>step each learner is on, without a word. Say nothing to the room except the time remaining at 60,</a:t>
            </a:r>
          </a:p>
          <a:p>
            <a:r>
              <a:t>90 and 110 minutes. Answer a method question with "what would you check?"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20 minutes. The TAs copy each learner's output folder at the 120-minute mark before anyone</a:t>
            </a:r>
          </a:p>
          <a:p>
            <a:r>
              <a:t>edits it; that snapshot is what the observation sheet records. Then read this slide aloud. Most of</a:t>
            </a:r>
          </a:p>
          <a:p>
            <a:r>
              <a:t>the room will find its first real number here. Do not comment on anybody's result until the</a:t>
            </a:r>
          </a:p>
          <a:p>
            <a:r>
              <a:t>debrief.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then the ten-minute break. The debrief's first break, the reconciliation, runs for</a:t>
            </a:r>
          </a:p>
          <a:p>
            <a:r>
              <a:t>twenty minutes after the break and closes the morning. Over lunch the TAs total the observation</a:t>
            </a:r>
          </a:p>
          <a:p>
            <a:r>
              <a:t>sheets by step, and that tally decides which two breaks open the afternoon.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5.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951822"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FRIDAY  ·  THE AI-FREE LAB</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The week, rebuilt alone</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“Before anything goes to Meera, rebuild the week from a raw export with no assistant and no notes.”</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Kavya Nair, senior analyst, Kalpa Retail data team, to the trainees at Kalpa's Global Capability Centre</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951833" cy="185166"/>
          </a:xfrm>
          <a:prstGeom prst="rect">
            <a:avLst/>
          </a:prstGeom>
          <a:noFill/>
        </p:spPr>
        <p:txBody>
          <a:bodyPr wrap="square" anchor="t" lIns="0" rIns="0" tIns="0" bIns="0">
            <a:spAutoFit/>
          </a:bodyPr>
          <a:lstStyle/>
          <a:p>
            <a:pPr algn="l"/>
            <a:r>
              <a:rPr sz="900" b="0" i="0">
                <a:solidFill>
                  <a:srgbClr val="FFFFFF"/>
                </a:solidFill>
                <a:latin typeface="Calibri"/>
              </a:rPr>
              <a:t>Kavya's terms</a:t>
            </a:r>
          </a:p>
        </p:txBody>
      </p:sp>
      <p:sp>
        <p:nvSpPr>
          <p:cNvPr id="13" name="TextBox 12"/>
          <p:cNvSpPr txBox="1"/>
          <p:nvPr/>
        </p:nvSpPr>
        <p:spPr>
          <a:xfrm>
            <a:off x="2140553"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2524601" y="5248656"/>
            <a:ext cx="715232" cy="185166"/>
          </a:xfrm>
          <a:prstGeom prst="rect">
            <a:avLst/>
          </a:prstGeom>
          <a:noFill/>
        </p:spPr>
        <p:txBody>
          <a:bodyPr wrap="square" anchor="t" lIns="0" rIns="0" tIns="0" bIns="0">
            <a:spAutoFit/>
          </a:bodyPr>
          <a:lstStyle/>
          <a:p>
            <a:pPr algn="l"/>
            <a:r>
              <a:rPr sz="900" b="0" i="0">
                <a:solidFill>
                  <a:srgbClr val="FFFFFF"/>
                </a:solidFill>
                <a:latin typeface="Calibri"/>
              </a:rPr>
              <a:t>The clock</a:t>
            </a:r>
          </a:p>
        </p:txBody>
      </p:sp>
      <p:sp>
        <p:nvSpPr>
          <p:cNvPr id="15" name="TextBox 1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The week, rebuilt alone</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Kavya's terms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growth review is on Monday, Marketing will be in the room, and the method has to be yours.</a:t>
            </a:r>
          </a:p>
        </p:txBody>
      </p:sp>
      <p:sp>
        <p:nvSpPr>
          <p:cNvPr id="10" name="Rounded Rectangle 9"/>
          <p:cNvSpPr/>
          <p:nvPr/>
        </p:nvSpPr>
        <p:spPr>
          <a:xfrm>
            <a:off x="731519" y="5074920"/>
            <a:ext cx="113556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Kavya's terms</a:t>
            </a:r>
          </a:p>
        </p:txBody>
      </p:sp>
      <p:sp>
        <p:nvSpPr>
          <p:cNvPr id="11" name="Rounded Rectangle 10"/>
          <p:cNvSpPr/>
          <p:nvPr/>
        </p:nvSpPr>
        <p:spPr>
          <a:xfrm>
            <a:off x="1976815"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clock</a:t>
            </a:r>
          </a:p>
        </p:txBody>
      </p:sp>
      <p:sp>
        <p:nvSpPr>
          <p:cNvPr id="12" name="TextBox 1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the week rebuilt alone</a:t>
            </a:r>
          </a:p>
        </p:txBody>
      </p:sp>
      <p:sp>
        <p:nvSpPr>
          <p:cNvPr id="13" name="TextBox 1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Monday's room decides on what you can run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Meera acts on a note only when the person who wrote it can rebuild every number in it.</a:t>
            </a:r>
          </a:p>
        </p:txBody>
      </p:sp>
      <p:pic>
        <p:nvPicPr>
          <p:cNvPr id="9" name="mermaid diagram" descr="28a4e9564881742b.png"/>
          <p:cNvPicPr>
            <a:picLocks noChangeAspect="1"/>
          </p:cNvPicPr>
          <p:nvPr/>
        </p:nvPicPr>
        <p:blipFill>
          <a:blip r:embed="rId6"/>
          <a:stretch>
            <a:fillRect/>
          </a:stretch>
        </p:blipFill>
        <p:spPr>
          <a:xfrm>
            <a:off x="1902466" y="1956816"/>
            <a:ext cx="8386762" cy="1800225"/>
          </a:xfrm>
          <a:prstGeom prst="rect">
            <a:avLst/>
          </a:prstGeom>
        </p:spPr>
      </p:pic>
      <p:sp>
        <p:nvSpPr>
          <p:cNvPr id="10" name="Rounded Rectangle 9"/>
          <p:cNvSpPr/>
          <p:nvPr/>
        </p:nvSpPr>
        <p:spPr>
          <a:xfrm>
            <a:off x="530352" y="3903345"/>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3557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essage-square_028dbd132a0a.png"/>
          <p:cNvPicPr>
            <a:picLocks noChangeAspect="1"/>
          </p:cNvPicPr>
          <p:nvPr/>
        </p:nvPicPr>
        <p:blipFill>
          <a:blip r:embed="rId5"/>
          <a:stretch>
            <a:fillRect/>
          </a:stretch>
        </p:blipFill>
        <p:spPr>
          <a:xfrm>
            <a:off x="868680" y="4345305"/>
            <a:ext cx="237744" cy="237744"/>
          </a:xfrm>
          <a:prstGeom prst="rect">
            <a:avLst/>
          </a:prstGeom>
        </p:spPr>
      </p:pic>
      <p:sp>
        <p:nvSpPr>
          <p:cNvPr id="13" name="TextBox 12"/>
          <p:cNvSpPr txBox="1"/>
          <p:nvPr/>
        </p:nvSpPr>
        <p:spPr>
          <a:xfrm>
            <a:off x="1399031" y="4049649"/>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4" name="TextBox 13"/>
          <p:cNvSpPr txBox="1"/>
          <p:nvPr/>
        </p:nvSpPr>
        <p:spPr>
          <a:xfrm>
            <a:off x="1399031" y="4269105"/>
            <a:ext cx="9987991" cy="682752"/>
          </a:xfrm>
          <a:prstGeom prst="rect">
            <a:avLst/>
          </a:prstGeom>
          <a:noFill/>
        </p:spPr>
        <p:txBody>
          <a:bodyPr wrap="square" anchor="t" lIns="0" rIns="0" tIns="0" bIns="0">
            <a:spAutoFit/>
          </a:bodyPr>
          <a:lstStyle/>
          <a:p>
            <a:r>
              <a:rPr sz="1500" b="0" i="0">
                <a:solidFill>
                  <a:srgbClr val="FFFFFF"/>
                </a:solidFill>
                <a:latin typeface="Calibri"/>
              </a:rPr>
              <a:t>Whether the week's pipeline is yours or the notebook's; which step you reach for first on a fresh export; whether your note survives a hostile question; what you still cannot do without help.</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Kavya's terms</a:t>
            </a:r>
          </a:p>
        </p:txBody>
      </p:sp>
      <p:sp>
        <p:nvSpPr>
          <p:cNvPr id="17" name="Oval 16"/>
          <p:cNvSpPr/>
          <p:nvPr/>
        </p:nvSpPr>
        <p:spPr>
          <a:xfrm>
            <a:off x="160391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713642"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clock</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method, in the order you run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Six steps, each one built on a day of this week, and the order never changes.</a:t>
            </a:r>
          </a:p>
        </p:txBody>
      </p:sp>
      <p:pic>
        <p:nvPicPr>
          <p:cNvPr id="9" name="mermaid diagram" descr="91b3a040400b7a85.png"/>
          <p:cNvPicPr>
            <a:picLocks noChangeAspect="1"/>
          </p:cNvPicPr>
          <p:nvPr/>
        </p:nvPicPr>
        <p:blipFill>
          <a:blip r:embed="rId5"/>
          <a:stretch>
            <a:fillRect/>
          </a:stretch>
        </p:blipFill>
        <p:spPr>
          <a:xfrm>
            <a:off x="530352" y="1956816"/>
            <a:ext cx="11130991" cy="778658"/>
          </a:xfrm>
          <a:prstGeom prst="rect">
            <a:avLst/>
          </a:prstGeom>
        </p:spPr>
      </p:pic>
      <p:sp>
        <p:nvSpPr>
          <p:cNvPr id="10" name="TextBox 9"/>
          <p:cNvSpPr txBox="1"/>
          <p:nvPr/>
        </p:nvSpPr>
        <p:spPr>
          <a:xfrm>
            <a:off x="530352" y="288177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step answers a question the next one depends on: whether the file is what it claims, which rows count, whether the clean data is still the same data, which branch moved, whether chance could do it, and what Meera should do.</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Kavya's terms</a:t>
            </a:r>
          </a:p>
        </p:txBody>
      </p:sp>
      <p:sp>
        <p:nvSpPr>
          <p:cNvPr id="13" name="Oval 12"/>
          <p:cNvSpPr/>
          <p:nvPr/>
        </p:nvSpPr>
        <p:spPr>
          <a:xfrm>
            <a:off x="160391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713642"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 you open first on a fresh export?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hours, a raw file and a stakeholder waiting: the first ten minutes decide the rest.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Choose one: a) the quarter totals, so Meera has a number early; b) a profile of every field, before any number; c) the segment split, because that is where last week's finding sat; d) the notebook from Wednesday, to reuse its cleaning code.</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Kavya's terms</a:t>
            </a:r>
          </a:p>
        </p:txBody>
      </p:sp>
      <p:sp>
        <p:nvSpPr>
          <p:cNvPr id="14" name="Oval 13"/>
          <p:cNvSpPr/>
          <p:nvPr/>
        </p:nvSpPr>
        <p:spPr>
          <a:xfrm>
            <a:off x="160391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713642"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clock</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profile, before any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total computed before the profile is a number about a file nobody has looked at.</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COUNTS PER FIELD</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present, convertible, distinct</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FINDING PER MISMATCH</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each count that disagrees with the field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NUMBERS QUOTED</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until the profile is read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earch-check_6571e64a041f.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A profile costs ten minutes and tells you which of the next ninety you will spend on repairs. Skipping it moves the repairs to Monday, in front of Marketing.</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Kavya's terms</a:t>
            </a:r>
          </a:p>
        </p:txBody>
      </p:sp>
      <p:sp>
        <p:nvSpPr>
          <p:cNvPr id="28" name="Oval 27"/>
          <p:cNvSpPr/>
          <p:nvPr/>
        </p:nvSpPr>
        <p:spPr>
          <a:xfrm>
            <a:off x="160391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713642"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clock</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rules of the lab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lab finds out what you own; it does not rank anybody.</a:t>
            </a:r>
          </a:p>
        </p:txBody>
      </p:sp>
      <p:sp>
        <p:nvSpPr>
          <p:cNvPr id="9" name="Rounded Rectangle 8"/>
          <p:cNvSpPr/>
          <p:nvPr/>
        </p:nvSpPr>
        <p:spPr>
          <a:xfrm>
            <a:off x="530352"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ot-off_476ef9dbbf65.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RULE 1</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No assistant</a:t>
            </a:r>
          </a:p>
        </p:txBody>
      </p:sp>
      <p:sp>
        <p:nvSpPr>
          <p:cNvPr id="14" name="TextBox 13"/>
          <p:cNvSpPr txBox="1"/>
          <p:nvPr/>
        </p:nvSpPr>
        <p:spPr>
          <a:xfrm>
            <a:off x="731519"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No chat model, no autocomplete that writes code, no search for code.</a:t>
            </a:r>
          </a:p>
        </p:txBody>
      </p:sp>
      <p:sp>
        <p:nvSpPr>
          <p:cNvPr id="15" name="Rounded Rectangle 14"/>
          <p:cNvSpPr/>
          <p:nvPr/>
        </p:nvSpPr>
        <p:spPr>
          <a:xfrm>
            <a:off x="3358819"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book-x_85577d4b193a.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RULE 2</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Notes closed</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No earlier notebook, deck or cheat sheet open on any screen.</a:t>
            </a:r>
          </a:p>
        </p:txBody>
      </p:sp>
      <p:sp>
        <p:nvSpPr>
          <p:cNvPr id="21" name="Rounded Rectangle 20"/>
          <p:cNvSpPr/>
          <p:nvPr/>
        </p:nvSpPr>
        <p:spPr>
          <a:xfrm>
            <a:off x="6187287"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imer_398117c312b8.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RULE 3</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120 minutes</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clock runs once; save as you go and hand in what you have.</a:t>
            </a:r>
          </a:p>
        </p:txBody>
      </p:sp>
      <p:sp>
        <p:nvSpPr>
          <p:cNvPr id="27" name="Rounded Rectangle 26"/>
          <p:cNvSpPr/>
          <p:nvPr/>
        </p:nvSpPr>
        <p:spPr>
          <a:xfrm>
            <a:off x="9015755"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eye_6af225eae812.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RULE 4</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Observed, not scored</a:t>
            </a:r>
          </a:p>
        </p:txBody>
      </p:sp>
      <p:sp>
        <p:nvSpPr>
          <p:cNvPr id="32" name="TextBox 31"/>
          <p:cNvSpPr txBox="1"/>
          <p:nvPr/>
        </p:nvSpPr>
        <p:spPr>
          <a:xfrm>
            <a:off x="9216923"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A TA notes where each person is at each mark; nothing goes on a wall.</a:t>
            </a:r>
          </a:p>
        </p:txBody>
      </p:sp>
      <p:sp>
        <p:nvSpPr>
          <p:cNvPr id="33" name="Rounded Rectangle 32"/>
          <p:cNvSpPr/>
          <p:nvPr/>
        </p:nvSpPr>
        <p:spPr>
          <a:xfrm>
            <a:off x="530352" y="429412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58952" y="46263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list-checks_bd88901d2a37.png"/>
          <p:cNvPicPr>
            <a:picLocks noChangeAspect="1"/>
          </p:cNvPicPr>
          <p:nvPr/>
        </p:nvPicPr>
        <p:blipFill>
          <a:blip r:embed="rId8"/>
          <a:stretch>
            <a:fillRect/>
          </a:stretch>
        </p:blipFill>
        <p:spPr>
          <a:xfrm>
            <a:off x="868680" y="4736084"/>
            <a:ext cx="237744" cy="237744"/>
          </a:xfrm>
          <a:prstGeom prst="rect">
            <a:avLst/>
          </a:prstGeom>
        </p:spPr>
      </p:pic>
      <p:sp>
        <p:nvSpPr>
          <p:cNvPr id="36" name="TextBox 35"/>
          <p:cNvSpPr txBox="1"/>
          <p:nvPr/>
        </p:nvSpPr>
        <p:spPr>
          <a:xfrm>
            <a:off x="1399031" y="44404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37" name="TextBox 36"/>
          <p:cNvSpPr txBox="1"/>
          <p:nvPr/>
        </p:nvSpPr>
        <p:spPr>
          <a:xfrm>
            <a:off x="1399031" y="4659884"/>
            <a:ext cx="9987991" cy="682752"/>
          </a:xfrm>
          <a:prstGeom prst="rect">
            <a:avLst/>
          </a:prstGeom>
          <a:noFill/>
        </p:spPr>
        <p:txBody>
          <a:bodyPr wrap="square" anchor="t" lIns="0" rIns="0" tIns="0" bIns="0">
            <a:spAutoFit/>
          </a:bodyPr>
          <a:lstStyle/>
          <a:p>
            <a:r>
              <a:rPr sz="1500" b="0" i="0">
                <a:solidFill>
                  <a:srgbClr val="1A1440"/>
                </a:solidFill>
                <a:latin typeface="Calibri"/>
              </a:rPr>
              <a:t>Python's own documentation, reached from the notebook with help(), is allowed, because an analyst on the job has it too.</a:t>
            </a:r>
          </a:p>
        </p:txBody>
      </p:sp>
      <p:sp>
        <p:nvSpPr>
          <p:cNvPr id="38" name="Oval 3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Kavya's terms</a:t>
            </a:r>
          </a:p>
        </p:txBody>
      </p:sp>
      <p:sp>
        <p:nvSpPr>
          <p:cNvPr id="40" name="Oval 39"/>
          <p:cNvSpPr/>
          <p:nvPr/>
        </p:nvSpPr>
        <p:spPr>
          <a:xfrm>
            <a:off x="160391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713642"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clock</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you hand in, and where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files, written by the notebook's last cell into its output folder.</a:t>
            </a:r>
          </a:p>
        </p:txBody>
      </p:sp>
      <p:pic>
        <p:nvPicPr>
          <p:cNvPr id="9" name="mermaid diagram" descr="e4dbf5c0b9b1c819.png"/>
          <p:cNvPicPr>
            <a:picLocks noChangeAspect="1"/>
          </p:cNvPicPr>
          <p:nvPr/>
        </p:nvPicPr>
        <p:blipFill>
          <a:blip r:embed="rId5"/>
          <a:stretch>
            <a:fillRect/>
          </a:stretch>
        </p:blipFill>
        <p:spPr>
          <a:xfrm>
            <a:off x="3252635" y="1874488"/>
            <a:ext cx="5686425" cy="3214687"/>
          </a:xfrm>
          <a:prstGeom prst="rect">
            <a:avLst/>
          </a:prstGeom>
        </p:spPr>
      </p:pic>
      <p:sp>
        <p:nvSpPr>
          <p:cNvPr id="10" name="TextBox 9"/>
          <p:cNvSpPr txBox="1"/>
          <p:nvPr/>
        </p:nvSpPr>
        <p:spPr>
          <a:xfrm>
            <a:off x="530352" y="5235479"/>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Open notebooks/C2_W01_D05_lab_STUDENT.ipynb and exercises/unguided/C2_W01_D05_lab_brief_STUDENT.md. The export and Finance's control totals load in the first cell.</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Kavya's terms</a:t>
            </a:r>
          </a:p>
        </p:txBody>
      </p:sp>
      <p:sp>
        <p:nvSpPr>
          <p:cNvPr id="13" name="Oval 12"/>
          <p:cNvSpPr/>
          <p:nvPr/>
        </p:nvSpPr>
        <p:spPr>
          <a:xfrm>
            <a:off x="160391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713642"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clock</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120 minutes, one pass, the week's method from a raw file to a note.</a:t>
            </a:r>
          </a:p>
        </p:txBody>
      </p:sp>
      <p:sp>
        <p:nvSpPr>
          <p:cNvPr id="10" name="Rounded Rectangle 9"/>
          <p:cNvSpPr/>
          <p:nvPr/>
        </p:nvSpPr>
        <p:spPr>
          <a:xfrm>
            <a:off x="731519"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Kavya's terms</a:t>
            </a:r>
          </a:p>
        </p:txBody>
      </p:sp>
      <p:sp>
        <p:nvSpPr>
          <p:cNvPr id="11" name="Rounded Rectangle 10"/>
          <p:cNvSpPr/>
          <p:nvPr/>
        </p:nvSpPr>
        <p:spPr>
          <a:xfrm>
            <a:off x="1976815" y="5074920"/>
            <a:ext cx="89870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clock</a:t>
            </a:r>
          </a:p>
        </p:txBody>
      </p:sp>
      <p:sp>
        <p:nvSpPr>
          <p:cNvPr id="12" name="TextBox 11"/>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5: the week rebuilt alone</a:t>
            </a:r>
          </a:p>
        </p:txBody>
      </p:sp>
      <p:sp>
        <p:nvSpPr>
          <p:cNvPr id="13" name="TextBox 1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pace, if you want 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Minutes are a pace, not a limit; the order is not optional.</a:t>
            </a:r>
          </a:p>
        </p:txBody>
      </p:sp>
      <p:sp>
        <p:nvSpPr>
          <p:cNvPr id="9" name="Rectangle 8"/>
          <p:cNvSpPr/>
          <p:nvPr/>
        </p:nvSpPr>
        <p:spPr>
          <a:xfrm>
            <a:off x="1381734" y="2523744"/>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0 TO 20</a:t>
            </a:r>
          </a:p>
        </p:txBody>
      </p:sp>
      <p:sp>
        <p:nvSpPr>
          <p:cNvPr id="11" name="Oval 10"/>
          <p:cNvSpPr/>
          <p:nvPr/>
        </p:nvSpPr>
        <p:spPr>
          <a:xfrm>
            <a:off x="1281150"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Profile</a:t>
            </a:r>
          </a:p>
        </p:txBody>
      </p:sp>
      <p:sp>
        <p:nvSpPr>
          <p:cNvPr id="14" name="TextBox 13"/>
          <p:cNvSpPr txBox="1"/>
          <p:nvPr/>
        </p:nvSpPr>
        <p:spPr>
          <a:xfrm>
            <a:off x="694944" y="3277870"/>
            <a:ext cx="1373581" cy="531876"/>
          </a:xfrm>
          <a:prstGeom prst="rect">
            <a:avLst/>
          </a:prstGeom>
          <a:noFill/>
        </p:spPr>
        <p:txBody>
          <a:bodyPr wrap="square" anchor="t" lIns="0" rIns="0" tIns="0" bIns="0">
            <a:spAutoFit/>
          </a:bodyPr>
          <a:lstStyle/>
          <a:p>
            <a:pPr algn="l"/>
            <a:r>
              <a:rPr sz="1000" b="0" i="0">
                <a:solidFill>
                  <a:srgbClr val="6B6690"/>
                </a:solidFill>
                <a:latin typeface="Calibri"/>
              </a:rPr>
              <a:t>Three counts per field, and every mismatch written down.</a:t>
            </a:r>
          </a:p>
        </p:txBody>
      </p:sp>
      <p:sp>
        <p:nvSpPr>
          <p:cNvPr id="15" name="TextBox 14"/>
          <p:cNvSpPr txBox="1"/>
          <p:nvPr/>
        </p:nvSpPr>
        <p:spPr>
          <a:xfrm>
            <a:off x="241599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20 TO 50</a:t>
            </a:r>
          </a:p>
        </p:txBody>
      </p:sp>
      <p:sp>
        <p:nvSpPr>
          <p:cNvPr id="16" name="Oval 15"/>
          <p:cNvSpPr/>
          <p:nvPr/>
        </p:nvSpPr>
        <p:spPr>
          <a:xfrm>
            <a:off x="316679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415997" y="2843784"/>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80589"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Clean</a:t>
            </a:r>
          </a:p>
        </p:txBody>
      </p:sp>
      <p:sp>
        <p:nvSpPr>
          <p:cNvPr id="19" name="TextBox 18"/>
          <p:cNvSpPr txBox="1"/>
          <p:nvPr/>
        </p:nvSpPr>
        <p:spPr>
          <a:xfrm>
            <a:off x="2580589"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Drop, default, or keep and flag, each with a reason in the log.</a:t>
            </a:r>
          </a:p>
        </p:txBody>
      </p:sp>
      <p:sp>
        <p:nvSpPr>
          <p:cNvPr id="20" name="TextBox 19"/>
          <p:cNvSpPr txBox="1"/>
          <p:nvPr/>
        </p:nvSpPr>
        <p:spPr>
          <a:xfrm>
            <a:off x="430164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50 TO 65</a:t>
            </a:r>
          </a:p>
        </p:txBody>
      </p:sp>
      <p:sp>
        <p:nvSpPr>
          <p:cNvPr id="21" name="Oval 20"/>
          <p:cNvSpPr/>
          <p:nvPr/>
        </p:nvSpPr>
        <p:spPr>
          <a:xfrm>
            <a:off x="505244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301642" y="2843784"/>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6623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Reconcile</a:t>
            </a:r>
          </a:p>
        </p:txBody>
      </p:sp>
      <p:sp>
        <p:nvSpPr>
          <p:cNvPr id="24" name="TextBox 23"/>
          <p:cNvSpPr txBox="1"/>
          <p:nvPr/>
        </p:nvSpPr>
        <p:spPr>
          <a:xfrm>
            <a:off x="4466234" y="3277870"/>
            <a:ext cx="1373581" cy="531876"/>
          </a:xfrm>
          <a:prstGeom prst="rect">
            <a:avLst/>
          </a:prstGeom>
          <a:noFill/>
        </p:spPr>
        <p:txBody>
          <a:bodyPr wrap="square" anchor="t" lIns="0" rIns="0" tIns="0" bIns="0">
            <a:spAutoFit/>
          </a:bodyPr>
          <a:lstStyle/>
          <a:p>
            <a:pPr algn="l"/>
            <a:r>
              <a:rPr sz="1000" b="0" i="0">
                <a:solidFill>
                  <a:srgbClr val="6B6690"/>
                </a:solidFill>
                <a:latin typeface="Calibri"/>
              </a:rPr>
              <a:t>Counts and rupees, against Finance's control totals.</a:t>
            </a:r>
          </a:p>
        </p:txBody>
      </p:sp>
      <p:sp>
        <p:nvSpPr>
          <p:cNvPr id="25" name="TextBox 24"/>
          <p:cNvSpPr txBox="1"/>
          <p:nvPr/>
        </p:nvSpPr>
        <p:spPr>
          <a:xfrm>
            <a:off x="618728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65 TO 90</a:t>
            </a:r>
          </a:p>
        </p:txBody>
      </p:sp>
      <p:sp>
        <p:nvSpPr>
          <p:cNvPr id="26" name="Oval 25"/>
          <p:cNvSpPr/>
          <p:nvPr/>
        </p:nvSpPr>
        <p:spPr>
          <a:xfrm>
            <a:off x="693808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187287" y="2843784"/>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51879"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Decompose</a:t>
            </a:r>
          </a:p>
        </p:txBody>
      </p:sp>
      <p:sp>
        <p:nvSpPr>
          <p:cNvPr id="29" name="TextBox 28"/>
          <p:cNvSpPr txBox="1"/>
          <p:nvPr/>
        </p:nvSpPr>
        <p:spPr>
          <a:xfrm>
            <a:off x="6351879" y="3277870"/>
            <a:ext cx="1373581" cy="531876"/>
          </a:xfrm>
          <a:prstGeom prst="rect">
            <a:avLst/>
          </a:prstGeom>
          <a:noFill/>
        </p:spPr>
        <p:txBody>
          <a:bodyPr wrap="square" anchor="t" lIns="0" rIns="0" tIns="0" bIns="0">
            <a:spAutoFit/>
          </a:bodyPr>
          <a:lstStyle/>
          <a:p>
            <a:pPr algn="l"/>
            <a:r>
              <a:rPr sz="1000" b="0" i="0">
                <a:solidFill>
                  <a:srgbClr val="6B6690"/>
                </a:solidFill>
                <a:latin typeface="Calibri"/>
              </a:rPr>
              <a:t>The tree, Q1 against Q2, segment by segment.</a:t>
            </a:r>
          </a:p>
        </p:txBody>
      </p:sp>
      <p:sp>
        <p:nvSpPr>
          <p:cNvPr id="30" name="TextBox 29"/>
          <p:cNvSpPr txBox="1"/>
          <p:nvPr/>
        </p:nvSpPr>
        <p:spPr>
          <a:xfrm>
            <a:off x="807293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90 TO 105</a:t>
            </a:r>
          </a:p>
        </p:txBody>
      </p:sp>
      <p:sp>
        <p:nvSpPr>
          <p:cNvPr id="31" name="Oval 30"/>
          <p:cNvSpPr/>
          <p:nvPr/>
        </p:nvSpPr>
        <p:spPr>
          <a:xfrm>
            <a:off x="882373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072932" y="2843784"/>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3752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Test</a:t>
            </a:r>
          </a:p>
        </p:txBody>
      </p:sp>
      <p:sp>
        <p:nvSpPr>
          <p:cNvPr id="34" name="TextBox 33"/>
          <p:cNvSpPr txBox="1"/>
          <p:nvPr/>
        </p:nvSpPr>
        <p:spPr>
          <a:xfrm>
            <a:off x="8237524" y="3277870"/>
            <a:ext cx="1373581" cy="531876"/>
          </a:xfrm>
          <a:prstGeom prst="rect">
            <a:avLst/>
          </a:prstGeom>
          <a:noFill/>
        </p:spPr>
        <p:txBody>
          <a:bodyPr wrap="square" anchor="t" lIns="0" rIns="0" tIns="0" bIns="0">
            <a:spAutoFit/>
          </a:bodyPr>
          <a:lstStyle/>
          <a:p>
            <a:pPr algn="l"/>
            <a:r>
              <a:rPr sz="1000" b="0" i="0">
                <a:solidFill>
                  <a:srgbClr val="6B6690"/>
                </a:solidFill>
                <a:latin typeface="Calibri"/>
              </a:rPr>
              <a:t>One shuffle, 2,000 times, on the gap that matters.</a:t>
            </a:r>
          </a:p>
        </p:txBody>
      </p:sp>
      <p:sp>
        <p:nvSpPr>
          <p:cNvPr id="35" name="TextBox 34"/>
          <p:cNvSpPr txBox="1"/>
          <p:nvPr/>
        </p:nvSpPr>
        <p:spPr>
          <a:xfrm>
            <a:off x="9958578"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105 TO 120</a:t>
            </a:r>
          </a:p>
        </p:txBody>
      </p:sp>
      <p:sp>
        <p:nvSpPr>
          <p:cNvPr id="36" name="Oval 35"/>
          <p:cNvSpPr/>
          <p:nvPr/>
        </p:nvSpPr>
        <p:spPr>
          <a:xfrm>
            <a:off x="1070937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958578" y="2843784"/>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123170"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Note</a:t>
            </a:r>
          </a:p>
        </p:txBody>
      </p:sp>
      <p:sp>
        <p:nvSpPr>
          <p:cNvPr id="39" name="TextBox 38"/>
          <p:cNvSpPr txBox="1"/>
          <p:nvPr/>
        </p:nvSpPr>
        <p:spPr>
          <a:xfrm>
            <a:off x="10123170" y="3277870"/>
            <a:ext cx="1373581" cy="366776"/>
          </a:xfrm>
          <a:prstGeom prst="rect">
            <a:avLst/>
          </a:prstGeom>
          <a:noFill/>
        </p:spPr>
        <p:txBody>
          <a:bodyPr wrap="square" anchor="t" lIns="0" rIns="0" tIns="0" bIns="0">
            <a:spAutoFit/>
          </a:bodyPr>
          <a:lstStyle/>
          <a:p>
            <a:pPr algn="l"/>
            <a:r>
              <a:rPr sz="1000" b="0" i="0">
                <a:solidFill>
                  <a:srgbClr val="6B6690"/>
                </a:solidFill>
                <a:latin typeface="Calibri"/>
              </a:rPr>
              <a:t>Claim, evidence, caveat, action.</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Kavya's terms</a:t>
            </a:r>
          </a:p>
        </p:txBody>
      </p:sp>
      <p:sp>
        <p:nvSpPr>
          <p:cNvPr id="42" name="Oval 41"/>
          <p:cNvSpPr/>
          <p:nvPr/>
        </p:nvSpPr>
        <p:spPr>
          <a:xfrm>
            <a:off x="160391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713642"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clock</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second look, after the clock stops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Hand-in is frozen at 120 minutes; the next twenty are yours to check what you sent.</a:t>
            </a:r>
          </a:p>
        </p:txBody>
      </p:sp>
      <p:pic>
        <p:nvPicPr>
          <p:cNvPr id="9" name="mermaid diagram" descr="8e59c08a40856554.png"/>
          <p:cNvPicPr>
            <a:picLocks noChangeAspect="1"/>
          </p:cNvPicPr>
          <p:nvPr/>
        </p:nvPicPr>
        <p:blipFill>
          <a:blip r:embed="rId5"/>
          <a:stretch>
            <a:fillRect/>
          </a:stretch>
        </p:blipFill>
        <p:spPr>
          <a:xfrm>
            <a:off x="559441" y="1956816"/>
            <a:ext cx="11072812" cy="2743200"/>
          </a:xfrm>
          <a:prstGeom prst="rect">
            <a:avLst/>
          </a:prstGeom>
        </p:spPr>
      </p:pic>
      <p:sp>
        <p:nvSpPr>
          <p:cNvPr id="10" name="TextBox 9"/>
          <p:cNvSpPr txBox="1"/>
          <p:nvPr/>
        </p:nvSpPr>
        <p:spPr>
          <a:xfrm>
            <a:off x="530352" y="48463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Write the line under your note in a new markdown cell. It does not change what you handed in; it is what you will say at the debrief.</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Kavya's terms</a:t>
            </a:r>
          </a:p>
        </p:txBody>
      </p:sp>
      <p:sp>
        <p:nvSpPr>
          <p:cNvPr id="13" name="Oval 12"/>
          <p:cNvSpPr/>
          <p:nvPr/>
        </p:nvSpPr>
        <p:spPr>
          <a:xfrm>
            <a:off x="160391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713642"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the morning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method is yours when the order holds under a clock, not when each step is remembered.</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STEPS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in one order, every time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120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MINUTES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one pass, observed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ASSISTANTS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file is new to every model too</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earch-check_6571e64a041f.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The step you skipped when the clock ran is the step you do not own yet. Knowing which one it is, this week, costs nothing.</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Kavya's terms</a:t>
            </a:r>
          </a:p>
        </p:txBody>
      </p:sp>
      <p:sp>
        <p:nvSpPr>
          <p:cNvPr id="28" name="Oval 27"/>
          <p:cNvSpPr/>
          <p:nvPr/>
        </p:nvSpPr>
        <p:spPr>
          <a:xfrm>
            <a:off x="160391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713642"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clock</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