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the day's question once, then the five parts. The first is the morning's</a:t>
            </a:r>
          </a:p>
          <a:p>
            <a:r>
              <a:t>question and the third is the afternoon's; the other three follow from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in all: who decides on Monday, the method as one picture, the first move, the</a:t>
            </a:r>
          </a:p>
          <a:p>
            <a:r>
              <a:t>rules and the hand-in. Nothing here is new, so keep to the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four questions, then start.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Say the metric, who asks and what a wrong number costs, then the four</a:t>
            </a:r>
          </a:p>
          <a:p>
            <a:r>
              <a:t>questions on the table from the row: whether the pipeline is yours or the notebook's, which step you</a:t>
            </a:r>
          </a:p>
          <a:p>
            <a:r>
              <a:t>reach for first, whether the note survives a hostile question, and what you still cannot do without</a:t>
            </a:r>
          </a:p>
          <a:p>
            <a:r>
              <a:t>help. Do not add anything about which step matters most: the lab measures what each person does</a:t>
            </a:r>
          </a:p>
          <a:p>
            <a:r>
              <a:t>unprompted.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notebook is open</a:t>
            </a:r>
          </a:p>
          <a:p>
            <a:r>
              <a:t>today, because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Walk the six boxes left to right once, naming the day each came from.</a:t>
            </a:r>
          </a:p>
          <a:p>
            <a:r>
              <a:t>Then stop talking about the method. During the lab only S9, the step questions and their minutes,</a:t>
            </a:r>
          </a:p>
          <a:p>
            <a:r>
              <a:t>stays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Everyone opens both files now and runs the first cell before the clock starts, so a</a:t>
            </a:r>
          </a:p>
          <a:p>
            <a:r>
              <a:t>Codespace problem is found in the ten minutes of terms and never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the next slide goes up. Leave S9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debrief's first chapter, the reconciliation, runs for</a:t>
            </a:r>
          </a:p>
          <a:p>
            <a:r>
              <a:t>twenty minutes after the break and closes the morning. Over lunch the TAs total the observation</a:t>
            </a:r>
          </a:p>
          <a:p>
            <a:r>
              <a:t>sheets by step; all three chapters run whatever the tally says, and it decides where the trainer</a:t>
            </a:r>
          </a:p>
          <a:p>
            <a:r>
              <a:t>lingers and which reserve slide runs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you rebuild the week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Why rebuild it alone?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9780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run it alone?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question for the whole day,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rebuild the week alone on a raw export, and hold your note when Marketing pushes?</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Can you run it alone?</a:t>
            </a:r>
          </a:p>
        </p:txBody>
      </p:sp>
      <p:sp>
        <p:nvSpPr>
          <p:cNvPr id="14" name="TextBox 13"/>
          <p:cNvSpPr txBox="1"/>
          <p:nvPr/>
        </p:nvSpPr>
        <p:spPr>
          <a:xfrm>
            <a:off x="694944"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week's method on an export you have not seen, 150 minutes.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DEBRIEF</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Where did it break?</a:t>
            </a:r>
          </a:p>
        </p:txBody>
      </p:sp>
      <p:sp>
        <p:nvSpPr>
          <p:cNvPr id="19" name="TextBox 18"/>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chapters, one per place most rooms break.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REHEARSAL</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Thursday's note, defended against Marketing.</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CASES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29" name="TextBox 28"/>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Three timed design cases, answered aloud.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CLOSE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37" name="Oval 3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rebuild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Why does Kavya want the week rebuilt alone before Monday, and on what terms?</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ten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lab run alone, and which four questions set its terms?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Nair, before Monday's growth review: Meera acts on a note only when the person who wrote it can rebuild every number in it, and Marketing will be in the room.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Who decides on Monday?</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Meera decides, on the note's first line.</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you open first?</a:t>
            </a:r>
          </a:p>
        </p:txBody>
      </p:sp>
      <p:sp>
        <p:nvSpPr>
          <p:cNvPr id="22" name="TextBox 21"/>
          <p:cNvSpPr txBox="1"/>
          <p:nvPr/>
        </p:nvSpPr>
        <p:spPr>
          <a:xfrm>
            <a:off x="3523411"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first ten minutes set the rest.</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In what order does it run?</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week's method has one fixed order.</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are the terms?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rules decide what you may open and hand in.</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decides Monday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decides on Monday, and what will they act on?</a:t>
            </a:r>
          </a:p>
        </p:txBody>
      </p:sp>
      <p:pic>
        <p:nvPicPr>
          <p:cNvPr id="9" name="mermaid diagram" descr="7f3dff1c4fe1c126.png"/>
          <p:cNvPicPr>
            <a:picLocks noChangeAspect="1"/>
          </p:cNvPicPr>
          <p:nvPr/>
        </p:nvPicPr>
        <p:blipFill>
          <a:blip r:embed="rId6"/>
          <a:stretch>
            <a:fillRect/>
          </a:stretch>
        </p:blipFill>
        <p:spPr>
          <a:xfrm>
            <a:off x="780897" y="1956816"/>
            <a:ext cx="10629900" cy="2400300"/>
          </a:xfrm>
          <a:prstGeom prst="rect">
            <a:avLst/>
          </a:prstGeom>
        </p:spPr>
      </p:pic>
      <p:sp>
        <p:nvSpPr>
          <p:cNvPr id="10" name="Rounded Rectangle 9"/>
          <p:cNvSpPr/>
          <p:nvPr/>
        </p:nvSpPr>
        <p:spPr>
          <a:xfrm>
            <a:off x="530352" y="4503420"/>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651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5074920"/>
            <a:ext cx="237744" cy="237744"/>
          </a:xfrm>
          <a:prstGeom prst="rect">
            <a:avLst/>
          </a:prstGeom>
        </p:spPr>
      </p:pic>
      <p:sp>
        <p:nvSpPr>
          <p:cNvPr id="13" name="TextBox 12"/>
          <p:cNvSpPr txBox="1"/>
          <p:nvPr/>
        </p:nvSpPr>
        <p:spPr>
          <a:xfrm>
            <a:off x="1399031" y="464972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869180"/>
            <a:ext cx="9987991" cy="941832"/>
          </a:xfrm>
          <a:prstGeom prst="rect">
            <a:avLst/>
          </a:prstGeom>
          <a:noFill/>
        </p:spPr>
        <p:txBody>
          <a:bodyPr wrap="square" anchor="t" lIns="0" rIns="0" tIns="0" bIns="0">
            <a:spAutoFit/>
          </a:bodyPr>
          <a:lstStyle/>
          <a:p>
            <a:r>
              <a:rPr sz="1500" b="0" i="0">
                <a:solidFill>
                  <a:srgbClr val="FFFFFF"/>
                </a:solidFill>
                <a:latin typeface="Calibri"/>
              </a:rPr>
              <a:t>From Q1 to Q2 in this export, which branch of the revenue tree moved, in which segment, and do your numbers tie to Finance's control totals? Write it as you would write it to Meera, since on Monday a first line that does not tie to Anand's books is sent back.</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where do the first ten minutes go?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profile come before any total?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twenty minutes and tells you which of the next hundred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steps in a fixed order, from profile to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the week's method run, and why that order?</a:t>
            </a:r>
          </a:p>
        </p:txBody>
      </p:sp>
      <p:pic>
        <p:nvPicPr>
          <p:cNvPr id="9" name="mermaid diagram" descr="b5c81a6f4ee4d3c4.png"/>
          <p:cNvPicPr>
            <a:picLocks noChangeAspect="1"/>
          </p:cNvPicPr>
          <p:nvPr/>
        </p:nvPicPr>
        <p:blipFill>
          <a:blip r:embed="rId5"/>
          <a:stretch>
            <a:fillRect/>
          </a:stretch>
        </p:blipFill>
        <p:spPr>
          <a:xfrm>
            <a:off x="530352" y="1956816"/>
            <a:ext cx="11130991" cy="937450"/>
          </a:xfrm>
          <a:prstGeom prst="rect">
            <a:avLst/>
          </a:prstGeom>
        </p:spPr>
      </p:pic>
      <p:sp>
        <p:nvSpPr>
          <p:cNvPr id="10" name="TextBox 9"/>
          <p:cNvSpPr txBox="1"/>
          <p:nvPr/>
        </p:nvSpPr>
        <p:spPr>
          <a:xfrm>
            <a:off x="530352" y="304057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 Monday built the tree, Tuesday split it by segment, Wednesday profiled, cleaned and reconciled, and Thursday tested and wrote the note.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and no score on any wall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lab's rules, and why is it observed without a score?</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code-writing autocomplete or search for code is allowed.</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other notebook in notebooks/, deck or cheat sheet is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with no score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40" name="Oval 3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files, written by the notebook's last cell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where does it go?</a:t>
            </a:r>
          </a:p>
        </p:txBody>
      </p:sp>
      <p:pic>
        <p:nvPicPr>
          <p:cNvPr id="9" name="mermaid diagram" descr="595bcb46c6418f8d.png"/>
          <p:cNvPicPr>
            <a:picLocks noChangeAspect="1"/>
          </p:cNvPicPr>
          <p:nvPr/>
        </p:nvPicPr>
        <p:blipFill>
          <a:blip r:embed="rId5"/>
          <a:stretch>
            <a:fillRect/>
          </a:stretch>
        </p:blipFill>
        <p:spPr>
          <a:xfrm>
            <a:off x="701972" y="1682496"/>
            <a:ext cx="4443084" cy="4517136"/>
          </a:xfrm>
          <a:prstGeom prst="rect">
            <a:avLst/>
          </a:prstGeom>
        </p:spPr>
      </p:pic>
      <p:sp>
        <p:nvSpPr>
          <p:cNvPr id="10" name="TextBox 9"/>
          <p:cNvSpPr txBox="1"/>
          <p:nvPr/>
        </p:nvSpPr>
        <p:spPr>
          <a:xfrm>
            <a:off x="5761917" y="1956816"/>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three files land in notebooks/output/ as clean_orders.csv, decisions_log.csv and note.md. Open notebooks/C2_W01_D05_lab_STUDENT.ipynb and exercises/unguided/C2_W01_D05_lab_brief_STUDENT.md now;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Why rebuild it alone?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run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take a raw export to a note Finance would sign, alone, in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rebuild it alone?</a:t>
            </a:r>
          </a:p>
        </p:txBody>
      </p:sp>
      <p:sp>
        <p:nvSpPr>
          <p:cNvPr id="11" name="Rounded Rectangle 10"/>
          <p:cNvSpPr/>
          <p:nvPr/>
        </p:nvSpPr>
        <p:spPr>
          <a:xfrm>
            <a:off x="2450543"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run it alone?</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Can you rebuild the week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steps, at this pace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the lab ask, and how long does each take?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14" name="TextBox 13"/>
          <p:cNvSpPr txBox="1"/>
          <p:nvPr/>
        </p:nvSpPr>
        <p:spPr>
          <a:xfrm>
            <a:off x="694944" y="3492500"/>
            <a:ext cx="1373581" cy="201676"/>
          </a:xfrm>
          <a:prstGeom prst="rect">
            <a:avLst/>
          </a:prstGeom>
          <a:noFill/>
        </p:spPr>
        <p:txBody>
          <a:bodyPr wrap="square" anchor="t" lIns="0" rIns="0" tIns="0" bIns="0">
            <a:spAutoFit/>
          </a:bodyPr>
          <a:lstStyle/>
          <a:p>
            <a:pPr algn="l"/>
            <a:r>
              <a:rPr sz="1000" b="0" i="0">
                <a:solidFill>
                  <a:srgbClr val="6B6690"/>
                </a:solidFill>
                <a:latin typeface="Calibri"/>
              </a:rPr>
              <a:t>Profile every field.</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count?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Clean, and log each decision.</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Is it still Finance's data?</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Reconcile to the control file.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branch moved?</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Split along the tree.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Could chance do it?</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Run one shuffle test.</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should Meera do?</a:t>
            </a:r>
          </a:p>
        </p:txBody>
      </p:sp>
      <p:sp>
        <p:nvSpPr>
          <p:cNvPr id="39" name="TextBox 38"/>
          <p:cNvSpPr txBox="1"/>
          <p:nvPr/>
        </p:nvSpPr>
        <p:spPr>
          <a:xfrm>
            <a:off x="10123170" y="3492500"/>
            <a:ext cx="1373581" cy="201676"/>
          </a:xfrm>
          <a:prstGeom prst="rect">
            <a:avLst/>
          </a:prstGeom>
          <a:noFill/>
        </p:spPr>
        <p:txBody>
          <a:bodyPr wrap="square" anchor="t" lIns="0" rIns="0" tIns="0" bIns="0">
            <a:spAutoFit/>
          </a:bodyPr>
          <a:lstStyle/>
          <a:p>
            <a:pPr algn="l"/>
            <a:r>
              <a:rPr sz="1000" b="0" i="0">
                <a:solidFill>
                  <a:srgbClr val="CFC9EE"/>
                </a:solidFill>
                <a:latin typeface="Calibri"/>
              </a:rPr>
              <a:t>Write the note.</a:t>
            </a:r>
          </a:p>
        </p:txBody>
      </p:sp>
      <p:sp>
        <p:nvSpPr>
          <p:cNvPr id="40" name="Rounded Rectangle 39"/>
          <p:cNvSpPr/>
          <p:nvPr/>
        </p:nvSpPr>
        <p:spPr>
          <a:xfrm>
            <a:off x="530352" y="41036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676656" y="42316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824" y="422249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reads each note the way Anand and Meera will read Monday's, first line against the books. The minutes are a pace, and the order of the steps is fixed.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45" name="Oval 4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totals, set against the control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After the clock stops, what do you check, and what do you write down?</a:t>
            </a:r>
          </a:p>
        </p:txBody>
      </p:sp>
      <p:pic>
        <p:nvPicPr>
          <p:cNvPr id="9" name="mermaid diagram" descr="706f65063a320733.png"/>
          <p:cNvPicPr>
            <a:picLocks noChangeAspect="1"/>
          </p:cNvPicPr>
          <p:nvPr/>
        </p:nvPicPr>
        <p:blipFill>
          <a:blip r:embed="rId5"/>
          <a:stretch>
            <a:fillRect/>
          </a:stretch>
        </p:blipFill>
        <p:spPr>
          <a:xfrm>
            <a:off x="530352" y="1956816"/>
            <a:ext cx="11130991" cy="3026156"/>
          </a:xfrm>
          <a:prstGeom prst="rect">
            <a:avLst/>
          </a:prstGeom>
        </p:spPr>
      </p:pic>
      <p:sp>
        <p:nvSpPr>
          <p:cNvPr id="10" name="TextBox 9"/>
          <p:cNvSpPr txBox="1"/>
          <p:nvPr/>
        </p:nvSpPr>
        <p:spPr>
          <a:xfrm>
            <a:off x="530352" y="51292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What you handed in stays as it was, and this line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TA marks the one step you do not own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morning tell each of you?</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 MARKED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one the clock took from you</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goes on a wall</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and this week you find out which one it is with nothing scored.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Why rebuild it alone?</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run it alone?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