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question once, then the five parts. The first is the morning's</a:t>
            </a:r>
          </a:p>
          <a:p>
            <a:r>
              <a:t>question and the third is the afternoon's; the other three follow from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in all: who decides on Monday, the method as one picture, the first move, the</a:t>
            </a:r>
          </a:p>
          <a:p>
            <a:r>
              <a:t>rules and the hand-in. Nothing here is new, so keep to the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who needs the answer and the four questions, then start.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metric, who asks and what a wrong number costs, then the four questions on</a:t>
            </a:r>
          </a:p>
          <a:p>
            <a:r>
              <a:t>the table from the row: whether the pipeline is yours or the notebook's, which step you reach for</a:t>
            </a:r>
          </a:p>
          <a:p>
            <a:r>
              <a:t>first, whether the note survives a hostile question, and what you still cannot do without help. Do</a:t>
            </a:r>
          </a:p>
          <a:p>
            <a:r>
              <a:t>not add anything about which step matters most: the lab measures what each person does unprompted.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six boxes left to right once, naming the day each came from. Then stop</a:t>
            </a:r>
          </a:p>
          <a:p>
            <a:r>
              <a:t>talking about the method. During the lab only S9, the step questions and their minutes, stays on</a:t>
            </a:r>
          </a:p>
          <a:p>
            <a:r>
              <a:t>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notebook is open</a:t>
            </a:r>
          </a:p>
          <a:p>
            <a:r>
              <a:t>today, because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Everyone opens both files now and runs the first cell before the clock starts, so a</a:t>
            </a:r>
          </a:p>
          <a:p>
            <a:r>
              <a:t>Codespace problem is found in the ten minutes of terms and never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the next slide goes up. Leave S9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debrief's first chapter, the reconciliation, runs for</a:t>
            </a:r>
          </a:p>
          <a:p>
            <a:r>
              <a:t>twenty minutes after the break and closes the morning. Over lunch the TAs total the observation</a:t>
            </a:r>
          </a:p>
          <a:p>
            <a:r>
              <a:t>sheets by step; all three chapters run whatever the tally says, and it decides where the trainer</a:t>
            </a:r>
          </a:p>
          <a:p>
            <a:r>
              <a:t>lingers and which reserve slide replaces a self-study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you rebuild the week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Why rebuild it alone?</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97803"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run it alone?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question for the whole day, in five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rebuild the week alone on a raw export, and hold your note when Marketing pushes?</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LAB</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Can you run it alone?</a:t>
            </a:r>
          </a:p>
        </p:txBody>
      </p:sp>
      <p:sp>
        <p:nvSpPr>
          <p:cNvPr id="14" name="TextBox 13"/>
          <p:cNvSpPr txBox="1"/>
          <p:nvPr/>
        </p:nvSpPr>
        <p:spPr>
          <a:xfrm>
            <a:off x="694944"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week's method on an export you have not seen, 150 minutes.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DEBRIEF</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did it break?</a:t>
            </a:r>
          </a:p>
        </p:txBody>
      </p:sp>
      <p:sp>
        <p:nvSpPr>
          <p:cNvPr id="19" name="TextBox 18"/>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chapters, one per place most rooms break.</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REHEARSAL</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Does the note hold?</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Thursday's note, defended against Marketing.</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CASES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approach fits?</a:t>
            </a:r>
          </a:p>
        </p:txBody>
      </p:sp>
      <p:sp>
        <p:nvSpPr>
          <p:cNvPr id="29" name="TextBox 28"/>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timed design cases, answered aloud.</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CLOSE</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is yours now?</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Kahoot, Saturday's paper and tonight's rerun.</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37" name="Oval 3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rebuild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Why does Kavya want the week rebuilt alone before Monday, and on what terms?</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in ten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Nair, before Monday's growth review: Meera acts on a note only when the person who wrote it can rebuild every number in it, and Marketing will be in the room.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Who decides on Monday?</a:t>
            </a:r>
          </a:p>
        </p:txBody>
      </p:sp>
      <p:sp>
        <p:nvSpPr>
          <p:cNvPr id="17" name="TextBox 16"/>
          <p:cNvSpPr txBox="1"/>
          <p:nvPr/>
        </p:nvSpPr>
        <p:spPr>
          <a:xfrm>
            <a:off x="694944"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And on what.</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In what order does it run?</a:t>
            </a:r>
          </a:p>
        </p:txBody>
      </p:sp>
      <p:sp>
        <p:nvSpPr>
          <p:cNvPr id="22" name="TextBox 21"/>
          <p:cNvSpPr txBox="1"/>
          <p:nvPr/>
        </p:nvSpPr>
        <p:spPr>
          <a:xfrm>
            <a:off x="3523411"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method, one picture.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you open first?</a:t>
            </a:r>
          </a:p>
        </p:txBody>
      </p:sp>
      <p:sp>
        <p:nvSpPr>
          <p:cNvPr id="27" name="TextBox 26"/>
          <p:cNvSpPr txBox="1"/>
          <p:nvPr/>
        </p:nvSpPr>
        <p:spPr>
          <a:xfrm>
            <a:off x="6351879"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first ten minutes.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are the terms?</a:t>
            </a:r>
          </a:p>
        </p:txBody>
      </p:sp>
      <p:sp>
        <p:nvSpPr>
          <p:cNvPr id="32" name="TextBox 31"/>
          <p:cNvSpPr txBox="1"/>
          <p:nvPr/>
        </p:nvSpPr>
        <p:spPr>
          <a:xfrm>
            <a:off x="9180347" y="4250182"/>
            <a:ext cx="2316403" cy="201676"/>
          </a:xfrm>
          <a:prstGeom prst="rect">
            <a:avLst/>
          </a:prstGeom>
          <a:noFill/>
        </p:spPr>
        <p:txBody>
          <a:bodyPr wrap="square" anchor="t" lIns="0" rIns="0" tIns="0" bIns="0">
            <a:spAutoFit/>
          </a:bodyPr>
          <a:lstStyle/>
          <a:p>
            <a:pPr algn="l"/>
            <a:r>
              <a:rPr sz="1000" b="0" i="0">
                <a:solidFill>
                  <a:srgbClr val="CFC9EE"/>
                </a:solidFill>
                <a:latin typeface="Calibri"/>
              </a:rPr>
              <a:t>The rules and the hand-in.</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room decides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decides on Monday, and what will they act on?</a:t>
            </a:r>
          </a:p>
        </p:txBody>
      </p:sp>
      <p:pic>
        <p:nvPicPr>
          <p:cNvPr id="9" name="mermaid diagram" descr="7f3dff1c4fe1c126.png"/>
          <p:cNvPicPr>
            <a:picLocks noChangeAspect="1"/>
          </p:cNvPicPr>
          <p:nvPr/>
        </p:nvPicPr>
        <p:blipFill>
          <a:blip r:embed="rId6"/>
          <a:stretch>
            <a:fillRect/>
          </a:stretch>
        </p:blipFill>
        <p:spPr>
          <a:xfrm>
            <a:off x="780897" y="1847850"/>
            <a:ext cx="10629900" cy="2400300"/>
          </a:xfrm>
          <a:prstGeom prst="rect">
            <a:avLst/>
          </a:prstGeom>
        </p:spPr>
      </p:pic>
      <p:sp>
        <p:nvSpPr>
          <p:cNvPr id="10" name="Rounded Rectangle 9"/>
          <p:cNvSpPr/>
          <p:nvPr/>
        </p:nvSpPr>
        <p:spPr>
          <a:xfrm>
            <a:off x="530352" y="4394454"/>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8576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095494"/>
            <a:ext cx="237744" cy="237744"/>
          </a:xfrm>
          <a:prstGeom prst="rect">
            <a:avLst/>
          </a:prstGeom>
        </p:spPr>
      </p:pic>
      <p:sp>
        <p:nvSpPr>
          <p:cNvPr id="13" name="TextBox 12"/>
          <p:cNvSpPr txBox="1"/>
          <p:nvPr/>
        </p:nvSpPr>
        <p:spPr>
          <a:xfrm>
            <a:off x="1399031" y="454075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760214"/>
            <a:ext cx="9987991" cy="1200912"/>
          </a:xfrm>
          <a:prstGeom prst="rect">
            <a:avLst/>
          </a:prstGeom>
          <a:noFill/>
        </p:spPr>
        <p:txBody>
          <a:bodyPr wrap="square" anchor="t" lIns="0" rIns="0" tIns="0" bIns="0">
            <a:spAutoFit/>
          </a:bodyPr>
          <a:lstStyle/>
          <a:p>
            <a:r>
              <a:rPr sz="1500" b="0" i="0">
                <a:solidFill>
                  <a:srgbClr val="FFFFFF"/>
                </a:solidFill>
                <a:latin typeface="Calibri"/>
              </a:rPr>
              <a:t>Which branch of the revenue tree moved booked revenue from Q1 to Q2, in which segment, and does the number tie to Anand's control totals? A first line that does not tie to his books is sent back, and a misread branch sends Monday's effort to the wrong team, while Marketing's Rs 12 crore request waits on the answer.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steps, each built on a day of this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week's method run, and why that order?</a:t>
            </a:r>
          </a:p>
        </p:txBody>
      </p:sp>
      <p:pic>
        <p:nvPicPr>
          <p:cNvPr id="9" name="mermaid diagram" descr="600f677d232151b1.png"/>
          <p:cNvPicPr>
            <a:picLocks noChangeAspect="1"/>
          </p:cNvPicPr>
          <p:nvPr/>
        </p:nvPicPr>
        <p:blipFill>
          <a:blip r:embed="rId5"/>
          <a:stretch>
            <a:fillRect/>
          </a:stretch>
        </p:blipFill>
        <p:spPr>
          <a:xfrm>
            <a:off x="530352" y="1956816"/>
            <a:ext cx="11130991" cy="937450"/>
          </a:xfrm>
          <a:prstGeom prst="rect">
            <a:avLst/>
          </a:prstGeom>
        </p:spPr>
      </p:pic>
      <p:sp>
        <p:nvSpPr>
          <p:cNvPr id="10" name="TextBox 9"/>
          <p:cNvSpPr txBox="1"/>
          <p:nvPr/>
        </p:nvSpPr>
        <p:spPr>
          <a:xfrm>
            <a:off x="530352" y="304057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where do the first ten minutes go?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profile come before any total?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twenty minutes and tells you which of the next hundred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and no score on any wall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lab's rules, and why is it observed without a score?</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no autocomplete that writes code, no search for code.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other notebook in notebooks/, and no deck or cheat sheet,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with no score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40" name="Oval 3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files, written by the notebook's last cell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hand in, and where does it go?</a:t>
            </a:r>
          </a:p>
        </p:txBody>
      </p:sp>
      <p:pic>
        <p:nvPicPr>
          <p:cNvPr id="9" name="mermaid diagram" descr="595bcb46c6418f8d.png"/>
          <p:cNvPicPr>
            <a:picLocks noChangeAspect="1"/>
          </p:cNvPicPr>
          <p:nvPr/>
        </p:nvPicPr>
        <p:blipFill>
          <a:blip r:embed="rId5"/>
          <a:stretch>
            <a:fillRect/>
          </a:stretch>
        </p:blipFill>
        <p:spPr>
          <a:xfrm>
            <a:off x="701972" y="1682496"/>
            <a:ext cx="4443084" cy="4517136"/>
          </a:xfrm>
          <a:prstGeom prst="rect">
            <a:avLst/>
          </a:prstGeom>
        </p:spPr>
      </p:pic>
      <p:sp>
        <p:nvSpPr>
          <p:cNvPr id="10" name="TextBox 9"/>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three files land in notebooks/output/ as clean_orders.csv, decisions_log.csv and note.md. Open notebooks/C2_W01_D05_lab_STUDENT.ipynb and exercises/unguided/C2_W01_D05_lab_brief_STUDENT.md now;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run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take a raw export to a note Anand would sign, alone, in 120 minutes?</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steps, at this pace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the lab ask, and how long does each take?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file hold?</a:t>
            </a:r>
          </a:p>
        </p:txBody>
      </p:sp>
      <p:sp>
        <p:nvSpPr>
          <p:cNvPr id="14" name="TextBox 13"/>
          <p:cNvSpPr txBox="1"/>
          <p:nvPr/>
        </p:nvSpPr>
        <p:spPr>
          <a:xfrm>
            <a:off x="69494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Profile.</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count?</a:t>
            </a:r>
          </a:p>
        </p:txBody>
      </p:sp>
      <p:sp>
        <p:nvSpPr>
          <p:cNvPr id="19" name="TextBox 18"/>
          <p:cNvSpPr txBox="1"/>
          <p:nvPr/>
        </p:nvSpPr>
        <p:spPr>
          <a:xfrm>
            <a:off x="2580589"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Clean, with a log.</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Is it still Finance's data?</a:t>
            </a:r>
          </a:p>
        </p:txBody>
      </p:sp>
      <p:sp>
        <p:nvSpPr>
          <p:cNvPr id="24" name="TextBox 23"/>
          <p:cNvSpPr txBox="1"/>
          <p:nvPr/>
        </p:nvSpPr>
        <p:spPr>
          <a:xfrm>
            <a:off x="446623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Reconcile.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Decompose.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Could chance do it?</a:t>
            </a:r>
          </a:p>
        </p:txBody>
      </p:sp>
      <p:sp>
        <p:nvSpPr>
          <p:cNvPr id="34" name="TextBox 33"/>
          <p:cNvSpPr txBox="1"/>
          <p:nvPr/>
        </p:nvSpPr>
        <p:spPr>
          <a:xfrm>
            <a:off x="823752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One shuffle test.</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should Meera do?</a:t>
            </a:r>
          </a:p>
        </p:txBody>
      </p:sp>
      <p:sp>
        <p:nvSpPr>
          <p:cNvPr id="39" name="TextBox 38"/>
          <p:cNvSpPr txBox="1"/>
          <p:nvPr/>
        </p:nvSpPr>
        <p:spPr>
          <a:xfrm>
            <a:off x="10123170" y="3492500"/>
            <a:ext cx="1373581" cy="201676"/>
          </a:xfrm>
          <a:prstGeom prst="rect">
            <a:avLst/>
          </a:prstGeom>
          <a:noFill/>
        </p:spPr>
        <p:txBody>
          <a:bodyPr wrap="square" anchor="t" lIns="0" rIns="0" tIns="0" bIns="0">
            <a:spAutoFit/>
          </a:bodyPr>
          <a:lstStyle/>
          <a:p>
            <a:pPr algn="l"/>
            <a:r>
              <a:rPr sz="1000" b="0" i="0">
                <a:solidFill>
                  <a:srgbClr val="CFC9EE"/>
                </a:solidFill>
                <a:latin typeface="Calibri"/>
              </a:rPr>
              <a:t>The note.</a:t>
            </a:r>
          </a:p>
        </p:txBody>
      </p:sp>
      <p:sp>
        <p:nvSpPr>
          <p:cNvPr id="40" name="Rounded Rectangle 39"/>
          <p:cNvSpPr/>
          <p:nvPr/>
        </p:nvSpPr>
        <p:spPr>
          <a:xfrm>
            <a:off x="530352" y="393090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676656" y="405892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77824" y="404977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checks the note's first line against his books, and Meera acts on it on Monday. The minutes are a pace; the order of the steps is fixed.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45" name="Oval 4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totals, set against the control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After the clock stops, what do you check, and what do you write down?</a:t>
            </a:r>
          </a:p>
        </p:txBody>
      </p:sp>
      <p:pic>
        <p:nvPicPr>
          <p:cNvPr id="9" name="mermaid diagram" descr="706f65063a320733.png"/>
          <p:cNvPicPr>
            <a:picLocks noChangeAspect="1"/>
          </p:cNvPicPr>
          <p:nvPr/>
        </p:nvPicPr>
        <p:blipFill>
          <a:blip r:embed="rId5"/>
          <a:stretch>
            <a:fillRect/>
          </a:stretch>
        </p:blipFill>
        <p:spPr>
          <a:xfrm>
            <a:off x="530352" y="1956816"/>
            <a:ext cx="11130991" cy="3026156"/>
          </a:xfrm>
          <a:prstGeom prst="rect">
            <a:avLst/>
          </a:prstGeom>
        </p:spPr>
      </p:pic>
      <p:sp>
        <p:nvSpPr>
          <p:cNvPr id="10" name="TextBox 9"/>
          <p:cNvSpPr txBox="1"/>
          <p:nvPr/>
        </p:nvSpPr>
        <p:spPr>
          <a:xfrm>
            <a:off x="530352" y="51292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What you handed in stays as it was, and this line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the clock took is the step to 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morning tell each of you?</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pass, observed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ASSISTANTS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no chat model and no autocomplete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and this week you find out which one it is with nothing scored.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28" name="Oval 27"/>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