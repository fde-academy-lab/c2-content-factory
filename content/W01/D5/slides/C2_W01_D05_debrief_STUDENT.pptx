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Anand said this on Wednesday, and the lunch tally says how many notes this</a:t>
            </a:r>
          </a:p>
          <a:p>
            <a:r>
              <a:t>morning sent a number Finance would have returned. The debrief runs forty minutes as three chapters, one per place most</a:t>
            </a:r>
          </a:p>
          <a:p>
            <a:r>
              <a:t>rooms break: chapter 1 before lunch (20 minutes, this minute included), chapters 2 and 3 after it</a:t>
            </a:r>
          </a:p>
          <a:p>
            <a:r>
              <a:t>(10 minutes each). Each chapter pairs with a notebook of the same number in notebooks/, which opens</a:t>
            </a:r>
          </a:p>
          <a:p>
            <a:r>
              <a:t>now that the clock has stopped. Every number on these slides comes from an invented export,</a:t>
            </a:r>
          </a:p>
          <a:p>
            <a:r>
              <a:t>labelled invented. This morning's own numbers are in the day sheet's debrief table, to say aloud at each slide,</a:t>
            </a:r>
          </a:p>
          <a:p>
            <a:r>
              <a:t>and in the notebooks' empty your-turn cells, to type live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three questions in order and say that each is the question the one before</a:t>
            </a:r>
          </a:p>
          <a:p>
            <a:r>
              <a:t>it leaves open. Say once that the slides run on an invented export so that they name nothing in</a:t>
            </a:r>
          </a:p>
          <a:p>
            <a:r>
              <a:t>this morning's file, and that the notebooks' your-turn cells are where this morning's numbers</a:t>
            </a:r>
          </a:p>
          <a:p>
            <a:r>
              <a:t>appear.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before lunch. Notebook 1, C2_W01_D05_01_debrief_quarters_STUDENT.ipynb, goes</a:t>
            </a:r>
          </a:p>
          <a:p>
            <a:r>
              <a:t>on the projector at S7 and stays there to S15, its your-turn cells typed live. Close with two</a:t>
            </a:r>
          </a:p>
          <a:p>
            <a:r>
              <a:t>learners reading their second-look line from the lab notebook.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then the five questions. Ask the room to hold one</a:t>
            </a:r>
          </a:p>
          <a:p>
            <a:r>
              <a:t>number in mind: the headline their own note led with this morning.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Booked revenue is the rupees of the orders recorded as sales in a quarter, and a</a:t>
            </a:r>
          </a:p>
          <a:p>
            <a:r>
              <a:t>control total is the source system's own count of orders and sum of rupees for a period. Anand</a:t>
            </a:r>
          </a:p>
          <a:p>
            <a:r>
              <a:t>returns any figure that does not tie to his control total, and Meera acts on the first line of the</a:t>
            </a:r>
          </a:p>
          <a:p>
            <a:r>
              <a:t>note: a wrong first line sends Monday's review after the wrong question while Marketing's Rs 12</a:t>
            </a:r>
          </a:p>
          <a:p>
            <a:r>
              <a:t>crore request is judged against a quarter that did not happen. One sentence of likeness, even when</a:t>
            </a:r>
          </a:p>
          <a:p>
            <a:r>
              <a:t>D4 is left to self-study: Nykaa reports gross merchandise value and revenue from operations for the</a:t>
            </a:r>
          </a:p>
          <a:p>
            <a:r>
              <a:t>same quarter, so every figure there names its base and bridges to the books.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or one minute live if the room is ahead. What both show: an error that drops or doubles</a:t>
            </a:r>
          </a:p>
          <a:p>
            <a:r>
              <a:t>rows makes no sound, and only a comparison with a total from outside the file finds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numbers are the invented export's, so the mechanism shows without naming what</a:t>
            </a:r>
          </a:p>
          <a:p>
            <a:r>
              <a:t>this morning's file holds. Read the three numbers, then say this morning's hurried headline aloud</a:t>
            </a:r>
          </a:p>
          <a:p>
            <a:r>
              <a:t>from the day sheet's debrief table and ask how many sent a headline with a plus sign, without naming</a:t>
            </a:r>
          </a:p>
          <a:p>
            <a:r>
              <a:t>anyone; the TA tally already knows. Then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Option a is Monday's instinct and a good one on another day; d is</a:t>
            </a:r>
          </a:p>
          <a:p>
            <a:r>
              <a:t>the decomposition, which is the right step on data you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Open notebook 1 on the projector and type its first your-turn cell: it prints this</a:t>
            </a:r>
          </a:p>
          <a:p>
            <a:r>
              <a:t>morning's version of this table and this morning's hurried headline beside the books. Point at the</a:t>
            </a:r>
          </a:p>
          <a:p>
            <a:r>
              <a:t>two quarters: each misses the books, and S10 asks what a count check alone would leave.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and a half minutes. Invented numbers. Then type the sizing your-turn cell in notebook 1, which sizes</a:t>
            </a:r>
          </a:p>
          <a:p>
            <a:r>
              <a:t>the same options on this morning's file, with D marked not run for the same reason: no ledger came</a:t>
            </a:r>
          </a:p>
          <a:p>
            <a:r>
              <a:t>with either export. Land two points: B is where most people who did check stopped, and it still</a:t>
            </a:r>
          </a:p>
          <a:p>
            <a:r>
              <a:t>leaves the headline well off the books; D would name every order that differs and costs the</a:t>
            </a:r>
          </a:p>
          <a:p>
            <a:r>
              <a:t>afternoon, once Finance sends the ledger. Minutes are the lab brief's pace, and D's is an estimate</a:t>
            </a:r>
          </a:p>
          <a:p>
            <a:r>
              <a:t>for a request to Finance and a join.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picture behind S8: each check to the right sees what the one before it sees and one</a:t>
            </a:r>
          </a:p>
          <a:p>
            <a:r>
              <a:t>more kind of error, at more cost and with more that Finance must send.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 popular wrong answer is c: people expect the count fix to fix</a:t>
            </a:r>
          </a:p>
          <a:p>
            <a:r>
              <a:t>everything.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The answer is b. Every count lands and Q1 is still short in rupees: a</a:t>
            </a:r>
          </a:p>
          <a:p>
            <a:r>
              <a:t>count check proves the rows are there and says nothing about each row's value. Type the count-check your-turn</a:t>
            </a:r>
          </a:p>
          <a:p>
            <a:r>
              <a:t>cell in notebook 1 for this morning's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 then reveal.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type the bridge your-turn cell in notebook 1, which draws this morning's</a:t>
            </a:r>
          </a:p>
          <a:p>
            <a:r>
              <a:t>bridge; say this morning's two moves aloud from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this morning's three headlines aloud from the day sheet's debrief table, then</a:t>
            </a:r>
          </a:p>
          <a:p>
            <a:r>
              <a:t>ask one learner what Meera would have done on Monday with each of the three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second-route your-turn cell in notebook 1; both checks pass on this</a:t>
            </a:r>
          </a:p>
          <a:p>
            <a:r>
              <a:t>morning's file, and the table it prints lists the rows Finance does not hold. The bridge's moves</a:t>
            </a:r>
          </a:p>
          <a:p>
            <a:r>
              <a:t>were found by subtracting totals, and these sums count the decisions themselves, so a row set aside</a:t>
            </a:r>
          </a:p>
          <a:p>
            <a:r>
              <a:t>without its log line, or a value set to zero where it should have been read, makes the two</a:t>
            </a:r>
          </a:p>
          <a:p>
            <a:r>
              <a:t>disagree.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1, whose your-turn cell runs the same comparison on</a:t>
            </a:r>
          </a:p>
          <a:p>
            <a:r>
              <a:t>this morning's file. Run it live for two minutes only if the tally shows more than a quarter of</a:t>
            </a:r>
          </a:p>
          <a:p>
            <a:r>
              <a:t>notes named a frequency branch.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and a half minutes, two learners' second-look lines included: one whose totals landed and</a:t>
            </a:r>
          </a:p>
          <a:p>
            <a:r>
              <a:t>one whose did not. Thank both the same way. The clock removes this step first because it produces no</a:t>
            </a:r>
          </a:p>
          <a:p>
            <a:r>
              <a:t>new number, only a yes or a no, and it takes fifteen of the lab's 120 minutes. Then lunch.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2, C2_W01_D05_02_debrief_values_STUDENT.ipynb, on the</a:t>
            </a:r>
          </a:p>
          <a:p>
            <a:r>
              <a:t>projector from S22, its your-turn cells typed live.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six questions, and start.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base short by one large order can halve the fall the note reports: nobody argues</a:t>
            </a:r>
          </a:p>
          <a:p>
            <a:r>
              <a:t>with the direction, so nobody acts at the right scale, and when Finance finds the order every other</a:t>
            </a:r>
          </a:p>
          <a:p>
            <a:r>
              <a:t>number in the note is doubted with it. One sentence of likeness, even when D20 is self-study:</a:t>
            </a:r>
          </a:p>
          <a:p>
            <a:r>
              <a:t>JPMorgan's own task force found a risk spreadsheet that divided by a sum instead of an average and</a:t>
            </a:r>
          </a:p>
          <a:p>
            <a:r>
              <a:t>never raised an error.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parallel: the sheet produced a plausible number every day, and only a check against</a:t>
            </a:r>
          </a:p>
          <a:p>
            <a:r>
              <a:t>something outside the sheet could have caught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Read the code as a hurried analyst's honest attempt: it runs, it</a:t>
            </a:r>
          </a:p>
          <a:p>
            <a:r>
              <a:t>reports nothing and every count lands. Nobody in the room should feel caught. Notebook 2's first</a:t>
            </a:r>
          </a:p>
          <a:p>
            <a:r>
              <a:t>your-turn cell prints this morning's counts and rejects.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 The popular wrong answer is a: int() cuts the paise off a</a:t>
            </a:r>
          </a:p>
          <a:p>
            <a:r>
              <a:t>decimal number, so people expect it to cut them off a decimal string too, and it refuses the string.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Type the gap your-turn cell in notebook 2: it prints which of this</a:t>
            </a:r>
          </a:p>
          <a:p>
            <a:r>
              <a:t>morning's quarters misses and by how much; the day sheet's debrief table has the figure. The</a:t>
            </a:r>
          </a:p>
          <a:p>
            <a:r>
              <a:t>your-turn cell that finds the row is for the room tonight.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Invented numbers. Type the options your-turn cell in notebook 2, which sizes the</a:t>
            </a:r>
          </a:p>
          <a:p>
            <a:r>
              <a:t>same four on this morning's file and prints the row that would not convert. Land the contrast</a:t>
            </a:r>
          </a:p>
          <a:p>
            <a:r>
              <a:t>between A and B: the same wrong headline, and B fails the count check, so B's gap is visible and</a:t>
            </a:r>
          </a:p>
          <a:p>
            <a:r>
              <a:t>A's is not.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or one minute live: ask two learners which branch their own row took this morning and</a:t>
            </a:r>
          </a:p>
          <a:p>
            <a:r>
              <a:t>why.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One log line adds Rs 8,50,000 of fall: the reported fall grows</a:t>
            </a:r>
          </a:p>
          <a:p>
            <a:r>
              <a:t>from Rs 5,50,000, 17.5 percent, to Rs 14,00,000, 35.0 percent, the difference between "a soft</a:t>
            </a:r>
          </a:p>
          <a:p>
            <a:r>
              <a:t>quarter" and "a quarter to explain".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level 5 of notebook 2, whose your-turn cell runs the same check on this morning's file.</a:t>
            </a:r>
          </a:p>
          <a:p>
            <a:r>
              <a:t>Run it live for two minutes if the tally shows notes that read a segment's move the wrong way round.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second-route your-turn cell of notebook 2; the account balances on this</a:t>
            </a:r>
          </a:p>
          <a:p>
            <a:r>
              <a:t>morning's file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the last slide included. Notebook 3,</a:t>
            </a:r>
          </a:p>
          <a:p>
            <a:r>
              <a:t>C2_W01_D05_03_debrief_segments_STUDENT.ipynb, on the projector from S35, its your-turn cells typed</a:t>
            </a:r>
          </a:p>
          <a:p>
            <a:r>
              <a:t>live.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five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and Marketing both read the first line: Meera acts on it, and Marketing</a:t>
            </a:r>
          </a:p>
          <a:p>
            <a:r>
              <a:t>attacks any rate that rests on a handful of orders. A trend claimed from a few orders sends a team</a:t>
            </a:r>
          </a:p>
          <a:p>
            <a:r>
              <a:t>to fix a segment that did nothing while the branch that moved goes unopened. One sentence of</a:t>
            </a:r>
          </a:p>
          <a:p>
            <a:r>
              <a:t>likeness, even when D33 is self-study: IMDb will not rank a title in its Top 250 until it has 25,000</a:t>
            </a:r>
          </a:p>
          <a:p>
            <a:r>
              <a:t>ratings.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Wainer's chapter also records that the Gates Foundation had given about $1.7 billion in</a:t>
            </a:r>
          </a:p>
          <a:p>
            <a:r>
              <a:t>education grants by 2001, with small schools central to them; notebook 3 carries the source.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Type the tree your-turn cell in notebook 3 for this morning's tree, and say</a:t>
            </a:r>
          </a:p>
          <a:p>
            <a:r>
              <a:t>this morning's split aloud from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 is correct. What can seven orders carry? This morning's own corporate</a:t>
            </a:r>
          </a:p>
          <a:p>
            <a:r>
              <a:t>headline and its count are in the day sheet's debrief table; say them after the room answers S37.</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 Option c is the overcorrection: the corporate rupees are real</a:t>
            </a:r>
          </a:p>
          <a:p>
            <a:r>
              <a:t>money and Meera should hear them, as counts.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coin-flip your-turn cell in notebook 3 for this morning's corporate count</a:t>
            </a:r>
          </a:p>
          <a:p>
            <a:r>
              <a:t>and its share. The corporate action is a phone call, which costs nothing; a retention plan built on</a:t>
            </a:r>
          </a:p>
          <a:p>
            <a:r>
              <a:t>a handful of orders costs a quarter.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Invented numbers. B hides that nearly all of the fall is the corporate</a:t>
            </a:r>
          </a:p>
          <a:p>
            <a:r>
              <a:t>book. D, run in notebook 3 after the lead's own test, finds the same lead at three times the</a:t>
            </a:r>
          </a:p>
          <a:p>
            <a:r>
              <a:t>minutes, and four tests at 0.05 carry about a one-in-five chance that one looks real by luck, so on</a:t>
            </a:r>
          </a:p>
          <a:p>
            <a:r>
              <a:t>another file D leads with a fluke. Say this morning's A, B and C aloud from the day sheet; C's test</a:t>
            </a:r>
          </a:p>
          <a:p>
            <a:r>
              <a:t>and D's four wait for S42.</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picture behind S39's call, and the order of the note's claim and caveat.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 same 16 members sit in both quarters, so each member's own two quarters</a:t>
            </a:r>
          </a:p>
          <a:p>
            <a:r>
              <a:t>are swapped at random, keeping every member's orders together.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The fall was found in the tree, so the note reports both</a:t>
            </a:r>
          </a:p>
          <a:p>
            <a:r>
              <a:t>directions. Read the p-value sentence aloud once, word for word, since Saturday's paper tests what it</a:t>
            </a:r>
          </a:p>
          <a:p>
            <a:r>
              <a:t>means: "In 1.1 percent of worlds where the quarter made no difference to each member's basket, chance</a:t>
            </a:r>
          </a:p>
          <a:p>
            <a:r>
              <a:t>produced a change this large, either way." Type notebook 3's option D your-turn cell, which runs</a:t>
            </a:r>
          </a:p>
          <a:p>
            <a:r>
              <a:t>one test per segment on this morning's file, then the paired-test your-turn cell with the segment</a:t>
            </a:r>
          </a:p>
          <a:p>
            <a:r>
              <a:t>each learner's lab tree named.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 learner who shuffled segment labels across whole customers this morning answered the</a:t>
            </a:r>
          </a:p>
          <a:p>
            <a:r>
              <a:t>second question fairly; accept it with the question named.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sign-test your-turn cell in notebook 3 on the lab lead. When the flips and</a:t>
            </a:r>
          </a:p>
          <a:p>
            <a:r>
              <a:t>the count disagree, a handful of members moved the average, and the note says so.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3, unless more than a quarter of the room pooled the</a:t>
            </a:r>
          </a:p>
          <a:p>
            <a:r>
              <a:t>quarters or shuffled single orders; then run it for three minutes in place of S44. Both cards are</a:t>
            </a:r>
          </a:p>
          <a:p>
            <a:r>
              <a:t>2,000 runs on random.Random(7), each world counted by its change in rupees per member. S42's 0.011</a:t>
            </a:r>
          </a:p>
          <a:p>
            <a:r>
              <a:t>counts the same flips by the percentage change in revenue per order, and a fall and a rise of the</a:t>
            </a:r>
          </a:p>
          <a:p>
            <a:r>
              <a:t>same percentage are different sizes in rupees, so the two counts differ; a note names its measure.</a:t>
            </a:r>
          </a:p>
          <a:p>
            <a:r>
              <a:t>The same cell shows single orders shuffled between Retail-Plus and Retail-Core at 0.0945, against 0.0385 with the label moving with the whole customer. The your-turn</a:t>
            </a:r>
          </a:p>
          <a:p>
            <a:r>
              <a:t>cell runs all four on this morning's file.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unless the tally shows notes quoting a mean as the typical order; then three minutes, and</a:t>
            </a:r>
          </a:p>
          <a:p>
            <a:r>
              <a:t>say this morning's mean and median aloud from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 note as it should read, on the invented export: booked revenue fell 35.0</a:t>
            </a:r>
          </a:p>
          <a:p>
            <a:r>
              <a:t>percent, Rs 40,00,000 to Rs 26,00,000; Rs 13,88,200 of it is the corporate book on five orders then</a:t>
            </a:r>
          </a:p>
          <a:p>
            <a:r>
              <a:t>two; among consumers Retail-Plus's revenue per order fell 15.0 percent with its members and their</a:t>
            </a:r>
          </a:p>
          <a:p>
            <a:r>
              <a:t>frequency unchanged, p = 0.011 with each member's quarters flipped; the corporate move is a</a:t>
            </a:r>
          </a:p>
          <a:p>
            <a:r>
              <a:t>question to its account owner, and Student's rise on 10 orders then 14 waits for more orders.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Close the debrief. The TAs tell each person their marked step privately during</a:t>
            </a:r>
          </a:p>
          <a:p>
            <a:r>
              <a:t>the rehearsal, one learner at a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7.png"/><Relationship Id="rId6"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3.png"/><Relationship Id="rId6"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7.png"/><Relationship Id="rId6"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4.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2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9.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3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9.png"/><Relationship Id="rId6" Type="http://schemas.openxmlformats.org/officeDocument/2006/relationships/image" Target="../media/image7.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LAB DEBRIEF</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Where did the room break?</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“Until your numbers match ours, Finance will not act on a drop measured from an ERP export.”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Do the quarters tie?</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38653"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Is a clean pass done?</a:t>
            </a:r>
          </a:p>
        </p:txBody>
      </p:sp>
      <p:sp>
        <p:nvSpPr>
          <p:cNvPr id="15" name="TextBox 14"/>
          <p:cNvSpPr txBox="1"/>
          <p:nvPr/>
        </p:nvSpPr>
        <p:spPr>
          <a:xfrm>
            <a:off x="454656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930616"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number leads?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52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decide whether a note reaches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this morning's notes break, and what should each step have been?</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Do the quarters tie?</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Do the two quarters in your note match Finance's books?</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Is a clean pass done?</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Every count reconciles and nothing was rejected: is the pass finished?</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Which number leads?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Which finding leads the note, and how sure can Meera be of it?</a:t>
            </a:r>
          </a:p>
        </p:txBody>
      </p:sp>
      <p:sp>
        <p:nvSpPr>
          <p:cNvPr id="25" name="TextBox 24"/>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answer raises the next question: a note whose counts tie to the books can still be short in rupees, and a note that is right to the rupee can still lead with the wrong number.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52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 the quarters tie?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Do the two quarters in your note match Finance's books, and what did the note say when nobody checked?</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 the quarters tie?</a:t>
            </a:r>
          </a:p>
        </p:txBody>
      </p:sp>
      <p:sp>
        <p:nvSpPr>
          <p:cNvPr id="11" name="Rounded Rectangle 10"/>
          <p:cNvSpPr/>
          <p:nvPr/>
        </p:nvSpPr>
        <p:spPr>
          <a:xfrm>
            <a:off x="239132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a clean pass done?</a:t>
            </a:r>
          </a:p>
        </p:txBody>
      </p:sp>
      <p:sp>
        <p:nvSpPr>
          <p:cNvPr id="12" name="Rounded Rectangle 11"/>
          <p:cNvSpPr/>
          <p:nvPr/>
        </p:nvSpPr>
        <p:spPr>
          <a:xfrm>
            <a:off x="411035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leads?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Anand signs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quarters to tie, and which five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Iyer, the finance controller, reads the note's first line against his control totals before any number reaches Meera; a first line the wrong way round sends Monday's review after a quarter that did not happen.</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did the hurried pass send?</a:t>
            </a:r>
          </a:p>
        </p:txBody>
      </p:sp>
      <p:sp>
        <p:nvSpPr>
          <p:cNvPr id="17" name="TextBox 16"/>
          <p:cNvSpPr txBox="1"/>
          <p:nvPr/>
        </p:nvSpPr>
        <p:spPr>
          <a:xfrm>
            <a:off x="694944"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A hurried pass sends a headline.</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check, at what cost?</a:t>
            </a:r>
          </a:p>
        </p:txBody>
      </p:sp>
      <p:sp>
        <p:nvSpPr>
          <p:cNvPr id="22" name="TextBox 21"/>
          <p:cNvSpPr txBox="1"/>
          <p:nvPr/>
        </p:nvSpPr>
        <p:spPr>
          <a:xfrm>
            <a:off x="2957718"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checks are sized side by side.</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a count check fix?</a:t>
            </a:r>
          </a:p>
        </p:txBody>
      </p:sp>
      <p:sp>
        <p:nvSpPr>
          <p:cNvPr id="27" name="TextBox 26"/>
          <p:cNvSpPr txBox="1"/>
          <p:nvPr/>
        </p:nvSpPr>
        <p:spPr>
          <a:xfrm>
            <a:off x="5220492"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It lands the rows and leaves something.</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moves close the bridge?</a:t>
            </a:r>
          </a:p>
        </p:txBody>
      </p:sp>
      <p:sp>
        <p:nvSpPr>
          <p:cNvPr id="32" name="TextBox 31"/>
          <p:cNvSpPr txBox="1"/>
          <p:nvPr/>
        </p:nvSpPr>
        <p:spPr>
          <a:xfrm>
            <a:off x="7483266"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Two moves walk the sum to the books.</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465836"/>
          </a:xfrm>
          <a:prstGeom prst="rect">
            <a:avLst/>
          </a:prstGeom>
          <a:noFill/>
        </p:spPr>
        <p:txBody>
          <a:bodyPr wrap="square" anchor="t" lIns="0" rIns="0" tIns="0" bIns="0">
            <a:spAutoFit/>
          </a:bodyPr>
          <a:lstStyle/>
          <a:p>
            <a:pPr algn="l"/>
            <a:r>
              <a:rPr sz="1300" b="1" i="0">
                <a:solidFill>
                  <a:srgbClr val="FFFFFF"/>
                </a:solidFill>
                <a:latin typeface="Calibri"/>
              </a:rPr>
              <a:t>Do the decisions sum the same?</a:t>
            </a:r>
          </a:p>
        </p:txBody>
      </p:sp>
      <p:sp>
        <p:nvSpPr>
          <p:cNvPr id="37" name="TextBox 36"/>
          <p:cNvSpPr txBox="1"/>
          <p:nvPr/>
        </p:nvSpPr>
        <p:spPr>
          <a:xfrm>
            <a:off x="9746040" y="473151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log's own sums are the second route.</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40" name="Oval 3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42" name="Oval 41"/>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52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reads the note before Meera acts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first line first, and what does a wrong one cost?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 Iyer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 FIRST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finance controller, before any number reaches Meera</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to Q2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revenue per quarter, the note's first line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direction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reported the wrong way round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the number in your note go to Meera as it stands?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52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Nykaa reports two true numbers for one quarter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has to bridge before they claim a number?</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eceipt_310d1be0be75.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NYKAA, APRIL TO JUNE 2025</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GMV Rs 4,182 cr, revenue Rs 2,155 cr</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GMV is everything ordered, before cancellations, returns and tax come out; revenue from operations is what the company books as its income. Quote one to the owner of the other and you are out by nearly half. Source: FSN E-Commerce Ventures press release, 12 August 2025.</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ile-x_7c9ffa7c6e09.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PUBLIC HEALTH ENGLAND, OCTOBER 2020</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15,841 cases left out</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Positive cases from 25 September to 2 October missed the daily figures because files exceeded a size limit. No step raised an error. Source: UK government statement, 4 October 2020.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  ·  6 / 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hurried run says Q2 grew 21.2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headline does a pass that skips the reconciliation send?</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31,50,000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83 rows, invented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38,16,420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AS SUMMED</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92 rows, invented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+21.2%</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"Q2 grew; no action on the top line"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the invented export the pass kept the rows as they arrived and set to zero any value that would not convert; the arithmetic is right, and the note built on it tells Meera the quarter was a good 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sending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stands between the hurried headline and Meera?</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median order, in case one large order moved the total on its own; b) the p-value of the Q1 to Q2 change, with 2,000 shuffles; c) orders and rupees per quarter against Finance's control totals; d) the segment split, to see which of the four segments grew the most.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52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both quarters miss Finance's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control file show against the hurried run?</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914400"/>
                <a:gridCol w="2089319"/>
                <a:gridCol w="2864033"/>
                <a:gridCol w="2399205"/>
                <a:gridCol w="2864033"/>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Rows summed</a:t>
                      </a:r>
                    </a:p>
                  </a:txBody>
                  <a:tcPr marL="101600" marR="101600" marT="38100" marB="38100" anchor="ctr">
                    <a:solidFill>
                      <a:srgbClr val="1A0F5C"/>
                    </a:solidFill>
                  </a:tcPr>
                </a:tc>
                <a:tc>
                  <a:txBody>
                    <a:bodyPr/>
                    <a:lstStyle/>
                    <a:p>
                      <a:r>
                        <a:rPr sz="1250" b="1" i="0">
                          <a:solidFill>
                            <a:srgbClr val="FFFFFF"/>
                          </a:solidFill>
                          <a:latin typeface="Calibri"/>
                        </a:rPr>
                        <a:t>Finance's orders</a:t>
                      </a:r>
                    </a:p>
                  </a:txBody>
                  <a:tcPr marL="101600" marR="101600" marT="38100" marB="38100" anchor="ctr">
                    <a:solidFill>
                      <a:srgbClr val="1A0F5C"/>
                    </a:solidFill>
                  </a:tcPr>
                </a:tc>
                <a:tc>
                  <a:txBody>
                    <a:bodyPr/>
                    <a:lstStyle/>
                    <a:p>
                      <a:r>
                        <a:rPr sz="1250" b="1" i="0">
                          <a:solidFill>
                            <a:srgbClr val="FFFFFF"/>
                          </a:solidFill>
                          <a:latin typeface="Calibri"/>
                        </a:rPr>
                        <a:t>Rupees summed</a:t>
                      </a:r>
                    </a:p>
                  </a:txBody>
                  <a:tcPr marL="101600" marR="101600" marT="38100" marB="38100" anchor="ctr">
                    <a:solidFill>
                      <a:srgbClr val="1A0F5C"/>
                    </a:solidFill>
                  </a:tcPr>
                </a:tc>
                <a:tc>
                  <a:txBody>
                    <a:bodyPr/>
                    <a:lstStyle/>
                    <a:p>
                      <a:r>
                        <a:rPr sz="1250" b="1" i="0">
                          <a:solidFill>
                            <a:srgbClr val="FFFFFF"/>
                          </a:solidFill>
                          <a:latin typeface="Calibri"/>
                        </a:rPr>
                        <a:t>Finance's rupees</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83</a:t>
                      </a:r>
                    </a:p>
                  </a:txBody>
                  <a:tcPr marL="101600" marR="101600" marT="38100" marB="38100" anchor="ctr">
                    <a:solidFill>
                      <a:srgbClr val="FFFFFF"/>
                    </a:solidFill>
                  </a:tcPr>
                </a:tc>
                <a:tc>
                  <a:txBody>
                    <a:bodyPr/>
                    <a:lstStyle/>
                    <a:p>
                      <a:r>
                        <a:rPr sz="1200" b="0" i="0">
                          <a:solidFill>
                            <a:srgbClr val="1A1440"/>
                          </a:solidFill>
                          <a:latin typeface="Calibri"/>
                        </a:rPr>
                        <a:t>83</a:t>
                      </a:r>
                    </a:p>
                  </a:txBody>
                  <a:tcPr marL="101600" marR="101600" marT="38100" marB="38100" anchor="ctr">
                    <a:solidFill>
                      <a:srgbClr val="FFFFFF"/>
                    </a:solidFill>
                  </a:tcPr>
                </a:tc>
                <a:tc>
                  <a:txBody>
                    <a:bodyPr/>
                    <a:lstStyle/>
                    <a:p>
                      <a:r>
                        <a:rPr sz="1200" b="0" i="0">
                          <a:solidFill>
                            <a:srgbClr val="1A1440"/>
                          </a:solidFill>
                          <a:latin typeface="Calibri"/>
                        </a:rPr>
                        <a:t>Rs 31,50,000</a:t>
                      </a:r>
                    </a:p>
                  </a:txBody>
                  <a:tcPr marL="101600" marR="101600" marT="38100" marB="38100" anchor="ctr">
                    <a:solidFill>
                      <a:srgbClr val="FFFFFF"/>
                    </a:solidFill>
                  </a:tcPr>
                </a:tc>
                <a:tc>
                  <a:txBody>
                    <a:bodyPr/>
                    <a:lstStyle/>
                    <a:p>
                      <a:r>
                        <a:rPr sz="1200" b="0" i="0">
                          <a:solidFill>
                            <a:srgbClr val="1A1440"/>
                          </a:solidFill>
                          <a:latin typeface="Calibri"/>
                        </a:rPr>
                        <a:t>Rs 40,00,000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92</a:t>
                      </a:r>
                    </a:p>
                  </a:txBody>
                  <a:tcPr marL="101600" marR="101600" marT="38100" marB="38100" anchor="ctr">
                    <a:solidFill>
                      <a:srgbClr val="F4F2FA"/>
                    </a:solidFill>
                  </a:tcPr>
                </a:tc>
                <a:tc>
                  <a:txBody>
                    <a:bodyPr/>
                    <a:lstStyle/>
                    <a:p>
                      <a:r>
                        <a:rPr sz="1200" b="0" i="0">
                          <a:solidFill>
                            <a:srgbClr val="1A1440"/>
                          </a:solidFill>
                          <a:latin typeface="Calibri"/>
                        </a:rPr>
                        <a:t>84</a:t>
                      </a:r>
                    </a:p>
                  </a:txBody>
                  <a:tcPr marL="101600" marR="101600" marT="38100" marB="38100" anchor="ctr">
                    <a:solidFill>
                      <a:srgbClr val="F4F2FA"/>
                    </a:solidFill>
                  </a:tcPr>
                </a:tc>
                <a:tc>
                  <a:txBody>
                    <a:bodyPr/>
                    <a:lstStyle/>
                    <a:p>
                      <a:r>
                        <a:rPr sz="1200" b="0" i="0">
                          <a:solidFill>
                            <a:srgbClr val="1A1440"/>
                          </a:solidFill>
                          <a:latin typeface="Calibri"/>
                        </a:rPr>
                        <a:t>Rs 38,16,420</a:t>
                      </a:r>
                    </a:p>
                  </a:txBody>
                  <a:tcPr marL="101600" marR="101600" marT="38100" marB="38100" anchor="ctr">
                    <a:solidFill>
                      <a:srgbClr val="F4F2FA"/>
                    </a:solidFill>
                  </a:tcPr>
                </a:tc>
                <a:tc>
                  <a:txBody>
                    <a:bodyPr/>
                    <a:lstStyle/>
                    <a:p>
                      <a:r>
                        <a:rPr sz="1200" b="0" i="0">
                          <a:solidFill>
                            <a:srgbClr val="1A1440"/>
                          </a:solidFill>
                          <a:latin typeface="Calibri"/>
                        </a:rPr>
                        <a:t>Rs 26,00,000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Both quarters miss Finance's books on the invented export, so the hurried headline cannot go to Meera.</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52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checks, sized: only C lands on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checks should run, and what does each one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069921"/>
                <a:gridCol w="1591130"/>
                <a:gridCol w="2013642"/>
                <a:gridCol w="2410153"/>
                <a:gridCol w="2046143"/>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Analyst minutes</a:t>
                      </a:r>
                    </a:p>
                  </a:txBody>
                  <a:tcPr marL="101600" marR="101600" marT="38100" marB="38100" anchor="ctr">
                    <a:solidFill>
                      <a:srgbClr val="1A0F5C"/>
                    </a:solidFill>
                  </a:tcPr>
                </a:tc>
                <a:tc>
                  <a:txBody>
                    <a:bodyPr/>
                    <a:lstStyle/>
                    <a:p>
                      <a:r>
                        <a:rPr sz="1250" b="1" i="0">
                          <a:solidFill>
                            <a:srgbClr val="FFFFFF"/>
                          </a:solidFill>
                          <a:latin typeface="Calibri"/>
                        </a:rPr>
                        <a:t>Needs</a:t>
                      </a:r>
                    </a:p>
                  </a:txBody>
                  <a:tcPr marL="101600" marR="101600" marT="38100" marB="38100" anchor="ctr">
                    <a:solidFill>
                      <a:srgbClr val="1A0F5C"/>
                    </a:solidFill>
                  </a:tcPr>
                </a:tc>
                <a:tc>
                  <a:txBody>
                    <a:bodyPr/>
                    <a:lstStyle/>
                    <a:p>
                      <a:r>
                        <a:rPr sz="1250" b="1" i="0">
                          <a:solidFill>
                            <a:srgbClr val="FFFFFF"/>
                          </a:solidFill>
                          <a:latin typeface="Calibri"/>
                        </a:rPr>
                        <a:t>Headline it lets through</a:t>
                      </a:r>
                    </a:p>
                  </a:txBody>
                  <a:tcPr marL="101600" marR="101600" marT="38100" marB="38100" anchor="ctr">
                    <a:solidFill>
                      <a:srgbClr val="1A0F5C"/>
                    </a:solidFill>
                  </a:tcPr>
                </a:tc>
                <a:tc>
                  <a:txBody>
                    <a:bodyPr/>
                    <a:lstStyle/>
                    <a:p>
                      <a:r>
                        <a:rPr sz="1250" b="1" i="0">
                          <a:solidFill>
                            <a:srgbClr val="FFFFFF"/>
                          </a:solidFill>
                          <a:latin typeface="Calibri"/>
                        </a:rPr>
                        <a:t>Points off the books</a:t>
                      </a:r>
                    </a:p>
                  </a:txBody>
                  <a:tcPr marL="101600" marR="101600" marT="38100" marB="38100" anchor="ctr">
                    <a:solidFill>
                      <a:srgbClr val="1A0F5C"/>
                    </a:solidFill>
                  </a:tcPr>
                </a:tc>
              </a:tr>
              <a:tr h="335280">
                <a:tc>
                  <a:txBody>
                    <a:bodyPr/>
                    <a:lstStyle/>
                    <a:p>
                      <a:r>
                        <a:rPr sz="1200" b="0" i="0">
                          <a:solidFill>
                            <a:srgbClr val="1A1440"/>
                          </a:solidFill>
                          <a:latin typeface="Calibri"/>
                        </a:rPr>
                        <a:t>A. Trust the pass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+21.2%</a:t>
                      </a:r>
                    </a:p>
                  </a:txBody>
                  <a:tcPr marL="101600" marR="101600" marT="38100" marB="38100" anchor="ctr">
                    <a:solidFill>
                      <a:srgbClr val="FFFFFF"/>
                    </a:solidFill>
                  </a:tcPr>
                </a:tc>
                <a:tc>
                  <a:txBody>
                    <a:bodyPr/>
                    <a:lstStyle/>
                    <a:p>
                      <a:r>
                        <a:rPr sz="1200" b="0" i="0">
                          <a:solidFill>
                            <a:srgbClr val="1A1440"/>
                          </a:solidFill>
                          <a:latin typeface="Calibri"/>
                        </a:rPr>
                        <a:t>56.2</a:t>
                      </a:r>
                    </a:p>
                  </a:txBody>
                  <a:tcPr marL="101600" marR="101600" marT="38100" marB="38100" anchor="ctr">
                    <a:solidFill>
                      <a:srgbClr val="FFFFFF"/>
                    </a:solidFill>
                  </a:tcPr>
                </a:tc>
              </a:tr>
              <a:tr h="335280">
                <a:tc>
                  <a:txBody>
                    <a:bodyPr/>
                    <a:lstStyle/>
                    <a:p>
                      <a:r>
                        <a:rPr sz="1200" b="0" i="0">
                          <a:solidFill>
                            <a:srgbClr val="1A1440"/>
                          </a:solidFill>
                          <a:latin typeface="Calibri"/>
                        </a:rPr>
                        <a:t>B. Count check only</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Finance's order counts</a:t>
                      </a:r>
                    </a:p>
                  </a:txBody>
                  <a:tcPr marL="101600" marR="101600" marT="38100" marB="38100" anchor="ctr">
                    <a:solidFill>
                      <a:srgbClr val="F4F2FA"/>
                    </a:solidFill>
                  </a:tcPr>
                </a:tc>
                <a:tc>
                  <a:txBody>
                    <a:bodyPr/>
                    <a:lstStyle/>
                    <a:p>
                      <a:r>
                        <a:rPr sz="1200" b="0" i="0">
                          <a:solidFill>
                            <a:srgbClr val="1A1440"/>
                          </a:solidFill>
                          <a:latin typeface="Calibri"/>
                        </a:rPr>
                        <a:t>-17.5%</a:t>
                      </a:r>
                    </a:p>
                  </a:txBody>
                  <a:tcPr marL="101600" marR="101600" marT="38100" marB="38100" anchor="ctr">
                    <a:solidFill>
                      <a:srgbClr val="F4F2FA"/>
                    </a:solidFill>
                  </a:tcPr>
                </a:tc>
                <a:tc>
                  <a:txBody>
                    <a:bodyPr/>
                    <a:lstStyle/>
                    <a:p>
                      <a:r>
                        <a:rPr sz="1200" b="0" i="0">
                          <a:solidFill>
                            <a:srgbClr val="1A1440"/>
                          </a:solidFill>
                          <a:latin typeface="Calibri"/>
                        </a:rPr>
                        <a:t>17.5</a:t>
                      </a:r>
                    </a:p>
                  </a:txBody>
                  <a:tcPr marL="101600" marR="101600" marT="38100" marB="38100" anchor="ctr">
                    <a:solidFill>
                      <a:srgbClr val="F4F2FA"/>
                    </a:solidFill>
                  </a:tcPr>
                </a:tc>
              </a:tr>
              <a:tr h="335280">
                <a:tc>
                  <a:txBody>
                    <a:bodyPr/>
                    <a:lstStyle/>
                    <a:p>
                      <a:r>
                        <a:rPr sz="1200" b="0" i="0">
                          <a:solidFill>
                            <a:srgbClr val="1A1440"/>
                          </a:solidFill>
                          <a:latin typeface="Calibri"/>
                        </a:rPr>
                        <a:t>C. Counts and rupees, with a bridge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Finance's rupee totals</a:t>
                      </a:r>
                    </a:p>
                  </a:txBody>
                  <a:tcPr marL="101600" marR="101600" marT="38100" marB="38100" anchor="ctr">
                    <a:solidFill>
                      <a:srgbClr val="FFFFFF"/>
                    </a:solidFill>
                  </a:tcPr>
                </a:tc>
                <a:tc>
                  <a:txBody>
                    <a:bodyPr/>
                    <a:lstStyle/>
                    <a:p>
                      <a:r>
                        <a:rPr sz="1200" b="0" i="0">
                          <a:solidFill>
                            <a:srgbClr val="1A1440"/>
                          </a:solidFill>
                          <a:latin typeface="Calibri"/>
                        </a:rPr>
                        <a:t>-35.0%</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D. Match every order to the ledger</a:t>
                      </a:r>
                    </a:p>
                  </a:txBody>
                  <a:tcPr marL="101600" marR="101600" marT="38100" marB="38100" anchor="ctr">
                    <a:solidFill>
                      <a:srgbClr val="F4F2FA"/>
                    </a:solidFill>
                  </a:tcPr>
                </a:tc>
                <a:tc>
                  <a:txBody>
                    <a:bodyPr/>
                    <a:lstStyle/>
                    <a:p>
                      <a:r>
                        <a:rPr sz="1200" b="0" i="0">
                          <a:solidFill>
                            <a:srgbClr val="1A1440"/>
                          </a:solidFill>
                          <a:latin typeface="Calibri"/>
                        </a:rPr>
                        <a:t>about 120</a:t>
                      </a:r>
                    </a:p>
                  </a:txBody>
                  <a:tcPr marL="101600" marR="101600" marT="38100" marB="38100" anchor="ctr">
                    <a:solidFill>
                      <a:srgbClr val="F4F2FA"/>
                    </a:solidFill>
                  </a:tcPr>
                </a:tc>
                <a:tc>
                  <a:txBody>
                    <a:bodyPr/>
                    <a:lstStyle/>
                    <a:p>
                      <a:r>
                        <a:rPr sz="1200" b="0" i="0">
                          <a:solidFill>
                            <a:srgbClr val="1A1440"/>
                          </a:solidFill>
                          <a:latin typeface="Calibri"/>
                        </a:rPr>
                        <a:t>Finance's ledger</a:t>
                      </a:r>
                    </a:p>
                  </a:txBody>
                  <a:tcPr marL="101600" marR="101600" marT="38100" marB="38100" anchor="ctr">
                    <a:solidFill>
                      <a:srgbClr val="F4F2FA"/>
                    </a:solidFill>
                  </a:tcPr>
                </a:tc>
                <a:tc>
                  <a:txBody>
                    <a:bodyPr/>
                    <a:lstStyle/>
                    <a:p>
                      <a:r>
                        <a:rPr sz="1200" b="0" i="0">
                          <a:solidFill>
                            <a:srgbClr val="1A1440"/>
                          </a:solidFill>
                          <a:latin typeface="Calibri"/>
                        </a:rPr>
                        <a:t>not run: no ledger came</a:t>
                      </a:r>
                    </a:p>
                  </a:txBody>
                  <a:tcPr marL="101600" marR="101600" marT="38100" marB="38100" anchor="ctr">
                    <a:solidFill>
                      <a:srgbClr val="F4F2FA"/>
                    </a:solidFill>
                  </a:tcPr>
                </a:tc>
                <a:tc>
                  <a:txBody>
                    <a:bodyPr/>
                    <a:lstStyle/>
                    <a:p>
                      <a:r>
                        <a:rPr sz="1200" b="0" i="0">
                          <a:solidFill>
                            <a:srgbClr val="1A1440"/>
                          </a:solidFill>
                          <a:latin typeface="Calibri"/>
                        </a:rPr>
                        <a:t>not run</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On the invented export only C lands: it needs only the control file that came with the export, and its bridge walks the hurried total to Finance's, one explained move at a time. Switch to D when there is no control total, or when C's bridge will not close.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52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Each check sees one more kind of error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each check see that the one before it cannot?</a:t>
            </a:r>
          </a:p>
        </p:txBody>
      </p:sp>
      <p:pic>
        <p:nvPicPr>
          <p:cNvPr id="10" name="mermaid diagram" descr="9628cd8d6d6dc0dc.png"/>
          <p:cNvPicPr>
            <a:picLocks noChangeAspect="1"/>
          </p:cNvPicPr>
          <p:nvPr/>
        </p:nvPicPr>
        <p:blipFill>
          <a:blip r:embed="rId5"/>
          <a:stretch>
            <a:fillRect/>
          </a:stretch>
        </p:blipFill>
        <p:spPr>
          <a:xfrm>
            <a:off x="780897" y="1956816"/>
            <a:ext cx="10629900" cy="1600200"/>
          </a:xfrm>
          <a:prstGeom prst="rect">
            <a:avLst/>
          </a:prstGeom>
        </p:spPr>
      </p:pic>
      <p:sp>
        <p:nvSpPr>
          <p:cNvPr id="11" name="TextBox 10"/>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to the right costs more and needs more from Finance, and C is the first that lands on the books.</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11 / 52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count check leave behind?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every order count lands on Finance's, what can still be wrong in the invented export?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rows that repeat an order, which the check has not yet removed; b) a value inside a kept row, which the check cannot see; c) nothing, since the counts now land on the books; d) the order ids, which the check trusts without reading.</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value inside a kept row, and Q1 is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row per order id fix, and what does it leave?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kept = {}</a:t>
            </a:r>
          </a:p>
          <a:p>
            <a:pPr>
              <a:spcAft>
                <a:spcPts val="200"/>
              </a:spcAft>
            </a:pPr>
            <a:r>
              <a:rPr sz="1400" b="0" i="0">
                <a:solidFill>
                  <a:srgbClr val="E4E1F1"/>
                </a:solidFill>
                <a:latin typeface="Consolas"/>
              </a:rPr>
              <a:t>for r in rows:</a:t>
            </a:r>
          </a:p>
          <a:p>
            <a:pPr>
              <a:spcAft>
                <a:spcPts val="200"/>
              </a:spcAft>
            </a:pPr>
            <a:r>
              <a:rPr sz="1400" b="0" i="0">
                <a:solidFill>
                  <a:srgbClr val="E4E1F1"/>
                </a:solidFill>
                <a:latin typeface="Consolas"/>
              </a:rPr>
              <a:t>    kept.setdefault(r["order_id"], r)   # Wednesday's identity rule</a:t>
            </a:r>
          </a:p>
        </p:txBody>
      </p:sp>
      <p:sp>
        <p:nvSpPr>
          <p:cNvPr id="14" name="TextBox 13"/>
          <p:cNvSpPr txBox="1"/>
          <p:nvPr/>
        </p:nvSpPr>
        <p:spPr>
          <a:xfrm>
            <a:off x="530352" y="3336036"/>
            <a:ext cx="3527450" cy="571500"/>
          </a:xfrm>
          <a:prstGeom prst="rect">
            <a:avLst/>
          </a:prstGeom>
          <a:noFill/>
        </p:spPr>
        <p:txBody>
          <a:bodyPr wrap="square" anchor="t" lIns="0" rIns="0" tIns="0" bIns="0">
            <a:spAutoFit/>
          </a:bodyPr>
          <a:lstStyle/>
          <a:p>
            <a:pPr algn="l"/>
            <a:r>
              <a:rPr sz="3600" b="0" i="0">
                <a:solidFill>
                  <a:srgbClr val="5B3FD6"/>
                </a:solidFill>
                <a:latin typeface="Georgia"/>
              </a:rPr>
              <a:t>83 and 84</a:t>
            </a:r>
          </a:p>
        </p:txBody>
      </p:sp>
      <p:sp>
        <p:nvSpPr>
          <p:cNvPr id="15" name="TextBox 14"/>
          <p:cNvSpPr txBox="1"/>
          <p:nvPr/>
        </p:nvSpPr>
        <p:spPr>
          <a:xfrm>
            <a:off x="530352" y="394411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KEPT</a:t>
            </a:r>
          </a:p>
        </p:txBody>
      </p:sp>
      <p:sp>
        <p:nvSpPr>
          <p:cNvPr id="16" name="TextBox 15"/>
          <p:cNvSpPr txBox="1"/>
          <p:nvPr/>
        </p:nvSpPr>
        <p:spPr>
          <a:xfrm>
            <a:off x="530352" y="4145279"/>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83 and 84, invented</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571500"/>
          </a:xfrm>
          <a:prstGeom prst="rect">
            <a:avLst/>
          </a:prstGeom>
          <a:noFill/>
        </p:spPr>
        <p:txBody>
          <a:bodyPr wrap="square" anchor="t" lIns="0" rIns="0" tIns="0" bIns="0">
            <a:spAutoFit/>
          </a:bodyPr>
          <a:lstStyle/>
          <a:p>
            <a:pPr algn="l"/>
            <a:r>
              <a:rPr sz="3600" b="0" i="0">
                <a:solidFill>
                  <a:srgbClr val="5B3FD6"/>
                </a:solidFill>
                <a:latin typeface="Georgia"/>
              </a:rPr>
              <a:t>Rs 31,50,000</a:t>
            </a:r>
          </a:p>
        </p:txBody>
      </p:sp>
      <p:sp>
        <p:nvSpPr>
          <p:cNvPr id="19" name="TextBox 18"/>
          <p:cNvSpPr txBox="1"/>
          <p:nvPr/>
        </p:nvSpPr>
        <p:spPr>
          <a:xfrm>
            <a:off x="4332122" y="394411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KEPT</a:t>
            </a:r>
          </a:p>
        </p:txBody>
      </p:sp>
      <p:sp>
        <p:nvSpPr>
          <p:cNvPr id="20" name="TextBox 19"/>
          <p:cNvSpPr txBox="1"/>
          <p:nvPr/>
        </p:nvSpPr>
        <p:spPr>
          <a:xfrm>
            <a:off x="4332122" y="4145279"/>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Rs 40,00,000</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571500"/>
          </a:xfrm>
          <a:prstGeom prst="rect">
            <a:avLst/>
          </a:prstGeom>
          <a:noFill/>
        </p:spPr>
        <p:txBody>
          <a:bodyPr wrap="square" anchor="t" lIns="0" rIns="0" tIns="0" bIns="0">
            <a:spAutoFit/>
          </a:bodyPr>
          <a:lstStyle/>
          <a:p>
            <a:pPr algn="l"/>
            <a:r>
              <a:rPr sz="3600" b="0" i="0">
                <a:solidFill>
                  <a:srgbClr val="5B3FD6"/>
                </a:solidFill>
                <a:latin typeface="Georgia"/>
              </a:rPr>
              <a:t>-17.5%</a:t>
            </a:r>
          </a:p>
        </p:txBody>
      </p:sp>
      <p:sp>
        <p:nvSpPr>
          <p:cNvPr id="23" name="TextBox 22"/>
          <p:cNvSpPr txBox="1"/>
          <p:nvPr/>
        </p:nvSpPr>
        <p:spPr>
          <a:xfrm>
            <a:off x="8133892" y="394411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24" name="TextBox 23"/>
          <p:cNvSpPr txBox="1"/>
          <p:nvPr/>
        </p:nvSpPr>
        <p:spPr>
          <a:xfrm>
            <a:off x="8133892" y="4145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right way round, at half the size</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52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move in the bridge is larger?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Walking the invented hurried sum to Finance's total, which move carries more rupees?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rows Finance does not hold; b) the value that would not convert; c) they are equal; d) neither, since the walk closes with no moves.</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52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rows Finance does not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moves walk the hurried sum to Finance's total?</a:t>
            </a:r>
          </a:p>
        </p:txBody>
      </p:sp>
      <p:pic>
        <p:nvPicPr>
          <p:cNvPr id="9" name="mermaid diagram" descr="0cef522850151bdb.png"/>
          <p:cNvPicPr>
            <a:picLocks noChangeAspect="1"/>
          </p:cNvPicPr>
          <p:nvPr/>
        </p:nvPicPr>
        <p:blipFill>
          <a:blip r:embed="rId5"/>
          <a:stretch>
            <a:fillRect/>
          </a:stretch>
        </p:blipFill>
        <p:spPr>
          <a:xfrm>
            <a:off x="530352" y="1956816"/>
            <a:ext cx="11130991" cy="2120746"/>
          </a:xfrm>
          <a:prstGeom prst="rect">
            <a:avLst/>
          </a:prstGeom>
        </p:spPr>
      </p:pic>
      <p:sp>
        <p:nvSpPr>
          <p:cNvPr id="10" name="TextBox 9"/>
          <p:cNvSpPr txBox="1"/>
          <p:nvPr/>
        </p:nvSpPr>
        <p:spPr>
          <a:xfrm>
            <a:off x="530352" y="422386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With both quarters on the books, the invented headline is a fall of 35.0 percent, Rs 40,00,000 to Rs 26,00,000: the sign changed, so the decision changes.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52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wrong sign changes the decision itself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Meera have done with each headline?</a:t>
            </a:r>
          </a:p>
        </p:txBody>
      </p:sp>
      <p:sp>
        <p:nvSpPr>
          <p:cNvPr id="9" name="Rounded Rectangle 8"/>
          <p:cNvSpPr/>
          <p:nvPr/>
        </p:nvSpPr>
        <p:spPr>
          <a:xfrm>
            <a:off x="53035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x_e5d65e9a98b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HURRIED NOTE, INVENTED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Q2 grew 21.2%</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 investigation, and Monday's review hears the quarter was fine.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alert_2885187cc14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CHECKED, INVENTED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17.5%</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right direction at half the size, so the fix gets half the attention.</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5bfb0e0fcdf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AND RUPEES, INVENTED</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35.0%</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Rs 14,00,000 to explain, and the tree says where.</a:t>
            </a:r>
          </a:p>
        </p:txBody>
      </p:sp>
      <p:sp>
        <p:nvSpPr>
          <p:cNvPr id="27" name="Rounded Rectangle 26"/>
          <p:cNvSpPr/>
          <p:nvPr/>
        </p:nvSpPr>
        <p:spPr>
          <a:xfrm>
            <a:off x="530352" y="41041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ic_caee7398c80d.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 Profile first, and never skip the reconciliation: it costs fifteen minutes and can flip the headline's sign.</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34" name="Oval 3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6" name="Oval 3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Summed on their own, the decisions match the bridge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sum of the decisions themselves land on the bridge's two moves?</a:t>
            </a:r>
          </a:p>
        </p:txBody>
      </p:sp>
      <p:pic>
        <p:nvPicPr>
          <p:cNvPr id="9" name="mermaid diagram" descr="bb42294fe8986a18.png"/>
          <p:cNvPicPr>
            <a:picLocks noChangeAspect="1"/>
          </p:cNvPicPr>
          <p:nvPr/>
        </p:nvPicPr>
        <p:blipFill>
          <a:blip r:embed="rId6"/>
          <a:stretch>
            <a:fillRect/>
          </a:stretch>
        </p:blipFill>
        <p:spPr>
          <a:xfrm>
            <a:off x="530352" y="2059771"/>
            <a:ext cx="4786326" cy="3762584"/>
          </a:xfrm>
          <a:prstGeom prst="rect">
            <a:avLst/>
          </a:prstGeom>
        </p:spPr>
      </p:pic>
      <p:sp>
        <p:nvSpPr>
          <p:cNvPr id="10" name="Rounded Rectangle 9"/>
          <p:cNvSpPr/>
          <p:nvPr/>
        </p:nvSpPr>
        <p:spPr>
          <a:xfrm>
            <a:off x="5761917" y="1956816"/>
            <a:ext cx="5899425" cy="21579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8072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9169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719072"/>
          </a:xfrm>
          <a:prstGeom prst="rect">
            <a:avLst/>
          </a:prstGeom>
          <a:noFill/>
        </p:spPr>
        <p:txBody>
          <a:bodyPr wrap="square" anchor="t" lIns="0" rIns="0" tIns="0" bIns="0">
            <a:spAutoFit/>
          </a:bodyPr>
          <a:lstStyle/>
          <a:p>
            <a:r>
              <a:rPr sz="1500" b="0" i="0">
                <a:solidFill>
                  <a:srgbClr val="1A1440"/>
                </a:solidFill>
                <a:latin typeface="Calibri"/>
              </a:rPr>
              <a:t>Show Finance the forward bridge, because it starts from their export, and run these two sums before you send it: on the invented export they prove every rupee the bridge moved is a row set aside or a value in the log. Whether each decision was right is the order-level match's question.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52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Repeats read as members ordering more often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same repeated rows move a branch of the tree?</a:t>
            </a:r>
          </a:p>
        </p:txBody>
      </p:sp>
      <p:pic>
        <p:nvPicPr>
          <p:cNvPr id="10" name="mermaid diagram" descr="525a5c7390af5d35.png"/>
          <p:cNvPicPr>
            <a:picLocks noChangeAspect="1"/>
          </p:cNvPicPr>
          <p:nvPr/>
        </p:nvPicPr>
        <p:blipFill>
          <a:blip r:embed="rId5"/>
          <a:stretch>
            <a:fillRect/>
          </a:stretch>
        </p:blipFill>
        <p:spPr>
          <a:xfrm>
            <a:off x="3818049" y="1664208"/>
            <a:ext cx="4555595"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On the invented export, rows Finance does not hold manufacture a frequency rise where nothing changed, and hide a basket fall behind a tier that looks steady. Chapter 3 reads the clean tree.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D16  ·  18 / 52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once counts and rupees both land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two quarters in your note match Finance's books?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4544555"/>
                <a:gridCol w="6586435"/>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on the invented export</a:t>
                      </a:r>
                    </a:p>
                  </a:txBody>
                  <a:tcPr marL="101600" marR="101600" marT="38100" marB="38100" anchor="ctr">
                    <a:solidFill>
                      <a:srgbClr val="1A0F5C"/>
                    </a:solidFill>
                  </a:tcPr>
                </a:tc>
              </a:tr>
              <a:tr h="369824">
                <a:tc>
                  <a:txBody>
                    <a:bodyPr/>
                    <a:lstStyle/>
                    <a:p>
                      <a:r>
                        <a:rPr sz="1400" b="0" i="0">
                          <a:solidFill>
                            <a:srgbClr val="1A1440"/>
                          </a:solidFill>
                          <a:latin typeface="Calibri"/>
                        </a:rPr>
                        <a:t>What did the hurried pass send?</a:t>
                      </a:r>
                    </a:p>
                  </a:txBody>
                  <a:tcPr marL="101600" marR="101600" marT="38100" marB="38100" anchor="ctr">
                    <a:solidFill>
                      <a:srgbClr val="FFFFFF"/>
                    </a:solidFill>
                  </a:tcPr>
                </a:tc>
                <a:tc>
                  <a:txBody>
                    <a:bodyPr/>
                    <a:lstStyle/>
                    <a:p>
                      <a:r>
                        <a:rPr sz="1400" b="0" i="0">
                          <a:solidFill>
                            <a:srgbClr val="1A1440"/>
                          </a:solidFill>
                          <a:latin typeface="Calibri"/>
                        </a:rPr>
                        <a:t>Q2 up 21.2%, where the books say down 35.0%</a:t>
                      </a:r>
                    </a:p>
                  </a:txBody>
                  <a:tcPr marL="101600" marR="101600" marT="38100" marB="38100" anchor="ctr">
                    <a:solidFill>
                      <a:srgbClr val="FFFFFF"/>
                    </a:solidFill>
                  </a:tcPr>
                </a:tc>
              </a:tr>
              <a:tr h="369824">
                <a:tc>
                  <a:txBody>
                    <a:bodyPr/>
                    <a:lstStyle/>
                    <a:p>
                      <a:r>
                        <a:rPr sz="1400" b="0" i="0">
                          <a:solidFill>
                            <a:srgbClr val="1A1440"/>
                          </a:solidFill>
                          <a:latin typeface="Calibri"/>
                        </a:rPr>
                        <a:t>Which check, at what cost?</a:t>
                      </a:r>
                    </a:p>
                  </a:txBody>
                  <a:tcPr marL="101600" marR="101600" marT="38100" marB="38100" anchor="ctr">
                    <a:solidFill>
                      <a:srgbClr val="F4F2FA"/>
                    </a:solidFill>
                  </a:tcPr>
                </a:tc>
                <a:tc>
                  <a:txBody>
                    <a:bodyPr/>
                    <a:lstStyle/>
                    <a:p>
                      <a:r>
                        <a:rPr sz="1400" b="0" i="0">
                          <a:solidFill>
                            <a:srgbClr val="1A1440"/>
                          </a:solidFill>
                          <a:latin typeface="Calibri"/>
                        </a:rPr>
                        <a:t>C, counts and rupees with a bridge, 15 minutes</a:t>
                      </a:r>
                    </a:p>
                  </a:txBody>
                  <a:tcPr marL="101600" marR="101600" marT="38100" marB="38100" anchor="ctr">
                    <a:solidFill>
                      <a:srgbClr val="F4F2FA"/>
                    </a:solidFill>
                  </a:tcPr>
                </a:tc>
              </a:tr>
              <a:tr h="369824">
                <a:tc>
                  <a:txBody>
                    <a:bodyPr/>
                    <a:lstStyle/>
                    <a:p>
                      <a:r>
                        <a:rPr sz="1400" b="0" i="0">
                          <a:solidFill>
                            <a:srgbClr val="1A1440"/>
                          </a:solidFill>
                          <a:latin typeface="Calibri"/>
                        </a:rPr>
                        <a:t>What does a count check fix?</a:t>
                      </a:r>
                    </a:p>
                  </a:txBody>
                  <a:tcPr marL="101600" marR="101600" marT="38100" marB="38100" anchor="ctr">
                    <a:solidFill>
                      <a:srgbClr val="FFFFFF"/>
                    </a:solidFill>
                  </a:tcPr>
                </a:tc>
                <a:tc>
                  <a:txBody>
                    <a:bodyPr/>
                    <a:lstStyle/>
                    <a:p>
                      <a:r>
                        <a:rPr sz="1400" b="0" i="0">
                          <a:solidFill>
                            <a:srgbClr val="1A1440"/>
                          </a:solidFill>
                          <a:latin typeface="Calibri"/>
                        </a:rPr>
                        <a:t>The rows; the headline stays at -17.5%</a:t>
                      </a:r>
                    </a:p>
                  </a:txBody>
                  <a:tcPr marL="101600" marR="101600" marT="38100" marB="38100" anchor="ctr">
                    <a:solidFill>
                      <a:srgbClr val="FFFFFF"/>
                    </a:solidFill>
                  </a:tcPr>
                </a:tc>
              </a:tr>
              <a:tr h="369824">
                <a:tc>
                  <a:txBody>
                    <a:bodyPr/>
                    <a:lstStyle/>
                    <a:p>
                      <a:r>
                        <a:rPr sz="1400" b="0" i="0">
                          <a:solidFill>
                            <a:srgbClr val="1A1440"/>
                          </a:solidFill>
                          <a:latin typeface="Calibri"/>
                        </a:rPr>
                        <a:t>Which moves close the bridge?</a:t>
                      </a:r>
                    </a:p>
                  </a:txBody>
                  <a:tcPr marL="101600" marR="101600" marT="38100" marB="38100" anchor="ctr">
                    <a:solidFill>
                      <a:srgbClr val="F4F2FA"/>
                    </a:solidFill>
                  </a:tcPr>
                </a:tc>
                <a:tc>
                  <a:txBody>
                    <a:bodyPr/>
                    <a:lstStyle/>
                    <a:p>
                      <a:r>
                        <a:rPr sz="1400" b="0" i="0">
                          <a:solidFill>
                            <a:srgbClr val="1A1440"/>
                          </a:solidFill>
                          <a:latin typeface="Calibri"/>
                        </a:rPr>
                        <a:t>Rs 12,16,420 out, Rs 8,50,000 back in</a:t>
                      </a:r>
                    </a:p>
                  </a:txBody>
                  <a:tcPr marL="101600" marR="101600" marT="38100" marB="38100" anchor="ctr">
                    <a:solidFill>
                      <a:srgbClr val="F4F2FA"/>
                    </a:solidFill>
                  </a:tcPr>
                </a:tc>
              </a:tr>
              <a:tr h="369824">
                <a:tc>
                  <a:txBody>
                    <a:bodyPr/>
                    <a:lstStyle/>
                    <a:p>
                      <a:r>
                        <a:rPr sz="1400" b="0" i="0">
                          <a:solidFill>
                            <a:srgbClr val="1A1440"/>
                          </a:solidFill>
                          <a:latin typeface="Calibri"/>
                        </a:rPr>
                        <a:t>Do the decisions sum the same?</a:t>
                      </a:r>
                    </a:p>
                  </a:txBody>
                  <a:tcPr marL="101600" marR="101600" marT="38100" marB="38100" anchor="ctr">
                    <a:solidFill>
                      <a:srgbClr val="FFFFFF"/>
                    </a:solidFill>
                  </a:tcPr>
                </a:tc>
                <a:tc>
                  <a:txBody>
                    <a:bodyPr/>
                    <a:lstStyle/>
                    <a:p>
                      <a:r>
                        <a:rPr sz="1400" b="0" i="0">
                          <a:solidFill>
                            <a:srgbClr val="1A1440"/>
                          </a:solidFill>
                          <a:latin typeface="Calibri"/>
                        </a:rPr>
                        <a:t>Yes: the list and the log equal both moves</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35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00329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941832"/>
          </a:xfrm>
          <a:prstGeom prst="rect">
            <a:avLst/>
          </a:prstGeom>
          <a:noFill/>
        </p:spPr>
        <p:txBody>
          <a:bodyPr wrap="square" anchor="t" lIns="0" rIns="0" tIns="0" bIns="0">
            <a:spAutoFit/>
          </a:bodyPr>
          <a:lstStyle/>
          <a:p>
            <a:r>
              <a:rPr sz="1500" b="0" i="0">
                <a:solidFill>
                  <a:srgbClr val="1A1440"/>
                </a:solidFill>
                <a:latin typeface="Calibri"/>
              </a:rPr>
              <a:t>A number that has not been reconciled can point the wrong way, as the invented export's hurried run did. Put the two checks in a cell before the first number you plan to send, so the clock cannot remove them.</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a clean pass done?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count reconciles and nothing was rejected: is the cleaning pass finished?</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the quarters tie?</a:t>
            </a:r>
          </a:p>
        </p:txBody>
      </p:sp>
      <p:sp>
        <p:nvSpPr>
          <p:cNvPr id="11" name="Rounded Rectangle 10"/>
          <p:cNvSpPr/>
          <p:nvPr/>
        </p:nvSpPr>
        <p:spPr>
          <a:xfrm>
            <a:off x="2391327"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a clean pass done?</a:t>
            </a:r>
          </a:p>
        </p:txBody>
      </p:sp>
      <p:sp>
        <p:nvSpPr>
          <p:cNvPr id="12" name="Rounded Rectangle 11"/>
          <p:cNvSpPr/>
          <p:nvPr/>
        </p:nvSpPr>
        <p:spPr>
          <a:xfrm>
            <a:off x="411035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leads?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52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from the rupees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pass's rupees checked, and which six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audits every note before Meera reads it; a base quarter short by one large order halves the fall the note reports, and nobody acts at the right scale.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zeroing report?</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A zeroing pass reports its counts.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 the rupees say?</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rupees show what counts cannot.</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answer fits?</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answers meet an unreadable value.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reading change?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Reading the value moves the headline.</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Can a filter drop a row?</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A filter can lose a row without a word.</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Can the file find the gap?</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file alone can find the gap.</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47" name="Oval 4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52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analyst audits the rupees before the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audits the note, and what does a short base quarter cost?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Q1 booked</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 every Q1 to Q2 rate divides by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analyst</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auditor, then Meera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scale</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SHORT BASE CAN COST</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fall reported at the wrong size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Your pass reports zero rejects and every count lands. Is it finished?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52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JPMorgan's risk sheet ran clean and was wrong</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trusted a sheet that never raised an error?</a:t>
            </a:r>
          </a:p>
        </p:txBody>
      </p:sp>
      <p:sp>
        <p:nvSpPr>
          <p:cNvPr id="10" name="Rounded Rectangle 9"/>
          <p:cNvSpPr/>
          <p:nvPr/>
        </p:nvSpPr>
        <p:spPr>
          <a:xfrm>
            <a:off x="530352" y="1956816"/>
            <a:ext cx="5474055"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JPMORGAN CHASE, 2012</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sum where an average belonged</a:t>
            </a:r>
          </a:p>
        </p:txBody>
      </p:sp>
      <p:sp>
        <p:nvSpPr>
          <p:cNvPr id="15" name="TextBox 14"/>
          <p:cNvSpPr txBox="1"/>
          <p:nvPr/>
        </p:nvSpPr>
        <p:spPr>
          <a:xfrm>
            <a:off x="731519" y="3303524"/>
            <a:ext cx="5071719" cy="944626"/>
          </a:xfrm>
          <a:prstGeom prst="rect">
            <a:avLst/>
          </a:prstGeom>
          <a:noFill/>
        </p:spPr>
        <p:txBody>
          <a:bodyPr wrap="square" anchor="t" lIns="0" rIns="0" tIns="0" bIns="0">
            <a:spAutoFit/>
          </a:bodyPr>
          <a:lstStyle/>
          <a:p>
            <a:pPr algn="l"/>
            <a:r>
              <a:rPr sz="1100" b="0" i="0">
                <a:solidFill>
                  <a:srgbClr val="CFC9EE"/>
                </a:solidFill>
                <a:latin typeface="Calibri"/>
              </a:rPr>
              <a:t>A risk model run through spreadsheets "divided by their sum instead of their average", likely muting volatility, how far prices were shown to swing, by a factor of two, and lowering the VaR, the bank's estimate of a bad day's loss. Source: the task force report, January 2013, as quoted by The Baseline Scenario, 9 February 2013.</a:t>
            </a:r>
          </a:p>
        </p:txBody>
      </p:sp>
      <p:sp>
        <p:nvSpPr>
          <p:cNvPr id="16" name="Rounded Rectangle 15"/>
          <p:cNvSpPr/>
          <p:nvPr/>
        </p:nvSpPr>
        <p:spPr>
          <a:xfrm>
            <a:off x="6187287" y="1956816"/>
            <a:ext cx="5474055"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trending-down_69bb86911a18.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$6.2 billion</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The trading losses from what became known as the "London Whale" trades in the bank's Chief Investment Office. Source: FCA press release, 19 September 2013.</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D20  ·  23 / 52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Zero rejects, and every count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pass that sets unreadable values to zero report?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to_int_or_zero(v):</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the file now "converts" cleanly</a:t>
            </a:r>
          </a:p>
        </p:txBody>
      </p:sp>
      <p:sp>
        <p:nvSpPr>
          <p:cNvPr id="14" name="TextBox 13"/>
          <p:cNvSpPr txBox="1"/>
          <p:nvPr/>
        </p:nvSpPr>
        <p:spPr>
          <a:xfrm>
            <a:off x="53035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83</a:t>
            </a:r>
          </a:p>
        </p:txBody>
      </p:sp>
      <p:sp>
        <p:nvSpPr>
          <p:cNvPr id="15" name="TextBox 14"/>
          <p:cNvSpPr txBox="1"/>
          <p:nvPr/>
        </p:nvSpPr>
        <p:spPr>
          <a:xfrm>
            <a:off x="53035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ORDERS</a:t>
            </a:r>
          </a:p>
        </p:txBody>
      </p:sp>
      <p:sp>
        <p:nvSpPr>
          <p:cNvPr id="16" name="TextBox 15"/>
          <p:cNvSpPr txBox="1"/>
          <p:nvPr/>
        </p:nvSpPr>
        <p:spPr>
          <a:xfrm>
            <a:off x="53035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83, invented</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0</a:t>
            </a:r>
          </a:p>
        </p:txBody>
      </p:sp>
      <p:sp>
        <p:nvSpPr>
          <p:cNvPr id="19" name="TextBox 18"/>
          <p:cNvSpPr txBox="1"/>
          <p:nvPr/>
        </p:nvSpPr>
        <p:spPr>
          <a:xfrm>
            <a:off x="433212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REJECTS REPORTED</a:t>
            </a:r>
          </a:p>
        </p:txBody>
      </p:sp>
      <p:sp>
        <p:nvSpPr>
          <p:cNvPr id="20" name="TextBox 19"/>
          <p:cNvSpPr txBox="1"/>
          <p:nvPr/>
        </p:nvSpPr>
        <p:spPr>
          <a:xfrm>
            <a:off x="433212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none reported, invented</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Rs 31,50,000</a:t>
            </a:r>
          </a:p>
        </p:txBody>
      </p:sp>
      <p:sp>
        <p:nvSpPr>
          <p:cNvPr id="23" name="TextBox 22"/>
          <p:cNvSpPr txBox="1"/>
          <p:nvPr/>
        </p:nvSpPr>
        <p:spPr>
          <a:xfrm>
            <a:off x="813389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24" name="TextBox 23"/>
          <p:cNvSpPr txBox="1"/>
          <p:nvPr/>
        </p:nvSpPr>
        <p:spPr>
          <a:xfrm>
            <a:off x="813389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row kept, invented</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int() do with "850000.00"?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zeroing pass meets the invented export's one unreadable amount, "850000.00": what happens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it returns 850000 and drops the paise, as int() does with a decimal number; b) it raises a ValueError, which the try turns into 0; c) it returns 850000.0, a float that sums correctly; d) it raises an error that stops the pass before the counts.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zero, so Q1 comes up Rs 8,50,000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rupees say when every count lands?</a:t>
            </a:r>
          </a:p>
        </p:txBody>
      </p:sp>
      <p:pic>
        <p:nvPicPr>
          <p:cNvPr id="9" name="mermaid diagram" descr="d2e70212b964c9c0.png"/>
          <p:cNvPicPr>
            <a:picLocks noChangeAspect="1"/>
          </p:cNvPicPr>
          <p:nvPr/>
        </p:nvPicPr>
        <p:blipFill>
          <a:blip r:embed="rId5"/>
          <a:stretch>
            <a:fillRect/>
          </a:stretch>
        </p:blipFill>
        <p:spPr>
          <a:xfrm>
            <a:off x="680885" y="1956816"/>
            <a:ext cx="10829925" cy="2586037"/>
          </a:xfrm>
          <a:prstGeom prst="rect">
            <a:avLst/>
          </a:prstGeom>
        </p:spPr>
      </p:pic>
      <p:sp>
        <p:nvSpPr>
          <p:cNvPr id="10" name="TextBox 9"/>
          <p:cNvSpPr txBox="1"/>
          <p:nvPr/>
        </p:nvSpPr>
        <p:spPr>
          <a:xfrm>
            <a:off x="530352" y="468915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int() refuses the paise in "850000.00" and the try books the order at zero, so on the invented export Q1 comes up Rs 8,50,000 short, about a fifth, while Q2 lands, and the note reports a fall of 17.5 percent where the books show 35.0.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answers, sized: C lands, A hides its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answers fits a value that will not convert?</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08137"/>
                <a:gridCol w="914400"/>
                <a:gridCol w="1449934"/>
                <a:gridCol w="1702438"/>
                <a:gridCol w="1702438"/>
                <a:gridCol w="15536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Log lines</a:t>
                      </a:r>
                    </a:p>
                  </a:txBody>
                  <a:tcPr marL="101600" marR="101600" marT="38100" marB="38100" anchor="ctr">
                    <a:solidFill>
                      <a:srgbClr val="1A0F5C"/>
                    </a:solidFill>
                  </a:tcPr>
                </a:tc>
                <a:tc>
                  <a:txBody>
                    <a:bodyPr/>
                    <a:lstStyle/>
                    <a:p>
                      <a:r>
                        <a:rPr sz="1250" b="1" i="0">
                          <a:solidFill>
                            <a:srgbClr val="FFFFFF"/>
                          </a:solidFill>
                          <a:latin typeface="Calibri"/>
                        </a:rPr>
                        <a:t>Count check</a:t>
                      </a:r>
                    </a:p>
                  </a:txBody>
                  <a:tcPr marL="101600" marR="101600" marT="38100" marB="38100" anchor="ctr">
                    <a:solidFill>
                      <a:srgbClr val="1A0F5C"/>
                    </a:solidFill>
                  </a:tcPr>
                </a:tc>
                <a:tc>
                  <a:txBody>
                    <a:bodyPr/>
                    <a:lstStyle/>
                    <a:p>
                      <a:r>
                        <a:rPr sz="1250" b="1" i="0">
                          <a:solidFill>
                            <a:srgbClr val="FFFFFF"/>
                          </a:solidFill>
                          <a:latin typeface="Calibri"/>
                        </a:rPr>
                        <a:t>Rupee check</a:t>
                      </a:r>
                    </a:p>
                  </a:txBody>
                  <a:tcPr marL="101600" marR="101600" marT="38100" marB="38100" anchor="ctr">
                    <a:solidFill>
                      <a:srgbClr val="1A0F5C"/>
                    </a:solidFill>
                  </a:tcPr>
                </a:tc>
                <a:tc>
                  <a:txBody>
                    <a:bodyPr/>
                    <a:lstStyle/>
                    <a:p>
                      <a:r>
                        <a:rPr sz="1250" b="1" i="0">
                          <a:solidFill>
                            <a:srgbClr val="FFFFFF"/>
                          </a:solidFill>
                          <a:latin typeface="Calibri"/>
                        </a:rPr>
                        <a:t>Headline</a:t>
                      </a:r>
                    </a:p>
                  </a:txBody>
                  <a:tcPr marL="101600" marR="101600" marT="38100" marB="38100" anchor="ctr">
                    <a:solidFill>
                      <a:srgbClr val="1A0F5C"/>
                    </a:solidFill>
                  </a:tcPr>
                </a:tc>
              </a:tr>
              <a:tr h="335280">
                <a:tc>
                  <a:txBody>
                    <a:bodyPr/>
                    <a:lstStyle/>
                    <a:p>
                      <a:r>
                        <a:rPr sz="1200" b="0" i="0">
                          <a:solidFill>
                            <a:srgbClr val="1A1440"/>
                          </a:solidFill>
                          <a:latin typeface="Calibri"/>
                        </a:rPr>
                        <a:t>A. Zero in a try</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fails</a:t>
                      </a:r>
                    </a:p>
                  </a:txBody>
                  <a:tcPr marL="101600" marR="101600" marT="38100" marB="38100" anchor="ctr">
                    <a:solidFill>
                      <a:srgbClr val="FFFFFF"/>
                    </a:solidFill>
                  </a:tcPr>
                </a:tc>
                <a:tc>
                  <a:txBody>
                    <a:bodyPr/>
                    <a:lstStyle/>
                    <a:p>
                      <a:r>
                        <a:rPr sz="1200" b="0" i="0">
                          <a:solidFill>
                            <a:srgbClr val="1A1440"/>
                          </a:solidFill>
                          <a:latin typeface="Calibri"/>
                        </a:rPr>
                        <a:t>-17.5%</a:t>
                      </a:r>
                    </a:p>
                  </a:txBody>
                  <a:tcPr marL="101600" marR="101600" marT="38100" marB="38100" anchor="ctr">
                    <a:solidFill>
                      <a:srgbClr val="FFFFFF"/>
                    </a:solidFill>
                  </a:tcPr>
                </a:tc>
              </a:tr>
              <a:tr h="335280">
                <a:tc>
                  <a:txBody>
                    <a:bodyPr/>
                    <a:lstStyle/>
                    <a:p>
                      <a:r>
                        <a:rPr sz="1200" b="0" i="0">
                          <a:solidFill>
                            <a:srgbClr val="1A1440"/>
                          </a:solidFill>
                          <a:latin typeface="Calibri"/>
                        </a:rPr>
                        <a:t>B. Drop with a reason</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-17.5%</a:t>
                      </a:r>
                    </a:p>
                  </a:txBody>
                  <a:tcPr marL="101600" marR="101600" marT="38100" marB="38100" anchor="ctr">
                    <a:solidFill>
                      <a:srgbClr val="F4F2FA"/>
                    </a:solidFill>
                  </a:tcPr>
                </a:tc>
              </a:tr>
              <a:tr h="335280">
                <a:tc>
                  <a:txBody>
                    <a:bodyPr/>
                    <a:lstStyle/>
                    <a:p>
                      <a:r>
                        <a:rPr sz="1200" b="0" i="0">
                          <a:solidFill>
                            <a:srgbClr val="1A1440"/>
                          </a:solidFill>
                          <a:latin typeface="Calibri"/>
                        </a:rPr>
                        <a:t>C. Read, convert, keep and flag</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-35.0%</a:t>
                      </a:r>
                    </a:p>
                  </a:txBody>
                  <a:tcPr marL="101600" marR="101600" marT="38100" marB="38100" anchor="ctr">
                    <a:solidFill>
                      <a:srgbClr val="FFFFFF"/>
                    </a:solidFill>
                  </a:tcPr>
                </a:tc>
              </a:tr>
              <a:tr h="335280">
                <a:tc>
                  <a:txBody>
                    <a:bodyPr/>
                    <a:lstStyle/>
                    <a:p>
                      <a:r>
                        <a:rPr sz="1200" b="0" i="0">
                          <a:solidFill>
                            <a:srgbClr val="1A1440"/>
                          </a:solidFill>
                          <a:latin typeface="Calibri"/>
                        </a:rPr>
                        <a:t>D. Hold and ask the owner</a:t>
                      </a:r>
                    </a:p>
                  </a:txBody>
                  <a:tcPr marL="101600" marR="101600" marT="38100" marB="38100" anchor="ctr">
                    <a:solidFill>
                      <a:srgbClr val="F4F2FA"/>
                    </a:solidFill>
                  </a:tcPr>
                </a:tc>
                <a:tc>
                  <a:txBody>
                    <a:bodyPr/>
                    <a:lstStyle/>
                    <a:p>
                      <a:r>
                        <a:rPr sz="1200" b="0" i="0">
                          <a:solidFill>
                            <a:srgbClr val="1A1440"/>
                          </a:solidFill>
                          <a:latin typeface="Calibri"/>
                        </a:rPr>
                        <a:t>a wait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provisional</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80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9028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1200912"/>
          </a:xfrm>
          <a:prstGeom prst="rect">
            <a:avLst/>
          </a:prstGeom>
          <a:noFill/>
        </p:spPr>
        <p:txBody>
          <a:bodyPr wrap="square" anchor="t" lIns="0" rIns="0" tIns="0" bIns="0">
            <a:spAutoFit/>
          </a:bodyPr>
          <a:lstStyle/>
          <a:p>
            <a:r>
              <a:rPr sz="1500" b="0" i="0">
                <a:solidFill>
                  <a:srgbClr val="1A1440"/>
                </a:solidFill>
                <a:latin typeface="Calibri"/>
              </a:rPr>
              <a:t>Choose C when the value can be read without a guess, as the invented export's "850000.00", an amount exported with its paise, can. Choose D when reading it needs a guess, such as a word or a unit that could be lakh or crore, and B when the row is not an order at all. A is the one option that hides its gap.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question sorts every unreadable value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 decides what to do with a value that will not convert?</a:t>
            </a:r>
          </a:p>
        </p:txBody>
      </p:sp>
      <p:pic>
        <p:nvPicPr>
          <p:cNvPr id="10" name="mermaid diagram" descr="e78eea104fe7ee82.png"/>
          <p:cNvPicPr>
            <a:picLocks noChangeAspect="1"/>
          </p:cNvPicPr>
          <p:nvPr/>
        </p:nvPicPr>
        <p:blipFill>
          <a:blip r:embed="rId6"/>
          <a:stretch>
            <a:fillRect/>
          </a:stretch>
        </p:blipFill>
        <p:spPr>
          <a:xfrm>
            <a:off x="530352" y="2289328"/>
            <a:ext cx="4786326" cy="3303471"/>
          </a:xfrm>
          <a:prstGeom prst="rect">
            <a:avLst/>
          </a:prstGeom>
        </p:spPr>
      </p:pic>
      <p:sp>
        <p:nvSpPr>
          <p:cNvPr id="11" name="Rounded Rectangle 10"/>
          <p:cNvSpPr/>
          <p:nvPr/>
        </p:nvSpPr>
        <p:spPr>
          <a:xfrm>
            <a:off x="5761917" y="1956816"/>
            <a:ext cx="5899425"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90517" y="26776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5"/>
          <a:stretch>
            <a:fillRect/>
          </a:stretch>
        </p:blipFill>
        <p:spPr>
          <a:xfrm>
            <a:off x="6100245" y="2787396"/>
            <a:ext cx="237744" cy="237744"/>
          </a:xfrm>
          <a:prstGeom prst="rect">
            <a:avLst/>
          </a:prstGeom>
        </p:spPr>
      </p:pic>
      <p:sp>
        <p:nvSpPr>
          <p:cNvPr id="14" name="TextBox 13"/>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6630597" y="2322576"/>
            <a:ext cx="4756425" cy="145999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A zero-reject pass is a finding: check ids against rows, check what the code did with a value it could not read, and reconcile the rupees.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8" name="Oval 1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20" name="Oval 1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28 / 52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much more fall does reading add?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Reading the value moves the invented headline from -17.5 to -35.0 percent: how many more rupees of fall must the review explain?</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Rs 5,50,000; b) Rs 8,50,000; c) Rs 14,00,000; d) Rs 26,00,000.</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8,50,000 more, a Rs 14,00,000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log line change in the note?</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read_value(text):</a:t>
            </a:r>
          </a:p>
          <a:p>
            <a:pPr>
              <a:spcAft>
                <a:spcPts val="200"/>
              </a:spcAft>
            </a:pPr>
            <a:r>
              <a:rPr sz="1400" b="0" i="0">
                <a:solidFill>
                  <a:srgbClr val="E4E1F1"/>
                </a:solidFill>
                <a:latin typeface="Consolas"/>
              </a:rPr>
              <a:t>    t = str(text).strip().replace("Rs", "").replace(",", "").replace(" ", "")</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round(float(t))      # read without a guess</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None                 # needs a guess: hold and ask</a:t>
            </a:r>
          </a:p>
        </p:txBody>
      </p:sp>
      <p:sp>
        <p:nvSpPr>
          <p:cNvPr id="14" name="TextBox 13"/>
          <p:cNvSpPr txBox="1"/>
          <p:nvPr/>
        </p:nvSpPr>
        <p:spPr>
          <a:xfrm>
            <a:off x="530352" y="4093463"/>
            <a:ext cx="3527450" cy="571500"/>
          </a:xfrm>
          <a:prstGeom prst="rect">
            <a:avLst/>
          </a:prstGeom>
          <a:noFill/>
        </p:spPr>
        <p:txBody>
          <a:bodyPr wrap="square" anchor="t" lIns="0" rIns="0" tIns="0" bIns="0">
            <a:spAutoFit/>
          </a:bodyPr>
          <a:lstStyle/>
          <a:p>
            <a:pPr algn="l"/>
            <a:r>
              <a:rPr sz="3600" b="0" i="0">
                <a:solidFill>
                  <a:srgbClr val="5B3FD6"/>
                </a:solidFill>
                <a:latin typeface="Georgia"/>
              </a:rPr>
              <a:t>Rs 40,00,000</a:t>
            </a:r>
          </a:p>
        </p:txBody>
      </p:sp>
      <p:sp>
        <p:nvSpPr>
          <p:cNvPr id="15" name="TextBox 14"/>
          <p:cNvSpPr txBox="1"/>
          <p:nvPr/>
        </p:nvSpPr>
        <p:spPr>
          <a:xfrm>
            <a:off x="530352" y="4701539"/>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VALUE READ</a:t>
            </a:r>
          </a:p>
        </p:txBody>
      </p:sp>
      <p:sp>
        <p:nvSpPr>
          <p:cNvPr id="16" name="TextBox 15"/>
          <p:cNvSpPr txBox="1"/>
          <p:nvPr/>
        </p:nvSpPr>
        <p:spPr>
          <a:xfrm>
            <a:off x="530352" y="4902707"/>
            <a:ext cx="3527450" cy="193421"/>
          </a:xfrm>
          <a:prstGeom prst="rect">
            <a:avLst/>
          </a:prstGeom>
          <a:noFill/>
        </p:spPr>
        <p:txBody>
          <a:bodyPr wrap="square" anchor="t" lIns="0" rIns="0" tIns="0" bIns="0">
            <a:spAutoFit/>
          </a:bodyPr>
          <a:lstStyle/>
          <a:p>
            <a:pPr algn="l"/>
            <a:r>
              <a:rPr sz="950" b="0" i="0">
                <a:solidFill>
                  <a:srgbClr val="6B6690"/>
                </a:solidFill>
                <a:latin typeface="Calibri"/>
              </a:rPr>
              <a:t>lands on the control total, invented</a:t>
            </a:r>
          </a:p>
        </p:txBody>
      </p:sp>
      <p:sp>
        <p:nvSpPr>
          <p:cNvPr id="17" name="Rectangle 16"/>
          <p:cNvSpPr/>
          <p:nvPr/>
        </p:nvSpPr>
        <p:spPr>
          <a:xfrm>
            <a:off x="530352" y="5282183"/>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4093463"/>
            <a:ext cx="3527450" cy="571500"/>
          </a:xfrm>
          <a:prstGeom prst="rect">
            <a:avLst/>
          </a:prstGeom>
          <a:noFill/>
        </p:spPr>
        <p:txBody>
          <a:bodyPr wrap="square" anchor="t" lIns="0" rIns="0" tIns="0" bIns="0">
            <a:spAutoFit/>
          </a:bodyPr>
          <a:lstStyle/>
          <a:p>
            <a:pPr algn="l"/>
            <a:r>
              <a:rPr sz="3600" b="0" i="0">
                <a:solidFill>
                  <a:srgbClr val="5B3FD6"/>
                </a:solidFill>
                <a:latin typeface="Georgia"/>
              </a:rPr>
              <a:t>Rs 14,00,000</a:t>
            </a:r>
          </a:p>
        </p:txBody>
      </p:sp>
      <p:sp>
        <p:nvSpPr>
          <p:cNvPr id="19" name="TextBox 18"/>
          <p:cNvSpPr txBox="1"/>
          <p:nvPr/>
        </p:nvSpPr>
        <p:spPr>
          <a:xfrm>
            <a:off x="4332122" y="4701539"/>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ON THE BOOKS</a:t>
            </a:r>
          </a:p>
        </p:txBody>
      </p:sp>
      <p:sp>
        <p:nvSpPr>
          <p:cNvPr id="20" name="TextBox 19"/>
          <p:cNvSpPr txBox="1"/>
          <p:nvPr/>
        </p:nvSpPr>
        <p:spPr>
          <a:xfrm>
            <a:off x="4332122" y="4902707"/>
            <a:ext cx="3527450" cy="193421"/>
          </a:xfrm>
          <a:prstGeom prst="rect">
            <a:avLst/>
          </a:prstGeom>
          <a:noFill/>
        </p:spPr>
        <p:txBody>
          <a:bodyPr wrap="square" anchor="t" lIns="0" rIns="0" tIns="0" bIns="0">
            <a:spAutoFit/>
          </a:bodyPr>
          <a:lstStyle/>
          <a:p>
            <a:pPr algn="l"/>
            <a:r>
              <a:rPr sz="950" b="0" i="0">
                <a:solidFill>
                  <a:srgbClr val="6B6690"/>
                </a:solidFill>
                <a:latin typeface="Calibri"/>
              </a:rPr>
              <a:t>was Rs 5,50,000 with the zero, invented</a:t>
            </a:r>
          </a:p>
        </p:txBody>
      </p:sp>
      <p:sp>
        <p:nvSpPr>
          <p:cNvPr id="21" name="Rectangle 20"/>
          <p:cNvSpPr/>
          <p:nvPr/>
        </p:nvSpPr>
        <p:spPr>
          <a:xfrm>
            <a:off x="4332122" y="5282183"/>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4093463"/>
            <a:ext cx="3527450" cy="571500"/>
          </a:xfrm>
          <a:prstGeom prst="rect">
            <a:avLst/>
          </a:prstGeom>
          <a:noFill/>
        </p:spPr>
        <p:txBody>
          <a:bodyPr wrap="square" anchor="t" lIns="0" rIns="0" tIns="0" bIns="0">
            <a:spAutoFit/>
          </a:bodyPr>
          <a:lstStyle/>
          <a:p>
            <a:pPr algn="l"/>
            <a:r>
              <a:rPr sz="3600" b="0" i="0">
                <a:solidFill>
                  <a:srgbClr val="5B3FD6"/>
                </a:solidFill>
                <a:latin typeface="Georgia"/>
              </a:rPr>
              <a:t>1</a:t>
            </a:r>
          </a:p>
        </p:txBody>
      </p:sp>
      <p:sp>
        <p:nvSpPr>
          <p:cNvPr id="23" name="TextBox 22"/>
          <p:cNvSpPr txBox="1"/>
          <p:nvPr/>
        </p:nvSpPr>
        <p:spPr>
          <a:xfrm>
            <a:off x="8133892" y="4701539"/>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LOG LINE</a:t>
            </a:r>
          </a:p>
        </p:txBody>
      </p:sp>
      <p:sp>
        <p:nvSpPr>
          <p:cNvPr id="24" name="TextBox 23"/>
          <p:cNvSpPr txBox="1"/>
          <p:nvPr/>
        </p:nvSpPr>
        <p:spPr>
          <a:xfrm>
            <a:off x="8133892" y="4902707"/>
            <a:ext cx="3527450" cy="193421"/>
          </a:xfrm>
          <a:prstGeom prst="rect">
            <a:avLst/>
          </a:prstGeom>
          <a:noFill/>
        </p:spPr>
        <p:txBody>
          <a:bodyPr wrap="square" anchor="t" lIns="0" rIns="0" tIns="0" bIns="0">
            <a:spAutoFit/>
          </a:bodyPr>
          <a:lstStyle/>
          <a:p>
            <a:pPr algn="l"/>
            <a:r>
              <a:rPr sz="950" b="0" i="0">
                <a:solidFill>
                  <a:srgbClr val="6B6690"/>
                </a:solidFill>
                <a:latin typeface="Calibri"/>
              </a:rPr>
              <a:t>the text and the number it was read as</a:t>
            </a:r>
          </a:p>
        </p:txBody>
      </p:sp>
      <p:sp>
        <p:nvSpPr>
          <p:cNvPr id="25" name="Rectangle 24"/>
          <p:cNvSpPr/>
          <p:nvPr/>
        </p:nvSpPr>
        <p:spPr>
          <a:xfrm>
            <a:off x="8133892" y="5282183"/>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 order with no segment turns a fall into a rise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segment filter drop a row without a word, as the zero did?</a:t>
            </a:r>
          </a:p>
        </p:txBody>
      </p:sp>
      <p:pic>
        <p:nvPicPr>
          <p:cNvPr id="10" name="mermaid diagram" descr="d2e950093eb067cb.png"/>
          <p:cNvPicPr>
            <a:picLocks noChangeAspect="1"/>
          </p:cNvPicPr>
          <p:nvPr/>
        </p:nvPicPr>
        <p:blipFill>
          <a:blip r:embed="rId6"/>
          <a:stretch>
            <a:fillRect/>
          </a:stretch>
        </p:blipFill>
        <p:spPr>
          <a:xfrm>
            <a:off x="3588801" y="1664208"/>
            <a:ext cx="5014092" cy="3203447"/>
          </a:xfrm>
          <a:prstGeom prst="rect">
            <a:avLst/>
          </a:prstGeom>
        </p:spPr>
      </p:pic>
      <p:sp>
        <p:nvSpPr>
          <p:cNvPr id="11" name="Rounded Rectangle 10"/>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4" name="TextBox 13"/>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segments add back to the quarter, in orders and in rupees, before any segment is read. On the invented export they fall one order short in Q1, and Retail-Core, which fell, reads as a rise.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8" name="Oval 1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20" name="Oval 1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D28  ·  31 / 52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Summed or logged: the logged value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file alone, with no control total, find the gap?</a:t>
            </a:r>
          </a:p>
        </p:txBody>
      </p:sp>
      <p:pic>
        <p:nvPicPr>
          <p:cNvPr id="9" name="mermaid diagram" descr="d17567d359b3a664.png"/>
          <p:cNvPicPr>
            <a:picLocks noChangeAspect="1"/>
          </p:cNvPicPr>
          <p:nvPr/>
        </p:nvPicPr>
        <p:blipFill>
          <a:blip r:embed="rId5"/>
          <a:stretch>
            <a:fillRect/>
          </a:stretch>
        </p:blipFill>
        <p:spPr>
          <a:xfrm>
            <a:off x="2152497" y="1787461"/>
            <a:ext cx="7886700" cy="3286125"/>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On the invented export the account balances. The rupee check needs a total from outside and says how much is missing, and this needs only the file and says where, so on a file with no control total it is the check you still have.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52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once the rupees land as well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count reconciles and nothing was rejected: is the pass finished?</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568930"/>
                <a:gridCol w="6562060"/>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on the invented export</a:t>
                      </a:r>
                    </a:p>
                  </a:txBody>
                  <a:tcPr marL="101600" marR="101600" marT="38100" marB="38100" anchor="ctr">
                    <a:solidFill>
                      <a:srgbClr val="1A0F5C"/>
                    </a:solidFill>
                  </a:tcPr>
                </a:tc>
              </a:tr>
              <a:tr h="369824">
                <a:tc>
                  <a:txBody>
                    <a:bodyPr/>
                    <a:lstStyle/>
                    <a:p>
                      <a:r>
                        <a:rPr sz="1400" b="0" i="0">
                          <a:solidFill>
                            <a:srgbClr val="1A1440"/>
                          </a:solidFill>
                          <a:latin typeface="Calibri"/>
                        </a:rPr>
                        <a:t>What does a zeroing pass report?</a:t>
                      </a:r>
                    </a:p>
                  </a:txBody>
                  <a:tcPr marL="101600" marR="101600" marT="38100" marB="38100" anchor="ctr">
                    <a:solidFill>
                      <a:srgbClr val="FFFFFF"/>
                    </a:solidFill>
                  </a:tcPr>
                </a:tc>
                <a:tc>
                  <a:txBody>
                    <a:bodyPr/>
                    <a:lstStyle/>
                    <a:p>
                      <a:r>
                        <a:rPr sz="1400" b="0" i="0">
                          <a:solidFill>
                            <a:srgbClr val="1A1440"/>
                          </a:solidFill>
                          <a:latin typeface="Calibri"/>
                        </a:rPr>
                        <a:t>83 Q1 orders of 83, and 0 rejects</a:t>
                      </a:r>
                    </a:p>
                  </a:txBody>
                  <a:tcPr marL="101600" marR="101600" marT="38100" marB="38100" anchor="ctr">
                    <a:solidFill>
                      <a:srgbClr val="FFFFFF"/>
                    </a:solidFill>
                  </a:tcPr>
                </a:tc>
              </a:tr>
              <a:tr h="369824">
                <a:tc>
                  <a:txBody>
                    <a:bodyPr/>
                    <a:lstStyle/>
                    <a:p>
                      <a:r>
                        <a:rPr sz="1400" b="0" i="0">
                          <a:solidFill>
                            <a:srgbClr val="1A1440"/>
                          </a:solidFill>
                          <a:latin typeface="Calibri"/>
                        </a:rPr>
                        <a:t>What do the rupees say?</a:t>
                      </a:r>
                    </a:p>
                  </a:txBody>
                  <a:tcPr marL="101600" marR="101600" marT="38100" marB="38100" anchor="ctr">
                    <a:solidFill>
                      <a:srgbClr val="F4F2FA"/>
                    </a:solidFill>
                  </a:tcPr>
                </a:tc>
                <a:tc>
                  <a:txBody>
                    <a:bodyPr/>
                    <a:lstStyle/>
                    <a:p>
                      <a:r>
                        <a:rPr sz="1400" b="0" i="0">
                          <a:solidFill>
                            <a:srgbClr val="1A1440"/>
                          </a:solidFill>
                          <a:latin typeface="Calibri"/>
                        </a:rPr>
                        <a:t>Q1 Rs 8,50,000 short: -17.5% against -35.0%</a:t>
                      </a:r>
                    </a:p>
                  </a:txBody>
                  <a:tcPr marL="101600" marR="101600" marT="38100" marB="38100" anchor="ctr">
                    <a:solidFill>
                      <a:srgbClr val="F4F2FA"/>
                    </a:solidFill>
                  </a:tcPr>
                </a:tc>
              </a:tr>
              <a:tr h="369824">
                <a:tc>
                  <a:txBody>
                    <a:bodyPr/>
                    <a:lstStyle/>
                    <a:p>
                      <a:r>
                        <a:rPr sz="1400" b="0" i="0">
                          <a:solidFill>
                            <a:srgbClr val="1A1440"/>
                          </a:solidFill>
                          <a:latin typeface="Calibri"/>
                        </a:rPr>
                        <a:t>Which of four answers fits?</a:t>
                      </a:r>
                    </a:p>
                  </a:txBody>
                  <a:tcPr marL="101600" marR="101600" marT="38100" marB="38100" anchor="ctr">
                    <a:solidFill>
                      <a:srgbClr val="FFFFFF"/>
                    </a:solidFill>
                  </a:tcPr>
                </a:tc>
                <a:tc>
                  <a:txBody>
                    <a:bodyPr/>
                    <a:lstStyle/>
                    <a:p>
                      <a:r>
                        <a:rPr sz="1400" b="0" i="0">
                          <a:solidFill>
                            <a:srgbClr val="1A1440"/>
                          </a:solidFill>
                          <a:latin typeface="Calibri"/>
                        </a:rPr>
                        <a:t>C, read and flag; D when it needs a guess</a:t>
                      </a:r>
                    </a:p>
                  </a:txBody>
                  <a:tcPr marL="101600" marR="101600" marT="38100" marB="38100" anchor="ctr">
                    <a:solidFill>
                      <a:srgbClr val="FFFFFF"/>
                    </a:solidFill>
                  </a:tcPr>
                </a:tc>
              </a:tr>
              <a:tr h="369824">
                <a:tc>
                  <a:txBody>
                    <a:bodyPr/>
                    <a:lstStyle/>
                    <a:p>
                      <a:r>
                        <a:rPr sz="1400" b="0" i="0">
                          <a:solidFill>
                            <a:srgbClr val="1A1440"/>
                          </a:solidFill>
                          <a:latin typeface="Calibri"/>
                        </a:rPr>
                        <a:t>What does reading it change?</a:t>
                      </a:r>
                    </a:p>
                  </a:txBody>
                  <a:tcPr marL="101600" marR="101600" marT="38100" marB="38100" anchor="ctr">
                    <a:solidFill>
                      <a:srgbClr val="F4F2FA"/>
                    </a:solidFill>
                  </a:tcPr>
                </a:tc>
                <a:tc>
                  <a:txBody>
                    <a:bodyPr/>
                    <a:lstStyle/>
                    <a:p>
                      <a:r>
                        <a:rPr sz="1400" b="0" i="0">
                          <a:solidFill>
                            <a:srgbClr val="1A1440"/>
                          </a:solidFill>
                          <a:latin typeface="Calibri"/>
                        </a:rPr>
                        <a:t>The fall doubles to 35.0%, Rs 14,00,000</a:t>
                      </a:r>
                    </a:p>
                  </a:txBody>
                  <a:tcPr marL="101600" marR="101600" marT="38100" marB="38100" anchor="ctr">
                    <a:solidFill>
                      <a:srgbClr val="F4F2FA"/>
                    </a:solidFill>
                  </a:tcPr>
                </a:tc>
              </a:tr>
              <a:tr h="369824">
                <a:tc>
                  <a:txBody>
                    <a:bodyPr/>
                    <a:lstStyle/>
                    <a:p>
                      <a:r>
                        <a:rPr sz="1400" b="0" i="0">
                          <a:solidFill>
                            <a:srgbClr val="1A1440"/>
                          </a:solidFill>
                          <a:latin typeface="Calibri"/>
                        </a:rPr>
                        <a:t>Can a filter drop a row?</a:t>
                      </a:r>
                    </a:p>
                  </a:txBody>
                  <a:tcPr marL="101600" marR="101600" marT="38100" marB="38100" anchor="ctr">
                    <a:solidFill>
                      <a:srgbClr val="FFFFFF"/>
                    </a:solidFill>
                  </a:tcPr>
                </a:tc>
                <a:tc>
                  <a:txBody>
                    <a:bodyPr/>
                    <a:lstStyle/>
                    <a:p>
                      <a:r>
                        <a:rPr sz="1400" b="0" i="0">
                          <a:solidFill>
                            <a:srgbClr val="1A1440"/>
                          </a:solidFill>
                          <a:latin typeface="Calibri"/>
                        </a:rPr>
                        <a:t>Yes: Retail-Core reads +2.2% where it fell 1.0%</a:t>
                      </a:r>
                    </a:p>
                  </a:txBody>
                  <a:tcPr marL="101600" marR="101600" marT="38100" marB="38100" anchor="ctr">
                    <a:solidFill>
                      <a:srgbClr val="FFFFFF"/>
                    </a:solidFill>
                  </a:tcPr>
                </a:tc>
              </a:tr>
              <a:tr h="369824">
                <a:tc>
                  <a:txBody>
                    <a:bodyPr/>
                    <a:lstStyle/>
                    <a:p>
                      <a:r>
                        <a:rPr sz="1400" b="0" i="0">
                          <a:solidFill>
                            <a:srgbClr val="1A1440"/>
                          </a:solidFill>
                          <a:latin typeface="Calibri"/>
                        </a:rPr>
                        <a:t>Can the file find the gap?</a:t>
                      </a:r>
                    </a:p>
                  </a:txBody>
                  <a:tcPr marL="101600" marR="101600" marT="38100" marB="38100" anchor="ctr">
                    <a:solidFill>
                      <a:srgbClr val="F4F2FA"/>
                    </a:solidFill>
                  </a:tcPr>
                </a:tc>
                <a:tc>
                  <a:txBody>
                    <a:bodyPr/>
                    <a:lstStyle/>
                    <a:p>
                      <a:r>
                        <a:rPr sz="1400" b="0" i="0">
                          <a:solidFill>
                            <a:srgbClr val="1A1440"/>
                          </a:solidFill>
                          <a:latin typeface="Calibri"/>
                        </a:rPr>
                        <a:t>Yes: 167 = 166 + 1, and the log is the gap</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A count check proves the rows are there. Only a rupee check proves the values survived. Setting a value to zero claims the order was worth nothing, so that decision belongs in the log with a reason.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52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leads?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finding leads the note, and how sure can Meera be of it?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the quarters tie?</a:t>
            </a:r>
          </a:p>
        </p:txBody>
      </p:sp>
      <p:sp>
        <p:nvSpPr>
          <p:cNvPr id="11" name="Rounded Rectangle 10"/>
          <p:cNvSpPr/>
          <p:nvPr/>
        </p:nvSpPr>
        <p:spPr>
          <a:xfrm>
            <a:off x="239132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a clean pass done?</a:t>
            </a:r>
          </a:p>
        </p:txBody>
      </p:sp>
      <p:sp>
        <p:nvSpPr>
          <p:cNvPr id="12" name="Rounded Rectangle 11"/>
          <p:cNvSpPr/>
          <p:nvPr/>
        </p:nvSpPr>
        <p:spPr>
          <a:xfrm>
            <a:off x="4110350"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leads?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52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from tree to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right lead, and which five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acts on the note's first line and Marketing attacks any rate on a handful of orders; a trend claimed from a few orders sends a team after a segment that did nothing.</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does the fall sit?</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clean tree splits it by segment.</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On how many orders?</a:t>
            </a:r>
          </a:p>
        </p:txBody>
      </p:sp>
      <p:sp>
        <p:nvSpPr>
          <p:cNvPr id="22" name="TextBox 21"/>
          <p:cNvSpPr txBox="1"/>
          <p:nvPr/>
        </p:nvSpPr>
        <p:spPr>
          <a:xfrm>
            <a:off x="2957718"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biggest move rests on a count.</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to choose the lead?</a:t>
            </a:r>
          </a:p>
        </p:txBody>
      </p:sp>
      <p:sp>
        <p:nvSpPr>
          <p:cNvPr id="27" name="TextBox 26"/>
          <p:cNvSpPr txBox="1"/>
          <p:nvPr/>
        </p:nvSpPr>
        <p:spPr>
          <a:xfrm>
            <a:off x="5220492"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ways to choose are sized.</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More than chance?</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member's two quarters are flipped.</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465836"/>
          </a:xfrm>
          <a:prstGeom prst="rect">
            <a:avLst/>
          </a:prstGeom>
          <a:noFill/>
        </p:spPr>
        <p:txBody>
          <a:bodyPr wrap="square" anchor="t" lIns="0" rIns="0" tIns="0" bIns="0">
            <a:spAutoFit/>
          </a:bodyPr>
          <a:lstStyle/>
          <a:p>
            <a:pPr algn="l"/>
            <a:r>
              <a:rPr sz="1300" b="1" i="0">
                <a:solidFill>
                  <a:srgbClr val="FFFFFF"/>
                </a:solidFill>
                <a:latin typeface="Calibri"/>
              </a:rPr>
              <a:t>Broad, or a few members?</a:t>
            </a:r>
          </a:p>
        </p:txBody>
      </p:sp>
      <p:sp>
        <p:nvSpPr>
          <p:cNvPr id="37" name="TextBox 36"/>
          <p:cNvSpPr txBox="1"/>
          <p:nvPr/>
        </p:nvSpPr>
        <p:spPr>
          <a:xfrm>
            <a:off x="9746040" y="446481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second route counts members.</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40" name="Oval 3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42" name="Oval 41"/>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acts on the line Marketing will attack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first line, and what does a wrong lead cost?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14,00,000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reconciled, invented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four</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SEGMENTS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its own count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one line</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MEERA ACTS 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note's first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branch do I open first, and can I act on it on Monday?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IMDb counts votes before it ranks a title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refuses to rank on a handful of cases?</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tar_d3c4d302b18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IMDB TOP 250</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25,000 ratings first</a:t>
            </a:r>
          </a:p>
        </p:txBody>
      </p:sp>
      <p:sp>
        <p:nvSpPr>
          <p:cNvPr id="15" name="TextBox 14"/>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title needs at least 25,000 ratings from regular voters, and the weighted rating pulls a title with few votes toward the average of all titles. Source: IMDb Help, ratings FAQ, updated 9 February 2026.</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chool_d5d8d79ecd6b.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SMALL SCHOOLS, A PUBLIC CASE</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Best and worst, both small</a:t>
            </a:r>
          </a:p>
        </p:txBody>
      </p:sp>
      <p:sp>
        <p:nvSpPr>
          <p:cNvPr id="21" name="TextBox 20"/>
          <p:cNvSpPr txBox="1"/>
          <p:nvPr/>
        </p:nvSpPr>
        <p:spPr>
          <a:xfrm>
            <a:off x="6388455" y="3303524"/>
            <a:ext cx="5071719" cy="763016"/>
          </a:xfrm>
          <a:prstGeom prst="rect">
            <a:avLst/>
          </a:prstGeom>
          <a:noFill/>
        </p:spPr>
        <p:txBody>
          <a:bodyPr wrap="square" anchor="t" lIns="0" rIns="0" tIns="0" bIns="0">
            <a:spAutoFit/>
          </a:bodyPr>
          <a:lstStyle/>
          <a:p>
            <a:pPr algn="l"/>
            <a:r>
              <a:rPr sz="1100" b="0" i="0">
                <a:solidFill>
                  <a:srgbClr val="6B6690"/>
                </a:solidFill>
                <a:latin typeface="Calibri"/>
              </a:rPr>
              <a:t>Small schools are over-represented at both ends of the rankings because small samples vary more. Source: Howard Wainer, "The Most Dangerous Equation", in Picturing the Uncertain World, Princeton University Press, 2009.</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D33  ·  37 / 52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segment carries most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invented Rs 14,00,000 fall, where does most of it sit?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Retail-Core, the segment with the most orders; b) Retail-Plus, the members' tier; c) Business, the corporate book; d) Student, the smallest segment.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52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corporate book, 99.2 percent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in the tree does the invented fall sit?</a:t>
            </a:r>
          </a:p>
        </p:txBody>
      </p:sp>
      <p:pic>
        <p:nvPicPr>
          <p:cNvPr id="9" name="mermaid diagram" descr="3cb895d354135b35.png"/>
          <p:cNvPicPr>
            <a:picLocks noChangeAspect="1"/>
          </p:cNvPicPr>
          <p:nvPr/>
        </p:nvPicPr>
        <p:blipFill>
          <a:blip r:embed="rId5"/>
          <a:stretch>
            <a:fillRect/>
          </a:stretch>
        </p:blipFill>
        <p:spPr>
          <a:xfrm>
            <a:off x="2152497" y="1838769"/>
            <a:ext cx="7886700" cy="3286125"/>
          </a:xfrm>
          <a:prstGeom prst="rect">
            <a:avLst/>
          </a:prstGeom>
        </p:spPr>
      </p:pic>
      <p:sp>
        <p:nvSpPr>
          <p:cNvPr id="10" name="TextBox 9"/>
          <p:cNvSpPr txBox="1"/>
          <p:nvPr/>
        </p:nvSpPr>
        <p:spPr>
          <a:xfrm>
            <a:off x="530352" y="527119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Retail-Plus kept its 16 members and their 2.00 orders each while its revenue per order, the basket, fell from Rs 3,000 to Rs 2,550.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52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corporate book falls 36.3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headline does the biggest move tempt a hurried note into?</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-36.3%</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CORPORATE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invented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5 then 2</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rate rests 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13,88,200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IT CARRIES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99.2% of the quarter's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rate is true to the rupee and the biggest move on the page, so a hurried note leads with it: "corporate is declining; we recommend a retention plan".</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52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does it enter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reads the first line and acts on it: where does the corporate move go?</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as the headline trend, since it is the largest move in rupees on the page; b) as the headline, with a test's p-value printed beside the rate; c) left out of the note, since a handful of orders is too few to matter to anyone; d) as counts, the orders in each quarter, with a question to their owner.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52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as counts, five orders then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corporate move go in the note, and why there?</a:t>
            </a:r>
          </a:p>
        </p:txBody>
      </p:sp>
      <p:pic>
        <p:nvPicPr>
          <p:cNvPr id="9" name="mermaid diagram" descr="cc6fbd2aede06676.png"/>
          <p:cNvPicPr>
            <a:picLocks noChangeAspect="1"/>
          </p:cNvPicPr>
          <p:nvPr/>
        </p:nvPicPr>
        <p:blipFill>
          <a:blip r:embed="rId5"/>
          <a:stretch>
            <a:fillRect/>
          </a:stretch>
        </p:blipFill>
        <p:spPr>
          <a:xfrm>
            <a:off x="530352" y="1956816"/>
            <a:ext cx="11130991" cy="2671974"/>
          </a:xfrm>
          <a:prstGeom prst="rect">
            <a:avLst/>
          </a:prstGeom>
        </p:spPr>
      </p:pic>
      <p:sp>
        <p:nvSpPr>
          <p:cNvPr id="10" name="TextBox 9"/>
          <p:cNvSpPr txBox="1"/>
          <p:nvPr/>
        </p:nvSpPr>
        <p:spPr>
          <a:xfrm>
            <a:off x="530352" y="477509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On the invented export, seven orders dealt at random between two quarters come out at least as uneven as five and two in 45 percent of coin-flip worlds, so the rate says nothing a count does not.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52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lead: C leads on 64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should a team choose the lead, and what does each way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140638"/>
                <a:gridCol w="3490767"/>
                <a:gridCol w="914400"/>
                <a:gridCol w="3670784"/>
                <a:gridCol w="9144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Leads with</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Chance alone</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r>
              <a:tr h="335280">
                <a:tc>
                  <a:txBody>
                    <a:bodyPr/>
                    <a:lstStyle/>
                    <a:p>
                      <a:r>
                        <a:rPr sz="1200" b="0" i="0">
                          <a:solidFill>
                            <a:srgbClr val="1A1440"/>
                          </a:solidFill>
                          <a:latin typeface="Calibri"/>
                        </a:rPr>
                        <a:t>A. Biggest rupee move</a:t>
                      </a:r>
                    </a:p>
                  </a:txBody>
                  <a:tcPr marL="101600" marR="101600" marT="38100" marB="38100" anchor="ctr">
                    <a:solidFill>
                      <a:srgbClr val="FFFFFF"/>
                    </a:solidFill>
                  </a:tcPr>
                </a:tc>
                <a:tc>
                  <a:txBody>
                    <a:bodyPr/>
                    <a:lstStyle/>
                    <a:p>
                      <a:r>
                        <a:rPr sz="1200" b="0" i="0">
                          <a:solidFill>
                            <a:srgbClr val="1A1440"/>
                          </a:solidFill>
                          <a:latin typeface="Calibri"/>
                        </a:rPr>
                        <a:t>Business -36.3%</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45% of coin-flip worlds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r h="335280">
                <a:tc>
                  <a:txBody>
                    <a:bodyPr/>
                    <a:lstStyle/>
                    <a:p>
                      <a:r>
                        <a:rPr sz="1200" b="0" i="0">
                          <a:solidFill>
                            <a:srgbClr val="1A1440"/>
                          </a:solidFill>
                          <a:latin typeface="Calibri"/>
                        </a:rPr>
                        <a:t>B. The total, unsplit</a:t>
                      </a:r>
                    </a:p>
                  </a:txBody>
                  <a:tcPr marL="101600" marR="101600" marT="38100" marB="38100" anchor="ctr">
                    <a:solidFill>
                      <a:srgbClr val="F4F2FA"/>
                    </a:solidFill>
                  </a:tcPr>
                </a:tc>
                <a:tc>
                  <a:txBody>
                    <a:bodyPr/>
                    <a:lstStyle/>
                    <a:p>
                      <a:r>
                        <a:rPr sz="1200" b="0" i="0">
                          <a:solidFill>
                            <a:srgbClr val="1A1440"/>
                          </a:solidFill>
                          <a:latin typeface="Calibri"/>
                        </a:rPr>
                        <a:t>revenue -35.0%</a:t>
                      </a:r>
                    </a:p>
                  </a:txBody>
                  <a:tcPr marL="101600" marR="101600" marT="38100" marB="38100" anchor="ctr">
                    <a:solidFill>
                      <a:srgbClr val="F4F2FA"/>
                    </a:solidFill>
                  </a:tcPr>
                </a:tc>
                <a:tc>
                  <a:txBody>
                    <a:bodyPr/>
                    <a:lstStyle/>
                    <a:p>
                      <a:r>
                        <a:rPr sz="1200" b="0" i="0">
                          <a:solidFill>
                            <a:srgbClr val="1A1440"/>
                          </a:solidFill>
                          <a:latin typeface="Calibri"/>
                        </a:rPr>
                        <a:t>167</a:t>
                      </a:r>
                    </a:p>
                  </a:txBody>
                  <a:tcPr marL="101600" marR="101600" marT="38100" marB="38100" anchor="ctr">
                    <a:solidFill>
                      <a:srgbClr val="F4F2FA"/>
                    </a:solidFill>
                  </a:tcPr>
                </a:tc>
                <a:tc>
                  <a:txBody>
                    <a:bodyPr/>
                    <a:lstStyle/>
                    <a:p>
                      <a:r>
                        <a:rPr sz="1200" b="0" i="0">
                          <a:solidFill>
                            <a:srgbClr val="1A1440"/>
                          </a:solidFill>
                          <a:latin typeface="Calibri"/>
                        </a:rPr>
                        <a:t>not asked</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C. Count before rate</a:t>
                      </a:r>
                    </a:p>
                  </a:txBody>
                  <a:tcPr marL="101600" marR="101600" marT="38100" marB="38100" anchor="ctr">
                    <a:solidFill>
                      <a:srgbClr val="FFFFFF"/>
                    </a:solidFill>
                  </a:tcPr>
                </a:tc>
                <a:tc>
                  <a:txBody>
                    <a:bodyPr/>
                    <a:lstStyle/>
                    <a:p>
                      <a:r>
                        <a:rPr sz="1200" b="0" i="0">
                          <a:solidFill>
                            <a:srgbClr val="1A1440"/>
                          </a:solidFill>
                          <a:latin typeface="Calibri"/>
                        </a:rPr>
                        <a:t>Retail-Plus basket -15.0%, Rs 14,400</a:t>
                      </a:r>
                    </a:p>
                  </a:txBody>
                  <a:tcPr marL="101600" marR="101600" marT="38100" marB="38100" anchor="ctr">
                    <a:solidFill>
                      <a:srgbClr val="FFFFFF"/>
                    </a:solidFill>
                  </a:tcPr>
                </a:tc>
                <a:tc>
                  <a:txBody>
                    <a:bodyPr/>
                    <a:lstStyle/>
                    <a:p>
                      <a:r>
                        <a:rPr sz="1200" b="0" i="0">
                          <a:solidFill>
                            <a:srgbClr val="1A1440"/>
                          </a:solidFill>
                          <a:latin typeface="Calibri"/>
                        </a:rPr>
                        <a:t>64</a:t>
                      </a:r>
                    </a:p>
                  </a:txBody>
                  <a:tcPr marL="101600" marR="101600" marT="38100" marB="38100" anchor="ctr">
                    <a:solidFill>
                      <a:srgbClr val="FFFFFF"/>
                    </a:solidFill>
                  </a:tcPr>
                </a:tc>
                <a:tc>
                  <a:txBody>
                    <a:bodyPr/>
                    <a:lstStyle/>
                    <a:p>
                      <a:r>
                        <a:rPr sz="1200" b="0" i="0">
                          <a:solidFill>
                            <a:srgbClr val="1A1440"/>
                          </a:solidFill>
                          <a:latin typeface="Calibri"/>
                        </a:rPr>
                        <a:t>one test on each member's two quarters</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r>
              <a:tr h="335280">
                <a:tc>
                  <a:txBody>
                    <a:bodyPr/>
                    <a:lstStyle/>
                    <a:p>
                      <a:r>
                        <a:rPr sz="1200" b="0" i="0">
                          <a:solidFill>
                            <a:srgbClr val="1A1440"/>
                          </a:solidFill>
                          <a:latin typeface="Calibri"/>
                        </a:rPr>
                        <a:t>D. Test every segment</a:t>
                      </a:r>
                    </a:p>
                  </a:txBody>
                  <a:tcPr marL="101600" marR="101600" marT="38100" marB="38100" anchor="ctr">
                    <a:solidFill>
                      <a:srgbClr val="F4F2FA"/>
                    </a:solidFill>
                  </a:tcPr>
                </a:tc>
                <a:tc>
                  <a:txBody>
                    <a:bodyPr/>
                    <a:lstStyle/>
                    <a:p>
                      <a:r>
                        <a:rPr sz="1200" b="0" i="0">
                          <a:solidFill>
                            <a:srgbClr val="1A1440"/>
                          </a:solidFill>
                          <a:latin typeface="Calibri"/>
                        </a:rPr>
                        <a:t>the smallest of four p-values</a:t>
                      </a:r>
                    </a:p>
                  </a:txBody>
                  <a:tcPr marL="101600" marR="101600" marT="38100" marB="38100" anchor="ctr">
                    <a:solidFill>
                      <a:srgbClr val="F4F2FA"/>
                    </a:solidFill>
                  </a:tcPr>
                </a:tc>
                <a:tc>
                  <a:txBody>
                    <a:bodyPr/>
                    <a:lstStyle/>
                    <a:p>
                      <a:r>
                        <a:rPr sz="1200" b="0" i="0">
                          <a:solidFill>
                            <a:srgbClr val="1A1440"/>
                          </a:solidFill>
                          <a:latin typeface="Calibri"/>
                        </a:rPr>
                        <a:t>7 to 72</a:t>
                      </a:r>
                    </a:p>
                  </a:txBody>
                  <a:tcPr marL="101600" marR="101600" marT="38100" marB="38100" anchor="ctr">
                    <a:solidFill>
                      <a:srgbClr val="F4F2FA"/>
                    </a:solidFill>
                  </a:tcPr>
                </a:tc>
                <a:tc>
                  <a:txBody>
                    <a:bodyPr/>
                    <a:lstStyle/>
                    <a:p>
                      <a:r>
                        <a:rPr sz="1200" b="0" i="0">
                          <a:solidFill>
                            <a:srgbClr val="1A1440"/>
                          </a:solidFill>
                          <a:latin typeface="Calibri"/>
                        </a:rPr>
                        <a:t>four tests, a one-in-five fluke risk</a:t>
                      </a:r>
                    </a:p>
                  </a:txBody>
                  <a:tcPr marL="101600" marR="101600" marT="38100" marB="38100" anchor="ctr">
                    <a:solidFill>
                      <a:srgbClr val="F4F2FA"/>
                    </a:solidFill>
                  </a:tcPr>
                </a:tc>
                <a:tc>
                  <a:txBody>
                    <a:bodyPr/>
                    <a:lstStyle/>
                    <a:p>
                      <a:r>
                        <a:rPr sz="1200" b="0" i="0">
                          <a:solidFill>
                            <a:srgbClr val="1A1440"/>
                          </a:solidFill>
                          <a:latin typeface="Calibri"/>
                        </a:rPr>
                        <a:t>45</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80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9028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1200912"/>
          </a:xfrm>
          <a:prstGeom prst="rect">
            <a:avLst/>
          </a:prstGeom>
          <a:noFill/>
        </p:spPr>
        <p:txBody>
          <a:bodyPr wrap="square" anchor="t" lIns="0" rIns="0" tIns="0" bIns="0">
            <a:spAutoFit/>
          </a:bodyPr>
          <a:lstStyle/>
          <a:p>
            <a:r>
              <a:rPr sz="1500" b="0" i="0">
                <a:solidFill>
                  <a:srgbClr val="1A1440"/>
                </a:solidFill>
                <a:latin typeface="Calibri"/>
              </a:rPr>
              <a:t>On the invented export, C, because Retail-Plus's basket is the one consumer move on enough orders to test; it is small in rupees, so it leads beside the corporate move, which is said as counts. Switch when Meera's question is about accounts, when a segment carries hundreds of orders a quarter, or when a second quarter repeats the move.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52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Orders and a test decide the first line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finding go in the note?</a:t>
            </a:r>
          </a:p>
        </p:txBody>
      </p:sp>
      <p:pic>
        <p:nvPicPr>
          <p:cNvPr id="10" name="mermaid diagram" descr="cf6c318ba48f4892.png"/>
          <p:cNvPicPr>
            <a:picLocks noChangeAspect="1"/>
          </p:cNvPicPr>
          <p:nvPr/>
        </p:nvPicPr>
        <p:blipFill>
          <a:blip r:embed="rId5"/>
          <a:stretch>
            <a:fillRect/>
          </a:stretch>
        </p:blipFill>
        <p:spPr>
          <a:xfrm>
            <a:off x="1981047" y="1704181"/>
            <a:ext cx="8229600" cy="3729037"/>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rupees decide whether a move reaches Meera at all, and its order count and its test decide whether it leads the note or sits in the caveat.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D40  ·  44 / 52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the real change sit?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Among 2,000 worlds with each member's two quarters flipped, how extreme is the invented -15.0 percent?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in the middle of the pile; b) at the edge, with about two dozen worlds as extreme; c) beyond every flipped world; d) nowhere, since members placed different numbers of orders.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52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at the edge, 22 of 2,000 worlds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lead's fall more than chance on its members' own two quarters?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rng = random.Random(7)</a:t>
            </a:r>
          </a:p>
          <a:p>
            <a:pPr>
              <a:spcAft>
                <a:spcPts val="200"/>
              </a:spcAft>
            </a:pPr>
            <a:r>
              <a:rPr sz="1400" b="0" i="0">
                <a:solidFill>
                  <a:srgbClr val="E4E1F1"/>
                </a:solidFill>
                <a:latin typeface="Consolas"/>
              </a:rPr>
              <a:t>for _ in range(2000):                        # one world per pass</a:t>
            </a:r>
          </a:p>
          <a:p>
            <a:pPr>
              <a:spcAft>
                <a:spcPts val="200"/>
              </a:spcAft>
            </a:pPr>
            <a:r>
              <a:rPr sz="1400" b="0" i="0">
                <a:solidFill>
                  <a:srgbClr val="E4E1F1"/>
                </a:solidFill>
                <a:latin typeface="Consolas"/>
              </a:rPr>
              <a:t>    swaps = [rng.random() &lt; 0.5 for _ in per]    # each member's quarters, kept together</a:t>
            </a:r>
          </a:p>
          <a:p>
            <a:pPr>
              <a:spcAft>
                <a:spcPts val="200"/>
              </a:spcAft>
            </a:pPr>
            <a:r>
              <a:rPr sz="1400" b="0" i="0">
                <a:solidFill>
                  <a:srgbClr val="E4E1F1"/>
                </a:solidFill>
                <a:latin typeface="Consolas"/>
              </a:rPr>
              <a:t>    worlds.append(flipped_change(per, swaps))</a:t>
            </a:r>
          </a:p>
        </p:txBody>
      </p:sp>
      <p:sp>
        <p:nvSpPr>
          <p:cNvPr id="14" name="TextBox 13"/>
          <p:cNvSpPr txBox="1"/>
          <p:nvPr/>
        </p:nvSpPr>
        <p:spPr>
          <a:xfrm>
            <a:off x="53035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22 of 2,000</a:t>
            </a:r>
          </a:p>
        </p:txBody>
      </p:sp>
      <p:sp>
        <p:nvSpPr>
          <p:cNvPr id="15" name="TextBox 14"/>
          <p:cNvSpPr txBox="1"/>
          <p:nvPr/>
        </p:nvSpPr>
        <p:spPr>
          <a:xfrm>
            <a:off x="53035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FLIPPED WORLDS AS LARGE</a:t>
            </a:r>
          </a:p>
        </p:txBody>
      </p:sp>
      <p:sp>
        <p:nvSpPr>
          <p:cNvPr id="16" name="TextBox 15"/>
          <p:cNvSpPr txBox="1"/>
          <p:nvPr/>
        </p:nvSpPr>
        <p:spPr>
          <a:xfrm>
            <a:off x="53035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either direction, invented</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p = 0.011</a:t>
            </a:r>
          </a:p>
        </p:txBody>
      </p:sp>
      <p:sp>
        <p:nvSpPr>
          <p:cNvPr id="19" name="TextBox 18"/>
          <p:cNvSpPr txBox="1"/>
          <p:nvPr/>
        </p:nvSpPr>
        <p:spPr>
          <a:xfrm>
            <a:off x="433212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SHARE OF CHANCE-ONLY WORLDS</a:t>
            </a:r>
          </a:p>
        </p:txBody>
      </p:sp>
      <p:sp>
        <p:nvSpPr>
          <p:cNvPr id="20" name="TextBox 19"/>
          <p:cNvSpPr txBox="1"/>
          <p:nvPr/>
        </p:nvSpPr>
        <p:spPr>
          <a:xfrm>
            <a:off x="433212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never the chance of being wrong</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0.0107</a:t>
            </a:r>
          </a:p>
        </p:txBody>
      </p:sp>
      <p:sp>
        <p:nvSpPr>
          <p:cNvPr id="23" name="TextBox 22"/>
          <p:cNvSpPr txBox="1"/>
          <p:nvPr/>
        </p:nvSpPr>
        <p:spPr>
          <a:xfrm>
            <a:off x="813389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COUNTED EXACTLY</a:t>
            </a:r>
          </a:p>
        </p:txBody>
      </p:sp>
      <p:sp>
        <p:nvSpPr>
          <p:cNvPr id="24" name="TextBox 23"/>
          <p:cNvSpPr txBox="1"/>
          <p:nvPr/>
        </p:nvSpPr>
        <p:spPr>
          <a:xfrm>
            <a:off x="813389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over all 65,536 ways to flip 16 members</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52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Yes, apart from Retail-Core's, at p = 0.0385</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Retail-Plus's basket move differently from Retail-Core's?</a:t>
            </a:r>
          </a:p>
        </p:txBody>
      </p:sp>
      <p:sp>
        <p:nvSpPr>
          <p:cNvPr id="10" name="Rounded Rectangle 9"/>
          <p:cNvSpPr/>
          <p:nvPr/>
        </p:nvSpPr>
        <p:spPr>
          <a:xfrm>
            <a:off x="530352" y="1956816"/>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sers_113eb2dd326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SAME MEMBERS, TWO QUARTERS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Did Retail-Plus's basket fall?</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The fair test flips each member's own two quarters at random: p = 0.011, invented.</a:t>
            </a:r>
          </a:p>
        </p:txBody>
      </p:sp>
      <p:sp>
        <p:nvSpPr>
          <p:cNvPr id="16" name="Rounded Rectangle 15"/>
          <p:cNvSpPr/>
          <p:nvPr/>
        </p:nvSpPr>
        <p:spPr>
          <a:xfrm>
            <a:off x="6187287"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huffle_1f5f2f56d507.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DIFFERENT CUSTOMERS</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Did it move differently from Retail-Core's?</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The fair test shuffles the segment label across whole customers, each carrying all their orders: p = 0.0385, invented.</a:t>
            </a:r>
          </a:p>
        </p:txBody>
      </p:sp>
      <p:sp>
        <p:nvSpPr>
          <p:cNvPr id="22" name="TextBox 21"/>
          <p:cNvSpPr txBox="1"/>
          <p:nvPr/>
        </p:nvSpPr>
        <p:spPr>
          <a:xfrm>
            <a:off x="530352" y="41041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Both are fair, each for its own question, and a note says which question it tested.</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5" name="Oval 2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7" name="Oval 2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D43  ·  47 / 52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13 of 16 members' baskets fell: p = 0.021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broad, or carried by a few members?</a:t>
            </a:r>
          </a:p>
        </p:txBody>
      </p:sp>
      <p:pic>
        <p:nvPicPr>
          <p:cNvPr id="9" name="mermaid diagram" descr="78bf4a3a20fb879d.png"/>
          <p:cNvPicPr>
            <a:picLocks noChangeAspect="1"/>
          </p:cNvPicPr>
          <p:nvPr/>
        </p:nvPicPr>
        <p:blipFill>
          <a:blip r:embed="rId5"/>
          <a:stretch>
            <a:fillRect/>
          </a:stretch>
        </p:blipFill>
        <p:spPr>
          <a:xfrm>
            <a:off x="2152497" y="1956816"/>
            <a:ext cx="78867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the invented export the flips say whether the change is bigger than chance and the member count says whether it is broad. The sign test uses only each member's direction, so its p sits above the flips'.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52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Pooling the quarters reads a real fall as chance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test splits a member's two quarters?</a:t>
            </a:r>
          </a:p>
        </p:txBody>
      </p:sp>
      <p:sp>
        <p:nvSpPr>
          <p:cNvPr id="10" name="Rounded Rectangle 9"/>
          <p:cNvSpPr/>
          <p:nvPr/>
        </p:nvSpPr>
        <p:spPr>
          <a:xfrm>
            <a:off x="530352" y="1956816"/>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sers_113eb2dd326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FLIP EACH MEMBER'S OWN TWO QUARTERS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p = 0.0025</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Revenue per member, invented. Every world is one these 16 members could have produced, so a real fall shows as one.</a:t>
            </a:r>
          </a:p>
        </p:txBody>
      </p:sp>
      <p:sp>
        <p:nvSpPr>
          <p:cNvPr id="16" name="Rounded Rectangle 15"/>
          <p:cNvSpPr/>
          <p:nvPr/>
        </p:nvSpPr>
        <p:spPr>
          <a:xfrm>
            <a:off x="6187287"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huffle_1f5f2f56d507.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POOL THE Q1 AND Q2 FIGURES AND DEAL THEM</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p = 0.222</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The same figures dealt as strangers: members differ in size far more than in their change, and the fall reads as chance.</a:t>
            </a:r>
          </a:p>
        </p:txBody>
      </p:sp>
      <p:sp>
        <p:nvSpPr>
          <p:cNvPr id="22" name="Rounded Rectangle 21"/>
          <p:cNvSpPr/>
          <p:nvPr/>
        </p:nvSpPr>
        <p:spPr>
          <a:xfrm>
            <a:off x="530352" y="410413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5659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6"/>
          <a:stretch>
            <a:fillRect/>
          </a:stretch>
        </p:blipFill>
        <p:spPr>
          <a:xfrm>
            <a:off x="868680" y="4675632"/>
            <a:ext cx="237744" cy="237744"/>
          </a:xfrm>
          <a:prstGeom prst="rect">
            <a:avLst/>
          </a:prstGeom>
        </p:spPr>
      </p:pic>
      <p:sp>
        <p:nvSpPr>
          <p:cNvPr id="25" name="TextBox 24"/>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4469892"/>
            <a:ext cx="9987991" cy="941832"/>
          </a:xfrm>
          <a:prstGeom prst="rect">
            <a:avLst/>
          </a:prstGeom>
          <a:noFill/>
        </p:spPr>
        <p:txBody>
          <a:bodyPr wrap="square" anchor="t" lIns="0" rIns="0" tIns="0" bIns="0">
            <a:spAutoFit/>
          </a:bodyPr>
          <a:lstStyle/>
          <a:p>
            <a:r>
              <a:rPr sz="1500" b="0" i="0">
                <a:solidFill>
                  <a:srgbClr val="1A1440"/>
                </a:solidFill>
                <a:latin typeface="Calibri"/>
              </a:rPr>
              <a:t>Keep each customer's own two quarters together: flip them as a pair when the same customers sit in both quarters, and shuffle labels across whole customers when the groups are different customers. Pooling paired data is the hurried mistake.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1" name="Oval 30"/>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D45  ·  49 / 52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median is the typical order: Rs 2,350</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describes a typical order in a file with seven corporate orders?</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39,521</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ORDER, CLEAN</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pulled up by 7 corporate orders, invented</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2,350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ORDER, CLEAN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typical one</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 times</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mean over median</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5" name="TextBox 24"/>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Describe a file with its median and say what sits above it. Keep the mean for anything that has to reconcile.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1" name="Oval 30"/>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D46  ·  50 / 52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Retail-Plus's basket leads, with corporate as counts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finding leads the note, and how sure can Meera be of it?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981177"/>
                <a:gridCol w="7149813"/>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on the invented export</a:t>
                      </a:r>
                    </a:p>
                  </a:txBody>
                  <a:tcPr marL="101600" marR="101600" marT="38100" marB="38100" anchor="ctr">
                    <a:solidFill>
                      <a:srgbClr val="1A0F5C"/>
                    </a:solidFill>
                  </a:tcPr>
                </a:tc>
              </a:tr>
              <a:tr h="369824">
                <a:tc>
                  <a:txBody>
                    <a:bodyPr/>
                    <a:lstStyle/>
                    <a:p>
                      <a:r>
                        <a:rPr sz="1400" b="0" i="0">
                          <a:solidFill>
                            <a:srgbClr val="1A1440"/>
                          </a:solidFill>
                          <a:latin typeface="Calibri"/>
                        </a:rPr>
                        <a:t>Where does the fall sit?</a:t>
                      </a:r>
                    </a:p>
                  </a:txBody>
                  <a:tcPr marL="101600" marR="101600" marT="38100" marB="38100" anchor="ctr">
                    <a:solidFill>
                      <a:srgbClr val="FFFFFF"/>
                    </a:solidFill>
                  </a:tcPr>
                </a:tc>
                <a:tc>
                  <a:txBody>
                    <a:bodyPr/>
                    <a:lstStyle/>
                    <a:p>
                      <a:r>
                        <a:rPr sz="1400" b="0" i="0">
                          <a:solidFill>
                            <a:srgbClr val="1A1440"/>
                          </a:solidFill>
                          <a:latin typeface="Calibri"/>
                        </a:rPr>
                        <a:t>Business, Rs 13,88,200 of Rs 14,00,000</a:t>
                      </a:r>
                    </a:p>
                  </a:txBody>
                  <a:tcPr marL="101600" marR="101600" marT="38100" marB="38100" anchor="ctr">
                    <a:solidFill>
                      <a:srgbClr val="FFFFFF"/>
                    </a:solidFill>
                  </a:tcPr>
                </a:tc>
              </a:tr>
              <a:tr h="369824">
                <a:tc>
                  <a:txBody>
                    <a:bodyPr/>
                    <a:lstStyle/>
                    <a:p>
                      <a:r>
                        <a:rPr sz="1400" b="0" i="0">
                          <a:solidFill>
                            <a:srgbClr val="1A1440"/>
                          </a:solidFill>
                          <a:latin typeface="Calibri"/>
                        </a:rPr>
                        <a:t>On how many orders?</a:t>
                      </a:r>
                    </a:p>
                  </a:txBody>
                  <a:tcPr marL="101600" marR="101600" marT="38100" marB="38100" anchor="ctr">
                    <a:solidFill>
                      <a:srgbClr val="F4F2FA"/>
                    </a:solidFill>
                  </a:tcPr>
                </a:tc>
                <a:tc>
                  <a:txBody>
                    <a:bodyPr/>
                    <a:lstStyle/>
                    <a:p>
                      <a:r>
                        <a:rPr sz="1400" b="0" i="0">
                          <a:solidFill>
                            <a:srgbClr val="1A1440"/>
                          </a:solidFill>
                          <a:latin typeface="Calibri"/>
                        </a:rPr>
                        <a:t>5 then 2; coin flips do that in 45% of worlds</a:t>
                      </a:r>
                    </a:p>
                  </a:txBody>
                  <a:tcPr marL="101600" marR="101600" marT="38100" marB="38100" anchor="ctr">
                    <a:solidFill>
                      <a:srgbClr val="F4F2FA"/>
                    </a:solidFill>
                  </a:tcPr>
                </a:tc>
              </a:tr>
              <a:tr h="369824">
                <a:tc>
                  <a:txBody>
                    <a:bodyPr/>
                    <a:lstStyle/>
                    <a:p>
                      <a:r>
                        <a:rPr sz="1400" b="0" i="0">
                          <a:solidFill>
                            <a:srgbClr val="1A1440"/>
                          </a:solidFill>
                          <a:latin typeface="Calibri"/>
                        </a:rPr>
                        <a:t>How to choose the lead?</a:t>
                      </a:r>
                    </a:p>
                  </a:txBody>
                  <a:tcPr marL="101600" marR="101600" marT="38100" marB="38100" anchor="ctr">
                    <a:solidFill>
                      <a:srgbClr val="FFFFFF"/>
                    </a:solidFill>
                  </a:tcPr>
                </a:tc>
                <a:tc>
                  <a:txBody>
                    <a:bodyPr/>
                    <a:lstStyle/>
                    <a:p>
                      <a:r>
                        <a:rPr sz="1400" b="0" i="0">
                          <a:solidFill>
                            <a:srgbClr val="1A1440"/>
                          </a:solidFill>
                          <a:latin typeface="Calibri"/>
                        </a:rPr>
                        <a:t>C: Retail-Plus's basket, -15.0% on 64 orders</a:t>
                      </a:r>
                    </a:p>
                  </a:txBody>
                  <a:tcPr marL="101600" marR="101600" marT="38100" marB="38100" anchor="ctr">
                    <a:solidFill>
                      <a:srgbClr val="FFFFFF"/>
                    </a:solidFill>
                  </a:tcPr>
                </a:tc>
              </a:tr>
              <a:tr h="369824">
                <a:tc>
                  <a:txBody>
                    <a:bodyPr/>
                    <a:lstStyle/>
                    <a:p>
                      <a:r>
                        <a:rPr sz="1400" b="0" i="0">
                          <a:solidFill>
                            <a:srgbClr val="1A1440"/>
                          </a:solidFill>
                          <a:latin typeface="Calibri"/>
                        </a:rPr>
                        <a:t>More than chance?</a:t>
                      </a:r>
                    </a:p>
                  </a:txBody>
                  <a:tcPr marL="101600" marR="101600" marT="38100" marB="38100" anchor="ctr">
                    <a:solidFill>
                      <a:srgbClr val="F4F2FA"/>
                    </a:solidFill>
                  </a:tcPr>
                </a:tc>
                <a:tc>
                  <a:txBody>
                    <a:bodyPr/>
                    <a:lstStyle/>
                    <a:p>
                      <a:r>
                        <a:rPr sz="1400" b="0" i="0">
                          <a:solidFill>
                            <a:srgbClr val="1A1440"/>
                          </a:solidFill>
                          <a:latin typeface="Calibri"/>
                        </a:rPr>
                        <a:t>Yes: 22 of 2,000 flipped worlds, p = 0.011</a:t>
                      </a:r>
                    </a:p>
                  </a:txBody>
                  <a:tcPr marL="101600" marR="101600" marT="38100" marB="38100" anchor="ctr">
                    <a:solidFill>
                      <a:srgbClr val="F4F2FA"/>
                    </a:solidFill>
                  </a:tcPr>
                </a:tc>
              </a:tr>
              <a:tr h="369824">
                <a:tc>
                  <a:txBody>
                    <a:bodyPr/>
                    <a:lstStyle/>
                    <a:p>
                      <a:r>
                        <a:rPr sz="1400" b="0" i="0">
                          <a:solidFill>
                            <a:srgbClr val="1A1440"/>
                          </a:solidFill>
                          <a:latin typeface="Calibri"/>
                        </a:rPr>
                        <a:t>Broad, or a few members?</a:t>
                      </a:r>
                    </a:p>
                  </a:txBody>
                  <a:tcPr marL="101600" marR="101600" marT="38100" marB="38100" anchor="ctr">
                    <a:solidFill>
                      <a:srgbClr val="FFFFFF"/>
                    </a:solidFill>
                  </a:tcPr>
                </a:tc>
                <a:tc>
                  <a:txBody>
                    <a:bodyPr/>
                    <a:lstStyle/>
                    <a:p>
                      <a:r>
                        <a:rPr sz="1400" b="0" i="0">
                          <a:solidFill>
                            <a:srgbClr val="1A1440"/>
                          </a:solidFill>
                          <a:latin typeface="Calibri"/>
                        </a:rPr>
                        <a:t>Broad: 13 of 16 fell, sign test p = 0.021</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344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74421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423672"/>
          </a:xfrm>
          <a:prstGeom prst="rect">
            <a:avLst/>
          </a:prstGeom>
          <a:noFill/>
        </p:spPr>
        <p:txBody>
          <a:bodyPr wrap="square" anchor="t" lIns="0" rIns="0" tIns="0" bIns="0">
            <a:spAutoFit/>
          </a:bodyPr>
          <a:lstStyle/>
          <a:p>
            <a:r>
              <a:rPr sz="1500" b="0" i="0">
                <a:solidFill>
                  <a:srgbClr val="1A1440"/>
                </a:solidFill>
                <a:latin typeface="Calibri"/>
              </a:rPr>
              <a:t>Say the count before the rate, every time: the orders in each quarter, and then the percentage.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52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Rerun the step you stalled on, tonight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do with the step the lab says you do not own yet?</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the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On the practice export, the step the TA marked, with the practice set beside it.</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ONE LINE</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changes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Written under your lab note: the check you will put first next time.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SATURDAY</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paper</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note's four parts and the p-value sentence are both on it.</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7" name="Oval 2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9" name="Oval 28"/>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