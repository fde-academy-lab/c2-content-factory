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one minute. Anand said this on Wednesday, and this morning most of the room shipped a number</a:t>
            </a:r>
          </a:p>
          <a:p>
            <a:r>
              <a:t>Finance would have sent back. The debrief runs forty minutes in two halves: the reconciliation</a:t>
            </a:r>
          </a:p>
          <a:p>
            <a:r>
              <a:t>before lunch, then the two breaks the TAs' tally names after lunch. Every example on these slides</a:t>
            </a:r>
          </a:p>
          <a:p>
            <a:r>
              <a:t>is invented, labelled invented, and none uses a number from the lab file. The rerun on the real file</a:t>
            </a:r>
          </a:p>
          <a:p>
            <a:r>
              <a:t>happens live in the notebook, from the lab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LIVE. Twenty minutes, before lunch: the invented case on S1 to S6, then one rerun on the projector</a:t>
            </a:r>
          </a:p>
          <a:p>
            <a:r>
              <a:t>from trainer/C2_W01_D05_lab_reference_TRAINER.ipynb, section 3, then two learners read their</a:t>
            </a:r>
          </a:p>
          <a:p>
            <a:r>
              <a:t>second-look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three numbers and the sentence a hurried note would carry. Ask how many</a:t>
            </a:r>
          </a:p>
          <a:p>
            <a:r>
              <a:t>sent a headline in this shape this morning, by hand, without naming anyone. The TA tally already</a:t>
            </a:r>
          </a:p>
          <a:p>
            <a:r>
              <a:t>knows; the room should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Take letters. Option a is Monday's instinct and a good one on a different day; d</a:t>
            </a:r>
          </a:p>
          <a:p>
            <a:r>
              <a:t>is the decomposition, which is the right step on data you already trust.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c. Walk the bridge left to right. Then open the reference notebook,</a:t>
            </a:r>
          </a:p>
          <a:p>
            <a:r>
              <a:t>section 3, and run the bridge cell and the four-headline table on the projector: this is the one</a:t>
            </a:r>
          </a:p>
          <a:p>
            <a:r>
              <a:t>rerun on the real file. Read the four headlines aloud and let the room match its own number to a</a:t>
            </a:r>
          </a:p>
          <a:p>
            <a:r>
              <a:t>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point to land: the error changed the sign of the finding, so it changed the</a:t>
            </a:r>
          </a:p>
          <a:p>
            <a:r>
              <a:t>decision, not the precision. Ask one learner what Meera would have done on Monday with each note.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This is why the reconciliation comes before the tree in the method: repeated rows</a:t>
            </a:r>
          </a:p>
          <a:p>
            <a:r>
              <a:t>do not only inflate a total, they manufacture a frequency rise. If the tally shows people named a</a:t>
            </a:r>
          </a:p>
          <a:p>
            <a:r>
              <a:t>frequency branch this morning, this slide is theirs.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minutes, then two learners read their second-look line from the lab notebook: one whose</a:t>
            </a:r>
          </a:p>
          <a:p>
            <a:r>
              <a:t>totals landed and one whose did not. Thank both the same way. Then lunch. The TAs' tally over lunch</a:t>
            </a:r>
          </a:p>
          <a:p>
            <a:r>
              <a:t>picks the next two breaks from the three that follow; the others become self-study.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people set an unconvertible</a:t>
            </a:r>
          </a:p>
          <a:p>
            <a:r>
              <a:t>amount to zero or skipped it without logging it. If fewer than a quarter did, make it self-study</a:t>
            </a:r>
          </a:p>
          <a:p>
            <a:r>
              <a:t>and run D14 in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the code as a hurried analyst's honest attempt: it runs, it reports no</a:t>
            </a:r>
          </a:p>
          <a:p>
            <a:r>
              <a:t>errors, and it is short by exactly one large order. Nobody in the room should feel caught; this is</a:t>
            </a:r>
          </a:p>
          <a:p>
            <a:r>
              <a:t>the most natural line of Python in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The popular wrong answer is a, and it is the answer the zero-coercing</a:t>
            </a:r>
          </a:p>
          <a:p>
            <a:r>
              <a:t>pass was designed, by accident, to produce.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answer is b. Then run the reference notebook's zero-coercing cell in section 2</a:t>
            </a:r>
          </a:p>
          <a:p>
            <a:r>
              <a:t>on the projector: one line, and the real Q1 falls short of the control total by one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Ask two learners which branch their own row took this morning and why. The</a:t>
            </a:r>
          </a:p>
          <a:p>
            <a:r>
              <a:t>decision is theirs to defend; the only wrong answer is the one with no log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after lunch. Ten minutes. Run this chapter if the tally shows notes that lead with a segment's</a:t>
            </a:r>
          </a:p>
          <a:p>
            <a:r>
              <a:t>rate without its order count, or a shuffle on the wrong unit. The reserve slides D14 to D17 cover</a:t>
            </a:r>
          </a:p>
          <a:p>
            <a:r>
              <a:t>the other three breaks the lab produces.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Read it as the headline many notes led with. The number is correct; the question</a:t>
            </a:r>
          </a:p>
          <a:p>
            <a:r>
              <a:t>is whether it deserves the first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Take letters. Option c is the overcorrection: the move is real money and Meera</a:t>
            </a:r>
          </a:p>
          <a:p>
            <a:r>
              <a:t>should hear it, in the caveat, with its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The answer is d. Then open the reference notebook, section 4, and show the tree</a:t>
            </a:r>
          </a:p>
          <a:p>
            <a:r>
              <a:t>table on the projector: the room reads which branch moved and on how many orders. Do not read it</a:t>
            </a:r>
          </a:p>
          <a:p>
            <a:r>
              <a:t>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more than a quarter of the room shuffled orders; then run it for</a:t>
            </a:r>
          </a:p>
          <a:p>
            <a:r>
              <a:t>five minutes in place of chapter 2 or 3, and show the reference notebook's wrong-unit cell in</a:t>
            </a:r>
          </a:p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SELF-STUDY unless the tally shows notes quoting a mean as the typical order; then run it for</a:t>
            </a:r>
          </a:p>
          <a:p>
            <a:r>
              <a:t>three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RESERVE, 2 minutes. Read the three numbers as a hurried note would. Ask where the empty cell went:</a:t>
            </a:r>
          </a:p>
          <a:p>
            <a:r>
              <a:t>the honest answer on most screens is that nobody decided, the filter did.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RESERVE, 3 minutes. Run it after D16 in place of chapter 2 or 3 when the tally's C4 count is</a:t>
            </a:r>
          </a:p>
          <a:p>
            <a:r>
              <a:t>higher. Then open the reference notebook, section 2, and show the empty-segment row with its</a:t>
            </a:r>
          </a:p>
          <a:p>
            <a:r>
              <a:t>decision and reason. Ask two learners which branch their row took and where it sits in their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Close the debrief. Each learner already has a step marked on their observation</a:t>
            </a:r>
          </a:p>
          <a:p>
            <a:r>
              <a:t>line; the TAs tell each person theirs privately during the rehearsal, never aloud to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7.png"/><Relationship Id="rId6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7.xml"/><Relationship Id="rId5" Type="http://schemas.openxmlformats.org/officeDocument/2006/relationships/image" Target="../media/image7.png"/><Relationship Id="rId6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0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1.xml"/><Relationship Id="rId5" Type="http://schemas.openxmlformats.org/officeDocument/2006/relationships/image" Target="../media/image8.png"/><Relationship Id="rId6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951822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1  ·  FRIDAY  ·  THE LAB DEBRIEF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Where the room broke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63575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“Until your numbers match ours, Finance will not act on a drop measured from an ERP export.”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354576"/>
            <a:ext cx="10033711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Anand Iyer, finance controller, Kalpa Retail, to the data and AI team at Kalpa's Global Capability Centre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248656"/>
            <a:ext cx="17799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656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704" y="5248656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7221" y="5212080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81269" y="5248656"/>
            <a:ext cx="1957387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1, Day 5. Where the room broke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reconciliation, skipped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The step with no new number in it is the one a clock removes first, and it is the one Finance reads.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headline a hurried run sends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two-quarter export, summed as it arrived.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Q1, SUMMED AS 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42,40,000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SUMMED AS 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+6.0%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564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766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"Q2 grew, no action needed"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number is plausible, the arithmetic is right, and the note built on it tells Meera the quarter that fell was a good one.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what would you check before sending it?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export came with Finance's control totals, and a note that says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the median order, in case one large order moved the total; b) the p-value of the Q1 to Q2 change; c) rows read against clean plus rejected, and each quarter's rupees against the control total; d) the segment split, to see which segment grew.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counts and rupees, against the control totals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120 rows, 114 distinct orders, and a batch posted twice.</a:t>
            </a:r>
          </a:p>
        </p:txBody>
      </p:sp>
      <p:pic>
        <p:nvPicPr>
          <p:cNvPr id="9" name="mermaid diagram" descr="2ebdc5f4d201d7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23715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4746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Input 120 equals clean 114 plus rejected 6, and both quarters land on the control totals to the rupee. The headline turns from +6.0 percent to -5.0.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decision the wrong number would have made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Growth reads as no action; a fall reads as find the branch, and only one of them is true.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5474055" cy="177444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ircle-x_e5d65e9a98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THE HURRIED NOTE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Q2 grew 6.0%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No investigation, and Monday's review hears the quarter was fine.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1956816"/>
            <a:ext cx="5474055" cy="177444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ircle-check_5bfb0e0fcd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RECONCILED NOTE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Q2 fell 5.0%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3303524"/>
            <a:ext cx="5071719" cy="2181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Decompose along the tree and name the branch that moved.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" y="3914140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8952" y="4246372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search-check_6571e64a041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356100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399031" y="4060444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1" y="4279900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number that has not been reconciled is not a smaller version of the right number. It can point the other way.</a:t>
            </a:r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same batch also moves a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repeated rows add orders, so frequency rises where nothing changed.</a:t>
            </a:r>
          </a:p>
        </p:txBody>
      </p:sp>
      <p:pic>
        <p:nvPicPr>
          <p:cNvPr id="9" name="mermaid diagram" descr="92fba2adbc55376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5472" y="1956816"/>
            <a:ext cx="6000750" cy="20145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117657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rows as read, customers seem to order a quarter more often and the segment looks flat. Clean, frequency holds and the basket falls by an eighth, which is a different branch and a different owner.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Why the clock removes this step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It produces no new number, so it feels like the step that can wait.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30352" y="1956816"/>
            <a:ext cx="2473553" cy="457200"/>
          </a:xfrm>
          <a:prstGeom prst="rect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1A0F5C"/>
                </a:solidFill>
                <a:latin typeface="Calibri"/>
              </a:rPr>
              <a:t>Profile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487168"/>
            <a:ext cx="2473553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new picture of the file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03905" y="1956816"/>
            <a:ext cx="3710330" cy="457200"/>
          </a:xfrm>
          <a:prstGeom prst="rect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03905" y="2487168"/>
            <a:ext cx="3710330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a smaller, tidier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4236" y="1956816"/>
            <a:ext cx="1855165" cy="457200"/>
          </a:xfrm>
          <a:prstGeom prst="rect">
            <a:avLst/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Reconcile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4236" y="2487168"/>
            <a:ext cx="1855165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no new number, only a yes or a no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69401" y="1956816"/>
            <a:ext cx="3091941" cy="457200"/>
          </a:xfrm>
          <a:prstGeom prst="rect">
            <a:avLst/>
          </a:prstGeom>
          <a:solidFill>
            <a:srgbClr val="4E3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Decompose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69401" y="2487168"/>
            <a:ext cx="3091941" cy="176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6B6690"/>
                </a:solidFill>
                <a:latin typeface="Calibri"/>
              </a:rPr>
              <a:t>the finding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" y="291693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8952" y="324916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358896"/>
            <a:ext cx="237744" cy="23774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99031" y="306324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99031" y="328269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Reconcile before you decompose, every time, and write the two checks before you write the tree. Fifteen minutes here is the cheapest insurance in the week.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20319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5354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6451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34949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56895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check you meant to write is a check you did not write. Put input == clean + rejected in a cell before the first number you compute.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pass that looks clean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Zero rejects on a file you know is dirty is a finding, not a result.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Zero rejects, and a quarter short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one amount arrives as the text "7,50,000", and a try sets it to zero.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2224531"/>
          </a:xfrm>
          <a:prstGeom prst="roundRect">
            <a:avLst>
              <a:gd name="adj" fmla="val 3500"/>
            </a:avLst>
          </a:prstGeom>
          <a:solidFill>
            <a:srgbClr val="1A1440"/>
          </a:soli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2084832"/>
            <a:ext cx="91440" cy="91440"/>
          </a:xfrm>
          <a:prstGeom prst="ellipse">
            <a:avLst/>
          </a:prstGeom>
          <a:solidFill>
            <a:srgbClr val="D63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084832"/>
            <a:ext cx="91440" cy="91440"/>
          </a:xfrm>
          <a:prstGeom prst="ellipse">
            <a:avLst/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" y="2084832"/>
            <a:ext cx="91440" cy="91440"/>
          </a:xfrm>
          <a:prstGeom prst="ellipse">
            <a:avLst/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2286000"/>
            <a:ext cx="10673791" cy="18221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def to_int(v):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try: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int(v)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except ValueError:</a:t>
            </a: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        return 0          # the file now "converts" cleanly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 i="0">
                <a:solidFill>
                  <a:srgbClr val="E4E1F1"/>
                </a:solidFill>
                <a:latin typeface="Consolas"/>
              </a:rPr>
              <a:t>q1 = sum(to_int(r["amount"]) for r in q1_rows)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REJECTS REPORTED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035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212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32,50,000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212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AS SUMMED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3212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3212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3892" y="4345939"/>
            <a:ext cx="3527450" cy="571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0" i="0">
                <a:solidFill>
                  <a:srgbClr val="5B3FD6"/>
                </a:solidFill>
                <a:latin typeface="Georgia"/>
              </a:rPr>
              <a:t>Rs 40,00,000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3892" y="4954016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CONTROL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3892" y="5155184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3892" y="5534660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8" name="Oval 2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0" name="Oval 2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the rows reconcile, so what is left?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Input equals clean plus rejected: every row is accounted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nothing, since every row is accounted for; b) the rupees, each quarter against its control total; c) the median, since one large order may have gone; d) the dates, since the quarter may be cut wrong.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the rupees reconcile too, or nothing 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Counts reconcile while rupees do not: the gap is the row the try swallowed.</a:t>
            </a:r>
          </a:p>
        </p:txBody>
      </p:sp>
      <p:pic>
        <p:nvPicPr>
          <p:cNvPr id="9" name="mermaid diagram" descr="f8f2a8811563880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0953" y="1956816"/>
            <a:ext cx="9729787" cy="112871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231832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356406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67379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33781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3597592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count check proves the rows are there. Only a rupee check proves the values survived the conversion.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fix: convert and flag, never zero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Three answers for a value that will not convert, and zero is none of them.</a:t>
            </a:r>
          </a:p>
        </p:txBody>
      </p:sp>
      <p:pic>
        <p:nvPicPr>
          <p:cNvPr id="9" name="mermaid diagram" descr="486a58730cb654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2551" y="1664208"/>
            <a:ext cx="5606591" cy="3808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5518912"/>
            <a:ext cx="11130991" cy="68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0">
                <a:solidFill>
                  <a:srgbClr val="1A1440"/>
                </a:solidFill>
                <a:latin typeface="Calibri"/>
              </a:rPr>
              <a:t>Every branch leaves a line in the decisions log and a number in the reconciliation. Setting a value to zero leaves neither.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5" name="Oval 14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headline on too few orders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A rate on a handful of orders is a rumour with a percent 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61726" y="5074920"/>
            <a:ext cx="214223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1 Day 5: the week rebuilt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corporate book fell 45 percent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a segment's revenue, true to the rupee, on nine orders.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-45.0%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CORPORATE REVENUE, Q1 TO 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6 then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THAT EXPLAIN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out of nine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419856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rupees reconcile and the percentage is right. A note that leads with it sends Meera after three invoices.</a:t>
            </a:r>
          </a:p>
        </p:txBody>
      </p:sp>
      <p:sp>
        <p:nvSpPr>
          <p:cNvPr id="22" name="Oval 2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4" name="Oval 2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6" name="Oval 2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S11  ·  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Question: does it lead the note?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Meera reads the first line and acts on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Question.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Choose one: a) yes, since it is the largest move in rupees; b) yes, with the p-value beside it; c) no, drop the segment from the note entirely; d) no, name the count, keep it in the caveat, and lead with the branch that moved on enough orders.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6" name="Oval 15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S12  ·  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count before rate, tree before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branch that leads a note is the one that moved on enough orders to trust.</a:t>
            </a:r>
          </a:p>
        </p:txBody>
      </p:sp>
      <p:pic>
        <p:nvPicPr>
          <p:cNvPr id="9" name="mermaid diagram" descr="e2dbc016c9c86f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84852" y="1664208"/>
            <a:ext cx="6821990" cy="320344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491337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524560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earch-check_6571e64a041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5355336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1" y="505968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1" y="527913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Say the count before the rate, every time: "9 orders, down 45 percent" is honest, and "down 45 percent" alone is a headline.</a:t>
            </a:r>
          </a:p>
        </p:txBody>
      </p:sp>
      <p:sp>
        <p:nvSpPr>
          <p:cNvPr id="15" name="Oval 14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7" name="Oval 16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19" name="Oval 18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S13  ·  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shuffle what belongs together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the same gap, tested two ways, and two verdicts.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0352" y="1956816"/>
            <a:ext cx="5474055" cy="1964436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users_113eb2dd32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19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SHUFFLE 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 = 0.01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19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customer's orders move together, so every world is one that could exist.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1956816"/>
            <a:ext cx="5474055" cy="19644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huffle_1f5f2f56d5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88455" y="2724912"/>
            <a:ext cx="5071719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SHUFFLE ORDERS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8455" y="2962656"/>
            <a:ext cx="5071719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 = 0.11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8455" y="3303524"/>
            <a:ext cx="5071719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customer's orders split across groups, the chance spread widens and a real gap reads as noise.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" y="4104132"/>
            <a:ext cx="11130991" cy="86258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430682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416552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4250436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4469892"/>
            <a:ext cx="9987991" cy="423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unit you shuffle is the unit that carries the label. On Thursday and today, that is the customer.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D14  ·  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the typical order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ninety consumer orders and five corporate ones.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48,900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MEAN ORDER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1,980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MEDIAN 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ORDERS ABOVE RS 5 LAKH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75208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list-checks_bd88901d2a3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6181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Describe a file with its median and say what sits above it. The mean belongs in anything that has to reconcile, never in a sentence about a typical order.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D15  ·  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Reserve: one order with no segment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Retail-Plus on 30 orders a quarter as read, and one Q2 order whose segment cell is empty.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84,000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RETAIL-PLUS Q1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212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Rs 82,100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212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Q2, BLANK LEFT OUT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212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invented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33892" y="1956816"/>
            <a:ext cx="3527450" cy="698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5B3FD6"/>
                </a:solidFill>
                <a:latin typeface="Georgia"/>
              </a:rPr>
              <a:t>-2.3%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3892" y="2691892"/>
            <a:ext cx="352745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 i="0" spc="250">
                <a:solidFill>
                  <a:srgbClr val="1A0F5C"/>
                </a:solidFill>
                <a:latin typeface="Calibri"/>
              </a:rPr>
              <a:t>Q1 TO Q2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3892" y="2893060"/>
            <a:ext cx="3527450" cy="1934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6B6690"/>
                </a:solidFill>
                <a:latin typeface="Calibri"/>
              </a:rPr>
              <a:t>"Retail-Plus has turned down"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33892" y="3145536"/>
            <a:ext cx="3527450" cy="10972"/>
          </a:xfrm>
          <a:prstGeom prst="rect">
            <a:avLst/>
          </a:prstGeom>
          <a:solidFill>
            <a:srgbClr val="E4E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3419856"/>
            <a:ext cx="11130991" cy="138074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881628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bug_39ada6eff4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91356"/>
            <a:ext cx="237744" cy="23774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99031" y="3566160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BREAKS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99031" y="3785616"/>
            <a:ext cx="9987991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A filter on the segment name never sees the empty cell, so the Rs 3,100 order drops out of Retail-Plus without an error. A tier that grew reads as a second falling segment, and the note sends Meera a Retail-Plus win-back plan for a fall that never happened.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1" name="Oval 30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D16  ·  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003371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Reserve answer: the segments add back to the total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701223" y="822960"/>
            <a:ext cx="960120" cy="256032"/>
          </a:xfrm>
          <a:prstGeom prst="roundRect">
            <a:avLst>
              <a:gd name="adj" fmla="val 50000"/>
            </a:avLst>
          </a:prstGeom>
          <a:solidFill>
            <a:srgbClr val="1A0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00" b="1" spc="200">
                <a:solidFill>
                  <a:srgbClr val="FFFFFF"/>
                </a:solidFill>
                <a:latin typeface="Calibri"/>
              </a:rPr>
              <a:t>DEPTH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Invented numbers: the check is one line, and it fails by exactly one order.</a:t>
            </a:r>
          </a:p>
        </p:txBody>
      </p:sp>
      <p:pic>
        <p:nvPicPr>
          <p:cNvPr id="10" name="mermaid diagram" descr="f70872a39f31c56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1956816"/>
            <a:ext cx="11130991" cy="200798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30352" y="4111109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443341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list-checks_bd88901d2a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553069"/>
            <a:ext cx="237744" cy="2377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399031" y="4257413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1" y="4476869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segments add back to the total, in orders and in rupees, before any segment is read. A fifth group with a blank name passes that check and is still a decision to log, never a segment.</a:t>
            </a:r>
          </a:p>
        </p:txBody>
      </p:sp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18" name="Oval 1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20" name="Oval 19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D17  ·  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1  ·  DAY 5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 line you write tonight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The step where you stalled, rerun alone, and what you will do differently.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2324557" y="2523744"/>
            <a:ext cx="7542580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TONIGHT</a:t>
            </a:r>
          </a:p>
        </p:txBody>
      </p:sp>
      <p:sp>
        <p:nvSpPr>
          <p:cNvPr id="11" name="Oval 10"/>
          <p:cNvSpPr/>
          <p:nvPr/>
        </p:nvSpPr>
        <p:spPr>
          <a:xfrm>
            <a:off x="222397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Rerun the step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On the practice export, the step the TA marked, with the practice set beside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0164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ONE LINE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0164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6623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What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623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Written under your lab note: the check you will put first next time.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2932" y="1956816"/>
            <a:ext cx="3588410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SATURDAY</a:t>
            </a:r>
          </a:p>
        </p:txBody>
      </p:sp>
      <p:sp>
        <p:nvSpPr>
          <p:cNvPr id="21" name="Oval 20"/>
          <p:cNvSpPr/>
          <p:nvPr/>
        </p:nvSpPr>
        <p:spPr>
          <a:xfrm>
            <a:off x="9766554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72932" y="2843784"/>
            <a:ext cx="3588410" cy="1076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37524" y="2990088"/>
            <a:ext cx="3259226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paper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37524" y="3277870"/>
            <a:ext cx="3259226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note's four parts and the p-value sentence, from memory.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0352" y="4103624"/>
            <a:ext cx="11130991" cy="1121664"/>
          </a:xfrm>
          <a:prstGeom prst="roundRect">
            <a:avLst>
              <a:gd name="adj" fmla="val 5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58952" y="4435856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search-check_6571e64a041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545584"/>
            <a:ext cx="237744" cy="23774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99031" y="4249928"/>
            <a:ext cx="998799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KAVYA'S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99031" y="4469384"/>
            <a:ext cx="998799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0">
                <a:solidFill>
                  <a:srgbClr val="1A1440"/>
                </a:solidFill>
                <a:latin typeface="Calibri"/>
              </a:rPr>
              <a:t>The lab told you which step you do not own yet. One rerun tonight is worth more than rereading all four days.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reconciliation, skipped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pass that looks clean</a:t>
            </a:r>
          </a:p>
        </p:txBody>
      </p:sp>
      <p:sp>
        <p:nvSpPr>
          <p:cNvPr id="34" name="Oval 33"/>
          <p:cNvSpPr/>
          <p:nvPr/>
        </p:nvSpPr>
        <p:spPr>
          <a:xfrm>
            <a:off x="3873627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83355" y="6437376"/>
            <a:ext cx="1654492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headline on too few orders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S18  ·  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