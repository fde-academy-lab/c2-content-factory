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Anand said this on Wednesday, and this morning most of the room shipped a number</a:t>
            </a:r>
          </a:p>
          <a:p>
            <a:r>
              <a:t>Finance would have sent back. The debrief runs forty minutes as three chapters, one per place most</a:t>
            </a:r>
          </a:p>
          <a:p>
            <a:r>
              <a:t>rooms break: chapter 1 before lunch (20 minutes), chapters 2 and 3 after it (10 minutes each). Each</a:t>
            </a:r>
          </a:p>
          <a:p>
            <a:r>
              <a:t>chapter pairs with a notebook of the same number and title in notebooks/, which runs on this</a:t>
            </a:r>
          </a:p>
          <a:p>
            <a:r>
              <a:t>morning's export and opens now that the clock has stopped. The numbers on these slides are the lab</a:t>
            </a:r>
          </a:p>
          <a:p>
            <a:r>
              <a:t>export's own; no slide names a row.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before lunch. Notebook 1, C2_W01_D05_01_reconciliation_skipped_STUDENT.ipynb,</a:t>
            </a:r>
          </a:p>
          <a:p>
            <a:r>
              <a:t>goes on the projector at S5 and stays there to S9. Close with two learners reading their</a:t>
            </a:r>
          </a:p>
          <a:p>
            <a:r>
              <a:t>second-look line from the lab notebook.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who asks and why it matters to them: Anand returns any figure that does not tie</a:t>
            </a:r>
          </a:p>
          <a:p>
            <a:r>
              <a:t>to his control total, and Meera acts on the first line of the note. A wrong first line sends</a:t>
            </a:r>
          </a:p>
          <a:p>
            <a:r>
              <a:t>Monday's review home with nothing to investigate, while Marketing's Rs 12 crore request is judged</a:t>
            </a:r>
          </a:p>
          <a:p>
            <a:r>
              <a:t>against a quarter that did not happen.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or one minute live if the room is ahead. The point of both: an error that drops or</a:t>
            </a:r>
          </a:p>
          <a:p>
            <a:r>
              <a:t>doubles rows is silent, and only a comparison with a total from outside the file finds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three numbers and the sentence. Ask how many sent a headline with a plus</a:t>
            </a:r>
          </a:p>
          <a:p>
            <a:r>
              <a:t>sign this morning, without naming anyone; the TA tally already knows, and the room should say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Option a is Monday's instinct and a good one on a different day; d</a:t>
            </a:r>
          </a:p>
          <a:p>
            <a:r>
              <a:t>is the decomposition, which is the right step on data you already trust.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Open notebook 1 on the projector and run its first level. Point</a:t>
            </a:r>
          </a:p>
          <a:p>
            <a:r>
              <a:t>at the two kinds of miss: the Q1 row has the right count and the wrong rupees, which is chapter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the sizing cell in notebook 1. Land two points: B is where most people who did</a:t>
            </a:r>
          </a:p>
          <a:p>
            <a:r>
              <a:t>check stopped, and it still leaves the headline 14 points off; D is right and costs the afternoon.</a:t>
            </a:r>
          </a:p>
          <a:p>
            <a:r>
              <a:t>Minutes are the lab brief's pace, D's is an estimate for a request to Finance and a join.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level 3 of notebook 1 and show the bridge chart. Ask which move is larger</a:t>
            </a:r>
          </a:p>
          <a:p>
            <a:r>
              <a:t>before revealing it. The your-turn cell after it lists the rows; leave that to the room tonight.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error changed the sign, so it changed the decision, not the precision. Ask one</a:t>
            </a:r>
          </a:p>
          <a:p>
            <a:r>
              <a:t>learner what Meera would have done on Monday with each of the three notes.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Run the second-route cell in notebook 1. Both routes give -28.5 percent, which is</a:t>
            </a:r>
          </a:p>
          <a:p>
            <a:r>
              <a:t>the check that the log itself is right.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depth section of notebook 1. Run it live for two minutes only if the tally shows</a:t>
            </a:r>
          </a:p>
          <a:p>
            <a:r>
              <a:t>more than a quarter of notes named a frequency branch.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two learners read their second-look line: one whose totals landed and one</a:t>
            </a:r>
          </a:p>
          <a:p>
            <a:r>
              <a:t>whose did not. Thank both the same way. Then lunch.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lunch. Ten minutes. Notebook 2, C2_W01_D05_02_pass_that_looks_clean_STUDENT.ipynb, on</a:t>
            </a:r>
          </a:p>
          <a:p>
            <a:r>
              <a:t>the projector from S14.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base that is short by one large order halves the fall the note reports. Nobody</a:t>
            </a:r>
          </a:p>
          <a:p>
            <a:r>
              <a:t>argues with the direction, so nobody acts at the right scale, and when Finance finds the order,</a:t>
            </a:r>
          </a:p>
          <a:p>
            <a:r>
              <a:t>every other number in the note is doubted with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parallel to land: the sheet produced a plausible number every day, and only a check</a:t>
            </a:r>
          </a:p>
          <a:p>
            <a:r>
              <a:t>against something outside the sheet could have caught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code as a hurried analyst's honest attempt: it runs, it reports nothing</a:t>
            </a:r>
          </a:p>
          <a:p>
            <a:r>
              <a:t>and every count lands. Nobody in the room should feel caught.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The popular wrong answer is a, and it is the answer the zeroing pass</a:t>
            </a:r>
          </a:p>
          <a:p>
            <a:r>
              <a:t>was built, by accident, to produce.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Run level 2 of notebook 2. The your-turn cell finds the row;</a:t>
            </a:r>
          </a:p>
          <a:p>
            <a:r>
              <a:t>leave it for the room.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the options cell. Land the contrast between A and B: the same wrong headline,</a:t>
            </a:r>
          </a:p>
          <a:p>
            <a:r>
              <a:t>but B fails the count check, so B's gap is visible and A's is not.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two learners which branch their own row took this morning and why.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level 4 of notebook 2. Run it live for two minutes if the tally shows notes that named</a:t>
            </a:r>
          </a:p>
          <a:p>
            <a:r>
              <a:t>Retail-Plus as falling.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a file with no control total, this is the check you still have: it needs nothing</a:t>
            </a:r>
          </a:p>
          <a:p>
            <a:r>
              <a:t>outside the file and tells you where, where the rupee check tells you how much.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lunch. Ten minutes. Notebook 3, C2_W01_D05_03_headline_on_few_orders_STUDENT.ipynb, on</a:t>
            </a:r>
          </a:p>
          <a:p>
            <a:r>
              <a:t>the projector from S23.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Meera and Marketing both read the first line: Meera acts on it, and Marketing</a:t>
            </a:r>
          </a:p>
          <a:p>
            <a:r>
              <a:t>attacks any rate that rests on a handful of orders. A trend claimed from a few orders sends a team</a:t>
            </a:r>
          </a:p>
          <a:p>
            <a:r>
              <a:t>to fix a segment that did nothing while the branch that moved goes unopened.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Wainer's chapter also records that the Gates Foundation had given about $1.7 billion in</a:t>
            </a:r>
          </a:p>
          <a:p>
            <a:r>
              <a:t>education grants by 2001, with small schools central to them; notebook 3 carries the source.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it as the headline "corporate is declining; we recommend a retention plan".</a:t>
            </a:r>
          </a:p>
          <a:p>
            <a:r>
              <a:t>The number is correct; the question is what ten orders can carry.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Option c is the overcorrection: Rs 17,10,000 is real money and Meera</a:t>
            </a:r>
          </a:p>
          <a:p>
            <a:r>
              <a:t>should hear it, as counts.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d. Run the coin-flip cell in notebook 3: 0.754. The corporate action</a:t>
            </a:r>
          </a:p>
          <a:p>
            <a:r>
              <a:t>is a phone call, which costs nothing; a retention plan built on ten orders costs a quarter.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Run the options cell. B hides that 99 percent of the fall is two orders; D runs</a:t>
            </a:r>
          </a:p>
          <a:p>
            <a:r>
              <a:t>four tests at 0.05, and the chance at least one looks real by luck is about 19 percent.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Run the strip chart in notebook 3. Read the p-value sentence aloud once, word for</a:t>
            </a:r>
          </a:p>
          <a:p>
            <a:r>
              <a:t>word, because Saturday's paper asks for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Run the second-route cell. Then close the chapter with the note as it should read,</a:t>
            </a:r>
          </a:p>
          <a:p>
            <a:r>
              <a:t>from notebook 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depth section of notebook 3, unless more than a quarter of the room shuffled</a:t>
            </a:r>
          </a:p>
          <a:p>
            <a:r>
              <a:t>orders; then run it for three minutes in place of S28.</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unless the tally shows notes quoting a mean as the typical order; then three minutes.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Close the debrief. The TAs tell each person their marked step privately during the</a:t>
            </a:r>
          </a:p>
          <a:p>
            <a:r>
              <a:t>rehearsal, never aloud to the room.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7.png"/><Relationship Id="rId6"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2.png"/><Relationship Id="rId6" Type="http://schemas.openxmlformats.org/officeDocument/2006/relationships/image" Target="../media/image2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7.png"/><Relationship Id="rId6"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3.png"/><Relationship Id="rId6"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23.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12.png"/><Relationship Id="rId6"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7.png"/><Relationship Id="rId6" Type="http://schemas.openxmlformats.org/officeDocument/2006/relationships/image" Target="../media/image2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image" Target="../media/image27.png"/><Relationship Id="rId6" Type="http://schemas.openxmlformats.org/officeDocument/2006/relationships/image" Target="../media/image7.png"/><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951822"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LAB DEBRIEF</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Where the room broke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“Until your numbers match ours, Finance will not act on a drop measured from an ERP export.”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779936" cy="185166"/>
          </a:xfrm>
          <a:prstGeom prst="rect">
            <a:avLst/>
          </a:prstGeom>
          <a:noFill/>
        </p:spPr>
        <p:txBody>
          <a:bodyPr wrap="square" anchor="t" lIns="0" rIns="0" tIns="0" bIns="0">
            <a:spAutoFit/>
          </a:bodyPr>
          <a:lstStyle/>
          <a:p>
            <a:pPr algn="l"/>
            <a:r>
              <a:rPr sz="900" b="0" i="0">
                <a:solidFill>
                  <a:srgbClr val="FFFFFF"/>
                </a:solidFill>
                <a:latin typeface="Calibri"/>
              </a:rPr>
              <a:t>The reconciliation, skipped</a:t>
            </a:r>
          </a:p>
        </p:txBody>
      </p:sp>
      <p:sp>
        <p:nvSpPr>
          <p:cNvPr id="13" name="TextBox 12"/>
          <p:cNvSpPr txBox="1"/>
          <p:nvPr/>
        </p:nvSpPr>
        <p:spPr>
          <a:xfrm>
            <a:off x="296865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352704"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The pass that looks clean</a:t>
            </a:r>
          </a:p>
        </p:txBody>
      </p:sp>
      <p:sp>
        <p:nvSpPr>
          <p:cNvPr id="15" name="TextBox 14"/>
          <p:cNvSpPr txBox="1"/>
          <p:nvPr/>
        </p:nvSpPr>
        <p:spPr>
          <a:xfrm>
            <a:off x="519722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581269" y="5248656"/>
            <a:ext cx="1957387" cy="185166"/>
          </a:xfrm>
          <a:prstGeom prst="rect">
            <a:avLst/>
          </a:prstGeom>
          <a:noFill/>
        </p:spPr>
        <p:txBody>
          <a:bodyPr wrap="square" anchor="t" lIns="0" rIns="0" tIns="0" bIns="0">
            <a:spAutoFit/>
          </a:bodyPr>
          <a:lstStyle/>
          <a:p>
            <a:pPr algn="l"/>
            <a:r>
              <a:rPr sz="900" b="0" i="0">
                <a:solidFill>
                  <a:srgbClr val="FFFFFF"/>
                </a:solidFill>
                <a:latin typeface="Calibri"/>
              </a:rPr>
              <a:t>The headline on too few orders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Where the room broke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reconciliation, skipped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step with no new number in it is the one a clock removes first, and it is the one Finance reads.</a:t>
            </a:r>
          </a:p>
        </p:txBody>
      </p:sp>
      <p:sp>
        <p:nvSpPr>
          <p:cNvPr id="10" name="Rounded Rectangle 9"/>
          <p:cNvSpPr/>
          <p:nvPr/>
        </p:nvSpPr>
        <p:spPr>
          <a:xfrm>
            <a:off x="731519"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reconciliation, skipped</a:t>
            </a:r>
          </a:p>
        </p:txBody>
      </p:sp>
      <p:sp>
        <p:nvSpPr>
          <p:cNvPr id="11" name="Rounded Rectangle 10"/>
          <p:cNvSpPr/>
          <p:nvPr/>
        </p:nvSpPr>
        <p:spPr>
          <a:xfrm>
            <a:off x="280583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pass that looks clean</a:t>
            </a:r>
          </a:p>
        </p:txBody>
      </p:sp>
      <p:sp>
        <p:nvSpPr>
          <p:cNvPr id="12" name="Rounded Rectangle 11"/>
          <p:cNvSpPr/>
          <p:nvPr/>
        </p:nvSpPr>
        <p:spPr>
          <a:xfrm>
            <a:off x="4761726"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headline on too few orders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acts only on a number that ties to his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metric is booked revenue per quarter, and the note's first line is its Q1 to Q2 change.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Anand Iyer</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 FIRST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finance controller, before any number reaches Meera</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Q1 to Q2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booked revenue, the note's first line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the sign</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NUMBER COSTS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falling quarter reported as a rising one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FFFFFF"/>
                </a:solidFill>
                <a:latin typeface="Calibri"/>
              </a:rPr>
              <a:t>Does the data you cleaned still add up to what Finance booked, before anyone reads a branch of the tree?</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28" name="Oval 27"/>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0" name="Oval 29"/>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Two companies that bridge before they claim</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retailer that reports two numbers every quarter, and a pipeline that lost rows without a sound.</a:t>
            </a:r>
          </a:p>
        </p:txBody>
      </p:sp>
      <p:sp>
        <p:nvSpPr>
          <p:cNvPr id="10" name="Rounded Rectangle 9"/>
          <p:cNvSpPr/>
          <p:nvPr/>
        </p:nvSpPr>
        <p:spPr>
          <a:xfrm>
            <a:off x="530352" y="1956816"/>
            <a:ext cx="5474055"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eceipt_310d1be0be75.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NYKAA, APRIL TO JUNE 2025</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GMV Rs 4,182 cr, revenue Rs 2,155 cr</a:t>
            </a:r>
          </a:p>
        </p:txBody>
      </p:sp>
      <p:sp>
        <p:nvSpPr>
          <p:cNvPr id="15" name="TextBox 14"/>
          <p:cNvSpPr txBox="1"/>
          <p:nvPr/>
        </p:nvSpPr>
        <p:spPr>
          <a:xfrm>
            <a:off x="731519" y="3303524"/>
            <a:ext cx="5071719" cy="763016"/>
          </a:xfrm>
          <a:prstGeom prst="rect">
            <a:avLst/>
          </a:prstGeom>
          <a:noFill/>
        </p:spPr>
        <p:txBody>
          <a:bodyPr wrap="square" anchor="t" lIns="0" rIns="0" tIns="0" bIns="0">
            <a:spAutoFit/>
          </a:bodyPr>
          <a:lstStyle/>
          <a:p>
            <a:pPr algn="l"/>
            <a:r>
              <a:rPr sz="1100" b="0" i="0">
                <a:solidFill>
                  <a:srgbClr val="CFC9EE"/>
                </a:solidFill>
                <a:latin typeface="Calibri"/>
              </a:rPr>
              <a:t>Two true numbers for one quarter. Quote one to the owner of the other and you are out by nearly half, so every figure names its base and bridges to the books. Source: FSN E-Commerce Ventures press release, 12 August 2025.</a:t>
            </a:r>
          </a:p>
        </p:txBody>
      </p:sp>
      <p:sp>
        <p:nvSpPr>
          <p:cNvPr id="16" name="Rounded Rectangle 15"/>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file-x_7c9ffa7c6e09.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PUBLIC HEALTH ENGLAND, OCTOBER 2020</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15,841 cases left out</a:t>
            </a:r>
          </a:p>
        </p:txBody>
      </p:sp>
      <p:sp>
        <p:nvSpPr>
          <p:cNvPr id="21" name="TextBox 20"/>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Positive cases from 25 September to 2 October missed the daily figures because files exceeded a size limit. No step raised an error. Source: UK government statement, 4 October 2020.</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6" name="Oval 2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  ·  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headline the hurried run sent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Rows kept as they arrived, and a value that would not convert set to zero: no error anywhere.</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50,63,000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AS SUMMED</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98 rows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56,60,890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AS SUMMED</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109 rows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+11.8%</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TO Q2</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"Q2 grew; no action on the top line"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arithmetic is right, the file is Finance's own export, and the note built on it tells Meera the quarter was a good one.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6" name="Oval 2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check before sending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export came with Finance's control totals, and a note that says nothing else.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median order, in case one large order moved the total; b) the p-value of the Q1 to Q2 change; c) rows against Finance's order counts, and each quarter's rupees against its control total; d) the segment split, to see which segment grew.</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4" name="Oval 1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6" name="Oval 1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both quarters miss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hurried run against the control totals, in orders and in rupees.</a:t>
            </a:r>
          </a:p>
        </p:txBody>
      </p:sp>
      <p:graphicFrame>
        <p:nvGraphicFramePr>
          <p:cNvPr id="9" name="Table 8"/>
          <p:cNvGraphicFramePr>
            <a:graphicFrameLocks noGrp="1"/>
          </p:cNvGraphicFramePr>
          <p:nvPr/>
        </p:nvGraphicFramePr>
        <p:xfrm>
          <a:off x="530352" y="1956816"/>
          <a:ext cx="11130988" cy="1005840"/>
        </p:xfrm>
        <a:graphic>
          <a:graphicData uri="http://schemas.openxmlformats.org/drawingml/2006/table">
            <a:tbl>
              <a:tblPr firstRow="0" bandRow="0">
                <a:tableStyleId>{2D5ABB26-0587-4C30-8999-92F81FD0307C}</a:tableStyleId>
              </a:tblPr>
              <a:tblGrid>
                <a:gridCol w="914400"/>
                <a:gridCol w="2328575"/>
                <a:gridCol w="2779719"/>
                <a:gridCol w="2328575"/>
                <a:gridCol w="2779719"/>
              </a:tblGrid>
              <a:tr h="335280">
                <a:tc>
                  <a:txBody>
                    <a:bodyPr/>
                    <a:lstStyle/>
                    <a:p>
                      <a:r>
                        <a:rPr sz="1250" b="1" i="0">
                          <a:solidFill>
                            <a:srgbClr val="FFFFFF"/>
                          </a:solidFill>
                          <a:latin typeface="Calibri"/>
                        </a:rPr>
                        <a:t>Quarter</a:t>
                      </a:r>
                    </a:p>
                  </a:txBody>
                  <a:tcPr marL="101600" marR="101600" marT="38100" marB="38100" anchor="ctr">
                    <a:solidFill>
                      <a:srgbClr val="1A0F5C"/>
                    </a:solidFill>
                  </a:tcPr>
                </a:tc>
                <a:tc>
                  <a:txBody>
                    <a:bodyPr/>
                    <a:lstStyle/>
                    <a:p>
                      <a:r>
                        <a:rPr sz="1250" b="1" i="0">
                          <a:solidFill>
                            <a:srgbClr val="FFFFFF"/>
                          </a:solidFill>
                          <a:latin typeface="Calibri"/>
                        </a:rPr>
                        <a:t>Orders summed</a:t>
                      </a:r>
                    </a:p>
                  </a:txBody>
                  <a:tcPr marL="101600" marR="101600" marT="38100" marB="38100" anchor="ctr">
                    <a:solidFill>
                      <a:srgbClr val="1A0F5C"/>
                    </a:solidFill>
                  </a:tcPr>
                </a:tc>
                <a:tc>
                  <a:txBody>
                    <a:bodyPr/>
                    <a:lstStyle/>
                    <a:p>
                      <a:r>
                        <a:rPr sz="1250" b="1" i="0">
                          <a:solidFill>
                            <a:srgbClr val="FFFFFF"/>
                          </a:solidFill>
                          <a:latin typeface="Calibri"/>
                        </a:rPr>
                        <a:t>Finance's orders</a:t>
                      </a:r>
                    </a:p>
                  </a:txBody>
                  <a:tcPr marL="101600" marR="101600" marT="38100" marB="38100" anchor="ctr">
                    <a:solidFill>
                      <a:srgbClr val="1A0F5C"/>
                    </a:solidFill>
                  </a:tcPr>
                </a:tc>
                <a:tc>
                  <a:txBody>
                    <a:bodyPr/>
                    <a:lstStyle/>
                    <a:p>
                      <a:r>
                        <a:rPr sz="1250" b="1" i="0">
                          <a:solidFill>
                            <a:srgbClr val="FFFFFF"/>
                          </a:solidFill>
                          <a:latin typeface="Calibri"/>
                        </a:rPr>
                        <a:t>Rupees summed</a:t>
                      </a:r>
                    </a:p>
                  </a:txBody>
                  <a:tcPr marL="101600" marR="101600" marT="38100" marB="38100" anchor="ctr">
                    <a:solidFill>
                      <a:srgbClr val="1A0F5C"/>
                    </a:solidFill>
                  </a:tcPr>
                </a:tc>
                <a:tc>
                  <a:txBody>
                    <a:bodyPr/>
                    <a:lstStyle/>
                    <a:p>
                      <a:r>
                        <a:rPr sz="1250" b="1" i="0">
                          <a:solidFill>
                            <a:srgbClr val="FFFFFF"/>
                          </a:solidFill>
                          <a:latin typeface="Calibri"/>
                        </a:rPr>
                        <a:t>Finance's rupees</a:t>
                      </a:r>
                    </a:p>
                  </a:txBody>
                  <a:tcPr marL="101600" marR="101600" marT="38100" marB="38100" anchor="ctr">
                    <a:solidFill>
                      <a:srgbClr val="1A0F5C"/>
                    </a:solidFill>
                  </a:tcPr>
                </a:tc>
              </a:tr>
              <a:tr h="335280">
                <a:tc>
                  <a:txBody>
                    <a:bodyPr/>
                    <a:lstStyle/>
                    <a:p>
                      <a:r>
                        <a:rPr sz="1200" b="0" i="0">
                          <a:solidFill>
                            <a:srgbClr val="1A1440"/>
                          </a:solidFill>
                          <a:latin typeface="Calibri"/>
                        </a:rPr>
                        <a:t>Q1</a:t>
                      </a:r>
                    </a:p>
                  </a:txBody>
                  <a:tcPr marL="101600" marR="101600" marT="38100" marB="38100" anchor="ctr">
                    <a:solidFill>
                      <a:srgbClr val="FFFFFF"/>
                    </a:solidFill>
                  </a:tcPr>
                </a:tc>
                <a:tc>
                  <a:txBody>
                    <a:bodyPr/>
                    <a:lstStyle/>
                    <a:p>
                      <a:r>
                        <a:rPr sz="1200" b="0" i="0">
                          <a:solidFill>
                            <a:srgbClr val="1A1440"/>
                          </a:solidFill>
                          <a:latin typeface="Calibri"/>
                        </a:rPr>
                        <a:t>98</a:t>
                      </a:r>
                    </a:p>
                  </a:txBody>
                  <a:tcPr marL="101600" marR="101600" marT="38100" marB="38100" anchor="ctr">
                    <a:solidFill>
                      <a:srgbClr val="FFFFFF"/>
                    </a:solidFill>
                  </a:tcPr>
                </a:tc>
                <a:tc>
                  <a:txBody>
                    <a:bodyPr/>
                    <a:lstStyle/>
                    <a:p>
                      <a:r>
                        <a:rPr sz="1200" b="0" i="0">
                          <a:solidFill>
                            <a:srgbClr val="1A1440"/>
                          </a:solidFill>
                          <a:latin typeface="Calibri"/>
                        </a:rPr>
                        <a:t>98</a:t>
                      </a:r>
                    </a:p>
                  </a:txBody>
                  <a:tcPr marL="101600" marR="101600" marT="38100" marB="38100" anchor="ctr">
                    <a:solidFill>
                      <a:srgbClr val="FFFFFF"/>
                    </a:solidFill>
                  </a:tcPr>
                </a:tc>
                <a:tc>
                  <a:txBody>
                    <a:bodyPr/>
                    <a:lstStyle/>
                    <a:p>
                      <a:r>
                        <a:rPr sz="1200" b="0" i="0">
                          <a:solidFill>
                            <a:srgbClr val="1A1440"/>
                          </a:solidFill>
                          <a:latin typeface="Calibri"/>
                        </a:rPr>
                        <a:t>Rs 50,63,000</a:t>
                      </a:r>
                    </a:p>
                  </a:txBody>
                  <a:tcPr marL="101600" marR="101600" marT="38100" marB="38100" anchor="ctr">
                    <a:solidFill>
                      <a:srgbClr val="FFFFFF"/>
                    </a:solidFill>
                  </a:tcPr>
                </a:tc>
                <a:tc>
                  <a:txBody>
                    <a:bodyPr/>
                    <a:lstStyle/>
                    <a:p>
                      <a:r>
                        <a:rPr sz="1200" b="0" i="0">
                          <a:solidFill>
                            <a:srgbClr val="1A1440"/>
                          </a:solidFill>
                          <a:latin typeface="Calibri"/>
                        </a:rPr>
                        <a:t>Rs 60,48,000</a:t>
                      </a:r>
                    </a:p>
                  </a:txBody>
                  <a:tcPr marL="101600" marR="101600" marT="38100" marB="38100" anchor="ctr">
                    <a:solidFill>
                      <a:srgbClr val="FFFFFF"/>
                    </a:solidFill>
                  </a:tcPr>
                </a:tc>
              </a:tr>
              <a:tr h="335280">
                <a:tc>
                  <a:txBody>
                    <a:bodyPr/>
                    <a:lstStyle/>
                    <a:p>
                      <a:r>
                        <a:rPr sz="1200" b="0" i="0">
                          <a:solidFill>
                            <a:srgbClr val="1A1440"/>
                          </a:solidFill>
                          <a:latin typeface="Calibri"/>
                        </a:rPr>
                        <a:t>Q2</a:t>
                      </a:r>
                    </a:p>
                  </a:txBody>
                  <a:tcPr marL="101600" marR="101600" marT="38100" marB="38100" anchor="ctr">
                    <a:solidFill>
                      <a:srgbClr val="F4F2FA"/>
                    </a:solidFill>
                  </a:tcPr>
                </a:tc>
                <a:tc>
                  <a:txBody>
                    <a:bodyPr/>
                    <a:lstStyle/>
                    <a:p>
                      <a:r>
                        <a:rPr sz="1200" b="0" i="0">
                          <a:solidFill>
                            <a:srgbClr val="1A1440"/>
                          </a:solidFill>
                          <a:latin typeface="Calibri"/>
                        </a:rPr>
                        <a:t>109</a:t>
                      </a:r>
                    </a:p>
                  </a:txBody>
                  <a:tcPr marL="101600" marR="101600" marT="38100" marB="38100" anchor="ctr">
                    <a:solidFill>
                      <a:srgbClr val="F4F2FA"/>
                    </a:solidFill>
                  </a:tcPr>
                </a:tc>
                <a:tc>
                  <a:txBody>
                    <a:bodyPr/>
                    <a:lstStyle/>
                    <a:p>
                      <a:r>
                        <a:rPr sz="1200" b="0" i="0">
                          <a:solidFill>
                            <a:srgbClr val="1A1440"/>
                          </a:solidFill>
                          <a:latin typeface="Calibri"/>
                        </a:rPr>
                        <a:t>99</a:t>
                      </a:r>
                    </a:p>
                  </a:txBody>
                  <a:tcPr marL="101600" marR="101600" marT="38100" marB="38100" anchor="ctr">
                    <a:solidFill>
                      <a:srgbClr val="F4F2FA"/>
                    </a:solidFill>
                  </a:tcPr>
                </a:tc>
                <a:tc>
                  <a:txBody>
                    <a:bodyPr/>
                    <a:lstStyle/>
                    <a:p>
                      <a:r>
                        <a:rPr sz="1200" b="0" i="0">
                          <a:solidFill>
                            <a:srgbClr val="1A1440"/>
                          </a:solidFill>
                          <a:latin typeface="Calibri"/>
                        </a:rPr>
                        <a:t>Rs 56,60,890</a:t>
                      </a:r>
                    </a:p>
                  </a:txBody>
                  <a:tcPr marL="101600" marR="101600" marT="38100" marB="38100" anchor="ctr">
                    <a:solidFill>
                      <a:srgbClr val="F4F2FA"/>
                    </a:solidFill>
                  </a:tcPr>
                </a:tc>
                <a:tc>
                  <a:txBody>
                    <a:bodyPr/>
                    <a:lstStyle/>
                    <a:p>
                      <a:r>
                        <a:rPr sz="1200" b="0" i="0">
                          <a:solidFill>
                            <a:srgbClr val="1A1440"/>
                          </a:solidFill>
                          <a:latin typeface="Calibri"/>
                        </a:rPr>
                        <a:t>Rs 43,25,480</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Q1 lands on orders and misses on rupees; Q2 misses on both. Two different errors, and the headline carries them both.</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5" name="Oval 14"/>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check, sized on this morning's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Minutes of thought decide it; every option runs in under a millisecond.</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4029473"/>
                <a:gridCol w="2088463"/>
                <a:gridCol w="2327357"/>
                <a:gridCol w="2685697"/>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Analyst minutes</a:t>
                      </a:r>
                    </a:p>
                  </a:txBody>
                  <a:tcPr marL="101600" marR="101600" marT="38100" marB="38100" anchor="ctr">
                    <a:solidFill>
                      <a:srgbClr val="1A0F5C"/>
                    </a:solidFill>
                  </a:tcPr>
                </a:tc>
                <a:tc>
                  <a:txBody>
                    <a:bodyPr/>
                    <a:lstStyle/>
                    <a:p>
                      <a:r>
                        <a:rPr sz="1250" b="1" i="0">
                          <a:solidFill>
                            <a:srgbClr val="FFFFFF"/>
                          </a:solidFill>
                          <a:latin typeface="Calibri"/>
                        </a:rPr>
                        <a:t>Headline it sends</a:t>
                      </a:r>
                    </a:p>
                  </a:txBody>
                  <a:tcPr marL="101600" marR="101600" marT="38100" marB="38100" anchor="ctr">
                    <a:solidFill>
                      <a:srgbClr val="1A0F5C"/>
                    </a:solidFill>
                  </a:tcPr>
                </a:tc>
                <a:tc>
                  <a:txBody>
                    <a:bodyPr/>
                    <a:lstStyle/>
                    <a:p>
                      <a:r>
                        <a:rPr sz="1250" b="1" i="0">
                          <a:solidFill>
                            <a:srgbClr val="FFFFFF"/>
                          </a:solidFill>
                          <a:latin typeface="Calibri"/>
                        </a:rPr>
                        <a:t>Points off the books</a:t>
                      </a:r>
                    </a:p>
                  </a:txBody>
                  <a:tcPr marL="101600" marR="101600" marT="38100" marB="38100" anchor="ctr">
                    <a:solidFill>
                      <a:srgbClr val="1A0F5C"/>
                    </a:solidFill>
                  </a:tcPr>
                </a:tc>
              </a:tr>
              <a:tr h="335280">
                <a:tc>
                  <a:txBody>
                    <a:bodyPr/>
                    <a:lstStyle/>
                    <a:p>
                      <a:r>
                        <a:rPr sz="1200" b="0" i="0">
                          <a:solidFill>
                            <a:srgbClr val="1A1440"/>
                          </a:solidFill>
                          <a:latin typeface="Calibri"/>
                        </a:rPr>
                        <a:t>A. Trust the pass</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+11.8%</a:t>
                      </a:r>
                    </a:p>
                  </a:txBody>
                  <a:tcPr marL="101600" marR="101600" marT="38100" marB="38100" anchor="ctr">
                    <a:solidFill>
                      <a:srgbClr val="FFFFFF"/>
                    </a:solidFill>
                  </a:tcPr>
                </a:tc>
                <a:tc>
                  <a:txBody>
                    <a:bodyPr/>
                    <a:lstStyle/>
                    <a:p>
                      <a:r>
                        <a:rPr sz="1200" b="0" i="0">
                          <a:solidFill>
                            <a:srgbClr val="1A1440"/>
                          </a:solidFill>
                          <a:latin typeface="Calibri"/>
                        </a:rPr>
                        <a:t>40.3</a:t>
                      </a:r>
                    </a:p>
                  </a:txBody>
                  <a:tcPr marL="101600" marR="101600" marT="38100" marB="38100" anchor="ctr">
                    <a:solidFill>
                      <a:srgbClr val="FFFFFF"/>
                    </a:solidFill>
                  </a:tcPr>
                </a:tc>
              </a:tr>
              <a:tr h="335280">
                <a:tc>
                  <a:txBody>
                    <a:bodyPr/>
                    <a:lstStyle/>
                    <a:p>
                      <a:r>
                        <a:rPr sz="1200" b="0" i="0">
                          <a:solidFill>
                            <a:srgbClr val="1A1440"/>
                          </a:solidFill>
                          <a:latin typeface="Calibri"/>
                        </a:rPr>
                        <a:t>B. Count check only</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-14.6%</a:t>
                      </a:r>
                    </a:p>
                  </a:txBody>
                  <a:tcPr marL="101600" marR="101600" marT="38100" marB="38100" anchor="ctr">
                    <a:solidFill>
                      <a:srgbClr val="F4F2FA"/>
                    </a:solidFill>
                  </a:tcPr>
                </a:tc>
                <a:tc>
                  <a:txBody>
                    <a:bodyPr/>
                    <a:lstStyle/>
                    <a:p>
                      <a:r>
                        <a:rPr sz="1200" b="0" i="0">
                          <a:solidFill>
                            <a:srgbClr val="1A1440"/>
                          </a:solidFill>
                          <a:latin typeface="Calibri"/>
                        </a:rPr>
                        <a:t>13.9</a:t>
                      </a:r>
                    </a:p>
                  </a:txBody>
                  <a:tcPr marL="101600" marR="101600" marT="38100" marB="38100" anchor="ctr">
                    <a:solidFill>
                      <a:srgbClr val="F4F2FA"/>
                    </a:solidFill>
                  </a:tcPr>
                </a:tc>
              </a:tr>
              <a:tr h="335280">
                <a:tc>
                  <a:txBody>
                    <a:bodyPr/>
                    <a:lstStyle/>
                    <a:p>
                      <a:r>
                        <a:rPr sz="1200" b="0" i="0">
                          <a:solidFill>
                            <a:srgbClr val="1A1440"/>
                          </a:solidFill>
                          <a:latin typeface="Calibri"/>
                        </a:rPr>
                        <a:t>C. Counts and rupees, with a bridge</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-28.5%</a:t>
                      </a:r>
                    </a:p>
                  </a:txBody>
                  <a:tcPr marL="101600" marR="101600" marT="38100" marB="38100" anchor="ctr">
                    <a:solidFill>
                      <a:srgbClr val="FFFFFF"/>
                    </a:solidFill>
                  </a:tcPr>
                </a:tc>
                <a:tc>
                  <a:txBody>
                    <a:bodyPr/>
                    <a:lstStyle/>
                    <a:p>
                      <a:r>
                        <a:rPr sz="1200" b="0" i="0">
                          <a:solidFill>
                            <a:srgbClr val="1A1440"/>
                          </a:solidFill>
                          <a:latin typeface="Calibri"/>
                        </a:rPr>
                        <a:t>0.0</a:t>
                      </a:r>
                    </a:p>
                  </a:txBody>
                  <a:tcPr marL="101600" marR="101600" marT="38100" marB="38100" anchor="ctr">
                    <a:solidFill>
                      <a:srgbClr val="FFFFFF"/>
                    </a:solidFill>
                  </a:tcPr>
                </a:tc>
              </a:tr>
              <a:tr h="335280">
                <a:tc>
                  <a:txBody>
                    <a:bodyPr/>
                    <a:lstStyle/>
                    <a:p>
                      <a:r>
                        <a:rPr sz="1200" b="0" i="0">
                          <a:solidFill>
                            <a:srgbClr val="1A1440"/>
                          </a:solidFill>
                          <a:latin typeface="Calibri"/>
                        </a:rPr>
                        <a:t>D. Match every order to the ledger</a:t>
                      </a:r>
                    </a:p>
                  </a:txBody>
                  <a:tcPr marL="101600" marR="101600" marT="38100" marB="38100" anchor="ctr">
                    <a:solidFill>
                      <a:srgbClr val="F4F2FA"/>
                    </a:solidFill>
                  </a:tcPr>
                </a:tc>
                <a:tc>
                  <a:txBody>
                    <a:bodyPr/>
                    <a:lstStyle/>
                    <a:p>
                      <a:r>
                        <a:rPr sz="1200" b="0" i="0">
                          <a:solidFill>
                            <a:srgbClr val="1A1440"/>
                          </a:solidFill>
                          <a:latin typeface="Calibri"/>
                        </a:rPr>
                        <a:t>about 120</a:t>
                      </a:r>
                    </a:p>
                  </a:txBody>
                  <a:tcPr marL="101600" marR="101600" marT="38100" marB="38100" anchor="ctr">
                    <a:solidFill>
                      <a:srgbClr val="F4F2FA"/>
                    </a:solidFill>
                  </a:tcPr>
                </a:tc>
                <a:tc>
                  <a:txBody>
                    <a:bodyPr/>
                    <a:lstStyle/>
                    <a:p>
                      <a:r>
                        <a:rPr sz="1200" b="0" i="0">
                          <a:solidFill>
                            <a:srgbClr val="1A1440"/>
                          </a:solidFill>
                          <a:latin typeface="Calibri"/>
                        </a:rPr>
                        <a:t>-28.5%</a:t>
                      </a:r>
                    </a:p>
                  </a:txBody>
                  <a:tcPr marL="101600" marR="101600" marT="38100" marB="38100" anchor="ctr">
                    <a:solidFill>
                      <a:srgbClr val="F4F2FA"/>
                    </a:solidFill>
                  </a:tcPr>
                </a:tc>
                <a:tc>
                  <a:txBody>
                    <a:bodyPr/>
                    <a:lstStyle/>
                    <a:p>
                      <a:r>
                        <a:rPr sz="1200" b="0" i="0">
                          <a:solidFill>
                            <a:srgbClr val="1A1440"/>
                          </a:solidFill>
                          <a:latin typeface="Calibri"/>
                        </a:rPr>
                        <a:t>0.0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C, because it needs only the control file that came with the export and lands to the rupee. Switch to D when there is no control total, or when C's bridge will not close.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bridge from the hurried sum to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moves, each a line in the decisions log, and the walk closes on Finance's total.</a:t>
            </a:r>
          </a:p>
        </p:txBody>
      </p:sp>
      <p:pic>
        <p:nvPicPr>
          <p:cNvPr id="9" name="mermaid diagram" descr="07d5400dbcc5a57a.png"/>
          <p:cNvPicPr>
            <a:picLocks noChangeAspect="1"/>
          </p:cNvPicPr>
          <p:nvPr/>
        </p:nvPicPr>
        <p:blipFill>
          <a:blip r:embed="rId5"/>
          <a:stretch>
            <a:fillRect/>
          </a:stretch>
        </p:blipFill>
        <p:spPr>
          <a:xfrm>
            <a:off x="530352" y="1956816"/>
            <a:ext cx="11130991" cy="1696640"/>
          </a:xfrm>
          <a:prstGeom prst="rect">
            <a:avLst/>
          </a:prstGeom>
        </p:spPr>
      </p:pic>
      <p:sp>
        <p:nvSpPr>
          <p:cNvPr id="10" name="TextBox 9"/>
          <p:cNvSpPr txBox="1"/>
          <p:nvPr/>
        </p:nvSpPr>
        <p:spPr>
          <a:xfrm>
            <a:off x="530352" y="3799760"/>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With both quarters on the books the headline is a fall of 28.5 percent, Rs 60,48,000 to Rs 43,25,480.</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5" name="Oval 14"/>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decision the wrong number would have made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Growth reads as no action; a fall reads as find the branch, and only one of them is true.</a:t>
            </a:r>
          </a:p>
        </p:txBody>
      </p:sp>
      <p:sp>
        <p:nvSpPr>
          <p:cNvPr id="9" name="Rounded Rectangle 8"/>
          <p:cNvSpPr/>
          <p:nvPr/>
        </p:nvSpPr>
        <p:spPr>
          <a:xfrm>
            <a:off x="53035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x_e5d65e9a98b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HURRIED NOTE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Q2 grew 11.8%</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No investigation, and Monday's review hears the quarter was fine.</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ircle-alert_2885187cc141.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COUNTS CHECKED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fell 14.6%</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right direction at half the size, so the fix gets half the attention.</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check_5bfb0e0fcdf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COUNTS AND RUPEES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fell 28.5%</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Rs 17,22,520 to explain, and the tree says where.</a:t>
            </a:r>
          </a:p>
        </p:txBody>
      </p:sp>
      <p:sp>
        <p:nvSpPr>
          <p:cNvPr id="27" name="Rounded Rectangle 26"/>
          <p:cNvSpPr/>
          <p:nvPr/>
        </p:nvSpPr>
        <p:spPr>
          <a:xfrm>
            <a:off x="530352" y="41041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363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earch-check_6571e64a041f.png"/>
          <p:cNvPicPr>
            <a:picLocks noChangeAspect="1"/>
          </p:cNvPicPr>
          <p:nvPr/>
        </p:nvPicPr>
        <p:blipFill>
          <a:blip r:embed="rId7"/>
          <a:stretch>
            <a:fillRect/>
          </a:stretch>
        </p:blipFill>
        <p:spPr>
          <a:xfrm>
            <a:off x="868680" y="454609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1" name="TextBox 30"/>
          <p:cNvSpPr txBox="1"/>
          <p:nvPr/>
        </p:nvSpPr>
        <p:spPr>
          <a:xfrm>
            <a:off x="1399031" y="4469892"/>
            <a:ext cx="9987991" cy="682752"/>
          </a:xfrm>
          <a:prstGeom prst="rect">
            <a:avLst/>
          </a:prstGeom>
          <a:noFill/>
        </p:spPr>
        <p:txBody>
          <a:bodyPr wrap="square" anchor="t" lIns="0" rIns="0" tIns="0" bIns="0">
            <a:spAutoFit/>
          </a:bodyPr>
          <a:lstStyle/>
          <a:p>
            <a:r>
              <a:rPr sz="1500" b="0" i="0">
                <a:solidFill>
                  <a:srgbClr val="1A1440"/>
                </a:solidFill>
                <a:latin typeface="Calibri"/>
              </a:rPr>
              <a:t>A number that has not been reconciled is not a rougher version of the right number. This morning it pointed the other way.</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34" name="Oval 3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6" name="Oval 3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walk back from Finance's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Start at the control total, undo each logged decision, and land on what the hurried run summed.</a:t>
            </a:r>
          </a:p>
        </p:txBody>
      </p:sp>
      <p:pic>
        <p:nvPicPr>
          <p:cNvPr id="9" name="mermaid diagram" descr="44cac503fe234bb0.png"/>
          <p:cNvPicPr>
            <a:picLocks noChangeAspect="1"/>
          </p:cNvPicPr>
          <p:nvPr/>
        </p:nvPicPr>
        <p:blipFill>
          <a:blip r:embed="rId6"/>
          <a:stretch>
            <a:fillRect/>
          </a:stretch>
        </p:blipFill>
        <p:spPr>
          <a:xfrm>
            <a:off x="530352" y="1956816"/>
            <a:ext cx="11130991" cy="863855"/>
          </a:xfrm>
          <a:prstGeom prst="rect">
            <a:avLst/>
          </a:prstGeom>
        </p:spPr>
      </p:pic>
      <p:sp>
        <p:nvSpPr>
          <p:cNvPr id="10" name="Rounded Rectangle 9"/>
          <p:cNvSpPr/>
          <p:nvPr/>
        </p:nvSpPr>
        <p:spPr>
          <a:xfrm>
            <a:off x="530352" y="296697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2992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408935"/>
            <a:ext cx="237744" cy="237744"/>
          </a:xfrm>
          <a:prstGeom prst="rect">
            <a:avLst/>
          </a:prstGeom>
        </p:spPr>
      </p:pic>
      <p:sp>
        <p:nvSpPr>
          <p:cNvPr id="13" name="TextBox 12"/>
          <p:cNvSpPr txBox="1"/>
          <p:nvPr/>
        </p:nvSpPr>
        <p:spPr>
          <a:xfrm>
            <a:off x="1399031" y="311327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332735"/>
            <a:ext cx="9987991" cy="682752"/>
          </a:xfrm>
          <a:prstGeom prst="rect">
            <a:avLst/>
          </a:prstGeom>
          <a:noFill/>
        </p:spPr>
        <p:txBody>
          <a:bodyPr wrap="square" anchor="t" lIns="0" rIns="0" tIns="0" bIns="0">
            <a:spAutoFit/>
          </a:bodyPr>
          <a:lstStyle/>
          <a:p>
            <a:r>
              <a:rPr sz="1500" b="0" i="0">
                <a:solidFill>
                  <a:srgbClr val="1A1440"/>
                </a:solidFill>
                <a:latin typeface="Calibri"/>
              </a:rPr>
              <a:t>Show Finance the forward bridge, because it starts from their export. Run the walk back when a bridge closes suspiciously neatly: two mistakes that cancel pass one route and fail the other.</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same rows also move a branch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the rows as they arrived, Retail-Core's customers seem to order a fifth more often.</a:t>
            </a:r>
          </a:p>
        </p:txBody>
      </p:sp>
      <p:pic>
        <p:nvPicPr>
          <p:cNvPr id="10" name="mermaid diagram" descr="b9379099fa616a9e.png"/>
          <p:cNvPicPr>
            <a:picLocks noChangeAspect="1"/>
          </p:cNvPicPr>
          <p:nvPr/>
        </p:nvPicPr>
        <p:blipFill>
          <a:blip r:embed="rId5"/>
          <a:stretch>
            <a:fillRect/>
          </a:stretch>
        </p:blipFill>
        <p:spPr>
          <a:xfrm>
            <a:off x="3095472" y="1956816"/>
            <a:ext cx="6000750" cy="2014537"/>
          </a:xfrm>
          <a:prstGeom prst="rect">
            <a:avLst/>
          </a:prstGeom>
        </p:spPr>
      </p:pic>
      <p:sp>
        <p:nvSpPr>
          <p:cNvPr id="11" name="TextBox 10"/>
          <p:cNvSpPr txBox="1"/>
          <p:nvPr/>
        </p:nvSpPr>
        <p:spPr>
          <a:xfrm>
            <a:off x="530352" y="41176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Rows Finance does not hold manufacture a frequency rise where nothing changed, and hide a basket fall behind a flat segment. Chapter 3 reads the clean tree.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4" name="Oval 1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6" name="Oval 1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D10  ·  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the clock removes this step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 produces no new number, so it feels like the step that can wait.</a:t>
            </a:r>
          </a:p>
        </p:txBody>
      </p:sp>
      <p:sp>
        <p:nvSpPr>
          <p:cNvPr id="9" name="Rectangle 8"/>
          <p:cNvSpPr/>
          <p:nvPr/>
        </p:nvSpPr>
        <p:spPr>
          <a:xfrm>
            <a:off x="530352" y="1956816"/>
            <a:ext cx="2473553" cy="457200"/>
          </a:xfrm>
          <a:prstGeom prst="rect">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1A0F5C"/>
                </a:solidFill>
                <a:latin typeface="Calibri"/>
              </a:rPr>
              <a:t>Profile</a:t>
            </a:r>
          </a:p>
        </p:txBody>
      </p:sp>
      <p:sp>
        <p:nvSpPr>
          <p:cNvPr id="10" name="TextBox 9"/>
          <p:cNvSpPr txBox="1"/>
          <p:nvPr/>
        </p:nvSpPr>
        <p:spPr>
          <a:xfrm>
            <a:off x="530352" y="2487168"/>
            <a:ext cx="2473553" cy="176911"/>
          </a:xfrm>
          <a:prstGeom prst="rect">
            <a:avLst/>
          </a:prstGeom>
          <a:noFill/>
        </p:spPr>
        <p:txBody>
          <a:bodyPr wrap="square" anchor="t" lIns="0" rIns="0" tIns="0" bIns="0">
            <a:spAutoFit/>
          </a:bodyPr>
          <a:lstStyle/>
          <a:p>
            <a:pPr algn="ctr"/>
            <a:r>
              <a:rPr sz="850" b="0" i="0">
                <a:solidFill>
                  <a:srgbClr val="6B6690"/>
                </a:solidFill>
                <a:latin typeface="Calibri"/>
              </a:rPr>
              <a:t>a new picture of the file</a:t>
            </a:r>
          </a:p>
        </p:txBody>
      </p:sp>
      <p:sp>
        <p:nvSpPr>
          <p:cNvPr id="11" name="Rectangle 10"/>
          <p:cNvSpPr/>
          <p:nvPr/>
        </p:nvSpPr>
        <p:spPr>
          <a:xfrm>
            <a:off x="3003905" y="1956816"/>
            <a:ext cx="3710330" cy="457200"/>
          </a:xfrm>
          <a:prstGeom prst="rect">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Clean</a:t>
            </a:r>
          </a:p>
        </p:txBody>
      </p:sp>
      <p:sp>
        <p:nvSpPr>
          <p:cNvPr id="12" name="TextBox 11"/>
          <p:cNvSpPr txBox="1"/>
          <p:nvPr/>
        </p:nvSpPr>
        <p:spPr>
          <a:xfrm>
            <a:off x="3003905" y="2487168"/>
            <a:ext cx="3710330" cy="176911"/>
          </a:xfrm>
          <a:prstGeom prst="rect">
            <a:avLst/>
          </a:prstGeom>
          <a:noFill/>
        </p:spPr>
        <p:txBody>
          <a:bodyPr wrap="square" anchor="t" lIns="0" rIns="0" tIns="0" bIns="0">
            <a:spAutoFit/>
          </a:bodyPr>
          <a:lstStyle/>
          <a:p>
            <a:pPr algn="ctr"/>
            <a:r>
              <a:rPr sz="850" b="0" i="0">
                <a:solidFill>
                  <a:srgbClr val="6B6690"/>
                </a:solidFill>
                <a:latin typeface="Calibri"/>
              </a:rPr>
              <a:t>a smaller, tidier file</a:t>
            </a:r>
          </a:p>
        </p:txBody>
      </p:sp>
      <p:sp>
        <p:nvSpPr>
          <p:cNvPr id="13" name="Rectangle 12"/>
          <p:cNvSpPr/>
          <p:nvPr/>
        </p:nvSpPr>
        <p:spPr>
          <a:xfrm>
            <a:off x="6714236" y="1956816"/>
            <a:ext cx="1855165" cy="457200"/>
          </a:xfrm>
          <a:prstGeom prst="rect">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Reconcile</a:t>
            </a:r>
          </a:p>
        </p:txBody>
      </p:sp>
      <p:sp>
        <p:nvSpPr>
          <p:cNvPr id="14" name="TextBox 13"/>
          <p:cNvSpPr txBox="1"/>
          <p:nvPr/>
        </p:nvSpPr>
        <p:spPr>
          <a:xfrm>
            <a:off x="6714236" y="2487168"/>
            <a:ext cx="1855165" cy="176911"/>
          </a:xfrm>
          <a:prstGeom prst="rect">
            <a:avLst/>
          </a:prstGeom>
          <a:noFill/>
        </p:spPr>
        <p:txBody>
          <a:bodyPr wrap="square" anchor="t" lIns="0" rIns="0" tIns="0" bIns="0">
            <a:spAutoFit/>
          </a:bodyPr>
          <a:lstStyle/>
          <a:p>
            <a:pPr algn="ctr"/>
            <a:r>
              <a:rPr sz="850" b="0" i="0">
                <a:solidFill>
                  <a:srgbClr val="6B6690"/>
                </a:solidFill>
                <a:latin typeface="Calibri"/>
              </a:rPr>
              <a:t>no new number, only a yes or a no</a:t>
            </a:r>
          </a:p>
        </p:txBody>
      </p:sp>
      <p:sp>
        <p:nvSpPr>
          <p:cNvPr id="15" name="Rectangle 14"/>
          <p:cNvSpPr/>
          <p:nvPr/>
        </p:nvSpPr>
        <p:spPr>
          <a:xfrm>
            <a:off x="8569401" y="1956816"/>
            <a:ext cx="3091941" cy="457200"/>
          </a:xfrm>
          <a:prstGeom prst="rect">
            <a:avLst/>
          </a:prstGeom>
          <a:solidFill>
            <a:srgbClr val="4E38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Decompose</a:t>
            </a:r>
          </a:p>
        </p:txBody>
      </p:sp>
      <p:sp>
        <p:nvSpPr>
          <p:cNvPr id="16" name="TextBox 15"/>
          <p:cNvSpPr txBox="1"/>
          <p:nvPr/>
        </p:nvSpPr>
        <p:spPr>
          <a:xfrm>
            <a:off x="8569401" y="2487168"/>
            <a:ext cx="3091941" cy="176911"/>
          </a:xfrm>
          <a:prstGeom prst="rect">
            <a:avLst/>
          </a:prstGeom>
          <a:noFill/>
        </p:spPr>
        <p:txBody>
          <a:bodyPr wrap="square" anchor="t" lIns="0" rIns="0" tIns="0" bIns="0">
            <a:spAutoFit/>
          </a:bodyPr>
          <a:lstStyle/>
          <a:p>
            <a:pPr algn="ctr"/>
            <a:r>
              <a:rPr sz="850" b="0" i="0">
                <a:solidFill>
                  <a:srgbClr val="6B6690"/>
                </a:solidFill>
                <a:latin typeface="Calibri"/>
              </a:rPr>
              <a:t>the finding</a:t>
            </a:r>
          </a:p>
        </p:txBody>
      </p:sp>
      <p:sp>
        <p:nvSpPr>
          <p:cNvPr id="17" name="Rounded Rectangle 16"/>
          <p:cNvSpPr/>
          <p:nvPr/>
        </p:nvSpPr>
        <p:spPr>
          <a:xfrm>
            <a:off x="530352" y="291693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2491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3358896"/>
            <a:ext cx="237744" cy="237744"/>
          </a:xfrm>
          <a:prstGeom prst="rect">
            <a:avLst/>
          </a:prstGeom>
        </p:spPr>
      </p:pic>
      <p:sp>
        <p:nvSpPr>
          <p:cNvPr id="20" name="TextBox 19"/>
          <p:cNvSpPr txBox="1"/>
          <p:nvPr/>
        </p:nvSpPr>
        <p:spPr>
          <a:xfrm>
            <a:off x="1399031" y="30632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282696"/>
            <a:ext cx="9987991" cy="682752"/>
          </a:xfrm>
          <a:prstGeom prst="rect">
            <a:avLst/>
          </a:prstGeom>
          <a:noFill/>
        </p:spPr>
        <p:txBody>
          <a:bodyPr wrap="square" anchor="t" lIns="0" rIns="0" tIns="0" bIns="0">
            <a:spAutoFit/>
          </a:bodyPr>
          <a:lstStyle/>
          <a:p>
            <a:r>
              <a:rPr sz="1500" b="0" i="0">
                <a:solidFill>
                  <a:srgbClr val="1A1440"/>
                </a:solidFill>
                <a:latin typeface="Calibri"/>
              </a:rPr>
              <a:t>[F] You have two hours and a raw export; what do you do first, and what do you skip? Never the reconciliation: it is fifteen minutes, and it is the step that can flip the sign.</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6" name="Oval 2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pass that looks clean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Zero rejects on a file you know is dirty is a finding, not a result.</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reconciliation, skipped</a:t>
            </a:r>
          </a:p>
        </p:txBody>
      </p:sp>
      <p:sp>
        <p:nvSpPr>
          <p:cNvPr id="11" name="Rounded Rectangle 10"/>
          <p:cNvSpPr/>
          <p:nvPr/>
        </p:nvSpPr>
        <p:spPr>
          <a:xfrm>
            <a:off x="2805839"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pass that looks clean</a:t>
            </a:r>
          </a:p>
        </p:txBody>
      </p:sp>
      <p:sp>
        <p:nvSpPr>
          <p:cNvPr id="12" name="Rounded Rectangle 11"/>
          <p:cNvSpPr/>
          <p:nvPr/>
        </p:nvSpPr>
        <p:spPr>
          <a:xfrm>
            <a:off x="4761726"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headline on too few orders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base of every rate is Q1's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Anand's analyst audits the note, and their first question is always the rupees.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Q1 booked</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base every Q1 to Q2 rate divides by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the analyst</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Anand's auditor, then Meera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half</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BASE COSTS</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fall reported at half its size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Your pass reports zero rejects and every count lands. Show me the rupees.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8" name="Oval 27"/>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30" name="Oval 29"/>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formula that ran clean and was wrong</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JPMorgan's own task force found a spreadsheet that never errored and halved a risk measure.</a:t>
            </a:r>
          </a:p>
        </p:txBody>
      </p:sp>
      <p:sp>
        <p:nvSpPr>
          <p:cNvPr id="10" name="Rounded Rectangle 9"/>
          <p:cNvSpPr/>
          <p:nvPr/>
        </p:nvSpPr>
        <p:spPr>
          <a:xfrm>
            <a:off x="530352" y="1956816"/>
            <a:ext cx="5474055"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andmark_74597fd10b4b.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JPMORGAN CHASE, 2012</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Divided by the sum, not the average</a:t>
            </a:r>
          </a:p>
        </p:txBody>
      </p:sp>
      <p:sp>
        <p:nvSpPr>
          <p:cNvPr id="15" name="TextBox 14"/>
          <p:cNvSpPr txBox="1"/>
          <p:nvPr/>
        </p:nvSpPr>
        <p:spPr>
          <a:xfrm>
            <a:off x="731519" y="3303524"/>
            <a:ext cx="5071719" cy="763016"/>
          </a:xfrm>
          <a:prstGeom prst="rect">
            <a:avLst/>
          </a:prstGeom>
          <a:noFill/>
        </p:spPr>
        <p:txBody>
          <a:bodyPr wrap="square" anchor="t" lIns="0" rIns="0" tIns="0" bIns="0">
            <a:spAutoFit/>
          </a:bodyPr>
          <a:lstStyle/>
          <a:p>
            <a:pPr algn="l"/>
            <a:r>
              <a:rPr sz="1100" b="0" i="0">
                <a:solidFill>
                  <a:srgbClr val="CFC9EE"/>
                </a:solidFill>
                <a:latin typeface="Calibri"/>
              </a:rPr>
              <a:t>A risk model run through spreadsheets "divided by their sum instead of their average", likely muting volatility by a factor of two and lowering the VaR. Source: the task force report, January 2013, as quoted by The Baseline Scenario, 9 February 2013.</a:t>
            </a:r>
          </a:p>
        </p:txBody>
      </p:sp>
      <p:sp>
        <p:nvSpPr>
          <p:cNvPr id="16" name="Rounded Rectangle 15"/>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trending-down_69bb86911a18.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COST</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$6.2 billion</a:t>
            </a:r>
          </a:p>
        </p:txBody>
      </p:sp>
      <p:sp>
        <p:nvSpPr>
          <p:cNvPr id="21" name="TextBox 20"/>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The trading losses the FCA's fine refers to. Source: FCA press release, 19 September 2013.</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4" name="Oval 23"/>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26" name="Oval 2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D13  ·  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Zero rejects, and every count lands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most natural line of Python in the week: a try that sets a failure to zero.</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to_int_or_zero(v):</a:t>
            </a:r>
          </a:p>
          <a:p>
            <a:pPr>
              <a:spcAft>
                <a:spcPts val="200"/>
              </a:spcAft>
            </a:pPr>
            <a:r>
              <a:rPr sz="1400" b="0" i="0">
                <a:solidFill>
                  <a:srgbClr val="E4E1F1"/>
                </a:solidFill>
                <a:latin typeface="Consolas"/>
              </a:rPr>
              <a:t>    try:</a:t>
            </a:r>
          </a:p>
          <a:p>
            <a:pPr>
              <a:spcAft>
                <a:spcPts val="200"/>
              </a:spcAft>
            </a:pPr>
            <a:r>
              <a:rPr sz="1400" b="0" i="0">
                <a:solidFill>
                  <a:srgbClr val="E4E1F1"/>
                </a:solidFill>
                <a:latin typeface="Consolas"/>
              </a:rPr>
              <a:t>        return int(v)</a:t>
            </a:r>
          </a:p>
          <a:p>
            <a:pPr>
              <a:spcAft>
                <a:spcPts val="200"/>
              </a:spcAft>
            </a:pPr>
            <a:r>
              <a:rPr sz="1400" b="0" i="0">
                <a:solidFill>
                  <a:srgbClr val="E4E1F1"/>
                </a:solidFill>
                <a:latin typeface="Consolas"/>
              </a:rPr>
              <a:t>    except ValueError:</a:t>
            </a:r>
          </a:p>
          <a:p>
            <a:pPr>
              <a:spcAft>
                <a:spcPts val="200"/>
              </a:spcAft>
            </a:pPr>
            <a:r>
              <a:rPr sz="1400" b="0" i="0">
                <a:solidFill>
                  <a:srgbClr val="E4E1F1"/>
                </a:solidFill>
                <a:latin typeface="Consolas"/>
              </a:rPr>
              <a:t>        return 0          # the file now "converts" cleanly</a:t>
            </a:r>
          </a:p>
        </p:txBody>
      </p:sp>
      <p:sp>
        <p:nvSpPr>
          <p:cNvPr id="14" name="TextBox 13"/>
          <p:cNvSpPr txBox="1"/>
          <p:nvPr/>
        </p:nvSpPr>
        <p:spPr>
          <a:xfrm>
            <a:off x="53035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98</a:t>
            </a:r>
          </a:p>
        </p:txBody>
      </p:sp>
      <p:sp>
        <p:nvSpPr>
          <p:cNvPr id="15" name="TextBox 14"/>
          <p:cNvSpPr txBox="1"/>
          <p:nvPr/>
        </p:nvSpPr>
        <p:spPr>
          <a:xfrm>
            <a:off x="53035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ORDERS</a:t>
            </a:r>
          </a:p>
        </p:txBody>
      </p:sp>
      <p:sp>
        <p:nvSpPr>
          <p:cNvPr id="16" name="TextBox 15"/>
          <p:cNvSpPr txBox="1"/>
          <p:nvPr/>
        </p:nvSpPr>
        <p:spPr>
          <a:xfrm>
            <a:off x="53035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98</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0</a:t>
            </a:r>
          </a:p>
        </p:txBody>
      </p:sp>
      <p:sp>
        <p:nvSpPr>
          <p:cNvPr id="19" name="TextBox 18"/>
          <p:cNvSpPr txBox="1"/>
          <p:nvPr/>
        </p:nvSpPr>
        <p:spPr>
          <a:xfrm>
            <a:off x="433212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REJECTS REPORTED</a:t>
            </a:r>
          </a:p>
        </p:txBody>
      </p:sp>
      <p:sp>
        <p:nvSpPr>
          <p:cNvPr id="20" name="TextBox 19"/>
          <p:cNvSpPr txBox="1"/>
          <p:nvPr/>
        </p:nvSpPr>
        <p:spPr>
          <a:xfrm>
            <a:off x="433212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the try swallowed every failure</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Rs 50,63,000</a:t>
            </a:r>
          </a:p>
        </p:txBody>
      </p:sp>
      <p:sp>
        <p:nvSpPr>
          <p:cNvPr id="23" name="TextBox 22"/>
          <p:cNvSpPr txBox="1"/>
          <p:nvPr/>
        </p:nvSpPr>
        <p:spPr>
          <a:xfrm>
            <a:off x="813389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AS SUMMED</a:t>
            </a:r>
          </a:p>
        </p:txBody>
      </p:sp>
      <p:sp>
        <p:nvSpPr>
          <p:cNvPr id="24" name="TextBox 23"/>
          <p:cNvSpPr txBox="1"/>
          <p:nvPr/>
        </p:nvSpPr>
        <p:spPr>
          <a:xfrm>
            <a:off x="813389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base of every rate</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8" name="Oval 27"/>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30" name="Oval 29"/>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the rows reconcile, so what is left?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Input equals kept plus rejected, and the order counts match Finance's.</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nothing, since every row is accounted for; b) the rupees, each quarter against its control total; c) the median, since one large order may have gone; d) the dates, since the quarter may be cut wrong.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4" name="Oval 13"/>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6" name="Oval 1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rupees, and Q1 is Rs 9,85,000 short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Counts reconcile while rupees do not: the gap is the value the try swallowed.</a:t>
            </a:r>
          </a:p>
        </p:txBody>
      </p:sp>
      <p:pic>
        <p:nvPicPr>
          <p:cNvPr id="9" name="mermaid diagram" descr="5950a486d2ba6b34.png"/>
          <p:cNvPicPr>
            <a:picLocks noChangeAspect="1"/>
          </p:cNvPicPr>
          <p:nvPr/>
        </p:nvPicPr>
        <p:blipFill>
          <a:blip r:embed="rId5"/>
          <a:stretch>
            <a:fillRect/>
          </a:stretch>
        </p:blipFill>
        <p:spPr>
          <a:xfrm>
            <a:off x="1252385" y="1956816"/>
            <a:ext cx="9686925" cy="2471737"/>
          </a:xfrm>
          <a:prstGeom prst="rect">
            <a:avLst/>
          </a:prstGeom>
        </p:spPr>
      </p:pic>
      <p:sp>
        <p:nvSpPr>
          <p:cNvPr id="10" name="TextBox 9"/>
          <p:cNvSpPr txBox="1"/>
          <p:nvPr/>
        </p:nvSpPr>
        <p:spPr>
          <a:xfrm>
            <a:off x="530352" y="457485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With the base short by 16.3 percent, the note reports a fall of 14.6 percent where the books show 28.5.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3" name="Oval 12"/>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5" name="Oval 14"/>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answers to a value that will not convert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value in 207, sized: what each option sends and what the checks then show.</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3808137"/>
                <a:gridCol w="914400"/>
                <a:gridCol w="1449934"/>
                <a:gridCol w="1702438"/>
                <a:gridCol w="1702438"/>
                <a:gridCol w="155364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Log lines</a:t>
                      </a:r>
                    </a:p>
                  </a:txBody>
                  <a:tcPr marL="101600" marR="101600" marT="38100" marB="38100" anchor="ctr">
                    <a:solidFill>
                      <a:srgbClr val="1A0F5C"/>
                    </a:solidFill>
                  </a:tcPr>
                </a:tc>
                <a:tc>
                  <a:txBody>
                    <a:bodyPr/>
                    <a:lstStyle/>
                    <a:p>
                      <a:r>
                        <a:rPr sz="1250" b="1" i="0">
                          <a:solidFill>
                            <a:srgbClr val="FFFFFF"/>
                          </a:solidFill>
                          <a:latin typeface="Calibri"/>
                        </a:rPr>
                        <a:t>Count check</a:t>
                      </a:r>
                    </a:p>
                  </a:txBody>
                  <a:tcPr marL="101600" marR="101600" marT="38100" marB="38100" anchor="ctr">
                    <a:solidFill>
                      <a:srgbClr val="1A0F5C"/>
                    </a:solidFill>
                  </a:tcPr>
                </a:tc>
                <a:tc>
                  <a:txBody>
                    <a:bodyPr/>
                    <a:lstStyle/>
                    <a:p>
                      <a:r>
                        <a:rPr sz="1250" b="1" i="0">
                          <a:solidFill>
                            <a:srgbClr val="FFFFFF"/>
                          </a:solidFill>
                          <a:latin typeface="Calibri"/>
                        </a:rPr>
                        <a:t>Rupee check</a:t>
                      </a:r>
                    </a:p>
                  </a:txBody>
                  <a:tcPr marL="101600" marR="101600" marT="38100" marB="38100" anchor="ctr">
                    <a:solidFill>
                      <a:srgbClr val="1A0F5C"/>
                    </a:solidFill>
                  </a:tcPr>
                </a:tc>
                <a:tc>
                  <a:txBody>
                    <a:bodyPr/>
                    <a:lstStyle/>
                    <a:p>
                      <a:r>
                        <a:rPr sz="1250" b="1" i="0">
                          <a:solidFill>
                            <a:srgbClr val="FFFFFF"/>
                          </a:solidFill>
                          <a:latin typeface="Calibri"/>
                        </a:rPr>
                        <a:t>Headline</a:t>
                      </a:r>
                    </a:p>
                  </a:txBody>
                  <a:tcPr marL="101600" marR="101600" marT="38100" marB="38100" anchor="ctr">
                    <a:solidFill>
                      <a:srgbClr val="1A0F5C"/>
                    </a:solidFill>
                  </a:tcPr>
                </a:tc>
              </a:tr>
              <a:tr h="335280">
                <a:tc>
                  <a:txBody>
                    <a:bodyPr/>
                    <a:lstStyle/>
                    <a:p>
                      <a:r>
                        <a:rPr sz="1200" b="0" i="0">
                          <a:solidFill>
                            <a:srgbClr val="1A1440"/>
                          </a:solidFill>
                          <a:latin typeface="Calibri"/>
                        </a:rPr>
                        <a:t>A. Zero in a try</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fails</a:t>
                      </a:r>
                    </a:p>
                  </a:txBody>
                  <a:tcPr marL="101600" marR="101600" marT="38100" marB="38100" anchor="ctr">
                    <a:solidFill>
                      <a:srgbClr val="FFFFFF"/>
                    </a:solidFill>
                  </a:tcPr>
                </a:tc>
                <a:tc>
                  <a:txBody>
                    <a:bodyPr/>
                    <a:lstStyle/>
                    <a:p>
                      <a:r>
                        <a:rPr sz="1200" b="0" i="0">
                          <a:solidFill>
                            <a:srgbClr val="1A1440"/>
                          </a:solidFill>
                          <a:latin typeface="Calibri"/>
                        </a:rPr>
                        <a:t>-14.6%</a:t>
                      </a:r>
                    </a:p>
                  </a:txBody>
                  <a:tcPr marL="101600" marR="101600" marT="38100" marB="38100" anchor="ctr">
                    <a:solidFill>
                      <a:srgbClr val="FFFFFF"/>
                    </a:solidFill>
                  </a:tcPr>
                </a:tc>
              </a:tr>
              <a:tr h="335280">
                <a:tc>
                  <a:txBody>
                    <a:bodyPr/>
                    <a:lstStyle/>
                    <a:p>
                      <a:r>
                        <a:rPr sz="1200" b="0" i="0">
                          <a:solidFill>
                            <a:srgbClr val="1A1440"/>
                          </a:solidFill>
                          <a:latin typeface="Calibri"/>
                        </a:rPr>
                        <a:t>B. Drop with a reason</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-14.6%</a:t>
                      </a:r>
                    </a:p>
                  </a:txBody>
                  <a:tcPr marL="101600" marR="101600" marT="38100" marB="38100" anchor="ctr">
                    <a:solidFill>
                      <a:srgbClr val="F4F2FA"/>
                    </a:solidFill>
                  </a:tcPr>
                </a:tc>
              </a:tr>
              <a:tr h="335280">
                <a:tc>
                  <a:txBody>
                    <a:bodyPr/>
                    <a:lstStyle/>
                    <a:p>
                      <a:r>
                        <a:rPr sz="1200" b="0" i="0">
                          <a:solidFill>
                            <a:srgbClr val="1A1440"/>
                          </a:solidFill>
                          <a:latin typeface="Calibri"/>
                        </a:rPr>
                        <a:t>C. Read, convert, keep and flag</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-28.5%</a:t>
                      </a:r>
                    </a:p>
                  </a:txBody>
                  <a:tcPr marL="101600" marR="101600" marT="38100" marB="38100" anchor="ctr">
                    <a:solidFill>
                      <a:srgbClr val="FFFFFF"/>
                    </a:solidFill>
                  </a:tcPr>
                </a:tc>
              </a:tr>
              <a:tr h="335280">
                <a:tc>
                  <a:txBody>
                    <a:bodyPr/>
                    <a:lstStyle/>
                    <a:p>
                      <a:r>
                        <a:rPr sz="1200" b="0" i="0">
                          <a:solidFill>
                            <a:srgbClr val="1A1440"/>
                          </a:solidFill>
                          <a:latin typeface="Calibri"/>
                        </a:rPr>
                        <a:t>D. Hold and ask the owner</a:t>
                      </a:r>
                    </a:p>
                  </a:txBody>
                  <a:tcPr marL="101600" marR="101600" marT="38100" marB="38100" anchor="ctr">
                    <a:solidFill>
                      <a:srgbClr val="F4F2FA"/>
                    </a:solidFill>
                  </a:tcPr>
                </a:tc>
                <a:tc>
                  <a:txBody>
                    <a:bodyPr/>
                    <a:lstStyle/>
                    <a:p>
                      <a:r>
                        <a:rPr sz="1200" b="0" i="0">
                          <a:solidFill>
                            <a:srgbClr val="1A1440"/>
                          </a:solidFill>
                          <a:latin typeface="Calibri"/>
                        </a:rPr>
                        <a:t>a wait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provisional</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510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46074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941832"/>
          </a:xfrm>
          <a:prstGeom prst="rect">
            <a:avLst/>
          </a:prstGeom>
          <a:noFill/>
        </p:spPr>
        <p:txBody>
          <a:bodyPr wrap="square" anchor="t" lIns="0" rIns="0" tIns="0" bIns="0">
            <a:spAutoFit/>
          </a:bodyPr>
          <a:lstStyle/>
          <a:p>
            <a:r>
              <a:rPr sz="1500" b="0" i="0">
                <a:solidFill>
                  <a:srgbClr val="1A1440"/>
                </a:solidFill>
                <a:latin typeface="Calibri"/>
              </a:rPr>
              <a:t>C, when the value can be read without guessing, as digits with an Indian ledger's grouping commas can. D when it cannot: a word, a unit that could be lakh or crore. B when the row is not an order. A never, because it is the one that hides.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honest answers, and zero is none of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branch leaves a log line and a number in the reconciliation.</a:t>
            </a:r>
          </a:p>
        </p:txBody>
      </p:sp>
      <p:pic>
        <p:nvPicPr>
          <p:cNvPr id="9" name="mermaid diagram" descr="ac288d601636c669.png"/>
          <p:cNvPicPr>
            <a:picLocks noChangeAspect="1"/>
          </p:cNvPicPr>
          <p:nvPr/>
        </p:nvPicPr>
        <p:blipFill>
          <a:blip r:embed="rId6"/>
          <a:stretch>
            <a:fillRect/>
          </a:stretch>
        </p:blipFill>
        <p:spPr>
          <a:xfrm>
            <a:off x="3427669" y="1664208"/>
            <a:ext cx="5336355"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A count check proves the rows are there. Only a rupee check proves the values survived. Zero is a claim that the order was worth nothing, so never let a try make it for you.</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same shape one step later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filter on the segment name never sees a row whose segment is empty.</a:t>
            </a:r>
          </a:p>
        </p:txBody>
      </p:sp>
      <p:pic>
        <p:nvPicPr>
          <p:cNvPr id="10" name="mermaid diagram" descr="28fab4467ce65e82.png"/>
          <p:cNvPicPr>
            <a:picLocks noChangeAspect="1"/>
          </p:cNvPicPr>
          <p:nvPr/>
        </p:nvPicPr>
        <p:blipFill>
          <a:blip r:embed="rId6"/>
          <a:stretch>
            <a:fillRect/>
          </a:stretch>
        </p:blipFill>
        <p:spPr>
          <a:xfrm>
            <a:off x="3345503" y="1956816"/>
            <a:ext cx="5500687" cy="2043112"/>
          </a:xfrm>
          <a:prstGeom prst="rect">
            <a:avLst/>
          </a:prstGeom>
        </p:spPr>
      </p:pic>
      <p:sp>
        <p:nvSpPr>
          <p:cNvPr id="11" name="Rounded Rectangle 10"/>
          <p:cNvSpPr/>
          <p:nvPr/>
        </p:nvSpPr>
        <p:spPr>
          <a:xfrm>
            <a:off x="530352" y="41462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4784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list-checks_bd88901d2a37.png"/>
          <p:cNvPicPr>
            <a:picLocks noChangeAspect="1"/>
          </p:cNvPicPr>
          <p:nvPr/>
        </p:nvPicPr>
        <p:blipFill>
          <a:blip r:embed="rId5"/>
          <a:stretch>
            <a:fillRect/>
          </a:stretch>
        </p:blipFill>
        <p:spPr>
          <a:xfrm>
            <a:off x="868680" y="4588192"/>
            <a:ext cx="237744" cy="237744"/>
          </a:xfrm>
          <a:prstGeom prst="rect">
            <a:avLst/>
          </a:prstGeom>
        </p:spPr>
      </p:pic>
      <p:sp>
        <p:nvSpPr>
          <p:cNvPr id="14" name="TextBox 13"/>
          <p:cNvSpPr txBox="1"/>
          <p:nvPr/>
        </p:nvSpPr>
        <p:spPr>
          <a:xfrm>
            <a:off x="1399031" y="42925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5" name="TextBox 14"/>
          <p:cNvSpPr txBox="1"/>
          <p:nvPr/>
        </p:nvSpPr>
        <p:spPr>
          <a:xfrm>
            <a:off x="1399031" y="4511992"/>
            <a:ext cx="9987991" cy="682752"/>
          </a:xfrm>
          <a:prstGeom prst="rect">
            <a:avLst/>
          </a:prstGeom>
          <a:noFill/>
        </p:spPr>
        <p:txBody>
          <a:bodyPr wrap="square" anchor="t" lIns="0" rIns="0" tIns="0" bIns="0">
            <a:spAutoFit/>
          </a:bodyPr>
          <a:lstStyle/>
          <a:p>
            <a:r>
              <a:rPr sz="1500" b="0" i="0">
                <a:solidFill>
                  <a:srgbClr val="1A1440"/>
                </a:solidFill>
                <a:latin typeface="Calibri"/>
              </a:rPr>
              <a:t>The segments add back to the quarter, in orders and in rupees, before any segment is read. Here they fall one order short, and a tier that grew reads as a second falling segment.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8" name="Oval 17"/>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20" name="Oval 19"/>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D19  ·  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account for every value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rupee check finds the gap from outside the file; this finds it from inside.</a:t>
            </a:r>
          </a:p>
        </p:txBody>
      </p:sp>
      <p:pic>
        <p:nvPicPr>
          <p:cNvPr id="9" name="mermaid diagram" descr="349878b4ade5e666.png"/>
          <p:cNvPicPr>
            <a:picLocks noChangeAspect="1"/>
          </p:cNvPicPr>
          <p:nvPr/>
        </p:nvPicPr>
        <p:blipFill>
          <a:blip r:embed="rId6"/>
          <a:stretch>
            <a:fillRect/>
          </a:stretch>
        </p:blipFill>
        <p:spPr>
          <a:xfrm>
            <a:off x="1909610" y="1956816"/>
            <a:ext cx="8372475" cy="2300287"/>
          </a:xfrm>
          <a:prstGeom prst="rect">
            <a:avLst/>
          </a:prstGeom>
        </p:spPr>
      </p:pic>
      <p:sp>
        <p:nvSpPr>
          <p:cNvPr id="10" name="Rounded Rectangle 9"/>
          <p:cNvSpPr/>
          <p:nvPr/>
        </p:nvSpPr>
        <p:spPr>
          <a:xfrm>
            <a:off x="530352" y="4403407"/>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6517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5"/>
          <a:stretch>
            <a:fillRect/>
          </a:stretch>
        </p:blipFill>
        <p:spPr>
          <a:xfrm>
            <a:off x="868680" y="4974907"/>
            <a:ext cx="237744" cy="237744"/>
          </a:xfrm>
          <a:prstGeom prst="rect">
            <a:avLst/>
          </a:prstGeom>
        </p:spPr>
      </p:pic>
      <p:sp>
        <p:nvSpPr>
          <p:cNvPr id="13" name="TextBox 12"/>
          <p:cNvSpPr txBox="1"/>
          <p:nvPr/>
        </p:nvSpPr>
        <p:spPr>
          <a:xfrm>
            <a:off x="1399031" y="454971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1399031" y="4769167"/>
            <a:ext cx="9987991" cy="941832"/>
          </a:xfrm>
          <a:prstGeom prst="rect">
            <a:avLst/>
          </a:prstGeom>
          <a:noFill/>
        </p:spPr>
        <p:txBody>
          <a:bodyPr wrap="square" anchor="t" lIns="0" rIns="0" tIns="0" bIns="0">
            <a:spAutoFit/>
          </a:bodyPr>
          <a:lstStyle/>
          <a:p>
            <a:r>
              <a:rPr sz="1500" b="0" i="0">
                <a:solidFill>
                  <a:srgbClr val="1A1440"/>
                </a:solidFill>
                <a:latin typeface="Calibri"/>
              </a:rPr>
              <a:t>[S] Walk me through how you clean and check a dataset you have never seen. A zero-reject pass is a finding: check ids against rows, check what the code did with a value it could not read, and reconcile the rupees.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headline on too few orders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rate on a handful of orders is a rumour with a percent sign.</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reconciliation, skipped</a:t>
            </a:r>
          </a:p>
        </p:txBody>
      </p:sp>
      <p:sp>
        <p:nvSpPr>
          <p:cNvPr id="11" name="Rounded Rectangle 10"/>
          <p:cNvSpPr/>
          <p:nvPr/>
        </p:nvSpPr>
        <p:spPr>
          <a:xfrm>
            <a:off x="280583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pass that looks clean</a:t>
            </a:r>
          </a:p>
        </p:txBody>
      </p:sp>
      <p:sp>
        <p:nvSpPr>
          <p:cNvPr id="12" name="Rounded Rectangle 11"/>
          <p:cNvSpPr/>
          <p:nvPr/>
        </p:nvSpPr>
        <p:spPr>
          <a:xfrm>
            <a:off x="4761726" y="5074920"/>
            <a:ext cx="214223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headline on too few orders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Choosing which right number leads the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data now ties to the books; the question is which finding Meera reads first.</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17,22,520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 reconciled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99.3%</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CARRIED BY ONE SEGMENT</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corporate book</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one line</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MEERA ACTS ON</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note's first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branch do I open first, and can I act on it on Monday?</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8" name="Oval 27"/>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0" name="Oval 29"/>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Two places that count before they rank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ratings site that will not rank a title on a few votes, and a foundation that did.</a:t>
            </a:r>
          </a:p>
        </p:txBody>
      </p:sp>
      <p:sp>
        <p:nvSpPr>
          <p:cNvPr id="10" name="Rounded Rectangle 9"/>
          <p:cNvSpPr/>
          <p:nvPr/>
        </p:nvSpPr>
        <p:spPr>
          <a:xfrm>
            <a:off x="530352" y="1956816"/>
            <a:ext cx="5474055"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tar_d3c4d302b18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IMDB TOP 250</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25,000 ratings first</a:t>
            </a:r>
          </a:p>
        </p:txBody>
      </p:sp>
      <p:sp>
        <p:nvSpPr>
          <p:cNvPr id="15" name="TextBox 14"/>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CFC9EE"/>
                </a:solidFill>
                <a:latin typeface="Calibri"/>
              </a:rPr>
              <a:t>A title needs at least 25,000 ratings from regular voters, and the weighted rating pulls a title with few votes toward the average of all titles. Source: IMDb Help, ratings FAQ, updated 9 February 2026.</a:t>
            </a:r>
          </a:p>
        </p:txBody>
      </p:sp>
      <p:sp>
        <p:nvSpPr>
          <p:cNvPr id="16" name="Rounded Rectangle 15"/>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chool_d5d8d79ecd6b.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SMALL SCHOOLS, A PUBLIC CASE</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Best and worst, both small</a:t>
            </a:r>
          </a:p>
        </p:txBody>
      </p:sp>
      <p:sp>
        <p:nvSpPr>
          <p:cNvPr id="21" name="TextBox 20"/>
          <p:cNvSpPr txBox="1"/>
          <p:nvPr/>
        </p:nvSpPr>
        <p:spPr>
          <a:xfrm>
            <a:off x="6388455" y="3303524"/>
            <a:ext cx="5071719" cy="763016"/>
          </a:xfrm>
          <a:prstGeom prst="rect">
            <a:avLst/>
          </a:prstGeom>
          <a:noFill/>
        </p:spPr>
        <p:txBody>
          <a:bodyPr wrap="square" anchor="t" lIns="0" rIns="0" tIns="0" bIns="0">
            <a:spAutoFit/>
          </a:bodyPr>
          <a:lstStyle/>
          <a:p>
            <a:pPr algn="l"/>
            <a:r>
              <a:rPr sz="1100" b="0" i="0">
                <a:solidFill>
                  <a:srgbClr val="6B6690"/>
                </a:solidFill>
                <a:latin typeface="Calibri"/>
              </a:rPr>
              <a:t>Small schools are over-represented at both ends of the rankings because small samples vary more. Source: Howard Wainer, "The Most Dangerous Equation", in Picturing the Uncertain World, Princeton University Press, 2009.</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6" name="Oval 25"/>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D22  ·  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corporate book fell 29.2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True to the rupee, the biggest number on the page, and the headline many notes led with.</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-29.2%</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BUSINESS REVENUE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6 then 4</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rate rests on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17,10,000</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 IT CARRIES</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99.3% of the quarter's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3" name="Oval 2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5" name="Oval 24"/>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does it enter the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reads the first line and acts on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as the headline trend, since it is the largest move in rupees; b) as the headline, with a p-value beside it; c) left out, since ten orders are too few to matter; d) as counts, two fewer corporate orders, with the account owner asked which two, and the lead given to the branch that moved on enough orders.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4" name="Oval 1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6" name="Oval 15"/>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count before rate, then choose the lead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Ten orders split by coin flips come out at least as uneven as six and four in 75 percent of worlds.</a:t>
            </a:r>
          </a:p>
        </p:txBody>
      </p:sp>
      <p:pic>
        <p:nvPicPr>
          <p:cNvPr id="9" name="mermaid diagram" descr="d8ada4ab7ae2a132.png"/>
          <p:cNvPicPr>
            <a:picLocks noChangeAspect="1"/>
          </p:cNvPicPr>
          <p:nvPr/>
        </p:nvPicPr>
        <p:blipFill>
          <a:blip r:embed="rId6"/>
          <a:stretch>
            <a:fillRect/>
          </a:stretch>
        </p:blipFill>
        <p:spPr>
          <a:xfrm>
            <a:off x="530352" y="1847727"/>
            <a:ext cx="4786326" cy="4186672"/>
          </a:xfrm>
          <a:prstGeom prst="rect">
            <a:avLst/>
          </a:prstGeom>
        </p:spPr>
      </p:pic>
      <p:sp>
        <p:nvSpPr>
          <p:cNvPr id="10" name="Rounded Rectangle 9"/>
          <p:cNvSpPr/>
          <p:nvPr/>
        </p:nvSpPr>
        <p:spPr>
          <a:xfrm>
            <a:off x="5761917" y="195681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1A1440"/>
                </a:solidFill>
                <a:latin typeface="Calibri"/>
              </a:rPr>
              <a:t>Say the count before the rate, every time. "Six orders, then four" is honest; "down 29 percent" alone is a headline.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choose the lead, sized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each option leads with, on how many orders, and how often chance alone produces it.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3144807"/>
                <a:gridCol w="3673733"/>
                <a:gridCol w="914400"/>
                <a:gridCol w="2483650"/>
                <a:gridCol w="91440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Leads with</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Chance alone</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r>
              <a:tr h="335280">
                <a:tc>
                  <a:txBody>
                    <a:bodyPr/>
                    <a:lstStyle/>
                    <a:p>
                      <a:r>
                        <a:rPr sz="1200" b="0" i="0">
                          <a:solidFill>
                            <a:srgbClr val="1A1440"/>
                          </a:solidFill>
                          <a:latin typeface="Calibri"/>
                        </a:rPr>
                        <a:t>A. Biggest rupee move</a:t>
                      </a:r>
                    </a:p>
                  </a:txBody>
                  <a:tcPr marL="101600" marR="101600" marT="38100" marB="38100" anchor="ctr">
                    <a:solidFill>
                      <a:srgbClr val="FFFFFF"/>
                    </a:solidFill>
                  </a:tcPr>
                </a:tc>
                <a:tc>
                  <a:txBody>
                    <a:bodyPr/>
                    <a:lstStyle/>
                    <a:p>
                      <a:r>
                        <a:rPr sz="1200" b="0" i="0">
                          <a:solidFill>
                            <a:srgbClr val="1A1440"/>
                          </a:solidFill>
                          <a:latin typeface="Calibri"/>
                        </a:rPr>
                        <a:t>Business -29.2%</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0.75, coin flips</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r>
              <a:tr h="335280">
                <a:tc>
                  <a:txBody>
                    <a:bodyPr/>
                    <a:lstStyle/>
                    <a:p>
                      <a:r>
                        <a:rPr sz="1200" b="0" i="0">
                          <a:solidFill>
                            <a:srgbClr val="1A1440"/>
                          </a:solidFill>
                          <a:latin typeface="Calibri"/>
                        </a:rPr>
                        <a:t>B. The total, unsplit</a:t>
                      </a:r>
                    </a:p>
                  </a:txBody>
                  <a:tcPr marL="101600" marR="101600" marT="38100" marB="38100" anchor="ctr">
                    <a:solidFill>
                      <a:srgbClr val="F4F2FA"/>
                    </a:solidFill>
                  </a:tcPr>
                </a:tc>
                <a:tc>
                  <a:txBody>
                    <a:bodyPr/>
                    <a:lstStyle/>
                    <a:p>
                      <a:r>
                        <a:rPr sz="1200" b="0" i="0">
                          <a:solidFill>
                            <a:srgbClr val="1A1440"/>
                          </a:solidFill>
                          <a:latin typeface="Calibri"/>
                        </a:rPr>
                        <a:t>revenue -28.5%</a:t>
                      </a:r>
                    </a:p>
                  </a:txBody>
                  <a:tcPr marL="101600" marR="101600" marT="38100" marB="38100" anchor="ctr">
                    <a:solidFill>
                      <a:srgbClr val="F4F2FA"/>
                    </a:solidFill>
                  </a:tcPr>
                </a:tc>
                <a:tc>
                  <a:txBody>
                    <a:bodyPr/>
                    <a:lstStyle/>
                    <a:p>
                      <a:r>
                        <a:rPr sz="1200" b="0" i="0">
                          <a:solidFill>
                            <a:srgbClr val="1A1440"/>
                          </a:solidFill>
                          <a:latin typeface="Calibri"/>
                        </a:rPr>
                        <a:t>197</a:t>
                      </a:r>
                    </a:p>
                  </a:txBody>
                  <a:tcPr marL="101600" marR="101600" marT="38100" marB="38100" anchor="ctr">
                    <a:solidFill>
                      <a:srgbClr val="F4F2FA"/>
                    </a:solidFill>
                  </a:tcPr>
                </a:tc>
                <a:tc>
                  <a:txBody>
                    <a:bodyPr/>
                    <a:lstStyle/>
                    <a:p>
                      <a:r>
                        <a:rPr sz="1200" b="0" i="0">
                          <a:solidFill>
                            <a:srgbClr val="1A1440"/>
                          </a:solidFill>
                          <a:latin typeface="Calibri"/>
                        </a:rPr>
                        <a:t>not asked</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r>
              <a:tr h="335280">
                <a:tc>
                  <a:txBody>
                    <a:bodyPr/>
                    <a:lstStyle/>
                    <a:p>
                      <a:r>
                        <a:rPr sz="1200" b="0" i="0">
                          <a:solidFill>
                            <a:srgbClr val="1A1440"/>
                          </a:solidFill>
                          <a:latin typeface="Calibri"/>
                        </a:rPr>
                        <a:t>C. Count before rate</a:t>
                      </a:r>
                    </a:p>
                  </a:txBody>
                  <a:tcPr marL="101600" marR="101600" marT="38100" marB="38100" anchor="ctr">
                    <a:solidFill>
                      <a:srgbClr val="FFFFFF"/>
                    </a:solidFill>
                  </a:tcPr>
                </a:tc>
                <a:tc>
                  <a:txBody>
                    <a:bodyPr/>
                    <a:lstStyle/>
                    <a:p>
                      <a:r>
                        <a:rPr sz="1200" b="0" i="0">
                          <a:solidFill>
                            <a:srgbClr val="1A1440"/>
                          </a:solidFill>
                          <a:latin typeface="Calibri"/>
                        </a:rPr>
                        <a:t>Retail-Core basket -17.1%</a:t>
                      </a:r>
                    </a:p>
                  </a:txBody>
                  <a:tcPr marL="101600" marR="101600" marT="38100" marB="38100" anchor="ctr">
                    <a:solidFill>
                      <a:srgbClr val="FFFFFF"/>
                    </a:solidFill>
                  </a:tcPr>
                </a:tc>
                <a:tc>
                  <a:txBody>
                    <a:bodyPr/>
                    <a:lstStyle/>
                    <a:p>
                      <a:r>
                        <a:rPr sz="1200" b="0" i="0">
                          <a:solidFill>
                            <a:srgbClr val="1A1440"/>
                          </a:solidFill>
                          <a:latin typeface="Calibri"/>
                        </a:rPr>
                        <a:t>88</a:t>
                      </a:r>
                    </a:p>
                  </a:txBody>
                  <a:tcPr marL="101600" marR="101600" marT="38100" marB="38100" anchor="ctr">
                    <a:solidFill>
                      <a:srgbClr val="FFFFFF"/>
                    </a:solidFill>
                  </a:tcPr>
                </a:tc>
                <a:tc>
                  <a:txBody>
                    <a:bodyPr/>
                    <a:lstStyle/>
                    <a:p>
                      <a:r>
                        <a:rPr sz="1200" b="0" i="0">
                          <a:solidFill>
                            <a:srgbClr val="1A1440"/>
                          </a:solidFill>
                          <a:latin typeface="Calibri"/>
                        </a:rPr>
                        <a:t>0.0195, shuffle</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r>
              <a:tr h="335280">
                <a:tc>
                  <a:txBody>
                    <a:bodyPr/>
                    <a:lstStyle/>
                    <a:p>
                      <a:r>
                        <a:rPr sz="1200" b="0" i="0">
                          <a:solidFill>
                            <a:srgbClr val="1A1440"/>
                          </a:solidFill>
                          <a:latin typeface="Calibri"/>
                        </a:rPr>
                        <a:t>D. Test every segment</a:t>
                      </a:r>
                    </a:p>
                  </a:txBody>
                  <a:tcPr marL="101600" marR="101600" marT="38100" marB="38100" anchor="ctr">
                    <a:solidFill>
                      <a:srgbClr val="F4F2FA"/>
                    </a:solidFill>
                  </a:tcPr>
                </a:tc>
                <a:tc>
                  <a:txBody>
                    <a:bodyPr/>
                    <a:lstStyle/>
                    <a:p>
                      <a:r>
                        <a:rPr sz="1200" b="0" i="0">
                          <a:solidFill>
                            <a:srgbClr val="1A1440"/>
                          </a:solidFill>
                          <a:latin typeface="Calibri"/>
                        </a:rPr>
                        <a:t>the smallest p</a:t>
                      </a:r>
                    </a:p>
                  </a:txBody>
                  <a:tcPr marL="101600" marR="101600" marT="38100" marB="38100" anchor="ctr">
                    <a:solidFill>
                      <a:srgbClr val="F4F2FA"/>
                    </a:solidFill>
                  </a:tcPr>
                </a:tc>
                <a:tc>
                  <a:txBody>
                    <a:bodyPr/>
                    <a:lstStyle/>
                    <a:p>
                      <a:r>
                        <a:rPr sz="1200" b="0" i="0">
                          <a:solidFill>
                            <a:srgbClr val="1A1440"/>
                          </a:solidFill>
                          <a:latin typeface="Calibri"/>
                        </a:rPr>
                        <a:t>10 to 88</a:t>
                      </a:r>
                    </a:p>
                  </a:txBody>
                  <a:tcPr marL="101600" marR="101600" marT="38100" marB="38100" anchor="ctr">
                    <a:solidFill>
                      <a:srgbClr val="F4F2FA"/>
                    </a:solidFill>
                  </a:tcPr>
                </a:tc>
                <a:tc>
                  <a:txBody>
                    <a:bodyPr/>
                    <a:lstStyle/>
                    <a:p>
                      <a:r>
                        <a:rPr sz="1200" b="0" i="0">
                          <a:solidFill>
                            <a:srgbClr val="1A1440"/>
                          </a:solidFill>
                          <a:latin typeface="Calibri"/>
                        </a:rPr>
                        <a:t>0.19 false alarm</a:t>
                      </a:r>
                    </a:p>
                  </a:txBody>
                  <a:tcPr marL="101600" marR="101600" marT="38100" marB="38100" anchor="ctr">
                    <a:solidFill>
                      <a:srgbClr val="F4F2FA"/>
                    </a:solidFill>
                  </a:tcPr>
                </a:tc>
                <a:tc>
                  <a:txBody>
                    <a:bodyPr/>
                    <a:lstStyle/>
                    <a:p>
                      <a:r>
                        <a:rPr sz="1200" b="0" i="0">
                          <a:solidFill>
                            <a:srgbClr val="1A1440"/>
                          </a:solidFill>
                          <a:latin typeface="Calibri"/>
                        </a:rPr>
                        <a:t>45</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C. Switch when Meera's question is about accounts rather than rates, when a segment carries hundreds of orders a quarter, or when a second quarter repeats the move.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branch that moved, tested on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label is shuffled across customers, because a customer's orders belong together.</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-15.6 pts</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BASKET GAP</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Retail-Core against Retail-Plus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39 of 2,000</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SHUFFLES AS LARGE</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random.Random(7)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p = 0.0195</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SHARE OF</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chance-only worlds, never the chance of being wrong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ic_caee7398c80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[S] Tell me about an analysis you did: what did you find, and how sure are you? The claim with its count, the check that it ties to the books, the test on the right unit, and the caveat.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8" name="Oval 27"/>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0" name="Oval 29"/>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customer by customer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Retail-Core's 30 customers who ordered in both quarters, how many saw their own basket fall?</a:t>
            </a:r>
          </a:p>
        </p:txBody>
      </p:sp>
      <p:pic>
        <p:nvPicPr>
          <p:cNvPr id="9" name="mermaid diagram" descr="59eec21f7ba113f8.png"/>
          <p:cNvPicPr>
            <a:picLocks noChangeAspect="1"/>
          </p:cNvPicPr>
          <p:nvPr/>
        </p:nvPicPr>
        <p:blipFill>
          <a:blip r:embed="rId6"/>
          <a:stretch>
            <a:fillRect/>
          </a:stretch>
        </p:blipFill>
        <p:spPr>
          <a:xfrm>
            <a:off x="1873891" y="1956816"/>
            <a:ext cx="8443912" cy="2043112"/>
          </a:xfrm>
          <a:prstGeom prst="rect">
            <a:avLst/>
          </a:prstGeom>
        </p:spPr>
      </p:pic>
      <p:sp>
        <p:nvSpPr>
          <p:cNvPr id="10" name="Rounded Rectangle 9"/>
          <p:cNvSpPr/>
          <p:nvPr/>
        </p:nvSpPr>
        <p:spPr>
          <a:xfrm>
            <a:off x="530352" y="41462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784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588192"/>
            <a:ext cx="237744" cy="237744"/>
          </a:xfrm>
          <a:prstGeom prst="rect">
            <a:avLst/>
          </a:prstGeom>
        </p:spPr>
      </p:pic>
      <p:sp>
        <p:nvSpPr>
          <p:cNvPr id="13" name="TextBox 12"/>
          <p:cNvSpPr txBox="1"/>
          <p:nvPr/>
        </p:nvSpPr>
        <p:spPr>
          <a:xfrm>
            <a:off x="1399031" y="42925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511992"/>
            <a:ext cx="9987991" cy="682752"/>
          </a:xfrm>
          <a:prstGeom prst="rect">
            <a:avLst/>
          </a:prstGeom>
          <a:noFill/>
        </p:spPr>
        <p:txBody>
          <a:bodyPr wrap="square" anchor="t" lIns="0" rIns="0" tIns="0" bIns="0">
            <a:spAutoFit/>
          </a:bodyPr>
          <a:lstStyle/>
          <a:p>
            <a:r>
              <a:rPr sz="1500" b="0" i="0">
                <a:solidFill>
                  <a:srgbClr val="1A1440"/>
                </a:solidFill>
                <a:latin typeface="Calibri"/>
              </a:rPr>
              <a:t>The shuffle says whether the gap is bigger than chance; the customer count says whether it is broad. When they disagree, a handful of customers moved the average, and the note says so.</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Reserve: shuffle what carries the label</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gap, tested two ways, and two verdicts.</a:t>
            </a:r>
          </a:p>
        </p:txBody>
      </p:sp>
      <p:sp>
        <p:nvSpPr>
          <p:cNvPr id="10" name="Rounded Rectangle 9"/>
          <p:cNvSpPr/>
          <p:nvPr/>
        </p:nvSpPr>
        <p:spPr>
          <a:xfrm>
            <a:off x="530352" y="1956816"/>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users_113eb2dd326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SHUFFLE CUSTOMERS</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p = 0.0195</a:t>
            </a:r>
          </a:p>
        </p:txBody>
      </p:sp>
      <p:sp>
        <p:nvSpPr>
          <p:cNvPr id="15" name="TextBox 14"/>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A customer's orders move together, so every world is one that could exist.</a:t>
            </a:r>
          </a:p>
        </p:txBody>
      </p:sp>
      <p:sp>
        <p:nvSpPr>
          <p:cNvPr id="16" name="Rounded Rectangle 15"/>
          <p:cNvSpPr/>
          <p:nvPr/>
        </p:nvSpPr>
        <p:spPr>
          <a:xfrm>
            <a:off x="6187287" y="1956816"/>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huffle_1f5f2f56d507.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SHUFFLE ORDERS</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p = 0.0755</a:t>
            </a:r>
          </a:p>
        </p:txBody>
      </p:sp>
      <p:sp>
        <p:nvSpPr>
          <p:cNvPr id="21" name="TextBox 20"/>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A customer's orders split across groups, the chance spread widens, and a real gap reads as noise.</a:t>
            </a:r>
          </a:p>
        </p:txBody>
      </p:sp>
      <p:sp>
        <p:nvSpPr>
          <p:cNvPr id="22" name="Rounded Rectangle 21"/>
          <p:cNvSpPr/>
          <p:nvPr/>
        </p:nvSpPr>
        <p:spPr>
          <a:xfrm>
            <a:off x="530352" y="41041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list-checks_bd88901d2a37.png"/>
          <p:cNvPicPr>
            <a:picLocks noChangeAspect="1"/>
          </p:cNvPicPr>
          <p:nvPr/>
        </p:nvPicPr>
        <p:blipFill>
          <a:blip r:embed="rId6"/>
          <a:stretch>
            <a:fillRect/>
          </a:stretch>
        </p:blipFill>
        <p:spPr>
          <a:xfrm>
            <a:off x="868680" y="4416552"/>
            <a:ext cx="237744" cy="237744"/>
          </a:xfrm>
          <a:prstGeom prst="rect">
            <a:avLst/>
          </a:prstGeom>
        </p:spPr>
      </p:pic>
      <p:sp>
        <p:nvSpPr>
          <p:cNvPr id="25" name="TextBox 24"/>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6" name="TextBox 25"/>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1A1440"/>
                </a:solidFill>
                <a:latin typeface="Calibri"/>
              </a:rPr>
              <a:t>The unit you shuffle is the unit that carries the label. On Thursday and today, that is the customer.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9" name="Oval 28"/>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1" name="Oval 30"/>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D29  ·  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Reserve: the typical order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few corporate orders drag the mean far from any order a consumer placed.</a:t>
            </a:r>
          </a:p>
        </p:txBody>
      </p:sp>
      <p:sp>
        <p:nvSpPr>
          <p:cNvPr id="10" name="TextBox 9"/>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52,657</a:t>
            </a:r>
          </a:p>
        </p:txBody>
      </p:sp>
      <p:sp>
        <p:nvSpPr>
          <p:cNvPr id="11" name="TextBox 10"/>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MEAN ORDER, CLEAN</a:t>
            </a:r>
          </a:p>
        </p:txBody>
      </p:sp>
      <p:sp>
        <p:nvSpPr>
          <p:cNvPr id="12" name="TextBox 11"/>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pulled up by ten orders</a:t>
            </a:r>
          </a:p>
        </p:txBody>
      </p:sp>
      <p:sp>
        <p:nvSpPr>
          <p:cNvPr id="13" name="Rectangle 12"/>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2,120</a:t>
            </a:r>
          </a:p>
        </p:txBody>
      </p:sp>
      <p:sp>
        <p:nvSpPr>
          <p:cNvPr id="15" name="TextBox 14"/>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 ORDER, CLEAN</a:t>
            </a:r>
          </a:p>
        </p:txBody>
      </p:sp>
      <p:sp>
        <p:nvSpPr>
          <p:cNvPr id="16" name="TextBox 15"/>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typical one</a:t>
            </a:r>
          </a:p>
        </p:txBody>
      </p:sp>
      <p:sp>
        <p:nvSpPr>
          <p:cNvPr id="17" name="Rectangle 16"/>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 times</a:t>
            </a:r>
          </a:p>
        </p:txBody>
      </p:sp>
      <p:sp>
        <p:nvSpPr>
          <p:cNvPr id="19" name="TextBox 18"/>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a:t>
            </a:r>
          </a:p>
        </p:txBody>
      </p:sp>
      <p:sp>
        <p:nvSpPr>
          <p:cNvPr id="20" name="TextBox 19"/>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mean over median</a:t>
            </a:r>
          </a:p>
        </p:txBody>
      </p:sp>
      <p:sp>
        <p:nvSpPr>
          <p:cNvPr id="21" name="Rectangle 20"/>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5" name="TextBox 24"/>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6" name="TextBox 25"/>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Describe a file with its median and say what sits above it. The mean belongs in anything that has to reconcile, never in a sentence about a typical order.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9" name="Oval 28"/>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1" name="Oval 30"/>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D30  ·  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one line you write tonight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step where you stalled, rerun alone, and what you will do differently.</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TONIGHT</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Rerun the step</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On the practice export, the step the TA marked, with the practice set beside it.</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ONE LINE</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What changes</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Written under your lab note: the check you will put first next time.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SATURDAY</a:t>
            </a:r>
          </a:p>
        </p:txBody>
      </p:sp>
      <p:sp>
        <p:nvSpPr>
          <p:cNvPr id="21" name="Oval 20"/>
          <p:cNvSpPr/>
          <p:nvPr/>
        </p:nvSpPr>
        <p:spPr>
          <a:xfrm>
            <a:off x="9766554"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paper</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note's four parts and the p-value sentence, from memory.</a:t>
            </a:r>
          </a:p>
        </p:txBody>
      </p:sp>
      <p:sp>
        <p:nvSpPr>
          <p:cNvPr id="25" name="Rounded Rectangle 24"/>
          <p:cNvSpPr/>
          <p:nvPr/>
        </p:nvSpPr>
        <p:spPr>
          <a:xfrm>
            <a:off x="530352" y="41036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4435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search-check_6571e64a041f.png"/>
          <p:cNvPicPr>
            <a:picLocks noChangeAspect="1"/>
          </p:cNvPicPr>
          <p:nvPr/>
        </p:nvPicPr>
        <p:blipFill>
          <a:blip r:embed="rId4"/>
          <a:stretch>
            <a:fillRect/>
          </a:stretch>
        </p:blipFill>
        <p:spPr>
          <a:xfrm>
            <a:off x="868680" y="4545584"/>
            <a:ext cx="237744" cy="237744"/>
          </a:xfrm>
          <a:prstGeom prst="rect">
            <a:avLst/>
          </a:prstGeom>
        </p:spPr>
      </p:pic>
      <p:sp>
        <p:nvSpPr>
          <p:cNvPr id="28" name="TextBox 27"/>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9" name="TextBox 28"/>
          <p:cNvSpPr txBox="1"/>
          <p:nvPr/>
        </p:nvSpPr>
        <p:spPr>
          <a:xfrm>
            <a:off x="1399031" y="4469384"/>
            <a:ext cx="9987991" cy="682752"/>
          </a:xfrm>
          <a:prstGeom prst="rect">
            <a:avLst/>
          </a:prstGeom>
          <a:noFill/>
        </p:spPr>
        <p:txBody>
          <a:bodyPr wrap="square" anchor="t" lIns="0" rIns="0" tIns="0" bIns="0">
            <a:spAutoFit/>
          </a:bodyPr>
          <a:lstStyle/>
          <a:p>
            <a:r>
              <a:rPr sz="1500" b="0" i="0">
                <a:solidFill>
                  <a:srgbClr val="1A1440"/>
                </a:solidFill>
                <a:latin typeface="Calibri"/>
              </a:rPr>
              <a:t>The lab told you which step you do not own yet. One rerun tonight is worth more than rereading all four days.</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32" name="Oval 3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4" name="Oval 33"/>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