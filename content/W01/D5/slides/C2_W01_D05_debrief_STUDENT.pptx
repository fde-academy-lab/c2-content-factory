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Anand said this on Wednesday, and the lunch tally says how many notes this</a:t>
            </a:r>
          </a:p>
          <a:p>
            <a:r>
              <a:t>morning sent a number Finance would have returned. The debrief runs forty minutes as three chapters, one per place most</a:t>
            </a:r>
          </a:p>
          <a:p>
            <a:r>
              <a:t>rooms break: chapter 1 before lunch (20 minutes, this minute included), chapters 2 and 3 after it</a:t>
            </a:r>
          </a:p>
          <a:p>
            <a:r>
              <a:t>(10 minutes each). Each chapter pairs with a notebook of the same number in notebooks/, which opens</a:t>
            </a:r>
          </a:p>
          <a:p>
            <a:r>
              <a:t>now that the clock has stopped. Every number on these slides comes from an invented export,</a:t>
            </a:r>
          </a:p>
          <a:p>
            <a:r>
              <a:t>labelled invented. This morning's own numbers are in the day sheet's debrief table, to say aloud at each slide,</a:t>
            </a:r>
          </a:p>
          <a:p>
            <a:r>
              <a:t>and in the notebooks' empty your-turn cells, to type live on the projector.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three questions in order and say that each is the question the one before</a:t>
            </a:r>
          </a:p>
          <a:p>
            <a:r>
              <a:t>it leaves open. Say once that the slides run on an invented export so that they name nothing in</a:t>
            </a:r>
          </a:p>
          <a:p>
            <a:r>
              <a:t>this morning's file, and that the notebooks' your-turn cells are where this morning's numbers</a:t>
            </a:r>
          </a:p>
          <a:p>
            <a:r>
              <a:t>appear. Then chapter 1.</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 minutes, before lunch. Notebook 1, C2_W01_D05_01_debrief_quarters_STUDENT.ipynb, goes</a:t>
            </a:r>
          </a:p>
          <a:p>
            <a:r>
              <a:t>on the projector at S7 and stays there to S15, its your-turn cells typed live. Close with two</a:t>
            </a:r>
          </a:p>
          <a:p>
            <a:r>
              <a:t>learners reading their second-look line from the lab notebook.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Read who needs the answer, then the five questions. Ask the room to hold one</a:t>
            </a:r>
          </a:p>
          <a:p>
            <a:r>
              <a:t>number in mind: the headline their own note led with this morning.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Booked revenue is the rupees of the orders recorded as sales in a quarter, and a</a:t>
            </a:r>
          </a:p>
          <a:p>
            <a:r>
              <a:t>control total is the source system's own count of orders and sum of rupees for a period. Anand</a:t>
            </a:r>
          </a:p>
          <a:p>
            <a:r>
              <a:t>returns any figure that does not tie to his control total, and Meera acts on the first line of the</a:t>
            </a:r>
          </a:p>
          <a:p>
            <a:r>
              <a:t>note: a wrong first line sends Monday's review after the wrong question while Marketing's Rs 12</a:t>
            </a:r>
          </a:p>
          <a:p>
            <a:r>
              <a:t>crore request is judged against a quarter that did not happen. One sentence of likeness, even when</a:t>
            </a:r>
          </a:p>
          <a:p>
            <a:r>
              <a:t>D4 is left to self-study: Nykaa reports gross merchandise value and revenue from operations for the</a:t>
            </a:r>
          </a:p>
          <a:p>
            <a:r>
              <a:t>same quarter, so every figure there names its base and bridges to the books.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or one minute live if the room is ahead. What both show: an error that drops or doubles</a:t>
            </a:r>
          </a:p>
          <a:p>
            <a:r>
              <a:t>rows makes no sound, and only a comparison with a total from outside the file finds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numbers are the invented export's, so the mechanism shows without naming what</a:t>
            </a:r>
          </a:p>
          <a:p>
            <a:r>
              <a:t>this morning's file holds. Read the three numbers, then say this morning's hurried headline aloud</a:t>
            </a:r>
          </a:p>
          <a:p>
            <a:r>
              <a:t>from the day sheet's debrief table and ask how many sent a headline with a plus sign, without naming</a:t>
            </a:r>
          </a:p>
          <a:p>
            <a:r>
              <a:t>anyone; the TA tally already knows. Then the question.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Option a is Monday's instinct and a good one on another day; d is</a:t>
            </a:r>
          </a:p>
          <a:p>
            <a:r>
              <a:t>the decomposition, which is the right step on data you already trust.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Open notebook 1 on the projector and type its first your-turn cell: it prints this</a:t>
            </a:r>
          </a:p>
          <a:p>
            <a:r>
              <a:t>morning's version of this table and this morning's hurried headline beside the books. Point at the</a:t>
            </a:r>
          </a:p>
          <a:p>
            <a:r>
              <a:t>two kinds of miss: a quarter with the right count and the wrong rupees is chapter 2's question.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and a half minutes. Invented numbers. Then type the sizing your-turn cell in notebook 1, which sizes</a:t>
            </a:r>
          </a:p>
          <a:p>
            <a:r>
              <a:t>the same options on this morning's file, with D marked not run for the same reason: no ledger came</a:t>
            </a:r>
          </a:p>
          <a:p>
            <a:r>
              <a:t>with either export. Land two points: B is where most people who did check stopped, and it still</a:t>
            </a:r>
          </a:p>
          <a:p>
            <a:r>
              <a:t>leaves the headline well off the books; D would name every order that differs and costs the</a:t>
            </a:r>
          </a:p>
          <a:p>
            <a:r>
              <a:t>afternoon, once Finance sends the ledger. Minutes are the lab brief's pace, and D's is an estimate</a:t>
            </a:r>
          </a:p>
          <a:p>
            <a:r>
              <a:t>for a request to Finance and a join.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The picture behind S8: a count check cannot see a value that went missing inside a row</a:t>
            </a:r>
          </a:p>
          <a:p>
            <a:r>
              <a:t>that is still there, and only the rupees can.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The popular wrong answer is c: people expect the count fix to fix</a:t>
            </a:r>
          </a:p>
          <a:p>
            <a:r>
              <a:t>everything.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and a half minutes. The answer is b. Every count lands and Q1 is still short in rupees: a</a:t>
            </a:r>
          </a:p>
          <a:p>
            <a:r>
              <a:t>count check proves the rows are there and says nothing about each row's value. Type the count-check your-turn</a:t>
            </a:r>
          </a:p>
          <a:p>
            <a:r>
              <a:t>cell in notebook 1 for this morning's numbers.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Take letters, then reveal.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Then type the bridge your-turn cell in notebook 1, which draws this morning's</a:t>
            </a:r>
          </a:p>
          <a:p>
            <a:r>
              <a:t>bridge; say this morning's two moves aloud from the day sheet.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this morning's three headlines aloud from the day sheet's debrief table, then</a:t>
            </a:r>
          </a:p>
          <a:p>
            <a:r>
              <a:t>ask one learner what Meera would have done on Monday with each of the three notes.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Type the second-route your-turn cell in notebook 1; both checks pass on this</a:t>
            </a:r>
          </a:p>
          <a:p>
            <a:r>
              <a:t>morning's file, and the table it prints lists the rows Finance does not hold. The bridge's moves</a:t>
            </a:r>
          </a:p>
          <a:p>
            <a:r>
              <a:t>were found by subtracting totals, and these sums count the decisions themselves, so a row set aside</a:t>
            </a:r>
          </a:p>
          <a:p>
            <a:r>
              <a:t>without its log line, or a value set to zero where it should have been read, makes the two</a:t>
            </a:r>
          </a:p>
          <a:p>
            <a:r>
              <a:t>disagree.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in the depth section of notebook 1, whose your-turn cell runs the same comparison on</a:t>
            </a:r>
          </a:p>
          <a:p>
            <a:r>
              <a:t>this morning's file. Run it live for two minutes only if the tally shows more than a quarter of</a:t>
            </a:r>
          </a:p>
          <a:p>
            <a:r>
              <a:t>notes named a frequency branch.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and a half minutes, two learners' second-look lines included: one whose totals landed and</a:t>
            </a:r>
          </a:p>
          <a:p>
            <a:r>
              <a:t>one whose did not. Thank both the same way. The clock removes this step first because it produces no</a:t>
            </a:r>
          </a:p>
          <a:p>
            <a:r>
              <a:t>new number, only a yes or a no, and it takes fifteen of the lab's 120 minutes. Then lunch.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after lunch. Ten minutes. Notebook 2, C2_W01_D05_02_debrief_values_STUDENT.ipynb, on the</a:t>
            </a:r>
          </a:p>
          <a:p>
            <a:r>
              <a:t>projector from S22, its your-turn cells typed live.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Read who needs the answer and the six questions, and start.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base short by one large order can halve the fall the note reports: nobody argues</a:t>
            </a:r>
          </a:p>
          <a:p>
            <a:r>
              <a:t>with the direction, so nobody acts at the right scale, and when Finance finds the order every other</a:t>
            </a:r>
          </a:p>
          <a:p>
            <a:r>
              <a:t>number in the note is doubted with it. One sentence of likeness, even when D20 is self-study:</a:t>
            </a:r>
          </a:p>
          <a:p>
            <a:r>
              <a:t>JPMorgan's own task force found a risk spreadsheet that divided by a sum instead of an average and</a:t>
            </a:r>
          </a:p>
          <a:p>
            <a:r>
              <a:t>never raised an error.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The parallel: the sheet produced a plausible number every day, and only a check against</a:t>
            </a:r>
          </a:p>
          <a:p>
            <a:r>
              <a:t>something outside the sheet could have caught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and a half minutes. Read the code as a hurried analyst's honest attempt: it runs, it</a:t>
            </a:r>
          </a:p>
          <a:p>
            <a:r>
              <a:t>reports nothing and every count lands. Nobody in the room should feel caught. Notebook 2's first</a:t>
            </a:r>
          </a:p>
          <a:p>
            <a:r>
              <a:t>your-turn cell prints this morning's counts and rejects.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Take letters. The popular wrong answer is a, and it is the answer the zeroing</a:t>
            </a:r>
          </a:p>
          <a:p>
            <a:r>
              <a:t>pass was built, by accident, to produce.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and a half minutes. Type the gap your-turn cell in notebook 2: it prints which of this</a:t>
            </a:r>
          </a:p>
          <a:p>
            <a:r>
              <a:t>morning's quarters misses and by how much; the day sheet's debrief table has the figure. The</a:t>
            </a:r>
          </a:p>
          <a:p>
            <a:r>
              <a:t>your-turn cell that finds the row is for the room tonight.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Invented numbers. Type the options your-turn cell in notebook 2, which sizes the</a:t>
            </a:r>
          </a:p>
          <a:p>
            <a:r>
              <a:t>same four on this morning's file and prints the row that would not convert. Land the contrast</a:t>
            </a:r>
          </a:p>
          <a:p>
            <a:r>
              <a:t>between A and B: the same wrong headline, and B fails the count check, so B's gap is visible and</a:t>
            </a:r>
          </a:p>
          <a:p>
            <a:r>
              <a:t>A's is not.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or one minute live: ask two learners which branch their own row took this morning and</a:t>
            </a:r>
          </a:p>
          <a:p>
            <a:r>
              <a:t>why.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answer is b. One log line adds Rs 8,50,000 of fall: the reported fall grows</a:t>
            </a:r>
          </a:p>
          <a:p>
            <a:r>
              <a:t>from Rs 5,50,000, 17.5 percent, to Rs 14,00,000, 35.0 percent, the difference between "a soft</a:t>
            </a:r>
          </a:p>
          <a:p>
            <a:r>
              <a:t>quarter" and "a quarter to explain".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level 5 of notebook 2, whose your-turn cell runs the same check on this morning's file.</a:t>
            </a:r>
          </a:p>
          <a:p>
            <a:r>
              <a:t>Run it live for two minutes if the tally shows notes that read a segment's move the wrong way round.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Type the second-route your-turn cell of notebook 2; the account balances on this</a:t>
            </a:r>
          </a:p>
          <a:p>
            <a:r>
              <a:t>morning's file too.</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Then chapter 3.</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after lunch. Ten minutes, the last slide included. Notebook 3,</a:t>
            </a:r>
          </a:p>
          <a:p>
            <a:r>
              <a:t>C2_W01_D05_03_debrief_segments_STUDENT.ipynb, on the projector from S35, its your-turn cells typed</a:t>
            </a:r>
          </a:p>
          <a:p>
            <a:r>
              <a:t>live.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Read who needs the answer and the five questions.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Meera and Marketing both read the first line: Meera acts on it, and Marketing</a:t>
            </a:r>
          </a:p>
          <a:p>
            <a:r>
              <a:t>attacks any rate that rests on a handful of orders. A trend claimed from a few orders sends a team</a:t>
            </a:r>
          </a:p>
          <a:p>
            <a:r>
              <a:t>to fix a segment that did nothing while the branch that moved goes unopened. One sentence of</a:t>
            </a:r>
          </a:p>
          <a:p>
            <a:r>
              <a:t>likeness, even when D33 is self-study: IMDb will not rank a title in its Top 250 until it has 25,000</a:t>
            </a:r>
          </a:p>
          <a:p>
            <a:r>
              <a:t>ratings.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Wainer's chapter also records that the Gates Foundation had given about $1.7 billion in</a:t>
            </a:r>
          </a:p>
          <a:p>
            <a:r>
              <a:t>education grants by 2001, with small schools central to them; notebook 3 carries the source.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Type the tree your-turn cell in notebook 3 for this morning's tree, and say</a:t>
            </a:r>
          </a:p>
          <a:p>
            <a:r>
              <a:t>this morning's split aloud from the day sheet.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number is correct. What can seven orders carry? This morning's own corporate</a:t>
            </a:r>
          </a:p>
          <a:p>
            <a:r>
              <a:t>headline and its count are in the day sheet's debrief table; say them after the room answers S37.</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Take letters. Option c is the overcorrection: the corporate rupees are real</a:t>
            </a:r>
          </a:p>
          <a:p>
            <a:r>
              <a:t>money and Meera should hear them, as counts.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Type the coin-flip your-turn cell in notebook 3 for this morning's corporate count</a:t>
            </a:r>
          </a:p>
          <a:p>
            <a:r>
              <a:t>and its share. The corporate action is a phone call, which costs nothing; a retention plan built on</a:t>
            </a:r>
          </a:p>
          <a:p>
            <a:r>
              <a:t>a handful of orders costs a quarter.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and a half minutes. Invented numbers. B hides that nearly all of the fall is the corporate</a:t>
            </a:r>
          </a:p>
          <a:p>
            <a:r>
              <a:t>book. D, run in notebook 3 after the lead's own test, finds the same lead at three times the minutes, and four tests at 0.05 carry about a one-in-five</a:t>
            </a:r>
          </a:p>
          <a:p>
            <a:r>
              <a:t>chance that one looks real by luck, so on another file D leads with a fluke. Type the option D</a:t>
            </a:r>
          </a:p>
          <a:p>
            <a:r>
              <a:t>your-turn cell in notebook 3 to run the four tests on this morning's file.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The picture behind S39's call, and the order of the note's claim and caveat.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The same 16 members sit in both quarters, so each member's own two quarters</a:t>
            </a:r>
          </a:p>
          <a:p>
            <a:r>
              <a:t>are swapped at random, keeping every member's orders together.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answer is b. The fall was found in the tree, so the note reports both</a:t>
            </a:r>
          </a:p>
          <a:p>
            <a:r>
              <a:t>directions. Read the p-value sentence aloud once, word for word, because Saturday's paper asks for</a:t>
            </a:r>
          </a:p>
          <a:p>
            <a:r>
              <a:t>it: "In 1.1 percent of worlds where the quarter made no difference to each member's basket, chance</a:t>
            </a:r>
          </a:p>
          <a:p>
            <a:r>
              <a:t>produced a change this large, either way." Type the paired-test your-turn cell in notebook 3 with</a:t>
            </a:r>
          </a:p>
          <a:p>
            <a:r>
              <a:t>the segment each learner's lab tree named.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A learner who shuffled segment labels across whole customers this morning answered the</a:t>
            </a:r>
          </a:p>
          <a:p>
            <a:r>
              <a:t>second question fairly; accept it with the question named.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Type the sign-test your-turn cell in notebook 3 on the lab lead. When the flips and</a:t>
            </a:r>
          </a:p>
          <a:p>
            <a:r>
              <a:t>the count disagree, a handful of members moved the average, and the note says so.</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in the depth section of notebook 3, unless more than a quarter of the room pooled the</a:t>
            </a:r>
          </a:p>
          <a:p>
            <a:r>
              <a:t>quarters or shuffled single orders; then run it for three minutes in place of S44. Both cards are</a:t>
            </a:r>
          </a:p>
          <a:p>
            <a:r>
              <a:t>2,000 runs on random.Random(7). The same cell shows single orders shuffled between Retail-Plus and</a:t>
            </a:r>
          </a:p>
          <a:p>
            <a:r>
              <a:t>Retail-Core at 0.0945, against 0.0385 with the label moving with the whole customer. The your-turn</a:t>
            </a:r>
          </a:p>
          <a:p>
            <a:r>
              <a:t>cell runs all four on this morning's file.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unless the tally shows notes quoting a mean as the typical order; then three minutes, and</a:t>
            </a:r>
          </a:p>
          <a:p>
            <a:r>
              <a:t>say this morning's mean and median aloud from the day sheet.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The note as it should read, on the invented export: booked revenue fell 35.0</a:t>
            </a:r>
          </a:p>
          <a:p>
            <a:r>
              <a:t>percent, Rs 40,00,000 to Rs 26,00,000; Rs 13,88,200 of it is the corporate book on five orders then</a:t>
            </a:r>
          </a:p>
          <a:p>
            <a:r>
              <a:t>two; among consumers Retail-Plus's revenue per order fell 15.0 percent with its members and their</a:t>
            </a:r>
          </a:p>
          <a:p>
            <a:r>
              <a:t>frequency unchanged, p = 0.011 with each member's quarters flipped; the corporate move is a</a:t>
            </a:r>
          </a:p>
          <a:p>
            <a:r>
              <a:t>question to its account owner.</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Close the debrief. The TAs tell each person their marked step privately during</a:t>
            </a:r>
          </a:p>
          <a:p>
            <a:r>
              <a:t>the rehearsal, one learner at a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7.png"/><Relationship Id="rId6"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 Id="rId5" Type="http://schemas.openxmlformats.org/officeDocument/2006/relationships/image" Target="../media/image2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13.png"/><Relationship Id="rId6" Type="http://schemas.openxmlformats.org/officeDocument/2006/relationships/image" Target="../media/image2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 Id="rId5" Type="http://schemas.openxmlformats.org/officeDocument/2006/relationships/image" Target="../media/image7.png"/><Relationship Id="rId6" Type="http://schemas.openxmlformats.org/officeDocument/2006/relationships/image" Target="../media/image2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2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image" Target="../media/image24.png"/><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 Id="rId5" Type="http://schemas.openxmlformats.org/officeDocument/2006/relationships/image" Target="../media/image2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 Id="rId5"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 Id="rId5" Type="http://schemas.openxmlformats.org/officeDocument/2006/relationships/image" Target="../media/image28.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5.png"/><Relationship Id="rId5" Type="http://schemas.openxmlformats.org/officeDocument/2006/relationships/image" Target="../media/image29.png"/><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 Id="rId5" Type="http://schemas.openxmlformats.org/officeDocument/2006/relationships/image" Target="../media/image3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5.png"/><Relationship Id="rId5" Type="http://schemas.openxmlformats.org/officeDocument/2006/relationships/image" Target="../media/image29.png"/><Relationship Id="rId6" Type="http://schemas.openxmlformats.org/officeDocument/2006/relationships/image" Target="../media/image7.png"/><Relationship Id="rId7"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951822"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FRIDAY  ·  THE LAB DEBRIEF</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Where did the room break?</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“Until your numbers match ours, Finance will not act on a drop measured from an ERP export.”</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 Iyer, finance controller, Kalpa Retail, to the data and AI team at Kalpa's Global Capability Centre</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Do the quarters tie?</a:t>
            </a:r>
          </a:p>
        </p:txBody>
      </p:sp>
      <p:sp>
        <p:nvSpPr>
          <p:cNvPr id="13" name="TextBox 12"/>
          <p:cNvSpPr txBox="1"/>
          <p:nvPr/>
        </p:nvSpPr>
        <p:spPr>
          <a:xfrm>
            <a:off x="255460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938653" y="5248656"/>
            <a:ext cx="1425035" cy="185166"/>
          </a:xfrm>
          <a:prstGeom prst="rect">
            <a:avLst/>
          </a:prstGeom>
          <a:noFill/>
        </p:spPr>
        <p:txBody>
          <a:bodyPr wrap="square" anchor="t" lIns="0" rIns="0" tIns="0" bIns="0">
            <a:spAutoFit/>
          </a:bodyPr>
          <a:lstStyle/>
          <a:p>
            <a:pPr algn="l"/>
            <a:r>
              <a:rPr sz="900" b="0" i="0">
                <a:solidFill>
                  <a:srgbClr val="FFFFFF"/>
                </a:solidFill>
                <a:latin typeface="Calibri"/>
              </a:rPr>
              <a:t>Is a clean pass done?</a:t>
            </a:r>
          </a:p>
        </p:txBody>
      </p:sp>
      <p:sp>
        <p:nvSpPr>
          <p:cNvPr id="15" name="TextBox 14"/>
          <p:cNvSpPr txBox="1"/>
          <p:nvPr/>
        </p:nvSpPr>
        <p:spPr>
          <a:xfrm>
            <a:off x="4546568"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4930616" y="5248656"/>
            <a:ext cx="1306734" cy="185166"/>
          </a:xfrm>
          <a:prstGeom prst="rect">
            <a:avLst/>
          </a:prstGeom>
          <a:noFill/>
        </p:spPr>
        <p:txBody>
          <a:bodyPr wrap="square" anchor="t" lIns="0" rIns="0" tIns="0" bIns="0">
            <a:spAutoFit/>
          </a:bodyPr>
          <a:lstStyle/>
          <a:p>
            <a:pPr algn="l"/>
            <a:r>
              <a:rPr sz="900" b="0" i="0">
                <a:solidFill>
                  <a:srgbClr val="FFFFFF"/>
                </a:solidFill>
                <a:latin typeface="Calibri"/>
              </a:rPr>
              <a:t>Which number leads?</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Where did the room break?</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52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questions decide whether a note reaches Meera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this morning's notes break, and what should each step have been?</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CHAPTER 1</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Do the quarters tie?</a:t>
            </a:r>
          </a:p>
        </p:txBody>
      </p:sp>
      <p:sp>
        <p:nvSpPr>
          <p:cNvPr id="14" name="TextBox 13"/>
          <p:cNvSpPr txBox="1"/>
          <p:nvPr/>
        </p:nvSpPr>
        <p:spPr>
          <a:xfrm>
            <a:off x="69494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Do the two quarters in your note match Finance's books?</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CHAPTER 2</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Is a clean pass done?</a:t>
            </a:r>
          </a:p>
        </p:txBody>
      </p:sp>
      <p:sp>
        <p:nvSpPr>
          <p:cNvPr id="19" name="TextBox 18"/>
          <p:cNvSpPr txBox="1"/>
          <p:nvPr/>
        </p:nvSpPr>
        <p:spPr>
          <a:xfrm>
            <a:off x="446623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Every count reconciles and nothing was rejected: is the pass finished?</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CHAPTER 3</a:t>
            </a:r>
          </a:p>
        </p:txBody>
      </p:sp>
      <p:sp>
        <p:nvSpPr>
          <p:cNvPr id="21" name="Oval 20"/>
          <p:cNvSpPr/>
          <p:nvPr/>
        </p:nvSpPr>
        <p:spPr>
          <a:xfrm>
            <a:off x="9766554"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FFFFFF"/>
                </a:solidFill>
                <a:latin typeface="Calibri"/>
              </a:rPr>
              <a:t>Which number leads?</a:t>
            </a:r>
          </a:p>
        </p:txBody>
      </p:sp>
      <p:sp>
        <p:nvSpPr>
          <p:cNvPr id="24" name="TextBox 23"/>
          <p:cNvSpPr txBox="1"/>
          <p:nvPr/>
        </p:nvSpPr>
        <p:spPr>
          <a:xfrm>
            <a:off x="8237524" y="3277870"/>
            <a:ext cx="3259226" cy="366776"/>
          </a:xfrm>
          <a:prstGeom prst="rect">
            <a:avLst/>
          </a:prstGeom>
          <a:noFill/>
        </p:spPr>
        <p:txBody>
          <a:bodyPr wrap="square" anchor="t" lIns="0" rIns="0" tIns="0" bIns="0">
            <a:spAutoFit/>
          </a:bodyPr>
          <a:lstStyle/>
          <a:p>
            <a:pPr algn="l"/>
            <a:r>
              <a:rPr sz="1000" b="0" i="0">
                <a:solidFill>
                  <a:srgbClr val="CFC9EE"/>
                </a:solidFill>
                <a:latin typeface="Calibri"/>
              </a:rPr>
              <a:t>Which finding leads the note, and how sure can Meera be of it?</a:t>
            </a:r>
          </a:p>
        </p:txBody>
      </p:sp>
      <p:sp>
        <p:nvSpPr>
          <p:cNvPr id="25" name="TextBox 24"/>
          <p:cNvSpPr txBox="1"/>
          <p:nvPr/>
        </p:nvSpPr>
        <p:spPr>
          <a:xfrm>
            <a:off x="530352" y="410362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answer raises the next question: a note whose counts tie to the books can still be short in rupees, and a note that is right to the rupee can still lead with the wrong number.</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28" name="Oval 2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30" name="Oval 29"/>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52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Do the quarters tie?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Do the two quarters in your note match Finance's books, and what did the note say when nobody checked?</a:t>
            </a:r>
          </a:p>
        </p:txBody>
      </p:sp>
      <p:sp>
        <p:nvSpPr>
          <p:cNvPr id="10" name="Rounded Rectangle 9"/>
          <p:cNvSpPr/>
          <p:nvPr/>
        </p:nvSpPr>
        <p:spPr>
          <a:xfrm>
            <a:off x="731519"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Do the quarters tie?</a:t>
            </a:r>
          </a:p>
        </p:txBody>
      </p:sp>
      <p:sp>
        <p:nvSpPr>
          <p:cNvPr id="11" name="Rounded Rectangle 10"/>
          <p:cNvSpPr/>
          <p:nvPr/>
        </p:nvSpPr>
        <p:spPr>
          <a:xfrm>
            <a:off x="2391327"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a clean pass done?</a:t>
            </a:r>
          </a:p>
        </p:txBody>
      </p:sp>
      <p:sp>
        <p:nvSpPr>
          <p:cNvPr id="12" name="Rounded Rectangle 11"/>
          <p:cNvSpPr/>
          <p:nvPr/>
        </p:nvSpPr>
        <p:spPr>
          <a:xfrm>
            <a:off x="4110350"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leads?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Where did the room break?</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52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five questions, before Anand signs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quarters to tie, and which five questions lead there?</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 Iyer, the finance controller, reads the note's first line against his control totals before any number reaches Meera; a first line the wrong way round sends Monday's review after a quarter that did not happen.</a:t>
            </a:r>
          </a:p>
        </p:txBody>
      </p:sp>
      <p:sp>
        <p:nvSpPr>
          <p:cNvPr id="12" name="Rectangle 11"/>
          <p:cNvSpPr/>
          <p:nvPr/>
        </p:nvSpPr>
        <p:spPr>
          <a:xfrm>
            <a:off x="1570299" y="37627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46971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750710" cy="465836"/>
          </a:xfrm>
          <a:prstGeom prst="rect">
            <a:avLst/>
          </a:prstGeom>
          <a:noFill/>
        </p:spPr>
        <p:txBody>
          <a:bodyPr wrap="square" anchor="t" lIns="0" rIns="0" tIns="0" bIns="0">
            <a:spAutoFit/>
          </a:bodyPr>
          <a:lstStyle/>
          <a:p>
            <a:pPr algn="l"/>
            <a:r>
              <a:rPr sz="1300" b="1" i="0">
                <a:solidFill>
                  <a:srgbClr val="1A0F5C"/>
                </a:solidFill>
                <a:latin typeface="Calibri"/>
              </a:rPr>
              <a:t>What did the hurried pass send?</a:t>
            </a:r>
          </a:p>
        </p:txBody>
      </p:sp>
      <p:sp>
        <p:nvSpPr>
          <p:cNvPr id="17" name="TextBox 16"/>
          <p:cNvSpPr txBox="1"/>
          <p:nvPr/>
        </p:nvSpPr>
        <p:spPr>
          <a:xfrm>
            <a:off x="694944" y="4731512"/>
            <a:ext cx="1750710" cy="366776"/>
          </a:xfrm>
          <a:prstGeom prst="rect">
            <a:avLst/>
          </a:prstGeom>
          <a:noFill/>
        </p:spPr>
        <p:txBody>
          <a:bodyPr wrap="square" anchor="t" lIns="0" rIns="0" tIns="0" bIns="0">
            <a:spAutoFit/>
          </a:bodyPr>
          <a:lstStyle/>
          <a:p>
            <a:pPr algn="l"/>
            <a:r>
              <a:rPr sz="1000" b="0" i="0">
                <a:solidFill>
                  <a:srgbClr val="6B6690"/>
                </a:solidFill>
                <a:latin typeface="Calibri"/>
              </a:rPr>
              <a:t>A hurried pass sends a headline.</a:t>
            </a:r>
          </a:p>
        </p:txBody>
      </p:sp>
      <p:sp>
        <p:nvSpPr>
          <p:cNvPr id="18" name="TextBox 17"/>
          <p:cNvSpPr txBox="1"/>
          <p:nvPr/>
        </p:nvSpPr>
        <p:spPr>
          <a:xfrm>
            <a:off x="2793126"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732489"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4229100"/>
            <a:ext cx="1750710" cy="465836"/>
          </a:xfrm>
          <a:prstGeom prst="rect">
            <a:avLst/>
          </a:prstGeom>
          <a:noFill/>
        </p:spPr>
        <p:txBody>
          <a:bodyPr wrap="square" anchor="t" lIns="0" rIns="0" tIns="0" bIns="0">
            <a:spAutoFit/>
          </a:bodyPr>
          <a:lstStyle/>
          <a:p>
            <a:pPr algn="l"/>
            <a:r>
              <a:rPr sz="1300" b="1" i="0">
                <a:solidFill>
                  <a:srgbClr val="1A0F5C"/>
                </a:solidFill>
                <a:latin typeface="Calibri"/>
              </a:rPr>
              <a:t>Which check, at what cost?</a:t>
            </a:r>
          </a:p>
        </p:txBody>
      </p:sp>
      <p:sp>
        <p:nvSpPr>
          <p:cNvPr id="22" name="TextBox 21"/>
          <p:cNvSpPr txBox="1"/>
          <p:nvPr/>
        </p:nvSpPr>
        <p:spPr>
          <a:xfrm>
            <a:off x="2957718" y="4731512"/>
            <a:ext cx="1750710" cy="366776"/>
          </a:xfrm>
          <a:prstGeom prst="rect">
            <a:avLst/>
          </a:prstGeom>
          <a:noFill/>
        </p:spPr>
        <p:txBody>
          <a:bodyPr wrap="square" anchor="t" lIns="0" rIns="0" tIns="0" bIns="0">
            <a:spAutoFit/>
          </a:bodyPr>
          <a:lstStyle/>
          <a:p>
            <a:pPr algn="l"/>
            <a:r>
              <a:rPr sz="1000" b="0" i="0">
                <a:solidFill>
                  <a:srgbClr val="6B6690"/>
                </a:solidFill>
                <a:latin typeface="Calibri"/>
              </a:rPr>
              <a:t>Four checks are sized side by side.</a:t>
            </a:r>
          </a:p>
        </p:txBody>
      </p:sp>
      <p:sp>
        <p:nvSpPr>
          <p:cNvPr id="23" name="TextBox 22"/>
          <p:cNvSpPr txBox="1"/>
          <p:nvPr/>
        </p:nvSpPr>
        <p:spPr>
          <a:xfrm>
            <a:off x="5055900"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995263"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4229100"/>
            <a:ext cx="1750710" cy="465836"/>
          </a:xfrm>
          <a:prstGeom prst="rect">
            <a:avLst/>
          </a:prstGeom>
          <a:noFill/>
        </p:spPr>
        <p:txBody>
          <a:bodyPr wrap="square" anchor="t" lIns="0" rIns="0" tIns="0" bIns="0">
            <a:spAutoFit/>
          </a:bodyPr>
          <a:lstStyle/>
          <a:p>
            <a:pPr algn="l"/>
            <a:r>
              <a:rPr sz="1300" b="1" i="0">
                <a:solidFill>
                  <a:srgbClr val="1A0F5C"/>
                </a:solidFill>
                <a:latin typeface="Calibri"/>
              </a:rPr>
              <a:t>What does a count check fix?</a:t>
            </a:r>
          </a:p>
        </p:txBody>
      </p:sp>
      <p:sp>
        <p:nvSpPr>
          <p:cNvPr id="27" name="TextBox 26"/>
          <p:cNvSpPr txBox="1"/>
          <p:nvPr/>
        </p:nvSpPr>
        <p:spPr>
          <a:xfrm>
            <a:off x="5220492" y="4731512"/>
            <a:ext cx="1750710" cy="366776"/>
          </a:xfrm>
          <a:prstGeom prst="rect">
            <a:avLst/>
          </a:prstGeom>
          <a:noFill/>
        </p:spPr>
        <p:txBody>
          <a:bodyPr wrap="square" anchor="t" lIns="0" rIns="0" tIns="0" bIns="0">
            <a:spAutoFit/>
          </a:bodyPr>
          <a:lstStyle/>
          <a:p>
            <a:pPr algn="l"/>
            <a:r>
              <a:rPr sz="1000" b="0" i="0">
                <a:solidFill>
                  <a:srgbClr val="6B6690"/>
                </a:solidFill>
                <a:latin typeface="Calibri"/>
              </a:rPr>
              <a:t>It lands the rows and leaves something.</a:t>
            </a:r>
          </a:p>
        </p:txBody>
      </p:sp>
      <p:sp>
        <p:nvSpPr>
          <p:cNvPr id="28" name="TextBox 27"/>
          <p:cNvSpPr txBox="1"/>
          <p:nvPr/>
        </p:nvSpPr>
        <p:spPr>
          <a:xfrm>
            <a:off x="7318674"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8258037"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4229100"/>
            <a:ext cx="1750710" cy="465836"/>
          </a:xfrm>
          <a:prstGeom prst="rect">
            <a:avLst/>
          </a:prstGeom>
          <a:noFill/>
        </p:spPr>
        <p:txBody>
          <a:bodyPr wrap="square" anchor="t" lIns="0" rIns="0" tIns="0" bIns="0">
            <a:spAutoFit/>
          </a:bodyPr>
          <a:lstStyle/>
          <a:p>
            <a:pPr algn="l"/>
            <a:r>
              <a:rPr sz="1300" b="1" i="0">
                <a:solidFill>
                  <a:srgbClr val="1A0F5C"/>
                </a:solidFill>
                <a:latin typeface="Calibri"/>
              </a:rPr>
              <a:t>Which moves close the bridge?</a:t>
            </a:r>
          </a:p>
        </p:txBody>
      </p:sp>
      <p:sp>
        <p:nvSpPr>
          <p:cNvPr id="32" name="TextBox 31"/>
          <p:cNvSpPr txBox="1"/>
          <p:nvPr/>
        </p:nvSpPr>
        <p:spPr>
          <a:xfrm>
            <a:off x="7483266" y="4731512"/>
            <a:ext cx="1750710" cy="366776"/>
          </a:xfrm>
          <a:prstGeom prst="rect">
            <a:avLst/>
          </a:prstGeom>
          <a:noFill/>
        </p:spPr>
        <p:txBody>
          <a:bodyPr wrap="square" anchor="t" lIns="0" rIns="0" tIns="0" bIns="0">
            <a:spAutoFit/>
          </a:bodyPr>
          <a:lstStyle/>
          <a:p>
            <a:pPr algn="l"/>
            <a:r>
              <a:rPr sz="1000" b="0" i="0">
                <a:solidFill>
                  <a:srgbClr val="6B6690"/>
                </a:solidFill>
                <a:latin typeface="Calibri"/>
              </a:rPr>
              <a:t>Two moves walk the sum to the books.</a:t>
            </a:r>
          </a:p>
        </p:txBody>
      </p:sp>
      <p:sp>
        <p:nvSpPr>
          <p:cNvPr id="33" name="TextBox 32"/>
          <p:cNvSpPr txBox="1"/>
          <p:nvPr/>
        </p:nvSpPr>
        <p:spPr>
          <a:xfrm>
            <a:off x="9581448"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10520812"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4082796"/>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4229100"/>
            <a:ext cx="1750710" cy="465836"/>
          </a:xfrm>
          <a:prstGeom prst="rect">
            <a:avLst/>
          </a:prstGeom>
          <a:noFill/>
        </p:spPr>
        <p:txBody>
          <a:bodyPr wrap="square" anchor="t" lIns="0" rIns="0" tIns="0" bIns="0">
            <a:spAutoFit/>
          </a:bodyPr>
          <a:lstStyle/>
          <a:p>
            <a:pPr algn="l"/>
            <a:r>
              <a:rPr sz="1300" b="1" i="0">
                <a:solidFill>
                  <a:srgbClr val="FFFFFF"/>
                </a:solidFill>
                <a:latin typeface="Calibri"/>
              </a:rPr>
              <a:t>Do the decisions sum the same?</a:t>
            </a:r>
          </a:p>
        </p:txBody>
      </p:sp>
      <p:sp>
        <p:nvSpPr>
          <p:cNvPr id="37" name="TextBox 36"/>
          <p:cNvSpPr txBox="1"/>
          <p:nvPr/>
        </p:nvSpPr>
        <p:spPr>
          <a:xfrm>
            <a:off x="9746040" y="4731512"/>
            <a:ext cx="1750710" cy="366776"/>
          </a:xfrm>
          <a:prstGeom prst="rect">
            <a:avLst/>
          </a:prstGeom>
          <a:noFill/>
        </p:spPr>
        <p:txBody>
          <a:bodyPr wrap="square" anchor="t" lIns="0" rIns="0" tIns="0" bIns="0">
            <a:spAutoFit/>
          </a:bodyPr>
          <a:lstStyle/>
          <a:p>
            <a:pPr algn="l"/>
            <a:r>
              <a:rPr sz="1000" b="0" i="0">
                <a:solidFill>
                  <a:srgbClr val="CFC9EE"/>
                </a:solidFill>
                <a:latin typeface="Calibri"/>
              </a:rPr>
              <a:t>The log's own sums are the second route.</a:t>
            </a:r>
          </a:p>
        </p:txBody>
      </p:sp>
      <p:sp>
        <p:nvSpPr>
          <p:cNvPr id="38" name="Oval 3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 the quarters tie?</a:t>
            </a:r>
          </a:p>
        </p:txBody>
      </p:sp>
      <p:sp>
        <p:nvSpPr>
          <p:cNvPr id="40" name="Oval 39"/>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42" name="Oval 41"/>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52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 reads the note before Meera acts on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reads the first line first, and what does a wrong one cost?</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Anand Iyer</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WHO ASKS FIRST</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finance controller, before any number reaches Meera</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Q1 to Q2</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METRIC</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booked revenue per quarter, the note's first line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direction</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WHAT A WRONG NUMBER COSTS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 quarter reported the wrong way round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Can the number in your note go to Meera as it stands?</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 the quarters tie?</a:t>
            </a:r>
          </a:p>
        </p:txBody>
      </p:sp>
      <p:sp>
        <p:nvSpPr>
          <p:cNvPr id="28" name="Oval 2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30" name="Oval 29"/>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52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Nykaa reports two true numbers for one quarter</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else has to bridge before they claim a number?</a:t>
            </a:r>
          </a:p>
        </p:txBody>
      </p:sp>
      <p:sp>
        <p:nvSpPr>
          <p:cNvPr id="10" name="Rounded Rectangle 9"/>
          <p:cNvSpPr/>
          <p:nvPr/>
        </p:nvSpPr>
        <p:spPr>
          <a:xfrm>
            <a:off x="530352" y="1956816"/>
            <a:ext cx="5474055"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receipt_310d1be0be75.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NYKAA, APRIL TO JUNE 2025</a:t>
            </a:r>
          </a:p>
        </p:txBody>
      </p:sp>
      <p:sp>
        <p:nvSpPr>
          <p:cNvPr id="14" name="TextBox 13"/>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GMV Rs 4,182 cr, revenue Rs 2,155 cr</a:t>
            </a:r>
          </a:p>
        </p:txBody>
      </p:sp>
      <p:sp>
        <p:nvSpPr>
          <p:cNvPr id="15" name="TextBox 14"/>
          <p:cNvSpPr txBox="1"/>
          <p:nvPr/>
        </p:nvSpPr>
        <p:spPr>
          <a:xfrm>
            <a:off x="731519" y="3303524"/>
            <a:ext cx="5071719" cy="763016"/>
          </a:xfrm>
          <a:prstGeom prst="rect">
            <a:avLst/>
          </a:prstGeom>
          <a:noFill/>
        </p:spPr>
        <p:txBody>
          <a:bodyPr wrap="square" anchor="t" lIns="0" rIns="0" tIns="0" bIns="0">
            <a:spAutoFit/>
          </a:bodyPr>
          <a:lstStyle/>
          <a:p>
            <a:pPr algn="l"/>
            <a:r>
              <a:rPr sz="1100" b="0" i="0">
                <a:solidFill>
                  <a:srgbClr val="CFC9EE"/>
                </a:solidFill>
                <a:latin typeface="Calibri"/>
              </a:rPr>
              <a:t>GMV is everything ordered, before cancellations, returns and tax come out; revenue from operations is what the company books as its income. Quote one to the owner of the other and you are out by nearly half. Source: FSN E-Commerce Ventures press release, 12 August 2025.</a:t>
            </a:r>
          </a:p>
        </p:txBody>
      </p:sp>
      <p:sp>
        <p:nvSpPr>
          <p:cNvPr id="16" name="Rounded Rectangle 15"/>
          <p:cNvSpPr/>
          <p:nvPr/>
        </p:nvSpPr>
        <p:spPr>
          <a:xfrm>
            <a:off x="6187287" y="1956816"/>
            <a:ext cx="5474055"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file-x_7c9ffa7c6e09.png"/>
          <p:cNvPicPr>
            <a:picLocks noChangeAspect="1"/>
          </p:cNvPicPr>
          <p:nvPr/>
        </p:nvPicPr>
        <p:blipFill>
          <a:blip r:embed="rId5"/>
          <a:stretch>
            <a:fillRect/>
          </a:stretch>
        </p:blipFill>
        <p:spPr>
          <a:xfrm>
            <a:off x="6498183" y="2267712"/>
            <a:ext cx="237744" cy="237744"/>
          </a:xfrm>
          <a:prstGeom prst="rect">
            <a:avLst/>
          </a:prstGeom>
        </p:spPr>
      </p:pic>
      <p:sp>
        <p:nvSpPr>
          <p:cNvPr id="19" name="TextBox 18"/>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PUBLIC HEALTH ENGLAND, OCTOBER 2020</a:t>
            </a:r>
          </a:p>
        </p:txBody>
      </p:sp>
      <p:sp>
        <p:nvSpPr>
          <p:cNvPr id="20" name="TextBox 19"/>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15,841 cases left out</a:t>
            </a:r>
          </a:p>
        </p:txBody>
      </p:sp>
      <p:sp>
        <p:nvSpPr>
          <p:cNvPr id="21" name="TextBox 20"/>
          <p:cNvSpPr txBox="1"/>
          <p:nvPr/>
        </p:nvSpPr>
        <p:spPr>
          <a:xfrm>
            <a:off x="6388455" y="3303524"/>
            <a:ext cx="5071719" cy="581406"/>
          </a:xfrm>
          <a:prstGeom prst="rect">
            <a:avLst/>
          </a:prstGeom>
          <a:noFill/>
        </p:spPr>
        <p:txBody>
          <a:bodyPr wrap="square" anchor="t" lIns="0" rIns="0" tIns="0" bIns="0">
            <a:spAutoFit/>
          </a:bodyPr>
          <a:lstStyle/>
          <a:p>
            <a:pPr algn="l"/>
            <a:r>
              <a:rPr sz="1100" b="0" i="0">
                <a:solidFill>
                  <a:srgbClr val="6B6690"/>
                </a:solidFill>
                <a:latin typeface="Calibri"/>
              </a:rPr>
              <a:t>Positive cases from 25 September to 2 October missed the daily figures because files exceeded a size limit. No step raised an error. Source: UK government statement, 4 October 2020.</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 the quarters tie?</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26" name="Oval 2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D4  ·  6 / 52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hurried run says Q2 grew 21.2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headline does a pass that skips the reconciliation send?</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31,50,000</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AS SUMMED</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83 rows, invented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38,16,420</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AS SUMMED</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92 rows, invented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+21.2%</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TO Q2</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"Q2 grew; no action on the top line"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On the invented export the pass kept the rows as they arrived and set to zero any value that would not convert; the arithmetic is right, and the note built on it tells Meera the quarter was a good one.</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 the quarters tie?</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26" name="Oval 2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52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 you check before sending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stands between the hurried headline and Meera?</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the median order, in case one large order moved the total on its own; b) the p-value of the Q1 to Q2 change, with 2,000 shuffles; c) orders and rupees per quarter against Finance's control totals; d) the segment split, to see which of the four segments grew the most.</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 the quarters tie?</a:t>
            </a:r>
          </a:p>
        </p:txBody>
      </p:sp>
      <p:sp>
        <p:nvSpPr>
          <p:cNvPr id="14" name="Oval 1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6" name="Oval 1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52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both quarters miss Finance's books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control file show against the hurried run?</a:t>
            </a:r>
          </a:p>
        </p:txBody>
      </p:sp>
      <p:graphicFrame>
        <p:nvGraphicFramePr>
          <p:cNvPr id="9" name="Table 8"/>
          <p:cNvGraphicFramePr>
            <a:graphicFrameLocks noGrp="1"/>
          </p:cNvGraphicFramePr>
          <p:nvPr/>
        </p:nvGraphicFramePr>
        <p:xfrm>
          <a:off x="530352" y="1956816"/>
          <a:ext cx="11130990" cy="1005840"/>
        </p:xfrm>
        <a:graphic>
          <a:graphicData uri="http://schemas.openxmlformats.org/drawingml/2006/table">
            <a:tbl>
              <a:tblPr firstRow="0" bandRow="0">
                <a:tableStyleId>{2D5ABB26-0587-4C30-8999-92F81FD0307C}</a:tableStyleId>
              </a:tblPr>
              <a:tblGrid>
                <a:gridCol w="914400"/>
                <a:gridCol w="2089319"/>
                <a:gridCol w="2864033"/>
                <a:gridCol w="2399205"/>
                <a:gridCol w="2864033"/>
              </a:tblGrid>
              <a:tr h="335280">
                <a:tc>
                  <a:txBody>
                    <a:bodyPr/>
                    <a:lstStyle/>
                    <a:p>
                      <a:r>
                        <a:rPr sz="1250" b="1" i="0">
                          <a:solidFill>
                            <a:srgbClr val="FFFFFF"/>
                          </a:solidFill>
                          <a:latin typeface="Calibri"/>
                        </a:rPr>
                        <a:t>Quarter</a:t>
                      </a:r>
                    </a:p>
                  </a:txBody>
                  <a:tcPr marL="101600" marR="101600" marT="38100" marB="38100" anchor="ctr">
                    <a:solidFill>
                      <a:srgbClr val="1A0F5C"/>
                    </a:solidFill>
                  </a:tcPr>
                </a:tc>
                <a:tc>
                  <a:txBody>
                    <a:bodyPr/>
                    <a:lstStyle/>
                    <a:p>
                      <a:r>
                        <a:rPr sz="1250" b="1" i="0">
                          <a:solidFill>
                            <a:srgbClr val="FFFFFF"/>
                          </a:solidFill>
                          <a:latin typeface="Calibri"/>
                        </a:rPr>
                        <a:t>Rows summed</a:t>
                      </a:r>
                    </a:p>
                  </a:txBody>
                  <a:tcPr marL="101600" marR="101600" marT="38100" marB="38100" anchor="ctr">
                    <a:solidFill>
                      <a:srgbClr val="1A0F5C"/>
                    </a:solidFill>
                  </a:tcPr>
                </a:tc>
                <a:tc>
                  <a:txBody>
                    <a:bodyPr/>
                    <a:lstStyle/>
                    <a:p>
                      <a:r>
                        <a:rPr sz="1250" b="1" i="0">
                          <a:solidFill>
                            <a:srgbClr val="FFFFFF"/>
                          </a:solidFill>
                          <a:latin typeface="Calibri"/>
                        </a:rPr>
                        <a:t>Finance's orders</a:t>
                      </a:r>
                    </a:p>
                  </a:txBody>
                  <a:tcPr marL="101600" marR="101600" marT="38100" marB="38100" anchor="ctr">
                    <a:solidFill>
                      <a:srgbClr val="1A0F5C"/>
                    </a:solidFill>
                  </a:tcPr>
                </a:tc>
                <a:tc>
                  <a:txBody>
                    <a:bodyPr/>
                    <a:lstStyle/>
                    <a:p>
                      <a:r>
                        <a:rPr sz="1250" b="1" i="0">
                          <a:solidFill>
                            <a:srgbClr val="FFFFFF"/>
                          </a:solidFill>
                          <a:latin typeface="Calibri"/>
                        </a:rPr>
                        <a:t>Rupees summed</a:t>
                      </a:r>
                    </a:p>
                  </a:txBody>
                  <a:tcPr marL="101600" marR="101600" marT="38100" marB="38100" anchor="ctr">
                    <a:solidFill>
                      <a:srgbClr val="1A0F5C"/>
                    </a:solidFill>
                  </a:tcPr>
                </a:tc>
                <a:tc>
                  <a:txBody>
                    <a:bodyPr/>
                    <a:lstStyle/>
                    <a:p>
                      <a:r>
                        <a:rPr sz="1250" b="1" i="0">
                          <a:solidFill>
                            <a:srgbClr val="FFFFFF"/>
                          </a:solidFill>
                          <a:latin typeface="Calibri"/>
                        </a:rPr>
                        <a:t>Finance's rupees</a:t>
                      </a:r>
                    </a:p>
                  </a:txBody>
                  <a:tcPr marL="101600" marR="101600" marT="38100" marB="38100" anchor="ctr">
                    <a:solidFill>
                      <a:srgbClr val="1A0F5C"/>
                    </a:solidFill>
                  </a:tcPr>
                </a:tc>
              </a:tr>
              <a:tr h="335280">
                <a:tc>
                  <a:txBody>
                    <a:bodyPr/>
                    <a:lstStyle/>
                    <a:p>
                      <a:r>
                        <a:rPr sz="1200" b="0" i="0">
                          <a:solidFill>
                            <a:srgbClr val="1A1440"/>
                          </a:solidFill>
                          <a:latin typeface="Calibri"/>
                        </a:rPr>
                        <a:t>Q1</a:t>
                      </a:r>
                    </a:p>
                  </a:txBody>
                  <a:tcPr marL="101600" marR="101600" marT="38100" marB="38100" anchor="ctr">
                    <a:solidFill>
                      <a:srgbClr val="FFFFFF"/>
                    </a:solidFill>
                  </a:tcPr>
                </a:tc>
                <a:tc>
                  <a:txBody>
                    <a:bodyPr/>
                    <a:lstStyle/>
                    <a:p>
                      <a:r>
                        <a:rPr sz="1200" b="0" i="0">
                          <a:solidFill>
                            <a:srgbClr val="1A1440"/>
                          </a:solidFill>
                          <a:latin typeface="Calibri"/>
                        </a:rPr>
                        <a:t>83</a:t>
                      </a:r>
                    </a:p>
                  </a:txBody>
                  <a:tcPr marL="101600" marR="101600" marT="38100" marB="38100" anchor="ctr">
                    <a:solidFill>
                      <a:srgbClr val="FFFFFF"/>
                    </a:solidFill>
                  </a:tcPr>
                </a:tc>
                <a:tc>
                  <a:txBody>
                    <a:bodyPr/>
                    <a:lstStyle/>
                    <a:p>
                      <a:r>
                        <a:rPr sz="1200" b="0" i="0">
                          <a:solidFill>
                            <a:srgbClr val="1A1440"/>
                          </a:solidFill>
                          <a:latin typeface="Calibri"/>
                        </a:rPr>
                        <a:t>83</a:t>
                      </a:r>
                    </a:p>
                  </a:txBody>
                  <a:tcPr marL="101600" marR="101600" marT="38100" marB="38100" anchor="ctr">
                    <a:solidFill>
                      <a:srgbClr val="FFFFFF"/>
                    </a:solidFill>
                  </a:tcPr>
                </a:tc>
                <a:tc>
                  <a:txBody>
                    <a:bodyPr/>
                    <a:lstStyle/>
                    <a:p>
                      <a:r>
                        <a:rPr sz="1200" b="0" i="0">
                          <a:solidFill>
                            <a:srgbClr val="1A1440"/>
                          </a:solidFill>
                          <a:latin typeface="Calibri"/>
                        </a:rPr>
                        <a:t>Rs 31,50,000</a:t>
                      </a:r>
                    </a:p>
                  </a:txBody>
                  <a:tcPr marL="101600" marR="101600" marT="38100" marB="38100" anchor="ctr">
                    <a:solidFill>
                      <a:srgbClr val="FFFFFF"/>
                    </a:solidFill>
                  </a:tcPr>
                </a:tc>
                <a:tc>
                  <a:txBody>
                    <a:bodyPr/>
                    <a:lstStyle/>
                    <a:p>
                      <a:r>
                        <a:rPr sz="1200" b="0" i="0">
                          <a:solidFill>
                            <a:srgbClr val="1A1440"/>
                          </a:solidFill>
                          <a:latin typeface="Calibri"/>
                        </a:rPr>
                        <a:t>Rs 40,00,000</a:t>
                      </a:r>
                    </a:p>
                  </a:txBody>
                  <a:tcPr marL="101600" marR="101600" marT="38100" marB="38100" anchor="ctr">
                    <a:solidFill>
                      <a:srgbClr val="FFFFFF"/>
                    </a:solidFill>
                  </a:tcPr>
                </a:tc>
              </a:tr>
              <a:tr h="335280">
                <a:tc>
                  <a:txBody>
                    <a:bodyPr/>
                    <a:lstStyle/>
                    <a:p>
                      <a:r>
                        <a:rPr sz="1200" b="0" i="0">
                          <a:solidFill>
                            <a:srgbClr val="1A1440"/>
                          </a:solidFill>
                          <a:latin typeface="Calibri"/>
                        </a:rPr>
                        <a:t>Q2</a:t>
                      </a:r>
                    </a:p>
                  </a:txBody>
                  <a:tcPr marL="101600" marR="101600" marT="38100" marB="38100" anchor="ctr">
                    <a:solidFill>
                      <a:srgbClr val="F4F2FA"/>
                    </a:solidFill>
                  </a:tcPr>
                </a:tc>
                <a:tc>
                  <a:txBody>
                    <a:bodyPr/>
                    <a:lstStyle/>
                    <a:p>
                      <a:r>
                        <a:rPr sz="1200" b="0" i="0">
                          <a:solidFill>
                            <a:srgbClr val="1A1440"/>
                          </a:solidFill>
                          <a:latin typeface="Calibri"/>
                        </a:rPr>
                        <a:t>92</a:t>
                      </a:r>
                    </a:p>
                  </a:txBody>
                  <a:tcPr marL="101600" marR="101600" marT="38100" marB="38100" anchor="ctr">
                    <a:solidFill>
                      <a:srgbClr val="F4F2FA"/>
                    </a:solidFill>
                  </a:tcPr>
                </a:tc>
                <a:tc>
                  <a:txBody>
                    <a:bodyPr/>
                    <a:lstStyle/>
                    <a:p>
                      <a:r>
                        <a:rPr sz="1200" b="0" i="0">
                          <a:solidFill>
                            <a:srgbClr val="1A1440"/>
                          </a:solidFill>
                          <a:latin typeface="Calibri"/>
                        </a:rPr>
                        <a:t>84</a:t>
                      </a:r>
                    </a:p>
                  </a:txBody>
                  <a:tcPr marL="101600" marR="101600" marT="38100" marB="38100" anchor="ctr">
                    <a:solidFill>
                      <a:srgbClr val="F4F2FA"/>
                    </a:solidFill>
                  </a:tcPr>
                </a:tc>
                <a:tc>
                  <a:txBody>
                    <a:bodyPr/>
                    <a:lstStyle/>
                    <a:p>
                      <a:r>
                        <a:rPr sz="1200" b="0" i="0">
                          <a:solidFill>
                            <a:srgbClr val="1A1440"/>
                          </a:solidFill>
                          <a:latin typeface="Calibri"/>
                        </a:rPr>
                        <a:t>Rs 38,16,420</a:t>
                      </a:r>
                    </a:p>
                  </a:txBody>
                  <a:tcPr marL="101600" marR="101600" marT="38100" marB="38100" anchor="ctr">
                    <a:solidFill>
                      <a:srgbClr val="F4F2FA"/>
                    </a:solidFill>
                  </a:tcPr>
                </a:tc>
                <a:tc>
                  <a:txBody>
                    <a:bodyPr/>
                    <a:lstStyle/>
                    <a:p>
                      <a:r>
                        <a:rPr sz="1200" b="0" i="0">
                          <a:solidFill>
                            <a:srgbClr val="1A1440"/>
                          </a:solidFill>
                          <a:latin typeface="Calibri"/>
                        </a:rPr>
                        <a:t>Rs 26,00,000</a:t>
                      </a:r>
                    </a:p>
                  </a:txBody>
                  <a:tcPr marL="101600" marR="101600" marT="38100" marB="38100" anchor="ctr">
                    <a:solidFill>
                      <a:srgbClr val="F4F2FA"/>
                    </a:solidFill>
                  </a:tcPr>
                </a:tc>
              </a:tr>
            </a:tbl>
          </a:graphicData>
        </a:graphic>
      </p:graphicFrame>
      <p:sp>
        <p:nvSpPr>
          <p:cNvPr id="10" name="TextBox 9"/>
          <p:cNvSpPr txBox="1"/>
          <p:nvPr/>
        </p:nvSpPr>
        <p:spPr>
          <a:xfrm>
            <a:off x="530352" y="321868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Q1 has the right count and the wrong rupees, and Q2 has too many rows and too many rupees, so the invented headline carries both errors.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 the quarters tie?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5" name="Oval 1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52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checks, sized: only C lands on the books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checks should run, and what does each one cost?</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069921"/>
                <a:gridCol w="1591130"/>
                <a:gridCol w="2013642"/>
                <a:gridCol w="2410153"/>
                <a:gridCol w="2046143"/>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Analyst minutes</a:t>
                      </a:r>
                    </a:p>
                  </a:txBody>
                  <a:tcPr marL="101600" marR="101600" marT="38100" marB="38100" anchor="ctr">
                    <a:solidFill>
                      <a:srgbClr val="1A0F5C"/>
                    </a:solidFill>
                  </a:tcPr>
                </a:tc>
                <a:tc>
                  <a:txBody>
                    <a:bodyPr/>
                    <a:lstStyle/>
                    <a:p>
                      <a:r>
                        <a:rPr sz="1250" b="1" i="0">
                          <a:solidFill>
                            <a:srgbClr val="FFFFFF"/>
                          </a:solidFill>
                          <a:latin typeface="Calibri"/>
                        </a:rPr>
                        <a:t>Needs</a:t>
                      </a:r>
                    </a:p>
                  </a:txBody>
                  <a:tcPr marL="101600" marR="101600" marT="38100" marB="38100" anchor="ctr">
                    <a:solidFill>
                      <a:srgbClr val="1A0F5C"/>
                    </a:solidFill>
                  </a:tcPr>
                </a:tc>
                <a:tc>
                  <a:txBody>
                    <a:bodyPr/>
                    <a:lstStyle/>
                    <a:p>
                      <a:r>
                        <a:rPr sz="1250" b="1" i="0">
                          <a:solidFill>
                            <a:srgbClr val="FFFFFF"/>
                          </a:solidFill>
                          <a:latin typeface="Calibri"/>
                        </a:rPr>
                        <a:t>Headline it lets through</a:t>
                      </a:r>
                    </a:p>
                  </a:txBody>
                  <a:tcPr marL="101600" marR="101600" marT="38100" marB="38100" anchor="ctr">
                    <a:solidFill>
                      <a:srgbClr val="1A0F5C"/>
                    </a:solidFill>
                  </a:tcPr>
                </a:tc>
                <a:tc>
                  <a:txBody>
                    <a:bodyPr/>
                    <a:lstStyle/>
                    <a:p>
                      <a:r>
                        <a:rPr sz="1250" b="1" i="0">
                          <a:solidFill>
                            <a:srgbClr val="FFFFFF"/>
                          </a:solidFill>
                          <a:latin typeface="Calibri"/>
                        </a:rPr>
                        <a:t>Points off the books</a:t>
                      </a:r>
                    </a:p>
                  </a:txBody>
                  <a:tcPr marL="101600" marR="101600" marT="38100" marB="38100" anchor="ctr">
                    <a:solidFill>
                      <a:srgbClr val="1A0F5C"/>
                    </a:solidFill>
                  </a:tcPr>
                </a:tc>
              </a:tr>
              <a:tr h="335280">
                <a:tc>
                  <a:txBody>
                    <a:bodyPr/>
                    <a:lstStyle/>
                    <a:p>
                      <a:r>
                        <a:rPr sz="1200" b="0" i="0">
                          <a:solidFill>
                            <a:srgbClr val="1A1440"/>
                          </a:solidFill>
                          <a:latin typeface="Calibri"/>
                        </a:rPr>
                        <a:t>A. Trust the pass</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nothing</a:t>
                      </a:r>
                    </a:p>
                  </a:txBody>
                  <a:tcPr marL="101600" marR="101600" marT="38100" marB="38100" anchor="ctr">
                    <a:solidFill>
                      <a:srgbClr val="FFFFFF"/>
                    </a:solidFill>
                  </a:tcPr>
                </a:tc>
                <a:tc>
                  <a:txBody>
                    <a:bodyPr/>
                    <a:lstStyle/>
                    <a:p>
                      <a:r>
                        <a:rPr sz="1200" b="0" i="0">
                          <a:solidFill>
                            <a:srgbClr val="1A1440"/>
                          </a:solidFill>
                          <a:latin typeface="Calibri"/>
                        </a:rPr>
                        <a:t>+21.2%</a:t>
                      </a:r>
                    </a:p>
                  </a:txBody>
                  <a:tcPr marL="101600" marR="101600" marT="38100" marB="38100" anchor="ctr">
                    <a:solidFill>
                      <a:srgbClr val="FFFFFF"/>
                    </a:solidFill>
                  </a:tcPr>
                </a:tc>
                <a:tc>
                  <a:txBody>
                    <a:bodyPr/>
                    <a:lstStyle/>
                    <a:p>
                      <a:r>
                        <a:rPr sz="1200" b="0" i="0">
                          <a:solidFill>
                            <a:srgbClr val="1A1440"/>
                          </a:solidFill>
                          <a:latin typeface="Calibri"/>
                        </a:rPr>
                        <a:t>56.2</a:t>
                      </a:r>
                    </a:p>
                  </a:txBody>
                  <a:tcPr marL="101600" marR="101600" marT="38100" marB="38100" anchor="ctr">
                    <a:solidFill>
                      <a:srgbClr val="FFFFFF"/>
                    </a:solidFill>
                  </a:tcPr>
                </a:tc>
              </a:tr>
              <a:tr h="335280">
                <a:tc>
                  <a:txBody>
                    <a:bodyPr/>
                    <a:lstStyle/>
                    <a:p>
                      <a:r>
                        <a:rPr sz="1200" b="0" i="0">
                          <a:solidFill>
                            <a:srgbClr val="1A1440"/>
                          </a:solidFill>
                          <a:latin typeface="Calibri"/>
                        </a:rPr>
                        <a:t>B. Count check only</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Finance's order counts</a:t>
                      </a:r>
                    </a:p>
                  </a:txBody>
                  <a:tcPr marL="101600" marR="101600" marT="38100" marB="38100" anchor="ctr">
                    <a:solidFill>
                      <a:srgbClr val="F4F2FA"/>
                    </a:solidFill>
                  </a:tcPr>
                </a:tc>
                <a:tc>
                  <a:txBody>
                    <a:bodyPr/>
                    <a:lstStyle/>
                    <a:p>
                      <a:r>
                        <a:rPr sz="1200" b="0" i="0">
                          <a:solidFill>
                            <a:srgbClr val="1A1440"/>
                          </a:solidFill>
                          <a:latin typeface="Calibri"/>
                        </a:rPr>
                        <a:t>-17.5%</a:t>
                      </a:r>
                    </a:p>
                  </a:txBody>
                  <a:tcPr marL="101600" marR="101600" marT="38100" marB="38100" anchor="ctr">
                    <a:solidFill>
                      <a:srgbClr val="F4F2FA"/>
                    </a:solidFill>
                  </a:tcPr>
                </a:tc>
                <a:tc>
                  <a:txBody>
                    <a:bodyPr/>
                    <a:lstStyle/>
                    <a:p>
                      <a:r>
                        <a:rPr sz="1200" b="0" i="0">
                          <a:solidFill>
                            <a:srgbClr val="1A1440"/>
                          </a:solidFill>
                          <a:latin typeface="Calibri"/>
                        </a:rPr>
                        <a:t>17.5</a:t>
                      </a:r>
                    </a:p>
                  </a:txBody>
                  <a:tcPr marL="101600" marR="101600" marT="38100" marB="38100" anchor="ctr">
                    <a:solidFill>
                      <a:srgbClr val="F4F2FA"/>
                    </a:solidFill>
                  </a:tcPr>
                </a:tc>
              </a:tr>
              <a:tr h="335280">
                <a:tc>
                  <a:txBody>
                    <a:bodyPr/>
                    <a:lstStyle/>
                    <a:p>
                      <a:r>
                        <a:rPr sz="1200" b="0" i="0">
                          <a:solidFill>
                            <a:srgbClr val="1A1440"/>
                          </a:solidFill>
                          <a:latin typeface="Calibri"/>
                        </a:rPr>
                        <a:t>C. Counts and rupees, with a bridge</a:t>
                      </a:r>
                    </a:p>
                  </a:txBody>
                  <a:tcPr marL="101600" marR="101600" marT="38100" marB="38100" anchor="ctr">
                    <a:solidFill>
                      <a:srgbClr val="FFFFFF"/>
                    </a:solidFill>
                  </a:tcPr>
                </a:tc>
                <a:tc>
                  <a:txBody>
                    <a:bodyPr/>
                    <a:lstStyle/>
                    <a:p>
                      <a:r>
                        <a:rPr sz="1200" b="0" i="0">
                          <a:solidFill>
                            <a:srgbClr val="1A1440"/>
                          </a:solidFill>
                          <a:latin typeface="Calibri"/>
                        </a:rPr>
                        <a:t>15</a:t>
                      </a:r>
                    </a:p>
                  </a:txBody>
                  <a:tcPr marL="101600" marR="101600" marT="38100" marB="38100" anchor="ctr">
                    <a:solidFill>
                      <a:srgbClr val="FFFFFF"/>
                    </a:solidFill>
                  </a:tcPr>
                </a:tc>
                <a:tc>
                  <a:txBody>
                    <a:bodyPr/>
                    <a:lstStyle/>
                    <a:p>
                      <a:r>
                        <a:rPr sz="1200" b="0" i="0">
                          <a:solidFill>
                            <a:srgbClr val="1A1440"/>
                          </a:solidFill>
                          <a:latin typeface="Calibri"/>
                        </a:rPr>
                        <a:t>Finance's rupee totals</a:t>
                      </a:r>
                    </a:p>
                  </a:txBody>
                  <a:tcPr marL="101600" marR="101600" marT="38100" marB="38100" anchor="ctr">
                    <a:solidFill>
                      <a:srgbClr val="FFFFFF"/>
                    </a:solidFill>
                  </a:tcPr>
                </a:tc>
                <a:tc>
                  <a:txBody>
                    <a:bodyPr/>
                    <a:lstStyle/>
                    <a:p>
                      <a:r>
                        <a:rPr sz="1200" b="0" i="0">
                          <a:solidFill>
                            <a:srgbClr val="1A1440"/>
                          </a:solidFill>
                          <a:latin typeface="Calibri"/>
                        </a:rPr>
                        <a:t>-35.0%</a:t>
                      </a:r>
                    </a:p>
                  </a:txBody>
                  <a:tcPr marL="101600" marR="101600" marT="38100" marB="38100" anchor="ctr">
                    <a:solidFill>
                      <a:srgbClr val="FFFFFF"/>
                    </a:solidFill>
                  </a:tcPr>
                </a:tc>
                <a:tc>
                  <a:txBody>
                    <a:bodyPr/>
                    <a:lstStyle/>
                    <a:p>
                      <a:r>
                        <a:rPr sz="1200" b="0" i="0">
                          <a:solidFill>
                            <a:srgbClr val="1A1440"/>
                          </a:solidFill>
                          <a:latin typeface="Calibri"/>
                        </a:rPr>
                        <a:t>0.0</a:t>
                      </a:r>
                    </a:p>
                  </a:txBody>
                  <a:tcPr marL="101600" marR="101600" marT="38100" marB="38100" anchor="ctr">
                    <a:solidFill>
                      <a:srgbClr val="FFFFFF"/>
                    </a:solidFill>
                  </a:tcPr>
                </a:tc>
              </a:tr>
              <a:tr h="335280">
                <a:tc>
                  <a:txBody>
                    <a:bodyPr/>
                    <a:lstStyle/>
                    <a:p>
                      <a:r>
                        <a:rPr sz="1200" b="0" i="0">
                          <a:solidFill>
                            <a:srgbClr val="1A1440"/>
                          </a:solidFill>
                          <a:latin typeface="Calibri"/>
                        </a:rPr>
                        <a:t>D. Match every order to the ledger</a:t>
                      </a:r>
                    </a:p>
                  </a:txBody>
                  <a:tcPr marL="101600" marR="101600" marT="38100" marB="38100" anchor="ctr">
                    <a:solidFill>
                      <a:srgbClr val="F4F2FA"/>
                    </a:solidFill>
                  </a:tcPr>
                </a:tc>
                <a:tc>
                  <a:txBody>
                    <a:bodyPr/>
                    <a:lstStyle/>
                    <a:p>
                      <a:r>
                        <a:rPr sz="1200" b="0" i="0">
                          <a:solidFill>
                            <a:srgbClr val="1A1440"/>
                          </a:solidFill>
                          <a:latin typeface="Calibri"/>
                        </a:rPr>
                        <a:t>about 120</a:t>
                      </a:r>
                    </a:p>
                  </a:txBody>
                  <a:tcPr marL="101600" marR="101600" marT="38100" marB="38100" anchor="ctr">
                    <a:solidFill>
                      <a:srgbClr val="F4F2FA"/>
                    </a:solidFill>
                  </a:tcPr>
                </a:tc>
                <a:tc>
                  <a:txBody>
                    <a:bodyPr/>
                    <a:lstStyle/>
                    <a:p>
                      <a:r>
                        <a:rPr sz="1200" b="0" i="0">
                          <a:solidFill>
                            <a:srgbClr val="1A1440"/>
                          </a:solidFill>
                          <a:latin typeface="Calibri"/>
                        </a:rPr>
                        <a:t>Finance's ledger</a:t>
                      </a:r>
                    </a:p>
                  </a:txBody>
                  <a:tcPr marL="101600" marR="101600" marT="38100" marB="38100" anchor="ctr">
                    <a:solidFill>
                      <a:srgbClr val="F4F2FA"/>
                    </a:solidFill>
                  </a:tcPr>
                </a:tc>
                <a:tc>
                  <a:txBody>
                    <a:bodyPr/>
                    <a:lstStyle/>
                    <a:p>
                      <a:r>
                        <a:rPr sz="1200" b="0" i="0">
                          <a:solidFill>
                            <a:srgbClr val="1A1440"/>
                          </a:solidFill>
                          <a:latin typeface="Calibri"/>
                        </a:rPr>
                        <a:t>not run: no ledger came</a:t>
                      </a:r>
                    </a:p>
                  </a:txBody>
                  <a:tcPr marL="101600" marR="101600" marT="38100" marB="38100" anchor="ctr">
                    <a:solidFill>
                      <a:srgbClr val="F4F2FA"/>
                    </a:solidFill>
                  </a:tcPr>
                </a:tc>
                <a:tc>
                  <a:txBody>
                    <a:bodyPr/>
                    <a:lstStyle/>
                    <a:p>
                      <a:r>
                        <a:rPr sz="1200" b="0" i="0">
                          <a:solidFill>
                            <a:srgbClr val="1A1440"/>
                          </a:solidFill>
                          <a:latin typeface="Calibri"/>
                        </a:rPr>
                        <a:t>not run</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5101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46074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255008"/>
            <a:ext cx="9987991" cy="941832"/>
          </a:xfrm>
          <a:prstGeom prst="rect">
            <a:avLst/>
          </a:prstGeom>
          <a:noFill/>
        </p:spPr>
        <p:txBody>
          <a:bodyPr wrap="square" anchor="t" lIns="0" rIns="0" tIns="0" bIns="0">
            <a:spAutoFit/>
          </a:bodyPr>
          <a:lstStyle/>
          <a:p>
            <a:r>
              <a:rPr sz="1500" b="0" i="0">
                <a:solidFill>
                  <a:srgbClr val="1A1440"/>
                </a:solidFill>
                <a:latin typeface="Calibri"/>
              </a:rPr>
              <a:t>On the invented export only C lands: it needs only the control file that came with the export, and its bridge walks the hurried total to Finance's, one explained move at a time. Switch to D when there is no control total, or when C's bridge will not close.</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 the quarters tie?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9" name="Oval 18"/>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52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Each check sees one more kind of error</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can each check see that the one before it cannot?</a:t>
            </a:r>
          </a:p>
        </p:txBody>
      </p:sp>
      <p:pic>
        <p:nvPicPr>
          <p:cNvPr id="10" name="mermaid diagram" descr="9be9ab82369d85d4.png"/>
          <p:cNvPicPr>
            <a:picLocks noChangeAspect="1"/>
          </p:cNvPicPr>
          <p:nvPr/>
        </p:nvPicPr>
        <p:blipFill>
          <a:blip r:embed="rId5"/>
          <a:stretch>
            <a:fillRect/>
          </a:stretch>
        </p:blipFill>
        <p:spPr>
          <a:xfrm>
            <a:off x="780897" y="1956816"/>
            <a:ext cx="10629900" cy="1600200"/>
          </a:xfrm>
          <a:prstGeom prst="rect">
            <a:avLst/>
          </a:prstGeom>
        </p:spPr>
      </p:pic>
      <p:sp>
        <p:nvSpPr>
          <p:cNvPr id="11" name="TextBox 10"/>
          <p:cNvSpPr txBox="1"/>
          <p:nvPr/>
        </p:nvSpPr>
        <p:spPr>
          <a:xfrm>
            <a:off x="530352" y="37033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step to the right costs more and needs more from Finance, and C is the first that lands on the books.</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 the quarters tie?</a:t>
            </a:r>
          </a:p>
        </p:txBody>
      </p:sp>
      <p:sp>
        <p:nvSpPr>
          <p:cNvPr id="14" name="Oval 1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6" name="Oval 1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D9  ·  11 / 52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the count check leave behind?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Once every order count lands on Finance's, what can still be wrong in the invented export?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the rows that repeat an order, which the check has not yet removed; b) a value inside a kept row, which the check cannot see; c) nothing, since the counts now land on the books; d) the order ids, which the check trusts without reading.</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 the quarters tie?</a:t>
            </a:r>
          </a:p>
        </p:txBody>
      </p:sp>
      <p:sp>
        <p:nvSpPr>
          <p:cNvPr id="14" name="Oval 1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6" name="Oval 1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52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value inside a kept row, and Q1 is short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one row per order id fix, and what does it leave?</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kept = {}</a:t>
            </a:r>
          </a:p>
          <a:p>
            <a:pPr>
              <a:spcAft>
                <a:spcPts val="200"/>
              </a:spcAft>
            </a:pPr>
            <a:r>
              <a:rPr sz="1400" b="0" i="0">
                <a:solidFill>
                  <a:srgbClr val="E4E1F1"/>
                </a:solidFill>
                <a:latin typeface="Consolas"/>
              </a:rPr>
              <a:t>for r in rows:</a:t>
            </a:r>
          </a:p>
          <a:p>
            <a:pPr>
              <a:spcAft>
                <a:spcPts val="200"/>
              </a:spcAft>
            </a:pPr>
            <a:r>
              <a:rPr sz="1400" b="0" i="0">
                <a:solidFill>
                  <a:srgbClr val="E4E1F1"/>
                </a:solidFill>
                <a:latin typeface="Consolas"/>
              </a:rPr>
              <a:t>    kept.setdefault(r["order_id"], r)   # Wednesday's identity rule</a:t>
            </a:r>
          </a:p>
        </p:txBody>
      </p:sp>
      <p:sp>
        <p:nvSpPr>
          <p:cNvPr id="14" name="TextBox 13"/>
          <p:cNvSpPr txBox="1"/>
          <p:nvPr/>
        </p:nvSpPr>
        <p:spPr>
          <a:xfrm>
            <a:off x="530352" y="3336036"/>
            <a:ext cx="3527450" cy="571500"/>
          </a:xfrm>
          <a:prstGeom prst="rect">
            <a:avLst/>
          </a:prstGeom>
          <a:noFill/>
        </p:spPr>
        <p:txBody>
          <a:bodyPr wrap="square" anchor="t" lIns="0" rIns="0" tIns="0" bIns="0">
            <a:spAutoFit/>
          </a:bodyPr>
          <a:lstStyle/>
          <a:p>
            <a:pPr algn="l"/>
            <a:r>
              <a:rPr sz="3600" b="0" i="0">
                <a:solidFill>
                  <a:srgbClr val="5B3FD6"/>
                </a:solidFill>
                <a:latin typeface="Georgia"/>
              </a:rPr>
              <a:t>83 and 84</a:t>
            </a:r>
          </a:p>
        </p:txBody>
      </p:sp>
      <p:sp>
        <p:nvSpPr>
          <p:cNvPr id="15" name="TextBox 14"/>
          <p:cNvSpPr txBox="1"/>
          <p:nvPr/>
        </p:nvSpPr>
        <p:spPr>
          <a:xfrm>
            <a:off x="530352" y="3944111"/>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KEPT</a:t>
            </a:r>
          </a:p>
        </p:txBody>
      </p:sp>
      <p:sp>
        <p:nvSpPr>
          <p:cNvPr id="16" name="TextBox 15"/>
          <p:cNvSpPr txBox="1"/>
          <p:nvPr/>
        </p:nvSpPr>
        <p:spPr>
          <a:xfrm>
            <a:off x="530352" y="4145279"/>
            <a:ext cx="3527450" cy="193421"/>
          </a:xfrm>
          <a:prstGeom prst="rect">
            <a:avLst/>
          </a:prstGeom>
          <a:noFill/>
        </p:spPr>
        <p:txBody>
          <a:bodyPr wrap="square" anchor="t" lIns="0" rIns="0" tIns="0" bIns="0">
            <a:spAutoFit/>
          </a:bodyPr>
          <a:lstStyle/>
          <a:p>
            <a:pPr algn="l"/>
            <a:r>
              <a:rPr sz="950" b="0" i="0">
                <a:solidFill>
                  <a:srgbClr val="6B6690"/>
                </a:solidFill>
                <a:latin typeface="Calibri"/>
              </a:rPr>
              <a:t>Finance: 83 and 84, invented</a:t>
            </a:r>
          </a:p>
        </p:txBody>
      </p:sp>
      <p:sp>
        <p:nvSpPr>
          <p:cNvPr id="17" name="Rectangle 16"/>
          <p:cNvSpPr/>
          <p:nvPr/>
        </p:nvSpPr>
        <p:spPr>
          <a:xfrm>
            <a:off x="530352" y="452475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336036"/>
            <a:ext cx="3527450" cy="571500"/>
          </a:xfrm>
          <a:prstGeom prst="rect">
            <a:avLst/>
          </a:prstGeom>
          <a:noFill/>
        </p:spPr>
        <p:txBody>
          <a:bodyPr wrap="square" anchor="t" lIns="0" rIns="0" tIns="0" bIns="0">
            <a:spAutoFit/>
          </a:bodyPr>
          <a:lstStyle/>
          <a:p>
            <a:pPr algn="l"/>
            <a:r>
              <a:rPr sz="3600" b="0" i="0">
                <a:solidFill>
                  <a:srgbClr val="5B3FD6"/>
                </a:solidFill>
                <a:latin typeface="Georgia"/>
              </a:rPr>
              <a:t>Rs 31,50,000</a:t>
            </a:r>
          </a:p>
        </p:txBody>
      </p:sp>
      <p:sp>
        <p:nvSpPr>
          <p:cNvPr id="19" name="TextBox 18"/>
          <p:cNvSpPr txBox="1"/>
          <p:nvPr/>
        </p:nvSpPr>
        <p:spPr>
          <a:xfrm>
            <a:off x="4332122" y="3944111"/>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KEPT</a:t>
            </a:r>
          </a:p>
        </p:txBody>
      </p:sp>
      <p:sp>
        <p:nvSpPr>
          <p:cNvPr id="20" name="TextBox 19"/>
          <p:cNvSpPr txBox="1"/>
          <p:nvPr/>
        </p:nvSpPr>
        <p:spPr>
          <a:xfrm>
            <a:off x="4332122" y="4145279"/>
            <a:ext cx="3527450" cy="193421"/>
          </a:xfrm>
          <a:prstGeom prst="rect">
            <a:avLst/>
          </a:prstGeom>
          <a:noFill/>
        </p:spPr>
        <p:txBody>
          <a:bodyPr wrap="square" anchor="t" lIns="0" rIns="0" tIns="0" bIns="0">
            <a:spAutoFit/>
          </a:bodyPr>
          <a:lstStyle/>
          <a:p>
            <a:pPr algn="l"/>
            <a:r>
              <a:rPr sz="950" b="0" i="0">
                <a:solidFill>
                  <a:srgbClr val="6B6690"/>
                </a:solidFill>
                <a:latin typeface="Calibri"/>
              </a:rPr>
              <a:t>Finance: Rs 40,00,000</a:t>
            </a:r>
          </a:p>
        </p:txBody>
      </p:sp>
      <p:sp>
        <p:nvSpPr>
          <p:cNvPr id="21" name="Rectangle 20"/>
          <p:cNvSpPr/>
          <p:nvPr/>
        </p:nvSpPr>
        <p:spPr>
          <a:xfrm>
            <a:off x="4332122" y="452475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336036"/>
            <a:ext cx="3527450" cy="571500"/>
          </a:xfrm>
          <a:prstGeom prst="rect">
            <a:avLst/>
          </a:prstGeom>
          <a:noFill/>
        </p:spPr>
        <p:txBody>
          <a:bodyPr wrap="square" anchor="t" lIns="0" rIns="0" tIns="0" bIns="0">
            <a:spAutoFit/>
          </a:bodyPr>
          <a:lstStyle/>
          <a:p>
            <a:pPr algn="l"/>
            <a:r>
              <a:rPr sz="3600" b="0" i="0">
                <a:solidFill>
                  <a:srgbClr val="5B3FD6"/>
                </a:solidFill>
                <a:latin typeface="Georgia"/>
              </a:rPr>
              <a:t>-17.5%</a:t>
            </a:r>
          </a:p>
        </p:txBody>
      </p:sp>
      <p:sp>
        <p:nvSpPr>
          <p:cNvPr id="23" name="TextBox 22"/>
          <p:cNvSpPr txBox="1"/>
          <p:nvPr/>
        </p:nvSpPr>
        <p:spPr>
          <a:xfrm>
            <a:off x="8133892" y="3944111"/>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TO Q2</a:t>
            </a:r>
          </a:p>
        </p:txBody>
      </p:sp>
      <p:sp>
        <p:nvSpPr>
          <p:cNvPr id="24" name="TextBox 23"/>
          <p:cNvSpPr txBox="1"/>
          <p:nvPr/>
        </p:nvSpPr>
        <p:spPr>
          <a:xfrm>
            <a:off x="8133892" y="4145279"/>
            <a:ext cx="3527450" cy="193421"/>
          </a:xfrm>
          <a:prstGeom prst="rect">
            <a:avLst/>
          </a:prstGeom>
          <a:noFill/>
        </p:spPr>
        <p:txBody>
          <a:bodyPr wrap="square" anchor="t" lIns="0" rIns="0" tIns="0" bIns="0">
            <a:spAutoFit/>
          </a:bodyPr>
          <a:lstStyle/>
          <a:p>
            <a:pPr algn="l"/>
            <a:r>
              <a:rPr sz="950" b="0" i="0">
                <a:solidFill>
                  <a:srgbClr val="6B6690"/>
                </a:solidFill>
                <a:latin typeface="Calibri"/>
              </a:rPr>
              <a:t>the right way round, at half the size</a:t>
            </a:r>
          </a:p>
        </p:txBody>
      </p:sp>
      <p:sp>
        <p:nvSpPr>
          <p:cNvPr id="25" name="Rectangle 24"/>
          <p:cNvSpPr/>
          <p:nvPr/>
        </p:nvSpPr>
        <p:spPr>
          <a:xfrm>
            <a:off x="8133892" y="452475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 the quarters tie?</a:t>
            </a:r>
          </a:p>
        </p:txBody>
      </p:sp>
      <p:sp>
        <p:nvSpPr>
          <p:cNvPr id="28" name="Oval 2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30" name="Oval 29"/>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52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move in the bridge is larger?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Walking the invented hurried sum to Finance's total, which move carries more rupees?</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the rows Finance does not hold; b) the value that would not convert; c) they are equal; d) neither, since the walk closes with no moves.</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 the quarters tie?</a:t>
            </a:r>
          </a:p>
        </p:txBody>
      </p:sp>
      <p:sp>
        <p:nvSpPr>
          <p:cNvPr id="14" name="Oval 1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6" name="Oval 1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52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rows Finance does not hold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two moves walk the hurried sum to Finance's total?</a:t>
            </a:r>
          </a:p>
        </p:txBody>
      </p:sp>
      <p:pic>
        <p:nvPicPr>
          <p:cNvPr id="9" name="mermaid diagram" descr="0cef522850151bdb.png"/>
          <p:cNvPicPr>
            <a:picLocks noChangeAspect="1"/>
          </p:cNvPicPr>
          <p:nvPr/>
        </p:nvPicPr>
        <p:blipFill>
          <a:blip r:embed="rId5"/>
          <a:stretch>
            <a:fillRect/>
          </a:stretch>
        </p:blipFill>
        <p:spPr>
          <a:xfrm>
            <a:off x="530352" y="1956816"/>
            <a:ext cx="11130991" cy="2120746"/>
          </a:xfrm>
          <a:prstGeom prst="rect">
            <a:avLst/>
          </a:prstGeom>
        </p:spPr>
      </p:pic>
      <p:sp>
        <p:nvSpPr>
          <p:cNvPr id="10" name="TextBox 9"/>
          <p:cNvSpPr txBox="1"/>
          <p:nvPr/>
        </p:nvSpPr>
        <p:spPr>
          <a:xfrm>
            <a:off x="530352" y="422386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With both quarters on the books, the invented headline is a fall of 35.0 percent, Rs 40,00,000 to Rs 26,00,000: the sign changed, so the decision changes.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 the quarters tie?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5" name="Oval 1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52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wrong sign changes the decision itself</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would Meera have done with each headline?</a:t>
            </a:r>
          </a:p>
        </p:txBody>
      </p:sp>
      <p:sp>
        <p:nvSpPr>
          <p:cNvPr id="9" name="Rounded Rectangle 8"/>
          <p:cNvSpPr/>
          <p:nvPr/>
        </p:nvSpPr>
        <p:spPr>
          <a:xfrm>
            <a:off x="53035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ircle-x_e5d65e9a98bd.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HURRIED NOTE, INVENTED</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Q2 grew 21.2%</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No investigation, and Monday's review hears the quarter was fine.</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ircle-alert_2885187cc141.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COUNTS CHECKED, INVENTED</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Q2 fell 17.5%</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right direction at half the size, so the fix gets half the attention.</a:t>
            </a:r>
          </a:p>
        </p:txBody>
      </p:sp>
      <p:sp>
        <p:nvSpPr>
          <p:cNvPr id="21" name="Rounded Rectangle 20"/>
          <p:cNvSpPr/>
          <p:nvPr/>
        </p:nvSpPr>
        <p:spPr>
          <a:xfrm>
            <a:off x="807293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ircle-check_5bfb0e0fcdf2.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COUNTS AND RUPEES, INVENTED</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Q2 fell 35.0%</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Rs 14,00,000 to explain, and the tree says where.</a:t>
            </a:r>
          </a:p>
        </p:txBody>
      </p:sp>
      <p:sp>
        <p:nvSpPr>
          <p:cNvPr id="27" name="Rounded Rectangle 26"/>
          <p:cNvSpPr/>
          <p:nvPr/>
        </p:nvSpPr>
        <p:spPr>
          <a:xfrm>
            <a:off x="530352" y="41041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4363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mic_caee7398c80d.png"/>
          <p:cNvPicPr>
            <a:picLocks noChangeAspect="1"/>
          </p:cNvPicPr>
          <p:nvPr/>
        </p:nvPicPr>
        <p:blipFill>
          <a:blip r:embed="rId7"/>
          <a:stretch>
            <a:fillRect/>
          </a:stretch>
        </p:blipFill>
        <p:spPr>
          <a:xfrm>
            <a:off x="868680" y="4546092"/>
            <a:ext cx="237744" cy="237744"/>
          </a:xfrm>
          <a:prstGeom prst="rect">
            <a:avLst/>
          </a:prstGeom>
        </p:spPr>
      </p:pic>
      <p:sp>
        <p:nvSpPr>
          <p:cNvPr id="30" name="TextBox 29"/>
          <p:cNvSpPr txBox="1"/>
          <p:nvPr/>
        </p:nvSpPr>
        <p:spPr>
          <a:xfrm>
            <a:off x="1399031" y="42504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1" name="TextBox 30"/>
          <p:cNvSpPr txBox="1"/>
          <p:nvPr/>
        </p:nvSpPr>
        <p:spPr>
          <a:xfrm>
            <a:off x="1399031" y="4469892"/>
            <a:ext cx="9987991" cy="682752"/>
          </a:xfrm>
          <a:prstGeom prst="rect">
            <a:avLst/>
          </a:prstGeom>
          <a:noFill/>
        </p:spPr>
        <p:txBody>
          <a:bodyPr wrap="square" anchor="t" lIns="0" rIns="0" tIns="0" bIns="0">
            <a:spAutoFit/>
          </a:bodyPr>
          <a:lstStyle/>
          <a:p>
            <a:r>
              <a:rPr sz="1500" b="0" i="0">
                <a:solidFill>
                  <a:srgbClr val="1A1440"/>
                </a:solidFill>
                <a:latin typeface="Calibri"/>
              </a:rPr>
              <a:t>[F] You have two hours and a raw export; what do you do first, and what do you skip? Profile first, and never skip the reconciliation: it costs fifteen minutes and can flip the headline's sign.</a:t>
            </a:r>
          </a:p>
        </p:txBody>
      </p:sp>
      <p:sp>
        <p:nvSpPr>
          <p:cNvPr id="32" name="Oval 3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 the quarters tie?</a:t>
            </a:r>
          </a:p>
        </p:txBody>
      </p:sp>
      <p:sp>
        <p:nvSpPr>
          <p:cNvPr id="34" name="Oval 3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36" name="Oval 3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52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Summed on their own, the decisions match the bridge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sum of the decisions themselves land on the bridge's two moves?</a:t>
            </a:r>
          </a:p>
        </p:txBody>
      </p:sp>
      <p:pic>
        <p:nvPicPr>
          <p:cNvPr id="9" name="mermaid diagram" descr="bb42294fe8986a18.png"/>
          <p:cNvPicPr>
            <a:picLocks noChangeAspect="1"/>
          </p:cNvPicPr>
          <p:nvPr/>
        </p:nvPicPr>
        <p:blipFill>
          <a:blip r:embed="rId6"/>
          <a:stretch>
            <a:fillRect/>
          </a:stretch>
        </p:blipFill>
        <p:spPr>
          <a:xfrm>
            <a:off x="530352" y="2059771"/>
            <a:ext cx="4786326" cy="3762584"/>
          </a:xfrm>
          <a:prstGeom prst="rect">
            <a:avLst/>
          </a:prstGeom>
        </p:spPr>
      </p:pic>
      <p:sp>
        <p:nvSpPr>
          <p:cNvPr id="10" name="Rounded Rectangle 9"/>
          <p:cNvSpPr/>
          <p:nvPr/>
        </p:nvSpPr>
        <p:spPr>
          <a:xfrm>
            <a:off x="5761917" y="1956816"/>
            <a:ext cx="5899425" cy="21579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8072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6100245" y="291693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6630597" y="2322576"/>
            <a:ext cx="4756425" cy="1719072"/>
          </a:xfrm>
          <a:prstGeom prst="rect">
            <a:avLst/>
          </a:prstGeom>
          <a:noFill/>
        </p:spPr>
        <p:txBody>
          <a:bodyPr wrap="square" anchor="t" lIns="0" rIns="0" tIns="0" bIns="0">
            <a:spAutoFit/>
          </a:bodyPr>
          <a:lstStyle/>
          <a:p>
            <a:r>
              <a:rPr sz="1500" b="0" i="0">
                <a:solidFill>
                  <a:srgbClr val="1A1440"/>
                </a:solidFill>
                <a:latin typeface="Calibri"/>
              </a:rPr>
              <a:t>Show Finance the forward bridge, because it starts from their export, and run these two sums before you send it: on the invented export they prove every rupee the bridge moved is a row set aside or a value in the log. Whether each decision was right is the order-level match's question.</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 the quarters tie?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9" name="Oval 18"/>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52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Repeats read as members ordering more often</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the same repeated rows move a branch of the tree?</a:t>
            </a:r>
          </a:p>
        </p:txBody>
      </p:sp>
      <p:pic>
        <p:nvPicPr>
          <p:cNvPr id="10" name="mermaid diagram" descr="525a5c7390af5d35.png"/>
          <p:cNvPicPr>
            <a:picLocks noChangeAspect="1"/>
          </p:cNvPicPr>
          <p:nvPr/>
        </p:nvPicPr>
        <p:blipFill>
          <a:blip r:embed="rId5"/>
          <a:stretch>
            <a:fillRect/>
          </a:stretch>
        </p:blipFill>
        <p:spPr>
          <a:xfrm>
            <a:off x="3818049" y="1664208"/>
            <a:ext cx="4555595" cy="3808984"/>
          </a:xfrm>
          <a:prstGeom prst="rect">
            <a:avLst/>
          </a:prstGeom>
        </p:spPr>
      </p:pic>
      <p:sp>
        <p:nvSpPr>
          <p:cNvPr id="11" name="TextBox 10"/>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On the invented export, rows Finance does not hold manufacture a frequency rise where nothing changed, and hide a basket fall behind a tier that looks steady. Chapter 3 reads the clean tree.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 the quarters tie?</a:t>
            </a:r>
          </a:p>
        </p:txBody>
      </p:sp>
      <p:sp>
        <p:nvSpPr>
          <p:cNvPr id="14" name="Oval 1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6" name="Oval 1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D16  ·  18 / 52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Only once counts and rupees both land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two quarters in your note match Finance's books?</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4544555"/>
                <a:gridCol w="6586435"/>
              </a:tblGrid>
              <a:tr h="369824">
                <a:tc>
                  <a:txBody>
                    <a:bodyPr/>
                    <a:lstStyle/>
                    <a:p>
                      <a:r>
                        <a:rPr sz="1450" b="1" i="0">
                          <a:solidFill>
                            <a:srgbClr val="FFFFFF"/>
                          </a:solidFill>
                          <a:latin typeface="Calibri"/>
                        </a:rPr>
                        <a:t>The question</a:t>
                      </a:r>
                    </a:p>
                  </a:txBody>
                  <a:tcPr marL="101600" marR="101600" marT="38100" marB="38100" anchor="ctr">
                    <a:solidFill>
                      <a:srgbClr val="1A0F5C"/>
                    </a:solidFill>
                  </a:tcPr>
                </a:tc>
                <a:tc>
                  <a:txBody>
                    <a:bodyPr/>
                    <a:lstStyle/>
                    <a:p>
                      <a:r>
                        <a:rPr sz="1450" b="1" i="0">
                          <a:solidFill>
                            <a:srgbClr val="FFFFFF"/>
                          </a:solidFill>
                          <a:latin typeface="Calibri"/>
                        </a:rPr>
                        <a:t>The answer, on the invented export</a:t>
                      </a:r>
                    </a:p>
                  </a:txBody>
                  <a:tcPr marL="101600" marR="101600" marT="38100" marB="38100" anchor="ctr">
                    <a:solidFill>
                      <a:srgbClr val="1A0F5C"/>
                    </a:solidFill>
                  </a:tcPr>
                </a:tc>
              </a:tr>
              <a:tr h="369824">
                <a:tc>
                  <a:txBody>
                    <a:bodyPr/>
                    <a:lstStyle/>
                    <a:p>
                      <a:r>
                        <a:rPr sz="1400" b="0" i="0">
                          <a:solidFill>
                            <a:srgbClr val="1A1440"/>
                          </a:solidFill>
                          <a:latin typeface="Calibri"/>
                        </a:rPr>
                        <a:t>What did the hurried pass send?</a:t>
                      </a:r>
                    </a:p>
                  </a:txBody>
                  <a:tcPr marL="101600" marR="101600" marT="38100" marB="38100" anchor="ctr">
                    <a:solidFill>
                      <a:srgbClr val="FFFFFF"/>
                    </a:solidFill>
                  </a:tcPr>
                </a:tc>
                <a:tc>
                  <a:txBody>
                    <a:bodyPr/>
                    <a:lstStyle/>
                    <a:p>
                      <a:r>
                        <a:rPr sz="1400" b="0" i="0">
                          <a:solidFill>
                            <a:srgbClr val="1A1440"/>
                          </a:solidFill>
                          <a:latin typeface="Calibri"/>
                        </a:rPr>
                        <a:t>Q2 up 21.2%, where the books say down 35.0%</a:t>
                      </a:r>
                    </a:p>
                  </a:txBody>
                  <a:tcPr marL="101600" marR="101600" marT="38100" marB="38100" anchor="ctr">
                    <a:solidFill>
                      <a:srgbClr val="FFFFFF"/>
                    </a:solidFill>
                  </a:tcPr>
                </a:tc>
              </a:tr>
              <a:tr h="369824">
                <a:tc>
                  <a:txBody>
                    <a:bodyPr/>
                    <a:lstStyle/>
                    <a:p>
                      <a:r>
                        <a:rPr sz="1400" b="0" i="0">
                          <a:solidFill>
                            <a:srgbClr val="1A1440"/>
                          </a:solidFill>
                          <a:latin typeface="Calibri"/>
                        </a:rPr>
                        <a:t>Which check, at what cost?</a:t>
                      </a:r>
                    </a:p>
                  </a:txBody>
                  <a:tcPr marL="101600" marR="101600" marT="38100" marB="38100" anchor="ctr">
                    <a:solidFill>
                      <a:srgbClr val="F4F2FA"/>
                    </a:solidFill>
                  </a:tcPr>
                </a:tc>
                <a:tc>
                  <a:txBody>
                    <a:bodyPr/>
                    <a:lstStyle/>
                    <a:p>
                      <a:r>
                        <a:rPr sz="1400" b="0" i="0">
                          <a:solidFill>
                            <a:srgbClr val="1A1440"/>
                          </a:solidFill>
                          <a:latin typeface="Calibri"/>
                        </a:rPr>
                        <a:t>C, counts and rupees with a bridge, 15 minutes</a:t>
                      </a:r>
                    </a:p>
                  </a:txBody>
                  <a:tcPr marL="101600" marR="101600" marT="38100" marB="38100" anchor="ctr">
                    <a:solidFill>
                      <a:srgbClr val="F4F2FA"/>
                    </a:solidFill>
                  </a:tcPr>
                </a:tc>
              </a:tr>
              <a:tr h="369824">
                <a:tc>
                  <a:txBody>
                    <a:bodyPr/>
                    <a:lstStyle/>
                    <a:p>
                      <a:r>
                        <a:rPr sz="1400" b="0" i="0">
                          <a:solidFill>
                            <a:srgbClr val="1A1440"/>
                          </a:solidFill>
                          <a:latin typeface="Calibri"/>
                        </a:rPr>
                        <a:t>What does a count check fix?</a:t>
                      </a:r>
                    </a:p>
                  </a:txBody>
                  <a:tcPr marL="101600" marR="101600" marT="38100" marB="38100" anchor="ctr">
                    <a:solidFill>
                      <a:srgbClr val="FFFFFF"/>
                    </a:solidFill>
                  </a:tcPr>
                </a:tc>
                <a:tc>
                  <a:txBody>
                    <a:bodyPr/>
                    <a:lstStyle/>
                    <a:p>
                      <a:r>
                        <a:rPr sz="1400" b="0" i="0">
                          <a:solidFill>
                            <a:srgbClr val="1A1440"/>
                          </a:solidFill>
                          <a:latin typeface="Calibri"/>
                        </a:rPr>
                        <a:t>The rows; the headline stays at -17.5%</a:t>
                      </a:r>
                    </a:p>
                  </a:txBody>
                  <a:tcPr marL="101600" marR="101600" marT="38100" marB="38100" anchor="ctr">
                    <a:solidFill>
                      <a:srgbClr val="FFFFFF"/>
                    </a:solidFill>
                  </a:tcPr>
                </a:tc>
              </a:tr>
              <a:tr h="369824">
                <a:tc>
                  <a:txBody>
                    <a:bodyPr/>
                    <a:lstStyle/>
                    <a:p>
                      <a:r>
                        <a:rPr sz="1400" b="0" i="0">
                          <a:solidFill>
                            <a:srgbClr val="1A1440"/>
                          </a:solidFill>
                          <a:latin typeface="Calibri"/>
                        </a:rPr>
                        <a:t>Which moves close the bridge?</a:t>
                      </a:r>
                    </a:p>
                  </a:txBody>
                  <a:tcPr marL="101600" marR="101600" marT="38100" marB="38100" anchor="ctr">
                    <a:solidFill>
                      <a:srgbClr val="F4F2FA"/>
                    </a:solidFill>
                  </a:tcPr>
                </a:tc>
                <a:tc>
                  <a:txBody>
                    <a:bodyPr/>
                    <a:lstStyle/>
                    <a:p>
                      <a:r>
                        <a:rPr sz="1400" b="0" i="0">
                          <a:solidFill>
                            <a:srgbClr val="1A1440"/>
                          </a:solidFill>
                          <a:latin typeface="Calibri"/>
                        </a:rPr>
                        <a:t>Rs 12,16,420 out, Rs 8,50,000 back in</a:t>
                      </a:r>
                    </a:p>
                  </a:txBody>
                  <a:tcPr marL="101600" marR="101600" marT="38100" marB="38100" anchor="ctr">
                    <a:solidFill>
                      <a:srgbClr val="F4F2FA"/>
                    </a:solidFill>
                  </a:tcPr>
                </a:tc>
              </a:tr>
              <a:tr h="369824">
                <a:tc>
                  <a:txBody>
                    <a:bodyPr/>
                    <a:lstStyle/>
                    <a:p>
                      <a:r>
                        <a:rPr sz="1400" b="0" i="0">
                          <a:solidFill>
                            <a:srgbClr val="1A1440"/>
                          </a:solidFill>
                          <a:latin typeface="Calibri"/>
                        </a:rPr>
                        <a:t>Do the decisions sum the same?</a:t>
                      </a:r>
                    </a:p>
                  </a:txBody>
                  <a:tcPr marL="101600" marR="101600" marT="38100" marB="38100" anchor="ctr">
                    <a:solidFill>
                      <a:srgbClr val="FFFFFF"/>
                    </a:solidFill>
                  </a:tcPr>
                </a:tc>
                <a:tc>
                  <a:txBody>
                    <a:bodyPr/>
                    <a:lstStyle/>
                    <a:p>
                      <a:r>
                        <a:rPr sz="1400" b="0" i="0">
                          <a:solidFill>
                            <a:srgbClr val="1A1440"/>
                          </a:solidFill>
                          <a:latin typeface="Calibri"/>
                        </a:rPr>
                        <a:t>Yes: the list and the log equal both moves</a:t>
                      </a:r>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8935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5003292"/>
            <a:ext cx="237744" cy="237744"/>
          </a:xfrm>
          <a:prstGeom prst="rect">
            <a:avLst/>
          </a:prstGeom>
        </p:spPr>
      </p:pic>
      <p:sp>
        <p:nvSpPr>
          <p:cNvPr id="13" name="TextBox 12"/>
          <p:cNvSpPr txBox="1"/>
          <p:nvPr/>
        </p:nvSpPr>
        <p:spPr>
          <a:xfrm>
            <a:off x="1399031" y="457809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797552"/>
            <a:ext cx="9987991" cy="941832"/>
          </a:xfrm>
          <a:prstGeom prst="rect">
            <a:avLst/>
          </a:prstGeom>
          <a:noFill/>
        </p:spPr>
        <p:txBody>
          <a:bodyPr wrap="square" anchor="t" lIns="0" rIns="0" tIns="0" bIns="0">
            <a:spAutoFit/>
          </a:bodyPr>
          <a:lstStyle/>
          <a:p>
            <a:r>
              <a:rPr sz="1500" b="0" i="0">
                <a:solidFill>
                  <a:srgbClr val="1A1440"/>
                </a:solidFill>
                <a:latin typeface="Calibri"/>
              </a:rPr>
              <a:t>A number that has not been reconciled can point the wrong way, as the invented export's hurried run did. Put the two checks in a cell before the first number you plan to send, so the clock cannot remove them.</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 the quarters tie?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9" name="Oval 18"/>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52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Is a clean pass done?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Every count reconciles and nothing was rejected: is the cleaning pass finished?</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 the quarters tie?</a:t>
            </a:r>
          </a:p>
        </p:txBody>
      </p:sp>
      <p:sp>
        <p:nvSpPr>
          <p:cNvPr id="11" name="Rounded Rectangle 10"/>
          <p:cNvSpPr/>
          <p:nvPr/>
        </p:nvSpPr>
        <p:spPr>
          <a:xfrm>
            <a:off x="2391327"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Is a clean pass done?</a:t>
            </a:r>
          </a:p>
        </p:txBody>
      </p:sp>
      <p:sp>
        <p:nvSpPr>
          <p:cNvPr id="12" name="Rounded Rectangle 11"/>
          <p:cNvSpPr/>
          <p:nvPr/>
        </p:nvSpPr>
        <p:spPr>
          <a:xfrm>
            <a:off x="4110350"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leads?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Where did the room break?</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20 / 52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questions, from the rupees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pass's rupees checked, and which six questions lead there?</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Anand's analyst audits every note before Meera reads it; a base quarter short by one large order halves the fall the note reports, and nobody acts at the right scale.</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zeroing report?</a:t>
            </a:r>
          </a:p>
        </p:txBody>
      </p:sp>
      <p:sp>
        <p:nvSpPr>
          <p:cNvPr id="17" name="TextBox 16"/>
          <p:cNvSpPr txBox="1"/>
          <p:nvPr/>
        </p:nvSpPr>
        <p:spPr>
          <a:xfrm>
            <a:off x="69494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A zeroing pass reports its counts.</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 the rupees say?</a:t>
            </a:r>
          </a:p>
        </p:txBody>
      </p:sp>
      <p:sp>
        <p:nvSpPr>
          <p:cNvPr id="22" name="TextBox 21"/>
          <p:cNvSpPr txBox="1"/>
          <p:nvPr/>
        </p:nvSpPr>
        <p:spPr>
          <a:xfrm>
            <a:off x="2580589"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rupees show what counts cannot.</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answer fits?</a:t>
            </a:r>
          </a:p>
        </p:txBody>
      </p:sp>
      <p:sp>
        <p:nvSpPr>
          <p:cNvPr id="27" name="TextBox 26"/>
          <p:cNvSpPr txBox="1"/>
          <p:nvPr/>
        </p:nvSpPr>
        <p:spPr>
          <a:xfrm>
            <a:off x="446623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answers meet an unreadable value.</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reading change?</a:t>
            </a:r>
          </a:p>
        </p:txBody>
      </p:sp>
      <p:sp>
        <p:nvSpPr>
          <p:cNvPr id="32" name="TextBox 31"/>
          <p:cNvSpPr txBox="1"/>
          <p:nvPr/>
        </p:nvSpPr>
        <p:spPr>
          <a:xfrm>
            <a:off x="6351879"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Reading the value moves the headline.</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Can a filter drop a row?</a:t>
            </a:r>
          </a:p>
        </p:txBody>
      </p:sp>
      <p:sp>
        <p:nvSpPr>
          <p:cNvPr id="37" name="TextBox 36"/>
          <p:cNvSpPr txBox="1"/>
          <p:nvPr/>
        </p:nvSpPr>
        <p:spPr>
          <a:xfrm>
            <a:off x="823752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A filter can lose a row without a word.</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6</a:t>
            </a:r>
          </a:p>
        </p:txBody>
      </p:sp>
      <p:sp>
        <p:nvSpPr>
          <p:cNvPr id="39" name="Oval 38"/>
          <p:cNvSpPr/>
          <p:nvPr/>
        </p:nvSpPr>
        <p:spPr>
          <a:xfrm>
            <a:off x="10709376"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465836"/>
          </a:xfrm>
          <a:prstGeom prst="rect">
            <a:avLst/>
          </a:prstGeom>
          <a:noFill/>
        </p:spPr>
        <p:txBody>
          <a:bodyPr wrap="square" anchor="t" lIns="0" rIns="0" tIns="0" bIns="0">
            <a:spAutoFit/>
          </a:bodyPr>
          <a:lstStyle/>
          <a:p>
            <a:pPr algn="l"/>
            <a:r>
              <a:rPr sz="1300" b="1" i="0">
                <a:solidFill>
                  <a:srgbClr val="FFFFFF"/>
                </a:solidFill>
                <a:latin typeface="Calibri"/>
              </a:rPr>
              <a:t>Can the file find the gap?</a:t>
            </a:r>
          </a:p>
        </p:txBody>
      </p:sp>
      <p:sp>
        <p:nvSpPr>
          <p:cNvPr id="42" name="TextBox 41"/>
          <p:cNvSpPr txBox="1"/>
          <p:nvPr/>
        </p:nvSpPr>
        <p:spPr>
          <a:xfrm>
            <a:off x="10123170" y="4464812"/>
            <a:ext cx="1373581" cy="366776"/>
          </a:xfrm>
          <a:prstGeom prst="rect">
            <a:avLst/>
          </a:prstGeom>
          <a:noFill/>
        </p:spPr>
        <p:txBody>
          <a:bodyPr wrap="square" anchor="t" lIns="0" rIns="0" tIns="0" bIns="0">
            <a:spAutoFit/>
          </a:bodyPr>
          <a:lstStyle/>
          <a:p>
            <a:pPr algn="l"/>
            <a:r>
              <a:rPr sz="1000" b="0" i="0">
                <a:solidFill>
                  <a:srgbClr val="CFC9EE"/>
                </a:solidFill>
                <a:latin typeface="Calibri"/>
              </a:rPr>
              <a:t>The file alone can find the gap.</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45" name="Oval 44"/>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a clean pass done?</a:t>
            </a:r>
          </a:p>
        </p:txBody>
      </p:sp>
      <p:sp>
        <p:nvSpPr>
          <p:cNvPr id="47" name="Oval 4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52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Anand's analyst audits the rupees before the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audits the note, and what does a short base quarter cost?</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Q1 booked</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METRIC</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base every Q1 to Q2 rate divides by</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the analyst</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WHO ASKS</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Anand's auditor, then Meera</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scale</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WHAT A SHORT BASE CAN COST</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fall reported at the wrong size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Your pass reports zero rejects and every count lands. Is it finished?</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28" name="Oval 27"/>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35682"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a clean pass done?</a:t>
            </a:r>
          </a:p>
        </p:txBody>
      </p:sp>
      <p:sp>
        <p:nvSpPr>
          <p:cNvPr id="30" name="Oval 29"/>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22 / 52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JPMorgan's risk sheet ran clean and was wrong</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else trusted a sheet that never raised an error?</a:t>
            </a:r>
          </a:p>
        </p:txBody>
      </p:sp>
      <p:sp>
        <p:nvSpPr>
          <p:cNvPr id="10" name="Rounded Rectangle 9"/>
          <p:cNvSpPr/>
          <p:nvPr/>
        </p:nvSpPr>
        <p:spPr>
          <a:xfrm>
            <a:off x="530352" y="1956816"/>
            <a:ext cx="5474055" cy="2534412"/>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andmark_74597fd10b4b.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JPMORGAN CHASE, 2012</a:t>
            </a:r>
          </a:p>
        </p:txBody>
      </p:sp>
      <p:sp>
        <p:nvSpPr>
          <p:cNvPr id="14" name="TextBox 13"/>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A sum where an average belonged</a:t>
            </a:r>
          </a:p>
        </p:txBody>
      </p:sp>
      <p:sp>
        <p:nvSpPr>
          <p:cNvPr id="15" name="TextBox 14"/>
          <p:cNvSpPr txBox="1"/>
          <p:nvPr/>
        </p:nvSpPr>
        <p:spPr>
          <a:xfrm>
            <a:off x="731519" y="3303524"/>
            <a:ext cx="5071719" cy="944626"/>
          </a:xfrm>
          <a:prstGeom prst="rect">
            <a:avLst/>
          </a:prstGeom>
          <a:noFill/>
        </p:spPr>
        <p:txBody>
          <a:bodyPr wrap="square" anchor="t" lIns="0" rIns="0" tIns="0" bIns="0">
            <a:spAutoFit/>
          </a:bodyPr>
          <a:lstStyle/>
          <a:p>
            <a:pPr algn="l"/>
            <a:r>
              <a:rPr sz="1100" b="0" i="0">
                <a:solidFill>
                  <a:srgbClr val="CFC9EE"/>
                </a:solidFill>
                <a:latin typeface="Calibri"/>
              </a:rPr>
              <a:t>A risk model run through spreadsheets "divided by their sum instead of their average", likely muting volatility, how far prices were shown to swing, by a factor of two, and lowering the VaR, the bank's estimate of a bad day's loss. Source: the task force report, January 2013, as quoted by The Baseline Scenario, 9 February 2013.</a:t>
            </a:r>
          </a:p>
        </p:txBody>
      </p:sp>
      <p:sp>
        <p:nvSpPr>
          <p:cNvPr id="16" name="Rounded Rectangle 15"/>
          <p:cNvSpPr/>
          <p:nvPr/>
        </p:nvSpPr>
        <p:spPr>
          <a:xfrm>
            <a:off x="6187287" y="1956816"/>
            <a:ext cx="5474055"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trending-down_69bb86911a18.png"/>
          <p:cNvPicPr>
            <a:picLocks noChangeAspect="1"/>
          </p:cNvPicPr>
          <p:nvPr/>
        </p:nvPicPr>
        <p:blipFill>
          <a:blip r:embed="rId5"/>
          <a:stretch>
            <a:fillRect/>
          </a:stretch>
        </p:blipFill>
        <p:spPr>
          <a:xfrm>
            <a:off x="6498183" y="2267712"/>
            <a:ext cx="237744" cy="237744"/>
          </a:xfrm>
          <a:prstGeom prst="rect">
            <a:avLst/>
          </a:prstGeom>
        </p:spPr>
      </p:pic>
      <p:sp>
        <p:nvSpPr>
          <p:cNvPr id="19" name="TextBox 18"/>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THE COST</a:t>
            </a:r>
          </a:p>
        </p:txBody>
      </p:sp>
      <p:sp>
        <p:nvSpPr>
          <p:cNvPr id="20" name="TextBox 19"/>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$6.2 billion</a:t>
            </a:r>
          </a:p>
        </p:txBody>
      </p:sp>
      <p:sp>
        <p:nvSpPr>
          <p:cNvPr id="21" name="TextBox 20"/>
          <p:cNvSpPr txBox="1"/>
          <p:nvPr/>
        </p:nvSpPr>
        <p:spPr>
          <a:xfrm>
            <a:off x="6388455" y="3303524"/>
            <a:ext cx="5071719" cy="581406"/>
          </a:xfrm>
          <a:prstGeom prst="rect">
            <a:avLst/>
          </a:prstGeom>
          <a:noFill/>
        </p:spPr>
        <p:txBody>
          <a:bodyPr wrap="square" anchor="t" lIns="0" rIns="0" tIns="0" bIns="0">
            <a:spAutoFit/>
          </a:bodyPr>
          <a:lstStyle/>
          <a:p>
            <a:pPr algn="l"/>
            <a:r>
              <a:rPr sz="1100" b="0" i="0">
                <a:solidFill>
                  <a:srgbClr val="6B6690"/>
                </a:solidFill>
                <a:latin typeface="Calibri"/>
              </a:rPr>
              <a:t>The trading losses from what became known as the "London Whale" trades in the bank's Chief Investment Office. Source: FCA press release, 19 September 2013.</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24" name="Oval 23"/>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a clean pass done?</a:t>
            </a:r>
          </a:p>
        </p:txBody>
      </p:sp>
      <p:sp>
        <p:nvSpPr>
          <p:cNvPr id="26" name="Oval 2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D20  ·  23 / 52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Zero rejects, and every count lands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pass that sets unreadable values to zero report?</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to_int_or_zero(v):</a:t>
            </a:r>
          </a:p>
          <a:p>
            <a:pPr>
              <a:spcAft>
                <a:spcPts val="200"/>
              </a:spcAft>
            </a:pPr>
            <a:r>
              <a:rPr sz="1400" b="0" i="0">
                <a:solidFill>
                  <a:srgbClr val="E4E1F1"/>
                </a:solidFill>
                <a:latin typeface="Consolas"/>
              </a:rPr>
              <a:t>    try:</a:t>
            </a:r>
          </a:p>
          <a:p>
            <a:pPr>
              <a:spcAft>
                <a:spcPts val="200"/>
              </a:spcAft>
            </a:pPr>
            <a:r>
              <a:rPr sz="1400" b="0" i="0">
                <a:solidFill>
                  <a:srgbClr val="E4E1F1"/>
                </a:solidFill>
                <a:latin typeface="Consolas"/>
              </a:rPr>
              <a:t>        return int(v)</a:t>
            </a:r>
          </a:p>
          <a:p>
            <a:pPr>
              <a:spcAft>
                <a:spcPts val="200"/>
              </a:spcAft>
            </a:pPr>
            <a:r>
              <a:rPr sz="1400" b="0" i="0">
                <a:solidFill>
                  <a:srgbClr val="E4E1F1"/>
                </a:solidFill>
                <a:latin typeface="Consolas"/>
              </a:rPr>
              <a:t>    except ValueError:</a:t>
            </a:r>
          </a:p>
          <a:p>
            <a:pPr>
              <a:spcAft>
                <a:spcPts val="200"/>
              </a:spcAft>
            </a:pPr>
            <a:r>
              <a:rPr sz="1400" b="0" i="0">
                <a:solidFill>
                  <a:srgbClr val="E4E1F1"/>
                </a:solidFill>
                <a:latin typeface="Consolas"/>
              </a:rPr>
              <a:t>        return 0          # the file now "converts" cleanly</a:t>
            </a:r>
          </a:p>
        </p:txBody>
      </p:sp>
      <p:sp>
        <p:nvSpPr>
          <p:cNvPr id="14" name="TextBox 13"/>
          <p:cNvSpPr txBox="1"/>
          <p:nvPr/>
        </p:nvSpPr>
        <p:spPr>
          <a:xfrm>
            <a:off x="530352" y="3840988"/>
            <a:ext cx="3527450" cy="571500"/>
          </a:xfrm>
          <a:prstGeom prst="rect">
            <a:avLst/>
          </a:prstGeom>
          <a:noFill/>
        </p:spPr>
        <p:txBody>
          <a:bodyPr wrap="square" anchor="t" lIns="0" rIns="0" tIns="0" bIns="0">
            <a:spAutoFit/>
          </a:bodyPr>
          <a:lstStyle/>
          <a:p>
            <a:pPr algn="l"/>
            <a:r>
              <a:rPr sz="3600" b="0" i="0">
                <a:solidFill>
                  <a:srgbClr val="5B3FD6"/>
                </a:solidFill>
                <a:latin typeface="Georgia"/>
              </a:rPr>
              <a:t>83</a:t>
            </a:r>
          </a:p>
        </p:txBody>
      </p:sp>
      <p:sp>
        <p:nvSpPr>
          <p:cNvPr id="15" name="TextBox 14"/>
          <p:cNvSpPr txBox="1"/>
          <p:nvPr/>
        </p:nvSpPr>
        <p:spPr>
          <a:xfrm>
            <a:off x="530352" y="4449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ORDERS</a:t>
            </a:r>
          </a:p>
        </p:txBody>
      </p:sp>
      <p:sp>
        <p:nvSpPr>
          <p:cNvPr id="16" name="TextBox 15"/>
          <p:cNvSpPr txBox="1"/>
          <p:nvPr/>
        </p:nvSpPr>
        <p:spPr>
          <a:xfrm>
            <a:off x="530352" y="4650232"/>
            <a:ext cx="3527450" cy="193421"/>
          </a:xfrm>
          <a:prstGeom prst="rect">
            <a:avLst/>
          </a:prstGeom>
          <a:noFill/>
        </p:spPr>
        <p:txBody>
          <a:bodyPr wrap="square" anchor="t" lIns="0" rIns="0" tIns="0" bIns="0">
            <a:spAutoFit/>
          </a:bodyPr>
          <a:lstStyle/>
          <a:p>
            <a:pPr algn="l"/>
            <a:r>
              <a:rPr sz="950" b="0" i="0">
                <a:solidFill>
                  <a:srgbClr val="6B6690"/>
                </a:solidFill>
                <a:latin typeface="Calibri"/>
              </a:rPr>
              <a:t>Finance: 83, invented</a:t>
            </a:r>
          </a:p>
        </p:txBody>
      </p:sp>
      <p:sp>
        <p:nvSpPr>
          <p:cNvPr id="17" name="Rectangle 16"/>
          <p:cNvSpPr/>
          <p:nvPr/>
        </p:nvSpPr>
        <p:spPr>
          <a:xfrm>
            <a:off x="53035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840988"/>
            <a:ext cx="3527450" cy="571500"/>
          </a:xfrm>
          <a:prstGeom prst="rect">
            <a:avLst/>
          </a:prstGeom>
          <a:noFill/>
        </p:spPr>
        <p:txBody>
          <a:bodyPr wrap="square" anchor="t" lIns="0" rIns="0" tIns="0" bIns="0">
            <a:spAutoFit/>
          </a:bodyPr>
          <a:lstStyle/>
          <a:p>
            <a:pPr algn="l"/>
            <a:r>
              <a:rPr sz="3600" b="0" i="0">
                <a:solidFill>
                  <a:srgbClr val="5B3FD6"/>
                </a:solidFill>
                <a:latin typeface="Georgia"/>
              </a:rPr>
              <a:t>0</a:t>
            </a:r>
          </a:p>
        </p:txBody>
      </p:sp>
      <p:sp>
        <p:nvSpPr>
          <p:cNvPr id="19" name="TextBox 18"/>
          <p:cNvSpPr txBox="1"/>
          <p:nvPr/>
        </p:nvSpPr>
        <p:spPr>
          <a:xfrm>
            <a:off x="4332122" y="4449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REJECTS REPORTED</a:t>
            </a:r>
          </a:p>
        </p:txBody>
      </p:sp>
      <p:sp>
        <p:nvSpPr>
          <p:cNvPr id="20" name="TextBox 19"/>
          <p:cNvSpPr txBox="1"/>
          <p:nvPr/>
        </p:nvSpPr>
        <p:spPr>
          <a:xfrm>
            <a:off x="4332122" y="4650232"/>
            <a:ext cx="3527450" cy="193421"/>
          </a:xfrm>
          <a:prstGeom prst="rect">
            <a:avLst/>
          </a:prstGeom>
          <a:noFill/>
        </p:spPr>
        <p:txBody>
          <a:bodyPr wrap="square" anchor="t" lIns="0" rIns="0" tIns="0" bIns="0">
            <a:spAutoFit/>
          </a:bodyPr>
          <a:lstStyle/>
          <a:p>
            <a:pPr algn="l"/>
            <a:r>
              <a:rPr sz="950" b="0" i="0">
                <a:solidFill>
                  <a:srgbClr val="6B6690"/>
                </a:solidFill>
                <a:latin typeface="Calibri"/>
              </a:rPr>
              <a:t>the try swallowed every failure</a:t>
            </a:r>
          </a:p>
        </p:txBody>
      </p:sp>
      <p:sp>
        <p:nvSpPr>
          <p:cNvPr id="21" name="Rectangle 20"/>
          <p:cNvSpPr/>
          <p:nvPr/>
        </p:nvSpPr>
        <p:spPr>
          <a:xfrm>
            <a:off x="433212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840988"/>
            <a:ext cx="3527450" cy="571500"/>
          </a:xfrm>
          <a:prstGeom prst="rect">
            <a:avLst/>
          </a:prstGeom>
          <a:noFill/>
        </p:spPr>
        <p:txBody>
          <a:bodyPr wrap="square" anchor="t" lIns="0" rIns="0" tIns="0" bIns="0">
            <a:spAutoFit/>
          </a:bodyPr>
          <a:lstStyle/>
          <a:p>
            <a:pPr algn="l"/>
            <a:r>
              <a:rPr sz="3600" b="0" i="0">
                <a:solidFill>
                  <a:srgbClr val="5B3FD6"/>
                </a:solidFill>
                <a:latin typeface="Georgia"/>
              </a:rPr>
              <a:t>Rs 31,50,000</a:t>
            </a:r>
          </a:p>
        </p:txBody>
      </p:sp>
      <p:sp>
        <p:nvSpPr>
          <p:cNvPr id="23" name="TextBox 22"/>
          <p:cNvSpPr txBox="1"/>
          <p:nvPr/>
        </p:nvSpPr>
        <p:spPr>
          <a:xfrm>
            <a:off x="8133892" y="4449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AS SUMMED</a:t>
            </a:r>
          </a:p>
        </p:txBody>
      </p:sp>
      <p:sp>
        <p:nvSpPr>
          <p:cNvPr id="24" name="TextBox 23"/>
          <p:cNvSpPr txBox="1"/>
          <p:nvPr/>
        </p:nvSpPr>
        <p:spPr>
          <a:xfrm>
            <a:off x="8133892" y="4650232"/>
            <a:ext cx="3527450" cy="193421"/>
          </a:xfrm>
          <a:prstGeom prst="rect">
            <a:avLst/>
          </a:prstGeom>
          <a:noFill/>
        </p:spPr>
        <p:txBody>
          <a:bodyPr wrap="square" anchor="t" lIns="0" rIns="0" tIns="0" bIns="0">
            <a:spAutoFit/>
          </a:bodyPr>
          <a:lstStyle/>
          <a:p>
            <a:pPr algn="l"/>
            <a:r>
              <a:rPr sz="950" b="0" i="0">
                <a:solidFill>
                  <a:srgbClr val="6B6690"/>
                </a:solidFill>
                <a:latin typeface="Calibri"/>
              </a:rPr>
              <a:t>every row kept, invented</a:t>
            </a:r>
          </a:p>
        </p:txBody>
      </p:sp>
      <p:sp>
        <p:nvSpPr>
          <p:cNvPr id="25" name="Rectangle 24"/>
          <p:cNvSpPr/>
          <p:nvPr/>
        </p:nvSpPr>
        <p:spPr>
          <a:xfrm>
            <a:off x="813389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28" name="Oval 27"/>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35682"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a clean pass done?</a:t>
            </a:r>
          </a:p>
        </p:txBody>
      </p:sp>
      <p:sp>
        <p:nvSpPr>
          <p:cNvPr id="30" name="Oval 29"/>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52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 Finance's rupee totals show?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order count lands and nothing was rejected: against Finance's rupees, what does the invented pass show?</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both quarters land to the rupee; b) one quarter over, the other landing; c) one quarter short, the other landing; d) both quarters short by a few rupees of rounding.</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4" name="Oval 13"/>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35682"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a clean pass done?</a:t>
            </a:r>
          </a:p>
        </p:txBody>
      </p:sp>
      <p:sp>
        <p:nvSpPr>
          <p:cNvPr id="16" name="Oval 1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52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Q1 is Rs 8,50,000 short, and Q2 lands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rupees say when every count lands?</a:t>
            </a:r>
          </a:p>
        </p:txBody>
      </p:sp>
      <p:pic>
        <p:nvPicPr>
          <p:cNvPr id="9" name="mermaid diagram" descr="d2e70212b964c9c0.png"/>
          <p:cNvPicPr>
            <a:picLocks noChangeAspect="1"/>
          </p:cNvPicPr>
          <p:nvPr/>
        </p:nvPicPr>
        <p:blipFill>
          <a:blip r:embed="rId5"/>
          <a:stretch>
            <a:fillRect/>
          </a:stretch>
        </p:blipFill>
        <p:spPr>
          <a:xfrm>
            <a:off x="680885" y="1956816"/>
            <a:ext cx="10829925" cy="2586037"/>
          </a:xfrm>
          <a:prstGeom prst="rect">
            <a:avLst/>
          </a:prstGeom>
        </p:spPr>
      </p:pic>
      <p:sp>
        <p:nvSpPr>
          <p:cNvPr id="10" name="TextBox 9"/>
          <p:cNvSpPr txBox="1"/>
          <p:nvPr/>
        </p:nvSpPr>
        <p:spPr>
          <a:xfrm>
            <a:off x="530352" y="468915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With the invented base short by about a fifth, the note reports a fall of 17.5 percent where the books show 35.0.</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3" name="Oval 1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a clean pass done?</a:t>
            </a:r>
          </a:p>
        </p:txBody>
      </p:sp>
      <p:sp>
        <p:nvSpPr>
          <p:cNvPr id="15" name="Oval 1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52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answers, sized: C lands, A hides its gap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answers fits a value that will not convert?</a:t>
            </a:r>
          </a:p>
        </p:txBody>
      </p:sp>
      <p:graphicFrame>
        <p:nvGraphicFramePr>
          <p:cNvPr id="9" name="Table 8"/>
          <p:cNvGraphicFramePr>
            <a:graphicFrameLocks noGrp="1"/>
          </p:cNvGraphicFramePr>
          <p:nvPr/>
        </p:nvGraphicFramePr>
        <p:xfrm>
          <a:off x="530352" y="1956816"/>
          <a:ext cx="11130988" cy="1676400"/>
        </p:xfrm>
        <a:graphic>
          <a:graphicData uri="http://schemas.openxmlformats.org/drawingml/2006/table">
            <a:tbl>
              <a:tblPr firstRow="0" bandRow="0">
                <a:tableStyleId>{2D5ABB26-0587-4C30-8999-92F81FD0307C}</a:tableStyleId>
              </a:tblPr>
              <a:tblGrid>
                <a:gridCol w="3808137"/>
                <a:gridCol w="914400"/>
                <a:gridCol w="1449934"/>
                <a:gridCol w="1702438"/>
                <a:gridCol w="1702438"/>
                <a:gridCol w="1553641"/>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Minutes</a:t>
                      </a:r>
                    </a:p>
                  </a:txBody>
                  <a:tcPr marL="101600" marR="101600" marT="38100" marB="38100" anchor="ctr">
                    <a:solidFill>
                      <a:srgbClr val="1A0F5C"/>
                    </a:solidFill>
                  </a:tcPr>
                </a:tc>
                <a:tc>
                  <a:txBody>
                    <a:bodyPr/>
                    <a:lstStyle/>
                    <a:p>
                      <a:r>
                        <a:rPr sz="1250" b="1" i="0">
                          <a:solidFill>
                            <a:srgbClr val="FFFFFF"/>
                          </a:solidFill>
                          <a:latin typeface="Calibri"/>
                        </a:rPr>
                        <a:t>Log lines</a:t>
                      </a:r>
                    </a:p>
                  </a:txBody>
                  <a:tcPr marL="101600" marR="101600" marT="38100" marB="38100" anchor="ctr">
                    <a:solidFill>
                      <a:srgbClr val="1A0F5C"/>
                    </a:solidFill>
                  </a:tcPr>
                </a:tc>
                <a:tc>
                  <a:txBody>
                    <a:bodyPr/>
                    <a:lstStyle/>
                    <a:p>
                      <a:r>
                        <a:rPr sz="1250" b="1" i="0">
                          <a:solidFill>
                            <a:srgbClr val="FFFFFF"/>
                          </a:solidFill>
                          <a:latin typeface="Calibri"/>
                        </a:rPr>
                        <a:t>Count check</a:t>
                      </a:r>
                    </a:p>
                  </a:txBody>
                  <a:tcPr marL="101600" marR="101600" marT="38100" marB="38100" anchor="ctr">
                    <a:solidFill>
                      <a:srgbClr val="1A0F5C"/>
                    </a:solidFill>
                  </a:tcPr>
                </a:tc>
                <a:tc>
                  <a:txBody>
                    <a:bodyPr/>
                    <a:lstStyle/>
                    <a:p>
                      <a:r>
                        <a:rPr sz="1250" b="1" i="0">
                          <a:solidFill>
                            <a:srgbClr val="FFFFFF"/>
                          </a:solidFill>
                          <a:latin typeface="Calibri"/>
                        </a:rPr>
                        <a:t>Rupee check</a:t>
                      </a:r>
                    </a:p>
                  </a:txBody>
                  <a:tcPr marL="101600" marR="101600" marT="38100" marB="38100" anchor="ctr">
                    <a:solidFill>
                      <a:srgbClr val="1A0F5C"/>
                    </a:solidFill>
                  </a:tcPr>
                </a:tc>
                <a:tc>
                  <a:txBody>
                    <a:bodyPr/>
                    <a:lstStyle/>
                    <a:p>
                      <a:r>
                        <a:rPr sz="1250" b="1" i="0">
                          <a:solidFill>
                            <a:srgbClr val="FFFFFF"/>
                          </a:solidFill>
                          <a:latin typeface="Calibri"/>
                        </a:rPr>
                        <a:t>Headline</a:t>
                      </a:r>
                    </a:p>
                  </a:txBody>
                  <a:tcPr marL="101600" marR="101600" marT="38100" marB="38100" anchor="ctr">
                    <a:solidFill>
                      <a:srgbClr val="1A0F5C"/>
                    </a:solidFill>
                  </a:tcPr>
                </a:tc>
              </a:tr>
              <a:tr h="335280">
                <a:tc>
                  <a:txBody>
                    <a:bodyPr/>
                    <a:lstStyle/>
                    <a:p>
                      <a:r>
                        <a:rPr sz="1200" b="0" i="0">
                          <a:solidFill>
                            <a:srgbClr val="1A1440"/>
                          </a:solidFill>
                          <a:latin typeface="Calibri"/>
                        </a:rPr>
                        <a:t>A. Zero in a try</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passes</a:t>
                      </a:r>
                    </a:p>
                  </a:txBody>
                  <a:tcPr marL="101600" marR="101600" marT="38100" marB="38100" anchor="ctr">
                    <a:solidFill>
                      <a:srgbClr val="FFFFFF"/>
                    </a:solidFill>
                  </a:tcPr>
                </a:tc>
                <a:tc>
                  <a:txBody>
                    <a:bodyPr/>
                    <a:lstStyle/>
                    <a:p>
                      <a:r>
                        <a:rPr sz="1200" b="0" i="0">
                          <a:solidFill>
                            <a:srgbClr val="1A1440"/>
                          </a:solidFill>
                          <a:latin typeface="Calibri"/>
                        </a:rPr>
                        <a:t>fails</a:t>
                      </a:r>
                    </a:p>
                  </a:txBody>
                  <a:tcPr marL="101600" marR="101600" marT="38100" marB="38100" anchor="ctr">
                    <a:solidFill>
                      <a:srgbClr val="FFFFFF"/>
                    </a:solidFill>
                  </a:tcPr>
                </a:tc>
                <a:tc>
                  <a:txBody>
                    <a:bodyPr/>
                    <a:lstStyle/>
                    <a:p>
                      <a:r>
                        <a:rPr sz="1200" b="0" i="0">
                          <a:solidFill>
                            <a:srgbClr val="1A1440"/>
                          </a:solidFill>
                          <a:latin typeface="Calibri"/>
                        </a:rPr>
                        <a:t>-17.5%</a:t>
                      </a:r>
                    </a:p>
                  </a:txBody>
                  <a:tcPr marL="101600" marR="101600" marT="38100" marB="38100" anchor="ctr">
                    <a:solidFill>
                      <a:srgbClr val="FFFFFF"/>
                    </a:solidFill>
                  </a:tcPr>
                </a:tc>
              </a:tr>
              <a:tr h="335280">
                <a:tc>
                  <a:txBody>
                    <a:bodyPr/>
                    <a:lstStyle/>
                    <a:p>
                      <a:r>
                        <a:rPr sz="1200" b="0" i="0">
                          <a:solidFill>
                            <a:srgbClr val="1A1440"/>
                          </a:solidFill>
                          <a:latin typeface="Calibri"/>
                        </a:rPr>
                        <a:t>B. Drop with a reason</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fails</a:t>
                      </a:r>
                    </a:p>
                  </a:txBody>
                  <a:tcPr marL="101600" marR="101600" marT="38100" marB="38100" anchor="ctr">
                    <a:solidFill>
                      <a:srgbClr val="F4F2FA"/>
                    </a:solidFill>
                  </a:tcPr>
                </a:tc>
                <a:tc>
                  <a:txBody>
                    <a:bodyPr/>
                    <a:lstStyle/>
                    <a:p>
                      <a:r>
                        <a:rPr sz="1200" b="0" i="0">
                          <a:solidFill>
                            <a:srgbClr val="1A1440"/>
                          </a:solidFill>
                          <a:latin typeface="Calibri"/>
                        </a:rPr>
                        <a:t>fails</a:t>
                      </a:r>
                    </a:p>
                  </a:txBody>
                  <a:tcPr marL="101600" marR="101600" marT="38100" marB="38100" anchor="ctr">
                    <a:solidFill>
                      <a:srgbClr val="F4F2FA"/>
                    </a:solidFill>
                  </a:tcPr>
                </a:tc>
                <a:tc>
                  <a:txBody>
                    <a:bodyPr/>
                    <a:lstStyle/>
                    <a:p>
                      <a:r>
                        <a:rPr sz="1200" b="0" i="0">
                          <a:solidFill>
                            <a:srgbClr val="1A1440"/>
                          </a:solidFill>
                          <a:latin typeface="Calibri"/>
                        </a:rPr>
                        <a:t>-17.5%</a:t>
                      </a:r>
                    </a:p>
                  </a:txBody>
                  <a:tcPr marL="101600" marR="101600" marT="38100" marB="38100" anchor="ctr">
                    <a:solidFill>
                      <a:srgbClr val="F4F2FA"/>
                    </a:solidFill>
                  </a:tcPr>
                </a:tc>
              </a:tr>
              <a:tr h="335280">
                <a:tc>
                  <a:txBody>
                    <a:bodyPr/>
                    <a:lstStyle/>
                    <a:p>
                      <a:r>
                        <a:rPr sz="1200" b="0" i="0">
                          <a:solidFill>
                            <a:srgbClr val="1A1440"/>
                          </a:solidFill>
                          <a:latin typeface="Calibri"/>
                        </a:rPr>
                        <a:t>C. Read, convert, keep and flag</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passes</a:t>
                      </a:r>
                    </a:p>
                  </a:txBody>
                  <a:tcPr marL="101600" marR="101600" marT="38100" marB="38100" anchor="ctr">
                    <a:solidFill>
                      <a:srgbClr val="FFFFFF"/>
                    </a:solidFill>
                  </a:tcPr>
                </a:tc>
                <a:tc>
                  <a:txBody>
                    <a:bodyPr/>
                    <a:lstStyle/>
                    <a:p>
                      <a:r>
                        <a:rPr sz="1200" b="0" i="0">
                          <a:solidFill>
                            <a:srgbClr val="1A1440"/>
                          </a:solidFill>
                          <a:latin typeface="Calibri"/>
                        </a:rPr>
                        <a:t>passes</a:t>
                      </a:r>
                    </a:p>
                  </a:txBody>
                  <a:tcPr marL="101600" marR="101600" marT="38100" marB="38100" anchor="ctr">
                    <a:solidFill>
                      <a:srgbClr val="FFFFFF"/>
                    </a:solidFill>
                  </a:tcPr>
                </a:tc>
                <a:tc>
                  <a:txBody>
                    <a:bodyPr/>
                    <a:lstStyle/>
                    <a:p>
                      <a:r>
                        <a:rPr sz="1200" b="0" i="0">
                          <a:solidFill>
                            <a:srgbClr val="1A1440"/>
                          </a:solidFill>
                          <a:latin typeface="Calibri"/>
                        </a:rPr>
                        <a:t>-35.0%</a:t>
                      </a:r>
                    </a:p>
                  </a:txBody>
                  <a:tcPr marL="101600" marR="101600" marT="38100" marB="38100" anchor="ctr">
                    <a:solidFill>
                      <a:srgbClr val="FFFFFF"/>
                    </a:solidFill>
                  </a:tcPr>
                </a:tc>
              </a:tr>
              <a:tr h="335280">
                <a:tc>
                  <a:txBody>
                    <a:bodyPr/>
                    <a:lstStyle/>
                    <a:p>
                      <a:r>
                        <a:rPr sz="1200" b="0" i="0">
                          <a:solidFill>
                            <a:srgbClr val="1A1440"/>
                          </a:solidFill>
                          <a:latin typeface="Calibri"/>
                        </a:rPr>
                        <a:t>D. Hold and ask the owner</a:t>
                      </a:r>
                    </a:p>
                  </a:txBody>
                  <a:tcPr marL="101600" marR="101600" marT="38100" marB="38100" anchor="ctr">
                    <a:solidFill>
                      <a:srgbClr val="F4F2FA"/>
                    </a:solidFill>
                  </a:tcPr>
                </a:tc>
                <a:tc>
                  <a:txBody>
                    <a:bodyPr/>
                    <a:lstStyle/>
                    <a:p>
                      <a:r>
                        <a:rPr sz="1200" b="0" i="0">
                          <a:solidFill>
                            <a:srgbClr val="1A1440"/>
                          </a:solidFill>
                          <a:latin typeface="Calibri"/>
                        </a:rPr>
                        <a:t>a wait</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fails</a:t>
                      </a:r>
                    </a:p>
                  </a:txBody>
                  <a:tcPr marL="101600" marR="101600" marT="38100" marB="38100" anchor="ctr">
                    <a:solidFill>
                      <a:srgbClr val="F4F2FA"/>
                    </a:solidFill>
                  </a:tcPr>
                </a:tc>
                <a:tc>
                  <a:txBody>
                    <a:bodyPr/>
                    <a:lstStyle/>
                    <a:p>
                      <a:r>
                        <a:rPr sz="1200" b="0" i="0">
                          <a:solidFill>
                            <a:srgbClr val="1A1440"/>
                          </a:solidFill>
                          <a:latin typeface="Calibri"/>
                        </a:rPr>
                        <a:t>fails</a:t>
                      </a:r>
                    </a:p>
                  </a:txBody>
                  <a:tcPr marL="101600" marR="101600" marT="38100" marB="38100" anchor="ctr">
                    <a:solidFill>
                      <a:srgbClr val="F4F2FA"/>
                    </a:solidFill>
                  </a:tcPr>
                </a:tc>
                <a:tc>
                  <a:txBody>
                    <a:bodyPr/>
                    <a:lstStyle/>
                    <a:p>
                      <a:r>
                        <a:rPr sz="1200" b="0" i="0">
                          <a:solidFill>
                            <a:srgbClr val="1A1440"/>
                          </a:solidFill>
                          <a:latin typeface="Calibri"/>
                        </a:rPr>
                        <a:t>provisional</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805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59028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255008"/>
            <a:ext cx="9987991" cy="1200912"/>
          </a:xfrm>
          <a:prstGeom prst="rect">
            <a:avLst/>
          </a:prstGeom>
          <a:noFill/>
        </p:spPr>
        <p:txBody>
          <a:bodyPr wrap="square" anchor="t" lIns="0" rIns="0" tIns="0" bIns="0">
            <a:spAutoFit/>
          </a:bodyPr>
          <a:lstStyle/>
          <a:p>
            <a:r>
              <a:rPr sz="1500" b="0" i="0">
                <a:solidFill>
                  <a:srgbClr val="1A1440"/>
                </a:solidFill>
                <a:latin typeface="Calibri"/>
              </a:rPr>
              <a:t>Choose C when the value can be read without a guess, as the invented export's "850000.00", an amount exported with its paise, can. Choose D when reading it needs a guess, such as a word or a unit that could be lakh or crore, and B when the row is not an order at all. A is the one option that hides its gap.</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7" name="Oval 16"/>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a clean pass done?</a:t>
            </a:r>
          </a:p>
        </p:txBody>
      </p:sp>
      <p:sp>
        <p:nvSpPr>
          <p:cNvPr id="19" name="Oval 18"/>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52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One question sorts every unreadable value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question decides what to do with a value that will not convert?</a:t>
            </a:r>
          </a:p>
        </p:txBody>
      </p:sp>
      <p:pic>
        <p:nvPicPr>
          <p:cNvPr id="10" name="mermaid diagram" descr="e78eea104fe7ee82.png"/>
          <p:cNvPicPr>
            <a:picLocks noChangeAspect="1"/>
          </p:cNvPicPr>
          <p:nvPr/>
        </p:nvPicPr>
        <p:blipFill>
          <a:blip r:embed="rId6"/>
          <a:stretch>
            <a:fillRect/>
          </a:stretch>
        </p:blipFill>
        <p:spPr>
          <a:xfrm>
            <a:off x="530352" y="2289328"/>
            <a:ext cx="4786326" cy="3303471"/>
          </a:xfrm>
          <a:prstGeom prst="rect">
            <a:avLst/>
          </a:prstGeom>
        </p:spPr>
      </p:pic>
      <p:sp>
        <p:nvSpPr>
          <p:cNvPr id="11" name="Rounded Rectangle 10"/>
          <p:cNvSpPr/>
          <p:nvPr/>
        </p:nvSpPr>
        <p:spPr>
          <a:xfrm>
            <a:off x="5761917" y="1956816"/>
            <a:ext cx="5899425" cy="189890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5990517" y="26776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mic_caee7398c80d.png"/>
          <p:cNvPicPr>
            <a:picLocks noChangeAspect="1"/>
          </p:cNvPicPr>
          <p:nvPr/>
        </p:nvPicPr>
        <p:blipFill>
          <a:blip r:embed="rId5"/>
          <a:stretch>
            <a:fillRect/>
          </a:stretch>
        </p:blipFill>
        <p:spPr>
          <a:xfrm>
            <a:off x="6100245" y="2787396"/>
            <a:ext cx="237744" cy="237744"/>
          </a:xfrm>
          <a:prstGeom prst="rect">
            <a:avLst/>
          </a:prstGeom>
        </p:spPr>
      </p:pic>
      <p:sp>
        <p:nvSpPr>
          <p:cNvPr id="14" name="TextBox 13"/>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5" name="TextBox 14"/>
          <p:cNvSpPr txBox="1"/>
          <p:nvPr/>
        </p:nvSpPr>
        <p:spPr>
          <a:xfrm>
            <a:off x="6630597" y="2322576"/>
            <a:ext cx="4756425" cy="1459992"/>
          </a:xfrm>
          <a:prstGeom prst="rect">
            <a:avLst/>
          </a:prstGeom>
          <a:noFill/>
        </p:spPr>
        <p:txBody>
          <a:bodyPr wrap="square" anchor="t" lIns="0" rIns="0" tIns="0" bIns="0">
            <a:spAutoFit/>
          </a:bodyPr>
          <a:lstStyle/>
          <a:p>
            <a:r>
              <a:rPr sz="1500" b="0" i="0">
                <a:solidFill>
                  <a:srgbClr val="1A1440"/>
                </a:solidFill>
                <a:latin typeface="Calibri"/>
              </a:rPr>
              <a:t>[S] Walk me through how you clean and check a dataset you have never seen. A zero-reject pass is a finding: check ids against rows, check what the code did with a value it could not read, and reconcile the rupees.</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8" name="Oval 17"/>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035682"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a clean pass done?</a:t>
            </a:r>
          </a:p>
        </p:txBody>
      </p:sp>
      <p:sp>
        <p:nvSpPr>
          <p:cNvPr id="20" name="Oval 19"/>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D25  ·  28 / 52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much more fall does reading add?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Reading the value moves the invented headline from -17.5 to -35.0 percent: how many more rupees of fall must the review explain?</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Rs 5,50,000; b) Rs 8,50,000; c) Rs 14,00,000; d) Rs 26,00,000.</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4" name="Oval 13"/>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35682"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a clean pass done?</a:t>
            </a:r>
          </a:p>
        </p:txBody>
      </p:sp>
      <p:sp>
        <p:nvSpPr>
          <p:cNvPr id="16" name="Oval 1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52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8,50,000 more, a Rs 14,00,000 fall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one log line change in the note?</a:t>
            </a:r>
          </a:p>
        </p:txBody>
      </p:sp>
      <p:sp>
        <p:nvSpPr>
          <p:cNvPr id="9" name="Rounded Rectangle 8"/>
          <p:cNvSpPr/>
          <p:nvPr/>
        </p:nvSpPr>
        <p:spPr>
          <a:xfrm>
            <a:off x="530352" y="1956816"/>
            <a:ext cx="11130991"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569719"/>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read_value(text):</a:t>
            </a:r>
          </a:p>
          <a:p>
            <a:pPr>
              <a:spcAft>
                <a:spcPts val="200"/>
              </a:spcAft>
            </a:pPr>
            <a:r>
              <a:rPr sz="1400" b="0" i="0">
                <a:solidFill>
                  <a:srgbClr val="E4E1F1"/>
                </a:solidFill>
                <a:latin typeface="Consolas"/>
              </a:rPr>
              <a:t>    t = str(text).strip().replace("Rs", "").replace(",", "").replace(" ", "")</a:t>
            </a:r>
          </a:p>
          <a:p>
            <a:pPr>
              <a:spcAft>
                <a:spcPts val="200"/>
              </a:spcAft>
            </a:pPr>
            <a:r>
              <a:rPr sz="1400" b="0" i="0">
                <a:solidFill>
                  <a:srgbClr val="E4E1F1"/>
                </a:solidFill>
                <a:latin typeface="Consolas"/>
              </a:rPr>
              <a:t>    try:</a:t>
            </a:r>
          </a:p>
          <a:p>
            <a:pPr>
              <a:spcAft>
                <a:spcPts val="200"/>
              </a:spcAft>
            </a:pPr>
            <a:r>
              <a:rPr sz="1400" b="0" i="0">
                <a:solidFill>
                  <a:srgbClr val="E4E1F1"/>
                </a:solidFill>
                <a:latin typeface="Consolas"/>
              </a:rPr>
              <a:t>        return round(float(t))      # read without a guess</a:t>
            </a:r>
          </a:p>
          <a:p>
            <a:pPr>
              <a:spcAft>
                <a:spcPts val="200"/>
              </a:spcAft>
            </a:pPr>
            <a:r>
              <a:rPr sz="1400" b="0" i="0">
                <a:solidFill>
                  <a:srgbClr val="E4E1F1"/>
                </a:solidFill>
                <a:latin typeface="Consolas"/>
              </a:rPr>
              <a:t>    except ValueError:</a:t>
            </a:r>
          </a:p>
          <a:p>
            <a:pPr>
              <a:spcAft>
                <a:spcPts val="200"/>
              </a:spcAft>
            </a:pPr>
            <a:r>
              <a:rPr sz="1400" b="0" i="0">
                <a:solidFill>
                  <a:srgbClr val="E4E1F1"/>
                </a:solidFill>
                <a:latin typeface="Consolas"/>
              </a:rPr>
              <a:t>        return None                 # needs a guess: hold and ask</a:t>
            </a:r>
          </a:p>
        </p:txBody>
      </p:sp>
      <p:sp>
        <p:nvSpPr>
          <p:cNvPr id="14" name="TextBox 13"/>
          <p:cNvSpPr txBox="1"/>
          <p:nvPr/>
        </p:nvSpPr>
        <p:spPr>
          <a:xfrm>
            <a:off x="530352" y="4093463"/>
            <a:ext cx="3527450" cy="571500"/>
          </a:xfrm>
          <a:prstGeom prst="rect">
            <a:avLst/>
          </a:prstGeom>
          <a:noFill/>
        </p:spPr>
        <p:txBody>
          <a:bodyPr wrap="square" anchor="t" lIns="0" rIns="0" tIns="0" bIns="0">
            <a:spAutoFit/>
          </a:bodyPr>
          <a:lstStyle/>
          <a:p>
            <a:pPr algn="l"/>
            <a:r>
              <a:rPr sz="3600" b="0" i="0">
                <a:solidFill>
                  <a:srgbClr val="5B3FD6"/>
                </a:solidFill>
                <a:latin typeface="Georgia"/>
              </a:rPr>
              <a:t>Rs 40,00,000</a:t>
            </a:r>
          </a:p>
        </p:txBody>
      </p:sp>
      <p:sp>
        <p:nvSpPr>
          <p:cNvPr id="15" name="TextBox 14"/>
          <p:cNvSpPr txBox="1"/>
          <p:nvPr/>
        </p:nvSpPr>
        <p:spPr>
          <a:xfrm>
            <a:off x="530352" y="4701539"/>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VALUE READ</a:t>
            </a:r>
          </a:p>
        </p:txBody>
      </p:sp>
      <p:sp>
        <p:nvSpPr>
          <p:cNvPr id="16" name="TextBox 15"/>
          <p:cNvSpPr txBox="1"/>
          <p:nvPr/>
        </p:nvSpPr>
        <p:spPr>
          <a:xfrm>
            <a:off x="530352" y="4902707"/>
            <a:ext cx="3527450" cy="193421"/>
          </a:xfrm>
          <a:prstGeom prst="rect">
            <a:avLst/>
          </a:prstGeom>
          <a:noFill/>
        </p:spPr>
        <p:txBody>
          <a:bodyPr wrap="square" anchor="t" lIns="0" rIns="0" tIns="0" bIns="0">
            <a:spAutoFit/>
          </a:bodyPr>
          <a:lstStyle/>
          <a:p>
            <a:pPr algn="l"/>
            <a:r>
              <a:rPr sz="950" b="0" i="0">
                <a:solidFill>
                  <a:srgbClr val="6B6690"/>
                </a:solidFill>
                <a:latin typeface="Calibri"/>
              </a:rPr>
              <a:t>lands on the control total, invented</a:t>
            </a:r>
          </a:p>
        </p:txBody>
      </p:sp>
      <p:sp>
        <p:nvSpPr>
          <p:cNvPr id="17" name="Rectangle 16"/>
          <p:cNvSpPr/>
          <p:nvPr/>
        </p:nvSpPr>
        <p:spPr>
          <a:xfrm>
            <a:off x="530352" y="5282183"/>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4093463"/>
            <a:ext cx="3527450" cy="571500"/>
          </a:xfrm>
          <a:prstGeom prst="rect">
            <a:avLst/>
          </a:prstGeom>
          <a:noFill/>
        </p:spPr>
        <p:txBody>
          <a:bodyPr wrap="square" anchor="t" lIns="0" rIns="0" tIns="0" bIns="0">
            <a:spAutoFit/>
          </a:bodyPr>
          <a:lstStyle/>
          <a:p>
            <a:pPr algn="l"/>
            <a:r>
              <a:rPr sz="3600" b="0" i="0">
                <a:solidFill>
                  <a:srgbClr val="5B3FD6"/>
                </a:solidFill>
                <a:latin typeface="Georgia"/>
              </a:rPr>
              <a:t>Rs 14,00,000</a:t>
            </a:r>
          </a:p>
        </p:txBody>
      </p:sp>
      <p:sp>
        <p:nvSpPr>
          <p:cNvPr id="19" name="TextBox 18"/>
          <p:cNvSpPr txBox="1"/>
          <p:nvPr/>
        </p:nvSpPr>
        <p:spPr>
          <a:xfrm>
            <a:off x="4332122" y="4701539"/>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FALL ON THE BOOKS</a:t>
            </a:r>
          </a:p>
        </p:txBody>
      </p:sp>
      <p:sp>
        <p:nvSpPr>
          <p:cNvPr id="20" name="TextBox 19"/>
          <p:cNvSpPr txBox="1"/>
          <p:nvPr/>
        </p:nvSpPr>
        <p:spPr>
          <a:xfrm>
            <a:off x="4332122" y="4902707"/>
            <a:ext cx="3527450" cy="193421"/>
          </a:xfrm>
          <a:prstGeom prst="rect">
            <a:avLst/>
          </a:prstGeom>
          <a:noFill/>
        </p:spPr>
        <p:txBody>
          <a:bodyPr wrap="square" anchor="t" lIns="0" rIns="0" tIns="0" bIns="0">
            <a:spAutoFit/>
          </a:bodyPr>
          <a:lstStyle/>
          <a:p>
            <a:pPr algn="l"/>
            <a:r>
              <a:rPr sz="950" b="0" i="0">
                <a:solidFill>
                  <a:srgbClr val="6B6690"/>
                </a:solidFill>
                <a:latin typeface="Calibri"/>
              </a:rPr>
              <a:t>was Rs 5,50,000 with the zero, invented</a:t>
            </a:r>
          </a:p>
        </p:txBody>
      </p:sp>
      <p:sp>
        <p:nvSpPr>
          <p:cNvPr id="21" name="Rectangle 20"/>
          <p:cNvSpPr/>
          <p:nvPr/>
        </p:nvSpPr>
        <p:spPr>
          <a:xfrm>
            <a:off x="4332122" y="5282183"/>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4093463"/>
            <a:ext cx="3527450" cy="571500"/>
          </a:xfrm>
          <a:prstGeom prst="rect">
            <a:avLst/>
          </a:prstGeom>
          <a:noFill/>
        </p:spPr>
        <p:txBody>
          <a:bodyPr wrap="square" anchor="t" lIns="0" rIns="0" tIns="0" bIns="0">
            <a:spAutoFit/>
          </a:bodyPr>
          <a:lstStyle/>
          <a:p>
            <a:pPr algn="l"/>
            <a:r>
              <a:rPr sz="3600" b="0" i="0">
                <a:solidFill>
                  <a:srgbClr val="5B3FD6"/>
                </a:solidFill>
                <a:latin typeface="Georgia"/>
              </a:rPr>
              <a:t>1</a:t>
            </a:r>
          </a:p>
        </p:txBody>
      </p:sp>
      <p:sp>
        <p:nvSpPr>
          <p:cNvPr id="23" name="TextBox 22"/>
          <p:cNvSpPr txBox="1"/>
          <p:nvPr/>
        </p:nvSpPr>
        <p:spPr>
          <a:xfrm>
            <a:off x="8133892" y="4701539"/>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LOG LINE</a:t>
            </a:r>
          </a:p>
        </p:txBody>
      </p:sp>
      <p:sp>
        <p:nvSpPr>
          <p:cNvPr id="24" name="TextBox 23"/>
          <p:cNvSpPr txBox="1"/>
          <p:nvPr/>
        </p:nvSpPr>
        <p:spPr>
          <a:xfrm>
            <a:off x="8133892" y="4902707"/>
            <a:ext cx="3527450" cy="193421"/>
          </a:xfrm>
          <a:prstGeom prst="rect">
            <a:avLst/>
          </a:prstGeom>
          <a:noFill/>
        </p:spPr>
        <p:txBody>
          <a:bodyPr wrap="square" anchor="t" lIns="0" rIns="0" tIns="0" bIns="0">
            <a:spAutoFit/>
          </a:bodyPr>
          <a:lstStyle/>
          <a:p>
            <a:pPr algn="l"/>
            <a:r>
              <a:rPr sz="950" b="0" i="0">
                <a:solidFill>
                  <a:srgbClr val="6B6690"/>
                </a:solidFill>
                <a:latin typeface="Calibri"/>
              </a:rPr>
              <a:t>the text and the number it was read as</a:t>
            </a:r>
          </a:p>
        </p:txBody>
      </p:sp>
      <p:sp>
        <p:nvSpPr>
          <p:cNvPr id="25" name="Rectangle 24"/>
          <p:cNvSpPr/>
          <p:nvPr/>
        </p:nvSpPr>
        <p:spPr>
          <a:xfrm>
            <a:off x="8133892" y="5282183"/>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28" name="Oval 27"/>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35682"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a clean pass done?</a:t>
            </a:r>
          </a:p>
        </p:txBody>
      </p:sp>
      <p:sp>
        <p:nvSpPr>
          <p:cNvPr id="30" name="Oval 29"/>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52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An order with no segment turns a fall into a rise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a segment filter drop a row without a word, as the zero did?</a:t>
            </a:r>
          </a:p>
        </p:txBody>
      </p:sp>
      <p:pic>
        <p:nvPicPr>
          <p:cNvPr id="10" name="mermaid diagram" descr="d2e950093eb067cb.png"/>
          <p:cNvPicPr>
            <a:picLocks noChangeAspect="1"/>
          </p:cNvPicPr>
          <p:nvPr/>
        </p:nvPicPr>
        <p:blipFill>
          <a:blip r:embed="rId6"/>
          <a:stretch>
            <a:fillRect/>
          </a:stretch>
        </p:blipFill>
        <p:spPr>
          <a:xfrm>
            <a:off x="3588801" y="1664208"/>
            <a:ext cx="5014092" cy="3203447"/>
          </a:xfrm>
          <a:prstGeom prst="rect">
            <a:avLst/>
          </a:prstGeom>
        </p:spPr>
      </p:pic>
      <p:sp>
        <p:nvSpPr>
          <p:cNvPr id="11" name="Rounded Rectangle 10"/>
          <p:cNvSpPr/>
          <p:nvPr/>
        </p:nvSpPr>
        <p:spPr>
          <a:xfrm>
            <a:off x="530352" y="491337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52456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list-checks_bd88901d2a37.png"/>
          <p:cNvPicPr>
            <a:picLocks noChangeAspect="1"/>
          </p:cNvPicPr>
          <p:nvPr/>
        </p:nvPicPr>
        <p:blipFill>
          <a:blip r:embed="rId5"/>
          <a:stretch>
            <a:fillRect/>
          </a:stretch>
        </p:blipFill>
        <p:spPr>
          <a:xfrm>
            <a:off x="868680" y="5355336"/>
            <a:ext cx="237744" cy="237744"/>
          </a:xfrm>
          <a:prstGeom prst="rect">
            <a:avLst/>
          </a:prstGeom>
        </p:spPr>
      </p:pic>
      <p:sp>
        <p:nvSpPr>
          <p:cNvPr id="14" name="TextBox 13"/>
          <p:cNvSpPr txBox="1"/>
          <p:nvPr/>
        </p:nvSpPr>
        <p:spPr>
          <a:xfrm>
            <a:off x="1399031" y="50596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5" name="TextBox 14"/>
          <p:cNvSpPr txBox="1"/>
          <p:nvPr/>
        </p:nvSpPr>
        <p:spPr>
          <a:xfrm>
            <a:off x="1399031" y="5279136"/>
            <a:ext cx="9987991" cy="682752"/>
          </a:xfrm>
          <a:prstGeom prst="rect">
            <a:avLst/>
          </a:prstGeom>
          <a:noFill/>
        </p:spPr>
        <p:txBody>
          <a:bodyPr wrap="square" anchor="t" lIns="0" rIns="0" tIns="0" bIns="0">
            <a:spAutoFit/>
          </a:bodyPr>
          <a:lstStyle/>
          <a:p>
            <a:r>
              <a:rPr sz="1500" b="0" i="0">
                <a:solidFill>
                  <a:srgbClr val="1A1440"/>
                </a:solidFill>
                <a:latin typeface="Calibri"/>
              </a:rPr>
              <a:t>The segments add back to the quarter, in orders and in rupees, before any segment is read. On the invented export they fall one order short in Q1, and Retail-Core, which fell, reads as a rise.</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8" name="Oval 17"/>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035682"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a clean pass done?</a:t>
            </a:r>
          </a:p>
        </p:txBody>
      </p:sp>
      <p:sp>
        <p:nvSpPr>
          <p:cNvPr id="20" name="Oval 19"/>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D28  ·  31 / 52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Summed or logged: the logged value is the gap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the file alone, with no control total, find the gap?</a:t>
            </a:r>
          </a:p>
        </p:txBody>
      </p:sp>
      <p:pic>
        <p:nvPicPr>
          <p:cNvPr id="9" name="mermaid diagram" descr="d17567d359b3a664.png"/>
          <p:cNvPicPr>
            <a:picLocks noChangeAspect="1"/>
          </p:cNvPicPr>
          <p:nvPr/>
        </p:nvPicPr>
        <p:blipFill>
          <a:blip r:embed="rId5"/>
          <a:stretch>
            <a:fillRect/>
          </a:stretch>
        </p:blipFill>
        <p:spPr>
          <a:xfrm>
            <a:off x="2152497" y="1787461"/>
            <a:ext cx="7886700" cy="3286125"/>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On the invented export the account balances. The rupee check needs a total from outside and says how much is missing, and this needs only the file and says where, so on a file with no control total it is the check you still have.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3" name="Oval 1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a clean pass done?</a:t>
            </a:r>
          </a:p>
        </p:txBody>
      </p:sp>
      <p:sp>
        <p:nvSpPr>
          <p:cNvPr id="15" name="Oval 1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52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Only once the rupees land as well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count reconciles and nothing was rejected: is the pass finished?</a:t>
            </a:r>
          </a:p>
        </p:txBody>
      </p:sp>
      <p:graphicFrame>
        <p:nvGraphicFramePr>
          <p:cNvPr id="9" name="Table 8"/>
          <p:cNvGraphicFramePr>
            <a:graphicFrameLocks noGrp="1"/>
          </p:cNvGraphicFramePr>
          <p:nvPr/>
        </p:nvGraphicFramePr>
        <p:xfrm>
          <a:off x="530352" y="1956816"/>
          <a:ext cx="11130990" cy="2588768"/>
        </p:xfrm>
        <a:graphic>
          <a:graphicData uri="http://schemas.openxmlformats.org/drawingml/2006/table">
            <a:tbl>
              <a:tblPr firstRow="0" bandRow="0">
                <a:tableStyleId>{2D5ABB26-0587-4C30-8999-92F81FD0307C}</a:tableStyleId>
              </a:tblPr>
              <a:tblGrid>
                <a:gridCol w="4568930"/>
                <a:gridCol w="6562060"/>
              </a:tblGrid>
              <a:tr h="369824">
                <a:tc>
                  <a:txBody>
                    <a:bodyPr/>
                    <a:lstStyle/>
                    <a:p>
                      <a:r>
                        <a:rPr sz="1450" b="1" i="0">
                          <a:solidFill>
                            <a:srgbClr val="FFFFFF"/>
                          </a:solidFill>
                          <a:latin typeface="Calibri"/>
                        </a:rPr>
                        <a:t>The question</a:t>
                      </a:r>
                    </a:p>
                  </a:txBody>
                  <a:tcPr marL="101600" marR="101600" marT="38100" marB="38100" anchor="ctr">
                    <a:solidFill>
                      <a:srgbClr val="1A0F5C"/>
                    </a:solidFill>
                  </a:tcPr>
                </a:tc>
                <a:tc>
                  <a:txBody>
                    <a:bodyPr/>
                    <a:lstStyle/>
                    <a:p>
                      <a:r>
                        <a:rPr sz="1450" b="1" i="0">
                          <a:solidFill>
                            <a:srgbClr val="FFFFFF"/>
                          </a:solidFill>
                          <a:latin typeface="Calibri"/>
                        </a:rPr>
                        <a:t>The answer, on the invented export</a:t>
                      </a:r>
                    </a:p>
                  </a:txBody>
                  <a:tcPr marL="101600" marR="101600" marT="38100" marB="38100" anchor="ctr">
                    <a:solidFill>
                      <a:srgbClr val="1A0F5C"/>
                    </a:solidFill>
                  </a:tcPr>
                </a:tc>
              </a:tr>
              <a:tr h="369824">
                <a:tc>
                  <a:txBody>
                    <a:bodyPr/>
                    <a:lstStyle/>
                    <a:p>
                      <a:r>
                        <a:rPr sz="1400" b="0" i="0">
                          <a:solidFill>
                            <a:srgbClr val="1A1440"/>
                          </a:solidFill>
                          <a:latin typeface="Calibri"/>
                        </a:rPr>
                        <a:t>What does a zeroing pass report?</a:t>
                      </a:r>
                    </a:p>
                  </a:txBody>
                  <a:tcPr marL="101600" marR="101600" marT="38100" marB="38100" anchor="ctr">
                    <a:solidFill>
                      <a:srgbClr val="FFFFFF"/>
                    </a:solidFill>
                  </a:tcPr>
                </a:tc>
                <a:tc>
                  <a:txBody>
                    <a:bodyPr/>
                    <a:lstStyle/>
                    <a:p>
                      <a:r>
                        <a:rPr sz="1400" b="0" i="0">
                          <a:solidFill>
                            <a:srgbClr val="1A1440"/>
                          </a:solidFill>
                          <a:latin typeface="Calibri"/>
                        </a:rPr>
                        <a:t>83 Q1 orders of 83, and 0 rejects</a:t>
                      </a:r>
                    </a:p>
                  </a:txBody>
                  <a:tcPr marL="101600" marR="101600" marT="38100" marB="38100" anchor="ctr">
                    <a:solidFill>
                      <a:srgbClr val="FFFFFF"/>
                    </a:solidFill>
                  </a:tcPr>
                </a:tc>
              </a:tr>
              <a:tr h="369824">
                <a:tc>
                  <a:txBody>
                    <a:bodyPr/>
                    <a:lstStyle/>
                    <a:p>
                      <a:r>
                        <a:rPr sz="1400" b="0" i="0">
                          <a:solidFill>
                            <a:srgbClr val="1A1440"/>
                          </a:solidFill>
                          <a:latin typeface="Calibri"/>
                        </a:rPr>
                        <a:t>What do the rupees say?</a:t>
                      </a:r>
                    </a:p>
                  </a:txBody>
                  <a:tcPr marL="101600" marR="101600" marT="38100" marB="38100" anchor="ctr">
                    <a:solidFill>
                      <a:srgbClr val="F4F2FA"/>
                    </a:solidFill>
                  </a:tcPr>
                </a:tc>
                <a:tc>
                  <a:txBody>
                    <a:bodyPr/>
                    <a:lstStyle/>
                    <a:p>
                      <a:r>
                        <a:rPr sz="1400" b="0" i="0">
                          <a:solidFill>
                            <a:srgbClr val="1A1440"/>
                          </a:solidFill>
                          <a:latin typeface="Calibri"/>
                        </a:rPr>
                        <a:t>Q1 Rs 8,50,000 short: -17.5% against -35.0%</a:t>
                      </a:r>
                    </a:p>
                  </a:txBody>
                  <a:tcPr marL="101600" marR="101600" marT="38100" marB="38100" anchor="ctr">
                    <a:solidFill>
                      <a:srgbClr val="F4F2FA"/>
                    </a:solidFill>
                  </a:tcPr>
                </a:tc>
              </a:tr>
              <a:tr h="369824">
                <a:tc>
                  <a:txBody>
                    <a:bodyPr/>
                    <a:lstStyle/>
                    <a:p>
                      <a:r>
                        <a:rPr sz="1400" b="0" i="0">
                          <a:solidFill>
                            <a:srgbClr val="1A1440"/>
                          </a:solidFill>
                          <a:latin typeface="Calibri"/>
                        </a:rPr>
                        <a:t>Which of four answers fits?</a:t>
                      </a:r>
                    </a:p>
                  </a:txBody>
                  <a:tcPr marL="101600" marR="101600" marT="38100" marB="38100" anchor="ctr">
                    <a:solidFill>
                      <a:srgbClr val="FFFFFF"/>
                    </a:solidFill>
                  </a:tcPr>
                </a:tc>
                <a:tc>
                  <a:txBody>
                    <a:bodyPr/>
                    <a:lstStyle/>
                    <a:p>
                      <a:r>
                        <a:rPr sz="1400" b="0" i="0">
                          <a:solidFill>
                            <a:srgbClr val="1A1440"/>
                          </a:solidFill>
                          <a:latin typeface="Calibri"/>
                        </a:rPr>
                        <a:t>C, read and flag; D when it needs a guess</a:t>
                      </a:r>
                    </a:p>
                  </a:txBody>
                  <a:tcPr marL="101600" marR="101600" marT="38100" marB="38100" anchor="ctr">
                    <a:solidFill>
                      <a:srgbClr val="FFFFFF"/>
                    </a:solidFill>
                  </a:tcPr>
                </a:tc>
              </a:tr>
              <a:tr h="369824">
                <a:tc>
                  <a:txBody>
                    <a:bodyPr/>
                    <a:lstStyle/>
                    <a:p>
                      <a:r>
                        <a:rPr sz="1400" b="0" i="0">
                          <a:solidFill>
                            <a:srgbClr val="1A1440"/>
                          </a:solidFill>
                          <a:latin typeface="Calibri"/>
                        </a:rPr>
                        <a:t>What does reading it change?</a:t>
                      </a:r>
                    </a:p>
                  </a:txBody>
                  <a:tcPr marL="101600" marR="101600" marT="38100" marB="38100" anchor="ctr">
                    <a:solidFill>
                      <a:srgbClr val="F4F2FA"/>
                    </a:solidFill>
                  </a:tcPr>
                </a:tc>
                <a:tc>
                  <a:txBody>
                    <a:bodyPr/>
                    <a:lstStyle/>
                    <a:p>
                      <a:r>
                        <a:rPr sz="1400" b="0" i="0">
                          <a:solidFill>
                            <a:srgbClr val="1A1440"/>
                          </a:solidFill>
                          <a:latin typeface="Calibri"/>
                        </a:rPr>
                        <a:t>The fall doubles to 35.0%, Rs 14,00,000</a:t>
                      </a:r>
                    </a:p>
                  </a:txBody>
                  <a:tcPr marL="101600" marR="101600" marT="38100" marB="38100" anchor="ctr">
                    <a:solidFill>
                      <a:srgbClr val="F4F2FA"/>
                    </a:solidFill>
                  </a:tcPr>
                </a:tc>
              </a:tr>
              <a:tr h="369824">
                <a:tc>
                  <a:txBody>
                    <a:bodyPr/>
                    <a:lstStyle/>
                    <a:p>
                      <a:r>
                        <a:rPr sz="1400" b="0" i="0">
                          <a:solidFill>
                            <a:srgbClr val="1A1440"/>
                          </a:solidFill>
                          <a:latin typeface="Calibri"/>
                        </a:rPr>
                        <a:t>Can a filter drop a row?</a:t>
                      </a:r>
                    </a:p>
                  </a:txBody>
                  <a:tcPr marL="101600" marR="101600" marT="38100" marB="38100" anchor="ctr">
                    <a:solidFill>
                      <a:srgbClr val="FFFFFF"/>
                    </a:solidFill>
                  </a:tcPr>
                </a:tc>
                <a:tc>
                  <a:txBody>
                    <a:bodyPr/>
                    <a:lstStyle/>
                    <a:p>
                      <a:r>
                        <a:rPr sz="1400" b="0" i="0">
                          <a:solidFill>
                            <a:srgbClr val="1A1440"/>
                          </a:solidFill>
                          <a:latin typeface="Calibri"/>
                        </a:rPr>
                        <a:t>Yes: Retail-Core reads +2.2% where it fell 1.0%</a:t>
                      </a:r>
                    </a:p>
                  </a:txBody>
                  <a:tcPr marL="101600" marR="101600" marT="38100" marB="38100" anchor="ctr">
                    <a:solidFill>
                      <a:srgbClr val="FFFFFF"/>
                    </a:solidFill>
                  </a:tcPr>
                </a:tc>
              </a:tr>
              <a:tr h="369824">
                <a:tc>
                  <a:txBody>
                    <a:bodyPr/>
                    <a:lstStyle/>
                    <a:p>
                      <a:r>
                        <a:rPr sz="1400" b="0" i="0">
                          <a:solidFill>
                            <a:srgbClr val="1A1440"/>
                          </a:solidFill>
                          <a:latin typeface="Calibri"/>
                        </a:rPr>
                        <a:t>Can the file find the gap?</a:t>
                      </a:r>
                    </a:p>
                  </a:txBody>
                  <a:tcPr marL="101600" marR="101600" marT="38100" marB="38100" anchor="ctr">
                    <a:solidFill>
                      <a:srgbClr val="F4F2FA"/>
                    </a:solidFill>
                  </a:tcPr>
                </a:tc>
                <a:tc>
                  <a:txBody>
                    <a:bodyPr/>
                    <a:lstStyle/>
                    <a:p>
                      <a:r>
                        <a:rPr sz="1400" b="0" i="0">
                          <a:solidFill>
                            <a:srgbClr val="1A1440"/>
                          </a:solidFill>
                          <a:latin typeface="Calibri"/>
                        </a:rPr>
                        <a:t>Yes: 167 = 166 + 1, and the log is the gap</a:t>
                      </a:r>
                    </a:p>
                  </a:txBody>
                  <a:tcPr marL="101600" marR="101600" marT="38100" marB="38100" anchor="ctr">
                    <a:solidFill>
                      <a:srgbClr val="F4F2FA"/>
                    </a:solidFill>
                  </a:tcPr>
                </a:tc>
              </a:tr>
            </a:tbl>
          </a:graphicData>
        </a:graphic>
      </p:graphicFrame>
      <p:sp>
        <p:nvSpPr>
          <p:cNvPr id="10" name="Rounded Rectangle 9"/>
          <p:cNvSpPr/>
          <p:nvPr/>
        </p:nvSpPr>
        <p:spPr>
          <a:xfrm>
            <a:off x="530352" y="480161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338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5243576"/>
            <a:ext cx="237744" cy="237744"/>
          </a:xfrm>
          <a:prstGeom prst="rect">
            <a:avLst/>
          </a:prstGeom>
        </p:spPr>
      </p:pic>
      <p:sp>
        <p:nvSpPr>
          <p:cNvPr id="13" name="TextBox 12"/>
          <p:cNvSpPr txBox="1"/>
          <p:nvPr/>
        </p:nvSpPr>
        <p:spPr>
          <a:xfrm>
            <a:off x="1399031" y="49479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5167376"/>
            <a:ext cx="9987991" cy="682752"/>
          </a:xfrm>
          <a:prstGeom prst="rect">
            <a:avLst/>
          </a:prstGeom>
          <a:noFill/>
        </p:spPr>
        <p:txBody>
          <a:bodyPr wrap="square" anchor="t" lIns="0" rIns="0" tIns="0" bIns="0">
            <a:spAutoFit/>
          </a:bodyPr>
          <a:lstStyle/>
          <a:p>
            <a:r>
              <a:rPr sz="1500" b="0" i="0">
                <a:solidFill>
                  <a:srgbClr val="1A1440"/>
                </a:solidFill>
                <a:latin typeface="Calibri"/>
              </a:rPr>
              <a:t>A count check proves the rows are there. Only a rupee check proves the values survived. Setting a value to zero claims the order was worth nothing, so that decision belongs in the log with a reason.</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7" name="Oval 16"/>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a clean pass done?</a:t>
            </a:r>
          </a:p>
        </p:txBody>
      </p:sp>
      <p:sp>
        <p:nvSpPr>
          <p:cNvPr id="19" name="Oval 18"/>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52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number leads?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finding leads the note, and how sure can Meera be of it?</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 the quarters tie?</a:t>
            </a:r>
          </a:p>
        </p:txBody>
      </p:sp>
      <p:sp>
        <p:nvSpPr>
          <p:cNvPr id="11" name="Rounded Rectangle 10"/>
          <p:cNvSpPr/>
          <p:nvPr/>
        </p:nvSpPr>
        <p:spPr>
          <a:xfrm>
            <a:off x="2391327"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a clean pass done?</a:t>
            </a:r>
          </a:p>
        </p:txBody>
      </p:sp>
      <p:sp>
        <p:nvSpPr>
          <p:cNvPr id="12" name="Rounded Rectangle 11"/>
          <p:cNvSpPr/>
          <p:nvPr/>
        </p:nvSpPr>
        <p:spPr>
          <a:xfrm>
            <a:off x="4110350"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number leads?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Where did the room break?</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34 / 52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five questions, from tree to test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right lead, and which five questions lead there?</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acts on the note's first line and Marketing attacks any rate on a handful of orders; a trend claimed from a few orders sends a team after a segment that did nothing.</a:t>
            </a:r>
          </a:p>
        </p:txBody>
      </p:sp>
      <p:sp>
        <p:nvSpPr>
          <p:cNvPr id="12" name="Rectangle 11"/>
          <p:cNvSpPr/>
          <p:nvPr/>
        </p:nvSpPr>
        <p:spPr>
          <a:xfrm>
            <a:off x="1570299" y="34960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46971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Where does the fall sit?</a:t>
            </a:r>
          </a:p>
        </p:txBody>
      </p:sp>
      <p:sp>
        <p:nvSpPr>
          <p:cNvPr id="17" name="TextBox 16"/>
          <p:cNvSpPr txBox="1"/>
          <p:nvPr/>
        </p:nvSpPr>
        <p:spPr>
          <a:xfrm>
            <a:off x="694944" y="446481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clean tree splits it by segment.</a:t>
            </a:r>
          </a:p>
        </p:txBody>
      </p:sp>
      <p:sp>
        <p:nvSpPr>
          <p:cNvPr id="18" name="TextBox 17"/>
          <p:cNvSpPr txBox="1"/>
          <p:nvPr/>
        </p:nvSpPr>
        <p:spPr>
          <a:xfrm>
            <a:off x="2793126"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73248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On how many orders?</a:t>
            </a:r>
          </a:p>
        </p:txBody>
      </p:sp>
      <p:sp>
        <p:nvSpPr>
          <p:cNvPr id="22" name="TextBox 21"/>
          <p:cNvSpPr txBox="1"/>
          <p:nvPr/>
        </p:nvSpPr>
        <p:spPr>
          <a:xfrm>
            <a:off x="2957718"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biggest move rests on a count.</a:t>
            </a:r>
          </a:p>
        </p:txBody>
      </p:sp>
      <p:sp>
        <p:nvSpPr>
          <p:cNvPr id="23" name="TextBox 22"/>
          <p:cNvSpPr txBox="1"/>
          <p:nvPr/>
        </p:nvSpPr>
        <p:spPr>
          <a:xfrm>
            <a:off x="5055900"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995263"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How to choose the lead?</a:t>
            </a:r>
          </a:p>
        </p:txBody>
      </p:sp>
      <p:sp>
        <p:nvSpPr>
          <p:cNvPr id="27" name="TextBox 26"/>
          <p:cNvSpPr txBox="1"/>
          <p:nvPr/>
        </p:nvSpPr>
        <p:spPr>
          <a:xfrm>
            <a:off x="5220492" y="4464812"/>
            <a:ext cx="1750710" cy="366776"/>
          </a:xfrm>
          <a:prstGeom prst="rect">
            <a:avLst/>
          </a:prstGeom>
          <a:noFill/>
        </p:spPr>
        <p:txBody>
          <a:bodyPr wrap="square" anchor="t" lIns="0" rIns="0" tIns="0" bIns="0">
            <a:spAutoFit/>
          </a:bodyPr>
          <a:lstStyle/>
          <a:p>
            <a:pPr algn="l"/>
            <a:r>
              <a:rPr sz="1000" b="0" i="0">
                <a:solidFill>
                  <a:srgbClr val="6B6690"/>
                </a:solidFill>
                <a:latin typeface="Calibri"/>
              </a:rPr>
              <a:t>Four ways to choose are sized.</a:t>
            </a:r>
          </a:p>
        </p:txBody>
      </p:sp>
      <p:sp>
        <p:nvSpPr>
          <p:cNvPr id="28" name="TextBox 27"/>
          <p:cNvSpPr txBox="1"/>
          <p:nvPr/>
        </p:nvSpPr>
        <p:spPr>
          <a:xfrm>
            <a:off x="7318674"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825803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More than chance?</a:t>
            </a:r>
          </a:p>
        </p:txBody>
      </p:sp>
      <p:sp>
        <p:nvSpPr>
          <p:cNvPr id="32" name="TextBox 31"/>
          <p:cNvSpPr txBox="1"/>
          <p:nvPr/>
        </p:nvSpPr>
        <p:spPr>
          <a:xfrm>
            <a:off x="7483266"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Each member's two quarters are flipped.</a:t>
            </a:r>
          </a:p>
        </p:txBody>
      </p:sp>
      <p:sp>
        <p:nvSpPr>
          <p:cNvPr id="33" name="TextBox 32"/>
          <p:cNvSpPr txBox="1"/>
          <p:nvPr/>
        </p:nvSpPr>
        <p:spPr>
          <a:xfrm>
            <a:off x="9581448"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10520812"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3816096"/>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3962400"/>
            <a:ext cx="1750710" cy="465836"/>
          </a:xfrm>
          <a:prstGeom prst="rect">
            <a:avLst/>
          </a:prstGeom>
          <a:noFill/>
        </p:spPr>
        <p:txBody>
          <a:bodyPr wrap="square" anchor="t" lIns="0" rIns="0" tIns="0" bIns="0">
            <a:spAutoFit/>
          </a:bodyPr>
          <a:lstStyle/>
          <a:p>
            <a:pPr algn="l"/>
            <a:r>
              <a:rPr sz="1300" b="1" i="0">
                <a:solidFill>
                  <a:srgbClr val="FFFFFF"/>
                </a:solidFill>
                <a:latin typeface="Calibri"/>
              </a:rPr>
              <a:t>Broad, or a few members?</a:t>
            </a:r>
          </a:p>
        </p:txBody>
      </p:sp>
      <p:sp>
        <p:nvSpPr>
          <p:cNvPr id="37" name="TextBox 36"/>
          <p:cNvSpPr txBox="1"/>
          <p:nvPr/>
        </p:nvSpPr>
        <p:spPr>
          <a:xfrm>
            <a:off x="9746040" y="4464812"/>
            <a:ext cx="1750710" cy="366776"/>
          </a:xfrm>
          <a:prstGeom prst="rect">
            <a:avLst/>
          </a:prstGeom>
          <a:noFill/>
        </p:spPr>
        <p:txBody>
          <a:bodyPr wrap="square" anchor="t" lIns="0" rIns="0" tIns="0" bIns="0">
            <a:spAutoFit/>
          </a:bodyPr>
          <a:lstStyle/>
          <a:p>
            <a:pPr algn="l"/>
            <a:r>
              <a:rPr sz="1000" b="0" i="0">
                <a:solidFill>
                  <a:srgbClr val="CFC9EE"/>
                </a:solidFill>
                <a:latin typeface="Calibri"/>
              </a:rPr>
              <a:t>The second route counts members.</a:t>
            </a:r>
          </a:p>
        </p:txBody>
      </p:sp>
      <p:sp>
        <p:nvSpPr>
          <p:cNvPr id="38" name="Oval 3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40" name="Oval 39"/>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42" name="Oval 41"/>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52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acts on the line Marketing will attack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reads the first line, and what does a wrong lead cost?</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14,00,000</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FALL</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Q1 to Q2, reconciled, invented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four</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SEGMENTS</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each with its own count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one line</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WHAT MEERA ACTS ON</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note's first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Which branch do I open first, and can I act on it on Monday?</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28" name="Oval 2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30" name="Oval 29"/>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36 / 52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IMDb counts votes before it ranks a title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else refuses to rank on a handful of cases?</a:t>
            </a:r>
          </a:p>
        </p:txBody>
      </p:sp>
      <p:sp>
        <p:nvSpPr>
          <p:cNvPr id="10" name="Rounded Rectangle 9"/>
          <p:cNvSpPr/>
          <p:nvPr/>
        </p:nvSpPr>
        <p:spPr>
          <a:xfrm>
            <a:off x="530352" y="1956816"/>
            <a:ext cx="5474055"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tar_d3c4d302b189.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IMDB TOP 250</a:t>
            </a:r>
          </a:p>
        </p:txBody>
      </p:sp>
      <p:sp>
        <p:nvSpPr>
          <p:cNvPr id="14" name="TextBox 13"/>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25,000 ratings first</a:t>
            </a:r>
          </a:p>
        </p:txBody>
      </p:sp>
      <p:sp>
        <p:nvSpPr>
          <p:cNvPr id="15" name="TextBox 14"/>
          <p:cNvSpPr txBox="1"/>
          <p:nvPr/>
        </p:nvSpPr>
        <p:spPr>
          <a:xfrm>
            <a:off x="731519" y="3303524"/>
            <a:ext cx="5071719" cy="581406"/>
          </a:xfrm>
          <a:prstGeom prst="rect">
            <a:avLst/>
          </a:prstGeom>
          <a:noFill/>
        </p:spPr>
        <p:txBody>
          <a:bodyPr wrap="square" anchor="t" lIns="0" rIns="0" tIns="0" bIns="0">
            <a:spAutoFit/>
          </a:bodyPr>
          <a:lstStyle/>
          <a:p>
            <a:pPr algn="l"/>
            <a:r>
              <a:rPr sz="1100" b="0" i="0">
                <a:solidFill>
                  <a:srgbClr val="CFC9EE"/>
                </a:solidFill>
                <a:latin typeface="Calibri"/>
              </a:rPr>
              <a:t>A title needs at least 25,000 ratings from regular voters, and the weighted rating pulls a title with few votes toward the average of all titles. Source: IMDb Help, ratings FAQ, updated 9 February 2026.</a:t>
            </a:r>
          </a:p>
        </p:txBody>
      </p:sp>
      <p:sp>
        <p:nvSpPr>
          <p:cNvPr id="16" name="Rounded Rectangle 15"/>
          <p:cNvSpPr/>
          <p:nvPr/>
        </p:nvSpPr>
        <p:spPr>
          <a:xfrm>
            <a:off x="6187287" y="1956816"/>
            <a:ext cx="5474055"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school_d5d8d79ecd6b.png"/>
          <p:cNvPicPr>
            <a:picLocks noChangeAspect="1"/>
          </p:cNvPicPr>
          <p:nvPr/>
        </p:nvPicPr>
        <p:blipFill>
          <a:blip r:embed="rId5"/>
          <a:stretch>
            <a:fillRect/>
          </a:stretch>
        </p:blipFill>
        <p:spPr>
          <a:xfrm>
            <a:off x="6498183" y="2267712"/>
            <a:ext cx="237744" cy="237744"/>
          </a:xfrm>
          <a:prstGeom prst="rect">
            <a:avLst/>
          </a:prstGeom>
        </p:spPr>
      </p:pic>
      <p:sp>
        <p:nvSpPr>
          <p:cNvPr id="19" name="TextBox 18"/>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SMALL SCHOOLS, A PUBLIC CASE</a:t>
            </a:r>
          </a:p>
        </p:txBody>
      </p:sp>
      <p:sp>
        <p:nvSpPr>
          <p:cNvPr id="20" name="TextBox 19"/>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Best and worst, both small</a:t>
            </a:r>
          </a:p>
        </p:txBody>
      </p:sp>
      <p:sp>
        <p:nvSpPr>
          <p:cNvPr id="21" name="TextBox 20"/>
          <p:cNvSpPr txBox="1"/>
          <p:nvPr/>
        </p:nvSpPr>
        <p:spPr>
          <a:xfrm>
            <a:off x="6388455" y="3303524"/>
            <a:ext cx="5071719" cy="763016"/>
          </a:xfrm>
          <a:prstGeom prst="rect">
            <a:avLst/>
          </a:prstGeom>
          <a:noFill/>
        </p:spPr>
        <p:txBody>
          <a:bodyPr wrap="square" anchor="t" lIns="0" rIns="0" tIns="0" bIns="0">
            <a:spAutoFit/>
          </a:bodyPr>
          <a:lstStyle/>
          <a:p>
            <a:pPr algn="l"/>
            <a:r>
              <a:rPr sz="1100" b="0" i="0">
                <a:solidFill>
                  <a:srgbClr val="6B6690"/>
                </a:solidFill>
                <a:latin typeface="Calibri"/>
              </a:rPr>
              <a:t>Small schools are over-represented at both ends of the rankings because small samples vary more. Source: Howard Wainer, "The Most Dangerous Equation", in Picturing the Uncertain World, Princeton University Press, 2009.</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26" name="Oval 25"/>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D33  ·  37 / 52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segment carries most of the fall?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Of the invented Rs 14,00,000 fall, where does most of it sit?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Retail-Core, the segment with the most orders; b) Retail-Plus, the members' tier; c) Business, the corporate book; d) Student, the smallest segment.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4" name="Oval 1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6" name="Oval 15"/>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38 / 52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corporate book, 99.2 percent of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in the tree does the invented fall sit?</a:t>
            </a:r>
          </a:p>
        </p:txBody>
      </p:sp>
      <p:pic>
        <p:nvPicPr>
          <p:cNvPr id="9" name="mermaid diagram" descr="3cb895d354135b35.png"/>
          <p:cNvPicPr>
            <a:picLocks noChangeAspect="1"/>
          </p:cNvPicPr>
          <p:nvPr/>
        </p:nvPicPr>
        <p:blipFill>
          <a:blip r:embed="rId5"/>
          <a:stretch>
            <a:fillRect/>
          </a:stretch>
        </p:blipFill>
        <p:spPr>
          <a:xfrm>
            <a:off x="2152497" y="1838769"/>
            <a:ext cx="7886700" cy="3286125"/>
          </a:xfrm>
          <a:prstGeom prst="rect">
            <a:avLst/>
          </a:prstGeom>
        </p:spPr>
      </p:pic>
      <p:sp>
        <p:nvSpPr>
          <p:cNvPr id="10" name="TextBox 9"/>
          <p:cNvSpPr txBox="1"/>
          <p:nvPr/>
        </p:nvSpPr>
        <p:spPr>
          <a:xfrm>
            <a:off x="530352" y="527119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Retail-Plus kept its 16 members and their 2.00 orders each while its revenue per order, the basket, fell from Rs 3,000 to Rs 2,550.</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5" name="Oval 14"/>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52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corporate book falls 36.3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headline does the biggest move tempt a hurried note into?</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-36.3%</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CORPORATE REVENUE</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Q1 to Q2, invented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5 then 2</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what the rate rests on</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13,88,200</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FALL IT CARRIES</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99.2% of the quarter's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rate is true to the rupee and the biggest move on the page, so a hurried note leads with it: "corporate is declining; we recommend a retention plan".</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26" name="Oval 25"/>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52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does it enter the note?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Meera reads the first line and acts on it: where does the corporate move go?</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as the headline trend, since it is the largest move in rupees on the page; b) as the headline, with a test's p-value printed beside the rate; c) left out of the note, since a handful of orders is too few to matter to anyone; d) as counts, the orders in each quarter, with a question to their owner.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4" name="Oval 1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6" name="Oval 15"/>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52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as counts, five orders then two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the corporate move go in the note, and why there?</a:t>
            </a:r>
          </a:p>
        </p:txBody>
      </p:sp>
      <p:pic>
        <p:nvPicPr>
          <p:cNvPr id="9" name="mermaid diagram" descr="cc6fbd2aede06676.png"/>
          <p:cNvPicPr>
            <a:picLocks noChangeAspect="1"/>
          </p:cNvPicPr>
          <p:nvPr/>
        </p:nvPicPr>
        <p:blipFill>
          <a:blip r:embed="rId5"/>
          <a:stretch>
            <a:fillRect/>
          </a:stretch>
        </p:blipFill>
        <p:spPr>
          <a:xfrm>
            <a:off x="530352" y="1956816"/>
            <a:ext cx="11130991" cy="2671974"/>
          </a:xfrm>
          <a:prstGeom prst="rect">
            <a:avLst/>
          </a:prstGeom>
        </p:spPr>
      </p:pic>
      <p:sp>
        <p:nvSpPr>
          <p:cNvPr id="10" name="TextBox 9"/>
          <p:cNvSpPr txBox="1"/>
          <p:nvPr/>
        </p:nvSpPr>
        <p:spPr>
          <a:xfrm>
            <a:off x="530352" y="4775094"/>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d. On the invented export, seven orders dealt at random between two quarters come out at least as uneven as five and two in 45 percent of coin-flip worlds, so the rate says nothing a count does not.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5" name="Oval 14"/>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42 / 52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choose the lead: C leads on 64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should a team choose the lead, and what does each way cost?</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2140638"/>
                <a:gridCol w="3490767"/>
                <a:gridCol w="914400"/>
                <a:gridCol w="3670784"/>
                <a:gridCol w="914400"/>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Leads with</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c>
                  <a:txBody>
                    <a:bodyPr/>
                    <a:lstStyle/>
                    <a:p>
                      <a:r>
                        <a:rPr sz="1250" b="1" i="0">
                          <a:solidFill>
                            <a:srgbClr val="FFFFFF"/>
                          </a:solidFill>
                          <a:latin typeface="Calibri"/>
                        </a:rPr>
                        <a:t>Chance alone</a:t>
                      </a:r>
                    </a:p>
                  </a:txBody>
                  <a:tcPr marL="101600" marR="101600" marT="38100" marB="38100" anchor="ctr">
                    <a:solidFill>
                      <a:srgbClr val="1A0F5C"/>
                    </a:solidFill>
                  </a:tcPr>
                </a:tc>
                <a:tc>
                  <a:txBody>
                    <a:bodyPr/>
                    <a:lstStyle/>
                    <a:p>
                      <a:r>
                        <a:rPr sz="1250" b="1" i="0">
                          <a:solidFill>
                            <a:srgbClr val="FFFFFF"/>
                          </a:solidFill>
                          <a:latin typeface="Calibri"/>
                        </a:rPr>
                        <a:t>Minutes</a:t>
                      </a:r>
                    </a:p>
                  </a:txBody>
                  <a:tcPr marL="101600" marR="101600" marT="38100" marB="38100" anchor="ctr">
                    <a:solidFill>
                      <a:srgbClr val="1A0F5C"/>
                    </a:solidFill>
                  </a:tcPr>
                </a:tc>
              </a:tr>
              <a:tr h="335280">
                <a:tc>
                  <a:txBody>
                    <a:bodyPr/>
                    <a:lstStyle/>
                    <a:p>
                      <a:r>
                        <a:rPr sz="1200" b="0" i="0">
                          <a:solidFill>
                            <a:srgbClr val="1A1440"/>
                          </a:solidFill>
                          <a:latin typeface="Calibri"/>
                        </a:rPr>
                        <a:t>A. Biggest rupee move</a:t>
                      </a:r>
                    </a:p>
                  </a:txBody>
                  <a:tcPr marL="101600" marR="101600" marT="38100" marB="38100" anchor="ctr">
                    <a:solidFill>
                      <a:srgbClr val="FFFFFF"/>
                    </a:solidFill>
                  </a:tcPr>
                </a:tc>
                <a:tc>
                  <a:txBody>
                    <a:bodyPr/>
                    <a:lstStyle/>
                    <a:p>
                      <a:r>
                        <a:rPr sz="1200" b="0" i="0">
                          <a:solidFill>
                            <a:srgbClr val="1A1440"/>
                          </a:solidFill>
                          <a:latin typeface="Calibri"/>
                        </a:rPr>
                        <a:t>Business -36.3%</a:t>
                      </a:r>
                    </a:p>
                  </a:txBody>
                  <a:tcPr marL="101600" marR="101600" marT="38100" marB="38100" anchor="ctr">
                    <a:solidFill>
                      <a:srgbClr val="FFFFFF"/>
                    </a:solidFill>
                  </a:tcPr>
                </a:tc>
                <a:tc>
                  <a:txBody>
                    <a:bodyPr/>
                    <a:lstStyle/>
                    <a:p>
                      <a:r>
                        <a:rPr sz="1200" b="0" i="0">
                          <a:solidFill>
                            <a:srgbClr val="1A1440"/>
                          </a:solidFill>
                          <a:latin typeface="Calibri"/>
                        </a:rPr>
                        <a:t>7</a:t>
                      </a:r>
                    </a:p>
                  </a:txBody>
                  <a:tcPr marL="101600" marR="101600" marT="38100" marB="38100" anchor="ctr">
                    <a:solidFill>
                      <a:srgbClr val="FFFFFF"/>
                    </a:solidFill>
                  </a:tcPr>
                </a:tc>
                <a:tc>
                  <a:txBody>
                    <a:bodyPr/>
                    <a:lstStyle/>
                    <a:p>
                      <a:r>
                        <a:rPr sz="1200" b="0" i="0">
                          <a:solidFill>
                            <a:srgbClr val="1A1440"/>
                          </a:solidFill>
                          <a:latin typeface="Calibri"/>
                        </a:rPr>
                        <a:t>45% of coin-flip worlds</a:t>
                      </a:r>
                    </a:p>
                  </a:txBody>
                  <a:tcPr marL="101600" marR="101600" marT="38100" marB="38100" anchor="ctr">
                    <a:solidFill>
                      <a:srgbClr val="FFFFFF"/>
                    </a:solidFill>
                  </a:tcPr>
                </a:tc>
                <a:tc>
                  <a:txBody>
                    <a:bodyPr/>
                    <a:lstStyle/>
                    <a:p>
                      <a:r>
                        <a:rPr sz="1200" b="0" i="0">
                          <a:solidFill>
                            <a:srgbClr val="1A1440"/>
                          </a:solidFill>
                          <a:latin typeface="Calibri"/>
                        </a:rPr>
                        <a:t>5</a:t>
                      </a:r>
                    </a:p>
                  </a:txBody>
                  <a:tcPr marL="101600" marR="101600" marT="38100" marB="38100" anchor="ctr">
                    <a:solidFill>
                      <a:srgbClr val="FFFFFF"/>
                    </a:solidFill>
                  </a:tcPr>
                </a:tc>
              </a:tr>
              <a:tr h="335280">
                <a:tc>
                  <a:txBody>
                    <a:bodyPr/>
                    <a:lstStyle/>
                    <a:p>
                      <a:r>
                        <a:rPr sz="1200" b="0" i="0">
                          <a:solidFill>
                            <a:srgbClr val="1A1440"/>
                          </a:solidFill>
                          <a:latin typeface="Calibri"/>
                        </a:rPr>
                        <a:t>B. The total, unsplit</a:t>
                      </a:r>
                    </a:p>
                  </a:txBody>
                  <a:tcPr marL="101600" marR="101600" marT="38100" marB="38100" anchor="ctr">
                    <a:solidFill>
                      <a:srgbClr val="F4F2FA"/>
                    </a:solidFill>
                  </a:tcPr>
                </a:tc>
                <a:tc>
                  <a:txBody>
                    <a:bodyPr/>
                    <a:lstStyle/>
                    <a:p>
                      <a:r>
                        <a:rPr sz="1200" b="0" i="0">
                          <a:solidFill>
                            <a:srgbClr val="1A1440"/>
                          </a:solidFill>
                          <a:latin typeface="Calibri"/>
                        </a:rPr>
                        <a:t>revenue -35.0%</a:t>
                      </a:r>
                    </a:p>
                  </a:txBody>
                  <a:tcPr marL="101600" marR="101600" marT="38100" marB="38100" anchor="ctr">
                    <a:solidFill>
                      <a:srgbClr val="F4F2FA"/>
                    </a:solidFill>
                  </a:tcPr>
                </a:tc>
                <a:tc>
                  <a:txBody>
                    <a:bodyPr/>
                    <a:lstStyle/>
                    <a:p>
                      <a:r>
                        <a:rPr sz="1200" b="0" i="0">
                          <a:solidFill>
                            <a:srgbClr val="1A1440"/>
                          </a:solidFill>
                          <a:latin typeface="Calibri"/>
                        </a:rPr>
                        <a:t>167</a:t>
                      </a:r>
                    </a:p>
                  </a:txBody>
                  <a:tcPr marL="101600" marR="101600" marT="38100" marB="38100" anchor="ctr">
                    <a:solidFill>
                      <a:srgbClr val="F4F2FA"/>
                    </a:solidFill>
                  </a:tcPr>
                </a:tc>
                <a:tc>
                  <a:txBody>
                    <a:bodyPr/>
                    <a:lstStyle/>
                    <a:p>
                      <a:r>
                        <a:rPr sz="1200" b="0" i="0">
                          <a:solidFill>
                            <a:srgbClr val="1A1440"/>
                          </a:solidFill>
                          <a:latin typeface="Calibri"/>
                        </a:rPr>
                        <a:t>not asked</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r>
              <a:tr h="335280">
                <a:tc>
                  <a:txBody>
                    <a:bodyPr/>
                    <a:lstStyle/>
                    <a:p>
                      <a:r>
                        <a:rPr sz="1200" b="0" i="0">
                          <a:solidFill>
                            <a:srgbClr val="1A1440"/>
                          </a:solidFill>
                          <a:latin typeface="Calibri"/>
                        </a:rPr>
                        <a:t>C. Count before rate</a:t>
                      </a:r>
                    </a:p>
                  </a:txBody>
                  <a:tcPr marL="101600" marR="101600" marT="38100" marB="38100" anchor="ctr">
                    <a:solidFill>
                      <a:srgbClr val="FFFFFF"/>
                    </a:solidFill>
                  </a:tcPr>
                </a:tc>
                <a:tc>
                  <a:txBody>
                    <a:bodyPr/>
                    <a:lstStyle/>
                    <a:p>
                      <a:r>
                        <a:rPr sz="1200" b="0" i="0">
                          <a:solidFill>
                            <a:srgbClr val="1A1440"/>
                          </a:solidFill>
                          <a:latin typeface="Calibri"/>
                        </a:rPr>
                        <a:t>Retail-Plus basket -15.0%, Rs 14,400</a:t>
                      </a:r>
                    </a:p>
                  </a:txBody>
                  <a:tcPr marL="101600" marR="101600" marT="38100" marB="38100" anchor="ctr">
                    <a:solidFill>
                      <a:srgbClr val="FFFFFF"/>
                    </a:solidFill>
                  </a:tcPr>
                </a:tc>
                <a:tc>
                  <a:txBody>
                    <a:bodyPr/>
                    <a:lstStyle/>
                    <a:p>
                      <a:r>
                        <a:rPr sz="1200" b="0" i="0">
                          <a:solidFill>
                            <a:srgbClr val="1A1440"/>
                          </a:solidFill>
                          <a:latin typeface="Calibri"/>
                        </a:rPr>
                        <a:t>64</a:t>
                      </a:r>
                    </a:p>
                  </a:txBody>
                  <a:tcPr marL="101600" marR="101600" marT="38100" marB="38100" anchor="ctr">
                    <a:solidFill>
                      <a:srgbClr val="FFFFFF"/>
                    </a:solidFill>
                  </a:tcPr>
                </a:tc>
                <a:tc>
                  <a:txBody>
                    <a:bodyPr/>
                    <a:lstStyle/>
                    <a:p>
                      <a:r>
                        <a:rPr sz="1200" b="0" i="0">
                          <a:solidFill>
                            <a:srgbClr val="1A1440"/>
                          </a:solidFill>
                          <a:latin typeface="Calibri"/>
                        </a:rPr>
                        <a:t>one test on each member's two quarters</a:t>
                      </a:r>
                    </a:p>
                  </a:txBody>
                  <a:tcPr marL="101600" marR="101600" marT="38100" marB="38100" anchor="ctr">
                    <a:solidFill>
                      <a:srgbClr val="FFFFFF"/>
                    </a:solidFill>
                  </a:tcPr>
                </a:tc>
                <a:tc>
                  <a:txBody>
                    <a:bodyPr/>
                    <a:lstStyle/>
                    <a:p>
                      <a:r>
                        <a:rPr sz="1200" b="0" i="0">
                          <a:solidFill>
                            <a:srgbClr val="1A1440"/>
                          </a:solidFill>
                          <a:latin typeface="Calibri"/>
                        </a:rPr>
                        <a:t>15</a:t>
                      </a:r>
                    </a:p>
                  </a:txBody>
                  <a:tcPr marL="101600" marR="101600" marT="38100" marB="38100" anchor="ctr">
                    <a:solidFill>
                      <a:srgbClr val="FFFFFF"/>
                    </a:solidFill>
                  </a:tcPr>
                </a:tc>
              </a:tr>
              <a:tr h="335280">
                <a:tc>
                  <a:txBody>
                    <a:bodyPr/>
                    <a:lstStyle/>
                    <a:p>
                      <a:r>
                        <a:rPr sz="1200" b="0" i="0">
                          <a:solidFill>
                            <a:srgbClr val="1A1440"/>
                          </a:solidFill>
                          <a:latin typeface="Calibri"/>
                        </a:rPr>
                        <a:t>D. Test every segment</a:t>
                      </a:r>
                    </a:p>
                  </a:txBody>
                  <a:tcPr marL="101600" marR="101600" marT="38100" marB="38100" anchor="ctr">
                    <a:solidFill>
                      <a:srgbClr val="F4F2FA"/>
                    </a:solidFill>
                  </a:tcPr>
                </a:tc>
                <a:tc>
                  <a:txBody>
                    <a:bodyPr/>
                    <a:lstStyle/>
                    <a:p>
                      <a:r>
                        <a:rPr sz="1200" b="0" i="0">
                          <a:solidFill>
                            <a:srgbClr val="1A1440"/>
                          </a:solidFill>
                          <a:latin typeface="Calibri"/>
                        </a:rPr>
                        <a:t>the smallest of four p-values</a:t>
                      </a:r>
                    </a:p>
                  </a:txBody>
                  <a:tcPr marL="101600" marR="101600" marT="38100" marB="38100" anchor="ctr">
                    <a:solidFill>
                      <a:srgbClr val="F4F2FA"/>
                    </a:solidFill>
                  </a:tcPr>
                </a:tc>
                <a:tc>
                  <a:txBody>
                    <a:bodyPr/>
                    <a:lstStyle/>
                    <a:p>
                      <a:r>
                        <a:rPr sz="1200" b="0" i="0">
                          <a:solidFill>
                            <a:srgbClr val="1A1440"/>
                          </a:solidFill>
                          <a:latin typeface="Calibri"/>
                        </a:rPr>
                        <a:t>7 to 72</a:t>
                      </a:r>
                    </a:p>
                  </a:txBody>
                  <a:tcPr marL="101600" marR="101600" marT="38100" marB="38100" anchor="ctr">
                    <a:solidFill>
                      <a:srgbClr val="F4F2FA"/>
                    </a:solidFill>
                  </a:tcPr>
                </a:tc>
                <a:tc>
                  <a:txBody>
                    <a:bodyPr/>
                    <a:lstStyle/>
                    <a:p>
                      <a:r>
                        <a:rPr sz="1200" b="0" i="0">
                          <a:solidFill>
                            <a:srgbClr val="1A1440"/>
                          </a:solidFill>
                          <a:latin typeface="Calibri"/>
                        </a:rPr>
                        <a:t>four tests, a one-in-five fluke risk</a:t>
                      </a:r>
                    </a:p>
                  </a:txBody>
                  <a:tcPr marL="101600" marR="101600" marT="38100" marB="38100" anchor="ctr">
                    <a:solidFill>
                      <a:srgbClr val="F4F2FA"/>
                    </a:solidFill>
                  </a:tcPr>
                </a:tc>
                <a:tc>
                  <a:txBody>
                    <a:bodyPr/>
                    <a:lstStyle/>
                    <a:p>
                      <a:r>
                        <a:rPr sz="1200" b="0" i="0">
                          <a:solidFill>
                            <a:srgbClr val="1A1440"/>
                          </a:solidFill>
                          <a:latin typeface="Calibri"/>
                        </a:rPr>
                        <a:t>45</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805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59028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255008"/>
            <a:ext cx="9987991" cy="1200912"/>
          </a:xfrm>
          <a:prstGeom prst="rect">
            <a:avLst/>
          </a:prstGeom>
          <a:noFill/>
        </p:spPr>
        <p:txBody>
          <a:bodyPr wrap="square" anchor="t" lIns="0" rIns="0" tIns="0" bIns="0">
            <a:spAutoFit/>
          </a:bodyPr>
          <a:lstStyle/>
          <a:p>
            <a:r>
              <a:rPr sz="1500" b="0" i="0">
                <a:solidFill>
                  <a:srgbClr val="1A1440"/>
                </a:solidFill>
                <a:latin typeface="Calibri"/>
              </a:rPr>
              <a:t>On the invented export, C, because Retail-Plus's basket is the one consumer move on enough orders to test; it is small in rupees, so it leads beside the corporate move, which is said as counts. Switch when Meera's question is about accounts, when a segment carries hundreds of orders a quarter, or when a second quarter repeats the move.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9" name="Oval 18"/>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43 / 52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Orders and a test decide the first line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each finding go in the note?</a:t>
            </a:r>
          </a:p>
        </p:txBody>
      </p:sp>
      <p:pic>
        <p:nvPicPr>
          <p:cNvPr id="10" name="mermaid diagram" descr="cf6c318ba48f4892.png"/>
          <p:cNvPicPr>
            <a:picLocks noChangeAspect="1"/>
          </p:cNvPicPr>
          <p:nvPr/>
        </p:nvPicPr>
        <p:blipFill>
          <a:blip r:embed="rId5"/>
          <a:stretch>
            <a:fillRect/>
          </a:stretch>
        </p:blipFill>
        <p:spPr>
          <a:xfrm>
            <a:off x="1981047" y="1704181"/>
            <a:ext cx="8229600" cy="3729037"/>
          </a:xfrm>
          <a:prstGeom prst="rect">
            <a:avLst/>
          </a:prstGeom>
        </p:spPr>
      </p:pic>
      <p:sp>
        <p:nvSpPr>
          <p:cNvPr id="11" name="TextBox 10"/>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rupees decide whether a move reaches Meera at all, and its order count and its test decide whether it leads the note or sits in the caveat.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4" name="Oval 1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6" name="Oval 15"/>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D40  ·  44 / 52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where does the real change sit?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Among 2,000 worlds with each member's two quarters flipped, how extreme is -15.0 percent?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in the middle of the pile; b) at the edge, with about two dozen worlds as extreme; c) beyond every flipped world; d) nowhere, since members placed different numbers of orders.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4" name="Oval 1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6" name="Oval 15"/>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45 / 52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at the edge, 22 of 2,000 worlds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the lead's fall more than chance on its members' own two quarters?</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rng = random.Random(7)</a:t>
            </a:r>
          </a:p>
          <a:p>
            <a:pPr>
              <a:spcAft>
                <a:spcPts val="200"/>
              </a:spcAft>
            </a:pPr>
            <a:r>
              <a:rPr sz="1400" b="0" i="0">
                <a:solidFill>
                  <a:srgbClr val="E4E1F1"/>
                </a:solidFill>
                <a:latin typeface="Consolas"/>
              </a:rPr>
              <a:t>for _ in range(2000):                        # one world per pass</a:t>
            </a:r>
          </a:p>
          <a:p>
            <a:pPr>
              <a:spcAft>
                <a:spcPts val="200"/>
              </a:spcAft>
            </a:pPr>
            <a:r>
              <a:rPr sz="1400" b="0" i="0">
                <a:solidFill>
                  <a:srgbClr val="E4E1F1"/>
                </a:solidFill>
                <a:latin typeface="Consolas"/>
              </a:rPr>
              <a:t>    swaps = [rng.random() &lt; 0.5 for _ in per]    # each member's quarters, kept together</a:t>
            </a:r>
          </a:p>
          <a:p>
            <a:pPr>
              <a:spcAft>
                <a:spcPts val="200"/>
              </a:spcAft>
            </a:pPr>
            <a:r>
              <a:rPr sz="1400" b="0" i="0">
                <a:solidFill>
                  <a:srgbClr val="E4E1F1"/>
                </a:solidFill>
                <a:latin typeface="Consolas"/>
              </a:rPr>
              <a:t>    worlds.append(flipped_change(per, swaps))</a:t>
            </a:r>
          </a:p>
        </p:txBody>
      </p:sp>
      <p:sp>
        <p:nvSpPr>
          <p:cNvPr id="14" name="TextBox 13"/>
          <p:cNvSpPr txBox="1"/>
          <p:nvPr/>
        </p:nvSpPr>
        <p:spPr>
          <a:xfrm>
            <a:off x="530352" y="3588512"/>
            <a:ext cx="3527450" cy="635000"/>
          </a:xfrm>
          <a:prstGeom prst="rect">
            <a:avLst/>
          </a:prstGeom>
          <a:noFill/>
        </p:spPr>
        <p:txBody>
          <a:bodyPr wrap="square" anchor="t" lIns="0" rIns="0" tIns="0" bIns="0">
            <a:spAutoFit/>
          </a:bodyPr>
          <a:lstStyle/>
          <a:p>
            <a:pPr algn="l"/>
            <a:r>
              <a:rPr sz="4000" b="0" i="0">
                <a:solidFill>
                  <a:srgbClr val="5B3FD6"/>
                </a:solidFill>
                <a:latin typeface="Georgia"/>
              </a:rPr>
              <a:t>22 of 2,000</a:t>
            </a:r>
          </a:p>
        </p:txBody>
      </p:sp>
      <p:sp>
        <p:nvSpPr>
          <p:cNvPr id="15" name="TextBox 14"/>
          <p:cNvSpPr txBox="1"/>
          <p:nvPr/>
        </p:nvSpPr>
        <p:spPr>
          <a:xfrm>
            <a:off x="530352" y="42600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FLIPPED WORLDS AS LARGE</a:t>
            </a:r>
          </a:p>
        </p:txBody>
      </p:sp>
      <p:sp>
        <p:nvSpPr>
          <p:cNvPr id="16" name="TextBox 15"/>
          <p:cNvSpPr txBox="1"/>
          <p:nvPr/>
        </p:nvSpPr>
        <p:spPr>
          <a:xfrm>
            <a:off x="530352" y="4461256"/>
            <a:ext cx="3527450" cy="193421"/>
          </a:xfrm>
          <a:prstGeom prst="rect">
            <a:avLst/>
          </a:prstGeom>
          <a:noFill/>
        </p:spPr>
        <p:txBody>
          <a:bodyPr wrap="square" anchor="t" lIns="0" rIns="0" tIns="0" bIns="0">
            <a:spAutoFit/>
          </a:bodyPr>
          <a:lstStyle/>
          <a:p>
            <a:pPr algn="l"/>
            <a:r>
              <a:rPr sz="950" b="0" i="0">
                <a:solidFill>
                  <a:srgbClr val="6B6690"/>
                </a:solidFill>
                <a:latin typeface="Calibri"/>
              </a:rPr>
              <a:t>either direction, invented</a:t>
            </a:r>
          </a:p>
        </p:txBody>
      </p:sp>
      <p:sp>
        <p:nvSpPr>
          <p:cNvPr id="17" name="Rectangle 16"/>
          <p:cNvSpPr/>
          <p:nvPr/>
        </p:nvSpPr>
        <p:spPr>
          <a:xfrm>
            <a:off x="53035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588512"/>
            <a:ext cx="3527450" cy="635000"/>
          </a:xfrm>
          <a:prstGeom prst="rect">
            <a:avLst/>
          </a:prstGeom>
          <a:noFill/>
        </p:spPr>
        <p:txBody>
          <a:bodyPr wrap="square" anchor="t" lIns="0" rIns="0" tIns="0" bIns="0">
            <a:spAutoFit/>
          </a:bodyPr>
          <a:lstStyle/>
          <a:p>
            <a:pPr algn="l"/>
            <a:r>
              <a:rPr sz="4000" b="0" i="0">
                <a:solidFill>
                  <a:srgbClr val="5B3FD6"/>
                </a:solidFill>
                <a:latin typeface="Georgia"/>
              </a:rPr>
              <a:t>p = 0.011</a:t>
            </a:r>
          </a:p>
        </p:txBody>
      </p:sp>
      <p:sp>
        <p:nvSpPr>
          <p:cNvPr id="19" name="TextBox 18"/>
          <p:cNvSpPr txBox="1"/>
          <p:nvPr/>
        </p:nvSpPr>
        <p:spPr>
          <a:xfrm>
            <a:off x="4332122" y="42600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SHARE OF CHANCE-ONLY WORLDS</a:t>
            </a:r>
          </a:p>
        </p:txBody>
      </p:sp>
      <p:sp>
        <p:nvSpPr>
          <p:cNvPr id="20" name="TextBox 19"/>
          <p:cNvSpPr txBox="1"/>
          <p:nvPr/>
        </p:nvSpPr>
        <p:spPr>
          <a:xfrm>
            <a:off x="4332122" y="4461256"/>
            <a:ext cx="3527450" cy="193421"/>
          </a:xfrm>
          <a:prstGeom prst="rect">
            <a:avLst/>
          </a:prstGeom>
          <a:noFill/>
        </p:spPr>
        <p:txBody>
          <a:bodyPr wrap="square" anchor="t" lIns="0" rIns="0" tIns="0" bIns="0">
            <a:spAutoFit/>
          </a:bodyPr>
          <a:lstStyle/>
          <a:p>
            <a:pPr algn="l"/>
            <a:r>
              <a:rPr sz="950" b="0" i="0">
                <a:solidFill>
                  <a:srgbClr val="6B6690"/>
                </a:solidFill>
                <a:latin typeface="Calibri"/>
              </a:rPr>
              <a:t>never the chance of being wrong</a:t>
            </a:r>
          </a:p>
        </p:txBody>
      </p:sp>
      <p:sp>
        <p:nvSpPr>
          <p:cNvPr id="21" name="Rectangle 20"/>
          <p:cNvSpPr/>
          <p:nvPr/>
        </p:nvSpPr>
        <p:spPr>
          <a:xfrm>
            <a:off x="433212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588512"/>
            <a:ext cx="3527450" cy="635000"/>
          </a:xfrm>
          <a:prstGeom prst="rect">
            <a:avLst/>
          </a:prstGeom>
          <a:noFill/>
        </p:spPr>
        <p:txBody>
          <a:bodyPr wrap="square" anchor="t" lIns="0" rIns="0" tIns="0" bIns="0">
            <a:spAutoFit/>
          </a:bodyPr>
          <a:lstStyle/>
          <a:p>
            <a:pPr algn="l"/>
            <a:r>
              <a:rPr sz="4000" b="0" i="0">
                <a:solidFill>
                  <a:srgbClr val="5B3FD6"/>
                </a:solidFill>
                <a:latin typeface="Georgia"/>
              </a:rPr>
              <a:t>0.0107</a:t>
            </a:r>
          </a:p>
        </p:txBody>
      </p:sp>
      <p:sp>
        <p:nvSpPr>
          <p:cNvPr id="23" name="TextBox 22"/>
          <p:cNvSpPr txBox="1"/>
          <p:nvPr/>
        </p:nvSpPr>
        <p:spPr>
          <a:xfrm>
            <a:off x="8133892" y="42600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COUNTED EXACTLY</a:t>
            </a:r>
          </a:p>
        </p:txBody>
      </p:sp>
      <p:sp>
        <p:nvSpPr>
          <p:cNvPr id="24" name="TextBox 23"/>
          <p:cNvSpPr txBox="1"/>
          <p:nvPr/>
        </p:nvSpPr>
        <p:spPr>
          <a:xfrm>
            <a:off x="8133892" y="4461256"/>
            <a:ext cx="3527450" cy="193421"/>
          </a:xfrm>
          <a:prstGeom prst="rect">
            <a:avLst/>
          </a:prstGeom>
          <a:noFill/>
        </p:spPr>
        <p:txBody>
          <a:bodyPr wrap="square" anchor="t" lIns="0" rIns="0" tIns="0" bIns="0">
            <a:spAutoFit/>
          </a:bodyPr>
          <a:lstStyle/>
          <a:p>
            <a:pPr algn="l"/>
            <a:r>
              <a:rPr sz="950" b="0" i="0">
                <a:solidFill>
                  <a:srgbClr val="6B6690"/>
                </a:solidFill>
                <a:latin typeface="Calibri"/>
              </a:rPr>
              <a:t>over all 65,536 ways to flip 16 members</a:t>
            </a:r>
          </a:p>
        </p:txBody>
      </p:sp>
      <p:sp>
        <p:nvSpPr>
          <p:cNvPr id="25" name="Rectangle 24"/>
          <p:cNvSpPr/>
          <p:nvPr/>
        </p:nvSpPr>
        <p:spPr>
          <a:xfrm>
            <a:off x="813389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28" name="Oval 2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30" name="Oval 29"/>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46 / 52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Yes, apart from Retail-Core's, at p = 0.0385</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Did Retail-Plus's basket move differently from Retail-Core's?</a:t>
            </a:r>
          </a:p>
        </p:txBody>
      </p:sp>
      <p:sp>
        <p:nvSpPr>
          <p:cNvPr id="10" name="Rounded Rectangle 9"/>
          <p:cNvSpPr/>
          <p:nvPr/>
        </p:nvSpPr>
        <p:spPr>
          <a:xfrm>
            <a:off x="530352" y="1956816"/>
            <a:ext cx="5474055"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users_113eb2dd3269.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SAME MEMBERS, TWO QUARTERS</a:t>
            </a:r>
          </a:p>
        </p:txBody>
      </p:sp>
      <p:sp>
        <p:nvSpPr>
          <p:cNvPr id="14" name="TextBox 13"/>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Did Retail-Plus's basket fall?</a:t>
            </a:r>
          </a:p>
        </p:txBody>
      </p:sp>
      <p:sp>
        <p:nvSpPr>
          <p:cNvPr id="15" name="TextBox 14"/>
          <p:cNvSpPr txBox="1"/>
          <p:nvPr/>
        </p:nvSpPr>
        <p:spPr>
          <a:xfrm>
            <a:off x="731519" y="3303524"/>
            <a:ext cx="5071719" cy="399796"/>
          </a:xfrm>
          <a:prstGeom prst="rect">
            <a:avLst/>
          </a:prstGeom>
          <a:noFill/>
        </p:spPr>
        <p:txBody>
          <a:bodyPr wrap="square" anchor="t" lIns="0" rIns="0" tIns="0" bIns="0">
            <a:spAutoFit/>
          </a:bodyPr>
          <a:lstStyle/>
          <a:p>
            <a:pPr algn="l"/>
            <a:r>
              <a:rPr sz="1100" b="0" i="0">
                <a:solidFill>
                  <a:srgbClr val="CFC9EE"/>
                </a:solidFill>
                <a:latin typeface="Calibri"/>
              </a:rPr>
              <a:t>The fair test flips each member's own two quarters at random: p = 0.011, invented.</a:t>
            </a:r>
          </a:p>
        </p:txBody>
      </p:sp>
      <p:sp>
        <p:nvSpPr>
          <p:cNvPr id="16" name="Rounded Rectangle 15"/>
          <p:cNvSpPr/>
          <p:nvPr/>
        </p:nvSpPr>
        <p:spPr>
          <a:xfrm>
            <a:off x="6187287" y="1956816"/>
            <a:ext cx="5474055"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shuffle_1f5f2f56d507.png"/>
          <p:cNvPicPr>
            <a:picLocks noChangeAspect="1"/>
          </p:cNvPicPr>
          <p:nvPr/>
        </p:nvPicPr>
        <p:blipFill>
          <a:blip r:embed="rId5"/>
          <a:stretch>
            <a:fillRect/>
          </a:stretch>
        </p:blipFill>
        <p:spPr>
          <a:xfrm>
            <a:off x="6498183" y="2267712"/>
            <a:ext cx="237744" cy="237744"/>
          </a:xfrm>
          <a:prstGeom prst="rect">
            <a:avLst/>
          </a:prstGeom>
        </p:spPr>
      </p:pic>
      <p:sp>
        <p:nvSpPr>
          <p:cNvPr id="19" name="TextBox 18"/>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DIFFERENT CUSTOMERS</a:t>
            </a:r>
          </a:p>
        </p:txBody>
      </p:sp>
      <p:sp>
        <p:nvSpPr>
          <p:cNvPr id="20" name="TextBox 19"/>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Did it move differently from Retail-Core's?</a:t>
            </a:r>
          </a:p>
        </p:txBody>
      </p:sp>
      <p:sp>
        <p:nvSpPr>
          <p:cNvPr id="21" name="TextBox 20"/>
          <p:cNvSpPr txBox="1"/>
          <p:nvPr/>
        </p:nvSpPr>
        <p:spPr>
          <a:xfrm>
            <a:off x="6388455" y="3303524"/>
            <a:ext cx="5071719" cy="399796"/>
          </a:xfrm>
          <a:prstGeom prst="rect">
            <a:avLst/>
          </a:prstGeom>
          <a:noFill/>
        </p:spPr>
        <p:txBody>
          <a:bodyPr wrap="square" anchor="t" lIns="0" rIns="0" tIns="0" bIns="0">
            <a:spAutoFit/>
          </a:bodyPr>
          <a:lstStyle/>
          <a:p>
            <a:pPr algn="l"/>
            <a:r>
              <a:rPr sz="1100" b="0" i="0">
                <a:solidFill>
                  <a:srgbClr val="6B6690"/>
                </a:solidFill>
                <a:latin typeface="Calibri"/>
              </a:rPr>
              <a:t>The fair test shuffles the segment label across whole customers, each carrying all their orders: p = 0.0385, invented.</a:t>
            </a:r>
          </a:p>
        </p:txBody>
      </p:sp>
      <p:sp>
        <p:nvSpPr>
          <p:cNvPr id="22" name="TextBox 21"/>
          <p:cNvSpPr txBox="1"/>
          <p:nvPr/>
        </p:nvSpPr>
        <p:spPr>
          <a:xfrm>
            <a:off x="530352" y="4104132"/>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Both are fair, each for its own question, and a note says which question it tested.</a:t>
            </a:r>
          </a:p>
        </p:txBody>
      </p:sp>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25" name="Oval 2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27" name="Oval 26"/>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D43  ·  47 / 52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13 of 16 members' baskets fell: p = 0.021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the fall broad, or carried by a few members?</a:t>
            </a:r>
          </a:p>
        </p:txBody>
      </p:sp>
      <p:pic>
        <p:nvPicPr>
          <p:cNvPr id="9" name="mermaid diagram" descr="78bf4a3a20fb879d.png"/>
          <p:cNvPicPr>
            <a:picLocks noChangeAspect="1"/>
          </p:cNvPicPr>
          <p:nvPr/>
        </p:nvPicPr>
        <p:blipFill>
          <a:blip r:embed="rId5"/>
          <a:stretch>
            <a:fillRect/>
          </a:stretch>
        </p:blipFill>
        <p:spPr>
          <a:xfrm>
            <a:off x="2152497" y="1956816"/>
            <a:ext cx="7886700" cy="3043237"/>
          </a:xfrm>
          <a:prstGeom prst="rect">
            <a:avLst/>
          </a:prstGeom>
        </p:spPr>
      </p:pic>
      <p:sp>
        <p:nvSpPr>
          <p:cNvPr id="10" name="TextBox 9"/>
          <p:cNvSpPr txBox="1"/>
          <p:nvPr/>
        </p:nvSpPr>
        <p:spPr>
          <a:xfrm>
            <a:off x="530352" y="514635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On the invented export the flips say whether the change is bigger than chance and the member count says whether it is broad. The sign test uses only each member's direction, so its p sits above the flips'.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5" name="Oval 14"/>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48 / 52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Pooling the quarters reads a real fall as chance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when a test splits a member's two quarters?</a:t>
            </a:r>
          </a:p>
        </p:txBody>
      </p:sp>
      <p:sp>
        <p:nvSpPr>
          <p:cNvPr id="10" name="Rounded Rectangle 9"/>
          <p:cNvSpPr/>
          <p:nvPr/>
        </p:nvSpPr>
        <p:spPr>
          <a:xfrm>
            <a:off x="530352" y="1956816"/>
            <a:ext cx="5474055"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users_113eb2dd3269.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FLIP EACH MEMBER'S OWN TWO QUARTERS</a:t>
            </a:r>
          </a:p>
        </p:txBody>
      </p:sp>
      <p:sp>
        <p:nvSpPr>
          <p:cNvPr id="14" name="TextBox 13"/>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p = 0.0025</a:t>
            </a:r>
          </a:p>
        </p:txBody>
      </p:sp>
      <p:sp>
        <p:nvSpPr>
          <p:cNvPr id="15" name="TextBox 14"/>
          <p:cNvSpPr txBox="1"/>
          <p:nvPr/>
        </p:nvSpPr>
        <p:spPr>
          <a:xfrm>
            <a:off x="731519" y="3303524"/>
            <a:ext cx="5071719" cy="399796"/>
          </a:xfrm>
          <a:prstGeom prst="rect">
            <a:avLst/>
          </a:prstGeom>
          <a:noFill/>
        </p:spPr>
        <p:txBody>
          <a:bodyPr wrap="square" anchor="t" lIns="0" rIns="0" tIns="0" bIns="0">
            <a:spAutoFit/>
          </a:bodyPr>
          <a:lstStyle/>
          <a:p>
            <a:pPr algn="l"/>
            <a:r>
              <a:rPr sz="1100" b="0" i="0">
                <a:solidFill>
                  <a:srgbClr val="CFC9EE"/>
                </a:solidFill>
                <a:latin typeface="Calibri"/>
              </a:rPr>
              <a:t>Revenue per member, invented. Every world is one these 16 members could have produced, so a real fall shows as one.</a:t>
            </a:r>
          </a:p>
        </p:txBody>
      </p:sp>
      <p:sp>
        <p:nvSpPr>
          <p:cNvPr id="16" name="Rounded Rectangle 15"/>
          <p:cNvSpPr/>
          <p:nvPr/>
        </p:nvSpPr>
        <p:spPr>
          <a:xfrm>
            <a:off x="6187287" y="1956816"/>
            <a:ext cx="5474055"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shuffle_1f5f2f56d507.png"/>
          <p:cNvPicPr>
            <a:picLocks noChangeAspect="1"/>
          </p:cNvPicPr>
          <p:nvPr/>
        </p:nvPicPr>
        <p:blipFill>
          <a:blip r:embed="rId5"/>
          <a:stretch>
            <a:fillRect/>
          </a:stretch>
        </p:blipFill>
        <p:spPr>
          <a:xfrm>
            <a:off x="6498183" y="2267712"/>
            <a:ext cx="237744" cy="237744"/>
          </a:xfrm>
          <a:prstGeom prst="rect">
            <a:avLst/>
          </a:prstGeom>
        </p:spPr>
      </p:pic>
      <p:sp>
        <p:nvSpPr>
          <p:cNvPr id="19" name="TextBox 18"/>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POOL THE Q1 AND Q2 FIGURES AND DEAL THEM</a:t>
            </a:r>
          </a:p>
        </p:txBody>
      </p:sp>
      <p:sp>
        <p:nvSpPr>
          <p:cNvPr id="20" name="TextBox 19"/>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p = 0.222</a:t>
            </a:r>
          </a:p>
        </p:txBody>
      </p:sp>
      <p:sp>
        <p:nvSpPr>
          <p:cNvPr id="21" name="TextBox 20"/>
          <p:cNvSpPr txBox="1"/>
          <p:nvPr/>
        </p:nvSpPr>
        <p:spPr>
          <a:xfrm>
            <a:off x="6388455" y="3303524"/>
            <a:ext cx="5071719" cy="399796"/>
          </a:xfrm>
          <a:prstGeom prst="rect">
            <a:avLst/>
          </a:prstGeom>
          <a:noFill/>
        </p:spPr>
        <p:txBody>
          <a:bodyPr wrap="square" anchor="t" lIns="0" rIns="0" tIns="0" bIns="0">
            <a:spAutoFit/>
          </a:bodyPr>
          <a:lstStyle/>
          <a:p>
            <a:pPr algn="l"/>
            <a:r>
              <a:rPr sz="1100" b="0" i="0">
                <a:solidFill>
                  <a:srgbClr val="6B6690"/>
                </a:solidFill>
                <a:latin typeface="Calibri"/>
              </a:rPr>
              <a:t>The same figures dealt as strangers: members differ in size far more than in their change, and the fall reads as chance.</a:t>
            </a:r>
          </a:p>
        </p:txBody>
      </p:sp>
      <p:sp>
        <p:nvSpPr>
          <p:cNvPr id="22" name="Rounded Rectangle 21"/>
          <p:cNvSpPr/>
          <p:nvPr/>
        </p:nvSpPr>
        <p:spPr>
          <a:xfrm>
            <a:off x="530352" y="4104132"/>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758952" y="456590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list-checks_bd88901d2a37.png"/>
          <p:cNvPicPr>
            <a:picLocks noChangeAspect="1"/>
          </p:cNvPicPr>
          <p:nvPr/>
        </p:nvPicPr>
        <p:blipFill>
          <a:blip r:embed="rId6"/>
          <a:stretch>
            <a:fillRect/>
          </a:stretch>
        </p:blipFill>
        <p:spPr>
          <a:xfrm>
            <a:off x="868680" y="4675632"/>
            <a:ext cx="237744" cy="237744"/>
          </a:xfrm>
          <a:prstGeom prst="rect">
            <a:avLst/>
          </a:prstGeom>
        </p:spPr>
      </p:pic>
      <p:sp>
        <p:nvSpPr>
          <p:cNvPr id="25" name="TextBox 24"/>
          <p:cNvSpPr txBox="1"/>
          <p:nvPr/>
        </p:nvSpPr>
        <p:spPr>
          <a:xfrm>
            <a:off x="1399031" y="42504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6" name="TextBox 25"/>
          <p:cNvSpPr txBox="1"/>
          <p:nvPr/>
        </p:nvSpPr>
        <p:spPr>
          <a:xfrm>
            <a:off x="1399031" y="4469892"/>
            <a:ext cx="9987991" cy="941832"/>
          </a:xfrm>
          <a:prstGeom prst="rect">
            <a:avLst/>
          </a:prstGeom>
          <a:noFill/>
        </p:spPr>
        <p:txBody>
          <a:bodyPr wrap="square" anchor="t" lIns="0" rIns="0" tIns="0" bIns="0">
            <a:spAutoFit/>
          </a:bodyPr>
          <a:lstStyle/>
          <a:p>
            <a:r>
              <a:rPr sz="1500" b="0" i="0">
                <a:solidFill>
                  <a:srgbClr val="1A1440"/>
                </a:solidFill>
                <a:latin typeface="Calibri"/>
              </a:rPr>
              <a:t>Keep each customer's own two quarters together: flip them as a pair when the same customers sit in both quarters, and shuffle labels across whole customers when the groups are different customers. Pooling paired data is the hurried mistake.</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29" name="Oval 28"/>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31" name="Oval 30"/>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D45  ·  49 / 52</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median is the typical order: Rs 2,350</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number describes a typical order in a file with seven corporate orders?</a:t>
            </a:r>
          </a:p>
        </p:txBody>
      </p:sp>
      <p:sp>
        <p:nvSpPr>
          <p:cNvPr id="10" name="TextBox 9"/>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39,521</a:t>
            </a:r>
          </a:p>
        </p:txBody>
      </p:sp>
      <p:sp>
        <p:nvSpPr>
          <p:cNvPr id="11" name="TextBox 10"/>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MEAN ORDER, CLEAN</a:t>
            </a:r>
          </a:p>
        </p:txBody>
      </p:sp>
      <p:sp>
        <p:nvSpPr>
          <p:cNvPr id="12" name="TextBox 11"/>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pulled up by 7 corporate orders, invented</a:t>
            </a:r>
          </a:p>
        </p:txBody>
      </p:sp>
      <p:sp>
        <p:nvSpPr>
          <p:cNvPr id="13" name="Rectangle 12"/>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2,350</a:t>
            </a:r>
          </a:p>
        </p:txBody>
      </p:sp>
      <p:sp>
        <p:nvSpPr>
          <p:cNvPr id="15" name="TextBox 14"/>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MEDIAN ORDER, CLEAN</a:t>
            </a:r>
          </a:p>
        </p:txBody>
      </p:sp>
      <p:sp>
        <p:nvSpPr>
          <p:cNvPr id="16" name="TextBox 15"/>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typical one</a:t>
            </a:r>
          </a:p>
        </p:txBody>
      </p:sp>
      <p:sp>
        <p:nvSpPr>
          <p:cNvPr id="17" name="Rectangle 16"/>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17 times</a:t>
            </a:r>
          </a:p>
        </p:txBody>
      </p:sp>
      <p:sp>
        <p:nvSpPr>
          <p:cNvPr id="19" name="TextBox 18"/>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GAP</a:t>
            </a:r>
          </a:p>
        </p:txBody>
      </p:sp>
      <p:sp>
        <p:nvSpPr>
          <p:cNvPr id="20" name="TextBox 19"/>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mean over median</a:t>
            </a:r>
          </a:p>
        </p:txBody>
      </p:sp>
      <p:sp>
        <p:nvSpPr>
          <p:cNvPr id="21" name="Rectangle 20"/>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list-checks_bd88901d2a37.png"/>
          <p:cNvPicPr>
            <a:picLocks noChangeAspect="1"/>
          </p:cNvPicPr>
          <p:nvPr/>
        </p:nvPicPr>
        <p:blipFill>
          <a:blip r:embed="rId4"/>
          <a:stretch>
            <a:fillRect/>
          </a:stretch>
        </p:blipFill>
        <p:spPr>
          <a:xfrm>
            <a:off x="868680" y="3861816"/>
            <a:ext cx="237744" cy="237744"/>
          </a:xfrm>
          <a:prstGeom prst="rect">
            <a:avLst/>
          </a:prstGeom>
        </p:spPr>
      </p:pic>
      <p:sp>
        <p:nvSpPr>
          <p:cNvPr id="25" name="TextBox 24"/>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6" name="TextBox 25"/>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Describe a file with its median and say what sits above it. Keep the mean for anything that has to reconcile.</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29" name="Oval 28"/>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31" name="Oval 30"/>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D46  ·  50 / 52</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Retail-Plus's basket leads, with corporate as counts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finding leads the note, and how sure can Meera be of it?</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3981177"/>
                <a:gridCol w="7149813"/>
              </a:tblGrid>
              <a:tr h="369824">
                <a:tc>
                  <a:txBody>
                    <a:bodyPr/>
                    <a:lstStyle/>
                    <a:p>
                      <a:r>
                        <a:rPr sz="1450" b="1" i="0">
                          <a:solidFill>
                            <a:srgbClr val="FFFFFF"/>
                          </a:solidFill>
                          <a:latin typeface="Calibri"/>
                        </a:rPr>
                        <a:t>The question</a:t>
                      </a:r>
                    </a:p>
                  </a:txBody>
                  <a:tcPr marL="101600" marR="101600" marT="38100" marB="38100" anchor="ctr">
                    <a:solidFill>
                      <a:srgbClr val="1A0F5C"/>
                    </a:solidFill>
                  </a:tcPr>
                </a:tc>
                <a:tc>
                  <a:txBody>
                    <a:bodyPr/>
                    <a:lstStyle/>
                    <a:p>
                      <a:r>
                        <a:rPr sz="1450" b="1" i="0">
                          <a:solidFill>
                            <a:srgbClr val="FFFFFF"/>
                          </a:solidFill>
                          <a:latin typeface="Calibri"/>
                        </a:rPr>
                        <a:t>The answer, on the invented export</a:t>
                      </a:r>
                    </a:p>
                  </a:txBody>
                  <a:tcPr marL="101600" marR="101600" marT="38100" marB="38100" anchor="ctr">
                    <a:solidFill>
                      <a:srgbClr val="1A0F5C"/>
                    </a:solidFill>
                  </a:tcPr>
                </a:tc>
              </a:tr>
              <a:tr h="369824">
                <a:tc>
                  <a:txBody>
                    <a:bodyPr/>
                    <a:lstStyle/>
                    <a:p>
                      <a:r>
                        <a:rPr sz="1400" b="0" i="0">
                          <a:solidFill>
                            <a:srgbClr val="1A1440"/>
                          </a:solidFill>
                          <a:latin typeface="Calibri"/>
                        </a:rPr>
                        <a:t>Where does the fall sit?</a:t>
                      </a:r>
                    </a:p>
                  </a:txBody>
                  <a:tcPr marL="101600" marR="101600" marT="38100" marB="38100" anchor="ctr">
                    <a:solidFill>
                      <a:srgbClr val="FFFFFF"/>
                    </a:solidFill>
                  </a:tcPr>
                </a:tc>
                <a:tc>
                  <a:txBody>
                    <a:bodyPr/>
                    <a:lstStyle/>
                    <a:p>
                      <a:r>
                        <a:rPr sz="1400" b="0" i="0">
                          <a:solidFill>
                            <a:srgbClr val="1A1440"/>
                          </a:solidFill>
                          <a:latin typeface="Calibri"/>
                        </a:rPr>
                        <a:t>Business, Rs 13,88,200 of Rs 14,00,000</a:t>
                      </a:r>
                    </a:p>
                  </a:txBody>
                  <a:tcPr marL="101600" marR="101600" marT="38100" marB="38100" anchor="ctr">
                    <a:solidFill>
                      <a:srgbClr val="FFFFFF"/>
                    </a:solidFill>
                  </a:tcPr>
                </a:tc>
              </a:tr>
              <a:tr h="369824">
                <a:tc>
                  <a:txBody>
                    <a:bodyPr/>
                    <a:lstStyle/>
                    <a:p>
                      <a:r>
                        <a:rPr sz="1400" b="0" i="0">
                          <a:solidFill>
                            <a:srgbClr val="1A1440"/>
                          </a:solidFill>
                          <a:latin typeface="Calibri"/>
                        </a:rPr>
                        <a:t>On how many orders?</a:t>
                      </a:r>
                    </a:p>
                  </a:txBody>
                  <a:tcPr marL="101600" marR="101600" marT="38100" marB="38100" anchor="ctr">
                    <a:solidFill>
                      <a:srgbClr val="F4F2FA"/>
                    </a:solidFill>
                  </a:tcPr>
                </a:tc>
                <a:tc>
                  <a:txBody>
                    <a:bodyPr/>
                    <a:lstStyle/>
                    <a:p>
                      <a:r>
                        <a:rPr sz="1400" b="0" i="0">
                          <a:solidFill>
                            <a:srgbClr val="1A1440"/>
                          </a:solidFill>
                          <a:latin typeface="Calibri"/>
                        </a:rPr>
                        <a:t>5 then 2; coin flips do that in 45% of worlds</a:t>
                      </a:r>
                    </a:p>
                  </a:txBody>
                  <a:tcPr marL="101600" marR="101600" marT="38100" marB="38100" anchor="ctr">
                    <a:solidFill>
                      <a:srgbClr val="F4F2FA"/>
                    </a:solidFill>
                  </a:tcPr>
                </a:tc>
              </a:tr>
              <a:tr h="369824">
                <a:tc>
                  <a:txBody>
                    <a:bodyPr/>
                    <a:lstStyle/>
                    <a:p>
                      <a:r>
                        <a:rPr sz="1400" b="0" i="0">
                          <a:solidFill>
                            <a:srgbClr val="1A1440"/>
                          </a:solidFill>
                          <a:latin typeface="Calibri"/>
                        </a:rPr>
                        <a:t>How to choose the lead?</a:t>
                      </a:r>
                    </a:p>
                  </a:txBody>
                  <a:tcPr marL="101600" marR="101600" marT="38100" marB="38100" anchor="ctr">
                    <a:solidFill>
                      <a:srgbClr val="FFFFFF"/>
                    </a:solidFill>
                  </a:tcPr>
                </a:tc>
                <a:tc>
                  <a:txBody>
                    <a:bodyPr/>
                    <a:lstStyle/>
                    <a:p>
                      <a:r>
                        <a:rPr sz="1400" b="0" i="0">
                          <a:solidFill>
                            <a:srgbClr val="1A1440"/>
                          </a:solidFill>
                          <a:latin typeface="Calibri"/>
                        </a:rPr>
                        <a:t>C: Retail-Plus's basket, -15.0% on 64 orders</a:t>
                      </a:r>
                    </a:p>
                  </a:txBody>
                  <a:tcPr marL="101600" marR="101600" marT="38100" marB="38100" anchor="ctr">
                    <a:solidFill>
                      <a:srgbClr val="FFFFFF"/>
                    </a:solidFill>
                  </a:tcPr>
                </a:tc>
              </a:tr>
              <a:tr h="369824">
                <a:tc>
                  <a:txBody>
                    <a:bodyPr/>
                    <a:lstStyle/>
                    <a:p>
                      <a:r>
                        <a:rPr sz="1400" b="0" i="0">
                          <a:solidFill>
                            <a:srgbClr val="1A1440"/>
                          </a:solidFill>
                          <a:latin typeface="Calibri"/>
                        </a:rPr>
                        <a:t>More than chance?</a:t>
                      </a:r>
                    </a:p>
                  </a:txBody>
                  <a:tcPr marL="101600" marR="101600" marT="38100" marB="38100" anchor="ctr">
                    <a:solidFill>
                      <a:srgbClr val="F4F2FA"/>
                    </a:solidFill>
                  </a:tcPr>
                </a:tc>
                <a:tc>
                  <a:txBody>
                    <a:bodyPr/>
                    <a:lstStyle/>
                    <a:p>
                      <a:r>
                        <a:rPr sz="1400" b="0" i="0">
                          <a:solidFill>
                            <a:srgbClr val="1A1440"/>
                          </a:solidFill>
                          <a:latin typeface="Calibri"/>
                        </a:rPr>
                        <a:t>Yes: 22 of 2,000 flipped worlds, p = 0.011</a:t>
                      </a:r>
                    </a:p>
                  </a:txBody>
                  <a:tcPr marL="101600" marR="101600" marT="38100" marB="38100" anchor="ctr">
                    <a:solidFill>
                      <a:srgbClr val="F4F2FA"/>
                    </a:solidFill>
                  </a:tcPr>
                </a:tc>
              </a:tr>
              <a:tr h="369824">
                <a:tc>
                  <a:txBody>
                    <a:bodyPr/>
                    <a:lstStyle/>
                    <a:p>
                      <a:r>
                        <a:rPr sz="1400" b="0" i="0">
                          <a:solidFill>
                            <a:srgbClr val="1A1440"/>
                          </a:solidFill>
                          <a:latin typeface="Calibri"/>
                        </a:rPr>
                        <a:t>Broad, or a few members?</a:t>
                      </a:r>
                    </a:p>
                  </a:txBody>
                  <a:tcPr marL="101600" marR="101600" marT="38100" marB="38100" anchor="ctr">
                    <a:solidFill>
                      <a:srgbClr val="FFFFFF"/>
                    </a:solidFill>
                  </a:tcPr>
                </a:tc>
                <a:tc>
                  <a:txBody>
                    <a:bodyPr/>
                    <a:lstStyle/>
                    <a:p>
                      <a:r>
                        <a:rPr sz="1400" b="0" i="0">
                          <a:solidFill>
                            <a:srgbClr val="1A1440"/>
                          </a:solidFill>
                          <a:latin typeface="Calibri"/>
                        </a:rPr>
                        <a:t>Broad: 13 of 16 fell, sign test p = 0.021</a:t>
                      </a:r>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6344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744212"/>
            <a:ext cx="237744" cy="237744"/>
          </a:xfrm>
          <a:prstGeom prst="rect">
            <a:avLst/>
          </a:prstGeom>
        </p:spPr>
      </p:pic>
      <p:sp>
        <p:nvSpPr>
          <p:cNvPr id="13" name="TextBox 12"/>
          <p:cNvSpPr txBox="1"/>
          <p:nvPr/>
        </p:nvSpPr>
        <p:spPr>
          <a:xfrm>
            <a:off x="1399031" y="457809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797552"/>
            <a:ext cx="9987991" cy="423672"/>
          </a:xfrm>
          <a:prstGeom prst="rect">
            <a:avLst/>
          </a:prstGeom>
          <a:noFill/>
        </p:spPr>
        <p:txBody>
          <a:bodyPr wrap="square" anchor="t" lIns="0" rIns="0" tIns="0" bIns="0">
            <a:spAutoFit/>
          </a:bodyPr>
          <a:lstStyle/>
          <a:p>
            <a:r>
              <a:rPr sz="1500" b="0" i="0">
                <a:solidFill>
                  <a:srgbClr val="1A1440"/>
                </a:solidFill>
                <a:latin typeface="Calibri"/>
              </a:rPr>
              <a:t>Say the count before the rate, every time: the orders in each quarter, and then the percentage.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9" name="Oval 18"/>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51 / 52</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Rerun the step you stalled on, tonight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you do with the step the lab says you do not own yet?</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TONIGHT</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Rerun the step</a:t>
            </a:r>
          </a:p>
        </p:txBody>
      </p:sp>
      <p:sp>
        <p:nvSpPr>
          <p:cNvPr id="14" name="TextBox 13"/>
          <p:cNvSpPr txBox="1"/>
          <p:nvPr/>
        </p:nvSpPr>
        <p:spPr>
          <a:xfrm>
            <a:off x="69494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On the practice export, the step the TA marked, with the practice set beside it.</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ONE LINE</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What changes</a:t>
            </a:r>
          </a:p>
        </p:txBody>
      </p:sp>
      <p:sp>
        <p:nvSpPr>
          <p:cNvPr id="19" name="TextBox 18"/>
          <p:cNvSpPr txBox="1"/>
          <p:nvPr/>
        </p:nvSpPr>
        <p:spPr>
          <a:xfrm>
            <a:off x="446623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Written under your lab note: the check you will put first next time.</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SATURDAY</a:t>
            </a:r>
          </a:p>
        </p:txBody>
      </p:sp>
      <p:sp>
        <p:nvSpPr>
          <p:cNvPr id="21" name="Oval 20"/>
          <p:cNvSpPr/>
          <p:nvPr/>
        </p:nvSpPr>
        <p:spPr>
          <a:xfrm>
            <a:off x="9766554"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The paper</a:t>
            </a:r>
          </a:p>
        </p:txBody>
      </p:sp>
      <p:sp>
        <p:nvSpPr>
          <p:cNvPr id="24" name="TextBox 23"/>
          <p:cNvSpPr txBox="1"/>
          <p:nvPr/>
        </p:nvSpPr>
        <p:spPr>
          <a:xfrm>
            <a:off x="823752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The note's four parts and the p-value sentence, from memory.</a:t>
            </a:r>
          </a:p>
        </p:txBody>
      </p:sp>
      <p:sp>
        <p:nvSpPr>
          <p:cNvPr id="25" name="Oval 2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27" name="Oval 2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29" name="Oval 28"/>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52 / 52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