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one minute. Anand said this on Wednesday, and this morning most of the room shipped a number</a:t>
            </a:r>
          </a:p>
          <a:p>
            <a:r>
              <a:t>Finance would have sent back. The debrief runs forty minutes as three chapters, one per place most</a:t>
            </a:r>
          </a:p>
          <a:p>
            <a:r>
              <a:t>rooms break: chapter 1 before lunch (20 minutes, this minute included), chapters 2 and 3 after it</a:t>
            </a:r>
          </a:p>
          <a:p>
            <a:r>
              <a:t>(10 minutes each, the last slide included). Each chapter pairs with a notebook of the same number in</a:t>
            </a:r>
          </a:p>
          <a:p>
            <a:r>
              <a:t>notebooks/, which runs on this morning's export and opens now that the clock has stopped. The slides</a:t>
            </a:r>
          </a:p>
          <a:p>
            <a:r>
              <a:t>that show a trap's mechanism carry an invented export's numbers, labelled invented on the slide;</a:t>
            </a:r>
          </a:p>
          <a:p>
            <a:r>
              <a:t>this morning's own numbers are in the day sheet's debrief table, to say aloud, and in the notebooks'</a:t>
            </a:r>
          </a:p>
          <a:p>
            <a:r>
              <a:t>your-turn cells, to type live on the projector.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Twenty minutes, before lunch. Notebook 1, C2_W01_D05_01_debrief_quarters_STUDENT.ipynb, goes on</a:t>
            </a:r>
          </a:p>
          <a:p>
            <a:r>
              <a:t>the projector at S5 and stays there to S9. Close with two learners reading their second-look line</a:t>
            </a:r>
          </a:p>
          <a:p>
            <a:r>
              <a:t>from the lab notebook.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Say who asks and why it matters to them: Anand returns any figure that does not tie</a:t>
            </a:r>
          </a:p>
          <a:p>
            <a:r>
              <a:t>to his control total, and Meera acts on the first line of the note. A wrong first line sends</a:t>
            </a:r>
          </a:p>
          <a:p>
            <a:r>
              <a:t>Monday's review after the wrong question, while Marketing's Rs 12 crore request is judged against a</a:t>
            </a:r>
          </a:p>
          <a:p>
            <a:r>
              <a:t>quarter that did not happen. Then one sentence of likeness, even when D2 is left to self-study:</a:t>
            </a:r>
          </a:p>
          <a:p>
            <a:r>
              <a:t>Nykaa reports gross merchandise value of Rs 4,182 crore and revenue from operations of Rs 2,155</a:t>
            </a:r>
          </a:p>
          <a:p>
            <a:r>
              <a:t>crore for the same quarter, so every figure there names its base and bridges to the books.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or one minute live if the room is ahead. The point of both: an error that drops or</a:t>
            </a:r>
          </a:p>
          <a:p>
            <a:r>
              <a:t>doubles rows is silent, and only a comparison with a total from outside the file finds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 numbers are the invented export's, so the mechanism shows without naming what</a:t>
            </a:r>
          </a:p>
          <a:p>
            <a:r>
              <a:t>this morning's file holds. Read the three numbers and the sentence, then say the room's own hurried</a:t>
            </a:r>
          </a:p>
          <a:p>
            <a:r>
              <a:t>headline aloud from the day sheet's debrief table and ask how many sent a headline with a plus sign,</a:t>
            </a:r>
          </a:p>
          <a:p>
            <a:r>
              <a:t>without naming anyone; the TA tally already knows, and the room should say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Take letters. Option a is Monday's instinct and a good one on a different day; d</a:t>
            </a:r>
          </a:p>
          <a:p>
            <a:r>
              <a:t>is the decomposition, which is the right step on data you already trust.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 answer is c. Open notebook 1 on the projector: its first level prints this</a:t>
            </a:r>
          </a:p>
          <a:p>
            <a:r>
              <a:t>morning's hurried headline beside the books, and its your-turn cell, typed live, prints this</a:t>
            </a:r>
          </a:p>
          <a:p>
            <a:r>
              <a:t>morning's version of this table. Point at the two kinds of miss: a quarter with the right count and</a:t>
            </a:r>
          </a:p>
          <a:p>
            <a:r>
              <a:t>the wrong rupees is chapter 2.</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Then run the sizing cell in notebook 1, which sizes the same options on this</a:t>
            </a:r>
          </a:p>
          <a:p>
            <a:r>
              <a:t>morning's file, with D marked not run for the same reason: no ledger came with either export. Land</a:t>
            </a:r>
          </a:p>
          <a:p>
            <a:r>
              <a:t>two points: B is where most people who did check stopped, and it still leaves the headline well off</a:t>
            </a:r>
          </a:p>
          <a:p>
            <a:r>
              <a:t>the books; D would name every order that differs and costs the afternoon, once Finance sends the</a:t>
            </a:r>
          </a:p>
          <a:p>
            <a:r>
              <a:t>ledger. Minutes are the lab brief's pace, D's an estimate for a request to Finance and a join.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Ask which move is larger before revealing it. Then run level 3 of notebook 1: its</a:t>
            </a:r>
          </a:p>
          <a:p>
            <a:r>
              <a:t>checks say this morning's bridge lands, and its your-turn cell, typed live, draws it; say this</a:t>
            </a:r>
          </a:p>
          <a:p>
            <a:r>
              <a:t>morning's two moves aloud from the day sheet. The your-turn cell after it lists the rows; leave that</a:t>
            </a:r>
          </a:p>
          <a:p>
            <a:r>
              <a:t>to the room tonight.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 error changed the sign, so it changed the decision itself. Say this morning's</a:t>
            </a:r>
          </a:p>
          <a:p>
            <a:r>
              <a:t>three headlines aloud from the day sheet's debrief table, then ask one learner what Meera would have</a:t>
            </a:r>
          </a:p>
          <a:p>
            <a:r>
              <a:t>done on Monday with each of the three notes.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Run the second-route cell in notebook 1; both checks pass on this morning's file.</a:t>
            </a:r>
          </a:p>
          <a:p>
            <a:r>
              <a:t>Say what the route proves and what it leaves open: the bridge's moves were found by subtracting</a:t>
            </a:r>
          </a:p>
          <a:p>
            <a:r>
              <a:t>totals, and these sums count the decisions themselves, so a row set aside without its log line, or a</a:t>
            </a:r>
          </a:p>
          <a:p>
            <a:r>
              <a:t>value zeroed where it should have been read, makes the two disagree.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in the depth section of notebook 1, whose your-turn cell runs the same comparison on</a:t>
            </a:r>
          </a:p>
          <a:p>
            <a:r>
              <a:t>this morning's file. Run it live for two minutes only if the tally shows more than a quarter of notes</a:t>
            </a:r>
          </a:p>
          <a:p>
            <a:r>
              <a:t>named a frequency branch.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then two learners read their second-look line: one whose totals landed and one</a:t>
            </a:r>
          </a:p>
          <a:p>
            <a:r>
              <a:t>whose did not. Thank both the same way. Then lunch.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after lunch. Ten minutes. Notebook 2, C2_W01_D05_02_debrief_values_STUDENT.ipynb, on the</a:t>
            </a:r>
          </a:p>
          <a:p>
            <a:r>
              <a:t>projector from S14.</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A base that is short by one large order can halve the fall the note reports. Nobody</a:t>
            </a:r>
          </a:p>
          <a:p>
            <a:r>
              <a:t>argues with the direction, so nobody acts at the right scale, and when Finance finds the order, every</a:t>
            </a:r>
          </a:p>
          <a:p>
            <a:r>
              <a:t>other number in the note is doubted with it. One sentence of likeness, even when D13 is self-study:</a:t>
            </a:r>
          </a:p>
          <a:p>
            <a:r>
              <a:t>JPMorgan's own task force found a risk spreadsheet that divided by a sum instead of an average and</a:t>
            </a:r>
          </a:p>
          <a:p>
            <a:r>
              <a:t>never raised an error.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The parallel to land: the sheet produced a plausible number every day, and only a check</a:t>
            </a:r>
          </a:p>
          <a:p>
            <a:r>
              <a:t>against something outside the sheet could have caught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Read the code as a hurried analyst's honest attempt: it runs, it reports nothing and</a:t>
            </a:r>
          </a:p>
          <a:p>
            <a:r>
              <a:t>every count lands. Nobody in the room should feel caught. Notebook 2's first level prints this</a:t>
            </a:r>
          </a:p>
          <a:p>
            <a:r>
              <a:t>morning's count and rejects beside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Take letters. The popular wrong answer is a, and it is the answer the zeroing pass</a:t>
            </a:r>
          </a:p>
          <a:p>
            <a:r>
              <a:t>was built, by accident, to produce.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 answer is b. Run level 2 of notebook 2: its checks say this morning's rupees</a:t>
            </a:r>
          </a:p>
          <a:p>
            <a:r>
              <a:t>miss in one quarter while every count lands, and its your-turn cell, typed live, prints which quarter</a:t>
            </a:r>
          </a:p>
          <a:p>
            <a:r>
              <a:t>and by how much; the day sheet's debrief table has the figure. The your-turn cell that finds the row</a:t>
            </a:r>
          </a:p>
          <a:p>
            <a:r>
              <a:t>is for the room tonight.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Run the options cell in notebook 2, which sizes the same four on this morning's</a:t>
            </a:r>
          </a:p>
          <a:p>
            <a:r>
              <a:t>file. Land the contrast between A and B: the same wrong headline, and B fails the count check, so B's</a:t>
            </a:r>
          </a:p>
          <a:p>
            <a:r>
              <a:t>gap is visible and A's is not.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Ask two learners which branch their own row took this morning and why.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level 4 of notebook 2, whose your-turn cells run the same check on this morning's file.</a:t>
            </a:r>
          </a:p>
          <a:p>
            <a:r>
              <a:t>Run it live for two minutes if the tally shows notes that read a segment's move the wrong way round.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Run the second-route cell of notebook 2; both checks pass on this morning's file. On</a:t>
            </a:r>
          </a:p>
          <a:p>
            <a:r>
              <a:t>a file with no control total, this is the check you still have: it needs nothing outside the file and</a:t>
            </a:r>
          </a:p>
          <a:p>
            <a:r>
              <a:t>tells you where, where the rupee check tells you how much.</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after lunch. Ten minutes, the last slide included. Notebook 3,</a:t>
            </a:r>
          </a:p>
          <a:p>
            <a:r>
              <a:t>C2_W01_D05_03_debrief_segments_STUDENT.ipynb, on the projector from S25.</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Meera and Marketing both read the first line: Meera acts on it, and Marketing</a:t>
            </a:r>
          </a:p>
          <a:p>
            <a:r>
              <a:t>attacks any rate that rests on a handful of orders. A trend claimed from a few orders sends a team</a:t>
            </a:r>
          </a:p>
          <a:p>
            <a:r>
              <a:t>to fix a segment that did nothing while the branch that moved goes unopened. One sentence of</a:t>
            </a:r>
          </a:p>
          <a:p>
            <a:r>
              <a:t>likeness, even when D22 is self-study: IMDb will not rank a title in its Top 250 until it has 25,000</a:t>
            </a:r>
          </a:p>
          <a:p>
            <a:r>
              <a:t>ratings.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Wainer's chapter also records that the Gates Foundation had given about $1.7 billion in</a:t>
            </a:r>
          </a:p>
          <a:p>
            <a:r>
              <a:t>education grants by 2001, with small schools central to them; notebook 3 carries the source.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Read it as the headline "corporate is declining; we recommend a retention plan".</a:t>
            </a:r>
          </a:p>
          <a:p>
            <a:r>
              <a:t>The number is correct. What can seven orders carry? This morning's own corporate headline and its</a:t>
            </a:r>
          </a:p>
          <a:p>
            <a:r>
              <a:t>count are in the day sheet's debrief table; say them after the room answers S24.</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Take letters. Option c is the overcorrection: the corporate rupees are real money</a:t>
            </a:r>
          </a:p>
          <a:p>
            <a:r>
              <a:t>and Meera should hear them, as counts.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The answer is d. The coin flips in the subtitle are the invented export's; type the</a:t>
            </a:r>
          </a:p>
          <a:p>
            <a:r>
              <a:t>your-turn cell in notebook 3 live for this morning's corporate count and its share. The corporate</a:t>
            </a:r>
          </a:p>
          <a:p>
            <a:r>
              <a:t>action is a phone call, which costs nothing; a retention plan built on a handful of orders costs a</a:t>
            </a:r>
          </a:p>
          <a:p>
            <a:r>
              <a:t>quarter.</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Run the options cell in notebook 3; it runs D's four tests, Retail-Core at 0.006 and</a:t>
            </a:r>
          </a:p>
          <a:p>
            <a:r>
              <a:t>the other three from 0.27 to 0.79. B hides that nearly all of the fall is the corporate book. D finds</a:t>
            </a:r>
          </a:p>
          <a:p>
            <a:r>
              <a:t>the same lead here at three times the minutes, and four tests at 0.05 carry about a one-in-five chance</a:t>
            </a:r>
          </a:p>
          <a:p>
            <a:r>
              <a:t>that one looks real by luck, so on another file D leads with a fluke.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Run the flip cell in notebook 3. The fall was found in the tree, so the note reports</a:t>
            </a:r>
          </a:p>
          <a:p>
            <a:r>
              <a:t>both directions. Read the p-value sentence aloud once, word for word, because Saturday's paper asks</a:t>
            </a:r>
          </a:p>
          <a:p>
            <a:r>
              <a:t>for it. A learner who shuffled segment labels across whole customers reached 0.0195: that answers a</a:t>
            </a:r>
          </a:p>
          <a:p>
            <a:r>
              <a:t>different question, whether Retail-Core moved differently from Retail-Plus, and it is fair for it.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rule to say: the flips say whether the change is bigger than chance, the customer count says</a:t>
            </a:r>
          </a:p>
          <a:p>
            <a:r>
              <a:t>whether it is broad; when they disagree, a handful of customers moved the average. The sign test uses</a:t>
            </a:r>
          </a:p>
          <a:p>
            <a:r>
              <a:t>only each customer's direction, so its p sits above the flips'. LIVE, 1 minute. Run the second-route</a:t>
            </a:r>
          </a:p>
          <a:p>
            <a:r>
              <a:t>cell. Then close the chapter with the note as it should read, from notebook 3.</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in the depth section of notebook 3, unless more than a quarter of the room pooled the</a:t>
            </a:r>
          </a:p>
          <a:p>
            <a:r>
              <a:t>quarters or shuffled single orders; then run it for three minutes in place of S28. Both cards are</a:t>
            </a:r>
          </a:p>
          <a:p>
            <a:r>
              <a:t>2,000 runs on random.Random(7). The same cell shows single orders shuffled between segments at</a:t>
            </a:r>
          </a:p>
          <a:p>
            <a:r>
              <a:t>0.0755, against 0.0195 with the label moving with the whole customer.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unless the tally shows notes quoting a mean as the typical order; then three minutes.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Close the debrief. The TAs tell each person their marked step privately during the</a:t>
            </a:r>
          </a:p>
          <a:p>
            <a:r>
              <a:t>rehearsal, never aloud to the room.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9.xml"/><Relationship Id="rId5"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1.xml"/><Relationship Id="rId5" Type="http://schemas.openxmlformats.org/officeDocument/2006/relationships/image" Target="../media/image7.png"/><Relationship Id="rId6"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2.xml"/><Relationship Id="rId5"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9.xml"/><Relationship Id="rId5"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1.xml"/><Relationship Id="rId5" Type="http://schemas.openxmlformats.org/officeDocument/2006/relationships/image" Target="../media/image12.png"/><Relationship Id="rId6"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2.xml"/><Relationship Id="rId5" Type="http://schemas.openxmlformats.org/officeDocument/2006/relationships/image" Target="../media/image7.png"/><Relationship Id="rId6"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3.xml"/><Relationship Id="rId5" Type="http://schemas.openxmlformats.org/officeDocument/2006/relationships/image" Target="../media/image13.png"/><Relationship Id="rId6" Type="http://schemas.openxmlformats.org/officeDocument/2006/relationships/image" Target="../media/image2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8.png"/><Relationship Id="rId5" Type="http://schemas.openxmlformats.org/officeDocument/2006/relationships/image" Target="../media/image23.png"/><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9.xml"/><Relationship Id="rId5" Type="http://schemas.openxmlformats.org/officeDocument/2006/relationships/image" Target="../media/image2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2.xml"/><Relationship Id="rId5" Type="http://schemas.openxmlformats.org/officeDocument/2006/relationships/image" Target="../media/image13.png"/><Relationship Id="rId6" Type="http://schemas.openxmlformats.org/officeDocument/2006/relationships/image" Target="../media/image2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24.png"/><Relationship Id="rId5" Type="http://schemas.openxmlformats.org/officeDocument/2006/relationships/image" Target="../media/image27.png"/><Relationship Id="rId6" Type="http://schemas.openxmlformats.org/officeDocument/2006/relationships/image" Target="../media/image7.png"/><Relationship Id="rId7"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notesSlide" Target="../notesSlides/notesSlide3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621792" y="566928"/>
            <a:ext cx="1051560" cy="1051560"/>
          </a:xfrm>
          <a:prstGeom prst="rect">
            <a:avLst/>
          </a:prstGeom>
        </p:spPr>
      </p:pic>
      <p:sp>
        <p:nvSpPr>
          <p:cNvPr id="4" name="TextBox 3"/>
          <p:cNvSpPr txBox="1"/>
          <p:nvPr/>
        </p:nvSpPr>
        <p:spPr>
          <a:xfrm>
            <a:off x="1901952" y="804672"/>
            <a:ext cx="6858000" cy="300735"/>
          </a:xfrm>
          <a:prstGeom prst="rect">
            <a:avLst/>
          </a:prstGeom>
          <a:noFill/>
        </p:spPr>
        <p:txBody>
          <a:bodyPr wrap="square" anchor="t" lIns="0" rIns="0" tIns="0" bIns="0">
            <a:spAutoFit/>
          </a:bodyPr>
          <a:lstStyle/>
          <a:p>
            <a:pPr algn="l"/>
            <a:r>
              <a:rPr sz="1600" b="1" i="0">
                <a:solidFill>
                  <a:srgbClr val="FFFFFF"/>
                </a:solidFill>
                <a:latin typeface="Calibri"/>
              </a:rPr>
              <a:t>Indian Institute of Technology Gandhinagar</a:t>
            </a:r>
          </a:p>
        </p:txBody>
      </p:sp>
      <p:sp>
        <p:nvSpPr>
          <p:cNvPr id="5" name="TextBox 4"/>
          <p:cNvSpPr txBox="1"/>
          <p:nvPr/>
        </p:nvSpPr>
        <p:spPr>
          <a:xfrm>
            <a:off x="1901952" y="1133856"/>
            <a:ext cx="7772400" cy="152146"/>
          </a:xfrm>
          <a:prstGeom prst="rect">
            <a:avLst/>
          </a:prstGeom>
          <a:noFill/>
        </p:spPr>
        <p:txBody>
          <a:bodyPr wrap="square" anchor="t" lIns="0" rIns="0" tIns="0" bIns="0">
            <a:spAutoFit/>
          </a:bodyPr>
          <a:lstStyle/>
          <a:p>
            <a:pPr algn="l"/>
            <a:r>
              <a:rPr sz="700" b="1" i="0" spc="300">
                <a:solidFill>
                  <a:srgbClr val="D9A7FF"/>
                </a:solidFill>
                <a:latin typeface="Calibri"/>
              </a:rPr>
              <a:t>ADMINISTERED THROUGH THE COMPETENCY ADVANCEMENT ACADEMY</a:t>
            </a:r>
          </a:p>
        </p:txBody>
      </p:sp>
      <p:sp>
        <p:nvSpPr>
          <p:cNvPr id="6" name="Rectangle 5"/>
          <p:cNvSpPr/>
          <p:nvPr/>
        </p:nvSpPr>
        <p:spPr>
          <a:xfrm>
            <a:off x="621792" y="1938528"/>
            <a:ext cx="10948111" cy="10972"/>
          </a:xfrm>
          <a:prstGeom prst="rect">
            <a:avLst/>
          </a:prstGeom>
          <a:solidFill>
            <a:srgbClr val="A9A3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21792" y="2240280"/>
            <a:ext cx="3951822" cy="329184"/>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900" b="1" spc="250">
                <a:solidFill>
                  <a:srgbClr val="FFFFFF"/>
                </a:solidFill>
                <a:latin typeface="Calibri"/>
              </a:rPr>
              <a:t>WEEK 1  ·  FRIDAY  ·  THE LAB DEBRIEF</a:t>
            </a:r>
          </a:p>
        </p:txBody>
      </p:sp>
      <p:sp>
        <p:nvSpPr>
          <p:cNvPr id="8" name="TextBox 7"/>
          <p:cNvSpPr txBox="1"/>
          <p:nvPr/>
        </p:nvSpPr>
        <p:spPr>
          <a:xfrm>
            <a:off x="621792" y="2807208"/>
            <a:ext cx="10582351" cy="663956"/>
          </a:xfrm>
          <a:prstGeom prst="rect">
            <a:avLst/>
          </a:prstGeom>
          <a:noFill/>
        </p:spPr>
        <p:txBody>
          <a:bodyPr wrap="square" anchor="t" lIns="0" rIns="0" tIns="0" bIns="0">
            <a:spAutoFit/>
          </a:bodyPr>
          <a:lstStyle/>
          <a:p>
            <a:pPr algn="l"/>
            <a:r>
              <a:rPr sz="3800" b="0" i="0">
                <a:solidFill>
                  <a:srgbClr val="FFFFFF"/>
                </a:solidFill>
                <a:latin typeface="Georgia"/>
              </a:rPr>
              <a:t>Where the room broke</a:t>
            </a:r>
          </a:p>
        </p:txBody>
      </p:sp>
      <p:sp>
        <p:nvSpPr>
          <p:cNvPr id="9" name="TextBox 8"/>
          <p:cNvSpPr txBox="1"/>
          <p:nvPr/>
        </p:nvSpPr>
        <p:spPr>
          <a:xfrm>
            <a:off x="621792" y="3635756"/>
            <a:ext cx="10033711" cy="663956"/>
          </a:xfrm>
          <a:prstGeom prst="rect">
            <a:avLst/>
          </a:prstGeom>
          <a:noFill/>
        </p:spPr>
        <p:txBody>
          <a:bodyPr wrap="square" anchor="t" lIns="0" rIns="0" tIns="0" bIns="0">
            <a:spAutoFit/>
          </a:bodyPr>
          <a:lstStyle/>
          <a:p>
            <a:pPr algn="l"/>
            <a:r>
              <a:rPr sz="1900" b="0" i="1">
                <a:solidFill>
                  <a:srgbClr val="D9A7FF"/>
                </a:solidFill>
                <a:latin typeface="Georgia"/>
              </a:rPr>
              <a:t>“Until your numbers match ours, Finance will not act on a drop measured from an ERP export.”</a:t>
            </a:r>
          </a:p>
        </p:txBody>
      </p:sp>
      <p:sp>
        <p:nvSpPr>
          <p:cNvPr id="10" name="TextBox 9"/>
          <p:cNvSpPr txBox="1"/>
          <p:nvPr/>
        </p:nvSpPr>
        <p:spPr>
          <a:xfrm>
            <a:off x="621792" y="4354576"/>
            <a:ext cx="10033711" cy="218186"/>
          </a:xfrm>
          <a:prstGeom prst="rect">
            <a:avLst/>
          </a:prstGeom>
          <a:noFill/>
        </p:spPr>
        <p:txBody>
          <a:bodyPr wrap="square" anchor="t" lIns="0" rIns="0" tIns="0" bIns="0">
            <a:spAutoFit/>
          </a:bodyPr>
          <a:lstStyle/>
          <a:p>
            <a:pPr algn="l"/>
            <a:r>
              <a:rPr sz="1100" b="0" i="0">
                <a:solidFill>
                  <a:srgbClr val="CFC9EE"/>
                </a:solidFill>
                <a:latin typeface="Calibri"/>
              </a:rPr>
              <a:t>Anand Iyer, finance controller, Kalpa Retail, to the data and AI team at Kalpa's Global Capability Centre</a:t>
            </a:r>
          </a:p>
        </p:txBody>
      </p:sp>
      <p:sp>
        <p:nvSpPr>
          <p:cNvPr id="11" name="TextBox 10"/>
          <p:cNvSpPr txBox="1"/>
          <p:nvPr/>
        </p:nvSpPr>
        <p:spPr>
          <a:xfrm>
            <a:off x="621792" y="5212080"/>
            <a:ext cx="365760" cy="251205"/>
          </a:xfrm>
          <a:prstGeom prst="rect">
            <a:avLst/>
          </a:prstGeom>
          <a:noFill/>
        </p:spPr>
        <p:txBody>
          <a:bodyPr wrap="square" anchor="t" lIns="0" rIns="0" tIns="0" bIns="0">
            <a:spAutoFit/>
          </a:bodyPr>
          <a:lstStyle/>
          <a:p>
            <a:pPr algn="l"/>
            <a:r>
              <a:rPr sz="1300" b="0" i="0">
                <a:solidFill>
                  <a:srgbClr val="D9A7FF"/>
                </a:solidFill>
                <a:latin typeface="Georgia"/>
              </a:rPr>
              <a:t>01</a:t>
            </a:r>
          </a:p>
        </p:txBody>
      </p:sp>
      <p:sp>
        <p:nvSpPr>
          <p:cNvPr id="12" name="TextBox 11"/>
          <p:cNvSpPr txBox="1"/>
          <p:nvPr/>
        </p:nvSpPr>
        <p:spPr>
          <a:xfrm>
            <a:off x="1005839" y="5248656"/>
            <a:ext cx="1779936" cy="185166"/>
          </a:xfrm>
          <a:prstGeom prst="rect">
            <a:avLst/>
          </a:prstGeom>
          <a:noFill/>
        </p:spPr>
        <p:txBody>
          <a:bodyPr wrap="square" anchor="t" lIns="0" rIns="0" tIns="0" bIns="0">
            <a:spAutoFit/>
          </a:bodyPr>
          <a:lstStyle/>
          <a:p>
            <a:pPr algn="l"/>
            <a:r>
              <a:rPr sz="900" b="0" i="0">
                <a:solidFill>
                  <a:srgbClr val="FFFFFF"/>
                </a:solidFill>
                <a:latin typeface="Calibri"/>
              </a:rPr>
              <a:t>The reconciliation, skipped</a:t>
            </a:r>
          </a:p>
        </p:txBody>
      </p:sp>
      <p:sp>
        <p:nvSpPr>
          <p:cNvPr id="13" name="TextBox 12"/>
          <p:cNvSpPr txBox="1"/>
          <p:nvPr/>
        </p:nvSpPr>
        <p:spPr>
          <a:xfrm>
            <a:off x="2968656" y="5212080"/>
            <a:ext cx="365760" cy="251205"/>
          </a:xfrm>
          <a:prstGeom prst="rect">
            <a:avLst/>
          </a:prstGeom>
          <a:noFill/>
        </p:spPr>
        <p:txBody>
          <a:bodyPr wrap="square" anchor="t" lIns="0" rIns="0" tIns="0" bIns="0">
            <a:spAutoFit/>
          </a:bodyPr>
          <a:lstStyle/>
          <a:p>
            <a:pPr algn="l"/>
            <a:r>
              <a:rPr sz="1300" b="0" i="0">
                <a:solidFill>
                  <a:srgbClr val="D9A7FF"/>
                </a:solidFill>
                <a:latin typeface="Georgia"/>
              </a:rPr>
              <a:t>02</a:t>
            </a:r>
          </a:p>
        </p:txBody>
      </p:sp>
      <p:sp>
        <p:nvSpPr>
          <p:cNvPr id="14" name="TextBox 13"/>
          <p:cNvSpPr txBox="1"/>
          <p:nvPr/>
        </p:nvSpPr>
        <p:spPr>
          <a:xfrm>
            <a:off x="3352704" y="5248656"/>
            <a:ext cx="1661636" cy="185166"/>
          </a:xfrm>
          <a:prstGeom prst="rect">
            <a:avLst/>
          </a:prstGeom>
          <a:noFill/>
        </p:spPr>
        <p:txBody>
          <a:bodyPr wrap="square" anchor="t" lIns="0" rIns="0" tIns="0" bIns="0">
            <a:spAutoFit/>
          </a:bodyPr>
          <a:lstStyle/>
          <a:p>
            <a:pPr algn="l"/>
            <a:r>
              <a:rPr sz="900" b="0" i="0">
                <a:solidFill>
                  <a:srgbClr val="FFFFFF"/>
                </a:solidFill>
                <a:latin typeface="Calibri"/>
              </a:rPr>
              <a:t>The pass that looks clean</a:t>
            </a:r>
          </a:p>
        </p:txBody>
      </p:sp>
      <p:sp>
        <p:nvSpPr>
          <p:cNvPr id="15" name="TextBox 14"/>
          <p:cNvSpPr txBox="1"/>
          <p:nvPr/>
        </p:nvSpPr>
        <p:spPr>
          <a:xfrm>
            <a:off x="5197221" y="5212080"/>
            <a:ext cx="365760" cy="251205"/>
          </a:xfrm>
          <a:prstGeom prst="rect">
            <a:avLst/>
          </a:prstGeom>
          <a:noFill/>
        </p:spPr>
        <p:txBody>
          <a:bodyPr wrap="square" anchor="t" lIns="0" rIns="0" tIns="0" bIns="0">
            <a:spAutoFit/>
          </a:bodyPr>
          <a:lstStyle/>
          <a:p>
            <a:pPr algn="l"/>
            <a:r>
              <a:rPr sz="1300" b="0" i="0">
                <a:solidFill>
                  <a:srgbClr val="D9A7FF"/>
                </a:solidFill>
                <a:latin typeface="Georgia"/>
              </a:rPr>
              <a:t>03</a:t>
            </a:r>
          </a:p>
        </p:txBody>
      </p:sp>
      <p:sp>
        <p:nvSpPr>
          <p:cNvPr id="16" name="TextBox 15"/>
          <p:cNvSpPr txBox="1"/>
          <p:nvPr/>
        </p:nvSpPr>
        <p:spPr>
          <a:xfrm>
            <a:off x="5581269" y="5248656"/>
            <a:ext cx="1957387" cy="185166"/>
          </a:xfrm>
          <a:prstGeom prst="rect">
            <a:avLst/>
          </a:prstGeom>
          <a:noFill/>
        </p:spPr>
        <p:txBody>
          <a:bodyPr wrap="square" anchor="t" lIns="0" rIns="0" tIns="0" bIns="0">
            <a:spAutoFit/>
          </a:bodyPr>
          <a:lstStyle/>
          <a:p>
            <a:pPr algn="l"/>
            <a:r>
              <a:rPr sz="900" b="0" i="0">
                <a:solidFill>
                  <a:srgbClr val="FFFFFF"/>
                </a:solidFill>
                <a:latin typeface="Calibri"/>
              </a:rPr>
              <a:t>The headline on too few orders</a:t>
            </a:r>
          </a:p>
        </p:txBody>
      </p:sp>
      <p:sp>
        <p:nvSpPr>
          <p:cNvPr id="17" name="TextBox 16"/>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1, Day 5. Where the room broke</a:t>
            </a:r>
          </a:p>
        </p:txBody>
      </p:sp>
      <p:sp>
        <p:nvSpPr>
          <p:cNvPr id="18" name="TextBox 1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1 / 35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01</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The reconciliation, skipped</a:t>
            </a:r>
          </a:p>
        </p:txBody>
      </p:sp>
      <p:sp>
        <p:nvSpPr>
          <p:cNvPr id="9" name="TextBox 8"/>
          <p:cNvSpPr txBox="1"/>
          <p:nvPr/>
        </p:nvSpPr>
        <p:spPr>
          <a:xfrm>
            <a:off x="731519" y="3520440"/>
            <a:ext cx="9509760" cy="284226"/>
          </a:xfrm>
          <a:prstGeom prst="rect">
            <a:avLst/>
          </a:prstGeom>
          <a:noFill/>
        </p:spPr>
        <p:txBody>
          <a:bodyPr wrap="square" anchor="t" lIns="0" rIns="0" tIns="0" bIns="0">
            <a:spAutoFit/>
          </a:bodyPr>
          <a:lstStyle/>
          <a:p>
            <a:pPr algn="l"/>
            <a:r>
              <a:rPr sz="1500" b="0" i="0">
                <a:solidFill>
                  <a:srgbClr val="E4E1F1"/>
                </a:solidFill>
                <a:latin typeface="Calibri"/>
              </a:rPr>
              <a:t>The step with no new number in it goes first when the clock runs, and Finance reads it first.</a:t>
            </a:r>
          </a:p>
        </p:txBody>
      </p:sp>
      <p:sp>
        <p:nvSpPr>
          <p:cNvPr id="10" name="Rounded Rectangle 9"/>
          <p:cNvSpPr/>
          <p:nvPr/>
        </p:nvSpPr>
        <p:spPr>
          <a:xfrm>
            <a:off x="731519" y="5074920"/>
            <a:ext cx="1964591"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The reconciliation, skipped</a:t>
            </a:r>
          </a:p>
        </p:txBody>
      </p:sp>
      <p:sp>
        <p:nvSpPr>
          <p:cNvPr id="11" name="Rounded Rectangle 10"/>
          <p:cNvSpPr/>
          <p:nvPr/>
        </p:nvSpPr>
        <p:spPr>
          <a:xfrm>
            <a:off x="2805839" y="5074920"/>
            <a:ext cx="184615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pass that looks clean</a:t>
            </a:r>
          </a:p>
        </p:txBody>
      </p:sp>
      <p:sp>
        <p:nvSpPr>
          <p:cNvPr id="12" name="Rounded Rectangle 11"/>
          <p:cNvSpPr/>
          <p:nvPr/>
        </p:nvSpPr>
        <p:spPr>
          <a:xfrm>
            <a:off x="4761726" y="5074920"/>
            <a:ext cx="214223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headline on too few orders</a:t>
            </a:r>
          </a:p>
        </p:txBody>
      </p:sp>
      <p:sp>
        <p:nvSpPr>
          <p:cNvPr id="13" name="TextBox 12"/>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1, Day 5. Where the room broke</a:t>
            </a:r>
          </a:p>
        </p:txBody>
      </p:sp>
      <p:sp>
        <p:nvSpPr>
          <p:cNvPr id="14" name="TextBox 1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2 / 35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Anand reads the note before Meera does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metric is booked revenue per quarter, and the note's first line is its Q1 to Q2 change.</a:t>
            </a:r>
          </a:p>
        </p:txBody>
      </p:sp>
      <p:sp>
        <p:nvSpPr>
          <p:cNvPr id="9" name="TextBox 8"/>
          <p:cNvSpPr txBox="1"/>
          <p:nvPr/>
        </p:nvSpPr>
        <p:spPr>
          <a:xfrm>
            <a:off x="53035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Anand Iyer</a:t>
            </a:r>
          </a:p>
        </p:txBody>
      </p:sp>
      <p:sp>
        <p:nvSpPr>
          <p:cNvPr id="10" name="TextBox 9"/>
          <p:cNvSpPr txBox="1"/>
          <p:nvPr/>
        </p:nvSpPr>
        <p:spPr>
          <a:xfrm>
            <a:off x="53035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WHO ASKS FIRST</a:t>
            </a:r>
          </a:p>
        </p:txBody>
      </p:sp>
      <p:sp>
        <p:nvSpPr>
          <p:cNvPr id="11" name="TextBox 10"/>
          <p:cNvSpPr txBox="1"/>
          <p:nvPr/>
        </p:nvSpPr>
        <p:spPr>
          <a:xfrm>
            <a:off x="53035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the finance controller, before any number reaches Meera</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Q1 to Q2</a:t>
            </a:r>
          </a:p>
        </p:txBody>
      </p:sp>
      <p:sp>
        <p:nvSpPr>
          <p:cNvPr id="14" name="TextBox 13"/>
          <p:cNvSpPr txBox="1"/>
          <p:nvPr/>
        </p:nvSpPr>
        <p:spPr>
          <a:xfrm>
            <a:off x="433212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THE METRIC</a:t>
            </a:r>
          </a:p>
        </p:txBody>
      </p:sp>
      <p:sp>
        <p:nvSpPr>
          <p:cNvPr id="15" name="TextBox 14"/>
          <p:cNvSpPr txBox="1"/>
          <p:nvPr/>
        </p:nvSpPr>
        <p:spPr>
          <a:xfrm>
            <a:off x="433212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booked revenue, the note's first line</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direction</a:t>
            </a:r>
          </a:p>
        </p:txBody>
      </p:sp>
      <p:sp>
        <p:nvSpPr>
          <p:cNvPr id="18" name="TextBox 17"/>
          <p:cNvSpPr txBox="1"/>
          <p:nvPr/>
        </p:nvSpPr>
        <p:spPr>
          <a:xfrm>
            <a:off x="813389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WHAT A WRONG NUMBER COSTS</a:t>
            </a:r>
          </a:p>
        </p:txBody>
      </p:sp>
      <p:sp>
        <p:nvSpPr>
          <p:cNvPr id="19" name="TextBox 18"/>
          <p:cNvSpPr txBox="1"/>
          <p:nvPr/>
        </p:nvSpPr>
        <p:spPr>
          <a:xfrm>
            <a:off x="813389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a quarter reported the wrong way round</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530352" y="3419856"/>
            <a:ext cx="11130991" cy="862584"/>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758952" y="362254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message-square_028dbd132a0a.png"/>
          <p:cNvPicPr>
            <a:picLocks noChangeAspect="1"/>
          </p:cNvPicPr>
          <p:nvPr/>
        </p:nvPicPr>
        <p:blipFill>
          <a:blip r:embed="rId4"/>
          <a:stretch>
            <a:fillRect/>
          </a:stretch>
        </p:blipFill>
        <p:spPr>
          <a:xfrm>
            <a:off x="868680" y="3732276"/>
            <a:ext cx="237744" cy="237744"/>
          </a:xfrm>
          <a:prstGeom prst="rect">
            <a:avLst/>
          </a:prstGeom>
        </p:spPr>
      </p:pic>
      <p:sp>
        <p:nvSpPr>
          <p:cNvPr id="24" name="TextBox 23"/>
          <p:cNvSpPr txBox="1"/>
          <p:nvPr/>
        </p:nvSpPr>
        <p:spPr>
          <a:xfrm>
            <a:off x="1399031" y="3566160"/>
            <a:ext cx="9987991" cy="160401"/>
          </a:xfrm>
          <a:prstGeom prst="rect">
            <a:avLst/>
          </a:prstGeom>
          <a:noFill/>
        </p:spPr>
        <p:txBody>
          <a:bodyPr wrap="square" anchor="t" lIns="0" rIns="0" tIns="0" bIns="0">
            <a:spAutoFit/>
          </a:bodyPr>
          <a:lstStyle/>
          <a:p>
            <a:pPr algn="l"/>
            <a:r>
              <a:rPr sz="750" b="1" i="0" spc="250">
                <a:solidFill>
                  <a:srgbClr val="D9A7FF"/>
                </a:solidFill>
                <a:latin typeface="Calibri"/>
              </a:rPr>
              <a:t>THE CLIENT ASKS</a:t>
            </a:r>
          </a:p>
        </p:txBody>
      </p:sp>
      <p:sp>
        <p:nvSpPr>
          <p:cNvPr id="25" name="TextBox 24"/>
          <p:cNvSpPr txBox="1"/>
          <p:nvPr/>
        </p:nvSpPr>
        <p:spPr>
          <a:xfrm>
            <a:off x="1399031" y="3785616"/>
            <a:ext cx="9987991" cy="423672"/>
          </a:xfrm>
          <a:prstGeom prst="rect">
            <a:avLst/>
          </a:prstGeom>
          <a:noFill/>
        </p:spPr>
        <p:txBody>
          <a:bodyPr wrap="square" anchor="t" lIns="0" rIns="0" tIns="0" bIns="0">
            <a:spAutoFit/>
          </a:bodyPr>
          <a:lstStyle/>
          <a:p>
            <a:r>
              <a:rPr sz="1500" b="0" i="0">
                <a:solidFill>
                  <a:srgbClr val="FFFFFF"/>
                </a:solidFill>
                <a:latin typeface="Calibri"/>
              </a:rPr>
              <a:t>Can the number in your note go to Meera as it stands?</a:t>
            </a:r>
          </a:p>
        </p:txBody>
      </p:sp>
      <p:sp>
        <p:nvSpPr>
          <p:cNvPr id="26" name="Oval 25"/>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40080" y="6437376"/>
            <a:ext cx="1516475" cy="152146"/>
          </a:xfrm>
          <a:prstGeom prst="rect">
            <a:avLst/>
          </a:prstGeom>
          <a:noFill/>
        </p:spPr>
        <p:txBody>
          <a:bodyPr wrap="square" anchor="t" lIns="0" rIns="0" tIns="0" bIns="0">
            <a:spAutoFit/>
          </a:bodyPr>
          <a:lstStyle/>
          <a:p>
            <a:pPr algn="l"/>
            <a:r>
              <a:rPr sz="700" b="1" i="0">
                <a:solidFill>
                  <a:srgbClr val="5B3FD6"/>
                </a:solidFill>
                <a:latin typeface="Calibri"/>
              </a:rPr>
              <a:t>The reconciliation, skipped</a:t>
            </a:r>
          </a:p>
        </p:txBody>
      </p:sp>
      <p:sp>
        <p:nvSpPr>
          <p:cNvPr id="28" name="Oval 27"/>
          <p:cNvSpPr/>
          <p:nvPr/>
        </p:nvSpPr>
        <p:spPr>
          <a:xfrm>
            <a:off x="22479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2357723"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The pass that looks clean</a:t>
            </a:r>
          </a:p>
        </p:txBody>
      </p:sp>
      <p:sp>
        <p:nvSpPr>
          <p:cNvPr id="30" name="Oval 29"/>
          <p:cNvSpPr/>
          <p:nvPr/>
        </p:nvSpPr>
        <p:spPr>
          <a:xfrm>
            <a:off x="38736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3983355"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headline on too few orders</a:t>
            </a:r>
          </a:p>
        </p:txBody>
      </p:sp>
      <p:sp>
        <p:nvSpPr>
          <p:cNvPr id="32" name="TextBox 3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  ·  3 / 35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5  ·  KALPA GLOBAL CAPABILITY CENTRE</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Two companies that bridge before they claim</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A retailer that reports two numbers every quarter, and a pipeline that lost rows without a sound.</a:t>
            </a:r>
          </a:p>
        </p:txBody>
      </p:sp>
      <p:sp>
        <p:nvSpPr>
          <p:cNvPr id="10" name="Rounded Rectangle 9"/>
          <p:cNvSpPr/>
          <p:nvPr/>
        </p:nvSpPr>
        <p:spPr>
          <a:xfrm>
            <a:off x="530352" y="1956816"/>
            <a:ext cx="5474055" cy="234442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31519" y="215798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receipt_310d1be0be75.png"/>
          <p:cNvPicPr>
            <a:picLocks noChangeAspect="1"/>
          </p:cNvPicPr>
          <p:nvPr/>
        </p:nvPicPr>
        <p:blipFill>
          <a:blip r:embed="rId4"/>
          <a:stretch>
            <a:fillRect/>
          </a:stretch>
        </p:blipFill>
        <p:spPr>
          <a:xfrm>
            <a:off x="841247" y="2267712"/>
            <a:ext cx="237744" cy="237744"/>
          </a:xfrm>
          <a:prstGeom prst="rect">
            <a:avLst/>
          </a:prstGeom>
        </p:spPr>
      </p:pic>
      <p:sp>
        <p:nvSpPr>
          <p:cNvPr id="13" name="TextBox 12"/>
          <p:cNvSpPr txBox="1"/>
          <p:nvPr/>
        </p:nvSpPr>
        <p:spPr>
          <a:xfrm>
            <a:off x="731519" y="2724912"/>
            <a:ext cx="5071719" cy="160401"/>
          </a:xfrm>
          <a:prstGeom prst="rect">
            <a:avLst/>
          </a:prstGeom>
          <a:noFill/>
        </p:spPr>
        <p:txBody>
          <a:bodyPr wrap="square" anchor="t" lIns="0" rIns="0" tIns="0" bIns="0">
            <a:spAutoFit/>
          </a:bodyPr>
          <a:lstStyle/>
          <a:p>
            <a:pPr algn="l"/>
            <a:r>
              <a:rPr sz="750" b="1" i="0" spc="250">
                <a:solidFill>
                  <a:srgbClr val="D9A7FF"/>
                </a:solidFill>
                <a:latin typeface="Calibri"/>
              </a:rPr>
              <a:t>NYKAA, APRIL TO JUNE 2025</a:t>
            </a:r>
          </a:p>
        </p:txBody>
      </p:sp>
      <p:sp>
        <p:nvSpPr>
          <p:cNvPr id="14" name="TextBox 13"/>
          <p:cNvSpPr txBox="1"/>
          <p:nvPr/>
        </p:nvSpPr>
        <p:spPr>
          <a:xfrm>
            <a:off x="731519" y="2962656"/>
            <a:ext cx="5071719" cy="267716"/>
          </a:xfrm>
          <a:prstGeom prst="rect">
            <a:avLst/>
          </a:prstGeom>
          <a:noFill/>
        </p:spPr>
        <p:txBody>
          <a:bodyPr wrap="square" anchor="t" lIns="0" rIns="0" tIns="0" bIns="0">
            <a:spAutoFit/>
          </a:bodyPr>
          <a:lstStyle/>
          <a:p>
            <a:pPr algn="l"/>
            <a:r>
              <a:rPr sz="1400" b="1" i="0">
                <a:solidFill>
                  <a:srgbClr val="FFFFFF"/>
                </a:solidFill>
                <a:latin typeface="Calibri"/>
              </a:rPr>
              <a:t>GMV Rs 4,182 cr, revenue Rs 2,155 cr</a:t>
            </a:r>
          </a:p>
        </p:txBody>
      </p:sp>
      <p:sp>
        <p:nvSpPr>
          <p:cNvPr id="15" name="TextBox 14"/>
          <p:cNvSpPr txBox="1"/>
          <p:nvPr/>
        </p:nvSpPr>
        <p:spPr>
          <a:xfrm>
            <a:off x="731519" y="3303524"/>
            <a:ext cx="5071719" cy="763016"/>
          </a:xfrm>
          <a:prstGeom prst="rect">
            <a:avLst/>
          </a:prstGeom>
          <a:noFill/>
        </p:spPr>
        <p:txBody>
          <a:bodyPr wrap="square" anchor="t" lIns="0" rIns="0" tIns="0" bIns="0">
            <a:spAutoFit/>
          </a:bodyPr>
          <a:lstStyle/>
          <a:p>
            <a:pPr algn="l"/>
            <a:r>
              <a:rPr sz="1100" b="0" i="0">
                <a:solidFill>
                  <a:srgbClr val="CFC9EE"/>
                </a:solidFill>
                <a:latin typeface="Calibri"/>
              </a:rPr>
              <a:t>GMV is everything ordered, before cancellations, returns and tax come out; revenue from operations is what the company books as its income. Quote one to the owner of the other and you are out by nearly half. Source: FSN E-Commerce Ventures press release, 12 August 2025.</a:t>
            </a:r>
          </a:p>
        </p:txBody>
      </p:sp>
      <p:sp>
        <p:nvSpPr>
          <p:cNvPr id="16" name="Rounded Rectangle 15"/>
          <p:cNvSpPr/>
          <p:nvPr/>
        </p:nvSpPr>
        <p:spPr>
          <a:xfrm>
            <a:off x="6187287" y="1956816"/>
            <a:ext cx="5474055" cy="234442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6388455"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8" name="Picture 17" descr="file-x_7c9ffa7c6e09.png"/>
          <p:cNvPicPr>
            <a:picLocks noChangeAspect="1"/>
          </p:cNvPicPr>
          <p:nvPr/>
        </p:nvPicPr>
        <p:blipFill>
          <a:blip r:embed="rId5"/>
          <a:stretch>
            <a:fillRect/>
          </a:stretch>
        </p:blipFill>
        <p:spPr>
          <a:xfrm>
            <a:off x="6498183" y="2267712"/>
            <a:ext cx="237744" cy="237744"/>
          </a:xfrm>
          <a:prstGeom prst="rect">
            <a:avLst/>
          </a:prstGeom>
        </p:spPr>
      </p:pic>
      <p:sp>
        <p:nvSpPr>
          <p:cNvPr id="19" name="TextBox 18"/>
          <p:cNvSpPr txBox="1"/>
          <p:nvPr/>
        </p:nvSpPr>
        <p:spPr>
          <a:xfrm>
            <a:off x="6388455" y="2724912"/>
            <a:ext cx="5071719" cy="160401"/>
          </a:xfrm>
          <a:prstGeom prst="rect">
            <a:avLst/>
          </a:prstGeom>
          <a:noFill/>
        </p:spPr>
        <p:txBody>
          <a:bodyPr wrap="square" anchor="t" lIns="0" rIns="0" tIns="0" bIns="0">
            <a:spAutoFit/>
          </a:bodyPr>
          <a:lstStyle/>
          <a:p>
            <a:pPr algn="l"/>
            <a:r>
              <a:rPr sz="750" b="1" i="0" spc="250">
                <a:solidFill>
                  <a:srgbClr val="5B3FD6"/>
                </a:solidFill>
                <a:latin typeface="Calibri"/>
              </a:rPr>
              <a:t>PUBLIC HEALTH ENGLAND, OCTOBER 2020</a:t>
            </a:r>
          </a:p>
        </p:txBody>
      </p:sp>
      <p:sp>
        <p:nvSpPr>
          <p:cNvPr id="20" name="TextBox 19"/>
          <p:cNvSpPr txBox="1"/>
          <p:nvPr/>
        </p:nvSpPr>
        <p:spPr>
          <a:xfrm>
            <a:off x="6388455" y="2962656"/>
            <a:ext cx="5071719" cy="267716"/>
          </a:xfrm>
          <a:prstGeom prst="rect">
            <a:avLst/>
          </a:prstGeom>
          <a:noFill/>
        </p:spPr>
        <p:txBody>
          <a:bodyPr wrap="square" anchor="t" lIns="0" rIns="0" tIns="0" bIns="0">
            <a:spAutoFit/>
          </a:bodyPr>
          <a:lstStyle/>
          <a:p>
            <a:pPr algn="l"/>
            <a:r>
              <a:rPr sz="1400" b="1" i="0">
                <a:solidFill>
                  <a:srgbClr val="1A0F5C"/>
                </a:solidFill>
                <a:latin typeface="Calibri"/>
              </a:rPr>
              <a:t>15,841 cases left out</a:t>
            </a:r>
          </a:p>
        </p:txBody>
      </p:sp>
      <p:sp>
        <p:nvSpPr>
          <p:cNvPr id="21" name="TextBox 20"/>
          <p:cNvSpPr txBox="1"/>
          <p:nvPr/>
        </p:nvSpPr>
        <p:spPr>
          <a:xfrm>
            <a:off x="6388455" y="3303524"/>
            <a:ext cx="5071719" cy="581406"/>
          </a:xfrm>
          <a:prstGeom prst="rect">
            <a:avLst/>
          </a:prstGeom>
          <a:noFill/>
        </p:spPr>
        <p:txBody>
          <a:bodyPr wrap="square" anchor="t" lIns="0" rIns="0" tIns="0" bIns="0">
            <a:spAutoFit/>
          </a:bodyPr>
          <a:lstStyle/>
          <a:p>
            <a:pPr algn="l"/>
            <a:r>
              <a:rPr sz="1100" b="0" i="0">
                <a:solidFill>
                  <a:srgbClr val="6B6690"/>
                </a:solidFill>
                <a:latin typeface="Calibri"/>
              </a:rPr>
              <a:t>Positive cases from 25 September to 2 October missed the daily figures because files exceeded a size limit. No step raised an error. Source: UK government statement, 4 October 2020.</a:t>
            </a:r>
          </a:p>
        </p:txBody>
      </p:sp>
      <p:sp>
        <p:nvSpPr>
          <p:cNvPr id="22" name="Oval 21"/>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40080" y="6437376"/>
            <a:ext cx="1516475" cy="152146"/>
          </a:xfrm>
          <a:prstGeom prst="rect">
            <a:avLst/>
          </a:prstGeom>
          <a:noFill/>
        </p:spPr>
        <p:txBody>
          <a:bodyPr wrap="square" anchor="t" lIns="0" rIns="0" tIns="0" bIns="0">
            <a:spAutoFit/>
          </a:bodyPr>
          <a:lstStyle/>
          <a:p>
            <a:pPr algn="l"/>
            <a:r>
              <a:rPr sz="700" b="1" i="0">
                <a:solidFill>
                  <a:srgbClr val="5B3FD6"/>
                </a:solidFill>
                <a:latin typeface="Calibri"/>
              </a:rPr>
              <a:t>The reconciliation, skipped</a:t>
            </a:r>
          </a:p>
        </p:txBody>
      </p:sp>
      <p:sp>
        <p:nvSpPr>
          <p:cNvPr id="24" name="Oval 23"/>
          <p:cNvSpPr/>
          <p:nvPr/>
        </p:nvSpPr>
        <p:spPr>
          <a:xfrm>
            <a:off x="22479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2357723"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The pass that looks clean</a:t>
            </a:r>
          </a:p>
        </p:txBody>
      </p:sp>
      <p:sp>
        <p:nvSpPr>
          <p:cNvPr id="26" name="Oval 25"/>
          <p:cNvSpPr/>
          <p:nvPr/>
        </p:nvSpPr>
        <p:spPr>
          <a:xfrm>
            <a:off x="38736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3983355"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headline on too few orders</a:t>
            </a:r>
          </a:p>
        </p:txBody>
      </p:sp>
      <p:sp>
        <p:nvSpPr>
          <p:cNvPr id="28" name="TextBox 2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D2  ·  4 / 35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headline a hurried run sends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Invented export: rows kept as they arrived and a value that would not convert set to zero, with no error.</a:t>
            </a:r>
          </a:p>
        </p:txBody>
      </p:sp>
      <p:sp>
        <p:nvSpPr>
          <p:cNvPr id="9" name="TextBox 8"/>
          <p:cNvSpPr txBox="1"/>
          <p:nvPr/>
        </p:nvSpPr>
        <p:spPr>
          <a:xfrm>
            <a:off x="530352" y="1956816"/>
            <a:ext cx="3527450" cy="571500"/>
          </a:xfrm>
          <a:prstGeom prst="rect">
            <a:avLst/>
          </a:prstGeom>
          <a:noFill/>
        </p:spPr>
        <p:txBody>
          <a:bodyPr wrap="square" anchor="t" lIns="0" rIns="0" tIns="0" bIns="0">
            <a:spAutoFit/>
          </a:bodyPr>
          <a:lstStyle/>
          <a:p>
            <a:pPr algn="l"/>
            <a:r>
              <a:rPr sz="3600" b="0" i="0">
                <a:solidFill>
                  <a:srgbClr val="5B3FD6"/>
                </a:solidFill>
                <a:latin typeface="Georgia"/>
              </a:rPr>
              <a:t>Rs 31,50,000</a:t>
            </a:r>
          </a:p>
        </p:txBody>
      </p:sp>
      <p:sp>
        <p:nvSpPr>
          <p:cNvPr id="10" name="TextBox 9"/>
          <p:cNvSpPr txBox="1"/>
          <p:nvPr/>
        </p:nvSpPr>
        <p:spPr>
          <a:xfrm>
            <a:off x="530352" y="2564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Q1 AS SUMMED</a:t>
            </a:r>
          </a:p>
        </p:txBody>
      </p:sp>
      <p:sp>
        <p:nvSpPr>
          <p:cNvPr id="11" name="TextBox 10"/>
          <p:cNvSpPr txBox="1"/>
          <p:nvPr/>
        </p:nvSpPr>
        <p:spPr>
          <a:xfrm>
            <a:off x="530352" y="2766060"/>
            <a:ext cx="3527450" cy="193421"/>
          </a:xfrm>
          <a:prstGeom prst="rect">
            <a:avLst/>
          </a:prstGeom>
          <a:noFill/>
        </p:spPr>
        <p:txBody>
          <a:bodyPr wrap="square" anchor="t" lIns="0" rIns="0" tIns="0" bIns="0">
            <a:spAutoFit/>
          </a:bodyPr>
          <a:lstStyle/>
          <a:p>
            <a:pPr algn="l"/>
            <a:r>
              <a:rPr sz="950" b="0" i="0">
                <a:solidFill>
                  <a:srgbClr val="6B6690"/>
                </a:solidFill>
                <a:latin typeface="Calibri"/>
              </a:rPr>
              <a:t>83 rows, invented</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571500"/>
          </a:xfrm>
          <a:prstGeom prst="rect">
            <a:avLst/>
          </a:prstGeom>
          <a:noFill/>
        </p:spPr>
        <p:txBody>
          <a:bodyPr wrap="square" anchor="t" lIns="0" rIns="0" tIns="0" bIns="0">
            <a:spAutoFit/>
          </a:bodyPr>
          <a:lstStyle/>
          <a:p>
            <a:pPr algn="l"/>
            <a:r>
              <a:rPr sz="3600" b="0" i="0">
                <a:solidFill>
                  <a:srgbClr val="5B3FD6"/>
                </a:solidFill>
                <a:latin typeface="Georgia"/>
              </a:rPr>
              <a:t>Rs 38,16,420</a:t>
            </a:r>
          </a:p>
        </p:txBody>
      </p:sp>
      <p:sp>
        <p:nvSpPr>
          <p:cNvPr id="14" name="TextBox 13"/>
          <p:cNvSpPr txBox="1"/>
          <p:nvPr/>
        </p:nvSpPr>
        <p:spPr>
          <a:xfrm>
            <a:off x="4332122" y="2564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Q2 AS SUMMED</a:t>
            </a:r>
          </a:p>
        </p:txBody>
      </p:sp>
      <p:sp>
        <p:nvSpPr>
          <p:cNvPr id="15" name="TextBox 14"/>
          <p:cNvSpPr txBox="1"/>
          <p:nvPr/>
        </p:nvSpPr>
        <p:spPr>
          <a:xfrm>
            <a:off x="4332122" y="2766060"/>
            <a:ext cx="3527450" cy="193421"/>
          </a:xfrm>
          <a:prstGeom prst="rect">
            <a:avLst/>
          </a:prstGeom>
          <a:noFill/>
        </p:spPr>
        <p:txBody>
          <a:bodyPr wrap="square" anchor="t" lIns="0" rIns="0" tIns="0" bIns="0">
            <a:spAutoFit/>
          </a:bodyPr>
          <a:lstStyle/>
          <a:p>
            <a:pPr algn="l"/>
            <a:r>
              <a:rPr sz="950" b="0" i="0">
                <a:solidFill>
                  <a:srgbClr val="6B6690"/>
                </a:solidFill>
                <a:latin typeface="Calibri"/>
              </a:rPr>
              <a:t>92 rows, invented</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571500"/>
          </a:xfrm>
          <a:prstGeom prst="rect">
            <a:avLst/>
          </a:prstGeom>
          <a:noFill/>
        </p:spPr>
        <p:txBody>
          <a:bodyPr wrap="square" anchor="t" lIns="0" rIns="0" tIns="0" bIns="0">
            <a:spAutoFit/>
          </a:bodyPr>
          <a:lstStyle/>
          <a:p>
            <a:pPr algn="l"/>
            <a:r>
              <a:rPr sz="3600" b="0" i="0">
                <a:solidFill>
                  <a:srgbClr val="5B3FD6"/>
                </a:solidFill>
                <a:latin typeface="Georgia"/>
              </a:rPr>
              <a:t>+21.2%</a:t>
            </a:r>
          </a:p>
        </p:txBody>
      </p:sp>
      <p:sp>
        <p:nvSpPr>
          <p:cNvPr id="18" name="TextBox 17"/>
          <p:cNvSpPr txBox="1"/>
          <p:nvPr/>
        </p:nvSpPr>
        <p:spPr>
          <a:xfrm>
            <a:off x="8133892" y="2564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Q1 TO Q2</a:t>
            </a:r>
          </a:p>
        </p:txBody>
      </p:sp>
      <p:sp>
        <p:nvSpPr>
          <p:cNvPr id="19" name="TextBox 18"/>
          <p:cNvSpPr txBox="1"/>
          <p:nvPr/>
        </p:nvSpPr>
        <p:spPr>
          <a:xfrm>
            <a:off x="8133892" y="2766060"/>
            <a:ext cx="3527450" cy="193421"/>
          </a:xfrm>
          <a:prstGeom prst="rect">
            <a:avLst/>
          </a:prstGeom>
          <a:noFill/>
        </p:spPr>
        <p:txBody>
          <a:bodyPr wrap="square" anchor="t" lIns="0" rIns="0" tIns="0" bIns="0">
            <a:spAutoFit/>
          </a:bodyPr>
          <a:lstStyle/>
          <a:p>
            <a:pPr algn="l"/>
            <a:r>
              <a:rPr sz="950" b="0" i="0">
                <a:solidFill>
                  <a:srgbClr val="6B6690"/>
                </a:solidFill>
                <a:latin typeface="Calibri"/>
              </a:rPr>
              <a:t>"Q2 grew; no action on the top line"</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30352" y="3419856"/>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arithmetic is right, the file is Finance's own export, and the note built on it tells Meera the quarter was a good one.</a:t>
            </a:r>
          </a:p>
        </p:txBody>
      </p:sp>
      <p:sp>
        <p:nvSpPr>
          <p:cNvPr id="22" name="Oval 21"/>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40080" y="6437376"/>
            <a:ext cx="1516475" cy="152146"/>
          </a:xfrm>
          <a:prstGeom prst="rect">
            <a:avLst/>
          </a:prstGeom>
          <a:noFill/>
        </p:spPr>
        <p:txBody>
          <a:bodyPr wrap="square" anchor="t" lIns="0" rIns="0" tIns="0" bIns="0">
            <a:spAutoFit/>
          </a:bodyPr>
          <a:lstStyle/>
          <a:p>
            <a:pPr algn="l"/>
            <a:r>
              <a:rPr sz="700" b="1" i="0">
                <a:solidFill>
                  <a:srgbClr val="5B3FD6"/>
                </a:solidFill>
                <a:latin typeface="Calibri"/>
              </a:rPr>
              <a:t>The reconciliation, skipped</a:t>
            </a:r>
          </a:p>
        </p:txBody>
      </p:sp>
      <p:sp>
        <p:nvSpPr>
          <p:cNvPr id="24" name="Oval 23"/>
          <p:cNvSpPr/>
          <p:nvPr/>
        </p:nvSpPr>
        <p:spPr>
          <a:xfrm>
            <a:off x="22479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2357723"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The pass that looks clean</a:t>
            </a:r>
          </a:p>
        </p:txBody>
      </p:sp>
      <p:sp>
        <p:nvSpPr>
          <p:cNvPr id="26" name="Oval 25"/>
          <p:cNvSpPr/>
          <p:nvPr/>
        </p:nvSpPr>
        <p:spPr>
          <a:xfrm>
            <a:off x="38736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3983355"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headline on too few orders</a:t>
            </a:r>
          </a:p>
        </p:txBody>
      </p:sp>
      <p:sp>
        <p:nvSpPr>
          <p:cNvPr id="28" name="TextBox 2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  ·  5 / 35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Question: what do you check before sending it?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export came with Finance's control totals, and a note that says nothing else.</a:t>
            </a:r>
          </a:p>
        </p:txBody>
      </p:sp>
      <p:sp>
        <p:nvSpPr>
          <p:cNvPr id="9" name="Rounded Rectangle 8"/>
          <p:cNvSpPr/>
          <p:nvPr/>
        </p:nvSpPr>
        <p:spPr>
          <a:xfrm>
            <a:off x="530352" y="1956816"/>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891540"/>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Choose one: a) the median order, in case one large order moved the total on its own; b) the p-value of the Q1 to Q2 change, with 2,000 shuffles; c) orders and rupees per quarter against Finance's control totals; d) the segment split, to see which of the four segments grew the most.</a:t>
            </a:r>
          </a:p>
        </p:txBody>
      </p:sp>
      <p:sp>
        <p:nvSpPr>
          <p:cNvPr id="12" name="Oval 11"/>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516475" cy="152146"/>
          </a:xfrm>
          <a:prstGeom prst="rect">
            <a:avLst/>
          </a:prstGeom>
          <a:noFill/>
        </p:spPr>
        <p:txBody>
          <a:bodyPr wrap="square" anchor="t" lIns="0" rIns="0" tIns="0" bIns="0">
            <a:spAutoFit/>
          </a:bodyPr>
          <a:lstStyle/>
          <a:p>
            <a:pPr algn="l"/>
            <a:r>
              <a:rPr sz="700" b="1" i="0">
                <a:solidFill>
                  <a:srgbClr val="5B3FD6"/>
                </a:solidFill>
                <a:latin typeface="Calibri"/>
              </a:rPr>
              <a:t>The reconciliation, skipped</a:t>
            </a:r>
          </a:p>
        </p:txBody>
      </p:sp>
      <p:sp>
        <p:nvSpPr>
          <p:cNvPr id="14" name="Oval 13"/>
          <p:cNvSpPr/>
          <p:nvPr/>
        </p:nvSpPr>
        <p:spPr>
          <a:xfrm>
            <a:off x="22479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357723"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The pass that looks clean</a:t>
            </a:r>
          </a:p>
        </p:txBody>
      </p:sp>
      <p:sp>
        <p:nvSpPr>
          <p:cNvPr id="16" name="Oval 15"/>
          <p:cNvSpPr/>
          <p:nvPr/>
        </p:nvSpPr>
        <p:spPr>
          <a:xfrm>
            <a:off x="38736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983355"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headline on too few orders</a:t>
            </a:r>
          </a:p>
        </p:txBody>
      </p:sp>
      <p:sp>
        <p:nvSpPr>
          <p:cNvPr id="18" name="TextBox 1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  ·  6 / 35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both quarters miss the books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Invented export: the hurried run against the control totals, in orders and in rupees.</a:t>
            </a:r>
          </a:p>
        </p:txBody>
      </p:sp>
      <p:graphicFrame>
        <p:nvGraphicFramePr>
          <p:cNvPr id="9" name="Table 8"/>
          <p:cNvGraphicFramePr>
            <a:graphicFrameLocks noGrp="1"/>
          </p:cNvGraphicFramePr>
          <p:nvPr/>
        </p:nvGraphicFramePr>
        <p:xfrm>
          <a:off x="530352" y="1956816"/>
          <a:ext cx="11130990" cy="1005840"/>
        </p:xfrm>
        <a:graphic>
          <a:graphicData uri="http://schemas.openxmlformats.org/drawingml/2006/table">
            <a:tbl>
              <a:tblPr firstRow="0" bandRow="0">
                <a:tableStyleId>{2D5ABB26-0587-4C30-8999-92F81FD0307C}</a:tableStyleId>
              </a:tblPr>
              <a:tblGrid>
                <a:gridCol w="914400"/>
                <a:gridCol w="2089319"/>
                <a:gridCol w="2864033"/>
                <a:gridCol w="2399205"/>
                <a:gridCol w="2864033"/>
              </a:tblGrid>
              <a:tr h="335280">
                <a:tc>
                  <a:txBody>
                    <a:bodyPr/>
                    <a:lstStyle/>
                    <a:p>
                      <a:r>
                        <a:rPr sz="1250" b="1" i="0">
                          <a:solidFill>
                            <a:srgbClr val="FFFFFF"/>
                          </a:solidFill>
                          <a:latin typeface="Calibri"/>
                        </a:rPr>
                        <a:t>Quarter</a:t>
                      </a:r>
                    </a:p>
                  </a:txBody>
                  <a:tcPr marL="101600" marR="101600" marT="38100" marB="38100" anchor="ctr">
                    <a:solidFill>
                      <a:srgbClr val="1A0F5C"/>
                    </a:solidFill>
                  </a:tcPr>
                </a:tc>
                <a:tc>
                  <a:txBody>
                    <a:bodyPr/>
                    <a:lstStyle/>
                    <a:p>
                      <a:r>
                        <a:rPr sz="1250" b="1" i="0">
                          <a:solidFill>
                            <a:srgbClr val="FFFFFF"/>
                          </a:solidFill>
                          <a:latin typeface="Calibri"/>
                        </a:rPr>
                        <a:t>Rows summed</a:t>
                      </a:r>
                    </a:p>
                  </a:txBody>
                  <a:tcPr marL="101600" marR="101600" marT="38100" marB="38100" anchor="ctr">
                    <a:solidFill>
                      <a:srgbClr val="1A0F5C"/>
                    </a:solidFill>
                  </a:tcPr>
                </a:tc>
                <a:tc>
                  <a:txBody>
                    <a:bodyPr/>
                    <a:lstStyle/>
                    <a:p>
                      <a:r>
                        <a:rPr sz="1250" b="1" i="0">
                          <a:solidFill>
                            <a:srgbClr val="FFFFFF"/>
                          </a:solidFill>
                          <a:latin typeface="Calibri"/>
                        </a:rPr>
                        <a:t>Finance's orders</a:t>
                      </a:r>
                    </a:p>
                  </a:txBody>
                  <a:tcPr marL="101600" marR="101600" marT="38100" marB="38100" anchor="ctr">
                    <a:solidFill>
                      <a:srgbClr val="1A0F5C"/>
                    </a:solidFill>
                  </a:tcPr>
                </a:tc>
                <a:tc>
                  <a:txBody>
                    <a:bodyPr/>
                    <a:lstStyle/>
                    <a:p>
                      <a:r>
                        <a:rPr sz="1250" b="1" i="0">
                          <a:solidFill>
                            <a:srgbClr val="FFFFFF"/>
                          </a:solidFill>
                          <a:latin typeface="Calibri"/>
                        </a:rPr>
                        <a:t>Rupees summed</a:t>
                      </a:r>
                    </a:p>
                  </a:txBody>
                  <a:tcPr marL="101600" marR="101600" marT="38100" marB="38100" anchor="ctr">
                    <a:solidFill>
                      <a:srgbClr val="1A0F5C"/>
                    </a:solidFill>
                  </a:tcPr>
                </a:tc>
                <a:tc>
                  <a:txBody>
                    <a:bodyPr/>
                    <a:lstStyle/>
                    <a:p>
                      <a:r>
                        <a:rPr sz="1250" b="1" i="0">
                          <a:solidFill>
                            <a:srgbClr val="FFFFFF"/>
                          </a:solidFill>
                          <a:latin typeface="Calibri"/>
                        </a:rPr>
                        <a:t>Finance's rupees</a:t>
                      </a:r>
                    </a:p>
                  </a:txBody>
                  <a:tcPr marL="101600" marR="101600" marT="38100" marB="38100" anchor="ctr">
                    <a:solidFill>
                      <a:srgbClr val="1A0F5C"/>
                    </a:solidFill>
                  </a:tcPr>
                </a:tc>
              </a:tr>
              <a:tr h="335280">
                <a:tc>
                  <a:txBody>
                    <a:bodyPr/>
                    <a:lstStyle/>
                    <a:p>
                      <a:r>
                        <a:rPr sz="1200" b="0" i="0">
                          <a:solidFill>
                            <a:srgbClr val="1A1440"/>
                          </a:solidFill>
                          <a:latin typeface="Calibri"/>
                        </a:rPr>
                        <a:t>Q1</a:t>
                      </a:r>
                    </a:p>
                  </a:txBody>
                  <a:tcPr marL="101600" marR="101600" marT="38100" marB="38100" anchor="ctr">
                    <a:solidFill>
                      <a:srgbClr val="FFFFFF"/>
                    </a:solidFill>
                  </a:tcPr>
                </a:tc>
                <a:tc>
                  <a:txBody>
                    <a:bodyPr/>
                    <a:lstStyle/>
                    <a:p>
                      <a:r>
                        <a:rPr sz="1200" b="0" i="0">
                          <a:solidFill>
                            <a:srgbClr val="1A1440"/>
                          </a:solidFill>
                          <a:latin typeface="Calibri"/>
                        </a:rPr>
                        <a:t>83</a:t>
                      </a:r>
                    </a:p>
                  </a:txBody>
                  <a:tcPr marL="101600" marR="101600" marT="38100" marB="38100" anchor="ctr">
                    <a:solidFill>
                      <a:srgbClr val="FFFFFF"/>
                    </a:solidFill>
                  </a:tcPr>
                </a:tc>
                <a:tc>
                  <a:txBody>
                    <a:bodyPr/>
                    <a:lstStyle/>
                    <a:p>
                      <a:r>
                        <a:rPr sz="1200" b="0" i="0">
                          <a:solidFill>
                            <a:srgbClr val="1A1440"/>
                          </a:solidFill>
                          <a:latin typeface="Calibri"/>
                        </a:rPr>
                        <a:t>83</a:t>
                      </a:r>
                    </a:p>
                  </a:txBody>
                  <a:tcPr marL="101600" marR="101600" marT="38100" marB="38100" anchor="ctr">
                    <a:solidFill>
                      <a:srgbClr val="FFFFFF"/>
                    </a:solidFill>
                  </a:tcPr>
                </a:tc>
                <a:tc>
                  <a:txBody>
                    <a:bodyPr/>
                    <a:lstStyle/>
                    <a:p>
                      <a:r>
                        <a:rPr sz="1200" b="0" i="0">
                          <a:solidFill>
                            <a:srgbClr val="1A1440"/>
                          </a:solidFill>
                          <a:latin typeface="Calibri"/>
                        </a:rPr>
                        <a:t>Rs 31,50,000</a:t>
                      </a:r>
                    </a:p>
                  </a:txBody>
                  <a:tcPr marL="101600" marR="101600" marT="38100" marB="38100" anchor="ctr">
                    <a:solidFill>
                      <a:srgbClr val="FFFFFF"/>
                    </a:solidFill>
                  </a:tcPr>
                </a:tc>
                <a:tc>
                  <a:txBody>
                    <a:bodyPr/>
                    <a:lstStyle/>
                    <a:p>
                      <a:r>
                        <a:rPr sz="1200" b="0" i="0">
                          <a:solidFill>
                            <a:srgbClr val="1A1440"/>
                          </a:solidFill>
                          <a:latin typeface="Calibri"/>
                        </a:rPr>
                        <a:t>Rs 40,00,000</a:t>
                      </a:r>
                    </a:p>
                  </a:txBody>
                  <a:tcPr marL="101600" marR="101600" marT="38100" marB="38100" anchor="ctr">
                    <a:solidFill>
                      <a:srgbClr val="FFFFFF"/>
                    </a:solidFill>
                  </a:tcPr>
                </a:tc>
              </a:tr>
              <a:tr h="335280">
                <a:tc>
                  <a:txBody>
                    <a:bodyPr/>
                    <a:lstStyle/>
                    <a:p>
                      <a:r>
                        <a:rPr sz="1200" b="0" i="0">
                          <a:solidFill>
                            <a:srgbClr val="1A1440"/>
                          </a:solidFill>
                          <a:latin typeface="Calibri"/>
                        </a:rPr>
                        <a:t>Q2</a:t>
                      </a:r>
                    </a:p>
                  </a:txBody>
                  <a:tcPr marL="101600" marR="101600" marT="38100" marB="38100" anchor="ctr">
                    <a:solidFill>
                      <a:srgbClr val="F4F2FA"/>
                    </a:solidFill>
                  </a:tcPr>
                </a:tc>
                <a:tc>
                  <a:txBody>
                    <a:bodyPr/>
                    <a:lstStyle/>
                    <a:p>
                      <a:r>
                        <a:rPr sz="1200" b="0" i="0">
                          <a:solidFill>
                            <a:srgbClr val="1A1440"/>
                          </a:solidFill>
                          <a:latin typeface="Calibri"/>
                        </a:rPr>
                        <a:t>92</a:t>
                      </a:r>
                    </a:p>
                  </a:txBody>
                  <a:tcPr marL="101600" marR="101600" marT="38100" marB="38100" anchor="ctr">
                    <a:solidFill>
                      <a:srgbClr val="F4F2FA"/>
                    </a:solidFill>
                  </a:tcPr>
                </a:tc>
                <a:tc>
                  <a:txBody>
                    <a:bodyPr/>
                    <a:lstStyle/>
                    <a:p>
                      <a:r>
                        <a:rPr sz="1200" b="0" i="0">
                          <a:solidFill>
                            <a:srgbClr val="1A1440"/>
                          </a:solidFill>
                          <a:latin typeface="Calibri"/>
                        </a:rPr>
                        <a:t>84</a:t>
                      </a:r>
                    </a:p>
                  </a:txBody>
                  <a:tcPr marL="101600" marR="101600" marT="38100" marB="38100" anchor="ctr">
                    <a:solidFill>
                      <a:srgbClr val="F4F2FA"/>
                    </a:solidFill>
                  </a:tcPr>
                </a:tc>
                <a:tc>
                  <a:txBody>
                    <a:bodyPr/>
                    <a:lstStyle/>
                    <a:p>
                      <a:r>
                        <a:rPr sz="1200" b="0" i="0">
                          <a:solidFill>
                            <a:srgbClr val="1A1440"/>
                          </a:solidFill>
                          <a:latin typeface="Calibri"/>
                        </a:rPr>
                        <a:t>Rs 38,16,420</a:t>
                      </a:r>
                    </a:p>
                  </a:txBody>
                  <a:tcPr marL="101600" marR="101600" marT="38100" marB="38100" anchor="ctr">
                    <a:solidFill>
                      <a:srgbClr val="F4F2FA"/>
                    </a:solidFill>
                  </a:tcPr>
                </a:tc>
                <a:tc>
                  <a:txBody>
                    <a:bodyPr/>
                    <a:lstStyle/>
                    <a:p>
                      <a:r>
                        <a:rPr sz="1200" b="0" i="0">
                          <a:solidFill>
                            <a:srgbClr val="1A1440"/>
                          </a:solidFill>
                          <a:latin typeface="Calibri"/>
                        </a:rPr>
                        <a:t>Rs 26,00,000</a:t>
                      </a:r>
                    </a:p>
                  </a:txBody>
                  <a:tcPr marL="101600" marR="101600" marT="38100" marB="38100" anchor="ctr">
                    <a:solidFill>
                      <a:srgbClr val="F4F2FA"/>
                    </a:solidFill>
                  </a:tcPr>
                </a:tc>
              </a:tr>
            </a:tbl>
          </a:graphicData>
        </a:graphic>
      </p:graphicFrame>
      <p:sp>
        <p:nvSpPr>
          <p:cNvPr id="10" name="TextBox 9"/>
          <p:cNvSpPr txBox="1"/>
          <p:nvPr/>
        </p:nvSpPr>
        <p:spPr>
          <a:xfrm>
            <a:off x="530352" y="3218688"/>
            <a:ext cx="11130991" cy="495807"/>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Two different errors, and the headline carries them both.</a:t>
            </a:r>
          </a:p>
        </p:txBody>
      </p:sp>
      <p:sp>
        <p:nvSpPr>
          <p:cNvPr id="11" name="Oval 10"/>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516475" cy="152146"/>
          </a:xfrm>
          <a:prstGeom prst="rect">
            <a:avLst/>
          </a:prstGeom>
          <a:noFill/>
        </p:spPr>
        <p:txBody>
          <a:bodyPr wrap="square" anchor="t" lIns="0" rIns="0" tIns="0" bIns="0">
            <a:spAutoFit/>
          </a:bodyPr>
          <a:lstStyle/>
          <a:p>
            <a:pPr algn="l"/>
            <a:r>
              <a:rPr sz="700" b="1" i="0">
                <a:solidFill>
                  <a:srgbClr val="5B3FD6"/>
                </a:solidFill>
                <a:latin typeface="Calibri"/>
              </a:rPr>
              <a:t>The reconciliation, skipped</a:t>
            </a:r>
          </a:p>
        </p:txBody>
      </p:sp>
      <p:sp>
        <p:nvSpPr>
          <p:cNvPr id="13" name="Oval 12"/>
          <p:cNvSpPr/>
          <p:nvPr/>
        </p:nvSpPr>
        <p:spPr>
          <a:xfrm>
            <a:off x="22479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357723"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The pass that looks clean</a:t>
            </a:r>
          </a:p>
        </p:txBody>
      </p:sp>
      <p:sp>
        <p:nvSpPr>
          <p:cNvPr id="15" name="Oval 14"/>
          <p:cNvSpPr/>
          <p:nvPr/>
        </p:nvSpPr>
        <p:spPr>
          <a:xfrm>
            <a:off x="38736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983355"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headline on too few orders</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  ·  7 / 35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Four ways to check, sized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Invented export: minutes of thought decide it, and what each option needs from outside the file.</a:t>
            </a:r>
          </a:p>
        </p:txBody>
      </p:sp>
      <p:graphicFrame>
        <p:nvGraphicFramePr>
          <p:cNvPr id="9" name="Table 8"/>
          <p:cNvGraphicFramePr>
            <a:graphicFrameLocks noGrp="1"/>
          </p:cNvGraphicFramePr>
          <p:nvPr/>
        </p:nvGraphicFramePr>
        <p:xfrm>
          <a:off x="530352" y="1956816"/>
          <a:ext cx="11130989" cy="2298192"/>
        </p:xfrm>
        <a:graphic>
          <a:graphicData uri="http://schemas.openxmlformats.org/drawingml/2006/table">
            <a:tbl>
              <a:tblPr firstRow="0" bandRow="0">
                <a:tableStyleId>{2D5ABB26-0587-4C30-8999-92F81FD0307C}</a:tableStyleId>
              </a:tblPr>
              <a:tblGrid>
                <a:gridCol w="2820396"/>
                <a:gridCol w="1461802"/>
                <a:gridCol w="1849972"/>
                <a:gridCol w="3118988"/>
                <a:gridCol w="1879831"/>
              </a:tblGrid>
              <a:tr h="335280">
                <a:tc>
                  <a:txBody>
                    <a:bodyPr/>
                    <a:lstStyle/>
                    <a:p>
                      <a:r>
                        <a:rPr sz="1250" b="1" i="0">
                          <a:solidFill>
                            <a:srgbClr val="FFFFFF"/>
                          </a:solidFill>
                          <a:latin typeface="Calibri"/>
                        </a:rPr>
                        <a:t>Option</a:t>
                      </a:r>
                    </a:p>
                  </a:txBody>
                  <a:tcPr marL="101600" marR="101600" marT="38100" marB="38100" anchor="ctr">
                    <a:solidFill>
                      <a:srgbClr val="1A0F5C"/>
                    </a:solidFill>
                  </a:tcPr>
                </a:tc>
                <a:tc>
                  <a:txBody>
                    <a:bodyPr/>
                    <a:lstStyle/>
                    <a:p>
                      <a:r>
                        <a:rPr sz="1250" b="1" i="0">
                          <a:solidFill>
                            <a:srgbClr val="FFFFFF"/>
                          </a:solidFill>
                          <a:latin typeface="Calibri"/>
                        </a:rPr>
                        <a:t>Analyst minutes</a:t>
                      </a:r>
                    </a:p>
                  </a:txBody>
                  <a:tcPr marL="101600" marR="101600" marT="38100" marB="38100" anchor="ctr">
                    <a:solidFill>
                      <a:srgbClr val="1A0F5C"/>
                    </a:solidFill>
                  </a:tcPr>
                </a:tc>
                <a:tc>
                  <a:txBody>
                    <a:bodyPr/>
                    <a:lstStyle/>
                    <a:p>
                      <a:r>
                        <a:rPr sz="1250" b="1" i="0">
                          <a:solidFill>
                            <a:srgbClr val="FFFFFF"/>
                          </a:solidFill>
                          <a:latin typeface="Calibri"/>
                        </a:rPr>
                        <a:t>Needs</a:t>
                      </a:r>
                    </a:p>
                  </a:txBody>
                  <a:tcPr marL="101600" marR="101600" marT="38100" marB="38100" anchor="ctr">
                    <a:solidFill>
                      <a:srgbClr val="1A0F5C"/>
                    </a:solidFill>
                  </a:tcPr>
                </a:tc>
                <a:tc>
                  <a:txBody>
                    <a:bodyPr/>
                    <a:lstStyle/>
                    <a:p>
                      <a:r>
                        <a:rPr sz="1250" b="1" i="0">
                          <a:solidFill>
                            <a:srgbClr val="FFFFFF"/>
                          </a:solidFill>
                          <a:latin typeface="Calibri"/>
                        </a:rPr>
                        <a:t>Headline it lets through</a:t>
                      </a:r>
                    </a:p>
                  </a:txBody>
                  <a:tcPr marL="101600" marR="101600" marT="38100" marB="38100" anchor="ctr">
                    <a:solidFill>
                      <a:srgbClr val="1A0F5C"/>
                    </a:solidFill>
                  </a:tcPr>
                </a:tc>
                <a:tc>
                  <a:txBody>
                    <a:bodyPr/>
                    <a:lstStyle/>
                    <a:p>
                      <a:r>
                        <a:rPr sz="1250" b="1" i="0">
                          <a:solidFill>
                            <a:srgbClr val="FFFFFF"/>
                          </a:solidFill>
                          <a:latin typeface="Calibri"/>
                        </a:rPr>
                        <a:t>Points off the books</a:t>
                      </a:r>
                    </a:p>
                  </a:txBody>
                  <a:tcPr marL="101600" marR="101600" marT="38100" marB="38100" anchor="ctr">
                    <a:solidFill>
                      <a:srgbClr val="1A0F5C"/>
                    </a:solidFill>
                  </a:tcPr>
                </a:tc>
              </a:tr>
              <a:tr h="335280">
                <a:tc>
                  <a:txBody>
                    <a:bodyPr/>
                    <a:lstStyle/>
                    <a:p>
                      <a:r>
                        <a:rPr sz="1200" b="0" i="0">
                          <a:solidFill>
                            <a:srgbClr val="1A1440"/>
                          </a:solidFill>
                          <a:latin typeface="Calibri"/>
                        </a:rPr>
                        <a:t>A. Trust the pass</a:t>
                      </a:r>
                    </a:p>
                  </a:txBody>
                  <a:tcPr marL="101600" marR="101600" marT="38100" marB="38100" anchor="ctr">
                    <a:solidFill>
                      <a:srgbClr val="FFFFFF"/>
                    </a:solidFill>
                  </a:tcPr>
                </a:tc>
                <a:tc>
                  <a:txBody>
                    <a:bodyPr/>
                    <a:lstStyle/>
                    <a:p>
                      <a:r>
                        <a:rPr sz="1200" b="0" i="0">
                          <a:solidFill>
                            <a:srgbClr val="1A1440"/>
                          </a:solidFill>
                          <a:latin typeface="Calibri"/>
                        </a:rPr>
                        <a:t>0</a:t>
                      </a:r>
                    </a:p>
                  </a:txBody>
                  <a:tcPr marL="101600" marR="101600" marT="38100" marB="38100" anchor="ctr">
                    <a:solidFill>
                      <a:srgbClr val="FFFFFF"/>
                    </a:solidFill>
                  </a:tcPr>
                </a:tc>
                <a:tc>
                  <a:txBody>
                    <a:bodyPr/>
                    <a:lstStyle/>
                    <a:p>
                      <a:r>
                        <a:rPr sz="1200" b="0" i="0">
                          <a:solidFill>
                            <a:srgbClr val="1A1440"/>
                          </a:solidFill>
                          <a:latin typeface="Calibri"/>
                        </a:rPr>
                        <a:t>nothing</a:t>
                      </a:r>
                    </a:p>
                  </a:txBody>
                  <a:tcPr marL="101600" marR="101600" marT="38100" marB="38100" anchor="ctr">
                    <a:solidFill>
                      <a:srgbClr val="FFFFFF"/>
                    </a:solidFill>
                  </a:tcPr>
                </a:tc>
                <a:tc>
                  <a:txBody>
                    <a:bodyPr/>
                    <a:lstStyle/>
                    <a:p>
                      <a:r>
                        <a:rPr sz="1200" b="0" i="0">
                          <a:solidFill>
                            <a:srgbClr val="1A1440"/>
                          </a:solidFill>
                          <a:latin typeface="Calibri"/>
                        </a:rPr>
                        <a:t>+21.2%</a:t>
                      </a:r>
                    </a:p>
                  </a:txBody>
                  <a:tcPr marL="101600" marR="101600" marT="38100" marB="38100" anchor="ctr">
                    <a:solidFill>
                      <a:srgbClr val="FFFFFF"/>
                    </a:solidFill>
                  </a:tcPr>
                </a:tc>
                <a:tc>
                  <a:txBody>
                    <a:bodyPr/>
                    <a:lstStyle/>
                    <a:p>
                      <a:r>
                        <a:rPr sz="1200" b="0" i="0">
                          <a:solidFill>
                            <a:srgbClr val="1A1440"/>
                          </a:solidFill>
                          <a:latin typeface="Calibri"/>
                        </a:rPr>
                        <a:t>56.2</a:t>
                      </a:r>
                    </a:p>
                  </a:txBody>
                  <a:tcPr marL="101600" marR="101600" marT="38100" marB="38100" anchor="ctr">
                    <a:solidFill>
                      <a:srgbClr val="FFFFFF"/>
                    </a:solidFill>
                  </a:tcPr>
                </a:tc>
              </a:tr>
              <a:tr h="542544">
                <a:tc>
                  <a:txBody>
                    <a:bodyPr/>
                    <a:lstStyle/>
                    <a:p>
                      <a:r>
                        <a:rPr sz="1200" b="0" i="0">
                          <a:solidFill>
                            <a:srgbClr val="1A1440"/>
                          </a:solidFill>
                          <a:latin typeface="Calibri"/>
                        </a:rPr>
                        <a:t>B. Count check only</a:t>
                      </a:r>
                    </a:p>
                  </a:txBody>
                  <a:tcPr marL="101600" marR="101600" marT="38100" marB="38100" anchor="ctr">
                    <a:solidFill>
                      <a:srgbClr val="F4F2FA"/>
                    </a:solidFill>
                  </a:tcPr>
                </a:tc>
                <a:tc>
                  <a:txBody>
                    <a:bodyPr/>
                    <a:lstStyle/>
                    <a:p>
                      <a:r>
                        <a:rPr sz="1200" b="0" i="0">
                          <a:solidFill>
                            <a:srgbClr val="1A1440"/>
                          </a:solidFill>
                          <a:latin typeface="Calibri"/>
                        </a:rPr>
                        <a:t>2</a:t>
                      </a:r>
                    </a:p>
                  </a:txBody>
                  <a:tcPr marL="101600" marR="101600" marT="38100" marB="38100" anchor="ctr">
                    <a:solidFill>
                      <a:srgbClr val="F4F2FA"/>
                    </a:solidFill>
                  </a:tcPr>
                </a:tc>
                <a:tc>
                  <a:txBody>
                    <a:bodyPr/>
                    <a:lstStyle/>
                    <a:p>
                      <a:r>
                        <a:rPr sz="1200" b="0" i="0">
                          <a:solidFill>
                            <a:srgbClr val="1A1440"/>
                          </a:solidFill>
                          <a:latin typeface="Calibri"/>
                        </a:rPr>
                        <a:t>Finance's order counts</a:t>
                      </a:r>
                    </a:p>
                  </a:txBody>
                  <a:tcPr marL="101600" marR="101600" marT="38100" marB="38100" anchor="ctr">
                    <a:solidFill>
                      <a:srgbClr val="F4F2FA"/>
                    </a:solidFill>
                  </a:tcPr>
                </a:tc>
                <a:tc>
                  <a:txBody>
                    <a:bodyPr/>
                    <a:lstStyle/>
                    <a:p>
                      <a:r>
                        <a:rPr sz="1200" b="0" i="0">
                          <a:solidFill>
                            <a:srgbClr val="1A1440"/>
                          </a:solidFill>
                          <a:latin typeface="Calibri"/>
                        </a:rPr>
                        <a:t>-17.5%</a:t>
                      </a:r>
                    </a:p>
                  </a:txBody>
                  <a:tcPr marL="101600" marR="101600" marT="38100" marB="38100" anchor="ctr">
                    <a:solidFill>
                      <a:srgbClr val="F4F2FA"/>
                    </a:solidFill>
                  </a:tcPr>
                </a:tc>
                <a:tc>
                  <a:txBody>
                    <a:bodyPr/>
                    <a:lstStyle/>
                    <a:p>
                      <a:r>
                        <a:rPr sz="1200" b="0" i="0">
                          <a:solidFill>
                            <a:srgbClr val="1A1440"/>
                          </a:solidFill>
                          <a:latin typeface="Calibri"/>
                        </a:rPr>
                        <a:t>17.5</a:t>
                      </a:r>
                    </a:p>
                  </a:txBody>
                  <a:tcPr marL="101600" marR="101600" marT="38100" marB="38100" anchor="ctr">
                    <a:solidFill>
                      <a:srgbClr val="F4F2FA"/>
                    </a:solidFill>
                  </a:tcPr>
                </a:tc>
              </a:tr>
              <a:tr h="542544">
                <a:tc>
                  <a:txBody>
                    <a:bodyPr/>
                    <a:lstStyle/>
                    <a:p>
                      <a:r>
                        <a:rPr sz="1200" b="0" i="0">
                          <a:solidFill>
                            <a:srgbClr val="1A1440"/>
                          </a:solidFill>
                          <a:latin typeface="Calibri"/>
                        </a:rPr>
                        <a:t>C. Counts and rupees, with a bridge</a:t>
                      </a:r>
                    </a:p>
                  </a:txBody>
                  <a:tcPr marL="101600" marR="101600" marT="38100" marB="38100" anchor="ctr">
                    <a:solidFill>
                      <a:srgbClr val="FFFFFF"/>
                    </a:solidFill>
                  </a:tcPr>
                </a:tc>
                <a:tc>
                  <a:txBody>
                    <a:bodyPr/>
                    <a:lstStyle/>
                    <a:p>
                      <a:r>
                        <a:rPr sz="1200" b="0" i="0">
                          <a:solidFill>
                            <a:srgbClr val="1A1440"/>
                          </a:solidFill>
                          <a:latin typeface="Calibri"/>
                        </a:rPr>
                        <a:t>15</a:t>
                      </a:r>
                    </a:p>
                  </a:txBody>
                  <a:tcPr marL="101600" marR="101600" marT="38100" marB="38100" anchor="ctr">
                    <a:solidFill>
                      <a:srgbClr val="FFFFFF"/>
                    </a:solidFill>
                  </a:tcPr>
                </a:tc>
                <a:tc>
                  <a:txBody>
                    <a:bodyPr/>
                    <a:lstStyle/>
                    <a:p>
                      <a:r>
                        <a:rPr sz="1200" b="0" i="0">
                          <a:solidFill>
                            <a:srgbClr val="1A1440"/>
                          </a:solidFill>
                          <a:latin typeface="Calibri"/>
                        </a:rPr>
                        <a:t>Finance's rupee totals</a:t>
                      </a:r>
                    </a:p>
                  </a:txBody>
                  <a:tcPr marL="101600" marR="101600" marT="38100" marB="38100" anchor="ctr">
                    <a:solidFill>
                      <a:srgbClr val="FFFFFF"/>
                    </a:solidFill>
                  </a:tcPr>
                </a:tc>
                <a:tc>
                  <a:txBody>
                    <a:bodyPr/>
                    <a:lstStyle/>
                    <a:p>
                      <a:r>
                        <a:rPr sz="1200" b="0" i="0">
                          <a:solidFill>
                            <a:srgbClr val="1A1440"/>
                          </a:solidFill>
                          <a:latin typeface="Calibri"/>
                        </a:rPr>
                        <a:t>-35.0%</a:t>
                      </a:r>
                    </a:p>
                  </a:txBody>
                  <a:tcPr marL="101600" marR="101600" marT="38100" marB="38100" anchor="ctr">
                    <a:solidFill>
                      <a:srgbClr val="FFFFFF"/>
                    </a:solidFill>
                  </a:tcPr>
                </a:tc>
                <a:tc>
                  <a:txBody>
                    <a:bodyPr/>
                    <a:lstStyle/>
                    <a:p>
                      <a:r>
                        <a:rPr sz="1200" b="0" i="0">
                          <a:solidFill>
                            <a:srgbClr val="1A1440"/>
                          </a:solidFill>
                          <a:latin typeface="Calibri"/>
                        </a:rPr>
                        <a:t>0.0</a:t>
                      </a:r>
                    </a:p>
                  </a:txBody>
                  <a:tcPr marL="101600" marR="101600" marT="38100" marB="38100" anchor="ctr">
                    <a:solidFill>
                      <a:srgbClr val="FFFFFF"/>
                    </a:solidFill>
                  </a:tcPr>
                </a:tc>
              </a:tr>
              <a:tr h="542544">
                <a:tc>
                  <a:txBody>
                    <a:bodyPr/>
                    <a:lstStyle/>
                    <a:p>
                      <a:r>
                        <a:rPr sz="1200" b="0" i="0">
                          <a:solidFill>
                            <a:srgbClr val="1A1440"/>
                          </a:solidFill>
                          <a:latin typeface="Calibri"/>
                        </a:rPr>
                        <a:t>D. Match every order to the ledger</a:t>
                      </a:r>
                    </a:p>
                  </a:txBody>
                  <a:tcPr marL="101600" marR="101600" marT="38100" marB="38100" anchor="ctr">
                    <a:solidFill>
                      <a:srgbClr val="F4F2FA"/>
                    </a:solidFill>
                  </a:tcPr>
                </a:tc>
                <a:tc>
                  <a:txBody>
                    <a:bodyPr/>
                    <a:lstStyle/>
                    <a:p>
                      <a:r>
                        <a:rPr sz="1200" b="0" i="0">
                          <a:solidFill>
                            <a:srgbClr val="1A1440"/>
                          </a:solidFill>
                          <a:latin typeface="Calibri"/>
                        </a:rPr>
                        <a:t>about 120</a:t>
                      </a:r>
                    </a:p>
                  </a:txBody>
                  <a:tcPr marL="101600" marR="101600" marT="38100" marB="38100" anchor="ctr">
                    <a:solidFill>
                      <a:srgbClr val="F4F2FA"/>
                    </a:solidFill>
                  </a:tcPr>
                </a:tc>
                <a:tc>
                  <a:txBody>
                    <a:bodyPr/>
                    <a:lstStyle/>
                    <a:p>
                      <a:r>
                        <a:rPr sz="1200" b="0" i="0">
                          <a:solidFill>
                            <a:srgbClr val="1A1440"/>
                          </a:solidFill>
                          <a:latin typeface="Calibri"/>
                        </a:rPr>
                        <a:t>Finance's ledger</a:t>
                      </a:r>
                    </a:p>
                  </a:txBody>
                  <a:tcPr marL="101600" marR="101600" marT="38100" marB="38100" anchor="ctr">
                    <a:solidFill>
                      <a:srgbClr val="F4F2FA"/>
                    </a:solidFill>
                  </a:tcPr>
                </a:tc>
                <a:tc>
                  <a:txBody>
                    <a:bodyPr/>
                    <a:lstStyle/>
                    <a:p>
                      <a:r>
                        <a:rPr sz="1200" b="0" i="0">
                          <a:solidFill>
                            <a:srgbClr val="1A1440"/>
                          </a:solidFill>
                          <a:latin typeface="Calibri"/>
                        </a:rPr>
                        <a:t>not run: no ledger came with the export</a:t>
                      </a:r>
                    </a:p>
                  </a:txBody>
                  <a:tcPr marL="101600" marR="101600" marT="38100" marB="38100" anchor="ctr">
                    <a:solidFill>
                      <a:srgbClr val="F4F2FA"/>
                    </a:solidFill>
                  </a:tcPr>
                </a:tc>
                <a:tc>
                  <a:txBody>
                    <a:bodyPr/>
                    <a:lstStyle/>
                    <a:p>
                      <a:r>
                        <a:rPr sz="1200" b="0" i="0">
                          <a:solidFill>
                            <a:srgbClr val="1A1440"/>
                          </a:solidFill>
                          <a:latin typeface="Calibri"/>
                        </a:rPr>
                        <a:t>not run</a:t>
                      </a:r>
                    </a:p>
                  </a:txBody>
                  <a:tcPr marL="101600" marR="101600" marT="38100" marB="38100" anchor="ctr">
                    <a:solidFill>
                      <a:srgbClr val="F4F2FA"/>
                    </a:solidFill>
                  </a:tcPr>
                </a:tc>
              </a:tr>
            </a:tbl>
          </a:graphicData>
        </a:graphic>
      </p:graphicFrame>
      <p:sp>
        <p:nvSpPr>
          <p:cNvPr id="10" name="Rounded Rectangle 9"/>
          <p:cNvSpPr/>
          <p:nvPr/>
        </p:nvSpPr>
        <p:spPr>
          <a:xfrm>
            <a:off x="530352" y="4511040"/>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4843272"/>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list-checks_bd88901d2a37.png"/>
          <p:cNvPicPr>
            <a:picLocks noChangeAspect="1"/>
          </p:cNvPicPr>
          <p:nvPr/>
        </p:nvPicPr>
        <p:blipFill>
          <a:blip r:embed="rId4"/>
          <a:stretch>
            <a:fillRect/>
          </a:stretch>
        </p:blipFill>
        <p:spPr>
          <a:xfrm>
            <a:off x="868680" y="4953000"/>
            <a:ext cx="237744" cy="237744"/>
          </a:xfrm>
          <a:prstGeom prst="rect">
            <a:avLst/>
          </a:prstGeom>
        </p:spPr>
      </p:pic>
      <p:sp>
        <p:nvSpPr>
          <p:cNvPr id="13" name="TextBox 12"/>
          <p:cNvSpPr txBox="1"/>
          <p:nvPr/>
        </p:nvSpPr>
        <p:spPr>
          <a:xfrm>
            <a:off x="1399031" y="4657344"/>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THE RULE</a:t>
            </a:r>
          </a:p>
        </p:txBody>
      </p:sp>
      <p:sp>
        <p:nvSpPr>
          <p:cNvPr id="14" name="TextBox 13"/>
          <p:cNvSpPr txBox="1"/>
          <p:nvPr/>
        </p:nvSpPr>
        <p:spPr>
          <a:xfrm>
            <a:off x="1399031" y="4876800"/>
            <a:ext cx="9987991" cy="682752"/>
          </a:xfrm>
          <a:prstGeom prst="rect">
            <a:avLst/>
          </a:prstGeom>
          <a:noFill/>
        </p:spPr>
        <p:txBody>
          <a:bodyPr wrap="square" anchor="t" lIns="0" rIns="0" tIns="0" bIns="0">
            <a:spAutoFit/>
          </a:bodyPr>
          <a:lstStyle/>
          <a:p>
            <a:r>
              <a:rPr sz="1500" b="0" i="0">
                <a:solidFill>
                  <a:srgbClr val="1A1440"/>
                </a:solidFill>
                <a:latin typeface="Calibri"/>
              </a:rPr>
              <a:t>C, because it needs only the control file that came with the export and lands to the rupee. Switch to D when there is no control total, or when C's bridge will not close.</a:t>
            </a:r>
          </a:p>
        </p:txBody>
      </p:sp>
      <p:sp>
        <p:nvSpPr>
          <p:cNvPr id="15" name="Oval 14"/>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516475" cy="152146"/>
          </a:xfrm>
          <a:prstGeom prst="rect">
            <a:avLst/>
          </a:prstGeom>
          <a:noFill/>
        </p:spPr>
        <p:txBody>
          <a:bodyPr wrap="square" anchor="t" lIns="0" rIns="0" tIns="0" bIns="0">
            <a:spAutoFit/>
          </a:bodyPr>
          <a:lstStyle/>
          <a:p>
            <a:pPr algn="l"/>
            <a:r>
              <a:rPr sz="700" b="1" i="0">
                <a:solidFill>
                  <a:srgbClr val="5B3FD6"/>
                </a:solidFill>
                <a:latin typeface="Calibri"/>
              </a:rPr>
              <a:t>The reconciliation, skipped</a:t>
            </a:r>
          </a:p>
        </p:txBody>
      </p:sp>
      <p:sp>
        <p:nvSpPr>
          <p:cNvPr id="17" name="Oval 16"/>
          <p:cNvSpPr/>
          <p:nvPr/>
        </p:nvSpPr>
        <p:spPr>
          <a:xfrm>
            <a:off x="22479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357723"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The pass that looks clean</a:t>
            </a:r>
          </a:p>
        </p:txBody>
      </p:sp>
      <p:sp>
        <p:nvSpPr>
          <p:cNvPr id="19" name="Oval 18"/>
          <p:cNvSpPr/>
          <p:nvPr/>
        </p:nvSpPr>
        <p:spPr>
          <a:xfrm>
            <a:off x="38736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983355"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headline on too few orders</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  ·  8 / 35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bridge from the hurried sum to the books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Invented export: two moves, each a line in the decisions log, and the walk closes on Finance's total.</a:t>
            </a:r>
          </a:p>
        </p:txBody>
      </p:sp>
      <p:pic>
        <p:nvPicPr>
          <p:cNvPr id="9" name="mermaid diagram" descr="b8037ce6427ca687.png"/>
          <p:cNvPicPr>
            <a:picLocks noChangeAspect="1"/>
          </p:cNvPicPr>
          <p:nvPr/>
        </p:nvPicPr>
        <p:blipFill>
          <a:blip r:embed="rId5"/>
          <a:stretch>
            <a:fillRect/>
          </a:stretch>
        </p:blipFill>
        <p:spPr>
          <a:xfrm>
            <a:off x="530352" y="1956816"/>
            <a:ext cx="11130991" cy="1696640"/>
          </a:xfrm>
          <a:prstGeom prst="rect">
            <a:avLst/>
          </a:prstGeom>
        </p:spPr>
      </p:pic>
      <p:sp>
        <p:nvSpPr>
          <p:cNvPr id="10" name="TextBox 9"/>
          <p:cNvSpPr txBox="1"/>
          <p:nvPr/>
        </p:nvSpPr>
        <p:spPr>
          <a:xfrm>
            <a:off x="530352" y="3799760"/>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With both quarters on the books, the invented export's headline is a fall of 35.0 percent, Rs 40,00,000 to Rs 26,00,000.</a:t>
            </a:r>
          </a:p>
        </p:txBody>
      </p:sp>
      <p:sp>
        <p:nvSpPr>
          <p:cNvPr id="11" name="Oval 10"/>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516475" cy="152146"/>
          </a:xfrm>
          <a:prstGeom prst="rect">
            <a:avLst/>
          </a:prstGeom>
          <a:noFill/>
        </p:spPr>
        <p:txBody>
          <a:bodyPr wrap="square" anchor="t" lIns="0" rIns="0" tIns="0" bIns="0">
            <a:spAutoFit/>
          </a:bodyPr>
          <a:lstStyle/>
          <a:p>
            <a:pPr algn="l"/>
            <a:r>
              <a:rPr sz="700" b="1" i="0">
                <a:solidFill>
                  <a:srgbClr val="5B3FD6"/>
                </a:solidFill>
                <a:latin typeface="Calibri"/>
              </a:rPr>
              <a:t>The reconciliation, skipped</a:t>
            </a:r>
          </a:p>
        </p:txBody>
      </p:sp>
      <p:sp>
        <p:nvSpPr>
          <p:cNvPr id="13" name="Oval 12"/>
          <p:cNvSpPr/>
          <p:nvPr/>
        </p:nvSpPr>
        <p:spPr>
          <a:xfrm>
            <a:off x="22479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357723"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The pass that looks clean</a:t>
            </a:r>
          </a:p>
        </p:txBody>
      </p:sp>
      <p:sp>
        <p:nvSpPr>
          <p:cNvPr id="15" name="Oval 14"/>
          <p:cNvSpPr/>
          <p:nvPr/>
        </p:nvSpPr>
        <p:spPr>
          <a:xfrm>
            <a:off x="38736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983355"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headline on too few orders</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S7  ·  9 / 35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decision the wrong number would have made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Invented export: growth reads as no action, a fall reads as find the branch, and only one is true.</a:t>
            </a:r>
          </a:p>
        </p:txBody>
      </p:sp>
      <p:sp>
        <p:nvSpPr>
          <p:cNvPr id="9" name="Rounded Rectangle 8"/>
          <p:cNvSpPr/>
          <p:nvPr/>
        </p:nvSpPr>
        <p:spPr>
          <a:xfrm>
            <a:off x="530352" y="1956816"/>
            <a:ext cx="3588410" cy="1964436"/>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circle-x_e5d65e9a98bd.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3186074" cy="160401"/>
          </a:xfrm>
          <a:prstGeom prst="rect">
            <a:avLst/>
          </a:prstGeom>
          <a:noFill/>
        </p:spPr>
        <p:txBody>
          <a:bodyPr wrap="square" anchor="t" lIns="0" rIns="0" tIns="0" bIns="0">
            <a:spAutoFit/>
          </a:bodyPr>
          <a:lstStyle/>
          <a:p>
            <a:pPr algn="l"/>
            <a:r>
              <a:rPr sz="750" b="1" i="0" spc="250">
                <a:solidFill>
                  <a:srgbClr val="D9A7FF"/>
                </a:solidFill>
                <a:latin typeface="Calibri"/>
              </a:rPr>
              <a:t>THE HURRIED NOTE</a:t>
            </a:r>
          </a:p>
        </p:txBody>
      </p:sp>
      <p:sp>
        <p:nvSpPr>
          <p:cNvPr id="13" name="TextBox 12"/>
          <p:cNvSpPr txBox="1"/>
          <p:nvPr/>
        </p:nvSpPr>
        <p:spPr>
          <a:xfrm>
            <a:off x="731519" y="2962656"/>
            <a:ext cx="3186074" cy="267716"/>
          </a:xfrm>
          <a:prstGeom prst="rect">
            <a:avLst/>
          </a:prstGeom>
          <a:noFill/>
        </p:spPr>
        <p:txBody>
          <a:bodyPr wrap="square" anchor="t" lIns="0" rIns="0" tIns="0" bIns="0">
            <a:spAutoFit/>
          </a:bodyPr>
          <a:lstStyle/>
          <a:p>
            <a:pPr algn="l"/>
            <a:r>
              <a:rPr sz="1400" b="1" i="0">
                <a:solidFill>
                  <a:srgbClr val="FFFFFF"/>
                </a:solidFill>
                <a:latin typeface="Calibri"/>
              </a:rPr>
              <a:t>Q2 grew 21.2%</a:t>
            </a:r>
          </a:p>
        </p:txBody>
      </p:sp>
      <p:sp>
        <p:nvSpPr>
          <p:cNvPr id="14" name="TextBox 13"/>
          <p:cNvSpPr txBox="1"/>
          <p:nvPr/>
        </p:nvSpPr>
        <p:spPr>
          <a:xfrm>
            <a:off x="731519" y="3303524"/>
            <a:ext cx="3186074" cy="399796"/>
          </a:xfrm>
          <a:prstGeom prst="rect">
            <a:avLst/>
          </a:prstGeom>
          <a:noFill/>
        </p:spPr>
        <p:txBody>
          <a:bodyPr wrap="square" anchor="t" lIns="0" rIns="0" tIns="0" bIns="0">
            <a:spAutoFit/>
          </a:bodyPr>
          <a:lstStyle/>
          <a:p>
            <a:pPr algn="l"/>
            <a:r>
              <a:rPr sz="1100" b="0" i="0">
                <a:solidFill>
                  <a:srgbClr val="CFC9EE"/>
                </a:solidFill>
                <a:latin typeface="Calibri"/>
              </a:rPr>
              <a:t>No investigation, and Monday's review hears the quarter was fine.</a:t>
            </a:r>
          </a:p>
        </p:txBody>
      </p:sp>
      <p:sp>
        <p:nvSpPr>
          <p:cNvPr id="15" name="Rounded Rectangle 14"/>
          <p:cNvSpPr/>
          <p:nvPr/>
        </p:nvSpPr>
        <p:spPr>
          <a:xfrm>
            <a:off x="4301642" y="1956816"/>
            <a:ext cx="3588410"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4502810"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circle-alert_2885187cc141.png"/>
          <p:cNvPicPr>
            <a:picLocks noChangeAspect="1"/>
          </p:cNvPicPr>
          <p:nvPr/>
        </p:nvPicPr>
        <p:blipFill>
          <a:blip r:embed="rId5"/>
          <a:stretch>
            <a:fillRect/>
          </a:stretch>
        </p:blipFill>
        <p:spPr>
          <a:xfrm>
            <a:off x="4612538" y="2267712"/>
            <a:ext cx="237744" cy="237744"/>
          </a:xfrm>
          <a:prstGeom prst="rect">
            <a:avLst/>
          </a:prstGeom>
        </p:spPr>
      </p:pic>
      <p:sp>
        <p:nvSpPr>
          <p:cNvPr id="18" name="TextBox 17"/>
          <p:cNvSpPr txBox="1"/>
          <p:nvPr/>
        </p:nvSpPr>
        <p:spPr>
          <a:xfrm>
            <a:off x="4502810"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COUNTS CHECKED</a:t>
            </a:r>
          </a:p>
        </p:txBody>
      </p:sp>
      <p:sp>
        <p:nvSpPr>
          <p:cNvPr id="19" name="TextBox 18"/>
          <p:cNvSpPr txBox="1"/>
          <p:nvPr/>
        </p:nvSpPr>
        <p:spPr>
          <a:xfrm>
            <a:off x="4502810"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Q2 fell 17.5%</a:t>
            </a:r>
          </a:p>
        </p:txBody>
      </p:sp>
      <p:sp>
        <p:nvSpPr>
          <p:cNvPr id="20" name="TextBox 19"/>
          <p:cNvSpPr txBox="1"/>
          <p:nvPr/>
        </p:nvSpPr>
        <p:spPr>
          <a:xfrm>
            <a:off x="4502810" y="3303524"/>
            <a:ext cx="3186074" cy="399796"/>
          </a:xfrm>
          <a:prstGeom prst="rect">
            <a:avLst/>
          </a:prstGeom>
          <a:noFill/>
        </p:spPr>
        <p:txBody>
          <a:bodyPr wrap="square" anchor="t" lIns="0" rIns="0" tIns="0" bIns="0">
            <a:spAutoFit/>
          </a:bodyPr>
          <a:lstStyle/>
          <a:p>
            <a:pPr algn="l"/>
            <a:r>
              <a:rPr sz="1100" b="0" i="0">
                <a:solidFill>
                  <a:srgbClr val="6B6690"/>
                </a:solidFill>
                <a:latin typeface="Calibri"/>
              </a:rPr>
              <a:t>The right direction at half the size, so the fix gets half the attention.</a:t>
            </a:r>
          </a:p>
        </p:txBody>
      </p:sp>
      <p:sp>
        <p:nvSpPr>
          <p:cNvPr id="21" name="Rounded Rectangle 20"/>
          <p:cNvSpPr/>
          <p:nvPr/>
        </p:nvSpPr>
        <p:spPr>
          <a:xfrm>
            <a:off x="8072932" y="1956816"/>
            <a:ext cx="3588410"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8274100"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circle-check_5bfb0e0fcdf2.png"/>
          <p:cNvPicPr>
            <a:picLocks noChangeAspect="1"/>
          </p:cNvPicPr>
          <p:nvPr/>
        </p:nvPicPr>
        <p:blipFill>
          <a:blip r:embed="rId6"/>
          <a:stretch>
            <a:fillRect/>
          </a:stretch>
        </p:blipFill>
        <p:spPr>
          <a:xfrm>
            <a:off x="8383828" y="2267712"/>
            <a:ext cx="237744" cy="237744"/>
          </a:xfrm>
          <a:prstGeom prst="rect">
            <a:avLst/>
          </a:prstGeom>
        </p:spPr>
      </p:pic>
      <p:sp>
        <p:nvSpPr>
          <p:cNvPr id="24" name="TextBox 23"/>
          <p:cNvSpPr txBox="1"/>
          <p:nvPr/>
        </p:nvSpPr>
        <p:spPr>
          <a:xfrm>
            <a:off x="8274100"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COUNTS AND RUPEES</a:t>
            </a:r>
          </a:p>
        </p:txBody>
      </p:sp>
      <p:sp>
        <p:nvSpPr>
          <p:cNvPr id="25" name="TextBox 24"/>
          <p:cNvSpPr txBox="1"/>
          <p:nvPr/>
        </p:nvSpPr>
        <p:spPr>
          <a:xfrm>
            <a:off x="8274100"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Q2 fell 35.0%</a:t>
            </a:r>
          </a:p>
        </p:txBody>
      </p:sp>
      <p:sp>
        <p:nvSpPr>
          <p:cNvPr id="26" name="TextBox 25"/>
          <p:cNvSpPr txBox="1"/>
          <p:nvPr/>
        </p:nvSpPr>
        <p:spPr>
          <a:xfrm>
            <a:off x="8274100" y="3303524"/>
            <a:ext cx="3186074" cy="399796"/>
          </a:xfrm>
          <a:prstGeom prst="rect">
            <a:avLst/>
          </a:prstGeom>
          <a:noFill/>
        </p:spPr>
        <p:txBody>
          <a:bodyPr wrap="square" anchor="t" lIns="0" rIns="0" tIns="0" bIns="0">
            <a:spAutoFit/>
          </a:bodyPr>
          <a:lstStyle/>
          <a:p>
            <a:pPr algn="l"/>
            <a:r>
              <a:rPr sz="1100" b="0" i="0">
                <a:solidFill>
                  <a:srgbClr val="6B6690"/>
                </a:solidFill>
                <a:latin typeface="Calibri"/>
              </a:rPr>
              <a:t>Rs 14,00,000 to explain, and the tree says where.</a:t>
            </a:r>
          </a:p>
        </p:txBody>
      </p:sp>
      <p:sp>
        <p:nvSpPr>
          <p:cNvPr id="27" name="Rounded Rectangle 26"/>
          <p:cNvSpPr/>
          <p:nvPr/>
        </p:nvSpPr>
        <p:spPr>
          <a:xfrm>
            <a:off x="530352" y="4104132"/>
            <a:ext cx="11130991" cy="86258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758952" y="430682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9" name="Picture 28" descr="mic_caee7398c80d.png"/>
          <p:cNvPicPr>
            <a:picLocks noChangeAspect="1"/>
          </p:cNvPicPr>
          <p:nvPr/>
        </p:nvPicPr>
        <p:blipFill>
          <a:blip r:embed="rId7"/>
          <a:stretch>
            <a:fillRect/>
          </a:stretch>
        </p:blipFill>
        <p:spPr>
          <a:xfrm>
            <a:off x="868680" y="4416552"/>
            <a:ext cx="237744" cy="237744"/>
          </a:xfrm>
          <a:prstGeom prst="rect">
            <a:avLst/>
          </a:prstGeom>
        </p:spPr>
      </p:pic>
      <p:sp>
        <p:nvSpPr>
          <p:cNvPr id="30" name="TextBox 29"/>
          <p:cNvSpPr txBox="1"/>
          <p:nvPr/>
        </p:nvSpPr>
        <p:spPr>
          <a:xfrm>
            <a:off x="1399031" y="4250436"/>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31" name="TextBox 30"/>
          <p:cNvSpPr txBox="1"/>
          <p:nvPr/>
        </p:nvSpPr>
        <p:spPr>
          <a:xfrm>
            <a:off x="1399031" y="4469892"/>
            <a:ext cx="9987991" cy="423672"/>
          </a:xfrm>
          <a:prstGeom prst="rect">
            <a:avLst/>
          </a:prstGeom>
          <a:noFill/>
        </p:spPr>
        <p:txBody>
          <a:bodyPr wrap="square" anchor="t" lIns="0" rIns="0" tIns="0" bIns="0">
            <a:spAutoFit/>
          </a:bodyPr>
          <a:lstStyle/>
          <a:p>
            <a:r>
              <a:rPr sz="1500" b="0" i="0">
                <a:solidFill>
                  <a:srgbClr val="1A1440"/>
                </a:solidFill>
                <a:latin typeface="Calibri"/>
              </a:rPr>
              <a:t>[F] You have two hours and a raw export; what do you do first, and what do you skip?</a:t>
            </a:r>
          </a:p>
        </p:txBody>
      </p:sp>
      <p:sp>
        <p:nvSpPr>
          <p:cNvPr id="32" name="Oval 31"/>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40080" y="6437376"/>
            <a:ext cx="1516475" cy="152146"/>
          </a:xfrm>
          <a:prstGeom prst="rect">
            <a:avLst/>
          </a:prstGeom>
          <a:noFill/>
        </p:spPr>
        <p:txBody>
          <a:bodyPr wrap="square" anchor="t" lIns="0" rIns="0" tIns="0" bIns="0">
            <a:spAutoFit/>
          </a:bodyPr>
          <a:lstStyle/>
          <a:p>
            <a:pPr algn="l"/>
            <a:r>
              <a:rPr sz="700" b="1" i="0">
                <a:solidFill>
                  <a:srgbClr val="5B3FD6"/>
                </a:solidFill>
                <a:latin typeface="Calibri"/>
              </a:rPr>
              <a:t>The reconciliation, skipped</a:t>
            </a:r>
          </a:p>
        </p:txBody>
      </p:sp>
      <p:sp>
        <p:nvSpPr>
          <p:cNvPr id="34" name="Oval 33"/>
          <p:cNvSpPr/>
          <p:nvPr/>
        </p:nvSpPr>
        <p:spPr>
          <a:xfrm>
            <a:off x="22479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2357723"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The pass that looks clean</a:t>
            </a:r>
          </a:p>
        </p:txBody>
      </p:sp>
      <p:sp>
        <p:nvSpPr>
          <p:cNvPr id="36" name="Oval 35"/>
          <p:cNvSpPr/>
          <p:nvPr/>
        </p:nvSpPr>
        <p:spPr>
          <a:xfrm>
            <a:off x="38736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3983355"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headline on too few orders</a:t>
            </a:r>
          </a:p>
        </p:txBody>
      </p:sp>
      <p:sp>
        <p:nvSpPr>
          <p:cNvPr id="38" name="TextBox 3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S8  ·  10 / 35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second route: sum the decisions themselves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Invented export: the set-aside list and the log, each summed on its own, against the bridge's moves.</a:t>
            </a:r>
          </a:p>
        </p:txBody>
      </p:sp>
      <p:pic>
        <p:nvPicPr>
          <p:cNvPr id="9" name="mermaid diagram" descr="c405589d215684cd.png"/>
          <p:cNvPicPr>
            <a:picLocks noChangeAspect="1"/>
          </p:cNvPicPr>
          <p:nvPr/>
        </p:nvPicPr>
        <p:blipFill>
          <a:blip r:embed="rId6"/>
          <a:stretch>
            <a:fillRect/>
          </a:stretch>
        </p:blipFill>
        <p:spPr>
          <a:xfrm>
            <a:off x="3224060" y="1956816"/>
            <a:ext cx="5743575" cy="2300287"/>
          </a:xfrm>
          <a:prstGeom prst="rect">
            <a:avLst/>
          </a:prstGeom>
        </p:spPr>
      </p:pic>
      <p:sp>
        <p:nvSpPr>
          <p:cNvPr id="10" name="Rounded Rectangle 9"/>
          <p:cNvSpPr/>
          <p:nvPr/>
        </p:nvSpPr>
        <p:spPr>
          <a:xfrm>
            <a:off x="530352" y="4403407"/>
            <a:ext cx="11130991" cy="138074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4865179"/>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list-checks_bd88901d2a37.png"/>
          <p:cNvPicPr>
            <a:picLocks noChangeAspect="1"/>
          </p:cNvPicPr>
          <p:nvPr/>
        </p:nvPicPr>
        <p:blipFill>
          <a:blip r:embed="rId5"/>
          <a:stretch>
            <a:fillRect/>
          </a:stretch>
        </p:blipFill>
        <p:spPr>
          <a:xfrm>
            <a:off x="868680" y="4974907"/>
            <a:ext cx="237744" cy="237744"/>
          </a:xfrm>
          <a:prstGeom prst="rect">
            <a:avLst/>
          </a:prstGeom>
        </p:spPr>
      </p:pic>
      <p:sp>
        <p:nvSpPr>
          <p:cNvPr id="13" name="TextBox 12"/>
          <p:cNvSpPr txBox="1"/>
          <p:nvPr/>
        </p:nvSpPr>
        <p:spPr>
          <a:xfrm>
            <a:off x="1399031" y="4549711"/>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THE RULE</a:t>
            </a:r>
          </a:p>
        </p:txBody>
      </p:sp>
      <p:sp>
        <p:nvSpPr>
          <p:cNvPr id="14" name="TextBox 13"/>
          <p:cNvSpPr txBox="1"/>
          <p:nvPr/>
        </p:nvSpPr>
        <p:spPr>
          <a:xfrm>
            <a:off x="1399031" y="4769167"/>
            <a:ext cx="9987991" cy="941832"/>
          </a:xfrm>
          <a:prstGeom prst="rect">
            <a:avLst/>
          </a:prstGeom>
          <a:noFill/>
        </p:spPr>
        <p:txBody>
          <a:bodyPr wrap="square" anchor="t" lIns="0" rIns="0" tIns="0" bIns="0">
            <a:spAutoFit/>
          </a:bodyPr>
          <a:lstStyle/>
          <a:p>
            <a:r>
              <a:rPr sz="1500" b="0" i="0">
                <a:solidFill>
                  <a:srgbClr val="1A1440"/>
                </a:solidFill>
                <a:latin typeface="Calibri"/>
              </a:rPr>
              <a:t>Show Finance the forward bridge, because it starts from their export. Run the two sums before you send it: they prove every rupee the bridge moved is a row set aside or a value in the log, and whether each decision was right is the order-level match's question.</a:t>
            </a:r>
          </a:p>
        </p:txBody>
      </p:sp>
      <p:sp>
        <p:nvSpPr>
          <p:cNvPr id="15" name="Oval 14"/>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516475" cy="152146"/>
          </a:xfrm>
          <a:prstGeom prst="rect">
            <a:avLst/>
          </a:prstGeom>
          <a:noFill/>
        </p:spPr>
        <p:txBody>
          <a:bodyPr wrap="square" anchor="t" lIns="0" rIns="0" tIns="0" bIns="0">
            <a:spAutoFit/>
          </a:bodyPr>
          <a:lstStyle/>
          <a:p>
            <a:pPr algn="l"/>
            <a:r>
              <a:rPr sz="700" b="1" i="0">
                <a:solidFill>
                  <a:srgbClr val="5B3FD6"/>
                </a:solidFill>
                <a:latin typeface="Calibri"/>
              </a:rPr>
              <a:t>The reconciliation, skipped</a:t>
            </a:r>
          </a:p>
        </p:txBody>
      </p:sp>
      <p:sp>
        <p:nvSpPr>
          <p:cNvPr id="17" name="Oval 16"/>
          <p:cNvSpPr/>
          <p:nvPr/>
        </p:nvSpPr>
        <p:spPr>
          <a:xfrm>
            <a:off x="22479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357723"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The pass that looks clean</a:t>
            </a:r>
          </a:p>
        </p:txBody>
      </p:sp>
      <p:sp>
        <p:nvSpPr>
          <p:cNvPr id="19" name="Oval 18"/>
          <p:cNvSpPr/>
          <p:nvPr/>
        </p:nvSpPr>
        <p:spPr>
          <a:xfrm>
            <a:off x="38736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983355"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headline on too few orders</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S9  ·  11 / 35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5  ·  KALPA GLOBAL CAPABILITY CENTRE</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The same rows can also move a branch</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Invented export: repeated rows for the same customers read as customers ordering more often.</a:t>
            </a:r>
          </a:p>
        </p:txBody>
      </p:sp>
      <p:pic>
        <p:nvPicPr>
          <p:cNvPr id="10" name="mermaid diagram" descr="abf48e521da9dae3.png"/>
          <p:cNvPicPr>
            <a:picLocks noChangeAspect="1"/>
          </p:cNvPicPr>
          <p:nvPr/>
        </p:nvPicPr>
        <p:blipFill>
          <a:blip r:embed="rId5"/>
          <a:stretch>
            <a:fillRect/>
          </a:stretch>
        </p:blipFill>
        <p:spPr>
          <a:xfrm>
            <a:off x="3095472" y="1956816"/>
            <a:ext cx="6000750" cy="2271712"/>
          </a:xfrm>
          <a:prstGeom prst="rect">
            <a:avLst/>
          </a:prstGeom>
        </p:spPr>
      </p:pic>
      <p:sp>
        <p:nvSpPr>
          <p:cNvPr id="11" name="TextBox 10"/>
          <p:cNvSpPr txBox="1"/>
          <p:nvPr/>
        </p:nvSpPr>
        <p:spPr>
          <a:xfrm>
            <a:off x="530352" y="4374832"/>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Rows Finance does not hold manufacture a frequency rise where nothing changed, and hide a basket fall behind a segment that looks steady. Chapter 3 reads the clean tree.</a:t>
            </a:r>
          </a:p>
        </p:txBody>
      </p:sp>
      <p:sp>
        <p:nvSpPr>
          <p:cNvPr id="12" name="Oval 11"/>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516475" cy="152146"/>
          </a:xfrm>
          <a:prstGeom prst="rect">
            <a:avLst/>
          </a:prstGeom>
          <a:noFill/>
        </p:spPr>
        <p:txBody>
          <a:bodyPr wrap="square" anchor="t" lIns="0" rIns="0" tIns="0" bIns="0">
            <a:spAutoFit/>
          </a:bodyPr>
          <a:lstStyle/>
          <a:p>
            <a:pPr algn="l"/>
            <a:r>
              <a:rPr sz="700" b="1" i="0">
                <a:solidFill>
                  <a:srgbClr val="5B3FD6"/>
                </a:solidFill>
                <a:latin typeface="Calibri"/>
              </a:rPr>
              <a:t>The reconciliation, skipped</a:t>
            </a:r>
          </a:p>
        </p:txBody>
      </p:sp>
      <p:sp>
        <p:nvSpPr>
          <p:cNvPr id="14" name="Oval 13"/>
          <p:cNvSpPr/>
          <p:nvPr/>
        </p:nvSpPr>
        <p:spPr>
          <a:xfrm>
            <a:off x="22479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357723"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The pass that looks clean</a:t>
            </a:r>
          </a:p>
        </p:txBody>
      </p:sp>
      <p:sp>
        <p:nvSpPr>
          <p:cNvPr id="16" name="Oval 15"/>
          <p:cNvSpPr/>
          <p:nvPr/>
        </p:nvSpPr>
        <p:spPr>
          <a:xfrm>
            <a:off x="38736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983355"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headline on too few orders</a:t>
            </a:r>
          </a:p>
        </p:txBody>
      </p:sp>
      <p:sp>
        <p:nvSpPr>
          <p:cNvPr id="18" name="TextBox 1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D10  ·  12 / 35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Why the clock removes this step first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Fifteen of ninety minutes, and its only output is a yes or a no, so it feels like the step that can wait.</a:t>
            </a:r>
          </a:p>
        </p:txBody>
      </p:sp>
      <p:sp>
        <p:nvSpPr>
          <p:cNvPr id="9" name="Rectangle 8"/>
          <p:cNvSpPr/>
          <p:nvPr/>
        </p:nvSpPr>
        <p:spPr>
          <a:xfrm>
            <a:off x="530352" y="1956816"/>
            <a:ext cx="2473553" cy="457200"/>
          </a:xfrm>
          <a:prstGeom prst="rect">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1A0F5C"/>
                </a:solidFill>
                <a:latin typeface="Calibri"/>
              </a:rPr>
              <a:t>Profile</a:t>
            </a:r>
          </a:p>
        </p:txBody>
      </p:sp>
      <p:sp>
        <p:nvSpPr>
          <p:cNvPr id="10" name="Rectangle 9"/>
          <p:cNvSpPr/>
          <p:nvPr/>
        </p:nvSpPr>
        <p:spPr>
          <a:xfrm>
            <a:off x="3003905" y="1956816"/>
            <a:ext cx="3710330" cy="457200"/>
          </a:xfrm>
          <a:prstGeom prst="rect">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FFFFFF"/>
                </a:solidFill>
                <a:latin typeface="Calibri"/>
              </a:rPr>
              <a:t>Clean</a:t>
            </a:r>
          </a:p>
        </p:txBody>
      </p:sp>
      <p:sp>
        <p:nvSpPr>
          <p:cNvPr id="11" name="Rectangle 10"/>
          <p:cNvSpPr/>
          <p:nvPr/>
        </p:nvSpPr>
        <p:spPr>
          <a:xfrm>
            <a:off x="6714236" y="1956816"/>
            <a:ext cx="1855165" cy="457200"/>
          </a:xfrm>
          <a:prstGeom prst="rect">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FFFFFF"/>
                </a:solidFill>
                <a:latin typeface="Calibri"/>
              </a:rPr>
              <a:t>Reconcile</a:t>
            </a:r>
          </a:p>
        </p:txBody>
      </p:sp>
      <p:sp>
        <p:nvSpPr>
          <p:cNvPr id="12" name="Rectangle 11"/>
          <p:cNvSpPr/>
          <p:nvPr/>
        </p:nvSpPr>
        <p:spPr>
          <a:xfrm>
            <a:off x="8569401" y="1956816"/>
            <a:ext cx="3091941" cy="457200"/>
          </a:xfrm>
          <a:prstGeom prst="rect">
            <a:avLst/>
          </a:prstGeom>
          <a:solidFill>
            <a:srgbClr val="4E38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FFFFFF"/>
                </a:solidFill>
                <a:latin typeface="Calibri"/>
              </a:rPr>
              <a:t>Decompose</a:t>
            </a:r>
          </a:p>
        </p:txBody>
      </p:sp>
      <p:sp>
        <p:nvSpPr>
          <p:cNvPr id="13" name="Rounded Rectangle 12"/>
          <p:cNvSpPr/>
          <p:nvPr/>
        </p:nvSpPr>
        <p:spPr>
          <a:xfrm>
            <a:off x="530352" y="2916936"/>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Oval 13"/>
          <p:cNvSpPr/>
          <p:nvPr/>
        </p:nvSpPr>
        <p:spPr>
          <a:xfrm>
            <a:off x="758952" y="324916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5" name="Picture 14" descr="search-check_6571e64a041f.png"/>
          <p:cNvPicPr>
            <a:picLocks noChangeAspect="1"/>
          </p:cNvPicPr>
          <p:nvPr/>
        </p:nvPicPr>
        <p:blipFill>
          <a:blip r:embed="rId4"/>
          <a:stretch>
            <a:fillRect/>
          </a:stretch>
        </p:blipFill>
        <p:spPr>
          <a:xfrm>
            <a:off x="868680" y="3358896"/>
            <a:ext cx="237744" cy="237744"/>
          </a:xfrm>
          <a:prstGeom prst="rect">
            <a:avLst/>
          </a:prstGeom>
        </p:spPr>
      </p:pic>
      <p:sp>
        <p:nvSpPr>
          <p:cNvPr id="16" name="TextBox 15"/>
          <p:cNvSpPr txBox="1"/>
          <p:nvPr/>
        </p:nvSpPr>
        <p:spPr>
          <a:xfrm>
            <a:off x="1399031" y="3063240"/>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KAVYA'S REVIEW</a:t>
            </a:r>
          </a:p>
        </p:txBody>
      </p:sp>
      <p:sp>
        <p:nvSpPr>
          <p:cNvPr id="17" name="TextBox 16"/>
          <p:cNvSpPr txBox="1"/>
          <p:nvPr/>
        </p:nvSpPr>
        <p:spPr>
          <a:xfrm>
            <a:off x="1399031" y="3282696"/>
            <a:ext cx="9987991" cy="682752"/>
          </a:xfrm>
          <a:prstGeom prst="rect">
            <a:avLst/>
          </a:prstGeom>
          <a:noFill/>
        </p:spPr>
        <p:txBody>
          <a:bodyPr wrap="square" anchor="t" lIns="0" rIns="0" tIns="0" bIns="0">
            <a:spAutoFit/>
          </a:bodyPr>
          <a:lstStyle/>
          <a:p>
            <a:r>
              <a:rPr sz="1500" b="0" i="0">
                <a:solidFill>
                  <a:srgbClr val="1A1440"/>
                </a:solidFill>
                <a:latin typeface="Calibri"/>
              </a:rPr>
              <a:t>A number that has not been reconciled can point the wrong way, and this morning it did. Put the two checks in a cell before the first number you plan to send.</a:t>
            </a:r>
          </a:p>
        </p:txBody>
      </p:sp>
      <p:sp>
        <p:nvSpPr>
          <p:cNvPr id="18" name="Oval 17"/>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40080" y="6437376"/>
            <a:ext cx="1516475" cy="152146"/>
          </a:xfrm>
          <a:prstGeom prst="rect">
            <a:avLst/>
          </a:prstGeom>
          <a:noFill/>
        </p:spPr>
        <p:txBody>
          <a:bodyPr wrap="square" anchor="t" lIns="0" rIns="0" tIns="0" bIns="0">
            <a:spAutoFit/>
          </a:bodyPr>
          <a:lstStyle/>
          <a:p>
            <a:pPr algn="l"/>
            <a:r>
              <a:rPr sz="700" b="1" i="0">
                <a:solidFill>
                  <a:srgbClr val="5B3FD6"/>
                </a:solidFill>
                <a:latin typeface="Calibri"/>
              </a:rPr>
              <a:t>The reconciliation, skipped</a:t>
            </a:r>
          </a:p>
        </p:txBody>
      </p:sp>
      <p:sp>
        <p:nvSpPr>
          <p:cNvPr id="20" name="Oval 19"/>
          <p:cNvSpPr/>
          <p:nvPr/>
        </p:nvSpPr>
        <p:spPr>
          <a:xfrm>
            <a:off x="22479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2357723"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The pass that looks clean</a:t>
            </a:r>
          </a:p>
        </p:txBody>
      </p:sp>
      <p:sp>
        <p:nvSpPr>
          <p:cNvPr id="22" name="Oval 21"/>
          <p:cNvSpPr/>
          <p:nvPr/>
        </p:nvSpPr>
        <p:spPr>
          <a:xfrm>
            <a:off x="38736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3983355"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headline on too few orders</a:t>
            </a:r>
          </a:p>
        </p:txBody>
      </p:sp>
      <p:sp>
        <p:nvSpPr>
          <p:cNvPr id="24" name="TextBox 2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S11  ·  13 / 35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02</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The pass that looks clean</a:t>
            </a:r>
          </a:p>
        </p:txBody>
      </p:sp>
      <p:sp>
        <p:nvSpPr>
          <p:cNvPr id="9" name="TextBox 8"/>
          <p:cNvSpPr txBox="1"/>
          <p:nvPr/>
        </p:nvSpPr>
        <p:spPr>
          <a:xfrm>
            <a:off x="731519" y="3520440"/>
            <a:ext cx="9509760" cy="284226"/>
          </a:xfrm>
          <a:prstGeom prst="rect">
            <a:avLst/>
          </a:prstGeom>
          <a:noFill/>
        </p:spPr>
        <p:txBody>
          <a:bodyPr wrap="square" anchor="t" lIns="0" rIns="0" tIns="0" bIns="0">
            <a:spAutoFit/>
          </a:bodyPr>
          <a:lstStyle/>
          <a:p>
            <a:pPr algn="l"/>
            <a:r>
              <a:rPr sz="1500" b="0" i="0">
                <a:solidFill>
                  <a:srgbClr val="E4E1F1"/>
                </a:solidFill>
                <a:latin typeface="Calibri"/>
              </a:rPr>
              <a:t>A zero-reject pass on a file you know is dirty is the first thing to investigate.</a:t>
            </a:r>
          </a:p>
        </p:txBody>
      </p:sp>
      <p:sp>
        <p:nvSpPr>
          <p:cNvPr id="10" name="Rounded Rectangle 9"/>
          <p:cNvSpPr/>
          <p:nvPr/>
        </p:nvSpPr>
        <p:spPr>
          <a:xfrm>
            <a:off x="731519" y="5074920"/>
            <a:ext cx="196459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reconciliation, skipped</a:t>
            </a:r>
          </a:p>
        </p:txBody>
      </p:sp>
      <p:sp>
        <p:nvSpPr>
          <p:cNvPr id="11" name="Rounded Rectangle 10"/>
          <p:cNvSpPr/>
          <p:nvPr/>
        </p:nvSpPr>
        <p:spPr>
          <a:xfrm>
            <a:off x="2805839" y="5074920"/>
            <a:ext cx="1846159"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The pass that looks clean</a:t>
            </a:r>
          </a:p>
        </p:txBody>
      </p:sp>
      <p:sp>
        <p:nvSpPr>
          <p:cNvPr id="12" name="Rounded Rectangle 11"/>
          <p:cNvSpPr/>
          <p:nvPr/>
        </p:nvSpPr>
        <p:spPr>
          <a:xfrm>
            <a:off x="4761726" y="5074920"/>
            <a:ext cx="214223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headline on too few orders</a:t>
            </a:r>
          </a:p>
        </p:txBody>
      </p:sp>
      <p:sp>
        <p:nvSpPr>
          <p:cNvPr id="13" name="TextBox 12"/>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1, Day 5. Where the room broke</a:t>
            </a:r>
          </a:p>
        </p:txBody>
      </p:sp>
      <p:sp>
        <p:nvSpPr>
          <p:cNvPr id="14" name="TextBox 1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14 / 35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Anand's analyst audits the note first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Q1 total is the base every Q1 to Q2 rate divides by.</a:t>
            </a:r>
          </a:p>
        </p:txBody>
      </p:sp>
      <p:sp>
        <p:nvSpPr>
          <p:cNvPr id="9" name="TextBox 8"/>
          <p:cNvSpPr txBox="1"/>
          <p:nvPr/>
        </p:nvSpPr>
        <p:spPr>
          <a:xfrm>
            <a:off x="530352" y="1956816"/>
            <a:ext cx="3527450" cy="635000"/>
          </a:xfrm>
          <a:prstGeom prst="rect">
            <a:avLst/>
          </a:prstGeom>
          <a:noFill/>
        </p:spPr>
        <p:txBody>
          <a:bodyPr wrap="square" anchor="t" lIns="0" rIns="0" tIns="0" bIns="0">
            <a:spAutoFit/>
          </a:bodyPr>
          <a:lstStyle/>
          <a:p>
            <a:pPr algn="l"/>
            <a:r>
              <a:rPr sz="4000" b="0" i="0">
                <a:solidFill>
                  <a:srgbClr val="5B3FD6"/>
                </a:solidFill>
                <a:latin typeface="Georgia"/>
              </a:rPr>
              <a:t>Q1 booked</a:t>
            </a:r>
          </a:p>
        </p:txBody>
      </p:sp>
      <p:sp>
        <p:nvSpPr>
          <p:cNvPr id="10" name="TextBox 9"/>
          <p:cNvSpPr txBox="1"/>
          <p:nvPr/>
        </p:nvSpPr>
        <p:spPr>
          <a:xfrm>
            <a:off x="530352" y="26283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THE METRIC</a:t>
            </a:r>
          </a:p>
        </p:txBody>
      </p:sp>
      <p:sp>
        <p:nvSpPr>
          <p:cNvPr id="11" name="TextBox 10"/>
          <p:cNvSpPr txBox="1"/>
          <p:nvPr/>
        </p:nvSpPr>
        <p:spPr>
          <a:xfrm>
            <a:off x="530352" y="2829560"/>
            <a:ext cx="3527450" cy="193421"/>
          </a:xfrm>
          <a:prstGeom prst="rect">
            <a:avLst/>
          </a:prstGeom>
          <a:noFill/>
        </p:spPr>
        <p:txBody>
          <a:bodyPr wrap="square" anchor="t" lIns="0" rIns="0" tIns="0" bIns="0">
            <a:spAutoFit/>
          </a:bodyPr>
          <a:lstStyle/>
          <a:p>
            <a:pPr algn="l"/>
            <a:r>
              <a:rPr sz="950" b="0" i="0">
                <a:solidFill>
                  <a:srgbClr val="6B6690"/>
                </a:solidFill>
                <a:latin typeface="Calibri"/>
              </a:rPr>
              <a:t>the base every Q1 to Q2 rate divides by</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635000"/>
          </a:xfrm>
          <a:prstGeom prst="rect">
            <a:avLst/>
          </a:prstGeom>
          <a:noFill/>
        </p:spPr>
        <p:txBody>
          <a:bodyPr wrap="square" anchor="t" lIns="0" rIns="0" tIns="0" bIns="0">
            <a:spAutoFit/>
          </a:bodyPr>
          <a:lstStyle/>
          <a:p>
            <a:pPr algn="l"/>
            <a:r>
              <a:rPr sz="4000" b="0" i="0">
                <a:solidFill>
                  <a:srgbClr val="5B3FD6"/>
                </a:solidFill>
                <a:latin typeface="Georgia"/>
              </a:rPr>
              <a:t>the analyst</a:t>
            </a:r>
          </a:p>
        </p:txBody>
      </p:sp>
      <p:sp>
        <p:nvSpPr>
          <p:cNvPr id="14" name="TextBox 13"/>
          <p:cNvSpPr txBox="1"/>
          <p:nvPr/>
        </p:nvSpPr>
        <p:spPr>
          <a:xfrm>
            <a:off x="4332122" y="26283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WHO ASKS</a:t>
            </a:r>
          </a:p>
        </p:txBody>
      </p:sp>
      <p:sp>
        <p:nvSpPr>
          <p:cNvPr id="15" name="TextBox 14"/>
          <p:cNvSpPr txBox="1"/>
          <p:nvPr/>
        </p:nvSpPr>
        <p:spPr>
          <a:xfrm>
            <a:off x="4332122" y="2829560"/>
            <a:ext cx="3527450" cy="193421"/>
          </a:xfrm>
          <a:prstGeom prst="rect">
            <a:avLst/>
          </a:prstGeom>
          <a:noFill/>
        </p:spPr>
        <p:txBody>
          <a:bodyPr wrap="square" anchor="t" lIns="0" rIns="0" tIns="0" bIns="0">
            <a:spAutoFit/>
          </a:bodyPr>
          <a:lstStyle/>
          <a:p>
            <a:pPr algn="l"/>
            <a:r>
              <a:rPr sz="950" b="0" i="0">
                <a:solidFill>
                  <a:srgbClr val="6B6690"/>
                </a:solidFill>
                <a:latin typeface="Calibri"/>
              </a:rPr>
              <a:t>Anand's auditor, then Meera</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635000"/>
          </a:xfrm>
          <a:prstGeom prst="rect">
            <a:avLst/>
          </a:prstGeom>
          <a:noFill/>
        </p:spPr>
        <p:txBody>
          <a:bodyPr wrap="square" anchor="t" lIns="0" rIns="0" tIns="0" bIns="0">
            <a:spAutoFit/>
          </a:bodyPr>
          <a:lstStyle/>
          <a:p>
            <a:pPr algn="l"/>
            <a:r>
              <a:rPr sz="4000" b="0" i="0">
                <a:solidFill>
                  <a:srgbClr val="5B3FD6"/>
                </a:solidFill>
                <a:latin typeface="Georgia"/>
              </a:rPr>
              <a:t>half</a:t>
            </a:r>
          </a:p>
        </p:txBody>
      </p:sp>
      <p:sp>
        <p:nvSpPr>
          <p:cNvPr id="18" name="TextBox 17"/>
          <p:cNvSpPr txBox="1"/>
          <p:nvPr/>
        </p:nvSpPr>
        <p:spPr>
          <a:xfrm>
            <a:off x="8133892" y="26283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WHAT A WRONG BASE CAN COST</a:t>
            </a:r>
          </a:p>
        </p:txBody>
      </p:sp>
      <p:sp>
        <p:nvSpPr>
          <p:cNvPr id="19" name="TextBox 18"/>
          <p:cNvSpPr txBox="1"/>
          <p:nvPr/>
        </p:nvSpPr>
        <p:spPr>
          <a:xfrm>
            <a:off x="8133892" y="2829560"/>
            <a:ext cx="3527450" cy="193421"/>
          </a:xfrm>
          <a:prstGeom prst="rect">
            <a:avLst/>
          </a:prstGeom>
          <a:noFill/>
        </p:spPr>
        <p:txBody>
          <a:bodyPr wrap="square" anchor="t" lIns="0" rIns="0" tIns="0" bIns="0">
            <a:spAutoFit/>
          </a:bodyPr>
          <a:lstStyle/>
          <a:p>
            <a:pPr algn="l"/>
            <a:r>
              <a:rPr sz="950" b="0" i="0">
                <a:solidFill>
                  <a:srgbClr val="6B6690"/>
                </a:solidFill>
                <a:latin typeface="Calibri"/>
              </a:rPr>
              <a:t>the fall reported at half its size</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530352" y="3419856"/>
            <a:ext cx="11130991" cy="862584"/>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758952" y="362254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message-square_028dbd132a0a.png"/>
          <p:cNvPicPr>
            <a:picLocks noChangeAspect="1"/>
          </p:cNvPicPr>
          <p:nvPr/>
        </p:nvPicPr>
        <p:blipFill>
          <a:blip r:embed="rId4"/>
          <a:stretch>
            <a:fillRect/>
          </a:stretch>
        </p:blipFill>
        <p:spPr>
          <a:xfrm>
            <a:off x="868680" y="3732276"/>
            <a:ext cx="237744" cy="237744"/>
          </a:xfrm>
          <a:prstGeom prst="rect">
            <a:avLst/>
          </a:prstGeom>
        </p:spPr>
      </p:pic>
      <p:sp>
        <p:nvSpPr>
          <p:cNvPr id="24" name="TextBox 23"/>
          <p:cNvSpPr txBox="1"/>
          <p:nvPr/>
        </p:nvSpPr>
        <p:spPr>
          <a:xfrm>
            <a:off x="1399031" y="3566160"/>
            <a:ext cx="9987991" cy="160401"/>
          </a:xfrm>
          <a:prstGeom prst="rect">
            <a:avLst/>
          </a:prstGeom>
          <a:noFill/>
        </p:spPr>
        <p:txBody>
          <a:bodyPr wrap="square" anchor="t" lIns="0" rIns="0" tIns="0" bIns="0">
            <a:spAutoFit/>
          </a:bodyPr>
          <a:lstStyle/>
          <a:p>
            <a:pPr algn="l"/>
            <a:r>
              <a:rPr sz="750" b="1" i="0" spc="250">
                <a:solidFill>
                  <a:srgbClr val="D9A7FF"/>
                </a:solidFill>
                <a:latin typeface="Calibri"/>
              </a:rPr>
              <a:t>THE CLIENT ASKS</a:t>
            </a:r>
          </a:p>
        </p:txBody>
      </p:sp>
      <p:sp>
        <p:nvSpPr>
          <p:cNvPr id="25" name="TextBox 24"/>
          <p:cNvSpPr txBox="1"/>
          <p:nvPr/>
        </p:nvSpPr>
        <p:spPr>
          <a:xfrm>
            <a:off x="1399031" y="3785616"/>
            <a:ext cx="9987991" cy="423672"/>
          </a:xfrm>
          <a:prstGeom prst="rect">
            <a:avLst/>
          </a:prstGeom>
          <a:noFill/>
        </p:spPr>
        <p:txBody>
          <a:bodyPr wrap="square" anchor="t" lIns="0" rIns="0" tIns="0" bIns="0">
            <a:spAutoFit/>
          </a:bodyPr>
          <a:lstStyle/>
          <a:p>
            <a:r>
              <a:rPr sz="1500" b="0" i="0">
                <a:solidFill>
                  <a:srgbClr val="FFFFFF"/>
                </a:solidFill>
                <a:latin typeface="Calibri"/>
              </a:rPr>
              <a:t>Your pass reports zero rejects and every count lands. Is it finished?</a:t>
            </a:r>
          </a:p>
        </p:txBody>
      </p:sp>
      <p:sp>
        <p:nvSpPr>
          <p:cNvPr id="26" name="Oval 25"/>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40080"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reconciliation, skipped</a:t>
            </a:r>
          </a:p>
        </p:txBody>
      </p:sp>
      <p:sp>
        <p:nvSpPr>
          <p:cNvPr id="28" name="Oval 27"/>
          <p:cNvSpPr/>
          <p:nvPr/>
        </p:nvSpPr>
        <p:spPr>
          <a:xfrm>
            <a:off x="224799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2357723"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The pass that looks clean</a:t>
            </a:r>
          </a:p>
        </p:txBody>
      </p:sp>
      <p:sp>
        <p:nvSpPr>
          <p:cNvPr id="30" name="Oval 29"/>
          <p:cNvSpPr/>
          <p:nvPr/>
        </p:nvSpPr>
        <p:spPr>
          <a:xfrm>
            <a:off x="38736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3983355"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headline on too few orders</a:t>
            </a:r>
          </a:p>
        </p:txBody>
      </p:sp>
      <p:sp>
        <p:nvSpPr>
          <p:cNvPr id="32" name="TextBox 3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S12  ·  15 / 35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5  ·  KALPA GLOBAL CAPABILITY CENTRE</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A formula that ran clean and was wrong</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JPMorgan's own task force found a spreadsheet that never errored and halved a risk measure.</a:t>
            </a:r>
          </a:p>
        </p:txBody>
      </p:sp>
      <p:sp>
        <p:nvSpPr>
          <p:cNvPr id="10" name="Rounded Rectangle 9"/>
          <p:cNvSpPr/>
          <p:nvPr/>
        </p:nvSpPr>
        <p:spPr>
          <a:xfrm>
            <a:off x="530352" y="1956816"/>
            <a:ext cx="5474055" cy="2534412"/>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31519" y="215798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landmark_74597fd10b4b.png"/>
          <p:cNvPicPr>
            <a:picLocks noChangeAspect="1"/>
          </p:cNvPicPr>
          <p:nvPr/>
        </p:nvPicPr>
        <p:blipFill>
          <a:blip r:embed="rId4"/>
          <a:stretch>
            <a:fillRect/>
          </a:stretch>
        </p:blipFill>
        <p:spPr>
          <a:xfrm>
            <a:off x="841247" y="2267712"/>
            <a:ext cx="237744" cy="237744"/>
          </a:xfrm>
          <a:prstGeom prst="rect">
            <a:avLst/>
          </a:prstGeom>
        </p:spPr>
      </p:pic>
      <p:sp>
        <p:nvSpPr>
          <p:cNvPr id="13" name="TextBox 12"/>
          <p:cNvSpPr txBox="1"/>
          <p:nvPr/>
        </p:nvSpPr>
        <p:spPr>
          <a:xfrm>
            <a:off x="731519" y="2724912"/>
            <a:ext cx="5071719" cy="160401"/>
          </a:xfrm>
          <a:prstGeom prst="rect">
            <a:avLst/>
          </a:prstGeom>
          <a:noFill/>
        </p:spPr>
        <p:txBody>
          <a:bodyPr wrap="square" anchor="t" lIns="0" rIns="0" tIns="0" bIns="0">
            <a:spAutoFit/>
          </a:bodyPr>
          <a:lstStyle/>
          <a:p>
            <a:pPr algn="l"/>
            <a:r>
              <a:rPr sz="750" b="1" i="0" spc="250">
                <a:solidFill>
                  <a:srgbClr val="D9A7FF"/>
                </a:solidFill>
                <a:latin typeface="Calibri"/>
              </a:rPr>
              <a:t>JPMORGAN CHASE, 2012</a:t>
            </a:r>
          </a:p>
        </p:txBody>
      </p:sp>
      <p:sp>
        <p:nvSpPr>
          <p:cNvPr id="14" name="TextBox 13"/>
          <p:cNvSpPr txBox="1"/>
          <p:nvPr/>
        </p:nvSpPr>
        <p:spPr>
          <a:xfrm>
            <a:off x="731519" y="2962656"/>
            <a:ext cx="5071719" cy="267716"/>
          </a:xfrm>
          <a:prstGeom prst="rect">
            <a:avLst/>
          </a:prstGeom>
          <a:noFill/>
        </p:spPr>
        <p:txBody>
          <a:bodyPr wrap="square" anchor="t" lIns="0" rIns="0" tIns="0" bIns="0">
            <a:spAutoFit/>
          </a:bodyPr>
          <a:lstStyle/>
          <a:p>
            <a:pPr algn="l"/>
            <a:r>
              <a:rPr sz="1400" b="1" i="0">
                <a:solidFill>
                  <a:srgbClr val="FFFFFF"/>
                </a:solidFill>
                <a:latin typeface="Calibri"/>
              </a:rPr>
              <a:t>A sum where an average belonged</a:t>
            </a:r>
          </a:p>
        </p:txBody>
      </p:sp>
      <p:sp>
        <p:nvSpPr>
          <p:cNvPr id="15" name="TextBox 14"/>
          <p:cNvSpPr txBox="1"/>
          <p:nvPr/>
        </p:nvSpPr>
        <p:spPr>
          <a:xfrm>
            <a:off x="731519" y="3303524"/>
            <a:ext cx="5071719" cy="944626"/>
          </a:xfrm>
          <a:prstGeom prst="rect">
            <a:avLst/>
          </a:prstGeom>
          <a:noFill/>
        </p:spPr>
        <p:txBody>
          <a:bodyPr wrap="square" anchor="t" lIns="0" rIns="0" tIns="0" bIns="0">
            <a:spAutoFit/>
          </a:bodyPr>
          <a:lstStyle/>
          <a:p>
            <a:pPr algn="l"/>
            <a:r>
              <a:rPr sz="1100" b="0" i="0">
                <a:solidFill>
                  <a:srgbClr val="CFC9EE"/>
                </a:solidFill>
                <a:latin typeface="Calibri"/>
              </a:rPr>
              <a:t>A risk model run through spreadsheets "divided by their sum instead of their average", likely muting volatility, how far prices were shown to swing, by a factor of two, and lowering the VaR, the bank's estimate of a bad day's loss. Source: the task force report, January 2013, as quoted by The Baseline Scenario, 9 February 2013.</a:t>
            </a:r>
          </a:p>
        </p:txBody>
      </p:sp>
      <p:sp>
        <p:nvSpPr>
          <p:cNvPr id="16" name="Rounded Rectangle 15"/>
          <p:cNvSpPr/>
          <p:nvPr/>
        </p:nvSpPr>
        <p:spPr>
          <a:xfrm>
            <a:off x="6187287" y="1956816"/>
            <a:ext cx="5474055" cy="2534412"/>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6388455"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8" name="Picture 17" descr="trending-down_69bb86911a18.png"/>
          <p:cNvPicPr>
            <a:picLocks noChangeAspect="1"/>
          </p:cNvPicPr>
          <p:nvPr/>
        </p:nvPicPr>
        <p:blipFill>
          <a:blip r:embed="rId5"/>
          <a:stretch>
            <a:fillRect/>
          </a:stretch>
        </p:blipFill>
        <p:spPr>
          <a:xfrm>
            <a:off x="6498183" y="2267712"/>
            <a:ext cx="237744" cy="237744"/>
          </a:xfrm>
          <a:prstGeom prst="rect">
            <a:avLst/>
          </a:prstGeom>
        </p:spPr>
      </p:pic>
      <p:sp>
        <p:nvSpPr>
          <p:cNvPr id="19" name="TextBox 18"/>
          <p:cNvSpPr txBox="1"/>
          <p:nvPr/>
        </p:nvSpPr>
        <p:spPr>
          <a:xfrm>
            <a:off x="6388455" y="2724912"/>
            <a:ext cx="5071719" cy="160401"/>
          </a:xfrm>
          <a:prstGeom prst="rect">
            <a:avLst/>
          </a:prstGeom>
          <a:noFill/>
        </p:spPr>
        <p:txBody>
          <a:bodyPr wrap="square" anchor="t" lIns="0" rIns="0" tIns="0" bIns="0">
            <a:spAutoFit/>
          </a:bodyPr>
          <a:lstStyle/>
          <a:p>
            <a:pPr algn="l"/>
            <a:r>
              <a:rPr sz="750" b="1" i="0" spc="250">
                <a:solidFill>
                  <a:srgbClr val="5B3FD6"/>
                </a:solidFill>
                <a:latin typeface="Calibri"/>
              </a:rPr>
              <a:t>THE COST</a:t>
            </a:r>
          </a:p>
        </p:txBody>
      </p:sp>
      <p:sp>
        <p:nvSpPr>
          <p:cNvPr id="20" name="TextBox 19"/>
          <p:cNvSpPr txBox="1"/>
          <p:nvPr/>
        </p:nvSpPr>
        <p:spPr>
          <a:xfrm>
            <a:off x="6388455" y="2962656"/>
            <a:ext cx="5071719" cy="267716"/>
          </a:xfrm>
          <a:prstGeom prst="rect">
            <a:avLst/>
          </a:prstGeom>
          <a:noFill/>
        </p:spPr>
        <p:txBody>
          <a:bodyPr wrap="square" anchor="t" lIns="0" rIns="0" tIns="0" bIns="0">
            <a:spAutoFit/>
          </a:bodyPr>
          <a:lstStyle/>
          <a:p>
            <a:pPr algn="l"/>
            <a:r>
              <a:rPr sz="1400" b="1" i="0">
                <a:solidFill>
                  <a:srgbClr val="1A0F5C"/>
                </a:solidFill>
                <a:latin typeface="Calibri"/>
              </a:rPr>
              <a:t>$6.2 billion</a:t>
            </a:r>
          </a:p>
        </p:txBody>
      </p:sp>
      <p:sp>
        <p:nvSpPr>
          <p:cNvPr id="21" name="TextBox 20"/>
          <p:cNvSpPr txBox="1"/>
          <p:nvPr/>
        </p:nvSpPr>
        <p:spPr>
          <a:xfrm>
            <a:off x="6388455" y="3303524"/>
            <a:ext cx="5071719" cy="581406"/>
          </a:xfrm>
          <a:prstGeom prst="rect">
            <a:avLst/>
          </a:prstGeom>
          <a:noFill/>
        </p:spPr>
        <p:txBody>
          <a:bodyPr wrap="square" anchor="t" lIns="0" rIns="0" tIns="0" bIns="0">
            <a:spAutoFit/>
          </a:bodyPr>
          <a:lstStyle/>
          <a:p>
            <a:pPr algn="l"/>
            <a:r>
              <a:rPr sz="1100" b="0" i="0">
                <a:solidFill>
                  <a:srgbClr val="6B6690"/>
                </a:solidFill>
                <a:latin typeface="Calibri"/>
              </a:rPr>
              <a:t>The trading losses from what became known as the "London Whale" trades in the bank's Chief Investment Office. Source: FCA press release, 19 September 2013.</a:t>
            </a:r>
          </a:p>
        </p:txBody>
      </p:sp>
      <p:sp>
        <p:nvSpPr>
          <p:cNvPr id="22" name="Oval 2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40080"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reconciliation, skipped</a:t>
            </a:r>
          </a:p>
        </p:txBody>
      </p:sp>
      <p:sp>
        <p:nvSpPr>
          <p:cNvPr id="24" name="Oval 23"/>
          <p:cNvSpPr/>
          <p:nvPr/>
        </p:nvSpPr>
        <p:spPr>
          <a:xfrm>
            <a:off x="224799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2357723"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The pass that looks clean</a:t>
            </a:r>
          </a:p>
        </p:txBody>
      </p:sp>
      <p:sp>
        <p:nvSpPr>
          <p:cNvPr id="26" name="Oval 25"/>
          <p:cNvSpPr/>
          <p:nvPr/>
        </p:nvSpPr>
        <p:spPr>
          <a:xfrm>
            <a:off x="38736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3983355"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headline on too few orders</a:t>
            </a:r>
          </a:p>
        </p:txBody>
      </p:sp>
      <p:sp>
        <p:nvSpPr>
          <p:cNvPr id="28" name="TextBox 2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D13  ·  16 / 35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Zero rejects, and every count lands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Invented export: the most natural line of Python in the week, a try that sets a failure to zero.</a:t>
            </a:r>
          </a:p>
        </p:txBody>
      </p:sp>
      <p:sp>
        <p:nvSpPr>
          <p:cNvPr id="9" name="Rounded Rectangle 8"/>
          <p:cNvSpPr/>
          <p:nvPr/>
        </p:nvSpPr>
        <p:spPr>
          <a:xfrm>
            <a:off x="530352" y="1956816"/>
            <a:ext cx="11130991" cy="1719580"/>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208483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208483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208483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286000"/>
            <a:ext cx="10673791" cy="1317244"/>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def to_int_or_zero(v):</a:t>
            </a:r>
          </a:p>
          <a:p>
            <a:pPr>
              <a:spcAft>
                <a:spcPts val="200"/>
              </a:spcAft>
            </a:pPr>
            <a:r>
              <a:rPr sz="1400" b="0" i="0">
                <a:solidFill>
                  <a:srgbClr val="E4E1F1"/>
                </a:solidFill>
                <a:latin typeface="Consolas"/>
              </a:rPr>
              <a:t>    try:</a:t>
            </a:r>
          </a:p>
          <a:p>
            <a:pPr>
              <a:spcAft>
                <a:spcPts val="200"/>
              </a:spcAft>
            </a:pPr>
            <a:r>
              <a:rPr sz="1400" b="0" i="0">
                <a:solidFill>
                  <a:srgbClr val="E4E1F1"/>
                </a:solidFill>
                <a:latin typeface="Consolas"/>
              </a:rPr>
              <a:t>        return int(v)</a:t>
            </a:r>
          </a:p>
          <a:p>
            <a:pPr>
              <a:spcAft>
                <a:spcPts val="200"/>
              </a:spcAft>
            </a:pPr>
            <a:r>
              <a:rPr sz="1400" b="0" i="0">
                <a:solidFill>
                  <a:srgbClr val="E4E1F1"/>
                </a:solidFill>
                <a:latin typeface="Consolas"/>
              </a:rPr>
              <a:t>    except ValueError:</a:t>
            </a:r>
          </a:p>
          <a:p>
            <a:pPr>
              <a:spcAft>
                <a:spcPts val="200"/>
              </a:spcAft>
            </a:pPr>
            <a:r>
              <a:rPr sz="1400" b="0" i="0">
                <a:solidFill>
                  <a:srgbClr val="E4E1F1"/>
                </a:solidFill>
                <a:latin typeface="Consolas"/>
              </a:rPr>
              <a:t>        return 0          # the file now "converts" cleanly</a:t>
            </a:r>
          </a:p>
        </p:txBody>
      </p:sp>
      <p:sp>
        <p:nvSpPr>
          <p:cNvPr id="14" name="TextBox 13"/>
          <p:cNvSpPr txBox="1"/>
          <p:nvPr/>
        </p:nvSpPr>
        <p:spPr>
          <a:xfrm>
            <a:off x="530352" y="3840988"/>
            <a:ext cx="3527450" cy="571500"/>
          </a:xfrm>
          <a:prstGeom prst="rect">
            <a:avLst/>
          </a:prstGeom>
          <a:noFill/>
        </p:spPr>
        <p:txBody>
          <a:bodyPr wrap="square" anchor="t" lIns="0" rIns="0" tIns="0" bIns="0">
            <a:spAutoFit/>
          </a:bodyPr>
          <a:lstStyle/>
          <a:p>
            <a:pPr algn="l"/>
            <a:r>
              <a:rPr sz="3600" b="0" i="0">
                <a:solidFill>
                  <a:srgbClr val="5B3FD6"/>
                </a:solidFill>
                <a:latin typeface="Georgia"/>
              </a:rPr>
              <a:t>83</a:t>
            </a:r>
          </a:p>
        </p:txBody>
      </p:sp>
      <p:sp>
        <p:nvSpPr>
          <p:cNvPr id="15" name="TextBox 14"/>
          <p:cNvSpPr txBox="1"/>
          <p:nvPr/>
        </p:nvSpPr>
        <p:spPr>
          <a:xfrm>
            <a:off x="530352" y="4449064"/>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Q1 ORDERS</a:t>
            </a:r>
          </a:p>
        </p:txBody>
      </p:sp>
      <p:sp>
        <p:nvSpPr>
          <p:cNvPr id="16" name="TextBox 15"/>
          <p:cNvSpPr txBox="1"/>
          <p:nvPr/>
        </p:nvSpPr>
        <p:spPr>
          <a:xfrm>
            <a:off x="530352" y="4650232"/>
            <a:ext cx="3527450" cy="193421"/>
          </a:xfrm>
          <a:prstGeom prst="rect">
            <a:avLst/>
          </a:prstGeom>
          <a:noFill/>
        </p:spPr>
        <p:txBody>
          <a:bodyPr wrap="square" anchor="t" lIns="0" rIns="0" tIns="0" bIns="0">
            <a:spAutoFit/>
          </a:bodyPr>
          <a:lstStyle/>
          <a:p>
            <a:pPr algn="l"/>
            <a:r>
              <a:rPr sz="950" b="0" i="0">
                <a:solidFill>
                  <a:srgbClr val="6B6690"/>
                </a:solidFill>
                <a:latin typeface="Calibri"/>
              </a:rPr>
              <a:t>Finance: 83, invented</a:t>
            </a:r>
          </a:p>
        </p:txBody>
      </p:sp>
      <p:sp>
        <p:nvSpPr>
          <p:cNvPr id="17" name="Rectangle 16"/>
          <p:cNvSpPr/>
          <p:nvPr/>
        </p:nvSpPr>
        <p:spPr>
          <a:xfrm>
            <a:off x="530352" y="5029708"/>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332122" y="3840988"/>
            <a:ext cx="3527450" cy="571500"/>
          </a:xfrm>
          <a:prstGeom prst="rect">
            <a:avLst/>
          </a:prstGeom>
          <a:noFill/>
        </p:spPr>
        <p:txBody>
          <a:bodyPr wrap="square" anchor="t" lIns="0" rIns="0" tIns="0" bIns="0">
            <a:spAutoFit/>
          </a:bodyPr>
          <a:lstStyle/>
          <a:p>
            <a:pPr algn="l"/>
            <a:r>
              <a:rPr sz="3600" b="0" i="0">
                <a:solidFill>
                  <a:srgbClr val="5B3FD6"/>
                </a:solidFill>
                <a:latin typeface="Georgia"/>
              </a:rPr>
              <a:t>0</a:t>
            </a:r>
          </a:p>
        </p:txBody>
      </p:sp>
      <p:sp>
        <p:nvSpPr>
          <p:cNvPr id="19" name="TextBox 18"/>
          <p:cNvSpPr txBox="1"/>
          <p:nvPr/>
        </p:nvSpPr>
        <p:spPr>
          <a:xfrm>
            <a:off x="4332122" y="4449064"/>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REJECTS REPORTED</a:t>
            </a:r>
          </a:p>
        </p:txBody>
      </p:sp>
      <p:sp>
        <p:nvSpPr>
          <p:cNvPr id="20" name="TextBox 19"/>
          <p:cNvSpPr txBox="1"/>
          <p:nvPr/>
        </p:nvSpPr>
        <p:spPr>
          <a:xfrm>
            <a:off x="4332122" y="4650232"/>
            <a:ext cx="3527450" cy="193421"/>
          </a:xfrm>
          <a:prstGeom prst="rect">
            <a:avLst/>
          </a:prstGeom>
          <a:noFill/>
        </p:spPr>
        <p:txBody>
          <a:bodyPr wrap="square" anchor="t" lIns="0" rIns="0" tIns="0" bIns="0">
            <a:spAutoFit/>
          </a:bodyPr>
          <a:lstStyle/>
          <a:p>
            <a:pPr algn="l"/>
            <a:r>
              <a:rPr sz="950" b="0" i="0">
                <a:solidFill>
                  <a:srgbClr val="6B6690"/>
                </a:solidFill>
                <a:latin typeface="Calibri"/>
              </a:rPr>
              <a:t>the try swallowed every failure</a:t>
            </a:r>
          </a:p>
        </p:txBody>
      </p:sp>
      <p:sp>
        <p:nvSpPr>
          <p:cNvPr id="21" name="Rectangle 20"/>
          <p:cNvSpPr/>
          <p:nvPr/>
        </p:nvSpPr>
        <p:spPr>
          <a:xfrm>
            <a:off x="4332122" y="5029708"/>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133892" y="3840988"/>
            <a:ext cx="3527450" cy="571500"/>
          </a:xfrm>
          <a:prstGeom prst="rect">
            <a:avLst/>
          </a:prstGeom>
          <a:noFill/>
        </p:spPr>
        <p:txBody>
          <a:bodyPr wrap="square" anchor="t" lIns="0" rIns="0" tIns="0" bIns="0">
            <a:spAutoFit/>
          </a:bodyPr>
          <a:lstStyle/>
          <a:p>
            <a:pPr algn="l"/>
            <a:r>
              <a:rPr sz="3600" b="0" i="0">
                <a:solidFill>
                  <a:srgbClr val="5B3FD6"/>
                </a:solidFill>
                <a:latin typeface="Georgia"/>
              </a:rPr>
              <a:t>Rs 31,50,000</a:t>
            </a:r>
          </a:p>
        </p:txBody>
      </p:sp>
      <p:sp>
        <p:nvSpPr>
          <p:cNvPr id="23" name="TextBox 22"/>
          <p:cNvSpPr txBox="1"/>
          <p:nvPr/>
        </p:nvSpPr>
        <p:spPr>
          <a:xfrm>
            <a:off x="8133892" y="4449064"/>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Q1 AS SUMMED</a:t>
            </a:r>
          </a:p>
        </p:txBody>
      </p:sp>
      <p:sp>
        <p:nvSpPr>
          <p:cNvPr id="24" name="TextBox 23"/>
          <p:cNvSpPr txBox="1"/>
          <p:nvPr/>
        </p:nvSpPr>
        <p:spPr>
          <a:xfrm>
            <a:off x="8133892" y="4650232"/>
            <a:ext cx="3527450" cy="193421"/>
          </a:xfrm>
          <a:prstGeom prst="rect">
            <a:avLst/>
          </a:prstGeom>
          <a:noFill/>
        </p:spPr>
        <p:txBody>
          <a:bodyPr wrap="square" anchor="t" lIns="0" rIns="0" tIns="0" bIns="0">
            <a:spAutoFit/>
          </a:bodyPr>
          <a:lstStyle/>
          <a:p>
            <a:pPr algn="l"/>
            <a:r>
              <a:rPr sz="950" b="0" i="0">
                <a:solidFill>
                  <a:srgbClr val="6B6690"/>
                </a:solidFill>
                <a:latin typeface="Calibri"/>
              </a:rPr>
              <a:t>every row kept, invented</a:t>
            </a:r>
          </a:p>
        </p:txBody>
      </p:sp>
      <p:sp>
        <p:nvSpPr>
          <p:cNvPr id="25" name="Rectangle 24"/>
          <p:cNvSpPr/>
          <p:nvPr/>
        </p:nvSpPr>
        <p:spPr>
          <a:xfrm>
            <a:off x="8133892" y="5029708"/>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40080"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reconciliation, skipped</a:t>
            </a:r>
          </a:p>
        </p:txBody>
      </p:sp>
      <p:sp>
        <p:nvSpPr>
          <p:cNvPr id="28" name="Oval 27"/>
          <p:cNvSpPr/>
          <p:nvPr/>
        </p:nvSpPr>
        <p:spPr>
          <a:xfrm>
            <a:off x="224799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2357723"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The pass that looks clean</a:t>
            </a:r>
          </a:p>
        </p:txBody>
      </p:sp>
      <p:sp>
        <p:nvSpPr>
          <p:cNvPr id="30" name="Oval 29"/>
          <p:cNvSpPr/>
          <p:nvPr/>
        </p:nvSpPr>
        <p:spPr>
          <a:xfrm>
            <a:off x="38736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3983355"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headline on too few orders</a:t>
            </a:r>
          </a:p>
        </p:txBody>
      </p:sp>
      <p:sp>
        <p:nvSpPr>
          <p:cNvPr id="32" name="TextBox 3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S14  ·  17 / 35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Question: the rows reconcile, so what is left?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Input equals kept plus rejected, and the order counts match Finance's.</a:t>
            </a:r>
          </a:p>
        </p:txBody>
      </p:sp>
      <p:sp>
        <p:nvSpPr>
          <p:cNvPr id="9" name="Rounded Rectangle 8"/>
          <p:cNvSpPr/>
          <p:nvPr/>
        </p:nvSpPr>
        <p:spPr>
          <a:xfrm>
            <a:off x="530352" y="195681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624840"/>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Choose one: a) nothing, since every row is accounted for; b) the rupees against each control total; c) the median, since one large order may have gone; d) the dates, since the quarter may be cut wrong.</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reconciliation, skipped</a:t>
            </a:r>
          </a:p>
        </p:txBody>
      </p:sp>
      <p:sp>
        <p:nvSpPr>
          <p:cNvPr id="14" name="Oval 13"/>
          <p:cNvSpPr/>
          <p:nvPr/>
        </p:nvSpPr>
        <p:spPr>
          <a:xfrm>
            <a:off x="224799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357723"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The pass that looks clean</a:t>
            </a:r>
          </a:p>
        </p:txBody>
      </p:sp>
      <p:sp>
        <p:nvSpPr>
          <p:cNvPr id="16" name="Oval 15"/>
          <p:cNvSpPr/>
          <p:nvPr/>
        </p:nvSpPr>
        <p:spPr>
          <a:xfrm>
            <a:off x="38736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983355"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headline on too few orders</a:t>
            </a:r>
          </a:p>
        </p:txBody>
      </p:sp>
      <p:sp>
        <p:nvSpPr>
          <p:cNvPr id="18" name="TextBox 1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S15  ·  18 / 35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the rupees, and one quarter is short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Invented export: counts reconcile while rupees do not, and the gap is the value the try swallowed.</a:t>
            </a:r>
          </a:p>
        </p:txBody>
      </p:sp>
      <p:pic>
        <p:nvPicPr>
          <p:cNvPr id="9" name="mermaid diagram" descr="95f72f78b81ef260.png"/>
          <p:cNvPicPr>
            <a:picLocks noChangeAspect="1"/>
          </p:cNvPicPr>
          <p:nvPr/>
        </p:nvPicPr>
        <p:blipFill>
          <a:blip r:embed="rId5"/>
          <a:stretch>
            <a:fillRect/>
          </a:stretch>
        </p:blipFill>
        <p:spPr>
          <a:xfrm>
            <a:off x="1252385" y="1956816"/>
            <a:ext cx="9686925" cy="2471737"/>
          </a:xfrm>
          <a:prstGeom prst="rect">
            <a:avLst/>
          </a:prstGeom>
        </p:spPr>
      </p:pic>
      <p:sp>
        <p:nvSpPr>
          <p:cNvPr id="10" name="TextBox 9"/>
          <p:cNvSpPr txBox="1"/>
          <p:nvPr/>
        </p:nvSpPr>
        <p:spPr>
          <a:xfrm>
            <a:off x="530352" y="4574857"/>
            <a:ext cx="11130991" cy="495807"/>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With the base short by 21.3 percent, the note reports a fall of 17.5 percent where the books show 35.0.</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reconciliation, skipped</a:t>
            </a:r>
          </a:p>
        </p:txBody>
      </p:sp>
      <p:sp>
        <p:nvSpPr>
          <p:cNvPr id="13" name="Oval 12"/>
          <p:cNvSpPr/>
          <p:nvPr/>
        </p:nvSpPr>
        <p:spPr>
          <a:xfrm>
            <a:off x="224799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357723"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The pass that looks clean</a:t>
            </a:r>
          </a:p>
        </p:txBody>
      </p:sp>
      <p:sp>
        <p:nvSpPr>
          <p:cNvPr id="15" name="Oval 14"/>
          <p:cNvSpPr/>
          <p:nvPr/>
        </p:nvSpPr>
        <p:spPr>
          <a:xfrm>
            <a:off x="38736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983355"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headline on too few orders</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S16  ·  19 / 35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Four answers to a value that will not convert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Invented export, one value sized: what each option sends and what the checks then show.</a:t>
            </a:r>
          </a:p>
        </p:txBody>
      </p:sp>
      <p:graphicFrame>
        <p:nvGraphicFramePr>
          <p:cNvPr id="9" name="Table 8"/>
          <p:cNvGraphicFramePr>
            <a:graphicFrameLocks noGrp="1"/>
          </p:cNvGraphicFramePr>
          <p:nvPr/>
        </p:nvGraphicFramePr>
        <p:xfrm>
          <a:off x="530352" y="1956816"/>
          <a:ext cx="11130988" cy="1676400"/>
        </p:xfrm>
        <a:graphic>
          <a:graphicData uri="http://schemas.openxmlformats.org/drawingml/2006/table">
            <a:tbl>
              <a:tblPr firstRow="0" bandRow="0">
                <a:tableStyleId>{2D5ABB26-0587-4C30-8999-92F81FD0307C}</a:tableStyleId>
              </a:tblPr>
              <a:tblGrid>
                <a:gridCol w="3808137"/>
                <a:gridCol w="914400"/>
                <a:gridCol w="1449934"/>
                <a:gridCol w="1702438"/>
                <a:gridCol w="1702438"/>
                <a:gridCol w="1553641"/>
              </a:tblGrid>
              <a:tr h="335280">
                <a:tc>
                  <a:txBody>
                    <a:bodyPr/>
                    <a:lstStyle/>
                    <a:p>
                      <a:r>
                        <a:rPr sz="1250" b="1" i="0">
                          <a:solidFill>
                            <a:srgbClr val="FFFFFF"/>
                          </a:solidFill>
                          <a:latin typeface="Calibri"/>
                        </a:rPr>
                        <a:t>Option</a:t>
                      </a:r>
                    </a:p>
                  </a:txBody>
                  <a:tcPr marL="101600" marR="101600" marT="38100" marB="38100" anchor="ctr">
                    <a:solidFill>
                      <a:srgbClr val="1A0F5C"/>
                    </a:solidFill>
                  </a:tcPr>
                </a:tc>
                <a:tc>
                  <a:txBody>
                    <a:bodyPr/>
                    <a:lstStyle/>
                    <a:p>
                      <a:r>
                        <a:rPr sz="1250" b="1" i="0">
                          <a:solidFill>
                            <a:srgbClr val="FFFFFF"/>
                          </a:solidFill>
                          <a:latin typeface="Calibri"/>
                        </a:rPr>
                        <a:t>Minutes</a:t>
                      </a:r>
                    </a:p>
                  </a:txBody>
                  <a:tcPr marL="101600" marR="101600" marT="38100" marB="38100" anchor="ctr">
                    <a:solidFill>
                      <a:srgbClr val="1A0F5C"/>
                    </a:solidFill>
                  </a:tcPr>
                </a:tc>
                <a:tc>
                  <a:txBody>
                    <a:bodyPr/>
                    <a:lstStyle/>
                    <a:p>
                      <a:r>
                        <a:rPr sz="1250" b="1" i="0">
                          <a:solidFill>
                            <a:srgbClr val="FFFFFF"/>
                          </a:solidFill>
                          <a:latin typeface="Calibri"/>
                        </a:rPr>
                        <a:t>Log lines</a:t>
                      </a:r>
                    </a:p>
                  </a:txBody>
                  <a:tcPr marL="101600" marR="101600" marT="38100" marB="38100" anchor="ctr">
                    <a:solidFill>
                      <a:srgbClr val="1A0F5C"/>
                    </a:solidFill>
                  </a:tcPr>
                </a:tc>
                <a:tc>
                  <a:txBody>
                    <a:bodyPr/>
                    <a:lstStyle/>
                    <a:p>
                      <a:r>
                        <a:rPr sz="1250" b="1" i="0">
                          <a:solidFill>
                            <a:srgbClr val="FFFFFF"/>
                          </a:solidFill>
                          <a:latin typeface="Calibri"/>
                        </a:rPr>
                        <a:t>Count check</a:t>
                      </a:r>
                    </a:p>
                  </a:txBody>
                  <a:tcPr marL="101600" marR="101600" marT="38100" marB="38100" anchor="ctr">
                    <a:solidFill>
                      <a:srgbClr val="1A0F5C"/>
                    </a:solidFill>
                  </a:tcPr>
                </a:tc>
                <a:tc>
                  <a:txBody>
                    <a:bodyPr/>
                    <a:lstStyle/>
                    <a:p>
                      <a:r>
                        <a:rPr sz="1250" b="1" i="0">
                          <a:solidFill>
                            <a:srgbClr val="FFFFFF"/>
                          </a:solidFill>
                          <a:latin typeface="Calibri"/>
                        </a:rPr>
                        <a:t>Rupee check</a:t>
                      </a:r>
                    </a:p>
                  </a:txBody>
                  <a:tcPr marL="101600" marR="101600" marT="38100" marB="38100" anchor="ctr">
                    <a:solidFill>
                      <a:srgbClr val="1A0F5C"/>
                    </a:solidFill>
                  </a:tcPr>
                </a:tc>
                <a:tc>
                  <a:txBody>
                    <a:bodyPr/>
                    <a:lstStyle/>
                    <a:p>
                      <a:r>
                        <a:rPr sz="1250" b="1" i="0">
                          <a:solidFill>
                            <a:srgbClr val="FFFFFF"/>
                          </a:solidFill>
                          <a:latin typeface="Calibri"/>
                        </a:rPr>
                        <a:t>Headline</a:t>
                      </a:r>
                    </a:p>
                  </a:txBody>
                  <a:tcPr marL="101600" marR="101600" marT="38100" marB="38100" anchor="ctr">
                    <a:solidFill>
                      <a:srgbClr val="1A0F5C"/>
                    </a:solidFill>
                  </a:tcPr>
                </a:tc>
              </a:tr>
              <a:tr h="335280">
                <a:tc>
                  <a:txBody>
                    <a:bodyPr/>
                    <a:lstStyle/>
                    <a:p>
                      <a:r>
                        <a:rPr sz="1200" b="0" i="0">
                          <a:solidFill>
                            <a:srgbClr val="1A1440"/>
                          </a:solidFill>
                          <a:latin typeface="Calibri"/>
                        </a:rPr>
                        <a:t>A. Zero in a try</a:t>
                      </a:r>
                    </a:p>
                  </a:txBody>
                  <a:tcPr marL="101600" marR="101600" marT="38100" marB="38100" anchor="ctr">
                    <a:solidFill>
                      <a:srgbClr val="FFFFFF"/>
                    </a:solidFill>
                  </a:tcPr>
                </a:tc>
                <a:tc>
                  <a:txBody>
                    <a:bodyPr/>
                    <a:lstStyle/>
                    <a:p>
                      <a:r>
                        <a:rPr sz="1200" b="0" i="0">
                          <a:solidFill>
                            <a:srgbClr val="1A1440"/>
                          </a:solidFill>
                          <a:latin typeface="Calibri"/>
                        </a:rPr>
                        <a:t>1</a:t>
                      </a:r>
                    </a:p>
                  </a:txBody>
                  <a:tcPr marL="101600" marR="101600" marT="38100" marB="38100" anchor="ctr">
                    <a:solidFill>
                      <a:srgbClr val="FFFFFF"/>
                    </a:solidFill>
                  </a:tcPr>
                </a:tc>
                <a:tc>
                  <a:txBody>
                    <a:bodyPr/>
                    <a:lstStyle/>
                    <a:p>
                      <a:r>
                        <a:rPr sz="1200" b="0" i="0">
                          <a:solidFill>
                            <a:srgbClr val="1A1440"/>
                          </a:solidFill>
                          <a:latin typeface="Calibri"/>
                        </a:rPr>
                        <a:t>0</a:t>
                      </a:r>
                    </a:p>
                  </a:txBody>
                  <a:tcPr marL="101600" marR="101600" marT="38100" marB="38100" anchor="ctr">
                    <a:solidFill>
                      <a:srgbClr val="FFFFFF"/>
                    </a:solidFill>
                  </a:tcPr>
                </a:tc>
                <a:tc>
                  <a:txBody>
                    <a:bodyPr/>
                    <a:lstStyle/>
                    <a:p>
                      <a:r>
                        <a:rPr sz="1200" b="0" i="0">
                          <a:solidFill>
                            <a:srgbClr val="1A1440"/>
                          </a:solidFill>
                          <a:latin typeface="Calibri"/>
                        </a:rPr>
                        <a:t>passes</a:t>
                      </a:r>
                    </a:p>
                  </a:txBody>
                  <a:tcPr marL="101600" marR="101600" marT="38100" marB="38100" anchor="ctr">
                    <a:solidFill>
                      <a:srgbClr val="FFFFFF"/>
                    </a:solidFill>
                  </a:tcPr>
                </a:tc>
                <a:tc>
                  <a:txBody>
                    <a:bodyPr/>
                    <a:lstStyle/>
                    <a:p>
                      <a:r>
                        <a:rPr sz="1200" b="0" i="0">
                          <a:solidFill>
                            <a:srgbClr val="1A1440"/>
                          </a:solidFill>
                          <a:latin typeface="Calibri"/>
                        </a:rPr>
                        <a:t>fails</a:t>
                      </a:r>
                    </a:p>
                  </a:txBody>
                  <a:tcPr marL="101600" marR="101600" marT="38100" marB="38100" anchor="ctr">
                    <a:solidFill>
                      <a:srgbClr val="FFFFFF"/>
                    </a:solidFill>
                  </a:tcPr>
                </a:tc>
                <a:tc>
                  <a:txBody>
                    <a:bodyPr/>
                    <a:lstStyle/>
                    <a:p>
                      <a:r>
                        <a:rPr sz="1200" b="0" i="0">
                          <a:solidFill>
                            <a:srgbClr val="1A1440"/>
                          </a:solidFill>
                          <a:latin typeface="Calibri"/>
                        </a:rPr>
                        <a:t>-17.5%</a:t>
                      </a:r>
                    </a:p>
                  </a:txBody>
                  <a:tcPr marL="101600" marR="101600" marT="38100" marB="38100" anchor="ctr">
                    <a:solidFill>
                      <a:srgbClr val="FFFFFF"/>
                    </a:solidFill>
                  </a:tcPr>
                </a:tc>
              </a:tr>
              <a:tr h="335280">
                <a:tc>
                  <a:txBody>
                    <a:bodyPr/>
                    <a:lstStyle/>
                    <a:p>
                      <a:r>
                        <a:rPr sz="1200" b="0" i="0">
                          <a:solidFill>
                            <a:srgbClr val="1A1440"/>
                          </a:solidFill>
                          <a:latin typeface="Calibri"/>
                        </a:rPr>
                        <a:t>B. Drop with a reason</a:t>
                      </a:r>
                    </a:p>
                  </a:txBody>
                  <a:tcPr marL="101600" marR="101600" marT="38100" marB="38100" anchor="ctr">
                    <a:solidFill>
                      <a:srgbClr val="F4F2FA"/>
                    </a:solidFill>
                  </a:tcPr>
                </a:tc>
                <a:tc>
                  <a:txBody>
                    <a:bodyPr/>
                    <a:lstStyle/>
                    <a:p>
                      <a:r>
                        <a:rPr sz="1200" b="0" i="0">
                          <a:solidFill>
                            <a:srgbClr val="1A1440"/>
                          </a:solidFill>
                          <a:latin typeface="Calibri"/>
                        </a:rPr>
                        <a:t>2</a:t>
                      </a:r>
                    </a:p>
                  </a:txBody>
                  <a:tcPr marL="101600" marR="101600" marT="38100" marB="38100" anchor="ctr">
                    <a:solidFill>
                      <a:srgbClr val="F4F2FA"/>
                    </a:solidFill>
                  </a:tcPr>
                </a:tc>
                <a:tc>
                  <a:txBody>
                    <a:bodyPr/>
                    <a:lstStyle/>
                    <a:p>
                      <a:r>
                        <a:rPr sz="1200" b="0" i="0">
                          <a:solidFill>
                            <a:srgbClr val="1A1440"/>
                          </a:solidFill>
                          <a:latin typeface="Calibri"/>
                        </a:rPr>
                        <a:t>1</a:t>
                      </a:r>
                    </a:p>
                  </a:txBody>
                  <a:tcPr marL="101600" marR="101600" marT="38100" marB="38100" anchor="ctr">
                    <a:solidFill>
                      <a:srgbClr val="F4F2FA"/>
                    </a:solidFill>
                  </a:tcPr>
                </a:tc>
                <a:tc>
                  <a:txBody>
                    <a:bodyPr/>
                    <a:lstStyle/>
                    <a:p>
                      <a:r>
                        <a:rPr sz="1200" b="0" i="0">
                          <a:solidFill>
                            <a:srgbClr val="1A1440"/>
                          </a:solidFill>
                          <a:latin typeface="Calibri"/>
                        </a:rPr>
                        <a:t>fails</a:t>
                      </a:r>
                    </a:p>
                  </a:txBody>
                  <a:tcPr marL="101600" marR="101600" marT="38100" marB="38100" anchor="ctr">
                    <a:solidFill>
                      <a:srgbClr val="F4F2FA"/>
                    </a:solidFill>
                  </a:tcPr>
                </a:tc>
                <a:tc>
                  <a:txBody>
                    <a:bodyPr/>
                    <a:lstStyle/>
                    <a:p>
                      <a:r>
                        <a:rPr sz="1200" b="0" i="0">
                          <a:solidFill>
                            <a:srgbClr val="1A1440"/>
                          </a:solidFill>
                          <a:latin typeface="Calibri"/>
                        </a:rPr>
                        <a:t>fails</a:t>
                      </a:r>
                    </a:p>
                  </a:txBody>
                  <a:tcPr marL="101600" marR="101600" marT="38100" marB="38100" anchor="ctr">
                    <a:solidFill>
                      <a:srgbClr val="F4F2FA"/>
                    </a:solidFill>
                  </a:tcPr>
                </a:tc>
                <a:tc>
                  <a:txBody>
                    <a:bodyPr/>
                    <a:lstStyle/>
                    <a:p>
                      <a:r>
                        <a:rPr sz="1200" b="0" i="0">
                          <a:solidFill>
                            <a:srgbClr val="1A1440"/>
                          </a:solidFill>
                          <a:latin typeface="Calibri"/>
                        </a:rPr>
                        <a:t>-17.5%</a:t>
                      </a:r>
                    </a:p>
                  </a:txBody>
                  <a:tcPr marL="101600" marR="101600" marT="38100" marB="38100" anchor="ctr">
                    <a:solidFill>
                      <a:srgbClr val="F4F2FA"/>
                    </a:solidFill>
                  </a:tcPr>
                </a:tc>
              </a:tr>
              <a:tr h="335280">
                <a:tc>
                  <a:txBody>
                    <a:bodyPr/>
                    <a:lstStyle/>
                    <a:p>
                      <a:r>
                        <a:rPr sz="1200" b="0" i="0">
                          <a:solidFill>
                            <a:srgbClr val="1A1440"/>
                          </a:solidFill>
                          <a:latin typeface="Calibri"/>
                        </a:rPr>
                        <a:t>C. Read, convert, keep and flag</a:t>
                      </a:r>
                    </a:p>
                  </a:txBody>
                  <a:tcPr marL="101600" marR="101600" marT="38100" marB="38100" anchor="ctr">
                    <a:solidFill>
                      <a:srgbClr val="FFFFFF"/>
                    </a:solidFill>
                  </a:tcPr>
                </a:tc>
                <a:tc>
                  <a:txBody>
                    <a:bodyPr/>
                    <a:lstStyle/>
                    <a:p>
                      <a:r>
                        <a:rPr sz="1200" b="0" i="0">
                          <a:solidFill>
                            <a:srgbClr val="1A1440"/>
                          </a:solidFill>
                          <a:latin typeface="Calibri"/>
                        </a:rPr>
                        <a:t>3</a:t>
                      </a:r>
                    </a:p>
                  </a:txBody>
                  <a:tcPr marL="101600" marR="101600" marT="38100" marB="38100" anchor="ctr">
                    <a:solidFill>
                      <a:srgbClr val="FFFFFF"/>
                    </a:solidFill>
                  </a:tcPr>
                </a:tc>
                <a:tc>
                  <a:txBody>
                    <a:bodyPr/>
                    <a:lstStyle/>
                    <a:p>
                      <a:r>
                        <a:rPr sz="1200" b="0" i="0">
                          <a:solidFill>
                            <a:srgbClr val="1A1440"/>
                          </a:solidFill>
                          <a:latin typeface="Calibri"/>
                        </a:rPr>
                        <a:t>1</a:t>
                      </a:r>
                    </a:p>
                  </a:txBody>
                  <a:tcPr marL="101600" marR="101600" marT="38100" marB="38100" anchor="ctr">
                    <a:solidFill>
                      <a:srgbClr val="FFFFFF"/>
                    </a:solidFill>
                  </a:tcPr>
                </a:tc>
                <a:tc>
                  <a:txBody>
                    <a:bodyPr/>
                    <a:lstStyle/>
                    <a:p>
                      <a:r>
                        <a:rPr sz="1200" b="0" i="0">
                          <a:solidFill>
                            <a:srgbClr val="1A1440"/>
                          </a:solidFill>
                          <a:latin typeface="Calibri"/>
                        </a:rPr>
                        <a:t>passes</a:t>
                      </a:r>
                    </a:p>
                  </a:txBody>
                  <a:tcPr marL="101600" marR="101600" marT="38100" marB="38100" anchor="ctr">
                    <a:solidFill>
                      <a:srgbClr val="FFFFFF"/>
                    </a:solidFill>
                  </a:tcPr>
                </a:tc>
                <a:tc>
                  <a:txBody>
                    <a:bodyPr/>
                    <a:lstStyle/>
                    <a:p>
                      <a:r>
                        <a:rPr sz="1200" b="0" i="0">
                          <a:solidFill>
                            <a:srgbClr val="1A1440"/>
                          </a:solidFill>
                          <a:latin typeface="Calibri"/>
                        </a:rPr>
                        <a:t>passes</a:t>
                      </a:r>
                    </a:p>
                  </a:txBody>
                  <a:tcPr marL="101600" marR="101600" marT="38100" marB="38100" anchor="ctr">
                    <a:solidFill>
                      <a:srgbClr val="FFFFFF"/>
                    </a:solidFill>
                  </a:tcPr>
                </a:tc>
                <a:tc>
                  <a:txBody>
                    <a:bodyPr/>
                    <a:lstStyle/>
                    <a:p>
                      <a:r>
                        <a:rPr sz="1200" b="0" i="0">
                          <a:solidFill>
                            <a:srgbClr val="1A1440"/>
                          </a:solidFill>
                          <a:latin typeface="Calibri"/>
                        </a:rPr>
                        <a:t>-35.0%</a:t>
                      </a:r>
                    </a:p>
                  </a:txBody>
                  <a:tcPr marL="101600" marR="101600" marT="38100" marB="38100" anchor="ctr">
                    <a:solidFill>
                      <a:srgbClr val="FFFFFF"/>
                    </a:solidFill>
                  </a:tcPr>
                </a:tc>
              </a:tr>
              <a:tr h="335280">
                <a:tc>
                  <a:txBody>
                    <a:bodyPr/>
                    <a:lstStyle/>
                    <a:p>
                      <a:r>
                        <a:rPr sz="1200" b="0" i="0">
                          <a:solidFill>
                            <a:srgbClr val="1A1440"/>
                          </a:solidFill>
                          <a:latin typeface="Calibri"/>
                        </a:rPr>
                        <a:t>D. Hold and ask the owner</a:t>
                      </a:r>
                    </a:p>
                  </a:txBody>
                  <a:tcPr marL="101600" marR="101600" marT="38100" marB="38100" anchor="ctr">
                    <a:solidFill>
                      <a:srgbClr val="F4F2FA"/>
                    </a:solidFill>
                  </a:tcPr>
                </a:tc>
                <a:tc>
                  <a:txBody>
                    <a:bodyPr/>
                    <a:lstStyle/>
                    <a:p>
                      <a:r>
                        <a:rPr sz="1200" b="0" i="0">
                          <a:solidFill>
                            <a:srgbClr val="1A1440"/>
                          </a:solidFill>
                          <a:latin typeface="Calibri"/>
                        </a:rPr>
                        <a:t>a wait</a:t>
                      </a:r>
                    </a:p>
                  </a:txBody>
                  <a:tcPr marL="101600" marR="101600" marT="38100" marB="38100" anchor="ctr">
                    <a:solidFill>
                      <a:srgbClr val="F4F2FA"/>
                    </a:solidFill>
                  </a:tcPr>
                </a:tc>
                <a:tc>
                  <a:txBody>
                    <a:bodyPr/>
                    <a:lstStyle/>
                    <a:p>
                      <a:r>
                        <a:rPr sz="1200" b="0" i="0">
                          <a:solidFill>
                            <a:srgbClr val="1A1440"/>
                          </a:solidFill>
                          <a:latin typeface="Calibri"/>
                        </a:rPr>
                        <a:t>1</a:t>
                      </a:r>
                    </a:p>
                  </a:txBody>
                  <a:tcPr marL="101600" marR="101600" marT="38100" marB="38100" anchor="ctr">
                    <a:solidFill>
                      <a:srgbClr val="F4F2FA"/>
                    </a:solidFill>
                  </a:tcPr>
                </a:tc>
                <a:tc>
                  <a:txBody>
                    <a:bodyPr/>
                    <a:lstStyle/>
                    <a:p>
                      <a:r>
                        <a:rPr sz="1200" b="0" i="0">
                          <a:solidFill>
                            <a:srgbClr val="1A1440"/>
                          </a:solidFill>
                          <a:latin typeface="Calibri"/>
                        </a:rPr>
                        <a:t>fails</a:t>
                      </a:r>
                    </a:p>
                  </a:txBody>
                  <a:tcPr marL="101600" marR="101600" marT="38100" marB="38100" anchor="ctr">
                    <a:solidFill>
                      <a:srgbClr val="F4F2FA"/>
                    </a:solidFill>
                  </a:tcPr>
                </a:tc>
                <a:tc>
                  <a:txBody>
                    <a:bodyPr/>
                    <a:lstStyle/>
                    <a:p>
                      <a:r>
                        <a:rPr sz="1200" b="0" i="0">
                          <a:solidFill>
                            <a:srgbClr val="1A1440"/>
                          </a:solidFill>
                          <a:latin typeface="Calibri"/>
                        </a:rPr>
                        <a:t>fails</a:t>
                      </a:r>
                    </a:p>
                  </a:txBody>
                  <a:tcPr marL="101600" marR="101600" marT="38100" marB="38100" anchor="ctr">
                    <a:solidFill>
                      <a:srgbClr val="F4F2FA"/>
                    </a:solidFill>
                  </a:tcPr>
                </a:tc>
                <a:tc>
                  <a:txBody>
                    <a:bodyPr/>
                    <a:lstStyle/>
                    <a:p>
                      <a:r>
                        <a:rPr sz="1200" b="0" i="0">
                          <a:solidFill>
                            <a:srgbClr val="1A1440"/>
                          </a:solidFill>
                          <a:latin typeface="Calibri"/>
                        </a:rPr>
                        <a:t>provisional</a:t>
                      </a:r>
                    </a:p>
                  </a:txBody>
                  <a:tcPr marL="101600" marR="101600" marT="38100" marB="38100" anchor="ctr">
                    <a:solidFill>
                      <a:srgbClr val="F4F2FA"/>
                    </a:solidFill>
                  </a:tcPr>
                </a:tc>
              </a:tr>
            </a:tbl>
          </a:graphicData>
        </a:graphic>
      </p:graphicFrame>
      <p:sp>
        <p:nvSpPr>
          <p:cNvPr id="10" name="Rounded Rectangle 9"/>
          <p:cNvSpPr/>
          <p:nvPr/>
        </p:nvSpPr>
        <p:spPr>
          <a:xfrm>
            <a:off x="530352" y="3889248"/>
            <a:ext cx="11130991" cy="138074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4351019"/>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list-checks_bd88901d2a37.png"/>
          <p:cNvPicPr>
            <a:picLocks noChangeAspect="1"/>
          </p:cNvPicPr>
          <p:nvPr/>
        </p:nvPicPr>
        <p:blipFill>
          <a:blip r:embed="rId4"/>
          <a:stretch>
            <a:fillRect/>
          </a:stretch>
        </p:blipFill>
        <p:spPr>
          <a:xfrm>
            <a:off x="868680" y="4460748"/>
            <a:ext cx="237744" cy="237744"/>
          </a:xfrm>
          <a:prstGeom prst="rect">
            <a:avLst/>
          </a:prstGeom>
        </p:spPr>
      </p:pic>
      <p:sp>
        <p:nvSpPr>
          <p:cNvPr id="13" name="TextBox 12"/>
          <p:cNvSpPr txBox="1"/>
          <p:nvPr/>
        </p:nvSpPr>
        <p:spPr>
          <a:xfrm>
            <a:off x="1399031" y="4035552"/>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THE RULE</a:t>
            </a:r>
          </a:p>
        </p:txBody>
      </p:sp>
      <p:sp>
        <p:nvSpPr>
          <p:cNvPr id="14" name="TextBox 13"/>
          <p:cNvSpPr txBox="1"/>
          <p:nvPr/>
        </p:nvSpPr>
        <p:spPr>
          <a:xfrm>
            <a:off x="1399031" y="4255008"/>
            <a:ext cx="9987991" cy="941832"/>
          </a:xfrm>
          <a:prstGeom prst="rect">
            <a:avLst/>
          </a:prstGeom>
          <a:noFill/>
        </p:spPr>
        <p:txBody>
          <a:bodyPr wrap="square" anchor="t" lIns="0" rIns="0" tIns="0" bIns="0">
            <a:spAutoFit/>
          </a:bodyPr>
          <a:lstStyle/>
          <a:p>
            <a:r>
              <a:rPr sz="1500" b="0" i="0">
                <a:solidFill>
                  <a:srgbClr val="1A1440"/>
                </a:solidFill>
                <a:latin typeface="Calibri"/>
              </a:rPr>
              <a:t>C, when the value can be read without guessing, as an amount exported with its paise, the invented export's 850000.00, can. D when it cannot: a word, a unit that could be lakh or crore. B when the row is not an order. A is the one option that hides its gap.</a:t>
            </a:r>
          </a:p>
        </p:txBody>
      </p:sp>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reconciliation, skipped</a:t>
            </a:r>
          </a:p>
        </p:txBody>
      </p:sp>
      <p:sp>
        <p:nvSpPr>
          <p:cNvPr id="17" name="Oval 16"/>
          <p:cNvSpPr/>
          <p:nvPr/>
        </p:nvSpPr>
        <p:spPr>
          <a:xfrm>
            <a:off x="224799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357723"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The pass that looks clean</a:t>
            </a:r>
          </a:p>
        </p:txBody>
      </p:sp>
      <p:sp>
        <p:nvSpPr>
          <p:cNvPr id="19" name="Oval 18"/>
          <p:cNvSpPr/>
          <p:nvPr/>
        </p:nvSpPr>
        <p:spPr>
          <a:xfrm>
            <a:off x="38736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983355"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headline on too few orders</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S17  ·  20 / 35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Three honest answers to a value that fails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Every branch leaves a log line and a number in the reconciliation.</a:t>
            </a:r>
          </a:p>
        </p:txBody>
      </p:sp>
      <p:pic>
        <p:nvPicPr>
          <p:cNvPr id="9" name="mermaid diagram" descr="9b4d3c5884cf6c9b.png"/>
          <p:cNvPicPr>
            <a:picLocks noChangeAspect="1"/>
          </p:cNvPicPr>
          <p:nvPr/>
        </p:nvPicPr>
        <p:blipFill>
          <a:blip r:embed="rId6"/>
          <a:stretch>
            <a:fillRect/>
          </a:stretch>
        </p:blipFill>
        <p:spPr>
          <a:xfrm>
            <a:off x="2676753" y="1664208"/>
            <a:ext cx="6838187" cy="2944368"/>
          </a:xfrm>
          <a:prstGeom prst="rect">
            <a:avLst/>
          </a:prstGeom>
        </p:spPr>
      </p:pic>
      <p:sp>
        <p:nvSpPr>
          <p:cNvPr id="10" name="Rounded Rectangle 9"/>
          <p:cNvSpPr/>
          <p:nvPr/>
        </p:nvSpPr>
        <p:spPr>
          <a:xfrm>
            <a:off x="530352" y="4654296"/>
            <a:ext cx="11130991" cy="138074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511606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mic_caee7398c80d.png"/>
          <p:cNvPicPr>
            <a:picLocks noChangeAspect="1"/>
          </p:cNvPicPr>
          <p:nvPr/>
        </p:nvPicPr>
        <p:blipFill>
          <a:blip r:embed="rId5"/>
          <a:stretch>
            <a:fillRect/>
          </a:stretch>
        </p:blipFill>
        <p:spPr>
          <a:xfrm>
            <a:off x="868680" y="5225796"/>
            <a:ext cx="237744" cy="237744"/>
          </a:xfrm>
          <a:prstGeom prst="rect">
            <a:avLst/>
          </a:prstGeom>
        </p:spPr>
      </p:pic>
      <p:sp>
        <p:nvSpPr>
          <p:cNvPr id="13" name="TextBox 12"/>
          <p:cNvSpPr txBox="1"/>
          <p:nvPr/>
        </p:nvSpPr>
        <p:spPr>
          <a:xfrm>
            <a:off x="1399031" y="4800600"/>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14" name="TextBox 13"/>
          <p:cNvSpPr txBox="1"/>
          <p:nvPr/>
        </p:nvSpPr>
        <p:spPr>
          <a:xfrm>
            <a:off x="1399031" y="5020056"/>
            <a:ext cx="9987991" cy="941832"/>
          </a:xfrm>
          <a:prstGeom prst="rect">
            <a:avLst/>
          </a:prstGeom>
          <a:noFill/>
        </p:spPr>
        <p:txBody>
          <a:bodyPr wrap="square" anchor="t" lIns="0" rIns="0" tIns="0" bIns="0">
            <a:spAutoFit/>
          </a:bodyPr>
          <a:lstStyle/>
          <a:p>
            <a:r>
              <a:rPr sz="1500" b="0" i="0">
                <a:solidFill>
                  <a:srgbClr val="1A1440"/>
                </a:solidFill>
                <a:latin typeface="Calibri"/>
              </a:rPr>
              <a:t>[S] Walk me through how you clean and check a dataset you have never seen. A zero-reject pass is a finding: check ids against rows, check what the code did with a value it could not read, and reconcile the rupees.</a:t>
            </a:r>
          </a:p>
        </p:txBody>
      </p:sp>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reconciliation, skipped</a:t>
            </a:r>
          </a:p>
        </p:txBody>
      </p:sp>
      <p:sp>
        <p:nvSpPr>
          <p:cNvPr id="17" name="Oval 16"/>
          <p:cNvSpPr/>
          <p:nvPr/>
        </p:nvSpPr>
        <p:spPr>
          <a:xfrm>
            <a:off x="224799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357723"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The pass that looks clean</a:t>
            </a:r>
          </a:p>
        </p:txBody>
      </p:sp>
      <p:sp>
        <p:nvSpPr>
          <p:cNvPr id="19" name="Oval 18"/>
          <p:cNvSpPr/>
          <p:nvPr/>
        </p:nvSpPr>
        <p:spPr>
          <a:xfrm>
            <a:off x="38736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983355"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headline on too few orders</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S18  ·  21 / 35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5  ·  KALPA GLOBAL CAPABILITY CENTRE</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The same shape one step later</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Invented export: a filter on the segment name never sees a row whose segment is empty.</a:t>
            </a:r>
          </a:p>
        </p:txBody>
      </p:sp>
      <p:pic>
        <p:nvPicPr>
          <p:cNvPr id="10" name="mermaid diagram" descr="e236f9c6a62015d1.png"/>
          <p:cNvPicPr>
            <a:picLocks noChangeAspect="1"/>
          </p:cNvPicPr>
          <p:nvPr/>
        </p:nvPicPr>
        <p:blipFill>
          <a:blip r:embed="rId6"/>
          <a:stretch>
            <a:fillRect/>
          </a:stretch>
        </p:blipFill>
        <p:spPr>
          <a:xfrm>
            <a:off x="3131191" y="1956816"/>
            <a:ext cx="5929312" cy="2043112"/>
          </a:xfrm>
          <a:prstGeom prst="rect">
            <a:avLst/>
          </a:prstGeom>
        </p:spPr>
      </p:pic>
      <p:sp>
        <p:nvSpPr>
          <p:cNvPr id="11" name="Rounded Rectangle 10"/>
          <p:cNvSpPr/>
          <p:nvPr/>
        </p:nvSpPr>
        <p:spPr>
          <a:xfrm>
            <a:off x="530352" y="4146232"/>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758952" y="447846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3" name="Picture 12" descr="list-checks_bd88901d2a37.png"/>
          <p:cNvPicPr>
            <a:picLocks noChangeAspect="1"/>
          </p:cNvPicPr>
          <p:nvPr/>
        </p:nvPicPr>
        <p:blipFill>
          <a:blip r:embed="rId5"/>
          <a:stretch>
            <a:fillRect/>
          </a:stretch>
        </p:blipFill>
        <p:spPr>
          <a:xfrm>
            <a:off x="868680" y="4588192"/>
            <a:ext cx="237744" cy="237744"/>
          </a:xfrm>
          <a:prstGeom prst="rect">
            <a:avLst/>
          </a:prstGeom>
        </p:spPr>
      </p:pic>
      <p:sp>
        <p:nvSpPr>
          <p:cNvPr id="14" name="TextBox 13"/>
          <p:cNvSpPr txBox="1"/>
          <p:nvPr/>
        </p:nvSpPr>
        <p:spPr>
          <a:xfrm>
            <a:off x="1399031" y="4292536"/>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THE RULE</a:t>
            </a:r>
          </a:p>
        </p:txBody>
      </p:sp>
      <p:sp>
        <p:nvSpPr>
          <p:cNvPr id="15" name="TextBox 14"/>
          <p:cNvSpPr txBox="1"/>
          <p:nvPr/>
        </p:nvSpPr>
        <p:spPr>
          <a:xfrm>
            <a:off x="1399031" y="4511992"/>
            <a:ext cx="9987991" cy="682752"/>
          </a:xfrm>
          <a:prstGeom prst="rect">
            <a:avLst/>
          </a:prstGeom>
          <a:noFill/>
        </p:spPr>
        <p:txBody>
          <a:bodyPr wrap="square" anchor="t" lIns="0" rIns="0" tIns="0" bIns="0">
            <a:spAutoFit/>
          </a:bodyPr>
          <a:lstStyle/>
          <a:p>
            <a:r>
              <a:rPr sz="1500" b="0" i="0">
                <a:solidFill>
                  <a:srgbClr val="1A1440"/>
                </a:solidFill>
                <a:latin typeface="Calibri"/>
              </a:rPr>
              <a:t>The segments add back to the quarter, in orders and in rupees, before any segment is read. On the invented export they fall one order short in Q1, and a segment that fell reads as a rise.</a:t>
            </a:r>
          </a:p>
        </p:txBody>
      </p:sp>
      <p:sp>
        <p:nvSpPr>
          <p:cNvPr id="16" name="Oval 15"/>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40080"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reconciliation, skipped</a:t>
            </a:r>
          </a:p>
        </p:txBody>
      </p:sp>
      <p:sp>
        <p:nvSpPr>
          <p:cNvPr id="18" name="Oval 17"/>
          <p:cNvSpPr/>
          <p:nvPr/>
        </p:nvSpPr>
        <p:spPr>
          <a:xfrm>
            <a:off x="224799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2357723"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The pass that looks clean</a:t>
            </a:r>
          </a:p>
        </p:txBody>
      </p:sp>
      <p:sp>
        <p:nvSpPr>
          <p:cNvPr id="20" name="Oval 19"/>
          <p:cNvSpPr/>
          <p:nvPr/>
        </p:nvSpPr>
        <p:spPr>
          <a:xfrm>
            <a:off x="38736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3983355"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headline on too few orders</a:t>
            </a:r>
          </a:p>
        </p:txBody>
      </p:sp>
      <p:sp>
        <p:nvSpPr>
          <p:cNvPr id="22" name="TextBox 2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D19  ·  22 / 35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second route: account for every value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Invented export: the rupee check finds the gap from outside the file; this finds it from inside.</a:t>
            </a:r>
          </a:p>
        </p:txBody>
      </p:sp>
      <p:pic>
        <p:nvPicPr>
          <p:cNvPr id="9" name="mermaid diagram" descr="3c683710ff587dd5.png"/>
          <p:cNvPicPr>
            <a:picLocks noChangeAspect="1"/>
          </p:cNvPicPr>
          <p:nvPr/>
        </p:nvPicPr>
        <p:blipFill>
          <a:blip r:embed="rId6"/>
          <a:stretch>
            <a:fillRect/>
          </a:stretch>
        </p:blipFill>
        <p:spPr>
          <a:xfrm>
            <a:off x="1909610" y="1956816"/>
            <a:ext cx="8372475" cy="2300287"/>
          </a:xfrm>
          <a:prstGeom prst="rect">
            <a:avLst/>
          </a:prstGeom>
        </p:spPr>
      </p:pic>
      <p:sp>
        <p:nvSpPr>
          <p:cNvPr id="10" name="Rounded Rectangle 9"/>
          <p:cNvSpPr/>
          <p:nvPr/>
        </p:nvSpPr>
        <p:spPr>
          <a:xfrm>
            <a:off x="530352" y="4403407"/>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4735639"/>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search-check_6571e64a041f.png"/>
          <p:cNvPicPr>
            <a:picLocks noChangeAspect="1"/>
          </p:cNvPicPr>
          <p:nvPr/>
        </p:nvPicPr>
        <p:blipFill>
          <a:blip r:embed="rId5"/>
          <a:stretch>
            <a:fillRect/>
          </a:stretch>
        </p:blipFill>
        <p:spPr>
          <a:xfrm>
            <a:off x="868680" y="4845367"/>
            <a:ext cx="237744" cy="237744"/>
          </a:xfrm>
          <a:prstGeom prst="rect">
            <a:avLst/>
          </a:prstGeom>
        </p:spPr>
      </p:pic>
      <p:sp>
        <p:nvSpPr>
          <p:cNvPr id="13" name="TextBox 12"/>
          <p:cNvSpPr txBox="1"/>
          <p:nvPr/>
        </p:nvSpPr>
        <p:spPr>
          <a:xfrm>
            <a:off x="1399031" y="4549711"/>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KAVYA'S REVIEW</a:t>
            </a:r>
          </a:p>
        </p:txBody>
      </p:sp>
      <p:sp>
        <p:nvSpPr>
          <p:cNvPr id="14" name="TextBox 13"/>
          <p:cNvSpPr txBox="1"/>
          <p:nvPr/>
        </p:nvSpPr>
        <p:spPr>
          <a:xfrm>
            <a:off x="1399031" y="4769167"/>
            <a:ext cx="9987991" cy="682752"/>
          </a:xfrm>
          <a:prstGeom prst="rect">
            <a:avLst/>
          </a:prstGeom>
          <a:noFill/>
        </p:spPr>
        <p:txBody>
          <a:bodyPr wrap="square" anchor="t" lIns="0" rIns="0" tIns="0" bIns="0">
            <a:spAutoFit/>
          </a:bodyPr>
          <a:lstStyle/>
          <a:p>
            <a:r>
              <a:rPr sz="1500" b="0" i="0">
                <a:solidFill>
                  <a:srgbClr val="1A1440"/>
                </a:solidFill>
                <a:latin typeface="Calibri"/>
              </a:rPr>
              <a:t>A count check proves the rows are there. Only a rupee check proves the values survived. Setting a value to zero claims the order was worth nothing, so that decision belongs in the log with a reason.</a:t>
            </a:r>
          </a:p>
        </p:txBody>
      </p:sp>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reconciliation, skipped</a:t>
            </a:r>
          </a:p>
        </p:txBody>
      </p:sp>
      <p:sp>
        <p:nvSpPr>
          <p:cNvPr id="17" name="Oval 16"/>
          <p:cNvSpPr/>
          <p:nvPr/>
        </p:nvSpPr>
        <p:spPr>
          <a:xfrm>
            <a:off x="224799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357723"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The pass that looks clean</a:t>
            </a:r>
          </a:p>
        </p:txBody>
      </p:sp>
      <p:sp>
        <p:nvSpPr>
          <p:cNvPr id="19" name="Oval 18"/>
          <p:cNvSpPr/>
          <p:nvPr/>
        </p:nvSpPr>
        <p:spPr>
          <a:xfrm>
            <a:off x="38736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983355" y="6437376"/>
            <a:ext cx="1654492" cy="152146"/>
          </a:xfrm>
          <a:prstGeom prst="rect">
            <a:avLst/>
          </a:prstGeom>
          <a:noFill/>
        </p:spPr>
        <p:txBody>
          <a:bodyPr wrap="square" anchor="t" lIns="0" rIns="0" tIns="0" bIns="0">
            <a:spAutoFit/>
          </a:bodyPr>
          <a:lstStyle/>
          <a:p>
            <a:pPr algn="l"/>
            <a:r>
              <a:rPr sz="700" b="0" i="0">
                <a:solidFill>
                  <a:srgbClr val="6B6690"/>
                </a:solidFill>
                <a:latin typeface="Calibri"/>
              </a:rPr>
              <a:t>The headline on too few orders</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S20  ·  23 / 35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03</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The headline on too few orders</a:t>
            </a:r>
          </a:p>
        </p:txBody>
      </p:sp>
      <p:sp>
        <p:nvSpPr>
          <p:cNvPr id="9" name="TextBox 8"/>
          <p:cNvSpPr txBox="1"/>
          <p:nvPr/>
        </p:nvSpPr>
        <p:spPr>
          <a:xfrm>
            <a:off x="731519" y="3520440"/>
            <a:ext cx="9509760" cy="284226"/>
          </a:xfrm>
          <a:prstGeom prst="rect">
            <a:avLst/>
          </a:prstGeom>
          <a:noFill/>
        </p:spPr>
        <p:txBody>
          <a:bodyPr wrap="square" anchor="t" lIns="0" rIns="0" tIns="0" bIns="0">
            <a:spAutoFit/>
          </a:bodyPr>
          <a:lstStyle/>
          <a:p>
            <a:pPr algn="l"/>
            <a:r>
              <a:rPr sz="1500" b="0" i="0">
                <a:solidFill>
                  <a:srgbClr val="E4E1F1"/>
                </a:solidFill>
                <a:latin typeface="Calibri"/>
              </a:rPr>
              <a:t>What can a handful of orders carry in the note's first line?</a:t>
            </a:r>
          </a:p>
        </p:txBody>
      </p:sp>
      <p:sp>
        <p:nvSpPr>
          <p:cNvPr id="10" name="Rounded Rectangle 9"/>
          <p:cNvSpPr/>
          <p:nvPr/>
        </p:nvSpPr>
        <p:spPr>
          <a:xfrm>
            <a:off x="731519" y="5074920"/>
            <a:ext cx="196459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reconciliation, skipped</a:t>
            </a:r>
          </a:p>
        </p:txBody>
      </p:sp>
      <p:sp>
        <p:nvSpPr>
          <p:cNvPr id="11" name="Rounded Rectangle 10"/>
          <p:cNvSpPr/>
          <p:nvPr/>
        </p:nvSpPr>
        <p:spPr>
          <a:xfrm>
            <a:off x="2805839" y="5074920"/>
            <a:ext cx="184615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pass that looks clean</a:t>
            </a:r>
          </a:p>
        </p:txBody>
      </p:sp>
      <p:sp>
        <p:nvSpPr>
          <p:cNvPr id="12" name="Rounded Rectangle 11"/>
          <p:cNvSpPr/>
          <p:nvPr/>
        </p:nvSpPr>
        <p:spPr>
          <a:xfrm>
            <a:off x="4761726" y="5074920"/>
            <a:ext cx="2142239"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The headline on too few orders</a:t>
            </a:r>
          </a:p>
        </p:txBody>
      </p:sp>
      <p:sp>
        <p:nvSpPr>
          <p:cNvPr id="13" name="TextBox 12"/>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1, Day 5. Where the room broke</a:t>
            </a:r>
          </a:p>
        </p:txBody>
      </p:sp>
      <p:sp>
        <p:nvSpPr>
          <p:cNvPr id="14" name="TextBox 1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24 / 35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Choosing which right number leads the note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data ties to the books. Which finding does Meera read first?</a:t>
            </a:r>
          </a:p>
        </p:txBody>
      </p:sp>
      <p:sp>
        <p:nvSpPr>
          <p:cNvPr id="9" name="TextBox 8"/>
          <p:cNvSpPr txBox="1"/>
          <p:nvPr/>
        </p:nvSpPr>
        <p:spPr>
          <a:xfrm>
            <a:off x="530352" y="1956816"/>
            <a:ext cx="3527450" cy="571500"/>
          </a:xfrm>
          <a:prstGeom prst="rect">
            <a:avLst/>
          </a:prstGeom>
          <a:noFill/>
        </p:spPr>
        <p:txBody>
          <a:bodyPr wrap="square" anchor="t" lIns="0" rIns="0" tIns="0" bIns="0">
            <a:spAutoFit/>
          </a:bodyPr>
          <a:lstStyle/>
          <a:p>
            <a:pPr algn="l"/>
            <a:r>
              <a:rPr sz="3600" b="0" i="0">
                <a:solidFill>
                  <a:srgbClr val="5B3FD6"/>
                </a:solidFill>
                <a:latin typeface="Georgia"/>
              </a:rPr>
              <a:t>Rs 17,22,520</a:t>
            </a:r>
          </a:p>
        </p:txBody>
      </p:sp>
      <p:sp>
        <p:nvSpPr>
          <p:cNvPr id="10" name="TextBox 9"/>
          <p:cNvSpPr txBox="1"/>
          <p:nvPr/>
        </p:nvSpPr>
        <p:spPr>
          <a:xfrm>
            <a:off x="530352" y="2564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THE FALL</a:t>
            </a:r>
          </a:p>
        </p:txBody>
      </p:sp>
      <p:sp>
        <p:nvSpPr>
          <p:cNvPr id="11" name="TextBox 10"/>
          <p:cNvSpPr txBox="1"/>
          <p:nvPr/>
        </p:nvSpPr>
        <p:spPr>
          <a:xfrm>
            <a:off x="530352" y="2766060"/>
            <a:ext cx="3527450" cy="193421"/>
          </a:xfrm>
          <a:prstGeom prst="rect">
            <a:avLst/>
          </a:prstGeom>
          <a:noFill/>
        </p:spPr>
        <p:txBody>
          <a:bodyPr wrap="square" anchor="t" lIns="0" rIns="0" tIns="0" bIns="0">
            <a:spAutoFit/>
          </a:bodyPr>
          <a:lstStyle/>
          <a:p>
            <a:pPr algn="l"/>
            <a:r>
              <a:rPr sz="950" b="0" i="0">
                <a:solidFill>
                  <a:srgbClr val="6B6690"/>
                </a:solidFill>
                <a:latin typeface="Calibri"/>
              </a:rPr>
              <a:t>Q1 to Q2, reconciled</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571500"/>
          </a:xfrm>
          <a:prstGeom prst="rect">
            <a:avLst/>
          </a:prstGeom>
          <a:noFill/>
        </p:spPr>
        <p:txBody>
          <a:bodyPr wrap="square" anchor="t" lIns="0" rIns="0" tIns="0" bIns="0">
            <a:spAutoFit/>
          </a:bodyPr>
          <a:lstStyle/>
          <a:p>
            <a:pPr algn="l"/>
            <a:r>
              <a:rPr sz="3600" b="0" i="0">
                <a:solidFill>
                  <a:srgbClr val="5B3FD6"/>
                </a:solidFill>
                <a:latin typeface="Georgia"/>
              </a:rPr>
              <a:t>four</a:t>
            </a:r>
          </a:p>
        </p:txBody>
      </p:sp>
      <p:sp>
        <p:nvSpPr>
          <p:cNvPr id="14" name="TextBox 13"/>
          <p:cNvSpPr txBox="1"/>
          <p:nvPr/>
        </p:nvSpPr>
        <p:spPr>
          <a:xfrm>
            <a:off x="4332122" y="2564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SEGMENTS</a:t>
            </a:r>
          </a:p>
        </p:txBody>
      </p:sp>
      <p:sp>
        <p:nvSpPr>
          <p:cNvPr id="15" name="TextBox 14"/>
          <p:cNvSpPr txBox="1"/>
          <p:nvPr/>
        </p:nvSpPr>
        <p:spPr>
          <a:xfrm>
            <a:off x="4332122" y="2766060"/>
            <a:ext cx="3527450" cy="193421"/>
          </a:xfrm>
          <a:prstGeom prst="rect">
            <a:avLst/>
          </a:prstGeom>
          <a:noFill/>
        </p:spPr>
        <p:txBody>
          <a:bodyPr wrap="square" anchor="t" lIns="0" rIns="0" tIns="0" bIns="0">
            <a:spAutoFit/>
          </a:bodyPr>
          <a:lstStyle/>
          <a:p>
            <a:pPr algn="l"/>
            <a:r>
              <a:rPr sz="950" b="0" i="0">
                <a:solidFill>
                  <a:srgbClr val="6B6690"/>
                </a:solidFill>
                <a:latin typeface="Calibri"/>
              </a:rPr>
              <a:t>each with its own count</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571500"/>
          </a:xfrm>
          <a:prstGeom prst="rect">
            <a:avLst/>
          </a:prstGeom>
          <a:noFill/>
        </p:spPr>
        <p:txBody>
          <a:bodyPr wrap="square" anchor="t" lIns="0" rIns="0" tIns="0" bIns="0">
            <a:spAutoFit/>
          </a:bodyPr>
          <a:lstStyle/>
          <a:p>
            <a:pPr algn="l"/>
            <a:r>
              <a:rPr sz="3600" b="0" i="0">
                <a:solidFill>
                  <a:srgbClr val="5B3FD6"/>
                </a:solidFill>
                <a:latin typeface="Georgia"/>
              </a:rPr>
              <a:t>one line</a:t>
            </a:r>
          </a:p>
        </p:txBody>
      </p:sp>
      <p:sp>
        <p:nvSpPr>
          <p:cNvPr id="18" name="TextBox 17"/>
          <p:cNvSpPr txBox="1"/>
          <p:nvPr/>
        </p:nvSpPr>
        <p:spPr>
          <a:xfrm>
            <a:off x="8133892" y="2564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WHAT MEERA ACTS ON</a:t>
            </a:r>
          </a:p>
        </p:txBody>
      </p:sp>
      <p:sp>
        <p:nvSpPr>
          <p:cNvPr id="19" name="TextBox 18"/>
          <p:cNvSpPr txBox="1"/>
          <p:nvPr/>
        </p:nvSpPr>
        <p:spPr>
          <a:xfrm>
            <a:off x="8133892" y="2766060"/>
            <a:ext cx="3527450" cy="193421"/>
          </a:xfrm>
          <a:prstGeom prst="rect">
            <a:avLst/>
          </a:prstGeom>
          <a:noFill/>
        </p:spPr>
        <p:txBody>
          <a:bodyPr wrap="square" anchor="t" lIns="0" rIns="0" tIns="0" bIns="0">
            <a:spAutoFit/>
          </a:bodyPr>
          <a:lstStyle/>
          <a:p>
            <a:pPr algn="l"/>
            <a:r>
              <a:rPr sz="950" b="0" i="0">
                <a:solidFill>
                  <a:srgbClr val="6B6690"/>
                </a:solidFill>
                <a:latin typeface="Calibri"/>
              </a:rPr>
              <a:t>the note's first</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530352" y="3419856"/>
            <a:ext cx="11130991" cy="862584"/>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758952" y="362254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message-square_028dbd132a0a.png"/>
          <p:cNvPicPr>
            <a:picLocks noChangeAspect="1"/>
          </p:cNvPicPr>
          <p:nvPr/>
        </p:nvPicPr>
        <p:blipFill>
          <a:blip r:embed="rId4"/>
          <a:stretch>
            <a:fillRect/>
          </a:stretch>
        </p:blipFill>
        <p:spPr>
          <a:xfrm>
            <a:off x="868680" y="3732276"/>
            <a:ext cx="237744" cy="237744"/>
          </a:xfrm>
          <a:prstGeom prst="rect">
            <a:avLst/>
          </a:prstGeom>
        </p:spPr>
      </p:pic>
      <p:sp>
        <p:nvSpPr>
          <p:cNvPr id="24" name="TextBox 23"/>
          <p:cNvSpPr txBox="1"/>
          <p:nvPr/>
        </p:nvSpPr>
        <p:spPr>
          <a:xfrm>
            <a:off x="1399031" y="3566160"/>
            <a:ext cx="9987991" cy="160401"/>
          </a:xfrm>
          <a:prstGeom prst="rect">
            <a:avLst/>
          </a:prstGeom>
          <a:noFill/>
        </p:spPr>
        <p:txBody>
          <a:bodyPr wrap="square" anchor="t" lIns="0" rIns="0" tIns="0" bIns="0">
            <a:spAutoFit/>
          </a:bodyPr>
          <a:lstStyle/>
          <a:p>
            <a:pPr algn="l"/>
            <a:r>
              <a:rPr sz="750" b="1" i="0" spc="250">
                <a:solidFill>
                  <a:srgbClr val="D9A7FF"/>
                </a:solidFill>
                <a:latin typeface="Calibri"/>
              </a:rPr>
              <a:t>THE CLIENT ASKS</a:t>
            </a:r>
          </a:p>
        </p:txBody>
      </p:sp>
      <p:sp>
        <p:nvSpPr>
          <p:cNvPr id="25" name="TextBox 24"/>
          <p:cNvSpPr txBox="1"/>
          <p:nvPr/>
        </p:nvSpPr>
        <p:spPr>
          <a:xfrm>
            <a:off x="1399031" y="3785616"/>
            <a:ext cx="9987991" cy="423672"/>
          </a:xfrm>
          <a:prstGeom prst="rect">
            <a:avLst/>
          </a:prstGeom>
          <a:noFill/>
        </p:spPr>
        <p:txBody>
          <a:bodyPr wrap="square" anchor="t" lIns="0" rIns="0" tIns="0" bIns="0">
            <a:spAutoFit/>
          </a:bodyPr>
          <a:lstStyle/>
          <a:p>
            <a:r>
              <a:rPr sz="1500" b="0" i="0">
                <a:solidFill>
                  <a:srgbClr val="FFFFFF"/>
                </a:solidFill>
                <a:latin typeface="Calibri"/>
              </a:rPr>
              <a:t>Which branch do I open first, and can I act on it on Monday?</a:t>
            </a:r>
          </a:p>
        </p:txBody>
      </p:sp>
      <p:sp>
        <p:nvSpPr>
          <p:cNvPr id="26" name="Oval 25"/>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40080"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reconciliation, skipped</a:t>
            </a:r>
          </a:p>
        </p:txBody>
      </p:sp>
      <p:sp>
        <p:nvSpPr>
          <p:cNvPr id="28" name="Oval 27"/>
          <p:cNvSpPr/>
          <p:nvPr/>
        </p:nvSpPr>
        <p:spPr>
          <a:xfrm>
            <a:off x="22479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2357723"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The pass that looks clean</a:t>
            </a:r>
          </a:p>
        </p:txBody>
      </p:sp>
      <p:sp>
        <p:nvSpPr>
          <p:cNvPr id="30" name="Oval 29"/>
          <p:cNvSpPr/>
          <p:nvPr/>
        </p:nvSpPr>
        <p:spPr>
          <a:xfrm>
            <a:off x="387362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3983355" y="6437376"/>
            <a:ext cx="1654492" cy="152146"/>
          </a:xfrm>
          <a:prstGeom prst="rect">
            <a:avLst/>
          </a:prstGeom>
          <a:noFill/>
        </p:spPr>
        <p:txBody>
          <a:bodyPr wrap="square" anchor="t" lIns="0" rIns="0" tIns="0" bIns="0">
            <a:spAutoFit/>
          </a:bodyPr>
          <a:lstStyle/>
          <a:p>
            <a:pPr algn="l"/>
            <a:r>
              <a:rPr sz="700" b="1" i="0">
                <a:solidFill>
                  <a:srgbClr val="5B3FD6"/>
                </a:solidFill>
                <a:latin typeface="Calibri"/>
              </a:rPr>
              <a:t>The headline on too few orders</a:t>
            </a:r>
          </a:p>
        </p:txBody>
      </p:sp>
      <p:sp>
        <p:nvSpPr>
          <p:cNvPr id="32" name="TextBox 3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S21  ·  25 / 35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5  ·  KALPA GLOBAL CAPABILITY CENTRE</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Two places that count before they rank</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A ratings site that will not rank a title on a few votes, and a foundation that did.</a:t>
            </a:r>
          </a:p>
        </p:txBody>
      </p:sp>
      <p:sp>
        <p:nvSpPr>
          <p:cNvPr id="10" name="Rounded Rectangle 9"/>
          <p:cNvSpPr/>
          <p:nvPr/>
        </p:nvSpPr>
        <p:spPr>
          <a:xfrm>
            <a:off x="530352" y="1956816"/>
            <a:ext cx="5474055" cy="234442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31519" y="215798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star_d3c4d302b189.png"/>
          <p:cNvPicPr>
            <a:picLocks noChangeAspect="1"/>
          </p:cNvPicPr>
          <p:nvPr/>
        </p:nvPicPr>
        <p:blipFill>
          <a:blip r:embed="rId4"/>
          <a:stretch>
            <a:fillRect/>
          </a:stretch>
        </p:blipFill>
        <p:spPr>
          <a:xfrm>
            <a:off x="841247" y="2267712"/>
            <a:ext cx="237744" cy="237744"/>
          </a:xfrm>
          <a:prstGeom prst="rect">
            <a:avLst/>
          </a:prstGeom>
        </p:spPr>
      </p:pic>
      <p:sp>
        <p:nvSpPr>
          <p:cNvPr id="13" name="TextBox 12"/>
          <p:cNvSpPr txBox="1"/>
          <p:nvPr/>
        </p:nvSpPr>
        <p:spPr>
          <a:xfrm>
            <a:off x="731519" y="2724912"/>
            <a:ext cx="5071719" cy="160401"/>
          </a:xfrm>
          <a:prstGeom prst="rect">
            <a:avLst/>
          </a:prstGeom>
          <a:noFill/>
        </p:spPr>
        <p:txBody>
          <a:bodyPr wrap="square" anchor="t" lIns="0" rIns="0" tIns="0" bIns="0">
            <a:spAutoFit/>
          </a:bodyPr>
          <a:lstStyle/>
          <a:p>
            <a:pPr algn="l"/>
            <a:r>
              <a:rPr sz="750" b="1" i="0" spc="250">
                <a:solidFill>
                  <a:srgbClr val="D9A7FF"/>
                </a:solidFill>
                <a:latin typeface="Calibri"/>
              </a:rPr>
              <a:t>IMDB TOP 250</a:t>
            </a:r>
          </a:p>
        </p:txBody>
      </p:sp>
      <p:sp>
        <p:nvSpPr>
          <p:cNvPr id="14" name="TextBox 13"/>
          <p:cNvSpPr txBox="1"/>
          <p:nvPr/>
        </p:nvSpPr>
        <p:spPr>
          <a:xfrm>
            <a:off x="731519" y="2962656"/>
            <a:ext cx="5071719" cy="267716"/>
          </a:xfrm>
          <a:prstGeom prst="rect">
            <a:avLst/>
          </a:prstGeom>
          <a:noFill/>
        </p:spPr>
        <p:txBody>
          <a:bodyPr wrap="square" anchor="t" lIns="0" rIns="0" tIns="0" bIns="0">
            <a:spAutoFit/>
          </a:bodyPr>
          <a:lstStyle/>
          <a:p>
            <a:pPr algn="l"/>
            <a:r>
              <a:rPr sz="1400" b="1" i="0">
                <a:solidFill>
                  <a:srgbClr val="FFFFFF"/>
                </a:solidFill>
                <a:latin typeface="Calibri"/>
              </a:rPr>
              <a:t>25,000 ratings first</a:t>
            </a:r>
          </a:p>
        </p:txBody>
      </p:sp>
      <p:sp>
        <p:nvSpPr>
          <p:cNvPr id="15" name="TextBox 14"/>
          <p:cNvSpPr txBox="1"/>
          <p:nvPr/>
        </p:nvSpPr>
        <p:spPr>
          <a:xfrm>
            <a:off x="731519" y="3303524"/>
            <a:ext cx="5071719" cy="581406"/>
          </a:xfrm>
          <a:prstGeom prst="rect">
            <a:avLst/>
          </a:prstGeom>
          <a:noFill/>
        </p:spPr>
        <p:txBody>
          <a:bodyPr wrap="square" anchor="t" lIns="0" rIns="0" tIns="0" bIns="0">
            <a:spAutoFit/>
          </a:bodyPr>
          <a:lstStyle/>
          <a:p>
            <a:pPr algn="l"/>
            <a:r>
              <a:rPr sz="1100" b="0" i="0">
                <a:solidFill>
                  <a:srgbClr val="CFC9EE"/>
                </a:solidFill>
                <a:latin typeface="Calibri"/>
              </a:rPr>
              <a:t>A title needs at least 25,000 ratings from regular voters, and the weighted rating pulls a title with few votes toward the average of all titles. Source: IMDb Help, ratings FAQ, updated 9 February 2026.</a:t>
            </a:r>
          </a:p>
        </p:txBody>
      </p:sp>
      <p:sp>
        <p:nvSpPr>
          <p:cNvPr id="16" name="Rounded Rectangle 15"/>
          <p:cNvSpPr/>
          <p:nvPr/>
        </p:nvSpPr>
        <p:spPr>
          <a:xfrm>
            <a:off x="6187287" y="1956816"/>
            <a:ext cx="5474055" cy="234442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6388455"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8" name="Picture 17" descr="school_d5d8d79ecd6b.png"/>
          <p:cNvPicPr>
            <a:picLocks noChangeAspect="1"/>
          </p:cNvPicPr>
          <p:nvPr/>
        </p:nvPicPr>
        <p:blipFill>
          <a:blip r:embed="rId5"/>
          <a:stretch>
            <a:fillRect/>
          </a:stretch>
        </p:blipFill>
        <p:spPr>
          <a:xfrm>
            <a:off x="6498183" y="2267712"/>
            <a:ext cx="237744" cy="237744"/>
          </a:xfrm>
          <a:prstGeom prst="rect">
            <a:avLst/>
          </a:prstGeom>
        </p:spPr>
      </p:pic>
      <p:sp>
        <p:nvSpPr>
          <p:cNvPr id="19" name="TextBox 18"/>
          <p:cNvSpPr txBox="1"/>
          <p:nvPr/>
        </p:nvSpPr>
        <p:spPr>
          <a:xfrm>
            <a:off x="6388455" y="2724912"/>
            <a:ext cx="5071719" cy="160401"/>
          </a:xfrm>
          <a:prstGeom prst="rect">
            <a:avLst/>
          </a:prstGeom>
          <a:noFill/>
        </p:spPr>
        <p:txBody>
          <a:bodyPr wrap="square" anchor="t" lIns="0" rIns="0" tIns="0" bIns="0">
            <a:spAutoFit/>
          </a:bodyPr>
          <a:lstStyle/>
          <a:p>
            <a:pPr algn="l"/>
            <a:r>
              <a:rPr sz="750" b="1" i="0" spc="250">
                <a:solidFill>
                  <a:srgbClr val="5B3FD6"/>
                </a:solidFill>
                <a:latin typeface="Calibri"/>
              </a:rPr>
              <a:t>SMALL SCHOOLS, A PUBLIC CASE</a:t>
            </a:r>
          </a:p>
        </p:txBody>
      </p:sp>
      <p:sp>
        <p:nvSpPr>
          <p:cNvPr id="20" name="TextBox 19"/>
          <p:cNvSpPr txBox="1"/>
          <p:nvPr/>
        </p:nvSpPr>
        <p:spPr>
          <a:xfrm>
            <a:off x="6388455" y="2962656"/>
            <a:ext cx="5071719" cy="267716"/>
          </a:xfrm>
          <a:prstGeom prst="rect">
            <a:avLst/>
          </a:prstGeom>
          <a:noFill/>
        </p:spPr>
        <p:txBody>
          <a:bodyPr wrap="square" anchor="t" lIns="0" rIns="0" tIns="0" bIns="0">
            <a:spAutoFit/>
          </a:bodyPr>
          <a:lstStyle/>
          <a:p>
            <a:pPr algn="l"/>
            <a:r>
              <a:rPr sz="1400" b="1" i="0">
                <a:solidFill>
                  <a:srgbClr val="1A0F5C"/>
                </a:solidFill>
                <a:latin typeface="Calibri"/>
              </a:rPr>
              <a:t>Best and worst, both small</a:t>
            </a:r>
          </a:p>
        </p:txBody>
      </p:sp>
      <p:sp>
        <p:nvSpPr>
          <p:cNvPr id="21" name="TextBox 20"/>
          <p:cNvSpPr txBox="1"/>
          <p:nvPr/>
        </p:nvSpPr>
        <p:spPr>
          <a:xfrm>
            <a:off x="6388455" y="3303524"/>
            <a:ext cx="5071719" cy="763016"/>
          </a:xfrm>
          <a:prstGeom prst="rect">
            <a:avLst/>
          </a:prstGeom>
          <a:noFill/>
        </p:spPr>
        <p:txBody>
          <a:bodyPr wrap="square" anchor="t" lIns="0" rIns="0" tIns="0" bIns="0">
            <a:spAutoFit/>
          </a:bodyPr>
          <a:lstStyle/>
          <a:p>
            <a:pPr algn="l"/>
            <a:r>
              <a:rPr sz="1100" b="0" i="0">
                <a:solidFill>
                  <a:srgbClr val="6B6690"/>
                </a:solidFill>
                <a:latin typeface="Calibri"/>
              </a:rPr>
              <a:t>Small schools are over-represented at both ends of the rankings because small samples vary more. Source: Howard Wainer, "The Most Dangerous Equation", in Picturing the Uncertain World, Princeton University Press, 2009.</a:t>
            </a:r>
          </a:p>
        </p:txBody>
      </p:sp>
      <p:sp>
        <p:nvSpPr>
          <p:cNvPr id="22" name="Oval 2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40080"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reconciliation, skipped</a:t>
            </a:r>
          </a:p>
        </p:txBody>
      </p:sp>
      <p:sp>
        <p:nvSpPr>
          <p:cNvPr id="24" name="Oval 23"/>
          <p:cNvSpPr/>
          <p:nvPr/>
        </p:nvSpPr>
        <p:spPr>
          <a:xfrm>
            <a:off x="22479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2357723"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The pass that looks clean</a:t>
            </a:r>
          </a:p>
        </p:txBody>
      </p:sp>
      <p:sp>
        <p:nvSpPr>
          <p:cNvPr id="26" name="Oval 25"/>
          <p:cNvSpPr/>
          <p:nvPr/>
        </p:nvSpPr>
        <p:spPr>
          <a:xfrm>
            <a:off x="387362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3983355" y="6437376"/>
            <a:ext cx="1654492" cy="152146"/>
          </a:xfrm>
          <a:prstGeom prst="rect">
            <a:avLst/>
          </a:prstGeom>
          <a:noFill/>
        </p:spPr>
        <p:txBody>
          <a:bodyPr wrap="square" anchor="t" lIns="0" rIns="0" tIns="0" bIns="0">
            <a:spAutoFit/>
          </a:bodyPr>
          <a:lstStyle/>
          <a:p>
            <a:pPr algn="l"/>
            <a:r>
              <a:rPr sz="700" b="1" i="0">
                <a:solidFill>
                  <a:srgbClr val="5B3FD6"/>
                </a:solidFill>
                <a:latin typeface="Calibri"/>
              </a:rPr>
              <a:t>The headline on too few orders</a:t>
            </a:r>
          </a:p>
        </p:txBody>
      </p:sp>
      <p:sp>
        <p:nvSpPr>
          <p:cNvPr id="28" name="TextBox 2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D22  ·  26 / 35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corporate book falls 36.3 percent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Invented export: true to the rupee, the biggest number on the page, and the headline a hurried note leads with.</a:t>
            </a:r>
          </a:p>
        </p:txBody>
      </p:sp>
      <p:sp>
        <p:nvSpPr>
          <p:cNvPr id="9" name="TextBox 8"/>
          <p:cNvSpPr txBox="1"/>
          <p:nvPr/>
        </p:nvSpPr>
        <p:spPr>
          <a:xfrm>
            <a:off x="530352" y="1956816"/>
            <a:ext cx="3527450" cy="571500"/>
          </a:xfrm>
          <a:prstGeom prst="rect">
            <a:avLst/>
          </a:prstGeom>
          <a:noFill/>
        </p:spPr>
        <p:txBody>
          <a:bodyPr wrap="square" anchor="t" lIns="0" rIns="0" tIns="0" bIns="0">
            <a:spAutoFit/>
          </a:bodyPr>
          <a:lstStyle/>
          <a:p>
            <a:pPr algn="l"/>
            <a:r>
              <a:rPr sz="3600" b="0" i="0">
                <a:solidFill>
                  <a:srgbClr val="5B3FD6"/>
                </a:solidFill>
                <a:latin typeface="Georgia"/>
              </a:rPr>
              <a:t>-36.3%</a:t>
            </a:r>
          </a:p>
        </p:txBody>
      </p:sp>
      <p:sp>
        <p:nvSpPr>
          <p:cNvPr id="10" name="TextBox 9"/>
          <p:cNvSpPr txBox="1"/>
          <p:nvPr/>
        </p:nvSpPr>
        <p:spPr>
          <a:xfrm>
            <a:off x="530352" y="2564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CORPORATE REVENUE</a:t>
            </a:r>
          </a:p>
        </p:txBody>
      </p:sp>
      <p:sp>
        <p:nvSpPr>
          <p:cNvPr id="11" name="TextBox 10"/>
          <p:cNvSpPr txBox="1"/>
          <p:nvPr/>
        </p:nvSpPr>
        <p:spPr>
          <a:xfrm>
            <a:off x="530352" y="2766060"/>
            <a:ext cx="3527450" cy="193421"/>
          </a:xfrm>
          <a:prstGeom prst="rect">
            <a:avLst/>
          </a:prstGeom>
          <a:noFill/>
        </p:spPr>
        <p:txBody>
          <a:bodyPr wrap="square" anchor="t" lIns="0" rIns="0" tIns="0" bIns="0">
            <a:spAutoFit/>
          </a:bodyPr>
          <a:lstStyle/>
          <a:p>
            <a:pPr algn="l"/>
            <a:r>
              <a:rPr sz="950" b="0" i="0">
                <a:solidFill>
                  <a:srgbClr val="6B6690"/>
                </a:solidFill>
                <a:latin typeface="Calibri"/>
              </a:rPr>
              <a:t>Q1 to Q2, invented</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571500"/>
          </a:xfrm>
          <a:prstGeom prst="rect">
            <a:avLst/>
          </a:prstGeom>
          <a:noFill/>
        </p:spPr>
        <p:txBody>
          <a:bodyPr wrap="square" anchor="t" lIns="0" rIns="0" tIns="0" bIns="0">
            <a:spAutoFit/>
          </a:bodyPr>
          <a:lstStyle/>
          <a:p>
            <a:pPr algn="l"/>
            <a:r>
              <a:rPr sz="3600" b="0" i="0">
                <a:solidFill>
                  <a:srgbClr val="5B3FD6"/>
                </a:solidFill>
                <a:latin typeface="Georgia"/>
              </a:rPr>
              <a:t>5 then 2</a:t>
            </a:r>
          </a:p>
        </p:txBody>
      </p:sp>
      <p:sp>
        <p:nvSpPr>
          <p:cNvPr id="14" name="TextBox 13"/>
          <p:cNvSpPr txBox="1"/>
          <p:nvPr/>
        </p:nvSpPr>
        <p:spPr>
          <a:xfrm>
            <a:off x="4332122" y="2564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ORDERS</a:t>
            </a:r>
          </a:p>
        </p:txBody>
      </p:sp>
      <p:sp>
        <p:nvSpPr>
          <p:cNvPr id="15" name="TextBox 14"/>
          <p:cNvSpPr txBox="1"/>
          <p:nvPr/>
        </p:nvSpPr>
        <p:spPr>
          <a:xfrm>
            <a:off x="4332122" y="2766060"/>
            <a:ext cx="3527450" cy="193421"/>
          </a:xfrm>
          <a:prstGeom prst="rect">
            <a:avLst/>
          </a:prstGeom>
          <a:noFill/>
        </p:spPr>
        <p:txBody>
          <a:bodyPr wrap="square" anchor="t" lIns="0" rIns="0" tIns="0" bIns="0">
            <a:spAutoFit/>
          </a:bodyPr>
          <a:lstStyle/>
          <a:p>
            <a:pPr algn="l"/>
            <a:r>
              <a:rPr sz="950" b="0" i="0">
                <a:solidFill>
                  <a:srgbClr val="6B6690"/>
                </a:solidFill>
                <a:latin typeface="Calibri"/>
              </a:rPr>
              <a:t>what the rate rests on, invented</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571500"/>
          </a:xfrm>
          <a:prstGeom prst="rect">
            <a:avLst/>
          </a:prstGeom>
          <a:noFill/>
        </p:spPr>
        <p:txBody>
          <a:bodyPr wrap="square" anchor="t" lIns="0" rIns="0" tIns="0" bIns="0">
            <a:spAutoFit/>
          </a:bodyPr>
          <a:lstStyle/>
          <a:p>
            <a:pPr algn="l"/>
            <a:r>
              <a:rPr sz="3600" b="0" i="0">
                <a:solidFill>
                  <a:srgbClr val="5B3FD6"/>
                </a:solidFill>
                <a:latin typeface="Georgia"/>
              </a:rPr>
              <a:t>Rs 13,88,200</a:t>
            </a:r>
          </a:p>
        </p:txBody>
      </p:sp>
      <p:sp>
        <p:nvSpPr>
          <p:cNvPr id="18" name="TextBox 17"/>
          <p:cNvSpPr txBox="1"/>
          <p:nvPr/>
        </p:nvSpPr>
        <p:spPr>
          <a:xfrm>
            <a:off x="8133892" y="2564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THE FALL IT CARRIES</a:t>
            </a:r>
          </a:p>
        </p:txBody>
      </p:sp>
      <p:sp>
        <p:nvSpPr>
          <p:cNvPr id="19" name="TextBox 18"/>
          <p:cNvSpPr txBox="1"/>
          <p:nvPr/>
        </p:nvSpPr>
        <p:spPr>
          <a:xfrm>
            <a:off x="8133892" y="2766060"/>
            <a:ext cx="3527450" cy="193421"/>
          </a:xfrm>
          <a:prstGeom prst="rect">
            <a:avLst/>
          </a:prstGeom>
          <a:noFill/>
        </p:spPr>
        <p:txBody>
          <a:bodyPr wrap="square" anchor="t" lIns="0" rIns="0" tIns="0" bIns="0">
            <a:spAutoFit/>
          </a:bodyPr>
          <a:lstStyle/>
          <a:p>
            <a:pPr algn="l"/>
            <a:r>
              <a:rPr sz="950" b="0" i="0">
                <a:solidFill>
                  <a:srgbClr val="6B6690"/>
                </a:solidFill>
                <a:latin typeface="Calibri"/>
              </a:rPr>
              <a:t>99.2% of the quarter's, invented</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Oval 2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40080"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reconciliation, skipped</a:t>
            </a:r>
          </a:p>
        </p:txBody>
      </p:sp>
      <p:sp>
        <p:nvSpPr>
          <p:cNvPr id="23" name="Oval 22"/>
          <p:cNvSpPr/>
          <p:nvPr/>
        </p:nvSpPr>
        <p:spPr>
          <a:xfrm>
            <a:off x="22479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2357723"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The pass that looks clean</a:t>
            </a:r>
          </a:p>
        </p:txBody>
      </p:sp>
      <p:sp>
        <p:nvSpPr>
          <p:cNvPr id="25" name="Oval 24"/>
          <p:cNvSpPr/>
          <p:nvPr/>
        </p:nvSpPr>
        <p:spPr>
          <a:xfrm>
            <a:off x="387362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3983355" y="6437376"/>
            <a:ext cx="1654492" cy="152146"/>
          </a:xfrm>
          <a:prstGeom prst="rect">
            <a:avLst/>
          </a:prstGeom>
          <a:noFill/>
        </p:spPr>
        <p:txBody>
          <a:bodyPr wrap="square" anchor="t" lIns="0" rIns="0" tIns="0" bIns="0">
            <a:spAutoFit/>
          </a:bodyPr>
          <a:lstStyle/>
          <a:p>
            <a:pPr algn="l"/>
            <a:r>
              <a:rPr sz="700" b="1" i="0">
                <a:solidFill>
                  <a:srgbClr val="5B3FD6"/>
                </a:solidFill>
                <a:latin typeface="Calibri"/>
              </a:rPr>
              <a:t>The headline on too few orders</a:t>
            </a:r>
          </a:p>
        </p:txBody>
      </p:sp>
      <p:sp>
        <p:nvSpPr>
          <p:cNvPr id="27" name="TextBox 2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S23  ·  27 / 35</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Question: how does it enter the note?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Meera reads the first line and acts on it.</a:t>
            </a:r>
          </a:p>
        </p:txBody>
      </p:sp>
      <p:sp>
        <p:nvSpPr>
          <p:cNvPr id="9" name="Rounded Rectangle 8"/>
          <p:cNvSpPr/>
          <p:nvPr/>
        </p:nvSpPr>
        <p:spPr>
          <a:xfrm>
            <a:off x="530352" y="1956816"/>
            <a:ext cx="11130991" cy="13411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10850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1158240"/>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Choose one: a) as the headline trend, since it is the largest move in rupees on the page; b) as the headline, with a test's p-value printed beside the rate; c) left out of the note, since a handful of orders is too few to matter to anyone; d) as counts, the orders in each quarter, with a question to their owner.</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reconciliation, skipped</a:t>
            </a:r>
          </a:p>
        </p:txBody>
      </p:sp>
      <p:sp>
        <p:nvSpPr>
          <p:cNvPr id="14" name="Oval 13"/>
          <p:cNvSpPr/>
          <p:nvPr/>
        </p:nvSpPr>
        <p:spPr>
          <a:xfrm>
            <a:off x="22479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357723"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The pass that looks clean</a:t>
            </a:r>
          </a:p>
        </p:txBody>
      </p:sp>
      <p:sp>
        <p:nvSpPr>
          <p:cNvPr id="16" name="Oval 15"/>
          <p:cNvSpPr/>
          <p:nvPr/>
        </p:nvSpPr>
        <p:spPr>
          <a:xfrm>
            <a:off x="387362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983355" y="6437376"/>
            <a:ext cx="1654492" cy="152146"/>
          </a:xfrm>
          <a:prstGeom prst="rect">
            <a:avLst/>
          </a:prstGeom>
          <a:noFill/>
        </p:spPr>
        <p:txBody>
          <a:bodyPr wrap="square" anchor="t" lIns="0" rIns="0" tIns="0" bIns="0">
            <a:spAutoFit/>
          </a:bodyPr>
          <a:lstStyle/>
          <a:p>
            <a:pPr algn="l"/>
            <a:r>
              <a:rPr sz="700" b="1" i="0">
                <a:solidFill>
                  <a:srgbClr val="5B3FD6"/>
                </a:solidFill>
                <a:latin typeface="Calibri"/>
              </a:rPr>
              <a:t>The headline on too few orders</a:t>
            </a:r>
          </a:p>
        </p:txBody>
      </p:sp>
      <p:sp>
        <p:nvSpPr>
          <p:cNvPr id="18" name="TextBox 1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S24  ·  28 / 35</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count before rate, then choose the lead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Invented counts: seven orders split by coin flips come out at least as uneven as five and two in 45 percent of worlds.</a:t>
            </a:r>
          </a:p>
        </p:txBody>
      </p:sp>
      <p:pic>
        <p:nvPicPr>
          <p:cNvPr id="9" name="mermaid diagram" descr="0577f00dfd72043f.png"/>
          <p:cNvPicPr>
            <a:picLocks noChangeAspect="1"/>
          </p:cNvPicPr>
          <p:nvPr/>
        </p:nvPicPr>
        <p:blipFill>
          <a:blip r:embed="rId5"/>
          <a:stretch>
            <a:fillRect/>
          </a:stretch>
        </p:blipFill>
        <p:spPr>
          <a:xfrm>
            <a:off x="3566721" y="1682496"/>
            <a:ext cx="5058251" cy="4517136"/>
          </a:xfrm>
          <a:prstGeom prst="rect">
            <a:avLst/>
          </a:prstGeom>
        </p:spPr>
      </p:pic>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reconciliation, skipped</a:t>
            </a:r>
          </a:p>
        </p:txBody>
      </p:sp>
      <p:sp>
        <p:nvSpPr>
          <p:cNvPr id="12" name="Oval 11"/>
          <p:cNvSpPr/>
          <p:nvPr/>
        </p:nvSpPr>
        <p:spPr>
          <a:xfrm>
            <a:off x="22479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357723"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The pass that looks clean</a:t>
            </a:r>
          </a:p>
        </p:txBody>
      </p:sp>
      <p:sp>
        <p:nvSpPr>
          <p:cNvPr id="14" name="Oval 13"/>
          <p:cNvSpPr/>
          <p:nvPr/>
        </p:nvSpPr>
        <p:spPr>
          <a:xfrm>
            <a:off x="387362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983355" y="6437376"/>
            <a:ext cx="1654492" cy="152146"/>
          </a:xfrm>
          <a:prstGeom prst="rect">
            <a:avLst/>
          </a:prstGeom>
          <a:noFill/>
        </p:spPr>
        <p:txBody>
          <a:bodyPr wrap="square" anchor="t" lIns="0" rIns="0" tIns="0" bIns="0">
            <a:spAutoFit/>
          </a:bodyPr>
          <a:lstStyle/>
          <a:p>
            <a:pPr algn="l"/>
            <a:r>
              <a:rPr sz="700" b="1" i="0">
                <a:solidFill>
                  <a:srgbClr val="5B3FD6"/>
                </a:solidFill>
                <a:latin typeface="Calibri"/>
              </a:rPr>
              <a:t>The headline on too few orders</a:t>
            </a:r>
          </a:p>
        </p:txBody>
      </p:sp>
      <p:sp>
        <p:nvSpPr>
          <p:cNvPr id="16" name="TextBox 1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S25  ·  29 / 35</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Four ways to choose the lead, sized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This morning's file: what each option leads with, on how many orders, and how often chance alone produces it.</a:t>
            </a:r>
          </a:p>
        </p:txBody>
      </p:sp>
      <p:graphicFrame>
        <p:nvGraphicFramePr>
          <p:cNvPr id="9" name="Table 8"/>
          <p:cNvGraphicFramePr>
            <a:graphicFrameLocks noGrp="1"/>
          </p:cNvGraphicFramePr>
          <p:nvPr/>
        </p:nvGraphicFramePr>
        <p:xfrm>
          <a:off x="530352" y="1956816"/>
          <a:ext cx="11130988" cy="1676400"/>
        </p:xfrm>
        <a:graphic>
          <a:graphicData uri="http://schemas.openxmlformats.org/drawingml/2006/table">
            <a:tbl>
              <a:tblPr firstRow="0" bandRow="0">
                <a:tableStyleId>{2D5ABB26-0587-4C30-8999-92F81FD0307C}</a:tableStyleId>
              </a:tblPr>
              <a:tblGrid>
                <a:gridCol w="2447840"/>
                <a:gridCol w="3298298"/>
                <a:gridCol w="1767473"/>
                <a:gridCol w="2702977"/>
                <a:gridCol w="914400"/>
              </a:tblGrid>
              <a:tr h="335280">
                <a:tc>
                  <a:txBody>
                    <a:bodyPr/>
                    <a:lstStyle/>
                    <a:p>
                      <a:r>
                        <a:rPr sz="1250" b="1" i="0">
                          <a:solidFill>
                            <a:srgbClr val="FFFFFF"/>
                          </a:solidFill>
                          <a:latin typeface="Calibri"/>
                        </a:rPr>
                        <a:t>Option</a:t>
                      </a:r>
                    </a:p>
                  </a:txBody>
                  <a:tcPr marL="101600" marR="101600" marT="38100" marB="38100" anchor="ctr">
                    <a:solidFill>
                      <a:srgbClr val="1A0F5C"/>
                    </a:solidFill>
                  </a:tcPr>
                </a:tc>
                <a:tc>
                  <a:txBody>
                    <a:bodyPr/>
                    <a:lstStyle/>
                    <a:p>
                      <a:r>
                        <a:rPr sz="1250" b="1" i="0">
                          <a:solidFill>
                            <a:srgbClr val="FFFFFF"/>
                          </a:solidFill>
                          <a:latin typeface="Calibri"/>
                        </a:rPr>
                        <a:t>Leads with</a:t>
                      </a:r>
                    </a:p>
                  </a:txBody>
                  <a:tcPr marL="101600" marR="101600" marT="38100" marB="38100" anchor="ctr">
                    <a:solidFill>
                      <a:srgbClr val="1A0F5C"/>
                    </a:solidFill>
                  </a:tcPr>
                </a:tc>
                <a:tc>
                  <a:txBody>
                    <a:bodyPr/>
                    <a:lstStyle/>
                    <a:p>
                      <a:r>
                        <a:rPr sz="1250" b="1" i="0">
                          <a:solidFill>
                            <a:srgbClr val="FFFFFF"/>
                          </a:solidFill>
                          <a:latin typeface="Calibri"/>
                        </a:rPr>
                        <a:t>Orders</a:t>
                      </a:r>
                    </a:p>
                  </a:txBody>
                  <a:tcPr marL="101600" marR="101600" marT="38100" marB="38100" anchor="ctr">
                    <a:solidFill>
                      <a:srgbClr val="1A0F5C"/>
                    </a:solidFill>
                  </a:tcPr>
                </a:tc>
                <a:tc>
                  <a:txBody>
                    <a:bodyPr/>
                    <a:lstStyle/>
                    <a:p>
                      <a:r>
                        <a:rPr sz="1250" b="1" i="0">
                          <a:solidFill>
                            <a:srgbClr val="FFFFFF"/>
                          </a:solidFill>
                          <a:latin typeface="Calibri"/>
                        </a:rPr>
                        <a:t>Chance alone</a:t>
                      </a:r>
                    </a:p>
                  </a:txBody>
                  <a:tcPr marL="101600" marR="101600" marT="38100" marB="38100" anchor="ctr">
                    <a:solidFill>
                      <a:srgbClr val="1A0F5C"/>
                    </a:solidFill>
                  </a:tcPr>
                </a:tc>
                <a:tc>
                  <a:txBody>
                    <a:bodyPr/>
                    <a:lstStyle/>
                    <a:p>
                      <a:r>
                        <a:rPr sz="1250" b="1" i="0">
                          <a:solidFill>
                            <a:srgbClr val="FFFFFF"/>
                          </a:solidFill>
                          <a:latin typeface="Calibri"/>
                        </a:rPr>
                        <a:t>Minutes</a:t>
                      </a:r>
                    </a:p>
                  </a:txBody>
                  <a:tcPr marL="101600" marR="101600" marT="38100" marB="38100" anchor="ctr">
                    <a:solidFill>
                      <a:srgbClr val="1A0F5C"/>
                    </a:solidFill>
                  </a:tcPr>
                </a:tc>
              </a:tr>
              <a:tr h="335280">
                <a:tc>
                  <a:txBody>
                    <a:bodyPr/>
                    <a:lstStyle/>
                    <a:p>
                      <a:r>
                        <a:rPr sz="1200" b="0" i="0">
                          <a:solidFill>
                            <a:srgbClr val="1A1440"/>
                          </a:solidFill>
                          <a:latin typeface="Calibri"/>
                        </a:rPr>
                        <a:t>A. Biggest rupee move</a:t>
                      </a:r>
                    </a:p>
                  </a:txBody>
                  <a:tcPr marL="101600" marR="101600" marT="38100" marB="38100" anchor="ctr">
                    <a:solidFill>
                      <a:srgbClr val="FFFFFF"/>
                    </a:solidFill>
                  </a:tcPr>
                </a:tc>
                <a:tc>
                  <a:txBody>
                    <a:bodyPr/>
                    <a:lstStyle/>
                    <a:p>
                      <a:r>
                        <a:rPr sz="1200" b="0" i="0">
                          <a:solidFill>
                            <a:srgbClr val="1A1440"/>
                          </a:solidFill>
                          <a:latin typeface="Calibri"/>
                        </a:rPr>
                        <a:t>the corporate rate</a:t>
                      </a:r>
                    </a:p>
                  </a:txBody>
                  <a:tcPr marL="101600" marR="101600" marT="38100" marB="38100" anchor="ctr">
                    <a:solidFill>
                      <a:srgbClr val="FFFFFF"/>
                    </a:solidFill>
                  </a:tcPr>
                </a:tc>
                <a:tc>
                  <a:txBody>
                    <a:bodyPr/>
                    <a:lstStyle/>
                    <a:p>
                      <a:r>
                        <a:rPr sz="1200" b="0" i="0">
                          <a:solidFill>
                            <a:srgbClr val="1A1440"/>
                          </a:solidFill>
                          <a:latin typeface="Calibri"/>
                        </a:rPr>
                        <a:t>under thirty</a:t>
                      </a:r>
                    </a:p>
                  </a:txBody>
                  <a:tcPr marL="101600" marR="101600" marT="38100" marB="38100" anchor="ctr">
                    <a:solidFill>
                      <a:srgbClr val="FFFFFF"/>
                    </a:solidFill>
                  </a:tcPr>
                </a:tc>
                <a:tc>
                  <a:txBody>
                    <a:bodyPr/>
                    <a:lstStyle/>
                    <a:p>
                      <a:r>
                        <a:rPr sz="1200" b="0" i="0">
                          <a:solidFill>
                            <a:srgbClr val="1A1440"/>
                          </a:solidFill>
                          <a:latin typeface="Calibri"/>
                        </a:rPr>
                        <a:t>most coin-flip worlds</a:t>
                      </a:r>
                    </a:p>
                  </a:txBody>
                  <a:tcPr marL="101600" marR="101600" marT="38100" marB="38100" anchor="ctr">
                    <a:solidFill>
                      <a:srgbClr val="FFFFFF"/>
                    </a:solidFill>
                  </a:tcPr>
                </a:tc>
                <a:tc>
                  <a:txBody>
                    <a:bodyPr/>
                    <a:lstStyle/>
                    <a:p>
                      <a:r>
                        <a:rPr sz="1200" b="0" i="0">
                          <a:solidFill>
                            <a:srgbClr val="1A1440"/>
                          </a:solidFill>
                          <a:latin typeface="Calibri"/>
                        </a:rPr>
                        <a:t>5</a:t>
                      </a:r>
                    </a:p>
                  </a:txBody>
                  <a:tcPr marL="101600" marR="101600" marT="38100" marB="38100" anchor="ctr">
                    <a:solidFill>
                      <a:srgbClr val="FFFFFF"/>
                    </a:solidFill>
                  </a:tcPr>
                </a:tc>
              </a:tr>
              <a:tr h="335280">
                <a:tc>
                  <a:txBody>
                    <a:bodyPr/>
                    <a:lstStyle/>
                    <a:p>
                      <a:r>
                        <a:rPr sz="1200" b="0" i="0">
                          <a:solidFill>
                            <a:srgbClr val="1A1440"/>
                          </a:solidFill>
                          <a:latin typeface="Calibri"/>
                        </a:rPr>
                        <a:t>B. The total, unsplit</a:t>
                      </a:r>
                    </a:p>
                  </a:txBody>
                  <a:tcPr marL="101600" marR="101600" marT="38100" marB="38100" anchor="ctr">
                    <a:solidFill>
                      <a:srgbClr val="F4F2FA"/>
                    </a:solidFill>
                  </a:tcPr>
                </a:tc>
                <a:tc>
                  <a:txBody>
                    <a:bodyPr/>
                    <a:lstStyle/>
                    <a:p>
                      <a:r>
                        <a:rPr sz="1200" b="0" i="0">
                          <a:solidFill>
                            <a:srgbClr val="1A1440"/>
                          </a:solidFill>
                          <a:latin typeface="Calibri"/>
                        </a:rPr>
                        <a:t>revenue -28.5%</a:t>
                      </a:r>
                    </a:p>
                  </a:txBody>
                  <a:tcPr marL="101600" marR="101600" marT="38100" marB="38100" anchor="ctr">
                    <a:solidFill>
                      <a:srgbClr val="F4F2FA"/>
                    </a:solidFill>
                  </a:tcPr>
                </a:tc>
                <a:tc>
                  <a:txBody>
                    <a:bodyPr/>
                    <a:lstStyle/>
                    <a:p>
                      <a:r>
                        <a:rPr sz="1200" b="0" i="0">
                          <a:solidFill>
                            <a:srgbClr val="1A1440"/>
                          </a:solidFill>
                          <a:latin typeface="Calibri"/>
                        </a:rPr>
                        <a:t>197</a:t>
                      </a:r>
                    </a:p>
                  </a:txBody>
                  <a:tcPr marL="101600" marR="101600" marT="38100" marB="38100" anchor="ctr">
                    <a:solidFill>
                      <a:srgbClr val="F4F2FA"/>
                    </a:solidFill>
                  </a:tcPr>
                </a:tc>
                <a:tc>
                  <a:txBody>
                    <a:bodyPr/>
                    <a:lstStyle/>
                    <a:p>
                      <a:r>
                        <a:rPr sz="1200" b="0" i="0">
                          <a:solidFill>
                            <a:srgbClr val="1A1440"/>
                          </a:solidFill>
                          <a:latin typeface="Calibri"/>
                        </a:rPr>
                        <a:t>not asked</a:t>
                      </a:r>
                    </a:p>
                  </a:txBody>
                  <a:tcPr marL="101600" marR="101600" marT="38100" marB="38100" anchor="ctr">
                    <a:solidFill>
                      <a:srgbClr val="F4F2FA"/>
                    </a:solidFill>
                  </a:tcPr>
                </a:tc>
                <a:tc>
                  <a:txBody>
                    <a:bodyPr/>
                    <a:lstStyle/>
                    <a:p>
                      <a:r>
                        <a:rPr sz="1200" b="0" i="0">
                          <a:solidFill>
                            <a:srgbClr val="1A1440"/>
                          </a:solidFill>
                          <a:latin typeface="Calibri"/>
                        </a:rPr>
                        <a:t>2</a:t>
                      </a:r>
                    </a:p>
                  </a:txBody>
                  <a:tcPr marL="101600" marR="101600" marT="38100" marB="38100" anchor="ctr">
                    <a:solidFill>
                      <a:srgbClr val="F4F2FA"/>
                    </a:solidFill>
                  </a:tcPr>
                </a:tc>
              </a:tr>
              <a:tr h="335280">
                <a:tc>
                  <a:txBody>
                    <a:bodyPr/>
                    <a:lstStyle/>
                    <a:p>
                      <a:r>
                        <a:rPr sz="1200" b="0" i="0">
                          <a:solidFill>
                            <a:srgbClr val="1A1440"/>
                          </a:solidFill>
                          <a:latin typeface="Calibri"/>
                        </a:rPr>
                        <a:t>C. Count before rate</a:t>
                      </a:r>
                    </a:p>
                  </a:txBody>
                  <a:tcPr marL="101600" marR="101600" marT="38100" marB="38100" anchor="ctr">
                    <a:solidFill>
                      <a:srgbClr val="FFFFFF"/>
                    </a:solidFill>
                  </a:tcPr>
                </a:tc>
                <a:tc>
                  <a:txBody>
                    <a:bodyPr/>
                    <a:lstStyle/>
                    <a:p>
                      <a:r>
                        <a:rPr sz="1200" b="0" i="0">
                          <a:solidFill>
                            <a:srgbClr val="1A1440"/>
                          </a:solidFill>
                          <a:latin typeface="Calibri"/>
                        </a:rPr>
                        <a:t>Retail-Core basket -17.1%, Rs 15,400</a:t>
                      </a:r>
                    </a:p>
                  </a:txBody>
                  <a:tcPr marL="101600" marR="101600" marT="38100" marB="38100" anchor="ctr">
                    <a:solidFill>
                      <a:srgbClr val="FFFFFF"/>
                    </a:solidFill>
                  </a:tcPr>
                </a:tc>
                <a:tc>
                  <a:txBody>
                    <a:bodyPr/>
                    <a:lstStyle/>
                    <a:p>
                      <a:r>
                        <a:rPr sz="1200" b="0" i="0">
                          <a:solidFill>
                            <a:srgbClr val="1A1440"/>
                          </a:solidFill>
                          <a:latin typeface="Calibri"/>
                        </a:rPr>
                        <a:t>88</a:t>
                      </a:r>
                    </a:p>
                  </a:txBody>
                  <a:tcPr marL="101600" marR="101600" marT="38100" marB="38100" anchor="ctr">
                    <a:solidFill>
                      <a:srgbClr val="FFFFFF"/>
                    </a:solidFill>
                  </a:tcPr>
                </a:tc>
                <a:tc>
                  <a:txBody>
                    <a:bodyPr/>
                    <a:lstStyle/>
                    <a:p>
                      <a:r>
                        <a:rPr sz="1200" b="0" i="0">
                          <a:solidFill>
                            <a:srgbClr val="1A1440"/>
                          </a:solidFill>
                          <a:latin typeface="Calibri"/>
                        </a:rPr>
                        <a:t>0.006, quarters flipped</a:t>
                      </a:r>
                    </a:p>
                  </a:txBody>
                  <a:tcPr marL="101600" marR="101600" marT="38100" marB="38100" anchor="ctr">
                    <a:solidFill>
                      <a:srgbClr val="FFFFFF"/>
                    </a:solidFill>
                  </a:tcPr>
                </a:tc>
                <a:tc>
                  <a:txBody>
                    <a:bodyPr/>
                    <a:lstStyle/>
                    <a:p>
                      <a:r>
                        <a:rPr sz="1200" b="0" i="0">
                          <a:solidFill>
                            <a:srgbClr val="1A1440"/>
                          </a:solidFill>
                          <a:latin typeface="Calibri"/>
                        </a:rPr>
                        <a:t>15</a:t>
                      </a:r>
                    </a:p>
                  </a:txBody>
                  <a:tcPr marL="101600" marR="101600" marT="38100" marB="38100" anchor="ctr">
                    <a:solidFill>
                      <a:srgbClr val="FFFFFF"/>
                    </a:solidFill>
                  </a:tcPr>
                </a:tc>
              </a:tr>
              <a:tr h="335280">
                <a:tc>
                  <a:txBody>
                    <a:bodyPr/>
                    <a:lstStyle/>
                    <a:p>
                      <a:r>
                        <a:rPr sz="1200" b="0" i="0">
                          <a:solidFill>
                            <a:srgbClr val="1A1440"/>
                          </a:solidFill>
                          <a:latin typeface="Calibri"/>
                        </a:rPr>
                        <a:t>D. Test every segment, run</a:t>
                      </a:r>
                    </a:p>
                  </a:txBody>
                  <a:tcPr marL="101600" marR="101600" marT="38100" marB="38100" anchor="ctr">
                    <a:solidFill>
                      <a:srgbClr val="F4F2FA"/>
                    </a:solidFill>
                  </a:tcPr>
                </a:tc>
                <a:tc>
                  <a:txBody>
                    <a:bodyPr/>
                    <a:lstStyle/>
                    <a:p>
                      <a:r>
                        <a:rPr sz="1200" b="0" i="0">
                          <a:solidFill>
                            <a:srgbClr val="1A1440"/>
                          </a:solidFill>
                          <a:latin typeface="Calibri"/>
                        </a:rPr>
                        <a:t>the smallest of four p-values</a:t>
                      </a:r>
                    </a:p>
                  </a:txBody>
                  <a:tcPr marL="101600" marR="101600" marT="38100" marB="38100" anchor="ctr">
                    <a:solidFill>
                      <a:srgbClr val="F4F2FA"/>
                    </a:solidFill>
                  </a:tcPr>
                </a:tc>
                <a:tc>
                  <a:txBody>
                    <a:bodyPr/>
                    <a:lstStyle/>
                    <a:p>
                      <a:r>
                        <a:rPr sz="1200" b="0" i="0">
                          <a:solidFill>
                            <a:srgbClr val="1A1440"/>
                          </a:solidFill>
                          <a:latin typeface="Calibri"/>
                        </a:rPr>
                        <a:t>under thirty to 88</a:t>
                      </a:r>
                    </a:p>
                  </a:txBody>
                  <a:tcPr marL="101600" marR="101600" marT="38100" marB="38100" anchor="ctr">
                    <a:solidFill>
                      <a:srgbClr val="F4F2FA"/>
                    </a:solidFill>
                  </a:tcPr>
                </a:tc>
                <a:tc>
                  <a:txBody>
                    <a:bodyPr/>
                    <a:lstStyle/>
                    <a:p>
                      <a:r>
                        <a:rPr sz="1200" b="0" i="0">
                          <a:solidFill>
                            <a:srgbClr val="1A1440"/>
                          </a:solidFill>
                          <a:latin typeface="Calibri"/>
                        </a:rPr>
                        <a:t>0.006, one of four under 0.05</a:t>
                      </a:r>
                    </a:p>
                  </a:txBody>
                  <a:tcPr marL="101600" marR="101600" marT="38100" marB="38100" anchor="ctr">
                    <a:solidFill>
                      <a:srgbClr val="F4F2FA"/>
                    </a:solidFill>
                  </a:tcPr>
                </a:tc>
                <a:tc>
                  <a:txBody>
                    <a:bodyPr/>
                    <a:lstStyle/>
                    <a:p>
                      <a:r>
                        <a:rPr sz="1200" b="0" i="0">
                          <a:solidFill>
                            <a:srgbClr val="1A1440"/>
                          </a:solidFill>
                          <a:latin typeface="Calibri"/>
                        </a:rPr>
                        <a:t>45</a:t>
                      </a:r>
                    </a:p>
                  </a:txBody>
                  <a:tcPr marL="101600" marR="101600" marT="38100" marB="38100" anchor="ctr">
                    <a:solidFill>
                      <a:srgbClr val="F4F2FA"/>
                    </a:solidFill>
                  </a:tcPr>
                </a:tc>
              </a:tr>
            </a:tbl>
          </a:graphicData>
        </a:graphic>
      </p:graphicFrame>
      <p:sp>
        <p:nvSpPr>
          <p:cNvPr id="10" name="Rounded Rectangle 9"/>
          <p:cNvSpPr/>
          <p:nvPr/>
        </p:nvSpPr>
        <p:spPr>
          <a:xfrm>
            <a:off x="530352" y="3889248"/>
            <a:ext cx="11130991" cy="163982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4480560"/>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list-checks_bd88901d2a37.png"/>
          <p:cNvPicPr>
            <a:picLocks noChangeAspect="1"/>
          </p:cNvPicPr>
          <p:nvPr/>
        </p:nvPicPr>
        <p:blipFill>
          <a:blip r:embed="rId4"/>
          <a:stretch>
            <a:fillRect/>
          </a:stretch>
        </p:blipFill>
        <p:spPr>
          <a:xfrm>
            <a:off x="868680" y="4590288"/>
            <a:ext cx="237744" cy="237744"/>
          </a:xfrm>
          <a:prstGeom prst="rect">
            <a:avLst/>
          </a:prstGeom>
        </p:spPr>
      </p:pic>
      <p:sp>
        <p:nvSpPr>
          <p:cNvPr id="13" name="TextBox 12"/>
          <p:cNvSpPr txBox="1"/>
          <p:nvPr/>
        </p:nvSpPr>
        <p:spPr>
          <a:xfrm>
            <a:off x="1399031" y="4035552"/>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THE RULE</a:t>
            </a:r>
          </a:p>
        </p:txBody>
      </p:sp>
      <p:sp>
        <p:nvSpPr>
          <p:cNvPr id="14" name="TextBox 13"/>
          <p:cNvSpPr txBox="1"/>
          <p:nvPr/>
        </p:nvSpPr>
        <p:spPr>
          <a:xfrm>
            <a:off x="1399031" y="4255008"/>
            <a:ext cx="9987991" cy="1200912"/>
          </a:xfrm>
          <a:prstGeom prst="rect">
            <a:avLst/>
          </a:prstGeom>
          <a:noFill/>
        </p:spPr>
        <p:txBody>
          <a:bodyPr wrap="square" anchor="t" lIns="0" rIns="0" tIns="0" bIns="0">
            <a:spAutoFit/>
          </a:bodyPr>
          <a:lstStyle/>
          <a:p>
            <a:r>
              <a:rPr sz="1500" b="0" i="0">
                <a:solidFill>
                  <a:srgbClr val="1A1440"/>
                </a:solidFill>
                <a:latin typeface="Calibri"/>
              </a:rPr>
              <a:t>C: the one consumer move on enough orders to test, small in rupees (0.9 percent of the fall) and led beside the corporate move said as counts. Switch when Meera's question is about accounts rather than rates, when a segment carries hundreds of orders a quarter, or when a second quarter repeats the move.</a:t>
            </a:r>
          </a:p>
        </p:txBody>
      </p:sp>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reconciliation, skipped</a:t>
            </a:r>
          </a:p>
        </p:txBody>
      </p:sp>
      <p:sp>
        <p:nvSpPr>
          <p:cNvPr id="17" name="Oval 16"/>
          <p:cNvSpPr/>
          <p:nvPr/>
        </p:nvSpPr>
        <p:spPr>
          <a:xfrm>
            <a:off x="22479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357723"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The pass that looks clean</a:t>
            </a:r>
          </a:p>
        </p:txBody>
      </p:sp>
      <p:sp>
        <p:nvSpPr>
          <p:cNvPr id="19" name="Oval 18"/>
          <p:cNvSpPr/>
          <p:nvPr/>
        </p:nvSpPr>
        <p:spPr>
          <a:xfrm>
            <a:off x="387362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983355" y="6437376"/>
            <a:ext cx="1654492" cy="152146"/>
          </a:xfrm>
          <a:prstGeom prst="rect">
            <a:avLst/>
          </a:prstGeom>
          <a:noFill/>
        </p:spPr>
        <p:txBody>
          <a:bodyPr wrap="square" anchor="t" lIns="0" rIns="0" tIns="0" bIns="0">
            <a:spAutoFit/>
          </a:bodyPr>
          <a:lstStyle/>
          <a:p>
            <a:pPr algn="l"/>
            <a:r>
              <a:rPr sz="700" b="1" i="0">
                <a:solidFill>
                  <a:srgbClr val="5B3FD6"/>
                </a:solidFill>
                <a:latin typeface="Calibri"/>
              </a:rPr>
              <a:t>The headline on too few orders</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S26  ·  30 / 35</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branch that moved, tested on its own customers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same 30 customers sit in both quarters, so each customer's own two quarters are flipped at random.</a:t>
            </a:r>
          </a:p>
        </p:txBody>
      </p:sp>
      <p:sp>
        <p:nvSpPr>
          <p:cNvPr id="9" name="TextBox 8"/>
          <p:cNvSpPr txBox="1"/>
          <p:nvPr/>
        </p:nvSpPr>
        <p:spPr>
          <a:xfrm>
            <a:off x="530352" y="1956816"/>
            <a:ext cx="3527450" cy="635000"/>
          </a:xfrm>
          <a:prstGeom prst="rect">
            <a:avLst/>
          </a:prstGeom>
          <a:noFill/>
        </p:spPr>
        <p:txBody>
          <a:bodyPr wrap="square" anchor="t" lIns="0" rIns="0" tIns="0" bIns="0">
            <a:spAutoFit/>
          </a:bodyPr>
          <a:lstStyle/>
          <a:p>
            <a:pPr algn="l"/>
            <a:r>
              <a:rPr sz="4000" b="0" i="0">
                <a:solidFill>
                  <a:srgbClr val="5B3FD6"/>
                </a:solidFill>
                <a:latin typeface="Georgia"/>
              </a:rPr>
              <a:t>-17.1%</a:t>
            </a:r>
          </a:p>
        </p:txBody>
      </p:sp>
      <p:sp>
        <p:nvSpPr>
          <p:cNvPr id="10" name="TextBox 9"/>
          <p:cNvSpPr txBox="1"/>
          <p:nvPr/>
        </p:nvSpPr>
        <p:spPr>
          <a:xfrm>
            <a:off x="530352" y="26283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REVENUE PER ORDER</a:t>
            </a:r>
          </a:p>
        </p:txBody>
      </p:sp>
      <p:sp>
        <p:nvSpPr>
          <p:cNvPr id="11" name="TextBox 10"/>
          <p:cNvSpPr txBox="1"/>
          <p:nvPr/>
        </p:nvSpPr>
        <p:spPr>
          <a:xfrm>
            <a:off x="530352" y="2829560"/>
            <a:ext cx="3527450" cy="193421"/>
          </a:xfrm>
          <a:prstGeom prst="rect">
            <a:avLst/>
          </a:prstGeom>
          <a:noFill/>
        </p:spPr>
        <p:txBody>
          <a:bodyPr wrap="square" anchor="t" lIns="0" rIns="0" tIns="0" bIns="0">
            <a:spAutoFit/>
          </a:bodyPr>
          <a:lstStyle/>
          <a:p>
            <a:pPr algn="l"/>
            <a:r>
              <a:rPr sz="950" b="0" i="0">
                <a:solidFill>
                  <a:srgbClr val="6B6690"/>
                </a:solidFill>
                <a:latin typeface="Calibri"/>
              </a:rPr>
              <a:t>Retail-Core, Q1 to Q2</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635000"/>
          </a:xfrm>
          <a:prstGeom prst="rect">
            <a:avLst/>
          </a:prstGeom>
          <a:noFill/>
        </p:spPr>
        <p:txBody>
          <a:bodyPr wrap="square" anchor="t" lIns="0" rIns="0" tIns="0" bIns="0">
            <a:spAutoFit/>
          </a:bodyPr>
          <a:lstStyle/>
          <a:p>
            <a:pPr algn="l"/>
            <a:r>
              <a:rPr sz="4000" b="0" i="0">
                <a:solidFill>
                  <a:srgbClr val="5B3FD6"/>
                </a:solidFill>
                <a:latin typeface="Georgia"/>
              </a:rPr>
              <a:t>12 of 2,000</a:t>
            </a:r>
          </a:p>
        </p:txBody>
      </p:sp>
      <p:sp>
        <p:nvSpPr>
          <p:cNvPr id="14" name="TextBox 13"/>
          <p:cNvSpPr txBox="1"/>
          <p:nvPr/>
        </p:nvSpPr>
        <p:spPr>
          <a:xfrm>
            <a:off x="4332122" y="26283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FLIPPED WORLDS AS LARGE</a:t>
            </a:r>
          </a:p>
        </p:txBody>
      </p:sp>
      <p:sp>
        <p:nvSpPr>
          <p:cNvPr id="15" name="TextBox 14"/>
          <p:cNvSpPr txBox="1"/>
          <p:nvPr/>
        </p:nvSpPr>
        <p:spPr>
          <a:xfrm>
            <a:off x="4332122" y="2829560"/>
            <a:ext cx="3527450" cy="193421"/>
          </a:xfrm>
          <a:prstGeom prst="rect">
            <a:avLst/>
          </a:prstGeom>
          <a:noFill/>
        </p:spPr>
        <p:txBody>
          <a:bodyPr wrap="square" anchor="t" lIns="0" rIns="0" tIns="0" bIns="0">
            <a:spAutoFit/>
          </a:bodyPr>
          <a:lstStyle/>
          <a:p>
            <a:pPr algn="l"/>
            <a:r>
              <a:rPr sz="950" b="0" i="0">
                <a:solidFill>
                  <a:srgbClr val="6B6690"/>
                </a:solidFill>
                <a:latin typeface="Calibri"/>
              </a:rPr>
              <a:t>either direction, random.Random(7)</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635000"/>
          </a:xfrm>
          <a:prstGeom prst="rect">
            <a:avLst/>
          </a:prstGeom>
          <a:noFill/>
        </p:spPr>
        <p:txBody>
          <a:bodyPr wrap="square" anchor="t" lIns="0" rIns="0" tIns="0" bIns="0">
            <a:spAutoFit/>
          </a:bodyPr>
          <a:lstStyle/>
          <a:p>
            <a:pPr algn="l"/>
            <a:r>
              <a:rPr sz="4000" b="0" i="0">
                <a:solidFill>
                  <a:srgbClr val="5B3FD6"/>
                </a:solidFill>
                <a:latin typeface="Georgia"/>
              </a:rPr>
              <a:t>p = 0.006</a:t>
            </a:r>
          </a:p>
        </p:txBody>
      </p:sp>
      <p:sp>
        <p:nvSpPr>
          <p:cNvPr id="18" name="TextBox 17"/>
          <p:cNvSpPr txBox="1"/>
          <p:nvPr/>
        </p:nvSpPr>
        <p:spPr>
          <a:xfrm>
            <a:off x="8133892" y="26283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A SHARE OF CHANCE-ONLY WORLDS</a:t>
            </a:r>
          </a:p>
        </p:txBody>
      </p:sp>
      <p:sp>
        <p:nvSpPr>
          <p:cNvPr id="19" name="TextBox 18"/>
          <p:cNvSpPr txBox="1"/>
          <p:nvPr/>
        </p:nvSpPr>
        <p:spPr>
          <a:xfrm>
            <a:off x="8133892" y="2829560"/>
            <a:ext cx="3527450" cy="193421"/>
          </a:xfrm>
          <a:prstGeom prst="rect">
            <a:avLst/>
          </a:prstGeom>
          <a:noFill/>
        </p:spPr>
        <p:txBody>
          <a:bodyPr wrap="square" anchor="t" lIns="0" rIns="0" tIns="0" bIns="0">
            <a:spAutoFit/>
          </a:bodyPr>
          <a:lstStyle/>
          <a:p>
            <a:pPr algn="l"/>
            <a:r>
              <a:rPr sz="950" b="0" i="0">
                <a:solidFill>
                  <a:srgbClr val="6B6690"/>
                </a:solidFill>
                <a:latin typeface="Calibri"/>
              </a:rPr>
              <a:t>never the chance of being wrong</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530352" y="3419856"/>
            <a:ext cx="11130991" cy="138074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758952" y="388162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mic_caee7398c80d.png"/>
          <p:cNvPicPr>
            <a:picLocks noChangeAspect="1"/>
          </p:cNvPicPr>
          <p:nvPr/>
        </p:nvPicPr>
        <p:blipFill>
          <a:blip r:embed="rId4"/>
          <a:stretch>
            <a:fillRect/>
          </a:stretch>
        </p:blipFill>
        <p:spPr>
          <a:xfrm>
            <a:off x="868680" y="3991356"/>
            <a:ext cx="237744" cy="237744"/>
          </a:xfrm>
          <a:prstGeom prst="rect">
            <a:avLst/>
          </a:prstGeom>
        </p:spPr>
      </p:pic>
      <p:sp>
        <p:nvSpPr>
          <p:cNvPr id="24" name="TextBox 23"/>
          <p:cNvSpPr txBox="1"/>
          <p:nvPr/>
        </p:nvSpPr>
        <p:spPr>
          <a:xfrm>
            <a:off x="1399031" y="3566160"/>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25" name="TextBox 24"/>
          <p:cNvSpPr txBox="1"/>
          <p:nvPr/>
        </p:nvSpPr>
        <p:spPr>
          <a:xfrm>
            <a:off x="1399031" y="3785616"/>
            <a:ext cx="9987991" cy="941832"/>
          </a:xfrm>
          <a:prstGeom prst="rect">
            <a:avLst/>
          </a:prstGeom>
          <a:noFill/>
        </p:spPr>
        <p:txBody>
          <a:bodyPr wrap="square" anchor="t" lIns="0" rIns="0" tIns="0" bIns="0">
            <a:spAutoFit/>
          </a:bodyPr>
          <a:lstStyle/>
          <a:p>
            <a:r>
              <a:rPr sz="1500" b="0" i="0">
                <a:solidFill>
                  <a:srgbClr val="1A1440"/>
                </a:solidFill>
                <a:latin typeface="Calibri"/>
              </a:rPr>
              <a:t>[S] Tell me about an analysis you did: what did you find, and how sure are you? The claim with its count, the check that it ties to the books, a test that keeps each customer's two quarters together, and the caveat.</a:t>
            </a:r>
          </a:p>
        </p:txBody>
      </p:sp>
      <p:sp>
        <p:nvSpPr>
          <p:cNvPr id="26" name="Oval 25"/>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40080"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reconciliation, skipped</a:t>
            </a:r>
          </a:p>
        </p:txBody>
      </p:sp>
      <p:sp>
        <p:nvSpPr>
          <p:cNvPr id="28" name="Oval 27"/>
          <p:cNvSpPr/>
          <p:nvPr/>
        </p:nvSpPr>
        <p:spPr>
          <a:xfrm>
            <a:off x="22479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2357723"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The pass that looks clean</a:t>
            </a:r>
          </a:p>
        </p:txBody>
      </p:sp>
      <p:sp>
        <p:nvSpPr>
          <p:cNvPr id="30" name="Oval 29"/>
          <p:cNvSpPr/>
          <p:nvPr/>
        </p:nvSpPr>
        <p:spPr>
          <a:xfrm>
            <a:off x="387362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3983355" y="6437376"/>
            <a:ext cx="1654492" cy="152146"/>
          </a:xfrm>
          <a:prstGeom prst="rect">
            <a:avLst/>
          </a:prstGeom>
          <a:noFill/>
        </p:spPr>
        <p:txBody>
          <a:bodyPr wrap="square" anchor="t" lIns="0" rIns="0" tIns="0" bIns="0">
            <a:spAutoFit/>
          </a:bodyPr>
          <a:lstStyle/>
          <a:p>
            <a:pPr algn="l"/>
            <a:r>
              <a:rPr sz="700" b="1" i="0">
                <a:solidFill>
                  <a:srgbClr val="5B3FD6"/>
                </a:solidFill>
                <a:latin typeface="Calibri"/>
              </a:rPr>
              <a:t>The headline on too few orders</a:t>
            </a:r>
          </a:p>
        </p:txBody>
      </p:sp>
      <p:sp>
        <p:nvSpPr>
          <p:cNvPr id="32" name="TextBox 3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S27  ·  31 / 35</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second route: customer by customer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Of Retail-Core's 30 customers, how many saw their own basket fall, and how often would coin flips split them so?</a:t>
            </a:r>
          </a:p>
        </p:txBody>
      </p:sp>
      <p:pic>
        <p:nvPicPr>
          <p:cNvPr id="9" name="mermaid diagram" descr="5721dd61f4abf3ee.png"/>
          <p:cNvPicPr>
            <a:picLocks noChangeAspect="1"/>
          </p:cNvPicPr>
          <p:nvPr/>
        </p:nvPicPr>
        <p:blipFill>
          <a:blip r:embed="rId6"/>
          <a:stretch>
            <a:fillRect/>
          </a:stretch>
        </p:blipFill>
        <p:spPr>
          <a:xfrm>
            <a:off x="1738160" y="1956816"/>
            <a:ext cx="8715375" cy="1800225"/>
          </a:xfrm>
          <a:prstGeom prst="rect">
            <a:avLst/>
          </a:prstGeom>
        </p:spPr>
      </p:pic>
      <p:sp>
        <p:nvSpPr>
          <p:cNvPr id="10" name="Rounded Rectangle 9"/>
          <p:cNvSpPr/>
          <p:nvPr/>
        </p:nvSpPr>
        <p:spPr>
          <a:xfrm>
            <a:off x="530352" y="3903345"/>
            <a:ext cx="11130991" cy="86258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4106037"/>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search-check_6571e64a041f.png"/>
          <p:cNvPicPr>
            <a:picLocks noChangeAspect="1"/>
          </p:cNvPicPr>
          <p:nvPr/>
        </p:nvPicPr>
        <p:blipFill>
          <a:blip r:embed="rId5"/>
          <a:stretch>
            <a:fillRect/>
          </a:stretch>
        </p:blipFill>
        <p:spPr>
          <a:xfrm>
            <a:off x="868680" y="4215765"/>
            <a:ext cx="237744" cy="237744"/>
          </a:xfrm>
          <a:prstGeom prst="rect">
            <a:avLst/>
          </a:prstGeom>
        </p:spPr>
      </p:pic>
      <p:sp>
        <p:nvSpPr>
          <p:cNvPr id="13" name="TextBox 12"/>
          <p:cNvSpPr txBox="1"/>
          <p:nvPr/>
        </p:nvSpPr>
        <p:spPr>
          <a:xfrm>
            <a:off x="1399031" y="4049649"/>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KAVYA'S REVIEW</a:t>
            </a:r>
          </a:p>
        </p:txBody>
      </p:sp>
      <p:sp>
        <p:nvSpPr>
          <p:cNvPr id="14" name="TextBox 13"/>
          <p:cNvSpPr txBox="1"/>
          <p:nvPr/>
        </p:nvSpPr>
        <p:spPr>
          <a:xfrm>
            <a:off x="1399031" y="4269105"/>
            <a:ext cx="9987991" cy="423672"/>
          </a:xfrm>
          <a:prstGeom prst="rect">
            <a:avLst/>
          </a:prstGeom>
          <a:noFill/>
        </p:spPr>
        <p:txBody>
          <a:bodyPr wrap="square" anchor="t" lIns="0" rIns="0" tIns="0" bIns="0">
            <a:spAutoFit/>
          </a:bodyPr>
          <a:lstStyle/>
          <a:p>
            <a:r>
              <a:rPr sz="1500" b="0" i="0">
                <a:solidFill>
                  <a:srgbClr val="1A1440"/>
                </a:solidFill>
                <a:latin typeface="Calibri"/>
              </a:rPr>
              <a:t>Say the count before the rate, every time: the orders in each quarter, and then the percentage.</a:t>
            </a:r>
          </a:p>
        </p:txBody>
      </p:sp>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reconciliation, skipped</a:t>
            </a:r>
          </a:p>
        </p:txBody>
      </p:sp>
      <p:sp>
        <p:nvSpPr>
          <p:cNvPr id="17" name="Oval 16"/>
          <p:cNvSpPr/>
          <p:nvPr/>
        </p:nvSpPr>
        <p:spPr>
          <a:xfrm>
            <a:off x="22479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357723"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The pass that looks clean</a:t>
            </a:r>
          </a:p>
        </p:txBody>
      </p:sp>
      <p:sp>
        <p:nvSpPr>
          <p:cNvPr id="19" name="Oval 18"/>
          <p:cNvSpPr/>
          <p:nvPr/>
        </p:nvSpPr>
        <p:spPr>
          <a:xfrm>
            <a:off x="387362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983355" y="6437376"/>
            <a:ext cx="1654492" cy="152146"/>
          </a:xfrm>
          <a:prstGeom prst="rect">
            <a:avLst/>
          </a:prstGeom>
          <a:noFill/>
        </p:spPr>
        <p:txBody>
          <a:bodyPr wrap="square" anchor="t" lIns="0" rIns="0" tIns="0" bIns="0">
            <a:spAutoFit/>
          </a:bodyPr>
          <a:lstStyle/>
          <a:p>
            <a:pPr algn="l"/>
            <a:r>
              <a:rPr sz="700" b="1" i="0">
                <a:solidFill>
                  <a:srgbClr val="5B3FD6"/>
                </a:solidFill>
                <a:latin typeface="Calibri"/>
              </a:rPr>
              <a:t>The headline on too few orders</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S28  ·  32 / 35</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5  ·  KALPA GLOBAL CAPABILITY CENTRE</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Reserve: keep each customer's quarters together</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same fall in revenue per customer, tested two ways, and two verdicts.</a:t>
            </a:r>
          </a:p>
        </p:txBody>
      </p:sp>
      <p:sp>
        <p:nvSpPr>
          <p:cNvPr id="10" name="Rounded Rectangle 9"/>
          <p:cNvSpPr/>
          <p:nvPr/>
        </p:nvSpPr>
        <p:spPr>
          <a:xfrm>
            <a:off x="530352" y="1956816"/>
            <a:ext cx="5474055" cy="1964436"/>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31519" y="215798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users_113eb2dd3269.png"/>
          <p:cNvPicPr>
            <a:picLocks noChangeAspect="1"/>
          </p:cNvPicPr>
          <p:nvPr/>
        </p:nvPicPr>
        <p:blipFill>
          <a:blip r:embed="rId4"/>
          <a:stretch>
            <a:fillRect/>
          </a:stretch>
        </p:blipFill>
        <p:spPr>
          <a:xfrm>
            <a:off x="841247" y="2267712"/>
            <a:ext cx="237744" cy="237744"/>
          </a:xfrm>
          <a:prstGeom prst="rect">
            <a:avLst/>
          </a:prstGeom>
        </p:spPr>
      </p:pic>
      <p:sp>
        <p:nvSpPr>
          <p:cNvPr id="13" name="TextBox 12"/>
          <p:cNvSpPr txBox="1"/>
          <p:nvPr/>
        </p:nvSpPr>
        <p:spPr>
          <a:xfrm>
            <a:off x="731519" y="2724912"/>
            <a:ext cx="5071719" cy="160401"/>
          </a:xfrm>
          <a:prstGeom prst="rect">
            <a:avLst/>
          </a:prstGeom>
          <a:noFill/>
        </p:spPr>
        <p:txBody>
          <a:bodyPr wrap="square" anchor="t" lIns="0" rIns="0" tIns="0" bIns="0">
            <a:spAutoFit/>
          </a:bodyPr>
          <a:lstStyle/>
          <a:p>
            <a:pPr algn="l"/>
            <a:r>
              <a:rPr sz="750" b="1" i="0" spc="250">
                <a:solidFill>
                  <a:srgbClr val="D9A7FF"/>
                </a:solidFill>
                <a:latin typeface="Calibri"/>
              </a:rPr>
              <a:t>FLIP EACH CUSTOMER'S OWN TWO QUARTERS</a:t>
            </a:r>
          </a:p>
        </p:txBody>
      </p:sp>
      <p:sp>
        <p:nvSpPr>
          <p:cNvPr id="14" name="TextBox 13"/>
          <p:cNvSpPr txBox="1"/>
          <p:nvPr/>
        </p:nvSpPr>
        <p:spPr>
          <a:xfrm>
            <a:off x="731519" y="2962656"/>
            <a:ext cx="5071719" cy="267716"/>
          </a:xfrm>
          <a:prstGeom prst="rect">
            <a:avLst/>
          </a:prstGeom>
          <a:noFill/>
        </p:spPr>
        <p:txBody>
          <a:bodyPr wrap="square" anchor="t" lIns="0" rIns="0" tIns="0" bIns="0">
            <a:spAutoFit/>
          </a:bodyPr>
          <a:lstStyle/>
          <a:p>
            <a:pPr algn="l"/>
            <a:r>
              <a:rPr sz="1400" b="1" i="0">
                <a:solidFill>
                  <a:srgbClr val="FFFFFF"/>
                </a:solidFill>
                <a:latin typeface="Calibri"/>
              </a:rPr>
              <a:t>p = 0.0015</a:t>
            </a:r>
          </a:p>
        </p:txBody>
      </p:sp>
      <p:sp>
        <p:nvSpPr>
          <p:cNvPr id="15" name="TextBox 14"/>
          <p:cNvSpPr txBox="1"/>
          <p:nvPr/>
        </p:nvSpPr>
        <p:spPr>
          <a:xfrm>
            <a:off x="731519" y="3303524"/>
            <a:ext cx="5071719" cy="399796"/>
          </a:xfrm>
          <a:prstGeom prst="rect">
            <a:avLst/>
          </a:prstGeom>
          <a:noFill/>
        </p:spPr>
        <p:txBody>
          <a:bodyPr wrap="square" anchor="t" lIns="0" rIns="0" tIns="0" bIns="0">
            <a:spAutoFit/>
          </a:bodyPr>
          <a:lstStyle/>
          <a:p>
            <a:pPr algn="l"/>
            <a:r>
              <a:rPr sz="1100" b="0" i="0">
                <a:solidFill>
                  <a:srgbClr val="CFC9EE"/>
                </a:solidFill>
                <a:latin typeface="Calibri"/>
              </a:rPr>
              <a:t>Every world is one these 30 customers could have produced, so a real fall shows as one.</a:t>
            </a:r>
          </a:p>
        </p:txBody>
      </p:sp>
      <p:sp>
        <p:nvSpPr>
          <p:cNvPr id="16" name="Rounded Rectangle 15"/>
          <p:cNvSpPr/>
          <p:nvPr/>
        </p:nvSpPr>
        <p:spPr>
          <a:xfrm>
            <a:off x="6187287" y="1956816"/>
            <a:ext cx="5474055"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6388455"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8" name="Picture 17" descr="shuffle_1f5f2f56d507.png"/>
          <p:cNvPicPr>
            <a:picLocks noChangeAspect="1"/>
          </p:cNvPicPr>
          <p:nvPr/>
        </p:nvPicPr>
        <p:blipFill>
          <a:blip r:embed="rId5"/>
          <a:stretch>
            <a:fillRect/>
          </a:stretch>
        </p:blipFill>
        <p:spPr>
          <a:xfrm>
            <a:off x="6498183" y="2267712"/>
            <a:ext cx="237744" cy="237744"/>
          </a:xfrm>
          <a:prstGeom prst="rect">
            <a:avLst/>
          </a:prstGeom>
        </p:spPr>
      </p:pic>
      <p:sp>
        <p:nvSpPr>
          <p:cNvPr id="19" name="TextBox 18"/>
          <p:cNvSpPr txBox="1"/>
          <p:nvPr/>
        </p:nvSpPr>
        <p:spPr>
          <a:xfrm>
            <a:off x="6388455" y="2724912"/>
            <a:ext cx="5071719" cy="160401"/>
          </a:xfrm>
          <a:prstGeom prst="rect">
            <a:avLst/>
          </a:prstGeom>
          <a:noFill/>
        </p:spPr>
        <p:txBody>
          <a:bodyPr wrap="square" anchor="t" lIns="0" rIns="0" tIns="0" bIns="0">
            <a:spAutoFit/>
          </a:bodyPr>
          <a:lstStyle/>
          <a:p>
            <a:pPr algn="l"/>
            <a:r>
              <a:rPr sz="750" b="1" i="0" spc="250">
                <a:solidFill>
                  <a:srgbClr val="5B3FD6"/>
                </a:solidFill>
                <a:latin typeface="Calibri"/>
              </a:rPr>
              <a:t>POOL THE Q1 AND Q2 FIGURES AND DEAL THEM</a:t>
            </a:r>
          </a:p>
        </p:txBody>
      </p:sp>
      <p:sp>
        <p:nvSpPr>
          <p:cNvPr id="20" name="TextBox 19"/>
          <p:cNvSpPr txBox="1"/>
          <p:nvPr/>
        </p:nvSpPr>
        <p:spPr>
          <a:xfrm>
            <a:off x="6388455" y="2962656"/>
            <a:ext cx="5071719" cy="267716"/>
          </a:xfrm>
          <a:prstGeom prst="rect">
            <a:avLst/>
          </a:prstGeom>
          <a:noFill/>
        </p:spPr>
        <p:txBody>
          <a:bodyPr wrap="square" anchor="t" lIns="0" rIns="0" tIns="0" bIns="0">
            <a:spAutoFit/>
          </a:bodyPr>
          <a:lstStyle/>
          <a:p>
            <a:pPr algn="l"/>
            <a:r>
              <a:rPr sz="1400" b="1" i="0">
                <a:solidFill>
                  <a:srgbClr val="1A0F5C"/>
                </a:solidFill>
                <a:latin typeface="Calibri"/>
              </a:rPr>
              <a:t>p = 0.0765</a:t>
            </a:r>
          </a:p>
        </p:txBody>
      </p:sp>
      <p:sp>
        <p:nvSpPr>
          <p:cNvPr id="21" name="TextBox 20"/>
          <p:cNvSpPr txBox="1"/>
          <p:nvPr/>
        </p:nvSpPr>
        <p:spPr>
          <a:xfrm>
            <a:off x="6388455" y="3303524"/>
            <a:ext cx="5071719" cy="399796"/>
          </a:xfrm>
          <a:prstGeom prst="rect">
            <a:avLst/>
          </a:prstGeom>
          <a:noFill/>
        </p:spPr>
        <p:txBody>
          <a:bodyPr wrap="square" anchor="t" lIns="0" rIns="0" tIns="0" bIns="0">
            <a:spAutoFit/>
          </a:bodyPr>
          <a:lstStyle/>
          <a:p>
            <a:pPr algn="l"/>
            <a:r>
              <a:rPr sz="1100" b="0" i="0">
                <a:solidFill>
                  <a:srgbClr val="6B6690"/>
                </a:solidFill>
                <a:latin typeface="Calibri"/>
              </a:rPr>
              <a:t>Each customer's two quarters are dealt as strangers, the steadiness of each customer is thrown away, and a real fall reads as chance.</a:t>
            </a:r>
          </a:p>
        </p:txBody>
      </p:sp>
      <p:sp>
        <p:nvSpPr>
          <p:cNvPr id="22" name="Rounded Rectangle 21"/>
          <p:cNvSpPr/>
          <p:nvPr/>
        </p:nvSpPr>
        <p:spPr>
          <a:xfrm>
            <a:off x="530352" y="4104132"/>
            <a:ext cx="11130991" cy="138074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758952" y="456590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4" name="Picture 23" descr="list-checks_bd88901d2a37.png"/>
          <p:cNvPicPr>
            <a:picLocks noChangeAspect="1"/>
          </p:cNvPicPr>
          <p:nvPr/>
        </p:nvPicPr>
        <p:blipFill>
          <a:blip r:embed="rId6"/>
          <a:stretch>
            <a:fillRect/>
          </a:stretch>
        </p:blipFill>
        <p:spPr>
          <a:xfrm>
            <a:off x="868680" y="4675632"/>
            <a:ext cx="237744" cy="237744"/>
          </a:xfrm>
          <a:prstGeom prst="rect">
            <a:avLst/>
          </a:prstGeom>
        </p:spPr>
      </p:pic>
      <p:sp>
        <p:nvSpPr>
          <p:cNvPr id="25" name="TextBox 24"/>
          <p:cNvSpPr txBox="1"/>
          <p:nvPr/>
        </p:nvSpPr>
        <p:spPr>
          <a:xfrm>
            <a:off x="1399031" y="4250436"/>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THE RULE</a:t>
            </a:r>
          </a:p>
        </p:txBody>
      </p:sp>
      <p:sp>
        <p:nvSpPr>
          <p:cNvPr id="26" name="TextBox 25"/>
          <p:cNvSpPr txBox="1"/>
          <p:nvPr/>
        </p:nvSpPr>
        <p:spPr>
          <a:xfrm>
            <a:off x="1399031" y="4469892"/>
            <a:ext cx="9987991" cy="941832"/>
          </a:xfrm>
          <a:prstGeom prst="rect">
            <a:avLst/>
          </a:prstGeom>
          <a:noFill/>
        </p:spPr>
        <p:txBody>
          <a:bodyPr wrap="square" anchor="t" lIns="0" rIns="0" tIns="0" bIns="0">
            <a:spAutoFit/>
          </a:bodyPr>
          <a:lstStyle/>
          <a:p>
            <a:r>
              <a:rPr sz="1500" b="0" i="0">
                <a:solidFill>
                  <a:srgbClr val="1A1440"/>
                </a:solidFill>
                <a:latin typeface="Calibri"/>
              </a:rPr>
              <a:t>Keep each customer's own two quarters together: flip them as a pair when the same customers sit in both quarters, and shuffle labels across whole customers when the groups are different customers. Pooling paired data is the hurried mistake.</a:t>
            </a:r>
          </a:p>
        </p:txBody>
      </p:sp>
      <p:sp>
        <p:nvSpPr>
          <p:cNvPr id="27" name="Oval 26"/>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40080"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reconciliation, skipped</a:t>
            </a:r>
          </a:p>
        </p:txBody>
      </p:sp>
      <p:sp>
        <p:nvSpPr>
          <p:cNvPr id="29" name="Oval 28"/>
          <p:cNvSpPr/>
          <p:nvPr/>
        </p:nvSpPr>
        <p:spPr>
          <a:xfrm>
            <a:off x="22479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2357723"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The pass that looks clean</a:t>
            </a:r>
          </a:p>
        </p:txBody>
      </p:sp>
      <p:sp>
        <p:nvSpPr>
          <p:cNvPr id="31" name="Oval 30"/>
          <p:cNvSpPr/>
          <p:nvPr/>
        </p:nvSpPr>
        <p:spPr>
          <a:xfrm>
            <a:off x="387362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3983355" y="6437376"/>
            <a:ext cx="1654492" cy="152146"/>
          </a:xfrm>
          <a:prstGeom prst="rect">
            <a:avLst/>
          </a:prstGeom>
          <a:noFill/>
        </p:spPr>
        <p:txBody>
          <a:bodyPr wrap="square" anchor="t" lIns="0" rIns="0" tIns="0" bIns="0">
            <a:spAutoFit/>
          </a:bodyPr>
          <a:lstStyle/>
          <a:p>
            <a:pPr algn="l"/>
            <a:r>
              <a:rPr sz="700" b="1" i="0">
                <a:solidFill>
                  <a:srgbClr val="5B3FD6"/>
                </a:solidFill>
                <a:latin typeface="Calibri"/>
              </a:rPr>
              <a:t>The headline on too few orders</a:t>
            </a:r>
          </a:p>
        </p:txBody>
      </p:sp>
      <p:sp>
        <p:nvSpPr>
          <p:cNvPr id="33" name="TextBox 3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D29  ·  33 / 35</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5  ·  KALPA GLOBAL CAPABILITY CENTRE</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Reserve: the typical order</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A few corporate orders drag the mean far from any order a consumer placed.</a:t>
            </a:r>
          </a:p>
        </p:txBody>
      </p:sp>
      <p:sp>
        <p:nvSpPr>
          <p:cNvPr id="10" name="TextBox 9"/>
          <p:cNvSpPr txBox="1"/>
          <p:nvPr/>
        </p:nvSpPr>
        <p:spPr>
          <a:xfrm>
            <a:off x="53035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Rs 52,657</a:t>
            </a:r>
          </a:p>
        </p:txBody>
      </p:sp>
      <p:sp>
        <p:nvSpPr>
          <p:cNvPr id="11" name="TextBox 10"/>
          <p:cNvSpPr txBox="1"/>
          <p:nvPr/>
        </p:nvSpPr>
        <p:spPr>
          <a:xfrm>
            <a:off x="53035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MEAN ORDER, CLEAN</a:t>
            </a:r>
          </a:p>
        </p:txBody>
      </p:sp>
      <p:sp>
        <p:nvSpPr>
          <p:cNvPr id="12" name="TextBox 11"/>
          <p:cNvSpPr txBox="1"/>
          <p:nvPr/>
        </p:nvSpPr>
        <p:spPr>
          <a:xfrm>
            <a:off x="53035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pulled up by the corporate orders</a:t>
            </a:r>
          </a:p>
        </p:txBody>
      </p:sp>
      <p:sp>
        <p:nvSpPr>
          <p:cNvPr id="13" name="Rectangle 12"/>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433212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Rs 2,120</a:t>
            </a:r>
          </a:p>
        </p:txBody>
      </p:sp>
      <p:sp>
        <p:nvSpPr>
          <p:cNvPr id="15" name="TextBox 14"/>
          <p:cNvSpPr txBox="1"/>
          <p:nvPr/>
        </p:nvSpPr>
        <p:spPr>
          <a:xfrm>
            <a:off x="433212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MEDIAN ORDER, CLEAN</a:t>
            </a:r>
          </a:p>
        </p:txBody>
      </p:sp>
      <p:sp>
        <p:nvSpPr>
          <p:cNvPr id="16" name="TextBox 15"/>
          <p:cNvSpPr txBox="1"/>
          <p:nvPr/>
        </p:nvSpPr>
        <p:spPr>
          <a:xfrm>
            <a:off x="433212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the typical one</a:t>
            </a:r>
          </a:p>
        </p:txBody>
      </p:sp>
      <p:sp>
        <p:nvSpPr>
          <p:cNvPr id="17" name="Rectangle 16"/>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13389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25 times</a:t>
            </a:r>
          </a:p>
        </p:txBody>
      </p:sp>
      <p:sp>
        <p:nvSpPr>
          <p:cNvPr id="19" name="TextBox 18"/>
          <p:cNvSpPr txBox="1"/>
          <p:nvPr/>
        </p:nvSpPr>
        <p:spPr>
          <a:xfrm>
            <a:off x="813389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THE GAP</a:t>
            </a:r>
          </a:p>
        </p:txBody>
      </p:sp>
      <p:sp>
        <p:nvSpPr>
          <p:cNvPr id="20" name="TextBox 19"/>
          <p:cNvSpPr txBox="1"/>
          <p:nvPr/>
        </p:nvSpPr>
        <p:spPr>
          <a:xfrm>
            <a:off x="813389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mean over median</a:t>
            </a:r>
          </a:p>
        </p:txBody>
      </p:sp>
      <p:sp>
        <p:nvSpPr>
          <p:cNvPr id="21" name="Rectangle 20"/>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530352" y="3419856"/>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758952" y="375208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4" name="Picture 23" descr="list-checks_bd88901d2a37.png"/>
          <p:cNvPicPr>
            <a:picLocks noChangeAspect="1"/>
          </p:cNvPicPr>
          <p:nvPr/>
        </p:nvPicPr>
        <p:blipFill>
          <a:blip r:embed="rId4"/>
          <a:stretch>
            <a:fillRect/>
          </a:stretch>
        </p:blipFill>
        <p:spPr>
          <a:xfrm>
            <a:off x="868680" y="3861816"/>
            <a:ext cx="237744" cy="237744"/>
          </a:xfrm>
          <a:prstGeom prst="rect">
            <a:avLst/>
          </a:prstGeom>
        </p:spPr>
      </p:pic>
      <p:sp>
        <p:nvSpPr>
          <p:cNvPr id="25" name="TextBox 24"/>
          <p:cNvSpPr txBox="1"/>
          <p:nvPr/>
        </p:nvSpPr>
        <p:spPr>
          <a:xfrm>
            <a:off x="1399031" y="3566160"/>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THE RULE</a:t>
            </a:r>
          </a:p>
        </p:txBody>
      </p:sp>
      <p:sp>
        <p:nvSpPr>
          <p:cNvPr id="26" name="TextBox 25"/>
          <p:cNvSpPr txBox="1"/>
          <p:nvPr/>
        </p:nvSpPr>
        <p:spPr>
          <a:xfrm>
            <a:off x="1399031" y="3785616"/>
            <a:ext cx="9987991" cy="682752"/>
          </a:xfrm>
          <a:prstGeom prst="rect">
            <a:avLst/>
          </a:prstGeom>
          <a:noFill/>
        </p:spPr>
        <p:txBody>
          <a:bodyPr wrap="square" anchor="t" lIns="0" rIns="0" tIns="0" bIns="0">
            <a:spAutoFit/>
          </a:bodyPr>
          <a:lstStyle/>
          <a:p>
            <a:r>
              <a:rPr sz="1500" b="0" i="0">
                <a:solidFill>
                  <a:srgbClr val="1A1440"/>
                </a:solidFill>
                <a:latin typeface="Calibri"/>
              </a:rPr>
              <a:t>Describe a file with its median and say what sits above it. Keep the mean for anything that has to reconcile.</a:t>
            </a:r>
          </a:p>
        </p:txBody>
      </p:sp>
      <p:sp>
        <p:nvSpPr>
          <p:cNvPr id="27" name="Oval 26"/>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40080"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reconciliation, skipped</a:t>
            </a:r>
          </a:p>
        </p:txBody>
      </p:sp>
      <p:sp>
        <p:nvSpPr>
          <p:cNvPr id="29" name="Oval 28"/>
          <p:cNvSpPr/>
          <p:nvPr/>
        </p:nvSpPr>
        <p:spPr>
          <a:xfrm>
            <a:off x="22479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2357723"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The pass that looks clean</a:t>
            </a:r>
          </a:p>
        </p:txBody>
      </p:sp>
      <p:sp>
        <p:nvSpPr>
          <p:cNvPr id="31" name="Oval 30"/>
          <p:cNvSpPr/>
          <p:nvPr/>
        </p:nvSpPr>
        <p:spPr>
          <a:xfrm>
            <a:off x="387362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3983355" y="6437376"/>
            <a:ext cx="1654492" cy="152146"/>
          </a:xfrm>
          <a:prstGeom prst="rect">
            <a:avLst/>
          </a:prstGeom>
          <a:noFill/>
        </p:spPr>
        <p:txBody>
          <a:bodyPr wrap="square" anchor="t" lIns="0" rIns="0" tIns="0" bIns="0">
            <a:spAutoFit/>
          </a:bodyPr>
          <a:lstStyle/>
          <a:p>
            <a:pPr algn="l"/>
            <a:r>
              <a:rPr sz="700" b="1" i="0">
                <a:solidFill>
                  <a:srgbClr val="5B3FD6"/>
                </a:solidFill>
                <a:latin typeface="Calibri"/>
              </a:rPr>
              <a:t>The headline on too few orders</a:t>
            </a:r>
          </a:p>
        </p:txBody>
      </p:sp>
      <p:sp>
        <p:nvSpPr>
          <p:cNvPr id="33" name="TextBox 3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D30  ·  34 / 35</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one line you write tonight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step where you stalled, rerun alone, and what you will do differently.</a:t>
            </a:r>
          </a:p>
        </p:txBody>
      </p:sp>
      <p:sp>
        <p:nvSpPr>
          <p:cNvPr id="9" name="Rectangle 8"/>
          <p:cNvSpPr/>
          <p:nvPr/>
        </p:nvSpPr>
        <p:spPr>
          <a:xfrm>
            <a:off x="2324557" y="2523744"/>
            <a:ext cx="7542580"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30352" y="1956816"/>
            <a:ext cx="3588410" cy="168656"/>
          </a:xfrm>
          <a:prstGeom prst="rect">
            <a:avLst/>
          </a:prstGeom>
          <a:noFill/>
        </p:spPr>
        <p:txBody>
          <a:bodyPr wrap="square" anchor="t" lIns="0" rIns="0" tIns="0" bIns="0">
            <a:spAutoFit/>
          </a:bodyPr>
          <a:lstStyle/>
          <a:p>
            <a:pPr algn="ctr"/>
            <a:r>
              <a:rPr sz="800" b="1" i="0" spc="250">
                <a:solidFill>
                  <a:srgbClr val="5B3FD6"/>
                </a:solidFill>
                <a:latin typeface="Calibri"/>
              </a:rPr>
              <a:t>TONIGHT</a:t>
            </a:r>
          </a:p>
        </p:txBody>
      </p:sp>
      <p:sp>
        <p:nvSpPr>
          <p:cNvPr id="11" name="Oval 10"/>
          <p:cNvSpPr/>
          <p:nvPr/>
        </p:nvSpPr>
        <p:spPr>
          <a:xfrm>
            <a:off x="2223973"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530352" y="2843784"/>
            <a:ext cx="3588410"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94944" y="2990088"/>
            <a:ext cx="3259226" cy="251205"/>
          </a:xfrm>
          <a:prstGeom prst="rect">
            <a:avLst/>
          </a:prstGeom>
          <a:noFill/>
        </p:spPr>
        <p:txBody>
          <a:bodyPr wrap="square" anchor="t" lIns="0" rIns="0" tIns="0" bIns="0">
            <a:spAutoFit/>
          </a:bodyPr>
          <a:lstStyle/>
          <a:p>
            <a:pPr algn="l"/>
            <a:r>
              <a:rPr sz="1300" b="1" i="0">
                <a:solidFill>
                  <a:srgbClr val="1A0F5C"/>
                </a:solidFill>
                <a:latin typeface="Calibri"/>
              </a:rPr>
              <a:t>Rerun the step</a:t>
            </a:r>
          </a:p>
        </p:txBody>
      </p:sp>
      <p:sp>
        <p:nvSpPr>
          <p:cNvPr id="14" name="TextBox 13"/>
          <p:cNvSpPr txBox="1"/>
          <p:nvPr/>
        </p:nvSpPr>
        <p:spPr>
          <a:xfrm>
            <a:off x="694944" y="3277870"/>
            <a:ext cx="3259226" cy="366776"/>
          </a:xfrm>
          <a:prstGeom prst="rect">
            <a:avLst/>
          </a:prstGeom>
          <a:noFill/>
        </p:spPr>
        <p:txBody>
          <a:bodyPr wrap="square" anchor="t" lIns="0" rIns="0" tIns="0" bIns="0">
            <a:spAutoFit/>
          </a:bodyPr>
          <a:lstStyle/>
          <a:p>
            <a:pPr algn="l"/>
            <a:r>
              <a:rPr sz="1000" b="0" i="0">
                <a:solidFill>
                  <a:srgbClr val="6B6690"/>
                </a:solidFill>
                <a:latin typeface="Calibri"/>
              </a:rPr>
              <a:t>On the practice export, the step the TA marked, with the practice set beside it.</a:t>
            </a:r>
          </a:p>
        </p:txBody>
      </p:sp>
      <p:sp>
        <p:nvSpPr>
          <p:cNvPr id="15" name="TextBox 14"/>
          <p:cNvSpPr txBox="1"/>
          <p:nvPr/>
        </p:nvSpPr>
        <p:spPr>
          <a:xfrm>
            <a:off x="4301642" y="1956816"/>
            <a:ext cx="3588410" cy="168656"/>
          </a:xfrm>
          <a:prstGeom prst="rect">
            <a:avLst/>
          </a:prstGeom>
          <a:noFill/>
        </p:spPr>
        <p:txBody>
          <a:bodyPr wrap="square" anchor="t" lIns="0" rIns="0" tIns="0" bIns="0">
            <a:spAutoFit/>
          </a:bodyPr>
          <a:lstStyle/>
          <a:p>
            <a:pPr algn="ctr"/>
            <a:r>
              <a:rPr sz="800" b="1" i="0" spc="250">
                <a:solidFill>
                  <a:srgbClr val="5B3FD6"/>
                </a:solidFill>
                <a:latin typeface="Calibri"/>
              </a:rPr>
              <a:t>ONE LINE</a:t>
            </a:r>
          </a:p>
        </p:txBody>
      </p:sp>
      <p:sp>
        <p:nvSpPr>
          <p:cNvPr id="16" name="Oval 15"/>
          <p:cNvSpPr/>
          <p:nvPr/>
        </p:nvSpPr>
        <p:spPr>
          <a:xfrm>
            <a:off x="5995263"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4301642" y="2843784"/>
            <a:ext cx="3588410"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466234" y="2990088"/>
            <a:ext cx="3259226" cy="251205"/>
          </a:xfrm>
          <a:prstGeom prst="rect">
            <a:avLst/>
          </a:prstGeom>
          <a:noFill/>
        </p:spPr>
        <p:txBody>
          <a:bodyPr wrap="square" anchor="t" lIns="0" rIns="0" tIns="0" bIns="0">
            <a:spAutoFit/>
          </a:bodyPr>
          <a:lstStyle/>
          <a:p>
            <a:pPr algn="l"/>
            <a:r>
              <a:rPr sz="1300" b="1" i="0">
                <a:solidFill>
                  <a:srgbClr val="1A0F5C"/>
                </a:solidFill>
                <a:latin typeface="Calibri"/>
              </a:rPr>
              <a:t>What changes</a:t>
            </a:r>
          </a:p>
        </p:txBody>
      </p:sp>
      <p:sp>
        <p:nvSpPr>
          <p:cNvPr id="19" name="TextBox 18"/>
          <p:cNvSpPr txBox="1"/>
          <p:nvPr/>
        </p:nvSpPr>
        <p:spPr>
          <a:xfrm>
            <a:off x="4466234" y="3277870"/>
            <a:ext cx="3259226" cy="366776"/>
          </a:xfrm>
          <a:prstGeom prst="rect">
            <a:avLst/>
          </a:prstGeom>
          <a:noFill/>
        </p:spPr>
        <p:txBody>
          <a:bodyPr wrap="square" anchor="t" lIns="0" rIns="0" tIns="0" bIns="0">
            <a:spAutoFit/>
          </a:bodyPr>
          <a:lstStyle/>
          <a:p>
            <a:pPr algn="l"/>
            <a:r>
              <a:rPr sz="1000" b="0" i="0">
                <a:solidFill>
                  <a:srgbClr val="6B6690"/>
                </a:solidFill>
                <a:latin typeface="Calibri"/>
              </a:rPr>
              <a:t>Written under your lab note: the check you will put first next time.</a:t>
            </a:r>
          </a:p>
        </p:txBody>
      </p:sp>
      <p:sp>
        <p:nvSpPr>
          <p:cNvPr id="20" name="TextBox 19"/>
          <p:cNvSpPr txBox="1"/>
          <p:nvPr/>
        </p:nvSpPr>
        <p:spPr>
          <a:xfrm>
            <a:off x="8072932" y="1956816"/>
            <a:ext cx="3588410" cy="168656"/>
          </a:xfrm>
          <a:prstGeom prst="rect">
            <a:avLst/>
          </a:prstGeom>
          <a:noFill/>
        </p:spPr>
        <p:txBody>
          <a:bodyPr wrap="square" anchor="t" lIns="0" rIns="0" tIns="0" bIns="0">
            <a:spAutoFit/>
          </a:bodyPr>
          <a:lstStyle/>
          <a:p>
            <a:pPr algn="ctr"/>
            <a:r>
              <a:rPr sz="800" b="1" i="0" spc="250">
                <a:solidFill>
                  <a:srgbClr val="5B3FD6"/>
                </a:solidFill>
                <a:latin typeface="Calibri"/>
              </a:rPr>
              <a:t>SATURDAY</a:t>
            </a:r>
          </a:p>
        </p:txBody>
      </p:sp>
      <p:sp>
        <p:nvSpPr>
          <p:cNvPr id="21" name="Oval 20"/>
          <p:cNvSpPr/>
          <p:nvPr/>
        </p:nvSpPr>
        <p:spPr>
          <a:xfrm>
            <a:off x="9766554"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8072932" y="2843784"/>
            <a:ext cx="3588410"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237524" y="2990088"/>
            <a:ext cx="3259226" cy="251205"/>
          </a:xfrm>
          <a:prstGeom prst="rect">
            <a:avLst/>
          </a:prstGeom>
          <a:noFill/>
        </p:spPr>
        <p:txBody>
          <a:bodyPr wrap="square" anchor="t" lIns="0" rIns="0" tIns="0" bIns="0">
            <a:spAutoFit/>
          </a:bodyPr>
          <a:lstStyle/>
          <a:p>
            <a:pPr algn="l"/>
            <a:r>
              <a:rPr sz="1300" b="1" i="0">
                <a:solidFill>
                  <a:srgbClr val="1A0F5C"/>
                </a:solidFill>
                <a:latin typeface="Calibri"/>
              </a:rPr>
              <a:t>The paper</a:t>
            </a:r>
          </a:p>
        </p:txBody>
      </p:sp>
      <p:sp>
        <p:nvSpPr>
          <p:cNvPr id="24" name="TextBox 23"/>
          <p:cNvSpPr txBox="1"/>
          <p:nvPr/>
        </p:nvSpPr>
        <p:spPr>
          <a:xfrm>
            <a:off x="8237524" y="3277870"/>
            <a:ext cx="3259226" cy="366776"/>
          </a:xfrm>
          <a:prstGeom prst="rect">
            <a:avLst/>
          </a:prstGeom>
          <a:noFill/>
        </p:spPr>
        <p:txBody>
          <a:bodyPr wrap="square" anchor="t" lIns="0" rIns="0" tIns="0" bIns="0">
            <a:spAutoFit/>
          </a:bodyPr>
          <a:lstStyle/>
          <a:p>
            <a:pPr algn="l"/>
            <a:r>
              <a:rPr sz="1000" b="0" i="0">
                <a:solidFill>
                  <a:srgbClr val="6B6690"/>
                </a:solidFill>
                <a:latin typeface="Calibri"/>
              </a:rPr>
              <a:t>The note's four parts and the p-value sentence, from memory.</a:t>
            </a:r>
          </a:p>
        </p:txBody>
      </p:sp>
      <p:sp>
        <p:nvSpPr>
          <p:cNvPr id="25" name="Rounded Rectangle 24"/>
          <p:cNvSpPr/>
          <p:nvPr/>
        </p:nvSpPr>
        <p:spPr>
          <a:xfrm>
            <a:off x="530352" y="4103624"/>
            <a:ext cx="11130991" cy="86258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758952" y="4306316"/>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7" name="Picture 26" descr="search-check_6571e64a041f.png"/>
          <p:cNvPicPr>
            <a:picLocks noChangeAspect="1"/>
          </p:cNvPicPr>
          <p:nvPr/>
        </p:nvPicPr>
        <p:blipFill>
          <a:blip r:embed="rId4"/>
          <a:stretch>
            <a:fillRect/>
          </a:stretch>
        </p:blipFill>
        <p:spPr>
          <a:xfrm>
            <a:off x="868680" y="4416044"/>
            <a:ext cx="237744" cy="237744"/>
          </a:xfrm>
          <a:prstGeom prst="rect">
            <a:avLst/>
          </a:prstGeom>
        </p:spPr>
      </p:pic>
      <p:sp>
        <p:nvSpPr>
          <p:cNvPr id="28" name="TextBox 27"/>
          <p:cNvSpPr txBox="1"/>
          <p:nvPr/>
        </p:nvSpPr>
        <p:spPr>
          <a:xfrm>
            <a:off x="1399031" y="4249928"/>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KAVYA'S REVIEW</a:t>
            </a:r>
          </a:p>
        </p:txBody>
      </p:sp>
      <p:sp>
        <p:nvSpPr>
          <p:cNvPr id="29" name="TextBox 28"/>
          <p:cNvSpPr txBox="1"/>
          <p:nvPr/>
        </p:nvSpPr>
        <p:spPr>
          <a:xfrm>
            <a:off x="1399031" y="4469384"/>
            <a:ext cx="9987991" cy="423672"/>
          </a:xfrm>
          <a:prstGeom prst="rect">
            <a:avLst/>
          </a:prstGeom>
          <a:noFill/>
        </p:spPr>
        <p:txBody>
          <a:bodyPr wrap="square" anchor="t" lIns="0" rIns="0" tIns="0" bIns="0">
            <a:spAutoFit/>
          </a:bodyPr>
          <a:lstStyle/>
          <a:p>
            <a:r>
              <a:rPr sz="1500" b="0" i="0">
                <a:solidFill>
                  <a:srgbClr val="1A1440"/>
                </a:solidFill>
                <a:latin typeface="Calibri"/>
              </a:rPr>
              <a:t>The lab told you which step you do not own yet. Rerun that step tonight on the practice export.</a:t>
            </a:r>
          </a:p>
        </p:txBody>
      </p:sp>
      <p:sp>
        <p:nvSpPr>
          <p:cNvPr id="30" name="Oval 2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40080"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The reconciliation, skipped</a:t>
            </a:r>
          </a:p>
        </p:txBody>
      </p:sp>
      <p:sp>
        <p:nvSpPr>
          <p:cNvPr id="32" name="Oval 31"/>
          <p:cNvSpPr/>
          <p:nvPr/>
        </p:nvSpPr>
        <p:spPr>
          <a:xfrm>
            <a:off x="22479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2357723"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The pass that looks clean</a:t>
            </a:r>
          </a:p>
        </p:txBody>
      </p:sp>
      <p:sp>
        <p:nvSpPr>
          <p:cNvPr id="34" name="Oval 33"/>
          <p:cNvSpPr/>
          <p:nvPr/>
        </p:nvSpPr>
        <p:spPr>
          <a:xfrm>
            <a:off x="387362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3983355" y="6437376"/>
            <a:ext cx="1654492" cy="152146"/>
          </a:xfrm>
          <a:prstGeom prst="rect">
            <a:avLst/>
          </a:prstGeom>
          <a:noFill/>
        </p:spPr>
        <p:txBody>
          <a:bodyPr wrap="square" anchor="t" lIns="0" rIns="0" tIns="0" bIns="0">
            <a:spAutoFit/>
          </a:bodyPr>
          <a:lstStyle/>
          <a:p>
            <a:pPr algn="l"/>
            <a:r>
              <a:rPr sz="700" b="1" i="0">
                <a:solidFill>
                  <a:srgbClr val="5B3FD6"/>
                </a:solidFill>
                <a:latin typeface="Calibri"/>
              </a:rPr>
              <a:t>The headline on too few orders</a:t>
            </a:r>
          </a:p>
        </p:txBody>
      </p:sp>
      <p:sp>
        <p:nvSpPr>
          <p:cNvPr id="36" name="TextBox 3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S31  ·  35 / 35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