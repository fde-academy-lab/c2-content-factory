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Anand said this on Wednesday, and this morning most of the room shipped a number</a:t>
            </a:r>
          </a:p>
          <a:p>
            <a:r>
              <a:t>Finance would have sent back. The debrief runs forty minutes as three chapters, one per place most</a:t>
            </a:r>
          </a:p>
          <a:p>
            <a:r>
              <a:t>rooms break: chapter 1 before lunch (20 minutes), chapters 2 and 3 after it (10 minutes each). Each</a:t>
            </a:r>
          </a:p>
          <a:p>
            <a:r>
              <a:t>chapter pairs with a notebook of the same number and title in notebooks/, which runs on this</a:t>
            </a:r>
          </a:p>
          <a:p>
            <a:r>
              <a:t>morning's export and opens now that the clock has stopped. The numbers on these slides are the lab</a:t>
            </a:r>
          </a:p>
          <a:p>
            <a:r>
              <a:t>export's own; no slide names a 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C2_W01_D05_01_reconciliation_skipped_STUDENT.ipynb,</a:t>
            </a:r>
          </a:p>
          <a:p>
            <a:r>
              <a:t>goes on the projector at S5 and stays there to S9. Close with two learners reading their</a:t>
            </a:r>
          </a:p>
          <a:p>
            <a:r>
              <a:t>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who asks and why it matters to them: Anand returns any figure that does not tie</a:t>
            </a:r>
          </a:p>
          <a:p>
            <a:r>
              <a:t>to his control total, and Meera acts on the first line of the note. A wrong first line sends</a:t>
            </a:r>
          </a:p>
          <a:p>
            <a:r>
              <a:t>Monday's review home with nothing to investigate, while Marketing's Rs 12 crore request is judged</a:t>
            </a:r>
          </a:p>
          <a:p>
            <a:r>
              <a:t>against a quarter that did not happen. Then one sentence of likeness, even when D2 is left to</a:t>
            </a:r>
          </a:p>
          <a:p>
            <a:r>
              <a:t>self-study: Nykaa reports GMV of Rs 4,182 crore and revenue of Rs 2,155 crore for the same quarter,</a:t>
            </a:r>
          </a:p>
          <a:p>
            <a:r>
              <a:t>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The point of both: an error that drops or</a:t>
            </a:r>
          </a:p>
          <a:p>
            <a:r>
              <a:t>doubles rows is silent,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numbers and the sentence. Ask how many sent a headline with a plus</a:t>
            </a:r>
          </a:p>
          <a:p>
            <a:r>
              <a:t>sign this morning, without naming anyone; the TA tally already knows, and the room should say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Option a is Monday's instinct and a good one on a different day; d</a:t>
            </a:r>
          </a:p>
          <a:p>
            <a:r>
              <a:t>is 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Open notebook 1 on the projector and run its first level. Point</a:t>
            </a:r>
          </a:p>
          <a:p>
            <a:r>
              <a:t>at the two kinds of miss: the Q1 row has the right count and the wrong rupees, which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sizing cell in notebook 1. Land two points: B is where most people who did</a:t>
            </a:r>
          </a:p>
          <a:p>
            <a:r>
              <a:t>check stopped, and it still leaves the headline 14 points off; D is right and costs the afternoon.</a:t>
            </a:r>
          </a:p>
          <a:p>
            <a:r>
              <a:t>Minutes are the lab brief's pace, D's is an estimate 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level 3 of notebook 1 and show the bridge chart. Ask which move is larger</a:t>
            </a:r>
          </a:p>
          <a:p>
            <a:r>
              <a:t>before revealing it. The your-turn cell after it lists the rows; leave that to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error changed the sign, so it changed the decision itself. Ask one</a:t>
            </a:r>
          </a:p>
          <a:p>
            <a:r>
              <a:t>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second-route cell in notebook 1. Both routes give -28.5 percent, which is</a:t>
            </a:r>
          </a:p>
          <a:p>
            <a:r>
              <a:t>the check that the log itself is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Run it live for two minutes only if the tally shows</a:t>
            </a:r>
          </a:p>
          <a:p>
            <a:r>
              <a:t>more than a quarter of 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two learners read their second-look line: one whose totals landed and one</a:t>
            </a:r>
          </a:p>
          <a:p>
            <a:r>
              <a:t>whose did not. Thank both the same way. Then lunch.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C2_W01_D05_02_pass_that_looks_clean_STUDENT.ipynb, on</a:t>
            </a:r>
          </a:p>
          <a:p>
            <a:r>
              <a:t>the projector from S14.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that is short by one large order halves the fall the note reports. Nobody</a:t>
            </a:r>
          </a:p>
          <a:p>
            <a:r>
              <a:t>argues with the direction, so nobody acts at the right scale, and when Finance finds the order,</a:t>
            </a:r>
          </a:p>
          <a:p>
            <a:r>
              <a:t>every other number in the note is doubted with it. One sentence of likeness, even when D13 is</a:t>
            </a:r>
          </a:p>
          <a:p>
            <a:r>
              <a:t>self-study: JPMorgan's own task force found a risk spreadsheet that divided by a sum instead of an</a:t>
            </a:r>
          </a:p>
          <a:p>
            <a:r>
              <a:t>average and 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to land: the sheet produced a plausible number every day, and only a check</a:t>
            </a:r>
          </a:p>
          <a:p>
            <a:r>
              <a:t>against 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code as a hurried analyst's honest attempt: it runs, it reports nothing</a:t>
            </a:r>
          </a:p>
          <a:p>
            <a:r>
              <a:t>and every count lands. Nobody in the room should feel caught.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a, and it is the answer the zeroing pass</a:t>
            </a:r>
          </a:p>
          <a:p>
            <a:r>
              <a:t>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Run level 2 of notebook 2. The your-turn cell finds the row;</a:t>
            </a:r>
          </a:p>
          <a:p>
            <a:r>
              <a:t>leave it for the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Run the options cell. Land the contrast between A and B: the same wrong headline,</a:t>
            </a:r>
          </a:p>
          <a:p>
            <a:r>
              <a:t>but B fails the count check, so B's gap is visible and A's is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which branch their own row took this morning and why.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4 of notebook 2. Run it live for two minutes if the tally shows notes that named</a:t>
            </a:r>
          </a:p>
          <a:p>
            <a:r>
              <a:t>Retail-Plus as falling.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a file with no control total, this is the check you still have: it needs nothing</a:t>
            </a:r>
          </a:p>
          <a:p>
            <a:r>
              <a:t>outside the file and tells you where, where the rupee check tells you how much.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3, C2_W01_D05_03_headline_on_few_orders_STUDENT.ipynb, on</a:t>
            </a:r>
          </a:p>
          <a:p>
            <a:r>
              <a:t>the projector from S23.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D22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as the headline "corporate is declining; we recommend a retention plan".</a:t>
            </a:r>
          </a:p>
          <a:p>
            <a:r>
              <a:t>The number is correct; the question is what ten orders can carry.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c is the overcorrection: Rs 17,10,000 is real money and Meera</a:t>
            </a:r>
          </a:p>
          <a:p>
            <a:r>
              <a:t>should hear it, as counts.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Run the coin-flip cell in notebook 3: 0.754. The corporate action</a:t>
            </a:r>
          </a:p>
          <a:p>
            <a:r>
              <a:t>is a phone call, which costs nothing; a retention plan built on ten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Run the options cell. B hides that 99 percent of the fall is two orders; D runs</a:t>
            </a:r>
          </a:p>
          <a:p>
            <a:r>
              <a:t>four tests at 0.05, and the chance at least one looks real by luck is about 19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Run the strip chart in notebook 3. Read the p-value sentence aloud once, word for</a:t>
            </a:r>
          </a:p>
          <a:p>
            <a:r>
              <a:t>word, because Saturday's paper asks for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to say: the shuffle says whether the gap is bigger than chance, the customer count says</a:t>
            </a:r>
          </a:p>
          <a:p>
            <a:r>
              <a:t>whether it is broad; when they disagree, a handful of customers moved the average.</a:t>
            </a:r>
          </a:p>
          <a:p>
            <a:r>
              <a:t>LIVE, 1 minute. Run the second-route cell. Then close the chapter with the note as it should read,</a:t>
            </a:r>
          </a:p>
          <a:p>
            <a:r>
              <a:t>from notebook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shuffled</a:t>
            </a:r>
          </a:p>
          <a:p>
            <a:r>
              <a:t>orders; then run it for three minutes in place of S28.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Close the debrief. The TAs tell each person their marked step privately during the</a:t>
            </a:r>
          </a:p>
          <a:p>
            <a:r>
              <a:t>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7.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7.png"/><Relationship Id="rId6"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3.png"/><Relationship Id="rId6"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3.png"/><Relationship Id="rId6"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7.png"/><Relationship Id="rId6" Type="http://schemas.openxmlformats.org/officeDocument/2006/relationships/image" Target="../media/image7.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the room broke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The reconciliation, skipped</a:t>
            </a:r>
          </a:p>
        </p:txBody>
      </p:sp>
      <p:sp>
        <p:nvSpPr>
          <p:cNvPr id="13" name="TextBox 12"/>
          <p:cNvSpPr txBox="1"/>
          <p:nvPr/>
        </p:nvSpPr>
        <p:spPr>
          <a:xfrm>
            <a:off x="296865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352704"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pass that looks clean</a:t>
            </a:r>
          </a:p>
        </p:txBody>
      </p:sp>
      <p:sp>
        <p:nvSpPr>
          <p:cNvPr id="15" name="TextBox 14"/>
          <p:cNvSpPr txBox="1"/>
          <p:nvPr/>
        </p:nvSpPr>
        <p:spPr>
          <a:xfrm>
            <a:off x="519722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581269" y="5248656"/>
            <a:ext cx="1957387" cy="185166"/>
          </a:xfrm>
          <a:prstGeom prst="rect">
            <a:avLst/>
          </a:prstGeom>
          <a:noFill/>
        </p:spPr>
        <p:txBody>
          <a:bodyPr wrap="square" anchor="t" lIns="0" rIns="0" tIns="0" bIns="0">
            <a:spAutoFit/>
          </a:bodyPr>
          <a:lstStyle/>
          <a:p>
            <a:pPr algn="l"/>
            <a:r>
              <a:rPr sz="900" b="0" i="0">
                <a:solidFill>
                  <a:srgbClr val="FFFFFF"/>
                </a:solidFill>
                <a:latin typeface="Calibri"/>
              </a:rPr>
              <a:t>The headline on too few orders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the room broke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reconciliation, skipped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step with no new number in it is the one a clock removes first, and it is the one Finance reads.</a:t>
            </a:r>
          </a:p>
        </p:txBody>
      </p:sp>
      <p:sp>
        <p:nvSpPr>
          <p:cNvPr id="10" name="Rounded Rectangle 9"/>
          <p:cNvSpPr/>
          <p:nvPr/>
        </p:nvSpPr>
        <p:spPr>
          <a:xfrm>
            <a:off x="731519"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acts only on a number that ties to his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metric is booked revenue per quarter, and the note's first line is its Q1 to Q2 change.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the sign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falling quarter reported as a rising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Does the data you cleaned still add up to what Finance booked, before anyone reads a branch of the tree?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companies that bridge before they claim</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retailer that reports two numbers every quarter, and a pipeline that lost rows without a sound.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Two true numbers for one quarter. Quote one to the owner of the other and you are out by nearly half, so every figure names its base and bridges to the books.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headline the hurried run sent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kept as they arrived, and a value that would not convert set to zero: no error anywhere.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98 rows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56,60,890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109 rows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+11.8%</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arithmetic is right, the file is Finance's own export,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export came with Finance's control totals, and a note that says nothing else.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on customers;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run against the control totals, in orders and in rupees.</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2328575"/>
                <a:gridCol w="2779719"/>
                <a:gridCol w="2328575"/>
                <a:gridCol w="2779719"/>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Orders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98</a:t>
                      </a:r>
                    </a:p>
                  </a:txBody>
                  <a:tcPr marL="101600" marR="101600" marT="38100" marB="38100" anchor="ctr">
                    <a:solidFill>
                      <a:srgbClr val="FFFFFF"/>
                    </a:solidFill>
                  </a:tcPr>
                </a:tc>
                <a:tc>
                  <a:txBody>
                    <a:bodyPr/>
                    <a:lstStyle/>
                    <a:p>
                      <a:r>
                        <a:rPr sz="1200" b="0" i="0">
                          <a:solidFill>
                            <a:srgbClr val="1A1440"/>
                          </a:solidFill>
                          <a:latin typeface="Calibri"/>
                        </a:rPr>
                        <a:t>Rs 50,63,000</a:t>
                      </a:r>
                    </a:p>
                  </a:txBody>
                  <a:tcPr marL="101600" marR="101600" marT="38100" marB="38100" anchor="ctr">
                    <a:solidFill>
                      <a:srgbClr val="FFFFFF"/>
                    </a:solidFill>
                  </a:tcPr>
                </a:tc>
                <a:tc>
                  <a:txBody>
                    <a:bodyPr/>
                    <a:lstStyle/>
                    <a:p>
                      <a:r>
                        <a:rPr sz="1200" b="0" i="0">
                          <a:solidFill>
                            <a:srgbClr val="1A1440"/>
                          </a:solidFill>
                          <a:latin typeface="Calibri"/>
                        </a:rPr>
                        <a:t>Rs 60,48,000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109</a:t>
                      </a:r>
                    </a:p>
                  </a:txBody>
                  <a:tcPr marL="101600" marR="101600" marT="38100" marB="38100" anchor="ctr">
                    <a:solidFill>
                      <a:srgbClr val="F4F2FA"/>
                    </a:solidFill>
                  </a:tcPr>
                </a:tc>
                <a:tc>
                  <a:txBody>
                    <a:bodyPr/>
                    <a:lstStyle/>
                    <a:p>
                      <a:r>
                        <a:rPr sz="1200" b="0" i="0">
                          <a:solidFill>
                            <a:srgbClr val="1A1440"/>
                          </a:solidFill>
                          <a:latin typeface="Calibri"/>
                        </a:rPr>
                        <a:t>99</a:t>
                      </a:r>
                    </a:p>
                  </a:txBody>
                  <a:tcPr marL="101600" marR="101600" marT="38100" marB="38100" anchor="ctr">
                    <a:solidFill>
                      <a:srgbClr val="F4F2FA"/>
                    </a:solidFill>
                  </a:tcPr>
                </a:tc>
                <a:tc>
                  <a:txBody>
                    <a:bodyPr/>
                    <a:lstStyle/>
                    <a:p>
                      <a:r>
                        <a:rPr sz="1200" b="0" i="0">
                          <a:solidFill>
                            <a:srgbClr val="1A1440"/>
                          </a:solidFill>
                          <a:latin typeface="Calibri"/>
                        </a:rPr>
                        <a:t>Rs 56,60,890</a:t>
                      </a:r>
                    </a:p>
                  </a:txBody>
                  <a:tcPr marL="101600" marR="101600" marT="38100" marB="38100" anchor="ctr">
                    <a:solidFill>
                      <a:srgbClr val="F4F2FA"/>
                    </a:solidFill>
                  </a:tcPr>
                </a:tc>
                <a:tc>
                  <a:txBody>
                    <a:bodyPr/>
                    <a:lstStyle/>
                    <a:p>
                      <a:r>
                        <a:rPr sz="1200" b="0" i="0">
                          <a:solidFill>
                            <a:srgbClr val="1A1440"/>
                          </a:solidFill>
                          <a:latin typeface="Calibri"/>
                        </a:rPr>
                        <a:t>Rs 43,25,480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Q1 lands on orders and misses on rupees; Q2 misses on both. Two different errors, and the headline carries them both.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check, sized on this morning's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Minutes of thought decide it; every option runs in under a millisecond.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029473"/>
                <a:gridCol w="2088463"/>
                <a:gridCol w="2327357"/>
                <a:gridCol w="268569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Headline it sends</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+11.8%</a:t>
                      </a:r>
                    </a:p>
                  </a:txBody>
                  <a:tcPr marL="101600" marR="101600" marT="38100" marB="38100" anchor="ctr">
                    <a:solidFill>
                      <a:srgbClr val="FFFFFF"/>
                    </a:solidFill>
                  </a:tcPr>
                </a:tc>
                <a:tc>
                  <a:txBody>
                    <a:bodyPr/>
                    <a:lstStyle/>
                    <a:p>
                      <a:r>
                        <a:rPr sz="1200" b="0" i="0">
                          <a:solidFill>
                            <a:srgbClr val="1A1440"/>
                          </a:solidFill>
                          <a:latin typeface="Calibri"/>
                        </a:rPr>
                        <a:t>40.3</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c>
                  <a:txBody>
                    <a:bodyPr/>
                    <a:lstStyle/>
                    <a:p>
                      <a:r>
                        <a:rPr sz="1200" b="0" i="0">
                          <a:solidFill>
                            <a:srgbClr val="1A1440"/>
                          </a:solidFill>
                          <a:latin typeface="Calibri"/>
                        </a:rPr>
                        <a:t>13.9</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-28.5%</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C, because it needs only the control file that came with the export and lands to the rupee.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the hurried sum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a line in the decisions log, and the walk closes on Finance's total.</a:t>
            </a:r>
          </a:p>
        </p:txBody>
      </p:sp>
      <p:pic>
        <p:nvPicPr>
          <p:cNvPr id="9" name="mermaid diagram" descr="07d5400dbcc5a57a.png"/>
          <p:cNvPicPr>
            <a:picLocks noChangeAspect="1"/>
          </p:cNvPicPr>
          <p:nvPr/>
        </p:nvPicPr>
        <p:blipFill>
          <a:blip r:embed="rId5"/>
          <a:stretch>
            <a:fillRect/>
          </a:stretch>
        </p:blipFill>
        <p:spPr>
          <a:xfrm>
            <a:off x="530352" y="1956816"/>
            <a:ext cx="11130991" cy="1696640"/>
          </a:xfrm>
          <a:prstGeom prst="rect">
            <a:avLst/>
          </a:prstGeom>
        </p:spPr>
      </p:pic>
      <p:sp>
        <p:nvSpPr>
          <p:cNvPr id="10" name="TextBox 9"/>
          <p:cNvSpPr txBox="1"/>
          <p:nvPr/>
        </p:nvSpPr>
        <p:spPr>
          <a:xfrm>
            <a:off x="530352" y="3799760"/>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both quarters on the books the headline is a fall of 28.5 percent, Rs 60,48,000 to Rs 43,25,480.</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3" name="Oval 1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decision the wrong number would have made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Growth reads as no action; a fall reads as find the branch, and only one of them is true.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11.8%</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14.6%</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28.5%</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17,22,520 to explain, and the tree says where.</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34" name="Oval 3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6" name="Oval 3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walk back from Finance's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at the control total, undo each logged decision, and land on what the hurried run summed.</a:t>
            </a:r>
          </a:p>
        </p:txBody>
      </p:sp>
      <p:pic>
        <p:nvPicPr>
          <p:cNvPr id="9" name="mermaid diagram" descr="44cac503fe234bb0.png"/>
          <p:cNvPicPr>
            <a:picLocks noChangeAspect="1"/>
          </p:cNvPicPr>
          <p:nvPr/>
        </p:nvPicPr>
        <p:blipFill>
          <a:blip r:embed="rId6"/>
          <a:stretch>
            <a:fillRect/>
          </a:stretch>
        </p:blipFill>
        <p:spPr>
          <a:xfrm>
            <a:off x="530352" y="1956816"/>
            <a:ext cx="11130991" cy="863855"/>
          </a:xfrm>
          <a:prstGeom prst="rect">
            <a:avLst/>
          </a:prstGeom>
        </p:spPr>
      </p:pic>
      <p:sp>
        <p:nvSpPr>
          <p:cNvPr id="10" name="Rounded Rectangle 9"/>
          <p:cNvSpPr/>
          <p:nvPr/>
        </p:nvSpPr>
        <p:spPr>
          <a:xfrm>
            <a:off x="530352" y="296697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992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408935"/>
            <a:ext cx="237744" cy="237744"/>
          </a:xfrm>
          <a:prstGeom prst="rect">
            <a:avLst/>
          </a:prstGeom>
        </p:spPr>
      </p:pic>
      <p:sp>
        <p:nvSpPr>
          <p:cNvPr id="13" name="TextBox 12"/>
          <p:cNvSpPr txBox="1"/>
          <p:nvPr/>
        </p:nvSpPr>
        <p:spPr>
          <a:xfrm>
            <a:off x="1399031" y="311327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32735"/>
            <a:ext cx="9987991" cy="68275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Run the walk back when a bridge closes suspiciously neatly: two mistakes that cancel pass one route and fail the other.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rows also move a branch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rows as they arrived, Retail-Core's customers seem to order a fifth more often.</a:t>
            </a:r>
          </a:p>
        </p:txBody>
      </p:sp>
      <p:pic>
        <p:nvPicPr>
          <p:cNvPr id="10" name="mermaid diagram" descr="b9379099fa616a9e.png"/>
          <p:cNvPicPr>
            <a:picLocks noChangeAspect="1"/>
          </p:cNvPicPr>
          <p:nvPr/>
        </p:nvPicPr>
        <p:blipFill>
          <a:blip r:embed="rId5"/>
          <a:stretch>
            <a:fillRect/>
          </a:stretch>
        </p:blipFill>
        <p:spPr>
          <a:xfrm>
            <a:off x="3095472" y="1956816"/>
            <a:ext cx="6000750" cy="2014537"/>
          </a:xfrm>
          <a:prstGeom prst="rect">
            <a:avLst/>
          </a:prstGeom>
        </p:spPr>
      </p:pic>
      <p:sp>
        <p:nvSpPr>
          <p:cNvPr id="11" name="TextBox 10"/>
          <p:cNvSpPr txBox="1"/>
          <p:nvPr/>
        </p:nvSpPr>
        <p:spPr>
          <a:xfrm>
            <a:off x="530352" y="4117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Rows Finance does not hold manufacture a frequency rise where nothing changed, and hide a basket fall behind a flat segment.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the clock removes this step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Fifteen of ninety minutes, and its only output is a yes or a no, so it feels like the step that can wait.</a:t>
            </a:r>
          </a:p>
        </p:txBody>
      </p:sp>
      <p:sp>
        <p:nvSpPr>
          <p:cNvPr id="9" name="Rectangle 8"/>
          <p:cNvSpPr/>
          <p:nvPr/>
        </p:nvSpPr>
        <p:spPr>
          <a:xfrm>
            <a:off x="530352" y="1956816"/>
            <a:ext cx="2473553"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Profile</a:t>
            </a:r>
          </a:p>
        </p:txBody>
      </p:sp>
      <p:sp>
        <p:nvSpPr>
          <p:cNvPr id="10" name="Rectangle 9"/>
          <p:cNvSpPr/>
          <p:nvPr/>
        </p:nvSpPr>
        <p:spPr>
          <a:xfrm>
            <a:off x="3003905"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Clean</a:t>
            </a:r>
          </a:p>
        </p:txBody>
      </p:sp>
      <p:sp>
        <p:nvSpPr>
          <p:cNvPr id="11" name="Rectangle 10"/>
          <p:cNvSpPr/>
          <p:nvPr/>
        </p:nvSpPr>
        <p:spPr>
          <a:xfrm>
            <a:off x="6714236" y="1956816"/>
            <a:ext cx="1855165"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Reconcile</a:t>
            </a:r>
          </a:p>
        </p:txBody>
      </p:sp>
      <p:sp>
        <p:nvSpPr>
          <p:cNvPr id="12" name="Rectangle 11"/>
          <p:cNvSpPr/>
          <p:nvPr/>
        </p:nvSpPr>
        <p:spPr>
          <a:xfrm>
            <a:off x="8569401" y="1956816"/>
            <a:ext cx="3091941"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Decompose</a:t>
            </a:r>
          </a:p>
        </p:txBody>
      </p:sp>
      <p:sp>
        <p:nvSpPr>
          <p:cNvPr id="13" name="Rounded Rectangle 12"/>
          <p:cNvSpPr/>
          <p:nvPr/>
        </p:nvSpPr>
        <p:spPr>
          <a:xfrm>
            <a:off x="530352" y="29169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758952" y="32491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search-check_6571e64a041f.png"/>
          <p:cNvPicPr>
            <a:picLocks noChangeAspect="1"/>
          </p:cNvPicPr>
          <p:nvPr/>
        </p:nvPicPr>
        <p:blipFill>
          <a:blip r:embed="rId4"/>
          <a:stretch>
            <a:fillRect/>
          </a:stretch>
        </p:blipFill>
        <p:spPr>
          <a:xfrm>
            <a:off x="868680" y="3358896"/>
            <a:ext cx="237744" cy="237744"/>
          </a:xfrm>
          <a:prstGeom prst="rect">
            <a:avLst/>
          </a:prstGeom>
        </p:spPr>
      </p:pic>
      <p:sp>
        <p:nvSpPr>
          <p:cNvPr id="16" name="TextBox 15"/>
          <p:cNvSpPr txBox="1"/>
          <p:nvPr/>
        </p:nvSpPr>
        <p:spPr>
          <a:xfrm>
            <a:off x="1399031" y="30632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7" name="TextBox 16"/>
          <p:cNvSpPr txBox="1"/>
          <p:nvPr/>
        </p:nvSpPr>
        <p:spPr>
          <a:xfrm>
            <a:off x="1399031" y="3282696"/>
            <a:ext cx="9987991" cy="68275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and this morning it did. Put the two checks in a cell before the first number you plan to send.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The reconciliation, skipped</a:t>
            </a:r>
          </a:p>
        </p:txBody>
      </p:sp>
      <p:sp>
        <p:nvSpPr>
          <p:cNvPr id="20" name="Oval 19"/>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2" name="Oval 21"/>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pass that looks clean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zero-reject pass on a file you know is dirty is the first thing to investigate.</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base of every rate is Q1's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analyst audits the note, and their first question is always the rupees.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half</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BASE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half its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Show me the rupees.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formula that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JPMorgan's own task force found a spreadsheet that never errored and halved a risk measure.</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by a factor of two and lowering the VaR. Source: the task force report, January 2013, as quoted by The Baseline Scenario, 9 February 2013.</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trading losses the FCA's fine refers to.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6" name="Oval 2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most natural line of Python in the week: a try that sets a failure 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98</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98</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50,63,000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of every rate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30" name="Oval 2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rows reconcile, so what is left?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Input equals kept plus rejected, and the order counts match Finance's.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nothing, since every row is accounted for; b) the rupees, each quarter against its control total; c) the median, since one large order may have gone; d) the dates, since the quarter may be cut wrong.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6" name="Oval 15"/>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rupees, and Q1 is Rs 9,85,000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Counts reconcile while rupees do not: the gap is the value the try swallowed.</a:t>
            </a:r>
          </a:p>
        </p:txBody>
      </p:sp>
      <p:pic>
        <p:nvPicPr>
          <p:cNvPr id="9" name="mermaid diagram" descr="5950a486d2ba6b34.png"/>
          <p:cNvPicPr>
            <a:picLocks noChangeAspect="1"/>
          </p:cNvPicPr>
          <p:nvPr/>
        </p:nvPicPr>
        <p:blipFill>
          <a:blip r:embed="rId5"/>
          <a:stretch>
            <a:fillRect/>
          </a:stretch>
        </p:blipFill>
        <p:spPr>
          <a:xfrm>
            <a:off x="1252385" y="1956816"/>
            <a:ext cx="9686925" cy="2471737"/>
          </a:xfrm>
          <a:prstGeom prst="rect">
            <a:avLst/>
          </a:prstGeom>
        </p:spPr>
      </p:pic>
      <p:sp>
        <p:nvSpPr>
          <p:cNvPr id="10" name="TextBox 9"/>
          <p:cNvSpPr txBox="1"/>
          <p:nvPr/>
        </p:nvSpPr>
        <p:spPr>
          <a:xfrm>
            <a:off x="530352" y="4574857"/>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With the base short by 16.3 percent, the note reports a fall of 14.6 percent where the books show 28.5.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3" name="Oval 12"/>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5" name="Oval 14"/>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to a value that will not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value in 207, sized: what each option sends and what the checks then show.</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-14.6%</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-14.6%</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-28.5%</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C, when the value can be read without guessing, as digits with an Indian ledger's grouping commas can. D when it cannot: a word, a unit that could be lakh or crore. B when the row is not an order.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honest answers, and zero is none of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leaves a log line and a number in the reconciliation.</a:t>
            </a:r>
          </a:p>
        </p:txBody>
      </p:sp>
      <p:pic>
        <p:nvPicPr>
          <p:cNvPr id="9" name="mermaid diagram" descr="9b4d3c5884cf6c9b.png"/>
          <p:cNvPicPr>
            <a:picLocks noChangeAspect="1"/>
          </p:cNvPicPr>
          <p:nvPr/>
        </p:nvPicPr>
        <p:blipFill>
          <a:blip r:embed="rId6"/>
          <a:stretch>
            <a:fillRect/>
          </a:stretch>
        </p:blipFill>
        <p:spPr>
          <a:xfrm>
            <a:off x="2676753" y="1664208"/>
            <a:ext cx="6838187"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ic_caee7398c80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shape one step later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filter on the segment name never sees a row whose segment is empty.</a:t>
            </a:r>
          </a:p>
        </p:txBody>
      </p:sp>
      <p:pic>
        <p:nvPicPr>
          <p:cNvPr id="10" name="mermaid diagram" descr="28fab4467ce65e82.png"/>
          <p:cNvPicPr>
            <a:picLocks noChangeAspect="1"/>
          </p:cNvPicPr>
          <p:nvPr/>
        </p:nvPicPr>
        <p:blipFill>
          <a:blip r:embed="rId6"/>
          <a:stretch>
            <a:fillRect/>
          </a:stretch>
        </p:blipFill>
        <p:spPr>
          <a:xfrm>
            <a:off x="3345503" y="1956816"/>
            <a:ext cx="5500687" cy="2043112"/>
          </a:xfrm>
          <a:prstGeom prst="rect">
            <a:avLst/>
          </a:prstGeom>
        </p:spPr>
      </p:pic>
      <p:sp>
        <p:nvSpPr>
          <p:cNvPr id="11" name="Rounded Rectangle 10"/>
          <p:cNvSpPr/>
          <p:nvPr/>
        </p:nvSpPr>
        <p:spPr>
          <a:xfrm>
            <a:off x="530352" y="41462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78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88192"/>
            <a:ext cx="237744" cy="237744"/>
          </a:xfrm>
          <a:prstGeom prst="rect">
            <a:avLst/>
          </a:prstGeom>
        </p:spPr>
      </p:pic>
      <p:sp>
        <p:nvSpPr>
          <p:cNvPr id="14" name="TextBox 13"/>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511992"/>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Here they fall one order short, and a tier that grew reads as a second falling segment.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8" name="Oval 17"/>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20" name="Oval 19"/>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D19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account for every value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rupee check finds the gap from outside the file; this finds it from inside.</a:t>
            </a:r>
          </a:p>
        </p:txBody>
      </p:sp>
      <p:pic>
        <p:nvPicPr>
          <p:cNvPr id="9" name="mermaid diagram" descr="349878b4ade5e666.png"/>
          <p:cNvPicPr>
            <a:picLocks noChangeAspect="1"/>
          </p:cNvPicPr>
          <p:nvPr/>
        </p:nvPicPr>
        <p:blipFill>
          <a:blip r:embed="rId6"/>
          <a:stretch>
            <a:fillRect/>
          </a:stretch>
        </p:blipFill>
        <p:spPr>
          <a:xfrm>
            <a:off x="1909610" y="1956816"/>
            <a:ext cx="8372475"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Zero is a claim that the order was worth nothing, so never let a try make it for you.</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pass that looks clean</a:t>
            </a:r>
          </a:p>
        </p:txBody>
      </p:sp>
      <p:sp>
        <p:nvSpPr>
          <p:cNvPr id="19" name="Oval 18"/>
          <p:cNvSpPr/>
          <p:nvPr/>
        </p:nvSpPr>
        <p:spPr>
          <a:xfrm>
            <a:off x="38736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headline on too few orders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rate on a handful of orders cannot lead a note until its count is said.</a:t>
            </a:r>
          </a:p>
        </p:txBody>
      </p:sp>
      <p:sp>
        <p:nvSpPr>
          <p:cNvPr id="10" name="Rounded Rectangle 9"/>
          <p:cNvSpPr/>
          <p:nvPr/>
        </p:nvSpPr>
        <p:spPr>
          <a:xfrm>
            <a:off x="731519"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reconciliation, skipped</a:t>
            </a:r>
          </a:p>
        </p:txBody>
      </p:sp>
      <p:sp>
        <p:nvSpPr>
          <p:cNvPr id="11" name="Rounded Rectangle 10"/>
          <p:cNvSpPr/>
          <p:nvPr/>
        </p:nvSpPr>
        <p:spPr>
          <a:xfrm>
            <a:off x="280583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pass that looks clean</a:t>
            </a:r>
          </a:p>
        </p:txBody>
      </p:sp>
      <p:sp>
        <p:nvSpPr>
          <p:cNvPr id="12" name="Rounded Rectangle 11"/>
          <p:cNvSpPr/>
          <p:nvPr/>
        </p:nvSpPr>
        <p:spPr>
          <a:xfrm>
            <a:off x="4761726" y="5074920"/>
            <a:ext cx="214223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headline on too few orders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the week rebuilt alone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Choosing which right number leads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data now ties to the books; the question is which finding Meera reads first.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17,22,520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99.3%</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CARRIED BY ONE SEGMENT</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corporate book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 places that count before they rank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ratings site that will not rank a title on a few votes, and a foundation that did.</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4" name="Oval 2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6" name="Oval 2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fell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True to the rupee, the biggest number on the page, and the headline many notes led with.</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-29.2%</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BUSINESS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6 then 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17,10,000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99.3%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3" name="Oval 22"/>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25" name="Oval 24"/>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shuffle test's p-value printed beside the rate; c) left out of the note, since ten orders are too few to matter to anyone; d) as counts, two fewer corporate orders,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4" name="Oval 13"/>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6" name="Oval 15"/>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count before rate, then choose the lead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Ten orders split by coin flips come out at least as uneven as six and four in 75 percent of worlds.</a:t>
            </a:r>
          </a:p>
        </p:txBody>
      </p:sp>
      <p:pic>
        <p:nvPicPr>
          <p:cNvPr id="9" name="mermaid diagram" descr="d8ada4ab7ae2a132.png"/>
          <p:cNvPicPr>
            <a:picLocks noChangeAspect="1"/>
          </p:cNvPicPr>
          <p:nvPr/>
        </p:nvPicPr>
        <p:blipFill>
          <a:blip r:embed="rId5"/>
          <a:stretch>
            <a:fillRect/>
          </a:stretch>
        </p:blipFill>
        <p:spPr>
          <a:xfrm>
            <a:off x="3513786" y="1682496"/>
            <a:ext cx="5164121"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2" name="Oval 1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4" name="Oval 1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each option leads with, on how many orders, and how often chance alone produces it.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719560"/>
                <a:gridCol w="4434823"/>
                <a:gridCol w="914400"/>
                <a:gridCol w="2147806"/>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-29.2%</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0.75, coin flips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-28.5%</a:t>
                      </a:r>
                    </a:p>
                  </a:txBody>
                  <a:tcPr marL="101600" marR="101600" marT="38100" marB="38100" anchor="ctr">
                    <a:solidFill>
                      <a:srgbClr val="F4F2FA"/>
                    </a:solidFill>
                  </a:tcPr>
                </a:tc>
                <a:tc>
                  <a:txBody>
                    <a:bodyPr/>
                    <a:lstStyle/>
                    <a:p>
                      <a:r>
                        <a:rPr sz="1200" b="0" i="0">
                          <a:solidFill>
                            <a:srgbClr val="1A1440"/>
                          </a:solidFill>
                          <a:latin typeface="Calibri"/>
                        </a:rPr>
                        <a:t>197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Retail-Core basket -17.1%, Rs 15,400</a:t>
                      </a:r>
                    </a:p>
                  </a:txBody>
                  <a:tcPr marL="101600" marR="101600" marT="38100" marB="38100" anchor="ctr">
                    <a:solidFill>
                      <a:srgbClr val="FFFFFF"/>
                    </a:solidFill>
                  </a:tcPr>
                </a:tc>
                <a:tc>
                  <a:txBody>
                    <a:bodyPr/>
                    <a:lstStyle/>
                    <a:p>
                      <a:r>
                        <a:rPr sz="1200" b="0" i="0">
                          <a:solidFill>
                            <a:srgbClr val="1A1440"/>
                          </a:solidFill>
                          <a:latin typeface="Calibri"/>
                        </a:rPr>
                        <a:t>88</a:t>
                      </a:r>
                    </a:p>
                  </a:txBody>
                  <a:tcPr marL="101600" marR="101600" marT="38100" marB="38100" anchor="ctr">
                    <a:solidFill>
                      <a:srgbClr val="FFFFFF"/>
                    </a:solidFill>
                  </a:tcPr>
                </a:tc>
                <a:tc>
                  <a:txBody>
                    <a:bodyPr/>
                    <a:lstStyle/>
                    <a:p>
                      <a:r>
                        <a:rPr sz="1200" b="0" i="0">
                          <a:solidFill>
                            <a:srgbClr val="1A1440"/>
                          </a:solidFill>
                          <a:latin typeface="Calibri"/>
                        </a:rPr>
                        <a:t>0.0195, shuffle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p</a:t>
                      </a:r>
                    </a:p>
                  </a:txBody>
                  <a:tcPr marL="101600" marR="101600" marT="38100" marB="38100" anchor="ctr">
                    <a:solidFill>
                      <a:srgbClr val="F4F2FA"/>
                    </a:solidFill>
                  </a:tcPr>
                </a:tc>
                <a:tc>
                  <a:txBody>
                    <a:bodyPr/>
                    <a:lstStyle/>
                    <a:p>
                      <a:r>
                        <a:rPr sz="1200" b="0" i="0">
                          <a:solidFill>
                            <a:srgbClr val="1A1440"/>
                          </a:solidFill>
                          <a:latin typeface="Calibri"/>
                        </a:rPr>
                        <a:t>10 to 88</a:t>
                      </a:r>
                    </a:p>
                  </a:txBody>
                  <a:tcPr marL="101600" marR="101600" marT="38100" marB="38100" anchor="ctr">
                    <a:solidFill>
                      <a:srgbClr val="F4F2FA"/>
                    </a:solidFill>
                  </a:tcPr>
                </a:tc>
                <a:tc>
                  <a:txBody>
                    <a:bodyPr/>
                    <a:lstStyle/>
                    <a:p>
                      <a:r>
                        <a:rPr sz="1200" b="0" i="0">
                          <a:solidFill>
                            <a:srgbClr val="1A1440"/>
                          </a:solidFill>
                          <a:latin typeface="Calibri"/>
                        </a:rPr>
                        <a:t>0.19 false alarm</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 the one consumer move on enough orders to test, small in rupees (0.9 percent of the fall) and led beside the corporate move said as counts. Switch when Meera's question is about accounts rather than rates,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branch that moved, tested on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label is shuffled across customers, because a customer's orders belong together.</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-15.6 pts</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BASKET GAP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Retail-Core against Retail-Plus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39 of 2,000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SHUFFLES AS LARGE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random.Random(7)</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0.0195</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ic_caee7398c80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 Tell me about an analysis you did: what did you find, and how sure are you? The claim with its count, the check that it ties to the books, the test on the right unit, and the caveat.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8" name="Oval 27"/>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0" name="Oval 29"/>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customer by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Retail-Core's 30 customers who ordered in both quarters, how many saw their own basket fall?</a:t>
            </a:r>
          </a:p>
        </p:txBody>
      </p:sp>
      <p:pic>
        <p:nvPicPr>
          <p:cNvPr id="9" name="mermaid diagram" descr="8095a9870cd63487.png"/>
          <p:cNvPicPr>
            <a:picLocks noChangeAspect="1"/>
          </p:cNvPicPr>
          <p:nvPr/>
        </p:nvPicPr>
        <p:blipFill>
          <a:blip r:embed="rId6"/>
          <a:stretch>
            <a:fillRect/>
          </a:stretch>
        </p:blipFill>
        <p:spPr>
          <a:xfrm>
            <a:off x="1873891" y="1956816"/>
            <a:ext cx="8443912" cy="2043112"/>
          </a:xfrm>
          <a:prstGeom prst="rect">
            <a:avLst/>
          </a:prstGeom>
        </p:spPr>
      </p:pic>
      <p:sp>
        <p:nvSpPr>
          <p:cNvPr id="10" name="Rounded Rectangle 9"/>
          <p:cNvSpPr/>
          <p:nvPr/>
        </p:nvSpPr>
        <p:spPr>
          <a:xfrm>
            <a:off x="530352" y="41462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489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458652"/>
            <a:ext cx="237744" cy="237744"/>
          </a:xfrm>
          <a:prstGeom prst="rect">
            <a:avLst/>
          </a:prstGeom>
        </p:spPr>
      </p:pic>
      <p:sp>
        <p:nvSpPr>
          <p:cNvPr id="13" name="TextBox 12"/>
          <p:cNvSpPr txBox="1"/>
          <p:nvPr/>
        </p:nvSpPr>
        <p:spPr>
          <a:xfrm>
            <a:off x="1399031" y="42925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1199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"six orders, then four",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17" name="Oval 16"/>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19" name="Oval 18"/>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shuffle what carries the label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gap, tested two ways, and two verdicts.</a:t>
            </a:r>
          </a:p>
        </p:txBody>
      </p:sp>
      <p:sp>
        <p:nvSpPr>
          <p:cNvPr id="10" name="Rounded Rectangle 9"/>
          <p:cNvSpPr/>
          <p:nvPr/>
        </p:nvSpPr>
        <p:spPr>
          <a:xfrm>
            <a:off x="530352"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SHUFFLE CUSTOMERS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0.0195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A customer's orders move together, so every world is one that could exist.</a:t>
            </a:r>
          </a:p>
        </p:txBody>
      </p:sp>
      <p:sp>
        <p:nvSpPr>
          <p:cNvPr id="16" name="Rounded Rectangle 15"/>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SHUFFLE ORDERS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0.0755</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Orders treated as independent. Most often that makes p too small; here it breaks each customer's Q1 to Q2 pairing, so a real gap reads as chance.</a:t>
            </a:r>
          </a:p>
        </p:txBody>
      </p:sp>
      <p:sp>
        <p:nvSpPr>
          <p:cNvPr id="22" name="Rounded Rectangle 21"/>
          <p:cNvSpPr/>
          <p:nvPr/>
        </p:nvSpPr>
        <p:spPr>
          <a:xfrm>
            <a:off x="530352" y="42941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06544"/>
            <a:ext cx="237744" cy="237744"/>
          </a:xfrm>
          <a:prstGeom prst="rect">
            <a:avLst/>
          </a:prstGeom>
        </p:spPr>
      </p:pic>
      <p:sp>
        <p:nvSpPr>
          <p:cNvPr id="25" name="TextBox 24"/>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1A1440"/>
                </a:solidFill>
                <a:latin typeface="Calibri"/>
              </a:rPr>
              <a:t>The unit you shuffle is the unit that carries the label. On Thursday and today, that is the customer.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Reserve: the typical order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few corporate orders drag the mean far from any order a consumer placed.</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52,657</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ten orders</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2,120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29" name="Oval 28"/>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1" name="Oval 30"/>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D30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line you write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step where you stalled, rerun alone, and what you will do differently.</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Rounded Rectangle 24"/>
          <p:cNvSpPr/>
          <p:nvPr/>
        </p:nvSpPr>
        <p:spPr>
          <a:xfrm>
            <a:off x="530352" y="41036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43063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search-check_6571e64a041f.png"/>
          <p:cNvPicPr>
            <a:picLocks noChangeAspect="1"/>
          </p:cNvPicPr>
          <p:nvPr/>
        </p:nvPicPr>
        <p:blipFill>
          <a:blip r:embed="rId4"/>
          <a:stretch>
            <a:fillRect/>
          </a:stretch>
        </p:blipFill>
        <p:spPr>
          <a:xfrm>
            <a:off x="868680" y="4416044"/>
            <a:ext cx="237744" cy="237744"/>
          </a:xfrm>
          <a:prstGeom prst="rect">
            <a:avLst/>
          </a:prstGeom>
        </p:spPr>
      </p:pic>
      <p:sp>
        <p:nvSpPr>
          <p:cNvPr id="28" name="TextBox 27"/>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9" name="TextBox 28"/>
          <p:cNvSpPr txBox="1"/>
          <p:nvPr/>
        </p:nvSpPr>
        <p:spPr>
          <a:xfrm>
            <a:off x="1399031" y="4469384"/>
            <a:ext cx="9987991" cy="423672"/>
          </a:xfrm>
          <a:prstGeom prst="rect">
            <a:avLst/>
          </a:prstGeom>
          <a:noFill/>
        </p:spPr>
        <p:txBody>
          <a:bodyPr wrap="square" anchor="t" lIns="0" rIns="0" tIns="0" bIns="0">
            <a:spAutoFit/>
          </a:bodyPr>
          <a:lstStyle/>
          <a:p>
            <a:r>
              <a:rPr sz="1500" b="0" i="0">
                <a:solidFill>
                  <a:srgbClr val="1A1440"/>
                </a:solidFill>
                <a:latin typeface="Calibri"/>
              </a:rPr>
              <a:t>The lab told you which step you do not own yet. Rerun that step tonight on the practice export.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The reconciliation, skipped</a:t>
            </a:r>
          </a:p>
        </p:txBody>
      </p:sp>
      <p:sp>
        <p:nvSpPr>
          <p:cNvPr id="32" name="Oval 31"/>
          <p:cNvSpPr/>
          <p:nvPr/>
        </p:nvSpPr>
        <p:spPr>
          <a:xfrm>
            <a:off x="22479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357723"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pass that looks clean</a:t>
            </a:r>
          </a:p>
        </p:txBody>
      </p:sp>
      <p:sp>
        <p:nvSpPr>
          <p:cNvPr id="34" name="Oval 33"/>
          <p:cNvSpPr/>
          <p:nvPr/>
        </p:nvSpPr>
        <p:spPr>
          <a:xfrm>
            <a:off x="38736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983355"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The headline on too few orders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