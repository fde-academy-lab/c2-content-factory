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Anand said this on Wednesday, and the lunch tally says how many notes this</a:t>
            </a:r>
          </a:p>
          <a:p>
            <a:r>
              <a:t>morning sent a number Finance would have returned. The debrief runs forty minutes as three chapters, one per place most</a:t>
            </a:r>
          </a:p>
          <a:p>
            <a:r>
              <a:t>rooms break: chapter 1 before lunch (20 minutes, this minute included), chapters 2 and 3 after it</a:t>
            </a:r>
          </a:p>
          <a:p>
            <a:r>
              <a:t>(10 minutes each). Each chapter pairs with a notebook of the same number in notebooks/, which opens</a:t>
            </a:r>
          </a:p>
          <a:p>
            <a:r>
              <a:t>now that the clock has stopped. Every number on these slides comes from an invented export,</a:t>
            </a:r>
          </a:p>
          <a:p>
            <a:r>
              <a:t>labelled invented. This morning's own numbers are in the day sheet's debrief table, to say aloud at each slide,</a:t>
            </a:r>
          </a:p>
          <a:p>
            <a:r>
              <a:t>and in the notebooks' empty your-turn cells, to type live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questions in order and say that each is the question the one before</a:t>
            </a:r>
          </a:p>
          <a:p>
            <a:r>
              <a:t>it leaves open. Say once that the slides run on an invented export so that they name nothing in</a:t>
            </a:r>
          </a:p>
          <a:p>
            <a:r>
              <a:t>this morning's file, and that the notebooks' your-turn cells are where this morning's numbers</a:t>
            </a:r>
          </a:p>
          <a:p>
            <a:r>
              <a:t>appear.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C2_W01_D05_01_debrief_quarters_STUDENT.ipynb, goes</a:t>
            </a:r>
          </a:p>
          <a:p>
            <a:r>
              <a:t>on the projector at S7 and stays there to S15, its your-turn cells typed live. Close with two</a:t>
            </a:r>
          </a:p>
          <a:p>
            <a:r>
              <a:t>learners reading their 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then the five questions. Ask the room to hold one</a:t>
            </a:r>
          </a:p>
          <a:p>
            <a:r>
              <a:t>number in mind: the headline their own note led with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Booked revenue is the rupees of the orders recorded as sales in a quarter, and a</a:t>
            </a:r>
          </a:p>
          <a:p>
            <a:r>
              <a:t>control total is the source system's own count of orders and sum of rupees for a period. Anand</a:t>
            </a:r>
          </a:p>
          <a:p>
            <a:r>
              <a:t>returns any figure that does not tie to his control total, and Meera acts on the first line of the</a:t>
            </a:r>
          </a:p>
          <a:p>
            <a:r>
              <a:t>note: a wrong first line sends Monday's review after the wrong question while Marketing's Rs 12</a:t>
            </a:r>
          </a:p>
          <a:p>
            <a:r>
              <a:t>crore request is judged against a quarter that did not happen. One sentence of likeness, even when</a:t>
            </a:r>
          </a:p>
          <a:p>
            <a:r>
              <a:t>D4 is left to self-study: Nykaa reports gross merchandise value and revenue from operations for the</a:t>
            </a:r>
          </a:p>
          <a:p>
            <a:r>
              <a:t>same quarter, 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What both show: an error that drops or doubles</a:t>
            </a:r>
          </a:p>
          <a:p>
            <a:r>
              <a:t>rows makes no sound,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the invented export's, so the mechanism shows without naming what</a:t>
            </a:r>
          </a:p>
          <a:p>
            <a:r>
              <a:t>this morning's file holds. Read the three numbers, then say this morning's hurried headline aloud</a:t>
            </a:r>
          </a:p>
          <a:p>
            <a:r>
              <a:t>from the day sheet's debrief table and ask how many sent a headline with a plus sign, without naming</a:t>
            </a:r>
          </a:p>
          <a:p>
            <a:r>
              <a:t>anyone; the TA tally already knows. Then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a is Monday's instinct and a good one on another day; d is</a:t>
            </a:r>
          </a:p>
          <a:p>
            <a:r>
              <a:t>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Open notebook 1 on the projector and type its first your-turn cell: it prints this</a:t>
            </a:r>
          </a:p>
          <a:p>
            <a:r>
              <a:t>morning's version of this table and this morning's hurried headline beside the books. Point at the</a:t>
            </a:r>
          </a:p>
          <a:p>
            <a:r>
              <a:t>two kinds of miss: a quarter with the right count and the wrong rupees is chapter 2's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Invented numbers. Then type the sizing your-turn cell in notebook 1, which sizes</a:t>
            </a:r>
          </a:p>
          <a:p>
            <a:r>
              <a:t>the same options on this morning's file, with D marked not run for the same reason: no ledger came</a:t>
            </a:r>
          </a:p>
          <a:p>
            <a:r>
              <a:t>with either export. Land two points: B is where most people who did check stopped, and it still</a:t>
            </a:r>
          </a:p>
          <a:p>
            <a:r>
              <a:t>leaves the headline well off the books; D would name every order that differs and costs the</a:t>
            </a:r>
          </a:p>
          <a:p>
            <a:r>
              <a:t>afternoon, once Finance sends the ledger. Minutes are the lab brief's pace, and D's is an estimate</a:t>
            </a:r>
          </a:p>
          <a:p>
            <a:r>
              <a:t>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S8: a count check cannot see a value that went missing inside a row</a:t>
            </a:r>
          </a:p>
          <a:p>
            <a:r>
              <a:t>that is still there, and only the rupees can.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c: people expect the count fix to fix</a:t>
            </a:r>
          </a:p>
          <a:p>
            <a:r>
              <a:t>everything.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The answer is b. Every count lands and Q1 is still short in rupees: a</a:t>
            </a:r>
          </a:p>
          <a:p>
            <a:r>
              <a:t>count check proves the rows are there and says nothing about each row's value. Type the count-check your-turn</a:t>
            </a:r>
          </a:p>
          <a:p>
            <a:r>
              <a:t>cell in notebook 1 for this morning's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then reveal.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type the bridge your-turn cell in notebook 1, which draws this morning's</a:t>
            </a:r>
          </a:p>
          <a:p>
            <a:r>
              <a:t>bridge; say this morning's two moves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this morning's three headlines aloud from the day sheet's debrief table, then</a:t>
            </a:r>
          </a:p>
          <a:p>
            <a:r>
              <a:t>ask one 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in notebook 1; both checks pass on this</a:t>
            </a:r>
          </a:p>
          <a:p>
            <a:r>
              <a:t>morning's file, and the table it prints lists the rows Finance does not hold. The bridge's moves</a:t>
            </a:r>
          </a:p>
          <a:p>
            <a:r>
              <a:t>were found by subtracting totals, and these sums count the decisions themselves, so a row set aside</a:t>
            </a:r>
          </a:p>
          <a:p>
            <a:r>
              <a:t>without its log line, or a value set to zero where it should have been read, makes the two</a:t>
            </a:r>
          </a:p>
          <a:p>
            <a:r>
              <a:t>disagree.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whose your-turn cell runs the same comparison on</a:t>
            </a:r>
          </a:p>
          <a:p>
            <a:r>
              <a:t>this morning's file. Run it live for two minutes only if the tally shows more than a quarter of</a:t>
            </a:r>
          </a:p>
          <a:p>
            <a:r>
              <a:t>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two learners' second-look lines included: one whose totals landed and</a:t>
            </a:r>
          </a:p>
          <a:p>
            <a:r>
              <a:t>one whose did not. Thank both the same way. The clock removes this step first because it produces no</a:t>
            </a:r>
          </a:p>
          <a:p>
            <a:r>
              <a:t>new number, only a yes or a no, and it takes fifteen of the lab's 120 minutes. Then lunch.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C2_W01_D05_02_debrief_values_STUDENT.ipynb, on the</a:t>
            </a:r>
          </a:p>
          <a:p>
            <a:r>
              <a:t>projector from S22, its your-turn cells typed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 and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short by one large order can halve the fall the note reports: nobody argues</a:t>
            </a:r>
          </a:p>
          <a:p>
            <a:r>
              <a:t>with the direction, so nobody acts at the right scale, and when Finance finds the order every other</a:t>
            </a:r>
          </a:p>
          <a:p>
            <a:r>
              <a:t>number in the note is doubted with it. One sentence of likeness, even when D20 is self-study:</a:t>
            </a:r>
          </a:p>
          <a:p>
            <a:r>
              <a:t>JPMorgan's own task force found a risk spreadsheet that divided by a sum instead of an average and</a:t>
            </a:r>
          </a:p>
          <a:p>
            <a:r>
              <a:t>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the sheet produced a plausible number every day, and only a check against</a:t>
            </a:r>
          </a:p>
          <a:p>
            <a:r>
              <a:t>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Read the code as a hurried analyst's honest attempt: it runs, it</a:t>
            </a:r>
          </a:p>
          <a:p>
            <a:r>
              <a:t>reports nothing and every count lands. Nobody in the room should feel caught. Notebook 2's first</a:t>
            </a:r>
          </a:p>
          <a:p>
            <a:r>
              <a:t>your-turn cell prints this morning's counts and rejects.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 popular wrong answer is a, and it is the answer the zeroing</a:t>
            </a:r>
          </a:p>
          <a:p>
            <a:r>
              <a:t>pass 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Type the gap your-turn cell in notebook 2: it prints which of this</a:t>
            </a:r>
          </a:p>
          <a:p>
            <a:r>
              <a:t>morning's quarters misses and by how much; the day sheet's debrief table has the figure. The</a:t>
            </a:r>
          </a:p>
          <a:p>
            <a:r>
              <a:t>your-turn cell that finds the row is for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Type the options your-turn cell in notebook 2, which sizes the</a:t>
            </a:r>
          </a:p>
          <a:p>
            <a:r>
              <a:t>same four on this morning's file and prints the row that would not convert. Land the contrast</a:t>
            </a:r>
          </a:p>
          <a:p>
            <a:r>
              <a:t>between A and B: the same wrong headline, and B fails the count check, so B's gap is visible and</a:t>
            </a:r>
          </a:p>
          <a:p>
            <a:r>
              <a:t>A's is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ask two learners which branch their own row took this morning and</a:t>
            </a:r>
          </a:p>
          <a:p>
            <a:r>
              <a:t>why.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One log line adds Rs 8,50,000 of fall: the reported fall grows</a:t>
            </a:r>
          </a:p>
          <a:p>
            <a:r>
              <a:t>from Rs 5,50,000, 17.5 percent, to Rs 14,00,000, 35.0 percent, the difference between "a soft</a:t>
            </a:r>
          </a:p>
          <a:p>
            <a:r>
              <a:t>quarter" and "a quarter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5 of notebook 2, whose your-turn cell runs the same check on this morning's file.</a:t>
            </a:r>
          </a:p>
          <a:p>
            <a:r>
              <a:t>Run it live for two minutes if the tally shows notes that read a segment's move the wrong way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of notebook 2; the account balances on this</a:t>
            </a:r>
          </a:p>
          <a:p>
            <a:r>
              <a:t>morning's file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the last slide included. Notebook 3,</a:t>
            </a:r>
          </a:p>
          <a:p>
            <a:r>
              <a:t>C2_W01_D05_03_debrief_segments_STUDENT.ipynb, on the projector from S35, its your-turn cells typed</a:t>
            </a:r>
          </a:p>
          <a:p>
            <a:r>
              <a:t>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D33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Type the tree your-turn cell in notebook 3 for this morning's tree, and say</a:t>
            </a:r>
          </a:p>
          <a:p>
            <a:r>
              <a:t>this morning's split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is correct. What can seven orders carry? This morning's own corporate</a:t>
            </a:r>
          </a:p>
          <a:p>
            <a:r>
              <a:t>headline and its count are in the day sheet's debrief table; say them after the room answers S37.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Option c is the overcorrection: the corporate rupees are real</a:t>
            </a:r>
          </a:p>
          <a:p>
            <a:r>
              <a:t>money and Meera should hear them, as counts.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coin-flip your-turn cell in notebook 3 for this morning's corporate count</a:t>
            </a:r>
          </a:p>
          <a:p>
            <a:r>
              <a:t>and its share. The corporate action is a phone call, which costs nothing; a retention plan built on</a:t>
            </a:r>
          </a:p>
          <a:p>
            <a:r>
              <a:t>a handful of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Invented numbers. B hides that nearly all of the fall is the corporate</a:t>
            </a:r>
          </a:p>
          <a:p>
            <a:r>
              <a:t>book. D, run in notebook 3 after the lead's own test, finds the same lead at three times the minutes, and four tests at 0.05 carry about a one-in-five</a:t>
            </a:r>
          </a:p>
          <a:p>
            <a:r>
              <a:t>chance that one looks real by luck, so on another file D leads with a fluke. Type the option D</a:t>
            </a:r>
          </a:p>
          <a:p>
            <a:r>
              <a:t>your-turn cell in notebook 3 to run the four tests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S39's call, and the order of the note's claim and caveat.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same 16 members sit in both quarters, so each member's own two quarters</a:t>
            </a:r>
          </a:p>
          <a:p>
            <a:r>
              <a:t>are swapped at random, keeping every member's orders together.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The fall was found in the tree, so the note reports both</a:t>
            </a:r>
          </a:p>
          <a:p>
            <a:r>
              <a:t>directions. Read the p-value sentence aloud once, word for word, since Saturday's paper tests what it</a:t>
            </a:r>
          </a:p>
          <a:p>
            <a:r>
              <a:t>means: "In 1.1 percent of worlds where the quarter made no difference to each member's basket, chance</a:t>
            </a:r>
          </a:p>
          <a:p>
            <a:r>
              <a:t>produced a change this large, either way." Type the paired-test your-turn cell in notebook 3 with</a:t>
            </a:r>
          </a:p>
          <a:p>
            <a:r>
              <a:t>the segment each learner's lab tree named.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 learner who shuffled segment labels across whole customers this morning answered the</a:t>
            </a:r>
          </a:p>
          <a:p>
            <a:r>
              <a:t>second question fairly; accept it with the question named.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sign-test your-turn cell in notebook 3 on the lab lead. When the flips and</a:t>
            </a:r>
          </a:p>
          <a:p>
            <a:r>
              <a:t>the count disagree, a handful of members moved the average, and the note says so.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pooled the</a:t>
            </a:r>
          </a:p>
          <a:p>
            <a:r>
              <a:t>quarters or shuffled single orders; then run it for three minutes in place of S44. Both cards are</a:t>
            </a:r>
          </a:p>
          <a:p>
            <a:r>
              <a:t>2,000 runs on random.Random(7). The same cell shows single orders shuffled between Retail-Plus and</a:t>
            </a:r>
          </a:p>
          <a:p>
            <a:r>
              <a:t>Retail-Core at 0.0945, against 0.0385 with the label moving with the whole customer. The your-turn</a:t>
            </a:r>
          </a:p>
          <a:p>
            <a:r>
              <a:t>cell runs all four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 and</a:t>
            </a:r>
          </a:p>
          <a:p>
            <a:r>
              <a:t>say this morning's mean and median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note as it should read, on the invented export: booked revenue fell 35.0</a:t>
            </a:r>
          </a:p>
          <a:p>
            <a:r>
              <a:t>percent, Rs 40,00,000 to Rs 26,00,000; Rs 13,88,200 of it is the corporate book on five orders then</a:t>
            </a:r>
          </a:p>
          <a:p>
            <a:r>
              <a:t>two; among consumers Retail-Plus's revenue per order fell 15.0 percent with its members and their</a:t>
            </a:r>
          </a:p>
          <a:p>
            <a:r>
              <a:t>frequency unchanged, p = 0.011 with each member's quarters flipped; the corporate move is a</a:t>
            </a:r>
          </a:p>
          <a:p>
            <a:r>
              <a:t>question to its account owner.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Close the debrief. The TAs tell each person their marked step privately during</a:t>
            </a:r>
          </a:p>
          <a:p>
            <a:r>
              <a:t>the rehearsal, one learner at a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3.png"/><Relationship Id="rId6"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did the room break?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 the quarters tie?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Is a clean pass done?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3061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 leads?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decide whether a note reaches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this morning's notes break, and what should each step have been?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 the quarters tie?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Do the two quarters in your note match Finance's books?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Is a clean pass done?</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count reconciles and nothing was rejected: is the pass finished?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Which number leads?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Which finding leads the note, and how sure can Meera be of it?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answer raises the next question: a note whose counts tie to the books can still be short in rupees, and a note that is right to the rupee can still lead with the wrong number.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the quarters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 the two quarters in your note match Finance's books, and what did the note say when nobody checked?</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quarters to tie,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the finance controller, reads the note's first line against his control totals before any number reaches Meera; a first line the wrong way round sends Monday's review after a quarter that did not happen.</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the hurried pass send?</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hurried pass sends a headline.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check, at what cost?</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checks are sized side by side.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a count check fix?</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It lands the rows and leaves something.</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moves close the bridge?</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Two moves walk the sum to the books.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the decisions sum the same?</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log's own sums are the second route.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acts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first, and what does a wrong one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per quarter,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direction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reported the wrong way round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Nykaa reports two true numbers for one quarter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has to bridge before they claim a number?</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GMV is everything ordered, before cancellations, returns and tax come out; revenue from operations is what the company books as its income. Quote one to the owner of the other and you are out by nearly half.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hurried run says Q2 grew 21.2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a pass that skips the reconciliation send?</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83 rows,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38,16,420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rows,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+21.2%</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pass kept the rows as they arrived and set to zero any value that would not convert; the arithmetic is right,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stands between the hurried headline and Meera?</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Finance's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control file show against the hurried run?</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914400"/>
                <a:gridCol w="2089319"/>
                <a:gridCol w="2864033"/>
                <a:gridCol w="2399205"/>
                <a:gridCol w="2864033"/>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Rows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Rs 31,50,000</a:t>
                      </a:r>
                    </a:p>
                  </a:txBody>
                  <a:tcPr marL="101600" marR="101600" marT="38100" marB="38100" anchor="ctr">
                    <a:solidFill>
                      <a:srgbClr val="FFFFFF"/>
                    </a:solidFill>
                  </a:tcPr>
                </a:tc>
                <a:tc>
                  <a:txBody>
                    <a:bodyPr/>
                    <a:lstStyle/>
                    <a:p>
                      <a:r>
                        <a:rPr sz="1200" b="0" i="0">
                          <a:solidFill>
                            <a:srgbClr val="1A1440"/>
                          </a:solidFill>
                          <a:latin typeface="Calibri"/>
                        </a:rPr>
                        <a:t>Rs 40,00,000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92</a:t>
                      </a:r>
                    </a:p>
                  </a:txBody>
                  <a:tcPr marL="101600" marR="101600" marT="38100" marB="38100" anchor="ctr">
                    <a:solidFill>
                      <a:srgbClr val="F4F2FA"/>
                    </a:solidFill>
                  </a:tcPr>
                </a:tc>
                <a:tc>
                  <a:txBody>
                    <a:bodyPr/>
                    <a:lstStyle/>
                    <a:p>
                      <a:r>
                        <a:rPr sz="1200" b="0" i="0">
                          <a:solidFill>
                            <a:srgbClr val="1A1440"/>
                          </a:solidFill>
                          <a:latin typeface="Calibri"/>
                        </a:rPr>
                        <a:t>84</a:t>
                      </a:r>
                    </a:p>
                  </a:txBody>
                  <a:tcPr marL="101600" marR="101600" marT="38100" marB="38100" anchor="ctr">
                    <a:solidFill>
                      <a:srgbClr val="F4F2FA"/>
                    </a:solidFill>
                  </a:tcPr>
                </a:tc>
                <a:tc>
                  <a:txBody>
                    <a:bodyPr/>
                    <a:lstStyle/>
                    <a:p>
                      <a:r>
                        <a:rPr sz="1200" b="0" i="0">
                          <a:solidFill>
                            <a:srgbClr val="1A1440"/>
                          </a:solidFill>
                          <a:latin typeface="Calibri"/>
                        </a:rPr>
                        <a:t>Rs 38,16,420</a:t>
                      </a:r>
                    </a:p>
                  </a:txBody>
                  <a:tcPr marL="101600" marR="101600" marT="38100" marB="38100" anchor="ctr">
                    <a:solidFill>
                      <a:srgbClr val="F4F2FA"/>
                    </a:solidFill>
                  </a:tcPr>
                </a:tc>
                <a:tc>
                  <a:txBody>
                    <a:bodyPr/>
                    <a:lstStyle/>
                    <a:p>
                      <a:r>
                        <a:rPr sz="1200" b="0" i="0">
                          <a:solidFill>
                            <a:srgbClr val="1A1440"/>
                          </a:solidFill>
                          <a:latin typeface="Calibri"/>
                        </a:rPr>
                        <a:t>Rs 26,00,000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Q1 has the right count and the wrong rupees, and Q2 has too many rows and too many rupees, so the invented headline carries both errors.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checks, sized: only C lands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checks should run, and what does each one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069921"/>
                <a:gridCol w="1591130"/>
                <a:gridCol w="2013642"/>
                <a:gridCol w="2410153"/>
                <a:gridCol w="2046143"/>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Needs</a:t>
                      </a:r>
                    </a:p>
                  </a:txBody>
                  <a:tcPr marL="101600" marR="101600" marT="38100" marB="38100" anchor="ctr">
                    <a:solidFill>
                      <a:srgbClr val="1A0F5C"/>
                    </a:solidFill>
                  </a:tcPr>
                </a:tc>
                <a:tc>
                  <a:txBody>
                    <a:bodyPr/>
                    <a:lstStyle/>
                    <a:p>
                      <a:r>
                        <a:rPr sz="1250" b="1" i="0">
                          <a:solidFill>
                            <a:srgbClr val="FFFFFF"/>
                          </a:solidFill>
                          <a:latin typeface="Calibri"/>
                        </a:rPr>
                        <a:t>Headline it lets through</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+21.2%</a:t>
                      </a:r>
                    </a:p>
                  </a:txBody>
                  <a:tcPr marL="101600" marR="101600" marT="38100" marB="38100" anchor="ctr">
                    <a:solidFill>
                      <a:srgbClr val="FFFFFF"/>
                    </a:solidFill>
                  </a:tcPr>
                </a:tc>
                <a:tc>
                  <a:txBody>
                    <a:bodyPr/>
                    <a:lstStyle/>
                    <a:p>
                      <a:r>
                        <a:rPr sz="1200" b="0" i="0">
                          <a:solidFill>
                            <a:srgbClr val="1A1440"/>
                          </a:solidFill>
                          <a:latin typeface="Calibri"/>
                        </a:rPr>
                        <a:t>56.2</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Finance's order counts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Finance's rupee totals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Finance's ledger</a:t>
                      </a:r>
                    </a:p>
                  </a:txBody>
                  <a:tcPr marL="101600" marR="101600" marT="38100" marB="38100" anchor="ctr">
                    <a:solidFill>
                      <a:srgbClr val="F4F2FA"/>
                    </a:solidFill>
                  </a:tcPr>
                </a:tc>
                <a:tc>
                  <a:txBody>
                    <a:bodyPr/>
                    <a:lstStyle/>
                    <a:p>
                      <a:r>
                        <a:rPr sz="1200" b="0" i="0">
                          <a:solidFill>
                            <a:srgbClr val="1A1440"/>
                          </a:solidFill>
                          <a:latin typeface="Calibri"/>
                        </a:rPr>
                        <a:t>not run: no ledger came</a:t>
                      </a:r>
                    </a:p>
                  </a:txBody>
                  <a:tcPr marL="101600" marR="101600" marT="38100" marB="38100" anchor="ctr">
                    <a:solidFill>
                      <a:srgbClr val="F4F2FA"/>
                    </a:solidFill>
                  </a:tcPr>
                </a:tc>
                <a:tc>
                  <a:txBody>
                    <a:bodyPr/>
                    <a:lstStyle/>
                    <a:p>
                      <a:r>
                        <a:rPr sz="1200" b="0" i="0">
                          <a:solidFill>
                            <a:srgbClr val="1A1440"/>
                          </a:solidFill>
                          <a:latin typeface="Calibri"/>
                        </a:rPr>
                        <a:t>not run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On the invented export only C lands: it needs only the control file that came with the export, and its bridge walks the hurried total to Finance's, one explained move at a time.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check sees one more kind of error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each check see that the one before it cannot?</a:t>
            </a:r>
          </a:p>
        </p:txBody>
      </p:sp>
      <p:pic>
        <p:nvPicPr>
          <p:cNvPr id="10" name="mermaid diagram" descr="9be9ab82369d85d4.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to the right costs more and needs more from Finance, and C is the first that lands on the books.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count check leave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every order count lands on Finance's, what can still be wrong in the invented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that repeat an order, which the check has not yet removed; b) a value inside a kept row, which the check cannot see; c) nothing, since the counts now land on the books; d) the order ids, which the check trusts without reading.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value inside a kept row, and Q1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per order id fix, and what does it leave?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kept.setdefault(r["order_id"], r)   # Wednesday's identity rule</a:t>
            </a:r>
          </a:p>
        </p:txBody>
      </p:sp>
      <p:sp>
        <p:nvSpPr>
          <p:cNvPr id="14" name="TextBox 13"/>
          <p:cNvSpPr txBox="1"/>
          <p:nvPr/>
        </p:nvSpPr>
        <p:spPr>
          <a:xfrm>
            <a:off x="53035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83 and 84</a:t>
            </a:r>
          </a:p>
        </p:txBody>
      </p:sp>
      <p:sp>
        <p:nvSpPr>
          <p:cNvPr id="15" name="TextBox 14"/>
          <p:cNvSpPr txBox="1"/>
          <p:nvPr/>
        </p:nvSpPr>
        <p:spPr>
          <a:xfrm>
            <a:off x="53035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KEPT</a:t>
            </a:r>
          </a:p>
        </p:txBody>
      </p:sp>
      <p:sp>
        <p:nvSpPr>
          <p:cNvPr id="16" name="TextBox 15"/>
          <p:cNvSpPr txBox="1"/>
          <p:nvPr/>
        </p:nvSpPr>
        <p:spPr>
          <a:xfrm>
            <a:off x="53035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and 84, invented</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9" name="TextBox 18"/>
          <p:cNvSpPr txBox="1"/>
          <p:nvPr/>
        </p:nvSpPr>
        <p:spPr>
          <a:xfrm>
            <a:off x="433212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KEPT</a:t>
            </a:r>
          </a:p>
        </p:txBody>
      </p:sp>
      <p:sp>
        <p:nvSpPr>
          <p:cNvPr id="20" name="TextBox 19"/>
          <p:cNvSpPr txBox="1"/>
          <p:nvPr/>
        </p:nvSpPr>
        <p:spPr>
          <a:xfrm>
            <a:off x="433212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Rs 40,00,000</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-17.5%</a:t>
            </a:r>
          </a:p>
        </p:txBody>
      </p:sp>
      <p:sp>
        <p:nvSpPr>
          <p:cNvPr id="23" name="TextBox 22"/>
          <p:cNvSpPr txBox="1"/>
          <p:nvPr/>
        </p:nvSpPr>
        <p:spPr>
          <a:xfrm>
            <a:off x="813389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4" name="TextBox 23"/>
          <p:cNvSpPr txBox="1"/>
          <p:nvPr/>
        </p:nvSpPr>
        <p:spPr>
          <a:xfrm>
            <a:off x="813389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right way round, at half the size</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move in the bridge is larger?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Walking the invented hurried sum to Finance's total, which move carries more rupees?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Finance does not hold; b) the value that would not convert; c) they are equal; d) neither, since the walk closes with no moves.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Finance does not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moves walk the hurried sum to Finance's total?</a:t>
            </a:r>
          </a:p>
        </p:txBody>
      </p:sp>
      <p:pic>
        <p:nvPicPr>
          <p:cNvPr id="9" name="mermaid diagram" descr="0cef522850151bdb.png"/>
          <p:cNvPicPr>
            <a:picLocks noChangeAspect="1"/>
          </p:cNvPicPr>
          <p:nvPr/>
        </p:nvPicPr>
        <p:blipFill>
          <a:blip r:embed="rId5"/>
          <a:stretch>
            <a:fillRect/>
          </a:stretch>
        </p:blipFill>
        <p:spPr>
          <a:xfrm>
            <a:off x="530352" y="1956816"/>
            <a:ext cx="11130991" cy="2120746"/>
          </a:xfrm>
          <a:prstGeom prst="rect">
            <a:avLst/>
          </a:prstGeom>
        </p:spPr>
      </p:pic>
      <p:sp>
        <p:nvSpPr>
          <p:cNvPr id="10" name="TextBox 9"/>
          <p:cNvSpPr txBox="1"/>
          <p:nvPr/>
        </p:nvSpPr>
        <p:spPr>
          <a:xfrm>
            <a:off x="530352" y="422386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With both quarters on the books, the invented headline is a fall of 35.0 percent, Rs 40,00,000 to Rs 26,00,000: the sign changed, so the decision changes.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sign changes the decision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Meera have done with each headline?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 INVENTED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21.2%</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 INVENTED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17.5%</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 INVENTED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35.0%</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14,00,000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Profile first, and never skip the reconciliation: it costs fifteen minutes and can flip the headline's sign.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on their own, the decisions match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sum of the decisions themselves land on the bridge's two moves?</a:t>
            </a:r>
          </a:p>
        </p:txBody>
      </p:sp>
      <p:pic>
        <p:nvPicPr>
          <p:cNvPr id="9" name="mermaid diagram" descr="bb42294fe8986a18.png"/>
          <p:cNvPicPr>
            <a:picLocks noChangeAspect="1"/>
          </p:cNvPicPr>
          <p:nvPr/>
        </p:nvPicPr>
        <p:blipFill>
          <a:blip r:embed="rId6"/>
          <a:stretch>
            <a:fillRect/>
          </a:stretch>
        </p:blipFill>
        <p:spPr>
          <a:xfrm>
            <a:off x="530352" y="2059771"/>
            <a:ext cx="4786326" cy="3762584"/>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and run these two sums before you send it: on the invented export they prove every rupee the bridge moved is a row set aside or a value in the log. Whether each decision was right is the order-level match's question.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Repeats read as members ordering more often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same repeated rows move a branch of the tree?</a:t>
            </a:r>
          </a:p>
        </p:txBody>
      </p:sp>
      <p:pic>
        <p:nvPicPr>
          <p:cNvPr id="10" name="mermaid diagram" descr="525a5c7390af5d35.png"/>
          <p:cNvPicPr>
            <a:picLocks noChangeAspect="1"/>
          </p:cNvPicPr>
          <p:nvPr/>
        </p:nvPicPr>
        <p:blipFill>
          <a:blip r:embed="rId5"/>
          <a:stretch>
            <a:fillRect/>
          </a:stretch>
        </p:blipFill>
        <p:spPr>
          <a:xfrm>
            <a:off x="3818049" y="1664208"/>
            <a:ext cx="4555595"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On the invented export, rows Finance does not hold manufacture a frequency rise where nothing changed, and hide a basket fall behind a tier that looks steady.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counts and rupees both land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quarters in your note match Finance's books?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544555"/>
                <a:gridCol w="6586435"/>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hurried pass send?</a:t>
                      </a:r>
                    </a:p>
                  </a:txBody>
                  <a:tcPr marL="101600" marR="101600" marT="38100" marB="38100" anchor="ctr">
                    <a:solidFill>
                      <a:srgbClr val="FFFFFF"/>
                    </a:solidFill>
                  </a:tcPr>
                </a:tc>
                <a:tc>
                  <a:txBody>
                    <a:bodyPr/>
                    <a:lstStyle/>
                    <a:p>
                      <a:r>
                        <a:rPr sz="1400" b="0" i="0">
                          <a:solidFill>
                            <a:srgbClr val="1A1440"/>
                          </a:solidFill>
                          <a:latin typeface="Calibri"/>
                        </a:rPr>
                        <a:t>Q2 up 21.2%, where the books say down 35.0%</a:t>
                      </a:r>
                    </a:p>
                  </a:txBody>
                  <a:tcPr marL="101600" marR="101600" marT="38100" marB="38100" anchor="ctr">
                    <a:solidFill>
                      <a:srgbClr val="FFFFFF"/>
                    </a:solidFill>
                  </a:tcPr>
                </a:tc>
              </a:tr>
              <a:tr h="369824">
                <a:tc>
                  <a:txBody>
                    <a:bodyPr/>
                    <a:lstStyle/>
                    <a:p>
                      <a:r>
                        <a:rPr sz="1400" b="0" i="0">
                          <a:solidFill>
                            <a:srgbClr val="1A1440"/>
                          </a:solidFill>
                          <a:latin typeface="Calibri"/>
                        </a:rPr>
                        <a:t>Which check, at what cost?</a:t>
                      </a:r>
                    </a:p>
                  </a:txBody>
                  <a:tcPr marL="101600" marR="101600" marT="38100" marB="38100" anchor="ctr">
                    <a:solidFill>
                      <a:srgbClr val="F4F2FA"/>
                    </a:solidFill>
                  </a:tcPr>
                </a:tc>
                <a:tc>
                  <a:txBody>
                    <a:bodyPr/>
                    <a:lstStyle/>
                    <a:p>
                      <a:r>
                        <a:rPr sz="1400" b="0" i="0">
                          <a:solidFill>
                            <a:srgbClr val="1A1440"/>
                          </a:solidFill>
                          <a:latin typeface="Calibri"/>
                        </a:rPr>
                        <a:t>C, counts and rupees with a bridge, 15 minutes</a:t>
                      </a:r>
                    </a:p>
                  </a:txBody>
                  <a:tcPr marL="101600" marR="101600" marT="38100" marB="38100" anchor="ctr">
                    <a:solidFill>
                      <a:srgbClr val="F4F2FA"/>
                    </a:solidFill>
                  </a:tcPr>
                </a:tc>
              </a:tr>
              <a:tr h="369824">
                <a:tc>
                  <a:txBody>
                    <a:bodyPr/>
                    <a:lstStyle/>
                    <a:p>
                      <a:r>
                        <a:rPr sz="1400" b="0" i="0">
                          <a:solidFill>
                            <a:srgbClr val="1A1440"/>
                          </a:solidFill>
                          <a:latin typeface="Calibri"/>
                        </a:rPr>
                        <a:t>What does a count check fix?</a:t>
                      </a:r>
                    </a:p>
                  </a:txBody>
                  <a:tcPr marL="101600" marR="101600" marT="38100" marB="38100" anchor="ctr">
                    <a:solidFill>
                      <a:srgbClr val="FFFFFF"/>
                    </a:solidFill>
                  </a:tcPr>
                </a:tc>
                <a:tc>
                  <a:txBody>
                    <a:bodyPr/>
                    <a:lstStyle/>
                    <a:p>
                      <a:r>
                        <a:rPr sz="1400" b="0" i="0">
                          <a:solidFill>
                            <a:srgbClr val="1A1440"/>
                          </a:solidFill>
                          <a:latin typeface="Calibri"/>
                        </a:rPr>
                        <a:t>The rows; the headline stays at -17.5%</a:t>
                      </a:r>
                    </a:p>
                  </a:txBody>
                  <a:tcPr marL="101600" marR="101600" marT="38100" marB="38100" anchor="ctr">
                    <a:solidFill>
                      <a:srgbClr val="FFFFFF"/>
                    </a:solidFill>
                  </a:tcPr>
                </a:tc>
              </a:tr>
              <a:tr h="369824">
                <a:tc>
                  <a:txBody>
                    <a:bodyPr/>
                    <a:lstStyle/>
                    <a:p>
                      <a:r>
                        <a:rPr sz="1400" b="0" i="0">
                          <a:solidFill>
                            <a:srgbClr val="1A1440"/>
                          </a:solidFill>
                          <a:latin typeface="Calibri"/>
                        </a:rPr>
                        <a:t>Which moves close the bridge?</a:t>
                      </a:r>
                    </a:p>
                  </a:txBody>
                  <a:tcPr marL="101600" marR="101600" marT="38100" marB="38100" anchor="ctr">
                    <a:solidFill>
                      <a:srgbClr val="F4F2FA"/>
                    </a:solidFill>
                  </a:tcPr>
                </a:tc>
                <a:tc>
                  <a:txBody>
                    <a:bodyPr/>
                    <a:lstStyle/>
                    <a:p>
                      <a:r>
                        <a:rPr sz="1400" b="0" i="0">
                          <a:solidFill>
                            <a:srgbClr val="1A1440"/>
                          </a:solidFill>
                          <a:latin typeface="Calibri"/>
                        </a:rPr>
                        <a:t>Rs 12,16,420 out, Rs 8,50,000 back in</a:t>
                      </a:r>
                    </a:p>
                  </a:txBody>
                  <a:tcPr marL="101600" marR="101600" marT="38100" marB="38100" anchor="ctr">
                    <a:solidFill>
                      <a:srgbClr val="F4F2FA"/>
                    </a:solidFill>
                  </a:tcPr>
                </a:tc>
              </a:tr>
              <a:tr h="369824">
                <a:tc>
                  <a:txBody>
                    <a:bodyPr/>
                    <a:lstStyle/>
                    <a:p>
                      <a:r>
                        <a:rPr sz="1400" b="0" i="0">
                          <a:solidFill>
                            <a:srgbClr val="1A1440"/>
                          </a:solidFill>
                          <a:latin typeface="Calibri"/>
                        </a:rPr>
                        <a:t>Do the decisions sum the same?</a:t>
                      </a:r>
                    </a:p>
                  </a:txBody>
                  <a:tcPr marL="101600" marR="101600" marT="38100" marB="38100" anchor="ctr">
                    <a:solidFill>
                      <a:srgbClr val="FFFFFF"/>
                    </a:solidFill>
                  </a:tcPr>
                </a:tc>
                <a:tc>
                  <a:txBody>
                    <a:bodyPr/>
                    <a:lstStyle/>
                    <a:p>
                      <a:r>
                        <a:rPr sz="1400" b="0" i="0">
                          <a:solidFill>
                            <a:srgbClr val="1A1440"/>
                          </a:solidFill>
                          <a:latin typeface="Calibri"/>
                        </a:rPr>
                        <a:t>Yes: the list and the log equal both moves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as the invented export's hurried run did. Put the two checks in a cell before the first number you plan to send, so the clock cannot remove them.</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a clean pass done?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count reconciles and nothing was rejected: is the cleaning pass finished?</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from the rupees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pass's rupees checked,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audits every note before Meera reads it; a base quarter short by one large order halves the fall the note reports, and nobody acts at the right scale.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zeroing report?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zeroing pass reports its counts.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rupees say?</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rupees show what counts cannot.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answer fits?</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answers meet an unreadable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reading change?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Reading the value moves the headline.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a filter drop a row?</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filter can lose a row without a word.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file find the gap?</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file alone can find the gap.</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rupees before the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audits the note, and what does a short base quarter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scale</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SHORT BASE CAN COST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the wrong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JPMorgan's risk sheet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trusted a sheet that never raised an error?</a:t>
            </a:r>
          </a:p>
        </p:txBody>
      </p:sp>
      <p:sp>
        <p:nvSpPr>
          <p:cNvPr id="10" name="Rounded Rectangle 9"/>
          <p:cNvSpPr/>
          <p:nvPr/>
        </p:nvSpPr>
        <p:spPr>
          <a:xfrm>
            <a:off x="530352" y="1956816"/>
            <a:ext cx="5474055"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how far prices were shown to swing, by a factor of two, and lowering the VaR, the bank's estimate of a bad day's loss. Source: the task force report, January 2013, as quoted by The Baseline Scenario, 9 February 2013.</a:t>
            </a:r>
          </a:p>
        </p:txBody>
      </p:sp>
      <p:sp>
        <p:nvSpPr>
          <p:cNvPr id="16" name="Rounded Rectangle 15"/>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trading losses from what became known as the "London Whale" trades in the bank's Chief Investment Office.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that sets unreadable values to zero report?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83</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invented</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 invented</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Finance's rupee totals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order count lands and nothing was rejected: against Finance's rupees, what does the invented pass show?</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both quarters land to the rupee; b) one quarter over, the other landing; c) one quarter short, the other landing; d) both quarters short by a few rupees of rounding.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is Rs 8,50,000 short, and Q2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rupees say when every count lands?</a:t>
            </a:r>
          </a:p>
        </p:txBody>
      </p:sp>
      <p:pic>
        <p:nvPicPr>
          <p:cNvPr id="9" name="mermaid diagram" descr="d2e70212b964c9c0.png"/>
          <p:cNvPicPr>
            <a:picLocks noChangeAspect="1"/>
          </p:cNvPicPr>
          <p:nvPr/>
        </p:nvPicPr>
        <p:blipFill>
          <a:blip r:embed="rId5"/>
          <a:stretch>
            <a:fillRect/>
          </a:stretch>
        </p:blipFill>
        <p:spPr>
          <a:xfrm>
            <a:off x="680885" y="1956816"/>
            <a:ext cx="10829925" cy="2586037"/>
          </a:xfrm>
          <a:prstGeom prst="rect">
            <a:avLst/>
          </a:prstGeom>
        </p:spPr>
      </p:pic>
      <p:sp>
        <p:nvSpPr>
          <p:cNvPr id="10" name="TextBox 9"/>
          <p:cNvSpPr txBox="1"/>
          <p:nvPr/>
        </p:nvSpPr>
        <p:spPr>
          <a:xfrm>
            <a:off x="530352" y="46891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With the invented base short by about a fifth, the note reports a fall of 17.5 percent where the books show 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sized: C lands, A hides its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answers fits a value that will not convert?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-17.5%</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Choose C when the value can be read without a guess, as the invented export's "850000.00", an amount exported with its paise, can. Choose D when reading it needs a guess, such as a word or a unit that could be lakh or crore, and B when the row is not an order at all.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question sorts every unreadable value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 decides what to do with a value that will not convert?</a:t>
            </a:r>
          </a:p>
        </p:txBody>
      </p:sp>
      <p:pic>
        <p:nvPicPr>
          <p:cNvPr id="10" name="mermaid diagram" descr="e78eea104fe7ee82.png"/>
          <p:cNvPicPr>
            <a:picLocks noChangeAspect="1"/>
          </p:cNvPicPr>
          <p:nvPr/>
        </p:nvPicPr>
        <p:blipFill>
          <a:blip r:embed="rId6"/>
          <a:stretch>
            <a:fillRect/>
          </a:stretch>
        </p:blipFill>
        <p:spPr>
          <a:xfrm>
            <a:off x="530352" y="2289328"/>
            <a:ext cx="4786326" cy="3303471"/>
          </a:xfrm>
          <a:prstGeom prst="rect">
            <a:avLst/>
          </a:prstGeom>
        </p:spPr>
      </p:pic>
      <p:sp>
        <p:nvSpPr>
          <p:cNvPr id="11" name="Rounded Rectangle 10"/>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6100245" y="278739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more fall does reading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the value moves the invented headline from -17.5 to -35.0 percent: how many more rupees of fall must the review explain?</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Rs 5,50,000; b) Rs 8,50,000; c) Rs 14,00,000; d) Rs 26,00,000.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8,50,000 more, a Rs 14,00,000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log line change in the note?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read_value(text):</a:t>
            </a:r>
          </a:p>
          <a:p>
            <a:pPr>
              <a:spcAft>
                <a:spcPts val="200"/>
              </a:spcAft>
            </a:pPr>
            <a:r>
              <a:rPr sz="1400" b="0" i="0">
                <a:solidFill>
                  <a:srgbClr val="E4E1F1"/>
                </a:solidFill>
                <a:latin typeface="Consolas"/>
              </a:rPr>
              <a:t>    t = str(text).strip().replace("Rs", "").replace(",", "").replace(" ", "")</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round(float(t))      # read without a guess</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None                 # needs a guess: hold and ask</a:t>
            </a:r>
          </a:p>
        </p:txBody>
      </p:sp>
      <p:sp>
        <p:nvSpPr>
          <p:cNvPr id="14" name="TextBox 13"/>
          <p:cNvSpPr txBox="1"/>
          <p:nvPr/>
        </p:nvSpPr>
        <p:spPr>
          <a:xfrm>
            <a:off x="53035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40,00,000</a:t>
            </a:r>
          </a:p>
        </p:txBody>
      </p:sp>
      <p:sp>
        <p:nvSpPr>
          <p:cNvPr id="15" name="TextBox 14"/>
          <p:cNvSpPr txBox="1"/>
          <p:nvPr/>
        </p:nvSpPr>
        <p:spPr>
          <a:xfrm>
            <a:off x="53035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VALUE READ</a:t>
            </a:r>
          </a:p>
        </p:txBody>
      </p:sp>
      <p:sp>
        <p:nvSpPr>
          <p:cNvPr id="16" name="TextBox 15"/>
          <p:cNvSpPr txBox="1"/>
          <p:nvPr/>
        </p:nvSpPr>
        <p:spPr>
          <a:xfrm>
            <a:off x="53035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lands on the control total, invented</a:t>
            </a:r>
          </a:p>
        </p:txBody>
      </p:sp>
      <p:sp>
        <p:nvSpPr>
          <p:cNvPr id="17" name="Rectangle 16"/>
          <p:cNvSpPr/>
          <p:nvPr/>
        </p:nvSpPr>
        <p:spPr>
          <a:xfrm>
            <a:off x="53035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9" name="TextBox 18"/>
          <p:cNvSpPr txBox="1"/>
          <p:nvPr/>
        </p:nvSpPr>
        <p:spPr>
          <a:xfrm>
            <a:off x="433212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ON THE BOOKS</a:t>
            </a:r>
          </a:p>
        </p:txBody>
      </p:sp>
      <p:sp>
        <p:nvSpPr>
          <p:cNvPr id="20" name="TextBox 19"/>
          <p:cNvSpPr txBox="1"/>
          <p:nvPr/>
        </p:nvSpPr>
        <p:spPr>
          <a:xfrm>
            <a:off x="433212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was Rs 5,50,000 with the zero, invented</a:t>
            </a:r>
          </a:p>
        </p:txBody>
      </p:sp>
      <p:sp>
        <p:nvSpPr>
          <p:cNvPr id="21" name="Rectangle 20"/>
          <p:cNvSpPr/>
          <p:nvPr/>
        </p:nvSpPr>
        <p:spPr>
          <a:xfrm>
            <a:off x="433212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23" name="TextBox 22"/>
          <p:cNvSpPr txBox="1"/>
          <p:nvPr/>
        </p:nvSpPr>
        <p:spPr>
          <a:xfrm>
            <a:off x="813389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LOG LINE</a:t>
            </a:r>
          </a:p>
        </p:txBody>
      </p:sp>
      <p:sp>
        <p:nvSpPr>
          <p:cNvPr id="24" name="TextBox 23"/>
          <p:cNvSpPr txBox="1"/>
          <p:nvPr/>
        </p:nvSpPr>
        <p:spPr>
          <a:xfrm>
            <a:off x="813389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the text and the number it was read as</a:t>
            </a:r>
          </a:p>
        </p:txBody>
      </p:sp>
      <p:sp>
        <p:nvSpPr>
          <p:cNvPr id="25" name="Rectangle 24"/>
          <p:cNvSpPr/>
          <p:nvPr/>
        </p:nvSpPr>
        <p:spPr>
          <a:xfrm>
            <a:off x="813389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order with no segment turns a fall into a rise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segment filter drop a row without a word, as the zero did?</a:t>
            </a:r>
          </a:p>
        </p:txBody>
      </p:sp>
      <p:pic>
        <p:nvPicPr>
          <p:cNvPr id="10" name="mermaid diagram" descr="d2e950093eb067cb.png"/>
          <p:cNvPicPr>
            <a:picLocks noChangeAspect="1"/>
          </p:cNvPicPr>
          <p:nvPr/>
        </p:nvPicPr>
        <p:blipFill>
          <a:blip r:embed="rId6"/>
          <a:stretch>
            <a:fillRect/>
          </a:stretch>
        </p:blipFill>
        <p:spPr>
          <a:xfrm>
            <a:off x="3588801" y="1664208"/>
            <a:ext cx="5014092" cy="3203447"/>
          </a:xfrm>
          <a:prstGeom prst="rect">
            <a:avLst/>
          </a:prstGeom>
        </p:spPr>
      </p:pic>
      <p:sp>
        <p:nvSpPr>
          <p:cNvPr id="11" name="Rounded Rectangle 10"/>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4" name="TextBox 13"/>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On the invented export they fall one order short in Q1, and Retail-Core, which fell, reads as a rise.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or logged: the logged value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file alone, with no control total, find the gap?</a:t>
            </a:r>
          </a:p>
        </p:txBody>
      </p:sp>
      <p:pic>
        <p:nvPicPr>
          <p:cNvPr id="9" name="mermaid diagram" descr="d17567d359b3a664.png"/>
          <p:cNvPicPr>
            <a:picLocks noChangeAspect="1"/>
          </p:cNvPicPr>
          <p:nvPr/>
        </p:nvPicPr>
        <p:blipFill>
          <a:blip r:embed="rId5"/>
          <a:stretch>
            <a:fillRect/>
          </a:stretch>
        </p:blipFill>
        <p:spPr>
          <a:xfrm>
            <a:off x="2152497" y="1787461"/>
            <a:ext cx="7886700" cy="3286125"/>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the invented export the account balances. The rupee check needs a total from outside and says how much is missing, and this needs only the file and says where, so on a file with no control total it is the check you still have.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the rupees land as well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count reconciles and nothing was rejected: is the pass finished?</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568930"/>
                <a:gridCol w="656206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does a zeroing pass report?</a:t>
                      </a:r>
                    </a:p>
                  </a:txBody>
                  <a:tcPr marL="101600" marR="101600" marT="38100" marB="38100" anchor="ctr">
                    <a:solidFill>
                      <a:srgbClr val="FFFFFF"/>
                    </a:solidFill>
                  </a:tcPr>
                </a:tc>
                <a:tc>
                  <a:txBody>
                    <a:bodyPr/>
                    <a:lstStyle/>
                    <a:p>
                      <a:r>
                        <a:rPr sz="1400" b="0" i="0">
                          <a:solidFill>
                            <a:srgbClr val="1A1440"/>
                          </a:solidFill>
                          <a:latin typeface="Calibri"/>
                        </a:rPr>
                        <a:t>83 Q1 orders of 83, and 0 rejects</a:t>
                      </a:r>
                    </a:p>
                  </a:txBody>
                  <a:tcPr marL="101600" marR="101600" marT="38100" marB="38100" anchor="ctr">
                    <a:solidFill>
                      <a:srgbClr val="FFFFFF"/>
                    </a:solidFill>
                  </a:tcPr>
                </a:tc>
              </a:tr>
              <a:tr h="369824">
                <a:tc>
                  <a:txBody>
                    <a:bodyPr/>
                    <a:lstStyle/>
                    <a:p>
                      <a:r>
                        <a:rPr sz="1400" b="0" i="0">
                          <a:solidFill>
                            <a:srgbClr val="1A1440"/>
                          </a:solidFill>
                          <a:latin typeface="Calibri"/>
                        </a:rPr>
                        <a:t>What do the rupees say?</a:t>
                      </a:r>
                    </a:p>
                  </a:txBody>
                  <a:tcPr marL="101600" marR="101600" marT="38100" marB="38100" anchor="ctr">
                    <a:solidFill>
                      <a:srgbClr val="F4F2FA"/>
                    </a:solidFill>
                  </a:tcPr>
                </a:tc>
                <a:tc>
                  <a:txBody>
                    <a:bodyPr/>
                    <a:lstStyle/>
                    <a:p>
                      <a:r>
                        <a:rPr sz="1400" b="0" i="0">
                          <a:solidFill>
                            <a:srgbClr val="1A1440"/>
                          </a:solidFill>
                          <a:latin typeface="Calibri"/>
                        </a:rPr>
                        <a:t>Q1 Rs 8,50,000 short: -17.5% against -35.0%</a:t>
                      </a:r>
                    </a:p>
                  </a:txBody>
                  <a:tcPr marL="101600" marR="101600" marT="38100" marB="38100" anchor="ctr">
                    <a:solidFill>
                      <a:srgbClr val="F4F2FA"/>
                    </a:solidFill>
                  </a:tcPr>
                </a:tc>
              </a:tr>
              <a:tr h="369824">
                <a:tc>
                  <a:txBody>
                    <a:bodyPr/>
                    <a:lstStyle/>
                    <a:p>
                      <a:r>
                        <a:rPr sz="1400" b="0" i="0">
                          <a:solidFill>
                            <a:srgbClr val="1A1440"/>
                          </a:solidFill>
                          <a:latin typeface="Calibri"/>
                        </a:rPr>
                        <a:t>Which of four answers fits?</a:t>
                      </a:r>
                    </a:p>
                  </a:txBody>
                  <a:tcPr marL="101600" marR="101600" marT="38100" marB="38100" anchor="ctr">
                    <a:solidFill>
                      <a:srgbClr val="FFFFFF"/>
                    </a:solidFill>
                  </a:tcPr>
                </a:tc>
                <a:tc>
                  <a:txBody>
                    <a:bodyPr/>
                    <a:lstStyle/>
                    <a:p>
                      <a:r>
                        <a:rPr sz="1400" b="0" i="0">
                          <a:solidFill>
                            <a:srgbClr val="1A1440"/>
                          </a:solidFill>
                          <a:latin typeface="Calibri"/>
                        </a:rPr>
                        <a:t>C, read and flag; D when it needs a guess</a:t>
                      </a:r>
                    </a:p>
                  </a:txBody>
                  <a:tcPr marL="101600" marR="101600" marT="38100" marB="38100" anchor="ctr">
                    <a:solidFill>
                      <a:srgbClr val="FFFFFF"/>
                    </a:solidFill>
                  </a:tcPr>
                </a:tc>
              </a:tr>
              <a:tr h="369824">
                <a:tc>
                  <a:txBody>
                    <a:bodyPr/>
                    <a:lstStyle/>
                    <a:p>
                      <a:r>
                        <a:rPr sz="1400" b="0" i="0">
                          <a:solidFill>
                            <a:srgbClr val="1A1440"/>
                          </a:solidFill>
                          <a:latin typeface="Calibri"/>
                        </a:rPr>
                        <a:t>What does reading it change?</a:t>
                      </a:r>
                    </a:p>
                  </a:txBody>
                  <a:tcPr marL="101600" marR="101600" marT="38100" marB="38100" anchor="ctr">
                    <a:solidFill>
                      <a:srgbClr val="F4F2FA"/>
                    </a:solidFill>
                  </a:tcPr>
                </a:tc>
                <a:tc>
                  <a:txBody>
                    <a:bodyPr/>
                    <a:lstStyle/>
                    <a:p>
                      <a:r>
                        <a:rPr sz="1400" b="0" i="0">
                          <a:solidFill>
                            <a:srgbClr val="1A1440"/>
                          </a:solidFill>
                          <a:latin typeface="Calibri"/>
                        </a:rPr>
                        <a:t>The fall doubles to 35.0%, Rs 14,00,000</a:t>
                      </a:r>
                    </a:p>
                  </a:txBody>
                  <a:tcPr marL="101600" marR="101600" marT="38100" marB="38100" anchor="ctr">
                    <a:solidFill>
                      <a:srgbClr val="F4F2FA"/>
                    </a:solidFill>
                  </a:tcPr>
                </a:tc>
              </a:tr>
              <a:tr h="369824">
                <a:tc>
                  <a:txBody>
                    <a:bodyPr/>
                    <a:lstStyle/>
                    <a:p>
                      <a:r>
                        <a:rPr sz="1400" b="0" i="0">
                          <a:solidFill>
                            <a:srgbClr val="1A1440"/>
                          </a:solidFill>
                          <a:latin typeface="Calibri"/>
                        </a:rPr>
                        <a:t>Can a filter drop a row?</a:t>
                      </a:r>
                    </a:p>
                  </a:txBody>
                  <a:tcPr marL="101600" marR="101600" marT="38100" marB="38100" anchor="ctr">
                    <a:solidFill>
                      <a:srgbClr val="FFFFFF"/>
                    </a:solidFill>
                  </a:tcPr>
                </a:tc>
                <a:tc>
                  <a:txBody>
                    <a:bodyPr/>
                    <a:lstStyle/>
                    <a:p>
                      <a:r>
                        <a:rPr sz="1400" b="0" i="0">
                          <a:solidFill>
                            <a:srgbClr val="1A1440"/>
                          </a:solidFill>
                          <a:latin typeface="Calibri"/>
                        </a:rPr>
                        <a:t>Yes: Retail-Core reads +2.2% where it fell 1.0%</a:t>
                      </a:r>
                    </a:p>
                  </a:txBody>
                  <a:tcPr marL="101600" marR="101600" marT="38100" marB="38100" anchor="ctr">
                    <a:solidFill>
                      <a:srgbClr val="FFFFFF"/>
                    </a:solidFill>
                  </a:tcPr>
                </a:tc>
              </a:tr>
              <a:tr h="369824">
                <a:tc>
                  <a:txBody>
                    <a:bodyPr/>
                    <a:lstStyle/>
                    <a:p>
                      <a:r>
                        <a:rPr sz="1400" b="0" i="0">
                          <a:solidFill>
                            <a:srgbClr val="1A1440"/>
                          </a:solidFill>
                          <a:latin typeface="Calibri"/>
                        </a:rPr>
                        <a:t>Can the file find the gap?</a:t>
                      </a:r>
                    </a:p>
                  </a:txBody>
                  <a:tcPr marL="101600" marR="101600" marT="38100" marB="38100" anchor="ctr">
                    <a:solidFill>
                      <a:srgbClr val="F4F2FA"/>
                    </a:solidFill>
                  </a:tcPr>
                </a:tc>
                <a:tc>
                  <a:txBody>
                    <a:bodyPr/>
                    <a:lstStyle/>
                    <a:p>
                      <a:r>
                        <a:rPr sz="1400" b="0" i="0">
                          <a:solidFill>
                            <a:srgbClr val="1A1440"/>
                          </a:solidFill>
                          <a:latin typeface="Calibri"/>
                        </a:rPr>
                        <a:t>Yes: 167 = 166 + 1, and the log is the gap</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leads?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finding leads the note, and how sure can Meera be of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from tree to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right lead, and which five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acts on the note's first line and Marketing attacks any rate on a handful of orders; a trend claimed from a few orders sends a team after a segment that did nothing.</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does the fall sit?</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clean tree splits it by segment.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On how many orders?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biggest move rests on a count.</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to choose the lead?</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choose are sized.</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More than chance?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member's two quarters are flipped.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Broad, or a few members?</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second route counts members.</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acts on the line Marketing will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and what does a wrong lead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four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IMDb counts votes before it ranks a title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refuses to rank on a handful of cases?</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segment carries most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invented Rs 14,00,000 fall, where does most of it sit?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Retail-Core, the segment with the most orders; b) Retail-Plus, the members' tier; c) Business, the corporate book; d) Student, the smallest segment.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corporate book, 99.2 percent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tree does the invented fall sit?</a:t>
            </a:r>
          </a:p>
        </p:txBody>
      </p:sp>
      <p:pic>
        <p:nvPicPr>
          <p:cNvPr id="9" name="mermaid diagram" descr="3cb895d354135b35.png"/>
          <p:cNvPicPr>
            <a:picLocks noChangeAspect="1"/>
          </p:cNvPicPr>
          <p:nvPr/>
        </p:nvPicPr>
        <p:blipFill>
          <a:blip r:embed="rId5"/>
          <a:stretch>
            <a:fillRect/>
          </a:stretch>
        </p:blipFill>
        <p:spPr>
          <a:xfrm>
            <a:off x="2152497" y="1838769"/>
            <a:ext cx="7886700" cy="3286125"/>
          </a:xfrm>
          <a:prstGeom prst="rect">
            <a:avLst/>
          </a:prstGeom>
        </p:spPr>
      </p:pic>
      <p:sp>
        <p:nvSpPr>
          <p:cNvPr id="10" name="TextBox 9"/>
          <p:cNvSpPr txBox="1"/>
          <p:nvPr/>
        </p:nvSpPr>
        <p:spPr>
          <a:xfrm>
            <a:off x="530352" y="52711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kept its 16 members and their 2.00 orders each while its revenue per order, the basket, fell from Rs 3,000 to Rs 2,550.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falls 36.3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the biggest move tempt a hurried note into?</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-36.3%</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CORPORATE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5 then 2</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13,88,200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99.2%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true to the rupee and the biggest move on the page, so a hurried note leads with it: "corporate is declining; we recommend a retention plan".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 where does the corporate move go?</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test's p-value printed beside the rate; c) left out of the note, since a handful of orders is too few to matter to anyone; d) as counts, the orders in each quarter,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as counts, five orders then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corporate move go in the note, and why there?</a:t>
            </a:r>
          </a:p>
        </p:txBody>
      </p:sp>
      <p:pic>
        <p:nvPicPr>
          <p:cNvPr id="9" name="mermaid diagram" descr="cc6fbd2aede06676.png"/>
          <p:cNvPicPr>
            <a:picLocks noChangeAspect="1"/>
          </p:cNvPicPr>
          <p:nvPr/>
        </p:nvPicPr>
        <p:blipFill>
          <a:blip r:embed="rId5"/>
          <a:stretch>
            <a:fillRect/>
          </a:stretch>
        </p:blipFill>
        <p:spPr>
          <a:xfrm>
            <a:off x="530352" y="1956816"/>
            <a:ext cx="11130991" cy="2671974"/>
          </a:xfrm>
          <a:prstGeom prst="rect">
            <a:avLst/>
          </a:prstGeom>
        </p:spPr>
      </p:pic>
      <p:sp>
        <p:nvSpPr>
          <p:cNvPr id="10" name="TextBox 9"/>
          <p:cNvSpPr txBox="1"/>
          <p:nvPr/>
        </p:nvSpPr>
        <p:spPr>
          <a:xfrm>
            <a:off x="530352" y="477509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On the invented export, seven orders dealt at random between two quarters come out at least as uneven as five and two in 45 percent of coin-flip worlds, so the rate says nothing a count does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C leads on 64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a team choose the lead, and what does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140638"/>
                <a:gridCol w="3490767"/>
                <a:gridCol w="914400"/>
                <a:gridCol w="3670784"/>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-36.3%</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45% of coin-flip worlds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-35.0%</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Retail-Plus basket -15.0%, Rs 14,400</a:t>
                      </a:r>
                    </a:p>
                  </a:txBody>
                  <a:tcPr marL="101600" marR="101600" marT="38100" marB="38100" anchor="ctr">
                    <a:solidFill>
                      <a:srgbClr val="FFFFFF"/>
                    </a:solidFill>
                  </a:tcPr>
                </a:tc>
                <a:tc>
                  <a:txBody>
                    <a:bodyPr/>
                    <a:lstStyle/>
                    <a:p>
                      <a:r>
                        <a:rPr sz="1200" b="0" i="0">
                          <a:solidFill>
                            <a:srgbClr val="1A1440"/>
                          </a:solidFill>
                          <a:latin typeface="Calibri"/>
                        </a:rPr>
                        <a:t>64</a:t>
                      </a:r>
                    </a:p>
                  </a:txBody>
                  <a:tcPr marL="101600" marR="101600" marT="38100" marB="38100" anchor="ctr">
                    <a:solidFill>
                      <a:srgbClr val="FFFFFF"/>
                    </a:solidFill>
                  </a:tcPr>
                </a:tc>
                <a:tc>
                  <a:txBody>
                    <a:bodyPr/>
                    <a:lstStyle/>
                    <a:p>
                      <a:r>
                        <a:rPr sz="1200" b="0" i="0">
                          <a:solidFill>
                            <a:srgbClr val="1A1440"/>
                          </a:solidFill>
                          <a:latin typeface="Calibri"/>
                        </a:rPr>
                        <a:t>one test on each member's two quarters</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of four p-values</a:t>
                      </a:r>
                    </a:p>
                  </a:txBody>
                  <a:tcPr marL="101600" marR="101600" marT="38100" marB="38100" anchor="ctr">
                    <a:solidFill>
                      <a:srgbClr val="F4F2FA"/>
                    </a:solidFill>
                  </a:tcPr>
                </a:tc>
                <a:tc>
                  <a:txBody>
                    <a:bodyPr/>
                    <a:lstStyle/>
                    <a:p>
                      <a:r>
                        <a:rPr sz="1200" b="0" i="0">
                          <a:solidFill>
                            <a:srgbClr val="1A1440"/>
                          </a:solidFill>
                          <a:latin typeface="Calibri"/>
                        </a:rPr>
                        <a:t>7 to 72</a:t>
                      </a:r>
                    </a:p>
                  </a:txBody>
                  <a:tcPr marL="101600" marR="101600" marT="38100" marB="38100" anchor="ctr">
                    <a:solidFill>
                      <a:srgbClr val="F4F2FA"/>
                    </a:solidFill>
                  </a:tcPr>
                </a:tc>
                <a:tc>
                  <a:txBody>
                    <a:bodyPr/>
                    <a:lstStyle/>
                    <a:p>
                      <a:r>
                        <a:rPr sz="1200" b="0" i="0">
                          <a:solidFill>
                            <a:srgbClr val="1A1440"/>
                          </a:solidFill>
                          <a:latin typeface="Calibri"/>
                        </a:rPr>
                        <a:t>four tests, a one-in-five fluke risk</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On the invented export, C, because Retail-Plus's basket is the one consumer move on enough orders to test; it is small in rupees, so it leads beside the corporate move, which is said as counts. Switch when Meera's question is about accounts,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Orders and a test decide the first line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finding go in the note?</a:t>
            </a:r>
          </a:p>
        </p:txBody>
      </p:sp>
      <p:pic>
        <p:nvPicPr>
          <p:cNvPr id="10" name="mermaid diagram" descr="cf6c318ba48f4892.png"/>
          <p:cNvPicPr>
            <a:picLocks noChangeAspect="1"/>
          </p:cNvPicPr>
          <p:nvPr/>
        </p:nvPicPr>
        <p:blipFill>
          <a:blip r:embed="rId5"/>
          <a:stretch>
            <a:fillRect/>
          </a:stretch>
        </p:blipFill>
        <p:spPr>
          <a:xfrm>
            <a:off x="1981047" y="1704181"/>
            <a:ext cx="8229600" cy="3729037"/>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rupees decide whether a move reaches Meera at all, and its order count and its test decide whether it leads the note or sits in the caveat.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real change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Among 2,000 worlds with each member's two quarters flipped, how extreme is the invented -15.0 percent?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in the middle of the pile; b) at the edge, with about two dozen worlds as extreme; c) beyond every flipped world; d) nowhere, since members placed different numbers of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the edge, 22 of 2,000 worlds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lead's fall more than chance on its members' own two quarters?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rng = random.Random(7)</a:t>
            </a:r>
          </a:p>
          <a:p>
            <a:pPr>
              <a:spcAft>
                <a:spcPts val="200"/>
              </a:spcAft>
            </a:pPr>
            <a:r>
              <a:rPr sz="1400" b="0" i="0">
                <a:solidFill>
                  <a:srgbClr val="E4E1F1"/>
                </a:solidFill>
                <a:latin typeface="Consolas"/>
              </a:rPr>
              <a:t>for _ in range(2000):                        # one world per pass</a:t>
            </a:r>
          </a:p>
          <a:p>
            <a:pPr>
              <a:spcAft>
                <a:spcPts val="200"/>
              </a:spcAft>
            </a:pPr>
            <a:r>
              <a:rPr sz="1400" b="0" i="0">
                <a:solidFill>
                  <a:srgbClr val="E4E1F1"/>
                </a:solidFill>
                <a:latin typeface="Consolas"/>
              </a:rPr>
              <a:t>    swaps = [rng.random() &lt; 0.5 for _ in per]    # each member's quarters, kept together</a:t>
            </a:r>
          </a:p>
          <a:p>
            <a:pPr>
              <a:spcAft>
                <a:spcPts val="200"/>
              </a:spcAft>
            </a:pPr>
            <a:r>
              <a:rPr sz="1400" b="0" i="0">
                <a:solidFill>
                  <a:srgbClr val="E4E1F1"/>
                </a:solidFill>
                <a:latin typeface="Consolas"/>
              </a:rPr>
              <a:t>    worlds.append(flipped_change(per, swaps))</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22 of 2,000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FLIPPED WORLDS AS LARGE</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either direction, invented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0.011</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0.0107</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EXACTLY</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over all 65,536 ways to flip 16 members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Yes, apart from Retail-Core's, at p = 0.0385</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Retail-Plus's basket move differently from Retail-Core's?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SAME MEMBERS,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Did Retail-Plus's basket fall?</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The fair test flips each member's own two quarters at random: p = 0.011, invented.</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DIFFERENT CUSTOMERS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Did it move differently from Retail-Core's?</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fair test shuffles the segment label across whole customers, each carrying all their orders: p = 0.0385, invented.</a:t>
            </a:r>
          </a:p>
        </p:txBody>
      </p:sp>
      <p:sp>
        <p:nvSpPr>
          <p:cNvPr id="22" name="TextBox 21"/>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Both are fair, each for its own question, and a note says which question it tested.</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5" name="Oval 2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13 of 16 members' baskets fell: p = 0.021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broad, or carried by a few members?</a:t>
            </a:r>
          </a:p>
        </p:txBody>
      </p:sp>
      <p:pic>
        <p:nvPicPr>
          <p:cNvPr id="9" name="mermaid diagram" descr="78bf4a3a20fb879d.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flips say whether the change is bigger than chance and the member count says whether it is broad. The sign test uses only each member's direction, so its p sits above the flips'.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Pooling the quarters reads a real fall as chance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test splits a member's two quarters?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FLIP EACH MEMBER'S OWN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0.0025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Revenue per member, invented. Every world is one these 16 members could have produced, so a real fall shows as one.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POOL THE Q1 AND Q2 FIGURES AND DEAL THEM</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0.222</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same figures dealt as strangers: members differ in size far more than in their change, and the fall reads as chance.</a:t>
            </a:r>
          </a:p>
        </p:txBody>
      </p:sp>
      <p:sp>
        <p:nvSpPr>
          <p:cNvPr id="22" name="Rounded Rectangle 21"/>
          <p:cNvSpPr/>
          <p:nvPr/>
        </p:nvSpPr>
        <p:spPr>
          <a:xfrm>
            <a:off x="530352" y="41041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659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7563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941832"/>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flip them as a pair when the same customers sit in both quarters, and shuffle labels across whole customers when the groups are different customers. Pooling paired data is the hurried mistake.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median is the typical order: Rs 2,350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describes a typical order in a file with seven corporate orders?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39,521</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7 corporate orders, invented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2,350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Retail-Plus's basket leads, with corporate as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 leads the note, and how sure can Meera be of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81177"/>
                <a:gridCol w="71498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Where does the fall sit?</a:t>
                      </a:r>
                    </a:p>
                  </a:txBody>
                  <a:tcPr marL="101600" marR="101600" marT="38100" marB="38100" anchor="ctr">
                    <a:solidFill>
                      <a:srgbClr val="FFFFFF"/>
                    </a:solidFill>
                  </a:tcPr>
                </a:tc>
                <a:tc>
                  <a:txBody>
                    <a:bodyPr/>
                    <a:lstStyle/>
                    <a:p>
                      <a:r>
                        <a:rPr sz="1400" b="0" i="0">
                          <a:solidFill>
                            <a:srgbClr val="1A1440"/>
                          </a:solidFill>
                          <a:latin typeface="Calibri"/>
                        </a:rPr>
                        <a:t>Business, Rs 13,88,200 of Rs 14,00,000</a:t>
                      </a:r>
                    </a:p>
                  </a:txBody>
                  <a:tcPr marL="101600" marR="101600" marT="38100" marB="38100" anchor="ctr">
                    <a:solidFill>
                      <a:srgbClr val="FFFFFF"/>
                    </a:solidFill>
                  </a:tcPr>
                </a:tc>
              </a:tr>
              <a:tr h="369824">
                <a:tc>
                  <a:txBody>
                    <a:bodyPr/>
                    <a:lstStyle/>
                    <a:p>
                      <a:r>
                        <a:rPr sz="1400" b="0" i="0">
                          <a:solidFill>
                            <a:srgbClr val="1A1440"/>
                          </a:solidFill>
                          <a:latin typeface="Calibri"/>
                        </a:rPr>
                        <a:t>On how many orders?</a:t>
                      </a:r>
                    </a:p>
                  </a:txBody>
                  <a:tcPr marL="101600" marR="101600" marT="38100" marB="38100" anchor="ctr">
                    <a:solidFill>
                      <a:srgbClr val="F4F2FA"/>
                    </a:solidFill>
                  </a:tcPr>
                </a:tc>
                <a:tc>
                  <a:txBody>
                    <a:bodyPr/>
                    <a:lstStyle/>
                    <a:p>
                      <a:r>
                        <a:rPr sz="1400" b="0" i="0">
                          <a:solidFill>
                            <a:srgbClr val="1A1440"/>
                          </a:solidFill>
                          <a:latin typeface="Calibri"/>
                        </a:rPr>
                        <a:t>5 then 2; coin flips do that in 45% of worlds</a:t>
                      </a:r>
                    </a:p>
                  </a:txBody>
                  <a:tcPr marL="101600" marR="101600" marT="38100" marB="38100" anchor="ctr">
                    <a:solidFill>
                      <a:srgbClr val="F4F2FA"/>
                    </a:solidFill>
                  </a:tcPr>
                </a:tc>
              </a:tr>
              <a:tr h="369824">
                <a:tc>
                  <a:txBody>
                    <a:bodyPr/>
                    <a:lstStyle/>
                    <a:p>
                      <a:r>
                        <a:rPr sz="1400" b="0" i="0">
                          <a:solidFill>
                            <a:srgbClr val="1A1440"/>
                          </a:solidFill>
                          <a:latin typeface="Calibri"/>
                        </a:rPr>
                        <a:t>How to choose the lead?</a:t>
                      </a:r>
                    </a:p>
                  </a:txBody>
                  <a:tcPr marL="101600" marR="101600" marT="38100" marB="38100" anchor="ctr">
                    <a:solidFill>
                      <a:srgbClr val="FFFFFF"/>
                    </a:solidFill>
                  </a:tcPr>
                </a:tc>
                <a:tc>
                  <a:txBody>
                    <a:bodyPr/>
                    <a:lstStyle/>
                    <a:p>
                      <a:r>
                        <a:rPr sz="1400" b="0" i="0">
                          <a:solidFill>
                            <a:srgbClr val="1A1440"/>
                          </a:solidFill>
                          <a:latin typeface="Calibri"/>
                        </a:rPr>
                        <a:t>C: Retail-Plus's basket, -15.0% on 64 orders</a:t>
                      </a:r>
                    </a:p>
                  </a:txBody>
                  <a:tcPr marL="101600" marR="101600" marT="38100" marB="38100" anchor="ctr">
                    <a:solidFill>
                      <a:srgbClr val="FFFFFF"/>
                    </a:solidFill>
                  </a:tcPr>
                </a:tc>
              </a:tr>
              <a:tr h="369824">
                <a:tc>
                  <a:txBody>
                    <a:bodyPr/>
                    <a:lstStyle/>
                    <a:p>
                      <a:r>
                        <a:rPr sz="1400" b="0" i="0">
                          <a:solidFill>
                            <a:srgbClr val="1A1440"/>
                          </a:solidFill>
                          <a:latin typeface="Calibri"/>
                        </a:rPr>
                        <a:t>More than chance?</a:t>
                      </a:r>
                    </a:p>
                  </a:txBody>
                  <a:tcPr marL="101600" marR="101600" marT="38100" marB="38100" anchor="ctr">
                    <a:solidFill>
                      <a:srgbClr val="F4F2FA"/>
                    </a:solidFill>
                  </a:tcPr>
                </a:tc>
                <a:tc>
                  <a:txBody>
                    <a:bodyPr/>
                    <a:lstStyle/>
                    <a:p>
                      <a:r>
                        <a:rPr sz="1400" b="0" i="0">
                          <a:solidFill>
                            <a:srgbClr val="1A1440"/>
                          </a:solidFill>
                          <a:latin typeface="Calibri"/>
                        </a:rPr>
                        <a:t>Yes: 22 of 2,000 flipped worlds, p = 0.011</a:t>
                      </a:r>
                    </a:p>
                  </a:txBody>
                  <a:tcPr marL="101600" marR="101600" marT="38100" marB="38100" anchor="ctr">
                    <a:solidFill>
                      <a:srgbClr val="F4F2FA"/>
                    </a:solidFill>
                  </a:tcPr>
                </a:tc>
              </a:tr>
              <a:tr h="369824">
                <a:tc>
                  <a:txBody>
                    <a:bodyPr/>
                    <a:lstStyle/>
                    <a:p>
                      <a:r>
                        <a:rPr sz="1400" b="0" i="0">
                          <a:solidFill>
                            <a:srgbClr val="1A1440"/>
                          </a:solidFill>
                          <a:latin typeface="Calibri"/>
                        </a:rPr>
                        <a:t>Broad, or a few members?</a:t>
                      </a:r>
                    </a:p>
                  </a:txBody>
                  <a:tcPr marL="101600" marR="101600" marT="38100" marB="38100" anchor="ctr">
                    <a:solidFill>
                      <a:srgbClr val="FFFFFF"/>
                    </a:solidFill>
                  </a:tcPr>
                </a:tc>
                <a:tc>
                  <a:txBody>
                    <a:bodyPr/>
                    <a:lstStyle/>
                    <a:p>
                      <a:r>
                        <a:rPr sz="1400" b="0" i="0">
                          <a:solidFill>
                            <a:srgbClr val="1A1440"/>
                          </a:solidFill>
                          <a:latin typeface="Calibri"/>
                        </a:rPr>
                        <a:t>Broad: 13 of 16 fell, sign test p = 0.021</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the orders in each quarter,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Rerun the step you stalled on,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with the step the lab says you do not own yet?</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are both on it.</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9" name="Oval 2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