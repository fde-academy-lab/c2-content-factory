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Anand said this on Wednesday, and this morning most of the room sent a number</a:t>
            </a:r>
          </a:p>
          <a:p>
            <a:r>
              <a:t>Finance would have returned. The debrief runs forty minutes as three chapters, one per place most</a:t>
            </a:r>
          </a:p>
          <a:p>
            <a:r>
              <a:t>rooms break: chapter 1 before lunch (20 minutes, this minute included), chapters 2 and 3 after it</a:t>
            </a:r>
          </a:p>
          <a:p>
            <a:r>
              <a:t>(10 minutes each). Each chapter pairs with a notebook of the same number in notebooks/, which opens</a:t>
            </a:r>
          </a:p>
          <a:p>
            <a:r>
              <a:t>now that the clock has stopped. Every number on these slides comes from an invented export,</a:t>
            </a:r>
          </a:p>
          <a:p>
            <a:r>
              <a:t>labelled invented, which carries the week's four kinds of defect in places this morning's file does</a:t>
            </a:r>
          </a:p>
          <a:p>
            <a:r>
              <a:t>not. This morning's own numbers are in the day sheet's debrief table, to say aloud at each slide,</a:t>
            </a:r>
          </a:p>
          <a:p>
            <a:r>
              <a:t>and in the notebooks' empty your-turn cells, to type live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three questions in order and say that each is the question the one before</a:t>
            </a:r>
          </a:p>
          <a:p>
            <a:r>
              <a:t>it leaves open. Say once that the slides run on an invented export so that they name nothing in</a:t>
            </a:r>
          </a:p>
          <a:p>
            <a:r>
              <a:t>this morning's file, and that the notebooks' your-turn cells are where this morning's numbers</a:t>
            </a:r>
          </a:p>
          <a:p>
            <a:r>
              <a:t>appear. Then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minutes, before lunch. Notebook 1, C2_W01_D05_01_debrief_quarters_STUDENT.ipynb, goes</a:t>
            </a:r>
          </a:p>
          <a:p>
            <a:r>
              <a:t>on the projector at S7 and stays there to S15, its your-turn cells typed live. Close with two</a:t>
            </a:r>
          </a:p>
          <a:p>
            <a:r>
              <a:t>learners reading their second-look line from the lab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who needs the answer, then the five questions. Ask the room to hold one</a:t>
            </a:r>
          </a:p>
          <a:p>
            <a:r>
              <a:t>number in mind: the headline their own note led with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Booked revenue is the rupees of the orders recorded as sales in a quarter, and a</a:t>
            </a:r>
          </a:p>
          <a:p>
            <a:r>
              <a:t>control total is the source system's own count of orders and sum of rupees for a period. Anand</a:t>
            </a:r>
          </a:p>
          <a:p>
            <a:r>
              <a:t>returns any figure that does not tie to his control total, and Meera acts on the first line of the</a:t>
            </a:r>
          </a:p>
          <a:p>
            <a:r>
              <a:t>note: a wrong first line sends Monday's review after the wrong question while Marketing's Rs 12</a:t>
            </a:r>
          </a:p>
          <a:p>
            <a:r>
              <a:t>crore request is judged against a quarter that did not happen. One sentence of likeness, even when</a:t>
            </a:r>
          </a:p>
          <a:p>
            <a:r>
              <a:t>D4 is left to self-study: Nykaa reports gross merchandise value and revenue from operations for the</a:t>
            </a:r>
          </a:p>
          <a:p>
            <a:r>
              <a:t>same quarter, so every figure there names its base and bridges to the 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or one minute live if the room is ahead. What both show: an error that drops or doubles</a:t>
            </a:r>
          </a:p>
          <a:p>
            <a:r>
              <a:t>rows makes no sound, and only a comparison with a total from outside the file finds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numbers are the invented export's, so the mechanism shows without naming what</a:t>
            </a:r>
          </a:p>
          <a:p>
            <a:r>
              <a:t>this morning's file holds. Read the three numbers, then say this morning's hurried headline aloud</a:t>
            </a:r>
          </a:p>
          <a:p>
            <a:r>
              <a:t>from the day sheet's debrief table and ask how many sent a headline with a plus sign, without naming</a:t>
            </a:r>
          </a:p>
          <a:p>
            <a:r>
              <a:t>anyone; the TA tally already knows. Then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Option a is Monday's instinct and a good one on another day; d is</a:t>
            </a:r>
          </a:p>
          <a:p>
            <a:r>
              <a:t>the decomposition, which is the right step on data you already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Open notebook 1 on the projector and type its first your-turn cell: it prints this</a:t>
            </a:r>
          </a:p>
          <a:p>
            <a:r>
              <a:t>morning's version of this table and this morning's hurried headline beside the books. Point at the</a:t>
            </a:r>
          </a:p>
          <a:p>
            <a:r>
              <a:t>two kinds of miss: a quarter with the right count and the wrong rupees is chapter 2's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Invented numbers. Then type the sizing your-turn cell in notebook 1, which sizes</a:t>
            </a:r>
          </a:p>
          <a:p>
            <a:r>
              <a:t>the same options on this morning's file, with D marked not run for the same reason: no ledger came</a:t>
            </a:r>
          </a:p>
          <a:p>
            <a:r>
              <a:t>with either export. Land two points: B is where most people who did check stopped, and it still</a:t>
            </a:r>
          </a:p>
          <a:p>
            <a:r>
              <a:t>leaves the headline well off the books; D would name every order that differs and costs the</a:t>
            </a:r>
          </a:p>
          <a:p>
            <a:r>
              <a:t>afternoon, once Finance sends the ledger. Minutes are the lab brief's pace, and D's is an estimate</a:t>
            </a:r>
          </a:p>
          <a:p>
            <a:r>
              <a:t>for a request to Finance and a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The picture behind S8: a count check cannot see a value that went missing inside a row</a:t>
            </a:r>
          </a:p>
          <a:p>
            <a:r>
              <a:t>that is still there, and only the rupees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The popular wrong answer is b: people expect the count fix to fix</a:t>
            </a:r>
          </a:p>
          <a:p>
            <a:r>
              <a:t>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Every count lands and Q1 is still short in rupees: a count check</a:t>
            </a:r>
          </a:p>
          <a:p>
            <a:r>
              <a:t>proves the rows are there and says nothing about each row's value. Type the count-check your-turn</a:t>
            </a:r>
          </a:p>
          <a:p>
            <a:r>
              <a:t>cell in notebook 1 for this morning's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letters, then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Then type the bridge your-turn cell in notebook 1, which draws this morning's</a:t>
            </a:r>
          </a:p>
          <a:p>
            <a:r>
              <a:t>bridge; say this morning's two moves aloud from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Say this morning's three headlines aloud from the day sheet's debrief table, then</a:t>
            </a:r>
          </a:p>
          <a:p>
            <a:r>
              <a:t>ask one learner what Meera would have done on Monday with each of the three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Type the second-route your-turn cell in notebook 1; both checks pass on this</a:t>
            </a:r>
          </a:p>
          <a:p>
            <a:r>
              <a:t>morning's file, and the table it prints lists the rows Finance does not hold. The bridge's moves</a:t>
            </a:r>
          </a:p>
          <a:p>
            <a:r>
              <a:t>were found by subtracting totals, and these sums count the decisions themselves, so a row set aside</a:t>
            </a:r>
          </a:p>
          <a:p>
            <a:r>
              <a:t>without its log line, or a value set to zero where it should have been read, makes the two</a:t>
            </a:r>
          </a:p>
          <a:p>
            <a:r>
              <a:t>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in the depth section of notebook 1, whose your-turn cell runs the same comparison on</a:t>
            </a:r>
          </a:p>
          <a:p>
            <a:r>
              <a:t>this morning's file. Run it live for two minutes only if the tally shows more than a quarter of</a:t>
            </a:r>
          </a:p>
          <a:p>
            <a:r>
              <a:t>notes named a frequency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minute, then two learners read their second-look line: one whose totals landed and one</a:t>
            </a:r>
          </a:p>
          <a:p>
            <a:r>
              <a:t>whose did not. Thank both the same way. The clock removes this step first because it produces no</a:t>
            </a:r>
          </a:p>
          <a:p>
            <a:r>
              <a:t>new number, only a yes or a no, and it takes fifteen of the lab's 120 minutes. Then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Notebook 2, C2_W01_D05_02_debrief_values_STUDENT.ipynb, on the</a:t>
            </a:r>
          </a:p>
          <a:p>
            <a:r>
              <a:t>projector from S22, its your-turn cells typed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Read who needs the answer and the six questions, and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 base short by one large order can halve the fall the note reports: nobody argues</a:t>
            </a:r>
          </a:p>
          <a:p>
            <a:r>
              <a:t>with the direction, so nobody acts at the right scale, and when Finance finds the order every other</a:t>
            </a:r>
          </a:p>
          <a:p>
            <a:r>
              <a:t>number in the note is doubted with it. One sentence of likeness, even when D20 is self-study:</a:t>
            </a:r>
          </a:p>
          <a:p>
            <a:r>
              <a:t>JPMorgan's own task force found a risk spreadsheet that divided by a sum instead of an average and</a:t>
            </a:r>
          </a:p>
          <a:p>
            <a:r>
              <a:t>never raised an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The parallel: the sheet produced a plausible number every day, and only a check against</a:t>
            </a:r>
          </a:p>
          <a:p>
            <a:r>
              <a:t>something outside the sheet could have caught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and a half minutes. Read the code as a hurried analyst's honest attempt: it runs, it</a:t>
            </a:r>
          </a:p>
          <a:p>
            <a:r>
              <a:t>reports nothing and every count lands. Nobody in the room should feel caught. Notebook 2's first</a:t>
            </a:r>
          </a:p>
          <a:p>
            <a:r>
              <a:t>your-turn cell prints this morning's counts and rejects.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Take letters. The popular wrong answer is a, and it is the answer the zeroing</a:t>
            </a:r>
          </a:p>
          <a:p>
            <a:r>
              <a:t>pass was built, by accident, to 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and a half minutes. Type the gap your-turn cell in notebook 2: it prints which of this</a:t>
            </a:r>
          </a:p>
          <a:p>
            <a:r>
              <a:t>morning's quarters misses and by how much; the day sheet's debrief table has the figure. The</a:t>
            </a:r>
          </a:p>
          <a:p>
            <a:r>
              <a:t>your-turn cell that finds the row is for the room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Invented numbers. Type the options your-turn cell in notebook 2, which sizes the</a:t>
            </a:r>
          </a:p>
          <a:p>
            <a:r>
              <a:t>same four on this morning's file and prints the row that would not convert. Land the contrast</a:t>
            </a:r>
          </a:p>
          <a:p>
            <a:r>
              <a:t>between A and B: the same wrong headline, and B fails the count check, so B's gap is visible and</a:t>
            </a:r>
          </a:p>
          <a:p>
            <a:r>
              <a:t>A's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or one minute live: ask two learners which branch their own row took this morning and</a:t>
            </a:r>
          </a:p>
          <a:p>
            <a:r>
              <a:t>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Take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answer is b. One log line moves the reported fall from 17.5 to 35.0 percent,</a:t>
            </a:r>
          </a:p>
          <a:p>
            <a:r>
              <a:t>Rs 14,00,000 of fall on the books: the difference between "a soft quarter" and "a quarter to</a:t>
            </a:r>
          </a:p>
          <a:p>
            <a:r>
              <a:t>explain".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level 5 of notebook 2, whose your-turn cell runs the same check on this morning's file.</a:t>
            </a:r>
          </a:p>
          <a:p>
            <a:r>
              <a:t>Run it live for two minutes if the tally shows notes that read a segment's move the wrong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Type the second-route your-turn cell of notebook 2; the account balances on this</a:t>
            </a:r>
          </a:p>
          <a:p>
            <a:r>
              <a:t>morning's file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Then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minutes, the last slide included. Notebook 3,</a:t>
            </a:r>
          </a:p>
          <a:p>
            <a:r>
              <a:t>C2_W01_D05_03_debrief_segments_STUDENT.ipynb, on the projector from S35, its your-turn cells typed</a:t>
            </a:r>
          </a:p>
          <a:p>
            <a:r>
              <a:t>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Read who needs the answer and the five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Meera and Marketing both read the first line: Meera acts on it, and Marketing</a:t>
            </a:r>
          </a:p>
          <a:p>
            <a:r>
              <a:t>attacks any rate that rests on a handful of orders. A trend claimed from a few orders sends a team</a:t>
            </a:r>
          </a:p>
          <a:p>
            <a:r>
              <a:t>to fix a segment that did nothing while the branch that moved goes unopened. One sentence of</a:t>
            </a:r>
          </a:p>
          <a:p>
            <a:r>
              <a:t>likeness, even when D33 is self-study: IMDb will not rank a title in its Top 250 until it has 25,000</a:t>
            </a:r>
          </a:p>
          <a:p>
            <a:r>
              <a:t>ratings.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Wainer's chapter also records that the Gates Foundation had given about $1.7 billion in</a:t>
            </a:r>
          </a:p>
          <a:p>
            <a:r>
              <a:t>education grants by 2001, with small schools central to them; notebook 3 carries the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Take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Type the tree your-turn cell in notebook 3 for this morning's tree, and say</a:t>
            </a:r>
          </a:p>
          <a:p>
            <a:r>
              <a:t>this morning's split aloud from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number is correct. What can seven orders carry? This morning's own corporate</a:t>
            </a:r>
          </a:p>
          <a:p>
            <a:r>
              <a:t>headline and its count are in the day sheet's debrief table; say them after the room answers S37.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Take letters. Option c is the overcorrection: the corporate rupees are real</a:t>
            </a:r>
          </a:p>
          <a:p>
            <a:r>
              <a:t>money and Meera should hear them, as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Type the coin-flip your-turn cell in notebook 3 for this morning's corporate count</a:t>
            </a:r>
          </a:p>
          <a:p>
            <a:r>
              <a:t>and its share. The corporate action is a phone call, which costs nothing; a retention plan built on</a:t>
            </a:r>
          </a:p>
          <a:p>
            <a:r>
              <a:t>a handful of orders costs a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Invented numbers. B hides that nearly all of the fall is the corporate book. D</a:t>
            </a:r>
          </a:p>
          <a:p>
            <a:r>
              <a:t>finds the same lead at three times the minutes, and four tests at 0.05 carry about a one-in-five</a:t>
            </a:r>
          </a:p>
          <a:p>
            <a:r>
              <a:t>chance that one looks real by luck, so on another file D leads with a fluke. Type the option D</a:t>
            </a:r>
          </a:p>
          <a:p>
            <a:r>
              <a:t>your-turn cell in notebook 3 to run the four tests on this morning's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The picture behind S39's call, and the order of the note's claim and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The same 16 members sit in both quarters, so each member's own two quarters</a:t>
            </a:r>
          </a:p>
          <a:p>
            <a:r>
              <a:t>are swapped at random, keeping every member's orders together. Take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answer is b. The fall was found in the tree, so the note reports both</a:t>
            </a:r>
          </a:p>
          <a:p>
            <a:r>
              <a:t>directions. Read the p-value sentence aloud once, word for word, because Saturday's paper asks for</a:t>
            </a:r>
          </a:p>
          <a:p>
            <a:r>
              <a:t>it: "In 1.1 percent of worlds where the quarter made no difference to each member's basket, chance</a:t>
            </a:r>
          </a:p>
          <a:p>
            <a:r>
              <a:t>produced a change this large, either way." Type the paired-test your-turn cell in notebook 3 with</a:t>
            </a:r>
          </a:p>
          <a:p>
            <a:r>
              <a:t>the segment each learner's lab tree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SELF-STUDY. A learner who shuffled segment labels across whole customers this morning answered the</a:t>
            </a:r>
          </a:p>
          <a:p>
            <a:r>
              <a:t>second question fairly; accept it with the question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Type the sign-test your-turn cell in notebook 3 on the lab lead. When the flips and</a:t>
            </a:r>
          </a:p>
          <a:p>
            <a:r>
              <a:t>the count disagree, a handful of members moved the average, and the note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in the depth section of notebook 3, unless more than a quarter of the room pooled the</a:t>
            </a:r>
          </a:p>
          <a:p>
            <a:r>
              <a:t>quarters or shuffled single orders; then run it for three minutes in place of S44. Both cards are</a:t>
            </a:r>
          </a:p>
          <a:p>
            <a:r>
              <a:t>2,000 runs on random.Random(7). The same cell shows single orders shuffled between Retail-Plus and</a:t>
            </a:r>
          </a:p>
          <a:p>
            <a:r>
              <a:t>Retail-Core at 0.0945, against 0.0385 with the label moving with the whole customer. The your-turn</a:t>
            </a:r>
          </a:p>
          <a:p>
            <a:r>
              <a:t>cell runs all four on this morning's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notes quoting a mean as the typical order; then three minutes, and</a:t>
            </a:r>
          </a:p>
          <a:p>
            <a:r>
              <a:t>say this morning's mean and median aloud from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The note as it should read, on the invented export: booked revenue fell 35.0</a:t>
            </a:r>
          </a:p>
          <a:p>
            <a:r>
              <a:t>percent, Rs 40,00,000 to Rs 26,00,000; Rs 13,88,200 of it is the corporate book on five orders then</a:t>
            </a:r>
          </a:p>
          <a:p>
            <a:r>
              <a:t>two; among consumers Retail-Plus's revenue per order fell 15.0 percent with its members and their</a:t>
            </a:r>
          </a:p>
          <a:p>
            <a:r>
              <a:t>frequency unchanged, p = 0.011 with each member's quarters flipped; the corporate move is a</a:t>
            </a:r>
          </a:p>
          <a:p>
            <a:r>
              <a:t>question to its account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half a minute. Close the debrief. The TAs tell each person their marked step privately during</a:t>
            </a:r>
          </a:p>
          <a:p>
            <a:r>
              <a:t>the rehearsal, never aloud to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7.png"/><Relationship Id="rId6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Relationship Id="rId5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13.png"/><Relationship Id="rId6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7.png"/><Relationship Id="rId6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2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29.png"/><Relationship Id="rId6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Relationship Id="rId5" Type="http://schemas.openxmlformats.org/officeDocument/2006/relationships/image" Target="../media/image3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29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951822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LAB 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Where did the room break?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“Until your numbers match ours, Finance will not act on a drop measured from an ERP export.”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finance controller,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460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8653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56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0616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did the room break?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questions decide whether a note reaches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did this morning's notes break, and what should each step have been?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Do the two quarters in your note match Finance's books?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count reconciles and nothing was rejected: is the pass finished?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Which number leads?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Which finding leads the note, and how sure can Meera be of it?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41036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answer raises the next question: a note that ties to the books can still be short in rupees, and a note that is right to the rupee can still lead with the wrong number.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 the quarters tie?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Do the two quarters in your note match Finance's books, and what did the note say when nobody checked?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 the quarters tie?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32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a clean pass done?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0350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 leads?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did the room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Answered in five questions, before Anand 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this answer, and which smaller questions lead 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Anand Iyer, the finance controller, reads the note's first line against his control totals before any number reaches Meera; a first line the wrong way round sends Monday's review after a quarter that did not happen.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7627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0827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did the hurried pass send?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7315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headline most notes led with.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40827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check, at what cost?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73151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Four ways to check, sized.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40827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count check fix?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73151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And what it leaves behind.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6713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40827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moves close the bridge?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7315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From the hurried sum to Finance's total.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31958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6713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4082796"/>
            <a:ext cx="2079894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42291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 the decisions sum the same?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7315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second route, from the log.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40" name="Oval 3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42" name="Oval 4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Anand reads the note before Meera acts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reads the first line first, and what does a wrong one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Anand Iyer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WHO ASKS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finance controller, before any number reaches Meera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Q1 to 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METRIC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revenue per quarter, the note's first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A WRONG NUMBER COSTS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quarter reported the wrong way round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Can the number in your note go to Meera as it stands?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Nykaa reports two true numbers for one quarter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has to bridge before they claim a number?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eceipt_310d1be0be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NYKAA, APRIL TO JUNE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GMV Rs 4,182 cr, revenue Rs 2,155 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GMV is everything ordered, before cancellations, returns and tax come out; revenue from operations is what the company books as its income. Quote one to the owner of the other and you are out by nearly half. Source: FSN E-Commerce Ventures press release, 12 August 2025.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file-x_7c9ffa7c6e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PUBLIC HEALTH ENGLAND, OCTOBER 2020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15,841 cases left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Positive cases from 25 September to 2 October missed the daily figures because files exceeded a size limit. No step raised an error. Source: UK government statement, 4 October 2020.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  ·  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hurried run says Q2 grew 21.2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headline does a pass that skips the reconciliation send?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31,50,000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AS SUMMED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83 rows, 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38,16,420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AS SUMMED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92 rows, 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+21.2%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"Q2 grew; no action on the top line"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invented export the pass kept the rows as they arrived and set a value that would not convert to zero; the arithmetic is right, and the note built on it tells Meera the quarter was a good one.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 you check before sending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check stands between the hurried headline and Meera?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median order, in case one large order moved the total on its own; b) the p-value of the Q1 to Q2 change, with 2,000 shuffles; c) orders and rupees per quarter against Finance's control totals; d) the segment split, to see which of the four segments grew the most.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both quarters miss Finance's 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control file show against the hurried run?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089319"/>
                <a:gridCol w="2864033"/>
                <a:gridCol w="2399205"/>
                <a:gridCol w="286403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summed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Finance's 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Rupees summed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Finance's rupees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31,50,000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40,00,000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38,16,420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26,00,000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21868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Q1 has the right count and the wrong rupees; Q2 has too many rows and too many rupees. Two errors, and the invented headline carries both.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checks, sized: only C lands on the 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four checks should run, and what does each one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69921"/>
                <a:gridCol w="1591130"/>
                <a:gridCol w="2013642"/>
                <a:gridCol w="2410153"/>
                <a:gridCol w="204614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Analyst 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Headline it lets through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Points off the books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Trust the pass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+21.2%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56.2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Count check only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order counts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-17.5%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Counts and rupees, with a bridge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rupee totals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-35.0%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Match every order to the ledger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ledger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run: no ledger came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run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2148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3120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C, because it needs only the control file that came with the export and lands to the rupee. Switch to D when there is no control total, or when C's bridge will not close.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check sees one more kind of 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can each check see that the one before it cannot?</a:t>
            </a:r>
          </a:p>
        </p:txBody>
      </p:sp>
      <p:pic>
        <p:nvPicPr>
          <p:cNvPr id="10" name="mermaid diagram" descr="9be9ab82369d85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370332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step to the right costs more and needs more from Finance, and C is the first that lands on the books.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D9  ·  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the count check alone send?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After one row per order id, what does the invented headline say?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Q2 up 21.2 percent, unchanged; b) Q2 down 35.0 percent, the books; c) Q2 down 17.5 percent; d) nothing, since the check cannot run without the ledger.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fall of 17.5 percent, half the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row per order id fix, and what does it leave?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kept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r in rows: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kept.setdefault(r["order_id"], r)   # Wednesday's identity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83 and 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44111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KEPT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45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Finance: 83 and 84, 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33603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31,50,000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44111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KEPT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45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Finance: Rs 40,00,000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33603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-17.5%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44111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45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 round, at half the size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move in the bridge is larger?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Walking the invented hurried sum to Finance's total, which move carries more rupees?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rows Finance does not hold; b) the value that would not convert; c) they are equal; d) neither, since the walk closes with no moves.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rows Finance does not 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two moves walk the hurried sum to Finance's total?</a:t>
            </a:r>
          </a:p>
        </p:txBody>
      </p:sp>
      <p:pic>
        <p:nvPicPr>
          <p:cNvPr id="9" name="mermaid diagram" descr="0cef522850151b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1207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2386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a. With both quarters on the books, the invented headline is a fall of 35.0 percent, Rs 40,00,000 to Rs 26,00,000: the sign changed, so the decision changes.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wrong sign changes the decision itself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Meera have done with each headline?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x_e5d65e9a98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HURRIED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Q2 grew 21.2%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No investigation, and Monday's review hears the quarter was fine.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ircle-alert_2885187cc1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COUNTS CHECKED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Q2 fell 17.5%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right direction at half the size, so the fix gets half the attention.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ircle-check_5bfb0e0fcdf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COUNTS AND RUPEES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Q2 fell 35.0%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Rs 14,00,000 to explain, and the tree says where.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" y="44363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ic_caee7398c80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54609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9031" y="44698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Profile first, and never skip the reconciliation, the step that can flip the sign for fifteen minutes.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34" name="Oval 3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6" name="Oval 3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Summed on their own, the decisions match 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sum of the decisions themselves land on the same two moves?</a:t>
            </a:r>
          </a:p>
        </p:txBody>
      </p:sp>
      <p:pic>
        <p:nvPicPr>
          <p:cNvPr id="9" name="mermaid diagram" descr="bb42294fe8986a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2059771"/>
            <a:ext cx="4786326" cy="37625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21579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8072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9169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Finance the forward bridge, because it starts from their export, and run these two sums before you send it: they prove every rupee the bridge moved is a row set aside or a value in the log. Whether each decision was right is the order-level match's question.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Repeats read as members ordering more often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same repeated rows move a branch of the tree?</a:t>
            </a:r>
          </a:p>
        </p:txBody>
      </p:sp>
      <p:pic>
        <p:nvPicPr>
          <p:cNvPr id="10" name="mermaid diagram" descr="525a5c7390af5d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8049" y="1664208"/>
            <a:ext cx="4555595" cy="3808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On the invented export, rows Finance does not hold manufacture a frequency rise where nothing changed, and hide a basket fall behind a tier that looks steady. Chapter 3 reads the clean tree.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D16  ·  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Only once counts and rupees both 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 the two quarters in your note match Finance's books?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44555"/>
                <a:gridCol w="658643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answer, on the invented export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did the hurried pass send?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Q2 up 21.2%, where the books say down 35.0%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check, at what cost?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C, counts and rupees with a bridge, 15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count check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rows; the headline stays at -17.5%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moves close the bridge?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12,16,420 out, Rs 8,50,000 back 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 the decisions sum the same?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Yes: the list and the log equal both moves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640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737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number that has not been reconciled can point the wrong way, and this morning it did. Put the two checks in a cell before the first number you plan to send, so the clock cannot remove them.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a clean pass done?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Every count reconciles and nothing was rejected: is the cleaning pass finished?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the quarters tie?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327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a clean pass done?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0350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 leads?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did the room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Answered in six questions, from the rupees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this answer, and which smaller questions lead 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Anand's analyst audits every note before Meera reads it; a base quarter short by one large order halves the fall the note reports, and nobody acts at the right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zeroing report?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Counts and rejects.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 the rupees say?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When every count lands.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answer fits?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For a value that will not convert.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reading change?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first line.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Can a filter drop a row?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same silence, one step later.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Can the file find the gap?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With no control total.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45" name="Oval 44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47" name="Oval 46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Anand's analyst audits the rupees before the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audits the note, and what does a short base quarter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Q1 booked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 every Q1 to Q2 rate divides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the analyst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WHO 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Anand's auditor, then Meera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half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A SHORT BASE CAN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fall reported at half its size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Your pass reports zero rejects and every count lands. Is it finished?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JPMorgan's risk sheet ran clean and was wrong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trusted a sheet that never raised an error?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253441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andmark_74597fd10b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JPMORGAN CHASE, 2012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 sum where an average belonged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risk model run through spreadsheets "divided by their sum instead of their average", likely muting volatility, how far prices were shown to swing, by a factor of two, and lowering the VaR, the bank's estimate of a bad day's loss. Source: the task force report, January 2013, as quoted by The Baseline Scenario, 9 February 2013.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trending-down_69bb86911a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$6.2 billion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trading losses from what became known as the "London Whale" trades in the bank's Chief Investment Office. Source: FCA press release, 19 September 2013.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D20  ·  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Zero rejects, and every count lands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pass that sets unreadable values to zero report?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def to_int_or_zero(v):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int(v)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0          # the file now "converts" cleanly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40988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4490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6502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Finance: 83, 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0297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840988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4490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 REPORTED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6502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try swallowed every failure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50297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840988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31,50,000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4490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AS SUMMED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6502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row kept, invented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50297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the rows reconcile, so what is left?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Input equals kept plus rejected, and the order counts match Finance's: what else can fail?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nothing, since every row is accounted for; b) the rupees against each control total; c) the median, since one large order may have gone; d) the dates, since the quarter may be cut wrong.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rupees, and Q1 is Rs 8,50,000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the rupees say when every count lands?</a:t>
            </a:r>
          </a:p>
        </p:txBody>
      </p:sp>
      <p:pic>
        <p:nvPicPr>
          <p:cNvPr id="9" name="mermaid diagram" descr="d2e70212b964c9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85" y="1956816"/>
            <a:ext cx="10829925" cy="25860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6891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With the invented base short by about a fifth, the note reports a fall of 17.5 percent where the books show 35.0.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answers, sized: C lands, A hides its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four answers fits a value that will not convert?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8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08137"/>
                <a:gridCol w="914400"/>
                <a:gridCol w="1449934"/>
                <a:gridCol w="1702438"/>
                <a:gridCol w="1702438"/>
                <a:gridCol w="155364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Log lines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Count 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Rupee 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Headline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Zero in a try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-17.5%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Drop with a reason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-17.5%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Read, convert, keep and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-35.0%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Hold and ask the owner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wait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provisional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5101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6074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C, when the value can be read without guessing, as the invented export's "850000.00", an amount exported with its paise, can. D when it cannot: a word, a unit that could be lakh or crore. B when the row is not an order. A is the one option that hides its gap.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27 / 52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question sorts every unreadable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question decides what to do with a value that will not convert?</a:t>
            </a:r>
          </a:p>
        </p:txBody>
      </p:sp>
      <p:pic>
        <p:nvPicPr>
          <p:cNvPr id="10" name="mermaid diagram" descr="e78eea104fe7e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2289328"/>
            <a:ext cx="4786326" cy="330347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61917" y="1956816"/>
            <a:ext cx="5899425" cy="189890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90517" y="26776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78739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0597" y="2322576"/>
            <a:ext cx="4756425" cy="1459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A zero-reject pass is a finding: check ids against rows, check what the code did with a value it could not read, and reconcile the rupees.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8" name="Oval 1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20" name="Oval 1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D25  ·  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with the value read, what does Q2 say?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Option C on the invented export: what does the note's first line become?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Q2 down 17.5 percent, unchanged; b) Q2 down 35.0 percent; c) Q2 up 21.2 percent; d) Q2 down about a quarter.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fall of 35.0 percent, the books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log line change in the note?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972055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569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def read_value(text):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 = str(text).strip().replace("Rs", "").replace(",", "").replace(" ", "")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round(float(t))      # read without a guess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None                 # needs a guess: hold and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093463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701539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VALUE 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902707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lands on the control total, 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282183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4093463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-35.0%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701539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902707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was -17.5% with the zero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5282183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4093463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701539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902707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text and the number it was read 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5282183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 unnamed order turns a fall into a rise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a segment filter drop a row the same way?</a:t>
            </a:r>
          </a:p>
        </p:txBody>
      </p:sp>
      <p:pic>
        <p:nvPicPr>
          <p:cNvPr id="10" name="mermaid diagram" descr="d2e950093eb067c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8801" y="1664208"/>
            <a:ext cx="5014092" cy="32034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segments add back to the quarter, in orders and in rupees, before any segment is read. On the invented export they fall one order short in Q1, and Retail-Core, which fell, reads as a rise.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8" name="Oval 1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20" name="Oval 1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D28  ·  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Summed or logged: the logged value is the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file alone, with no control total, find the gap?</a:t>
            </a:r>
          </a:p>
        </p:txBody>
      </p:sp>
      <p:pic>
        <p:nvPicPr>
          <p:cNvPr id="9" name="mermaid diagram" descr="d17567d359b3a6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838769"/>
            <a:ext cx="7886700" cy="3286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7119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rupee check needs a total from outside and says how much is missing; this needs only the file and says where. On a file with no control total, it is the check you still have.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Only once the rupees land as well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count reconciles and nothing was rejected: is the pass finished?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68930"/>
                <a:gridCol w="656206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answer, on the invented export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zeroing pass report?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83 Q1 orders of 83, and 0 rejects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 the rupees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Q1 Rs 8,50,000 short: -17.5% against -35.0%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of four answers fits?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C, read and flag; D when it needs a guess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reading it change?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fall doubles to 35.0%, Rs 14,00,000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Can a filter drop a row?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Yes: Retail-Core reads +2.2% where it fell 1.0%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Can the file find the gap?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Yes: 167 = 166 + 1, and the log is the gap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8016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1338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435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479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673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count check proves the rows are there. Only a rupee check proves the values survived. Setting a value to zero claims the order was worth nothing, so that decision belongs in the log with a reason.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number leads?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finding leads the note, and how sure can Meera be of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the quarters tie?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32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a clean pass done?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0350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number leads?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did the room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Answered in five questions, from tree to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this answer, and which smaller questions lead to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Meera acts on the note's first line and Marketing attacks any rate on a handful of orders; a trend claimed from a few orders sends a team after a segment that did nothing.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Where does the fall sit?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clean tree, by segment.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On how many orders?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biggest move, counted.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to choose the lead?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46481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Four ways, sized.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More than chance?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Each member's own two quarters.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QUESTION 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Broad, or a few members?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46481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second route.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40" name="Oval 3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42" name="Oval 41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acts on the line Marketing will attack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reads the first line, and what does a wrong lead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14,00,000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Q1 to Q2, reconciled, 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four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SEGMENTS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its own count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one 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MEERA ACTS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note's first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Which branch do I open first, and can I act on it on Monday?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IMDb counts votes before it ranks a title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refuses to rank on a handful of cases?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tar_d3c4d302b1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IMDB TOP 250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25,000 ratings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title needs at least 25,000 ratings from regular voters, and the weighted rating pulls a title with few votes toward the average of all titles. Source: IMDb Help, ratings FAQ, updated 9 February 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chool_d5d8d79ecd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SMALL SCHOOLS, A PUBLIC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Best and worst, both small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Small schools are over-represented at both ends of the rankings because small samples vary more. Source: Howard Wainer, "The Most Dangerous Equation", in Picturing the Uncertain World, Princeton University Press, 2009.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D33  ·  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segment carries most of the fall?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Of the invented Rs 14,00,000 fall, where does most of it sit?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Retail-Core, the segment with the most orders; b) Retail-Plus, the members' tier; c) Business, the corporate book; d) Student, the smallest segment.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corporate book, 99.2 percent of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in the tree does the invented fall sit?</a:t>
            </a:r>
          </a:p>
        </p:txBody>
      </p:sp>
      <p:pic>
        <p:nvPicPr>
          <p:cNvPr id="9" name="mermaid diagram" descr="0cc977d2c59e5d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838769"/>
            <a:ext cx="7886700" cy="3286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7119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Retail-Plus kept its 16 members and their 2.00 orders each while its revenue per order fell from Rs 3,000 to Rs 2,550.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corporate book falls 36.3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headline does the biggest move tempt a hurried note into?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-36.3%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CORPORATE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Q1 to Q2, 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5 then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rate rests 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13,88,200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IT CARRIES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99.2% of the quarter's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True to the rupee, the biggest number on the page, and the headline a hurried note leads with: "corporate is declining; we recommend a retention plan".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4" name="Oval 2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6" name="Oval 2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40 / 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how does it enter the note?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reads the first line and acts on it: where does the corporate move go?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as the headline trend, since it is the largest move in rupees on the page; b) as the headline, with a test's p-value printed beside the rate; c) left out of the note, since a handful of orders is too few to matter to anyone; d) as counts, the orders in each quarter, with a question to their owner.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as counts, five orders then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often would coin flips split seven orders that unevenly?</a:t>
            </a:r>
          </a:p>
        </p:txBody>
      </p:sp>
      <p:pic>
        <p:nvPicPr>
          <p:cNvPr id="9" name="mermaid diagram" descr="cc6fbd2aede066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6719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77509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d. Seven orders dealt at random between two quarters come out at least as uneven as five and two in 45 percent of coin-flip worlds, so the rate says nothing a count does not.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choose the lead: C leads on 64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should a team choose the lead, and what does each way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94989"/>
                <a:gridCol w="3631314"/>
                <a:gridCol w="914400"/>
                <a:gridCol w="2975886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Leads with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Chance alone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Biggest rupee move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 -36.3%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45% of coin-flip worlds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The total, unsplit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 -35.0%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asked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Count before rate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basket -15.0%, Rs 14,400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 = 0.011, quarters flipped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Test every segment, run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smallest of four p-values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 to 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0.011, one of four under 0.05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5101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6074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C: the one consumer move on enough orders to test, small in rupees and led beside the corporate move said as counts. Switch when Meera's question is about accounts, when a segment carries hundreds of orders a quarter, or when a second quarter repeats the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Orders and a test decide the first 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each finding go in the note?</a:t>
            </a:r>
          </a:p>
        </p:txBody>
      </p:sp>
      <p:pic>
        <p:nvPicPr>
          <p:cNvPr id="10" name="mermaid diagram" descr="cf6c318ba48f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047" y="1682496"/>
            <a:ext cx="8229600" cy="37290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" y="555783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Rupees decide what Meera hears; the count and the test decide which line she hears it in.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D40  ·  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where does the real change sit?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Among 2,000 worlds with each member's two quarters flipped, how extreme is -15.0 percent?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in the middle of the pile; b) at the edge, with about two dozen worlds as extreme; c) beyond every flipped world; d) nowhere, since members placed different numbers of orders.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4" name="Oval 13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at the edge, 22 of 2,000 worlds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lead's fall more than chance on its members' own two quarters?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rng = random.Random(7)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_ in range(2000):                        # one world per pass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swaps = [rng.random() &lt; 0.5 for _ in per]    # each member's quarters, kept together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worlds.append(flipped_change(per, swaps))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22 of 2,000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FLIPPED WORLDS AS LARGE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either direction, 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p = 0.011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SHARE OF CHANCE-ONLY WORLDS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never the chance of being wrong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0.0107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COUNTED EXACTLY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over all 65,536 ways to flip 16 members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8" name="Oval 2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0" name="Oval 29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different question gets its own fair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Retail-Plus's basket move differently from Retail-Core's?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users_113eb2dd32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SAME MEMBERS, TWO QUARTERS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Did Retail-Plus's basket fall?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fair test flips each member's own two quarters at random: p = 0.011.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huffle_1f5f2f56d5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DIFFERENT 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Did it move differently from Retail-Core's?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fair test shuffles the segment label across whole customers, each carrying all their orders: p = 0.0385.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Both are fair, each for its own question, and a note says which question it tested.</a:t>
            </a:r>
          </a:p>
        </p:txBody>
      </p:sp>
      <p:sp>
        <p:nvSpPr>
          <p:cNvPr id="23" name="Oval 2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5" name="Oval 24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27" name="Oval 26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D43  ·  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13 of 16 members' baskets fell: p = 0.021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fall broad, or carried by a few members?</a:t>
            </a:r>
          </a:p>
        </p:txBody>
      </p:sp>
      <p:pic>
        <p:nvPicPr>
          <p:cNvPr id="9" name="mermaid diagram" descr="78bf4a3a20fb87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flips say whether the change is bigger than chance; the member count says whether it is broad. The sign test uses only each member's direction, so its p sits above the flips'.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Pooling the quarters reads a real fall as chance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happens when a test splits a member's two quarters?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users_113eb2dd32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FLIP EACH MEMBER'S OWN TWO QUARTERS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 = 0.0025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Revenue per member, invented. Every world is one these 16 members could have produced, so a real fall shows as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huffle_1f5f2f56d5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POOL THE Q1 AND Q2 FIGURES AND DEAL THEM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 = 0.222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same figures dealt as strangers: members differ in size far more than in their change, and the fall reads as chance.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104132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5659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67563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469892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Keep each customer's own two quarters together: flip them as a pair when the same customers sit in both quarters, and shuffle labels across whole customers when the groups are different customers. Pooling paired data is the hurried mistake.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1" name="Oval 3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D45  ·  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median is the typical order: Rs 2,350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describes a typical order in a file with seven corporate orders?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39,521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ORDER, 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pulled up by 7 corporate orders, invented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2,350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ORDER, CLEAN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typical 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17 times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mean over median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Describe a file with its median and say what sits above it. Keep the mean for anything that has to reconcile.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1" name="Oval 30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D46  ·  50 / 52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Retail-Plus's basket leads, with corporate as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finding leads the note, and how sure can Meera be of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81177"/>
                <a:gridCol w="714981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answer, on the invented export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the fall sit?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Business, Rs 13,88,200 of Rs 14,00,000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 how many orders?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 then 2; coin flips do that in 45% of worlds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to choose the lead?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C: Retail-Plus's basket, -15.0% on 64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than chance?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Yes: 22 of 2,000 flipped worlds, p = 0.011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Broad, or a few members?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Broad: 13 of 16 fell, sign test p = 0.021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344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442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count before the rate, every time: the orders in each quarter, and then the percentage.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17" name="Oval 16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Rerun the step you stalled on, tonight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you do with the step the lab says you do not own yet?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the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the practice export, the step the TA marked, with the practice set beside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LINE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changes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Written under your lab note: the check you will put first next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paper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sentence, from memory.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306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1604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lab told you which step you do not own yet. Rerun that step tonight on the practice export.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the quarters tie?</a:t>
            </a:r>
          </a:p>
        </p:txBody>
      </p:sp>
      <p:sp>
        <p:nvSpPr>
          <p:cNvPr id="32" name="Oval 3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35682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a clean pass done?</a:t>
            </a:r>
          </a:p>
        </p:txBody>
      </p:sp>
      <p:sp>
        <p:nvSpPr>
          <p:cNvPr id="34" name="Oval 3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 leads?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52 /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