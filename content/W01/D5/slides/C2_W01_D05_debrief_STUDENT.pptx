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Anand said this on Wednesday, and this morning most of the room shipped a number</a:t>
            </a:r>
          </a:p>
          <a:p>
            <a:r>
              <a:t>Finance would have sent back. The debrief runs forty minutes as three chapters, one per place most</a:t>
            </a:r>
          </a:p>
          <a:p>
            <a:r>
              <a:t>rooms break: chapter 1 before lunch (20 minutes, this minute included), chapters 2 and 3 after it</a:t>
            </a:r>
          </a:p>
          <a:p>
            <a:r>
              <a:t>(10 minutes each, the last slide included). Each chapter pairs with a notebook of the same number in</a:t>
            </a:r>
          </a:p>
          <a:p>
            <a:r>
              <a:t>notebooks/, which runs on this morning's export and opens now that the clock has stopped. The slides</a:t>
            </a:r>
          </a:p>
          <a:p>
            <a:r>
              <a:t>that show a trap's mechanism carry an invented export's numbers, labelled invented on the slide;</a:t>
            </a:r>
          </a:p>
          <a:p>
            <a:r>
              <a:t>this morning's own numbers are in the day sheet's debrief table, to say aloud, and in the notebooks'</a:t>
            </a:r>
          </a:p>
          <a:p>
            <a:r>
              <a:t>your-turn cells, to type live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C2_W01_D05_01_debrief_quarters_STUDENT.ipynb, goes on</a:t>
            </a:r>
          </a:p>
          <a:p>
            <a:r>
              <a:t>the projector at S5 and stays there to S9. Close with two learners reading their second-look line</a:t>
            </a:r>
          </a:p>
          <a:p>
            <a:r>
              <a:t>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who asks and why it matters to them: Anand returns any figure that does not tie</a:t>
            </a:r>
          </a:p>
          <a:p>
            <a:r>
              <a:t>to his control total, and Meera acts on the first line of the note. A wrong first line sends</a:t>
            </a:r>
          </a:p>
          <a:p>
            <a:r>
              <a:t>Monday's review after the wrong question, while Marketing's Rs 12 crore request is judged against a</a:t>
            </a:r>
          </a:p>
          <a:p>
            <a:r>
              <a:t>quarter that did not happen. Then one sentence of likeness, even when D2 is left to self-study:</a:t>
            </a:r>
          </a:p>
          <a:p>
            <a:r>
              <a:t>Nykaa reports gross merchandise value of Rs 4,182 crore and revenue from operations of Rs 2,155</a:t>
            </a:r>
          </a:p>
          <a:p>
            <a:r>
              <a:t>crore for the same quarter, 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The point of both: an error that drops or</a:t>
            </a:r>
          </a:p>
          <a:p>
            <a:r>
              <a:t>doubles rows is silent,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the invented export's, so the mechanism shows without naming what</a:t>
            </a:r>
          </a:p>
          <a:p>
            <a:r>
              <a:t>this morning's file holds. Read the three numbers and the sentence, then say the room's own hurried</a:t>
            </a:r>
          </a:p>
          <a:p>
            <a:r>
              <a:t>headline aloud from the day sheet's debrief table and ask how many sent a headline with a plus sign,</a:t>
            </a:r>
          </a:p>
          <a:p>
            <a:r>
              <a:t>without naming anyone; the TA tally already knows, and the room should say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a is Monday's instinct and a good one on a different day; d</a:t>
            </a:r>
          </a:p>
          <a:p>
            <a:r>
              <a:t>is 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Open notebook 1 on the projector: its first level prints this</a:t>
            </a:r>
          </a:p>
          <a:p>
            <a:r>
              <a:t>morning's hurried headline beside the books, and its your-turn cell, typed live, prints this</a:t>
            </a:r>
          </a:p>
          <a:p>
            <a:r>
              <a:t>morning's version of this table. Point at the two kinds of miss: a quarter with the right count and</a:t>
            </a:r>
          </a:p>
          <a:p>
            <a:r>
              <a:t>the wrong rupees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run the sizing cell in notebook 1, which sizes the same options on this</a:t>
            </a:r>
          </a:p>
          <a:p>
            <a:r>
              <a:t>morning's file, with D marked not run because the lab had no ledger. Land two points: B is where</a:t>
            </a:r>
          </a:p>
          <a:p>
            <a:r>
              <a:t>most people who did check stopped, and it still leaves the headline well off the books; D is right</a:t>
            </a:r>
          </a:p>
          <a:p>
            <a:r>
              <a:t>and costs the afternoon. Minutes are the lab brief's pace, D's an estimate for a request to Finance</a:t>
            </a:r>
          </a:p>
          <a:p>
            <a:r>
              <a:t>and a join.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which move is larger before revealing it. Then run level 3 of notebook 1: its</a:t>
            </a:r>
          </a:p>
          <a:p>
            <a:r>
              <a:t>checks say this morning's bridge lands, and its your-turn cell, typed live, draws it; say this</a:t>
            </a:r>
          </a:p>
          <a:p>
            <a:r>
              <a:t>morning's two moves aloud from the day sheet. The your-turn cell after it lists the rows; leave that</a:t>
            </a:r>
          </a:p>
          <a:p>
            <a:r>
              <a:t>to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error changed the sign, so it changed the decision itself. Say this morning's</a:t>
            </a:r>
          </a:p>
          <a:p>
            <a:r>
              <a:t>three headlines aloud from the day sheet's debrief table, then ask one learner what Meera would have</a:t>
            </a:r>
          </a:p>
          <a:p>
            <a:r>
              <a:t>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second-route cell in notebook 1; both checks pass on this morning's file.</a:t>
            </a:r>
          </a:p>
          <a:p>
            <a:r>
              <a:t>Say what the route proves and what it leaves open: the bridge's moves were found by subtracting</a:t>
            </a:r>
          </a:p>
          <a:p>
            <a:r>
              <a:t>totals, and these sums count the decisions themselves, so a row set aside without its log line, or a</a:t>
            </a:r>
          </a:p>
          <a:p>
            <a:r>
              <a:t>value zeroed where it should have been read, makes the two disagree.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whose your-turn cell runs the same comparison on</a:t>
            </a:r>
          </a:p>
          <a:p>
            <a:r>
              <a:t>this morning's file. Run it live for two minutes only if the tally shows more than a quarter of notes</a:t>
            </a:r>
          </a:p>
          <a:p>
            <a:r>
              <a:t>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two learners read their second-look line: one whose totals landed and one</a:t>
            </a:r>
          </a:p>
          <a:p>
            <a:r>
              <a:t>whose did not. Thank both the same way. Then lunch.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C2_W01_D05_02_debrief_values_STUDENT.ipynb, on the</a:t>
            </a:r>
          </a:p>
          <a:p>
            <a:r>
              <a:t>projector from S14.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that is short by one large order can halve the fall the note reports. Nobody</a:t>
            </a:r>
          </a:p>
          <a:p>
            <a:r>
              <a:t>argues with the direction, so nobody acts at the right scale, and when Finance finds the order, every</a:t>
            </a:r>
          </a:p>
          <a:p>
            <a:r>
              <a:t>other number in the note is doubted with it. One sentence of likeness, even when D13 is self-study:</a:t>
            </a:r>
          </a:p>
          <a:p>
            <a:r>
              <a:t>JPMorgan's own task force found a risk spreadsheet that divided by a sum instead of an average and</a:t>
            </a:r>
          </a:p>
          <a:p>
            <a:r>
              <a:t>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to land: the sheet produced a plausible number every day, and only a check</a:t>
            </a:r>
          </a:p>
          <a:p>
            <a:r>
              <a:t>against 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code as a hurried analyst's honest attempt: it runs, it reports nothing and</a:t>
            </a:r>
          </a:p>
          <a:p>
            <a:r>
              <a:t>every count lands. Nobody in the room should feel caught. Notebook 2's first level prints this</a:t>
            </a:r>
          </a:p>
          <a:p>
            <a:r>
              <a:t>morning's count and rejects beside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a, and it is the answer the zeroing pass</a:t>
            </a:r>
          </a:p>
          <a:p>
            <a:r>
              <a:t>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Run level 2 of notebook 2: its checks say this morning's rupees</a:t>
            </a:r>
          </a:p>
          <a:p>
            <a:r>
              <a:t>miss in one quarter while every count lands, and its your-turn cell, typed live, prints which quarter</a:t>
            </a:r>
          </a:p>
          <a:p>
            <a:r>
              <a:t>and by how much; the day sheet's debrief table has the figure. The your-turn cell that finds the row</a:t>
            </a:r>
          </a:p>
          <a:p>
            <a:r>
              <a:t>is for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options cell in notebook 2, which sizes the same four on this morning's</a:t>
            </a:r>
          </a:p>
          <a:p>
            <a:r>
              <a:t>file. Land the contrast between A and B: the same wrong headline, and B fails the count check, so B's</a:t>
            </a:r>
          </a:p>
          <a:p>
            <a:r>
              <a:t>gap is visible and A's is 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which branch their own row took this morning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4 of notebook 2, whose your-turn cells run the same check on this morning's file.</a:t>
            </a:r>
          </a:p>
          <a:p>
            <a:r>
              <a:t>Run it live for two minutes if the tally shows notes that read a segment's move the wrong way round.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Run the second-route cell of notebook 2; both checks pass on this morning's file. On</a:t>
            </a:r>
          </a:p>
          <a:p>
            <a:r>
              <a:t>a file with no control total, this is the check you still have: it needs nothing outside the file and</a:t>
            </a:r>
          </a:p>
          <a:p>
            <a:r>
              <a:t>tells you where, where the rupee check tells you how much.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the last slide included. Notebook 3,</a:t>
            </a:r>
          </a:p>
          <a:p>
            <a:r>
              <a:t>C2_W01_D05_03_debrief_segments_STUDENT.ipynb, on the projector from S25.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D22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as the headline "corporate is declining; we recommend a retention plan".</a:t>
            </a:r>
          </a:p>
          <a:p>
            <a:r>
              <a:t>The number is correct. What can seven orders carry? This morning's own corporate headline and its</a:t>
            </a:r>
          </a:p>
          <a:p>
            <a:r>
              <a:t>count are in the day sheet's debrief table; say them after the room answers S24.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c is the overcorrection: the corporate rupees are real money</a:t>
            </a:r>
          </a:p>
          <a:p>
            <a:r>
              <a:t>and Meera should hear them, as counts.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d. The coin flips in the subtitle are the invented export's; type the</a:t>
            </a:r>
          </a:p>
          <a:p>
            <a:r>
              <a:t>your-turn cell in notebook 3 live for this morning's corporate count and its share. The corporate</a:t>
            </a:r>
          </a:p>
          <a:p>
            <a:r>
              <a:t>action is a phone call, which costs nothing; a retention plan built on a handful of orders costs a</a:t>
            </a:r>
          </a:p>
          <a:p>
            <a:r>
              <a:t>quarter.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options cell in notebook 3; it runs D's four tests, Retail-Core at 0.006 and</a:t>
            </a:r>
          </a:p>
          <a:p>
            <a:r>
              <a:t>the other three from 0.27 to 0.79. B hides that nearly all of the fall is the corporate book. D finds</a:t>
            </a:r>
          </a:p>
          <a:p>
            <a:r>
              <a:t>the same lead here at three times the minutes, and four tests at 0.05 carry about a one-in-five chance</a:t>
            </a:r>
          </a:p>
          <a:p>
            <a:r>
              <a:t>that one looks real by luck, so on another file D leads with a fluke.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Run the flip cell in notebook 3. The fall was found in the tree, so the note reports</a:t>
            </a:r>
          </a:p>
          <a:p>
            <a:r>
              <a:t>both directions. Read the p-value sentence aloud once, word for word, because Saturday's paper asks</a:t>
            </a:r>
          </a:p>
          <a:p>
            <a:r>
              <a:t>for it. A learner who shuffled segment labels across whole customers reached 0.0195: that answers a</a:t>
            </a:r>
          </a:p>
          <a:p>
            <a:r>
              <a:t>different question, whether Retail-Core moved differently from Retail-Plus, and it is fair for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to say: the flips say whether the change is bigger than chance, the customer count says</a:t>
            </a:r>
          </a:p>
          <a:p>
            <a:r>
              <a:t>whether it is broad; when they disagree, a handful of customers moved the average. The sign test uses</a:t>
            </a:r>
          </a:p>
          <a:p>
            <a:r>
              <a:t>only each customer's direction, so its p sits above the flips'. LIVE, 1 minute. Run the second-route</a:t>
            </a:r>
          </a:p>
          <a:p>
            <a:r>
              <a:t>cell. Then close the chapter with the note as it should read, from notebook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pooled the</a:t>
            </a:r>
          </a:p>
          <a:p>
            <a:r>
              <a:t>quarters or shuffled single orders; then run it for three minutes in place of S28. Both cards are</a:t>
            </a:r>
          </a:p>
          <a:p>
            <a:r>
              <a:t>2,000 runs on random.Random(7). The same cell shows single orders shuffled between segments at</a:t>
            </a:r>
          </a:p>
          <a:p>
            <a:r>
              <a:t>0.0755, against 0.0195 with the label moving with the whole customer.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Close the debrief. The TAs tell each person their marked step privately during the</a:t>
            </a:r>
          </a:p>
          <a:p>
            <a:r>
              <a:t>rehearsal, never aloud to the room.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7.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 Id="rId6"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3.png"/><Relationship Id="rId6"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7.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the room broke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reconciliation, skipped</a:t>
            </a:r>
          </a:p>
        </p:txBody>
      </p:sp>
      <p:sp>
        <p:nvSpPr>
          <p:cNvPr id="13" name="TextBox 12"/>
          <p:cNvSpPr txBox="1"/>
          <p:nvPr/>
        </p:nvSpPr>
        <p:spPr>
          <a:xfrm>
            <a:off x="29686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3527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pass that looks clean</a:t>
            </a:r>
          </a:p>
        </p:txBody>
      </p:sp>
      <p:sp>
        <p:nvSpPr>
          <p:cNvPr id="15" name="TextBox 14"/>
          <p:cNvSpPr txBox="1"/>
          <p:nvPr/>
        </p:nvSpPr>
        <p:spPr>
          <a:xfrm>
            <a:off x="519722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581269"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headline on too few orders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reconciliation, skipped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step with no new number in it goes first when the clock runs, and Finance reads it first.</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reads the note before Meera does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metric is booked revenue per quarter, and the note's first line is its Q1 to Q2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direction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reported the wrong way round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the number in your note go to Meera as it stands?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companies that bridge before they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retailer that reports two numbers every quarter, and a pipeline that lost rows without a sound.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GMV is everything ordered, before cancellations, returns and tax come out; revenue from operations is what the company books as its income. Quote one to the owner of the other and you are out by nearly half.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headline a hurried run sends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rows kept as they arrived and a value that would not convert set to zero, with no error.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83 rows,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38,16,420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92 rows, invented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+21.2%</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the file is Finance's own export,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export came with Finance's control totals, and a note that says nothing else.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on its own; b) the p-value of the Q1 to Q2 change, with 2,000 shuffles; c) orders and rupees per quarter against Finance's control totals; d) the segment split, to see which of the four segments grew the most.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the hurried run against the control totals, in orders and in rupees.</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914400"/>
                <a:gridCol w="2089319"/>
                <a:gridCol w="2864033"/>
                <a:gridCol w="2399205"/>
                <a:gridCol w="2864033"/>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Rows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Rs 31,50,000</a:t>
                      </a:r>
                    </a:p>
                  </a:txBody>
                  <a:tcPr marL="101600" marR="101600" marT="38100" marB="38100" anchor="ctr">
                    <a:solidFill>
                      <a:srgbClr val="FFFFFF"/>
                    </a:solidFill>
                  </a:tcPr>
                </a:tc>
                <a:tc>
                  <a:txBody>
                    <a:bodyPr/>
                    <a:lstStyle/>
                    <a:p>
                      <a:r>
                        <a:rPr sz="1200" b="0" i="0">
                          <a:solidFill>
                            <a:srgbClr val="1A1440"/>
                          </a:solidFill>
                          <a:latin typeface="Calibri"/>
                        </a:rPr>
                        <a:t>Rs 40,00,000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92</a:t>
                      </a:r>
                    </a:p>
                  </a:txBody>
                  <a:tcPr marL="101600" marR="101600" marT="38100" marB="38100" anchor="ctr">
                    <a:solidFill>
                      <a:srgbClr val="F4F2FA"/>
                    </a:solidFill>
                  </a:tcPr>
                </a:tc>
                <a:tc>
                  <a:txBody>
                    <a:bodyPr/>
                    <a:lstStyle/>
                    <a:p>
                      <a:r>
                        <a:rPr sz="1200" b="0" i="0">
                          <a:solidFill>
                            <a:srgbClr val="1A1440"/>
                          </a:solidFill>
                          <a:latin typeface="Calibri"/>
                        </a:rPr>
                        <a:t>84</a:t>
                      </a:r>
                    </a:p>
                  </a:txBody>
                  <a:tcPr marL="101600" marR="101600" marT="38100" marB="38100" anchor="ctr">
                    <a:solidFill>
                      <a:srgbClr val="F4F2FA"/>
                    </a:solidFill>
                  </a:tcPr>
                </a:tc>
                <a:tc>
                  <a:txBody>
                    <a:bodyPr/>
                    <a:lstStyle/>
                    <a:p>
                      <a:r>
                        <a:rPr sz="1200" b="0" i="0">
                          <a:solidFill>
                            <a:srgbClr val="1A1440"/>
                          </a:solidFill>
                          <a:latin typeface="Calibri"/>
                        </a:rPr>
                        <a:t>Rs 38,16,420</a:t>
                      </a:r>
                    </a:p>
                  </a:txBody>
                  <a:tcPr marL="101600" marR="101600" marT="38100" marB="38100" anchor="ctr">
                    <a:solidFill>
                      <a:srgbClr val="F4F2FA"/>
                    </a:solidFill>
                  </a:tcPr>
                </a:tc>
                <a:tc>
                  <a:txBody>
                    <a:bodyPr/>
                    <a:lstStyle/>
                    <a:p>
                      <a:r>
                        <a:rPr sz="1200" b="0" i="0">
                          <a:solidFill>
                            <a:srgbClr val="1A1440"/>
                          </a:solidFill>
                          <a:latin typeface="Calibri"/>
                        </a:rPr>
                        <a:t>Rs 26,00,000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Two different errors, and the headline carries them both.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check,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minutes of thought decide it, and what each option needs from outside the file.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069921"/>
                <a:gridCol w="1591130"/>
                <a:gridCol w="2013642"/>
                <a:gridCol w="2410153"/>
                <a:gridCol w="2046143"/>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Needs</a:t>
                      </a:r>
                    </a:p>
                  </a:txBody>
                  <a:tcPr marL="101600" marR="101600" marT="38100" marB="38100" anchor="ctr">
                    <a:solidFill>
                      <a:srgbClr val="1A0F5C"/>
                    </a:solidFill>
                  </a:tcPr>
                </a:tc>
                <a:tc>
                  <a:txBody>
                    <a:bodyPr/>
                    <a:lstStyle/>
                    <a:p>
                      <a:r>
                        <a:rPr sz="1250" b="1" i="0">
                          <a:solidFill>
                            <a:srgbClr val="FFFFFF"/>
                          </a:solidFill>
                          <a:latin typeface="Calibri"/>
                        </a:rPr>
                        <a:t>Headline it lets through</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+21.2%</a:t>
                      </a:r>
                    </a:p>
                  </a:txBody>
                  <a:tcPr marL="101600" marR="101600" marT="38100" marB="38100" anchor="ctr">
                    <a:solidFill>
                      <a:srgbClr val="FFFFFF"/>
                    </a:solidFill>
                  </a:tcPr>
                </a:tc>
                <a:tc>
                  <a:txBody>
                    <a:bodyPr/>
                    <a:lstStyle/>
                    <a:p>
                      <a:r>
                        <a:rPr sz="1200" b="0" i="0">
                          <a:solidFill>
                            <a:srgbClr val="1A1440"/>
                          </a:solidFill>
                          <a:latin typeface="Calibri"/>
                        </a:rPr>
                        <a:t>56.2</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Finance's order counts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Finance's rupee totals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Finance's ledger</a:t>
                      </a:r>
                    </a:p>
                  </a:txBody>
                  <a:tcPr marL="101600" marR="101600" marT="38100" marB="38100" anchor="ctr">
                    <a:solidFill>
                      <a:srgbClr val="F4F2FA"/>
                    </a:solidFill>
                  </a:tcPr>
                </a:tc>
                <a:tc>
                  <a:txBody>
                    <a:bodyPr/>
                    <a:lstStyle/>
                    <a:p>
                      <a:r>
                        <a:rPr sz="1200" b="0" i="0">
                          <a:solidFill>
                            <a:srgbClr val="1A1440"/>
                          </a:solidFill>
                          <a:latin typeface="Calibri"/>
                        </a:rPr>
                        <a:t>-35.0%, each order named</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because it needs only the control file that came with the export and lands to the rupee.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the hurried sum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two moves, each a line in the decisions log, and the walk closes on Finance's total.</a:t>
            </a:r>
          </a:p>
        </p:txBody>
      </p:sp>
      <p:pic>
        <p:nvPicPr>
          <p:cNvPr id="9" name="mermaid diagram" descr="b8037ce6427ca687.png"/>
          <p:cNvPicPr>
            <a:picLocks noChangeAspect="1"/>
          </p:cNvPicPr>
          <p:nvPr/>
        </p:nvPicPr>
        <p:blipFill>
          <a:blip r:embed="rId5"/>
          <a:stretch>
            <a:fillRect/>
          </a:stretch>
        </p:blipFill>
        <p:spPr>
          <a:xfrm>
            <a:off x="530352" y="1956816"/>
            <a:ext cx="11130991" cy="1696640"/>
          </a:xfrm>
          <a:prstGeom prst="rect">
            <a:avLst/>
          </a:prstGeom>
        </p:spPr>
      </p:pic>
      <p:sp>
        <p:nvSpPr>
          <p:cNvPr id="10" name="TextBox 9"/>
          <p:cNvSpPr txBox="1"/>
          <p:nvPr/>
        </p:nvSpPr>
        <p:spPr>
          <a:xfrm>
            <a:off x="530352" y="37997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both quarters on the books, the invented export's headline is a fall of 35.0 percent, Rs 40,00,000 to Rs 26,00,000.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decision the wrong number would have made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growth reads as no action, a fall reads as find the branch, and only one is true.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21.2%</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17.5%</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35.0%</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14,00,000 to explain, and the tree says where.</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34" name="Oval 3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6" name="Oval 3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sum the decisions themselves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the set-aside list and the log, each summed on its own, against the bridge's moves.</a:t>
            </a:r>
          </a:p>
        </p:txBody>
      </p:sp>
      <p:pic>
        <p:nvPicPr>
          <p:cNvPr id="9" name="mermaid diagram" descr="c405589d215684cd.png"/>
          <p:cNvPicPr>
            <a:picLocks noChangeAspect="1"/>
          </p:cNvPicPr>
          <p:nvPr/>
        </p:nvPicPr>
        <p:blipFill>
          <a:blip r:embed="rId6"/>
          <a:stretch>
            <a:fillRect/>
          </a:stretch>
        </p:blipFill>
        <p:spPr>
          <a:xfrm>
            <a:off x="3224060" y="1956816"/>
            <a:ext cx="5743575" cy="2300287"/>
          </a:xfrm>
          <a:prstGeom prst="rect">
            <a:avLst/>
          </a:prstGeom>
        </p:spPr>
      </p:pic>
      <p:sp>
        <p:nvSpPr>
          <p:cNvPr id="10" name="Rounded Rectangle 9"/>
          <p:cNvSpPr/>
          <p:nvPr/>
        </p:nvSpPr>
        <p:spPr>
          <a:xfrm>
            <a:off x="530352" y="440340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6517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97490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69167"/>
            <a:ext cx="9987991" cy="94183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Run the two sums before you send it: they prove every rupee the bridge moved is a row set aside or a value in the log, and whether each decision was right is the order-level match's question.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rows can also move a branch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repeated rows for the same customers read as customers ordering more often.</a:t>
            </a:r>
          </a:p>
        </p:txBody>
      </p:sp>
      <p:pic>
        <p:nvPicPr>
          <p:cNvPr id="10" name="mermaid diagram" descr="abf48e521da9dae3.png"/>
          <p:cNvPicPr>
            <a:picLocks noChangeAspect="1"/>
          </p:cNvPicPr>
          <p:nvPr/>
        </p:nvPicPr>
        <p:blipFill>
          <a:blip r:embed="rId5"/>
          <a:stretch>
            <a:fillRect/>
          </a:stretch>
        </p:blipFill>
        <p:spPr>
          <a:xfrm>
            <a:off x="3095472" y="1956816"/>
            <a:ext cx="6000750" cy="2271712"/>
          </a:xfrm>
          <a:prstGeom prst="rect">
            <a:avLst/>
          </a:prstGeom>
        </p:spPr>
      </p:pic>
      <p:sp>
        <p:nvSpPr>
          <p:cNvPr id="11" name="TextBox 10"/>
          <p:cNvSpPr txBox="1"/>
          <p:nvPr/>
        </p:nvSpPr>
        <p:spPr>
          <a:xfrm>
            <a:off x="530352" y="4374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Rows Finance does not hold manufacture a frequency rise where nothing changed, and hide a basket fall behind a segment that looks steady.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the clock removes this step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Fifteen of ninety minutes, and its only output is a yes or a no, so it feels like the step that can wait.</a:t>
            </a:r>
          </a:p>
        </p:txBody>
      </p:sp>
      <p:sp>
        <p:nvSpPr>
          <p:cNvPr id="9" name="Rectangle 8"/>
          <p:cNvSpPr/>
          <p:nvPr/>
        </p:nvSpPr>
        <p:spPr>
          <a:xfrm>
            <a:off x="530352" y="1956816"/>
            <a:ext cx="247355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Profile</a:t>
            </a:r>
          </a:p>
        </p:txBody>
      </p:sp>
      <p:sp>
        <p:nvSpPr>
          <p:cNvPr id="10" name="Rectangle 9"/>
          <p:cNvSpPr/>
          <p:nvPr/>
        </p:nvSpPr>
        <p:spPr>
          <a:xfrm>
            <a:off x="3003905"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Clean</a:t>
            </a:r>
          </a:p>
        </p:txBody>
      </p:sp>
      <p:sp>
        <p:nvSpPr>
          <p:cNvPr id="11" name="Rectangle 10"/>
          <p:cNvSpPr/>
          <p:nvPr/>
        </p:nvSpPr>
        <p:spPr>
          <a:xfrm>
            <a:off x="6714236" y="1956816"/>
            <a:ext cx="1855165"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Reconcile</a:t>
            </a:r>
          </a:p>
        </p:txBody>
      </p:sp>
      <p:sp>
        <p:nvSpPr>
          <p:cNvPr id="12" name="Rectangle 11"/>
          <p:cNvSpPr/>
          <p:nvPr/>
        </p:nvSpPr>
        <p:spPr>
          <a:xfrm>
            <a:off x="8569401" y="1956816"/>
            <a:ext cx="3091941"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Decompose</a:t>
            </a:r>
          </a:p>
        </p:txBody>
      </p:sp>
      <p:sp>
        <p:nvSpPr>
          <p:cNvPr id="13" name="Rounded Rectangle 12"/>
          <p:cNvSpPr/>
          <p:nvPr/>
        </p:nvSpPr>
        <p:spPr>
          <a:xfrm>
            <a:off x="530352" y="29169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3249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search-check_6571e64a041f.png"/>
          <p:cNvPicPr>
            <a:picLocks noChangeAspect="1"/>
          </p:cNvPicPr>
          <p:nvPr/>
        </p:nvPicPr>
        <p:blipFill>
          <a:blip r:embed="rId4"/>
          <a:stretch>
            <a:fillRect/>
          </a:stretch>
        </p:blipFill>
        <p:spPr>
          <a:xfrm>
            <a:off x="868680" y="3358896"/>
            <a:ext cx="237744" cy="237744"/>
          </a:xfrm>
          <a:prstGeom prst="rect">
            <a:avLst/>
          </a:prstGeom>
        </p:spPr>
      </p:pic>
      <p:sp>
        <p:nvSpPr>
          <p:cNvPr id="16" name="TextBox 15"/>
          <p:cNvSpPr txBox="1"/>
          <p:nvPr/>
        </p:nvSpPr>
        <p:spPr>
          <a:xfrm>
            <a:off x="1399031" y="30632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7" name="TextBox 16"/>
          <p:cNvSpPr txBox="1"/>
          <p:nvPr/>
        </p:nvSpPr>
        <p:spPr>
          <a:xfrm>
            <a:off x="1399031" y="3282696"/>
            <a:ext cx="9987991" cy="68275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and this morning it did. Put the two checks in a cell before the first number you plan to send.</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0" name="Oval 19"/>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2" name="Oval 21"/>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pass that looks clean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zero-reject pass on a file you know is dirty is the first thing to investigate.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audits the note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Q1 total is the base every Q1 to Q2 rate divides by.</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BASE CAN COST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half its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Is it finished?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formula that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JPMorgan's own task force found a spreadsheet that never errored and halved a risk measure.</a:t>
            </a:r>
          </a:p>
        </p:txBody>
      </p:sp>
      <p:sp>
        <p:nvSpPr>
          <p:cNvPr id="10" name="Rounded Rectangle 9"/>
          <p:cNvSpPr/>
          <p:nvPr/>
        </p:nvSpPr>
        <p:spPr>
          <a:xfrm>
            <a:off x="530352" y="1956816"/>
            <a:ext cx="5474055"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how far prices were shown to swing, by a factor of two, and lowering the VaR, the bank's estimate of a bad day's loss. Source: the task force report, January 2013, as quoted by The Baseline Scenario, 9 February 2013.</a:t>
            </a:r>
          </a:p>
        </p:txBody>
      </p:sp>
      <p:sp>
        <p:nvSpPr>
          <p:cNvPr id="16" name="Rounded Rectangle 15"/>
          <p:cNvSpPr/>
          <p:nvPr/>
        </p:nvSpPr>
        <p:spPr>
          <a:xfrm>
            <a:off x="6187287"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trading losses from what became known as the "London Whale" trades in the bank's Chief Investment Office.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the most natural line of Python in the week, a try that sets a failure 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83</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83, invented</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kept, invented</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rows reconcile, so what is left?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Input equals kept plus rejected, and the order counts match Finance's.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nothing, since every row is accounted for; b) the rupees against each control total; c) the median, since one large order may have gone; d) the dates, since the quarter may be cut wrong.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rupees, and one quarter is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counts reconcile while rupees do not, and the gap is the value the try swallowed.</a:t>
            </a:r>
          </a:p>
        </p:txBody>
      </p:sp>
      <p:pic>
        <p:nvPicPr>
          <p:cNvPr id="9" name="mermaid diagram" descr="95f72f78b81ef260.png"/>
          <p:cNvPicPr>
            <a:picLocks noChangeAspect="1"/>
          </p:cNvPicPr>
          <p:nvPr/>
        </p:nvPicPr>
        <p:blipFill>
          <a:blip r:embed="rId5"/>
          <a:stretch>
            <a:fillRect/>
          </a:stretch>
        </p:blipFill>
        <p:spPr>
          <a:xfrm>
            <a:off x="1252385" y="1956816"/>
            <a:ext cx="9686925" cy="2471737"/>
          </a:xfrm>
          <a:prstGeom prst="rect">
            <a:avLst/>
          </a:prstGeom>
        </p:spPr>
      </p:pic>
      <p:sp>
        <p:nvSpPr>
          <p:cNvPr id="10" name="TextBox 9"/>
          <p:cNvSpPr txBox="1"/>
          <p:nvPr/>
        </p:nvSpPr>
        <p:spPr>
          <a:xfrm>
            <a:off x="530352" y="45748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the base short by 21.3 percent, the note reports a fall of 17.5 percent where the books show 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to a value that will not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one value sized: what each option sends and what the checks then show.</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-17.5%</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C, when the value can be read without guessing, as an amount exported with its paise, the invented export's 850000.00, can. D when it cannot: a word, a unit that could be lakh or crore. B when the row is not an order. A is the one option that hides its gap.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honest answers to a value that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leaves a log line and a number in the reconciliation.</a:t>
            </a:r>
          </a:p>
        </p:txBody>
      </p:sp>
      <p:pic>
        <p:nvPicPr>
          <p:cNvPr id="9" name="mermaid diagram" descr="9b4d3c5884cf6c9b.png"/>
          <p:cNvPicPr>
            <a:picLocks noChangeAspect="1"/>
          </p:cNvPicPr>
          <p:nvPr/>
        </p:nvPicPr>
        <p:blipFill>
          <a:blip r:embed="rId6"/>
          <a:stretch>
            <a:fillRect/>
          </a:stretch>
        </p:blipFill>
        <p:spPr>
          <a:xfrm>
            <a:off x="2676753" y="1664208"/>
            <a:ext cx="6838187"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shape one step later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a filter on the segment name never sees a row whose segment is empty.</a:t>
            </a:r>
          </a:p>
        </p:txBody>
      </p:sp>
      <p:pic>
        <p:nvPicPr>
          <p:cNvPr id="10" name="mermaid diagram" descr="e236f9c6a62015d1.png"/>
          <p:cNvPicPr>
            <a:picLocks noChangeAspect="1"/>
          </p:cNvPicPr>
          <p:nvPr/>
        </p:nvPicPr>
        <p:blipFill>
          <a:blip r:embed="rId6"/>
          <a:stretch>
            <a:fillRect/>
          </a:stretch>
        </p:blipFill>
        <p:spPr>
          <a:xfrm>
            <a:off x="3131191" y="1956816"/>
            <a:ext cx="5929312" cy="2043112"/>
          </a:xfrm>
          <a:prstGeom prst="rect">
            <a:avLst/>
          </a:prstGeom>
        </p:spPr>
      </p:pic>
      <p:sp>
        <p:nvSpPr>
          <p:cNvPr id="11" name="Rounded Rectangle 10"/>
          <p:cNvSpPr/>
          <p:nvPr/>
        </p:nvSpPr>
        <p:spPr>
          <a:xfrm>
            <a:off x="530352" y="41462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78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88192"/>
            <a:ext cx="237744" cy="237744"/>
          </a:xfrm>
          <a:prstGeom prst="rect">
            <a:avLst/>
          </a:prstGeom>
        </p:spPr>
      </p:pic>
      <p:sp>
        <p:nvSpPr>
          <p:cNvPr id="14" name="TextBox 13"/>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511992"/>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On the invented export they fall one order short in Q1, and a segment that fell reads as a rise.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8" name="Oval 1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0" name="Oval 1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account for every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the rupee check finds the gap from outside the file; this finds it from inside.</a:t>
            </a:r>
          </a:p>
        </p:txBody>
      </p:sp>
      <p:pic>
        <p:nvPicPr>
          <p:cNvPr id="9" name="mermaid diagram" descr="3c683710ff587dd5.png"/>
          <p:cNvPicPr>
            <a:picLocks noChangeAspect="1"/>
          </p:cNvPicPr>
          <p:nvPr/>
        </p:nvPicPr>
        <p:blipFill>
          <a:blip r:embed="rId6"/>
          <a:stretch>
            <a:fillRect/>
          </a:stretch>
        </p:blipFill>
        <p:spPr>
          <a:xfrm>
            <a:off x="1909610" y="1956816"/>
            <a:ext cx="8372475"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Setting a value to zero claims the order was worth nothing, so that decision belongs in the log with a reason.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headline on too few orders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can a handful of orders carry in the note's first line?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Choosing which right number leads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data ties to the books. Which finding does Meera read first?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17,22,520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four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places that count before they rank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ratings site that will not rank a title on a few votes, and a foundation that did.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corporate book falls 36.3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export: true to the rupee, the biggest number on the page, and the headline a hurried note leads with.</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-36.3%</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CORPORATE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5 then 2</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 invented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13,88,200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99.2% of the quarter's, invented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3" name="Oval 2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5" name="Oval 24"/>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on the page; b) as the headline, with a test's p-value printed beside the rate; c) left out of the note, since a handful of orders is too few to matter to anyone; d) as counts, the orders in each quarter, with a question to their owner.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before rate, then choose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counts: seven orders split by coin flips come out at least as uneven as five and two in 45 percent of worlds.</a:t>
            </a:r>
          </a:p>
        </p:txBody>
      </p:sp>
      <p:pic>
        <p:nvPicPr>
          <p:cNvPr id="9" name="mermaid diagram" descr="0577f00dfd72043f.png"/>
          <p:cNvPicPr>
            <a:picLocks noChangeAspect="1"/>
          </p:cNvPicPr>
          <p:nvPr/>
        </p:nvPicPr>
        <p:blipFill>
          <a:blip r:embed="rId5"/>
          <a:stretch>
            <a:fillRect/>
          </a:stretch>
        </p:blipFill>
        <p:spPr>
          <a:xfrm>
            <a:off x="3566721" y="1682496"/>
            <a:ext cx="505825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4" name="Oval 1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This morning's file: what each option leads with, on how many orders, and how often chance alone produces it.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2447840"/>
                <a:gridCol w="3298298"/>
                <a:gridCol w="1767473"/>
                <a:gridCol w="2702977"/>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the corporate rate</a:t>
                      </a:r>
                    </a:p>
                  </a:txBody>
                  <a:tcPr marL="101600" marR="101600" marT="38100" marB="38100" anchor="ctr">
                    <a:solidFill>
                      <a:srgbClr val="FFFFFF"/>
                    </a:solidFill>
                  </a:tcPr>
                </a:tc>
                <a:tc>
                  <a:txBody>
                    <a:bodyPr/>
                    <a:lstStyle/>
                    <a:p>
                      <a:r>
                        <a:rPr sz="1200" b="0" i="0">
                          <a:solidFill>
                            <a:srgbClr val="1A1440"/>
                          </a:solidFill>
                          <a:latin typeface="Calibri"/>
                        </a:rPr>
                        <a:t>under thirty</a:t>
                      </a:r>
                    </a:p>
                  </a:txBody>
                  <a:tcPr marL="101600" marR="101600" marT="38100" marB="38100" anchor="ctr">
                    <a:solidFill>
                      <a:srgbClr val="FFFFFF"/>
                    </a:solidFill>
                  </a:tcPr>
                </a:tc>
                <a:tc>
                  <a:txBody>
                    <a:bodyPr/>
                    <a:lstStyle/>
                    <a:p>
                      <a:r>
                        <a:rPr sz="1200" b="0" i="0">
                          <a:solidFill>
                            <a:srgbClr val="1A1440"/>
                          </a:solidFill>
                          <a:latin typeface="Calibri"/>
                        </a:rPr>
                        <a:t>most coin-flip worlds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-28.5%</a:t>
                      </a:r>
                    </a:p>
                  </a:txBody>
                  <a:tcPr marL="101600" marR="101600" marT="38100" marB="38100" anchor="ctr">
                    <a:solidFill>
                      <a:srgbClr val="F4F2FA"/>
                    </a:solidFill>
                  </a:tcPr>
                </a:tc>
                <a:tc>
                  <a:txBody>
                    <a:bodyPr/>
                    <a:lstStyle/>
                    <a:p>
                      <a:r>
                        <a:rPr sz="1200" b="0" i="0">
                          <a:solidFill>
                            <a:srgbClr val="1A1440"/>
                          </a:solidFill>
                          <a:latin typeface="Calibri"/>
                        </a:rPr>
                        <a:t>197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Retail-Core basket -17.1%, Rs 15,400</a:t>
                      </a:r>
                    </a:p>
                  </a:txBody>
                  <a:tcPr marL="101600" marR="101600" marT="38100" marB="38100" anchor="ctr">
                    <a:solidFill>
                      <a:srgbClr val="FFFFFF"/>
                    </a:solidFill>
                  </a:tcPr>
                </a:tc>
                <a:tc>
                  <a:txBody>
                    <a:bodyPr/>
                    <a:lstStyle/>
                    <a:p>
                      <a:r>
                        <a:rPr sz="1200" b="0" i="0">
                          <a:solidFill>
                            <a:srgbClr val="1A1440"/>
                          </a:solidFill>
                          <a:latin typeface="Calibri"/>
                        </a:rPr>
                        <a:t>88</a:t>
                      </a:r>
                    </a:p>
                  </a:txBody>
                  <a:tcPr marL="101600" marR="101600" marT="38100" marB="38100" anchor="ctr">
                    <a:solidFill>
                      <a:srgbClr val="FFFFFF"/>
                    </a:solidFill>
                  </a:tcPr>
                </a:tc>
                <a:tc>
                  <a:txBody>
                    <a:bodyPr/>
                    <a:lstStyle/>
                    <a:p>
                      <a:r>
                        <a:rPr sz="1200" b="0" i="0">
                          <a:solidFill>
                            <a:srgbClr val="1A1440"/>
                          </a:solidFill>
                          <a:latin typeface="Calibri"/>
                        </a:rPr>
                        <a:t>0.006, quarters flipped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 run</a:t>
                      </a:r>
                    </a:p>
                  </a:txBody>
                  <a:tcPr marL="101600" marR="101600" marT="38100" marB="38100" anchor="ctr">
                    <a:solidFill>
                      <a:srgbClr val="F4F2FA"/>
                    </a:solidFill>
                  </a:tcPr>
                </a:tc>
                <a:tc>
                  <a:txBody>
                    <a:bodyPr/>
                    <a:lstStyle/>
                    <a:p>
                      <a:r>
                        <a:rPr sz="1200" b="0" i="0">
                          <a:solidFill>
                            <a:srgbClr val="1A1440"/>
                          </a:solidFill>
                          <a:latin typeface="Calibri"/>
                        </a:rPr>
                        <a:t>the smallest of four p-values</a:t>
                      </a:r>
                    </a:p>
                  </a:txBody>
                  <a:tcPr marL="101600" marR="101600" marT="38100" marB="38100" anchor="ctr">
                    <a:solidFill>
                      <a:srgbClr val="F4F2FA"/>
                    </a:solidFill>
                  </a:tcPr>
                </a:tc>
                <a:tc>
                  <a:txBody>
                    <a:bodyPr/>
                    <a:lstStyle/>
                    <a:p>
                      <a:r>
                        <a:rPr sz="1200" b="0" i="0">
                          <a:solidFill>
                            <a:srgbClr val="1A1440"/>
                          </a:solidFill>
                          <a:latin typeface="Calibri"/>
                        </a:rPr>
                        <a:t>under thirty to 88</a:t>
                      </a:r>
                    </a:p>
                  </a:txBody>
                  <a:tcPr marL="101600" marR="101600" marT="38100" marB="38100" anchor="ctr">
                    <a:solidFill>
                      <a:srgbClr val="F4F2FA"/>
                    </a:solidFill>
                  </a:tcPr>
                </a:tc>
                <a:tc>
                  <a:txBody>
                    <a:bodyPr/>
                    <a:lstStyle/>
                    <a:p>
                      <a:r>
                        <a:rPr sz="1200" b="0" i="0">
                          <a:solidFill>
                            <a:srgbClr val="1A1440"/>
                          </a:solidFill>
                          <a:latin typeface="Calibri"/>
                        </a:rPr>
                        <a:t>0.006, one of four under 0.05</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 the one consumer move on enough orders to test, small in rupees (0.9 percent of the fall) and led beside the corporate move said as counts. Switch when Meera's question is about accounts rather than rates,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branch that moved, tested on its own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30 customers sit in both quarters, so each customer's own two quarters are flipped at random.</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-17.1%</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Retail-Core, Q1 to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12 of 2,000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FLIPPED WORLDS AS LARGE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either direction, random.Random(7)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0.006</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 CHANCE-ONLY WORLDS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never the chance of being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[S] Tell me about an analysis you did: what did you find, and how sure are you? The claim with its count, the check that it ties to the books, a test that keeps each customer's two quarters together, and the caveat.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customer by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Retail-Core's 30 customers, how many saw their own basket fall, and how often would coin flips split them so?</a:t>
            </a:r>
          </a:p>
        </p:txBody>
      </p:sp>
      <p:pic>
        <p:nvPicPr>
          <p:cNvPr id="9" name="mermaid diagram" descr="5721dd61f4abf3ee.png"/>
          <p:cNvPicPr>
            <a:picLocks noChangeAspect="1"/>
          </p:cNvPicPr>
          <p:nvPr/>
        </p:nvPicPr>
        <p:blipFill>
          <a:blip r:embed="rId6"/>
          <a:stretch>
            <a:fillRect/>
          </a:stretch>
        </p:blipFill>
        <p:spPr>
          <a:xfrm>
            <a:off x="1738160" y="1956816"/>
            <a:ext cx="8715375" cy="1800225"/>
          </a:xfrm>
          <a:prstGeom prst="rect">
            <a:avLst/>
          </a:prstGeom>
        </p:spPr>
      </p:pic>
      <p:sp>
        <p:nvSpPr>
          <p:cNvPr id="10" name="Rounded Rectangle 9"/>
          <p:cNvSpPr/>
          <p:nvPr/>
        </p:nvSpPr>
        <p:spPr>
          <a:xfrm>
            <a:off x="530352" y="390334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0603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215765"/>
            <a:ext cx="237744" cy="237744"/>
          </a:xfrm>
          <a:prstGeom prst="rect">
            <a:avLst/>
          </a:prstGeom>
        </p:spPr>
      </p:pic>
      <p:sp>
        <p:nvSpPr>
          <p:cNvPr id="13" name="TextBox 12"/>
          <p:cNvSpPr txBox="1"/>
          <p:nvPr/>
        </p:nvSpPr>
        <p:spPr>
          <a:xfrm>
            <a:off x="1399031" y="404964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69105"/>
            <a:ext cx="9987991" cy="42367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the orders in each quarter, and then the percentage.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keep each customer's quarters together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fall in revenue per customer, tested two ways, and two verdicts.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FLIP EACH CUSTOMER'S OWN TWO QUARTERS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0.0015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Every world is one these 30 customers could have produced, so a real fall shows as one.</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POOL THE Q1 AND Q2 FIGURES AND DEAL THEM</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0.0765</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Each customer's two quarters are dealt as strangers, the steadiness of each customer is thrown away, and a real fall reads as chance.</a:t>
            </a:r>
          </a:p>
        </p:txBody>
      </p:sp>
      <p:sp>
        <p:nvSpPr>
          <p:cNvPr id="22" name="Rounded Rectangle 21"/>
          <p:cNvSpPr/>
          <p:nvPr/>
        </p:nvSpPr>
        <p:spPr>
          <a:xfrm>
            <a:off x="530352" y="41041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5659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75632"/>
            <a:ext cx="237744" cy="237744"/>
          </a:xfrm>
          <a:prstGeom prst="rect">
            <a:avLst/>
          </a:prstGeom>
        </p:spPr>
      </p:pic>
      <p:sp>
        <p:nvSpPr>
          <p:cNvPr id="25" name="TextBox 24"/>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469892"/>
            <a:ext cx="9987991" cy="941832"/>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flip them as a pair when the same customers sit in both quarters, and shuffle labels across whole customers when the groups are different customers. Pooling paired data is the hurried mistake.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the typical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few corporate orders drag the mean far from any order a consumer placed.</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52,657</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the corporate orders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2,120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Keep the mean for anything that has to reconcile.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line you write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step where you stalled, rerun alone, and what you will do differently.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from memory.</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The lab told you which step you do not own yet. Rerun that step tonight on the practice export.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4" name="Oval 3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