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machine that remembers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notebook that opened the day is a machine that holds on to whatever you hand it.</a:t>
            </a:r>
          </a:p>
          <a:p>
            <a:pPr algn="l"/>
            <a:r>
              <a:rPr b="0" sz="2100">
                <a:solidFill>
                  <a:srgbClr val="1C1C1A"/>
                </a:solidFill>
                <a:latin typeface="Calibri"/>
              </a:rPr>
              <a:t> </a:t>
            </a:r>
          </a:p>
          <a:p>
            <a:pPr algn="l"/>
            <a:r>
              <a:rPr b="0" sz="2100">
                <a:solidFill>
                  <a:srgbClr val="1C1C1A"/>
                </a:solidFill>
                <a:latin typeface="Calibri"/>
              </a:rPr>
              <a:t>For the next stretch you learn what it is holding, why it sometimes refuses you, and how to get it back when it forgets.</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Where we are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1800">
                <a:solidFill>
                  <a:srgbClr val="2B4A7D"/>
                </a:solidFill>
                <a:latin typeface="Consolas"/>
              </a:rPr>
              <a:t>[open the workbench] &gt; [the kernel remembers] &gt; [type decides] &gt; [walk the records] &gt; [the business answer]</a:t>
            </a:r>
          </a:p>
          <a:p>
            <a:pPr algn="l"/>
            <a:r>
              <a:rPr b="0" sz="2100">
                <a:solidFill>
                  <a:srgbClr val="1C1C1A"/>
                </a:solidFill>
                <a:latin typeface="Calibri"/>
              </a:rPr>
              <a:t> </a:t>
            </a:r>
          </a:p>
          <a:p>
            <a:pPr algn="l"/>
            <a:r>
              <a:rPr b="0" sz="2100">
                <a:solidFill>
                  <a:srgbClr val="1C1C1A"/>
                </a:solidFill>
                <a:latin typeface="Calibri"/>
              </a:rPr>
              <a:t>Every order in this file is a Kalpa Retail order. The same thirty orders come back tomorrow as a file, and they come back again in Week 2 in pandas and in SQL.</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answer you just watched</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question was "Of these thirty Kalpa Retail orders, how much did we actually collect?"</a:t>
            </a:r>
          </a:p>
          <a:p>
            <a:pPr algn="l"/>
            <a:r>
              <a:rPr b="0" sz="2100">
                <a:solidFill>
                  <a:srgbClr val="1C1C1A"/>
                </a:solidFill>
                <a:latin typeface="Calibri"/>
              </a:rPr>
              <a:t> </a:t>
            </a:r>
          </a:p>
          <a:p>
            <a:pPr algn="l"/>
            <a:r>
              <a:rPr b="0" sz="2100">
                <a:solidFill>
                  <a:srgbClr val="1C1C1A"/>
                </a:solidFill>
                <a:latin typeface="Calibri"/>
              </a:rPr>
              <a:t>The answer was 13 delivered orders, totalling Rs 25,720.</a:t>
            </a:r>
          </a:p>
          <a:p>
            <a:pPr algn="l"/>
            <a:r>
              <a:rPr b="0" sz="2100">
                <a:solidFill>
                  <a:srgbClr val="1C1C1A"/>
                </a:solidFill>
                <a:latin typeface="Calibri"/>
              </a:rPr>
              <a:t> </a:t>
            </a:r>
          </a:p>
          <a:p>
            <a:pPr algn="l"/>
            <a:r>
              <a:rPr b="0" sz="2100">
                <a:solidFill>
                  <a:srgbClr val="1C1C1A"/>
                </a:solidFill>
                <a:latin typeface="Calibri"/>
              </a:rPr>
              <a:t>Nobody explained those records to you before the notebook ran, and that is the situation you will be hired into.</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Where this is going</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total = 0</a:t>
            </a:r>
          </a:p>
          <a:p>
            <a:pPr algn="l"/>
            <a:r>
              <a:rPr sz="1700">
                <a:solidFill>
                  <a:srgbClr val="2B4A7D"/>
                </a:solidFill>
                <a:latin typeface="Consolas"/>
              </a:rPr>
              <a:t>for r in records:</a:t>
            </a:r>
          </a:p>
          <a:p>
            <a:pPr algn="l"/>
            <a:r>
              <a:rPr sz="1700">
                <a:solidFill>
                  <a:srgbClr val="2B4A7D"/>
                </a:solidFill>
                <a:latin typeface="Consolas"/>
              </a:rPr>
              <a:t>    if r["status"] == "delivered":</a:t>
            </a:r>
          </a:p>
          <a:p>
            <a:pPr algn="l"/>
            <a:r>
              <a:rPr sz="1700">
                <a:solidFill>
                  <a:srgbClr val="2B4A7D"/>
                </a:solidFill>
                <a:latin typeface="Consolas"/>
              </a:rPr>
              <a:t>        total = total + int(r["amount"])</a:t>
            </a:r>
          </a:p>
          <a:p>
            <a:pPr algn="l"/>
            <a:r>
              <a:rPr b="0" sz="2100">
                <a:solidFill>
                  <a:srgbClr val="1C1C1A"/>
                </a:solidFill>
                <a:latin typeface="Calibri"/>
              </a:rPr>
              <a:t> </a:t>
            </a:r>
          </a:p>
          <a:p>
            <a:pPr algn="l"/>
            <a:r>
              <a:rPr b="0" sz="2100">
                <a:solidFill>
                  <a:srgbClr val="1C1C1A"/>
                </a:solidFill>
                <a:latin typeface="Calibri"/>
              </a:rPr>
              <a:t>Four lines produced that answer. You will have written this before the day ends.</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1: OPEN THE WORKBENCH</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1" sz="1800">
                <a:solidFill>
                  <a:srgbClr val="FFFFFF"/>
                </a:solidFill>
                <a:latin typeface="Consolas"/>
              </a:rPr>
              <a:t>[open the workbench]</a:t>
            </a:r>
            <a:r>
              <a:rPr b="0" sz="1800">
                <a:solidFill>
                  <a:srgbClr val="FFFFFF"/>
                </a:solidFill>
                <a:latin typeface="Consolas"/>
              </a:rPr>
              <a:t> &gt; [the kernel remembers] &gt; [type decides] &gt; [walk the records] &gt; [the business answer]</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What a Codespace is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A Codespace is a computer that GitHub runs for you and shows you inside a browser tab, with VS Code, Python and this repository already on it.</a:t>
            </a:r>
          </a:p>
          <a:p>
            <a:pPr algn="l"/>
            <a:r>
              <a:rPr b="0" sz="2100">
                <a:solidFill>
                  <a:srgbClr val="1C1C1A"/>
                </a:solidFill>
                <a:latin typeface="Calibri"/>
              </a:rPr>
              <a:t> </a:t>
            </a:r>
          </a:p>
          <a:p>
            <a:pPr algn="l"/>
            <a:r>
              <a:rPr b="0" sz="2100">
                <a:solidFill>
                  <a:srgbClr val="1C1C1A"/>
                </a:solidFill>
                <a:latin typeface="Calibri"/>
              </a:rPr>
              <a:t>Nothing is installed on your laptop and nothing needs to be. The Codespace you open today is the environment for the whole programme.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layout, part by part</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explorer down the left lists the files in the repository, and today's notebook is one of them.</a:t>
            </a:r>
          </a:p>
          <a:p>
            <a:pPr algn="l"/>
            <a:r>
              <a:rPr b="0" sz="2100">
                <a:solidFill>
                  <a:srgbClr val="1C1C1A"/>
                </a:solidFill>
                <a:latin typeface="Calibri"/>
              </a:rPr>
              <a:t> </a:t>
            </a:r>
          </a:p>
          <a:p>
            <a:pPr algn="l"/>
            <a:r>
              <a:rPr b="0" sz="2100">
                <a:solidFill>
                  <a:srgbClr val="1C1C1A"/>
                </a:solidFill>
                <a:latin typeface="Calibri"/>
              </a:rPr>
              <a:t>The editor in the middle is where the notebook opens, one cell under another.</a:t>
            </a:r>
          </a:p>
          <a:p>
            <a:pPr algn="l"/>
            <a:r>
              <a:rPr b="0" sz="2100">
                <a:solidFill>
                  <a:srgbClr val="1C1C1A"/>
                </a:solidFill>
                <a:latin typeface="Calibri"/>
              </a:rPr>
              <a:t> </a:t>
            </a:r>
          </a:p>
          <a:p>
            <a:pPr algn="l"/>
            <a:r>
              <a:rPr b="0" sz="2100">
                <a:solidFill>
                  <a:srgbClr val="1C1C1A"/>
                </a:solidFill>
                <a:latin typeface="Calibri"/>
              </a:rPr>
              <a:t>Each cell has a run button on its left, and the output of that cell appears directly under it.</a:t>
            </a:r>
          </a:p>
          <a:p>
            <a:pPr algn="l"/>
            <a:r>
              <a:rPr b="0" sz="2100">
                <a:solidFill>
                  <a:srgbClr val="1C1C1A"/>
                </a:solidFill>
                <a:latin typeface="Calibri"/>
              </a:rPr>
              <a:t> </a:t>
            </a:r>
          </a:p>
          <a:p>
            <a:pPr algn="l"/>
            <a:r>
              <a:rPr b="0" sz="2100">
                <a:solidFill>
                  <a:srgbClr val="1C1C1A"/>
                </a:solidFill>
                <a:latin typeface="Calibri"/>
              </a:rPr>
              <a:t>The kernel indicator at the top right names the Python that is running your cells.</a:t>
            </a:r>
          </a:p>
          <a:p>
            <a:pPr algn="l"/>
            <a:r>
              <a:rPr b="0" sz="2100">
                <a:solidFill>
                  <a:srgbClr val="1C1C1A"/>
                </a:solidFill>
                <a:latin typeface="Calibri"/>
              </a:rPr>
              <a:t> </a:t>
            </a:r>
          </a:p>
          <a:p>
            <a:pPr algn="l"/>
            <a:r>
              <a:rPr b="0" sz="2100">
                <a:solidFill>
                  <a:srgbClr val="1C1C1A"/>
                </a:solidFill>
                <a:latin typeface="Calibri"/>
              </a:rPr>
              <a:t>The terminal panel at the bottom is a shell on the same machine, and you have no reason to open it today.</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Running a cell</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A cell is a box you type Python into, and Shift and Enter runs it.</a:t>
            </a:r>
          </a:p>
          <a:p>
            <a:pPr algn="l"/>
            <a:r>
              <a:rPr b="0" sz="2100">
                <a:solidFill>
                  <a:srgbClr val="1C1C1A"/>
                </a:solidFill>
                <a:latin typeface="Calibri"/>
              </a:rPr>
              <a:t> </a:t>
            </a:r>
          </a:p>
          <a:p>
            <a:pPr algn="l"/>
            <a:r>
              <a:rPr b="0" sz="2100">
                <a:solidFill>
                  <a:srgbClr val="1C1C1A"/>
                </a:solidFill>
                <a:latin typeface="Calibri"/>
              </a:rPr>
              <a:t>The output appears under the cell you ran, and it stays on screen until you run that cell again.</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Step card, section 1</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1. Open the Codespace from the repository and wait for the editor to finish loading.</a:t>
            </a:r>
          </a:p>
          <a:p>
            <a:pPr algn="l"/>
            <a:r>
              <a:rPr b="0" sz="2100">
                <a:solidFill>
                  <a:srgbClr val="1C1C1A"/>
                </a:solidFill>
                <a:latin typeface="Calibri"/>
              </a:rPr>
              <a:t>2. Open the notebook from the explorer on the left.</a:t>
            </a:r>
          </a:p>
          <a:p>
            <a:pPr algn="l"/>
            <a:r>
              <a:rPr b="0" sz="2100">
                <a:solidFill>
                  <a:srgbClr val="1C1C1A"/>
                </a:solidFill>
                <a:latin typeface="Calibri"/>
              </a:rPr>
              <a:t>3. Run a cell with Shift and Enter.</a:t>
            </a:r>
          </a:p>
          <a:p>
            <a:pPr algn="l"/>
            <a:r>
              <a:rPr b="0" sz="2100">
                <a:solidFill>
                  <a:srgbClr val="1C1C1A"/>
                </a:solidFill>
                <a:latin typeface="Calibri"/>
              </a:rPr>
              <a:t>4. Read the output under the cell before you move on.</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2: THE KERNEL REMEMBERS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1800">
                <a:solidFill>
                  <a:srgbClr val="FFFFFF"/>
                </a:solidFill>
                <a:latin typeface="Consolas"/>
              </a:rPr>
              <a:t>[open the workbench] &gt; </a:t>
            </a:r>
            <a:r>
              <a:rPr b="1" sz="1800">
                <a:solidFill>
                  <a:srgbClr val="FFFFFF"/>
                </a:solidFill>
                <a:latin typeface="Consolas"/>
              </a:rPr>
              <a:t>[the kernel remembers]</a:t>
            </a:r>
            <a:r>
              <a:rPr b="0" sz="1800">
                <a:solidFill>
                  <a:srgbClr val="FFFFFF"/>
                </a:solidFill>
                <a:latin typeface="Consolas"/>
              </a:rPr>
              <a:t> &gt; [type decides] &gt; [walk the records] &gt; [the business answer]</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bench</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kernel is a workbench that keeps whatever you put on it for as long as it is running.</a:t>
            </a:r>
          </a:p>
          <a:p>
            <a:pPr algn="l"/>
            <a:r>
              <a:rPr b="0" sz="2100">
                <a:solidFill>
                  <a:srgbClr val="1C1C1A"/>
                </a:solidFill>
                <a:latin typeface="Calibri"/>
              </a:rPr>
              <a:t> </a:t>
            </a:r>
          </a:p>
          <a:p>
            <a:pPr algn="l"/>
            <a:r>
              <a:rPr b="0" sz="2100">
                <a:solidFill>
                  <a:srgbClr val="1C1C1A"/>
                </a:solidFill>
                <a:latin typeface="Calibri"/>
              </a:rPr>
              <a:t>Running a cell is you putting something on the bench. Restarting the kernel sweeps the bench clean, and the file on disk is untouched by that.</a:t>
            </a:r>
          </a:p>
          <a:p>
            <a:pPr algn="l"/>
            <a:r>
              <a:rPr b="0" sz="2100">
                <a:solidFill>
                  <a:srgbClr val="1C1C1A"/>
                </a:solidFill>
                <a:latin typeface="Calibri"/>
              </a:rPr>
              <a:t> </a:t>
            </a:r>
          </a:p>
          <a:p>
            <a:pPr algn="l"/>
            <a:r>
              <a:rPr b="0" sz="2100">
                <a:solidFill>
                  <a:srgbClr val="1C1C1A"/>
                </a:solidFill>
                <a:latin typeface="Calibri"/>
              </a:rPr>
              <a:t>This picture is the one we use for the rest of the day.</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Cells run in the order you run them</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notebook is a stack of cells on a screen, and the kernel has no opinion at all about that stack.</a:t>
            </a:r>
          </a:p>
          <a:p>
            <a:pPr algn="l"/>
            <a:r>
              <a:rPr b="0" sz="2100">
                <a:solidFill>
                  <a:srgbClr val="1C1C1A"/>
                </a:solidFill>
                <a:latin typeface="Calibri"/>
              </a:rPr>
              <a:t> </a:t>
            </a:r>
          </a:p>
          <a:p>
            <a:pPr algn="l"/>
            <a:r>
              <a:rPr b="0" sz="2100">
                <a:solidFill>
                  <a:srgbClr val="1C1C1A"/>
                </a:solidFill>
                <a:latin typeface="Calibri"/>
              </a:rPr>
              <a:t>The kernel sees the order you clicked run in. If you ran the third cell first, then the third cell ran first.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execution counter is the truth</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The number in square brackets to the left of a cell counts the runs the kernel has done.</a:t>
            </a:r>
          </a:p>
          <a:p>
            <a:pPr algn="l"/>
            <a:r>
              <a:rPr b="0" sz="2100">
                <a:solidFill>
                  <a:srgbClr val="1C1C1A"/>
                </a:solidFill>
                <a:latin typeface="Calibri"/>
              </a:rPr>
              <a:t> </a:t>
            </a:r>
          </a:p>
          <a:p>
            <a:pPr algn="l"/>
            <a:r>
              <a:rPr sz="1700">
                <a:solidFill>
                  <a:srgbClr val="2B4A7D"/>
                </a:solidFill>
                <a:latin typeface="Consolas"/>
              </a:rPr>
              <a:t>[2]  records = [ ... ]</a:t>
            </a:r>
          </a:p>
          <a:p>
            <a:pPr algn="l"/>
            <a:r>
              <a:rPr sz="1700">
                <a:solidFill>
                  <a:srgbClr val="2B4A7D"/>
                </a:solidFill>
                <a:latin typeface="Consolas"/>
              </a:rPr>
              <a:t>[3]  count = 0</a:t>
            </a:r>
          </a:p>
          <a:p>
            <a:pPr algn="l"/>
            <a:r>
              <a:rPr sz="1700">
                <a:solidFill>
                  <a:srgbClr val="2B4A7D"/>
                </a:solidFill>
                <a:latin typeface="Consolas"/>
              </a:rPr>
              <a:t>[1]  for r in records:</a:t>
            </a:r>
          </a:p>
          <a:p>
            <a:pPr algn="l"/>
            <a:r>
              <a:rPr b="0" sz="2100">
                <a:solidFill>
                  <a:srgbClr val="1C1C1A"/>
                </a:solidFill>
                <a:latin typeface="Calibri"/>
              </a:rPr>
              <a:t> </a:t>
            </a:r>
          </a:p>
          <a:p>
            <a:pPr algn="l"/>
            <a:r>
              <a:rPr b="0" sz="2100">
                <a:solidFill>
                  <a:srgbClr val="1C1C1A"/>
                </a:solidFill>
                <a:latin typeface="Calibri"/>
              </a:rPr>
              <a:t>The cell at the bottom of the screen ran first. Read the counters, never the positions.</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break</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NameError: name 'records' is not defined</a:t>
            </a:r>
          </a:p>
          <a:p>
            <a:pPr algn="l"/>
            <a:r>
              <a:rPr b="0" sz="2100">
                <a:solidFill>
                  <a:srgbClr val="1C1C1A"/>
                </a:solidFill>
                <a:latin typeface="Calibri"/>
              </a:rPr>
              <a:t> </a:t>
            </a:r>
          </a:p>
          <a:p>
            <a:pPr algn="l"/>
            <a:r>
              <a:rPr b="0" sz="2100">
                <a:solidFill>
                  <a:srgbClr val="1C1C1A"/>
                </a:solidFill>
                <a:latin typeface="Calibri"/>
              </a:rPr>
              <a:t>You ran the counting cell before the setup cell, so the name </a:t>
            </a:r>
            <a:r>
              <a:rPr b="0" sz="1800">
                <a:solidFill>
                  <a:srgbClr val="2B4A7D"/>
                </a:solidFill>
                <a:latin typeface="Consolas"/>
              </a:rPr>
              <a:t>records</a:t>
            </a:r>
            <a:r>
              <a:rPr b="0" sz="2100">
                <a:solidFill>
                  <a:srgbClr val="1C1C1A"/>
                </a:solidFill>
                <a:latin typeface="Calibri"/>
              </a:rPr>
              <a:t> was never put on the bench and the kernel had nothing to hand your loop.</a:t>
            </a:r>
          </a:p>
          <a:p>
            <a:pPr algn="l"/>
            <a:r>
              <a:rPr b="0" sz="2100">
                <a:solidFill>
                  <a:srgbClr val="1C1C1A"/>
                </a:solidFill>
                <a:latin typeface="Calibri"/>
              </a:rPr>
              <a:t> </a:t>
            </a:r>
          </a:p>
          <a:p>
            <a:pPr algn="l"/>
            <a:r>
              <a:rPr b="0" sz="2100">
                <a:solidFill>
                  <a:srgbClr val="1C1C1A"/>
                </a:solidFill>
                <a:latin typeface="Calibri"/>
              </a:rPr>
              <a:t>The error names the exact word it went looking for.</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recovery drill</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Restart the kernel, then run all cells from the top. You are back where you were, in a few seconds.</a:t>
            </a:r>
          </a:p>
          <a:p>
            <a:pPr algn="l"/>
            <a:r>
              <a:rPr b="0" sz="2100">
                <a:solidFill>
                  <a:srgbClr val="1C1C1A"/>
                </a:solidFill>
                <a:latin typeface="Calibri"/>
              </a:rPr>
              <a:t> </a:t>
            </a:r>
          </a:p>
          <a:p>
            <a:pPr algn="l"/>
            <a:r>
              <a:rPr b="0" sz="2100">
                <a:solidFill>
                  <a:srgbClr val="1C1C1A"/>
                </a:solidFill>
                <a:latin typeface="Calibri"/>
              </a:rPr>
              <a:t>The file on disk never changed. What you lost was the state on the bench, and the cells put that state straight back.</a:t>
            </a:r>
          </a:p>
          <a:p>
            <a:pPr algn="l"/>
            <a:r>
              <a:rPr b="0" sz="2100">
                <a:solidFill>
                  <a:srgbClr val="1C1C1A"/>
                </a:solidFill>
                <a:latin typeface="Calibri"/>
              </a:rPr>
              <a:t> </a:t>
            </a:r>
          </a:p>
          <a:p>
            <a:pPr algn="l"/>
            <a:r>
              <a:rPr b="0" sz="2100">
                <a:solidFill>
                  <a:srgbClr val="1C1C1A"/>
                </a:solidFill>
                <a:latin typeface="Calibri"/>
              </a:rPr>
              <a:t>Do the drill now on purpose, because you will do it many times this week.</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Step card, section 2</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1. The kernel holds what you gave it until you restart it.</a:t>
            </a:r>
          </a:p>
          <a:p>
            <a:pPr algn="l"/>
            <a:r>
              <a:rPr b="0" sz="2100">
                <a:solidFill>
                  <a:srgbClr val="1C1C1A"/>
                </a:solidFill>
                <a:latin typeface="Calibri"/>
              </a:rPr>
              <a:t>2. Run order is what the kernel sees, and screen order is what you see.</a:t>
            </a:r>
          </a:p>
          <a:p>
            <a:pPr algn="l"/>
            <a:r>
              <a:rPr b="0" sz="2100">
                <a:solidFill>
                  <a:srgbClr val="1C1C1A"/>
                </a:solidFill>
                <a:latin typeface="Calibri"/>
              </a:rPr>
              <a:t>3. Read the execution counter first when an output surprises you.</a:t>
            </a:r>
          </a:p>
          <a:p>
            <a:pPr algn="l"/>
            <a:r>
              <a:rPr b="0" sz="2100">
                <a:solidFill>
                  <a:srgbClr val="1C1C1A"/>
                </a:solidFill>
                <a:latin typeface="Calibri"/>
              </a:rPr>
              <a:t>4. Restart and run all is the recovery, and it costs you seconds.</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600" b="1">
                <a:solidFill>
                  <a:srgbClr val="FFFFFF"/>
                </a:solidFill>
                <a:latin typeface="Calibri"/>
              </a:rPr>
              <a:t>SECTION 3: TYPE DECIDES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1800">
                <a:solidFill>
                  <a:srgbClr val="FFFFFF"/>
                </a:solidFill>
                <a:latin typeface="Consolas"/>
              </a:rPr>
              <a:t>[open the workbench] &gt; [the kernel remembers] &gt; </a:t>
            </a:r>
            <a:r>
              <a:rPr b="1" sz="1800">
                <a:solidFill>
                  <a:srgbClr val="FFFFFF"/>
                </a:solidFill>
                <a:latin typeface="Consolas"/>
              </a:rPr>
              <a:t>[type decides]</a:t>
            </a:r>
            <a:r>
              <a:rPr b="0" sz="1800">
                <a:solidFill>
                  <a:srgbClr val="FFFFFF"/>
                </a:solidFill>
                <a:latin typeface="Consolas"/>
              </a:rPr>
              <a:t> &gt; [walk the records] &gt; [the business answer]</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Four types you meet today</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1800">
                <a:solidFill>
                  <a:srgbClr val="2B4A7D"/>
                </a:solidFill>
                <a:latin typeface="Consolas"/>
              </a:rPr>
              <a:t>str</a:t>
            </a:r>
            <a:r>
              <a:rPr b="0" sz="2100">
                <a:solidFill>
                  <a:srgbClr val="1C1C1A"/>
                </a:solidFill>
                <a:latin typeface="Calibri"/>
              </a:rPr>
              <a:t> holds text, like the order id "KR4224" and the status "delivered".</a:t>
            </a:r>
          </a:p>
          <a:p>
            <a:pPr algn="l"/>
            <a:r>
              <a:rPr b="0" sz="2100">
                <a:solidFill>
                  <a:srgbClr val="1C1C1A"/>
                </a:solidFill>
                <a:latin typeface="Calibri"/>
              </a:rPr>
              <a:t> </a:t>
            </a:r>
          </a:p>
          <a:p>
            <a:pPr algn="l"/>
            <a:r>
              <a:rPr b="0" sz="1800">
                <a:solidFill>
                  <a:srgbClr val="2B4A7D"/>
                </a:solidFill>
                <a:latin typeface="Consolas"/>
              </a:rPr>
              <a:t>int</a:t>
            </a:r>
            <a:r>
              <a:rPr b="0" sz="2100">
                <a:solidFill>
                  <a:srgbClr val="1C1C1A"/>
                </a:solidFill>
                <a:latin typeface="Calibri"/>
              </a:rPr>
              <a:t> holds a whole number, like the amount 1460.</a:t>
            </a:r>
          </a:p>
          <a:p>
            <a:pPr algn="l"/>
            <a:r>
              <a:rPr b="0" sz="2100">
                <a:solidFill>
                  <a:srgbClr val="1C1C1A"/>
                </a:solidFill>
                <a:latin typeface="Calibri"/>
              </a:rPr>
              <a:t> </a:t>
            </a:r>
          </a:p>
          <a:p>
            <a:pPr algn="l"/>
            <a:r>
              <a:rPr b="0" sz="1800">
                <a:solidFill>
                  <a:srgbClr val="2B4A7D"/>
                </a:solidFill>
                <a:latin typeface="Consolas"/>
              </a:rPr>
              <a:t>float</a:t>
            </a:r>
            <a:r>
              <a:rPr b="0" sz="2100">
                <a:solidFill>
                  <a:srgbClr val="1C1C1A"/>
                </a:solidFill>
                <a:latin typeface="Calibri"/>
              </a:rPr>
              <a:t> holds a number with a decimal part, like 1460.5.</a:t>
            </a:r>
          </a:p>
          <a:p>
            <a:pPr algn="l"/>
            <a:r>
              <a:rPr b="0" sz="2100">
                <a:solidFill>
                  <a:srgbClr val="1C1C1A"/>
                </a:solidFill>
                <a:latin typeface="Calibri"/>
              </a:rPr>
              <a:t> </a:t>
            </a:r>
          </a:p>
          <a:p>
            <a:pPr algn="l"/>
            <a:r>
              <a:rPr b="0" sz="1800">
                <a:solidFill>
                  <a:srgbClr val="2B4A7D"/>
                </a:solidFill>
                <a:latin typeface="Consolas"/>
              </a:rPr>
              <a:t>bool</a:t>
            </a:r>
            <a:r>
              <a:rPr b="0" sz="2100">
                <a:solidFill>
                  <a:srgbClr val="1C1C1A"/>
                </a:solidFill>
                <a:latin typeface="Calibri"/>
              </a:rPr>
              <a:t> holds </a:t>
            </a:r>
            <a:r>
              <a:rPr b="0" sz="1800">
                <a:solidFill>
                  <a:srgbClr val="2B4A7D"/>
                </a:solidFill>
                <a:latin typeface="Consolas"/>
              </a:rPr>
              <a:t>True</a:t>
            </a:r>
            <a:r>
              <a:rPr b="0" sz="2100">
                <a:solidFill>
                  <a:srgbClr val="1C1C1A"/>
                </a:solidFill>
                <a:latin typeface="Calibri"/>
              </a:rPr>
              <a:t> or </a:t>
            </a:r>
            <a:r>
              <a:rPr b="0" sz="1800">
                <a:solidFill>
                  <a:srgbClr val="2B4A7D"/>
                </a:solidFill>
                <a:latin typeface="Consolas"/>
              </a:rPr>
              <a:t>False</a:t>
            </a:r>
            <a:r>
              <a:rPr b="0" sz="2100">
                <a:solidFill>
                  <a:srgbClr val="1C1C1A"/>
                </a:solidFill>
                <a:latin typeface="Calibri"/>
              </a:rPr>
              <a:t>, which is what every comparison hands back.</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type() is the question you ask</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type("4500")        &lt;class 'str'&gt;</a:t>
            </a:r>
          </a:p>
          <a:p>
            <a:pPr algn="l"/>
            <a:r>
              <a:rPr sz="1700">
                <a:solidFill>
                  <a:srgbClr val="2B4A7D"/>
                </a:solidFill>
                <a:latin typeface="Consolas"/>
              </a:rPr>
              <a:t>type(4500)          &lt;class 'int'&gt;</a:t>
            </a:r>
          </a:p>
          <a:p>
            <a:pPr algn="l"/>
            <a:r>
              <a:rPr sz="1700">
                <a:solidFill>
                  <a:srgbClr val="2B4A7D"/>
                </a:solidFill>
                <a:latin typeface="Consolas"/>
              </a:rPr>
              <a:t>type(4500.0)        &lt;class 'float'&gt;</a:t>
            </a:r>
          </a:p>
          <a:p>
            <a:pPr algn="l"/>
            <a:r>
              <a:rPr sz="1700">
                <a:solidFill>
                  <a:srgbClr val="2B4A7D"/>
                </a:solidFill>
                <a:latin typeface="Consolas"/>
              </a:rPr>
              <a:t>type(4500 &gt; 2000)   &lt;class 'bool'&gt;</a:t>
            </a:r>
          </a:p>
          <a:p>
            <a:pPr algn="l"/>
            <a:r>
              <a:rPr b="0" sz="2100">
                <a:solidFill>
                  <a:srgbClr val="1C1C1A"/>
                </a:solidFill>
                <a:latin typeface="Calibri"/>
              </a:rPr>
              <a:t> </a:t>
            </a:r>
          </a:p>
          <a:p>
            <a:pPr algn="l"/>
            <a:r>
              <a:rPr b="0" sz="2100">
                <a:solidFill>
                  <a:srgbClr val="1C1C1A"/>
                </a:solidFill>
                <a:latin typeface="Calibri"/>
              </a:rPr>
              <a:t>When an operator behaves in a way you did not expect, ask the value what it is before you change any code.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Look at the record</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{"order_id": "KR4200", "segment": "Retail-Core", "amount": "4500", "status": "returned", "order_date": "2026-08-03"}</a:t>
            </a:r>
          </a:p>
          <a:p>
            <a:pPr algn="l"/>
            <a:r>
              <a:rPr sz="1700">
                <a:solidFill>
                  <a:srgbClr val="2B4A7D"/>
                </a:solidFill>
                <a:latin typeface="Consolas"/>
              </a:rPr>
              <a:t>{"order_id": "KR4201", "segment": "Retail-Plus", "amount": 2395, "status": "delivered", "order_date": "2026-08-03"}</a:t>
            </a:r>
          </a:p>
          <a:p>
            <a:pPr algn="l"/>
            <a:r>
              <a:rPr b="0" sz="2100">
                <a:solidFill>
                  <a:srgbClr val="1C1C1A"/>
                </a:solidFill>
                <a:latin typeface="Calibri"/>
              </a:rPr>
              <a:t> </a:t>
            </a:r>
          </a:p>
          <a:p>
            <a:pPr algn="l"/>
            <a:r>
              <a:rPr b="0" sz="2100">
                <a:solidFill>
                  <a:srgbClr val="1C1C1A"/>
                </a:solidFill>
                <a:latin typeface="Calibri"/>
              </a:rPr>
              <a:t>One of those two amounts is wearing quotes. Read the two lines again and find it.</a:t>
            </a:r>
          </a:p>
          <a:p>
            <a:pPr algn="l"/>
            <a:r>
              <a:rPr b="0" sz="2100">
                <a:solidFill>
                  <a:srgbClr val="1C1C1A"/>
                </a:solidFill>
                <a:latin typeface="Calibri"/>
              </a:rPr>
              <a:t> </a:t>
            </a:r>
          </a:p>
          <a:p>
            <a:pPr algn="l"/>
            <a:r>
              <a:rPr b="0" sz="2100">
                <a:solidFill>
                  <a:srgbClr val="1C1C1A"/>
                </a:solidFill>
                <a:latin typeface="Calibri"/>
              </a:rPr>
              <a:t>KR4200 stores its amount as the text "4500", and it is the largest amount in the file.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break</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amount = "4500"</a:t>
            </a:r>
          </a:p>
          <a:p>
            <a:pPr algn="l"/>
            <a:r>
              <a:rPr sz="1700">
                <a:solidFill>
                  <a:srgbClr val="2B4A7D"/>
                </a:solidFill>
                <a:latin typeface="Consolas"/>
              </a:rPr>
              <a:t>amount &gt; 2000</a:t>
            </a:r>
          </a:p>
          <a:p>
            <a:pPr algn="l"/>
            <a:r>
              <a:rPr b="0" sz="2100">
                <a:solidFill>
                  <a:srgbClr val="1C1C1A"/>
                </a:solidFill>
                <a:latin typeface="Calibri"/>
              </a:rPr>
              <a:t> </a:t>
            </a:r>
          </a:p>
          <a:p>
            <a:pPr algn="l"/>
            <a:r>
              <a:rPr sz="1700">
                <a:solidFill>
                  <a:srgbClr val="2B4A7D"/>
                </a:solidFill>
                <a:latin typeface="Consolas"/>
              </a:rPr>
              <a:t>TypeError: '&gt;' not supported between instances of 'str' and 'int'</a:t>
            </a:r>
          </a:p>
          <a:p>
            <a:pPr algn="l"/>
            <a:r>
              <a:rPr b="0" sz="2100">
                <a:solidFill>
                  <a:srgbClr val="1C1C1A"/>
                </a:solidFill>
                <a:latin typeface="Calibri"/>
              </a:rPr>
              <a:t> </a:t>
            </a:r>
          </a:p>
          <a:p>
            <a:pPr algn="l"/>
            <a:r>
              <a:rPr b="0" sz="2100">
                <a:solidFill>
                  <a:srgbClr val="1C1C1A"/>
                </a:solidFill>
                <a:latin typeface="Calibri"/>
              </a:rPr>
              <a:t>Python was asked whether a piece of text is greater than a number. It stopped and named both types it was holding.</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From the field</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Mars Climate Orbiter, 1999. A value crossed a system boundary in the wrong unit, nothing validated it, and the mission, about USD 327 million, was lost.</a:t>
            </a:r>
          </a:p>
          <a:p>
            <a:pPr algn="l"/>
            <a:r>
              <a:rPr b="0" sz="2100">
                <a:solidFill>
                  <a:srgbClr val="1C1C1A"/>
                </a:solidFill>
                <a:latin typeface="Calibri"/>
              </a:rPr>
              <a:t> </a:t>
            </a:r>
          </a:p>
          <a:p>
            <a:pPr algn="l"/>
            <a:r>
              <a:rPr b="0" sz="2100">
                <a:solidFill>
                  <a:srgbClr val="1C1C1A"/>
                </a:solidFill>
                <a:latin typeface="Calibri"/>
              </a:rPr>
              <a:t>Today's type discipline is the small version of that lesson.</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Refusing beats guessing</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A spreadsheet would place that text amount somewhere in the sort order and show you a number with no warning attached to it.</a:t>
            </a:r>
          </a:p>
          <a:p>
            <a:pPr algn="l"/>
            <a:r>
              <a:rPr b="0" sz="2100">
                <a:solidFill>
                  <a:srgbClr val="1C1C1A"/>
                </a:solidFill>
                <a:latin typeface="Calibri"/>
              </a:rPr>
              <a:t> </a:t>
            </a:r>
          </a:p>
          <a:p>
            <a:pPr algn="l"/>
            <a:r>
              <a:rPr b="0" sz="2100">
                <a:solidFill>
                  <a:srgbClr val="1C1C1A"/>
                </a:solidFill>
                <a:latin typeface="Calibri"/>
              </a:rPr>
              <a:t>Python refuses the comparison and tells you which two types it was holding. You lose ten seconds and you keep the truth.</a:t>
            </a:r>
          </a:p>
          <a:p>
            <a:pPr algn="l"/>
            <a:r>
              <a:rPr b="0" sz="2100">
                <a:solidFill>
                  <a:srgbClr val="1C1C1A"/>
                </a:solidFill>
                <a:latin typeface="Calibri"/>
              </a:rPr>
              <a:t> </a:t>
            </a:r>
          </a:p>
          <a:p>
            <a:pPr algn="l"/>
            <a:r>
              <a:rPr b="0" sz="2100">
                <a:solidFill>
                  <a:srgbClr val="1C1C1A"/>
                </a:solidFill>
                <a:latin typeface="Calibri"/>
              </a:rPr>
              <a:t>That is your answer when someone asks why the error was the good outcome.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Comparison operators</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2395 &gt; 2000                   True</a:t>
            </a:r>
          </a:p>
          <a:p>
            <a:pPr algn="l"/>
            <a:r>
              <a:rPr sz="1700">
                <a:solidFill>
                  <a:srgbClr val="2B4A7D"/>
                </a:solidFill>
                <a:latin typeface="Consolas"/>
              </a:rPr>
              <a:t>2395 &gt;= 2395                  True</a:t>
            </a:r>
          </a:p>
          <a:p>
            <a:pPr algn="l"/>
            <a:r>
              <a:rPr sz="1700">
                <a:solidFill>
                  <a:srgbClr val="2B4A7D"/>
                </a:solidFill>
                <a:latin typeface="Consolas"/>
              </a:rPr>
              <a:t>"delivered" == "delivered"    True</a:t>
            </a:r>
          </a:p>
          <a:p>
            <a:pPr algn="l"/>
            <a:r>
              <a:rPr sz="1700">
                <a:solidFill>
                  <a:srgbClr val="2B4A7D"/>
                </a:solidFill>
                <a:latin typeface="Consolas"/>
              </a:rPr>
              <a:t>"delivered" != "returned"     True</a:t>
            </a:r>
          </a:p>
          <a:p>
            <a:pPr algn="l"/>
            <a:r>
              <a:rPr b="0" sz="2100">
                <a:solidFill>
                  <a:srgbClr val="1C1C1A"/>
                </a:solidFill>
                <a:latin typeface="Calibri"/>
              </a:rPr>
              <a:t> </a:t>
            </a:r>
          </a:p>
          <a:p>
            <a:pPr algn="l"/>
            <a:r>
              <a:rPr b="0" sz="2100">
                <a:solidFill>
                  <a:srgbClr val="1C1C1A"/>
                </a:solidFill>
                <a:latin typeface="Calibri"/>
              </a:rPr>
              <a:t>Each of these hands back a </a:t>
            </a:r>
            <a:r>
              <a:rPr b="0" sz="1800">
                <a:solidFill>
                  <a:srgbClr val="2B4A7D"/>
                </a:solidFill>
                <a:latin typeface="Consolas"/>
              </a:rPr>
              <a:t>bool</a:t>
            </a:r>
            <a:r>
              <a:rPr b="0" sz="2100">
                <a:solidFill>
                  <a:srgbClr val="1C1C1A"/>
                </a:solidFill>
                <a:latin typeface="Calibri"/>
              </a:rPr>
              <a:t>, and the </a:t>
            </a:r>
            <a:r>
              <a:rPr b="0" sz="1800">
                <a:solidFill>
                  <a:srgbClr val="2B4A7D"/>
                </a:solidFill>
                <a:latin typeface="Consolas"/>
              </a:rPr>
              <a:t>if</a:t>
            </a:r>
            <a:r>
              <a:rPr b="0" sz="2100">
                <a:solidFill>
                  <a:srgbClr val="1C1C1A"/>
                </a:solidFill>
                <a:latin typeface="Calibri"/>
              </a:rPr>
              <a:t> statement reads that </a:t>
            </a:r>
            <a:r>
              <a:rPr b="0" sz="1800">
                <a:solidFill>
                  <a:srgbClr val="2B4A7D"/>
                </a:solidFill>
                <a:latin typeface="Consolas"/>
              </a:rPr>
              <a:t>bool</a:t>
            </a:r>
            <a:r>
              <a:rPr b="0" sz="2100">
                <a:solidFill>
                  <a:srgbClr val="1C1C1A"/>
                </a:solidFill>
                <a:latin typeface="Calibri"/>
              </a:rPr>
              <a:t> and nothing else.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if, elif and else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amount = 1460</a:t>
            </a:r>
          </a:p>
          <a:p>
            <a:pPr algn="l"/>
            <a:r>
              <a:rPr sz="1700">
                <a:solidFill>
                  <a:srgbClr val="2B4A7D"/>
                </a:solidFill>
                <a:latin typeface="Consolas"/>
              </a:rPr>
              <a:t>if amount &gt; 2000:</a:t>
            </a:r>
          </a:p>
          <a:p>
            <a:pPr algn="l"/>
            <a:r>
              <a:rPr sz="1700">
                <a:solidFill>
                  <a:srgbClr val="2B4A7D"/>
                </a:solidFill>
                <a:latin typeface="Consolas"/>
              </a:rPr>
              <a:t>    band = "large"</a:t>
            </a:r>
          </a:p>
          <a:p>
            <a:pPr algn="l"/>
            <a:r>
              <a:rPr sz="1700">
                <a:solidFill>
                  <a:srgbClr val="2B4A7D"/>
                </a:solidFill>
                <a:latin typeface="Consolas"/>
              </a:rPr>
              <a:t>elif amount &gt; 1500:</a:t>
            </a:r>
          </a:p>
          <a:p>
            <a:pPr algn="l"/>
            <a:r>
              <a:rPr sz="1700">
                <a:solidFill>
                  <a:srgbClr val="2B4A7D"/>
                </a:solidFill>
                <a:latin typeface="Consolas"/>
              </a:rPr>
              <a:t>    band = "medium"</a:t>
            </a:r>
          </a:p>
          <a:p>
            <a:pPr algn="l"/>
            <a:r>
              <a:rPr sz="1700">
                <a:solidFill>
                  <a:srgbClr val="2B4A7D"/>
                </a:solidFill>
                <a:latin typeface="Consolas"/>
              </a:rPr>
              <a:t>else:</a:t>
            </a:r>
          </a:p>
          <a:p>
            <a:pPr algn="l"/>
            <a:r>
              <a:rPr sz="1700">
                <a:solidFill>
                  <a:srgbClr val="2B4A7D"/>
                </a:solidFill>
                <a:latin typeface="Consolas"/>
              </a:rPr>
              <a:t>    band = "small"</a:t>
            </a:r>
          </a:p>
          <a:p>
            <a:pPr algn="l"/>
            <a:r>
              <a:rPr b="0" sz="2100">
                <a:solidFill>
                  <a:srgbClr val="1C1C1A"/>
                </a:solidFill>
                <a:latin typeface="Calibri"/>
              </a:rPr>
              <a:t> </a:t>
            </a:r>
          </a:p>
          <a:p>
            <a:pPr algn="l"/>
            <a:r>
              <a:rPr b="0" sz="2100">
                <a:solidFill>
                  <a:srgbClr val="1C1C1A"/>
                </a:solidFill>
                <a:latin typeface="Calibri"/>
              </a:rPr>
              <a:t>Python tries the conditions from the top and stops at the first one that is </a:t>
            </a:r>
            <a:r>
              <a:rPr b="0" sz="1800">
                <a:solidFill>
                  <a:srgbClr val="2B4A7D"/>
                </a:solidFill>
                <a:latin typeface="Consolas"/>
              </a:rPr>
              <a:t>True</a:t>
            </a:r>
            <a:r>
              <a:rPr b="0" sz="2100">
                <a:solidFill>
                  <a:srgbClr val="1C1C1A"/>
                </a:solidFill>
                <a:latin typeface="Calibri"/>
              </a:rPr>
              <a:t>, so </a:t>
            </a:r>
            <a:r>
              <a:rPr b="0" sz="1800">
                <a:solidFill>
                  <a:srgbClr val="2B4A7D"/>
                </a:solidFill>
                <a:latin typeface="Consolas"/>
              </a:rPr>
              <a:t>band</a:t>
            </a:r>
            <a:r>
              <a:rPr b="0" sz="2100">
                <a:solidFill>
                  <a:srgbClr val="1C1C1A"/>
                </a:solidFill>
                <a:latin typeface="Calibri"/>
              </a:rPr>
              <a:t> holds "small" here.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loop walks the stack</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A dataset is a stack of cards, and the loop deals you one card at a time and calls it </a:t>
            </a:r>
            <a:r>
              <a:rPr b="0" sz="1800">
                <a:solidFill>
                  <a:srgbClr val="2B4A7D"/>
                </a:solidFill>
                <a:latin typeface="Consolas"/>
              </a:rPr>
              <a:t>r</a:t>
            </a:r>
            <a:r>
              <a:rPr b="0" sz="2100">
                <a:solidFill>
                  <a:srgbClr val="1C1C1A"/>
                </a:solidFill>
                <a:latin typeface="Calibri"/>
              </a:rPr>
              <a:t>.</a:t>
            </a:r>
          </a:p>
          <a:p>
            <a:pPr algn="l"/>
            <a:r>
              <a:rPr b="0" sz="2100">
                <a:solidFill>
                  <a:srgbClr val="1C1C1A"/>
                </a:solidFill>
                <a:latin typeface="Calibri"/>
              </a:rPr>
              <a:t> </a:t>
            </a:r>
          </a:p>
          <a:p>
            <a:pPr algn="l"/>
            <a:r>
              <a:rPr sz="1700">
                <a:solidFill>
                  <a:srgbClr val="2B4A7D"/>
                </a:solidFill>
                <a:latin typeface="Consolas"/>
              </a:rPr>
              <a:t>for r in records:</a:t>
            </a:r>
          </a:p>
          <a:p>
            <a:pPr algn="l"/>
            <a:r>
              <a:rPr sz="1700">
                <a:solidFill>
                  <a:srgbClr val="2B4A7D"/>
                </a:solidFill>
                <a:latin typeface="Consolas"/>
              </a:rPr>
              <a:t>    print(r["order_id"])</a:t>
            </a:r>
          </a:p>
          <a:p>
            <a:pPr algn="l"/>
            <a:r>
              <a:rPr b="0" sz="2100">
                <a:solidFill>
                  <a:srgbClr val="1C1C1A"/>
                </a:solidFill>
                <a:latin typeface="Calibri"/>
              </a:rPr>
              <a:t> </a:t>
            </a:r>
          </a:p>
          <a:p>
            <a:pPr algn="l"/>
            <a:r>
              <a:rPr b="0" sz="2100">
                <a:solidFill>
                  <a:srgbClr val="1C1C1A"/>
                </a:solidFill>
                <a:latin typeface="Calibri"/>
              </a:rPr>
              <a:t>Thirty records means thirty turns through the indented lines. The way a field is fetched by its name gets its proper treatment in half two.</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count accumulator</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count = 0</a:t>
            </a:r>
          </a:p>
          <a:p>
            <a:pPr algn="l"/>
            <a:r>
              <a:rPr sz="1700">
                <a:solidFill>
                  <a:srgbClr val="2B4A7D"/>
                </a:solidFill>
                <a:latin typeface="Consolas"/>
              </a:rPr>
              <a:t>for r in records:</a:t>
            </a:r>
          </a:p>
          <a:p>
            <a:pPr algn="l"/>
            <a:r>
              <a:rPr sz="1700">
                <a:solidFill>
                  <a:srgbClr val="2B4A7D"/>
                </a:solidFill>
                <a:latin typeface="Consolas"/>
              </a:rPr>
              <a:t>    if r["status"] == "delivered":</a:t>
            </a:r>
          </a:p>
          <a:p>
            <a:pPr algn="l"/>
            <a:r>
              <a:rPr sz="1700">
                <a:solidFill>
                  <a:srgbClr val="2B4A7D"/>
                </a:solidFill>
                <a:latin typeface="Consolas"/>
              </a:rPr>
              <a:t>        count = count + 1</a:t>
            </a:r>
          </a:p>
          <a:p>
            <a:pPr algn="l"/>
            <a:r>
              <a:rPr sz="1700">
                <a:solidFill>
                  <a:srgbClr val="2B4A7D"/>
                </a:solidFill>
                <a:latin typeface="Consolas"/>
              </a:rPr>
              <a:t> </a:t>
            </a:r>
          </a:p>
          <a:p>
            <a:pPr algn="l"/>
            <a:r>
              <a:rPr sz="1700">
                <a:solidFill>
                  <a:srgbClr val="2B4A7D"/>
                </a:solidFill>
                <a:latin typeface="Consolas"/>
              </a:rPr>
              <a:t>print(count)</a:t>
            </a:r>
          </a:p>
          <a:p>
            <a:pPr algn="l"/>
            <a:r>
              <a:rPr b="0" sz="2100">
                <a:solidFill>
                  <a:srgbClr val="1C1C1A"/>
                </a:solidFill>
                <a:latin typeface="Calibri"/>
              </a:rPr>
              <a:t> </a:t>
            </a:r>
          </a:p>
          <a:p>
            <a:pPr algn="l"/>
            <a:r>
              <a:rPr sz="1700">
                <a:solidFill>
                  <a:srgbClr val="2B4A7D"/>
                </a:solidFill>
                <a:latin typeface="Consolas"/>
              </a:rPr>
              <a:t>13</a:t>
            </a:r>
          </a:p>
          <a:p>
            <a:pPr algn="l"/>
            <a:r>
              <a:rPr b="0" sz="2100">
                <a:solidFill>
                  <a:srgbClr val="1C1C1A"/>
                </a:solidFill>
                <a:latin typeface="Calibri"/>
              </a:rPr>
              <a:t> </a:t>
            </a:r>
          </a:p>
          <a:p>
            <a:pPr algn="l"/>
            <a:r>
              <a:rPr b="0" sz="2100">
                <a:solidFill>
                  <a:srgbClr val="1C1C1A"/>
                </a:solidFill>
                <a:latin typeface="Calibri"/>
              </a:rPr>
              <a:t>The counter is set to zero once, above the loop, and each card that passes the condition adds one to it.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The sum accumulator</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total = 0</a:t>
            </a:r>
          </a:p>
          <a:p>
            <a:pPr algn="l"/>
            <a:r>
              <a:rPr sz="1700">
                <a:solidFill>
                  <a:srgbClr val="2B4A7D"/>
                </a:solidFill>
                <a:latin typeface="Consolas"/>
              </a:rPr>
              <a:t>for r in records:</a:t>
            </a:r>
          </a:p>
          <a:p>
            <a:pPr algn="l"/>
            <a:r>
              <a:rPr sz="1700">
                <a:solidFill>
                  <a:srgbClr val="2B4A7D"/>
                </a:solidFill>
                <a:latin typeface="Consolas"/>
              </a:rPr>
              <a:t>    if r["status"] == "delivered":</a:t>
            </a:r>
          </a:p>
          <a:p>
            <a:pPr algn="l"/>
            <a:r>
              <a:rPr sz="1700">
                <a:solidFill>
                  <a:srgbClr val="2B4A7D"/>
                </a:solidFill>
                <a:latin typeface="Consolas"/>
              </a:rPr>
              <a:t>        total = total + int(r["amount"])</a:t>
            </a:r>
          </a:p>
          <a:p>
            <a:pPr algn="l"/>
            <a:r>
              <a:rPr sz="1700">
                <a:solidFill>
                  <a:srgbClr val="2B4A7D"/>
                </a:solidFill>
                <a:latin typeface="Consolas"/>
              </a:rPr>
              <a:t> </a:t>
            </a:r>
          </a:p>
          <a:p>
            <a:pPr algn="l"/>
            <a:r>
              <a:rPr sz="1700">
                <a:solidFill>
                  <a:srgbClr val="2B4A7D"/>
                </a:solidFill>
                <a:latin typeface="Consolas"/>
              </a:rPr>
              <a:t>print(total)</a:t>
            </a:r>
          </a:p>
          <a:p>
            <a:pPr algn="l"/>
            <a:r>
              <a:rPr b="0" sz="2100">
                <a:solidFill>
                  <a:srgbClr val="1C1C1A"/>
                </a:solidFill>
                <a:latin typeface="Calibri"/>
              </a:rPr>
              <a:t> </a:t>
            </a:r>
          </a:p>
          <a:p>
            <a:pPr algn="l"/>
            <a:r>
              <a:rPr sz="1700">
                <a:solidFill>
                  <a:srgbClr val="2B4A7D"/>
                </a:solidFill>
                <a:latin typeface="Consolas"/>
              </a:rPr>
              <a:t>25720</a:t>
            </a:r>
          </a:p>
          <a:p>
            <a:pPr algn="l"/>
            <a:r>
              <a:rPr b="0" sz="2100">
                <a:solidFill>
                  <a:srgbClr val="1C1C1A"/>
                </a:solidFill>
                <a:latin typeface="Calibri"/>
              </a:rPr>
              <a:t> </a:t>
            </a:r>
          </a:p>
          <a:p>
            <a:pPr algn="l"/>
            <a:r>
              <a:rPr b="0" sz="2100">
                <a:solidFill>
                  <a:srgbClr val="1C1C1A"/>
                </a:solidFill>
                <a:latin typeface="Calibri"/>
              </a:rPr>
              <a:t>The shape is the same and the amount goes in where the one was. That is 13 delivered orders totalling Rs 25,720, which is the number the notebook handed you at the start of the day.</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Find the mistake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sz="1700">
                <a:solidFill>
                  <a:srgbClr val="2B4A7D"/>
                </a:solidFill>
                <a:latin typeface="Consolas"/>
              </a:rPr>
              <a:t>for r in records:</a:t>
            </a:r>
          </a:p>
          <a:p>
            <a:pPr algn="l"/>
            <a:r>
              <a:rPr sz="1700">
                <a:solidFill>
                  <a:srgbClr val="2B4A7D"/>
                </a:solidFill>
                <a:latin typeface="Consolas"/>
              </a:rPr>
              <a:t>    if r["status"] == "delivered":</a:t>
            </a:r>
          </a:p>
          <a:p>
            <a:pPr algn="l"/>
            <a:r>
              <a:rPr sz="1700">
                <a:solidFill>
                  <a:srgbClr val="2B4A7D"/>
                </a:solidFill>
                <a:latin typeface="Consolas"/>
              </a:rPr>
              <a:t>        total = 0</a:t>
            </a:r>
          </a:p>
          <a:p>
            <a:pPr algn="l"/>
            <a:r>
              <a:rPr sz="1700">
                <a:solidFill>
                  <a:srgbClr val="2B4A7D"/>
                </a:solidFill>
                <a:latin typeface="Consolas"/>
              </a:rPr>
              <a:t>        total = total + int(r["amount"])</a:t>
            </a:r>
          </a:p>
          <a:p>
            <a:pPr algn="l"/>
            <a:r>
              <a:rPr sz="1700">
                <a:solidFill>
                  <a:srgbClr val="2B4A7D"/>
                </a:solidFill>
                <a:latin typeface="Consolas"/>
              </a:rPr>
              <a:t> </a:t>
            </a:r>
          </a:p>
          <a:p>
            <a:pPr algn="l"/>
            <a:r>
              <a:rPr sz="1700">
                <a:solidFill>
                  <a:srgbClr val="2B4A7D"/>
                </a:solidFill>
                <a:latin typeface="Consolas"/>
              </a:rPr>
              <a:t>print(total)</a:t>
            </a:r>
          </a:p>
          <a:p>
            <a:pPr algn="l"/>
            <a:r>
              <a:rPr b="0" sz="2100">
                <a:solidFill>
                  <a:srgbClr val="1C1C1A"/>
                </a:solidFill>
                <a:latin typeface="Calibri"/>
              </a:rPr>
              <a:t> </a:t>
            </a:r>
          </a:p>
          <a:p>
            <a:pPr algn="l"/>
            <a:r>
              <a:rPr sz="1700">
                <a:solidFill>
                  <a:srgbClr val="2B4A7D"/>
                </a:solidFill>
                <a:latin typeface="Consolas"/>
              </a:rPr>
              <a:t>1460</a:t>
            </a:r>
          </a:p>
          <a:p>
            <a:pPr algn="l"/>
            <a:r>
              <a:rPr b="0" sz="2100">
                <a:solidFill>
                  <a:srgbClr val="1C1C1A"/>
                </a:solidFill>
                <a:latin typeface="Calibri"/>
              </a:rPr>
              <a:t> </a:t>
            </a:r>
          </a:p>
          <a:p>
            <a:pPr algn="l"/>
            <a:r>
              <a:rPr b="0" sz="2100">
                <a:solidFill>
                  <a:srgbClr val="1C1C1A"/>
                </a:solidFill>
                <a:latin typeface="Calibri"/>
              </a:rPr>
              <a:t>This runs and it prints a number. Rs 1,460 is the amount of KR4224, the last delivered order in the file, and it is a total of nothing at all.</a:t>
            </a:r>
          </a:p>
          <a:p>
            <a:pPr algn="l"/>
            <a:r>
              <a:rPr b="0" sz="2100">
                <a:solidFill>
                  <a:srgbClr val="1C1C1A"/>
                </a:solidFill>
                <a:latin typeface="Calibri"/>
              </a:rPr>
              <a:t> </a:t>
            </a:r>
          </a:p>
          <a:p>
            <a:pPr algn="l"/>
            <a:r>
              <a:rPr b="0" sz="2100">
                <a:solidFill>
                  <a:srgbClr val="1C1C1A"/>
                </a:solidFill>
                <a:latin typeface="Calibri"/>
              </a:rPr>
              <a:t>Which line is in the wrong place?</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Step card, section 3</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1. Ask </a:t>
            </a:r>
            <a:r>
              <a:rPr b="0" sz="1800">
                <a:solidFill>
                  <a:srgbClr val="2B4A7D"/>
                </a:solidFill>
                <a:latin typeface="Consolas"/>
              </a:rPr>
              <a:t>type()</a:t>
            </a:r>
            <a:r>
              <a:rPr b="0" sz="2100">
                <a:solidFill>
                  <a:srgbClr val="1C1C1A"/>
                </a:solidFill>
                <a:latin typeface="Calibri"/>
              </a:rPr>
              <a:t> when an operator surprises you.</a:t>
            </a:r>
          </a:p>
          <a:p>
            <a:pPr algn="l"/>
            <a:r>
              <a:rPr b="0" sz="2100">
                <a:solidFill>
                  <a:srgbClr val="1C1C1A"/>
                </a:solidFill>
                <a:latin typeface="Calibri"/>
              </a:rPr>
              <a:t>2. Read both type names in a </a:t>
            </a:r>
            <a:r>
              <a:rPr b="0" sz="1800">
                <a:solidFill>
                  <a:srgbClr val="2B4A7D"/>
                </a:solidFill>
                <a:latin typeface="Consolas"/>
              </a:rPr>
              <a:t>TypeError</a:t>
            </a:r>
            <a:r>
              <a:rPr b="0" sz="2100">
                <a:solidFill>
                  <a:srgbClr val="1C1C1A"/>
                </a:solidFill>
                <a:latin typeface="Calibri"/>
              </a:rPr>
              <a:t> before you touch the code.</a:t>
            </a:r>
          </a:p>
          <a:p>
            <a:pPr algn="l"/>
            <a:r>
              <a:rPr b="0" sz="2100">
                <a:solidFill>
                  <a:srgbClr val="1C1C1A"/>
                </a:solidFill>
                <a:latin typeface="Calibri"/>
              </a:rPr>
              <a:t>3. Set the accumulator to zero once, above the loop.</a:t>
            </a:r>
          </a:p>
          <a:p>
            <a:pPr algn="l"/>
            <a:r>
              <a:rPr b="0" sz="2100">
                <a:solidFill>
                  <a:srgbClr val="1C1C1A"/>
                </a:solidFill>
                <a:latin typeface="Calibri"/>
              </a:rPr>
              <a:t>4. When a number looks wrong, go and find the record that explains it.</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07040" cy="1188720"/>
          </a:xfrm>
          <a:prstGeom prst="rect">
            <a:avLst/>
          </a:prstGeom>
          <a:noFill/>
        </p:spPr>
        <p:txBody>
          <a:bodyPr wrap="square">
            <a:spAutoFit/>
          </a:bodyPr>
          <a:lstStyle/>
          <a:p>
            <a:r>
              <a:rPr sz="3200" b="1">
                <a:solidFill>
                  <a:srgbClr val="1C1C1A"/>
                </a:solidFill>
                <a:latin typeface="Calibri"/>
              </a:rPr>
              <a:t>Crux, half one</a:t>
            </a:r>
          </a:p>
        </p:txBody>
      </p:sp>
      <p:sp>
        <p:nvSpPr>
          <p:cNvPr id="4" name="TextBox 3"/>
          <p:cNvSpPr txBox="1"/>
          <p:nvPr/>
        </p:nvSpPr>
        <p:spPr>
          <a:xfrm>
            <a:off x="777240" y="1965960"/>
            <a:ext cx="10607040" cy="4206240"/>
          </a:xfrm>
          <a:prstGeom prst="rect">
            <a:avLst/>
          </a:prstGeom>
          <a:noFill/>
        </p:spPr>
        <p:txBody>
          <a:bodyPr wrap="square">
            <a:spAutoFit/>
          </a:bodyPr>
          <a:lstStyle/>
          <a:p>
            <a:pPr algn="l"/>
            <a:r>
              <a:rPr b="0" sz="2100">
                <a:solidFill>
                  <a:srgbClr val="1C1C1A"/>
                </a:solidFill>
                <a:latin typeface="Calibri"/>
              </a:rPr>
              <a:t>Two errors landed on your screen this half, and each one told you exactly what it was holding.</a:t>
            </a:r>
          </a:p>
          <a:p>
            <a:pPr algn="l"/>
            <a:r>
              <a:rPr b="0" sz="2100">
                <a:solidFill>
                  <a:srgbClr val="1C1C1A"/>
                </a:solidFill>
                <a:latin typeface="Calibri"/>
              </a:rPr>
              <a:t> </a:t>
            </a:r>
          </a:p>
          <a:p>
            <a:pPr algn="l"/>
            <a:r>
              <a:rPr b="0" sz="2100">
                <a:solidFill>
                  <a:srgbClr val="1C1C1A"/>
                </a:solidFill>
                <a:latin typeface="Calibri"/>
              </a:rPr>
              <a:t>The kernel remembers exactly what you gave it and nothing else, and the type of a value decides what every operator means.</a:t>
            </a:r>
          </a:p>
        </p:txBody>
      </p:sp>
      <p:sp>
        <p:nvSpPr>
          <p:cNvPr id="5" name="TextBox 4"/>
          <p:cNvSpPr txBox="1"/>
          <p:nvPr/>
        </p:nvSpPr>
        <p:spPr>
          <a:xfrm>
            <a:off x="777240" y="6263640"/>
            <a:ext cx="10607040" cy="365760"/>
          </a:xfrm>
          <a:prstGeom prst="rect">
            <a:avLst/>
          </a:prstGeom>
          <a:noFill/>
        </p:spPr>
        <p:txBody>
          <a:bodyPr wrap="square">
            <a:spAutoFit/>
          </a:bodyPr>
          <a:lstStyle/>
          <a:p>
            <a:r>
              <a:rPr sz="1000" b="0">
                <a:solidFill>
                  <a:srgbClr val="5F6360"/>
                </a:solidFill>
                <a:latin typeface="Calibri"/>
              </a:rPr>
              <a:t>Week 1 Day 1, half one: the machine that remembers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