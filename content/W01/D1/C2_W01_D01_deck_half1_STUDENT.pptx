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The machine that remembers</a:t>
            </a:r>
          </a:p>
        </p:txBody>
      </p:sp>
      <p:sp>
        <p:nvSpPr>
          <p:cNvPr id="4" name="TextBox 3"/>
          <p:cNvSpPr txBox="1"/>
          <p:nvPr/>
        </p:nvSpPr>
        <p:spPr>
          <a:xfrm>
            <a:off x="777240" y="1965960"/>
            <a:ext cx="10607040" cy="1162050"/>
          </a:xfrm>
          <a:prstGeom prst="rect">
            <a:avLst/>
          </a:prstGeom>
          <a:noFill/>
        </p:spPr>
        <p:txBody>
          <a:bodyPr wrap="square">
            <a:spAutoFit/>
          </a:bodyPr>
          <a:lstStyle/>
          <a:p>
            <a:pPr>
              <a:spcAft>
                <a:spcPts val="1000"/>
              </a:spcAft>
            </a:pPr>
            <a:r>
              <a:rPr sz="2100" b="0">
                <a:solidFill>
                  <a:srgbClr val="1C1C1A"/>
                </a:solidFill>
                <a:latin typeface="Calibri"/>
              </a:rPr>
              <a:t>The notebook that opened the day is a machine that holds on to whatever you hand it.</a:t>
            </a:r>
          </a:p>
          <a:p>
            <a:pPr>
              <a:spcAft>
                <a:spcPts val="1000"/>
              </a:spcAft>
            </a:pPr>
            <a:r>
              <a:rPr sz="2100" b="0">
                <a:solidFill>
                  <a:srgbClr val="1C1C1A"/>
                </a:solidFill>
                <a:latin typeface="Calibri"/>
              </a:rPr>
              <a:t>For the next stretch you learn what it is holding, why it sometimes refuses you, and how to get it back when it forgets.</a:t>
            </a:r>
          </a:p>
        </p:txBody>
      </p:sp>
      <p:sp>
        <p:nvSpPr>
          <p:cNvPr id="5" name="TextBox 4"/>
          <p:cNvSpPr txBox="1"/>
          <p:nvPr/>
        </p:nvSpPr>
        <p:spPr>
          <a:xfrm>
            <a:off x="777240" y="6309360"/>
            <a:ext cx="10607040" cy="365760"/>
          </a:xfrm>
          <a:prstGeom prst="rect">
            <a:avLst/>
          </a:prstGeom>
          <a:noFill/>
        </p:spPr>
        <p:txBody>
          <a:bodyPr wrap="none">
            <a:spAutoFit/>
          </a:bodyPr>
          <a:lstStyle/>
          <a:p>
            <a:r>
              <a:rPr sz="1000">
                <a:solidFill>
                  <a:srgbClr val="5F6360"/>
                </a:solidFill>
                <a:latin typeface="Calibri"/>
              </a:rPr>
              <a:t>Week 1 Day 1, half one: the machine that remembers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Where we are</a:t>
            </a:r>
          </a:p>
        </p:txBody>
      </p:sp>
      <p:sp>
        <p:nvSpPr>
          <p:cNvPr id="4" name="TextBox 3"/>
          <p:cNvSpPr txBox="1"/>
          <p:nvPr/>
        </p:nvSpPr>
        <p:spPr>
          <a:xfrm>
            <a:off x="777240" y="1965960"/>
            <a:ext cx="10607040" cy="1409700"/>
          </a:xfrm>
          <a:prstGeom prst="rect">
            <a:avLst/>
          </a:prstGeom>
          <a:noFill/>
        </p:spPr>
        <p:txBody>
          <a:bodyPr wrap="square">
            <a:spAutoFit/>
          </a:bodyPr>
          <a:lstStyle/>
          <a:p>
            <a:pPr>
              <a:spcAft>
                <a:spcPts val="1000"/>
              </a:spcAft>
            </a:pPr>
            <a:r>
              <a:rPr sz="2100" b="0">
                <a:solidFill>
                  <a:srgbClr val="1C1C1A"/>
                </a:solidFill>
                <a:latin typeface="Calibri"/>
              </a:rPr>
              <a:t>[open the workbench] &gt; [the kernel remembers] &gt; [type decides] &gt; [walk the records] &gt; [the business answer]</a:t>
            </a:r>
          </a:p>
          <a:p>
            <a:pPr>
              <a:spcAft>
                <a:spcPts val="1000"/>
              </a:spcAft>
            </a:pPr>
            <a:r>
              <a:rPr sz="2100" b="0">
                <a:solidFill>
                  <a:srgbClr val="1C1C1A"/>
                </a:solidFill>
                <a:latin typeface="Calibri"/>
              </a:rPr>
              <a:t>Every order in this file is a Kalpa Retail order. The same thirty orders come back tomorrow as a file, and they come back again in Week 2 in pandas and in SQL.</a:t>
            </a:r>
          </a:p>
        </p:txBody>
      </p:sp>
      <p:sp>
        <p:nvSpPr>
          <p:cNvPr id="5" name="TextBox 4"/>
          <p:cNvSpPr txBox="1"/>
          <p:nvPr/>
        </p:nvSpPr>
        <p:spPr>
          <a:xfrm>
            <a:off x="777240" y="6309360"/>
            <a:ext cx="10607040" cy="365760"/>
          </a:xfrm>
          <a:prstGeom prst="rect">
            <a:avLst/>
          </a:prstGeom>
          <a:noFill/>
        </p:spPr>
        <p:txBody>
          <a:bodyPr wrap="none">
            <a:spAutoFit/>
          </a:bodyPr>
          <a:lstStyle/>
          <a:p>
            <a:r>
              <a:rPr sz="1000">
                <a:solidFill>
                  <a:srgbClr val="5F6360"/>
                </a:solidFill>
                <a:latin typeface="Calibri"/>
              </a:rPr>
              <a:t>Week 1 Day 1, half one: the machine that remembers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The answer you just watched</a:t>
            </a:r>
          </a:p>
        </p:txBody>
      </p:sp>
      <p:sp>
        <p:nvSpPr>
          <p:cNvPr id="4" name="TextBox 3"/>
          <p:cNvSpPr txBox="1"/>
          <p:nvPr/>
        </p:nvSpPr>
        <p:spPr>
          <a:xfrm>
            <a:off x="777240" y="1965960"/>
            <a:ext cx="10607040" cy="1533525"/>
          </a:xfrm>
          <a:prstGeom prst="rect">
            <a:avLst/>
          </a:prstGeom>
          <a:noFill/>
        </p:spPr>
        <p:txBody>
          <a:bodyPr wrap="square">
            <a:spAutoFit/>
          </a:bodyPr>
          <a:lstStyle/>
          <a:p>
            <a:pPr>
              <a:spcAft>
                <a:spcPts val="1000"/>
              </a:spcAft>
            </a:pPr>
            <a:r>
              <a:rPr sz="2100" b="0">
                <a:solidFill>
                  <a:srgbClr val="1C1C1A"/>
                </a:solidFill>
                <a:latin typeface="Calibri"/>
              </a:rPr>
              <a:t>The question was "Of these thirty Kalpa Retail orders, how much did we actually collect?"</a:t>
            </a:r>
          </a:p>
          <a:p>
            <a:pPr>
              <a:spcAft>
                <a:spcPts val="1000"/>
              </a:spcAft>
            </a:pPr>
            <a:r>
              <a:rPr sz="2100" b="0">
                <a:solidFill>
                  <a:srgbClr val="1C1C1A"/>
                </a:solidFill>
                <a:latin typeface="Calibri"/>
              </a:rPr>
              <a:t>The answer was 13 delivered orders, totalling Rs 25,720.</a:t>
            </a:r>
          </a:p>
          <a:p>
            <a:pPr>
              <a:spcAft>
                <a:spcPts val="1000"/>
              </a:spcAft>
            </a:pPr>
            <a:r>
              <a:rPr sz="2100" b="0">
                <a:solidFill>
                  <a:srgbClr val="1C1C1A"/>
                </a:solidFill>
                <a:latin typeface="Calibri"/>
              </a:rPr>
              <a:t>Nobody explained those records to you before the notebook ran, and that is the situation you will be hired into.</a:t>
            </a:r>
          </a:p>
        </p:txBody>
      </p:sp>
      <p:sp>
        <p:nvSpPr>
          <p:cNvPr id="5" name="TextBox 4"/>
          <p:cNvSpPr txBox="1"/>
          <p:nvPr/>
        </p:nvSpPr>
        <p:spPr>
          <a:xfrm>
            <a:off x="777240" y="6309360"/>
            <a:ext cx="10607040" cy="365760"/>
          </a:xfrm>
          <a:prstGeom prst="rect">
            <a:avLst/>
          </a:prstGeom>
          <a:noFill/>
        </p:spPr>
        <p:txBody>
          <a:bodyPr wrap="none">
            <a:spAutoFit/>
          </a:bodyPr>
          <a:lstStyle/>
          <a:p>
            <a:r>
              <a:rPr sz="1000">
                <a:solidFill>
                  <a:srgbClr val="5F6360"/>
                </a:solidFill>
                <a:latin typeface="Calibri"/>
              </a:rPr>
              <a:t>Week 1 Day 1, half one: the machine that remembers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Where this is going</a:t>
            </a:r>
          </a:p>
        </p:txBody>
      </p:sp>
      <p:sp>
        <p:nvSpPr>
          <p:cNvPr id="4" name="TextBox 3"/>
          <p:cNvSpPr txBox="1"/>
          <p:nvPr/>
        </p:nvSpPr>
        <p:spPr>
          <a:xfrm>
            <a:off x="777240" y="1965960"/>
            <a:ext cx="10607040" cy="1162050"/>
          </a:xfrm>
          <a:prstGeom prst="rect">
            <a:avLst/>
          </a:prstGeom>
          <a:noFill/>
        </p:spPr>
        <p:txBody>
          <a:bodyPr wrap="square">
            <a:spAutoFit/>
          </a:bodyPr>
          <a:lstStyle/>
          <a:p>
            <a:pPr>
              <a:spcAft>
                <a:spcPts val="400"/>
              </a:spcAft>
            </a:pPr>
            <a:r>
              <a:rPr sz="1700" b="0">
                <a:solidFill>
                  <a:srgbClr val="2B4A7D"/>
                </a:solidFill>
                <a:latin typeface="Consolas"/>
              </a:rPr>
              <a:t>total = 0</a:t>
            </a:r>
          </a:p>
          <a:p>
            <a:pPr>
              <a:spcAft>
                <a:spcPts val="400"/>
              </a:spcAft>
            </a:pPr>
            <a:r>
              <a:rPr sz="1700" b="0">
                <a:solidFill>
                  <a:srgbClr val="2B4A7D"/>
                </a:solidFill>
                <a:latin typeface="Consolas"/>
              </a:rPr>
              <a:t>for r in records:</a:t>
            </a:r>
          </a:p>
          <a:p>
            <a:pPr>
              <a:spcAft>
                <a:spcPts val="400"/>
              </a:spcAft>
            </a:pPr>
            <a:r>
              <a:rPr sz="1700" b="0">
                <a:solidFill>
                  <a:srgbClr val="2B4A7D"/>
                </a:solidFill>
                <a:latin typeface="Consolas"/>
              </a:rPr>
              <a:t>    if r["status"] == "delivered":</a:t>
            </a:r>
          </a:p>
          <a:p>
            <a:pPr>
              <a:spcAft>
                <a:spcPts val="400"/>
              </a:spcAft>
            </a:pPr>
            <a:r>
              <a:rPr sz="1700" b="0">
                <a:solidFill>
                  <a:srgbClr val="2B4A7D"/>
                </a:solidFill>
                <a:latin typeface="Consolas"/>
              </a:rPr>
              <a:t>        total = total + int(r["amount"])</a:t>
            </a:r>
          </a:p>
        </p:txBody>
      </p:sp>
      <p:sp>
        <p:nvSpPr>
          <p:cNvPr id="5" name="TextBox 4"/>
          <p:cNvSpPr txBox="1"/>
          <p:nvPr/>
        </p:nvSpPr>
        <p:spPr>
          <a:xfrm>
            <a:off x="777240" y="3265169"/>
            <a:ext cx="10607040" cy="542925"/>
          </a:xfrm>
          <a:prstGeom prst="rect">
            <a:avLst/>
          </a:prstGeom>
          <a:noFill/>
        </p:spPr>
        <p:txBody>
          <a:bodyPr wrap="square">
            <a:spAutoFit/>
          </a:bodyPr>
          <a:lstStyle/>
          <a:p>
            <a:pPr>
              <a:spcAft>
                <a:spcPts val="1000"/>
              </a:spcAft>
            </a:pPr>
            <a:r>
              <a:rPr sz="2100" b="0">
                <a:solidFill>
                  <a:srgbClr val="1C1C1A"/>
                </a:solidFill>
                <a:latin typeface="Calibri"/>
              </a:rPr>
              <a:t>Four lines produced that answer. You will have written this before the day ends.</a:t>
            </a:r>
          </a:p>
        </p:txBody>
      </p:sp>
      <p:sp>
        <p:nvSpPr>
          <p:cNvPr id="6" name="TextBox 5"/>
          <p:cNvSpPr txBox="1"/>
          <p:nvPr/>
        </p:nvSpPr>
        <p:spPr>
          <a:xfrm>
            <a:off x="777240" y="6309360"/>
            <a:ext cx="10607040" cy="365760"/>
          </a:xfrm>
          <a:prstGeom prst="rect">
            <a:avLst/>
          </a:prstGeom>
          <a:noFill/>
        </p:spPr>
        <p:txBody>
          <a:bodyPr wrap="none">
            <a:spAutoFit/>
          </a:bodyPr>
          <a:lstStyle/>
          <a:p>
            <a:r>
              <a:rPr sz="1000">
                <a:solidFill>
                  <a:srgbClr val="5F6360"/>
                </a:solidFill>
                <a:latin typeface="Calibri"/>
              </a:rPr>
              <a:t>Week 1 Day 1, half one: the machine that remembers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pPr algn="ctr"/>
            <a:r>
              <a:rPr sz="3600" b="1">
                <a:solidFill>
                  <a:srgbClr val="FFFFFF"/>
                </a:solidFill>
                <a:latin typeface="Calibri"/>
              </a:rPr>
              <a:t>SECTION 1: OPEN THE WORKBENCH</a:t>
            </a:r>
          </a:p>
        </p:txBody>
      </p:sp>
      <p:sp>
        <p:nvSpPr>
          <p:cNvPr id="4" name="TextBox 3"/>
          <p:cNvSpPr txBox="1"/>
          <p:nvPr/>
        </p:nvSpPr>
        <p:spPr>
          <a:xfrm>
            <a:off x="777240" y="1965960"/>
            <a:ext cx="10607040" cy="790575"/>
          </a:xfrm>
          <a:prstGeom prst="rect">
            <a:avLst/>
          </a:prstGeom>
          <a:noFill/>
        </p:spPr>
        <p:txBody>
          <a:bodyPr wrap="square">
            <a:spAutoFit/>
          </a:bodyPr>
          <a:lstStyle/>
          <a:p>
            <a:pPr algn="ctr">
              <a:spcAft>
                <a:spcPts val="1000"/>
              </a:spcAft>
            </a:pPr>
            <a:r>
              <a:rPr sz="2100" b="1">
                <a:solidFill>
                  <a:srgbClr val="FFFFFF"/>
                </a:solidFill>
                <a:latin typeface="Calibri"/>
              </a:rPr>
              <a:t>[open the workbench]</a:t>
            </a:r>
            <a:r>
              <a:rPr sz="2100" b="0">
                <a:solidFill>
                  <a:srgbClr val="FFFFFF"/>
                </a:solidFill>
                <a:latin typeface="Calibri"/>
              </a:rPr>
              <a:t> &gt; [the kernel remembers] &gt; [type decides] &gt; [walk the records] &gt; [the business answer]</a:t>
            </a:r>
          </a:p>
        </p:txBody>
      </p:sp>
      <p:sp>
        <p:nvSpPr>
          <p:cNvPr id="5" name="TextBox 4"/>
          <p:cNvSpPr txBox="1"/>
          <p:nvPr/>
        </p:nvSpPr>
        <p:spPr>
          <a:xfrm>
            <a:off x="777240" y="6309360"/>
            <a:ext cx="10607040" cy="365760"/>
          </a:xfrm>
          <a:prstGeom prst="rect">
            <a:avLst/>
          </a:prstGeom>
          <a:noFill/>
        </p:spPr>
        <p:txBody>
          <a:bodyPr wrap="none">
            <a:spAutoFit/>
          </a:bodyPr>
          <a:lstStyle/>
          <a:p>
            <a:r>
              <a:rPr sz="1000">
                <a:solidFill>
                  <a:srgbClr val="5F6360"/>
                </a:solidFill>
                <a:latin typeface="Calibri"/>
              </a:rPr>
              <a:t>Week 1 Day 1, half one: the machine that remembers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What a Codespace is</a:t>
            </a:r>
          </a:p>
        </p:txBody>
      </p:sp>
      <p:sp>
        <p:nvSpPr>
          <p:cNvPr id="4" name="TextBox 3"/>
          <p:cNvSpPr txBox="1"/>
          <p:nvPr/>
        </p:nvSpPr>
        <p:spPr>
          <a:xfrm>
            <a:off x="777240" y="1965960"/>
            <a:ext cx="10607040" cy="1409700"/>
          </a:xfrm>
          <a:prstGeom prst="rect">
            <a:avLst/>
          </a:prstGeom>
          <a:noFill/>
        </p:spPr>
        <p:txBody>
          <a:bodyPr wrap="square">
            <a:spAutoFit/>
          </a:bodyPr>
          <a:lstStyle/>
          <a:p>
            <a:pPr>
              <a:spcAft>
                <a:spcPts val="1000"/>
              </a:spcAft>
            </a:pPr>
            <a:r>
              <a:rPr sz="2100" b="0">
                <a:solidFill>
                  <a:srgbClr val="1C1C1A"/>
                </a:solidFill>
                <a:latin typeface="Calibri"/>
              </a:rPr>
              <a:t>A Codespace is a computer that GitHub runs for you and shows you inside a browser tab, with VS Code, Python and this repository already on it.</a:t>
            </a:r>
          </a:p>
          <a:p>
            <a:pPr>
              <a:spcAft>
                <a:spcPts val="1000"/>
              </a:spcAft>
            </a:pPr>
            <a:r>
              <a:rPr sz="2100" b="0">
                <a:solidFill>
                  <a:srgbClr val="1C1C1A"/>
                </a:solidFill>
                <a:latin typeface="Calibri"/>
              </a:rPr>
              <a:t>Nothing is installed on your laptop and nothing needs to be. The Codespace you open today is the environment for the whole programme.</a:t>
            </a:r>
          </a:p>
        </p:txBody>
      </p:sp>
      <p:sp>
        <p:nvSpPr>
          <p:cNvPr id="5" name="TextBox 4"/>
          <p:cNvSpPr txBox="1"/>
          <p:nvPr/>
        </p:nvSpPr>
        <p:spPr>
          <a:xfrm>
            <a:off x="777240" y="6309360"/>
            <a:ext cx="10607040" cy="365760"/>
          </a:xfrm>
          <a:prstGeom prst="rect">
            <a:avLst/>
          </a:prstGeom>
          <a:noFill/>
        </p:spPr>
        <p:txBody>
          <a:bodyPr wrap="none">
            <a:spAutoFit/>
          </a:bodyPr>
          <a:lstStyle/>
          <a:p>
            <a:r>
              <a:rPr sz="1000">
                <a:solidFill>
                  <a:srgbClr val="5F6360"/>
                </a:solidFill>
                <a:latin typeface="Calibri"/>
              </a:rPr>
              <a:t>Week 1 Day 1, half one: the machine that remembers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The layout, part by part</a:t>
            </a:r>
          </a:p>
        </p:txBody>
      </p:sp>
      <p:sp>
        <p:nvSpPr>
          <p:cNvPr id="4" name="TextBox 3"/>
          <p:cNvSpPr txBox="1"/>
          <p:nvPr/>
        </p:nvSpPr>
        <p:spPr>
          <a:xfrm>
            <a:off x="777240" y="1965960"/>
            <a:ext cx="10607040" cy="2524125"/>
          </a:xfrm>
          <a:prstGeom prst="rect">
            <a:avLst/>
          </a:prstGeom>
          <a:noFill/>
        </p:spPr>
        <p:txBody>
          <a:bodyPr wrap="square">
            <a:spAutoFit/>
          </a:bodyPr>
          <a:lstStyle/>
          <a:p>
            <a:pPr>
              <a:spcAft>
                <a:spcPts val="1000"/>
              </a:spcAft>
            </a:pPr>
            <a:r>
              <a:rPr sz="2100" b="0">
                <a:solidFill>
                  <a:srgbClr val="1C1C1A"/>
                </a:solidFill>
                <a:latin typeface="Calibri"/>
              </a:rPr>
              <a:t>The explorer down the left lists the files in the repository, and today's notebook is one of them.</a:t>
            </a:r>
          </a:p>
          <a:p>
            <a:pPr>
              <a:spcAft>
                <a:spcPts val="1000"/>
              </a:spcAft>
            </a:pPr>
            <a:r>
              <a:rPr sz="2100" b="0">
                <a:solidFill>
                  <a:srgbClr val="1C1C1A"/>
                </a:solidFill>
                <a:latin typeface="Calibri"/>
              </a:rPr>
              <a:t>The editor in the middle is where the notebook opens, one cell under another.</a:t>
            </a:r>
          </a:p>
          <a:p>
            <a:pPr>
              <a:spcAft>
                <a:spcPts val="1000"/>
              </a:spcAft>
            </a:pPr>
            <a:r>
              <a:rPr sz="2100" b="0">
                <a:solidFill>
                  <a:srgbClr val="1C1C1A"/>
                </a:solidFill>
                <a:latin typeface="Calibri"/>
              </a:rPr>
              <a:t>Each cell has a run button on its left, and the output of that cell appears directly under it.</a:t>
            </a:r>
          </a:p>
          <a:p>
            <a:pPr>
              <a:spcAft>
                <a:spcPts val="1000"/>
              </a:spcAft>
            </a:pPr>
            <a:r>
              <a:rPr sz="2100" b="0">
                <a:solidFill>
                  <a:srgbClr val="1C1C1A"/>
                </a:solidFill>
                <a:latin typeface="Calibri"/>
              </a:rPr>
              <a:t>The kernel indicator at the top right names the Python that is running your cells.</a:t>
            </a:r>
          </a:p>
          <a:p>
            <a:pPr>
              <a:spcAft>
                <a:spcPts val="1000"/>
              </a:spcAft>
            </a:pPr>
            <a:r>
              <a:rPr sz="2100" b="0">
                <a:solidFill>
                  <a:srgbClr val="1C1C1A"/>
                </a:solidFill>
                <a:latin typeface="Calibri"/>
              </a:rPr>
              <a:t>The terminal panel at the bottom is a shell on the same machine, and you have no reason to open it today.</a:t>
            </a:r>
          </a:p>
        </p:txBody>
      </p:sp>
      <p:sp>
        <p:nvSpPr>
          <p:cNvPr id="5" name="TextBox 4"/>
          <p:cNvSpPr txBox="1"/>
          <p:nvPr/>
        </p:nvSpPr>
        <p:spPr>
          <a:xfrm>
            <a:off x="777240" y="6309360"/>
            <a:ext cx="10607040" cy="365760"/>
          </a:xfrm>
          <a:prstGeom prst="rect">
            <a:avLst/>
          </a:prstGeom>
          <a:noFill/>
        </p:spPr>
        <p:txBody>
          <a:bodyPr wrap="none">
            <a:spAutoFit/>
          </a:bodyPr>
          <a:lstStyle/>
          <a:p>
            <a:r>
              <a:rPr sz="1000">
                <a:solidFill>
                  <a:srgbClr val="5F6360"/>
                </a:solidFill>
                <a:latin typeface="Calibri"/>
              </a:rPr>
              <a:t>Week 1 Day 1, half one: the machine that remembers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Running a cell</a:t>
            </a:r>
          </a:p>
        </p:txBody>
      </p:sp>
      <p:sp>
        <p:nvSpPr>
          <p:cNvPr id="4" name="TextBox 3"/>
          <p:cNvSpPr txBox="1"/>
          <p:nvPr/>
        </p:nvSpPr>
        <p:spPr>
          <a:xfrm>
            <a:off x="777240" y="1965960"/>
            <a:ext cx="10607040" cy="1162050"/>
          </a:xfrm>
          <a:prstGeom prst="rect">
            <a:avLst/>
          </a:prstGeom>
          <a:noFill/>
        </p:spPr>
        <p:txBody>
          <a:bodyPr wrap="square">
            <a:spAutoFit/>
          </a:bodyPr>
          <a:lstStyle/>
          <a:p>
            <a:pPr>
              <a:spcAft>
                <a:spcPts val="1000"/>
              </a:spcAft>
            </a:pPr>
            <a:r>
              <a:rPr sz="2100" b="0">
                <a:solidFill>
                  <a:srgbClr val="1C1C1A"/>
                </a:solidFill>
                <a:latin typeface="Calibri"/>
              </a:rPr>
              <a:t>A cell is a box you type Python into, and Shift and Enter runs it.</a:t>
            </a:r>
          </a:p>
          <a:p>
            <a:pPr>
              <a:spcAft>
                <a:spcPts val="1000"/>
              </a:spcAft>
            </a:pPr>
            <a:r>
              <a:rPr sz="2100" b="0">
                <a:solidFill>
                  <a:srgbClr val="1C1C1A"/>
                </a:solidFill>
                <a:latin typeface="Calibri"/>
              </a:rPr>
              <a:t>The output appears under the cell you ran, and it stays on screen until you run that cell again.</a:t>
            </a:r>
          </a:p>
        </p:txBody>
      </p:sp>
      <p:sp>
        <p:nvSpPr>
          <p:cNvPr id="5" name="TextBox 4"/>
          <p:cNvSpPr txBox="1"/>
          <p:nvPr/>
        </p:nvSpPr>
        <p:spPr>
          <a:xfrm>
            <a:off x="777240" y="6309360"/>
            <a:ext cx="10607040" cy="365760"/>
          </a:xfrm>
          <a:prstGeom prst="rect">
            <a:avLst/>
          </a:prstGeom>
          <a:noFill/>
        </p:spPr>
        <p:txBody>
          <a:bodyPr wrap="none">
            <a:spAutoFit/>
          </a:bodyPr>
          <a:lstStyle/>
          <a:p>
            <a:r>
              <a:rPr sz="1000">
                <a:solidFill>
                  <a:srgbClr val="5F6360"/>
                </a:solidFill>
                <a:latin typeface="Calibri"/>
              </a:rPr>
              <a:t>Week 1 Day 1, half one: the machine that remembers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Step card, section 1</a:t>
            </a:r>
          </a:p>
        </p:txBody>
      </p:sp>
      <p:sp>
        <p:nvSpPr>
          <p:cNvPr id="4" name="TextBox 3"/>
          <p:cNvSpPr txBox="1"/>
          <p:nvPr/>
        </p:nvSpPr>
        <p:spPr>
          <a:xfrm>
            <a:off x="777240" y="1965960"/>
            <a:ext cx="10607040" cy="1657350"/>
          </a:xfrm>
          <a:prstGeom prst="rect">
            <a:avLst/>
          </a:prstGeom>
          <a:noFill/>
        </p:spPr>
        <p:txBody>
          <a:bodyPr wrap="square">
            <a:spAutoFit/>
          </a:bodyPr>
          <a:lstStyle/>
          <a:p>
            <a:pPr>
              <a:spcAft>
                <a:spcPts val="1000"/>
              </a:spcAft>
            </a:pPr>
            <a:r>
              <a:rPr sz="2100" b="0">
                <a:solidFill>
                  <a:srgbClr val="1C1C1A"/>
                </a:solidFill>
                <a:latin typeface="Calibri"/>
              </a:rPr>
              <a:t>1. Open the Codespace from the repository and wait for the editor to finish loading.</a:t>
            </a:r>
          </a:p>
          <a:p>
            <a:pPr>
              <a:spcAft>
                <a:spcPts val="1000"/>
              </a:spcAft>
            </a:pPr>
            <a:r>
              <a:rPr sz="2100" b="0">
                <a:solidFill>
                  <a:srgbClr val="1C1C1A"/>
                </a:solidFill>
                <a:latin typeface="Calibri"/>
              </a:rPr>
              <a:t>2. Open the notebook from the explorer on the left.</a:t>
            </a:r>
          </a:p>
          <a:p>
            <a:pPr>
              <a:spcAft>
                <a:spcPts val="1000"/>
              </a:spcAft>
            </a:pPr>
            <a:r>
              <a:rPr sz="2100" b="0">
                <a:solidFill>
                  <a:srgbClr val="1C1C1A"/>
                </a:solidFill>
                <a:latin typeface="Calibri"/>
              </a:rPr>
              <a:t>3. Run a cell with Shift and Enter.</a:t>
            </a:r>
          </a:p>
          <a:p>
            <a:pPr>
              <a:spcAft>
                <a:spcPts val="1000"/>
              </a:spcAft>
            </a:pPr>
            <a:r>
              <a:rPr sz="2100" b="0">
                <a:solidFill>
                  <a:srgbClr val="1C1C1A"/>
                </a:solidFill>
                <a:latin typeface="Calibri"/>
              </a:rPr>
              <a:t>4. Read the output under the cell before you move on.</a:t>
            </a:r>
          </a:p>
        </p:txBody>
      </p:sp>
      <p:sp>
        <p:nvSpPr>
          <p:cNvPr id="5" name="TextBox 4"/>
          <p:cNvSpPr txBox="1"/>
          <p:nvPr/>
        </p:nvSpPr>
        <p:spPr>
          <a:xfrm>
            <a:off x="777240" y="6309360"/>
            <a:ext cx="10607040" cy="365760"/>
          </a:xfrm>
          <a:prstGeom prst="rect">
            <a:avLst/>
          </a:prstGeom>
          <a:noFill/>
        </p:spPr>
        <p:txBody>
          <a:bodyPr wrap="none">
            <a:spAutoFit/>
          </a:bodyPr>
          <a:lstStyle/>
          <a:p>
            <a:r>
              <a:rPr sz="1000">
                <a:solidFill>
                  <a:srgbClr val="5F6360"/>
                </a:solidFill>
                <a:latin typeface="Calibri"/>
              </a:rPr>
              <a:t>Week 1 Day 1, half one: the machine that remembers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pPr algn="ctr"/>
            <a:r>
              <a:rPr sz="3600" b="1">
                <a:solidFill>
                  <a:srgbClr val="FFFFFF"/>
                </a:solidFill>
                <a:latin typeface="Calibri"/>
              </a:rPr>
              <a:t>SECTION 2: THE KERNEL REMEMBERS</a:t>
            </a:r>
          </a:p>
        </p:txBody>
      </p:sp>
      <p:sp>
        <p:nvSpPr>
          <p:cNvPr id="4" name="TextBox 3"/>
          <p:cNvSpPr txBox="1"/>
          <p:nvPr/>
        </p:nvSpPr>
        <p:spPr>
          <a:xfrm>
            <a:off x="777240" y="1965960"/>
            <a:ext cx="10607040" cy="790575"/>
          </a:xfrm>
          <a:prstGeom prst="rect">
            <a:avLst/>
          </a:prstGeom>
          <a:noFill/>
        </p:spPr>
        <p:txBody>
          <a:bodyPr wrap="square">
            <a:spAutoFit/>
          </a:bodyPr>
          <a:lstStyle/>
          <a:p>
            <a:pPr algn="ctr">
              <a:spcAft>
                <a:spcPts val="1000"/>
              </a:spcAft>
            </a:pPr>
            <a:r>
              <a:rPr sz="2100" b="0">
                <a:solidFill>
                  <a:srgbClr val="FFFFFF"/>
                </a:solidFill>
                <a:latin typeface="Calibri"/>
              </a:rPr>
              <a:t>[open the workbench] &gt; </a:t>
            </a:r>
            <a:r>
              <a:rPr sz="2100" b="1">
                <a:solidFill>
                  <a:srgbClr val="FFFFFF"/>
                </a:solidFill>
                <a:latin typeface="Calibri"/>
              </a:rPr>
              <a:t>[the kernel remembers]</a:t>
            </a:r>
            <a:r>
              <a:rPr sz="2100" b="0">
                <a:solidFill>
                  <a:srgbClr val="FFFFFF"/>
                </a:solidFill>
                <a:latin typeface="Calibri"/>
              </a:rPr>
              <a:t> &gt; [type decides] &gt; [walk the records] &gt; [the business answer]</a:t>
            </a:r>
          </a:p>
        </p:txBody>
      </p:sp>
      <p:sp>
        <p:nvSpPr>
          <p:cNvPr id="5" name="TextBox 4"/>
          <p:cNvSpPr txBox="1"/>
          <p:nvPr/>
        </p:nvSpPr>
        <p:spPr>
          <a:xfrm>
            <a:off x="777240" y="6309360"/>
            <a:ext cx="10607040" cy="365760"/>
          </a:xfrm>
          <a:prstGeom prst="rect">
            <a:avLst/>
          </a:prstGeom>
          <a:noFill/>
        </p:spPr>
        <p:txBody>
          <a:bodyPr wrap="none">
            <a:spAutoFit/>
          </a:bodyPr>
          <a:lstStyle/>
          <a:p>
            <a:r>
              <a:rPr sz="1000">
                <a:solidFill>
                  <a:srgbClr val="5F6360"/>
                </a:solidFill>
                <a:latin typeface="Calibri"/>
              </a:rPr>
              <a:t>Week 1 Day 1, half one: the machine that remembers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The bench</a:t>
            </a:r>
          </a:p>
        </p:txBody>
      </p:sp>
      <p:sp>
        <p:nvSpPr>
          <p:cNvPr id="4" name="TextBox 3"/>
          <p:cNvSpPr txBox="1"/>
          <p:nvPr/>
        </p:nvSpPr>
        <p:spPr>
          <a:xfrm>
            <a:off x="777240" y="1965960"/>
            <a:ext cx="10607040" cy="1533525"/>
          </a:xfrm>
          <a:prstGeom prst="rect">
            <a:avLst/>
          </a:prstGeom>
          <a:noFill/>
        </p:spPr>
        <p:txBody>
          <a:bodyPr wrap="square">
            <a:spAutoFit/>
          </a:bodyPr>
          <a:lstStyle/>
          <a:p>
            <a:pPr>
              <a:spcAft>
                <a:spcPts val="1000"/>
              </a:spcAft>
            </a:pPr>
            <a:r>
              <a:rPr sz="2100" b="0">
                <a:solidFill>
                  <a:srgbClr val="1C1C1A"/>
                </a:solidFill>
                <a:latin typeface="Calibri"/>
              </a:rPr>
              <a:t>The kernel is a workbench that keeps whatever you put on it for as long as it is running.</a:t>
            </a:r>
          </a:p>
          <a:p>
            <a:pPr>
              <a:spcAft>
                <a:spcPts val="1000"/>
              </a:spcAft>
            </a:pPr>
            <a:r>
              <a:rPr sz="2100" b="0">
                <a:solidFill>
                  <a:srgbClr val="1C1C1A"/>
                </a:solidFill>
                <a:latin typeface="Calibri"/>
              </a:rPr>
              <a:t>Running a cell is you putting something on the bench. Restarting the kernel sweeps the bench clean, and the file on disk is untouched by that.</a:t>
            </a:r>
          </a:p>
          <a:p>
            <a:pPr>
              <a:spcAft>
                <a:spcPts val="1000"/>
              </a:spcAft>
            </a:pPr>
            <a:r>
              <a:rPr sz="2100" b="0">
                <a:solidFill>
                  <a:srgbClr val="1C1C1A"/>
                </a:solidFill>
                <a:latin typeface="Calibri"/>
              </a:rPr>
              <a:t>This picture is the one we use for the rest of the day.</a:t>
            </a:r>
          </a:p>
        </p:txBody>
      </p:sp>
      <p:sp>
        <p:nvSpPr>
          <p:cNvPr id="5" name="TextBox 4"/>
          <p:cNvSpPr txBox="1"/>
          <p:nvPr/>
        </p:nvSpPr>
        <p:spPr>
          <a:xfrm>
            <a:off x="777240" y="6309360"/>
            <a:ext cx="10607040" cy="365760"/>
          </a:xfrm>
          <a:prstGeom prst="rect">
            <a:avLst/>
          </a:prstGeom>
          <a:noFill/>
        </p:spPr>
        <p:txBody>
          <a:bodyPr wrap="none">
            <a:spAutoFit/>
          </a:bodyPr>
          <a:lstStyle/>
          <a:p>
            <a:r>
              <a:rPr sz="1000">
                <a:solidFill>
                  <a:srgbClr val="5F6360"/>
                </a:solidFill>
                <a:latin typeface="Calibri"/>
              </a:rPr>
              <a:t>Week 1 Day 1, half one: the machine that remembers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Cells run in the order you run them</a:t>
            </a:r>
          </a:p>
        </p:txBody>
      </p:sp>
      <p:sp>
        <p:nvSpPr>
          <p:cNvPr id="4" name="TextBox 3"/>
          <p:cNvSpPr txBox="1"/>
          <p:nvPr/>
        </p:nvSpPr>
        <p:spPr>
          <a:xfrm>
            <a:off x="777240" y="1965960"/>
            <a:ext cx="10607040" cy="1409700"/>
          </a:xfrm>
          <a:prstGeom prst="rect">
            <a:avLst/>
          </a:prstGeom>
          <a:noFill/>
        </p:spPr>
        <p:txBody>
          <a:bodyPr wrap="square">
            <a:spAutoFit/>
          </a:bodyPr>
          <a:lstStyle/>
          <a:p>
            <a:pPr>
              <a:spcAft>
                <a:spcPts val="1000"/>
              </a:spcAft>
            </a:pPr>
            <a:r>
              <a:rPr sz="2100" b="0">
                <a:solidFill>
                  <a:srgbClr val="1C1C1A"/>
                </a:solidFill>
                <a:latin typeface="Calibri"/>
              </a:rPr>
              <a:t>The notebook is a stack of cells on a screen, and the kernel has no opinion at all about that stack.</a:t>
            </a:r>
          </a:p>
          <a:p>
            <a:pPr>
              <a:spcAft>
                <a:spcPts val="1000"/>
              </a:spcAft>
            </a:pPr>
            <a:r>
              <a:rPr sz="2100" b="0">
                <a:solidFill>
                  <a:srgbClr val="1C1C1A"/>
                </a:solidFill>
                <a:latin typeface="Calibri"/>
              </a:rPr>
              <a:t>The kernel sees the order you clicked run in. If you ran the third cell first, then the third cell ran first.</a:t>
            </a:r>
          </a:p>
        </p:txBody>
      </p:sp>
      <p:sp>
        <p:nvSpPr>
          <p:cNvPr id="5" name="TextBox 4"/>
          <p:cNvSpPr txBox="1"/>
          <p:nvPr/>
        </p:nvSpPr>
        <p:spPr>
          <a:xfrm>
            <a:off x="777240" y="6309360"/>
            <a:ext cx="10607040" cy="365760"/>
          </a:xfrm>
          <a:prstGeom prst="rect">
            <a:avLst/>
          </a:prstGeom>
          <a:noFill/>
        </p:spPr>
        <p:txBody>
          <a:bodyPr wrap="none">
            <a:spAutoFit/>
          </a:bodyPr>
          <a:lstStyle/>
          <a:p>
            <a:r>
              <a:rPr sz="1000">
                <a:solidFill>
                  <a:srgbClr val="5F6360"/>
                </a:solidFill>
                <a:latin typeface="Calibri"/>
              </a:rPr>
              <a:t>Week 1 Day 1, half one: the machine that remembers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The execution counter is the truth</a:t>
            </a:r>
          </a:p>
        </p:txBody>
      </p:sp>
      <p:sp>
        <p:nvSpPr>
          <p:cNvPr id="4" name="TextBox 3"/>
          <p:cNvSpPr txBox="1"/>
          <p:nvPr/>
        </p:nvSpPr>
        <p:spPr>
          <a:xfrm>
            <a:off x="777240" y="1965960"/>
            <a:ext cx="10607040" cy="542925"/>
          </a:xfrm>
          <a:prstGeom prst="rect">
            <a:avLst/>
          </a:prstGeom>
          <a:noFill/>
        </p:spPr>
        <p:txBody>
          <a:bodyPr wrap="square">
            <a:spAutoFit/>
          </a:bodyPr>
          <a:lstStyle/>
          <a:p>
            <a:pPr>
              <a:spcAft>
                <a:spcPts val="1000"/>
              </a:spcAft>
            </a:pPr>
            <a:r>
              <a:rPr sz="2100" b="0">
                <a:solidFill>
                  <a:srgbClr val="1C1C1A"/>
                </a:solidFill>
                <a:latin typeface="Calibri"/>
              </a:rPr>
              <a:t>The number in square brackets to the left of a cell counts the runs the kernel has done.</a:t>
            </a:r>
          </a:p>
        </p:txBody>
      </p:sp>
      <p:sp>
        <p:nvSpPr>
          <p:cNvPr id="5" name="TextBox 4"/>
          <p:cNvSpPr txBox="1"/>
          <p:nvPr/>
        </p:nvSpPr>
        <p:spPr>
          <a:xfrm>
            <a:off x="777240" y="2646045"/>
            <a:ext cx="10607040" cy="914400"/>
          </a:xfrm>
          <a:prstGeom prst="rect">
            <a:avLst/>
          </a:prstGeom>
          <a:noFill/>
        </p:spPr>
        <p:txBody>
          <a:bodyPr wrap="square">
            <a:spAutoFit/>
          </a:bodyPr>
          <a:lstStyle/>
          <a:p>
            <a:pPr>
              <a:spcAft>
                <a:spcPts val="400"/>
              </a:spcAft>
            </a:pPr>
            <a:r>
              <a:rPr sz="1700" b="0">
                <a:solidFill>
                  <a:srgbClr val="2B4A7D"/>
                </a:solidFill>
                <a:latin typeface="Consolas"/>
              </a:rPr>
              <a:t>[2]  records = [ ... ]</a:t>
            </a:r>
          </a:p>
          <a:p>
            <a:pPr>
              <a:spcAft>
                <a:spcPts val="400"/>
              </a:spcAft>
            </a:pPr>
            <a:r>
              <a:rPr sz="1700" b="0">
                <a:solidFill>
                  <a:srgbClr val="2B4A7D"/>
                </a:solidFill>
                <a:latin typeface="Consolas"/>
              </a:rPr>
              <a:t>[3]  count = 0</a:t>
            </a:r>
          </a:p>
          <a:p>
            <a:pPr>
              <a:spcAft>
                <a:spcPts val="400"/>
              </a:spcAft>
            </a:pPr>
            <a:r>
              <a:rPr sz="1700" b="0">
                <a:solidFill>
                  <a:srgbClr val="2B4A7D"/>
                </a:solidFill>
                <a:latin typeface="Consolas"/>
              </a:rPr>
              <a:t>[1]  for r in records:</a:t>
            </a:r>
          </a:p>
        </p:txBody>
      </p:sp>
      <p:sp>
        <p:nvSpPr>
          <p:cNvPr id="6" name="TextBox 5"/>
          <p:cNvSpPr txBox="1"/>
          <p:nvPr/>
        </p:nvSpPr>
        <p:spPr>
          <a:xfrm>
            <a:off x="777240" y="3697604"/>
            <a:ext cx="10607040" cy="542925"/>
          </a:xfrm>
          <a:prstGeom prst="rect">
            <a:avLst/>
          </a:prstGeom>
          <a:noFill/>
        </p:spPr>
        <p:txBody>
          <a:bodyPr wrap="square">
            <a:spAutoFit/>
          </a:bodyPr>
          <a:lstStyle/>
          <a:p>
            <a:pPr>
              <a:spcAft>
                <a:spcPts val="1000"/>
              </a:spcAft>
            </a:pPr>
            <a:r>
              <a:rPr sz="2100" b="0">
                <a:solidFill>
                  <a:srgbClr val="1C1C1A"/>
                </a:solidFill>
                <a:latin typeface="Calibri"/>
              </a:rPr>
              <a:t>The cell at the bottom of the screen ran first. Read the counters, never the positions.</a:t>
            </a:r>
          </a:p>
        </p:txBody>
      </p:sp>
      <p:sp>
        <p:nvSpPr>
          <p:cNvPr id="7" name="TextBox 6"/>
          <p:cNvSpPr txBox="1"/>
          <p:nvPr/>
        </p:nvSpPr>
        <p:spPr>
          <a:xfrm>
            <a:off x="777240" y="6309360"/>
            <a:ext cx="10607040" cy="365760"/>
          </a:xfrm>
          <a:prstGeom prst="rect">
            <a:avLst/>
          </a:prstGeom>
          <a:noFill/>
        </p:spPr>
        <p:txBody>
          <a:bodyPr wrap="none">
            <a:spAutoFit/>
          </a:bodyPr>
          <a:lstStyle/>
          <a:p>
            <a:r>
              <a:rPr sz="1000">
                <a:solidFill>
                  <a:srgbClr val="5F6360"/>
                </a:solidFill>
                <a:latin typeface="Calibri"/>
              </a:rPr>
              <a:t>Week 1 Day 1, half one: the machine that remembers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The break</a:t>
            </a:r>
          </a:p>
        </p:txBody>
      </p:sp>
      <p:sp>
        <p:nvSpPr>
          <p:cNvPr id="4" name="TextBox 3"/>
          <p:cNvSpPr txBox="1"/>
          <p:nvPr/>
        </p:nvSpPr>
        <p:spPr>
          <a:xfrm>
            <a:off x="777240" y="1965960"/>
            <a:ext cx="10607040" cy="502920"/>
          </a:xfrm>
          <a:prstGeom prst="rect">
            <a:avLst/>
          </a:prstGeom>
          <a:noFill/>
        </p:spPr>
        <p:txBody>
          <a:bodyPr wrap="square">
            <a:spAutoFit/>
          </a:bodyPr>
          <a:lstStyle/>
          <a:p>
            <a:pPr>
              <a:spcAft>
                <a:spcPts val="400"/>
              </a:spcAft>
            </a:pPr>
            <a:r>
              <a:rPr sz="1700" b="0">
                <a:solidFill>
                  <a:srgbClr val="2B4A7D"/>
                </a:solidFill>
                <a:latin typeface="Consolas"/>
              </a:rPr>
              <a:t>NameError: name 'records' is not defined</a:t>
            </a:r>
          </a:p>
        </p:txBody>
      </p:sp>
      <p:sp>
        <p:nvSpPr>
          <p:cNvPr id="5" name="TextBox 4"/>
          <p:cNvSpPr txBox="1"/>
          <p:nvPr/>
        </p:nvSpPr>
        <p:spPr>
          <a:xfrm>
            <a:off x="777240" y="2606040"/>
            <a:ext cx="10607040" cy="1162050"/>
          </a:xfrm>
          <a:prstGeom prst="rect">
            <a:avLst/>
          </a:prstGeom>
          <a:noFill/>
        </p:spPr>
        <p:txBody>
          <a:bodyPr wrap="square">
            <a:spAutoFit/>
          </a:bodyPr>
          <a:lstStyle/>
          <a:p>
            <a:pPr>
              <a:spcAft>
                <a:spcPts val="1000"/>
              </a:spcAft>
            </a:pPr>
            <a:r>
              <a:rPr sz="2100" b="0">
                <a:solidFill>
                  <a:srgbClr val="1C1C1A"/>
                </a:solidFill>
                <a:latin typeface="Calibri"/>
              </a:rPr>
              <a:t>You ran the counting cell before the setup cell, so the name records was never put on the bench and the kernel had nothing to hand your loop.</a:t>
            </a:r>
          </a:p>
          <a:p>
            <a:pPr>
              <a:spcAft>
                <a:spcPts val="1000"/>
              </a:spcAft>
            </a:pPr>
            <a:r>
              <a:rPr sz="2100" b="0">
                <a:solidFill>
                  <a:srgbClr val="1C1C1A"/>
                </a:solidFill>
                <a:latin typeface="Calibri"/>
              </a:rPr>
              <a:t>The error names the exact word it went looking for.</a:t>
            </a:r>
          </a:p>
        </p:txBody>
      </p:sp>
      <p:sp>
        <p:nvSpPr>
          <p:cNvPr id="6" name="TextBox 5"/>
          <p:cNvSpPr txBox="1"/>
          <p:nvPr/>
        </p:nvSpPr>
        <p:spPr>
          <a:xfrm>
            <a:off x="777240" y="6309360"/>
            <a:ext cx="10607040" cy="365760"/>
          </a:xfrm>
          <a:prstGeom prst="rect">
            <a:avLst/>
          </a:prstGeom>
          <a:noFill/>
        </p:spPr>
        <p:txBody>
          <a:bodyPr wrap="none">
            <a:spAutoFit/>
          </a:bodyPr>
          <a:lstStyle/>
          <a:p>
            <a:r>
              <a:rPr sz="1000">
                <a:solidFill>
                  <a:srgbClr val="5F6360"/>
                </a:solidFill>
                <a:latin typeface="Calibri"/>
              </a:rPr>
              <a:t>Week 1 Day 1, half one: the machine that remembers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The recovery drill</a:t>
            </a:r>
          </a:p>
        </p:txBody>
      </p:sp>
      <p:sp>
        <p:nvSpPr>
          <p:cNvPr id="4" name="TextBox 3"/>
          <p:cNvSpPr txBox="1"/>
          <p:nvPr/>
        </p:nvSpPr>
        <p:spPr>
          <a:xfrm>
            <a:off x="777240" y="1965960"/>
            <a:ext cx="10607040" cy="1781175"/>
          </a:xfrm>
          <a:prstGeom prst="rect">
            <a:avLst/>
          </a:prstGeom>
          <a:noFill/>
        </p:spPr>
        <p:txBody>
          <a:bodyPr wrap="square">
            <a:spAutoFit/>
          </a:bodyPr>
          <a:lstStyle/>
          <a:p>
            <a:pPr>
              <a:spcAft>
                <a:spcPts val="1000"/>
              </a:spcAft>
            </a:pPr>
            <a:r>
              <a:rPr sz="2100" b="0">
                <a:solidFill>
                  <a:srgbClr val="1C1C1A"/>
                </a:solidFill>
                <a:latin typeface="Calibri"/>
              </a:rPr>
              <a:t>Restart the kernel, then run all cells from the top. You are back where you were, in a few seconds.</a:t>
            </a:r>
          </a:p>
          <a:p>
            <a:pPr>
              <a:spcAft>
                <a:spcPts val="1000"/>
              </a:spcAft>
            </a:pPr>
            <a:r>
              <a:rPr sz="2100" b="0">
                <a:solidFill>
                  <a:srgbClr val="1C1C1A"/>
                </a:solidFill>
                <a:latin typeface="Calibri"/>
              </a:rPr>
              <a:t>The file on disk never changed. What you lost was the state on the bench, and the cells put that state straight back.</a:t>
            </a:r>
          </a:p>
          <a:p>
            <a:pPr>
              <a:spcAft>
                <a:spcPts val="1000"/>
              </a:spcAft>
            </a:pPr>
            <a:r>
              <a:rPr sz="2100" b="0">
                <a:solidFill>
                  <a:srgbClr val="1C1C1A"/>
                </a:solidFill>
                <a:latin typeface="Calibri"/>
              </a:rPr>
              <a:t>Do the drill now on purpose, because you will do it many times this week.</a:t>
            </a:r>
          </a:p>
        </p:txBody>
      </p:sp>
      <p:sp>
        <p:nvSpPr>
          <p:cNvPr id="5" name="TextBox 4"/>
          <p:cNvSpPr txBox="1"/>
          <p:nvPr/>
        </p:nvSpPr>
        <p:spPr>
          <a:xfrm>
            <a:off x="777240" y="6309360"/>
            <a:ext cx="10607040" cy="365760"/>
          </a:xfrm>
          <a:prstGeom prst="rect">
            <a:avLst/>
          </a:prstGeom>
          <a:noFill/>
        </p:spPr>
        <p:txBody>
          <a:bodyPr wrap="none">
            <a:spAutoFit/>
          </a:bodyPr>
          <a:lstStyle/>
          <a:p>
            <a:r>
              <a:rPr sz="1000">
                <a:solidFill>
                  <a:srgbClr val="5F6360"/>
                </a:solidFill>
                <a:latin typeface="Calibri"/>
              </a:rPr>
              <a:t>Week 1 Day 1, half one: the machine that remembers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Step card, section 2</a:t>
            </a:r>
          </a:p>
        </p:txBody>
      </p:sp>
      <p:sp>
        <p:nvSpPr>
          <p:cNvPr id="4" name="TextBox 3"/>
          <p:cNvSpPr txBox="1"/>
          <p:nvPr/>
        </p:nvSpPr>
        <p:spPr>
          <a:xfrm>
            <a:off x="777240" y="1965960"/>
            <a:ext cx="10607040" cy="1657350"/>
          </a:xfrm>
          <a:prstGeom prst="rect">
            <a:avLst/>
          </a:prstGeom>
          <a:noFill/>
        </p:spPr>
        <p:txBody>
          <a:bodyPr wrap="square">
            <a:spAutoFit/>
          </a:bodyPr>
          <a:lstStyle/>
          <a:p>
            <a:pPr>
              <a:spcAft>
                <a:spcPts val="1000"/>
              </a:spcAft>
            </a:pPr>
            <a:r>
              <a:rPr sz="2100" b="0">
                <a:solidFill>
                  <a:srgbClr val="1C1C1A"/>
                </a:solidFill>
                <a:latin typeface="Calibri"/>
              </a:rPr>
              <a:t>1. The kernel holds what you gave it until you restart it.</a:t>
            </a:r>
          </a:p>
          <a:p>
            <a:pPr>
              <a:spcAft>
                <a:spcPts val="1000"/>
              </a:spcAft>
            </a:pPr>
            <a:r>
              <a:rPr sz="2100" b="0">
                <a:solidFill>
                  <a:srgbClr val="1C1C1A"/>
                </a:solidFill>
                <a:latin typeface="Calibri"/>
              </a:rPr>
              <a:t>2. Run order is what the kernel sees, and screen order is what you see.</a:t>
            </a:r>
          </a:p>
          <a:p>
            <a:pPr>
              <a:spcAft>
                <a:spcPts val="1000"/>
              </a:spcAft>
            </a:pPr>
            <a:r>
              <a:rPr sz="2100" b="0">
                <a:solidFill>
                  <a:srgbClr val="1C1C1A"/>
                </a:solidFill>
                <a:latin typeface="Calibri"/>
              </a:rPr>
              <a:t>3. Read the execution counter first when an output surprises you.</a:t>
            </a:r>
          </a:p>
          <a:p>
            <a:pPr>
              <a:spcAft>
                <a:spcPts val="1000"/>
              </a:spcAft>
            </a:pPr>
            <a:r>
              <a:rPr sz="2100" b="0">
                <a:solidFill>
                  <a:srgbClr val="1C1C1A"/>
                </a:solidFill>
                <a:latin typeface="Calibri"/>
              </a:rPr>
              <a:t>4. Restart and run all is the recovery, and it costs you seconds.</a:t>
            </a:r>
          </a:p>
        </p:txBody>
      </p:sp>
      <p:sp>
        <p:nvSpPr>
          <p:cNvPr id="5" name="TextBox 4"/>
          <p:cNvSpPr txBox="1"/>
          <p:nvPr/>
        </p:nvSpPr>
        <p:spPr>
          <a:xfrm>
            <a:off x="777240" y="6309360"/>
            <a:ext cx="10607040" cy="365760"/>
          </a:xfrm>
          <a:prstGeom prst="rect">
            <a:avLst/>
          </a:prstGeom>
          <a:noFill/>
        </p:spPr>
        <p:txBody>
          <a:bodyPr wrap="none">
            <a:spAutoFit/>
          </a:bodyPr>
          <a:lstStyle/>
          <a:p>
            <a:r>
              <a:rPr sz="1000">
                <a:solidFill>
                  <a:srgbClr val="5F6360"/>
                </a:solidFill>
                <a:latin typeface="Calibri"/>
              </a:rPr>
              <a:t>Week 1 Day 1, half one: the machine that remembers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pPr algn="ctr"/>
            <a:r>
              <a:rPr sz="3600" b="1">
                <a:solidFill>
                  <a:srgbClr val="FFFFFF"/>
                </a:solidFill>
                <a:latin typeface="Calibri"/>
              </a:rPr>
              <a:t>SECTION 3: TYPE DECIDES</a:t>
            </a:r>
          </a:p>
        </p:txBody>
      </p:sp>
      <p:sp>
        <p:nvSpPr>
          <p:cNvPr id="4" name="TextBox 3"/>
          <p:cNvSpPr txBox="1"/>
          <p:nvPr/>
        </p:nvSpPr>
        <p:spPr>
          <a:xfrm>
            <a:off x="777240" y="1965960"/>
            <a:ext cx="10607040" cy="790575"/>
          </a:xfrm>
          <a:prstGeom prst="rect">
            <a:avLst/>
          </a:prstGeom>
          <a:noFill/>
        </p:spPr>
        <p:txBody>
          <a:bodyPr wrap="square">
            <a:spAutoFit/>
          </a:bodyPr>
          <a:lstStyle/>
          <a:p>
            <a:pPr algn="ctr">
              <a:spcAft>
                <a:spcPts val="1000"/>
              </a:spcAft>
            </a:pPr>
            <a:r>
              <a:rPr sz="2100" b="0">
                <a:solidFill>
                  <a:srgbClr val="FFFFFF"/>
                </a:solidFill>
                <a:latin typeface="Calibri"/>
              </a:rPr>
              <a:t>[open the workbench] &gt; [the kernel remembers] &gt; </a:t>
            </a:r>
            <a:r>
              <a:rPr sz="2100" b="1">
                <a:solidFill>
                  <a:srgbClr val="FFFFFF"/>
                </a:solidFill>
                <a:latin typeface="Calibri"/>
              </a:rPr>
              <a:t>[type decides]</a:t>
            </a:r>
            <a:r>
              <a:rPr sz="2100" b="0">
                <a:solidFill>
                  <a:srgbClr val="FFFFFF"/>
                </a:solidFill>
                <a:latin typeface="Calibri"/>
              </a:rPr>
              <a:t> &gt; [walk the records] &gt; [the business answer]</a:t>
            </a:r>
          </a:p>
        </p:txBody>
      </p:sp>
      <p:sp>
        <p:nvSpPr>
          <p:cNvPr id="5" name="TextBox 4"/>
          <p:cNvSpPr txBox="1"/>
          <p:nvPr/>
        </p:nvSpPr>
        <p:spPr>
          <a:xfrm>
            <a:off x="777240" y="6309360"/>
            <a:ext cx="10607040" cy="365760"/>
          </a:xfrm>
          <a:prstGeom prst="rect">
            <a:avLst/>
          </a:prstGeom>
          <a:noFill/>
        </p:spPr>
        <p:txBody>
          <a:bodyPr wrap="none">
            <a:spAutoFit/>
          </a:bodyPr>
          <a:lstStyle/>
          <a:p>
            <a:r>
              <a:rPr sz="1000">
                <a:solidFill>
                  <a:srgbClr val="5F6360"/>
                </a:solidFill>
                <a:latin typeface="Calibri"/>
              </a:rPr>
              <a:t>Week 1 Day 1, half one: the machine that remembers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Four types you meet today</a:t>
            </a:r>
          </a:p>
        </p:txBody>
      </p:sp>
      <p:sp>
        <p:nvSpPr>
          <p:cNvPr id="4" name="TextBox 3"/>
          <p:cNvSpPr txBox="1"/>
          <p:nvPr/>
        </p:nvSpPr>
        <p:spPr>
          <a:xfrm>
            <a:off x="777240" y="1965960"/>
            <a:ext cx="10607040" cy="1657350"/>
          </a:xfrm>
          <a:prstGeom prst="rect">
            <a:avLst/>
          </a:prstGeom>
          <a:noFill/>
        </p:spPr>
        <p:txBody>
          <a:bodyPr wrap="square">
            <a:spAutoFit/>
          </a:bodyPr>
          <a:lstStyle/>
          <a:p>
            <a:pPr>
              <a:spcAft>
                <a:spcPts val="1000"/>
              </a:spcAft>
            </a:pPr>
            <a:r>
              <a:rPr sz="2100" b="0">
                <a:solidFill>
                  <a:srgbClr val="1C1C1A"/>
                </a:solidFill>
                <a:latin typeface="Calibri"/>
              </a:rPr>
              <a:t>str holds text, like the order id "KR4224" and the status "delivered".</a:t>
            </a:r>
          </a:p>
          <a:p>
            <a:pPr>
              <a:spcAft>
                <a:spcPts val="1000"/>
              </a:spcAft>
            </a:pPr>
            <a:r>
              <a:rPr sz="2100" b="0">
                <a:solidFill>
                  <a:srgbClr val="1C1C1A"/>
                </a:solidFill>
                <a:latin typeface="Calibri"/>
              </a:rPr>
              <a:t>int holds a whole number, like the amount 1460.</a:t>
            </a:r>
          </a:p>
          <a:p>
            <a:pPr>
              <a:spcAft>
                <a:spcPts val="1000"/>
              </a:spcAft>
            </a:pPr>
            <a:r>
              <a:rPr sz="2100" b="0">
                <a:solidFill>
                  <a:srgbClr val="1C1C1A"/>
                </a:solidFill>
                <a:latin typeface="Calibri"/>
              </a:rPr>
              <a:t>float holds a number with a decimal part, like 1460.5.</a:t>
            </a:r>
          </a:p>
          <a:p>
            <a:pPr>
              <a:spcAft>
                <a:spcPts val="1000"/>
              </a:spcAft>
            </a:pPr>
            <a:r>
              <a:rPr sz="2100" b="0">
                <a:solidFill>
                  <a:srgbClr val="1C1C1A"/>
                </a:solidFill>
                <a:latin typeface="Calibri"/>
              </a:rPr>
              <a:t>bool holds True or False, which is what every comparison hands back.</a:t>
            </a:r>
          </a:p>
        </p:txBody>
      </p:sp>
      <p:sp>
        <p:nvSpPr>
          <p:cNvPr id="5" name="TextBox 4"/>
          <p:cNvSpPr txBox="1"/>
          <p:nvPr/>
        </p:nvSpPr>
        <p:spPr>
          <a:xfrm>
            <a:off x="777240" y="6309360"/>
            <a:ext cx="10607040" cy="365760"/>
          </a:xfrm>
          <a:prstGeom prst="rect">
            <a:avLst/>
          </a:prstGeom>
          <a:noFill/>
        </p:spPr>
        <p:txBody>
          <a:bodyPr wrap="none">
            <a:spAutoFit/>
          </a:bodyPr>
          <a:lstStyle/>
          <a:p>
            <a:r>
              <a:rPr sz="1000">
                <a:solidFill>
                  <a:srgbClr val="5F6360"/>
                </a:solidFill>
                <a:latin typeface="Calibri"/>
              </a:rPr>
              <a:t>Week 1 Day 1, half one: the machine that remembers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type() is the question you ask</a:t>
            </a:r>
          </a:p>
        </p:txBody>
      </p:sp>
      <p:sp>
        <p:nvSpPr>
          <p:cNvPr id="4" name="TextBox 3"/>
          <p:cNvSpPr txBox="1"/>
          <p:nvPr/>
        </p:nvSpPr>
        <p:spPr>
          <a:xfrm>
            <a:off x="777240" y="1965960"/>
            <a:ext cx="10607040" cy="1162050"/>
          </a:xfrm>
          <a:prstGeom prst="rect">
            <a:avLst/>
          </a:prstGeom>
          <a:noFill/>
        </p:spPr>
        <p:txBody>
          <a:bodyPr wrap="square">
            <a:spAutoFit/>
          </a:bodyPr>
          <a:lstStyle/>
          <a:p>
            <a:pPr>
              <a:spcAft>
                <a:spcPts val="400"/>
              </a:spcAft>
            </a:pPr>
            <a:r>
              <a:rPr sz="1700" b="0">
                <a:solidFill>
                  <a:srgbClr val="2B4A7D"/>
                </a:solidFill>
                <a:latin typeface="Consolas"/>
              </a:rPr>
              <a:t>type("4500")        &lt;class 'str'&gt;</a:t>
            </a:r>
          </a:p>
          <a:p>
            <a:pPr>
              <a:spcAft>
                <a:spcPts val="400"/>
              </a:spcAft>
            </a:pPr>
            <a:r>
              <a:rPr sz="1700" b="0">
                <a:solidFill>
                  <a:srgbClr val="2B4A7D"/>
                </a:solidFill>
                <a:latin typeface="Consolas"/>
              </a:rPr>
              <a:t>type(4500)          &lt;class 'int'&gt;</a:t>
            </a:r>
          </a:p>
          <a:p>
            <a:pPr>
              <a:spcAft>
                <a:spcPts val="400"/>
              </a:spcAft>
            </a:pPr>
            <a:r>
              <a:rPr sz="1700" b="0">
                <a:solidFill>
                  <a:srgbClr val="2B4A7D"/>
                </a:solidFill>
                <a:latin typeface="Consolas"/>
              </a:rPr>
              <a:t>type(4500.0)        &lt;class 'float'&gt;</a:t>
            </a:r>
          </a:p>
          <a:p>
            <a:pPr>
              <a:spcAft>
                <a:spcPts val="400"/>
              </a:spcAft>
            </a:pPr>
            <a:r>
              <a:rPr sz="1700" b="0">
                <a:solidFill>
                  <a:srgbClr val="2B4A7D"/>
                </a:solidFill>
                <a:latin typeface="Consolas"/>
              </a:rPr>
              <a:t>type(4500 &gt; 2000)   &lt;class 'bool'&gt;</a:t>
            </a:r>
          </a:p>
        </p:txBody>
      </p:sp>
      <p:sp>
        <p:nvSpPr>
          <p:cNvPr id="5" name="TextBox 4"/>
          <p:cNvSpPr txBox="1"/>
          <p:nvPr/>
        </p:nvSpPr>
        <p:spPr>
          <a:xfrm>
            <a:off x="777240" y="3265169"/>
            <a:ext cx="10607040" cy="790575"/>
          </a:xfrm>
          <a:prstGeom prst="rect">
            <a:avLst/>
          </a:prstGeom>
          <a:noFill/>
        </p:spPr>
        <p:txBody>
          <a:bodyPr wrap="square">
            <a:spAutoFit/>
          </a:bodyPr>
          <a:lstStyle/>
          <a:p>
            <a:pPr>
              <a:spcAft>
                <a:spcPts val="1000"/>
              </a:spcAft>
            </a:pPr>
            <a:r>
              <a:rPr sz="2100" b="0">
                <a:solidFill>
                  <a:srgbClr val="1C1C1A"/>
                </a:solidFill>
                <a:latin typeface="Calibri"/>
              </a:rPr>
              <a:t>When an operator behaves in a way you did not expect, ask the value what it is before you change any code.</a:t>
            </a:r>
          </a:p>
        </p:txBody>
      </p:sp>
      <p:sp>
        <p:nvSpPr>
          <p:cNvPr id="6" name="TextBox 5"/>
          <p:cNvSpPr txBox="1"/>
          <p:nvPr/>
        </p:nvSpPr>
        <p:spPr>
          <a:xfrm>
            <a:off x="777240" y="6309360"/>
            <a:ext cx="10607040" cy="365760"/>
          </a:xfrm>
          <a:prstGeom prst="rect">
            <a:avLst/>
          </a:prstGeom>
          <a:noFill/>
        </p:spPr>
        <p:txBody>
          <a:bodyPr wrap="none">
            <a:spAutoFit/>
          </a:bodyPr>
          <a:lstStyle/>
          <a:p>
            <a:r>
              <a:rPr sz="1000">
                <a:solidFill>
                  <a:srgbClr val="5F6360"/>
                </a:solidFill>
                <a:latin typeface="Calibri"/>
              </a:rPr>
              <a:t>Week 1 Day 1, half one: the machine that remembers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Look at the record</a:t>
            </a:r>
          </a:p>
        </p:txBody>
      </p:sp>
      <p:sp>
        <p:nvSpPr>
          <p:cNvPr id="4" name="TextBox 3"/>
          <p:cNvSpPr txBox="1"/>
          <p:nvPr/>
        </p:nvSpPr>
        <p:spPr>
          <a:xfrm>
            <a:off x="777240" y="1965960"/>
            <a:ext cx="10607040" cy="1066800"/>
          </a:xfrm>
          <a:prstGeom prst="rect">
            <a:avLst/>
          </a:prstGeom>
          <a:noFill/>
        </p:spPr>
        <p:txBody>
          <a:bodyPr wrap="square">
            <a:spAutoFit/>
          </a:bodyPr>
          <a:lstStyle/>
          <a:p>
            <a:pPr>
              <a:spcAft>
                <a:spcPts val="400"/>
              </a:spcAft>
            </a:pPr>
            <a:r>
              <a:rPr sz="1700" b="0">
                <a:solidFill>
                  <a:srgbClr val="2B4A7D"/>
                </a:solidFill>
                <a:latin typeface="Consolas"/>
              </a:rPr>
              <a:t>{"order_id": "KR4200", "segment": "Retail-Core", "amount": "4500", "status": "returned", "order_date": "2026-08-03"}</a:t>
            </a:r>
          </a:p>
          <a:p>
            <a:pPr>
              <a:spcAft>
                <a:spcPts val="400"/>
              </a:spcAft>
            </a:pPr>
            <a:r>
              <a:rPr sz="1700" b="0">
                <a:solidFill>
                  <a:srgbClr val="2B4A7D"/>
                </a:solidFill>
                <a:latin typeface="Consolas"/>
              </a:rPr>
              <a:t>{"order_id": "KR4201", "segment": "Retail-Plus", "amount": 2395, "status": "delivered", "order_date": "2026-08-03"}</a:t>
            </a:r>
          </a:p>
        </p:txBody>
      </p:sp>
      <p:sp>
        <p:nvSpPr>
          <p:cNvPr id="5" name="TextBox 4"/>
          <p:cNvSpPr txBox="1"/>
          <p:nvPr/>
        </p:nvSpPr>
        <p:spPr>
          <a:xfrm>
            <a:off x="777240" y="3169920"/>
            <a:ext cx="10607040" cy="914400"/>
          </a:xfrm>
          <a:prstGeom prst="rect">
            <a:avLst/>
          </a:prstGeom>
          <a:noFill/>
        </p:spPr>
        <p:txBody>
          <a:bodyPr wrap="square">
            <a:spAutoFit/>
          </a:bodyPr>
          <a:lstStyle/>
          <a:p>
            <a:pPr>
              <a:spcAft>
                <a:spcPts val="1000"/>
              </a:spcAft>
            </a:pPr>
            <a:r>
              <a:rPr sz="2100" b="0">
                <a:solidFill>
                  <a:srgbClr val="1C1C1A"/>
                </a:solidFill>
                <a:latin typeface="Calibri"/>
              </a:rPr>
              <a:t>One of those two amounts is wearing quotes. Read the two lines again and find it.</a:t>
            </a:r>
          </a:p>
          <a:p>
            <a:pPr>
              <a:spcAft>
                <a:spcPts val="1000"/>
              </a:spcAft>
            </a:pPr>
            <a:r>
              <a:rPr sz="2100" b="0">
                <a:solidFill>
                  <a:srgbClr val="1C1C1A"/>
                </a:solidFill>
                <a:latin typeface="Calibri"/>
              </a:rPr>
              <a:t>KR4200 stores its amount as the text "4500", and it is the largest amount in the file.</a:t>
            </a:r>
          </a:p>
        </p:txBody>
      </p:sp>
      <p:sp>
        <p:nvSpPr>
          <p:cNvPr id="6" name="TextBox 5"/>
          <p:cNvSpPr txBox="1"/>
          <p:nvPr/>
        </p:nvSpPr>
        <p:spPr>
          <a:xfrm>
            <a:off x="777240" y="6309360"/>
            <a:ext cx="10607040" cy="365760"/>
          </a:xfrm>
          <a:prstGeom prst="rect">
            <a:avLst/>
          </a:prstGeom>
          <a:noFill/>
        </p:spPr>
        <p:txBody>
          <a:bodyPr wrap="none">
            <a:spAutoFit/>
          </a:bodyPr>
          <a:lstStyle/>
          <a:p>
            <a:r>
              <a:rPr sz="1000">
                <a:solidFill>
                  <a:srgbClr val="5F6360"/>
                </a:solidFill>
                <a:latin typeface="Calibri"/>
              </a:rPr>
              <a:t>Week 1 Day 1, half one: the machine that remembers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The break</a:t>
            </a:r>
          </a:p>
        </p:txBody>
      </p:sp>
      <p:sp>
        <p:nvSpPr>
          <p:cNvPr id="4" name="TextBox 3"/>
          <p:cNvSpPr txBox="1"/>
          <p:nvPr/>
        </p:nvSpPr>
        <p:spPr>
          <a:xfrm>
            <a:off x="777240" y="1965960"/>
            <a:ext cx="10607040" cy="666750"/>
          </a:xfrm>
          <a:prstGeom prst="rect">
            <a:avLst/>
          </a:prstGeom>
          <a:noFill/>
        </p:spPr>
        <p:txBody>
          <a:bodyPr wrap="square">
            <a:spAutoFit/>
          </a:bodyPr>
          <a:lstStyle/>
          <a:p>
            <a:pPr>
              <a:spcAft>
                <a:spcPts val="400"/>
              </a:spcAft>
            </a:pPr>
            <a:r>
              <a:rPr sz="1700" b="0">
                <a:solidFill>
                  <a:srgbClr val="2B4A7D"/>
                </a:solidFill>
                <a:latin typeface="Consolas"/>
              </a:rPr>
              <a:t>amount = "4500"</a:t>
            </a:r>
          </a:p>
          <a:p>
            <a:pPr>
              <a:spcAft>
                <a:spcPts val="400"/>
              </a:spcAft>
            </a:pPr>
            <a:r>
              <a:rPr sz="1700" b="0">
                <a:solidFill>
                  <a:srgbClr val="2B4A7D"/>
                </a:solidFill>
                <a:latin typeface="Consolas"/>
              </a:rPr>
              <a:t>amount &gt; 2000</a:t>
            </a:r>
          </a:p>
        </p:txBody>
      </p:sp>
      <p:sp>
        <p:nvSpPr>
          <p:cNvPr id="5" name="TextBox 4"/>
          <p:cNvSpPr txBox="1"/>
          <p:nvPr/>
        </p:nvSpPr>
        <p:spPr>
          <a:xfrm>
            <a:off x="777240" y="2769870"/>
            <a:ext cx="10607040" cy="502920"/>
          </a:xfrm>
          <a:prstGeom prst="rect">
            <a:avLst/>
          </a:prstGeom>
          <a:noFill/>
        </p:spPr>
        <p:txBody>
          <a:bodyPr wrap="square">
            <a:spAutoFit/>
          </a:bodyPr>
          <a:lstStyle/>
          <a:p>
            <a:pPr>
              <a:spcAft>
                <a:spcPts val="400"/>
              </a:spcAft>
            </a:pPr>
            <a:r>
              <a:rPr sz="1700" b="0">
                <a:solidFill>
                  <a:srgbClr val="2B4A7D"/>
                </a:solidFill>
                <a:latin typeface="Consolas"/>
              </a:rPr>
              <a:t>TypeError: '&gt;' not supported between instances of 'str' and 'int'</a:t>
            </a:r>
          </a:p>
        </p:txBody>
      </p:sp>
      <p:sp>
        <p:nvSpPr>
          <p:cNvPr id="6" name="TextBox 5"/>
          <p:cNvSpPr txBox="1"/>
          <p:nvPr/>
        </p:nvSpPr>
        <p:spPr>
          <a:xfrm>
            <a:off x="777240" y="3409950"/>
            <a:ext cx="10607040" cy="790575"/>
          </a:xfrm>
          <a:prstGeom prst="rect">
            <a:avLst/>
          </a:prstGeom>
          <a:noFill/>
        </p:spPr>
        <p:txBody>
          <a:bodyPr wrap="square">
            <a:spAutoFit/>
          </a:bodyPr>
          <a:lstStyle/>
          <a:p>
            <a:pPr>
              <a:spcAft>
                <a:spcPts val="1000"/>
              </a:spcAft>
            </a:pPr>
            <a:r>
              <a:rPr sz="2100" b="0">
                <a:solidFill>
                  <a:srgbClr val="1C1C1A"/>
                </a:solidFill>
                <a:latin typeface="Calibri"/>
              </a:rPr>
              <a:t>Python was asked whether a piece of text is greater than a number. It stopped and named both types it was holding.</a:t>
            </a:r>
          </a:p>
        </p:txBody>
      </p:sp>
      <p:sp>
        <p:nvSpPr>
          <p:cNvPr id="7" name="TextBox 6"/>
          <p:cNvSpPr txBox="1"/>
          <p:nvPr/>
        </p:nvSpPr>
        <p:spPr>
          <a:xfrm>
            <a:off x="777240" y="6309360"/>
            <a:ext cx="10607040" cy="365760"/>
          </a:xfrm>
          <a:prstGeom prst="rect">
            <a:avLst/>
          </a:prstGeom>
          <a:noFill/>
        </p:spPr>
        <p:txBody>
          <a:bodyPr wrap="none">
            <a:spAutoFit/>
          </a:bodyPr>
          <a:lstStyle/>
          <a:p>
            <a:r>
              <a:rPr sz="1000">
                <a:solidFill>
                  <a:srgbClr val="5F6360"/>
                </a:solidFill>
                <a:latin typeface="Calibri"/>
              </a:rPr>
              <a:t>Week 1 Day 1, half one: the machine that remembers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From the field</a:t>
            </a:r>
          </a:p>
        </p:txBody>
      </p:sp>
      <p:sp>
        <p:nvSpPr>
          <p:cNvPr id="4" name="TextBox 3"/>
          <p:cNvSpPr txBox="1"/>
          <p:nvPr/>
        </p:nvSpPr>
        <p:spPr>
          <a:xfrm>
            <a:off x="777240" y="1965960"/>
            <a:ext cx="10607040" cy="1162050"/>
          </a:xfrm>
          <a:prstGeom prst="rect">
            <a:avLst/>
          </a:prstGeom>
          <a:noFill/>
        </p:spPr>
        <p:txBody>
          <a:bodyPr wrap="square">
            <a:spAutoFit/>
          </a:bodyPr>
          <a:lstStyle/>
          <a:p>
            <a:pPr>
              <a:spcAft>
                <a:spcPts val="1000"/>
              </a:spcAft>
            </a:pPr>
            <a:r>
              <a:rPr sz="2100" b="0">
                <a:solidFill>
                  <a:srgbClr val="1C1C1A"/>
                </a:solidFill>
                <a:latin typeface="Calibri"/>
              </a:rPr>
              <a:t>Mars Climate Orbiter, 1999. A value crossed a system boundary in the wrong unit, nothing validated it, and the mission, about USD 327 million, was lost.</a:t>
            </a:r>
          </a:p>
          <a:p>
            <a:pPr>
              <a:spcAft>
                <a:spcPts val="1000"/>
              </a:spcAft>
            </a:pPr>
            <a:r>
              <a:rPr sz="2100" b="0">
                <a:solidFill>
                  <a:srgbClr val="1C1C1A"/>
                </a:solidFill>
                <a:latin typeface="Calibri"/>
              </a:rPr>
              <a:t>Today's type discipline is the small version of that lesson.</a:t>
            </a:r>
          </a:p>
        </p:txBody>
      </p:sp>
      <p:sp>
        <p:nvSpPr>
          <p:cNvPr id="5" name="TextBox 4"/>
          <p:cNvSpPr txBox="1"/>
          <p:nvPr/>
        </p:nvSpPr>
        <p:spPr>
          <a:xfrm>
            <a:off x="777240" y="6309360"/>
            <a:ext cx="10607040" cy="365760"/>
          </a:xfrm>
          <a:prstGeom prst="rect">
            <a:avLst/>
          </a:prstGeom>
          <a:noFill/>
        </p:spPr>
        <p:txBody>
          <a:bodyPr wrap="none">
            <a:spAutoFit/>
          </a:bodyPr>
          <a:lstStyle/>
          <a:p>
            <a:r>
              <a:rPr sz="1000">
                <a:solidFill>
                  <a:srgbClr val="5F6360"/>
                </a:solidFill>
                <a:latin typeface="Calibri"/>
              </a:rPr>
              <a:t>Week 1 Day 1, half one: the machine that remembers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Refusing beats guessing</a:t>
            </a:r>
          </a:p>
        </p:txBody>
      </p:sp>
      <p:sp>
        <p:nvSpPr>
          <p:cNvPr id="4" name="TextBox 3"/>
          <p:cNvSpPr txBox="1"/>
          <p:nvPr/>
        </p:nvSpPr>
        <p:spPr>
          <a:xfrm>
            <a:off x="777240" y="1965960"/>
            <a:ext cx="10607040" cy="1781175"/>
          </a:xfrm>
          <a:prstGeom prst="rect">
            <a:avLst/>
          </a:prstGeom>
          <a:noFill/>
        </p:spPr>
        <p:txBody>
          <a:bodyPr wrap="square">
            <a:spAutoFit/>
          </a:bodyPr>
          <a:lstStyle/>
          <a:p>
            <a:pPr>
              <a:spcAft>
                <a:spcPts val="1000"/>
              </a:spcAft>
            </a:pPr>
            <a:r>
              <a:rPr sz="2100" b="0">
                <a:solidFill>
                  <a:srgbClr val="1C1C1A"/>
                </a:solidFill>
                <a:latin typeface="Calibri"/>
              </a:rPr>
              <a:t>A spreadsheet would place that text amount somewhere in the sort order and show you a number with no warning attached to it.</a:t>
            </a:r>
          </a:p>
          <a:p>
            <a:pPr>
              <a:spcAft>
                <a:spcPts val="1000"/>
              </a:spcAft>
            </a:pPr>
            <a:r>
              <a:rPr sz="2100" b="0">
                <a:solidFill>
                  <a:srgbClr val="1C1C1A"/>
                </a:solidFill>
                <a:latin typeface="Calibri"/>
              </a:rPr>
              <a:t>Python refuses the comparison and tells you which two types it was holding. You lose ten seconds and you keep the truth.</a:t>
            </a:r>
          </a:p>
          <a:p>
            <a:pPr>
              <a:spcAft>
                <a:spcPts val="1000"/>
              </a:spcAft>
            </a:pPr>
            <a:r>
              <a:rPr sz="2100" b="0">
                <a:solidFill>
                  <a:srgbClr val="1C1C1A"/>
                </a:solidFill>
                <a:latin typeface="Calibri"/>
              </a:rPr>
              <a:t>That is your answer when someone asks why the error was the good outcome.</a:t>
            </a:r>
          </a:p>
        </p:txBody>
      </p:sp>
      <p:sp>
        <p:nvSpPr>
          <p:cNvPr id="5" name="TextBox 4"/>
          <p:cNvSpPr txBox="1"/>
          <p:nvPr/>
        </p:nvSpPr>
        <p:spPr>
          <a:xfrm>
            <a:off x="777240" y="6309360"/>
            <a:ext cx="10607040" cy="365760"/>
          </a:xfrm>
          <a:prstGeom prst="rect">
            <a:avLst/>
          </a:prstGeom>
          <a:noFill/>
        </p:spPr>
        <p:txBody>
          <a:bodyPr wrap="none">
            <a:spAutoFit/>
          </a:bodyPr>
          <a:lstStyle/>
          <a:p>
            <a:r>
              <a:rPr sz="1000">
                <a:solidFill>
                  <a:srgbClr val="5F6360"/>
                </a:solidFill>
                <a:latin typeface="Calibri"/>
              </a:rPr>
              <a:t>Week 1 Day 1, half one: the machine that remembers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Comparison operators</a:t>
            </a:r>
          </a:p>
        </p:txBody>
      </p:sp>
      <p:sp>
        <p:nvSpPr>
          <p:cNvPr id="4" name="TextBox 3"/>
          <p:cNvSpPr txBox="1"/>
          <p:nvPr/>
        </p:nvSpPr>
        <p:spPr>
          <a:xfrm>
            <a:off x="777240" y="1965960"/>
            <a:ext cx="10607040" cy="1162050"/>
          </a:xfrm>
          <a:prstGeom prst="rect">
            <a:avLst/>
          </a:prstGeom>
          <a:noFill/>
        </p:spPr>
        <p:txBody>
          <a:bodyPr wrap="square">
            <a:spAutoFit/>
          </a:bodyPr>
          <a:lstStyle/>
          <a:p>
            <a:pPr>
              <a:spcAft>
                <a:spcPts val="400"/>
              </a:spcAft>
            </a:pPr>
            <a:r>
              <a:rPr sz="1700" b="0">
                <a:solidFill>
                  <a:srgbClr val="2B4A7D"/>
                </a:solidFill>
                <a:latin typeface="Consolas"/>
              </a:rPr>
              <a:t>2395 &gt; 2000                   True</a:t>
            </a:r>
          </a:p>
          <a:p>
            <a:pPr>
              <a:spcAft>
                <a:spcPts val="400"/>
              </a:spcAft>
            </a:pPr>
            <a:r>
              <a:rPr sz="1700" b="0">
                <a:solidFill>
                  <a:srgbClr val="2B4A7D"/>
                </a:solidFill>
                <a:latin typeface="Consolas"/>
              </a:rPr>
              <a:t>2395 &gt;= 2395                  True</a:t>
            </a:r>
          </a:p>
          <a:p>
            <a:pPr>
              <a:spcAft>
                <a:spcPts val="400"/>
              </a:spcAft>
            </a:pPr>
            <a:r>
              <a:rPr sz="1700" b="0">
                <a:solidFill>
                  <a:srgbClr val="2B4A7D"/>
                </a:solidFill>
                <a:latin typeface="Consolas"/>
              </a:rPr>
              <a:t>"delivered" == "delivered"    True</a:t>
            </a:r>
          </a:p>
          <a:p>
            <a:pPr>
              <a:spcAft>
                <a:spcPts val="400"/>
              </a:spcAft>
            </a:pPr>
            <a:r>
              <a:rPr sz="1700" b="0">
                <a:solidFill>
                  <a:srgbClr val="2B4A7D"/>
                </a:solidFill>
                <a:latin typeface="Consolas"/>
              </a:rPr>
              <a:t>"delivered" != "returned"     True</a:t>
            </a:r>
          </a:p>
        </p:txBody>
      </p:sp>
      <p:sp>
        <p:nvSpPr>
          <p:cNvPr id="5" name="TextBox 4"/>
          <p:cNvSpPr txBox="1"/>
          <p:nvPr/>
        </p:nvSpPr>
        <p:spPr>
          <a:xfrm>
            <a:off x="777240" y="3265169"/>
            <a:ext cx="10607040" cy="542925"/>
          </a:xfrm>
          <a:prstGeom prst="rect">
            <a:avLst/>
          </a:prstGeom>
          <a:noFill/>
        </p:spPr>
        <p:txBody>
          <a:bodyPr wrap="square">
            <a:spAutoFit/>
          </a:bodyPr>
          <a:lstStyle/>
          <a:p>
            <a:pPr>
              <a:spcAft>
                <a:spcPts val="1000"/>
              </a:spcAft>
            </a:pPr>
            <a:r>
              <a:rPr sz="2100" b="0">
                <a:solidFill>
                  <a:srgbClr val="1C1C1A"/>
                </a:solidFill>
                <a:latin typeface="Calibri"/>
              </a:rPr>
              <a:t>Each of these hands back a bool, and the if statement reads that bool and nothing else.</a:t>
            </a:r>
          </a:p>
        </p:txBody>
      </p:sp>
      <p:sp>
        <p:nvSpPr>
          <p:cNvPr id="6" name="TextBox 5"/>
          <p:cNvSpPr txBox="1"/>
          <p:nvPr/>
        </p:nvSpPr>
        <p:spPr>
          <a:xfrm>
            <a:off x="777240" y="6309360"/>
            <a:ext cx="10607040" cy="365760"/>
          </a:xfrm>
          <a:prstGeom prst="rect">
            <a:avLst/>
          </a:prstGeom>
          <a:noFill/>
        </p:spPr>
        <p:txBody>
          <a:bodyPr wrap="none">
            <a:spAutoFit/>
          </a:bodyPr>
          <a:lstStyle/>
          <a:p>
            <a:r>
              <a:rPr sz="1000">
                <a:solidFill>
                  <a:srgbClr val="5F6360"/>
                </a:solidFill>
                <a:latin typeface="Calibri"/>
              </a:rPr>
              <a:t>Week 1 Day 1, half one: the machine that remembers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if, elif and else</a:t>
            </a:r>
          </a:p>
        </p:txBody>
      </p:sp>
      <p:sp>
        <p:nvSpPr>
          <p:cNvPr id="4" name="TextBox 3"/>
          <p:cNvSpPr txBox="1"/>
          <p:nvPr/>
        </p:nvSpPr>
        <p:spPr>
          <a:xfrm>
            <a:off x="777240" y="1965960"/>
            <a:ext cx="10607040" cy="1905000"/>
          </a:xfrm>
          <a:prstGeom prst="rect">
            <a:avLst/>
          </a:prstGeom>
          <a:noFill/>
        </p:spPr>
        <p:txBody>
          <a:bodyPr wrap="square">
            <a:spAutoFit/>
          </a:bodyPr>
          <a:lstStyle/>
          <a:p>
            <a:pPr>
              <a:spcAft>
                <a:spcPts val="400"/>
              </a:spcAft>
            </a:pPr>
            <a:r>
              <a:rPr sz="1700" b="0">
                <a:solidFill>
                  <a:srgbClr val="2B4A7D"/>
                </a:solidFill>
                <a:latin typeface="Consolas"/>
              </a:rPr>
              <a:t>amount = 1460</a:t>
            </a:r>
          </a:p>
          <a:p>
            <a:pPr>
              <a:spcAft>
                <a:spcPts val="400"/>
              </a:spcAft>
            </a:pPr>
            <a:r>
              <a:rPr sz="1700" b="0">
                <a:solidFill>
                  <a:srgbClr val="2B4A7D"/>
                </a:solidFill>
                <a:latin typeface="Consolas"/>
              </a:rPr>
              <a:t>if amount &gt; 2000:</a:t>
            </a:r>
          </a:p>
          <a:p>
            <a:pPr>
              <a:spcAft>
                <a:spcPts val="400"/>
              </a:spcAft>
            </a:pPr>
            <a:r>
              <a:rPr sz="1700" b="0">
                <a:solidFill>
                  <a:srgbClr val="2B4A7D"/>
                </a:solidFill>
                <a:latin typeface="Consolas"/>
              </a:rPr>
              <a:t>    band = "large"</a:t>
            </a:r>
          </a:p>
          <a:p>
            <a:pPr>
              <a:spcAft>
                <a:spcPts val="400"/>
              </a:spcAft>
            </a:pPr>
            <a:r>
              <a:rPr sz="1700" b="0">
                <a:solidFill>
                  <a:srgbClr val="2B4A7D"/>
                </a:solidFill>
                <a:latin typeface="Consolas"/>
              </a:rPr>
              <a:t>elif amount &gt; 1500:</a:t>
            </a:r>
          </a:p>
          <a:p>
            <a:pPr>
              <a:spcAft>
                <a:spcPts val="400"/>
              </a:spcAft>
            </a:pPr>
            <a:r>
              <a:rPr sz="1700" b="0">
                <a:solidFill>
                  <a:srgbClr val="2B4A7D"/>
                </a:solidFill>
                <a:latin typeface="Consolas"/>
              </a:rPr>
              <a:t>    band = "medium"</a:t>
            </a:r>
          </a:p>
          <a:p>
            <a:pPr>
              <a:spcAft>
                <a:spcPts val="400"/>
              </a:spcAft>
            </a:pPr>
            <a:r>
              <a:rPr sz="1700" b="0">
                <a:solidFill>
                  <a:srgbClr val="2B4A7D"/>
                </a:solidFill>
                <a:latin typeface="Consolas"/>
              </a:rPr>
              <a:t>else:</a:t>
            </a:r>
          </a:p>
          <a:p>
            <a:pPr>
              <a:spcAft>
                <a:spcPts val="400"/>
              </a:spcAft>
            </a:pPr>
            <a:r>
              <a:rPr sz="1700" b="0">
                <a:solidFill>
                  <a:srgbClr val="2B4A7D"/>
                </a:solidFill>
                <a:latin typeface="Consolas"/>
              </a:rPr>
              <a:t>    band = "small"</a:t>
            </a:r>
          </a:p>
        </p:txBody>
      </p:sp>
      <p:sp>
        <p:nvSpPr>
          <p:cNvPr id="5" name="TextBox 4"/>
          <p:cNvSpPr txBox="1"/>
          <p:nvPr/>
        </p:nvSpPr>
        <p:spPr>
          <a:xfrm>
            <a:off x="777240" y="4008119"/>
            <a:ext cx="10607040" cy="790575"/>
          </a:xfrm>
          <a:prstGeom prst="rect">
            <a:avLst/>
          </a:prstGeom>
          <a:noFill/>
        </p:spPr>
        <p:txBody>
          <a:bodyPr wrap="square">
            <a:spAutoFit/>
          </a:bodyPr>
          <a:lstStyle/>
          <a:p>
            <a:pPr>
              <a:spcAft>
                <a:spcPts val="1000"/>
              </a:spcAft>
            </a:pPr>
            <a:r>
              <a:rPr sz="2100" b="0">
                <a:solidFill>
                  <a:srgbClr val="1C1C1A"/>
                </a:solidFill>
                <a:latin typeface="Calibri"/>
              </a:rPr>
              <a:t>Python tries the conditions from the top and stops at the first one that is True, so band holds "small" here.</a:t>
            </a:r>
          </a:p>
        </p:txBody>
      </p:sp>
      <p:sp>
        <p:nvSpPr>
          <p:cNvPr id="6" name="TextBox 5"/>
          <p:cNvSpPr txBox="1"/>
          <p:nvPr/>
        </p:nvSpPr>
        <p:spPr>
          <a:xfrm>
            <a:off x="777240" y="6309360"/>
            <a:ext cx="10607040" cy="365760"/>
          </a:xfrm>
          <a:prstGeom prst="rect">
            <a:avLst/>
          </a:prstGeom>
          <a:noFill/>
        </p:spPr>
        <p:txBody>
          <a:bodyPr wrap="none">
            <a:spAutoFit/>
          </a:bodyPr>
          <a:lstStyle/>
          <a:p>
            <a:r>
              <a:rPr sz="1000">
                <a:solidFill>
                  <a:srgbClr val="5F6360"/>
                </a:solidFill>
                <a:latin typeface="Calibri"/>
              </a:rPr>
              <a:t>Week 1 Day 1, half one: the machine that remembers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The loop walks the stack</a:t>
            </a:r>
          </a:p>
        </p:txBody>
      </p:sp>
      <p:sp>
        <p:nvSpPr>
          <p:cNvPr id="4" name="TextBox 3"/>
          <p:cNvSpPr txBox="1"/>
          <p:nvPr/>
        </p:nvSpPr>
        <p:spPr>
          <a:xfrm>
            <a:off x="777240" y="1965960"/>
            <a:ext cx="10607040" cy="542925"/>
          </a:xfrm>
          <a:prstGeom prst="rect">
            <a:avLst/>
          </a:prstGeom>
          <a:noFill/>
        </p:spPr>
        <p:txBody>
          <a:bodyPr wrap="square">
            <a:spAutoFit/>
          </a:bodyPr>
          <a:lstStyle/>
          <a:p>
            <a:pPr>
              <a:spcAft>
                <a:spcPts val="1000"/>
              </a:spcAft>
            </a:pPr>
            <a:r>
              <a:rPr sz="2100" b="0">
                <a:solidFill>
                  <a:srgbClr val="1C1C1A"/>
                </a:solidFill>
                <a:latin typeface="Calibri"/>
              </a:rPr>
              <a:t>A dataset is a stack of cards, and the loop deals you one card at a time and calls it r.</a:t>
            </a:r>
          </a:p>
        </p:txBody>
      </p:sp>
      <p:sp>
        <p:nvSpPr>
          <p:cNvPr id="5" name="TextBox 4"/>
          <p:cNvSpPr txBox="1"/>
          <p:nvPr/>
        </p:nvSpPr>
        <p:spPr>
          <a:xfrm>
            <a:off x="777240" y="2646045"/>
            <a:ext cx="10607040" cy="666750"/>
          </a:xfrm>
          <a:prstGeom prst="rect">
            <a:avLst/>
          </a:prstGeom>
          <a:noFill/>
        </p:spPr>
        <p:txBody>
          <a:bodyPr wrap="square">
            <a:spAutoFit/>
          </a:bodyPr>
          <a:lstStyle/>
          <a:p>
            <a:pPr>
              <a:spcAft>
                <a:spcPts val="400"/>
              </a:spcAft>
            </a:pPr>
            <a:r>
              <a:rPr sz="1700" b="0">
                <a:solidFill>
                  <a:srgbClr val="2B4A7D"/>
                </a:solidFill>
                <a:latin typeface="Consolas"/>
              </a:rPr>
              <a:t>for r in records:</a:t>
            </a:r>
          </a:p>
          <a:p>
            <a:pPr>
              <a:spcAft>
                <a:spcPts val="400"/>
              </a:spcAft>
            </a:pPr>
            <a:r>
              <a:rPr sz="1700" b="0">
                <a:solidFill>
                  <a:srgbClr val="2B4A7D"/>
                </a:solidFill>
                <a:latin typeface="Consolas"/>
              </a:rPr>
              <a:t>    print(r["order_id"])</a:t>
            </a:r>
          </a:p>
        </p:txBody>
      </p:sp>
      <p:sp>
        <p:nvSpPr>
          <p:cNvPr id="6" name="TextBox 5"/>
          <p:cNvSpPr txBox="1"/>
          <p:nvPr/>
        </p:nvSpPr>
        <p:spPr>
          <a:xfrm>
            <a:off x="777240" y="3449954"/>
            <a:ext cx="10607040" cy="790575"/>
          </a:xfrm>
          <a:prstGeom prst="rect">
            <a:avLst/>
          </a:prstGeom>
          <a:noFill/>
        </p:spPr>
        <p:txBody>
          <a:bodyPr wrap="square">
            <a:spAutoFit/>
          </a:bodyPr>
          <a:lstStyle/>
          <a:p>
            <a:pPr>
              <a:spcAft>
                <a:spcPts val="1000"/>
              </a:spcAft>
            </a:pPr>
            <a:r>
              <a:rPr sz="2100" b="0">
                <a:solidFill>
                  <a:srgbClr val="1C1C1A"/>
                </a:solidFill>
                <a:latin typeface="Calibri"/>
              </a:rPr>
              <a:t>Thirty records means thirty turns through the indented lines. The way a field is fetched by its name gets its proper treatment in half two.</a:t>
            </a:r>
          </a:p>
        </p:txBody>
      </p:sp>
      <p:sp>
        <p:nvSpPr>
          <p:cNvPr id="7" name="TextBox 6"/>
          <p:cNvSpPr txBox="1"/>
          <p:nvPr/>
        </p:nvSpPr>
        <p:spPr>
          <a:xfrm>
            <a:off x="777240" y="6309360"/>
            <a:ext cx="10607040" cy="365760"/>
          </a:xfrm>
          <a:prstGeom prst="rect">
            <a:avLst/>
          </a:prstGeom>
          <a:noFill/>
        </p:spPr>
        <p:txBody>
          <a:bodyPr wrap="none">
            <a:spAutoFit/>
          </a:bodyPr>
          <a:lstStyle/>
          <a:p>
            <a:r>
              <a:rPr sz="1000">
                <a:solidFill>
                  <a:srgbClr val="5F6360"/>
                </a:solidFill>
                <a:latin typeface="Calibri"/>
              </a:rPr>
              <a:t>Week 1 Day 1, half one: the machine that remembers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The count accumulator</a:t>
            </a:r>
          </a:p>
        </p:txBody>
      </p:sp>
      <p:sp>
        <p:nvSpPr>
          <p:cNvPr id="4" name="TextBox 3"/>
          <p:cNvSpPr txBox="1"/>
          <p:nvPr/>
        </p:nvSpPr>
        <p:spPr>
          <a:xfrm>
            <a:off x="777240" y="1965960"/>
            <a:ext cx="10607040" cy="1657350"/>
          </a:xfrm>
          <a:prstGeom prst="rect">
            <a:avLst/>
          </a:prstGeom>
          <a:noFill/>
        </p:spPr>
        <p:txBody>
          <a:bodyPr wrap="square">
            <a:spAutoFit/>
          </a:bodyPr>
          <a:lstStyle/>
          <a:p>
            <a:pPr>
              <a:spcAft>
                <a:spcPts val="400"/>
              </a:spcAft>
            </a:pPr>
            <a:r>
              <a:rPr sz="1700" b="0">
                <a:solidFill>
                  <a:srgbClr val="2B4A7D"/>
                </a:solidFill>
                <a:latin typeface="Consolas"/>
              </a:rPr>
              <a:t>count = 0</a:t>
            </a:r>
          </a:p>
          <a:p>
            <a:pPr>
              <a:spcAft>
                <a:spcPts val="400"/>
              </a:spcAft>
            </a:pPr>
            <a:r>
              <a:rPr sz="1700" b="0">
                <a:solidFill>
                  <a:srgbClr val="2B4A7D"/>
                </a:solidFill>
                <a:latin typeface="Consolas"/>
              </a:rPr>
              <a:t>for r in records:</a:t>
            </a:r>
          </a:p>
          <a:p>
            <a:pPr>
              <a:spcAft>
                <a:spcPts val="400"/>
              </a:spcAft>
            </a:pPr>
            <a:r>
              <a:rPr sz="1700" b="0">
                <a:solidFill>
                  <a:srgbClr val="2B4A7D"/>
                </a:solidFill>
                <a:latin typeface="Consolas"/>
              </a:rPr>
              <a:t>    if r["status"] == "delivered":</a:t>
            </a:r>
          </a:p>
          <a:p>
            <a:pPr>
              <a:spcAft>
                <a:spcPts val="400"/>
              </a:spcAft>
            </a:pPr>
            <a:r>
              <a:rPr sz="1700" b="0">
                <a:solidFill>
                  <a:srgbClr val="2B4A7D"/>
                </a:solidFill>
                <a:latin typeface="Consolas"/>
              </a:rPr>
              <a:t>        count = count + 1</a:t>
            </a:r>
          </a:p>
          <a:p>
            <a:pPr>
              <a:spcAft>
                <a:spcPts val="400"/>
              </a:spcAft>
            </a:pPr>
          </a:p>
          <a:p>
            <a:pPr>
              <a:spcAft>
                <a:spcPts val="400"/>
              </a:spcAft>
            </a:pPr>
            <a:r>
              <a:rPr sz="1700" b="0">
                <a:solidFill>
                  <a:srgbClr val="2B4A7D"/>
                </a:solidFill>
                <a:latin typeface="Consolas"/>
              </a:rPr>
              <a:t>print(count)</a:t>
            </a:r>
          </a:p>
        </p:txBody>
      </p:sp>
      <p:sp>
        <p:nvSpPr>
          <p:cNvPr id="5" name="TextBox 4"/>
          <p:cNvSpPr txBox="1"/>
          <p:nvPr/>
        </p:nvSpPr>
        <p:spPr>
          <a:xfrm>
            <a:off x="777240" y="3760470"/>
            <a:ext cx="10607040" cy="502920"/>
          </a:xfrm>
          <a:prstGeom prst="rect">
            <a:avLst/>
          </a:prstGeom>
          <a:noFill/>
        </p:spPr>
        <p:txBody>
          <a:bodyPr wrap="square">
            <a:spAutoFit/>
          </a:bodyPr>
          <a:lstStyle/>
          <a:p>
            <a:pPr>
              <a:spcAft>
                <a:spcPts val="400"/>
              </a:spcAft>
            </a:pPr>
            <a:r>
              <a:rPr sz="1700" b="0">
                <a:solidFill>
                  <a:srgbClr val="2B4A7D"/>
                </a:solidFill>
                <a:latin typeface="Consolas"/>
              </a:rPr>
              <a:t>13</a:t>
            </a:r>
          </a:p>
        </p:txBody>
      </p:sp>
      <p:sp>
        <p:nvSpPr>
          <p:cNvPr id="6" name="TextBox 5"/>
          <p:cNvSpPr txBox="1"/>
          <p:nvPr/>
        </p:nvSpPr>
        <p:spPr>
          <a:xfrm>
            <a:off x="777240" y="4400550"/>
            <a:ext cx="10607040" cy="790575"/>
          </a:xfrm>
          <a:prstGeom prst="rect">
            <a:avLst/>
          </a:prstGeom>
          <a:noFill/>
        </p:spPr>
        <p:txBody>
          <a:bodyPr wrap="square">
            <a:spAutoFit/>
          </a:bodyPr>
          <a:lstStyle/>
          <a:p>
            <a:pPr>
              <a:spcAft>
                <a:spcPts val="1000"/>
              </a:spcAft>
            </a:pPr>
            <a:r>
              <a:rPr sz="2100" b="0">
                <a:solidFill>
                  <a:srgbClr val="1C1C1A"/>
                </a:solidFill>
                <a:latin typeface="Calibri"/>
              </a:rPr>
              <a:t>The counter is set to zero once, above the loop, and each card that passes the condition adds one to it.</a:t>
            </a:r>
          </a:p>
        </p:txBody>
      </p:sp>
      <p:sp>
        <p:nvSpPr>
          <p:cNvPr id="7" name="TextBox 6"/>
          <p:cNvSpPr txBox="1"/>
          <p:nvPr/>
        </p:nvSpPr>
        <p:spPr>
          <a:xfrm>
            <a:off x="777240" y="6309360"/>
            <a:ext cx="10607040" cy="365760"/>
          </a:xfrm>
          <a:prstGeom prst="rect">
            <a:avLst/>
          </a:prstGeom>
          <a:noFill/>
        </p:spPr>
        <p:txBody>
          <a:bodyPr wrap="none">
            <a:spAutoFit/>
          </a:bodyPr>
          <a:lstStyle/>
          <a:p>
            <a:r>
              <a:rPr sz="1000">
                <a:solidFill>
                  <a:srgbClr val="5F6360"/>
                </a:solidFill>
                <a:latin typeface="Calibri"/>
              </a:rPr>
              <a:t>Week 1 Day 1, half one: the machine that remembers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The sum accumulator</a:t>
            </a:r>
          </a:p>
        </p:txBody>
      </p:sp>
      <p:sp>
        <p:nvSpPr>
          <p:cNvPr id="4" name="TextBox 3"/>
          <p:cNvSpPr txBox="1"/>
          <p:nvPr/>
        </p:nvSpPr>
        <p:spPr>
          <a:xfrm>
            <a:off x="777240" y="1965960"/>
            <a:ext cx="10607040" cy="1657350"/>
          </a:xfrm>
          <a:prstGeom prst="rect">
            <a:avLst/>
          </a:prstGeom>
          <a:noFill/>
        </p:spPr>
        <p:txBody>
          <a:bodyPr wrap="square">
            <a:spAutoFit/>
          </a:bodyPr>
          <a:lstStyle/>
          <a:p>
            <a:pPr>
              <a:spcAft>
                <a:spcPts val="400"/>
              </a:spcAft>
            </a:pPr>
            <a:r>
              <a:rPr sz="1700" b="0">
                <a:solidFill>
                  <a:srgbClr val="2B4A7D"/>
                </a:solidFill>
                <a:latin typeface="Consolas"/>
              </a:rPr>
              <a:t>total = 0</a:t>
            </a:r>
          </a:p>
          <a:p>
            <a:pPr>
              <a:spcAft>
                <a:spcPts val="400"/>
              </a:spcAft>
            </a:pPr>
            <a:r>
              <a:rPr sz="1700" b="0">
                <a:solidFill>
                  <a:srgbClr val="2B4A7D"/>
                </a:solidFill>
                <a:latin typeface="Consolas"/>
              </a:rPr>
              <a:t>for r in records:</a:t>
            </a:r>
          </a:p>
          <a:p>
            <a:pPr>
              <a:spcAft>
                <a:spcPts val="400"/>
              </a:spcAft>
            </a:pPr>
            <a:r>
              <a:rPr sz="1700" b="0">
                <a:solidFill>
                  <a:srgbClr val="2B4A7D"/>
                </a:solidFill>
                <a:latin typeface="Consolas"/>
              </a:rPr>
              <a:t>    if r["status"] == "delivered":</a:t>
            </a:r>
          </a:p>
          <a:p>
            <a:pPr>
              <a:spcAft>
                <a:spcPts val="400"/>
              </a:spcAft>
            </a:pPr>
            <a:r>
              <a:rPr sz="1700" b="0">
                <a:solidFill>
                  <a:srgbClr val="2B4A7D"/>
                </a:solidFill>
                <a:latin typeface="Consolas"/>
              </a:rPr>
              <a:t>        total = total + int(r["amount"])</a:t>
            </a:r>
          </a:p>
          <a:p>
            <a:pPr>
              <a:spcAft>
                <a:spcPts val="400"/>
              </a:spcAft>
            </a:pPr>
          </a:p>
          <a:p>
            <a:pPr>
              <a:spcAft>
                <a:spcPts val="400"/>
              </a:spcAft>
            </a:pPr>
            <a:r>
              <a:rPr sz="1700" b="0">
                <a:solidFill>
                  <a:srgbClr val="2B4A7D"/>
                </a:solidFill>
                <a:latin typeface="Consolas"/>
              </a:rPr>
              <a:t>print(total)</a:t>
            </a:r>
          </a:p>
        </p:txBody>
      </p:sp>
      <p:sp>
        <p:nvSpPr>
          <p:cNvPr id="5" name="TextBox 4"/>
          <p:cNvSpPr txBox="1"/>
          <p:nvPr/>
        </p:nvSpPr>
        <p:spPr>
          <a:xfrm>
            <a:off x="777240" y="3760470"/>
            <a:ext cx="10607040" cy="502920"/>
          </a:xfrm>
          <a:prstGeom prst="rect">
            <a:avLst/>
          </a:prstGeom>
          <a:noFill/>
        </p:spPr>
        <p:txBody>
          <a:bodyPr wrap="square">
            <a:spAutoFit/>
          </a:bodyPr>
          <a:lstStyle/>
          <a:p>
            <a:pPr>
              <a:spcAft>
                <a:spcPts val="400"/>
              </a:spcAft>
            </a:pPr>
            <a:r>
              <a:rPr sz="1700" b="0">
                <a:solidFill>
                  <a:srgbClr val="2B4A7D"/>
                </a:solidFill>
                <a:latin typeface="Consolas"/>
              </a:rPr>
              <a:t>25720</a:t>
            </a:r>
          </a:p>
        </p:txBody>
      </p:sp>
      <p:sp>
        <p:nvSpPr>
          <p:cNvPr id="6" name="TextBox 5"/>
          <p:cNvSpPr txBox="1"/>
          <p:nvPr/>
        </p:nvSpPr>
        <p:spPr>
          <a:xfrm>
            <a:off x="777240" y="4400550"/>
            <a:ext cx="10607040" cy="790575"/>
          </a:xfrm>
          <a:prstGeom prst="rect">
            <a:avLst/>
          </a:prstGeom>
          <a:noFill/>
        </p:spPr>
        <p:txBody>
          <a:bodyPr wrap="square">
            <a:spAutoFit/>
          </a:bodyPr>
          <a:lstStyle/>
          <a:p>
            <a:pPr>
              <a:spcAft>
                <a:spcPts val="1000"/>
              </a:spcAft>
            </a:pPr>
            <a:r>
              <a:rPr sz="2100" b="0">
                <a:solidFill>
                  <a:srgbClr val="1C1C1A"/>
                </a:solidFill>
                <a:latin typeface="Calibri"/>
              </a:rPr>
              <a:t>The shape is the same and the amount goes in where the one was. That is 13 delivered orders totalling Rs 25,720, which is the number the notebook handed you at the start of the day.</a:t>
            </a:r>
          </a:p>
        </p:txBody>
      </p:sp>
      <p:sp>
        <p:nvSpPr>
          <p:cNvPr id="7" name="TextBox 6"/>
          <p:cNvSpPr txBox="1"/>
          <p:nvPr/>
        </p:nvSpPr>
        <p:spPr>
          <a:xfrm>
            <a:off x="777240" y="6309360"/>
            <a:ext cx="10607040" cy="365760"/>
          </a:xfrm>
          <a:prstGeom prst="rect">
            <a:avLst/>
          </a:prstGeom>
          <a:noFill/>
        </p:spPr>
        <p:txBody>
          <a:bodyPr wrap="none">
            <a:spAutoFit/>
          </a:bodyPr>
          <a:lstStyle/>
          <a:p>
            <a:r>
              <a:rPr sz="1000">
                <a:solidFill>
                  <a:srgbClr val="5F6360"/>
                </a:solidFill>
                <a:latin typeface="Calibri"/>
              </a:rPr>
              <a:t>Week 1 Day 1, half one: the machine that remembers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Find the mistake</a:t>
            </a:r>
          </a:p>
        </p:txBody>
      </p:sp>
      <p:sp>
        <p:nvSpPr>
          <p:cNvPr id="4" name="TextBox 3"/>
          <p:cNvSpPr txBox="1"/>
          <p:nvPr/>
        </p:nvSpPr>
        <p:spPr>
          <a:xfrm>
            <a:off x="777240" y="1965960"/>
            <a:ext cx="10607040" cy="1657350"/>
          </a:xfrm>
          <a:prstGeom prst="rect">
            <a:avLst/>
          </a:prstGeom>
          <a:noFill/>
        </p:spPr>
        <p:txBody>
          <a:bodyPr wrap="square">
            <a:spAutoFit/>
          </a:bodyPr>
          <a:lstStyle/>
          <a:p>
            <a:pPr>
              <a:spcAft>
                <a:spcPts val="400"/>
              </a:spcAft>
            </a:pPr>
            <a:r>
              <a:rPr sz="1700" b="0">
                <a:solidFill>
                  <a:srgbClr val="2B4A7D"/>
                </a:solidFill>
                <a:latin typeface="Consolas"/>
              </a:rPr>
              <a:t>for r in records:</a:t>
            </a:r>
          </a:p>
          <a:p>
            <a:pPr>
              <a:spcAft>
                <a:spcPts val="400"/>
              </a:spcAft>
            </a:pPr>
            <a:r>
              <a:rPr sz="1700" b="0">
                <a:solidFill>
                  <a:srgbClr val="2B4A7D"/>
                </a:solidFill>
                <a:latin typeface="Consolas"/>
              </a:rPr>
              <a:t>    if r["status"] == "delivered":</a:t>
            </a:r>
          </a:p>
          <a:p>
            <a:pPr>
              <a:spcAft>
                <a:spcPts val="400"/>
              </a:spcAft>
            </a:pPr>
            <a:r>
              <a:rPr sz="1700" b="0">
                <a:solidFill>
                  <a:srgbClr val="2B4A7D"/>
                </a:solidFill>
                <a:latin typeface="Consolas"/>
              </a:rPr>
              <a:t>        total = 0</a:t>
            </a:r>
          </a:p>
          <a:p>
            <a:pPr>
              <a:spcAft>
                <a:spcPts val="400"/>
              </a:spcAft>
            </a:pPr>
            <a:r>
              <a:rPr sz="1700" b="0">
                <a:solidFill>
                  <a:srgbClr val="2B4A7D"/>
                </a:solidFill>
                <a:latin typeface="Consolas"/>
              </a:rPr>
              <a:t>        total = total + int(r["amount"])</a:t>
            </a:r>
          </a:p>
          <a:p>
            <a:pPr>
              <a:spcAft>
                <a:spcPts val="400"/>
              </a:spcAft>
            </a:pPr>
          </a:p>
          <a:p>
            <a:pPr>
              <a:spcAft>
                <a:spcPts val="400"/>
              </a:spcAft>
            </a:pPr>
            <a:r>
              <a:rPr sz="1700" b="0">
                <a:solidFill>
                  <a:srgbClr val="2B4A7D"/>
                </a:solidFill>
                <a:latin typeface="Consolas"/>
              </a:rPr>
              <a:t>print(total)</a:t>
            </a:r>
          </a:p>
        </p:txBody>
      </p:sp>
      <p:sp>
        <p:nvSpPr>
          <p:cNvPr id="5" name="TextBox 4"/>
          <p:cNvSpPr txBox="1"/>
          <p:nvPr/>
        </p:nvSpPr>
        <p:spPr>
          <a:xfrm>
            <a:off x="777240" y="3760470"/>
            <a:ext cx="10607040" cy="502920"/>
          </a:xfrm>
          <a:prstGeom prst="rect">
            <a:avLst/>
          </a:prstGeom>
          <a:noFill/>
        </p:spPr>
        <p:txBody>
          <a:bodyPr wrap="square">
            <a:spAutoFit/>
          </a:bodyPr>
          <a:lstStyle/>
          <a:p>
            <a:pPr>
              <a:spcAft>
                <a:spcPts val="400"/>
              </a:spcAft>
            </a:pPr>
            <a:r>
              <a:rPr sz="1700" b="0">
                <a:solidFill>
                  <a:srgbClr val="2B4A7D"/>
                </a:solidFill>
                <a:latin typeface="Consolas"/>
              </a:rPr>
              <a:t>1460</a:t>
            </a:r>
          </a:p>
        </p:txBody>
      </p:sp>
      <p:sp>
        <p:nvSpPr>
          <p:cNvPr id="6" name="TextBox 5"/>
          <p:cNvSpPr txBox="1"/>
          <p:nvPr/>
        </p:nvSpPr>
        <p:spPr>
          <a:xfrm>
            <a:off x="777240" y="4400550"/>
            <a:ext cx="10607040" cy="1162050"/>
          </a:xfrm>
          <a:prstGeom prst="rect">
            <a:avLst/>
          </a:prstGeom>
          <a:noFill/>
        </p:spPr>
        <p:txBody>
          <a:bodyPr wrap="square">
            <a:spAutoFit/>
          </a:bodyPr>
          <a:lstStyle/>
          <a:p>
            <a:pPr>
              <a:spcAft>
                <a:spcPts val="1000"/>
              </a:spcAft>
            </a:pPr>
            <a:r>
              <a:rPr sz="2100" b="0">
                <a:solidFill>
                  <a:srgbClr val="1C1C1A"/>
                </a:solidFill>
                <a:latin typeface="Calibri"/>
              </a:rPr>
              <a:t>This runs and it prints a number. Rs 1,460 is the amount of KR4224, the last delivered order in the file, and it is a total of nothing at all.</a:t>
            </a:r>
          </a:p>
          <a:p>
            <a:pPr>
              <a:spcAft>
                <a:spcPts val="1000"/>
              </a:spcAft>
            </a:pPr>
            <a:r>
              <a:rPr sz="2100" b="0">
                <a:solidFill>
                  <a:srgbClr val="1C1C1A"/>
                </a:solidFill>
                <a:latin typeface="Calibri"/>
              </a:rPr>
              <a:t>Which line is in the wrong place?</a:t>
            </a:r>
          </a:p>
        </p:txBody>
      </p:sp>
      <p:sp>
        <p:nvSpPr>
          <p:cNvPr id="7" name="TextBox 6"/>
          <p:cNvSpPr txBox="1"/>
          <p:nvPr/>
        </p:nvSpPr>
        <p:spPr>
          <a:xfrm>
            <a:off x="777240" y="6309360"/>
            <a:ext cx="10607040" cy="365760"/>
          </a:xfrm>
          <a:prstGeom prst="rect">
            <a:avLst/>
          </a:prstGeom>
          <a:noFill/>
        </p:spPr>
        <p:txBody>
          <a:bodyPr wrap="none">
            <a:spAutoFit/>
          </a:bodyPr>
          <a:lstStyle/>
          <a:p>
            <a:r>
              <a:rPr sz="1000">
                <a:solidFill>
                  <a:srgbClr val="5F6360"/>
                </a:solidFill>
                <a:latin typeface="Calibri"/>
              </a:rPr>
              <a:t>Week 1 Day 1, half one: the machine that remembers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Step card, section 3</a:t>
            </a:r>
          </a:p>
        </p:txBody>
      </p:sp>
      <p:sp>
        <p:nvSpPr>
          <p:cNvPr id="4" name="TextBox 3"/>
          <p:cNvSpPr txBox="1"/>
          <p:nvPr/>
        </p:nvSpPr>
        <p:spPr>
          <a:xfrm>
            <a:off x="777240" y="1965960"/>
            <a:ext cx="10607040" cy="1657350"/>
          </a:xfrm>
          <a:prstGeom prst="rect">
            <a:avLst/>
          </a:prstGeom>
          <a:noFill/>
        </p:spPr>
        <p:txBody>
          <a:bodyPr wrap="square">
            <a:spAutoFit/>
          </a:bodyPr>
          <a:lstStyle/>
          <a:p>
            <a:pPr>
              <a:spcAft>
                <a:spcPts val="1000"/>
              </a:spcAft>
            </a:pPr>
            <a:r>
              <a:rPr sz="2100" b="0">
                <a:solidFill>
                  <a:srgbClr val="1C1C1A"/>
                </a:solidFill>
                <a:latin typeface="Calibri"/>
              </a:rPr>
              <a:t>1. Ask type() when an operator surprises you.</a:t>
            </a:r>
          </a:p>
          <a:p>
            <a:pPr>
              <a:spcAft>
                <a:spcPts val="1000"/>
              </a:spcAft>
            </a:pPr>
            <a:r>
              <a:rPr sz="2100" b="0">
                <a:solidFill>
                  <a:srgbClr val="1C1C1A"/>
                </a:solidFill>
                <a:latin typeface="Calibri"/>
              </a:rPr>
              <a:t>2. Read both type names in a TypeError before you touch the code.</a:t>
            </a:r>
          </a:p>
          <a:p>
            <a:pPr>
              <a:spcAft>
                <a:spcPts val="1000"/>
              </a:spcAft>
            </a:pPr>
            <a:r>
              <a:rPr sz="2100" b="0">
                <a:solidFill>
                  <a:srgbClr val="1C1C1A"/>
                </a:solidFill>
                <a:latin typeface="Calibri"/>
              </a:rPr>
              <a:t>3. Set the accumulator to zero once, above the loop.</a:t>
            </a:r>
          </a:p>
          <a:p>
            <a:pPr>
              <a:spcAft>
                <a:spcPts val="1000"/>
              </a:spcAft>
            </a:pPr>
            <a:r>
              <a:rPr sz="2100" b="0">
                <a:solidFill>
                  <a:srgbClr val="1C1C1A"/>
                </a:solidFill>
                <a:latin typeface="Calibri"/>
              </a:rPr>
              <a:t>4. When a number looks wrong, go and find the record that explains it.</a:t>
            </a:r>
          </a:p>
        </p:txBody>
      </p:sp>
      <p:sp>
        <p:nvSpPr>
          <p:cNvPr id="5" name="TextBox 4"/>
          <p:cNvSpPr txBox="1"/>
          <p:nvPr/>
        </p:nvSpPr>
        <p:spPr>
          <a:xfrm>
            <a:off x="777240" y="6309360"/>
            <a:ext cx="10607040" cy="365760"/>
          </a:xfrm>
          <a:prstGeom prst="rect">
            <a:avLst/>
          </a:prstGeom>
          <a:noFill/>
        </p:spPr>
        <p:txBody>
          <a:bodyPr wrap="none">
            <a:spAutoFit/>
          </a:bodyPr>
          <a:lstStyle/>
          <a:p>
            <a:r>
              <a:rPr sz="1000">
                <a:solidFill>
                  <a:srgbClr val="5F6360"/>
                </a:solidFill>
                <a:latin typeface="Calibri"/>
              </a:rPr>
              <a:t>Week 1 Day 1, half one: the machine that remembers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Crux, half one</a:t>
            </a:r>
          </a:p>
        </p:txBody>
      </p:sp>
      <p:sp>
        <p:nvSpPr>
          <p:cNvPr id="4" name="TextBox 3"/>
          <p:cNvSpPr txBox="1"/>
          <p:nvPr/>
        </p:nvSpPr>
        <p:spPr>
          <a:xfrm>
            <a:off x="777240" y="1965960"/>
            <a:ext cx="10607040" cy="1162050"/>
          </a:xfrm>
          <a:prstGeom prst="rect">
            <a:avLst/>
          </a:prstGeom>
          <a:noFill/>
        </p:spPr>
        <p:txBody>
          <a:bodyPr wrap="square">
            <a:spAutoFit/>
          </a:bodyPr>
          <a:lstStyle/>
          <a:p>
            <a:pPr>
              <a:spcAft>
                <a:spcPts val="1000"/>
              </a:spcAft>
            </a:pPr>
            <a:r>
              <a:rPr sz="2100" b="0">
                <a:solidFill>
                  <a:srgbClr val="1C1C1A"/>
                </a:solidFill>
                <a:latin typeface="Calibri"/>
              </a:rPr>
              <a:t>Two errors landed on your screen this half, and each one told you exactly what it was holding.</a:t>
            </a:r>
          </a:p>
          <a:p>
            <a:pPr>
              <a:spcAft>
                <a:spcPts val="1000"/>
              </a:spcAft>
            </a:pPr>
            <a:r>
              <a:rPr sz="2100" b="0">
                <a:solidFill>
                  <a:srgbClr val="1C1C1A"/>
                </a:solidFill>
                <a:latin typeface="Calibri"/>
              </a:rPr>
              <a:t>The kernel remembers exactly what you gave it and nothing else, and the type of a value decides what every operator means.</a:t>
            </a:r>
          </a:p>
        </p:txBody>
      </p:sp>
      <p:sp>
        <p:nvSpPr>
          <p:cNvPr id="5" name="TextBox 4"/>
          <p:cNvSpPr txBox="1"/>
          <p:nvPr/>
        </p:nvSpPr>
        <p:spPr>
          <a:xfrm>
            <a:off x="777240" y="6309360"/>
            <a:ext cx="10607040" cy="365760"/>
          </a:xfrm>
          <a:prstGeom prst="rect">
            <a:avLst/>
          </a:prstGeom>
          <a:noFill/>
        </p:spPr>
        <p:txBody>
          <a:bodyPr wrap="none">
            <a:spAutoFit/>
          </a:bodyPr>
          <a:lstStyle/>
          <a:p>
            <a:r>
              <a:rPr sz="1000">
                <a:solidFill>
                  <a:srgbClr val="5F6360"/>
                </a:solidFill>
                <a:latin typeface="Calibri"/>
              </a:rPr>
              <a:t>Week 1 Day 1, half one: the machine that remembers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