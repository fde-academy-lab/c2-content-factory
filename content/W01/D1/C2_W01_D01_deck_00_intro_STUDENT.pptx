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You have just watched a notebook answer a question</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The notebook on this screen answered one question: "Of these thirty Kalpa Retail orders, how much did we actually collect?"</a:t>
            </a:r>
          </a:p>
          <a:p>
            <a:pPr algn="l"/>
            <a:r>
              <a:rPr b="0" sz="2100">
                <a:solidFill>
                  <a:srgbClr val="1C1C1A"/>
                </a:solidFill>
                <a:latin typeface="Calibri"/>
              </a:rPr>
              <a:t> </a:t>
            </a:r>
          </a:p>
          <a:p>
            <a:pPr algn="l"/>
            <a:r>
              <a:rPr b="0" sz="2100">
                <a:solidFill>
                  <a:srgbClr val="1C1C1A"/>
                </a:solidFill>
                <a:latin typeface="Calibri"/>
              </a:rPr>
              <a:t>It came back with 13 delivered orders, Rs 25,720.</a:t>
            </a:r>
          </a:p>
          <a:p>
            <a:pPr algn="l"/>
            <a:r>
              <a:rPr b="0" sz="2100">
                <a:solidFill>
                  <a:srgbClr val="1C1C1A"/>
                </a:solidFill>
                <a:latin typeface="Calibri"/>
              </a:rPr>
              <a:t> </a:t>
            </a:r>
          </a:p>
          <a:p>
            <a:pPr algn="l"/>
            <a:r>
              <a:rPr b="0" sz="2100">
                <a:solidFill>
                  <a:srgbClr val="1C1C1A"/>
                </a:solidFill>
                <a:latin typeface="Calibri"/>
              </a:rPr>
              <a:t>Nobody has told you who Kalpa is. That is the first thing to fix.</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Where we are</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1800">
                <a:solidFill>
                  <a:srgbClr val="2B4A7D"/>
                </a:solidFill>
                <a:latin typeface="Consolas"/>
              </a:rPr>
              <a:t>[the company] &gt; [the journey] &gt; [the room]</a:t>
            </a:r>
          </a:p>
          <a:p>
            <a:pPr algn="l"/>
            <a:r>
              <a:rPr b="0" sz="2100">
                <a:solidFill>
                  <a:srgbClr val="1C1C1A"/>
                </a:solidFill>
                <a:latin typeface="Calibri"/>
              </a:rPr>
              <a:t> </a:t>
            </a:r>
          </a:p>
          <a:p>
            <a:pPr algn="l"/>
            <a:r>
              <a:rPr b="0" sz="2100">
                <a:solidFill>
                  <a:srgbClr val="1C1C1A"/>
                </a:solidFill>
                <a:latin typeface="Calibri"/>
              </a:rPr>
              <a:t>Three things stand between you and the code: the company every example lives inside, the journey you are twenty weeks into starting, and how this room actually runs.</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FFFFFF"/>
                </a:solidFill>
                <a:latin typeface="Calibri"/>
              </a:rPr>
              <a:t>SECTION 1: THE COMPANY</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1" sz="1800">
                <a:solidFill>
                  <a:srgbClr val="FFFFFF"/>
                </a:solidFill>
                <a:latin typeface="Consolas"/>
              </a:rPr>
              <a:t>[the company]</a:t>
            </a:r>
            <a:r>
              <a:rPr b="0" sz="1800">
                <a:solidFill>
                  <a:srgbClr val="FFFFFF"/>
                </a:solidFill>
                <a:latin typeface="Consolas"/>
              </a:rPr>
              <a:t> &gt; [the journey] &gt; [the room]</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Kalpa Group</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Kalpa Group is a diversified global conglomerate with five business units across five industries, and it is headquartered in Singapore.</a:t>
            </a:r>
          </a:p>
          <a:p>
            <a:pPr algn="l"/>
            <a:r>
              <a:rPr b="0" sz="2100">
                <a:solidFill>
                  <a:srgbClr val="1C1C1A"/>
                </a:solidFill>
                <a:latin typeface="Calibri"/>
              </a:rPr>
              <a:t> </a:t>
            </a:r>
          </a:p>
          <a:p>
            <a:pPr algn="l"/>
            <a:r>
              <a:rPr b="0" sz="2100">
                <a:solidFill>
                  <a:srgbClr val="1C1C1A"/>
                </a:solidFill>
                <a:latin typeface="Calibri"/>
              </a:rPr>
              <a:t>Its largest engineering and data centre sits in Bengaluru.</a:t>
            </a:r>
          </a:p>
          <a:p>
            <a:pPr algn="l"/>
            <a:r>
              <a:rPr b="0" sz="2100">
                <a:solidFill>
                  <a:srgbClr val="1C1C1A"/>
                </a:solidFill>
                <a:latin typeface="Calibri"/>
              </a:rPr>
              <a:t> </a:t>
            </a:r>
          </a:p>
          <a:p>
            <a:pPr algn="l"/>
            <a:r>
              <a:rPr b="0" sz="2100">
                <a:solidFill>
                  <a:srgbClr val="1C1C1A"/>
                </a:solidFill>
                <a:latin typeface="Calibri"/>
              </a:rPr>
              <a:t>Every example you meet for the next twenty weeks happens inside this company.</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Where you sit</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You sit in the Data and AI team inside Kalpa's Bengaluru global capability centre, and that centre serves all five business units.</a:t>
            </a:r>
          </a:p>
          <a:p>
            <a:pPr algn="l"/>
            <a:r>
              <a:rPr b="0" sz="2100">
                <a:solidFill>
                  <a:srgbClr val="1C1C1A"/>
                </a:solidFill>
                <a:latin typeface="Calibri"/>
              </a:rPr>
              <a:t> </a:t>
            </a:r>
          </a:p>
          <a:p>
            <a:pPr algn="l"/>
            <a:r>
              <a:rPr b="0" sz="2100">
                <a:solidFill>
                  <a:srgbClr val="1C1C1A"/>
                </a:solidFill>
                <a:latin typeface="Calibri"/>
              </a:rPr>
              <a:t>Each business unit owns its own operations. The Bengaluru centre owns the data, the models and the AI systems that every unit runs on.</a:t>
            </a:r>
          </a:p>
          <a:p>
            <a:pPr algn="l"/>
            <a:r>
              <a:rPr b="0" sz="2100">
                <a:solidFill>
                  <a:srgbClr val="1C1C1A"/>
                </a:solidFill>
                <a:latin typeface="Calibri"/>
              </a:rPr>
              <a:t> </a:t>
            </a:r>
          </a:p>
          <a:p>
            <a:pPr algn="l"/>
            <a:r>
              <a:rPr b="0" sz="2100">
                <a:solidFill>
                  <a:srgbClr val="1C1C1A"/>
                </a:solidFill>
                <a:latin typeface="Calibri"/>
              </a:rPr>
              <a:t>This cohort is that team's newest member, and it started work this morning.</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mental map</a:t>
            </a:r>
          </a:p>
        </p:txBody>
      </p:sp>
      <p:sp>
        <p:nvSpPr>
          <p:cNvPr id="4" name="TextBox 3"/>
          <p:cNvSpPr txBox="1"/>
          <p:nvPr/>
        </p:nvSpPr>
        <p:spPr>
          <a:xfrm>
            <a:off x="777240" y="1645920"/>
            <a:ext cx="10607040" cy="548640"/>
          </a:xfrm>
          <a:prstGeom prst="rect">
            <a:avLst/>
          </a:prstGeom>
          <a:noFill/>
        </p:spPr>
        <p:txBody>
          <a:bodyPr wrap="square">
            <a:spAutoFit/>
          </a:bodyPr>
          <a:lstStyle/>
          <a:p>
            <a:r>
              <a:rPr sz="1700" b="0">
                <a:solidFill>
                  <a:srgbClr val="1C1C1A"/>
                </a:solidFill>
                <a:latin typeface="Calibri"/>
              </a:rPr>
              <a:t>Five territories under one group.</a:t>
            </a:r>
          </a:p>
        </p:txBody>
      </p:sp>
      <p:sp>
        <p:nvSpPr>
          <p:cNvPr id="5" name="Rounded Rectangle 4"/>
          <p:cNvSpPr/>
          <p:nvPr/>
        </p:nvSpPr>
        <p:spPr>
          <a:xfrm>
            <a:off x="822960" y="2880360"/>
            <a:ext cx="2834640" cy="1188720"/>
          </a:xfrm>
          <a:prstGeom prst="roundRect">
            <a:avLst/>
          </a:prstGeom>
          <a:solidFill>
            <a:srgbClr val="2B4A7D"/>
          </a:solidFill>
          <a:ln w="12700">
            <a:solidFill>
              <a:srgbClr val="2B4A7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Kalpa Group
Bengaluru Data and AI team</a:t>
            </a:r>
          </a:p>
        </p:txBody>
      </p:sp>
      <p:sp>
        <p:nvSpPr>
          <p:cNvPr id="6" name="Rounded Rectangle 5"/>
          <p:cNvSpPr/>
          <p:nvPr/>
        </p:nvSpPr>
        <p:spPr>
          <a:xfrm>
            <a:off x="4846320" y="1417320"/>
            <a:ext cx="5394960" cy="786384"/>
          </a:xfrm>
          <a:prstGeom prst="roundRect">
            <a:avLst/>
          </a:prstGeom>
          <a:solidFill>
            <a:srgbClr val="E4ECF7"/>
          </a:solidFill>
          <a:ln w="12700">
            <a:solidFill>
              <a:srgbClr val="2B4A7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C1C1A"/>
                </a:solidFill>
                <a:latin typeface="Calibri"/>
              </a:rPr>
              <a:t>Kalpa Retail, the teaching spine
sells consumer goods online and in store across India and South-East Asia</a:t>
            </a:r>
          </a:p>
        </p:txBody>
      </p:sp>
      <p:cxnSp>
        <p:nvCxnSpPr>
          <p:cNvPr id="7" name="Connector 6"/>
          <p:cNvCxnSpPr/>
          <p:nvPr/>
        </p:nvCxnSpPr>
        <p:spPr>
          <a:xfrm flipV="1">
            <a:off x="3657600" y="1810512"/>
            <a:ext cx="1188720" cy="1664208"/>
          </a:xfrm>
          <a:prstGeom prst="line">
            <a:avLst/>
          </a:prstGeom>
          <a:ln w="15875">
            <a:solidFill>
              <a:srgbClr val="2B4A7D"/>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846320" y="2350008"/>
            <a:ext cx="5394960" cy="786384"/>
          </a:xfrm>
          <a:prstGeom prst="roundRect">
            <a:avLst/>
          </a:prstGeom>
          <a:solidFill>
            <a:srgbClr val="FFFFFF"/>
          </a:solidFill>
          <a:ln w="12700">
            <a:solidFill>
              <a:srgbClr val="2B4A7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C1C1A"/>
                </a:solidFill>
                <a:latin typeface="Calibri"/>
              </a:rPr>
              <a:t>Kalpa Financial Services
sells payments and consumer lending</a:t>
            </a:r>
          </a:p>
        </p:txBody>
      </p:sp>
      <p:cxnSp>
        <p:nvCxnSpPr>
          <p:cNvPr id="9" name="Connector 8"/>
          <p:cNvCxnSpPr/>
          <p:nvPr/>
        </p:nvCxnSpPr>
        <p:spPr>
          <a:xfrm flipV="1">
            <a:off x="3657600" y="2743200"/>
            <a:ext cx="1188720" cy="731520"/>
          </a:xfrm>
          <a:prstGeom prst="line">
            <a:avLst/>
          </a:prstGeom>
          <a:ln w="15875">
            <a:solidFill>
              <a:srgbClr val="2B4A7D"/>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46320" y="3282696"/>
            <a:ext cx="5394960" cy="786384"/>
          </a:xfrm>
          <a:prstGeom prst="roundRect">
            <a:avLst/>
          </a:prstGeom>
          <a:solidFill>
            <a:srgbClr val="FFFFFF"/>
          </a:solidFill>
          <a:ln w="12700">
            <a:solidFill>
              <a:srgbClr val="2B4A7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C1C1A"/>
                </a:solidFill>
                <a:latin typeface="Calibri"/>
              </a:rPr>
              <a:t>Kalpa Logistics
runs last-mile delivery and warehousing for every other unit</a:t>
            </a:r>
          </a:p>
        </p:txBody>
      </p:sp>
      <p:cxnSp>
        <p:nvCxnSpPr>
          <p:cNvPr id="11" name="Connector 10"/>
          <p:cNvCxnSpPr/>
          <p:nvPr/>
        </p:nvCxnSpPr>
        <p:spPr>
          <a:xfrm>
            <a:off x="3657600" y="3474720"/>
            <a:ext cx="1188720" cy="201168"/>
          </a:xfrm>
          <a:prstGeom prst="line">
            <a:avLst/>
          </a:prstGeom>
          <a:ln w="15875">
            <a:solidFill>
              <a:srgbClr val="2B4A7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846320" y="4215384"/>
            <a:ext cx="5394960" cy="786384"/>
          </a:xfrm>
          <a:prstGeom prst="roundRect">
            <a:avLst/>
          </a:prstGeom>
          <a:solidFill>
            <a:srgbClr val="FFFFFF"/>
          </a:solidFill>
          <a:ln w="12700">
            <a:solidFill>
              <a:srgbClr val="2B4A7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C1C1A"/>
                </a:solidFill>
                <a:latin typeface="Calibri"/>
              </a:rPr>
              <a:t>Kalpa Health
runs diagnostic labs and clinic operations</a:t>
            </a:r>
          </a:p>
        </p:txBody>
      </p:sp>
      <p:cxnSp>
        <p:nvCxnSpPr>
          <p:cNvPr id="13" name="Connector 12"/>
          <p:cNvCxnSpPr/>
          <p:nvPr/>
        </p:nvCxnSpPr>
        <p:spPr>
          <a:xfrm>
            <a:off x="3657600" y="3474720"/>
            <a:ext cx="1188720" cy="1133856"/>
          </a:xfrm>
          <a:prstGeom prst="line">
            <a:avLst/>
          </a:prstGeom>
          <a:ln w="15875">
            <a:solidFill>
              <a:srgbClr val="2B4A7D"/>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846320" y="5148072"/>
            <a:ext cx="5394960" cy="786384"/>
          </a:xfrm>
          <a:prstGeom prst="roundRect">
            <a:avLst/>
          </a:prstGeom>
          <a:solidFill>
            <a:srgbClr val="FFFFFF"/>
          </a:solidFill>
          <a:ln w="12700">
            <a:solidFill>
              <a:srgbClr val="2B4A7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C1C1A"/>
                </a:solidFill>
                <a:latin typeface="Calibri"/>
              </a:rPr>
              <a:t>Kalpa Connect
sells mobile, broadband and subscription services</a:t>
            </a:r>
          </a:p>
        </p:txBody>
      </p:sp>
      <p:cxnSp>
        <p:nvCxnSpPr>
          <p:cNvPr id="15" name="Connector 14"/>
          <p:cNvCxnSpPr/>
          <p:nvPr/>
        </p:nvCxnSpPr>
        <p:spPr>
          <a:xfrm>
            <a:off x="3657600" y="3474720"/>
            <a:ext cx="1188720" cy="2066544"/>
          </a:xfrm>
          <a:prstGeom prst="line">
            <a:avLst/>
          </a:prstGeom>
          <a:ln w="15875">
            <a:solidFill>
              <a:srgbClr val="2B4A7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Which territory you live in</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Teaching lives in Kalpa Retail and stays there. Every demo, every exercise and every take-home on a teaching day works Kalpa Retail records.</a:t>
            </a:r>
          </a:p>
          <a:p>
            <a:pPr algn="l"/>
            <a:r>
              <a:rPr b="0" sz="2100">
                <a:solidFill>
                  <a:srgbClr val="1C1C1A"/>
                </a:solidFill>
                <a:latin typeface="Calibri"/>
              </a:rPr>
              <a:t> </a:t>
            </a:r>
          </a:p>
          <a:p>
            <a:pPr algn="l"/>
            <a:r>
              <a:rPr b="0" sz="2100">
                <a:solidFill>
                  <a:srgbClr val="1C1C1A"/>
                </a:solidFill>
                <a:latin typeface="Calibri"/>
              </a:rPr>
              <a:t>Build weeks tour the other four units, one sub-problem per unit, so you meet fraud, delivery times, no-shows and churn inside the same company.</a:t>
            </a:r>
          </a:p>
          <a:p>
            <a:pPr algn="l"/>
            <a:r>
              <a:rPr b="0" sz="2100">
                <a:solidFill>
                  <a:srgbClr val="1C1C1A"/>
                </a:solidFill>
                <a:latin typeface="Calibri"/>
              </a:rPr>
              <a:t> </a:t>
            </a:r>
          </a:p>
          <a:p>
            <a:pPr algn="l"/>
            <a:r>
              <a:rPr b="0" sz="2100">
                <a:solidFill>
                  <a:srgbClr val="1C1C1A"/>
                </a:solidFill>
                <a:latin typeface="Calibri"/>
              </a:rPr>
              <a:t>The domain never changes on a teaching day, because you cannot absorb a new idea and a new business at the same time.</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entity picture</a:t>
            </a:r>
          </a:p>
        </p:txBody>
      </p:sp>
      <p:sp>
        <p:nvSpPr>
          <p:cNvPr id="4" name="TextBox 3"/>
          <p:cNvSpPr txBox="1"/>
          <p:nvPr/>
        </p:nvSpPr>
        <p:spPr>
          <a:xfrm>
            <a:off x="777240" y="1645920"/>
            <a:ext cx="10607040" cy="548640"/>
          </a:xfrm>
          <a:prstGeom prst="rect">
            <a:avLst/>
          </a:prstGeom>
          <a:noFill/>
        </p:spPr>
        <p:txBody>
          <a:bodyPr wrap="square">
            <a:spAutoFit/>
          </a:bodyPr>
          <a:lstStyle/>
          <a:p>
            <a:r>
              <a:rPr sz="1700" b="0">
                <a:solidFill>
                  <a:srgbClr val="1C1C1A"/>
                </a:solidFill>
                <a:latin typeface="Calibri"/>
              </a:rPr>
              <a:t>These are the tables of Kalpa Retail. Today you meet one of them, as a list.</a:t>
            </a:r>
          </a:p>
        </p:txBody>
      </p:sp>
      <p:sp>
        <p:nvSpPr>
          <p:cNvPr id="5" name="Rounded Rectangle 4"/>
          <p:cNvSpPr/>
          <p:nvPr/>
        </p:nvSpPr>
        <p:spPr>
          <a:xfrm>
            <a:off x="822960" y="2331720"/>
            <a:ext cx="2377440" cy="777240"/>
          </a:xfrm>
          <a:prstGeom prst="roundRect">
            <a:avLst/>
          </a:prstGeom>
          <a:solidFill>
            <a:srgbClr val="FFFFFF"/>
          </a:solidFill>
          <a:ln w="12700">
            <a:solidFill>
              <a:srgbClr val="2B4A7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C1C1A"/>
                </a:solidFill>
                <a:latin typeface="Calibri"/>
              </a:rPr>
              <a:t>CUSTOMERS</a:t>
            </a:r>
          </a:p>
        </p:txBody>
      </p:sp>
      <p:sp>
        <p:nvSpPr>
          <p:cNvPr id="6" name="Rounded Rectangle 5"/>
          <p:cNvSpPr/>
          <p:nvPr/>
        </p:nvSpPr>
        <p:spPr>
          <a:xfrm>
            <a:off x="822960" y="3931920"/>
            <a:ext cx="2377440" cy="777240"/>
          </a:xfrm>
          <a:prstGeom prst="roundRect">
            <a:avLst/>
          </a:prstGeom>
          <a:solidFill>
            <a:srgbClr val="FFFFFF"/>
          </a:solidFill>
          <a:ln w="12700">
            <a:solidFill>
              <a:srgbClr val="2B4A7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C1C1A"/>
                </a:solidFill>
                <a:latin typeface="Calibri"/>
              </a:rPr>
              <a:t>EVENTS</a:t>
            </a:r>
          </a:p>
        </p:txBody>
      </p:sp>
      <p:sp>
        <p:nvSpPr>
          <p:cNvPr id="7" name="Rounded Rectangle 6"/>
          <p:cNvSpPr/>
          <p:nvPr/>
        </p:nvSpPr>
        <p:spPr>
          <a:xfrm>
            <a:off x="4023360" y="2331720"/>
            <a:ext cx="2377440" cy="777240"/>
          </a:xfrm>
          <a:prstGeom prst="roundRect">
            <a:avLst/>
          </a:prstGeom>
          <a:solidFill>
            <a:srgbClr val="FFFFFF"/>
          </a:solidFill>
          <a:ln w="12700">
            <a:solidFill>
              <a:srgbClr val="2B4A7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C1C1A"/>
                </a:solidFill>
                <a:latin typeface="Calibri"/>
              </a:rPr>
              <a:t>ORDERS</a:t>
            </a:r>
          </a:p>
        </p:txBody>
      </p:sp>
      <p:sp>
        <p:nvSpPr>
          <p:cNvPr id="8" name="Rounded Rectangle 7"/>
          <p:cNvSpPr/>
          <p:nvPr/>
        </p:nvSpPr>
        <p:spPr>
          <a:xfrm>
            <a:off x="4023360" y="3931920"/>
            <a:ext cx="2377440" cy="777240"/>
          </a:xfrm>
          <a:prstGeom prst="roundRect">
            <a:avLst/>
          </a:prstGeom>
          <a:solidFill>
            <a:srgbClr val="FFFFFF"/>
          </a:solidFill>
          <a:ln w="12700">
            <a:solidFill>
              <a:srgbClr val="2B4A7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C1C1A"/>
                </a:solidFill>
                <a:latin typeface="Calibri"/>
              </a:rPr>
              <a:t>PAYMENTS</a:t>
            </a:r>
          </a:p>
        </p:txBody>
      </p:sp>
      <p:sp>
        <p:nvSpPr>
          <p:cNvPr id="9" name="Rounded Rectangle 8"/>
          <p:cNvSpPr/>
          <p:nvPr/>
        </p:nvSpPr>
        <p:spPr>
          <a:xfrm>
            <a:off x="7223760" y="2331720"/>
            <a:ext cx="2377440" cy="777240"/>
          </a:xfrm>
          <a:prstGeom prst="roundRect">
            <a:avLst/>
          </a:prstGeom>
          <a:solidFill>
            <a:srgbClr val="FFFFFF"/>
          </a:solidFill>
          <a:ln w="12700">
            <a:solidFill>
              <a:srgbClr val="2B4A7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C1C1A"/>
                </a:solidFill>
                <a:latin typeface="Calibri"/>
              </a:rPr>
              <a:t>ORDER_ITEMS</a:t>
            </a:r>
          </a:p>
        </p:txBody>
      </p:sp>
      <p:sp>
        <p:nvSpPr>
          <p:cNvPr id="10" name="Rounded Rectangle 9"/>
          <p:cNvSpPr/>
          <p:nvPr/>
        </p:nvSpPr>
        <p:spPr>
          <a:xfrm>
            <a:off x="7223760" y="3931920"/>
            <a:ext cx="2377440" cy="777240"/>
          </a:xfrm>
          <a:prstGeom prst="roundRect">
            <a:avLst/>
          </a:prstGeom>
          <a:solidFill>
            <a:srgbClr val="FFFFFF"/>
          </a:solidFill>
          <a:ln w="12700">
            <a:solidFill>
              <a:srgbClr val="2B4A7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C1C1A"/>
                </a:solidFill>
                <a:latin typeface="Calibri"/>
              </a:rPr>
              <a:t>PRODUCTS</a:t>
            </a:r>
          </a:p>
        </p:txBody>
      </p:sp>
      <p:cxnSp>
        <p:nvCxnSpPr>
          <p:cNvPr id="11" name="Connector 10"/>
          <p:cNvCxnSpPr/>
          <p:nvPr/>
        </p:nvCxnSpPr>
        <p:spPr>
          <a:xfrm>
            <a:off x="3200400" y="2720340"/>
            <a:ext cx="822960" cy="0"/>
          </a:xfrm>
          <a:prstGeom prst="line">
            <a:avLst/>
          </a:prstGeom>
          <a:ln w="15875">
            <a:solidFill>
              <a:srgbClr val="2B4A7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880360" y="2574036"/>
            <a:ext cx="1463040" cy="292608"/>
          </a:xfrm>
          <a:prstGeom prst="rect">
            <a:avLst/>
          </a:prstGeom>
          <a:noFill/>
        </p:spPr>
        <p:txBody>
          <a:bodyPr wrap="none">
            <a:spAutoFit/>
          </a:bodyPr>
          <a:lstStyle/>
          <a:p>
            <a:pPr algn="ctr"/>
            <a:r>
              <a:rPr sz="1000">
                <a:solidFill>
                  <a:srgbClr val="5F6360"/>
                </a:solidFill>
                <a:latin typeface="Calibri"/>
              </a:rPr>
              <a:t>places</a:t>
            </a:r>
          </a:p>
        </p:txBody>
      </p:sp>
      <p:cxnSp>
        <p:nvCxnSpPr>
          <p:cNvPr id="13" name="Connector 12"/>
          <p:cNvCxnSpPr/>
          <p:nvPr/>
        </p:nvCxnSpPr>
        <p:spPr>
          <a:xfrm>
            <a:off x="2011680" y="3108960"/>
            <a:ext cx="0" cy="822960"/>
          </a:xfrm>
          <a:prstGeom prst="line">
            <a:avLst/>
          </a:prstGeom>
          <a:ln w="15875">
            <a:solidFill>
              <a:srgbClr val="2B4A7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691640" y="3374136"/>
            <a:ext cx="1463040" cy="292608"/>
          </a:xfrm>
          <a:prstGeom prst="rect">
            <a:avLst/>
          </a:prstGeom>
          <a:noFill/>
        </p:spPr>
        <p:txBody>
          <a:bodyPr wrap="none">
            <a:spAutoFit/>
          </a:bodyPr>
          <a:lstStyle/>
          <a:p>
            <a:pPr algn="ctr"/>
            <a:r>
              <a:rPr sz="1000">
                <a:solidFill>
                  <a:srgbClr val="5F6360"/>
                </a:solidFill>
                <a:latin typeface="Calibri"/>
              </a:rPr>
              <a:t>generates</a:t>
            </a:r>
          </a:p>
        </p:txBody>
      </p:sp>
      <p:cxnSp>
        <p:nvCxnSpPr>
          <p:cNvPr id="15" name="Connector 14"/>
          <p:cNvCxnSpPr/>
          <p:nvPr/>
        </p:nvCxnSpPr>
        <p:spPr>
          <a:xfrm>
            <a:off x="6400800" y="2720340"/>
            <a:ext cx="822960" cy="0"/>
          </a:xfrm>
          <a:prstGeom prst="line">
            <a:avLst/>
          </a:prstGeom>
          <a:ln w="15875">
            <a:solidFill>
              <a:srgbClr val="2B4A7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80760" y="2574036"/>
            <a:ext cx="1463040" cy="292608"/>
          </a:xfrm>
          <a:prstGeom prst="rect">
            <a:avLst/>
          </a:prstGeom>
          <a:noFill/>
        </p:spPr>
        <p:txBody>
          <a:bodyPr wrap="none">
            <a:spAutoFit/>
          </a:bodyPr>
          <a:lstStyle/>
          <a:p>
            <a:pPr algn="ctr"/>
            <a:r>
              <a:rPr sz="1000">
                <a:solidFill>
                  <a:srgbClr val="5F6360"/>
                </a:solidFill>
                <a:latin typeface="Calibri"/>
              </a:rPr>
              <a:t>contains</a:t>
            </a:r>
          </a:p>
        </p:txBody>
      </p:sp>
      <p:cxnSp>
        <p:nvCxnSpPr>
          <p:cNvPr id="17" name="Connector 16"/>
          <p:cNvCxnSpPr/>
          <p:nvPr/>
        </p:nvCxnSpPr>
        <p:spPr>
          <a:xfrm>
            <a:off x="5212080" y="3108960"/>
            <a:ext cx="0" cy="822960"/>
          </a:xfrm>
          <a:prstGeom prst="line">
            <a:avLst/>
          </a:prstGeom>
          <a:ln w="15875">
            <a:solidFill>
              <a:srgbClr val="2B4A7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892040" y="3374136"/>
            <a:ext cx="1463040" cy="292608"/>
          </a:xfrm>
          <a:prstGeom prst="rect">
            <a:avLst/>
          </a:prstGeom>
          <a:noFill/>
        </p:spPr>
        <p:txBody>
          <a:bodyPr wrap="none">
            <a:spAutoFit/>
          </a:bodyPr>
          <a:lstStyle/>
          <a:p>
            <a:pPr algn="ctr"/>
            <a:r>
              <a:rPr sz="1000">
                <a:solidFill>
                  <a:srgbClr val="5F6360"/>
                </a:solidFill>
                <a:latin typeface="Calibri"/>
              </a:rPr>
              <a:t>settled by</a:t>
            </a:r>
          </a:p>
        </p:txBody>
      </p:sp>
      <p:cxnSp>
        <p:nvCxnSpPr>
          <p:cNvPr id="19" name="Connector 18"/>
          <p:cNvCxnSpPr/>
          <p:nvPr/>
        </p:nvCxnSpPr>
        <p:spPr>
          <a:xfrm flipV="1">
            <a:off x="8412480" y="2331720"/>
            <a:ext cx="0" cy="2377440"/>
          </a:xfrm>
          <a:prstGeom prst="line">
            <a:avLst/>
          </a:prstGeom>
          <a:ln w="15875">
            <a:solidFill>
              <a:srgbClr val="2B4A7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092440" y="3374136"/>
            <a:ext cx="1463040" cy="292608"/>
          </a:xfrm>
          <a:prstGeom prst="rect">
            <a:avLst/>
          </a:prstGeom>
          <a:noFill/>
        </p:spPr>
        <p:txBody>
          <a:bodyPr wrap="none">
            <a:spAutoFit/>
          </a:bodyPr>
          <a:lstStyle/>
          <a:p>
            <a:pPr algn="ctr"/>
            <a:r>
              <a:rPr sz="1000">
                <a:solidFill>
                  <a:srgbClr val="5F6360"/>
                </a:solidFill>
                <a:latin typeface="Calibri"/>
              </a:rPr>
              <a:t>appears in</a:t>
            </a:r>
          </a:p>
        </p:txBody>
      </p:sp>
      <p:sp>
        <p:nvSpPr>
          <p:cNvPr id="21" name="TextBox 20"/>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What each table holds</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CUSTOMERS holds one row per person who buys from Kalpa Retail, with the segment they sit in and the city they buy from.</a:t>
            </a:r>
          </a:p>
          <a:p>
            <a:pPr algn="l"/>
            <a:r>
              <a:rPr b="0" sz="2100">
                <a:solidFill>
                  <a:srgbClr val="1C1C1A"/>
                </a:solidFill>
                <a:latin typeface="Calibri"/>
              </a:rPr>
              <a:t> </a:t>
            </a:r>
          </a:p>
          <a:p>
            <a:pPr algn="l"/>
            <a:r>
              <a:rPr b="0" sz="2100">
                <a:solidFill>
                  <a:srgbClr val="1C1C1A"/>
                </a:solidFill>
                <a:latin typeface="Calibri"/>
              </a:rPr>
              <a:t>ORDERS holds one row per order, with its date, its amount in Rs and its status.</a:t>
            </a:r>
          </a:p>
          <a:p>
            <a:pPr algn="l"/>
            <a:r>
              <a:rPr b="0" sz="2100">
                <a:solidFill>
                  <a:srgbClr val="1C1C1A"/>
                </a:solidFill>
                <a:latin typeface="Calibri"/>
              </a:rPr>
              <a:t> </a:t>
            </a:r>
          </a:p>
          <a:p>
            <a:pPr algn="l"/>
            <a:r>
              <a:rPr b="0" sz="2100">
                <a:solidFill>
                  <a:srgbClr val="1C1C1A"/>
                </a:solidFill>
                <a:latin typeface="Calibri"/>
              </a:rPr>
              <a:t>ORDER_ITEMS holds one row per product inside an order, with the quantity ordered.</a:t>
            </a:r>
          </a:p>
          <a:p>
            <a:pPr algn="l"/>
            <a:r>
              <a:rPr b="0" sz="2100">
                <a:solidFill>
                  <a:srgbClr val="1C1C1A"/>
                </a:solidFill>
                <a:latin typeface="Calibri"/>
              </a:rPr>
              <a:t> </a:t>
            </a:r>
          </a:p>
          <a:p>
            <a:pPr algn="l"/>
            <a:r>
              <a:rPr b="0" sz="2100">
                <a:solidFill>
                  <a:srgbClr val="1C1C1A"/>
                </a:solidFill>
                <a:latin typeface="Calibri"/>
              </a:rPr>
              <a:t>PAYMENTS holds one row per payment that settles an order, with the amount actually paid.</a:t>
            </a:r>
          </a:p>
          <a:p>
            <a:pPr algn="l"/>
            <a:r>
              <a:rPr b="0" sz="2100">
                <a:solidFill>
                  <a:srgbClr val="1C1C1A"/>
                </a:solidFill>
                <a:latin typeface="Calibri"/>
              </a:rPr>
              <a:t> </a:t>
            </a:r>
          </a:p>
          <a:p>
            <a:pPr algn="l"/>
            <a:r>
              <a:rPr b="0" sz="2100">
                <a:solidFill>
                  <a:srgbClr val="1C1C1A"/>
                </a:solidFill>
                <a:latin typeface="Calibri"/>
              </a:rPr>
              <a:t>PRODUCTS holds one row per product, with its category and its list price.</a:t>
            </a:r>
          </a:p>
          <a:p>
            <a:pPr algn="l"/>
            <a:r>
              <a:rPr b="0" sz="2100">
                <a:solidFill>
                  <a:srgbClr val="1C1C1A"/>
                </a:solidFill>
                <a:latin typeface="Calibri"/>
              </a:rPr>
              <a:t> </a:t>
            </a:r>
          </a:p>
          <a:p>
            <a:pPr algn="l"/>
            <a:r>
              <a:rPr b="0" sz="2100">
                <a:solidFill>
                  <a:srgbClr val="1C1C1A"/>
                </a:solidFill>
                <a:latin typeface="Calibri"/>
              </a:rPr>
              <a:t>EVENTS holds one row per thing a customer did, such as a visit, a search or a checkout, with the moment it happened.</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same records, five shapes</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The thirty orders in front of you are a Python list today.</a:t>
            </a:r>
          </a:p>
          <a:p>
            <a:pPr algn="l"/>
            <a:r>
              <a:rPr b="0" sz="2100">
                <a:solidFill>
                  <a:srgbClr val="1C1C1A"/>
                </a:solidFill>
                <a:latin typeface="Calibri"/>
              </a:rPr>
              <a:t> </a:t>
            </a:r>
          </a:p>
          <a:p>
            <a:pPr algn="l"/>
            <a:r>
              <a:rPr b="0" sz="2100">
                <a:solidFill>
                  <a:srgbClr val="1C1C1A"/>
                </a:solidFill>
                <a:latin typeface="Calibri"/>
              </a:rPr>
              <a:t>The same records become a table in Postgres in Week 2, and a DataFrame in pandas in the same week.</a:t>
            </a:r>
          </a:p>
          <a:p>
            <a:pPr algn="l"/>
            <a:r>
              <a:rPr b="0" sz="2100">
                <a:solidFill>
                  <a:srgbClr val="1C1C1A"/>
                </a:solidFill>
                <a:latin typeface="Calibri"/>
              </a:rPr>
              <a:t> </a:t>
            </a:r>
          </a:p>
          <a:p>
            <a:pPr algn="l"/>
            <a:r>
              <a:rPr b="0" sz="2100">
                <a:solidFill>
                  <a:srgbClr val="1C1C1A"/>
                </a:solidFill>
                <a:latin typeface="Calibri"/>
              </a:rPr>
              <a:t>They become a feature table when the modelling weeks arrive, and a document corpus when retrieval arrives in Weeks 11 and 12.</a:t>
            </a:r>
          </a:p>
          <a:p>
            <a:pPr algn="l"/>
            <a:r>
              <a:rPr b="0" sz="2100">
                <a:solidFill>
                  <a:srgbClr val="1C1C1A"/>
                </a:solidFill>
                <a:latin typeface="Calibri"/>
              </a:rPr>
              <a:t> </a:t>
            </a:r>
          </a:p>
          <a:p>
            <a:pPr algn="l"/>
            <a:r>
              <a:rPr b="0" sz="2100">
                <a:solidFill>
                  <a:srgbClr val="1C1C1A"/>
                </a:solidFill>
                <a:latin typeface="Calibri"/>
              </a:rPr>
              <a:t>The tool changes every few weeks. The company is the one thing that does not.</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Draw it back</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Close the laptop and take a sheet of paper.</a:t>
            </a:r>
          </a:p>
          <a:p>
            <a:pPr algn="l"/>
            <a:r>
              <a:rPr b="0" sz="2100">
                <a:solidFill>
                  <a:srgbClr val="1C1C1A"/>
                </a:solidFill>
                <a:latin typeface="Calibri"/>
              </a:rPr>
              <a:t> </a:t>
            </a:r>
          </a:p>
          <a:p>
            <a:pPr algn="l"/>
            <a:r>
              <a:rPr b="0" sz="2100">
                <a:solidFill>
                  <a:srgbClr val="1C1C1A"/>
                </a:solidFill>
                <a:latin typeface="Calibri"/>
              </a:rPr>
              <a:t>In 3 minutes, draw Kalpa from memory: five boxes for the five units, then the six tables of Kalpa Retail with the lines that join them.</a:t>
            </a:r>
          </a:p>
          <a:p>
            <a:pPr algn="l"/>
            <a:r>
              <a:rPr b="0" sz="2100">
                <a:solidFill>
                  <a:srgbClr val="1C1C1A"/>
                </a:solidFill>
                <a:latin typeface="Calibri"/>
              </a:rPr>
              <a:t> </a:t>
            </a:r>
          </a:p>
          <a:p>
            <a:pPr algn="l"/>
            <a:r>
              <a:rPr b="0" sz="2100">
                <a:solidFill>
                  <a:srgbClr val="1C1C1A"/>
                </a:solidFill>
                <a:latin typeface="Calibri"/>
              </a:rPr>
              <a:t>Compare with the person next to you and fix whichever box either of you missed. By the end of this week you should be able to draw this from memory, because every example for the rest of the programme lands inside it.</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One disclaimer, said once</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Kalpa Group is fictional. Any resemblance to a real company is coincidental.</a:t>
            </a:r>
          </a:p>
          <a:p>
            <a:pPr algn="l"/>
            <a:r>
              <a:rPr b="0" sz="2100">
                <a:solidFill>
                  <a:srgbClr val="1C1C1A"/>
                </a:solidFill>
                <a:latin typeface="Calibri"/>
              </a:rPr>
              <a:t> </a:t>
            </a:r>
          </a:p>
          <a:p>
            <a:pPr algn="l"/>
            <a:r>
              <a:rPr b="0" sz="2100">
                <a:solidFill>
                  <a:srgbClr val="1C1C1A"/>
                </a:solidFill>
                <a:latin typeface="Calibri"/>
              </a:rPr>
              <a:t>The problems are real, the data behaves the way real data behaves, and the company is a teaching device that lets you grow inside one business instead of re-orienting to a new one every session.</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FFFFFF"/>
                </a:solidFill>
                <a:latin typeface="Calibri"/>
              </a:rPr>
              <a:t>SECTION 2: THE JOURNEY</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1800">
                <a:solidFill>
                  <a:srgbClr val="FFFFFF"/>
                </a:solidFill>
                <a:latin typeface="Consolas"/>
              </a:rPr>
              <a:t>[the company] &gt; </a:t>
            </a:r>
            <a:r>
              <a:rPr b="1" sz="1800">
                <a:solidFill>
                  <a:srgbClr val="FFFFFF"/>
                </a:solidFill>
                <a:latin typeface="Consolas"/>
              </a:rPr>
              <a:t>[the journey]</a:t>
            </a:r>
            <a:r>
              <a:rPr b="0" sz="1800">
                <a:solidFill>
                  <a:srgbClr val="FFFFFF"/>
                </a:solidFill>
                <a:latin typeface="Consolas"/>
              </a:rPr>
              <a:t> &gt; [the room]</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programme in five phases</a:t>
            </a:r>
          </a:p>
        </p:txBody>
      </p:sp>
      <p:sp>
        <p:nvSpPr>
          <p:cNvPr id="4" name="TextBox 3"/>
          <p:cNvSpPr txBox="1"/>
          <p:nvPr/>
        </p:nvSpPr>
        <p:spPr>
          <a:xfrm>
            <a:off x="777240" y="1691640"/>
            <a:ext cx="10607040" cy="502920"/>
          </a:xfrm>
          <a:prstGeom prst="rect">
            <a:avLst/>
          </a:prstGeom>
          <a:noFill/>
        </p:spPr>
        <p:txBody>
          <a:bodyPr wrap="square">
            <a:spAutoFit/>
          </a:bodyPr>
          <a:lstStyle/>
          <a:p>
            <a:r>
              <a:rPr sz="1700" b="0">
                <a:solidFill>
                  <a:srgbClr val="1C1C1A"/>
                </a:solidFill>
                <a:latin typeface="Calibri"/>
              </a:rPr>
              <a:t>Each phase is a promise about what you can do when it closes.</a:t>
            </a:r>
          </a:p>
        </p:txBody>
      </p:sp>
      <p:graphicFrame>
        <p:nvGraphicFramePr>
          <p:cNvPr id="5" name="Table 4"/>
          <p:cNvGraphicFramePr>
            <a:graphicFrameLocks noGrp="1"/>
          </p:cNvGraphicFramePr>
          <p:nvPr/>
        </p:nvGraphicFramePr>
        <p:xfrm>
          <a:off x="777240" y="2286000"/>
          <a:ext cx="10607040" cy="3520440"/>
        </p:xfrm>
        <a:graphic>
          <a:graphicData uri="http://schemas.openxmlformats.org/drawingml/2006/table">
            <a:tbl>
              <a:tblPr firstRow="1" bandRow="1">
                <a:tableStyleId>{5C22544A-7EE6-4342-B048-85BDC9FD1C3A}</a:tableStyleId>
              </a:tblPr>
              <a:tblGrid>
                <a:gridCol w="2377440"/>
                <a:gridCol w="4114800"/>
                <a:gridCol w="4114800"/>
              </a:tblGrid>
              <a:tr h="586740">
                <a:tc>
                  <a:txBody>
                    <a:bodyPr/>
                    <a:lstStyle/>
                    <a:p>
                      <a:r>
                        <a:rPr sz="1300" b="1">
                          <a:solidFill>
                            <a:srgbClr val="FFFFFF"/>
                          </a:solidFill>
                          <a:latin typeface="Calibri"/>
                        </a:rPr>
                        <a:t>Phase</a:t>
                      </a:r>
                    </a:p>
                  </a:txBody>
                  <a:tcPr marL="91440" marR="91440" marT="36576" marB="36576">
                    <a:solidFill>
                      <a:srgbClr val="2B4A7D"/>
                    </a:solidFill>
                  </a:tcPr>
                </a:tc>
                <a:tc>
                  <a:txBody>
                    <a:bodyPr/>
                    <a:lstStyle/>
                    <a:p>
                      <a:r>
                        <a:rPr sz="1300" b="1">
                          <a:solidFill>
                            <a:srgbClr val="FFFFFF"/>
                          </a:solidFill>
                          <a:latin typeface="Calibri"/>
                        </a:rPr>
                        <a:t>Weeks</a:t>
                      </a:r>
                    </a:p>
                  </a:txBody>
                  <a:tcPr marL="91440" marR="91440" marT="36576" marB="36576">
                    <a:solidFill>
                      <a:srgbClr val="2B4A7D"/>
                    </a:solidFill>
                  </a:tcPr>
                </a:tc>
                <a:tc>
                  <a:txBody>
                    <a:bodyPr/>
                    <a:lstStyle/>
                    <a:p>
                      <a:r>
                        <a:rPr sz="1300" b="1">
                          <a:solidFill>
                            <a:srgbClr val="FFFFFF"/>
                          </a:solidFill>
                          <a:latin typeface="Calibri"/>
                        </a:rPr>
                        <a:t>What you can do when it closes</a:t>
                      </a:r>
                    </a:p>
                  </a:txBody>
                  <a:tcPr marL="91440" marR="91440" marT="36576" marB="36576">
                    <a:solidFill>
                      <a:srgbClr val="2B4A7D"/>
                    </a:solidFill>
                  </a:tcPr>
                </a:tc>
              </a:tr>
              <a:tr h="586740">
                <a:tc>
                  <a:txBody>
                    <a:bodyPr/>
                    <a:lstStyle/>
                    <a:p>
                      <a:r>
                        <a:rPr sz="1300" b="0">
                          <a:solidFill>
                            <a:srgbClr val="1C1C1A"/>
                          </a:solidFill>
                          <a:latin typeface="Calibri"/>
                        </a:rPr>
                        <a:t>Genesis</a:t>
                      </a:r>
                    </a:p>
                  </a:txBody>
                  <a:tcPr marL="91440" marR="91440" marT="36576" marB="36576">
                    <a:solidFill>
                      <a:srgbClr val="F7F7F5"/>
                    </a:solidFill>
                  </a:tcPr>
                </a:tc>
                <a:tc>
                  <a:txBody>
                    <a:bodyPr/>
                    <a:lstStyle/>
                    <a:p>
                      <a:r>
                        <a:rPr sz="1300" b="0">
                          <a:solidFill>
                            <a:srgbClr val="1C1C1A"/>
                          </a:solidFill>
                          <a:latin typeface="Calibri"/>
                        </a:rPr>
                        <a:t>1 to 4</a:t>
                      </a:r>
                    </a:p>
                  </a:txBody>
                  <a:tcPr marL="91440" marR="91440" marT="36576" marB="36576">
                    <a:solidFill>
                      <a:srgbClr val="F7F7F5"/>
                    </a:solidFill>
                  </a:tcPr>
                </a:tc>
                <a:tc>
                  <a:txBody>
                    <a:bodyPr/>
                    <a:lstStyle/>
                    <a:p>
                      <a:r>
                        <a:rPr sz="1300" b="0">
                          <a:solidFill>
                            <a:srgbClr val="1C1C1A"/>
                          </a:solidFill>
                          <a:latin typeface="Calibri"/>
                        </a:rPr>
                        <a:t>You can take a file nobody prepared, clean it, query it in SQL, reshape it in pandas, and turn it into the metrics a business decision rests on.</a:t>
                      </a:r>
                    </a:p>
                  </a:txBody>
                  <a:tcPr marL="91440" marR="91440" marT="36576" marB="36576">
                    <a:solidFill>
                      <a:srgbClr val="F7F7F5"/>
                    </a:solidFill>
                  </a:tcPr>
                </a:tc>
              </a:tr>
              <a:tr h="586740">
                <a:tc>
                  <a:txBody>
                    <a:bodyPr/>
                    <a:lstStyle/>
                    <a:p>
                      <a:r>
                        <a:rPr sz="1300" b="0">
                          <a:solidFill>
                            <a:srgbClr val="1C1C1A"/>
                          </a:solidFill>
                          <a:latin typeface="Calibri"/>
                        </a:rPr>
                        <a:t>Forge</a:t>
                      </a:r>
                    </a:p>
                  </a:txBody>
                  <a:tcPr marL="91440" marR="91440" marT="36576" marB="36576">
                    <a:solidFill>
                      <a:srgbClr val="F7F7F5"/>
                    </a:solidFill>
                  </a:tcPr>
                </a:tc>
                <a:tc>
                  <a:txBody>
                    <a:bodyPr/>
                    <a:lstStyle/>
                    <a:p>
                      <a:r>
                        <a:rPr sz="1300" b="0">
                          <a:solidFill>
                            <a:srgbClr val="1C1C1A"/>
                          </a:solidFill>
                          <a:latin typeface="Calibri"/>
                        </a:rPr>
                        <a:t>5 to 8</a:t>
                      </a:r>
                    </a:p>
                  </a:txBody>
                  <a:tcPr marL="91440" marR="91440" marT="36576" marB="36576">
                    <a:solidFill>
                      <a:srgbClr val="F7F7F5"/>
                    </a:solidFill>
                  </a:tcPr>
                </a:tc>
                <a:tc>
                  <a:txBody>
                    <a:bodyPr/>
                    <a:lstStyle/>
                    <a:p>
                      <a:r>
                        <a:rPr sz="1300" b="0">
                          <a:solidFill>
                            <a:srgbClr val="1C1C1A"/>
                          </a:solidFill>
                          <a:latin typeface="Calibri"/>
                        </a:rPr>
                        <a:t>You can frame a problem as a model, train it, say honestly how well it works and where it fails, and explain what a language model does when it produces the next token.</a:t>
                      </a:r>
                    </a:p>
                  </a:txBody>
                  <a:tcPr marL="91440" marR="91440" marT="36576" marB="36576">
                    <a:solidFill>
                      <a:srgbClr val="F7F7F5"/>
                    </a:solidFill>
                  </a:tcPr>
                </a:tc>
              </a:tr>
              <a:tr h="586740">
                <a:tc>
                  <a:txBody>
                    <a:bodyPr/>
                    <a:lstStyle/>
                    <a:p>
                      <a:r>
                        <a:rPr sz="1300" b="0">
                          <a:solidFill>
                            <a:srgbClr val="1C1C1A"/>
                          </a:solidFill>
                          <a:latin typeface="Calibri"/>
                        </a:rPr>
                        <a:t>Ascent</a:t>
                      </a:r>
                    </a:p>
                  </a:txBody>
                  <a:tcPr marL="91440" marR="91440" marT="36576" marB="36576">
                    <a:solidFill>
                      <a:srgbClr val="F7F7F5"/>
                    </a:solidFill>
                  </a:tcPr>
                </a:tc>
                <a:tc>
                  <a:txBody>
                    <a:bodyPr/>
                    <a:lstStyle/>
                    <a:p>
                      <a:r>
                        <a:rPr sz="1300" b="0">
                          <a:solidFill>
                            <a:srgbClr val="1C1C1A"/>
                          </a:solidFill>
                          <a:latin typeface="Calibri"/>
                        </a:rPr>
                        <a:t>9 to 12</a:t>
                      </a:r>
                    </a:p>
                  </a:txBody>
                  <a:tcPr marL="91440" marR="91440" marT="36576" marB="36576">
                    <a:solidFill>
                      <a:srgbClr val="F7F7F5"/>
                    </a:solidFill>
                  </a:tcPr>
                </a:tc>
                <a:tc>
                  <a:txBody>
                    <a:bodyPr/>
                    <a:lstStyle/>
                    <a:p>
                      <a:r>
                        <a:rPr sz="1300" b="0">
                          <a:solidFill>
                            <a:srgbClr val="1C1C1A"/>
                          </a:solidFill>
                          <a:latin typeface="Calibri"/>
                        </a:rPr>
                        <a:t>You can build with a generative model and ship a retrieval assistant that answers from Kalpa's own documents and refuses when the documents do not answer.</a:t>
                      </a:r>
                    </a:p>
                  </a:txBody>
                  <a:tcPr marL="91440" marR="91440" marT="36576" marB="36576">
                    <a:solidFill>
                      <a:srgbClr val="F7F7F5"/>
                    </a:solidFill>
                  </a:tcPr>
                </a:tc>
              </a:tr>
              <a:tr h="586740">
                <a:tc>
                  <a:txBody>
                    <a:bodyPr/>
                    <a:lstStyle/>
                    <a:p>
                      <a:r>
                        <a:rPr sz="1300" b="0">
                          <a:solidFill>
                            <a:srgbClr val="1C1C1A"/>
                          </a:solidFill>
                          <a:latin typeface="Calibri"/>
                        </a:rPr>
                        <a:t>Build</a:t>
                      </a:r>
                    </a:p>
                  </a:txBody>
                  <a:tcPr marL="91440" marR="91440" marT="36576" marB="36576">
                    <a:solidFill>
                      <a:srgbClr val="F7F7F5"/>
                    </a:solidFill>
                  </a:tcPr>
                </a:tc>
                <a:tc>
                  <a:txBody>
                    <a:bodyPr/>
                    <a:lstStyle/>
                    <a:p>
                      <a:r>
                        <a:rPr sz="1300" b="0">
                          <a:solidFill>
                            <a:srgbClr val="1C1C1A"/>
                          </a:solidFill>
                          <a:latin typeface="Calibri"/>
                        </a:rPr>
                        <a:t>13 to 16</a:t>
                      </a:r>
                    </a:p>
                  </a:txBody>
                  <a:tcPr marL="91440" marR="91440" marT="36576" marB="36576">
                    <a:solidFill>
                      <a:srgbClr val="F7F7F5"/>
                    </a:solidFill>
                  </a:tcPr>
                </a:tc>
                <a:tc>
                  <a:txBody>
                    <a:bodyPr/>
                    <a:lstStyle/>
                    <a:p>
                      <a:r>
                        <a:rPr sz="1300" b="0">
                          <a:solidFill>
                            <a:srgbClr val="1C1C1A"/>
                          </a:solidFill>
                          <a:latin typeface="Calibri"/>
                        </a:rPr>
                        <a:t>You can build an agentic system that uses tools, and run it under production conditions where cost, latency and failure are measured.</a:t>
                      </a:r>
                    </a:p>
                  </a:txBody>
                  <a:tcPr marL="91440" marR="91440" marT="36576" marB="36576">
                    <a:solidFill>
                      <a:srgbClr val="F7F7F5"/>
                    </a:solidFill>
                  </a:tcPr>
                </a:tc>
              </a:tr>
              <a:tr h="586740">
                <a:tc>
                  <a:txBody>
                    <a:bodyPr/>
                    <a:lstStyle/>
                    <a:p>
                      <a:r>
                        <a:rPr sz="1300" b="0">
                          <a:solidFill>
                            <a:srgbClr val="1C1C1A"/>
                          </a:solidFill>
                          <a:latin typeface="Calibri"/>
                        </a:rPr>
                        <a:t>Launch</a:t>
                      </a:r>
                    </a:p>
                  </a:txBody>
                  <a:tcPr marL="91440" marR="91440" marT="36576" marB="36576">
                    <a:solidFill>
                      <a:srgbClr val="F7F7F5"/>
                    </a:solidFill>
                  </a:tcPr>
                </a:tc>
                <a:tc>
                  <a:txBody>
                    <a:bodyPr/>
                    <a:lstStyle/>
                    <a:p>
                      <a:r>
                        <a:rPr sz="1300" b="0">
                          <a:solidFill>
                            <a:srgbClr val="1C1C1A"/>
                          </a:solidFill>
                          <a:latin typeface="Calibri"/>
                        </a:rPr>
                        <a:t>17 to 20</a:t>
                      </a:r>
                    </a:p>
                  </a:txBody>
                  <a:tcPr marL="91440" marR="91440" marT="36576" marB="36576">
                    <a:solidFill>
                      <a:srgbClr val="F7F7F5"/>
                    </a:solidFill>
                  </a:tcPr>
                </a:tc>
                <a:tc>
                  <a:txBody>
                    <a:bodyPr/>
                    <a:lstStyle/>
                    <a:p>
                      <a:r>
                        <a:rPr sz="1300" b="0">
                          <a:solidFill>
                            <a:srgbClr val="1C1C1A"/>
                          </a:solidFill>
                          <a:latin typeface="Calibri"/>
                        </a:rPr>
                        <a:t>You can carry one problem from a brief to a working system and defend it in front of a panel.</a:t>
                      </a:r>
                    </a:p>
                  </a:txBody>
                  <a:tcPr marL="91440" marR="91440" marT="36576" marB="36576">
                    <a:solidFill>
                      <a:srgbClr val="F7F7F5"/>
                    </a:solidFill>
                  </a:tcPr>
                </a:tc>
              </a:tr>
            </a:tbl>
          </a:graphicData>
        </a:graphic>
      </p:graphicFrame>
      <p:sp>
        <p:nvSpPr>
          <p:cNvPr id="6" name="TextBox 5"/>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weeks that run differently</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Build weeks fall at Weeks 3, 6, 9, 12 and 15. Weeks 17 to 20 are the capstone weeks. Every other week teaches.</a:t>
            </a:r>
          </a:p>
          <a:p>
            <a:pPr algn="l"/>
            <a:r>
              <a:rPr b="0" sz="2100">
                <a:solidFill>
                  <a:srgbClr val="1C1C1A"/>
                </a:solidFill>
                <a:latin typeface="Calibri"/>
              </a:rPr>
              <a:t> </a:t>
            </a:r>
          </a:p>
          <a:p>
            <a:pPr algn="l"/>
            <a:r>
              <a:rPr b="0" sz="2100">
                <a:solidFill>
                  <a:srgbClr val="1C1C1A"/>
                </a:solidFill>
                <a:latin typeface="Calibri"/>
              </a:rPr>
              <a:t>The three major exams fall in Weeks 5, 10 and 15. Each one runs across its week as a continuous activity.</a:t>
            </a:r>
          </a:p>
          <a:p>
            <a:pPr algn="l"/>
            <a:r>
              <a:rPr b="0" sz="2100">
                <a:solidFill>
                  <a:srgbClr val="1C1C1A"/>
                </a:solidFill>
                <a:latin typeface="Calibri"/>
              </a:rPr>
              <a:t> </a:t>
            </a:r>
          </a:p>
          <a:p>
            <a:pPr algn="l"/>
            <a:r>
              <a:rPr b="0" sz="2100">
                <a:solidFill>
                  <a:srgbClr val="1C1C1A"/>
                </a:solidFill>
                <a:latin typeface="Calibri"/>
              </a:rPr>
              <a:t>That is the whole of what is fixed about them today. The rest arrives with the week.</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This week, day by day</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Monday, today: you can open the Codespace, run and recover a notebook, and answer a counting question on records nobody explained to you.</a:t>
            </a:r>
          </a:p>
          <a:p>
            <a:pPr algn="l"/>
            <a:r>
              <a:rPr b="0" sz="2100">
                <a:solidFill>
                  <a:srgbClr val="1C1C1A"/>
                </a:solidFill>
                <a:latin typeface="Calibri"/>
              </a:rPr>
              <a:t> </a:t>
            </a:r>
          </a:p>
          <a:p>
            <a:pPr algn="l"/>
            <a:r>
              <a:rPr b="0" sz="2100">
                <a:solidFill>
                  <a:srgbClr val="1C1C1A"/>
                </a:solidFill>
                <a:latin typeface="Calibri"/>
              </a:rPr>
              <a:t>Tuesday: you can package a rule into a function you call again, survive a bad record by name, log why you rejected it, and move data across the file boundary in both directions.</a:t>
            </a:r>
          </a:p>
          <a:p>
            <a:pPr algn="l"/>
            <a:r>
              <a:rPr b="0" sz="2100">
                <a:solidFill>
                  <a:srgbClr val="1C1C1A"/>
                </a:solidFill>
                <a:latin typeface="Calibri"/>
              </a:rPr>
              <a:t> </a:t>
            </a:r>
          </a:p>
          <a:p>
            <a:pPr algn="l"/>
            <a:r>
              <a:rPr b="0" sz="2100">
                <a:solidFill>
                  <a:srgbClr val="1C1C1A"/>
                </a:solidFill>
                <a:latin typeface="Calibri"/>
              </a:rPr>
              <a:t>Wednesday: you can profile a dataset before you touch it, clean it with a written reason behind every decision, and prove that input equals clean plus rejected.</a:t>
            </a:r>
          </a:p>
          <a:p>
            <a:pPr algn="l"/>
            <a:r>
              <a:rPr b="0" sz="2100">
                <a:solidFill>
                  <a:srgbClr val="1C1C1A"/>
                </a:solidFill>
                <a:latin typeface="Calibri"/>
              </a:rPr>
              <a:t> </a:t>
            </a:r>
          </a:p>
          <a:p>
            <a:pPr algn="l"/>
            <a:r>
              <a:rPr b="0" sz="2100">
                <a:solidFill>
                  <a:srgbClr val="1C1C1A"/>
                </a:solidFill>
                <a:latin typeface="Calibri"/>
              </a:rPr>
              <a:t>Thursday: you can say what is typical and how spread out the data is without misleading anyone, and hand over a segment summary that carries its denominators.</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Friday and Saturday this week</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Friday 2 October is Gandhi Jayanti. The institute is closed and there is no session, so teaching for Week 1 ends on Thursday.</a:t>
            </a:r>
          </a:p>
          <a:p>
            <a:pPr algn="l"/>
            <a:r>
              <a:rPr b="0" sz="2100">
                <a:solidFill>
                  <a:srgbClr val="1C1C1A"/>
                </a:solidFill>
                <a:latin typeface="Calibri"/>
              </a:rPr>
              <a:t> </a:t>
            </a:r>
          </a:p>
          <a:p>
            <a:pPr algn="l"/>
            <a:r>
              <a:rPr b="0" sz="2100">
                <a:solidFill>
                  <a:srgbClr val="1C1C1A"/>
                </a:solidFill>
                <a:latin typeface="Calibri"/>
              </a:rPr>
              <a:t>Saturday is the recap paper built from this week's own interview question set, then the discussion of every answer as an interview answer.</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Saturday promise</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By Saturday you can take a file nobody prepared to a defensible answer.</a:t>
            </a:r>
          </a:p>
          <a:p>
            <a:pPr algn="l"/>
            <a:r>
              <a:rPr b="0" sz="2100">
                <a:solidFill>
                  <a:srgbClr val="1C1C1A"/>
                </a:solidFill>
                <a:latin typeface="Calibri"/>
              </a:rPr>
              <a:t> </a:t>
            </a:r>
          </a:p>
          <a:p>
            <a:pPr algn="l"/>
            <a:r>
              <a:rPr b="0" sz="2100">
                <a:solidFill>
                  <a:srgbClr val="1C1C1A"/>
                </a:solidFill>
                <a:latin typeface="Calibri"/>
              </a:rPr>
              <a:t>Four days build that sentence, one step each: read it, clean it, profile it, describe it.</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Today, as four promises</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You understand that the kernel holds what you gave it between runs, that a value's type decides what an operator means, and that a dataset is a list of named records.</a:t>
            </a:r>
          </a:p>
          <a:p>
            <a:pPr algn="l"/>
            <a:r>
              <a:rPr b="0" sz="2100">
                <a:solidFill>
                  <a:srgbClr val="1C1C1A"/>
                </a:solidFill>
                <a:latin typeface="Calibri"/>
              </a:rPr>
              <a:t> </a:t>
            </a:r>
          </a:p>
          <a:p>
            <a:pPr algn="l"/>
            <a:r>
              <a:rPr b="0" sz="2100">
                <a:solidFill>
                  <a:srgbClr val="1C1C1A"/>
                </a:solidFill>
                <a:latin typeface="Calibri"/>
              </a:rPr>
              <a:t>You can launch the Codespace, run and edit and recover the notebook, and answer counting and totalling questions with a loop, a condition and an accumulator.</a:t>
            </a:r>
          </a:p>
          <a:p>
            <a:pPr algn="l"/>
            <a:r>
              <a:rPr b="0" sz="2100">
                <a:solidFill>
                  <a:srgbClr val="1C1C1A"/>
                </a:solidFill>
                <a:latin typeface="Calibri"/>
              </a:rPr>
              <a:t> </a:t>
            </a:r>
          </a:p>
          <a:p>
            <a:pPr algn="l"/>
            <a:r>
              <a:rPr b="0" sz="2100">
                <a:solidFill>
                  <a:srgbClr val="1C1C1A"/>
                </a:solidFill>
                <a:latin typeface="Calibri"/>
              </a:rPr>
              <a:t>You can handle a NameError that came from running cells out of order, a TypeError when a text amount meets a number, and a missing key through </a:t>
            </a:r>
            <a:r>
              <a:rPr b="0" sz="1800">
                <a:solidFill>
                  <a:srgbClr val="2B4A7D"/>
                </a:solidFill>
                <a:latin typeface="Consolas"/>
              </a:rPr>
              <a:t>.get()</a:t>
            </a:r>
            <a:r>
              <a:rPr b="0" sz="2100">
                <a:solidFill>
                  <a:srgbClr val="1C1C1A"/>
                </a:solidFill>
                <a:latin typeface="Calibri"/>
              </a:rPr>
              <a:t> with a default you chose on purpose.</a:t>
            </a:r>
          </a:p>
          <a:p>
            <a:pPr algn="l"/>
            <a:r>
              <a:rPr b="0" sz="2100">
                <a:solidFill>
                  <a:srgbClr val="1C1C1A"/>
                </a:solidFill>
                <a:latin typeface="Calibri"/>
              </a:rPr>
              <a:t> </a:t>
            </a:r>
          </a:p>
          <a:p>
            <a:pPr algn="l"/>
            <a:r>
              <a:rPr b="0" sz="2100">
                <a:solidFill>
                  <a:srgbClr val="1C1C1A"/>
                </a:solidFill>
                <a:latin typeface="Calibri"/>
              </a:rPr>
              <a:t>You can defend what a kernel restart resets, and say why refusing a cross-type comparison is safer than a spreadsheet quietly guessing.</a:t>
            </a:r>
          </a:p>
          <a:p>
            <a:pPr algn="l"/>
            <a:r>
              <a:rPr b="0" sz="2100">
                <a:solidFill>
                  <a:srgbClr val="1C1C1A"/>
                </a:solidFill>
                <a:latin typeface="Calibri"/>
              </a:rPr>
              <a:t> </a:t>
            </a:r>
          </a:p>
          <a:p>
            <a:pPr algn="l"/>
            <a:r>
              <a:rPr b="0" sz="2100">
                <a:solidFill>
                  <a:srgbClr val="1C1C1A"/>
                </a:solidFill>
                <a:latin typeface="Calibri"/>
              </a:rPr>
              <a:t>The one line to carry out of today. You can take thirty records nobody explained to you and come back with a number, and you can say what would break it.</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FFFFFF"/>
                </a:solidFill>
                <a:latin typeface="Calibri"/>
              </a:rPr>
              <a:t>SECTION 3: THE ROOM</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1800">
                <a:solidFill>
                  <a:srgbClr val="FFFFFF"/>
                </a:solidFill>
                <a:latin typeface="Consolas"/>
              </a:rPr>
              <a:t>[the company] &gt; [the journey] &gt; </a:t>
            </a:r>
            <a:r>
              <a:rPr b="1" sz="1800">
                <a:solidFill>
                  <a:srgbClr val="FFFFFF"/>
                </a:solidFill>
                <a:latin typeface="Consolas"/>
              </a:rPr>
              <a:t>[the room]</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How a teaching day runs</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1. Scenario setting: the day opens on a question somebody at Kalpa actually needs answered.</a:t>
            </a:r>
          </a:p>
          <a:p>
            <a:pPr algn="l"/>
            <a:r>
              <a:rPr b="0" sz="2100">
                <a:solidFill>
                  <a:srgbClr val="1C1C1A"/>
                </a:solidFill>
                <a:latin typeface="Calibri"/>
              </a:rPr>
              <a:t>2. The trainer demo: a working thing runs on screen with its output visible before anything is explained.</a:t>
            </a:r>
          </a:p>
          <a:p>
            <a:pPr algn="l"/>
            <a:r>
              <a:rPr b="0" sz="2100">
                <a:solidFill>
                  <a:srgbClr val="1C1C1A"/>
                </a:solidFill>
                <a:latin typeface="Calibri"/>
              </a:rPr>
              <a:t>3. The guided exercise: the trainer builds it step by step and the room mirrors it on their own Codespace.</a:t>
            </a:r>
          </a:p>
          <a:p>
            <a:pPr algn="l"/>
            <a:r>
              <a:rPr b="0" sz="2100">
                <a:solidFill>
                  <a:srgbClr val="1C1C1A"/>
                </a:solidFill>
                <a:latin typeface="Calibri"/>
              </a:rPr>
              <a:t>4. The unguided exercise: you attempt it in session with no hints, and the solution is released at the close of the session.</a:t>
            </a:r>
          </a:p>
          <a:p>
            <a:pPr algn="l"/>
            <a:r>
              <a:rPr b="0" sz="2100">
                <a:solidFill>
                  <a:srgbClr val="1C1C1A"/>
                </a:solidFill>
                <a:latin typeface="Calibri"/>
              </a:rPr>
              <a:t>5. The Kahoot traps round, which is ungraded and is read as a signal of attention and retention.</a:t>
            </a:r>
          </a:p>
          <a:p>
            <a:pPr algn="l"/>
            <a:r>
              <a:rPr b="0" sz="2100">
                <a:solidFill>
                  <a:srgbClr val="1C1C1A"/>
                </a:solidFill>
                <a:latin typeface="Calibri"/>
              </a:rPr>
              <a:t>6. A short platform check on Neo.</a:t>
            </a:r>
          </a:p>
          <a:p>
            <a:pPr algn="l"/>
            <a:r>
              <a:rPr b="0" sz="2100">
                <a:solidFill>
                  <a:srgbClr val="1C1C1A"/>
                </a:solidFill>
                <a:latin typeface="Calibri"/>
              </a:rPr>
              <a:t>7. Close-out, which names tomorrow.</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How Saturday runs on a teaching week</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Saturday opens with a pen-and-paper recap paper drawn from the week's own interview question set. It runs for about two hours, it is AI-free by its format, and it is ungraded.</a:t>
            </a:r>
          </a:p>
          <a:p>
            <a:pPr algn="l"/>
            <a:r>
              <a:rPr b="0" sz="2100">
                <a:solidFill>
                  <a:srgbClr val="1C1C1A"/>
                </a:solidFill>
                <a:latin typeface="Calibri"/>
              </a:rPr>
              <a:t> </a:t>
            </a:r>
          </a:p>
          <a:p>
            <a:pPr algn="l"/>
            <a:r>
              <a:rPr b="0" sz="2100">
                <a:solidFill>
                  <a:srgbClr val="1C1C1A"/>
                </a:solidFill>
                <a:latin typeface="Calibri"/>
              </a:rPr>
              <a:t>After a break, the Academic TA leads the solution discussion. Papers are swapped so that you cross-evaluate a peer's answers against the discussed solution, every answer is treated as an interview answer, and call-outs land at random throughout.</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How a build week differs</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The Programme Head opens a build week by introducing the mini projects.</a:t>
            </a:r>
          </a:p>
          <a:p>
            <a:pPr algn="l"/>
            <a:r>
              <a:rPr b="0" sz="2100">
                <a:solidFill>
                  <a:srgbClr val="1C1C1A"/>
                </a:solidFill>
                <a:latin typeface="Calibri"/>
              </a:rPr>
              <a:t> </a:t>
            </a:r>
          </a:p>
          <a:p>
            <a:pPr algn="l"/>
            <a:r>
              <a:rPr b="0" sz="2100">
                <a:solidFill>
                  <a:srgbClr val="1C1C1A"/>
                </a:solidFill>
                <a:latin typeface="Calibri"/>
              </a:rPr>
              <a:t>You work in groups of four. Each build week carries five sub-problems, one drawn from each Kalpa unit, and three groups take each sub-problem, so the panel hears three views of the same business problem back to back.</a:t>
            </a:r>
          </a:p>
          <a:p>
            <a:pPr algn="l"/>
            <a:r>
              <a:rPr b="0" sz="2100">
                <a:solidFill>
                  <a:srgbClr val="1C1C1A"/>
                </a:solidFill>
                <a:latin typeface="Calibri"/>
              </a:rPr>
              <a:t> </a:t>
            </a:r>
          </a:p>
          <a:p>
            <a:pPr algn="l"/>
            <a:r>
              <a:rPr b="0" sz="2100">
                <a:solidFill>
                  <a:srgbClr val="1C1C1A"/>
                </a:solidFill>
                <a:latin typeface="Calibri"/>
              </a:rPr>
              <a:t>The industry expert attends on Friday and Saturday. No tests run in a build week.</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platforms</a:t>
            </a:r>
          </a:p>
        </p:txBody>
      </p:sp>
      <p:graphicFrame>
        <p:nvGraphicFramePr>
          <p:cNvPr id="4" name="Table 3"/>
          <p:cNvGraphicFramePr>
            <a:graphicFrameLocks noGrp="1"/>
          </p:cNvGraphicFramePr>
          <p:nvPr/>
        </p:nvGraphicFramePr>
        <p:xfrm>
          <a:off x="777240" y="1965960"/>
          <a:ext cx="10607040" cy="3337560"/>
        </p:xfrm>
        <a:graphic>
          <a:graphicData uri="http://schemas.openxmlformats.org/drawingml/2006/table">
            <a:tbl>
              <a:tblPr firstRow="1" bandRow="1">
                <a:tableStyleId>{5C22544A-7EE6-4342-B048-85BDC9FD1C3A}</a:tableStyleId>
              </a:tblPr>
              <a:tblGrid>
                <a:gridCol w="2377440"/>
                <a:gridCol w="8229600"/>
              </a:tblGrid>
              <a:tr h="667512">
                <a:tc>
                  <a:txBody>
                    <a:bodyPr/>
                    <a:lstStyle/>
                    <a:p>
                      <a:r>
                        <a:rPr sz="1300" b="1">
                          <a:solidFill>
                            <a:srgbClr val="FFFFFF"/>
                          </a:solidFill>
                          <a:latin typeface="Calibri"/>
                        </a:rPr>
                        <a:t>Platform</a:t>
                      </a:r>
                    </a:p>
                  </a:txBody>
                  <a:tcPr marL="91440" marR="91440" marT="36576" marB="36576">
                    <a:solidFill>
                      <a:srgbClr val="2B4A7D"/>
                    </a:solidFill>
                  </a:tcPr>
                </a:tc>
                <a:tc>
                  <a:txBody>
                    <a:bodyPr/>
                    <a:lstStyle/>
                    <a:p>
                      <a:r>
                        <a:rPr sz="1300" b="1">
                          <a:solidFill>
                            <a:srgbClr val="FFFFFF"/>
                          </a:solidFill>
                          <a:latin typeface="Calibri"/>
                        </a:rPr>
                        <a:t>What it is for</a:t>
                      </a:r>
                    </a:p>
                  </a:txBody>
                  <a:tcPr marL="91440" marR="91440" marT="36576" marB="36576">
                    <a:solidFill>
                      <a:srgbClr val="2B4A7D"/>
                    </a:solidFill>
                  </a:tcPr>
                </a:tc>
              </a:tr>
              <a:tr h="667512">
                <a:tc>
                  <a:txBody>
                    <a:bodyPr/>
                    <a:lstStyle/>
                    <a:p>
                      <a:r>
                        <a:rPr sz="1300" b="0">
                          <a:solidFill>
                            <a:srgbClr val="1C1C1A"/>
                          </a:solidFill>
                          <a:latin typeface="Calibri"/>
                        </a:rPr>
                        <a:t>Neo</a:t>
                      </a:r>
                    </a:p>
                  </a:txBody>
                  <a:tcPr marL="91440" marR="91440" marT="36576" marB="36576">
                    <a:solidFill>
                      <a:srgbClr val="F7F7F5"/>
                    </a:solidFill>
                  </a:tcPr>
                </a:tc>
                <a:tc>
                  <a:txBody>
                    <a:bodyPr/>
                    <a:lstStyle/>
                    <a:p>
                      <a:r>
                        <a:rPr sz="1300" b="0">
                          <a:solidFill>
                            <a:srgbClr val="1C1C1A"/>
                          </a:solidFill>
                          <a:latin typeface="Calibri"/>
                        </a:rPr>
                        <a:t>Neo carries all the tests and the exams, and the daily platform check runs there.</a:t>
                      </a:r>
                    </a:p>
                  </a:txBody>
                  <a:tcPr marL="91440" marR="91440" marT="36576" marB="36576">
                    <a:solidFill>
                      <a:srgbClr val="F7F7F5"/>
                    </a:solidFill>
                  </a:tcPr>
                </a:tc>
              </a:tr>
              <a:tr h="667512">
                <a:tc>
                  <a:txBody>
                    <a:bodyPr/>
                    <a:lstStyle/>
                    <a:p>
                      <a:r>
                        <a:rPr sz="1300" b="0">
                          <a:solidFill>
                            <a:srgbClr val="1C1C1A"/>
                          </a:solidFill>
                          <a:latin typeface="Calibri"/>
                        </a:rPr>
                        <a:t>CodeChef</a:t>
                      </a:r>
                    </a:p>
                  </a:txBody>
                  <a:tcPr marL="91440" marR="91440" marT="36576" marB="36576">
                    <a:solidFill>
                      <a:srgbClr val="F7F7F5"/>
                    </a:solidFill>
                  </a:tcPr>
                </a:tc>
                <a:tc>
                  <a:txBody>
                    <a:bodyPr/>
                    <a:lstStyle/>
                    <a:p>
                      <a:r>
                        <a:rPr sz="1300" b="0">
                          <a:solidFill>
                            <a:srgbClr val="1C1C1A"/>
                          </a:solidFill>
                          <a:latin typeface="Calibri"/>
                        </a:rPr>
                        <a:t>CodeChef carries the daily competitive coding practice, which carries no assessment.</a:t>
                      </a:r>
                    </a:p>
                  </a:txBody>
                  <a:tcPr marL="91440" marR="91440" marT="36576" marB="36576">
                    <a:solidFill>
                      <a:srgbClr val="F7F7F5"/>
                    </a:solidFill>
                  </a:tcPr>
                </a:tc>
              </a:tr>
              <a:tr h="667512">
                <a:tc>
                  <a:txBody>
                    <a:bodyPr/>
                    <a:lstStyle/>
                    <a:p>
                      <a:r>
                        <a:rPr sz="1300" b="0">
                          <a:solidFill>
                            <a:srgbClr val="1C1C1A"/>
                          </a:solidFill>
                          <a:latin typeface="Calibri"/>
                        </a:rPr>
                        <a:t>GitHub</a:t>
                      </a:r>
                    </a:p>
                  </a:txBody>
                  <a:tcPr marL="91440" marR="91440" marT="36576" marB="36576">
                    <a:solidFill>
                      <a:srgbClr val="F7F7F5"/>
                    </a:solidFill>
                  </a:tcPr>
                </a:tc>
                <a:tc>
                  <a:txBody>
                    <a:bodyPr/>
                    <a:lstStyle/>
                    <a:p>
                      <a:r>
                        <a:rPr sz="1300" b="0">
                          <a:solidFill>
                            <a:srgbClr val="1C1C1A"/>
                          </a:solidFill>
                          <a:latin typeface="Calibri"/>
                        </a:rPr>
                        <a:t>GitHub carries your exercises, your projects and your portfolio.</a:t>
                      </a:r>
                    </a:p>
                  </a:txBody>
                  <a:tcPr marL="91440" marR="91440" marT="36576" marB="36576">
                    <a:solidFill>
                      <a:srgbClr val="F7F7F5"/>
                    </a:solidFill>
                  </a:tcPr>
                </a:tc>
              </a:tr>
              <a:tr h="667512">
                <a:tc>
                  <a:txBody>
                    <a:bodyPr/>
                    <a:lstStyle/>
                    <a:p>
                      <a:r>
                        <a:rPr sz="1300" b="0">
                          <a:solidFill>
                            <a:srgbClr val="1C1C1A"/>
                          </a:solidFill>
                          <a:latin typeface="Calibri"/>
                        </a:rPr>
                        <a:t>LMS</a:t>
                      </a:r>
                    </a:p>
                  </a:txBody>
                  <a:tcPr marL="91440" marR="91440" marT="36576" marB="36576">
                    <a:solidFill>
                      <a:srgbClr val="F7F7F5"/>
                    </a:solidFill>
                  </a:tcPr>
                </a:tc>
                <a:tc>
                  <a:txBody>
                    <a:bodyPr/>
                    <a:lstStyle/>
                    <a:p>
                      <a:r>
                        <a:rPr sz="1300" b="0">
                          <a:solidFill>
                            <a:srgbClr val="1C1C1A"/>
                          </a:solidFill>
                          <a:latin typeface="Calibri"/>
                        </a:rPr>
                        <a:t>The LMS carries the content and your submissions.</a:t>
                      </a:r>
                    </a:p>
                  </a:txBody>
                  <a:tcPr marL="91440" marR="91440" marT="36576" marB="36576">
                    <a:solidFill>
                      <a:srgbClr val="F7F7F5"/>
                    </a:solidFill>
                  </a:tcPr>
                </a:tc>
              </a:tr>
            </a:tbl>
          </a:graphicData>
        </a:graphic>
      </p:graphicFrame>
      <p:sp>
        <p:nvSpPr>
          <p:cNvPr id="5" name="TextBox 4"/>
          <p:cNvSpPr txBox="1"/>
          <p:nvPr/>
        </p:nvSpPr>
        <p:spPr>
          <a:xfrm>
            <a:off x="777240" y="5715000"/>
            <a:ext cx="10607040" cy="457200"/>
          </a:xfrm>
          <a:prstGeom prst="rect">
            <a:avLst/>
          </a:prstGeom>
          <a:noFill/>
        </p:spPr>
        <p:txBody>
          <a:bodyPr wrap="square">
            <a:spAutoFit/>
          </a:bodyPr>
          <a:lstStyle/>
          <a:p>
            <a:r>
              <a:rPr sz="1500" b="0">
                <a:solidFill>
                  <a:srgbClr val="1C1C1A"/>
                </a:solidFill>
                <a:latin typeface="Calibri"/>
              </a:rPr>
              <a:t>This cohort does not use Slack.</a:t>
            </a:r>
          </a:p>
        </p:txBody>
      </p:sp>
      <p:sp>
        <p:nvSpPr>
          <p:cNvPr id="6" name="TextBox 5"/>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environment</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You work in VS Code with GitHub Codespaces, so nothing is installed on your laptop and every learner runs the same machine.</a:t>
            </a:r>
          </a:p>
          <a:p>
            <a:pPr algn="l"/>
            <a:r>
              <a:rPr b="0" sz="2100">
                <a:solidFill>
                  <a:srgbClr val="1C1C1A"/>
                </a:solidFill>
                <a:latin typeface="Calibri"/>
              </a:rPr>
              <a:t> </a:t>
            </a:r>
          </a:p>
          <a:p>
            <a:pPr algn="l"/>
            <a:r>
              <a:rPr b="0" sz="2100">
                <a:solidFill>
                  <a:srgbClr val="1C1C1A"/>
                </a:solidFill>
                <a:latin typeface="Calibri"/>
              </a:rPr>
              <a:t>Python work lives in </a:t>
            </a:r>
            <a:r>
              <a:rPr b="0" sz="1800">
                <a:solidFill>
                  <a:srgbClr val="2B4A7D"/>
                </a:solidFill>
                <a:latin typeface="Consolas"/>
              </a:rPr>
              <a:t>.ipynb</a:t>
            </a:r>
            <a:r>
              <a:rPr b="0" sz="2100">
                <a:solidFill>
                  <a:srgbClr val="1C1C1A"/>
                </a:solidFill>
                <a:latin typeface="Calibri"/>
              </a:rPr>
              <a:t> notebooks. SQL work lives in </a:t>
            </a:r>
            <a:r>
              <a:rPr b="0" sz="1800">
                <a:solidFill>
                  <a:srgbClr val="2B4A7D"/>
                </a:solidFill>
                <a:latin typeface="Consolas"/>
              </a:rPr>
              <a:t>.sql</a:t>
            </a:r>
            <a:r>
              <a:rPr b="0" sz="2100">
                <a:solidFill>
                  <a:srgbClr val="1C1C1A"/>
                </a:solidFill>
                <a:latin typeface="Calibri"/>
              </a:rPr>
              <a:t> files run against Postgres.</a:t>
            </a:r>
          </a:p>
          <a:p>
            <a:pPr algn="l"/>
            <a:r>
              <a:rPr b="0" sz="2100">
                <a:solidFill>
                  <a:srgbClr val="1C1C1A"/>
                </a:solidFill>
                <a:latin typeface="Calibri"/>
              </a:rPr>
              <a:t> </a:t>
            </a:r>
          </a:p>
          <a:p>
            <a:pPr algn="l"/>
            <a:r>
              <a:rPr b="0" sz="2100">
                <a:solidFill>
                  <a:srgbClr val="1C1C1A"/>
                </a:solidFill>
                <a:latin typeface="Calibri"/>
              </a:rPr>
              <a:t>The Codespace you opened this morning is the environment for the whole programme.</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What runs AI-free</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The three major exams, the mock interviews, the project presentations and the business case discussions all run AI-free and proctored.</a:t>
            </a:r>
          </a:p>
          <a:p>
            <a:pPr algn="l"/>
            <a:r>
              <a:rPr b="0" sz="2100">
                <a:solidFill>
                  <a:srgbClr val="1C1C1A"/>
                </a:solidFill>
                <a:latin typeface="Calibri"/>
              </a:rPr>
              <a:t> </a:t>
            </a:r>
          </a:p>
          <a:p>
            <a:pPr algn="l"/>
            <a:r>
              <a:rPr b="0" sz="2100">
                <a:solidFill>
                  <a:srgbClr val="1C1C1A"/>
                </a:solidFill>
                <a:latin typeface="Calibri"/>
              </a:rPr>
              <a:t>The Saturday recap paper is AI-free because it is written on paper.</a:t>
            </a:r>
          </a:p>
          <a:p>
            <a:pPr algn="l"/>
            <a:r>
              <a:rPr b="0" sz="2100">
                <a:solidFill>
                  <a:srgbClr val="1C1C1A"/>
                </a:solidFill>
                <a:latin typeface="Calibri"/>
              </a:rPr>
              <a:t> </a:t>
            </a:r>
          </a:p>
          <a:p>
            <a:pPr algn="l"/>
            <a:r>
              <a:rPr b="0" sz="2100">
                <a:solidFill>
                  <a:srgbClr val="1C1C1A"/>
                </a:solidFill>
                <a:latin typeface="Calibri"/>
              </a:rPr>
              <a:t>Individual labs are marked AI-free on the day they run, and tomorrow's read-clean-write lab is one of them.</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Before tomorrow</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Finish the take-home, </a:t>
            </a:r>
            <a:r>
              <a:rPr b="0" sz="1800">
                <a:solidFill>
                  <a:srgbClr val="2B4A7D"/>
                </a:solidFill>
                <a:latin typeface="Consolas"/>
              </a:rPr>
              <a:t>C2_W01_D01_takehome_STUDENT.md</a:t>
            </a:r>
            <a:r>
              <a:rPr b="0" sz="2100">
                <a:solidFill>
                  <a:srgbClr val="1C1C1A"/>
                </a:solidFill>
                <a:latin typeface="Calibri"/>
              </a:rPr>
              <a:t>. It extends today's counter to report two buckets, above and below the threshold, and it asks for one markdown cell explaining the planted text amount in your own words.</a:t>
            </a:r>
          </a:p>
          <a:p>
            <a:pPr algn="l"/>
            <a:r>
              <a:rPr b="0" sz="2100">
                <a:solidFill>
                  <a:srgbClr val="1C1C1A"/>
                </a:solidFill>
                <a:latin typeface="Calibri"/>
              </a:rPr>
              <a:t> </a:t>
            </a:r>
          </a:p>
          <a:p>
            <a:pPr algn="l"/>
            <a:r>
              <a:rPr b="0" sz="2100">
                <a:solidFill>
                  <a:srgbClr val="1C1C1A"/>
                </a:solidFill>
                <a:latin typeface="Calibri"/>
              </a:rPr>
              <a:t>Read the pre-read, </a:t>
            </a:r>
            <a:r>
              <a:rPr b="0" sz="1800">
                <a:solidFill>
                  <a:srgbClr val="2B4A7D"/>
                </a:solidFill>
                <a:latin typeface="Consolas"/>
              </a:rPr>
              <a:t>C2_W01_D01_preread_STUDENT.md</a:t>
            </a:r>
            <a:r>
              <a:rPr b="0" sz="2100">
                <a:solidFill>
                  <a:srgbClr val="1C1C1A"/>
                </a:solidFill>
                <a:latin typeface="Calibri"/>
              </a:rPr>
              <a:t>, and fill its gap sheet before you sleep. Tomorrow's first hour will feel like revision.</a:t>
            </a:r>
          </a:p>
          <a:p>
            <a:pPr algn="l"/>
            <a:r>
              <a:rPr b="0" sz="2100">
                <a:solidFill>
                  <a:srgbClr val="1C1C1A"/>
                </a:solidFill>
                <a:latin typeface="Calibri"/>
              </a:rPr>
              <a:t> </a:t>
            </a:r>
          </a:p>
          <a:p>
            <a:pPr algn="l"/>
            <a:r>
              <a:rPr b="0" sz="2100">
                <a:solidFill>
                  <a:srgbClr val="1C1C1A"/>
                </a:solidFill>
                <a:latin typeface="Calibri"/>
              </a:rPr>
              <a:t>Watch the dictionaries video on the student reference list: Corey Schafer, Dictionaries, video: link to be found.</a:t>
            </a:r>
          </a:p>
          <a:p>
            <a:pPr algn="l"/>
            <a:r>
              <a:rPr b="0" sz="2100">
                <a:solidFill>
                  <a:srgbClr val="1C1C1A"/>
                </a:solidFill>
                <a:latin typeface="Calibri"/>
              </a:rPr>
              <a:t> </a:t>
            </a:r>
          </a:p>
          <a:p>
            <a:pPr algn="l"/>
            <a:r>
              <a:rPr b="0" sz="2100">
                <a:solidFill>
                  <a:srgbClr val="1C1C1A"/>
                </a:solidFill>
                <a:latin typeface="Calibri"/>
              </a:rPr>
              <a:t>Nothing to install tonight. The Codespace is already the environment.</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introduction: the company, the journey, the room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