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You have just watched a notebook answer a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The notebook on this screen answered one question: "Of these thirty Kalpa Retail orders, how much did we actually collect?"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It came back with 13 delivered orders, Rs 25,720.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Nobody has told you who Kalpa is. That is the first thing to fix.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introduction: the company, the journey, the room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Where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800">
                <a:solidFill>
                  <a:srgbClr val="2B4A7D"/>
                </a:solidFill>
                <a:latin typeface="Consolas"/>
              </a:rPr>
              <a:t>[the company] &gt; [the journey] &gt; [the room]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Three things stand between you and the code: the company every example lives inside, the journey you are twenty weeks into starting, and how this room actually runs.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introduction: the company, the journey, the room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Calibri"/>
              </a:rPr>
              <a:t>SECTION 1: THE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onsolas"/>
              </a:rPr>
              <a:t>[the company]</a:t>
            </a:r>
            <a:r>
              <a:rPr b="0" sz="1800">
                <a:solidFill>
                  <a:srgbClr val="FFFFFF"/>
                </a:solidFill>
                <a:latin typeface="Consolas"/>
              </a:rPr>
              <a:t> &gt; [the journey] &gt; [the room]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introduction: the company, the journey, the room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Kalpa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Kalpa Group is a diversified global conglomerate with five business units across five industries, and it is headquartered in Singapore.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Its largest engineering and data centre sits in Bengaluru.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Every example you meet for the next twenty weeks happens inside this company.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introduction: the company, the journey, the room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Where you sit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You sit in the Data and AI team inside Kalpa's Bengaluru global capability centre, and that centre serves all five business units.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Each business unit owns its own operations. The Bengaluru centre owns the data, the models and the AI systems that every unit runs on.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This cohort is that team's newest member, and it started work this morning.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introduction: the company, the journey, the room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mental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4592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C1C1A"/>
                </a:solidFill>
                <a:latin typeface="Calibri"/>
              </a:rPr>
              <a:t>Five territories under one group.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880360"/>
            <a:ext cx="2834640" cy="1188720"/>
          </a:xfrm>
          <a:prstGeom prst="roundRect">
            <a:avLst/>
          </a:prstGeom>
          <a:solidFill>
            <a:srgbClr val="2B4A7D"/>
          </a:solidFill>
          <a:ln w="12700">
            <a:solidFill>
              <a:srgbClr val="2B4A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Kalpa Group
Bengaluru Data and AI team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46320" y="1417320"/>
            <a:ext cx="5394960" cy="786384"/>
          </a:xfrm>
          <a:prstGeom prst="roundRect">
            <a:avLst/>
          </a:prstGeom>
          <a:solidFill>
            <a:srgbClr val="E4ECF7"/>
          </a:solidFill>
          <a:ln w="12700">
            <a:solidFill>
              <a:srgbClr val="2B4A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C1C1A"/>
                </a:solidFill>
                <a:latin typeface="Calibri"/>
              </a:rPr>
              <a:t>Kalpa Retail, the teaching spine
sells consumer goods online and in store across India and South-East Asia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3657600" y="1810512"/>
            <a:ext cx="1188720" cy="1664208"/>
          </a:xfrm>
          <a:prstGeom prst="line">
            <a:avLst/>
          </a:prstGeom>
          <a:ln w="15875">
            <a:solidFill>
              <a:srgbClr val="2B4A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846320" y="2350008"/>
            <a:ext cx="5394960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B4A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C1C1A"/>
                </a:solidFill>
                <a:latin typeface="Calibri"/>
              </a:rPr>
              <a:t>Kalpa Financial Services
sells payments and consumer lending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3657600" y="2743200"/>
            <a:ext cx="1188720" cy="731520"/>
          </a:xfrm>
          <a:prstGeom prst="line">
            <a:avLst/>
          </a:prstGeom>
          <a:ln w="15875">
            <a:solidFill>
              <a:srgbClr val="2B4A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846320" y="3282696"/>
            <a:ext cx="5394960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B4A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C1C1A"/>
                </a:solidFill>
                <a:latin typeface="Calibri"/>
              </a:rPr>
              <a:t>Kalpa Logistics
runs last-mile delivery and warehousing for every other unit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57600" y="3474720"/>
            <a:ext cx="1188720" cy="201168"/>
          </a:xfrm>
          <a:prstGeom prst="line">
            <a:avLst/>
          </a:prstGeom>
          <a:ln w="15875">
            <a:solidFill>
              <a:srgbClr val="2B4A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846320" y="4215384"/>
            <a:ext cx="5394960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B4A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C1C1A"/>
                </a:solidFill>
                <a:latin typeface="Calibri"/>
              </a:rPr>
              <a:t>Kalpa Health
runs diagnostic labs and clinic operations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657600" y="3474720"/>
            <a:ext cx="1188720" cy="1133856"/>
          </a:xfrm>
          <a:prstGeom prst="line">
            <a:avLst/>
          </a:prstGeom>
          <a:ln w="15875">
            <a:solidFill>
              <a:srgbClr val="2B4A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846320" y="5148072"/>
            <a:ext cx="5394960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B4A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C1C1A"/>
                </a:solidFill>
                <a:latin typeface="Calibri"/>
              </a:rPr>
              <a:t>Kalpa Connect
sells mobile, broadband and subscription services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657600" y="3474720"/>
            <a:ext cx="1188720" cy="2066544"/>
          </a:xfrm>
          <a:prstGeom prst="line">
            <a:avLst/>
          </a:prstGeom>
          <a:ln w="15875">
            <a:solidFill>
              <a:srgbClr val="2B4A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introduction: the company, the journey, the room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Which territory you live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Teaching lives in Kalpa Retail and stays there. Every demo, every exercise and every take-home on a teaching day works Kalpa Retail records.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Build weeks tour the other four units, one sub-problem per unit, so you meet fraud, delivery times, no-shows and churn inside the same company.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The domain never changes on a teaching day, because you cannot absorb a new idea and a new business at the same 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introduction: the company, the journey, the room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entity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4592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C1C1A"/>
                </a:solidFill>
                <a:latin typeface="Calibri"/>
              </a:rPr>
              <a:t>These are the tables of Kalpa Retail. Today you meet one of them, as a list.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31720"/>
            <a:ext cx="23774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B4A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C1C1A"/>
                </a:solidFill>
                <a:latin typeface="Calibri"/>
              </a:rPr>
              <a:t>CUSTOMERS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931920"/>
            <a:ext cx="23774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B4A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C1C1A"/>
                </a:solidFill>
                <a:latin typeface="Calibri"/>
              </a:rPr>
              <a:t>EVENTS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23360" y="2331720"/>
            <a:ext cx="23774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B4A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C1C1A"/>
                </a:solidFill>
                <a:latin typeface="Calibri"/>
              </a:rPr>
              <a:t>ORDERS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0" y="3931920"/>
            <a:ext cx="23774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B4A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C1C1A"/>
                </a:solidFill>
                <a:latin typeface="Calibri"/>
              </a:rPr>
              <a:t>PAYMENTS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0" y="2331720"/>
            <a:ext cx="23774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B4A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C1C1A"/>
                </a:solidFill>
                <a:latin typeface="Calibri"/>
              </a:rPr>
              <a:t>ORDER_ITEMS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0" y="3931920"/>
            <a:ext cx="23774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B4A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C1C1A"/>
                </a:solidFill>
                <a:latin typeface="Calibri"/>
              </a:rPr>
              <a:t>PRODUCTS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00400" y="2720340"/>
            <a:ext cx="822960" cy="0"/>
          </a:xfrm>
          <a:prstGeom prst="line">
            <a:avLst/>
          </a:prstGeom>
          <a:ln w="15875">
            <a:solidFill>
              <a:srgbClr val="2B4A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880360" y="2574036"/>
            <a:ext cx="1463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5F6360"/>
                </a:solidFill>
                <a:latin typeface="Calibri"/>
              </a:rPr>
              <a:t>places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11680" y="3108960"/>
            <a:ext cx="0" cy="822960"/>
          </a:xfrm>
          <a:prstGeom prst="line">
            <a:avLst/>
          </a:prstGeom>
          <a:ln w="15875">
            <a:solidFill>
              <a:srgbClr val="2B4A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691640" y="3374136"/>
            <a:ext cx="1463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5F6360"/>
                </a:solidFill>
                <a:latin typeface="Calibri"/>
              </a:rPr>
              <a:t>generates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00800" y="2720340"/>
            <a:ext cx="822960" cy="0"/>
          </a:xfrm>
          <a:prstGeom prst="line">
            <a:avLst/>
          </a:prstGeom>
          <a:ln w="15875">
            <a:solidFill>
              <a:srgbClr val="2B4A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80760" y="2574036"/>
            <a:ext cx="1463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5F6360"/>
                </a:solidFill>
                <a:latin typeface="Calibri"/>
              </a:rPr>
              <a:t>contains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212080" y="3108960"/>
            <a:ext cx="0" cy="822960"/>
          </a:xfrm>
          <a:prstGeom prst="line">
            <a:avLst/>
          </a:prstGeom>
          <a:ln w="15875">
            <a:solidFill>
              <a:srgbClr val="2B4A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892040" y="3374136"/>
            <a:ext cx="1463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5F6360"/>
                </a:solidFill>
                <a:latin typeface="Calibri"/>
              </a:rPr>
              <a:t>settled by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8412480" y="2331720"/>
            <a:ext cx="0" cy="2377440"/>
          </a:xfrm>
          <a:prstGeom prst="line">
            <a:avLst/>
          </a:prstGeom>
          <a:ln w="15875">
            <a:solidFill>
              <a:srgbClr val="2B4A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092440" y="3374136"/>
            <a:ext cx="1463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5F6360"/>
                </a:solidFill>
                <a:latin typeface="Calibri"/>
              </a:rPr>
              <a:t>appears 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introduction: the company, the journey, the room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What each table holds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CUSTOMERS holds one row per person who buys from Kalpa Retail, with the segment they sit in and the city they buy from.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ORDERS holds one row per order, with its date, its amount in Rs and its status.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ORDER_ITEMS holds one row per product inside an order, with the quantity ordered.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PAYMENTS holds one row per payment that settles an order, with the amount actually paid.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PRODUCTS holds one row per product, with its category and its list price.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EVENTS holds one row per thing a customer did, such as a visit, a search or a checkout, with the moment it happened.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introduction: the company, the journey, the room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same records, five shapes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The thirty orders in front of you are a Python list today.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The same records become a table in Postgres in Week 2, and a DataFrame in pandas in the same week.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They become a feature table when the modelling weeks arrive, and a document corpus when retrieval arrives in Weeks 11 and 12.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The tool changes every few weeks. The company is the one thing that does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introduction: the company, the journey, the room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Draw it 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Close the laptop and take a sheet of paper.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In 3 minutes, draw Kalpa from memory: five boxes for the five units, then the six tables of Kalpa Retail with the lines that join them.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Compare with the person next to you and fix whichever box either of you missed. You will be drawing this again in Week 15.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introduction: the company, the journey, the room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One disclaimer, said once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Kalpa Group is fictional. Any resemblance to a real company is coincidental.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The problems are real, the data behaves the way real data behaves, and the company is a teaching device that lets you grow inside one business instead of re-orienting to a new one every session.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introduction: the company, the journey, the room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Calibri"/>
              </a:rPr>
              <a:t>SECTION 2: THE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800">
                <a:solidFill>
                  <a:srgbClr val="FFFFFF"/>
                </a:solidFill>
                <a:latin typeface="Consolas"/>
              </a:rPr>
              <a:t>[the company] &gt; </a:t>
            </a:r>
            <a:r>
              <a:rPr b="1" sz="1800">
                <a:solidFill>
                  <a:srgbClr val="FFFFFF"/>
                </a:solidFill>
                <a:latin typeface="Consolas"/>
              </a:rPr>
              <a:t>[the journey]</a:t>
            </a:r>
            <a:r>
              <a:rPr b="0" sz="1800">
                <a:solidFill>
                  <a:srgbClr val="FFFFFF"/>
                </a:solidFill>
                <a:latin typeface="Consolas"/>
              </a:rPr>
              <a:t> &gt; [the room]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introduction: the company, the journey, the room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programme in five phases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Each phase is a promise about what you can do when it closes.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| Phase | Weeks | What you can do when it closes |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|---|---|---|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| Genesis | 1 to 4 | You can take a file nobody prepared, clean it, query it in SQL, reshape it in pandas, and turn it into the metrics a business decision rests on. |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| Forge | 5 to 8 | You can frame a problem as a model, train it, say honestly how well it works and where it fails, and explain what a language model does when it produces the next token. |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| Ascent | 9 to 12 | You can build with a generative model and ship a retrieval assistant that answers from Kalpa's own documents and refuses when the documents do not answer. |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| Build | 13 to 16 | You can build an agentic system that uses tools, and run it under production conditions where cost, latency and failure are measured. |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| Launch | 17 to 20 | You can carry one problem from a brief to a working system and defend it in front of a panel. |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introduction: the company, the journey, the room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weeks that run differently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Build weeks fall at Weeks 3, 6, 9, 12 and 15. Every other week teaches.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The three major exams fall in Weeks 5, 10 and 15. Each one runs across its week as a continuous activity.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That is the whole of what is fixed about them today. The rest arrives with the week.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introduction: the company, the journey, the room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This week, day by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Monday, today: you can open the Codespace, run and recover a notebook, and answer a counting question on records nobody explained to you.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Tuesday: you can package a rule into a function you call again, survive a bad record by name, log why you rejected it, and move data across the file boundary in both directions.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Wednesday: you can profile a dataset before you touch it, clean it with a written reason behind every decision, and prove that input equals clean plus rejected.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Thursday: you can say what is typical and how spread out the data is without misleading anyone, and hand over a segment summary that carries its denominators.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introduction: the company, the journey, the room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Friday and Saturday this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Friday 2 October is Gandhi Jayanti. The institute is closed and there is no session, so teaching for Week 1 ends on Thursday.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Saturday is the recap paper built from this week's own interview question set, then the discussion of every answer as an interview answer.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introduction: the company, the journey, the room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Saturday promise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By Saturday you can take a file nobody prepared to a defensible answer.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Four days build that sentence, one step each: read it, clean it, profile it, describe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introduction: the company, the journey, the room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Today, as four promises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You understand that the kernel holds what you gave it between runs, that a value's type decides what an operator means, and that a dataset is a list of named records.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You can launch the Codespace, run and edit and recover the notebook, and answer counting and totalling questions with a loop, a condition and an accumulator.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You can handle a NameError that came from running cells out of order, a TypeError when a text amount meets a number, and a missing key through </a:t>
            </a:r>
            <a:r>
              <a:rPr b="0" sz="1800">
                <a:solidFill>
                  <a:srgbClr val="2B4A7D"/>
                </a:solidFill>
                <a:latin typeface="Consolas"/>
              </a:rPr>
              <a:t>.get()</a:t>
            </a:r>
            <a:r>
              <a:rPr b="0" sz="2100">
                <a:solidFill>
                  <a:srgbClr val="1C1C1A"/>
                </a:solidFill>
                <a:latin typeface="Calibri"/>
              </a:rPr>
              <a:t> with a default you chose on purpose.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You can defend what a kernel restart resets, and say why refusing a cross-type comparison is safer than a spreadsheet quietly guessing.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The one line to carry out of today. You can take thirty records nobody explained to you and come back with a number, and you can say what would break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introduction: the company, the journey, the room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Calibri"/>
              </a:rPr>
              <a:t>SECTION 3: THE 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800">
                <a:solidFill>
                  <a:srgbClr val="FFFFFF"/>
                </a:solidFill>
                <a:latin typeface="Consolas"/>
              </a:rPr>
              <a:t>[the company] &gt; [the journey] &gt; </a:t>
            </a:r>
            <a:r>
              <a:rPr b="1" sz="1800">
                <a:solidFill>
                  <a:srgbClr val="FFFFFF"/>
                </a:solidFill>
                <a:latin typeface="Consolas"/>
              </a:rPr>
              <a:t>[the room]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introduction: the company, the journey, the room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How a teaching day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1. Scenario setting: the day opens on a question somebody at Kalpa actually needs answered.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2. The trainer demo: a working thing runs on screen with its output visible before anything is explained.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3. The guided exercise: the trainer builds it step by step and the room mirrors it on their own Codespace.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4. The unguided exercise: you attempt it in session with no hints, and the solution is released at the close of the session.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5. The Kahoot traps round, which is ungraded and is read as a signal of attention and retention.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6. A short platform check on Neo.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7. Close-out, which names tomorrow.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introduction: the company, the journey, the room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How Saturday runs on a teaching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Saturday opens with a pen-and-paper recap paper drawn from the week's own interview question set. It runs for about two hours, it is AI-free by its format, and it is ungraded.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After a break, the Academic TA leads the solution discussion. Papers are swapped so that you cross-evaluate a peer's answers against the discussed solution, every answer is treated as an interview answer, and call-outs land at random throughout.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introduction: the company, the journey, the room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How a build week differs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The Programme Head opens a build week by introducing the mini projects.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You work in groups of four. Each build week carries five sub-problems, one drawn from each Kalpa unit, and three groups take each sub-problem, so the panel hears three views of the same business problem back to back.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The industry expert attends on Friday and Saturday. No tests run in a build week.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introduction: the company, the journey, the room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platforms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| Platform | What it is for |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|---|---|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| Neo | Neo carries all the tests and the exams, and the daily platform check runs there. |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| CodeChef | CodeChef carries the daily competitive coding practice, which carries no assessment. |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| GitHub | GitHub carries your exercises, your projects and your portfolio. |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| LMS | The LMS carries the content and your submissions. |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This cohort does not use Slack.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introduction: the company, the journey, the room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You work in VS Code with GitHub Codespaces, so nothing is installed on your laptop and every learner runs the same machine.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Python work lives in </a:t>
            </a:r>
            <a:r>
              <a:rPr b="0" sz="1800">
                <a:solidFill>
                  <a:srgbClr val="2B4A7D"/>
                </a:solidFill>
                <a:latin typeface="Consolas"/>
              </a:rPr>
              <a:t>.ipynb</a:t>
            </a:r>
            <a:r>
              <a:rPr b="0" sz="2100">
                <a:solidFill>
                  <a:srgbClr val="1C1C1A"/>
                </a:solidFill>
                <a:latin typeface="Calibri"/>
              </a:rPr>
              <a:t> notebooks. SQL work lives in </a:t>
            </a:r>
            <a:r>
              <a:rPr b="0" sz="1800">
                <a:solidFill>
                  <a:srgbClr val="2B4A7D"/>
                </a:solidFill>
                <a:latin typeface="Consolas"/>
              </a:rPr>
              <a:t>.sql</a:t>
            </a:r>
            <a:r>
              <a:rPr b="0" sz="2100">
                <a:solidFill>
                  <a:srgbClr val="1C1C1A"/>
                </a:solidFill>
                <a:latin typeface="Calibri"/>
              </a:rPr>
              <a:t> files run against Postgres.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The Codespace you opened this morning is the environment for the whole programme.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introduction: the company, the journey, the room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What runs AI-free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The three major exams, the mock interviews, the project presentations and the business case discussions all run AI-free and proctored.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The Saturday recap paper is AI-free because it is written on paper.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Individual labs are marked AI-free on the day they run, and tomorrow's read-clean-write lab is one of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introduction: the company, the journey, the room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Before tomorrow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Finish the take-home, </a:t>
            </a:r>
            <a:r>
              <a:rPr b="0" sz="1800">
                <a:solidFill>
                  <a:srgbClr val="2B4A7D"/>
                </a:solidFill>
                <a:latin typeface="Consolas"/>
              </a:rPr>
              <a:t>C2_W01_D01_takehome_STUDENT.md</a:t>
            </a:r>
            <a:r>
              <a:rPr b="0" sz="2100">
                <a:solidFill>
                  <a:srgbClr val="1C1C1A"/>
                </a:solidFill>
                <a:latin typeface="Calibri"/>
              </a:rPr>
              <a:t>. It extends today's counter to report two buckets, above and below the threshold, and it asks for one markdown cell explaining the planted text amount in your own words.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Read the pre-read, </a:t>
            </a:r>
            <a:r>
              <a:rPr b="0" sz="1800">
                <a:solidFill>
                  <a:srgbClr val="2B4A7D"/>
                </a:solidFill>
                <a:latin typeface="Consolas"/>
              </a:rPr>
              <a:t>C2_W01_D01_preread_STUDENT.md</a:t>
            </a:r>
            <a:r>
              <a:rPr b="0" sz="2100">
                <a:solidFill>
                  <a:srgbClr val="1C1C1A"/>
                </a:solidFill>
                <a:latin typeface="Calibri"/>
              </a:rPr>
              <a:t>, and fill its gap sheet before you sleep. Tomorrow's first hour will feel like revision.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Watch the dictionaries video on the student reference list: Corey Schafer, Dictionaries, video: link to be found.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Nothing to install tonight. The Codespace is already the environment.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introduction: the company, the journey, the room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