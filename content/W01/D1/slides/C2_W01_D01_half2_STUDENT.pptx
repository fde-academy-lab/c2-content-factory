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For more depth: sections 2 and 5 of the retail dossier, study-notes/C2_W01_D01_domain_retail_STUDENT.md, on Retail-Plus and the acquisition payback.</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so put the cost of each option</a:t>
            </a:r>
          </a:p>
          <a:p>
            <a:r>
              <a:t>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Bring the parts route to marketing, since the lift on the lift has its own line there.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For more depth: section 5 of the retail dossier, study-notes/C2_W01_D01_domain_retail_STUDENT.md, on retention and cohorts.</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the day's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first month measured volume, and</a:t>
            </a:r>
          </a:p>
          <a:p>
            <a:r>
              <a:t>the verdict on quality came fifteen months later.</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measures the usual gap from the customers who did come back and holds</a:t>
            </a:r>
          </a:p>
          <a:p>
            <a:r>
              <a:t>back everyone who has not had that long. An 88-day window only sees gaps shorter than 88 days, so</a:t>
            </a:r>
          </a:p>
          <a:p>
            <a:r>
              <a:t>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measures the gap on more customers,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The 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Remind the room that booked revenue still counts every order and the consumer view</a:t>
            </a:r>
          </a:p>
          <a:p>
            <a:r>
              <a:t>answers the plan's narrower question. Let the pairs say from their own table where the rest of</a:t>
            </a:r>
          </a:p>
          <a:p>
            <a:r>
              <a:t>store's booked 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3691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753165"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594702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331076"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hold up</a:t>
            </a:r>
          </a:p>
        </p:txBody>
      </p:sp>
      <p:sp>
        <p:nvSpPr>
          <p:cNvPr id="19" name="TextBox 18"/>
          <p:cNvSpPr txBox="1"/>
          <p:nvPr/>
        </p:nvSpPr>
        <p:spPr>
          <a:xfrm>
            <a:off x="746579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7849838"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886625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9250299"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Can you say it</a:t>
            </a:r>
          </a:p>
        </p:txBody>
      </p:sp>
      <p:sp>
        <p:nvSpPr>
          <p:cNvPr id="23" name="TextBox 22"/>
          <p:cNvSpPr txBox="1"/>
          <p:nvPr/>
        </p:nvSpPr>
        <p:spPr>
          <a:xfrm>
            <a:off x="104441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10828210" y="5248656"/>
            <a:ext cx="774382" cy="185166"/>
          </a:xfrm>
          <a:prstGeom prst="rect">
            <a:avLst/>
          </a:prstGeom>
          <a:noFill/>
        </p:spPr>
        <p:txBody>
          <a:bodyPr wrap="square" anchor="t" lIns="0" rIns="0" tIns="0" bIns="0">
            <a:spAutoFit/>
          </a:bodyPr>
          <a:lstStyle/>
          <a:p>
            <a:pPr algn="l"/>
            <a:r>
              <a:rPr sz="900" b="0" i="0">
                <a:solidFill>
                  <a:srgbClr val="FFFFFF"/>
                </a:solidFill>
                <a:latin typeface="Calibri"/>
              </a:rPr>
              <a:t>What stays</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e97e6a0ef2b70bd0.png"/>
          <p:cNvPicPr>
            <a:picLocks noChangeAspect="1"/>
          </p:cNvPicPr>
          <p:nvPr/>
        </p:nvPicPr>
        <p:blipFill>
          <a:blip r:embed="rId5"/>
          <a:stretch>
            <a:fillRect/>
          </a:stretch>
        </p:blipFill>
        <p:spPr>
          <a:xfrm>
            <a:off x="2816866" y="1723167"/>
            <a:ext cx="6557962"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same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1" name="Oval 5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5" name="Oval 5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4" name="Oval 33"/>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6" name="Oval 35"/>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8" name="Oval 37"/>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0" name="Oval 39"/>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d6c210c8dd94c363.png"/>
          <p:cNvPicPr>
            <a:picLocks noChangeAspect="1"/>
          </p:cNvPicPr>
          <p:nvPr/>
        </p:nvPicPr>
        <p:blipFill>
          <a:blip r:embed="rId5"/>
          <a:stretch>
            <a:fillRect/>
          </a:stretch>
        </p:blipFill>
        <p:spPr>
          <a:xfrm>
            <a:off x="530352" y="2383912"/>
            <a:ext cx="4786326" cy="3114302"/>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91c6e99e185595da.png"/>
          <p:cNvPicPr>
            <a:picLocks noChangeAspect="1"/>
          </p:cNvPicPr>
          <p:nvPr/>
        </p:nvPicPr>
        <p:blipFill>
          <a:blip r:embed="rId5"/>
          <a:stretch>
            <a:fillRect/>
          </a:stretch>
        </p:blipFill>
        <p:spPr>
          <a:xfrm>
            <a:off x="3331216" y="1956816"/>
            <a:ext cx="5529262"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aa489c56d0e796e8.png"/>
          <p:cNvPicPr>
            <a:picLocks noChangeAspect="1"/>
          </p:cNvPicPr>
          <p:nvPr/>
        </p:nvPicPr>
        <p:blipFill>
          <a:blip r:embed="rId5"/>
          <a:stretch>
            <a:fillRect/>
          </a:stretch>
        </p:blipFill>
        <p:spPr>
          <a:xfrm>
            <a:off x="923265" y="2583751"/>
            <a:ext cx="4000500" cy="2714625"/>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6" name="Oval 25"/>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0" name="Oval 29"/>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1211b72884280062.png"/>
          <p:cNvPicPr>
            <a:picLocks noChangeAspect="1"/>
          </p:cNvPicPr>
          <p:nvPr/>
        </p:nvPicPr>
        <p:blipFill>
          <a:blip r:embed="rId6"/>
          <a:stretch>
            <a:fillRect/>
          </a:stretch>
        </p:blipFill>
        <p:spPr>
          <a:xfrm>
            <a:off x="4488290" y="1664208"/>
            <a:ext cx="3215114"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5" name="Oval 34"/>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9" name="Oval 38"/>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9" name="Oval 2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3" name="Oval 3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276fe97e245b70c5.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same total?</a:t>
            </a:r>
          </a:p>
        </p:txBody>
      </p:sp>
      <p:pic>
        <p:nvPicPr>
          <p:cNvPr id="9" name="mermaid diagram" descr="ef39c7b08a52b671.png"/>
          <p:cNvPicPr>
            <a:picLocks noChangeAspect="1"/>
          </p:cNvPicPr>
          <p:nvPr/>
        </p:nvPicPr>
        <p:blipFill>
          <a:blip r:embed="rId6"/>
          <a:stretch>
            <a:fillRect/>
          </a:stretch>
        </p:blipFill>
        <p:spPr>
          <a:xfrm>
            <a:off x="530352" y="1956816"/>
            <a:ext cx="11130991" cy="1101940"/>
          </a:xfrm>
          <a:prstGeom prst="rect">
            <a:avLst/>
          </a:prstGeom>
        </p:spPr>
      </p:pic>
      <p:sp>
        <p:nvSpPr>
          <p:cNvPr id="10" name="TextBox 9"/>
          <p:cNvSpPr txBox="1"/>
          <p:nvPr/>
        </p:nvSpPr>
        <p:spPr>
          <a:xfrm>
            <a:off x="530352" y="32050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41052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374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47196"/>
            <a:ext cx="237744" cy="237744"/>
          </a:xfrm>
          <a:prstGeom prst="rect">
            <a:avLst/>
          </a:prstGeom>
        </p:spPr>
      </p:pic>
      <p:sp>
        <p:nvSpPr>
          <p:cNvPr id="14" name="TextBox 13"/>
          <p:cNvSpPr txBox="1"/>
          <p:nvPr/>
        </p:nvSpPr>
        <p:spPr>
          <a:xfrm>
            <a:off x="1399031" y="42515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47099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64eb4623e7e68133.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same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9" name="Oval 3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3" name="Oval 4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chapter's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does the first draft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9" name="Oval 4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1" name="Oval 5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3" name="Oval 5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5" name="Oval 5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CFC9EE"/>
                </a:solidFill>
                <a:latin typeface="Calibri"/>
              </a:rPr>
              <a:t>Its chief executive said the focus on cost had lowered quality, and customers would always be able to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sentence carries a caveat so that one window's number is not taken as the verdict.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9" name="Oval 2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3" name="Oval 3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54d016d809ae53d1.png"/>
          <p:cNvPicPr>
            <a:picLocks noChangeAspect="1"/>
          </p:cNvPicPr>
          <p:nvPr/>
        </p:nvPicPr>
        <p:blipFill>
          <a:blip r:embed="rId5"/>
          <a:stretch>
            <a:fillRect/>
          </a:stretch>
        </p:blipFill>
        <p:spPr>
          <a:xfrm>
            <a:off x="5068055" y="1664208"/>
            <a:ext cx="20555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8dd151c101b70ddc.png"/>
          <p:cNvPicPr>
            <a:picLocks noChangeAspect="1"/>
          </p:cNvPicPr>
          <p:nvPr/>
        </p:nvPicPr>
        <p:blipFill>
          <a:blip r:embed="rId5"/>
          <a:stretch>
            <a:fillRect/>
          </a:stretch>
        </p:blipFill>
        <p:spPr>
          <a:xfrm>
            <a:off x="2052485" y="1956816"/>
            <a:ext cx="808672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first draft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4" name="Oval 2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6" name="Oval 2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8" name="Oval 2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1" name="Oval 3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3" name="Oval 3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7" name="Oval 3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dab0fe087ae369a7.png"/>
          <p:cNvPicPr>
            <a:picLocks noChangeAspect="1"/>
          </p:cNvPicPr>
          <p:nvPr/>
        </p:nvPicPr>
        <p:blipFill>
          <a:blip r:embed="rId5"/>
          <a:stretch>
            <a:fillRect/>
          </a:stretch>
        </p:blipFill>
        <p:spPr>
          <a:xfrm>
            <a:off x="3881285" y="1956816"/>
            <a:ext cx="4429125"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0eb41c4408bbd8c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1" name="Oval 2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5" name="Oval 2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6e6853590db16f67.png"/>
          <p:cNvPicPr>
            <a:picLocks noChangeAspect="1"/>
          </p:cNvPicPr>
          <p:nvPr/>
        </p:nvPicPr>
        <p:blipFill>
          <a:blip r:embed="rId5"/>
          <a:stretch>
            <a:fillRect/>
          </a:stretch>
        </p:blipFill>
        <p:spPr>
          <a:xfrm>
            <a:off x="2888303" y="1848771"/>
            <a:ext cx="6415087" cy="2443162"/>
          </a:xfrm>
          <a:prstGeom prst="rect">
            <a:avLst/>
          </a:prstGeom>
        </p:spPr>
      </p:pic>
      <p:sp>
        <p:nvSpPr>
          <p:cNvPr id="10" name="Rounded Rectangle 9"/>
          <p:cNvSpPr/>
          <p:nvPr/>
        </p:nvSpPr>
        <p:spPr>
          <a:xfrm>
            <a:off x="530352" y="4438237"/>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38237"/>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c20b678d9c23b5b5.png"/>
          <p:cNvPicPr>
            <a:picLocks noChangeAspect="1"/>
          </p:cNvPicPr>
          <p:nvPr/>
        </p:nvPicPr>
        <p:blipFill>
          <a:blip r:embed="rId5"/>
          <a:stretch>
            <a:fillRect/>
          </a:stretch>
        </p:blipFill>
        <p:spPr>
          <a:xfrm>
            <a:off x="1545278" y="3336036"/>
            <a:ext cx="9101137"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returns rate on last week's orders</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Returns arrive days after delivery, so the newest orders look cleaner than they are.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Members not yet due to renew</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 whose renewal falls after the extract ends has not lapsed, whatever the file shows.</a:t>
            </a:r>
          </a:p>
        </p:txBody>
      </p:sp>
      <p:sp>
        <p:nvSpPr>
          <p:cNvPr id="22" name="TextBox 21"/>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5" name="Oval 2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7" name="Oval 2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9" name="Oval 28"/>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1" name="Oval 30"/>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3" name="Oval 32"/>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5" name="Oval 34"/>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of the chapter's six questions find?</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7" name="Oval 3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9" name="Oval 38"/>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1" name="Oval 4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3" name="Oval 4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answer survive on the orders that stayed delivered?</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Count orders, customers by id and orders per customer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Find 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Size the 15 percent plan on delivered revenue, and price a discount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Hold back one-time buyers too recent to judge, then pick the branch and the headline.</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Write 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8" name="Oval 47"/>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339274"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2" name="Oval 51"/>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6" name="Oval 55"/>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39274"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2" name="Oval 3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4" name="Oval 33"/>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6" name="Oval 3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8" name="Oval 3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0" name="Oval 39"/>
          <p:cNvSpPr/>
          <p:nvPr/>
        </p:nvSpPr>
        <p:spPr>
          <a:xfrm>
            <a:off x="43491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458843"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hold up</a:t>
            </a:r>
          </a:p>
        </p:txBody>
      </p:sp>
      <p:sp>
        <p:nvSpPr>
          <p:cNvPr id="42" name="Oval 41"/>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4" name="Oval 43"/>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46" name="Oval 45"/>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named as not cancelled, goes in the note.</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90268"/>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25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32228"/>
            <a:ext cx="237744" cy="237744"/>
          </a:xfrm>
          <a:prstGeom prst="rect">
            <a:avLst/>
          </a:prstGeom>
        </p:spPr>
      </p:pic>
      <p:sp>
        <p:nvSpPr>
          <p:cNvPr id="12" name="TextBox 11"/>
          <p:cNvSpPr txBox="1"/>
          <p:nvPr/>
        </p:nvSpPr>
        <p:spPr>
          <a:xfrm>
            <a:off x="1399031" y="203657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56028"/>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ectangle 13"/>
          <p:cNvSpPr/>
          <p:nvPr/>
        </p:nvSpPr>
        <p:spPr>
          <a:xfrm>
            <a:off x="1381734" y="374345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1281150"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19" name="TextBox 18"/>
          <p:cNvSpPr txBox="1"/>
          <p:nvPr/>
        </p:nvSpPr>
        <p:spPr>
          <a:xfrm>
            <a:off x="69494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0" name="TextBox 19"/>
          <p:cNvSpPr txBox="1"/>
          <p:nvPr/>
        </p:nvSpPr>
        <p:spPr>
          <a:xfrm>
            <a:off x="241599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3166795"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41599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58058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4" name="TextBox 23"/>
          <p:cNvSpPr txBox="1"/>
          <p:nvPr/>
        </p:nvSpPr>
        <p:spPr>
          <a:xfrm>
            <a:off x="258058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5" name="TextBox 24"/>
          <p:cNvSpPr txBox="1"/>
          <p:nvPr/>
        </p:nvSpPr>
        <p:spPr>
          <a:xfrm>
            <a:off x="430164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505244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430164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46623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29" name="TextBox 28"/>
          <p:cNvSpPr txBox="1"/>
          <p:nvPr/>
        </p:nvSpPr>
        <p:spPr>
          <a:xfrm>
            <a:off x="446623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0" name="TextBox 29"/>
          <p:cNvSpPr txBox="1"/>
          <p:nvPr/>
        </p:nvSpPr>
        <p:spPr>
          <a:xfrm>
            <a:off x="6187287"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1" name="Oval 30"/>
          <p:cNvSpPr/>
          <p:nvPr/>
        </p:nvSpPr>
        <p:spPr>
          <a:xfrm>
            <a:off x="6938086"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187287"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51879"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4" name="TextBox 33"/>
          <p:cNvSpPr txBox="1"/>
          <p:nvPr/>
        </p:nvSpPr>
        <p:spPr>
          <a:xfrm>
            <a:off x="6351879"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5" name="TextBox 34"/>
          <p:cNvSpPr txBox="1"/>
          <p:nvPr/>
        </p:nvSpPr>
        <p:spPr>
          <a:xfrm>
            <a:off x="8072932"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6" name="Oval 35"/>
          <p:cNvSpPr/>
          <p:nvPr/>
        </p:nvSpPr>
        <p:spPr>
          <a:xfrm>
            <a:off x="8823731" y="36520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072932" y="406349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37524" y="420979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39" name="TextBox 38"/>
          <p:cNvSpPr txBox="1"/>
          <p:nvPr/>
        </p:nvSpPr>
        <p:spPr>
          <a:xfrm>
            <a:off x="8237524" y="449757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0" name="TextBox 39"/>
          <p:cNvSpPr txBox="1"/>
          <p:nvPr/>
        </p:nvSpPr>
        <p:spPr>
          <a:xfrm>
            <a:off x="9958578" y="317652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1" name="Oval 40"/>
          <p:cNvSpPr/>
          <p:nvPr/>
        </p:nvSpPr>
        <p:spPr>
          <a:xfrm>
            <a:off x="10709376" y="36520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9958578" y="406349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123170" y="420979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4" name="TextBox 43"/>
          <p:cNvSpPr txBox="1"/>
          <p:nvPr/>
        </p:nvSpPr>
        <p:spPr>
          <a:xfrm>
            <a:off x="10123170" y="449757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5" name="TextBox 44"/>
          <p:cNvSpPr txBox="1"/>
          <p:nvPr/>
        </p:nvSpPr>
        <p:spPr>
          <a:xfrm>
            <a:off x="530352" y="549605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15 minutes, in the second case brief and its notebook; argue each item before you record it.</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8" name="Oval 4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0" name="Oval 4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52" name="Oval 51"/>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54" name="Oval 53"/>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56" name="Oval 55"/>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8" name="Oval 57"/>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60" name="TextBox 5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af6d7a6b69ef2dbb.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c1dfd2e6df4eda57.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Once the view keeps the three consumer segments Meera's plan concerns, store's share falls from 91.6 to 29.2 percent, Rs 18,920 of Rs 64,810, so its headline share came from outside those segments;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f370961bb6e89c18.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Rs 14,970 of it came back as returns.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9" name="Oval 18"/>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3" name="Oval 22"/>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d644ead71be64554.png"/>
          <p:cNvPicPr>
            <a:picLocks noChangeAspect="1"/>
          </p:cNvPicPr>
          <p:nvPr/>
        </p:nvPicPr>
        <p:blipFill>
          <a:blip r:embed="rId7"/>
          <a:stretch>
            <a:fillRect/>
          </a:stretch>
        </p:blipFill>
        <p:spPr>
          <a:xfrm>
            <a:off x="4175174" y="1664208"/>
            <a:ext cx="3841346" cy="2295144"/>
          </a:xfrm>
          <a:prstGeom prst="rect">
            <a:avLst/>
          </a:prstGeom>
        </p:spPr>
      </p:pic>
      <p:sp>
        <p:nvSpPr>
          <p:cNvPr id="10" name="Rounded Rectangle 9"/>
          <p:cNvSpPr/>
          <p:nvPr/>
        </p:nvSpPr>
        <p:spPr>
          <a:xfrm>
            <a:off x="530352" y="40050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6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57657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94183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5" name="Rounded Rectangle 14"/>
          <p:cNvSpPr/>
          <p:nvPr/>
        </p:nvSpPr>
        <p:spPr>
          <a:xfrm>
            <a:off x="530352" y="55504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8826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992368"/>
            <a:ext cx="237744" cy="237744"/>
          </a:xfrm>
          <a:prstGeom prst="rect">
            <a:avLst/>
          </a:prstGeom>
        </p:spPr>
      </p:pic>
      <p:sp>
        <p:nvSpPr>
          <p:cNvPr id="18" name="TextBox 17"/>
          <p:cNvSpPr txBox="1"/>
          <p:nvPr/>
        </p:nvSpPr>
        <p:spPr>
          <a:xfrm>
            <a:off x="1399031" y="5696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916168"/>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4" name="Oval 2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8" name="Oval 27"/>
          <p:cNvSpPr/>
          <p:nvPr/>
        </p:nvSpPr>
        <p:spPr>
          <a:xfrm>
            <a:off x="54226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532405"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30" name="Oval 29"/>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2" name="Oval 3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18" name="Oval 17"/>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4042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13957"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Can you say it</a:t>
            </a:r>
          </a:p>
        </p:txBody>
      </p:sp>
      <p:sp>
        <p:nvSpPr>
          <p:cNvPr id="22" name="Oval 21"/>
          <p:cNvSpPr/>
          <p:nvPr/>
        </p:nvSpPr>
        <p:spPr>
          <a:xfrm>
            <a:off x="75237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33525" y="6437376"/>
            <a:ext cx="734377" cy="152146"/>
          </a:xfrm>
          <a:prstGeom prst="rect">
            <a:avLst/>
          </a:prstGeom>
          <a:noFill/>
        </p:spPr>
        <p:txBody>
          <a:bodyPr wrap="square" anchor="t" lIns="0" rIns="0" tIns="0" bIns="0">
            <a:spAutoFit/>
          </a:bodyPr>
          <a:lstStyle/>
          <a:p>
            <a:pPr algn="l"/>
            <a:r>
              <a:rPr sz="700" b="0" i="0">
                <a:solidFill>
                  <a:srgbClr val="6B6690"/>
                </a:solidFill>
                <a:latin typeface="Calibri"/>
              </a:rPr>
              <a:t>What stays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932702"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5237214"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hold up</a:t>
            </a:r>
          </a:p>
        </p:txBody>
      </p:sp>
      <p:sp>
        <p:nvSpPr>
          <p:cNvPr id="14" name="Rounded Rectangle 13"/>
          <p:cNvSpPr/>
          <p:nvPr/>
        </p:nvSpPr>
        <p:spPr>
          <a:xfrm>
            <a:off x="6482510"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609373"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a:t>
            </a:r>
          </a:p>
        </p:txBody>
      </p:sp>
      <p:sp>
        <p:nvSpPr>
          <p:cNvPr id="16" name="Rounded Rectangle 15"/>
          <p:cNvSpPr/>
          <p:nvPr/>
        </p:nvSpPr>
        <p:spPr>
          <a:xfrm>
            <a:off x="8913885" y="5074920"/>
            <a:ext cx="95791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stays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8" name="Oval 2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30" name="Oval 2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2" name="Oval 3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34" name="Oval 33"/>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5f37d6e5a8b4682b.png"/>
          <p:cNvPicPr>
            <a:picLocks noChangeAspect="1"/>
          </p:cNvPicPr>
          <p:nvPr/>
        </p:nvPicPr>
        <p:blipFill>
          <a:blip r:embed="rId5"/>
          <a:stretch>
            <a:fillRect/>
          </a:stretch>
        </p:blipFill>
        <p:spPr>
          <a:xfrm>
            <a:off x="4512476" y="1664208"/>
            <a:ext cx="3166742"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0" name="Oval 19"/>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4" name="Oval 23"/>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47" name="Oval 46"/>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51" name="Oval 50"/>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dd794d6c2d730c58.png"/>
          <p:cNvPicPr>
            <a:picLocks noChangeAspect="1"/>
          </p:cNvPicPr>
          <p:nvPr/>
        </p:nvPicPr>
        <p:blipFill>
          <a:blip r:embed="rId6"/>
          <a:stretch>
            <a:fillRect/>
          </a:stretch>
        </p:blipFill>
        <p:spPr>
          <a:xfrm>
            <a:off x="3266922" y="3243072"/>
            <a:ext cx="5657850" cy="26289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43491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58843"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hold up</a:t>
            </a:r>
          </a:p>
        </p:txBody>
      </p:sp>
      <p:sp>
        <p:nvSpPr>
          <p:cNvPr id="23" name="Oval 22"/>
          <p:cNvSpPr/>
          <p:nvPr/>
        </p:nvSpPr>
        <p:spPr>
          <a:xfrm>
            <a:off x="54226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532405"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4042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13957"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Can you say it</a:t>
            </a:r>
          </a:p>
        </p:txBody>
      </p:sp>
      <p:sp>
        <p:nvSpPr>
          <p:cNvPr id="27" name="Oval 26"/>
          <p:cNvSpPr/>
          <p:nvPr/>
        </p:nvSpPr>
        <p:spPr>
          <a:xfrm>
            <a:off x="75237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633525" y="6437376"/>
            <a:ext cx="734377" cy="152146"/>
          </a:xfrm>
          <a:prstGeom prst="rect">
            <a:avLst/>
          </a:prstGeom>
          <a:noFill/>
        </p:spPr>
        <p:txBody>
          <a:bodyPr wrap="square" anchor="t" lIns="0" rIns="0" tIns="0" bIns="0">
            <a:spAutoFit/>
          </a:bodyPr>
          <a:lstStyle/>
          <a:p>
            <a:pPr algn="l"/>
            <a:r>
              <a:rPr sz="700" b="1" i="0">
                <a:solidFill>
                  <a:srgbClr val="5B3FD6"/>
                </a:solidFill>
                <a:latin typeface="Calibri"/>
              </a:rPr>
              <a:t>What stays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