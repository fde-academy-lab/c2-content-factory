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For more depth: sections 2 and 5 of the retail dossier, study-notes/C2_W01_D01_domain_retail_STUDENT.md, on Retail-Plus and the acquisition payback.</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so put the cost of each option</a:t>
            </a:r>
          </a:p>
          <a:p>
            <a:r>
              <a:t>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Bring the parts route to marketing, since the lift on the lift has its own line there.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For more depth: section 5 of the retail dossier, study-notes/C2_W01_D01_domain_retail_STUDENT.md, on retention and cohorts.</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the day's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first month measured volume, and</a:t>
            </a:r>
          </a:p>
          <a:p>
            <a:r>
              <a:t>the verdict on quality came fifteen months later.</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measures the usual gap from the customers who did come back and holds</a:t>
            </a:r>
          </a:p>
          <a:p>
            <a:r>
              <a:t>back everyone who has not had that long. An 88-day window only sees gaps shorter than 88 days, so</a:t>
            </a:r>
          </a:p>
          <a:p>
            <a:r>
              <a:t>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shows which of the 9 came back,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2 to brief, then 15 in pairs with no slides. Say the format aloud: in pairs, 15</a:t>
            </a:r>
          </a:p>
          <a:p>
            <a:r>
              <a:t>minutes, in the second case brief and its notebook, arguing each item before recording it. The</a:t>
            </a:r>
          </a:p>
          <a:p>
            <a:r>
              <a:t>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Remind the room that booked revenue still counts every order and the consumer view</a:t>
            </a:r>
          </a:p>
          <a:p>
            <a:r>
              <a:t>answers the plan's narrower question. Let the pairs say from their own table where the rest of</a:t>
            </a:r>
          </a:p>
          <a:p>
            <a:r>
              <a:t>store's booked 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 One pair answers the interview question aloud: count the orders behind the share, keep</a:t>
            </a:r>
          </a:p>
          <a:p>
            <a:r>
              <a:t>the segments the plan concerns, and say that the branch stays with two leaks named.</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954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79502"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871466"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Does the branch survive?</a:t>
            </a:r>
          </a:p>
        </p:txBody>
      </p:sp>
      <p:sp>
        <p:nvSpPr>
          <p:cNvPr id="17" name="TextBox 16"/>
          <p:cNvSpPr txBox="1"/>
          <p:nvPr/>
        </p:nvSpPr>
        <p:spPr>
          <a:xfrm>
            <a:off x="665683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7040880"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numbers hold up?</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9091993" y="5248656"/>
            <a:ext cx="1898237" cy="185166"/>
          </a:xfrm>
          <a:prstGeom prst="rect">
            <a:avLst/>
          </a:prstGeom>
          <a:noFill/>
        </p:spPr>
        <p:txBody>
          <a:bodyPr wrap="square" anchor="t" lIns="0" rIns="0" tIns="0" bIns="0">
            <a:spAutoFit/>
          </a:bodyPr>
          <a:lstStyle/>
          <a:p>
            <a:pPr algn="l"/>
            <a:r>
              <a:rPr sz="900" b="0" i="0">
                <a:solidFill>
                  <a:srgbClr val="FFFFFF"/>
                </a:solidFill>
                <a:latin typeface="Calibri"/>
              </a:rPr>
              <a:t>Where does revenue come from?</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1005839" y="5669280"/>
            <a:ext cx="1993392" cy="185166"/>
          </a:xfrm>
          <a:prstGeom prst="rect">
            <a:avLst/>
          </a:prstGeom>
          <a:noFill/>
        </p:spPr>
        <p:txBody>
          <a:bodyPr wrap="square" anchor="t" lIns="0" rIns="0" tIns="0" bIns="0">
            <a:spAutoFit/>
          </a:bodyPr>
          <a:lstStyle/>
          <a:p>
            <a:pPr algn="l"/>
            <a:r>
              <a:rPr sz="900" b="0" i="0">
                <a:solidFill>
                  <a:srgbClr val="FFFFFF"/>
                </a:solidFill>
                <a:latin typeface="Calibri"/>
              </a:rPr>
              <a:t>Can you answer the interviewer?</a:t>
            </a:r>
          </a:p>
        </p:txBody>
      </p:sp>
      <p:sp>
        <p:nvSpPr>
          <p:cNvPr id="23" name="TextBox 22"/>
          <p:cNvSpPr txBox="1"/>
          <p:nvPr/>
        </p:nvSpPr>
        <p:spPr>
          <a:xfrm>
            <a:off x="318211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3566160" y="5669280"/>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Meera hear?</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e97e6a0ef2b70bd0.png"/>
          <p:cNvPicPr>
            <a:picLocks noChangeAspect="1"/>
          </p:cNvPicPr>
          <p:nvPr/>
        </p:nvPicPr>
        <p:blipFill>
          <a:blip r:embed="rId5"/>
          <a:stretch>
            <a:fillRect/>
          </a:stretch>
        </p:blipFill>
        <p:spPr>
          <a:xfrm>
            <a:off x="2816866" y="1723167"/>
            <a:ext cx="6557962"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1 read sales four ways, 30 orders booked for Rs 5,44,810, Rs 5,35,760 not cancelled and Rs 5,20,790 delivered;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1" name="Oval 2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22647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067718"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501346" y="5074920"/>
            <a:ext cx="14700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81117" y="5074920"/>
            <a:ext cx="137261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63459" y="5074920"/>
            <a:ext cx="17136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86803" y="5074920"/>
            <a:ext cx="176776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64291"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branch Meera opens first,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multiplied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is measured against the 15 percent plan, with what each branch alone would have to do.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goes to a branch that was fine, or the plan is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4" name="Oval 33"/>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6" name="Oval 35"/>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8" name="Oval 37"/>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0" name="Oval 39"/>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c6209a98178c9392.png"/>
          <p:cNvPicPr>
            <a:picLocks noChangeAspect="1"/>
          </p:cNvPicPr>
          <p:nvPr/>
        </p:nvPicPr>
        <p:blipFill>
          <a:blip r:embed="rId5"/>
          <a:stretch>
            <a:fillRect/>
          </a:stretch>
        </p:blipFill>
        <p:spPr>
          <a:xfrm>
            <a:off x="530352" y="2639183"/>
            <a:ext cx="4786326" cy="2603761"/>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a:t>
            </a:r>
          </a:p>
          <a:p>
            <a:pPr>
              <a:spcAft>
                <a:spcPts val="200"/>
              </a:spcAft>
            </a:pPr>
            <a:r>
              <a:rPr sz="1400" b="0" i="0">
                <a:solidFill>
                  <a:srgbClr val="E4E1F1"/>
                </a:solidFill>
                <a:latin typeface="Consolas"/>
              </a:rPr>
              <a:t>            "Student"}</a:t>
            </a:r>
          </a:p>
          <a:p>
            <a:pPr>
              <a:spcAft>
                <a:spcPts val="200"/>
              </a:spcAft>
            </a:pPr>
            <a:r>
              <a:rPr sz="1400" b="0" i="0">
                <a:solidFill>
                  <a:srgbClr val="E4E1F1"/>
                </a:solidFill>
                <a:latin typeface="Consolas"/>
              </a:rPr>
              <a:t>consumer = [o for o in ORDERS</a:t>
            </a:r>
          </a:p>
          <a:p>
            <a:pPr>
              <a:spcAft>
                <a:spcPts val="200"/>
              </a:spcAft>
            </a:pPr>
            <a:r>
              <a:rPr sz="1400" b="0" i="0">
                <a:solidFill>
                  <a:srgbClr val="E4E1F1"/>
                </a:solidFill>
                <a:latin typeface="Consolas"/>
              </a:rPr>
              <a:t>            if o["segment"] in CONSUMER]</a:t>
            </a:r>
          </a:p>
          <a:p>
            <a:pPr>
              <a:spcAft>
                <a:spcPts val="200"/>
              </a:spcAft>
            </a:pPr>
            <a:r>
              <a:rPr sz="1400" b="0" i="0">
                <a:solidFill>
                  <a:srgbClr val="E4E1F1"/>
                </a:solidFill>
                <a:latin typeface="Consolas"/>
              </a:rPr>
              <a:t>base = sum(o["amount"] for o in consumer)</a:t>
            </a:r>
          </a:p>
          <a:p>
            <a:pPr>
              <a:spcAft>
                <a:spcPts val="200"/>
              </a:spcAft>
            </a:pPr>
            <a:r>
              <a:rPr sz="1400" b="0" i="0">
                <a:solidFill>
                  <a:srgbClr val="E4E1F1"/>
                </a:solidFill>
                <a:latin typeface="Consolas"/>
              </a:rPr>
              <a:t>plan = base * 1.15</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91c6e99e185595da.png"/>
          <p:cNvPicPr>
            <a:picLocks noChangeAspect="1"/>
          </p:cNvPicPr>
          <p:nvPr/>
        </p:nvPicPr>
        <p:blipFill>
          <a:blip r:embed="rId5"/>
          <a:stretch>
            <a:fillRect/>
          </a:stretch>
        </p:blipFill>
        <p:spPr>
          <a:xfrm>
            <a:off x="3331216" y="1956816"/>
            <a:ext cx="5529262" cy="2714625"/>
          </a:xfrm>
          <a:prstGeom prst="rect">
            <a:avLst/>
          </a:prstGeom>
        </p:spPr>
      </p:pic>
      <p:sp>
        <p:nvSpPr>
          <p:cNvPr id="10" name="Rounded Rectangle 9"/>
          <p:cNvSpPr/>
          <p:nvPr/>
        </p:nvSpPr>
        <p:spPr>
          <a:xfrm>
            <a:off x="530352" y="48177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457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366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aa489c56d0e796e8.png"/>
          <p:cNvPicPr>
            <a:picLocks noChangeAspect="1"/>
          </p:cNvPicPr>
          <p:nvPr/>
        </p:nvPicPr>
        <p:blipFill>
          <a:blip r:embed="rId5"/>
          <a:stretch>
            <a:fillRect/>
          </a:stretch>
        </p:blipFill>
        <p:spPr>
          <a:xfrm>
            <a:off x="923265" y="2583751"/>
            <a:ext cx="4000500" cy="2714625"/>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62528"/>
            <a:ext cx="589942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90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90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90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91712"/>
            <a:ext cx="5442225"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factor x 1.15, the other two held</a:t>
            </a:r>
          </a:p>
          <a:p>
            <a:pPr>
              <a:spcAft>
                <a:spcPts val="200"/>
              </a:spcAft>
            </a:pPr>
            <a:r>
              <a:rPr sz="1400" b="0" i="0">
                <a:solidFill>
                  <a:srgbClr val="E4E1F1"/>
                </a:solidFill>
                <a:latin typeface="Consolas"/>
              </a:rPr>
              <a:t>(cust * 1.15) * per_cust * value == plan</a:t>
            </a:r>
          </a:p>
          <a:p>
            <a:pPr>
              <a:spcAft>
                <a:spcPts val="200"/>
              </a:spcAft>
            </a:pPr>
            <a:r>
              <a:rPr sz="1400" b="0" i="0">
                <a:solidFill>
                  <a:srgbClr val="E4E1F1"/>
                </a:solidFill>
                <a:latin typeface="Consolas"/>
              </a:rPr>
              <a:t>cust * (per_cust * 1.15) * value == plan</a:t>
            </a:r>
          </a:p>
          <a:p>
            <a:pPr>
              <a:spcAft>
                <a:spcPts val="200"/>
              </a:spcAft>
            </a:pPr>
            <a:r>
              <a:rPr sz="1400" b="0" i="0">
                <a:solidFill>
                  <a:srgbClr val="E4E1F1"/>
                </a:solidFill>
                <a:latin typeface="Consolas"/>
              </a:rPr>
              <a:t>cust * per_cust * (value * 1.15) == plan</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4" name="Oval 23"/>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6" name="Oval 25"/>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8" name="Oval 27"/>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0" name="Oval 29"/>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3130238"/>
                <a:gridCol w="8000753"/>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 and of whom</a:t>
                      </a:r>
                    </a:p>
                  </a:txBody>
                  <a:tcPr marL="101600" marR="101600" marT="38100" marB="38100" anchor="ctr">
                    <a:solidFill>
                      <a:srgbClr val="1A0F5C"/>
                    </a:solidFill>
                  </a:tcPr>
                </a:tc>
              </a:tr>
              <a:tr h="611632">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It needs 15 percent more customers who buy like today's, all of them 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It needs 15 percent more orders from the customers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It needs Rs 335 more on every basket, the mean rising from Rs 2,235 to Rs 2,570.</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It needs every price 15 percent higher, with no shopper buying any less.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1211b72884280062.png"/>
          <p:cNvPicPr>
            <a:picLocks noChangeAspect="1"/>
          </p:cNvPicPr>
          <p:nvPr/>
        </p:nvPicPr>
        <p:blipFill>
          <a:blip r:embed="rId6"/>
          <a:stretch>
            <a:fillRect/>
          </a:stretch>
        </p:blipFill>
        <p:spPr>
          <a:xfrm>
            <a:off x="4488290" y="1664208"/>
            <a:ext cx="3215114"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3" name="Oval 32"/>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b2153d9cbf91e550.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multiplied total of Rs 78,420?</a:t>
            </a:r>
          </a:p>
        </p:txBody>
      </p:sp>
      <p:pic>
        <p:nvPicPr>
          <p:cNvPr id="9" name="mermaid diagram" descr="ef39c7b08a52b671.png"/>
          <p:cNvPicPr>
            <a:picLocks noChangeAspect="1"/>
          </p:cNvPicPr>
          <p:nvPr/>
        </p:nvPicPr>
        <p:blipFill>
          <a:blip r:embed="rId6"/>
          <a:stretch>
            <a:fillRect/>
          </a:stretch>
        </p:blipFill>
        <p:spPr>
          <a:xfrm>
            <a:off x="530352" y="1956816"/>
            <a:ext cx="11130991" cy="1101940"/>
          </a:xfrm>
          <a:prstGeom prst="rect">
            <a:avLst/>
          </a:prstGeom>
        </p:spPr>
      </p:pic>
      <p:sp>
        <p:nvSpPr>
          <p:cNvPr id="10" name="TextBox 9"/>
          <p:cNvSpPr txBox="1"/>
          <p:nvPr/>
        </p:nvSpPr>
        <p:spPr>
          <a:xfrm>
            <a:off x="530352" y="32050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 the slide's Rs 77,772 stops one part short.</a:t>
            </a:r>
          </a:p>
        </p:txBody>
      </p:sp>
      <p:sp>
        <p:nvSpPr>
          <p:cNvPr id="11" name="Rounded Rectangle 10"/>
          <p:cNvSpPr/>
          <p:nvPr/>
        </p:nvSpPr>
        <p:spPr>
          <a:xfrm>
            <a:off x="530352" y="41052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374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47196"/>
            <a:ext cx="237744" cy="237744"/>
          </a:xfrm>
          <a:prstGeom prst="rect">
            <a:avLst/>
          </a:prstGeom>
        </p:spPr>
      </p:pic>
      <p:sp>
        <p:nvSpPr>
          <p:cNvPr id="14" name="TextBox 13"/>
          <p:cNvSpPr txBox="1"/>
          <p:nvPr/>
        </p:nvSpPr>
        <p:spPr>
          <a:xfrm>
            <a:off x="1399031" y="42515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470996"/>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when you need the total, and build the parts when someone asks where the extra came from, since the lift on the lift shows as its own line.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5a0fec5702db920d.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to reach the 15 percent plan, and why not the others?</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Which base is the plan sized on?</a:t>
            </a:r>
            <a:r>
              <a:rPr sz="1100" b="0" i="0">
                <a:solidFill>
                  <a:srgbClr val="1A1440"/>
                </a:solidFill>
                <a:latin typeface="Calibri"/>
              </a:rPr>
              <a:t> It is sized on the consumer view, whose Rs 64,810 needs Rs 9,722 more.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What would each branch have to do alone?</a:t>
            </a:r>
            <a:r>
              <a:rPr sz="1100" b="0" i="0">
                <a:solidFill>
                  <a:srgbClr val="1A1440"/>
                </a:solidFill>
                <a:latin typeface="Calibri"/>
              </a:rPr>
              <a:t> Each would have to rise the whole 15 percent.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branch has evidence behind it?</a:t>
            </a:r>
            <a:r>
              <a:rPr sz="1100" b="0" i="0">
                <a:solidFill>
                  <a:srgbClr val="1A1440"/>
                </a:solidFill>
                <a:latin typeface="Calibri"/>
              </a:rPr>
              <a:t> Frequency has, since 7 of 23 customers came back.</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Do two 10 percent lifts make 20 percent?</a:t>
            </a:r>
            <a:r>
              <a:rPr sz="1100" b="0" i="0">
                <a:solidFill>
                  <a:srgbClr val="1A1440"/>
                </a:solidFill>
                <a:latin typeface="Calibri"/>
              </a:rPr>
              <a:t> They make 21 percent, Rs 78,420 against Rs 77,772.</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the four parts land on the multiplied total?</a:t>
            </a:r>
            <a:r>
              <a:rPr sz="1100" b="0" i="0">
                <a:solidFill>
                  <a:srgbClr val="1A1440"/>
                </a:solidFill>
                <a:latin typeface="Calibri"/>
              </a:rPr>
              <a:t> They do, on Rs 78,420.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would switch the call?</a:t>
            </a:r>
            <a:r>
              <a:rPr sz="1100" b="0" i="0">
                <a:solidFill>
                  <a:srgbClr val="1A1440"/>
                </a:solidFill>
                <a:latin typeface="Calibri"/>
              </a:rPr>
              <a:t> Customers falling in a second quarter would, or a retained order costing more than a new one.</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"Pick the branch the evidence points at and the one that costs least to test, then say what would make you pick another. And recompute anything someone adds up."</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Marketing wants budget for acquisition; what would you check before agreeing it is the right branch, and how would you say no?</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3" name="Oval 3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5" name="Oval 3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2264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67718" y="5074920"/>
            <a:ext cx="13238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3501346" y="5074920"/>
            <a:ext cx="14700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81117" y="5074920"/>
            <a:ext cx="137261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63459" y="5074920"/>
            <a:ext cx="17136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86803" y="5074920"/>
            <a:ext cx="176776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64291"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sentence Meera signs,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 in the time Meera has?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does the team's first draft of Meera's sentence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 too recent to judge?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shows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Marketing knocks the claim down in one question, and the team loses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201676"/>
          </a:xfrm>
          <a:prstGeom prst="rect">
            <a:avLst/>
          </a:prstGeom>
          <a:noFill/>
        </p:spPr>
        <p:txBody>
          <a:bodyPr wrap="square" anchor="t" lIns="0" rIns="0" tIns="0" bIns="0">
            <a:spAutoFit/>
          </a:bodyPr>
          <a:lstStyle/>
          <a:p>
            <a:pPr algn="l"/>
            <a:r>
              <a:rPr sz="1000" b="0" i="0">
                <a:solidFill>
                  <a:srgbClr val="6B6690"/>
                </a:solidFill>
                <a:latin typeface="Calibri"/>
              </a:rPr>
              <a:t>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201676"/>
          </a:xfrm>
          <a:prstGeom prst="rect">
            <a:avLst/>
          </a:prstGeom>
          <a:noFill/>
        </p:spPr>
        <p:txBody>
          <a:bodyPr wrap="square" anchor="t" lIns="0" rIns="0" tIns="0" bIns="0">
            <a:spAutoFit/>
          </a:bodyPr>
          <a:lstStyle/>
          <a:p>
            <a:pPr algn="l"/>
            <a:r>
              <a:rPr sz="1000" b="0" i="0">
                <a:solidFill>
                  <a:srgbClr val="CFC9EE"/>
                </a:solidFill>
                <a:latin typeface="Calibri"/>
              </a:rPr>
              <a:t>Fortune, 9 May 2025</a:t>
            </a:r>
          </a:p>
        </p:txBody>
      </p:sp>
      <p:sp>
        <p:nvSpPr>
          <p:cNvPr id="20" name="TextBox 19"/>
          <p:cNvSpPr txBox="1"/>
          <p:nvPr/>
        </p:nvSpPr>
        <p:spPr>
          <a:xfrm>
            <a:off x="530352" y="3930904"/>
            <a:ext cx="11130991" cy="143459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Klarna reported that its AI assistant handled two-thirds of customer-service chats in its first month, and fifteen months later its chief executive said the focus on cost had lowered quality and that customers would always be able to reach a human.</a:t>
            </a:r>
          </a:p>
          <a:p>
            <a:pPr>
              <a:spcAft>
                <a:spcPts val="800"/>
              </a:spcAft>
            </a:pPr>
            <a:r>
              <a:rPr sz="1600" b="0" i="0">
                <a:solidFill>
                  <a:srgbClr val="1A1440"/>
                </a:solidFill>
                <a:latin typeface="Calibri"/>
              </a:rPr>
              <a:t>Meera's sentence carries a caveat so that one window's number is not taken as the verdict.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93224aa77029ee57.png"/>
          <p:cNvPicPr>
            <a:picLocks noChangeAspect="1"/>
          </p:cNvPicPr>
          <p:nvPr/>
        </p:nvPicPr>
        <p:blipFill>
          <a:blip r:embed="rId5"/>
          <a:stretch>
            <a:fillRect/>
          </a:stretch>
        </p:blipFill>
        <p:spPr>
          <a:xfrm>
            <a:off x="3745553" y="1956816"/>
            <a:ext cx="4700587"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8dd151c101b70ddc.png"/>
          <p:cNvPicPr>
            <a:picLocks noChangeAspect="1"/>
          </p:cNvPicPr>
          <p:nvPr/>
        </p:nvPicPr>
        <p:blipFill>
          <a:blip r:embed="rId5"/>
          <a:stretch>
            <a:fillRect/>
          </a:stretch>
        </p:blipFill>
        <p:spPr>
          <a:xfrm>
            <a:off x="2052485" y="1956816"/>
            <a:ext cx="808672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team's first draft of Meera's sentence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1" name="Oval 3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3" name="Oval 3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5" name="Oval 3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7" name="Oval 36"/>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dab0fe087ae369a7.png"/>
          <p:cNvPicPr>
            <a:picLocks noChangeAspect="1"/>
          </p:cNvPicPr>
          <p:nvPr/>
        </p:nvPicPr>
        <p:blipFill>
          <a:blip r:embed="rId5"/>
          <a:stretch>
            <a:fillRect/>
          </a:stretch>
        </p:blipFill>
        <p:spPr>
          <a:xfrm>
            <a:off x="3881285" y="1956816"/>
            <a:ext cx="4429125" cy="1285875"/>
          </a:xfrm>
          <a:prstGeom prst="rect">
            <a:avLst/>
          </a:prstGeom>
        </p:spPr>
      </p:pic>
      <p:sp>
        <p:nvSpPr>
          <p:cNvPr id="10" name="Rounded Rectangle 9"/>
          <p:cNvSpPr/>
          <p:nvPr/>
        </p:nvSpPr>
        <p:spPr>
          <a:xfrm>
            <a:off x="530352" y="33889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0eb41c4408bbd8c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6e6853590db16f67.png"/>
          <p:cNvPicPr>
            <a:picLocks noChangeAspect="1"/>
          </p:cNvPicPr>
          <p:nvPr/>
        </p:nvPicPr>
        <p:blipFill>
          <a:blip r:embed="rId5"/>
          <a:stretch>
            <a:fillRect/>
          </a:stretch>
        </p:blipFill>
        <p:spPr>
          <a:xfrm>
            <a:off x="2888303" y="1848771"/>
            <a:ext cx="6415087" cy="2443162"/>
          </a:xfrm>
          <a:prstGeom prst="rect">
            <a:avLst/>
          </a:prstGeom>
        </p:spPr>
      </p:pic>
      <p:sp>
        <p:nvSpPr>
          <p:cNvPr id="10" name="Rounded Rectangle 9"/>
          <p:cNvSpPr/>
          <p:nvPr/>
        </p:nvSpPr>
        <p:spPr>
          <a:xfrm>
            <a:off x="530352" y="4438237"/>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38237"/>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a:t>
            </a:r>
          </a:p>
          <a:p>
            <a:pPr>
              <a:spcAft>
                <a:spcPts val="200"/>
              </a:spcAft>
            </a:pPr>
            <a:r>
              <a:rPr sz="1400" b="0" i="0">
                <a:solidFill>
                  <a:srgbClr val="E4E1F1"/>
                </a:solidFill>
                <a:latin typeface="Consolas"/>
              </a:rPr>
              <a:t>due_late = [c for c in once_ids if first[c] + timedelta(days=45) &gt; end]</a:t>
            </a:r>
          </a:p>
          <a:p>
            <a:pPr>
              <a:spcAft>
                <a:spcPts val="200"/>
              </a:spcAft>
            </a:pPr>
            <a:r>
              <a:rPr sz="1400" b="0" i="0">
                <a:solidFill>
                  <a:srgbClr val="E4E1F1"/>
                </a:solidFill>
                <a:latin typeface="Consolas"/>
              </a:rPr>
              <a:t>assert set(due_late) == set(too_recent)       # the same 9 customers</a:t>
            </a:r>
          </a:p>
        </p:txBody>
      </p:sp>
      <p:pic>
        <p:nvPicPr>
          <p:cNvPr id="14" name="mermaid diagram" descr="c20b678d9c23b5b5.png"/>
          <p:cNvPicPr>
            <a:picLocks noChangeAspect="1"/>
          </p:cNvPicPr>
          <p:nvPr/>
        </p:nvPicPr>
        <p:blipFill>
          <a:blip r:embed="rId5"/>
          <a:stretch>
            <a:fillRect/>
          </a:stretch>
        </p:blipFill>
        <p:spPr>
          <a:xfrm>
            <a:off x="1545278" y="3336036"/>
            <a:ext cx="9101137"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Returns arrive days after delivery, so a returns rate on last week's orders looks cleaner than it is.</a:t>
            </a:r>
          </a:p>
        </p:txBody>
      </p:sp>
      <p:sp>
        <p:nvSpPr>
          <p:cNvPr id="15" name="Rounded Rectangle 14"/>
          <p:cNvSpPr/>
          <p:nvPr/>
        </p:nvSpPr>
        <p:spPr>
          <a:xfrm>
            <a:off x="6187287"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19" name="TextBox 18"/>
          <p:cNvSpPr txBox="1"/>
          <p:nvPr/>
        </p:nvSpPr>
        <p:spPr>
          <a:xfrm>
            <a:off x="6388455"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A member whose renewal falls after the extract ends has not lapsed, whatever the file shows.</a:t>
            </a:r>
          </a:p>
        </p:txBody>
      </p:sp>
      <p:sp>
        <p:nvSpPr>
          <p:cNvPr id="20" name="TextBox 19"/>
          <p:cNvSpPr txBox="1"/>
          <p:nvPr/>
        </p:nvSpPr>
        <p:spPr>
          <a:xfrm>
            <a:off x="530352" y="39004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one sentence can Meera sign, with its evidence, its branch, its caveat and its ask?</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reads the sentence?</a:t>
            </a:r>
            <a:r>
              <a:rPr sz="1100" b="0" i="0">
                <a:solidFill>
                  <a:srgbClr val="1A1440"/>
                </a:solidFill>
                <a:latin typeface="Calibri"/>
              </a:rPr>
              <a:t> Meera reads it for the decision, and marketing for its weakest number.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form carries the decision in the time Meera has?</a:t>
            </a:r>
            <a:r>
              <a:rPr sz="1100" b="0" i="0">
                <a:solidFill>
                  <a:srgbClr val="1A1440"/>
                </a:solidFill>
                <a:latin typeface="Calibri"/>
              </a:rPr>
              <a:t> One sentence does, in about 20 seconds, with its limit.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does the team's first draft say?</a:t>
            </a:r>
            <a:r>
              <a:rPr sz="1100" b="0" i="0">
                <a:solidFill>
                  <a:srgbClr val="1A1440"/>
                </a:solidFill>
                <a:latin typeface="Calibri"/>
              </a:rPr>
              <a:t> It names 23 customers at 1.30 orders each, Rs 2,205 typical and 16 bought once.</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How many of the 16 are really lost?</a:t>
            </a:r>
            <a:r>
              <a:rPr sz="1100" b="0" i="0">
                <a:solidFill>
                  <a:srgbClr val="1A1440"/>
                </a:solidFill>
                <a:latin typeface="Calibri"/>
              </a:rPr>
              <a:t> At most 7 are, since 9 bought inside the 45-day gap.</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due dates find the same buyers too recent to judge?</a:t>
            </a:r>
            <a:r>
              <a:rPr sz="1100" b="0" i="0">
                <a:solidFill>
                  <a:srgbClr val="1A1440"/>
                </a:solidFill>
                <a:latin typeface="Calibri"/>
              </a:rPr>
              <a:t> They find the same 9.</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does Meera sign?</a:t>
            </a:r>
            <a:r>
              <a:rPr sz="1100" b="0" i="0">
                <a:solidFill>
                  <a:srgbClr val="1A1440"/>
                </a:solidFill>
                <a:latin typeface="Calibri"/>
              </a:rPr>
              <a:t> She signs a sentence that splits the 16 into 7 past the gap and 9 too recent, and opens frequency.</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You have one quarter of orders and 70 percent of customers bought once; what do you tell the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3" name="Oval 32"/>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35" name="Oval 3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branch survive?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frequency first survive on the orders that stayed delivered?</a:t>
            </a:r>
          </a:p>
        </p:txBody>
      </p:sp>
      <p:sp>
        <p:nvSpPr>
          <p:cNvPr id="10" name="Rounded Rectangle 9"/>
          <p:cNvSpPr/>
          <p:nvPr/>
        </p:nvSpPr>
        <p:spPr>
          <a:xfrm>
            <a:off x="731519" y="5074920"/>
            <a:ext cx="12264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67718"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501346" y="5074920"/>
            <a:ext cx="14700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branch survive?</a:t>
            </a:r>
          </a:p>
        </p:txBody>
      </p:sp>
      <p:sp>
        <p:nvSpPr>
          <p:cNvPr id="13" name="Rounded Rectangle 12"/>
          <p:cNvSpPr/>
          <p:nvPr/>
        </p:nvSpPr>
        <p:spPr>
          <a:xfrm>
            <a:off x="5081117" y="5074920"/>
            <a:ext cx="137261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63459" y="5074920"/>
            <a:ext cx="17136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86803" y="5074920"/>
            <a:ext cx="176776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64291"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before the board sees it: an answer failing on delivered orders is restated.</a:t>
            </a:r>
          </a:p>
        </p:txBody>
      </p:sp>
      <p:sp>
        <p:nvSpPr>
          <p:cNvPr id="17" name="TextBox 16"/>
          <p:cNvSpPr txBox="1"/>
          <p:nvPr/>
        </p:nvSpPr>
        <p:spPr>
          <a:xfrm>
            <a:off x="530352" y="3832098"/>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8" name="TextBox 17"/>
          <p:cNvSpPr txBox="1"/>
          <p:nvPr/>
        </p:nvSpPr>
        <p:spPr>
          <a:xfrm>
            <a:off x="1097280" y="3868674"/>
            <a:ext cx="10564063" cy="368808"/>
          </a:xfrm>
          <a:prstGeom prst="rect">
            <a:avLst/>
          </a:prstGeom>
          <a:noFill/>
        </p:spPr>
        <p:txBody>
          <a:bodyPr wrap="square" anchor="t" lIns="0" rIns="0" tIns="0" bIns="0">
            <a:spAutoFit/>
          </a:bodyPr>
          <a:lstStyle/>
          <a:p>
            <a:r>
              <a:rPr sz="1500" b="1" i="0">
                <a:solidFill>
                  <a:srgbClr val="1A1440"/>
                </a:solidFill>
                <a:latin typeface="Calibri"/>
              </a:rPr>
              <a:t>The delivered leaves.</a:t>
            </a:r>
            <a:r>
              <a:rPr sz="1500" b="0" i="0">
                <a:solidFill>
                  <a:srgbClr val="1A1440"/>
                </a:solidFill>
                <a:latin typeface="Calibri"/>
              </a:rPr>
              <a:t> Count orders, customers by id and orders per customer on delivered orders.</a:t>
            </a:r>
          </a:p>
        </p:txBody>
      </p:sp>
      <p:sp>
        <p:nvSpPr>
          <p:cNvPr id="19" name="TextBox 18"/>
          <p:cNvSpPr txBox="1"/>
          <p:nvPr/>
        </p:nvSpPr>
        <p:spPr>
          <a:xfrm>
            <a:off x="530352" y="4274058"/>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20" name="TextBox 19"/>
          <p:cNvSpPr txBox="1"/>
          <p:nvPr/>
        </p:nvSpPr>
        <p:spPr>
          <a:xfrm>
            <a:off x="1097280" y="4310634"/>
            <a:ext cx="10564063" cy="368808"/>
          </a:xfrm>
          <a:prstGeom prst="rect">
            <a:avLst/>
          </a:prstGeom>
          <a:noFill/>
        </p:spPr>
        <p:txBody>
          <a:bodyPr wrap="square" anchor="t" lIns="0" rIns="0" tIns="0" bIns="0">
            <a:spAutoFit/>
          </a:bodyPr>
          <a:lstStyle/>
          <a:p>
            <a:r>
              <a:rPr sz="1500" b="1" i="0">
                <a:solidFill>
                  <a:srgbClr val="1A1440"/>
                </a:solidFill>
                <a:latin typeface="Calibri"/>
              </a:rPr>
              <a:t>The typical delivered order.</a:t>
            </a:r>
            <a:r>
              <a:rPr sz="1500" b="0" i="0">
                <a:solidFill>
                  <a:srgbClr val="1A1440"/>
                </a:solidFill>
                <a:latin typeface="Calibri"/>
              </a:rPr>
              <a:t> Find the mean, the median of an odd count and the orders above the mean.</a:t>
            </a:r>
          </a:p>
        </p:txBody>
      </p:sp>
      <p:sp>
        <p:nvSpPr>
          <p:cNvPr id="21" name="TextBox 20"/>
          <p:cNvSpPr txBox="1"/>
          <p:nvPr/>
        </p:nvSpPr>
        <p:spPr>
          <a:xfrm>
            <a:off x="530352" y="4716018"/>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22" name="TextBox 21"/>
          <p:cNvSpPr txBox="1"/>
          <p:nvPr/>
        </p:nvSpPr>
        <p:spPr>
          <a:xfrm>
            <a:off x="1097280" y="4752594"/>
            <a:ext cx="10564063" cy="368808"/>
          </a:xfrm>
          <a:prstGeom prst="rect">
            <a:avLst/>
          </a:prstGeom>
          <a:noFill/>
        </p:spPr>
        <p:txBody>
          <a:bodyPr wrap="square" anchor="t" lIns="0" rIns="0" tIns="0" bIns="0">
            <a:spAutoFit/>
          </a:bodyPr>
          <a:lstStyle/>
          <a:p>
            <a:r>
              <a:rPr sz="1500" b="1" i="0">
                <a:solidFill>
                  <a:srgbClr val="1A1440"/>
                </a:solidFill>
                <a:latin typeface="Calibri"/>
              </a:rPr>
              <a:t>The plan and the discount.</a:t>
            </a:r>
            <a:r>
              <a:rPr sz="1500" b="0" i="0">
                <a:solidFill>
                  <a:srgbClr val="1A1440"/>
                </a:solidFill>
                <a:latin typeface="Calibri"/>
              </a:rPr>
              <a:t> Size the plan on delivered revenue and price the discount through the tree.</a:t>
            </a:r>
          </a:p>
        </p:txBody>
      </p:sp>
      <p:sp>
        <p:nvSpPr>
          <p:cNvPr id="23" name="TextBox 22"/>
          <p:cNvSpPr txBox="1"/>
          <p:nvPr/>
        </p:nvSpPr>
        <p:spPr>
          <a:xfrm>
            <a:off x="530352" y="5157978"/>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24" name="TextBox 23"/>
          <p:cNvSpPr txBox="1"/>
          <p:nvPr/>
        </p:nvSpPr>
        <p:spPr>
          <a:xfrm>
            <a:off x="1097280" y="5194554"/>
            <a:ext cx="10564063" cy="368808"/>
          </a:xfrm>
          <a:prstGeom prst="rect">
            <a:avLst/>
          </a:prstGeom>
          <a:noFill/>
        </p:spPr>
        <p:txBody>
          <a:bodyPr wrap="square" anchor="t" lIns="0" rIns="0" tIns="0" bIns="0">
            <a:spAutoFit/>
          </a:bodyPr>
          <a:lstStyle/>
          <a:p>
            <a:r>
              <a:rPr sz="1500" b="1" i="0">
                <a:solidFill>
                  <a:srgbClr val="1A1440"/>
                </a:solidFill>
                <a:latin typeface="Calibri"/>
              </a:rPr>
              <a:t>The branch.</a:t>
            </a:r>
            <a:r>
              <a:rPr sz="1500" b="0" i="0">
                <a:solidFill>
                  <a:srgbClr val="1A1440"/>
                </a:solidFill>
                <a:latin typeface="Calibri"/>
              </a:rPr>
              <a:t> Hold back one-time buyers too recent to judge, then pick the branch and the headline.</a:t>
            </a:r>
          </a:p>
        </p:txBody>
      </p:sp>
      <p:sp>
        <p:nvSpPr>
          <p:cNvPr id="25" name="TextBox 24"/>
          <p:cNvSpPr txBox="1"/>
          <p:nvPr/>
        </p:nvSpPr>
        <p:spPr>
          <a:xfrm>
            <a:off x="530352" y="5599938"/>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26" name="TextBox 25"/>
          <p:cNvSpPr txBox="1"/>
          <p:nvPr/>
        </p:nvSpPr>
        <p:spPr>
          <a:xfrm>
            <a:off x="1097280" y="5636514"/>
            <a:ext cx="10564063" cy="368808"/>
          </a:xfrm>
          <a:prstGeom prst="rect">
            <a:avLst/>
          </a:prstGeom>
          <a:noFill/>
        </p:spPr>
        <p:txBody>
          <a:bodyPr wrap="square" anchor="t" lIns="0" rIns="0" tIns="0" bIns="0">
            <a:spAutoFit/>
          </a:bodyPr>
          <a:lstStyle/>
          <a:p>
            <a:r>
              <a:rPr sz="1500" b="1" i="0">
                <a:solidFill>
                  <a:srgbClr val="1A1440"/>
                </a:solidFill>
                <a:latin typeface="Calibri"/>
              </a:rPr>
              <a:t>The sentence.</a:t>
            </a:r>
            <a:r>
              <a:rPr sz="1500" b="0" i="0">
                <a:solidFill>
                  <a:srgbClr val="1A1440"/>
                </a:solidFill>
                <a:latin typeface="Calibri"/>
              </a:rPr>
              <a:t> Write chapter 6's four parts on delivered orders, with what held.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3" name="Oval 32"/>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Rebuild the delivered leaves and find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Size the plan on delivered revenue, price the discount and apply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Write 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2" name="Oval 31"/>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6" name="Oval 35"/>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8" name="Oval 37"/>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hold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2264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67718"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501346" y="5074920"/>
            <a:ext cx="14700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81117" y="5074920"/>
            <a:ext cx="137261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hold up?</a:t>
            </a:r>
          </a:p>
        </p:txBody>
      </p:sp>
      <p:sp>
        <p:nvSpPr>
          <p:cNvPr id="14" name="Rounded Rectangle 13"/>
          <p:cNvSpPr/>
          <p:nvPr/>
        </p:nvSpPr>
        <p:spPr>
          <a:xfrm>
            <a:off x="6563459" y="5074920"/>
            <a:ext cx="17136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86803" y="5074920"/>
            <a:ext cx="176776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64291"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0" name="Oval 39"/>
          <p:cNvSpPr/>
          <p:nvPr/>
        </p:nvSpPr>
        <p:spPr>
          <a:xfrm>
            <a:off x="49011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010912"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42" name="Oval 4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4" name="Oval 43"/>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6" name="Oval 45"/>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21256"/>
          <a:ext cx="11130990" cy="4039616"/>
        </p:xfrm>
        <a:graphic>
          <a:graphicData uri="http://schemas.openxmlformats.org/drawingml/2006/table">
            <a:tbl>
              <a:tblPr firstRow="0" bandRow="0">
                <a:tableStyleId>{2D5ABB26-0587-4C30-8999-92F81FD0307C}</a:tableStyleId>
              </a:tblPr>
              <a:tblGrid>
                <a:gridCol w="1751534"/>
                <a:gridCol w="4646620"/>
                <a:gridCol w="473283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Each total goes out named, with the bridge: Rs 9,050 cancelled, Rs 14,970 returned.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 each named, is the AOV.</a:t>
                      </a:r>
                    </a:p>
                  </a:txBody>
                  <a:tcPr marL="101600" marR="101600" marT="38100" marB="38100" anchor="ctr">
                    <a:solidFill>
                      <a:srgbClr val="F4F2FA"/>
                    </a:solidFill>
                  </a:tcPr>
                </a:tc>
              </a:tr>
              <a:tr h="611632">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Kalpa has 1.30 orders per customer, and 7 came back.</a:t>
                      </a:r>
                    </a:p>
                  </a:txBody>
                  <a:tcPr marL="101600" marR="101600" marT="38100" marB="38100" anchor="ctr">
                    <a:solidFill>
                      <a:srgbClr val="FFFFFF"/>
                    </a:solidFill>
                  </a:tcPr>
                </a:tc>
              </a:tr>
              <a:tr h="611632">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 is the typical order.</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Growth is 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came back, 7 are past the usual gap and 9 are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9011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2" name="Oval 21"/>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revenue come from?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2264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67718"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501346" y="5074920"/>
            <a:ext cx="14700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81117" y="5074920"/>
            <a:ext cx="137261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63459" y="5074920"/>
            <a:ext cx="17136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revenue come from?</a:t>
            </a:r>
          </a:p>
        </p:txBody>
      </p:sp>
      <p:sp>
        <p:nvSpPr>
          <p:cNvPr id="15" name="Rounded Rectangle 14"/>
          <p:cNvSpPr/>
          <p:nvPr/>
        </p:nvSpPr>
        <p:spPr>
          <a:xfrm>
            <a:off x="8386803" y="5074920"/>
            <a:ext cx="176776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64291"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makes the plan store-led: a misread share funds the wrong channel.</a:t>
            </a:r>
          </a:p>
        </p:txBody>
      </p:sp>
      <p:sp>
        <p:nvSpPr>
          <p:cNvPr id="17" name="Rectangle 16"/>
          <p:cNvSpPr/>
          <p:nvPr/>
        </p:nvSpPr>
        <p:spPr>
          <a:xfrm>
            <a:off x="1381734" y="443560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035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9" name="Oval 18"/>
          <p:cNvSpPr/>
          <p:nvPr/>
        </p:nvSpPr>
        <p:spPr>
          <a:xfrm>
            <a:off x="1281150"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3035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494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22" name="TextBox 21"/>
          <p:cNvSpPr txBox="1"/>
          <p:nvPr/>
        </p:nvSpPr>
        <p:spPr>
          <a:xfrm>
            <a:off x="69494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Find each channel's share of booked revenue.</a:t>
            </a:r>
          </a:p>
        </p:txBody>
      </p:sp>
      <p:sp>
        <p:nvSpPr>
          <p:cNvPr id="23" name="TextBox 22"/>
          <p:cNvSpPr txBox="1"/>
          <p:nvPr/>
        </p:nvSpPr>
        <p:spPr>
          <a:xfrm>
            <a:off x="241599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4" name="Oval 23"/>
          <p:cNvSpPr/>
          <p:nvPr/>
        </p:nvSpPr>
        <p:spPr>
          <a:xfrm>
            <a:off x="3166795"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241599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58058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7" name="TextBox 26"/>
          <p:cNvSpPr txBox="1"/>
          <p:nvPr/>
        </p:nvSpPr>
        <p:spPr>
          <a:xfrm>
            <a:off x="258058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 the orders by status in each channel.</a:t>
            </a:r>
          </a:p>
        </p:txBody>
      </p:sp>
      <p:sp>
        <p:nvSpPr>
          <p:cNvPr id="28" name="TextBox 27"/>
          <p:cNvSpPr txBox="1"/>
          <p:nvPr/>
        </p:nvSpPr>
        <p:spPr>
          <a:xfrm>
            <a:off x="430164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9" name="Oval 28"/>
          <p:cNvSpPr/>
          <p:nvPr/>
        </p:nvSpPr>
        <p:spPr>
          <a:xfrm>
            <a:off x="505244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430164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46623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32" name="TextBox 31"/>
          <p:cNvSpPr txBox="1"/>
          <p:nvPr/>
        </p:nvSpPr>
        <p:spPr>
          <a:xfrm>
            <a:off x="446623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Recompute the channels on the three consumer segments.</a:t>
            </a:r>
          </a:p>
        </p:txBody>
      </p:sp>
      <p:sp>
        <p:nvSpPr>
          <p:cNvPr id="33" name="TextBox 32"/>
          <p:cNvSpPr txBox="1"/>
          <p:nvPr/>
        </p:nvSpPr>
        <p:spPr>
          <a:xfrm>
            <a:off x="618728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4" name="Oval 33"/>
          <p:cNvSpPr/>
          <p:nvPr/>
        </p:nvSpPr>
        <p:spPr>
          <a:xfrm>
            <a:off x="6938086"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18728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5187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635187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Split what each channel booked, kept and lost.</a:t>
            </a:r>
          </a:p>
        </p:txBody>
      </p:sp>
      <p:sp>
        <p:nvSpPr>
          <p:cNvPr id="38" name="TextBox 37"/>
          <p:cNvSpPr txBox="1"/>
          <p:nvPr/>
        </p:nvSpPr>
        <p:spPr>
          <a:xfrm>
            <a:off x="807293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9" name="Oval 38"/>
          <p:cNvSpPr/>
          <p:nvPr/>
        </p:nvSpPr>
        <p:spPr>
          <a:xfrm>
            <a:off x="882373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07293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3752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42" name="TextBox 41"/>
          <p:cNvSpPr txBox="1"/>
          <p:nvPr/>
        </p:nvSpPr>
        <p:spPr>
          <a:xfrm>
            <a:off x="823752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Add up revenue for each consumer segment.</a:t>
            </a:r>
          </a:p>
        </p:txBody>
      </p:sp>
      <p:sp>
        <p:nvSpPr>
          <p:cNvPr id="43" name="TextBox 42"/>
          <p:cNvSpPr txBox="1"/>
          <p:nvPr/>
        </p:nvSpPr>
        <p:spPr>
          <a:xfrm>
            <a:off x="9958578"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4" name="Oval 43"/>
          <p:cNvSpPr/>
          <p:nvPr/>
        </p:nvSpPr>
        <p:spPr>
          <a:xfrm>
            <a:off x="10709376" y="434416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9958578" y="475564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123170" y="490194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7" name="TextBox 46"/>
          <p:cNvSpPr txBox="1"/>
          <p:nvPr/>
        </p:nvSpPr>
        <p:spPr>
          <a:xfrm>
            <a:off x="10123170" y="5189728"/>
            <a:ext cx="1373581" cy="531876"/>
          </a:xfrm>
          <a:prstGeom prst="rect">
            <a:avLst/>
          </a:prstGeom>
          <a:noFill/>
        </p:spPr>
        <p:txBody>
          <a:bodyPr wrap="square" anchor="t" lIns="0" rIns="0" tIns="0" bIns="0">
            <a:spAutoFit/>
          </a:bodyPr>
          <a:lstStyle/>
          <a:p>
            <a:pPr algn="l"/>
            <a:r>
              <a:rPr sz="1000" b="0" i="0">
                <a:solidFill>
                  <a:srgbClr val="CFC9EE"/>
                </a:solidFill>
                <a:latin typeface="Calibri"/>
              </a:rPr>
              <a:t>Decide whether the channel view moves it.</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50" name="Oval 4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2" name="Oval 5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54" name="Oval 53"/>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6" name="Oval 55"/>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98526"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58" name="Oval 57"/>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60" name="Oval 59"/>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62" name="TextBox 6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4ebffec6a896cb9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d8b527a24d61bbd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Store's share falls from 91.6 to 29.2 percent once the view keeps the three consumer segments Meera's plan concerns, so its headline share came from outside those segments: store holds Rs 18,920 of the view's Rs 64,810, and web leads with Rs 27,290.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is returned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f370961bb6e89c18.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customers returned Rs 14,970 of it.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d644ead71be64554.png"/>
          <p:cNvPicPr>
            <a:picLocks noChangeAspect="1"/>
          </p:cNvPicPr>
          <p:nvPr/>
        </p:nvPicPr>
        <p:blipFill>
          <a:blip r:embed="rId7"/>
          <a:stretch>
            <a:fillRect/>
          </a:stretch>
        </p:blipFill>
        <p:spPr>
          <a:xfrm>
            <a:off x="651802" y="2583751"/>
            <a:ext cx="4543425" cy="2714625"/>
          </a:xfrm>
          <a:prstGeom prst="rect">
            <a:avLst/>
          </a:prstGeom>
        </p:spPr>
      </p:pic>
      <p:sp>
        <p:nvSpPr>
          <p:cNvPr id="10" name="TextBox 9"/>
          <p:cNvSpPr txBox="1"/>
          <p:nvPr/>
        </p:nvSpPr>
        <p:spPr>
          <a:xfrm>
            <a:off x="5761917" y="1956816"/>
            <a:ext cx="5899425" cy="81280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branch stays where chapter 5 put it.</a:t>
            </a:r>
          </a:p>
          <a:p>
            <a:pPr>
              <a:spcAft>
                <a:spcPts val="700"/>
              </a:spcAft>
            </a:pPr>
            <a:r>
              <a:rPr sz="1400" b="0" i="0">
                <a:solidFill>
                  <a:srgbClr val="1A1440"/>
                </a:solidFill>
                <a:latin typeface="Calibri"/>
              </a:rPr>
              <a:t>The note gains two leaks, and Tuesday tests whether either grew.</a:t>
            </a:r>
          </a:p>
        </p:txBody>
      </p:sp>
      <p:sp>
        <p:nvSpPr>
          <p:cNvPr id="11" name="Rounded Rectangle 10"/>
          <p:cNvSpPr/>
          <p:nvPr/>
        </p:nvSpPr>
        <p:spPr>
          <a:xfrm>
            <a:off x="5761917" y="2897632"/>
            <a:ext cx="5899425" cy="150164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3419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5"/>
          <a:stretch>
            <a:fillRect/>
          </a:stretch>
        </p:blipFill>
        <p:spPr>
          <a:xfrm>
            <a:off x="6100245" y="3529584"/>
            <a:ext cx="237744" cy="237744"/>
          </a:xfrm>
          <a:prstGeom prst="rect">
            <a:avLst/>
          </a:prstGeom>
        </p:spPr>
      </p:pic>
      <p:sp>
        <p:nvSpPr>
          <p:cNvPr id="14" name="TextBox 13"/>
          <p:cNvSpPr txBox="1"/>
          <p:nvPr/>
        </p:nvSpPr>
        <p:spPr>
          <a:xfrm>
            <a:off x="6630597" y="30439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6630597" y="3263392"/>
            <a:ext cx="4756425" cy="1062736"/>
          </a:xfrm>
          <a:prstGeom prst="rect">
            <a:avLst/>
          </a:prstGeom>
          <a:noFill/>
        </p:spPr>
        <p:txBody>
          <a:bodyPr wrap="square" anchor="t" lIns="0" rIns="0" tIns="0" bIns="0">
            <a:spAutoFit/>
          </a:bodyPr>
          <a:lstStyle/>
          <a:p>
            <a:r>
              <a:rPr sz="13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6" name="Rounded Rectangle 15"/>
          <p:cNvSpPr/>
          <p:nvPr/>
        </p:nvSpPr>
        <p:spPr>
          <a:xfrm>
            <a:off x="5761917" y="4563872"/>
            <a:ext cx="5899425"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90517" y="4861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mic_caee7398c80d.png"/>
          <p:cNvPicPr>
            <a:picLocks noChangeAspect="1"/>
          </p:cNvPicPr>
          <p:nvPr/>
        </p:nvPicPr>
        <p:blipFill>
          <a:blip r:embed="rId6"/>
          <a:stretch>
            <a:fillRect/>
          </a:stretch>
        </p:blipFill>
        <p:spPr>
          <a:xfrm>
            <a:off x="6100245" y="4971288"/>
            <a:ext cx="237744" cy="237744"/>
          </a:xfrm>
          <a:prstGeom prst="rect">
            <a:avLst/>
          </a:prstGeom>
        </p:spPr>
      </p:pic>
      <p:sp>
        <p:nvSpPr>
          <p:cNvPr id="19" name="TextBox 18"/>
          <p:cNvSpPr txBox="1"/>
          <p:nvPr/>
        </p:nvSpPr>
        <p:spPr>
          <a:xfrm>
            <a:off x="6630597" y="471017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0" name="TextBox 19"/>
          <p:cNvSpPr txBox="1"/>
          <p:nvPr/>
        </p:nvSpPr>
        <p:spPr>
          <a:xfrm>
            <a:off x="6630597" y="4929632"/>
            <a:ext cx="4756425" cy="613664"/>
          </a:xfrm>
          <a:prstGeom prst="rect">
            <a:avLst/>
          </a:prstGeom>
          <a:noFill/>
        </p:spPr>
        <p:txBody>
          <a:bodyPr wrap="square" anchor="t" lIns="0" rIns="0" tIns="0" bIns="0">
            <a:spAutoFit/>
          </a:bodyPr>
          <a:lstStyle/>
          <a:p>
            <a:r>
              <a:rPr sz="1300" b="0" i="0">
                <a:solidFill>
                  <a:srgbClr val="1A1440"/>
                </a:solidFill>
                <a:latin typeface="Calibri"/>
              </a:rPr>
              <a:t>[D] One channel carries nine rupees in ten of revenue; does that change where the growth plan invests?</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31" name="Oval 30"/>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the interviewer?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2264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67718"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501346" y="5074920"/>
            <a:ext cx="14700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81117" y="5074920"/>
            <a:ext cx="137261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63459" y="5074920"/>
            <a:ext cx="17136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86803" y="5074920"/>
            <a:ext cx="176776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the interviewer?</a:t>
            </a:r>
          </a:p>
        </p:txBody>
      </p:sp>
      <p:sp>
        <p:nvSpPr>
          <p:cNvPr id="16" name="Rounded Rectangle 15"/>
          <p:cNvSpPr/>
          <p:nvPr/>
        </p:nvSpPr>
        <p:spPr>
          <a:xfrm>
            <a:off x="10264291"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81984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08181"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81984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08181"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81984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08181"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101001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20984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Meera hear?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2264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67718" y="5074920"/>
            <a:ext cx="13238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501346" y="5074920"/>
            <a:ext cx="14700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81117" y="5074920"/>
            <a:ext cx="137261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63459" y="5074920"/>
            <a:ext cx="17136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86803" y="5074920"/>
            <a:ext cx="176776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64291" y="5074920"/>
            <a:ext cx="13238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item replays one of today's traps in a new setting, so a wrong tap shows which check has not stuck yet.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4" name="Oval 2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8" name="Oval 27"/>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0" name="Oval 2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2" name="Oval 31"/>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4" name="Oval 33"/>
          <p:cNvSpPr/>
          <p:nvPr/>
        </p:nvSpPr>
        <p:spPr>
          <a:xfrm>
            <a:off x="101001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20984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5f37d6e5a8b4682b.png"/>
          <p:cNvPicPr>
            <a:picLocks noChangeAspect="1"/>
          </p:cNvPicPr>
          <p:nvPr/>
        </p:nvPicPr>
        <p:blipFill>
          <a:blip r:embed="rId5"/>
          <a:stretch>
            <a:fillRect/>
          </a:stretch>
        </p:blipFill>
        <p:spPr>
          <a:xfrm>
            <a:off x="4512476" y="1664208"/>
            <a:ext cx="3166742" cy="2748280"/>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101001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0984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5" name="Oval 44"/>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47" name="Oval 4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9" name="Oval 48"/>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1" name="Oval 50"/>
          <p:cNvSpPr/>
          <p:nvPr/>
        </p:nvSpPr>
        <p:spPr>
          <a:xfrm>
            <a:off x="101001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1020984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dd794d6c2d730c58.png"/>
          <p:cNvPicPr>
            <a:picLocks noChangeAspect="1"/>
          </p:cNvPicPr>
          <p:nvPr/>
        </p:nvPicPr>
        <p:blipFill>
          <a:blip r:embed="rId6"/>
          <a:stretch>
            <a:fillRect/>
          </a:stretch>
        </p:blipFill>
        <p:spPr>
          <a:xfrm>
            <a:off x="3266922" y="3243072"/>
            <a:ext cx="5657850" cy="26289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9011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81984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08181"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101001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20984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