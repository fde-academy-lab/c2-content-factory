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Anand's line aloud and leave it on screen. The morning drew the tree and</a:t>
            </a:r>
          </a:p>
          <a:p>
            <a:r>
              <a:t>counted revenue; the afternoon counts two more leaves, then tests Anand's warning against the file.</a:t>
            </a:r>
          </a:p>
          <a:p>
            <a:r>
              <a:t>Half two runs about two hours: the leaves, the average, forty minutes unguided, and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one runs about 30 minutes, including the 12-minute predict-three drill. It picks up</a:t>
            </a:r>
          </a:p>
          <a:p>
            <a:r>
              <a:t>exactly where half one stopped: revenue is counted, customers are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This is the morning's tree, marked with what the file can answer. Ask one learner</a:t>
            </a:r>
          </a:p>
          <a:p>
            <a:r>
              <a:t>to name the two solid leaves and one to name a dashed one. Spiral: this picture returns at the</a:t>
            </a:r>
          </a:p>
          <a:p>
            <a:r>
              <a:t>close of the chapter with numbers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Two new pieces: an if inside the loop, and not in, which reads like English and</a:t>
            </a:r>
          </a:p>
          <a:p>
            <a:r>
              <a:t>checks every item of the list. Build it on the projector line by line, with the room typing. The</a:t>
            </a:r>
          </a:p>
          <a:p>
            <a:r>
              <a:t>trap is counting rows as customers, which gives 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depth for the confident half; skip it live. The list version on S2 is the one to</a:t>
            </a:r>
          </a:p>
          <a:p>
            <a:r>
              <a:t>understand first; the set is the one to use once the list version is second 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letters. Expect some a, which is the most useful wrong answer of the day:</a:t>
            </a:r>
          </a:p>
          <a:p>
            <a:r>
              <a:t>it confuses a customer coming back with a record entered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Have the room check it: thirty order ids, thirty different</a:t>
            </a:r>
          </a:p>
          <a:p>
            <a:r>
              <a:t>values. Real duplicates are Wednesday's subject; today's point is that a count alone cannot tell</a:t>
            </a:r>
          </a:p>
          <a:p>
            <a:r>
              <a:t>the two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Division always gives a float in Python 3, so the full value prints. The f-string</a:t>
            </a:r>
          </a:p>
          <a:p>
            <a:r>
              <a:t>formats it for a person to read and leaves the value itself alone. Ask what 1.30 means in words:</a:t>
            </a:r>
          </a:p>
          <a:p>
            <a:r>
              <a:t>the average customer ordered 1.3 times in the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equals signs compare and one assigns; say it once and point at the if. The</a:t>
            </a:r>
          </a:p>
          <a:p>
            <a:r>
              <a:t>three rows add back to the morning's Rs 5,44,810, which is the check a senior runs first: the</a:t>
            </a:r>
          </a:p>
          <a:p>
            <a:r>
              <a:t>parts of a total must add up to the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12-minute mid-session drill with the next slide. Three minutes to write predictions in</a:t>
            </a:r>
          </a:p>
          <a:p>
            <a:r>
              <a:t>silence, then pairs compare, then run the three cells. Collect one prediction per cell on the board</a:t>
            </a:r>
          </a:p>
          <a:p>
            <a:r>
              <a:t>before running, so the room sees its own reasoning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Cell b is the morning's break in a new place: a loop counting orders above</a:t>
            </a:r>
          </a:p>
          <a:p>
            <a:r>
              <a:t>Rs 3,000 stops on the same record the sum stopped on, because int() in one loop fixed that loop</a:t>
            </a:r>
          </a:p>
          <a:p>
            <a:r>
              <a:t>only. The data still holds text. That is the question Wednesday asks of the whole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these numbers onto the board tree. Revenue per customer is 5,44,810 over 23;</a:t>
            </a:r>
          </a:p>
          <a:p>
            <a:r>
              <a:t>revenue per order is 5,44,810 over 30, which is the mean order value. The discount branch is left</a:t>
            </a:r>
          </a:p>
          <a:p>
            <a:r>
              <a:t>off this picture because the file has no discount field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request is part of the deliverable, not an apology. An engineer who says what</a:t>
            </a:r>
          </a:p>
          <a:p>
            <a:r>
              <a:t>the data cannot answer, and exactly which fields would answer it, is the one a client trusts with</a:t>
            </a:r>
          </a:p>
          <a:p>
            <a:r>
              <a:t>the next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two runs about 30 minutes. This is the reveal the row says never to cut. The room</a:t>
            </a:r>
          </a:p>
          <a:p>
            <a:r>
              <a:t>finds what moves the mean by sorting; nobody names it before they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the room whether anyone they know spends Rs 18,000 on one consumer-goods</a:t>
            </a:r>
          </a:p>
          <a:p>
            <a:r>
              <a:t>order. Let the doubt build; do not resolve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Every learner runs the sort themselves and reads both prints. Then letters. The</a:t>
            </a:r>
          </a:p>
          <a:p>
            <a:r>
              <a:t>discovery is the room's: whoever reads the largest amount first says it aloud, and the room says</a:t>
            </a:r>
          </a:p>
          <a:p>
            <a:r>
              <a:t>what kind of order it must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b. Take two or three sentences from the room about the top of the</a:t>
            </a:r>
          </a:p>
          <a:p>
            <a:r>
              <a:t>list. The strongest ones say what kind of customer placed it and that it is real revenue, which is</a:t>
            </a:r>
          </a:p>
          <a:p>
            <a:r>
              <a:t>exactly what Anand predicted.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Work the first mean on the board: 11,200 over 5. Then the second: 98,600 over 5.</a:t>
            </a:r>
          </a:p>
          <a:p>
            <a:r>
              <a:t>The median is the middle value either way, because it only asks where the middle is, never how far</a:t>
            </a:r>
          </a:p>
          <a:p>
            <a:r>
              <a:t>away the top is. That is the whole mechanism, on numbers nobody has to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Positions 15 and 16 are indexes 14 and 15, because Python counts from zero and</a:t>
            </a:r>
          </a:p>
          <a:p>
            <a:r>
              <a:t>people count from one; say it twice. With an odd count there is one middle value, at index n // 2.</a:t>
            </a:r>
          </a:p>
          <a:p>
            <a:r>
              <a:t>The confident half can write the odd case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Take letters and ask a c voter to defend it; someone always does. Their argument</a:t>
            </a:r>
          </a:p>
          <a:p>
            <a:r>
              <a:t>sounds careful, which is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b. The mean is not wrong; it answers a different question.</a:t>
            </a:r>
          </a:p>
          <a:p>
            <a:r>
              <a:t>Revenue per order is a mean on purpose, because it has to multiply back to the total on the tree.</a:t>
            </a:r>
          </a:p>
          <a:p>
            <a:r>
              <a:t>The typical order is a median on purpose, because it has to describe an order someone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Have one learner answer aloud in under thirty seconds using the three parts, then</a:t>
            </a:r>
          </a:p>
          <a:p>
            <a:r>
              <a:t>move to the unguided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three runs 40 minutes: two to brief, thirty-five working, three to collect. The</a:t>
            </a:r>
          </a:p>
          <a:p>
            <a:r>
              <a:t>trainer does not teach during this block; the support TA answers environment problems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 to brief. The definition changes on purpose: the room computed everything on</a:t>
            </a:r>
          </a:p>
          <a:p>
            <a:r>
              <a:t>booked orders, and the filter from S7 is the only new move. Nobody pastes the demo, because the</a:t>
            </a:r>
          </a:p>
          <a:p>
            <a:r>
              <a:t>demo's numbers are the wrong answers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shown with the brief. The canteen numbers are invented to show the shape. The</a:t>
            </a:r>
          </a:p>
          <a:p>
            <a:r>
              <a:t>Kalpa sentence is the learner's own work; do not show a Kalpa version before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 for the room, shown only if a learner is stuck for ten minutes. The prompts point back</a:t>
            </a:r>
          </a:p>
          <a:p>
            <a:r>
              <a:t>to S2, S6 and S16 without giving the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The close runs 20 minutes: the Kahoot, two sentences read aloud, the day's recap, and</a:t>
            </a:r>
          </a:p>
          <a:p>
            <a:r>
              <a:t>Tuesday's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the Kahoot pack from the kahoot folder. Pause on any question below</a:t>
            </a:r>
          </a:p>
          <a:p>
            <a:r>
              <a:t>60 percent correct and ask one learner who got it right to explain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Pick one sentence that names orders per customer and one that names customers,</a:t>
            </a:r>
          </a:p>
          <a:p>
            <a:r>
              <a:t>if the room has both. The honest caveat for every sentence is the same: one window of thirty</a:t>
            </a:r>
          </a:p>
          <a:p>
            <a:r>
              <a:t>orders cannot show which branch moved, which is exactly tomorrow's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the room which row felt weakest, by a show of hands, and note it for</a:t>
            </a:r>
          </a:p>
          <a:p>
            <a:r>
              <a:t>tomorrow's opening 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[S] is asked everywhere, [F] often in GCC and product screens, [SV] opens</a:t>
            </a:r>
          </a:p>
          <a:p>
            <a:r>
              <a:t>service-major screens, [D] separates candidates. Model answers are in the notebook's last section</a:t>
            </a:r>
          </a:p>
          <a:p>
            <a:r>
              <a:t>and in the trainer's day sheet; learners practise them aloud in pairs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Meera's reply and stop. Do not predict the answer; tomorrow's file settles it.</a:t>
            </a:r>
          </a:p>
          <a:p>
            <a:r>
              <a:t>Remind the room of the take-home and that one of tonight's trees is walked through first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4.png"/><Relationship Id="rId6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11.png"/><Relationship Id="rId6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Relationship Id="rId6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MONDAY  ·  HALF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leaves, and 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“No averages. One business customer can move an average.”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04088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Iyer, finance controller,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77438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leaves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310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7150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506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9113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Your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722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1274" y="5248656"/>
            <a:ext cx="4786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Close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leaves, and the average that lies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leaves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tree says what to count, the file carries two of the five leaves, and one careful loop counts each.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95791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leaves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99167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average that lies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8191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Your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622" y="5074920"/>
            <a:ext cx="6618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leaves, and 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the morning left the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counted, two leaves are in the file, and three are not.</a:t>
            </a:r>
          </a:p>
        </p:txBody>
      </p:sp>
      <p:pic>
        <p:nvPicPr>
          <p:cNvPr id="9" name="mermaid diagram" descr="25bee3f66ccfed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1" y="1956816"/>
            <a:ext cx="11130991" cy="20335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13666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file says who bought and what each order came to, so two leaves can be counted this afternoon. The three dashed leaves need fields the file does not carry.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3" name="Oval 12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5" name="Oval 14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17" name="Oval 16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Customers are people, not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Thirty rows, and some of them are the same person coming back.</a:t>
            </a:r>
          </a:p>
        </p:txBody>
      </p:sp>
      <p:pic>
        <p:nvPicPr>
          <p:cNvPr id="9" name="mermaid diagram" descr="e297b9470f17e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0985" y="1956816"/>
            <a:ext cx="9229725" cy="18002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03345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4031360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4031360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4031360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4232529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seen = []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order["customer_id"] not in seen: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seen.append(order["customer_id"])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print(len(seen))       # 23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set counts distinct values in one 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twenty-three customers, counted by a structure that keeps each value once.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len({order["customer_id"] for order in ORDERS})    # 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831084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set keeps each value once, so its length is the distinct count. Checking whether a value is already in a set goes straight to it, where not in on a list checks every item in turn, which matters when thirty orders become three million.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8" name="Oval 17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20" name="Oval 19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2" name="Oval 21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  ·  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thirty orders, twenty-three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rows did not add a customer. What are they?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rows in the 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distinct customer ids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that added nobody new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duplicates to delete before counting; b) seven customers who came back for a second order; c) orders with a missing customer id; d) a mistake in the loop.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26" name="Oval 25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28" name="Oval 27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30" name="Oval 29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seven customers came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seven extra rows are real orders, and they are the frequency branch at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distinct customer 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BOUGHT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order each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two orders each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16, plus 7 times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customer coming back and a record entered twice look the same in a count. Check the order ids before you call anything a duplicate: here all thirty are different.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32" name="Oval 31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34" name="Oval 33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36" name="Oval 35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Orders per customer is thirty over twenty-three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rate is a numerator over a denominator, said out loud before it is computed.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orders = len(ORDERS)                    # 30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customers = len(seen)                   # 23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print(orders / customers)               # 1.3043478260869565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print(f"{orders / customers:.2f}")      # 1.30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9207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3047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734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9542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rate leaves the team with its numerator, its denominator and its window: "Orders per customer, 1 July to 26 September: 30 orders over 23 customers, 1.30."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23" name="Oval 22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5" name="Oval 24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filter is an if inside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Delivered revenue is the same accumulator, told which orders to skip.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delivered = 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== "delivered":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delivered +=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print(delivered)       # 520790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840988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695840"/>
                <a:gridCol w="914400"/>
                <a:gridCol w="552075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14,970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9,050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predict three cells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one-liners, each a trap a real file sets. Write all three predictions before anything runs.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ORDERS[0]["Amount"]          # cell a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"3500" &gt; 3000                # cell b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round(30 / 23, 2)            # cell 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46405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454907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For each cell, write the exact output you expect: a value, or the name of the error and why.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9" name="Oval 18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21" name="Oval 20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3" name="Oval 22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two errors and a dropped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Keys match exactly, text never orders against a number, and round() does not format.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KeyError: 'Amount'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TypeError: '&gt;' not supported between instances of 'str' and 'int'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1.3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336036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523904"/>
                <a:gridCol w="469268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Cell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habit it teaches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key is amount, in lower case, and a dictionary matches keys exactly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Copy key names from the record, never from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Python will not decide whether text is bigger than a number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Know a field's type before you compare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round() gives 1.3; the missing zero is display, never value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Format for people with an f-string, as on S6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tree, with today's numbers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numbers from one file, and they multiply back to the total.</a:t>
            </a:r>
          </a:p>
        </p:txBody>
      </p:sp>
      <p:pic>
        <p:nvPicPr>
          <p:cNvPr id="9" name="mermaid diagram" descr="e7366ed118f520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316" y="1956816"/>
            <a:ext cx="10787062" cy="27146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817745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check: 23 customers times Rs 23,687 comes back to Rs 5,44,810. Hold on to revenue per order, Rs 18,160. It is an average, and the next chapter asks what it describes.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3" name="Oval 12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5" name="Oval 14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17" name="Oval 16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three missing leaves, and how to ask for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Naming the missing data, and asking for it, beats filling the gap with a guess.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hopping-cart_3d6cc98c6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ITEMS PER 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Needs order lines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row per item sold, with the order it belongs 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tag_ef63078c27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PRICE PER ITEM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Needs list prices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price of each item before any discount.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percent_4445dfa1034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DISCOUNTS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Needs what was given 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Per order or per line, in rupees.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0352" y="41041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8952" y="44363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ist-checks_bd88901d2a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54609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9031" y="44698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Write the gap as a request: "Customers and frequency are counted. Basket, price and discounts need order lines, list prices and discounts, which this file does not carry."</a:t>
            </a:r>
          </a:p>
        </p:txBody>
      </p:sp>
      <p:sp>
        <p:nvSpPr>
          <p:cNvPr id="32" name="Oval 3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34" name="Oval 33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36" name="Oval 35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38" name="Oval 37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Revenue per order is an average, and one record can make an average describe nobody.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95791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99167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average that lies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8191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Your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622" y="5074920"/>
            <a:ext cx="6618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leaves, and 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Revenue per order is an average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5,44,810 over 30 orders is Rs 18,160, the number a slide would call a typical order.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all booked orders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 July to 26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PER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mean order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Put Rs 18,160 in Meera's note as the typical order and it says Kalpa Retail sells eighteen-thousand-rupee baskets. Anand's warning was written for this moment.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24" name="Oval 23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26" name="Oval 25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8" name="Oval 27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Rs 18,160 describe a typical order?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Sort the thirty amounts in your notebook and read the middle before you answer.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972055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569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amounts = []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amounts.append(int(order["amount"]))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amounts.sort()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print(amounts[14], amounts[15])    # the two in the middle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print(amounts[-1])                 # the largest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093463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221479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212335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yes, it is the average of every order; b) no, most orders sit far below it; c) no, most orders sit far above it; d) it cannot be judged without the segment.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9" name="Oval 18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21" name="Oval 20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3" name="Oval 22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middle order is Rs 2,205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mean sits about eight times above the order in the middle, pulled up by the top of the 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revenue over orders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middle of 30 sorted amounts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TIMES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mean over the median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one sentence, before the next slide: what sits at the top of your sorted list, and why does it move the mean so far?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24" name="Oval 23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26" name="Oval 25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8" name="Oval 27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one record moves a mean and leaves a median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invented orders, then the same five with one bulk order in place of the largest.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1,900, 2,100, 2,200, 2,400 and 2,600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middle of the five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all of them ordinary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Replace the Rs 2,600 order with one bulk order of Rs 90,000.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444703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19,720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18210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538327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moved almost nine times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352" y="563575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32122" y="444703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32122" y="518210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2122" y="538327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did not move at 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32122" y="563575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3892" y="444703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3892" y="518210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 CHANGED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3892" y="538327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out of five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3892" y="563575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40" name="Oval 39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42" name="Oval 41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44" name="Oval 43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median, without a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Sort, find the middle, and with an even count take the average of the two middle values.</a:t>
            </a:r>
          </a:p>
        </p:txBody>
      </p:sp>
      <p:pic>
        <p:nvPicPr>
          <p:cNvPr id="9" name="mermaid diagram" descr="96ebf6ea98a4f2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385" y="1956816"/>
            <a:ext cx="9686925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102673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3102673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3102673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303841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 = len(amounts)                                        # 30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median = (amounts[n // 2 - 1] + amounts[n // 2]) / 2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print(median)                                           # 2205.0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number goes in Meera's note?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 needs one number for a typical order, and a decision about the top of the 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revenue over orders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middle of the sorted 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54787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353872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the mean, Rs 18,160, because it uses every order; b) the median, Rs 2,205, with the largest order named on its own line; c) the mean after deleting the largest order; d) the largest order, because it drives the revenue.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22" name="Oval 21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24" name="Oval 23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6" name="Oval 25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median, and the large order named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right number depends on what it is for, and a real order is never deleted to make a mean behave.</a:t>
            </a:r>
          </a:p>
        </p:txBody>
      </p:sp>
      <p:pic>
        <p:nvPicPr>
          <p:cNvPr id="9" name="mermaid diagram" descr="71b47e8713be3f5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097" y="1849755"/>
            <a:ext cx="9715500" cy="29146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0709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2941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2669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7013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6469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Option c is the dangerous one: that order is real revenue. Report the median as the typical order, name the large order on its own line, and keep the total whole.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interview question this chapter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or median for order value, and why: a strong answer has three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Mean or median for order value, and why?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983992"/>
            <a:ext cx="3588410" cy="13975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0082" y="3112008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19" y="318516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342290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Say what it is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376377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typical order, or a total that has to reconcile.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1642" y="2983992"/>
            <a:ext cx="3588410" cy="13975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1372" y="3112008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2810" y="318516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2810" y="342290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Say what the data does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2810" y="376377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Order values are skewed: a few very large orders pull the mean up.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2932" y="2983992"/>
            <a:ext cx="3588410" cy="13975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92663" y="3112008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18516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LAST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4100" y="342290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Say what you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4100" y="376377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median as the typical order; both on a first look, with the gap named.</a:t>
            </a:r>
          </a:p>
        </p:txBody>
      </p:sp>
      <p:sp>
        <p:nvSpPr>
          <p:cNvPr id="29" name="Oval 2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31" name="Oval 30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33" name="Oval 32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35" name="Oval 34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Your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Forty minutes unguided: three leaves on a new definition, and one sentence on which branch to open first.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95791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99167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average that lies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8191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Your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622" y="5074920"/>
            <a:ext cx="6618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leaves, and 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call: three numbers and one sentence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Unguided, in the hands-on notebook, on delivered orders only, which is a definition you have not computed yet.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users_11340fce0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NUMBER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Distinct customer ids among delivered orders, counted with a loop.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NUMBER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Written as a numerator over a denominator, then computed.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ordered_6bff7db210f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NUMBER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Median order value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Delivered amounts, sorted, with the middle found by hand.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028dbd132a0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SENTENCE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Which branch first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branch Meera should examine first, and why not the others.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number has a check cell in the notebook that tells you whether it is right. The sentence has no check; it is read aloud at the close.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36" name="Oval 35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38" name="Oval 37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Your call</a:t>
            </a:r>
          </a:p>
        </p:txBody>
      </p:sp>
      <p:sp>
        <p:nvSpPr>
          <p:cNvPr id="40" name="Oval 39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sentence to a CEO carries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Claim, evidence, caveat and next step, shown on a canteen so the Kalpa answer stays yours.</a:t>
            </a:r>
          </a:p>
        </p:txBody>
      </p:sp>
      <p:pic>
        <p:nvPicPr>
          <p:cNvPr id="9" name="mermaid diagram" descr="9179b41dfb4777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1956816"/>
            <a:ext cx="11130991" cy="11019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0506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372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4702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5136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7082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One sentence, four parts, in this order: what you found, the number that shows it, what could make it wrong, and what you will check next.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If you are stuck after ten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prompts, in the order you will need them; each is a question, never the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627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Customers: which loop from this afternoon adds an id only the first time it appears, and where does the delivered filter go in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212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57856"/>
            <a:ext cx="10564063" cy="627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Orders per customer: which total goes on top, and which on the bottom, when both count delivered orders only?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223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3588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Median: how many delivered orders are there, and is that count odd or even?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Six questions, the sentence read aloud, and the one question Meera sends back for tomorrow.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95791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99167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average that lies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8191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Your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622" y="5074920"/>
            <a:ext cx="66183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leaves, and 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27 / 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Kahoot: six questions, ungraded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Ungraded, for you and for the trainer: it shows what the day left in the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idea from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SCORES RECORDED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ungraded, every day this week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TO 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then the answers, discussed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23" name="Oval 22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25" name="Oval 24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7" name="Oval 26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sentences, read aloud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learners read their sentence to Meera, and the room checks it for the four parts.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235"/>
                <a:gridCol w="936775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the room listens for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branch to examine first, named as a branch of the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number with its definition: booked or delivered, and the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Caveat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thirty orders from one window cannot show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Next step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gets compared tomorrow, and why that settles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sentence without its evidence is an opinion, and one without its caveat is a promise. Say both, and Meera can act on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day leaves on your desk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Six moves, each used again this week, in the order the day taught them.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3314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can now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evidence from today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Turn a business ask into questions data can answer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Meera's message split into four questions, two of them today's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Draw the revenue tree, every branch a numerator over a denominator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tree on the board, three leaves not in the file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 a notebook honest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Restart and Run All; the brackets read 1, 2, 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with an accumulator, and filter with an if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Revenue, customers and delivered revenue from one pattern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Read a trace from its last line 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TypeError, the KeyError and the NameError, each read aloud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Choose the median over the mean on purpose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2,205 against Rs 18,160, and the reason in one sentence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2" name="Oval 11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4" name="Oval 13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16" name="Oval 15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interview questions of the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questions from today's row, with the tag that says how often they are asked.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702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573726"/>
                <a:gridCol w="464286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Where today answered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would you increase sales for an online retailer?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tree, and the five branches with their bills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 or median for order value,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S19 of this half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business says "grow revenue 15 percent"; how do you turn that into questions data can answer?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five moves in half 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[SV]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list against a dictionary: when do you reach for each?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ORDERS, a list of dictionaries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wants budget for acquisition; what would you check before agreeing, and how would you say no?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the Rs 12 crore lands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2" name="Oval 11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4" name="Oval 13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16" name="Oval 15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Tomorrow, Meera asks which branch moved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has read today's numbers, and her reply is tomorrow's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"So revenue is customers, times how often they buy, times basket, times price. Now: which of those moved? Q2 was Rs 1.9 crore, Q1 was 2.1. Are we losing customers, or are the ones we have buying less?"</a:t>
            </a:r>
          </a:p>
        </p:txBody>
      </p:sp>
      <p:pic>
        <p:nvPicPr>
          <p:cNvPr id="14" name="mermaid diagram" descr="4c9905c50e0d98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297" y="3243072"/>
            <a:ext cx="6515100" cy="1800225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