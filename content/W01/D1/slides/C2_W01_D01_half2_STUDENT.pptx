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and a choice needs the cost of each</a:t>
            </a:r>
          </a:p>
          <a:p>
            <a:r>
              <a:t>option 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When to switch: multiply the factors for the total, and build the parts when someone asks where the</a:t>
            </a:r>
          </a:p>
          <a:p>
            <a:r>
              <a:t>extra came from. The parts route is the one to bring to marketing, since the lift on the lift has</a:t>
            </a:r>
          </a:p>
          <a:p>
            <a:r>
              <a:t>its own line.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six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One window shows a shape, and the</a:t>
            </a:r>
          </a:p>
          <a:p>
            <a:r>
              <a:t>verdict needs the next window.</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70 percent would mislead: retention looks like an emergency on a number</a:t>
            </a:r>
          </a:p>
          <a:p>
            <a:r>
              <a:t>marketing knocks down in one question. The check measures the usual gap from the customers who did</a:t>
            </a:r>
          </a:p>
          <a:p>
            <a:r>
              <a:t>come back and holds back everyone who has not had that long. An 88-day window only sees gaps</a:t>
            </a:r>
          </a:p>
          <a:p>
            <a:r>
              <a:t>shorter than 88 days, so 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measures the gap on more customers,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brief, then 15 minutes in pairs with no slides. The 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revenue still counts every order; the consumer view answers the narrower</a:t>
            </a:r>
          </a:p>
          <a:p>
            <a:r>
              <a:t>question the plan asks. Let the pairs say from their own table where the rest of store's booked</a:t>
            </a:r>
          </a:p>
          <a:p>
            <a:r>
              <a:t>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8.png"/><Relationship Id="rId6"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954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79502"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871466"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60653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44937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numbers hold?</a:t>
            </a:r>
          </a:p>
        </p:txBody>
      </p:sp>
      <p:sp>
        <p:nvSpPr>
          <p:cNvPr id="19" name="TextBox 18"/>
          <p:cNvSpPr txBox="1"/>
          <p:nvPr/>
        </p:nvSpPr>
        <p:spPr>
          <a:xfrm>
            <a:off x="79389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832304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93394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972350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answer aloud?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a68c8d703ba2ac22.png"/>
          <p:cNvPicPr>
            <a:picLocks noChangeAspect="1"/>
          </p:cNvPicPr>
          <p:nvPr/>
        </p:nvPicPr>
        <p:blipFill>
          <a:blip r:embed="rId5"/>
          <a:stretch>
            <a:fillRect/>
          </a:stretch>
        </p:blipFill>
        <p:spPr>
          <a:xfrm>
            <a:off x="2637923" y="1664208"/>
            <a:ext cx="6915847"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same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1" name="Oval 5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5" name="Oval 5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4" name="Oval 33"/>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6" name="Oval 35"/>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8" name="Oval 37"/>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0" name="Oval 39"/>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e74394daf3a61971.png"/>
          <p:cNvPicPr>
            <a:picLocks noChangeAspect="1"/>
          </p:cNvPicPr>
          <p:nvPr/>
        </p:nvPicPr>
        <p:blipFill>
          <a:blip r:embed="rId5"/>
          <a:stretch>
            <a:fillRect/>
          </a:stretch>
        </p:blipFill>
        <p:spPr>
          <a:xfrm>
            <a:off x="530352" y="2232900"/>
            <a:ext cx="4786326" cy="3416327"/>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ba8fb75376869212.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370b6873a4727db0.png"/>
          <p:cNvPicPr>
            <a:picLocks noChangeAspect="1"/>
          </p:cNvPicPr>
          <p:nvPr/>
        </p:nvPicPr>
        <p:blipFill>
          <a:blip r:embed="rId5"/>
          <a:stretch>
            <a:fillRect/>
          </a:stretch>
        </p:blipFill>
        <p:spPr>
          <a:xfrm>
            <a:off x="530352" y="2093010"/>
            <a:ext cx="4786326" cy="3696107"/>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6" name="Oval 25"/>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0" name="Oval 29"/>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d0284cb2653b9926.png"/>
          <p:cNvPicPr>
            <a:picLocks noChangeAspect="1"/>
          </p:cNvPicPr>
          <p:nvPr/>
        </p:nvPicPr>
        <p:blipFill>
          <a:blip r:embed="rId6"/>
          <a:stretch>
            <a:fillRect/>
          </a:stretch>
        </p:blipFill>
        <p:spPr>
          <a:xfrm>
            <a:off x="593760" y="1682496"/>
            <a:ext cx="4659509"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5" name="Oval 34"/>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9" name="Oval 38"/>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949233ebfac9713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same total?</a:t>
            </a:r>
          </a:p>
        </p:txBody>
      </p:sp>
      <p:pic>
        <p:nvPicPr>
          <p:cNvPr id="9" name="mermaid diagram" descr="b7858134b33c315a.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60e07d9892b8fbb6.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same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9" name="Oval 3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3" name="Oval 4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does the first draft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1" name="Oval 5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5" name="Oval 5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CFC9EE"/>
                </a:solidFill>
                <a:latin typeface="Calibri"/>
              </a:rPr>
              <a:t>Its chief executive said the focus on cost had lowered quality, and customers would always be able to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af594d1847a45f84.png"/>
          <p:cNvPicPr>
            <a:picLocks noChangeAspect="1"/>
          </p:cNvPicPr>
          <p:nvPr/>
        </p:nvPicPr>
        <p:blipFill>
          <a:blip r:embed="rId5"/>
          <a:stretch>
            <a:fillRect/>
          </a:stretch>
        </p:blipFill>
        <p:spPr>
          <a:xfrm>
            <a:off x="2078438" y="1682496"/>
            <a:ext cx="1690153"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fe9bf471484612a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first draft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1" name="Oval 3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3" name="Oval 3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7" name="Oval 3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b77885d7ca9306ee.png"/>
          <p:cNvPicPr>
            <a:picLocks noChangeAspect="1"/>
          </p:cNvPicPr>
          <p:nvPr/>
        </p:nvPicPr>
        <p:blipFill>
          <a:blip r:embed="rId5"/>
          <a:stretch>
            <a:fillRect/>
          </a:stretch>
        </p:blipFill>
        <p:spPr>
          <a:xfrm>
            <a:off x="3524097" y="1956816"/>
            <a:ext cx="5143500" cy="2028825"/>
          </a:xfrm>
          <a:prstGeom prst="rect">
            <a:avLst/>
          </a:prstGeom>
        </p:spPr>
      </p:pic>
      <p:sp>
        <p:nvSpPr>
          <p:cNvPr id="10" name="Rounded Rectangle 9"/>
          <p:cNvSpPr/>
          <p:nvPr/>
        </p:nvSpPr>
        <p:spPr>
          <a:xfrm>
            <a:off x="530352" y="4131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47a96ab2409be74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1" name="Oval 2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5" name="Oval 2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3c993d90c38a2cfe.png"/>
          <p:cNvPicPr>
            <a:picLocks noChangeAspect="1"/>
          </p:cNvPicPr>
          <p:nvPr/>
        </p:nvPicPr>
        <p:blipFill>
          <a:blip r:embed="rId5"/>
          <a:stretch>
            <a:fillRect/>
          </a:stretch>
        </p:blipFill>
        <p:spPr>
          <a:xfrm>
            <a:off x="3167178" y="1664208"/>
            <a:ext cx="5857338"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72272e79c3b3fc19.png"/>
          <p:cNvPicPr>
            <a:picLocks noChangeAspect="1"/>
          </p:cNvPicPr>
          <p:nvPr/>
        </p:nvPicPr>
        <p:blipFill>
          <a:blip r:embed="rId5"/>
          <a:stretch>
            <a:fillRect/>
          </a:stretch>
        </p:blipFill>
        <p:spPr>
          <a:xfrm>
            <a:off x="530351" y="3336036"/>
            <a:ext cx="11130991" cy="225405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returns rate on last week's orders</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Returns arrive days after delivery, so the newest orders look cleaner than they are.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Members not yet due to renew</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 whose renewal falls after the extract ends has not lapsed, whatever the file shows.</a:t>
            </a:r>
          </a:p>
        </p:txBody>
      </p:sp>
      <p:sp>
        <p:nvSpPr>
          <p:cNvPr id="22" name="TextBox 21"/>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7" name="Oval 2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9" name="Oval 28"/>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1" name="Oval 30"/>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3" name="Oval 32"/>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5" name="Oval 34"/>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9" name="Oval 3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3" name="Oval 4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answer survive on the orders that stayed delivered?</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Count orders, customers by id and orders per customer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Find 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Size the 15 percent plan on delivered revenue, and price a discount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Hold back one-time buyers too recent to judge, then pick the branch and the headline.</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Write 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8" name="Oval 4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431286"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2" name="Oval 51"/>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6" name="Oval 55"/>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2" name="Oval 3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34" name="Oval 33"/>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6" name="Oval 3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8" name="Oval 3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0" name="Oval 39"/>
          <p:cNvSpPr/>
          <p:nvPr/>
        </p:nvSpPr>
        <p:spPr>
          <a:xfrm>
            <a:off x="444112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5085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numbers hold?</a:t>
            </a:r>
          </a:p>
        </p:txBody>
      </p:sp>
      <p:sp>
        <p:nvSpPr>
          <p:cNvPr id="42" name="Oval 41"/>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4" name="Oval 43"/>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46" name="Oval 45"/>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named as not cancelled, goes in the note.</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9026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25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32228"/>
            <a:ext cx="237744" cy="237744"/>
          </a:xfrm>
          <a:prstGeom prst="rect">
            <a:avLst/>
          </a:prstGeom>
        </p:spPr>
      </p:pic>
      <p:sp>
        <p:nvSpPr>
          <p:cNvPr id="12" name="TextBox 11"/>
          <p:cNvSpPr txBox="1"/>
          <p:nvPr/>
        </p:nvSpPr>
        <p:spPr>
          <a:xfrm>
            <a:off x="1399031" y="203657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56028"/>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ectangle 13"/>
          <p:cNvSpPr/>
          <p:nvPr/>
        </p:nvSpPr>
        <p:spPr>
          <a:xfrm>
            <a:off x="1381734" y="374345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1281150"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19" name="TextBox 18"/>
          <p:cNvSpPr txBox="1"/>
          <p:nvPr/>
        </p:nvSpPr>
        <p:spPr>
          <a:xfrm>
            <a:off x="69494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0" name="TextBox 19"/>
          <p:cNvSpPr txBox="1"/>
          <p:nvPr/>
        </p:nvSpPr>
        <p:spPr>
          <a:xfrm>
            <a:off x="241599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3166795"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41599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58058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4" name="TextBox 23"/>
          <p:cNvSpPr txBox="1"/>
          <p:nvPr/>
        </p:nvSpPr>
        <p:spPr>
          <a:xfrm>
            <a:off x="258058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5" name="TextBox 24"/>
          <p:cNvSpPr txBox="1"/>
          <p:nvPr/>
        </p:nvSpPr>
        <p:spPr>
          <a:xfrm>
            <a:off x="430164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505244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430164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6623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29" name="TextBox 28"/>
          <p:cNvSpPr txBox="1"/>
          <p:nvPr/>
        </p:nvSpPr>
        <p:spPr>
          <a:xfrm>
            <a:off x="446623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0" name="TextBox 29"/>
          <p:cNvSpPr txBox="1"/>
          <p:nvPr/>
        </p:nvSpPr>
        <p:spPr>
          <a:xfrm>
            <a:off x="618728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1" name="Oval 30"/>
          <p:cNvSpPr/>
          <p:nvPr/>
        </p:nvSpPr>
        <p:spPr>
          <a:xfrm>
            <a:off x="6938086"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18728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5187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4" name="TextBox 33"/>
          <p:cNvSpPr txBox="1"/>
          <p:nvPr/>
        </p:nvSpPr>
        <p:spPr>
          <a:xfrm>
            <a:off x="635187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5" name="TextBox 34"/>
          <p:cNvSpPr txBox="1"/>
          <p:nvPr/>
        </p:nvSpPr>
        <p:spPr>
          <a:xfrm>
            <a:off x="807293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6" name="Oval 35"/>
          <p:cNvSpPr/>
          <p:nvPr/>
        </p:nvSpPr>
        <p:spPr>
          <a:xfrm>
            <a:off x="882373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07293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3752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39" name="TextBox 38"/>
          <p:cNvSpPr txBox="1"/>
          <p:nvPr/>
        </p:nvSpPr>
        <p:spPr>
          <a:xfrm>
            <a:off x="823752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0" name="TextBox 39"/>
          <p:cNvSpPr txBox="1"/>
          <p:nvPr/>
        </p:nvSpPr>
        <p:spPr>
          <a:xfrm>
            <a:off x="9958578"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1" name="Oval 40"/>
          <p:cNvSpPr/>
          <p:nvPr/>
        </p:nvSpPr>
        <p:spPr>
          <a:xfrm>
            <a:off x="10709376" y="36520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9958578" y="406349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123170" y="420979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4" name="TextBox 43"/>
          <p:cNvSpPr txBox="1"/>
          <p:nvPr/>
        </p:nvSpPr>
        <p:spPr>
          <a:xfrm>
            <a:off x="10123170" y="449757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5" name="TextBox 44"/>
          <p:cNvSpPr txBox="1"/>
          <p:nvPr/>
        </p:nvSpPr>
        <p:spPr>
          <a:xfrm>
            <a:off x="530352" y="549605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15 minutes, in the second case brief and its notebook; argue each item before you record it.</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8" name="Oval 4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0" name="Oval 4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52" name="Oval 5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54" name="Oval 53"/>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56" name="Oval 5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8" name="Oval 5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60" name="TextBox 5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0db20767e65ae1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11650831bd50c318.png"/>
          <p:cNvPicPr>
            <a:picLocks noChangeAspect="1"/>
          </p:cNvPicPr>
          <p:nvPr/>
        </p:nvPicPr>
        <p:blipFill>
          <a:blip r:embed="rId6"/>
          <a:stretch>
            <a:fillRect/>
          </a:stretch>
        </p:blipFill>
        <p:spPr>
          <a:xfrm>
            <a:off x="3355695" y="1664208"/>
            <a:ext cx="5480304" cy="2740152"/>
          </a:xfrm>
          <a:prstGeom prst="rect">
            <a:avLst/>
          </a:prstGeom>
        </p:spPr>
      </p:pic>
      <p:sp>
        <p:nvSpPr>
          <p:cNvPr id="10" name="TextBox 9"/>
          <p:cNvSpPr txBox="1"/>
          <p:nvPr/>
        </p:nvSpPr>
        <p:spPr>
          <a:xfrm>
            <a:off x="530352" y="4450080"/>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Once the view keeps the three consumer segments Meera's plan concerns, store's share falls from 91.6 to 29.2 percent, Rs 18,920 of Rs 64,810, so its headline share came from outside those segments; web leads with Rs 27,290.</a:t>
            </a:r>
          </a:p>
        </p:txBody>
      </p:sp>
      <p:sp>
        <p:nvSpPr>
          <p:cNvPr id="11" name="Rounded Rectangle 10"/>
          <p:cNvSpPr/>
          <p:nvPr/>
        </p:nvSpPr>
        <p:spPr>
          <a:xfrm>
            <a:off x="530352" y="521208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949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504688"/>
            <a:ext cx="237744" cy="237744"/>
          </a:xfrm>
          <a:prstGeom prst="rect">
            <a:avLst/>
          </a:prstGeom>
        </p:spPr>
      </p:pic>
      <p:sp>
        <p:nvSpPr>
          <p:cNvPr id="14" name="TextBox 13"/>
          <p:cNvSpPr txBox="1"/>
          <p:nvPr/>
        </p:nvSpPr>
        <p:spPr>
          <a:xfrm>
            <a:off x="1399031" y="535838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577840"/>
            <a:ext cx="9987991" cy="384048"/>
          </a:xfrm>
          <a:prstGeom prst="rect">
            <a:avLst/>
          </a:prstGeom>
          <a:noFill/>
        </p:spPr>
        <p:txBody>
          <a:bodyPr wrap="square" anchor="t" lIns="0" rIns="0" tIns="0" bIns="0">
            <a:spAutoFit/>
          </a:bodyPr>
          <a:lstStyle/>
          <a:p>
            <a:r>
              <a:rPr sz="1100" b="0" i="0">
                <a:solidFill>
                  <a:srgbClr val="1A1440"/>
                </a:solidFill>
                <a:latin typeface="Calibri"/>
              </a:rPr>
              <a:t>[D] One channel carries nine rupees in ten of revenue; does that change where the growth plan invests?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4" name="Oval 23"/>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6" name="Oval 25"/>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8" name="Oval 27"/>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1f6d46a2d9a23a0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Rs 14,970 of it came back as returns.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9" name="Oval 18"/>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3" name="Oval 22"/>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4a72dbfc3a0f543d.png"/>
          <p:cNvPicPr>
            <a:picLocks noChangeAspect="1"/>
          </p:cNvPicPr>
          <p:nvPr/>
        </p:nvPicPr>
        <p:blipFill>
          <a:blip r:embed="rId6"/>
          <a:stretch>
            <a:fillRect/>
          </a:stretch>
        </p:blipFill>
        <p:spPr>
          <a:xfrm>
            <a:off x="530352" y="1973352"/>
            <a:ext cx="4786326" cy="3935423"/>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18" name="Oval 17"/>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7722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820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answer aloud?</a:t>
            </a:r>
          </a:p>
        </p:txBody>
      </p:sp>
      <p:sp>
        <p:nvSpPr>
          <p:cNvPr id="22" name="Oval 21"/>
          <p:cNvSpPr/>
          <p:nvPr/>
        </p:nvSpPr>
        <p:spPr>
          <a:xfrm>
            <a:off x="82138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3611"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What do we keep?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keep?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33211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4051134"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35564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a:t>
            </a:r>
          </a:p>
        </p:txBody>
      </p:sp>
      <p:sp>
        <p:nvSpPr>
          <p:cNvPr id="14" name="Rounded Rectangle 13"/>
          <p:cNvSpPr/>
          <p:nvPr/>
        </p:nvSpPr>
        <p:spPr>
          <a:xfrm>
            <a:off x="6956237"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8083101"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aloud?</a:t>
            </a:r>
          </a:p>
        </p:txBody>
      </p:sp>
      <p:sp>
        <p:nvSpPr>
          <p:cNvPr id="16" name="Rounded Rectangle 15"/>
          <p:cNvSpPr/>
          <p:nvPr/>
        </p:nvSpPr>
        <p:spPr>
          <a:xfrm>
            <a:off x="9802125"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keep?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9" name="Oval 28"/>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33" name="Oval 32"/>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9bb6579e730597a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17949" y="1956816"/>
            <a:ext cx="5588529" cy="273303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0" name="Oval 19"/>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4" name="Oval 23"/>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47" name="Oval 46"/>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51" name="Oval 50"/>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44112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5085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numbers hold?</a:t>
            </a:r>
          </a:p>
        </p:txBody>
      </p:sp>
      <p:sp>
        <p:nvSpPr>
          <p:cNvPr id="23" name="Oval 22"/>
          <p:cNvSpPr/>
          <p:nvPr/>
        </p:nvSpPr>
        <p:spPr>
          <a:xfrm>
            <a:off x="57907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90045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7722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820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answer aloud?</a:t>
            </a:r>
          </a:p>
        </p:txBody>
      </p:sp>
      <p:sp>
        <p:nvSpPr>
          <p:cNvPr id="27" name="Oval 26"/>
          <p:cNvSpPr/>
          <p:nvPr/>
        </p:nvSpPr>
        <p:spPr>
          <a:xfrm>
            <a:off x="82138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23611"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What do we keep?</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