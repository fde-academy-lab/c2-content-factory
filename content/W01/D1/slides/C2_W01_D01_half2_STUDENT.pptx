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(7), the build (5),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Say why the base is the 29: the order at the top of chapter 4's sort carries most</a:t>
            </a:r>
          </a:p>
          <a:p>
            <a:r>
              <a:t>of booked revenue, and no offer repeats it; on booked revenue the plan reads 4.5 orders, but each</a:t>
            </a:r>
          </a:p>
          <a:p>
            <a:r>
              <a:t>would have to be worth the Rs 18,160 mean.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for the right number before the next slide; take hands for 20, 21, 10 or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it on the board, on the 29 everyday orders: Rs 64,810 x 1.10 = Rs 71,291; x 1.10 again =</a:t>
            </a:r>
          </a:p>
          <a:p>
            <a:r>
              <a:t>Rs 78,420.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Bring the parts route to marketing: the lift on the lift has its own line.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price a</a:t>
            </a:r>
          </a:p>
          <a:p>
            <a:r>
              <a:t>new customer on the everyday orders' mean with the top order set aside,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build (4), the trap and the fix (12), the</a:t>
            </a:r>
          </a:p>
          <a:p>
            <a:r>
              <a:t>second route (3),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build the first draft.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06 builds the draft from variables so no number drifts from the work.</a:t>
            </a:r>
          </a:p>
          <a:p>
            <a:r>
              <a:t>Ask which number in it marketing will reach for first. Most say the 16.</a:t>
            </a:r>
          </a:p>
          <a:p>
            <a:r>
              <a:t>Transition: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of S12's sentence, which is how it</a:t>
            </a:r>
          </a:p>
          <a:p>
            <a:r>
              <a:t>would reach Meera. Take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are past the usual</a:t>
            </a:r>
          </a:p>
          <a:p>
            <a:r>
              <a:t>gap, 9 are too recent. The gap rests on 7 customers, and an 88-day window only sees short gaps, so</a:t>
            </a:r>
          </a:p>
          <a:p>
            <a:r>
              <a:t>45 days is a floor and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16 is replaced by the split, and the sentence carries no "lost"</a:t>
            </a:r>
          </a:p>
          <a:p>
            <a:r>
              <a:t>and no percentage marketing can recompute. Notebook 06's checks assert each number is in it.</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S18 and S19,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a:t>
            </a:r>
          </a:p>
          <a:p>
            <a:r>
              <a:t>brief's two lines (six letters, then three numbers), the sentence, and the notebook's nine TODO</a:t>
            </a:r>
          </a:p>
          <a:p>
            <a:r>
              <a:t>picks on one more line.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the answer 12. Use the room's own numbers where they match; the</a:t>
            </a:r>
          </a:p>
          <a:p>
            <a:r>
              <a:t>slides carry the six every 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case's table from the day sheet, what moved and what held on delivered orders, and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S22, 15 in pairs with no slides, then S23 to</a:t>
            </a:r>
          </a:p>
          <a:p>
            <a:r>
              <a:t>S26 as the debrief, about 8 minutes. Do not show S23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a mean, because a payback is a total, taken from the segment the spend targets with one-off</a:t>
            </a:r>
          </a:p>
          <a:p>
            <a:r>
              <a:t>large orders set aside; the median sits beside it as the typical order.</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a new customer priced on the everyday mean; frequency first, budget waits for</a:t>
            </a:r>
          </a:p>
          <a:p>
            <a:r>
              <a:t>two quarters.</a:t>
            </a:r>
          </a:p>
          <a:p>
            <a:r>
              <a:t>Seventy percent: the file shows who bought once, and churn depends on orders after the window closes;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Hand out the domain card</a:t>
            </a:r>
          </a:p>
          <a:p>
            <a:r>
              <a:t>now, one per learner. Remind the room of the take-home and the pre-read, and that the practice lab</a:t>
            </a:r>
          </a:p>
          <a:p>
            <a:r>
              <a:t>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2.png"/><Relationship Id="rId6"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0.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892683" cy="185166"/>
          </a:xfrm>
          <a:prstGeom prst="rect">
            <a:avLst/>
          </a:prstGeom>
          <a:noFill/>
        </p:spPr>
        <p:txBody>
          <a:bodyPr wrap="square" anchor="t" lIns="0" rIns="0" tIns="0" bIns="0">
            <a:spAutoFit/>
          </a:bodyPr>
          <a:lstStyle/>
          <a:p>
            <a:pPr algn="l"/>
            <a:r>
              <a:rPr sz="900" b="0" i="0">
                <a:solidFill>
                  <a:srgbClr val="FFFFFF"/>
                </a:solidFill>
                <a:latin typeface="Calibri"/>
              </a:rPr>
              <a:t>The sentence</a:t>
            </a:r>
          </a:p>
        </p:txBody>
      </p:sp>
      <p:sp>
        <p:nvSpPr>
          <p:cNvPr id="15" name="TextBox 14"/>
          <p:cNvSpPr txBox="1"/>
          <p:nvPr/>
        </p:nvSpPr>
        <p:spPr>
          <a:xfrm>
            <a:off x="389591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279963"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585787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Wrong answers</a:t>
            </a:r>
          </a:p>
        </p:txBody>
      </p:sp>
      <p:sp>
        <p:nvSpPr>
          <p:cNvPr id="19" name="TextBox 18"/>
          <p:cNvSpPr txBox="1"/>
          <p:nvPr/>
        </p:nvSpPr>
        <p:spPr>
          <a:xfrm>
            <a:off x="699258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7376636"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839304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8777097"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Interview drill</a:t>
            </a:r>
          </a:p>
        </p:txBody>
      </p:sp>
      <p:sp>
        <p:nvSpPr>
          <p:cNvPr id="23" name="TextBox 22"/>
          <p:cNvSpPr txBox="1"/>
          <p:nvPr/>
        </p:nvSpPr>
        <p:spPr>
          <a:xfrm>
            <a:off x="1003011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10414158"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sized on the 29 everyday orders</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31" name="Oval 30"/>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5" name="Oval 34"/>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9" name="Oval 38"/>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3.3 customers or 4.35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29 everyday orders: 22 customers, 15 bought once; Rs 9,722 more.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3.3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4.35 more orders from the same 22</a:t>
                      </a:r>
                    </a:p>
                  </a:txBody>
                  <a:tcPr marL="101600" marR="101600" marT="38100" marB="38100" anchor="ctr">
                    <a:solidFill>
                      <a:srgbClr val="F4F2FA"/>
                    </a:solidFill>
                  </a:tcPr>
                </a:tc>
                <a:tc>
                  <a:txBody>
                    <a:bodyPr/>
                    <a:lstStyle/>
                    <a:p>
                      <a:r>
                        <a:rPr sz="1400" b="0" i="0">
                          <a:solidFill>
                            <a:srgbClr val="1A1440"/>
                          </a:solidFill>
                          <a:latin typeface="Calibri"/>
                        </a:rPr>
                        <a:t>7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335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4 or 5 of the 15 one-time buyers returning once at the everyday mean of Rs 2,235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2" name="Oval 21"/>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6" name="Oval 25"/>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0" name="Oval 29"/>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77,772."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 everyday orders</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78,420, Rs 648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5" name="Oval 1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9" name="Oval 1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3" name="Oval 2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6,481 each, and the lift on the lift of Rs 648.</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Everyday orders, this quarter</a:t>
                      </a:r>
                    </a:p>
                  </a:txBody>
                  <a:tcPr marL="101600" marR="101600" marT="38100" marB="38100" anchor="ctr">
                    <a:solidFill>
                      <a:srgbClr val="FFFFFF"/>
                    </a:solidFill>
                  </a:tcPr>
                </a:tc>
                <a:tc>
                  <a:txBody>
                    <a:bodyPr/>
                    <a:lstStyle/>
                    <a:p>
                      <a:r>
                        <a:rPr sz="1400" b="0" i="0">
                          <a:solidFill>
                            <a:srgbClr val="1A1440"/>
                          </a:solidFill>
                          <a:latin typeface="Calibri"/>
                        </a:rPr>
                        <a:t>64,810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6,481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6,481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648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78,420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4" name="Oval 2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8" name="Oval 2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2" name="Oval 3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build: the first draft of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from the chapters' numbers.</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6" name="Oval 15"/>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0" name="Oval 19"/>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4" name="Oval 23"/>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Kalpa's customers can you call lost: a) about 70 percent, 16 of 23; b) 30 percent, the ones who came back; c) none yet from this file; some are too recent; d) all the one-time buyers?</a:t>
            </a:r>
          </a:p>
        </p:txBody>
      </p:sp>
      <p:pic>
        <p:nvPicPr>
          <p:cNvPr id="12" name="mermaid diagram" descr="b77885d7ca9306ee.png"/>
          <p:cNvPicPr>
            <a:picLocks noChangeAspect="1"/>
          </p:cNvPicPr>
          <p:nvPr/>
        </p:nvPicPr>
        <p:blipFill>
          <a:blip r:embed="rId5"/>
          <a:stretch>
            <a:fillRect/>
          </a:stretch>
        </p:blipFill>
        <p:spPr>
          <a:xfrm>
            <a:off x="3524097" y="29291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7" name="Oval 16"/>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1" name="Oval 20"/>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5" name="Oval 24"/>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under 45 days before the end</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PAST THE USUAL GAP</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33" name="Oval 3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5" name="Oval 3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7" name="Oval 3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9" name="Oval 3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41" name="Oval 40"/>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with the window's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16 becomes the split: 7 came back, 7 past the usual gap, 9 too recent.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6" name="Oval 15"/>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0" name="Oval 19"/>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4" name="Oval 23"/>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3" name="Oval 2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7" name="Oval 2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9" name="Oval 2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1" name="Oval 30"/>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4" name="Oval 2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8" name="Oval 2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2" name="Oval 3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whether the answer holds on the orders that stayed sold.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8" name="Oval 47"/>
          <p:cNvSpPr/>
          <p:nvPr/>
        </p:nvSpPr>
        <p:spPr>
          <a:xfrm>
            <a:off x="28615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71228"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52" name="Oval 51"/>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56" name="Oval 55"/>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letters and three numbers, one sentence, then the notebook's nine picks.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9" name="Oval 28"/>
          <p:cNvSpPr/>
          <p:nvPr/>
        </p:nvSpPr>
        <p:spPr>
          <a:xfrm>
            <a:off x="28615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71228"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1" name="Oval 3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3" name="Oval 3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7" name="Oval 3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0" name="Oval 3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2" name="Oval 41"/>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090797"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Wrong answers</a:t>
            </a:r>
          </a:p>
        </p:txBody>
      </p:sp>
      <p:sp>
        <p:nvSpPr>
          <p:cNvPr id="44" name="Oval 43"/>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6" name="Oval 4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48" name="Oval 4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1" cy="3314192"/>
        </p:xfrm>
        <a:graphic>
          <a:graphicData uri="http://schemas.openxmlformats.org/drawingml/2006/table">
            <a:tbl>
              <a:tblPr firstRow="0" bandRow="0">
                <a:tableStyleId>{2D5ABB26-0587-4C30-8999-92F81FD0307C}</a:tableStyleId>
              </a:tblPr>
              <a:tblGrid>
                <a:gridCol w="1959559"/>
                <a:gridCol w="5198486"/>
                <a:gridCol w="397294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78,420.</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past the usual gap,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0" name="Oval 1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4" name="Oval 23"/>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6" name="Oval 2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8" name="Oval 2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7" name="Oval 16"/>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1" name="Oval 20"/>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3" name="Oval 22"/>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5" name="Oval 24"/>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30" name="Oval 2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2" name="Oval 3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4" name="Oval 33"/>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36" name="Oval 3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8" name="Oval 3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leads consumer sales; half its orders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were returned,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5" name="Oval 1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9" name="Oval 18"/>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3" name="Oval 2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Kahoot is ungraded, and it shows which traps the room still falls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two on tree and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3" name="Oval 4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47" name="Oval 4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51" name="Oval 50"/>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