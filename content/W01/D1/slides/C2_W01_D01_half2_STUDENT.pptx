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while the room comes back. Meera's question is the day's question,</a:t>
            </a:r>
          </a:p>
          <a:p>
            <a:r>
              <a:t>and this afternoon answers it in the close. The morning's metric tree is still on the board with its</a:t>
            </a:r>
          </a:p>
          <a:p>
            <a:r>
              <a:t>numbers written in.</a:t>
            </a:r>
          </a:p>
          <a:p>
            <a:r>
              <a:t>Transition: S1, what the morning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two of chapter 5's 30. Read the tree from the root: booked revenue of</a:t>
            </a:r>
          </a:p>
          <a:p>
            <a:r>
              <a:t>Rs 5,44,810 still holds the 4 cancelled store orders, not cancelled is Rs 5,35,760 on 26 orders and</a:t>
            </a:r>
          </a:p>
          <a:p>
            <a:r>
              <a:t>delivered is Rs 5,20,790 on 21. The AOV of Rs 18,160 is booked revenue over the 30 orders it was</a:t>
            </a:r>
          </a:p>
          <a:p>
            <a:r>
              <a:t>summed over, and the median of Rs 2,205 is the number marketing gets as the typical order.</a:t>
            </a:r>
          </a:p>
          <a:p>
            <a:r>
              <a:t>Ask one learner which branch looks weakest on this tree and which number says so. Most point at the</a:t>
            </a:r>
          </a:p>
          <a:p>
            <a:r>
              <a:t>16 customers who bought once, which is where chapter 5 starts.</a:t>
            </a:r>
          </a:p>
          <a:p>
            <a:r>
              <a:t>Transition: section 05,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counting S1's two: the map and the need (3), the real company (1), the base (3),</a:t>
            </a:r>
          </a:p>
          <a:p>
            <a:r>
              <a:t>each branch alone (4), the evidence and the call (4), the check (2), the trap (7), the second route</a:t>
            </a:r>
          </a:p>
          <a:p>
            <a:r>
              <a:t>(2) and Kavya's review (2). D15 is self-study. Notebook 05 is the demonstration.</a:t>
            </a:r>
          </a:p>
          <a:p>
            <a:r>
              <a:t>Transition: S2,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unanswered; each gets its own slide,</a:t>
            </a:r>
          </a:p>
          <a:p>
            <a:r>
              <a:t>and S16 answers all six in a line each.</a:t>
            </a:r>
          </a:p>
          <a:p>
            <a:r>
              <a:t>Transition: S3, who asks for the branch and what a wrong one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now a choice between branches, and a choice needs the cost of each</a:t>
            </a:r>
          </a:p>
          <a:p>
            <a:r>
              <a:t>option beside it. Meera decides, the marketing lead wants the Rs 12 crore for acquisition, and the</a:t>
            </a:r>
          </a:p>
          <a:p>
            <a:r>
              <a:t>head of Retail-Plus runs the paid tier whose members come back most often.</a:t>
            </a:r>
          </a:p>
          <a:p>
            <a:r>
              <a:t>Ask: which of the three loses most if we pick the wrong branch?</a:t>
            </a:r>
          </a:p>
          <a:p>
            <a:r>
              <a:t>Transition: S4, two companies that pay to buy frequency.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companies are real and the prices are their own. Free or faster delivery takes</a:t>
            </a:r>
          </a:p>
          <a:p>
            <a:r>
              <a:t>away a customer's reason to wait and batch purchases, so each member orders more often.</a:t>
            </a:r>
          </a:p>
          <a:p>
            <a:r>
              <a:t>Transition: S5, which orders the plan is sized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rule before any number. The plan's levers, the Rs 12 crore of acquisition,</a:t>
            </a:r>
          </a:p>
          <a:p>
            <a:r>
              <a:t>the retention offers and the Retail-Plus membership, all act on consumers who buy again and again,</a:t>
            </a:r>
          </a:p>
          <a:p>
            <a:r>
              <a:t>so the plan is sized on the three consumer segments, and the code writes that rule once. Booked</a:t>
            </a:r>
          </a:p>
          <a:p>
            <a:r>
              <a:t>revenue still counts every order; the consumer view answers the narrower question the plan asks.</a:t>
            </a:r>
          </a:p>
          <a:p>
            <a:r>
              <a:t>Say the view in rupees. How many orders it keeps is each learner's to find in notebook 05's own cell.</a:t>
            </a:r>
          </a:p>
          <a:p>
            <a:r>
              <a:t>Ask: if the plan were sized on all booked revenue, what would each extra order have to be worth?</a:t>
            </a:r>
          </a:p>
          <a:p>
            <a:r>
              <a:t>The booked mean, Rs 18,160, which chapter 4 showed no typical order is; the consumer view's mean is</a:t>
            </a:r>
          </a:p>
          <a:p>
            <a:r>
              <a:t>Rs 2,235.</a:t>
            </a:r>
          </a:p>
          <a:p>
            <a:r>
              <a:t>Transition: S6, what one branch would have to do alone.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 Many pick b, sharing the plan out across</a:t>
            </a:r>
          </a:p>
          <a:p>
            <a:r>
              <a:t>the three branches as though they added.</a:t>
            </a:r>
          </a:p>
          <a:p>
            <a:r>
              <a:t>Transition: S7,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three lines: whichever factor carries the 1.15, the product is revenue</a:t>
            </a:r>
          </a:p>
          <a:p>
            <a:r>
              <a:t>times 1.15. Answer b's reasoning aloud: if all three branches shared the plan, each would need about</a:t>
            </a:r>
          </a:p>
          <a:p>
            <a:r>
              <a:t>4.8 percent, since 1.048 x 1.048 x 1.048 is about 1.15, and three lifts of 5 percent would overshoot</a:t>
            </a:r>
          </a:p>
          <a:p>
            <a:r>
              <a:t>to about 15.8 percent. Every branch is asked for the same Rs 9,722; what differs is what that asks</a:t>
            </a:r>
          </a:p>
          <a:p>
            <a:r>
              <a:t>and of whom, which S8 lays out.</a:t>
            </a:r>
          </a:p>
          <a:p>
            <a:r>
              <a:t>Transition: S8, which branch has evidence behind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Some pick c because Rs 335 a basket sounds small; ask them what</a:t>
            </a:r>
          </a:p>
          <a:p>
            <a:r>
              <a:t>in the file would show that a basket can grow.</a:t>
            </a:r>
          </a:p>
          <a:p>
            <a:r>
              <a:t>Transition: S9, the answer and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Walk the three boxes. Acquisition may be short, but one quarter</a:t>
            </a:r>
          </a:p>
          <a:p>
            <a:r>
              <a:t>cannot show customers falling; order value and price rest on items and prices the file does not</a:t>
            </a:r>
          </a:p>
          <a:p>
            <a:r>
              <a:t>hold. Frequency has the evidence and the cheapest test: a reorder reminder to the one-time buyers,</a:t>
            </a:r>
          </a:p>
          <a:p>
            <a:r>
              <a:t>against a group held back for comparison. The call has a second switch as well: a retained order</a:t>
            </a:r>
          </a:p>
          <a:p>
            <a:r>
              <a:t>that costs more than winning a new customer.</a:t>
            </a:r>
          </a:p>
          <a:p>
            <a:r>
              <a:t>Ask: which of the two switches could Tuesday's file show?</a:t>
            </a:r>
          </a:p>
          <a:p>
            <a:r>
              <a:t>Transition: S10, whether the frequency ask is within reach.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ask is small: about three in ten of the consumer view's one-time buyers</a:t>
            </a:r>
          </a:p>
          <a:p>
            <a:r>
              <a:t>ordering once more at the consumer mean. Notebook 05's check multiplies it back to the plan. Keep</a:t>
            </a:r>
          </a:p>
          <a:p>
            <a:r>
              <a:t>the count of extra orders in each learner's own notebook and say the ask in rupees and as three in</a:t>
            </a:r>
          </a:p>
          <a:p>
            <a:r>
              <a:t>ten.</a:t>
            </a:r>
          </a:p>
          <a:p>
            <a:r>
              <a:t>Transition: S11,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marketing lead would. Before the next slide, take</a:t>
            </a:r>
          </a:p>
          <a:p>
            <a:r>
              <a:t>hands for 20, 21, 10 or 11 percent; most rooms say 20.</a:t>
            </a:r>
          </a:p>
          <a:p>
            <a:r>
              <a:t>Transition: S12,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on the consumer view: Rs 64,810 x 1.10 = Rs 71,291, and</a:t>
            </a:r>
          </a:p>
          <a:p>
            <a:r>
              <a:t>x 1.10 again is Rs 78,420. At 10 percent the gap is Rs 648; with two 30 percent lifts the tree says</a:t>
            </a:r>
          </a:p>
          <a:p>
            <a:r>
              <a:t>69 percent where addition says 60.</a:t>
            </a:r>
          </a:p>
          <a:p>
            <a:r>
              <a:t>Transition: S13, the fix and what it changes.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the fix changes: the plan is sized on 21 percent, Rs 78,420, and a discount is</a:t>
            </a:r>
          </a:p>
          <a:p>
            <a:r>
              <a:t>priced through the tree before anyone calls it growth. Marketing's discount comes back in the</a:t>
            </a:r>
          </a:p>
          <a:p>
            <a:r>
              <a:t>escalated case, on delivered orders.</a:t>
            </a:r>
          </a:p>
          <a:p>
            <a:r>
              <a:t>Transition: S14, the same total built from its parts.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draws this as a bridge and asserts it lands on the multiplied total.</a:t>
            </a:r>
          </a:p>
          <a:p>
            <a:r>
              <a:t>When to switch: multiply the factors for the total, and build the parts when someone asks where the</a:t>
            </a:r>
          </a:p>
          <a:p>
            <a:r>
              <a:t>extra came from. The parts route is the one to bring to marketing, since the lift on the lift has</a:t>
            </a:r>
          </a:p>
          <a:p>
            <a:r>
              <a:t>its own line.</a:t>
            </a:r>
          </a:p>
          <a:p>
            <a:r>
              <a:t>Transition: D15 is self-study, so go to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flat line is revenue before the discount and the rising line is revenue</a:t>
            </a:r>
          </a:p>
          <a:p>
            <a:r>
              <a:t>after it. Marketing's 10 percent lift sits well short of the 17.6 percent break-even, which is why</a:t>
            </a:r>
          </a:p>
          <a:p>
            <a:r>
              <a:t>the tree calls the proposal a fall. Notebook 05's depth section draws the same two lines.</a:t>
            </a:r>
          </a:p>
          <a:p>
            <a:r>
              <a:t>Transition: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interview question aloud in under a minute: count customers</a:t>
            </a:r>
          </a:p>
          <a:p>
            <a:r>
              <a:t>by id and the repeat buyers, price a new customer on the consumer mean of Rs 2,235, ask for the prior</a:t>
            </a:r>
          </a:p>
          <a:p>
            <a:r>
              <a:t>quarter, and say no for now with a date while offering the cheaper frequency test.</a:t>
            </a:r>
          </a:p>
          <a:p>
            <a:r>
              <a:t>Transition: section 06,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and the need (3), the real company (1), the options (4), the first draft</a:t>
            </a:r>
          </a:p>
          <a:p>
            <a:r>
              <a:t>(6), the trap (8), the fix (3), the second route (3) and Kavya's review (2). D29 is self-study.</a:t>
            </a:r>
          </a:p>
          <a:p>
            <a:r>
              <a:t>Notebook 06 is the demonstration.</a:t>
            </a:r>
          </a:p>
          <a:p>
            <a:r>
              <a:t>Transition: S17,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open; S30 answers each in one line.</a:t>
            </a:r>
          </a:p>
          <a:p>
            <a:r>
              <a:t>Transition: S18, who reads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six notebooks. Marketing will read the sentence looking for the</a:t>
            </a:r>
          </a:p>
          <a:p>
            <a:r>
              <a:t>number it can recompute into a different story.</a:t>
            </a:r>
          </a:p>
          <a:p>
            <a:r>
              <a:t>Ask: which number from chapter 5 would you least like to defend in front of the marketing lead?</a:t>
            </a:r>
          </a:p>
          <a:p>
            <a:r>
              <a:t>Transition: S19, a real company's first window.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One window shows a shape, and the</a:t>
            </a:r>
          </a:p>
          <a:p>
            <a:r>
              <a:t>verdict needs the next window.</a:t>
            </a:r>
          </a:p>
          <a:p>
            <a:r>
              <a:t>Transition: S20,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A is fast and carries nothing, B hands Meera the choice of number,</a:t>
            </a:r>
          </a:p>
          <a:p>
            <a:r>
              <a:t>and D is the right tool once the definitions are settled and the question recurs. What would change</a:t>
            </a:r>
          </a:p>
          <a:p>
            <a:r>
              <a:t>the call: a weekly question, which arrives in Week 2.</a:t>
            </a:r>
          </a:p>
          <a:p>
            <a:r>
              <a:t>Transition: S21, predict the order of the sentence's parts.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a:t>
            </a:r>
          </a:p>
          <a:p>
            <a:r>
              <a:t>Transition: S22,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Kavya's order puts the decision where Meera's eye lands last. A sentence that ends</a:t>
            </a:r>
          </a:p>
          <a:p>
            <a:r>
              <a:t>on the caveat reads as doubt, and one that ends on the numbers leaves her to draw the conclusion.</a:t>
            </a:r>
          </a:p>
          <a:p>
            <a:r>
              <a:t>Transition: S23, the first draft built from the chapters' numbers.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number in the draft comes from a variable, so the sentence cannot drift from</a:t>
            </a:r>
          </a:p>
          <a:p>
            <a:r>
              <a:t>the work, and notebook 06 checks that the draft carries the customers, the rate and the typical</a:t>
            </a:r>
          </a:p>
          <a:p>
            <a:r>
              <a:t>order.</a:t>
            </a:r>
          </a:p>
          <a:p>
            <a:r>
              <a:t>Ask which number marketing will reach for first. Most say the 16.</a:t>
            </a:r>
          </a:p>
          <a:p>
            <a:r>
              <a:t>Transition: S24,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which is how it would</a:t>
            </a:r>
          </a:p>
          <a:p>
            <a:r>
              <a:t>reach Meera. Ask what the marketing lead would ask first; someone should say "how long do our</a:t>
            </a:r>
          </a:p>
          <a:p>
            <a:r>
              <a:t>customers usually take to come back?"</a:t>
            </a:r>
          </a:p>
          <a:p>
            <a:r>
              <a:t>Transition: S25, predict how many of the 16 can be called lost.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by hand; most pick a.</a:t>
            </a:r>
          </a:p>
          <a:p>
            <a:r>
              <a:t>Transition: S26, the answer and the check that catches the 70 percent.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What 70 percent would mislead: retention looks like an emergency on a number</a:t>
            </a:r>
          </a:p>
          <a:p>
            <a:r>
              <a:t>marketing knocks down in one question. The check measures the usual gap from the customers who did</a:t>
            </a:r>
          </a:p>
          <a:p>
            <a:r>
              <a:t>come back and holds back everyone who has not had that long. An 88-day window only sees gaps</a:t>
            </a:r>
          </a:p>
          <a:p>
            <a:r>
              <a:t>shorter than 88 days, so 45 days is a floor, and more of the 16 may still be on their way back.</a:t>
            </a:r>
          </a:p>
          <a:p>
            <a:r>
              <a:t>Transition: S27, the fix in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changed: the split replaces the 16, and the sentence carries no "lost" and no</a:t>
            </a:r>
          </a:p>
          <a:p>
            <a:r>
              <a:t>percentage that marketing can recompute. Notebook 06's checks assert that each number is in the</a:t>
            </a:r>
          </a:p>
          <a:p>
            <a:r>
              <a:t>sentence and that the word lost is not.</a:t>
            </a:r>
          </a:p>
          <a:p>
            <a:r>
              <a:t>Transition: S28, the same split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 When to switch: count the</a:t>
            </a:r>
          </a:p>
          <a:p>
            <a:r>
              <a:t>days since the order to report today's state, and use due dates to plan follow-ups, since a due date</a:t>
            </a:r>
          </a:p>
          <a:p>
            <a:r>
              <a:t>is the day a reminder would go out. A second quarter measures the gap on more customers, and the</a:t>
            </a:r>
          </a:p>
          <a:p>
            <a:r>
              <a:t>caveat shrinks.</a:t>
            </a:r>
          </a:p>
          <a:p>
            <a:r>
              <a:t>Transition: D29 is self-study, so go to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Any count of who has not done something yet is cut short at the end of the</a:t>
            </a:r>
          </a:p>
          <a:p>
            <a:r>
              <a:t>window. The dossier's returns-rate trap is the same edge.</a:t>
            </a:r>
          </a:p>
          <a:p>
            <a:r>
              <a:t>Transition: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in under a minute: 70 percent bought once in this window,</a:t>
            </a:r>
          </a:p>
          <a:p>
            <a:r>
              <a:t>which is a fact about the window, and churn needs orders placed after it closes; returning customers</a:t>
            </a:r>
          </a:p>
          <a:p>
            <a:r>
              <a:t>took a median of 45 days and 9 of the 16 are inside it, so 7 came back, 7 are past the gap and 9 are</a:t>
            </a:r>
          </a:p>
          <a:p>
            <a:r>
              <a:t>too recent, and the prior quarter comes before anyone is called lost.</a:t>
            </a:r>
          </a:p>
          <a:p>
            <a:r>
              <a:t>Transition: section A,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S31 and S32, then 30 alone with S32 on screen. The support TA</a:t>
            </a:r>
          </a:p>
          <a:p>
            <a:r>
              <a:t>answers environment problems only. Collect wrong numbers while circulating, for the debrief.</a:t>
            </a:r>
          </a:p>
          <a:p>
            <a:r>
              <a:t>Transition: S31, Anand's 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 lines the</a:t>
            </a:r>
          </a:p>
          <a:p>
            <a:r>
              <a:t>brief asks for, the sentence, and the notebook's TODO picks on one more line.</a:t>
            </a:r>
          </a:p>
          <a:p>
            <a:r>
              <a:t>Transition: S32, what to post and how long each part takes.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with this slide on screen while the room works alone. Write down every wrong</a:t>
            </a:r>
          </a:p>
          <a:p>
            <a:r>
              <a:t>number you see; the debrief is built from them.</a:t>
            </a:r>
          </a:p>
          <a:p>
            <a:r>
              <a:t>Transition: section B,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and the answer 12. Use the room's own numbers where they match; the</a:t>
            </a:r>
          </a:p>
          <a:p>
            <a:r>
              <a:t>slides carry the six every room produces. A 10-minute break follows.</a:t>
            </a:r>
          </a:p>
          <a:p>
            <a:r>
              <a:t>Transition: S33, the six numbers.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 why</a:t>
            </a:r>
          </a:p>
          <a:p>
            <a:r>
              <a:t>it tempts.</a:t>
            </a:r>
          </a:p>
          <a:p>
            <a:r>
              <a:t>Transition: S34,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 read what moved and what held on delivered orders from the day sheet's numbers table, and name</a:t>
            </a:r>
          </a:p>
          <a:p>
            <a:r>
              <a:t>the two slips the case adds, a median of an odd count taken as the average of two middles, and</a:t>
            </a:r>
          </a:p>
          <a:p>
            <a:r>
              <a:t>delivered one-time buyers called lost, which the same 45-day edge corrects.</a:t>
            </a:r>
          </a:p>
          <a:p>
            <a:r>
              <a:t>Transition: a 10-minute break, then section C,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S35, 15 in pairs with no slides, then S36 to S39 as</a:t>
            </a:r>
          </a:p>
          <a:p>
            <a:r>
              <a:t>the debrief, about 8 minutes. Keep S36 off the screen until the pairs have worked.</a:t>
            </a:r>
          </a:p>
          <a:p>
            <a:r>
              <a:t>Transition: S35, Meera's second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to brief, then 15 minutes in pairs with no slides. The pairs split by channel and by</a:t>
            </a:r>
          </a:p>
          <a:p>
            <a:r>
              <a:t>status themselves. Segment is recorded on each order, so one repeat customer appears under two</a:t>
            </a:r>
          </a:p>
          <a:p>
            <a:r>
              <a:t>customer types; watch for pairs who count customers per type and add the counts.</a:t>
            </a:r>
          </a:p>
          <a:p>
            <a:r>
              <a:t>Transition: after 15 minutes, S36.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S37,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Booked revenue still counts every order; the consumer view answers the narrower</a:t>
            </a:r>
          </a:p>
          <a:p>
            <a:r>
              <a:t>question the plan asks. Let the pairs say from their own table where the rest of store's booked</a:t>
            </a:r>
          </a:p>
          <a:p>
            <a:r>
              <a:t>revenue sits, and leave the saying to them.</a:t>
            </a:r>
          </a:p>
          <a:p>
            <a:r>
              <a:t>Transition: S38, the consumer channels split by status.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 app</a:t>
            </a:r>
          </a:p>
          <a:p>
            <a:r>
              <a:t>although web books more.</a:t>
            </a:r>
          </a:p>
          <a:p>
            <a:r>
              <a:t>Transition: S39, whether this changes the branch.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 whether</a:t>
            </a:r>
          </a:p>
          <a:p>
            <a:r>
              <a:t>either grew.</a:t>
            </a:r>
          </a:p>
          <a:p>
            <a:r>
              <a:t>Transition: section D,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or 7 per slide. In pairs, one asks and one answers aloud, then they swap.</a:t>
            </a:r>
          </a:p>
          <a:p>
            <a:r>
              <a:t>The one-breath answers are in each slide's notes, and the full answers in the study notes and the</a:t>
            </a:r>
          </a:p>
          <a:p>
            <a:r>
              <a:t>notebooks. Listen for a number with its definition in every answer.</a:t>
            </a:r>
          </a:p>
          <a:p>
            <a:r>
              <a:t>Transition: S40, the first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and reconcile to Finance for anything the board sees.</a:t>
            </a:r>
          </a:p>
          <a:p>
            <a:r>
              <a:t>Thirty and thirty: compare rows with distinct ids; the set gives 23, and 7 came back.</a:t>
            </a:r>
          </a:p>
          <a:p>
            <a:r>
              <a:t>List or dictionary: a list keeps order and walks every record, a dictionary counts or looks up by a</a:t>
            </a:r>
          </a:p>
          <a:p>
            <a:r>
              <a:t>key, and records are a list of dictionaries.</a:t>
            </a:r>
          </a:p>
          <a:p>
            <a:r>
              <a:t>Transition: S41, the next four.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and the mean</a:t>
            </a:r>
          </a:p>
          <a:p>
            <a:r>
              <a:t>where a total must multiply back.</a:t>
            </a:r>
          </a:p>
          <a:p>
            <a:r>
              <a:t>Payback: a mean, because a payback is a total, taken over the segments the spend targets, Rs 2,235</a:t>
            </a:r>
          </a:p>
          <a:p>
            <a:r>
              <a:t>on the consumer view, with the median of Rs 2,205 beside it as the typical order.</a:t>
            </a:r>
          </a:p>
          <a:p>
            <a:r>
              <a:t>Grow 15 percent: fix the base and the window, then size what 15 percent asks of each branch alone;</a:t>
            </a:r>
          </a:p>
          <a:p>
            <a:r>
              <a:t>on the consumer view that is Rs 9,722 more, 15 percent more customers or 15 percent more orders from</a:t>
            </a:r>
          </a:p>
          <a:p>
            <a:r>
              <a:t>the same customers.</a:t>
            </a:r>
          </a:p>
          <a:p>
            <a:r>
              <a:t>Two lifts: 1.10 x 1.10 = 1.21, so 21 percent, and the gap grows with the lifts.</a:t>
            </a:r>
          </a:p>
          <a:p>
            <a:r>
              <a:t>Transition: S42, the last four.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and open the one with room to move and the</a:t>
            </a:r>
          </a:p>
          <a:p>
            <a:r>
              <a:t>cheapest bill.</a:t>
            </a:r>
          </a:p>
          <a:p>
            <a:r>
              <a:t>Acquisition budget: count repeat buyers, price a new customer on the consumer mean of Rs 2,235, and</a:t>
            </a:r>
          </a:p>
          <a:p>
            <a:r>
              <a:t>ask for the prior quarter; frequency goes first, and the budget waits for two quarters.</a:t>
            </a:r>
          </a:p>
          <a:p>
            <a:r>
              <a:t>Seventy percent: the file shows who bought once, and churn depends on orders after the window</a:t>
            </a:r>
          </a:p>
          <a:p>
            <a:r>
              <a:t>closes; 9 of the 16 bought inside the 45-day gap.</a:t>
            </a:r>
          </a:p>
          <a:p>
            <a:r>
              <a:t>Nine rupees in ten: count the orders behind the share and keep the segments the plan concerns; on</a:t>
            </a:r>
          </a:p>
          <a:p>
            <a:r>
              <a:t>the three consumer segments store falls from 91.6 to 29.2 percent, and the branch stays.</a:t>
            </a:r>
          </a:p>
          <a:p>
            <a:r>
              <a:t>Transition: section E, the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8, the answer to Meera 2, the six lines 3 and Tuesday's question 2.</a:t>
            </a:r>
          </a:p>
          <a:p>
            <a:r>
              <a:t>Transition: S43, the Kahoot.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kahoot/C2_W01_D01_quiz_STUDENT.md. Pause on any item below 60 percent correct</a:t>
            </a:r>
          </a:p>
          <a:p>
            <a:r>
              <a:t>and ask one learner who got it right to explain it.</a:t>
            </a:r>
          </a:p>
          <a:p>
            <a:r>
              <a:t>Transition: S44, the answer Meera hears.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aloud as the day's answer to Meera's question. The escalated case</a:t>
            </a:r>
          </a:p>
          <a:p>
            <a:r>
              <a:t>added that the branch holds on delivered orders, and the second case added two leaks to the note,</a:t>
            </a:r>
          </a:p>
          <a:p>
            <a:r>
              <a:t>web returns and store cancellations, without moving the branch.</a:t>
            </a:r>
          </a:p>
          <a:p>
            <a:r>
              <a:t>Transition: S45, the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S46,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reply and stop; Tuesday's file settles it. Hand out the domain card</a:t>
            </a:r>
          </a:p>
          <a:p>
            <a:r>
              <a:t>now, one per learner. Remind the room of the take-home and the pre-read, and that the practice lab</a:t>
            </a:r>
          </a:p>
          <a:p>
            <a:r>
              <a:t>follows with the TA.</a:t>
            </a:r>
          </a:p>
          <a:p>
            <a:r>
              <a:t>Transition: the practice lab, run by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8.png"/><Relationship Id="rId6"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9.png"/><Relationship Id="rId6"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4.xml"/><Relationship Id="rId6" Type="http://schemas.openxmlformats.org/officeDocument/2006/relationships/image" Target="../media/image3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 for new customers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9545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79502"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will Meera sign?</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871466" y="5248656"/>
            <a:ext cx="1010983" cy="185166"/>
          </a:xfrm>
          <a:prstGeom prst="rect">
            <a:avLst/>
          </a:prstGeom>
          <a:noFill/>
        </p:spPr>
        <p:txBody>
          <a:bodyPr wrap="square" anchor="t" lIns="0" rIns="0" tIns="0" bIns="0">
            <a:spAutoFit/>
          </a:bodyPr>
          <a:lstStyle/>
          <a:p>
            <a:pPr algn="l"/>
            <a:r>
              <a:rPr sz="900" b="0" i="0">
                <a:solidFill>
                  <a:srgbClr val="FFFFFF"/>
                </a:solidFill>
                <a:latin typeface="Calibri"/>
              </a:rPr>
              <a:t>Escalated case</a:t>
            </a:r>
          </a:p>
        </p:txBody>
      </p:sp>
      <p:sp>
        <p:nvSpPr>
          <p:cNvPr id="17" name="TextBox 16"/>
          <p:cNvSpPr txBox="1"/>
          <p:nvPr/>
        </p:nvSpPr>
        <p:spPr>
          <a:xfrm>
            <a:off x="60653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644937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numbers hold?</a:t>
            </a:r>
          </a:p>
        </p:txBody>
      </p:sp>
      <p:sp>
        <p:nvSpPr>
          <p:cNvPr id="19" name="TextBox 18"/>
          <p:cNvSpPr txBox="1"/>
          <p:nvPr/>
        </p:nvSpPr>
        <p:spPr>
          <a:xfrm>
            <a:off x="79389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8323040"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Second case</a:t>
            </a:r>
          </a:p>
        </p:txBody>
      </p:sp>
      <p:sp>
        <p:nvSpPr>
          <p:cNvPr id="21" name="TextBox 20"/>
          <p:cNvSpPr txBox="1"/>
          <p:nvPr/>
        </p:nvSpPr>
        <p:spPr>
          <a:xfrm>
            <a:off x="933945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9723501"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answer aloud?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tree: 23 customers, 1.30 each,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four chapters find on Kalpa's 30 orders?</a:t>
            </a:r>
          </a:p>
        </p:txBody>
      </p:sp>
      <p:pic>
        <p:nvPicPr>
          <p:cNvPr id="9" name="mermaid diagram" descr="93124e1e7ce96ce2.png"/>
          <p:cNvPicPr>
            <a:picLocks noChangeAspect="1"/>
          </p:cNvPicPr>
          <p:nvPr/>
        </p:nvPicPr>
        <p:blipFill>
          <a:blip r:embed="rId5"/>
          <a:stretch>
            <a:fillRect/>
          </a:stretch>
        </p:blipFill>
        <p:spPr>
          <a:xfrm>
            <a:off x="1132580" y="1682496"/>
            <a:ext cx="3581869" cy="4517136"/>
          </a:xfrm>
          <a:prstGeom prst="rect">
            <a:avLst/>
          </a:prstGeom>
        </p:spPr>
      </p:pic>
      <p:sp>
        <p:nvSpPr>
          <p:cNvPr id="10" name="TextBox 9"/>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1 named the definition behind each total, chapter 2 built each branch as a fraction on one definition, chapter 3 counted customers by id, and chapter 4 chose the median because only 1 of the 30 orders sits above the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9" name="Oval 1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1" name="Oval 2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3" name="Oval 2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should Meera open first to reach the 15 percent plan, and why not the others?</a:t>
            </a:r>
          </a:p>
        </p:txBody>
      </p:sp>
      <p:sp>
        <p:nvSpPr>
          <p:cNvPr id="10" name="Rounded Rectangle 9"/>
          <p:cNvSpPr/>
          <p:nvPr/>
        </p:nvSpPr>
        <p:spPr>
          <a:xfrm>
            <a:off x="73151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needs the branch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chapter's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who must choose the branch the Rs 12 crore goes to before she signs; a wrong choice spends the budget on a branch that was fine.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base</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 and which base is the plan sized on?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branch</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would each branch have to do alone?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 has evidence behind it?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lifts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two 10 percent lifts are called 20 percent?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four parts land on the same total?</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switch</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would switch the call?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45" name="Oval 4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9" name="Oval 4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51" name="Oval 5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3" name="Oval 5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55" name="Oval 5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12 crore rides on the branch Meera opens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branch, and what does a wrong one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Revenue growth against the 15 percent plan, and what each branch alone would have to do to reach it</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the marketing lead owns acquisition, and the head of Retail-Plus owns the members most likely to come back</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spent on a branch that was fine, or a plan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have bet on the frequency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membership is a bet on the orders-per-customer branch, placed by companies that could have spent the same money on acquisition.</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0" name="Oval 2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2" name="Oval 31"/>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4" name="Oval 33"/>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6" name="Oval 35"/>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8" name="Oval 37"/>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40" name="Oval 39"/>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covers three consumer segments: Rs 64,810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is Meera's 15 percent plan sized on?</a:t>
            </a:r>
          </a:p>
        </p:txBody>
      </p:sp>
      <p:pic>
        <p:nvPicPr>
          <p:cNvPr id="9" name="mermaid diagram" descr="f3b9c230c42a7090.png"/>
          <p:cNvPicPr>
            <a:picLocks noChangeAspect="1"/>
          </p:cNvPicPr>
          <p:nvPr/>
        </p:nvPicPr>
        <p:blipFill>
          <a:blip r:embed="rId5"/>
          <a:stretch>
            <a:fillRect/>
          </a:stretch>
        </p:blipFill>
        <p:spPr>
          <a:xfrm>
            <a:off x="530352" y="2912780"/>
            <a:ext cx="4786326" cy="2056566"/>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Meera's plan is about customers who buy again and again, so it concerns three segments, Retail-Core, Retail-Plus and Student, and the consumer view keeps every order whose segment is one of them.</a:t>
            </a:r>
          </a:p>
        </p:txBody>
      </p:sp>
      <p:sp>
        <p:nvSpPr>
          <p:cNvPr id="11" name="Rounded Rectangle 10"/>
          <p:cNvSpPr/>
          <p:nvPr/>
        </p:nvSpPr>
        <p:spPr>
          <a:xfrm>
            <a:off x="5761917" y="3409696"/>
            <a:ext cx="5899425"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3738880"/>
            <a:ext cx="5442225"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CONSUMER = {"Retail-Core", "Retail-Plus", "Student"}      # the segments the plan concerns</a:t>
            </a:r>
          </a:p>
          <a:p>
            <a:pPr>
              <a:spcAft>
                <a:spcPts val="200"/>
              </a:spcAft>
            </a:pPr>
            <a:r>
              <a:rPr sz="1400" b="0" i="0">
                <a:solidFill>
                  <a:srgbClr val="E4E1F1"/>
                </a:solidFill>
                <a:latin typeface="Consolas"/>
              </a:rPr>
              <a:t>consumer = [o for o in ORDERS if o["segment"] in CONSUMER]</a:t>
            </a:r>
          </a:p>
          <a:p>
            <a:pPr>
              <a:spcAft>
                <a:spcPts val="200"/>
              </a:spcAft>
            </a:pPr>
            <a:r>
              <a:rPr sz="1400" b="0" i="0">
                <a:solidFill>
                  <a:srgbClr val="E4E1F1"/>
                </a:solidFill>
                <a:latin typeface="Consolas"/>
              </a:rPr>
              <a:t>base = sum(o["amount"] for o in consumer)                  # Rs 64,810</a:t>
            </a:r>
          </a:p>
          <a:p>
            <a:pPr>
              <a:spcAft>
                <a:spcPts val="200"/>
              </a:spcAft>
            </a:pPr>
            <a:r>
              <a:rPr sz="1400" b="0" i="0">
                <a:solidFill>
                  <a:srgbClr val="E4E1F1"/>
                </a:solidFill>
                <a:latin typeface="Consolas"/>
              </a:rPr>
              <a:t>plan = base * 1.15                                         # about Rs 74,532</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4" name="Oval 23"/>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6" name="Oval 25"/>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8" name="Oval 27"/>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must one branch move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each branch have to do alone to reach the plan?</a:t>
            </a:r>
          </a:p>
        </p:txBody>
      </p:sp>
      <p:pic>
        <p:nvPicPr>
          <p:cNvPr id="9" name="mermaid diagram" descr="ba8fb75376869212.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Revenue is customers x orders per customer x order value. If one branch moves while the other two hold, how far must it rise for 15 percent more revenue: a) 15 percent, the whole plan; b) 5 percent, a third of the plan; c) 7.5 percent, half the plan; d) further for customers than for order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whole 15 percent, since branches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one branch moved alone carry the whole plan?</a:t>
            </a:r>
          </a:p>
        </p:txBody>
      </p:sp>
      <p:pic>
        <p:nvPicPr>
          <p:cNvPr id="9" name="mermaid diagram" descr="2147c4b88c85e3b1.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49704"/>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7772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68576"/>
            <a:ext cx="5332497" cy="11582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a. Revenue is a product, so a branch that rises 15 percent while the others hold lifts revenue 15 percent, and each branch alone must bring the same Rs 9,722.</a:t>
            </a:r>
          </a:p>
        </p:txBody>
      </p:sp>
      <p:sp>
        <p:nvSpPr>
          <p:cNvPr id="13" name="Rounded Rectangle 12"/>
          <p:cNvSpPr/>
          <p:nvPr/>
        </p:nvSpPr>
        <p:spPr>
          <a:xfrm>
            <a:off x="5761917" y="3455416"/>
            <a:ext cx="5899425"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944797" y="35834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100245" y="35834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255693" y="35834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6237" y="3784600"/>
            <a:ext cx="5442225" cy="2074671"/>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any one factor x 1.15, the other two held, gives revenue x 1.15</a:t>
            </a:r>
          </a:p>
          <a:p>
            <a:pPr>
              <a:spcAft>
                <a:spcPts val="200"/>
              </a:spcAft>
            </a:pPr>
            <a:r>
              <a:rPr sz="1400" b="0" i="0">
                <a:solidFill>
                  <a:srgbClr val="E4E1F1"/>
                </a:solidFill>
                <a:latin typeface="Consolas"/>
              </a:rPr>
              <a:t>(customers * 1.15) * per_customer * order_value == plan   # customers alone</a:t>
            </a:r>
          </a:p>
          <a:p>
            <a:pPr>
              <a:spcAft>
                <a:spcPts val="200"/>
              </a:spcAft>
            </a:pPr>
            <a:r>
              <a:rPr sz="1400" b="0" i="0">
                <a:solidFill>
                  <a:srgbClr val="E4E1F1"/>
                </a:solidFill>
                <a:latin typeface="Consolas"/>
              </a:rPr>
              <a:t>customers * (per_customer * 1.15) * order_value == plan   # frequency alone</a:t>
            </a:r>
          </a:p>
          <a:p>
            <a:pPr>
              <a:spcAft>
                <a:spcPts val="200"/>
              </a:spcAft>
            </a:pPr>
            <a:r>
              <a:rPr sz="1400" b="0" i="0">
                <a:solidFill>
                  <a:srgbClr val="E4E1F1"/>
                </a:solidFill>
                <a:latin typeface="Consolas"/>
              </a:rPr>
              <a:t>customers * per_customer * (order_value * 1.15) == plan   # order value alone</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2" name="Oval 21"/>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4" name="Oval 23"/>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6" name="Oval 25"/>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8" name="Oval 27"/>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0" name="Oval 29"/>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has evidence behind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does this file give Meera a reason to open first?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522288"/>
                <a:gridCol w="5583343"/>
                <a:gridCol w="3025359"/>
              </a:tblGrid>
              <a:tr h="369824">
                <a:tc>
                  <a:txBody>
                    <a:bodyPr/>
                    <a:lstStyle/>
                    <a:p>
                      <a:r>
                        <a:rPr sz="1450" b="1" i="0">
                          <a:solidFill>
                            <a:srgbClr val="FFFFFF"/>
                          </a:solidFill>
                          <a:latin typeface="Calibri"/>
                        </a:rPr>
                        <a:t>Option, moved alone</a:t>
                      </a:r>
                    </a:p>
                  </a:txBody>
                  <a:tcPr marL="101600" marR="101600" marT="38100" marB="38100" anchor="ctr">
                    <a:solidFill>
                      <a:srgbClr val="1A0F5C"/>
                    </a:solidFill>
                  </a:tcPr>
                </a:tc>
                <a:tc>
                  <a:txBody>
                    <a:bodyPr/>
                    <a:lstStyle/>
                    <a:p>
                      <a:r>
                        <a:rPr sz="1450" b="1" i="0">
                          <a:solidFill>
                            <a:srgbClr val="FFFFFF"/>
                          </a:solidFill>
                          <a:latin typeface="Calibri"/>
                        </a:rPr>
                        <a:t>What 15 percent asks</a:t>
                      </a:r>
                    </a:p>
                  </a:txBody>
                  <a:tcPr marL="101600" marR="101600" marT="38100" marB="38100" anchor="ctr">
                    <a:solidFill>
                      <a:srgbClr val="1A0F5C"/>
                    </a:solidFill>
                  </a:tcPr>
                </a:tc>
                <a:tc>
                  <a:txBody>
                    <a:bodyPr/>
                    <a:lstStyle/>
                    <a:p>
                      <a:r>
                        <a:rPr sz="1450" b="1" i="0">
                          <a:solidFill>
                            <a:srgbClr val="FFFFFF"/>
                          </a:solidFill>
                          <a:latin typeface="Calibri"/>
                        </a:rPr>
                        <a:t>Who is asked</a:t>
                      </a:r>
                    </a:p>
                  </a:txBody>
                  <a:tcPr marL="101600" marR="101600" marT="38100" marB="38100" anchor="ctr">
                    <a:solidFill>
                      <a:srgbClr val="1A0F5C"/>
                    </a:solidFill>
                  </a:tcPr>
                </a:tc>
              </a:tr>
              <a:tr h="369824">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15 percent more customers who buy like today's</a:t>
                      </a:r>
                    </a:p>
                  </a:txBody>
                  <a:tcPr marL="101600" marR="101600" marT="38100" marB="38100" anchor="ctr">
                    <a:solidFill>
                      <a:srgbClr val="FFFFFF"/>
                    </a:solidFill>
                  </a:tcPr>
                </a:tc>
                <a:tc>
                  <a:txBody>
                    <a:bodyPr/>
                    <a:lstStyle/>
                    <a:p>
                      <a:r>
                        <a:rPr sz="1400" b="0" i="0">
                          <a:solidFill>
                            <a:srgbClr val="1A1440"/>
                          </a:solidFill>
                          <a:latin typeface="Calibri"/>
                        </a:rPr>
                        <a:t>People Kalpa has never met</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15 percent more orders from the same customers</a:t>
                      </a:r>
                    </a:p>
                  </a:txBody>
                  <a:tcPr marL="101600" marR="101600" marT="38100" marB="38100" anchor="ctr">
                    <a:solidFill>
                      <a:srgbClr val="F4F2FA"/>
                    </a:solidFill>
                  </a:tcPr>
                </a:tc>
                <a:tc>
                  <a:txBody>
                    <a:bodyPr/>
                    <a:lstStyle/>
                    <a:p>
                      <a:r>
                        <a:rPr sz="1400" b="0" i="0">
                          <a:solidFill>
                            <a:srgbClr val="1A1440"/>
                          </a:solidFill>
                          <a:latin typeface="Calibri"/>
                        </a:rPr>
                        <a:t>People who already bought</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Rs 335 more on every order, Rs 2,235 to Rs 2,570</a:t>
                      </a:r>
                    </a:p>
                  </a:txBody>
                  <a:tcPr marL="101600" marR="101600" marT="38100" marB="38100" anchor="ctr">
                    <a:solidFill>
                      <a:srgbClr val="FFFFFF"/>
                    </a:solidFill>
                  </a:tcPr>
                </a:tc>
                <a:tc>
                  <a:txBody>
                    <a:bodyPr/>
                    <a:lstStyle/>
                    <a:p>
                      <a:r>
                        <a:rPr sz="1400" b="0" i="0">
                          <a:solidFill>
                            <a:srgbClr val="1A1440"/>
                          </a:solidFill>
                          <a:latin typeface="Calibri"/>
                        </a:rPr>
                        <a:t>Every basket</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Every price 15 percent higher, with nobody leaving</a:t>
                      </a:r>
                    </a:p>
                  </a:txBody>
                  <a:tcPr marL="101600" marR="101600" marT="38100" marB="38100" anchor="ctr">
                    <a:solidFill>
                      <a:srgbClr val="F4F2FA"/>
                    </a:solidFill>
                  </a:tcPr>
                </a:tc>
                <a:tc>
                  <a:txBody>
                    <a:bodyPr/>
                    <a:lstStyle/>
                    <a:p>
                      <a:r>
                        <a:rPr sz="1400" b="0" i="0">
                          <a:solidFill>
                            <a:srgbClr val="1A1440"/>
                          </a:solidFill>
                          <a:latin typeface="Calibri"/>
                        </a:rPr>
                        <a:t>Every shopper at the shelf</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Each option asks for the same Rs 9,722. Which one does this file give evidence for: a) customers, b) frequency, c) order value, or d) price?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since 7 of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and why not the others?</a:t>
            </a:r>
          </a:p>
        </p:txBody>
      </p:sp>
      <p:pic>
        <p:nvPicPr>
          <p:cNvPr id="9" name="mermaid diagram" descr="03a4165e9a185ffd.png"/>
          <p:cNvPicPr>
            <a:picLocks noChangeAspect="1"/>
          </p:cNvPicPr>
          <p:nvPr/>
        </p:nvPicPr>
        <p:blipFill>
          <a:blip r:embed="rId6"/>
          <a:stretch>
            <a:fillRect/>
          </a:stretch>
        </p:blipFill>
        <p:spPr>
          <a:xfrm>
            <a:off x="1200878" y="1682496"/>
            <a:ext cx="3445273" cy="4517136"/>
          </a:xfrm>
          <a:prstGeom prst="rect">
            <a:avLst/>
          </a:prstGeom>
        </p:spPr>
      </p:pic>
      <p:sp>
        <p:nvSpPr>
          <p:cNvPr id="10" name="Rounded Rectangle 9"/>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78739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B is the best fit: the customers exist, 7 came back without a push, and a test costs a reminder to people already on the list. A second quarter showing customers falling while frequency held would switch the call to A.</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in ten one-time buyers returning once carry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frequency ask within reach of the customers already on file?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9,722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FREQUENCY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15 percent of Rs 64,810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MEAN ORDER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one more order brings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ONE-TIME BUYERS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consumer view, returning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13232" y="35478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68680" y="35478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1024128" y="35478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1" y="374904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mean  = base / len(consumer)            # Rs 2,235</a:t>
            </a:r>
          </a:p>
          <a:p>
            <a:pPr>
              <a:spcAft>
                <a:spcPts val="200"/>
              </a:spcAft>
            </a:pPr>
            <a:r>
              <a:rPr sz="1400" b="0" i="0">
                <a:solidFill>
                  <a:srgbClr val="E4E1F1"/>
                </a:solidFill>
                <a:latin typeface="Consolas"/>
              </a:rPr>
              <a:t>extra = (plan - base) / mean            # the orders frequency must add</a:t>
            </a:r>
          </a:p>
          <a:p>
            <a:pPr>
              <a:spcAft>
                <a:spcPts val="200"/>
              </a:spcAft>
            </a:pPr>
            <a:r>
              <a:rPr sz="1400" b="0" i="0">
                <a:solidFill>
                  <a:srgbClr val="E4E1F1"/>
                </a:solidFill>
                <a:latin typeface="Consolas"/>
              </a:rPr>
              <a:t>share = extra / len(consumer_once)      # about three in ten</a:t>
            </a: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check multiplies back: the extra orders at the consumer mean bring Rs 9,722, which lands the consumer view on about Rs 74,532.</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3" name="Oval 32"/>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5" name="Oval 34"/>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7" name="Oval 36"/>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9" name="Oval 38"/>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marketing's bigger plan claim for two 10 percent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The marketing lead's slide: "Fund acquisition and retention together: 10 percent more customers and 10 percent more orders each make 20 percent growth, Rs 77,772 on the consumer view."</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a target sized by adding the lifts looks met with room to spare, and is then missed by the lift on the lift.</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9" name="Oval 2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3" name="Oval 3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lifts multiply to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added lifts, and how big is the gap?</a:t>
            </a:r>
          </a:p>
        </p:txBody>
      </p:sp>
      <p:pic>
        <p:nvPicPr>
          <p:cNvPr id="9" name="mermaid diagram" descr="949233ebfac9713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second lift applies to a customer base already 10 percent larger. Through the tree, 1.10 x 1.10 = 1.21, so the consumer view reaches Rs 78,420, Rs 648 above the slide; the bars are multiplied, the line is added, and the gap grows with the lifts.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multiply the lifts, and a discount the same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once the lifts are multiplied?</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5286956"/>
                <a:gridCol w="2613030"/>
                <a:gridCol w="3231004"/>
              </a:tblGrid>
              <a:tr h="369824">
                <a:tc>
                  <a:txBody>
                    <a:bodyPr/>
                    <a:lstStyle/>
                    <a:p>
                      <a:r>
                        <a:rPr sz="1450" b="1" i="0">
                          <a:solidFill>
                            <a:srgbClr val="FFFFFF"/>
                          </a:solidFill>
                          <a:latin typeface="Calibri"/>
                        </a:rPr>
                        <a:t>Proposal on the consumer view</a:t>
                      </a:r>
                    </a:p>
                  </a:txBody>
                  <a:tcPr marL="101600" marR="101600" marT="38100" marB="38100" anchor="ctr">
                    <a:solidFill>
                      <a:srgbClr val="1A0F5C"/>
                    </a:solidFill>
                  </a:tcPr>
                </a:tc>
                <a:tc>
                  <a:txBody>
                    <a:bodyPr/>
                    <a:lstStyle/>
                    <a:p>
                      <a:r>
                        <a:rPr sz="1450" b="1" i="0">
                          <a:solidFill>
                            <a:srgbClr val="FFFFFF"/>
                          </a:solidFill>
                          <a:latin typeface="Calibri"/>
                        </a:rPr>
                        <a:t>Added</a:t>
                      </a:r>
                    </a:p>
                  </a:txBody>
                  <a:tcPr marL="101600" marR="101600" marT="38100" marB="38100" anchor="ctr">
                    <a:solidFill>
                      <a:srgbClr val="1A0F5C"/>
                    </a:solidFill>
                  </a:tcPr>
                </a:tc>
                <a:tc>
                  <a:txBody>
                    <a:bodyPr/>
                    <a:lstStyle/>
                    <a:p>
                      <a:r>
                        <a:rPr sz="1450" b="1" i="0">
                          <a:solidFill>
                            <a:srgbClr val="FFFFFF"/>
                          </a:solidFill>
                          <a:latin typeface="Calibri"/>
                        </a:rPr>
                        <a:t>Multiplied through the tree</a:t>
                      </a:r>
                    </a:p>
                  </a:txBody>
                  <a:tcPr marL="101600" marR="101600" marT="38100" marB="38100" anchor="ctr">
                    <a:solidFill>
                      <a:srgbClr val="1A0F5C"/>
                    </a:solidFill>
                  </a:tcPr>
                </a:tc>
              </a:tr>
              <a:tr h="369824">
                <a:tc>
                  <a:txBody>
                    <a:bodyPr/>
                    <a:lstStyle/>
                    <a:p>
                      <a:r>
                        <a:rPr sz="1400" b="0" i="0">
                          <a:solidFill>
                            <a:srgbClr val="1A1440"/>
                          </a:solidFill>
                          <a:latin typeface="Calibri"/>
                        </a:rPr>
                        <a:t>Customers up 10 percent and frequency up 10 percent</a:t>
                      </a:r>
                    </a:p>
                  </a:txBody>
                  <a:tcPr marL="101600" marR="101600" marT="38100" marB="38100" anchor="ctr">
                    <a:solidFill>
                      <a:srgbClr val="FFFFFF"/>
                    </a:solidFill>
                  </a:tcPr>
                </a:tc>
                <a:tc>
                  <a:txBody>
                    <a:bodyPr/>
                    <a:lstStyle/>
                    <a:p>
                      <a:r>
                        <a:rPr sz="1400" b="0" i="0">
                          <a:solidFill>
                            <a:srgbClr val="1A1440"/>
                          </a:solidFill>
                          <a:latin typeface="Calibri"/>
                        </a:rPr>
                        <a:t>Up 20 percent, Rs 77,772</a:t>
                      </a:r>
                    </a:p>
                  </a:txBody>
                  <a:tcPr marL="101600" marR="101600" marT="38100" marB="38100" anchor="ctr">
                    <a:solidFill>
                      <a:srgbClr val="FFFFFF"/>
                    </a:solidFill>
                  </a:tcPr>
                </a:tc>
                <a:tc>
                  <a:txBody>
                    <a:bodyPr/>
                    <a:lstStyle/>
                    <a:p>
                      <a:r>
                        <a:rPr sz="1400" b="0" i="0">
                          <a:solidFill>
                            <a:srgbClr val="1A1440"/>
                          </a:solidFill>
                          <a:latin typeface="Calibri"/>
                        </a:rPr>
                        <a:t>Up 21 percent, Rs 78,420</a:t>
                      </a:r>
                    </a:p>
                  </a:txBody>
                  <a:tcPr marL="101600" marR="101600" marT="38100" marB="38100" anchor="ctr">
                    <a:solidFill>
                      <a:srgbClr val="FFFFFF"/>
                    </a:solidFill>
                  </a:tcPr>
                </a:tc>
              </a:tr>
              <a:tr h="369824">
                <a:tc>
                  <a:txBody>
                    <a:bodyPr/>
                    <a:lstStyle/>
                    <a:p>
                      <a:r>
                        <a:rPr sz="1400" b="0" i="0">
                          <a:solidFill>
                            <a:srgbClr val="1A1440"/>
                          </a:solidFill>
                          <a:latin typeface="Calibri"/>
                        </a:rPr>
                        <a:t>15 percent off, with orders up 10 percent</a:t>
                      </a:r>
                    </a:p>
                  </a:txBody>
                  <a:tcPr marL="101600" marR="101600" marT="38100" marB="38100" anchor="ctr">
                    <a:solidFill>
                      <a:srgbClr val="F4F2FA"/>
                    </a:solidFill>
                  </a:tcPr>
                </a:tc>
                <a:tc>
                  <a:txBody>
                    <a:bodyPr/>
                    <a:lstStyle/>
                    <a:p>
                      <a:r>
                        <a:rPr sz="1400" b="0" i="0">
                          <a:solidFill>
                            <a:srgbClr val="1A1440"/>
                          </a:solidFill>
                          <a:latin typeface="Calibri"/>
                        </a:rPr>
                        <a:t>Down 5 percent</a:t>
                      </a:r>
                    </a:p>
                  </a:txBody>
                  <a:tcPr marL="101600" marR="101600" marT="38100" marB="38100" anchor="ctr">
                    <a:solidFill>
                      <a:srgbClr val="F4F2FA"/>
                    </a:solidFill>
                  </a:tcPr>
                </a:tc>
                <a:tc>
                  <a:txBody>
                    <a:bodyPr/>
                    <a:lstStyle/>
                    <a:p>
                      <a:r>
                        <a:rPr sz="1400" b="0" i="0">
                          <a:solidFill>
                            <a:srgbClr val="1A1440"/>
                          </a:solidFill>
                          <a:latin typeface="Calibri"/>
                        </a:rPr>
                        <a:t>Down 6.5 percent, Rs 60,597</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54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764280"/>
            <a:ext cx="237744" cy="237744"/>
          </a:xfrm>
          <a:prstGeom prst="rect">
            <a:avLst/>
          </a:prstGeom>
        </p:spPr>
      </p:pic>
      <p:sp>
        <p:nvSpPr>
          <p:cNvPr id="13" name="TextBox 12"/>
          <p:cNvSpPr txBox="1"/>
          <p:nvPr/>
        </p:nvSpPr>
        <p:spPr>
          <a:xfrm>
            <a:off x="1399031" y="3468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88080"/>
            <a:ext cx="9987991" cy="682752"/>
          </a:xfrm>
          <a:prstGeom prst="rect">
            <a:avLst/>
          </a:prstGeom>
          <a:noFill/>
        </p:spPr>
        <p:txBody>
          <a:bodyPr wrap="square" anchor="t" lIns="0" rIns="0" tIns="0" bIns="0">
            <a:spAutoFit/>
          </a:bodyPr>
          <a:lstStyle/>
          <a:p>
            <a:r>
              <a:rPr sz="1500" b="0" i="0">
                <a:solidFill>
                  <a:srgbClr val="1A1440"/>
                </a:solidFill>
                <a:latin typeface="Calibri"/>
              </a:rPr>
              <a:t>Lifts multiply along the tree, so size a target through the tree and price a discount as 0.85 x 1.10 = 0.935, a 6.5 percent fall that addition would call 5.</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parts land on Rs 78,420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four parts land on the same total?</a:t>
            </a:r>
          </a:p>
        </p:txBody>
      </p:sp>
      <p:pic>
        <p:nvPicPr>
          <p:cNvPr id="9" name="mermaid diagram" descr="78c8f06641bb0b08.png"/>
          <p:cNvPicPr>
            <a:picLocks noChangeAspect="1"/>
          </p:cNvPicPr>
          <p:nvPr/>
        </p:nvPicPr>
        <p:blipFill>
          <a:blip r:embed="rId5"/>
          <a:stretch>
            <a:fillRect/>
          </a:stretch>
        </p:blipFill>
        <p:spPr>
          <a:xfrm>
            <a:off x="530352" y="1956816"/>
            <a:ext cx="11130991" cy="913953"/>
          </a:xfrm>
          <a:prstGeom prst="rect">
            <a:avLst/>
          </a:prstGeom>
        </p:spPr>
      </p:pic>
      <p:sp>
        <p:nvSpPr>
          <p:cNvPr id="10" name="TextBox 9"/>
          <p:cNvSpPr txBox="1"/>
          <p:nvPr/>
        </p:nvSpPr>
        <p:spPr>
          <a:xfrm>
            <a:off x="530352" y="301707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base, two lifts of Rs 6,481 and the lift on the lift of Rs 648, which is 0.10 x 0.10 of the base, land where the multiplication did.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9" name="Oval 1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1" name="Oval 2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3" name="Oval 2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15 percent discount needs 17.6 percent more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must orders rise before 15 percent off holds revenue?</a:t>
            </a:r>
          </a:p>
        </p:txBody>
      </p:sp>
      <p:pic>
        <p:nvPicPr>
          <p:cNvPr id="10" name="mermaid diagram" descr="60e07d9892b8fbb6.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Revenue after the discount is 0.85 x (1 + the lift), which reaches 100 only when the lift is 1 / 0.85 less one, about 17.6 percent; holding margin needs more.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0" name="Oval 19"/>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4" name="Oval 23"/>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names its switch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of the chapter's six questions find?</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770519"/>
                <a:gridCol w="7360471"/>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Which base is the plan sized on?</a:t>
                      </a:r>
                    </a:p>
                  </a:txBody>
                  <a:tcPr marL="101600" marR="101600" marT="38100" marB="38100" anchor="ctr">
                    <a:solidFill>
                      <a:srgbClr val="FFFFFF"/>
                    </a:solidFill>
                  </a:tcPr>
                </a:tc>
                <a:tc>
                  <a:txBody>
                    <a:bodyPr/>
                    <a:lstStyle/>
                    <a:p>
                      <a:r>
                        <a:rPr sz="900" b="0" i="0">
                          <a:solidFill>
                            <a:srgbClr val="1A1440"/>
                          </a:solidFill>
                          <a:latin typeface="Calibri"/>
                        </a:rPr>
                        <a:t>The consumer view, Rs 64,810, needs Rs 9,722 more.</a:t>
                      </a:r>
                    </a:p>
                  </a:txBody>
                  <a:tcPr marL="101600" marR="101600" marT="38100" marB="38100" anchor="ctr">
                    <a:solidFill>
                      <a:srgbClr val="FFFFFF"/>
                    </a:solidFill>
                  </a:tcPr>
                </a:tc>
              </a:tr>
              <a:tr h="310896">
                <a:tc>
                  <a:txBody>
                    <a:bodyPr/>
                    <a:lstStyle/>
                    <a:p>
                      <a:r>
                        <a:rPr sz="900" b="0" i="0">
                          <a:solidFill>
                            <a:srgbClr val="1A1440"/>
                          </a:solidFill>
                          <a:latin typeface="Calibri"/>
                        </a:rPr>
                        <a:t>What would each branch do alone?</a:t>
                      </a:r>
                    </a:p>
                  </a:txBody>
                  <a:tcPr marL="101600" marR="101600" marT="38100" marB="38100" anchor="ctr">
                    <a:solidFill>
                      <a:srgbClr val="F4F2FA"/>
                    </a:solidFill>
                  </a:tcPr>
                </a:tc>
                <a:tc>
                  <a:txBody>
                    <a:bodyPr/>
                    <a:lstStyle/>
                    <a:p>
                      <a:r>
                        <a:rPr sz="900" b="0" i="0">
                          <a:solidFill>
                            <a:srgbClr val="1A1440"/>
                          </a:solidFill>
                          <a:latin typeface="Calibri"/>
                        </a:rPr>
                        <a:t>Each would have to rise the whole 15 percent.</a:t>
                      </a:r>
                    </a:p>
                  </a:txBody>
                  <a:tcPr marL="101600" marR="101600" marT="38100" marB="38100" anchor="ctr">
                    <a:solidFill>
                      <a:srgbClr val="F4F2FA"/>
                    </a:solidFill>
                  </a:tcPr>
                </a:tc>
              </a:tr>
              <a:tr h="310896">
                <a:tc>
                  <a:txBody>
                    <a:bodyPr/>
                    <a:lstStyle/>
                    <a:p>
                      <a:r>
                        <a:rPr sz="900" b="0" i="0">
                          <a:solidFill>
                            <a:srgbClr val="1A1440"/>
                          </a:solidFill>
                          <a:latin typeface="Calibri"/>
                        </a:rPr>
                        <a:t>Which branch has evidence?</a:t>
                      </a:r>
                    </a:p>
                  </a:txBody>
                  <a:tcPr marL="101600" marR="101600" marT="38100" marB="38100" anchor="ctr">
                    <a:solidFill>
                      <a:srgbClr val="FFFFFF"/>
                    </a:solidFill>
                  </a:tcPr>
                </a:tc>
                <a:tc>
                  <a:txBody>
                    <a:bodyPr/>
                    <a:lstStyle/>
                    <a:p>
                      <a:r>
                        <a:rPr sz="900" b="0" i="0">
                          <a:solidFill>
                            <a:srgbClr val="1A1440"/>
                          </a:solidFill>
                          <a:latin typeface="Calibri"/>
                        </a:rPr>
                        <a:t>Frequency has it, since 7 of 23 customers came back.</a:t>
                      </a:r>
                    </a:p>
                  </a:txBody>
                  <a:tcPr marL="101600" marR="101600" marT="38100" marB="38100" anchor="ctr">
                    <a:solidFill>
                      <a:srgbClr val="FFFFFF"/>
                    </a:solidFill>
                  </a:tcPr>
                </a:tc>
              </a:tr>
              <a:tr h="310896">
                <a:tc>
                  <a:txBody>
                    <a:bodyPr/>
                    <a:lstStyle/>
                    <a:p>
                      <a:r>
                        <a:rPr sz="900" b="0" i="0">
                          <a:solidFill>
                            <a:srgbClr val="1A1440"/>
                          </a:solidFill>
                          <a:latin typeface="Calibri"/>
                        </a:rPr>
                        <a:t>Do two 10 percent lifts make 20?</a:t>
                      </a:r>
                    </a:p>
                  </a:txBody>
                  <a:tcPr marL="101600" marR="101600" marT="38100" marB="38100" anchor="ctr">
                    <a:solidFill>
                      <a:srgbClr val="F4F2FA"/>
                    </a:solidFill>
                  </a:tcPr>
                </a:tc>
                <a:tc>
                  <a:txBody>
                    <a:bodyPr/>
                    <a:lstStyle/>
                    <a:p>
                      <a:r>
                        <a:rPr sz="900" b="0" i="0">
                          <a:solidFill>
                            <a:srgbClr val="1A1440"/>
                          </a:solidFill>
                          <a:latin typeface="Calibri"/>
                        </a:rPr>
                        <a:t>They make 21 percent, Rs 78,420, against Rs 77,772.</a:t>
                      </a:r>
                    </a:p>
                  </a:txBody>
                  <a:tcPr marL="101600" marR="101600" marT="38100" marB="38100" anchor="ctr">
                    <a:solidFill>
                      <a:srgbClr val="F4F2FA"/>
                    </a:solidFill>
                  </a:tcPr>
                </a:tc>
              </a:tr>
              <a:tr h="310896">
                <a:tc>
                  <a:txBody>
                    <a:bodyPr/>
                    <a:lstStyle/>
                    <a:p>
                      <a:r>
                        <a:rPr sz="900" b="0" i="0">
                          <a:solidFill>
                            <a:srgbClr val="1A1440"/>
                          </a:solidFill>
                          <a:latin typeface="Calibri"/>
                        </a:rPr>
                        <a:t>Do the four parts agree?</a:t>
                      </a:r>
                    </a:p>
                  </a:txBody>
                  <a:tcPr marL="101600" marR="101600" marT="38100" marB="38100" anchor="ctr">
                    <a:solidFill>
                      <a:srgbClr val="FFFFFF"/>
                    </a:solidFill>
                  </a:tcPr>
                </a:tc>
                <a:tc>
                  <a:txBody>
                    <a:bodyPr/>
                    <a:lstStyle/>
                    <a:p>
                      <a:r>
                        <a:rPr sz="900" b="0" i="0">
                          <a:solidFill>
                            <a:srgbClr val="1A1440"/>
                          </a:solidFill>
                          <a:latin typeface="Calibri"/>
                        </a:rPr>
                        <a:t>They land on the same Rs 78,420.</a:t>
                      </a:r>
                    </a:p>
                  </a:txBody>
                  <a:tcPr marL="101600" marR="101600" marT="38100" marB="38100" anchor="ctr">
                    <a:solidFill>
                      <a:srgbClr val="FFFFFF"/>
                    </a:solidFill>
                  </a:tcPr>
                </a:tc>
              </a:tr>
              <a:tr h="310896">
                <a:tc>
                  <a:txBody>
                    <a:bodyPr/>
                    <a:lstStyle/>
                    <a:p>
                      <a:r>
                        <a:rPr sz="900" b="0" i="0">
                          <a:solidFill>
                            <a:srgbClr val="1A1440"/>
                          </a:solidFill>
                          <a:latin typeface="Calibri"/>
                        </a:rPr>
                        <a:t>What would switch the call?</a:t>
                      </a:r>
                    </a:p>
                  </a:txBody>
                  <a:tcPr marL="101600" marR="101600" marT="38100" marB="38100" anchor="ctr">
                    <a:solidFill>
                      <a:srgbClr val="F4F2FA"/>
                    </a:solidFill>
                  </a:tcPr>
                </a:tc>
                <a:tc>
                  <a:txBody>
                    <a:bodyPr/>
                    <a:lstStyle/>
                    <a:p>
                      <a:r>
                        <a:rPr sz="900" b="0" i="0">
                          <a:solidFill>
                            <a:srgbClr val="1A1440"/>
                          </a:solidFill>
                          <a:latin typeface="Calibri"/>
                        </a:rPr>
                        <a:t>Customers falling in a second quarter, or dearer retention, would.</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"Pick the branch the evidence points at and the one that costs least to test, then say what would make you pick another. And recompute anything someone adds up."</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Marketing wants budget for acquisition; what would you check before agreeing it is the right branch, and how would you say no?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2" name="Oval 2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6" name="Oval 25"/>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8" name="Oval 27"/>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0" name="Oval 29"/>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2" name="Oval 31"/>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Meera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one sentence can Meera sign, with its evidence, its branch, its caveat and its ask?</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signs one sentence, and marketing tests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chapter's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signs one sentence before the Rs 12 crore moves, and the marketing lead, who will look for the number in it that can be recomputed into another story.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readers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reads the sentence, and what will they look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form</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form carries the decision?</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draft</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does the first draft say?</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Lost?</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many of the 16 one-time buyers are really lost?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Due dates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due dates find the same buyers?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sentence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the sentence Meera signs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5" name="Oval 4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9" name="Oval 4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51" name="Oval 5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3" name="Oval 5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55" name="Oval 5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will hunt the sentence's weakest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sentence, and what will they look for?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a:t>
            </a:r>
          </a:p>
        </p:txBody>
      </p:sp>
      <p:graphicFrame>
        <p:nvGraphicFramePr>
          <p:cNvPr id="14" name="Table 13"/>
          <p:cNvGraphicFramePr>
            <a:graphicFrameLocks noGrp="1"/>
          </p:cNvGraphicFramePr>
          <p:nvPr/>
        </p:nvGraphicFramePr>
        <p:xfrm>
          <a:off x="530352" y="2983992"/>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who came back, who has not, and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it first, and the marketing lead reads it for its weakest number</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claim marketing knocks down in one question, and the trust the week depends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happened when a company's first window was read as the verdict?</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FFFFFF"/>
                </a:solidFill>
                <a:latin typeface="Calibri"/>
              </a:rPr>
              <a:t>Quality, fifteen months on</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CFC9EE"/>
                </a:solidFill>
                <a:latin typeface="Calibri"/>
              </a:rPr>
              <a:t>Its chief executive said the focus on cost had lowered quality, and customers would always be able to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from one window, read as the verdict, is the risk this chapter's caveat guards against.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9" name="Oval 2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3" name="Oval 3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carries the decision in Meera's reading time?</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4597095"/>
                <a:gridCol w="1746778"/>
                <a:gridCol w="47871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so she has to supply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It carries 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C is the best fit, since it is the only form that carries a decision and its limit together. D earns its build cost once the question turns weekly, as it does in Week 2 when Meera's chief of staff asks for the leadership deck.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part does the sentence put last?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 the four parts of Meera's sentence run?</a:t>
            </a:r>
          </a:p>
        </p:txBody>
      </p:sp>
      <p:pic>
        <p:nvPicPr>
          <p:cNvPr id="9" name="mermaid diagram" descr="af594d1847a45f84.png"/>
          <p:cNvPicPr>
            <a:picLocks noChangeAspect="1"/>
          </p:cNvPicPr>
          <p:nvPr/>
        </p:nvPicPr>
        <p:blipFill>
          <a:blip r:embed="rId5"/>
          <a:stretch>
            <a:fillRect/>
          </a:stretch>
        </p:blipFill>
        <p:spPr>
          <a:xfrm>
            <a:off x="2078438" y="1682496"/>
            <a:ext cx="1690153"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Kavya's review asks for one sentence in four parts. Which part comes last: a) the evidence, so Meera ends on the numbers; b) the ask, what happens to the Rs 12 crore; c) the branch, so she ends on the recommendation; d) the caveat, so she ends on the limit?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ask, so the sentence ends on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sentence end on what happens to the Rs 12 crore?</a:t>
            </a:r>
          </a:p>
        </p:txBody>
      </p:sp>
      <p:pic>
        <p:nvPicPr>
          <p:cNvPr id="9" name="mermaid diagram" descr="fe9bf471484612a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b. The evidence comes first so Meera can weigh it, then the branch, then what the window cannot show, and last the ask she acts 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23 customers, 1.30 each, 16 bought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first draft say?</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draft = (f"On the {len(ORDERS)} booked orders from 1 July to 26 September, {customers} customers "</a:t>
            </a:r>
          </a:p>
          <a:p>
            <a:pPr>
              <a:spcAft>
                <a:spcPts val="200"/>
              </a:spcAft>
            </a:pPr>
            <a:r>
              <a:rPr sz="1400" b="0" i="0">
                <a:solidFill>
                  <a:srgbClr val="E4E1F1"/>
                </a:solidFill>
                <a:latin typeface="Consolas"/>
              </a:rPr>
              <a:t>         f"placed {per_customer:.2f} orders each at a typical order of {kit.rupees(median)}, "</a:t>
            </a:r>
          </a:p>
          <a:p>
            <a:pPr>
              <a:spcAft>
                <a:spcPts val="200"/>
              </a:spcAft>
            </a:pPr>
            <a:r>
              <a:rPr sz="1400" b="0" i="0">
                <a:solidFill>
                  <a:srgbClr val="E4E1F1"/>
                </a:solidFill>
                <a:latin typeface="Consolas"/>
              </a:rPr>
              <a:t>         f"and {len(once_ids)} of them bought only once, so I would open frequency first ...")</a:t>
            </a:r>
          </a:p>
        </p:txBody>
      </p:sp>
      <p:sp>
        <p:nvSpPr>
          <p:cNvPr id="14" name="Rounded Rectangle 13"/>
          <p:cNvSpPr/>
          <p:nvPr/>
        </p:nvSpPr>
        <p:spPr>
          <a:xfrm>
            <a:off x="530352" y="333603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3603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4" name="Oval 23"/>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6" name="Oval 25"/>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8" name="Oval 27"/>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70 percent of our customers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16 when a colleague tightens the draft?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 tightens the draft for the slide: "16 of 23 never came back: 70 percent of our customers are lost."</a:t>
            </a:r>
          </a:p>
        </p:txBody>
      </p:sp>
      <p:sp>
        <p:nvSpPr>
          <p:cNvPr id="12" name="TextBox 11"/>
          <p:cNvSpPr txBox="1"/>
          <p:nvPr/>
        </p:nvSpPr>
        <p:spPr>
          <a:xfrm>
            <a:off x="53035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3" name="TextBox 12"/>
          <p:cNvSpPr txBox="1"/>
          <p:nvPr/>
        </p:nvSpPr>
        <p:spPr>
          <a:xfrm>
            <a:off x="53035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4" name="TextBox 13"/>
          <p:cNvSpPr txBox="1"/>
          <p:nvPr/>
        </p:nvSpPr>
        <p:spPr>
          <a:xfrm>
            <a:off x="53035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88-day window</a:t>
            </a:r>
          </a:p>
        </p:txBody>
      </p:sp>
      <p:sp>
        <p:nvSpPr>
          <p:cNvPr id="15" name="Rectangle 14"/>
          <p:cNvSpPr/>
          <p:nvPr/>
        </p:nvSpPr>
        <p:spPr>
          <a:xfrm>
            <a:off x="53035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7" name="TextBox 16"/>
          <p:cNvSpPr txBox="1"/>
          <p:nvPr/>
        </p:nvSpPr>
        <p:spPr>
          <a:xfrm>
            <a:off x="433212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8" name="TextBox 17"/>
          <p:cNvSpPr txBox="1"/>
          <p:nvPr/>
        </p:nvSpPr>
        <p:spPr>
          <a:xfrm>
            <a:off x="433212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by id</a:t>
            </a:r>
          </a:p>
        </p:txBody>
      </p:sp>
      <p:sp>
        <p:nvSpPr>
          <p:cNvPr id="19" name="Rectangle 18"/>
          <p:cNvSpPr/>
          <p:nvPr/>
        </p:nvSpPr>
        <p:spPr>
          <a:xfrm>
            <a:off x="433212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21" name="TextBox 20"/>
          <p:cNvSpPr txBox="1"/>
          <p:nvPr/>
        </p:nvSpPr>
        <p:spPr>
          <a:xfrm>
            <a:off x="813389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CALLED LOST</a:t>
            </a:r>
          </a:p>
        </p:txBody>
      </p:sp>
      <p:sp>
        <p:nvSpPr>
          <p:cNvPr id="22" name="TextBox 21"/>
          <p:cNvSpPr txBox="1"/>
          <p:nvPr/>
        </p:nvSpPr>
        <p:spPr>
          <a:xfrm>
            <a:off x="813389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16 / 23, read as churn</a:t>
            </a:r>
          </a:p>
        </p:txBody>
      </p:sp>
      <p:sp>
        <p:nvSpPr>
          <p:cNvPr id="23" name="Rectangle 22"/>
          <p:cNvSpPr/>
          <p:nvPr/>
        </p:nvSpPr>
        <p:spPr>
          <a:xfrm>
            <a:off x="813389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retention reads as an emergency, on a number marketing knocks down with one question.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1" name="Oval 3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3" name="Oval 3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5" name="Oval 3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7" name="Oval 3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can we call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16 one-time buyers are really lost?</a:t>
            </a:r>
          </a:p>
        </p:txBody>
      </p:sp>
      <p:pic>
        <p:nvPicPr>
          <p:cNvPr id="9" name="mermaid diagram" descr="b77885d7ca9306ee.png"/>
          <p:cNvPicPr>
            <a:picLocks noChangeAspect="1"/>
          </p:cNvPicPr>
          <p:nvPr/>
        </p:nvPicPr>
        <p:blipFill>
          <a:blip r:embed="rId5"/>
          <a:stretch>
            <a:fillRect/>
          </a:stretch>
        </p:blipFill>
        <p:spPr>
          <a:xfrm>
            <a:off x="3524097" y="1956816"/>
            <a:ext cx="5143500" cy="2028825"/>
          </a:xfrm>
          <a:prstGeom prst="rect">
            <a:avLst/>
          </a:prstGeom>
        </p:spPr>
      </p:pic>
      <p:sp>
        <p:nvSpPr>
          <p:cNvPr id="10" name="Rounded Rectangle 9"/>
          <p:cNvSpPr/>
          <p:nvPr/>
        </p:nvSpPr>
        <p:spPr>
          <a:xfrm>
            <a:off x="530352" y="41319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99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5081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Of the 16 who bought once, how many can you call lost from this file: a) all 16, which is 70 percent of 23 customers; b) 9, the ones who bought most recently; c) at most 7, the ones past the usual gap; d) none, since 7 customers did come back?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most 7, since 9 of the 16 are too recent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70 percent, and what does it find?</a:t>
            </a:r>
          </a:p>
        </p:txBody>
      </p:sp>
      <p:pic>
        <p:nvPicPr>
          <p:cNvPr id="9" name="mermaid diagram" descr="47a96ab2409be747.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file shows who bought once inside the window, and whether they are lost depends on orders placed after it closes. The 7 who came back took a median of 45 days, and 9 of the 16 ordered fewer than 45 days before 26 September, so the answer is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splits the 16 into 7 and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sentence Meera signs say?</a:t>
            </a:r>
          </a:p>
        </p:txBody>
      </p:sp>
      <p:pic>
        <p:nvPicPr>
          <p:cNvPr id="9" name="mermaid diagram" descr="3c993d90c38a2cfe.png"/>
          <p:cNvPicPr>
            <a:picLocks noChangeAspect="1"/>
          </p:cNvPicPr>
          <p:nvPr/>
        </p:nvPicPr>
        <p:blipFill>
          <a:blip r:embed="rId5"/>
          <a:stretch>
            <a:fillRect/>
          </a:stretch>
        </p:blipFill>
        <p:spPr>
          <a:xfrm>
            <a:off x="3167178" y="1664208"/>
            <a:ext cx="5857338" cy="2748280"/>
          </a:xfrm>
          <a:prstGeom prst="rect">
            <a:avLst/>
          </a:prstGeom>
        </p:spPr>
      </p:pic>
      <p:sp>
        <p:nvSpPr>
          <p:cNvPr id="10" name="Rounded Rectangle 9"/>
          <p:cNvSpPr/>
          <p:nvPr/>
        </p:nvSpPr>
        <p:spPr>
          <a:xfrm>
            <a:off x="530352" y="4458208"/>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58208"/>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0" name="Oval 19"/>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4" name="Oval 23"/>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find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due dates find the same buyers as the days since ordering?</a:t>
            </a:r>
          </a:p>
        </p:txBody>
      </p:sp>
      <p:sp>
        <p:nvSpPr>
          <p:cNvPr id="9" name="Rounded Rectangle 8"/>
          <p:cNvSpPr/>
          <p:nvPr/>
        </p:nvSpPr>
        <p:spPr>
          <a:xfrm>
            <a:off x="530352" y="1871949"/>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99965"/>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99965"/>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99965"/>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01133"/>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once_ids if (end - first[c]).days &lt; 45]            # days since the order</a:t>
            </a:r>
          </a:p>
          <a:p>
            <a:pPr>
              <a:spcAft>
                <a:spcPts val="200"/>
              </a:spcAft>
            </a:pPr>
            <a:r>
              <a:rPr sz="1400" b="0" i="0">
                <a:solidFill>
                  <a:srgbClr val="E4E1F1"/>
                </a:solidFill>
                <a:latin typeface="Consolas"/>
              </a:rPr>
              <a:t>due_late   = [c for c in once_ids if first[c] + timedelta(days=45) &gt; end]    # due date after the end</a:t>
            </a:r>
          </a:p>
          <a:p>
            <a:pPr>
              <a:spcAft>
                <a:spcPts val="200"/>
              </a:spcAft>
            </a:pPr>
            <a:r>
              <a:rPr sz="1400" b="0" i="0">
                <a:solidFill>
                  <a:srgbClr val="E4E1F1"/>
                </a:solidFill>
                <a:latin typeface="Consolas"/>
              </a:rPr>
              <a:t>assert set(due_late) == set(too_recent)                                       # the same 9 customers</a:t>
            </a:r>
          </a:p>
        </p:txBody>
      </p:sp>
      <p:pic>
        <p:nvPicPr>
          <p:cNvPr id="14" name="mermaid diagram" descr="72272e79c3b3fc19.png"/>
          <p:cNvPicPr>
            <a:picLocks noChangeAspect="1"/>
          </p:cNvPicPr>
          <p:nvPr/>
        </p:nvPicPr>
        <p:blipFill>
          <a:blip r:embed="rId5"/>
          <a:stretch>
            <a:fillRect/>
          </a:stretch>
        </p:blipFill>
        <p:spPr>
          <a:xfrm>
            <a:off x="530351" y="3756121"/>
            <a:ext cx="11130991" cy="225405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edge hides in returns and renewals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does the end of a window cut a count short?</a:t>
            </a:r>
          </a:p>
        </p:txBody>
      </p:sp>
      <p:sp>
        <p:nvSpPr>
          <p:cNvPr id="10" name="Rounded Rectangle 9"/>
          <p:cNvSpPr/>
          <p:nvPr/>
        </p:nvSpPr>
        <p:spPr>
          <a:xfrm>
            <a:off x="530352"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ndo-2_88bd06d6412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RETURNS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A returns rate on last week's orders</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Returns arrive days after delivery, so the newest orders look cleaner than they are.</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alendar-clock_84fb0b5a882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RENEWALS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Members not yet due to renew</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A member whose renewal falls after the extract ends has not lapsed, whatever the file shows.</a:t>
            </a:r>
          </a:p>
        </p:txBody>
      </p:sp>
      <p:sp>
        <p:nvSpPr>
          <p:cNvPr id="22" name="TextBox 21"/>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is the same each time: measure how long the thing usually takes, and hold back judgement on everyone who has not had that long.</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5" name="Oval 2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7" name="Oval 2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9" name="Oval 2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1" name="Oval 3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3" name="Oval 3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5" name="Oval 3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of the chapter's six questions find?</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735089"/>
                <a:gridCol w="7395901"/>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Who reads the sentence?</a:t>
                      </a:r>
                    </a:p>
                  </a:txBody>
                  <a:tcPr marL="101600" marR="101600" marT="38100" marB="38100" anchor="ctr">
                    <a:solidFill>
                      <a:srgbClr val="FFFFFF"/>
                    </a:solidFill>
                  </a:tcPr>
                </a:tc>
                <a:tc>
                  <a:txBody>
                    <a:bodyPr/>
                    <a:lstStyle/>
                    <a:p>
                      <a:r>
                        <a:rPr sz="900" b="0" i="0">
                          <a:solidFill>
                            <a:srgbClr val="1A1440"/>
                          </a:solidFill>
                          <a:latin typeface="Calibri"/>
                        </a:rPr>
                        <a:t>Meera reads it for the decision, marketing for its weakest number.</a:t>
                      </a:r>
                    </a:p>
                  </a:txBody>
                  <a:tcPr marL="101600" marR="101600" marT="38100" marB="38100" anchor="ctr">
                    <a:solidFill>
                      <a:srgbClr val="FFFFFF"/>
                    </a:solidFill>
                  </a:tcPr>
                </a:tc>
              </a:tr>
              <a:tr h="310896">
                <a:tc>
                  <a:txBody>
                    <a:bodyPr/>
                    <a:lstStyle/>
                    <a:p>
                      <a:r>
                        <a:rPr sz="900" b="0" i="0">
                          <a:solidFill>
                            <a:srgbClr val="1A1440"/>
                          </a:solidFill>
                          <a:latin typeface="Calibri"/>
                        </a:rPr>
                        <a:t>Which form carries the decision?</a:t>
                      </a:r>
                    </a:p>
                  </a:txBody>
                  <a:tcPr marL="101600" marR="101600" marT="38100" marB="38100" anchor="ctr">
                    <a:solidFill>
                      <a:srgbClr val="F4F2FA"/>
                    </a:solidFill>
                  </a:tcPr>
                </a:tc>
                <a:tc>
                  <a:txBody>
                    <a:bodyPr/>
                    <a:lstStyle/>
                    <a:p>
                      <a:r>
                        <a:rPr sz="900" b="0" i="0">
                          <a:solidFill>
                            <a:srgbClr val="1A1440"/>
                          </a:solidFill>
                          <a:latin typeface="Calibri"/>
                        </a:rPr>
                        <a:t>One sentence does, in about 20 seconds, with its limit.</a:t>
                      </a:r>
                    </a:p>
                  </a:txBody>
                  <a:tcPr marL="101600" marR="101600" marT="38100" marB="38100" anchor="ctr">
                    <a:solidFill>
                      <a:srgbClr val="F4F2FA"/>
                    </a:solidFill>
                  </a:tcPr>
                </a:tc>
              </a:tr>
              <a:tr h="310896">
                <a:tc>
                  <a:txBody>
                    <a:bodyPr/>
                    <a:lstStyle/>
                    <a:p>
                      <a:r>
                        <a:rPr sz="900" b="0" i="0">
                          <a:solidFill>
                            <a:srgbClr val="1A1440"/>
                          </a:solidFill>
                          <a:latin typeface="Calibri"/>
                        </a:rPr>
                        <a:t>What does the first draft say?</a:t>
                      </a:r>
                    </a:p>
                  </a:txBody>
                  <a:tcPr marL="101600" marR="101600" marT="38100" marB="38100" anchor="ctr">
                    <a:solidFill>
                      <a:srgbClr val="FFFFFF"/>
                    </a:solidFill>
                  </a:tcPr>
                </a:tc>
                <a:tc>
                  <a:txBody>
                    <a:bodyPr/>
                    <a:lstStyle/>
                    <a:p>
                      <a:r>
                        <a:rPr sz="900" b="0" i="0">
                          <a:solidFill>
                            <a:srgbClr val="1A1440"/>
                          </a:solidFill>
                          <a:latin typeface="Calibri"/>
                        </a:rPr>
                        <a:t>It says 23 customers, 1.30 each, Rs 2,205 and 16 bought once.</a:t>
                      </a:r>
                    </a:p>
                  </a:txBody>
                  <a:tcPr marL="101600" marR="101600" marT="38100" marB="38100" anchor="ctr">
                    <a:solidFill>
                      <a:srgbClr val="FFFFFF"/>
                    </a:solidFill>
                  </a:tcPr>
                </a:tc>
              </a:tr>
              <a:tr h="310896">
                <a:tc>
                  <a:txBody>
                    <a:bodyPr/>
                    <a:lstStyle/>
                    <a:p>
                      <a:r>
                        <a:rPr sz="900" b="0" i="0">
                          <a:solidFill>
                            <a:srgbClr val="1A1440"/>
                          </a:solidFill>
                          <a:latin typeface="Calibri"/>
                        </a:rPr>
                        <a:t>How many of the 16 are lost?</a:t>
                      </a:r>
                    </a:p>
                  </a:txBody>
                  <a:tcPr marL="101600" marR="101600" marT="38100" marB="38100" anchor="ctr">
                    <a:solidFill>
                      <a:srgbClr val="F4F2FA"/>
                    </a:solidFill>
                  </a:tcPr>
                </a:tc>
                <a:tc>
                  <a:txBody>
                    <a:bodyPr/>
                    <a:lstStyle/>
                    <a:p>
                      <a:r>
                        <a:rPr sz="900" b="0" i="0">
                          <a:solidFill>
                            <a:srgbClr val="1A1440"/>
                          </a:solidFill>
                          <a:latin typeface="Calibri"/>
                        </a:rPr>
                        <a:t>At most 7 are, since 9 bought inside the 45-day gap.</a:t>
                      </a:r>
                    </a:p>
                  </a:txBody>
                  <a:tcPr marL="101600" marR="101600" marT="38100" marB="38100" anchor="ctr">
                    <a:solidFill>
                      <a:srgbClr val="F4F2FA"/>
                    </a:solidFill>
                  </a:tcPr>
                </a:tc>
              </a:tr>
              <a:tr h="310896">
                <a:tc>
                  <a:txBody>
                    <a:bodyPr/>
                    <a:lstStyle/>
                    <a:p>
                      <a:r>
                        <a:rPr sz="900" b="0" i="0">
                          <a:solidFill>
                            <a:srgbClr val="1A1440"/>
                          </a:solidFill>
                          <a:latin typeface="Calibri"/>
                        </a:rPr>
                        <a:t>Do due dates agree?</a:t>
                      </a:r>
                    </a:p>
                  </a:txBody>
                  <a:tcPr marL="101600" marR="101600" marT="38100" marB="38100" anchor="ctr">
                    <a:solidFill>
                      <a:srgbClr val="FFFFFF"/>
                    </a:solidFill>
                  </a:tcPr>
                </a:tc>
                <a:tc>
                  <a:txBody>
                    <a:bodyPr/>
                    <a:lstStyle/>
                    <a:p>
                      <a:r>
                        <a:rPr sz="900" b="0" i="0">
                          <a:solidFill>
                            <a:srgbClr val="1A1440"/>
                          </a:solidFill>
                          <a:latin typeface="Calibri"/>
                        </a:rPr>
                        <a:t>They find the same 9 customers.</a:t>
                      </a:r>
                    </a:p>
                  </a:txBody>
                  <a:tcPr marL="101600" marR="101600" marT="38100" marB="38100" anchor="ctr">
                    <a:solidFill>
                      <a:srgbClr val="FFFFFF"/>
                    </a:solidFill>
                  </a:tcPr>
                </a:tc>
              </a:tr>
              <a:tr h="310896">
                <a:tc>
                  <a:txBody>
                    <a:bodyPr/>
                    <a:lstStyle/>
                    <a:p>
                      <a:r>
                        <a:rPr sz="900" b="0" i="0">
                          <a:solidFill>
                            <a:srgbClr val="1A1440"/>
                          </a:solidFill>
                          <a:latin typeface="Calibri"/>
                        </a:rPr>
                        <a:t>What does Meera sign?</a:t>
                      </a:r>
                    </a:p>
                  </a:txBody>
                  <a:tcPr marL="101600" marR="101600" marT="38100" marB="38100" anchor="ctr">
                    <a:solidFill>
                      <a:srgbClr val="F4F2FA"/>
                    </a:solidFill>
                  </a:tcPr>
                </a:tc>
                <a:tc>
                  <a:txBody>
                    <a:bodyPr/>
                    <a:lstStyle/>
                    <a:p>
                      <a:r>
                        <a:rPr sz="900" b="0" i="0">
                          <a:solidFill>
                            <a:srgbClr val="1A1440"/>
                          </a:solidFill>
                          <a:latin typeface="Calibri"/>
                        </a:rPr>
                        <a:t>She signs 7 back, 7 past the gap and 9 too recent, frequency first.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You have one quarter of orders and 70 percent of customers bought once; what do you tell the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2" name="Oval 21"/>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6" name="Oval 25"/>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8" name="Oval 27"/>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0" name="Oval 29"/>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2" name="Oval 31"/>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answer survive on the orders that stayed delivered?</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asks for the answer again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ask, and what does each part rebuild?</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Orders, customers by id, and orders per customer, all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What the 15 percent plan asks of delivered revenue, and a discount priced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One-time buyers, the ones too recent to judge, and the branch.</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8" name="Oval 47"/>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431286"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50" name="Oval 49"/>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52" name="Oval 51"/>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4" name="Oval 53"/>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56" name="Oval 55"/>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Post the brief's lines, your sentence and your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post, and how long does each part take?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The delivered leaves and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plan on delivered revenue, the discount, and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The sentence, and one line on what moved and what held.</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in the escalated case brief and its notebook, with no hints, and run every check before you post.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0" name="Oval 29"/>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32" name="Oval 31"/>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4" name="Oval 33"/>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6" name="Oval 35"/>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8" name="Oval 37"/>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hold?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day's six plausible numbers would you sign, and which check catches each?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plausible numbers survives its check?</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Which would you sign as written: a) all six, since each came from the file; b) only the sales total; c) only the growth figure; d) none of the six?</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6" name="Oval 35"/>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8" name="Oval 3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0" name="Oval 39"/>
          <p:cNvSpPr/>
          <p:nvPr/>
        </p:nvSpPr>
        <p:spPr>
          <a:xfrm>
            <a:off x="444112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55085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numbers hold?</a:t>
            </a:r>
          </a:p>
        </p:txBody>
      </p:sp>
      <p:sp>
        <p:nvSpPr>
          <p:cNvPr id="42" name="Oval 41"/>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4" name="Oval 43"/>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46" name="Oval 45"/>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each number, and what goes to Meera instead?</a:t>
            </a:r>
          </a:p>
        </p:txBody>
      </p:sp>
      <p:graphicFrame>
        <p:nvGraphicFramePr>
          <p:cNvPr id="9" name="Table 8"/>
          <p:cNvGraphicFramePr>
            <a:graphicFrameLocks noGrp="1"/>
          </p:cNvGraphicFramePr>
          <p:nvPr/>
        </p:nvGraphicFramePr>
        <p:xfrm>
          <a:off x="530352" y="1956816"/>
          <a:ext cx="11130991" cy="3556000"/>
        </p:xfrm>
        <a:graphic>
          <a:graphicData uri="http://schemas.openxmlformats.org/drawingml/2006/table">
            <a:tbl>
              <a:tblPr firstRow="0" bandRow="0">
                <a:tableStyleId>{2D5ABB26-0587-4C30-8999-92F81FD0307C}</a:tableStyleId>
              </a:tblPr>
              <a:tblGrid>
                <a:gridCol w="1959559"/>
                <a:gridCol w="5198486"/>
                <a:gridCol w="397294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not cancelled, named.</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a:t>
                      </a:r>
                    </a:p>
                  </a:txBody>
                  <a:tcPr marL="101600" marR="101600" marT="38100" marB="38100" anchor="ctr">
                    <a:solidFill>
                      <a:srgbClr val="F4F2FA"/>
                    </a:solidFill>
                  </a:tcPr>
                </a:tc>
              </a:tr>
              <a:tr h="369824">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1.30 orders each, and 7 came back.</a:t>
                      </a:r>
                    </a:p>
                  </a:txBody>
                  <a:tcPr marL="101600" marR="101600" marT="38100" marB="38100" anchor="ctr">
                    <a:solidFill>
                      <a:srgbClr val="FFFFFF"/>
                    </a:solidFill>
                  </a:tcPr>
                </a:tc>
              </a:tr>
              <a:tr h="369824">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a:t>
                      </a:r>
                    </a:p>
                  </a:txBody>
                  <a:tcPr marL="101600" marR="101600" marT="38100" marB="38100" anchor="ctr">
                    <a:solidFill>
                      <a:srgbClr val="F4F2FA"/>
                    </a:solidFill>
                  </a:tcPr>
                </a:tc>
              </a:tr>
              <a:tr h="611632">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21 percent, Rs 78,420 on the consumer view.</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back, 7 past the usual gap, 9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44112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5085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numbers hold?</a:t>
            </a:r>
          </a:p>
        </p:txBody>
      </p:sp>
      <p:sp>
        <p:nvSpPr>
          <p:cNvPr id="18" name="Oval 17"/>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2" name="Oval 21"/>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does revenue come from, by customer type and channel, and does it change the branch?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Pairs split revenue by channel, type and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and how do the pairs answer it?</a:t>
            </a:r>
          </a:p>
        </p:txBody>
      </p:sp>
      <p:sp>
        <p:nvSpPr>
          <p:cNvPr id="9" name="Rounded Rectangle 8"/>
          <p:cNvSpPr/>
          <p:nvPr/>
        </p:nvSpPr>
        <p:spPr>
          <a:xfrm>
            <a:off x="530352" y="1890268"/>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25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32228"/>
            <a:ext cx="237744" cy="237744"/>
          </a:xfrm>
          <a:prstGeom prst="rect">
            <a:avLst/>
          </a:prstGeom>
        </p:spPr>
      </p:pic>
      <p:sp>
        <p:nvSpPr>
          <p:cNvPr id="12" name="TextBox 11"/>
          <p:cNvSpPr txBox="1"/>
          <p:nvPr/>
        </p:nvSpPr>
        <p:spPr>
          <a:xfrm>
            <a:off x="1399031" y="203657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56028"/>
            <a:ext cx="9987991" cy="68275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 The store team says they carry the business. Should the growth plan be store-led?"</a:t>
            </a:r>
          </a:p>
        </p:txBody>
      </p:sp>
      <p:sp>
        <p:nvSpPr>
          <p:cNvPr id="14" name="Rectangle 13"/>
          <p:cNvSpPr/>
          <p:nvPr/>
        </p:nvSpPr>
        <p:spPr>
          <a:xfrm>
            <a:off x="1381734" y="3743452"/>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1281150"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channel</a:t>
            </a:r>
          </a:p>
        </p:txBody>
      </p:sp>
      <p:sp>
        <p:nvSpPr>
          <p:cNvPr id="19" name="TextBox 18"/>
          <p:cNvSpPr txBox="1"/>
          <p:nvPr/>
        </p:nvSpPr>
        <p:spPr>
          <a:xfrm>
            <a:off x="694944" y="4497578"/>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channel's share of booked revenue.</a:t>
            </a:r>
          </a:p>
        </p:txBody>
      </p:sp>
      <p:sp>
        <p:nvSpPr>
          <p:cNvPr id="20" name="TextBox 19"/>
          <p:cNvSpPr txBox="1"/>
          <p:nvPr/>
        </p:nvSpPr>
        <p:spPr>
          <a:xfrm>
            <a:off x="2415997"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3166795"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415997"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580589"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Behind a share</a:t>
            </a:r>
          </a:p>
        </p:txBody>
      </p:sp>
      <p:sp>
        <p:nvSpPr>
          <p:cNvPr id="24" name="TextBox 23"/>
          <p:cNvSpPr txBox="1"/>
          <p:nvPr/>
        </p:nvSpPr>
        <p:spPr>
          <a:xfrm>
            <a:off x="2580589" y="4497578"/>
            <a:ext cx="1373581" cy="366776"/>
          </a:xfrm>
          <a:prstGeom prst="rect">
            <a:avLst/>
          </a:prstGeom>
          <a:noFill/>
        </p:spPr>
        <p:txBody>
          <a:bodyPr wrap="square" anchor="t" lIns="0" rIns="0" tIns="0" bIns="0">
            <a:spAutoFit/>
          </a:bodyPr>
          <a:lstStyle/>
          <a:p>
            <a:pPr algn="l"/>
            <a:r>
              <a:rPr sz="1000" b="0" i="0">
                <a:solidFill>
                  <a:srgbClr val="6B6690"/>
                </a:solidFill>
                <a:latin typeface="Calibri"/>
              </a:rPr>
              <a:t>The orders by status in each channel.</a:t>
            </a:r>
          </a:p>
        </p:txBody>
      </p:sp>
      <p:sp>
        <p:nvSpPr>
          <p:cNvPr id="25" name="TextBox 24"/>
          <p:cNvSpPr txBox="1"/>
          <p:nvPr/>
        </p:nvSpPr>
        <p:spPr>
          <a:xfrm>
            <a:off x="430164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5052441"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430164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46623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Consumer view</a:t>
            </a:r>
          </a:p>
        </p:txBody>
      </p:sp>
      <p:sp>
        <p:nvSpPr>
          <p:cNvPr id="29" name="TextBox 28"/>
          <p:cNvSpPr txBox="1"/>
          <p:nvPr/>
        </p:nvSpPr>
        <p:spPr>
          <a:xfrm>
            <a:off x="4466234"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The channels on the three consumer segments.</a:t>
            </a:r>
          </a:p>
        </p:txBody>
      </p:sp>
      <p:sp>
        <p:nvSpPr>
          <p:cNvPr id="30" name="TextBox 29"/>
          <p:cNvSpPr txBox="1"/>
          <p:nvPr/>
        </p:nvSpPr>
        <p:spPr>
          <a:xfrm>
            <a:off x="6187287"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31" name="Oval 30"/>
          <p:cNvSpPr/>
          <p:nvPr/>
        </p:nvSpPr>
        <p:spPr>
          <a:xfrm>
            <a:off x="6938086"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187287"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51879"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4" name="TextBox 33"/>
          <p:cNvSpPr txBox="1"/>
          <p:nvPr/>
        </p:nvSpPr>
        <p:spPr>
          <a:xfrm>
            <a:off x="6351879" y="4497578"/>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each channel booked, kept and lost.</a:t>
            </a:r>
          </a:p>
        </p:txBody>
      </p:sp>
      <p:sp>
        <p:nvSpPr>
          <p:cNvPr id="35" name="TextBox 34"/>
          <p:cNvSpPr txBox="1"/>
          <p:nvPr/>
        </p:nvSpPr>
        <p:spPr>
          <a:xfrm>
            <a:off x="807293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5</a:t>
            </a:r>
          </a:p>
        </p:txBody>
      </p:sp>
      <p:sp>
        <p:nvSpPr>
          <p:cNvPr id="36" name="Oval 35"/>
          <p:cNvSpPr/>
          <p:nvPr/>
        </p:nvSpPr>
        <p:spPr>
          <a:xfrm>
            <a:off x="8823731"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807293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3752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type</a:t>
            </a:r>
          </a:p>
        </p:txBody>
      </p:sp>
      <p:sp>
        <p:nvSpPr>
          <p:cNvPr id="39" name="TextBox 38"/>
          <p:cNvSpPr txBox="1"/>
          <p:nvPr/>
        </p:nvSpPr>
        <p:spPr>
          <a:xfrm>
            <a:off x="8237524" y="4497578"/>
            <a:ext cx="1373581" cy="366776"/>
          </a:xfrm>
          <a:prstGeom prst="rect">
            <a:avLst/>
          </a:prstGeom>
          <a:noFill/>
        </p:spPr>
        <p:txBody>
          <a:bodyPr wrap="square" anchor="t" lIns="0" rIns="0" tIns="0" bIns="0">
            <a:spAutoFit/>
          </a:bodyPr>
          <a:lstStyle/>
          <a:p>
            <a:pPr algn="l"/>
            <a:r>
              <a:rPr sz="1000" b="0" i="0">
                <a:solidFill>
                  <a:srgbClr val="6B6690"/>
                </a:solidFill>
                <a:latin typeface="Calibri"/>
              </a:rPr>
              <a:t>Revenue for each consumer segment.</a:t>
            </a:r>
          </a:p>
        </p:txBody>
      </p:sp>
      <p:sp>
        <p:nvSpPr>
          <p:cNvPr id="40" name="TextBox 39"/>
          <p:cNvSpPr txBox="1"/>
          <p:nvPr/>
        </p:nvSpPr>
        <p:spPr>
          <a:xfrm>
            <a:off x="9958578"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6</a:t>
            </a:r>
          </a:p>
        </p:txBody>
      </p:sp>
      <p:sp>
        <p:nvSpPr>
          <p:cNvPr id="41" name="Oval 40"/>
          <p:cNvSpPr/>
          <p:nvPr/>
        </p:nvSpPr>
        <p:spPr>
          <a:xfrm>
            <a:off x="10709376" y="365201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9958578" y="4063492"/>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123170" y="4209796"/>
            <a:ext cx="1373581" cy="251205"/>
          </a:xfrm>
          <a:prstGeom prst="rect">
            <a:avLst/>
          </a:prstGeom>
          <a:noFill/>
        </p:spPr>
        <p:txBody>
          <a:bodyPr wrap="square" anchor="t" lIns="0" rIns="0" tIns="0" bIns="0">
            <a:spAutoFit/>
          </a:bodyPr>
          <a:lstStyle/>
          <a:p>
            <a:pPr algn="l"/>
            <a:r>
              <a:rPr sz="1300" b="1" i="0">
                <a:solidFill>
                  <a:srgbClr val="FFFFFF"/>
                </a:solidFill>
                <a:latin typeface="Calibri"/>
              </a:rPr>
              <a:t>The branch</a:t>
            </a:r>
          </a:p>
        </p:txBody>
      </p:sp>
      <p:sp>
        <p:nvSpPr>
          <p:cNvPr id="44" name="TextBox 43"/>
          <p:cNvSpPr txBox="1"/>
          <p:nvPr/>
        </p:nvSpPr>
        <p:spPr>
          <a:xfrm>
            <a:off x="10123170" y="4497578"/>
            <a:ext cx="1373581" cy="366776"/>
          </a:xfrm>
          <a:prstGeom prst="rect">
            <a:avLst/>
          </a:prstGeom>
          <a:noFill/>
        </p:spPr>
        <p:txBody>
          <a:bodyPr wrap="square" anchor="t" lIns="0" rIns="0" tIns="0" bIns="0">
            <a:spAutoFit/>
          </a:bodyPr>
          <a:lstStyle/>
          <a:p>
            <a:pPr algn="l"/>
            <a:r>
              <a:rPr sz="1000" b="0" i="0">
                <a:solidFill>
                  <a:srgbClr val="CFC9EE"/>
                </a:solidFill>
                <a:latin typeface="Calibri"/>
              </a:rPr>
              <a:t>Whether the channel view moves it.</a:t>
            </a:r>
          </a:p>
        </p:txBody>
      </p:sp>
      <p:sp>
        <p:nvSpPr>
          <p:cNvPr id="45" name="TextBox 44"/>
          <p:cNvSpPr txBox="1"/>
          <p:nvPr/>
        </p:nvSpPr>
        <p:spPr>
          <a:xfrm>
            <a:off x="530352" y="549605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pairs, 15 minutes, in the second case brief and its notebook; argue each item before you record it.</a:t>
            </a:r>
          </a:p>
        </p:txBody>
      </p:sp>
      <p:sp>
        <p:nvSpPr>
          <p:cNvPr id="46" name="Oval 4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8" name="Oval 4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50" name="Oval 4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52" name="Oval 51"/>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54" name="Oval 53"/>
          <p:cNvSpPr/>
          <p:nvPr/>
        </p:nvSpPr>
        <p:spPr>
          <a:xfrm>
            <a:off x="57907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590045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56" name="Oval 55"/>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58" name="Oval 57"/>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60" name="TextBox 5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growth store-led at 91.6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store's share of booked revenue make the plan store-led?</a:t>
            </a:r>
          </a:p>
        </p:txBody>
      </p:sp>
      <p:pic>
        <p:nvPicPr>
          <p:cNvPr id="9" name="mermaid diagram" descr="0db20767e65ae150.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Choose one: a) yes, store carries nine rupees in ten; b) not yet, count the orders behind each share first; c) yes, and taking out the cancelled store orders changes little; d) no, app and web hold twenty of the thirty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9" name="Oval 18"/>
          <p:cNvSpPr/>
          <p:nvPr/>
        </p:nvSpPr>
        <p:spPr>
          <a:xfrm>
            <a:off x="57907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0045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3" name="Oval 2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the consumer view store holds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store's share once the view keeps the plan's three segments?</a:t>
            </a:r>
          </a:p>
        </p:txBody>
      </p:sp>
      <p:pic>
        <p:nvPicPr>
          <p:cNvPr id="9" name="mermaid diagram" descr="11650831bd50c318.png"/>
          <p:cNvPicPr>
            <a:picLocks noChangeAspect="1"/>
          </p:cNvPicPr>
          <p:nvPr/>
        </p:nvPicPr>
        <p:blipFill>
          <a:blip r:embed="rId6"/>
          <a:stretch>
            <a:fillRect/>
          </a:stretch>
        </p:blipFill>
        <p:spPr>
          <a:xfrm>
            <a:off x="3355695" y="1664208"/>
            <a:ext cx="5480304" cy="2740152"/>
          </a:xfrm>
          <a:prstGeom prst="rect">
            <a:avLst/>
          </a:prstGeom>
        </p:spPr>
      </p:pic>
      <p:sp>
        <p:nvSpPr>
          <p:cNvPr id="10" name="TextBox 9"/>
          <p:cNvSpPr txBox="1"/>
          <p:nvPr/>
        </p:nvSpPr>
        <p:spPr>
          <a:xfrm>
            <a:off x="530352" y="4450080"/>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Once the view keeps the three consumer segments Meera's plan concerns, store's share falls from 91.6 to 29.2 percent, Rs 18,920 of Rs 64,810, so store's headline share came from outside those segments. Web leads with Rs 27,290, and app holds Rs 18,600.</a:t>
            </a:r>
          </a:p>
        </p:txBody>
      </p:sp>
      <p:sp>
        <p:nvSpPr>
          <p:cNvPr id="11" name="Rounded Rectangle 10"/>
          <p:cNvSpPr/>
          <p:nvPr/>
        </p:nvSpPr>
        <p:spPr>
          <a:xfrm>
            <a:off x="530352" y="521208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3949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868680" y="5504688"/>
            <a:ext cx="237744" cy="237744"/>
          </a:xfrm>
          <a:prstGeom prst="rect">
            <a:avLst/>
          </a:prstGeom>
        </p:spPr>
      </p:pic>
      <p:sp>
        <p:nvSpPr>
          <p:cNvPr id="14" name="TextBox 13"/>
          <p:cNvSpPr txBox="1"/>
          <p:nvPr/>
        </p:nvSpPr>
        <p:spPr>
          <a:xfrm>
            <a:off x="1399031" y="535838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5577840"/>
            <a:ext cx="9987991" cy="384048"/>
          </a:xfrm>
          <a:prstGeom prst="rect">
            <a:avLst/>
          </a:prstGeom>
          <a:noFill/>
        </p:spPr>
        <p:txBody>
          <a:bodyPr wrap="square" anchor="t" lIns="0" rIns="0" tIns="0" bIns="0">
            <a:spAutoFit/>
          </a:bodyPr>
          <a:lstStyle/>
          <a:p>
            <a:r>
              <a:rPr sz="1100" b="0" i="0">
                <a:solidFill>
                  <a:srgbClr val="1A1440"/>
                </a:solidFill>
                <a:latin typeface="Calibri"/>
              </a:rPr>
              <a:t>[D] One channel carries nine rupees in ten of revenue; does that change where the growth plan invests?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4" name="Oval 23"/>
          <p:cNvSpPr/>
          <p:nvPr/>
        </p:nvSpPr>
        <p:spPr>
          <a:xfrm>
            <a:off x="57907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0045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6" name="Oval 25"/>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8" name="Oval 27"/>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Web books the most, and more than half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splitting each channel by status add?</a:t>
            </a:r>
          </a:p>
        </p:txBody>
      </p:sp>
      <p:pic>
        <p:nvPicPr>
          <p:cNvPr id="9" name="mermaid diagram" descr="1f6d46a2d9a23a0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booked Rs 27,290, and Rs 14,970 of it came back as returns. Store kept Rs 9,870 after Rs 9,050 of cancellations, and app kept every rupee of its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9" name="Oval 18"/>
          <p:cNvSpPr/>
          <p:nvPr/>
        </p:nvSpPr>
        <p:spPr>
          <a:xfrm>
            <a:off x="57907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0045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3" name="Oval 2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channel view change the branch Meera opens first?</a:t>
            </a:r>
          </a:p>
        </p:txBody>
      </p:sp>
      <p:pic>
        <p:nvPicPr>
          <p:cNvPr id="9" name="mermaid diagram" descr="4a72dbfc3a0f543d.png"/>
          <p:cNvPicPr>
            <a:picLocks noChangeAspect="1"/>
          </p:cNvPicPr>
          <p:nvPr/>
        </p:nvPicPr>
        <p:blipFill>
          <a:blip r:embed="rId6"/>
          <a:stretch>
            <a:fillRect/>
          </a:stretch>
        </p:blipFill>
        <p:spPr>
          <a:xfrm>
            <a:off x="530352" y="1973352"/>
            <a:ext cx="4786326" cy="3935423"/>
          </a:xfrm>
          <a:prstGeom prst="rect">
            <a:avLst/>
          </a:prstGeom>
        </p:spPr>
      </p:pic>
      <p:sp>
        <p:nvSpPr>
          <p:cNvPr id="10" name="Rounded Rectangle 9"/>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78739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"Count the orders behind a share before you show it, and keep the segments the plan is about. Split each channel by status, and the 91.6 percent headline leaves the branch where it was and adds two leaks to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answer aloud?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aloud, each in under a minute, with its number?</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define sales, choose a source and count customers aloud?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8" name="Oval 17"/>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7722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820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answer aloud?</a:t>
            </a:r>
          </a:p>
        </p:txBody>
      </p:sp>
      <p:sp>
        <p:nvSpPr>
          <p:cNvPr id="22" name="Oval 21"/>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defend a middle, a payback and a growth figure aloud?</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8" name="Oval 17"/>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7722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820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answer aloud?</a:t>
            </a:r>
          </a:p>
        </p:txBody>
      </p:sp>
      <p:sp>
        <p:nvSpPr>
          <p:cNvPr id="22" name="Oval 21"/>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recommend a branch and hold it when someone pushes back?</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8" name="Oval 17"/>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7722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820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answer aloud?</a:t>
            </a:r>
          </a:p>
        </p:txBody>
      </p:sp>
      <p:sp>
        <p:nvSpPr>
          <p:cNvPr id="22" name="Oval 21"/>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keep?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we keep from Monday, what does Meera hear, and what will she ask next?</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replays today's traps,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traps does the room still fall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the tree, a second on customers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9" name="Oval 2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3" name="Oval 32"/>
          <p:cNvSpPr/>
          <p:nvPr/>
        </p:nvSpPr>
        <p:spPr>
          <a:xfrm>
            <a:off x="82138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323611"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What do we keep?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evidence acquisition is short, so frequency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acquisition even the branch that is short?</a:t>
            </a:r>
          </a:p>
        </p:txBody>
      </p:sp>
      <p:pic>
        <p:nvPicPr>
          <p:cNvPr id="9" name="mermaid diagram" descr="3a8daddd704e97c0.png"/>
          <p:cNvPicPr>
            <a:picLocks noChangeAspect="1"/>
          </p:cNvPicPr>
          <p:nvPr/>
        </p:nvPicPr>
        <p:blipFill>
          <a:blip r:embed="rId5"/>
          <a:stretch>
            <a:fillRect/>
          </a:stretch>
        </p:blipFill>
        <p:spPr>
          <a:xfrm>
            <a:off x="1062909" y="1682496"/>
            <a:ext cx="3721210" cy="4517136"/>
          </a:xfrm>
          <a:prstGeom prst="rect">
            <a:avLst/>
          </a:prstGeom>
        </p:spPr>
      </p:pic>
      <p:sp>
        <p:nvSpPr>
          <p:cNvPr id="10" name="Rounded Rectangle 9"/>
          <p:cNvSpPr/>
          <p:nvPr/>
        </p:nvSpPr>
        <p:spPr>
          <a:xfrm>
            <a:off x="5761917" y="1956816"/>
            <a:ext cx="45720" cy="27330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17949" y="1956816"/>
            <a:ext cx="5588529" cy="273303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0" name="Oval 19"/>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4" name="Oval 23"/>
          <p:cNvSpPr/>
          <p:nvPr/>
        </p:nvSpPr>
        <p:spPr>
          <a:xfrm>
            <a:off x="82138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23611"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What do we keep?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chapter's trap leaves one line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habit does each of the day's six traps leave behind?</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3" name="Oval 42"/>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5" name="Oval 44"/>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47" name="Oval 46"/>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9" name="Oval 48"/>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51" name="Oval 50"/>
          <p:cNvSpPr/>
          <p:nvPr/>
        </p:nvSpPr>
        <p:spPr>
          <a:xfrm>
            <a:off x="82138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323611"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What do we keep?</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once she has read the sentence?</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26df075a105de9ac.png"/>
          <p:cNvPicPr>
            <a:picLocks noChangeAspect="1"/>
          </p:cNvPicPr>
          <p:nvPr/>
        </p:nvPicPr>
        <p:blipFill>
          <a:blip r:embed="rId6"/>
          <a:stretch>
            <a:fillRect/>
          </a:stretch>
        </p:blipFill>
        <p:spPr>
          <a:xfrm>
            <a:off x="3095744" y="2968752"/>
            <a:ext cx="6000205"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