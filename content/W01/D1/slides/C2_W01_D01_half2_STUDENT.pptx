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Meera's line aloud and leave it on screen. The morning answered three rungs:</a:t>
            </a:r>
          </a:p>
          <a:p>
            <a:r>
              <a:t>what sales is, how many leaves the file carries, and which typical order is honest. The afternoon</a:t>
            </a:r>
          </a:p>
          <a:p>
            <a:r>
              <a:t>climbs the last rung on its own: which branch Meera opens first, and what one window cannot show.</a:t>
            </a:r>
          </a:p>
          <a:p>
            <a:r>
              <a:t>Then the room's wrong answers, a second case in pairs, the interview drill and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This block runs 60 minutes: about 9 to brief across S1 to S6, 48 working, 3 to collect on</a:t>
            </a:r>
          </a:p>
          <a:p>
            <a:r>
              <a:t>S6. The trainer does not teach during the working time; the support TA answers environment</a:t>
            </a:r>
          </a:p>
          <a:p>
            <a:r>
              <a:t>problems only. Watch which wrong numbers appear in the room, because the debrief is built from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morning's tree with marketing's bet placed on it. By Thursday Meera</a:t>
            </a:r>
          </a:p>
          <a:p>
            <a:r>
              <a:t>expects a recommendation on which branch to examine first, and she will ask why the others were</a:t>
            </a:r>
          </a:p>
          <a:p>
            <a:r>
              <a:t>not picked. The dashed branches need fields the file does not carry. Transition: the brief turns her</a:t>
            </a:r>
          </a:p>
          <a:p>
            <a:r>
              <a:t>question into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 to brief. Leave this slide up while the room works. Nobody pastes the morning's</a:t>
            </a:r>
          </a:p>
          <a:p>
            <a:r>
              <a:t>demonstration cells unread, because part 1 asks for a definition the demonstration did not always</a:t>
            </a:r>
          </a:p>
          <a:p>
            <a:r>
              <a:t>use. If a learner is stuck after fifteen minutes, point them at the part's slide (S3 to S6) and ask</a:t>
            </a:r>
          </a:p>
          <a:p>
            <a:r>
              <a:t>which rung of the morning it repeats. Transition: one slide per part, shown quickly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Parts 1 and 2 repeat rounds 1 to 3 on one definition of the learner's choosing.</a:t>
            </a:r>
          </a:p>
          <a:p>
            <a:r>
              <a:t>Any definition is right if it is named. Watch for a learner who counts customers on all 30 orders</a:t>
            </a:r>
          </a:p>
          <a:p>
            <a:r>
              <a:t>and orders on the delivered 21; the definition has to hold across numerator and denominator.</a:t>
            </a:r>
          </a:p>
          <a:p>
            <a:r>
              <a:t>Transition: part 3 pushes the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Do not work either number here; both come back in the debrief. The second number</a:t>
            </a:r>
          </a:p>
          <a:p>
            <a:r>
              <a:t>matters for part 4: a branch that has to rise 15 percent on its own is a large ask, and learners</a:t>
            </a:r>
          </a:p>
          <a:p>
            <a:r>
              <a:t>who see it in customers and in orders say what it means in people. Transition: part 4 asks who</a:t>
            </a:r>
          </a:p>
          <a:p>
            <a:r>
              <a:t>pays to move each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Part 4 names one branch and gives each of the others one reason to wait. The</a:t>
            </a:r>
          </a:p>
          <a:p>
            <a:r>
              <a:t>three branches the file cannot measure wait for a data reason; acquisition waits for an evidence</a:t>
            </a:r>
          </a:p>
          <a:p>
            <a:r>
              <a:t>reason, which is what the learner has to find in the leaves. Transition: part 5 is one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 at the brief and 3 minutes at the end of the hour. The canteen is invented to show</a:t>
            </a:r>
          </a:p>
          <a:p>
            <a:r>
              <a:t>the shape; do not show a Kalpa sentence before the close. At the end of the hour, collect three</a:t>
            </a:r>
          </a:p>
          <a:p>
            <a:r>
              <a:t>written sentences and three part 3 totals on the board without comment, because the debrief runs</a:t>
            </a:r>
          </a:p>
          <a:p>
            <a:r>
              <a:t>on them. Transition: the room's own wrong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The debrief runs 15 minutes, built from what the room produced. Use the room's own numbers</a:t>
            </a:r>
          </a:p>
          <a:p>
            <a:r>
              <a:t>where they match; the slides carry the four that every room produces. Then a 10-minute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Letters first, then one defender for b: the sales total is a real sum, which is</a:t>
            </a:r>
          </a:p>
          <a:p>
            <a:r>
              <a:t>why it tempts. The answer is d, because each number answers a different question from the one it</a:t>
            </a:r>
          </a:p>
          <a:p>
            <a:r>
              <a:t>claims. Transition: the check that catches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answer is d. Walk the rows in the order the room met them. Row one is the</a:t>
            </a:r>
          </a:p>
          <a:p>
            <a:r>
              <a:t>number that would have supported the Rs 12 crore: "nobody comes back" makes acquisition look like</a:t>
            </a:r>
          </a:p>
          <a:p>
            <a:r>
              <a:t>the only branch. Row four is right once it carries its name, booked; the error is calling it sales.</a:t>
            </a:r>
          </a:p>
          <a:p>
            <a:r>
              <a:t>Transition: the arithmetic row,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Work it on the board: Rs 5,44,810 times 1.10 is Rs 5,99,291; times 1.10 again is</a:t>
            </a:r>
          </a:p>
          <a:p>
            <a:r>
              <a:t>Rs 6,59,220. Adding the percentages gives Rs 6,53,772. The gap is small at 10 percent and grows</a:t>
            </a:r>
          </a:p>
          <a:p>
            <a:r>
              <a:t>with the lifts: two 30 percent lifts make 69 percent, where adding says 60. The axis starts at</a:t>
            </a:r>
          </a:p>
          <a:p>
            <a:r>
              <a:t>Rs 5 lakh so the gap is visible; say so. Interview question 10 in the drill is this slide. Transition: the 15 percent plan, one branch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Customers alone need about three and a half more customers in this window, which</a:t>
            </a:r>
          </a:p>
          <a:p>
            <a:r>
              <a:t>is what the Rs 12 crore buys. Frequency alone needs four or five more orders from customers Kalpa</a:t>
            </a:r>
          </a:p>
          <a:p>
            <a:r>
              <a:t>already has. Both are 15 percent; the bills differ, which is the part 4 argument. Transition: the</a:t>
            </a:r>
          </a:p>
          <a:p>
            <a:r>
              <a:t>same arithmetic on a discount, for self-study.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shown live only if the debrief has time. It is the same multiplication as S9 with one</a:t>
            </a:r>
          </a:p>
          <a:p>
            <a:r>
              <a:t>factor below one. It answers interview question 12 in the drill.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after the 10-minute break. The block runs 45 minutes: 3 to brief on S12, 25 in pairs with</a:t>
            </a:r>
          </a:p>
          <a:p>
            <a:r>
              <a:t>no slides, then S13 to S17 as the debrief, about 17 minutes. Do not show S13 before the pairs work;</a:t>
            </a:r>
          </a:p>
          <a:p>
            <a:r>
              <a:t>it carries the wrong answer the pairs should meet in their own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table is booked revenue on all 30 orders. The pairs split by channel and by</a:t>
            </a:r>
          </a:p>
          <a:p>
            <a:r>
              <a:t>status themselves. Watch for pairs who count 23 customers across the four types and get 24; that</a:t>
            </a:r>
          </a:p>
          <a:p>
            <a:r>
              <a:t>is the customer recorded under two types. Transition: 25 minutes in pairs, then the debrief.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Letters first. Expect a from the pairs who stopped at the chart and c from the</a:t>
            </a:r>
          </a:p>
          <a:p>
            <a:r>
              <a:t>pairs who checked cancellations and stopped there. The answer is b. Transition: what the count</a:t>
            </a:r>
          </a:p>
          <a:p>
            <a:r>
              <a:t>shows.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one order is the order the round 3 sort put at the top, and it is real</a:t>
            </a:r>
          </a:p>
          <a:p>
            <a:r>
              <a:t>revenue; nobody deletes it. The fix is to recompute on the 29 consumer orders and to report the top</a:t>
            </a:r>
          </a:p>
          <a:p>
            <a:r>
              <a:t>order on its own line. Among consumer orders store falls from 91.6 percent to about 29 percent.</a:t>
            </a:r>
          </a:p>
          <a:p>
            <a:r>
              <a:t>Transition: the consumer channels, booked against delivered.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the pairs left to right: app is clean, web loses about half its booked</a:t>
            </a:r>
          </a:p>
          <a:p>
            <a:r>
              <a:t>revenue to returns, store loses to cancellations. Ask which channel a finance controller would</a:t>
            </a:r>
          </a:p>
          <a:p>
            <a:r>
              <a:t>call the healthiest, and why the answer is app although web books more. Transition: does this</a:t>
            </a:r>
          </a:p>
          <a:p>
            <a:r>
              <a:t>change the branch?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pairs. A pair that says b has confused booked with kept revenue. A</a:t>
            </a:r>
          </a:p>
          <a:p>
            <a:r>
              <a:t>pair that says d has thrown away the two findings the second case produced. The answer is c.</a:t>
            </a:r>
          </a:p>
          <a:p>
            <a:r>
              <a:t>Transition: what the note now says.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answer is c. The leaks are for the note, and neither is a branch: returns and</a:t>
            </a:r>
          </a:p>
          <a:p>
            <a:r>
              <a:t>cancellations sit between booked and delivered revenue on every branch. Tuesday's two quarters</a:t>
            </a:r>
          </a:p>
          <a:p>
            <a:r>
              <a:t>test whether either leak grew. Transition: the interview drill.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The drill runs 30 minutes, about 10 per slide. In pairs, one asks and one answers aloud in</a:t>
            </a:r>
          </a:p>
          <a:p>
            <a:r>
              <a:t>under a minute, then they swap. The answers below are one breath each; the full answers are in the</a:t>
            </a:r>
          </a:p>
          <a:p>
            <a:r>
              <a:t>study notes. Listen for a number with its definition in every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One breath each.</a:t>
            </a:r>
          </a:p>
          <a:p>
            <a:r>
              <a:t>Sales: name all three and give the CEO the one that fits the decision, delivered for what Kalpa</a:t>
            </a:r>
          </a:p>
          <a:p>
            <a:r>
              <a:t>kept and not cancelled for demand, with the definition beside the number.</a:t>
            </a:r>
          </a:p>
          <a:p>
            <a:r>
              <a:t>Thirty and thirty: check whether 30 is rows or distinct customer ids; here the set gives 23, so 7</a:t>
            </a:r>
          </a:p>
          <a:p>
            <a:r>
              <a:t>customers came back.</a:t>
            </a:r>
          </a:p>
          <a:p>
            <a:r>
              <a:t>Distinct customers: put the ids in a set, which keeps each value once, so its length is the</a:t>
            </a:r>
          </a:p>
          <a:p>
            <a:r>
              <a:t>distinct count; a list keeps every repeat.</a:t>
            </a:r>
          </a:p>
          <a:p>
            <a:r>
              <a:t>List against dictionary: a list when order and position matter, a dictionary when you look a</a:t>
            </a:r>
          </a:p>
          <a:p>
            <a:r>
              <a:t>value up by a key, as ORDERS is a list of dictionaries.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One breath each.</a:t>
            </a:r>
          </a:p>
          <a:p>
            <a:r>
              <a:t>Mean or median: the median for a typical order, because one large order drags the mean; the mean</a:t>
            </a:r>
          </a:p>
          <a:p>
            <a:r>
              <a:t>where a total must multiply back, and both on a first look.</a:t>
            </a:r>
          </a:p>
          <a:p>
            <a:r>
              <a:t>Rs 18,160 against Rs 2,205: most orders are small and one order at the top drags the mean; value a</a:t>
            </a:r>
          </a:p>
          <a:p>
            <a:r>
              <a:t>first order near Rs 2,205 and name the top order on its own line.</a:t>
            </a:r>
          </a:p>
          <a:p>
            <a:r>
              <a:t>Two 10 percent lifts: 1.10 times 1.10 is 1.21, so 21 percent, Rs 6,59,220; the gap grows as the</a:t>
            </a:r>
          </a:p>
          <a:p>
            <a:r>
              <a:t>lifts grow.</a:t>
            </a:r>
          </a:p>
          <a:p>
            <a:r>
              <a:t>The discount: 0.85 times 1.10 is 0.935, so revenue fell 6.5 percent; ask how many extra orders</a:t>
            </a:r>
          </a:p>
          <a:p>
            <a:r>
              <a:t>would have been placed at full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One breath each.</a:t>
            </a:r>
          </a:p>
          <a:p>
            <a:r>
              <a:t>Increase sales: draw the tree, measure each branch, and open the one with room to move and the</a:t>
            </a:r>
          </a:p>
          <a:p>
            <a:r>
              <a:t>cheapest bill before spending on any.</a:t>
            </a:r>
          </a:p>
          <a:p>
            <a:r>
              <a:t>Grow 15 percent: split revenue into branches, ask which moved and by how much, and say what 15</a:t>
            </a:r>
          </a:p>
          <a:p>
            <a:r>
              <a:t>percent asks of each branch alone.</a:t>
            </a:r>
          </a:p>
          <a:p>
            <a:r>
              <a:t>Acquisition budget: check orders per customer and repeat buyers first; here 16 of 23 bought once,</a:t>
            </a:r>
          </a:p>
          <a:p>
            <a:r>
              <a:t>so say "frequency first, and the budget waits for two quarters".</a:t>
            </a:r>
          </a:p>
          <a:p>
            <a:r>
              <a:t>Nine rupees in ten: count the orders behind the share; here one order carries it, and on consumer</a:t>
            </a:r>
          </a:p>
          <a:p>
            <a:r>
              <a:t>orders the channel view adds leaks without moving the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The close runs 20 minutes: the Kahoot 10, the sentence 4, the five lines 3, Tuesday's</a:t>
            </a:r>
          </a:p>
          <a:p>
            <a:r>
              <a:t>question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Run the Kahoot pack from the kahoot folder. Pause on any item below 60 percent</a:t>
            </a:r>
          </a:p>
          <a:p>
            <a:r>
              <a:t>correct and ask one learner who got it right to explain it. Transition: the sentence to Meera.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it aloud once, then have two learners read their own from the escalated</a:t>
            </a:r>
          </a:p>
          <a:p>
            <a:r>
              <a:t>case and let the room check each for the four parts. A sentence without its evidence is an</a:t>
            </a:r>
          </a:p>
          <a:p>
            <a:r>
              <a:t>opinion, and one without its caveat is a promise. Transition: the five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five lines aloud. They are the same lines on the cheat sheet and in the</a:t>
            </a:r>
          </a:p>
          <a:p>
            <a:r>
              <a:t>study notes, word for word. Ask which one the learner's own escalated case broke, and note the</a:t>
            </a:r>
          </a:p>
          <a:p>
            <a:r>
              <a:t>answers for Tuesday's opening. Transition: Meera's reply.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Meera's reply and stop. Do not predict the answer; Tuesday's file settles</a:t>
            </a:r>
          </a:p>
          <a:p>
            <a:r>
              <a:t>it. Remind the room of the take-home and the pre-read, and that the practice lab follows with the</a:t>
            </a:r>
          </a:p>
          <a:p>
            <a:r>
              <a:t>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Relationship Id="rId5" Type="http://schemas.openxmlformats.org/officeDocument/2006/relationships/image" Target="../media/image15.png"/><Relationship Id="rId6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Relationship Id="rId5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0.xml"/><Relationship Id="rId6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29067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MONDAY  ·  HALF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Which branch does Meera open first?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“Before I sign anything, I want to understand our own sales. Is acquisition even the branch that is short?”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Meera Raghavan, CEO,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escalated 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630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20352" y="5248656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5718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9766" y="5248656"/>
            <a:ext cx="16616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428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18330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interview drill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794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1993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Which branch does Meera open first?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escalated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Sixty minutes on your own: Meera's question answered with evidence, and the branch she opens first.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escalated case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9566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545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045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Monday: the question before the budget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wants one branch named by Thursday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Marketing has put Rs 12 crore on the customers branch, and Meera wants to know if that branch is short.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68249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0147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1244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182880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04825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"Before I sign anything, I want to understand our own sales. What is 'sales' made of? Where does revenue come from, by customer type and channel? Is acquisition even the branch that is short?"</a:t>
            </a:r>
          </a:p>
        </p:txBody>
      </p:sp>
      <p:pic>
        <p:nvPicPr>
          <p:cNvPr id="14" name="mermaid diagram" descr="6ffa1e0a628dbdf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5310" y="2968752"/>
            <a:ext cx="8601075" cy="3186112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9" name="Oval 18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21" name="Oval 20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escalated case asks five things of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brief in five parts, worked alone for sixty minutes, on a definition of sales you name first.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1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leaves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Customers, orders per customer and revenue per order, each on a definition you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2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typical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honest typical order, and why you chose it over the other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3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arithmetic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277870"/>
            <a:ext cx="1750710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two 10 percent lifts give, and what a 15 percent plan asks of one branch alone.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4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branch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branch Meera opens first, and one reason each of the others waits.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5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42240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sentence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One sentence to Meera with its number, its caveat and its next step.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444906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brief is exercises/unguided/C2_W01_D01_escalated_case_STUDENT.md, and the notebook notebooks/C2_W01_D01_ex1_escalated_case_STUDENT.ipynb has a check cell under every number.</a:t>
            </a:r>
          </a:p>
        </p:txBody>
      </p:sp>
      <p:sp>
        <p:nvSpPr>
          <p:cNvPr id="36" name="Oval 3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38" name="Oval 37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40" name="Oval 39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42" name="Oval 41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4" name="Oval 43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Parts 1 and 2: every leaf carries its 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Choose booked, not cancelled or delivered first, then count every leaf on that one choice.</a:t>
            </a:r>
          </a:p>
        </p:txBody>
      </p:sp>
      <p:pic>
        <p:nvPicPr>
          <p:cNvPr id="9" name="mermaid diagram" descr="50de6ada2c99acc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1956816"/>
            <a:ext cx="11130991" cy="11019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05060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53729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64702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35136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570820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Write the definition beside every number, so a reader who chose another definition can see why your number differs.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9" name="Oval 18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21" name="Oval 20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Part 3: push the tree and read what comes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is a product of branches, so a lift on one branch multiplies through to the total.</a:t>
            </a:r>
          </a:p>
        </p:txBody>
      </p:sp>
      <p:pic>
        <p:nvPicPr>
          <p:cNvPr id="9" name="mermaid diagram" descr="dc47c24f68d2ec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2553" y="1956816"/>
            <a:ext cx="6986587" cy="27146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817745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Write down two numbers: the total when customers and orders per customer each rise 10 percent, and how far one branch alone has to move to deliver the 15 percent plan.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17" name="Oval 1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19" name="Oval 1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Part 4: each branch sends a different bill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Choosing a branch means choosing who pays to move it, and what the file can say about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users_11340fce0a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CUSTOMERS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Acquisition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Marketing pays, and the Rs 12 crore request sits on this branch.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3126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4294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peat_e3d62ee72e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022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94294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ORDERS PER CUSTOMER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294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Frequency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4294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Retention pays, so the customers Kalpa already has come back more often.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5900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57068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hopping-basket_3377944e75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796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57068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ITEMS PER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068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Basket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068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Merchandising pays, and this file carries no order lines to measure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8674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19842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tag_ef63078c27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9570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19842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PRICE PER ITEM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9842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Price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9842" y="3303524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rise risks volume, and the file carries no list prices.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1448" y="1956816"/>
            <a:ext cx="2079894" cy="23444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2616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percent_4445dfa1034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2344" y="2267712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782616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DISCOUNTS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2616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Discount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2616" y="3303524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Margin is traded for quantity, and the file has no discount field.</a:t>
            </a:r>
          </a:p>
        </p:txBody>
      </p:sp>
      <p:sp>
        <p:nvSpPr>
          <p:cNvPr id="39" name="Oval 3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41" name="Oval 40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43" name="Oval 42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45" name="Oval 44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7" name="Oval 46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Part 5: one sentence Meera can act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Claim, evidence, caveat and next step, shown on an invented canteen so the Kalpa sentence stays yours.</a:t>
            </a:r>
          </a:p>
        </p:txBody>
      </p:sp>
      <p:pic>
        <p:nvPicPr>
          <p:cNvPr id="9" name="mermaid diagram" descr="0b2ef2ba3f60736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1003" y="1956816"/>
            <a:ext cx="8929687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6936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80333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3781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597592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"Before a note goes to Meera I read three things: the definition beside every number, customers counted by their id, and a caveat that says what one window cannot show. A note missing any of them comes back to you."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9" name="Oval 18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21" name="Oval 20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room's wrong 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Four numbers that looked right an hour ago, each caught by one check.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78694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9566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545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045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Monday: the question before the budget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of these four numbers would you sign?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numbers a room produces on this file, each plausible on a first reading.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orders over 30 customers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437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639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revenue over orders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20 percent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437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639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two 10 percent lifts, added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437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SALES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639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all 30 orders summed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all four, since each came from the file; b) only the sales total; c) only the growth figure; d) none of the four, as written.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30" name="Oval 29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room's wrong answers</a:t>
            </a:r>
          </a:p>
        </p:txBody>
      </p:sp>
      <p:sp>
        <p:nvSpPr>
          <p:cNvPr id="32" name="Oval 3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34" name="Oval 3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6" name="Oval 3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none of the four survives its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number is caught by one check, and each fix changes what Meera would decide.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5054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67960"/>
                <a:gridCol w="2973015"/>
                <a:gridCol w="3909719"/>
                <a:gridCol w="268029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wrong 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misses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check that catches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to report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1.00 orders per customer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row is an order, and 7 customers bought twice.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Compare len(rows) with len(set(ids)), which gives 30 against 23.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23 customers placed 1.30 orders each.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18,160 typical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29 of the 30 orders sit below the mean.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Count the orders above the mean, then sort and read the top.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median, Rs 2,205, is the typical order.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 percent growth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Branches multiply along the tree.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Recompute revenue through the tree: 1.10 x 1.10.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Two 10 percent lifts give 21 percent.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5,44,810 as sales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Four cancelled orders never became sales.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Count orders by status before summing.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 cancelled is Rs 5,35,760 on 26 orders.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Oval 11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10 percent lifts make 21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branches multiply, so the second lift also applies to what the first lift added.</a:t>
            </a:r>
          </a:p>
        </p:txBody>
      </p:sp>
      <p:pic>
        <p:nvPicPr>
          <p:cNvPr id="9" name="mermaid diagram" descr="fffc815e4d5f9f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1.10 x 1.10 is 1.21, so two 10 percent lifts make 21 percent: Rs 6,59,220 against the Rs 6,53,772 that adding gives, Rs 5,448 apart.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17" name="Oval 1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19" name="Oval 1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15 percent plan asks one branch for 15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Held alone, a branch has to rise by the whole 15 percent, and the file says what that means.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26.5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from 23, if customers alone carry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1.50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from 1.30, if frequency alone carries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6,26,532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5,44,810 times 1.15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Five of the 16 customers who bought once coming back for a second order would make 35 orders over 23 customers, which is 1.52 orders each and more than the plan asks.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" y="4320031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5227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3245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44663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468579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A business says 'grow revenue 15 percent'; how do you turn that into questions data can answer?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9" name="Oval 28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room's wrong answers</a:t>
            </a:r>
          </a:p>
        </p:txBody>
      </p:sp>
      <p:sp>
        <p:nvSpPr>
          <p:cNvPr id="31" name="Oval 3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33" name="Oval 3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5" name="Oval 3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discount multiplies too, and can shrink revenue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15 percent discount that lifts quantity 10 percent leaves revenue 6.5 percent lower.</a:t>
            </a:r>
          </a:p>
        </p:txBody>
      </p:sp>
      <p:pic>
        <p:nvPicPr>
          <p:cNvPr id="10" name="mermaid diagram" descr="b675e9b72832c0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5485" y="1956816"/>
            <a:ext cx="5800725" cy="18002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3903345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Rs 5,44,810 that is Rs 5,09,397. The question to ask next is how many of the extra orders came from customers who would have paid full price anyway.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4" name="Oval 13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6" name="Oval 15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18" name="Oval 17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0" name="Oval 19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D11  ·  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second case, in pairs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Forty-five minutes in pairs: where revenue comes from, and whether one channel changes the branch.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9566" y="5074920"/>
            <a:ext cx="184615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545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045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Monday: the question before the budget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asks where revenue comes from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By customer type and by channel, on the same 30 orders, in the second case brief and its notebook.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850644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053335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163064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199694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216404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"Where does revenue come from, by customer type and channel?"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877820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22771"/>
                <a:gridCol w="914400"/>
                <a:gridCol w="739381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Customer type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Booked revenue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32,650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27,320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4,840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order your round 3 sort put at the top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30352" y="4982972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Work in pairs in exercises/unguided/C2_W01_D01_second_case_STUDENT.md and notebooks/C2_W01_D01_ex2_second_case_STUDENT.ipynb. Segment is recorded on each order, so one customer appears under two types; say so before counting customers per type.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8" name="Oval 17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20" name="Oval 19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22" name="Oval 21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4" name="Oval 23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Store brings 91.6 percent, so is growth store-led?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Booked revenue by channel on all 30 orders, the first chart most pairs draw.</a:t>
            </a:r>
          </a:p>
        </p:txBody>
      </p:sp>
      <p:pic>
        <p:nvPicPr>
          <p:cNvPr id="9" name="mermaid diagram" descr="6f62a0a08c14cc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5155" y="1664208"/>
            <a:ext cx="6501384" cy="32506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60620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088636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079492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yes, store carries nine rupees in ten, so it gets the budget; b) not yet, count the orders behind each share first; c) yes, and removing cancelled store orders changes little; d) no, app and web hold twenty of the thirty orders.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7" name="Oval 16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19" name="Oval 18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Oval 20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one order carries store's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 the orders behind each share, and store's 91.6 percent rests on one of its ten orders.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STORE 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carry almost all of store's revenue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18,920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STORE, CONSUMER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of Rs 64,810 across 29 consumer orders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 of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CONSUMER STORE 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were cancelled, Rs 9,050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One channel carries nine rupees in ten of revenue; does that change where the growth plan invests?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8" name="Oval 27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30" name="Oval 29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32" name="Oval 31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4" name="Oval 33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 consumer orders, web leads and half comes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Booked against delivered for each channel, the 29 consumer orders only, in Rs thousand.</a:t>
            </a:r>
          </a:p>
        </p:txBody>
      </p:sp>
      <p:pic>
        <p:nvPicPr>
          <p:cNvPr id="9" name="mermaid diagram" descr="3ce7d6482e40d2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Web books the most, Rs 27,290, and 5 of its 10 orders came back for Rs 14,970. App delivered all 10 of its orders, Rs 18,600, and store delivered Rs 9,870 on 5.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17" name="Oval 1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19" name="Oval 1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Does one channel change the branch to open first?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Frequency came out of the escalated case, and the channel view either moves it or adds to the note.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16 of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bought once in the quarter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 of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WEB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came back as returns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 of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CONSUMER STORE 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were cancelled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yes, acquisition in store, where nine rupees in ten sit; b) yes, web first, since it books the most consumer revenue; c) no, frequency stays first with two leaks named; d) no, and the channel numbers stay out of the note.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6" name="Oval 25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28" name="Oval 27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30" name="Oval 29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2" name="Oval 31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frequency stays first, with two leaks named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channel view leaves the branch where it was and adds two leaks Meera should hear about.</a:t>
            </a:r>
          </a:p>
        </p:txBody>
      </p:sp>
      <p:pic>
        <p:nvPicPr>
          <p:cNvPr id="9" name="mermaid diagram" descr="50ac59399946425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3637" y="1664208"/>
            <a:ext cx="3964420" cy="32034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1337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456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53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59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7913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"A share is only as strong as the orders behind it. Count them and split them by status, and a 91.6 percent headline turns into two leaks and a branch that stayed where it was."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9" name="Oval 18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21" name="Oval 20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interview drill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Thirty minutes aloud in pairs: twelve questions from today, each answered in under a minute.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9566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5454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interview drill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045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Monday: the question before the budget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questions on what sales is and who bought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 pairs: one asks, one answers aloud in under a minute, then swap.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counts as "sales": booked, net of cancellations, or delivered, and which do you give a CEO?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Your extract shows 30 orders and 30 customers; what do you check before saying nobody comes back?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[SV]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do you count distinct customers in Python, and why does a set give the answer a list does not?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[SV]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list against a dictionary: when do you reach for each?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Oval 11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questions on the typical order and the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drill, on the numbers from round 3 and the escalated case.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090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 or median for order value, and why?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mean order is Rs 18,160 and the median Rs 2,205; what do you tell the business about its orders?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Marketing says a 10 percent lift in customers and a 10 percent lift in frequency make 20 percent growth; what is the right number, and when does the difference matter?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15 percent discount lifts quantity 10 percent; did revenue rise or fall, and what would you ask next?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Oval 11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questions on the branch and the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drill's last four, where the answer is a recommendation with its evidence.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090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would you increase sales for an online retailer?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business says 'grow revenue 15 percent'; how do you turn that into questions data can answer?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Marketing wants budget for acquisition; what would you check before agreeing it is the right branch, and how would you say no?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channel carries nine rupees in ten of revenue; does that change where the growth plan invests?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Oval 11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Kahoot, the sentence to Meera, five lines to keep, and the question she sends back.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9566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545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045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close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Monday: the question before the budget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Kahoot: today's traps, played for 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Ungraded, for you and for the trainer: it shows what the day left in the room.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ITEMS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trap and branch of the 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SCORES RECORDED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ungraded, every day of the week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TO 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then the missed ones, discussed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RETURN QUESTION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from today, in Tuesday's Kahoot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7" name="Oval 2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29" name="Oval 28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31" name="Oval 30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3" name="Oval 32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sentence to Meera, with its caveat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parts in one sentence, and a decision she can hold until Tuesday.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159511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159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"On the 30 orders from 1 July to 26 September, 23 customers placed 1.30 orders each at a typical order of Rs 2,205, and 16 of them bought only once, so I would open frequency before acquisition; this one window cannot show which branch moved, so hold the Rs 12 crore until Tuesday's two quarters."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The data and AI team, to Meera Raghavan, CEO, Kalpa Retail</a:t>
            </a:r>
          </a:p>
        </p:txBody>
      </p:sp>
      <p:pic>
        <p:nvPicPr>
          <p:cNvPr id="11" name="mermaid diagram" descr="aa2120e62eedce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872" y="3698240"/>
            <a:ext cx="11029950" cy="13716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4" name="Oval 13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6" name="Oval 15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18" name="Oval 17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0" name="Oval 19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lines to carry out of Monday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line is a trap from today turned into a habit.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079894" cy="17774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41566" y="2084832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CFC9EE"/>
                </a:solidFill>
                <a:latin typeface="Georg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2157984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ROUND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19" y="2395728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Definition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736596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Name the definition before the number: booked, not cancelled, or delivered.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3126" y="1956816"/>
            <a:ext cx="2079894" cy="17774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04340" y="2084832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CFC9EE"/>
                </a:solidFill>
                <a:latin typeface="Georg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4294" y="2157984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ROUND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4294" y="2395728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4294" y="2736596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Count customers by their id, never by the rows.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55900" y="1956816"/>
            <a:ext cx="2079894" cy="17774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7114" y="2084832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CFC9EE"/>
                </a:solidFill>
                <a:latin typeface="Georg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068" y="2157984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ROUND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068" y="2395728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068" y="2736596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Report the median when one order can move the mean, and say why.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8674" y="1956816"/>
            <a:ext cx="2079894" cy="17774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29888" y="2084832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CFC9EE"/>
                </a:solidFill>
                <a:latin typeface="Georg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9842" y="2157984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19842" y="2395728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tree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9842" y="2736596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Lifts multiply along the tree: two 10 percent lifts make 21 percent.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81448" y="1956816"/>
            <a:ext cx="2079894" cy="1777492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92663" y="2084832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2616" y="2157984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CAVEAT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2616" y="2395728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Two windows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2616" y="2736596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One window shows the shape of revenue; only two windows show which branch moved.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36" name="Oval 35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38" name="Oval 37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40" name="Oval 39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2" name="Oval 41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Tomorrow, Meera asks which branch moved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Meera has read today's numbers, and her reply is Tuesday's 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"So revenue is customers, times how often they buy, times basket, times price. Now: which of those moved? Q2 was Rs 1.9 crore, Q1 was 2.1."</a:t>
            </a:r>
          </a:p>
        </p:txBody>
      </p:sp>
      <p:pic>
        <p:nvPicPr>
          <p:cNvPr id="14" name="mermaid diagram" descr="f1609d5cd25a4d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6922" y="3243072"/>
            <a:ext cx="5657850" cy="262890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room's wrong answers</a:t>
            </a:r>
          </a:p>
        </p:txBody>
      </p:sp>
      <p:sp>
        <p:nvSpPr>
          <p:cNvPr id="19" name="Oval 18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3297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case, in pairs</a:t>
            </a:r>
          </a:p>
        </p:txBody>
      </p:sp>
      <p:sp>
        <p:nvSpPr>
          <p:cNvPr id="21" name="Oval 20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8526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