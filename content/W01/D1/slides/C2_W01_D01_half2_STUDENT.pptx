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board tree from the morning is still up: 23 customers, 1.30 orders each,</a:t>
            </a:r>
          </a:p>
          <a:p>
            <a:r>
              <a:t>16 bought once, a typical order of Rs 2,205. The afternoon opens on it.</a:t>
            </a:r>
          </a:p>
          <a:p>
            <a:r>
              <a:t>Transition: chapter 5, which branch Meera opens first.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need (3), the options sized (8), the build (4), the trap (8), the second</a:t>
            </a:r>
          </a:p>
          <a:p>
            <a:r>
              <a:t>route (4), Kavya's review (3). Notebook 05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at the board tree. The question is now a choice between branches, and a</a:t>
            </a:r>
          </a:p>
          <a:p>
            <a:r>
              <a:t>choice needs the cost of each option beside it.</a:t>
            </a:r>
          </a:p>
          <a:p>
            <a:r>
              <a:t>Transition: companies that pay for frequency directly.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Both companies could have spent the money on acquisition and chose to pay</a:t>
            </a:r>
          </a:p>
          <a:p>
            <a:r>
              <a:t>existing customers to come back more often. Free or faster delivery removes the reason to batch.</a:t>
            </a:r>
          </a:p>
          <a:p>
            <a:r>
              <a:t>Transition: what the plan asks of each branch.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the four. A and B are small asks in customers' actions; the difference is</a:t>
            </a:r>
          </a:p>
          <a:p>
            <a:r>
              <a:t>who is asked: people Kalpa has never met, or people who already bought. C rests on an average the</a:t>
            </a:r>
          </a:p>
          <a:p>
            <a:r>
              <a:t>morning showed one order drags.</a:t>
            </a:r>
          </a:p>
          <a:p>
            <a:r>
              <a:t>What would change the call: Tuesday's second quarter showing customers falling while frequency</a:t>
            </a:r>
          </a:p>
          <a:p>
            <a:r>
              <a:t>held, or a cost per retained order above the cost of acquiring a customer.</a:t>
            </a:r>
          </a:p>
          <a:p>
            <a:r>
              <a:t>Transition: the branch on the tree.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Light the frequency branch on the board tree. Notebook 05's build draws the same</a:t>
            </a:r>
          </a:p>
          <a:p>
            <a:r>
              <a:t>tree and counts the one-time buyers.</a:t>
            </a:r>
          </a:p>
          <a:p>
            <a:r>
              <a:t>Transition: marketing answers with a bigger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for the right number before the next slide; take letters: 20, 21, 10, 11.</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Work it on the board: Rs 5,44,810 x 1.10 = Rs 5,99,291; x 1.10 again =</a:t>
            </a:r>
          </a:p>
          <a:p>
            <a:r>
              <a:t>Rs 6,59,220. What it would mislead: a target sized by addition is missed by the lift on the lift.</a:t>
            </a:r>
          </a:p>
          <a:p>
            <a:r>
              <a:t>The same rule prices a discount: 0.85 x 1.10 = 0.935, a 6.5 percent fall.</a:t>
            </a:r>
          </a:p>
          <a:p>
            <a:r>
              <a:t>Transition: the lift, part by part.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05 draws this as a bridge and asserts it lands on the multiplied total.</a:t>
            </a:r>
          </a:p>
          <a:p>
            <a:r>
              <a:t>The parts route wins the argument with the slide.</a:t>
            </a:r>
          </a:p>
          <a:p>
            <a:r>
              <a:t>Transition: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aloud: count customers by id and repeat buyers, value a</a:t>
            </a:r>
          </a:p>
          <a:p>
            <a:r>
              <a:t>first order at the median, ask for the prior quarter; the no is a no for now with a date.</a:t>
            </a:r>
          </a:p>
          <a:p>
            <a:r>
              <a:t>Transition: chapter 6,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need (3), the options (5), the trap (10), the build (6), the second route</a:t>
            </a:r>
          </a:p>
          <a:p>
            <a:r>
              <a:t>(3), Kavya's review (3). Notebook 06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Meera will not read five notebooks. Marketing will read the sentence looking for</a:t>
            </a:r>
          </a:p>
          <a:p>
            <a:r>
              <a:t>the number it can recompute into a different story.</a:t>
            </a:r>
          </a:p>
          <a:p>
            <a:r>
              <a:t>Transition: a real company's first-window number.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dossier's section 8 tells the full case. The point: one window shows a shape,</a:t>
            </a:r>
          </a:p>
          <a:p>
            <a:r>
              <a:t>and the verdict needs the next window.</a:t>
            </a:r>
          </a:p>
          <a:p>
            <a:r>
              <a:t>Transition: four ways to hand Meera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the four. The sentence is the only option that carries a decision and its</a:t>
            </a:r>
          </a:p>
          <a:p>
            <a:r>
              <a:t>limit together.</a:t>
            </a:r>
          </a:p>
          <a:p>
            <a:r>
              <a:t>Transition: the number most likely to be misread.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by hand. Most pick a. Ask the question marketing would ask: how long do</a:t>
            </a:r>
          </a:p>
          <a:p>
            <a:r>
              <a:t>our customers usually take to come back?</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What 70 percent would mislead: retention looks like an emergency on a number</a:t>
            </a:r>
          </a:p>
          <a:p>
            <a:r>
              <a:t>marketing knocks down in one question. The check measures the usual gap from the customers who did</a:t>
            </a:r>
          </a:p>
          <a:p>
            <a:r>
              <a:t>return and holds back everyone who has not had that long. The fix: 7 came back, 7 had time and did</a:t>
            </a:r>
          </a:p>
          <a:p>
            <a:r>
              <a:t>not, 9 are too recent. The gap rests on 7 customers, so the sentence claims nothing beyond it.</a:t>
            </a:r>
          </a:p>
          <a:p>
            <a:r>
              <a:t>The same edge hides in returns rates, renewals and young cohorts: the dossier's returns trap.</a:t>
            </a:r>
          </a:p>
          <a:p>
            <a:r>
              <a:t>Transition: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Notebook 06 builds the sentence from variables so no number drifts from the work,</a:t>
            </a:r>
          </a:p>
          <a:p>
            <a:r>
              <a:t>and its checks assert each number is in it. Read it aloud once. It carries no "lost" and no</a:t>
            </a:r>
          </a:p>
          <a:p>
            <a:r>
              <a:t>percentage marketing can recompute.</a:t>
            </a:r>
          </a:p>
          <a:p>
            <a:r>
              <a:t>Transition: the same caveat another way.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asserts both routes find the same customers.</a:t>
            </a:r>
          </a:p>
          <a:p>
            <a:r>
              <a:t>Transition: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aloud. Then the escalated case: Anand pushes back.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35 minutes: 3 to brief on S17 and S18, 30 alone with no slides. The support TA answers</a:t>
            </a:r>
          </a:p>
          <a:p>
            <a:r>
              <a:t>environment problems only. Collect wrong numbers while circulating for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brief is exercises/unguided/C2_W01_D01_escalated_case_STUDENT.md and the</a:t>
            </a:r>
          </a:p>
          <a:p>
            <a:r>
              <a:t>notebook is notebooks/C2_W01_D01_ex1_escalated_case_STUDENT.ipynb. Each learner posts nine</a:t>
            </a:r>
          </a:p>
          <a:p>
            <a:r>
              <a:t>letters, the numbers each part asks for, and the sentence.</a:t>
            </a:r>
          </a:p>
          <a:p>
            <a:r>
              <a:t>Transition: 30 minutes alone.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next 30 minutes run with this slide on screen. Circulate and write down every wrong</a:t>
            </a:r>
          </a:p>
          <a:p>
            <a:r>
              <a:t>number you see; the debrief is built from them.</a:t>
            </a:r>
          </a:p>
          <a:p>
            <a:r>
              <a:t>Transition: the room's wrong answers.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Use the room's own numbers where they match; the slides carry the six every</a:t>
            </a:r>
          </a:p>
          <a:p>
            <a:r>
              <a:t>room produces. A 10-minute break follows.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first, then one defender for b: the sales total is a real sum, which is</a:t>
            </a:r>
          </a:p>
          <a:p>
            <a:r>
              <a:t>why it tempts.</a:t>
            </a:r>
          </a:p>
          <a:p>
            <a:r>
              <a:t>Transition: the checks.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The answer is d. Walk the rows in the order the room met them. Then the two the</a:t>
            </a:r>
          </a:p>
          <a:p>
            <a:r>
              <a:t>escalated case adds: a median of 21 orders taken as the average of two middles, and "17 of 19</a:t>
            </a:r>
          </a:p>
          <a:p>
            <a:r>
              <a:t>lost" on delivered orders, which the same 45-day edge corrects to 7 too recent.</a:t>
            </a:r>
          </a:p>
          <a:p>
            <a:r>
              <a:t>Transition: a 10-minute break, then the second case.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4 minutes live if the debrief has time. The key is cbdcaabbc, in the solution</a:t>
            </a:r>
          </a:p>
          <a:p>
            <a:r>
              <a:t>notebook, released at the close.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the break, 25 minutes: 2 to brief on S22, 15 in pairs with no slides, then S23 to</a:t>
            </a:r>
          </a:p>
          <a:p>
            <a:r>
              <a:t>S26 as the debrief, about 8 minutes. Do not show S23 before the pairs work.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pairs split by channel and by status themselves. Watch for pairs who count</a:t>
            </a:r>
          </a:p>
          <a:p>
            <a:r>
              <a:t>customers across the four types and get 24; that is the customer recorded under two types.</a:t>
            </a:r>
          </a:p>
          <a:p>
            <a:r>
              <a:t>Transition: 15 minutes in pairs.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Expect a from pairs who stopped at the chart. The answer is b.</a:t>
            </a:r>
          </a:p>
          <a:p>
            <a:r>
              <a:t>Transition: what the count shows.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one order is real revenue; nobody deletes it. The fix is to recompute on the</a:t>
            </a:r>
          </a:p>
          <a:p>
            <a:r>
              <a:t>29 consumer orders and report the top order on its own line.</a:t>
            </a:r>
          </a:p>
          <a:p>
            <a:r>
              <a:t>Transition: the consumer channels, booked against delivered.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which channel a finance controller would call the healthiest, and why it is</a:t>
            </a:r>
          </a:p>
          <a:p>
            <a:r>
              <a:t>app although web books more.</a:t>
            </a:r>
          </a:p>
          <a:p>
            <a:r>
              <a:t>Transition: does this change the branch?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leaks sit between booked and delivered on every branch; Tuesday tests</a:t>
            </a:r>
          </a:p>
          <a:p>
            <a:r>
              <a:t>whether either grew.</a:t>
            </a:r>
          </a:p>
          <a:p>
            <a:r>
              <a:t>Transition: the interview drill.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about 6 per slide. In pairs, one asks and one answers aloud, then they swap.</a:t>
            </a:r>
          </a:p>
          <a:p>
            <a:r>
              <a:t>The one-breath answers are in the notes; the full answers are in the study notes and notebooks.</a:t>
            </a:r>
          </a:p>
          <a:p>
            <a:r>
              <a:t>Listen for a number with its definition in every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One breath each.</a:t>
            </a:r>
          </a:p>
          <a:p>
            <a:r>
              <a:t>Sales: name all three and give the CEO the one her plan was set on, with the definition beside it.</a:t>
            </a:r>
          </a:p>
          <a:p>
            <a:r>
              <a:t>Sum or Finance: sum by status for a first look; reconcile to Finance for anything the board sees.</a:t>
            </a:r>
          </a:p>
          <a:p>
            <a:r>
              <a:t>Thirty and thirty: rows against distinct ids; the set gives 23, so 7 came back.</a:t>
            </a:r>
          </a:p>
          <a:p>
            <a:r>
              <a:t>List or dictionary: a list to keep order and walk every record, a dictionary to count or look up</a:t>
            </a:r>
          </a:p>
          <a:p>
            <a:r>
              <a:t>by a key; records are a list of dictionaries.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One breath each.</a:t>
            </a:r>
          </a:p>
          <a:p>
            <a:r>
              <a:t>Mean or median: the median for a typical order, because one large order drags the mean; the mean</a:t>
            </a:r>
          </a:p>
          <a:p>
            <a:r>
              <a:t>where a total must multiply back.</a:t>
            </a:r>
          </a:p>
          <a:p>
            <a:r>
              <a:t>Payback: the median of new customers' first orders; a mean per customer type if the plan targets</a:t>
            </a:r>
          </a:p>
          <a:p>
            <a:r>
              <a:t>types separately.</a:t>
            </a:r>
          </a:p>
          <a:p>
            <a:r>
              <a:t>Grow 15 percent: which revenue and window, then what 15 percent asks of each branch alone.</a:t>
            </a:r>
          </a:p>
          <a:p>
            <a:r>
              <a:t>Two lifts: 1.10 x 1.10 = 1.21, so 21 percent; the gap grows with the lifts.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One breath each.</a:t>
            </a:r>
          </a:p>
          <a:p>
            <a:r>
              <a:t>Increase sales: draw the tree, measure each branch, open the one with room to move and the</a:t>
            </a:r>
          </a:p>
          <a:p>
            <a:r>
              <a:t>cheapest bill.</a:t>
            </a:r>
          </a:p>
          <a:p>
            <a:r>
              <a:t>Acquisition budget: repeat buyers and the median first order; frequency first, budget waits for</a:t>
            </a:r>
          </a:p>
          <a:p>
            <a:r>
              <a:t>two quarters.</a:t>
            </a:r>
          </a:p>
          <a:p>
            <a:r>
              <a:t>Seventy percent: bought once in this window is a fact and not churn; 9 of 16 bought inside the</a:t>
            </a:r>
          </a:p>
          <a:p>
            <a:r>
              <a:t>45-day gap.</a:t>
            </a:r>
          </a:p>
          <a:p>
            <a:r>
              <a:t>Nine rupees in ten: count the orders behind the share; one order carries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Kahoot 9, the six lines 3, Tuesday's question 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Run kahoot/C2_W01_D01_quiz_STUDENT.md. Pause on any item below 60 percent</a:t>
            </a:r>
          </a:p>
          <a:p>
            <a:r>
              <a:t>correct and ask one learner who got it right to explain it.</a:t>
            </a:r>
          </a:p>
          <a:p>
            <a:r>
              <a:t>Transition: six lines to keep.</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same six lines are on the cheat sheet and in the study notes, word for word.</a:t>
            </a:r>
          </a:p>
          <a:p>
            <a:r>
              <a:t>Ask which one the learner's own escalated case broke, and note the answers for Tuesday.</a:t>
            </a:r>
          </a:p>
          <a:p>
            <a:r>
              <a:t>Transition: Meera's reply.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Meera's reply and stop; Tuesday's file settles it. Remind the room of the</a:t>
            </a:r>
          </a:p>
          <a:p>
            <a:r>
              <a:t>take-home and the pre-read, and that the practice lab follows with the 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12.png"/><Relationship Id="rId6"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0.xml"/><Relationship Id="rId6" Type="http://schemas.openxmlformats.org/officeDocument/2006/relationships/image" Target="../media/image2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MONDAY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branch, the sentence and the cases</a:t>
            </a:r>
          </a:p>
        </p:txBody>
      </p:sp>
      <p:sp>
        <p:nvSpPr>
          <p:cNvPr id="9" name="TextBox 8"/>
          <p:cNvSpPr txBox="1"/>
          <p:nvPr/>
        </p:nvSpPr>
        <p:spPr>
          <a:xfrm>
            <a:off x="621792" y="3635756"/>
            <a:ext cx="10033711" cy="350266"/>
          </a:xfrm>
          <a:prstGeom prst="rect">
            <a:avLst/>
          </a:prstGeom>
          <a:noFill/>
        </p:spPr>
        <p:txBody>
          <a:bodyPr wrap="square" anchor="t" lIns="0" rIns="0" tIns="0" bIns="0">
            <a:spAutoFit/>
          </a:bodyPr>
          <a:lstStyle/>
          <a:p>
            <a:pPr algn="l"/>
            <a:r>
              <a:rPr sz="1900" b="0" i="1">
                <a:solidFill>
                  <a:srgbClr val="D9A7FF"/>
                </a:solidFill>
                <a:latin typeface="Georgia"/>
              </a:rPr>
              <a:t>“Is acquisition even the branch that is short?”</a:t>
            </a:r>
          </a:p>
        </p:txBody>
      </p:sp>
      <p:sp>
        <p:nvSpPr>
          <p:cNvPr id="10" name="TextBox 9"/>
          <p:cNvSpPr txBox="1"/>
          <p:nvPr/>
        </p:nvSpPr>
        <p:spPr>
          <a:xfrm>
            <a:off x="621792" y="404088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before she signs Rs 12 crore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Which branch first</a:t>
            </a:r>
          </a:p>
        </p:txBody>
      </p:sp>
      <p:sp>
        <p:nvSpPr>
          <p:cNvPr id="13" name="TextBox 12"/>
          <p:cNvSpPr txBox="1"/>
          <p:nvPr/>
        </p:nvSpPr>
        <p:spPr>
          <a:xfrm>
            <a:off x="243630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820352"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The sentence Meera acts on</a:t>
            </a:r>
          </a:p>
        </p:txBody>
      </p:sp>
      <p:sp>
        <p:nvSpPr>
          <p:cNvPr id="15" name="TextBox 14"/>
          <p:cNvSpPr txBox="1"/>
          <p:nvPr/>
        </p:nvSpPr>
        <p:spPr>
          <a:xfrm>
            <a:off x="472401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108067"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7" name="TextBox 16"/>
          <p:cNvSpPr txBox="1"/>
          <p:nvPr/>
        </p:nvSpPr>
        <p:spPr>
          <a:xfrm>
            <a:off x="653853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922579"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The room's wrong answers</a:t>
            </a:r>
          </a:p>
        </p:txBody>
      </p:sp>
      <p:sp>
        <p:nvSpPr>
          <p:cNvPr id="19" name="TextBox 18"/>
          <p:cNvSpPr txBox="1"/>
          <p:nvPr/>
        </p:nvSpPr>
        <p:spPr>
          <a:xfrm>
            <a:off x="870794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091993"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The second case, in pairs</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1. The branch, the sentence and the cases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branch first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plan asks little of either customer branch; the evidence says which one to test.</a:t>
            </a:r>
          </a:p>
        </p:txBody>
      </p:sp>
      <p:sp>
        <p:nvSpPr>
          <p:cNvPr id="10" name="Rounded Rectangle 9"/>
          <p:cNvSpPr/>
          <p:nvPr/>
        </p:nvSpPr>
        <p:spPr>
          <a:xfrm>
            <a:off x="731519" y="5074920"/>
            <a:ext cx="135297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branch first</a:t>
            </a:r>
          </a:p>
        </p:txBody>
      </p:sp>
      <p:sp>
        <p:nvSpPr>
          <p:cNvPr id="11" name="Rounded Rectangle 10"/>
          <p:cNvSpPr/>
          <p:nvPr/>
        </p:nvSpPr>
        <p:spPr>
          <a:xfrm>
            <a:off x="2194219" y="5074920"/>
            <a:ext cx="18006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 Meera acts on</a:t>
            </a:r>
          </a:p>
        </p:txBody>
      </p:sp>
      <p:sp>
        <p:nvSpPr>
          <p:cNvPr id="12" name="Rounded Rectangle 11"/>
          <p:cNvSpPr/>
          <p:nvPr/>
        </p:nvSpPr>
        <p:spPr>
          <a:xfrm>
            <a:off x="4104613"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3" name="Rounded Rectangle 12"/>
          <p:cNvSpPr/>
          <p:nvPr/>
        </p:nvSpPr>
        <p:spPr>
          <a:xfrm>
            <a:off x="5567312" y="5074920"/>
            <a:ext cx="1688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4" name="Rounded Rectangle 13"/>
          <p:cNvSpPr/>
          <p:nvPr/>
        </p:nvSpPr>
        <p:spPr>
          <a:xfrm>
            <a:off x="7365782" y="5074920"/>
            <a:ext cx="1744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5" name="Rounded Rectangle 14"/>
          <p:cNvSpPr/>
          <p:nvPr/>
        </p:nvSpPr>
        <p:spPr>
          <a:xfrm>
            <a:off x="9220214" y="5074920"/>
            <a:ext cx="14089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6" name="Rounded Rectangle 15"/>
          <p:cNvSpPr/>
          <p:nvPr/>
        </p:nvSpPr>
        <p:spPr>
          <a:xfrm>
            <a:off x="10738875" y="5074920"/>
            <a:ext cx="8493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wants one branch, and why not the others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branch is measured, and marketing has proposed moving one of them for Rs 12 crore.</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"Is acquisition even the branch that is short?"</a:t>
            </a:r>
          </a:p>
        </p:txBody>
      </p:sp>
      <p:graphicFrame>
        <p:nvGraphicFramePr>
          <p:cNvPr id="14" name="Table 13"/>
          <p:cNvGraphicFramePr>
            <a:graphicFrameLocks noGrp="1"/>
          </p:cNvGraphicFramePr>
          <p:nvPr/>
        </p:nvGraphicFramePr>
        <p:xfrm>
          <a:off x="530352" y="2983992"/>
          <a:ext cx="11130991" cy="1351280"/>
        </p:xfrm>
        <a:graphic>
          <a:graphicData uri="http://schemas.openxmlformats.org/drawingml/2006/table">
            <a:tbl>
              <a:tblPr firstRow="0" bandRow="0">
                <a:tableStyleId>{2D5ABB26-0587-4C30-8999-92F81FD0307C}</a:tableStyleId>
              </a:tblPr>
              <a:tblGrid>
                <a:gridCol w="3468944"/>
                <a:gridCol w="7662047"/>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Growth against the 15 percent plan, Rs 81,722 more on this extract</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the marketing lead owns acquisition, the head of Retail-Plus owns the members who come back</a:t>
                      </a:r>
                    </a:p>
                  </a:txBody>
                  <a:tcPr marL="101600" marR="101600" marT="38100" marB="38100" anchor="ctr">
                    <a:solidFill>
                      <a:srgbClr val="FFFFFF"/>
                    </a:solidFill>
                  </a:tcPr>
                </a:tc>
              </a:tr>
              <a:tr h="369824">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Rs 12 crore on the branch that was fine, sized by adding lifts that multiply</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9" name="Oval 18"/>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5" name="Oval 24"/>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Flipkart and Amazon pay to buy frequency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membership is a bet on the orders-per-customer branch.</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6a22696841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FLIPKART</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Flipkart Black, Rs 1,499 a year</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Flipkart launched it in 2025, evolving it from its VIP programme (Flipkart Stories, 12 September 2025).</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ackage_0af015590c18.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AMAZON INDIA</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Prime, Rs 399 to Rs 1,499 a year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Amazon offers the plans in India (About Amazon India).</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epeat_22e899fab79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KALPA</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Retail-Plus, the paid tier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Kalpa's own frequency bet already exists, and its head is one of today's stakeholders.</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9" name="Oval 28"/>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31" name="Oval 30"/>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3" name="Oval 3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5" name="Oval 34"/>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7" name="Oval 36"/>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9" name="Oval 38"/>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asks 3.45 customers or 4.5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branch moved alone, sized on this file, with the evidence the file holds for it.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1611788"/>
                <a:gridCol w="4661232"/>
                <a:gridCol w="485797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The plan needs</a:t>
                      </a:r>
                    </a:p>
                  </a:txBody>
                  <a:tcPr marL="101600" marR="101600" marT="38100" marB="38100" anchor="ctr">
                    <a:solidFill>
                      <a:srgbClr val="1A0F5C"/>
                    </a:solidFill>
                  </a:tcPr>
                </a:tc>
                <a:tc>
                  <a:txBody>
                    <a:bodyPr/>
                    <a:lstStyle/>
                    <a:p>
                      <a:r>
                        <a:rPr sz="1450" b="1" i="0">
                          <a:solidFill>
                            <a:srgbClr val="FFFFFF"/>
                          </a:solidFill>
                          <a:latin typeface="Calibri"/>
                        </a:rPr>
                        <a:t>Evidence in this file</a:t>
                      </a:r>
                    </a:p>
                  </a:txBody>
                  <a:tcPr marL="101600" marR="101600" marT="38100" marB="38100" anchor="ctr">
                    <a:solidFill>
                      <a:srgbClr val="1A0F5C"/>
                    </a:solidFill>
                  </a:tcPr>
                </a:tc>
              </a:tr>
              <a:tr h="369824">
                <a:tc>
                  <a:txBody>
                    <a:bodyPr/>
                    <a:lstStyle/>
                    <a:p>
                      <a:r>
                        <a:rPr sz="1400" b="0" i="0">
                          <a:solidFill>
                            <a:srgbClr val="1A1440"/>
                          </a:solidFill>
                          <a:latin typeface="Calibri"/>
                        </a:rPr>
                        <a:t>A. Customers</a:t>
                      </a:r>
                    </a:p>
                  </a:txBody>
                  <a:tcPr marL="101600" marR="101600" marT="38100" marB="38100" anchor="ctr">
                    <a:solidFill>
                      <a:srgbClr val="FFFFFF"/>
                    </a:solidFill>
                  </a:tcPr>
                </a:tc>
                <a:tc>
                  <a:txBody>
                    <a:bodyPr/>
                    <a:lstStyle/>
                    <a:p>
                      <a:r>
                        <a:rPr sz="1400" b="0" i="0">
                          <a:solidFill>
                            <a:srgbClr val="1A1440"/>
                          </a:solidFill>
                          <a:latin typeface="Calibri"/>
                        </a:rPr>
                        <a:t>3.45 more who buy like today's</a:t>
                      </a:r>
                    </a:p>
                  </a:txBody>
                  <a:tcPr marL="101600" marR="101600" marT="38100" marB="38100" anchor="ctr">
                    <a:solidFill>
                      <a:srgbClr val="FFFFFF"/>
                    </a:solidFill>
                  </a:tcPr>
                </a:tc>
                <a:tc>
                  <a:txBody>
                    <a:bodyPr/>
                    <a:lstStyle/>
                    <a:p>
                      <a:r>
                        <a:rPr sz="1400" b="0" i="0">
                          <a:solidFill>
                            <a:srgbClr val="1A1440"/>
                          </a:solidFill>
                          <a:latin typeface="Calibri"/>
                        </a:rPr>
                        <a:t>None; one window cannot show customers falling.</a:t>
                      </a:r>
                    </a:p>
                  </a:txBody>
                  <a:tcPr marL="101600" marR="101600" marT="38100" marB="38100" anchor="ctr">
                    <a:solidFill>
                      <a:srgbClr val="FFFFFF"/>
                    </a:solidFill>
                  </a:tcPr>
                </a:tc>
              </a:tr>
              <a:tr h="369824">
                <a:tc>
                  <a:txBody>
                    <a:bodyPr/>
                    <a:lstStyle/>
                    <a:p>
                      <a:r>
                        <a:rPr sz="1400" b="0" i="0">
                          <a:solidFill>
                            <a:srgbClr val="1A1440"/>
                          </a:solidFill>
                          <a:latin typeface="Calibri"/>
                        </a:rPr>
                        <a:t>B. Frequency</a:t>
                      </a:r>
                    </a:p>
                  </a:txBody>
                  <a:tcPr marL="101600" marR="101600" marT="38100" marB="38100" anchor="ctr">
                    <a:solidFill>
                      <a:srgbClr val="F4F2FA"/>
                    </a:solidFill>
                  </a:tcPr>
                </a:tc>
                <a:tc>
                  <a:txBody>
                    <a:bodyPr/>
                    <a:lstStyle/>
                    <a:p>
                      <a:r>
                        <a:rPr sz="1400" b="0" i="0">
                          <a:solidFill>
                            <a:srgbClr val="1A1440"/>
                          </a:solidFill>
                          <a:latin typeface="Calibri"/>
                        </a:rPr>
                        <a:t>4.5 more orders from the same 23</a:t>
                      </a:r>
                    </a:p>
                  </a:txBody>
                  <a:tcPr marL="101600" marR="101600" marT="38100" marB="38100" anchor="ctr">
                    <a:solidFill>
                      <a:srgbClr val="F4F2FA"/>
                    </a:solidFill>
                  </a:tcPr>
                </a:tc>
                <a:tc>
                  <a:txBody>
                    <a:bodyPr/>
                    <a:lstStyle/>
                    <a:p>
                      <a:r>
                        <a:rPr sz="1400" b="0" i="0">
                          <a:solidFill>
                            <a:srgbClr val="1A1440"/>
                          </a:solidFill>
                          <a:latin typeface="Calibri"/>
                        </a:rPr>
                        <a:t>7 of 23 already came back.</a:t>
                      </a:r>
                    </a:p>
                  </a:txBody>
                  <a:tcPr marL="101600" marR="101600" marT="38100" marB="38100" anchor="ctr">
                    <a:solidFill>
                      <a:srgbClr val="F4F2FA"/>
                    </a:solidFill>
                  </a:tcPr>
                </a:tc>
              </a:tr>
              <a:tr h="369824">
                <a:tc>
                  <a:txBody>
                    <a:bodyPr/>
                    <a:lstStyle/>
                    <a:p>
                      <a:r>
                        <a:rPr sz="1400" b="0" i="0">
                          <a:solidFill>
                            <a:srgbClr val="1A1440"/>
                          </a:solidFill>
                          <a:latin typeface="Calibri"/>
                        </a:rPr>
                        <a:t>C. Order value</a:t>
                      </a:r>
                    </a:p>
                  </a:txBody>
                  <a:tcPr marL="101600" marR="101600" marT="38100" marB="38100" anchor="ctr">
                    <a:solidFill>
                      <a:srgbClr val="FFFFFF"/>
                    </a:solidFill>
                  </a:tcPr>
                </a:tc>
                <a:tc>
                  <a:txBody>
                    <a:bodyPr/>
                    <a:lstStyle/>
                    <a:p>
                      <a:r>
                        <a:rPr sz="1400" b="0" i="0">
                          <a:solidFill>
                            <a:srgbClr val="1A1440"/>
                          </a:solidFill>
                          <a:latin typeface="Calibri"/>
                        </a:rPr>
                        <a:t>Rs 2,724 more on every order</a:t>
                      </a:r>
                    </a:p>
                  </a:txBody>
                  <a:tcPr marL="101600" marR="101600" marT="38100" marB="38100" anchor="ctr">
                    <a:solidFill>
                      <a:srgbClr val="FFFFFF"/>
                    </a:solidFill>
                  </a:tcPr>
                </a:tc>
                <a:tc>
                  <a:txBody>
                    <a:bodyPr/>
                    <a:lstStyle/>
                    <a:p>
                      <a:r>
                        <a:rPr sz="1400" b="0" i="0">
                          <a:solidFill>
                            <a:srgbClr val="1A1440"/>
                          </a:solidFill>
                          <a:latin typeface="Calibri"/>
                        </a:rPr>
                        <a:t>Items and prices are not in the file.</a:t>
                      </a:r>
                    </a:p>
                  </a:txBody>
                  <a:tcPr marL="101600" marR="101600" marT="38100" marB="38100" anchor="ctr">
                    <a:solidFill>
                      <a:srgbClr val="FFFFFF"/>
                    </a:solidFill>
                  </a:tcPr>
                </a:tc>
              </a:tr>
              <a:tr h="369824">
                <a:tc>
                  <a:txBody>
                    <a:bodyPr/>
                    <a:lstStyle/>
                    <a:p>
                      <a:r>
                        <a:rPr sz="1400" b="0" i="0">
                          <a:solidFill>
                            <a:srgbClr val="1A1440"/>
                          </a:solidFill>
                          <a:latin typeface="Calibri"/>
                        </a:rPr>
                        <a:t>D. Price</a:t>
                      </a:r>
                    </a:p>
                  </a:txBody>
                  <a:tcPr marL="101600" marR="101600" marT="38100" marB="38100" anchor="ctr">
                    <a:solidFill>
                      <a:srgbClr val="F4F2FA"/>
                    </a:solidFill>
                  </a:tcPr>
                </a:tc>
                <a:tc>
                  <a:txBody>
                    <a:bodyPr/>
                    <a:lstStyle/>
                    <a:p>
                      <a:r>
                        <a:rPr sz="1400" b="0" i="0">
                          <a:solidFill>
                            <a:srgbClr val="1A1440"/>
                          </a:solidFill>
                          <a:latin typeface="Calibri"/>
                        </a:rPr>
                        <a:t>Every price 15 percent higher, nobody leaving</a:t>
                      </a:r>
                    </a:p>
                  </a:txBody>
                  <a:tcPr marL="101600" marR="101600" marT="38100" marB="38100" anchor="ctr">
                    <a:solidFill>
                      <a:srgbClr val="F4F2FA"/>
                    </a:solidFill>
                  </a:tcPr>
                </a:tc>
                <a:tc>
                  <a:txBody>
                    <a:bodyPr/>
                    <a:lstStyle/>
                    <a:p>
                      <a:r>
                        <a:rPr sz="1400" b="0" i="0">
                          <a:solidFill>
                            <a:srgbClr val="1A1440"/>
                          </a:solidFill>
                          <a:latin typeface="Calibri"/>
                        </a:rPr>
                        <a:t>None, and nothing sells above MRP.</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50392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B is the best fit: about 5 of the 16 one-time buyers returning once carries the plan, and a retention test costs a reminder to people already on the list.</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9" name="Oval 18"/>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5" name="Oval 24"/>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is the branch to open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Sixteen customers are one order away from moving it.</a:t>
            </a:r>
          </a:p>
        </p:txBody>
      </p:sp>
      <p:pic>
        <p:nvPicPr>
          <p:cNvPr id="9" name="mermaid diagram" descr="0e80e5eb94c7fd5b.png"/>
          <p:cNvPicPr>
            <a:picLocks noChangeAspect="1"/>
          </p:cNvPicPr>
          <p:nvPr/>
        </p:nvPicPr>
        <p:blipFill>
          <a:blip r:embed="rId5"/>
          <a:stretch>
            <a:fillRect/>
          </a:stretch>
        </p:blipFill>
        <p:spPr>
          <a:xfrm>
            <a:off x="593760" y="1682496"/>
            <a:ext cx="4659509" cy="4517136"/>
          </a:xfrm>
          <a:prstGeom prst="rect">
            <a:avLst/>
          </a:prstGeom>
        </p:spPr>
      </p:pic>
      <p:sp>
        <p:nvSpPr>
          <p:cNvPr id="10" name="TextBox 9"/>
          <p:cNvSpPr txBox="1"/>
          <p:nvPr/>
        </p:nvSpPr>
        <p:spPr>
          <a:xfrm>
            <a:off x="5761917" y="1956816"/>
            <a:ext cx="2812552"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1" name="TextBox 10"/>
          <p:cNvSpPr txBox="1"/>
          <p:nvPr/>
        </p:nvSpPr>
        <p:spPr>
          <a:xfrm>
            <a:off x="5761917" y="2691892"/>
            <a:ext cx="2812552" cy="168656"/>
          </a:xfrm>
          <a:prstGeom prst="rect">
            <a:avLst/>
          </a:prstGeom>
          <a:noFill/>
        </p:spPr>
        <p:txBody>
          <a:bodyPr wrap="square" anchor="t" lIns="0" rIns="0" tIns="0" bIns="0">
            <a:spAutoFit/>
          </a:bodyPr>
          <a:lstStyle/>
          <a:p>
            <a:pPr algn="l"/>
            <a:r>
              <a:rPr sz="800" b="1" i="0" spc="250">
                <a:solidFill>
                  <a:srgbClr val="1A0F5C"/>
                </a:solidFill>
                <a:latin typeface="Calibri"/>
              </a:rPr>
              <a:t>BOUGHT ONCE</a:t>
            </a:r>
          </a:p>
        </p:txBody>
      </p:sp>
      <p:sp>
        <p:nvSpPr>
          <p:cNvPr id="12" name="TextBox 11"/>
          <p:cNvSpPr txBox="1"/>
          <p:nvPr/>
        </p:nvSpPr>
        <p:spPr>
          <a:xfrm>
            <a:off x="5761917" y="2893060"/>
            <a:ext cx="2812552" cy="193421"/>
          </a:xfrm>
          <a:prstGeom prst="rect">
            <a:avLst/>
          </a:prstGeom>
          <a:noFill/>
        </p:spPr>
        <p:txBody>
          <a:bodyPr wrap="square" anchor="t" lIns="0" rIns="0" tIns="0" bIns="0">
            <a:spAutoFit/>
          </a:bodyPr>
          <a:lstStyle/>
          <a:p>
            <a:pPr algn="l"/>
            <a:r>
              <a:rPr sz="950" b="0" i="0">
                <a:solidFill>
                  <a:srgbClr val="6B6690"/>
                </a:solidFill>
                <a:latin typeface="Calibri"/>
              </a:rPr>
              <a:t>of 23 customers</a:t>
            </a:r>
          </a:p>
        </p:txBody>
      </p:sp>
      <p:sp>
        <p:nvSpPr>
          <p:cNvPr id="13" name="Rectangle 12"/>
          <p:cNvSpPr/>
          <p:nvPr/>
        </p:nvSpPr>
        <p:spPr>
          <a:xfrm>
            <a:off x="5761917" y="3145536"/>
            <a:ext cx="2812552"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848790" y="1956816"/>
            <a:ext cx="2812552"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15" name="TextBox 14"/>
          <p:cNvSpPr txBox="1"/>
          <p:nvPr/>
        </p:nvSpPr>
        <p:spPr>
          <a:xfrm>
            <a:off x="8848790" y="2691892"/>
            <a:ext cx="2812552" cy="168656"/>
          </a:xfrm>
          <a:prstGeom prst="rect">
            <a:avLst/>
          </a:prstGeom>
          <a:noFill/>
        </p:spPr>
        <p:txBody>
          <a:bodyPr wrap="square" anchor="t" lIns="0" rIns="0" tIns="0" bIns="0">
            <a:spAutoFit/>
          </a:bodyPr>
          <a:lstStyle/>
          <a:p>
            <a:pPr algn="l"/>
            <a:r>
              <a:rPr sz="800" b="1" i="0" spc="250">
                <a:solidFill>
                  <a:srgbClr val="1A0F5C"/>
                </a:solidFill>
                <a:latin typeface="Calibri"/>
              </a:rPr>
              <a:t>CAME BACK</a:t>
            </a:r>
          </a:p>
        </p:txBody>
      </p:sp>
      <p:sp>
        <p:nvSpPr>
          <p:cNvPr id="16" name="TextBox 15"/>
          <p:cNvSpPr txBox="1"/>
          <p:nvPr/>
        </p:nvSpPr>
        <p:spPr>
          <a:xfrm>
            <a:off x="8848790" y="2893060"/>
            <a:ext cx="2812552" cy="193421"/>
          </a:xfrm>
          <a:prstGeom prst="rect">
            <a:avLst/>
          </a:prstGeom>
          <a:noFill/>
        </p:spPr>
        <p:txBody>
          <a:bodyPr wrap="square" anchor="t" lIns="0" rIns="0" tIns="0" bIns="0">
            <a:spAutoFit/>
          </a:bodyPr>
          <a:lstStyle/>
          <a:p>
            <a:pPr algn="l"/>
            <a:r>
              <a:rPr sz="950" b="0" i="0">
                <a:solidFill>
                  <a:srgbClr val="6B6690"/>
                </a:solidFill>
                <a:latin typeface="Calibri"/>
              </a:rPr>
              <a:t>frequency is live</a:t>
            </a:r>
          </a:p>
        </p:txBody>
      </p:sp>
      <p:sp>
        <p:nvSpPr>
          <p:cNvPr id="17" name="Rectangle 16"/>
          <p:cNvSpPr/>
          <p:nvPr/>
        </p:nvSpPr>
        <p:spPr>
          <a:xfrm>
            <a:off x="8848790" y="3145536"/>
            <a:ext cx="2812552"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0" name="Oval 19"/>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22" name="Oval 21"/>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4" name="Oval 2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6" name="Oval 25"/>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8" name="Oval 27"/>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0" name="Oval 29"/>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two 10 percent lifts make 20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 proposes funding both branches and adds the lifts.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"Fund acquisition and retention together: 10 percent more customers and 10 percent more orders each make 20 percent growth, Rs 6,53,772."</a:t>
            </a:r>
          </a:p>
        </p:txBody>
      </p:sp>
      <p:sp>
        <p:nvSpPr>
          <p:cNvPr id="12" name="TextBox 11"/>
          <p:cNvSpPr txBox="1"/>
          <p:nvPr/>
        </p:nvSpPr>
        <p:spPr>
          <a:xfrm>
            <a:off x="530352" y="2929128"/>
            <a:ext cx="5428335"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13" name="TextBox 12"/>
          <p:cNvSpPr txBox="1"/>
          <p:nvPr/>
        </p:nvSpPr>
        <p:spPr>
          <a:xfrm>
            <a:off x="530352" y="36642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SLIDE'S GROWTH</a:t>
            </a:r>
          </a:p>
        </p:txBody>
      </p:sp>
      <p:sp>
        <p:nvSpPr>
          <p:cNvPr id="14" name="TextBox 13"/>
          <p:cNvSpPr txBox="1"/>
          <p:nvPr/>
        </p:nvSpPr>
        <p:spPr>
          <a:xfrm>
            <a:off x="530352" y="3865372"/>
            <a:ext cx="5428335" cy="193421"/>
          </a:xfrm>
          <a:prstGeom prst="rect">
            <a:avLst/>
          </a:prstGeom>
          <a:noFill/>
        </p:spPr>
        <p:txBody>
          <a:bodyPr wrap="square" anchor="t" lIns="0" rIns="0" tIns="0" bIns="0">
            <a:spAutoFit/>
          </a:bodyPr>
          <a:lstStyle/>
          <a:p>
            <a:pPr algn="l"/>
            <a:r>
              <a:rPr sz="950" b="0" i="0">
                <a:solidFill>
                  <a:srgbClr val="6B6690"/>
                </a:solidFill>
                <a:latin typeface="Calibri"/>
              </a:rPr>
              <a:t>10 plus 10</a:t>
            </a:r>
          </a:p>
        </p:txBody>
      </p:sp>
      <p:sp>
        <p:nvSpPr>
          <p:cNvPr id="15" name="Rectangle 14"/>
          <p:cNvSpPr/>
          <p:nvPr/>
        </p:nvSpPr>
        <p:spPr>
          <a:xfrm>
            <a:off x="530352" y="41178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33007" y="2929128"/>
            <a:ext cx="5428335" cy="698500"/>
          </a:xfrm>
          <a:prstGeom prst="rect">
            <a:avLst/>
          </a:prstGeom>
          <a:noFill/>
        </p:spPr>
        <p:txBody>
          <a:bodyPr wrap="square" anchor="t" lIns="0" rIns="0" tIns="0" bIns="0">
            <a:spAutoFit/>
          </a:bodyPr>
          <a:lstStyle/>
          <a:p>
            <a:pPr algn="l"/>
            <a:r>
              <a:rPr sz="4400" b="0" i="0">
                <a:solidFill>
                  <a:srgbClr val="5B3FD6"/>
                </a:solidFill>
                <a:latin typeface="Georgia"/>
              </a:rPr>
              <a:t>Rs 6,53,772</a:t>
            </a:r>
          </a:p>
        </p:txBody>
      </p:sp>
      <p:sp>
        <p:nvSpPr>
          <p:cNvPr id="17" name="TextBox 16"/>
          <p:cNvSpPr txBox="1"/>
          <p:nvPr/>
        </p:nvSpPr>
        <p:spPr>
          <a:xfrm>
            <a:off x="6233007" y="36642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SLIDE'S REVENUE</a:t>
            </a:r>
          </a:p>
        </p:txBody>
      </p:sp>
      <p:sp>
        <p:nvSpPr>
          <p:cNvPr id="18" name="TextBox 17"/>
          <p:cNvSpPr txBox="1"/>
          <p:nvPr/>
        </p:nvSpPr>
        <p:spPr>
          <a:xfrm>
            <a:off x="6233007" y="3865372"/>
            <a:ext cx="5428335" cy="193421"/>
          </a:xfrm>
          <a:prstGeom prst="rect">
            <a:avLst/>
          </a:prstGeom>
          <a:noFill/>
        </p:spPr>
        <p:txBody>
          <a:bodyPr wrap="square" anchor="t" lIns="0" rIns="0" tIns="0" bIns="0">
            <a:spAutoFit/>
          </a:bodyPr>
          <a:lstStyle/>
          <a:p>
            <a:pPr algn="l"/>
            <a:r>
              <a:rPr sz="950" b="0" i="0">
                <a:solidFill>
                  <a:srgbClr val="6B6690"/>
                </a:solidFill>
                <a:latin typeface="Calibri"/>
              </a:rPr>
              <a:t>Rs 5,44,810 x 1.20</a:t>
            </a:r>
          </a:p>
        </p:txBody>
      </p:sp>
      <p:sp>
        <p:nvSpPr>
          <p:cNvPr id="19" name="Rectangle 18"/>
          <p:cNvSpPr/>
          <p:nvPr/>
        </p:nvSpPr>
        <p:spPr>
          <a:xfrm>
            <a:off x="6233007" y="41178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0352" y="439216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slide's arithmetic is the one most rooms do in their heads.</a:t>
            </a:r>
          </a:p>
        </p:txBody>
      </p:sp>
      <p:sp>
        <p:nvSpPr>
          <p:cNvPr id="21" name="Oval 2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3" name="Oval 2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25" name="Oval 2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7" name="Oval 2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9" name="Oval 28"/>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1" name="Oval 30"/>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3" name="Oval 32"/>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recompute through the tree, 21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second lift applies to a customer base already 10 percent larger.</a:t>
            </a:r>
          </a:p>
        </p:txBody>
      </p:sp>
      <p:pic>
        <p:nvPicPr>
          <p:cNvPr id="9" name="mermaid diagram" descr="949233ebfac9713a.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1.10 x 1.10 = 1.21: Rs 6,59,220, Rs 5,448 above the slide. The line is the added figure and the bars the multiplied one; the gap grows with the lifts.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5" name="Oval 1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lift as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base, two lifts of Rs 54,481 each, and the lift on the lift of Rs 5,448.</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8605408"/>
                <a:gridCol w="2525582"/>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Rs</a:t>
                      </a:r>
                    </a:p>
                  </a:txBody>
                  <a:tcPr marL="101600" marR="101600" marT="38100" marB="38100" anchor="ctr">
                    <a:solidFill>
                      <a:srgbClr val="1A0F5C"/>
                    </a:solidFill>
                  </a:tcPr>
                </a:tc>
              </a:tr>
              <a:tr h="369824">
                <a:tc>
                  <a:txBody>
                    <a:bodyPr/>
                    <a:lstStyle/>
                    <a:p>
                      <a:r>
                        <a:rPr sz="1400" b="0" i="0">
                          <a:solidFill>
                            <a:srgbClr val="1A1440"/>
                          </a:solidFill>
                          <a:latin typeface="Calibri"/>
                        </a:rPr>
                        <a:t>Booked, this quarter</a:t>
                      </a:r>
                    </a:p>
                  </a:txBody>
                  <a:tcPr marL="101600" marR="101600" marT="38100" marB="38100" anchor="ctr">
                    <a:solidFill>
                      <a:srgbClr val="FFFFFF"/>
                    </a:solidFill>
                  </a:tcPr>
                </a:tc>
                <a:tc>
                  <a:txBody>
                    <a:bodyPr/>
                    <a:lstStyle/>
                    <a:p>
                      <a:r>
                        <a:rPr sz="1400" b="0" i="0">
                          <a:solidFill>
                            <a:srgbClr val="1A1440"/>
                          </a:solidFill>
                          <a:latin typeface="Calibri"/>
                        </a:rPr>
                        <a:t>5,44,810</a:t>
                      </a:r>
                    </a:p>
                  </a:txBody>
                  <a:tcPr marL="101600" marR="101600" marT="38100" marB="38100" anchor="ctr">
                    <a:solidFill>
                      <a:srgbClr val="FFFFFF"/>
                    </a:solidFill>
                  </a:tcPr>
                </a:tc>
              </a:tr>
              <a:tr h="369824">
                <a:tc>
                  <a:txBody>
                    <a:bodyPr/>
                    <a:lstStyle/>
                    <a:p>
                      <a:r>
                        <a:rPr sz="1400" b="0" i="0">
                          <a:solidFill>
                            <a:srgbClr val="1A1440"/>
                          </a:solidFill>
                          <a:latin typeface="Calibri"/>
                        </a:rPr>
                        <a:t>Customers up 10 percent</a:t>
                      </a:r>
                    </a:p>
                  </a:txBody>
                  <a:tcPr marL="101600" marR="101600" marT="38100" marB="38100" anchor="ctr">
                    <a:solidFill>
                      <a:srgbClr val="F4F2FA"/>
                    </a:solidFill>
                  </a:tcPr>
                </a:tc>
                <a:tc>
                  <a:txBody>
                    <a:bodyPr/>
                    <a:lstStyle/>
                    <a:p>
                      <a:r>
                        <a:rPr sz="1400" b="0" i="0">
                          <a:solidFill>
                            <a:srgbClr val="1A1440"/>
                          </a:solidFill>
                          <a:latin typeface="Calibri"/>
                        </a:rPr>
                        <a:t>54,481</a:t>
                      </a:r>
                    </a:p>
                  </a:txBody>
                  <a:tcPr marL="101600" marR="101600" marT="38100" marB="38100" anchor="ctr">
                    <a:solidFill>
                      <a:srgbClr val="F4F2FA"/>
                    </a:solidFill>
                  </a:tcPr>
                </a:tc>
              </a:tr>
              <a:tr h="369824">
                <a:tc>
                  <a:txBody>
                    <a:bodyPr/>
                    <a:lstStyle/>
                    <a:p>
                      <a:r>
                        <a:rPr sz="1400" b="0" i="0">
                          <a:solidFill>
                            <a:srgbClr val="1A1440"/>
                          </a:solidFill>
                          <a:latin typeface="Calibri"/>
                        </a:rPr>
                        <a:t>Orders per customer up 10 percent</a:t>
                      </a:r>
                    </a:p>
                  </a:txBody>
                  <a:tcPr marL="101600" marR="101600" marT="38100" marB="38100" anchor="ctr">
                    <a:solidFill>
                      <a:srgbClr val="FFFFFF"/>
                    </a:solidFill>
                  </a:tcPr>
                </a:tc>
                <a:tc>
                  <a:txBody>
                    <a:bodyPr/>
                    <a:lstStyle/>
                    <a:p>
                      <a:r>
                        <a:rPr sz="1400" b="0" i="0">
                          <a:solidFill>
                            <a:srgbClr val="1A1440"/>
                          </a:solidFill>
                          <a:latin typeface="Calibri"/>
                        </a:rPr>
                        <a:t>54,481</a:t>
                      </a:r>
                    </a:p>
                  </a:txBody>
                  <a:tcPr marL="101600" marR="101600" marT="38100" marB="38100" anchor="ctr">
                    <a:solidFill>
                      <a:srgbClr val="FFFFFF"/>
                    </a:solidFill>
                  </a:tcPr>
                </a:tc>
              </a:tr>
              <a:tr h="369824">
                <a:tc>
                  <a:txBody>
                    <a:bodyPr/>
                    <a:lstStyle/>
                    <a:p>
                      <a:r>
                        <a:rPr sz="1400" b="0" i="0">
                          <a:solidFill>
                            <a:srgbClr val="1A1440"/>
                          </a:solidFill>
                          <a:latin typeface="Calibri"/>
                        </a:rPr>
                        <a:t>The lift on the lift, 0.10 x 0.10</a:t>
                      </a:r>
                    </a:p>
                  </a:txBody>
                  <a:tcPr marL="101600" marR="101600" marT="38100" marB="38100" anchor="ctr">
                    <a:solidFill>
                      <a:srgbClr val="F4F2FA"/>
                    </a:solidFill>
                  </a:tcPr>
                </a:tc>
                <a:tc>
                  <a:txBody>
                    <a:bodyPr/>
                    <a:lstStyle/>
                    <a:p>
                      <a:r>
                        <a:rPr sz="1400" b="0" i="0">
                          <a:solidFill>
                            <a:srgbClr val="1A1440"/>
                          </a:solidFill>
                          <a:latin typeface="Calibri"/>
                        </a:rPr>
                        <a:t>5,448</a:t>
                      </a:r>
                    </a:p>
                  </a:txBody>
                  <a:tcPr marL="101600" marR="101600" marT="38100" marB="38100" anchor="ctr">
                    <a:solidFill>
                      <a:srgbClr val="F4F2FA"/>
                    </a:solidFill>
                  </a:tcPr>
                </a:tc>
              </a:tr>
              <a:tr h="369824">
                <a:tc>
                  <a:txBody>
                    <a:bodyPr/>
                    <a:lstStyle/>
                    <a:p>
                      <a:r>
                        <a:rPr sz="1400" b="0" i="0">
                          <a:solidFill>
                            <a:srgbClr val="1A1440"/>
                          </a:solidFill>
                          <a:latin typeface="Calibri"/>
                        </a:rPr>
                        <a:t>After both lifts</a:t>
                      </a:r>
                    </a:p>
                  </a:txBody>
                  <a:tcPr marL="101600" marR="101600" marT="38100" marB="38100" anchor="ctr">
                    <a:solidFill>
                      <a:srgbClr val="FFFFFF"/>
                    </a:solidFill>
                  </a:tcPr>
                </a:tc>
                <a:tc>
                  <a:txBody>
                    <a:bodyPr/>
                    <a:lstStyle/>
                    <a:p>
                      <a:r>
                        <a:rPr sz="1400" b="0" i="0">
                          <a:solidFill>
                            <a:srgbClr val="1A1440"/>
                          </a:solidFill>
                          <a:latin typeface="Calibri"/>
                        </a:rPr>
                        <a:t>6,59,220</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640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873752"/>
            <a:ext cx="237744" cy="237744"/>
          </a:xfrm>
          <a:prstGeom prst="rect">
            <a:avLst/>
          </a:prstGeom>
        </p:spPr>
      </p:pic>
      <p:sp>
        <p:nvSpPr>
          <p:cNvPr id="13" name="TextBox 12"/>
          <p:cNvSpPr txBox="1"/>
          <p:nvPr/>
        </p:nvSpPr>
        <p:spPr>
          <a:xfrm>
            <a:off x="1399031" y="45780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797552"/>
            <a:ext cx="9987991" cy="682752"/>
          </a:xfrm>
          <a:prstGeom prst="rect">
            <a:avLst/>
          </a:prstGeom>
          <a:noFill/>
        </p:spPr>
        <p:txBody>
          <a:bodyPr wrap="square" anchor="t" lIns="0" rIns="0" tIns="0" bIns="0">
            <a:spAutoFit/>
          </a:bodyPr>
          <a:lstStyle/>
          <a:p>
            <a:r>
              <a:rPr sz="1500" b="0" i="0">
                <a:solidFill>
                  <a:srgbClr val="1A1440"/>
                </a:solidFill>
                <a:latin typeface="Calibri"/>
              </a:rPr>
              <a:t>Multiply the factors for the total; build the parts when someone asks where the extra came from, since the lift on the lift shows as its own line.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9" name="Oval 18"/>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5" name="Oval 24"/>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opens frequency, and knows the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branch the evidence points at, and the arithmetic whichever branch is funded.</a:t>
            </a:r>
          </a:p>
        </p:txBody>
      </p:sp>
      <p:pic>
        <p:nvPicPr>
          <p:cNvPr id="9" name="mermaid diagram" descr="83705bd7409f06e1.png"/>
          <p:cNvPicPr>
            <a:picLocks noChangeAspect="1"/>
          </p:cNvPicPr>
          <p:nvPr/>
        </p:nvPicPr>
        <p:blipFill>
          <a:blip r:embed="rId7"/>
          <a:stretch>
            <a:fillRect/>
          </a:stretch>
        </p:blipFill>
        <p:spPr>
          <a:xfrm>
            <a:off x="2152497" y="1883092"/>
            <a:ext cx="7886700" cy="1857375"/>
          </a:xfrm>
          <a:prstGeom prst="rect">
            <a:avLst/>
          </a:prstGeom>
        </p:spPr>
      </p:pic>
      <p:sp>
        <p:nvSpPr>
          <p:cNvPr id="10" name="Rounded Rectangle 9"/>
          <p:cNvSpPr/>
          <p:nvPr/>
        </p:nvSpPr>
        <p:spPr>
          <a:xfrm>
            <a:off x="530352" y="400507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373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447032"/>
            <a:ext cx="237744" cy="237744"/>
          </a:xfrm>
          <a:prstGeom prst="rect">
            <a:avLst/>
          </a:prstGeom>
        </p:spPr>
      </p:pic>
      <p:sp>
        <p:nvSpPr>
          <p:cNvPr id="13" name="TextBox 12"/>
          <p:cNvSpPr txBox="1"/>
          <p:nvPr/>
        </p:nvSpPr>
        <p:spPr>
          <a:xfrm>
            <a:off x="1399031" y="4151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370832"/>
            <a:ext cx="9987991" cy="682752"/>
          </a:xfrm>
          <a:prstGeom prst="rect">
            <a:avLst/>
          </a:prstGeom>
          <a:noFill/>
        </p:spPr>
        <p:txBody>
          <a:bodyPr wrap="square" anchor="t" lIns="0" rIns="0" tIns="0" bIns="0">
            <a:spAutoFit/>
          </a:bodyPr>
          <a:lstStyle/>
          <a:p>
            <a:r>
              <a:rPr sz="1500" b="0" i="0">
                <a:solidFill>
                  <a:srgbClr val="1A1440"/>
                </a:solidFill>
                <a:latin typeface="Calibri"/>
              </a:rPr>
              <a:t>"Pick the branch the evidence points at and the one that costs least to test, then say what would make you pick another. And recompute anything someone adds up."</a:t>
            </a:r>
          </a:p>
        </p:txBody>
      </p:sp>
      <p:sp>
        <p:nvSpPr>
          <p:cNvPr id="15" name="Rounded Rectangle 14"/>
          <p:cNvSpPr/>
          <p:nvPr/>
        </p:nvSpPr>
        <p:spPr>
          <a:xfrm>
            <a:off x="530352" y="529132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6235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733288"/>
            <a:ext cx="237744" cy="237744"/>
          </a:xfrm>
          <a:prstGeom prst="rect">
            <a:avLst/>
          </a:prstGeom>
        </p:spPr>
      </p:pic>
      <p:sp>
        <p:nvSpPr>
          <p:cNvPr id="18" name="TextBox 17"/>
          <p:cNvSpPr txBox="1"/>
          <p:nvPr/>
        </p:nvSpPr>
        <p:spPr>
          <a:xfrm>
            <a:off x="1399031" y="54376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57088"/>
            <a:ext cx="9987991" cy="682752"/>
          </a:xfrm>
          <a:prstGeom prst="rect">
            <a:avLst/>
          </a:prstGeom>
          <a:noFill/>
        </p:spPr>
        <p:txBody>
          <a:bodyPr wrap="square" anchor="t" lIns="0" rIns="0" tIns="0" bIns="0">
            <a:spAutoFit/>
          </a:bodyPr>
          <a:lstStyle/>
          <a:p>
            <a:r>
              <a:rPr sz="1500" b="0" i="0">
                <a:solidFill>
                  <a:srgbClr val="1A1440"/>
                </a:solidFill>
                <a:latin typeface="Calibri"/>
              </a:rPr>
              <a:t>[D] Marketing wants budget for acquisition; what would you check before agreeing it is the right branch, and how would you say no?</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2" name="Oval 2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24" name="Oval 2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6" name="Oval 2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8" name="Oval 2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0" name="Oval 29"/>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2" name="Oval 31"/>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sentence Meera acts on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One sentence she can sign against, and the one number in it most likely to be misread.</a:t>
            </a:r>
          </a:p>
        </p:txBody>
      </p:sp>
      <p:sp>
        <p:nvSpPr>
          <p:cNvPr id="10" name="Rounded Rectangle 9"/>
          <p:cNvSpPr/>
          <p:nvPr/>
        </p:nvSpPr>
        <p:spPr>
          <a:xfrm>
            <a:off x="731519"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194219" y="5074920"/>
            <a:ext cx="180066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sentence Meera acts on</a:t>
            </a:r>
          </a:p>
        </p:txBody>
      </p:sp>
      <p:sp>
        <p:nvSpPr>
          <p:cNvPr id="12" name="Rounded Rectangle 11"/>
          <p:cNvSpPr/>
          <p:nvPr/>
        </p:nvSpPr>
        <p:spPr>
          <a:xfrm>
            <a:off x="4104613"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3" name="Rounded Rectangle 12"/>
          <p:cNvSpPr/>
          <p:nvPr/>
        </p:nvSpPr>
        <p:spPr>
          <a:xfrm>
            <a:off x="5567312" y="5074920"/>
            <a:ext cx="1688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4" name="Rounded Rectangle 13"/>
          <p:cNvSpPr/>
          <p:nvPr/>
        </p:nvSpPr>
        <p:spPr>
          <a:xfrm>
            <a:off x="7365782" y="5074920"/>
            <a:ext cx="1744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5" name="Rounded Rectangle 14"/>
          <p:cNvSpPr/>
          <p:nvPr/>
        </p:nvSpPr>
        <p:spPr>
          <a:xfrm>
            <a:off x="9220214" y="5074920"/>
            <a:ext cx="14089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6" name="Rounded Rectangle 15"/>
          <p:cNvSpPr/>
          <p:nvPr/>
        </p:nvSpPr>
        <p:spPr>
          <a:xfrm>
            <a:off x="10738875" y="5074920"/>
            <a:ext cx="8493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will read one sentence, and so will marketing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answer, the evidence and its limit, in the time it takes to read one line.</a:t>
            </a:r>
          </a:p>
        </p:txBody>
      </p:sp>
      <p:graphicFrame>
        <p:nvGraphicFramePr>
          <p:cNvPr id="9" name="Table 8"/>
          <p:cNvGraphicFramePr>
            <a:graphicFrameLocks noGrp="1"/>
          </p:cNvGraphicFramePr>
          <p:nvPr/>
        </p:nvGraphicFramePr>
        <p:xfrm>
          <a:off x="530352" y="1956816"/>
          <a:ext cx="11130991" cy="1351280"/>
        </p:xfrm>
        <a:graphic>
          <a:graphicData uri="http://schemas.openxmlformats.org/drawingml/2006/table">
            <a:tbl>
              <a:tblPr firstRow="0" bandRow="0">
                <a:tableStyleId>{2D5ABB26-0587-4C30-8999-92F81FD0307C}</a:tableStyleId>
              </a:tblPr>
              <a:tblGrid>
                <a:gridCol w="3468944"/>
                <a:gridCol w="7662047"/>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The repeat picture: who came back, who has not, who has not had time to</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signs; Kavya reviews first; the marketing lead reads it for its weakest number</a:t>
                      </a:r>
                    </a:p>
                  </a:txBody>
                  <a:tcPr marL="101600" marR="101600" marT="38100" marB="38100" anchor="ctr">
                    <a:solidFill>
                      <a:srgbClr val="FFFFFF"/>
                    </a:solidFill>
                  </a:tcPr>
                </a:tc>
              </a:tr>
              <a:tr h="369824">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claim marketing knocks down in one question, and the trust the week depends on</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0" name="Oval 19"/>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2" name="Oval 21"/>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Klarna's first month was not its verdict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first window's number, and what fifteen months later showed.</a:t>
            </a:r>
          </a:p>
        </p:txBody>
      </p:sp>
      <p:sp>
        <p:nvSpPr>
          <p:cNvPr id="9" name="Rectangle 8"/>
          <p:cNvSpPr/>
          <p:nvPr/>
        </p:nvSpPr>
        <p:spPr>
          <a:xfrm>
            <a:off x="3267379" y="2523744"/>
            <a:ext cx="5656935"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FEBRUARY 2024</a:t>
            </a:r>
          </a:p>
        </p:txBody>
      </p:sp>
      <p:sp>
        <p:nvSpPr>
          <p:cNvPr id="11" name="Oval 10"/>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547405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5144871" cy="251205"/>
          </a:xfrm>
          <a:prstGeom prst="rect">
            <a:avLst/>
          </a:prstGeom>
          <a:noFill/>
        </p:spPr>
        <p:txBody>
          <a:bodyPr wrap="square" anchor="t" lIns="0" rIns="0" tIns="0" bIns="0">
            <a:spAutoFit/>
          </a:bodyPr>
          <a:lstStyle/>
          <a:p>
            <a:pPr algn="l"/>
            <a:r>
              <a:rPr sz="1300" b="1" i="0">
                <a:solidFill>
                  <a:srgbClr val="1A0F5C"/>
                </a:solidFill>
                <a:latin typeface="Calibri"/>
              </a:rPr>
              <a:t>Two-thirds of chats</a:t>
            </a:r>
          </a:p>
        </p:txBody>
      </p:sp>
      <p:sp>
        <p:nvSpPr>
          <p:cNvPr id="14" name="TextBox 13"/>
          <p:cNvSpPr txBox="1"/>
          <p:nvPr/>
        </p:nvSpPr>
        <p:spPr>
          <a:xfrm>
            <a:off x="694944" y="3277870"/>
            <a:ext cx="5144871" cy="366776"/>
          </a:xfrm>
          <a:prstGeom prst="rect">
            <a:avLst/>
          </a:prstGeom>
          <a:noFill/>
        </p:spPr>
        <p:txBody>
          <a:bodyPr wrap="square" anchor="t" lIns="0" rIns="0" tIns="0" bIns="0">
            <a:spAutoFit/>
          </a:bodyPr>
          <a:lstStyle/>
          <a:p>
            <a:pPr algn="l"/>
            <a:r>
              <a:rPr sz="1000" b="0" i="0">
                <a:solidFill>
                  <a:srgbClr val="6B6690"/>
                </a:solidFill>
                <a:latin typeface="Calibri"/>
              </a:rPr>
              <a:t>Klarna reported its AI assistant handled two-thirds of customer-service chats in its first month (Klarna, 27 February 2024).</a:t>
            </a:r>
          </a:p>
        </p:txBody>
      </p:sp>
      <p:sp>
        <p:nvSpPr>
          <p:cNvPr id="15" name="TextBox 14"/>
          <p:cNvSpPr txBox="1"/>
          <p:nvPr/>
        </p:nvSpPr>
        <p:spPr>
          <a:xfrm>
            <a:off x="6187287" y="1956816"/>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MAY 2025</a:t>
            </a:r>
          </a:p>
        </p:txBody>
      </p:sp>
      <p:sp>
        <p:nvSpPr>
          <p:cNvPr id="16" name="Oval 15"/>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187287" y="2843784"/>
            <a:ext cx="547405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351879" y="2990088"/>
            <a:ext cx="5144871" cy="251205"/>
          </a:xfrm>
          <a:prstGeom prst="rect">
            <a:avLst/>
          </a:prstGeom>
          <a:noFill/>
        </p:spPr>
        <p:txBody>
          <a:bodyPr wrap="square" anchor="t" lIns="0" rIns="0" tIns="0" bIns="0">
            <a:spAutoFit/>
          </a:bodyPr>
          <a:lstStyle/>
          <a:p>
            <a:pPr algn="l"/>
            <a:r>
              <a:rPr sz="1300" b="1" i="0">
                <a:solidFill>
                  <a:srgbClr val="1A0F5C"/>
                </a:solidFill>
                <a:latin typeface="Calibri"/>
              </a:rPr>
              <a:t>The cost of cost</a:t>
            </a:r>
          </a:p>
        </p:txBody>
      </p:sp>
      <p:sp>
        <p:nvSpPr>
          <p:cNvPr id="19" name="TextBox 18"/>
          <p:cNvSpPr txBox="1"/>
          <p:nvPr/>
        </p:nvSpPr>
        <p:spPr>
          <a:xfrm>
            <a:off x="6351879" y="3277870"/>
            <a:ext cx="5144871" cy="366776"/>
          </a:xfrm>
          <a:prstGeom prst="rect">
            <a:avLst/>
          </a:prstGeom>
          <a:noFill/>
        </p:spPr>
        <p:txBody>
          <a:bodyPr wrap="square" anchor="t" lIns="0" rIns="0" tIns="0" bIns="0">
            <a:spAutoFit/>
          </a:bodyPr>
          <a:lstStyle/>
          <a:p>
            <a:pPr algn="l"/>
            <a:r>
              <a:rPr sz="1000" b="0" i="0">
                <a:solidFill>
                  <a:srgbClr val="6B6690"/>
                </a:solidFill>
                <a:latin typeface="Calibri"/>
              </a:rPr>
              <a:t>Its chief executive said the focus on cost had lowered quality, and customers would always reach a human (Fortune, 9 May 2025).</a:t>
            </a:r>
          </a:p>
        </p:txBody>
      </p:sp>
      <p:sp>
        <p:nvSpPr>
          <p:cNvPr id="20" name="TextBox 19"/>
          <p:cNvSpPr txBox="1"/>
          <p:nvPr/>
        </p:nvSpPr>
        <p:spPr>
          <a:xfrm>
            <a:off x="530352" y="41036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number from one window, read as the verdict, is the risk this chapter's caveat guards against.</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25" name="Oval 2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7" name="Oval 2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9" name="Oval 28"/>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1" name="Oval 30"/>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3" name="Oval 32"/>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sentence carries the decision and its limit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ways to answer, sized in Meera's reading time.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4717907"/>
                <a:gridCol w="1792683"/>
                <a:gridCol w="462040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Reading time</a:t>
                      </a:r>
                    </a:p>
                  </a:txBody>
                  <a:tcPr marL="101600" marR="101600" marT="38100" marB="38100" anchor="ctr">
                    <a:solidFill>
                      <a:srgbClr val="1A0F5C"/>
                    </a:solidFill>
                  </a:tcPr>
                </a:tc>
                <a:tc>
                  <a:txBody>
                    <a:bodyPr/>
                    <a:lstStyle/>
                    <a:p>
                      <a:r>
                        <a:rPr sz="1450" b="1" i="0">
                          <a:solidFill>
                            <a:srgbClr val="FFFFFF"/>
                          </a:solidFill>
                          <a:latin typeface="Calibri"/>
                        </a:rPr>
                        <a:t>Carries a decision?</a:t>
                      </a:r>
                    </a:p>
                  </a:txBody>
                  <a:tcPr marL="101600" marR="101600" marT="38100" marB="38100" anchor="ctr">
                    <a:solidFill>
                      <a:srgbClr val="1A0F5C"/>
                    </a:solidFill>
                  </a:tcPr>
                </a:tc>
              </a:tr>
              <a:tr h="369824">
                <a:tc>
                  <a:txBody>
                    <a:bodyPr/>
                    <a:lstStyle/>
                    <a:p>
                      <a:r>
                        <a:rPr sz="1400" b="0" i="0">
                          <a:solidFill>
                            <a:srgbClr val="1A1440"/>
                          </a:solidFill>
                          <a:latin typeface="Calibri"/>
                        </a:rPr>
                        <a:t>A. One number, 1.30 orders each</a:t>
                      </a:r>
                    </a:p>
                  </a:txBody>
                  <a:tcPr marL="101600" marR="101600" marT="38100" marB="38100" anchor="ctr">
                    <a:solidFill>
                      <a:srgbClr val="FFFFFF"/>
                    </a:solidFill>
                  </a:tcPr>
                </a:tc>
                <a:tc>
                  <a:txBody>
                    <a:bodyPr/>
                    <a:lstStyle/>
                    <a:p>
                      <a:r>
                        <a:rPr sz="1400" b="0" i="0">
                          <a:solidFill>
                            <a:srgbClr val="1A1440"/>
                          </a:solidFill>
                          <a:latin typeface="Calibri"/>
                        </a:rPr>
                        <a:t>2 seconds</a:t>
                      </a:r>
                    </a:p>
                  </a:txBody>
                  <a:tcPr marL="101600" marR="101600" marT="38100" marB="38100" anchor="ctr">
                    <a:solidFill>
                      <a:srgbClr val="FFFFFF"/>
                    </a:solidFill>
                  </a:tcPr>
                </a:tc>
                <a:tc>
                  <a:txBody>
                    <a:bodyPr/>
                    <a:lstStyle/>
                    <a:p>
                      <a:r>
                        <a:rPr sz="1400" b="0" i="0">
                          <a:solidFill>
                            <a:srgbClr val="1A1440"/>
                          </a:solidFill>
                          <a:latin typeface="Calibri"/>
                        </a:rPr>
                        <a:t>No; she supplies the meaning.</a:t>
                      </a:r>
                    </a:p>
                  </a:txBody>
                  <a:tcPr marL="101600" marR="101600" marT="38100" marB="38100" anchor="ctr">
                    <a:solidFill>
                      <a:srgbClr val="FFFFFF"/>
                    </a:solidFill>
                  </a:tcPr>
                </a:tc>
              </a:tr>
              <a:tr h="369824">
                <a:tc>
                  <a:txBody>
                    <a:bodyPr/>
                    <a:lstStyle/>
                    <a:p>
                      <a:r>
                        <a:rPr sz="1400" b="0" i="0">
                          <a:solidFill>
                            <a:srgbClr val="1A1440"/>
                          </a:solidFill>
                          <a:latin typeface="Calibri"/>
                        </a:rPr>
                        <a:t>B. The tree as a table</a:t>
                      </a:r>
                    </a:p>
                  </a:txBody>
                  <a:tcPr marL="101600" marR="101600" marT="38100" marB="38100" anchor="ctr">
                    <a:solidFill>
                      <a:srgbClr val="F4F2FA"/>
                    </a:solidFill>
                  </a:tcPr>
                </a:tc>
                <a:tc>
                  <a:txBody>
                    <a:bodyPr/>
                    <a:lstStyle/>
                    <a:p>
                      <a:r>
                        <a:rPr sz="1400" b="0" i="0">
                          <a:solidFill>
                            <a:srgbClr val="1A1440"/>
                          </a:solidFill>
                          <a:latin typeface="Calibri"/>
                        </a:rPr>
                        <a:t>a minute or more</a:t>
                      </a:r>
                    </a:p>
                  </a:txBody>
                  <a:tcPr marL="101600" marR="101600" marT="38100" marB="38100" anchor="ctr">
                    <a:solidFill>
                      <a:srgbClr val="F4F2FA"/>
                    </a:solidFill>
                  </a:tcPr>
                </a:tc>
                <a:tc>
                  <a:txBody>
                    <a:bodyPr/>
                    <a:lstStyle/>
                    <a:p>
                      <a:r>
                        <a:rPr sz="1400" b="0" i="0">
                          <a:solidFill>
                            <a:srgbClr val="1A1440"/>
                          </a:solidFill>
                          <a:latin typeface="Calibri"/>
                        </a:rPr>
                        <a:t>No; she picks the number that suits the room.</a:t>
                      </a:r>
                    </a:p>
                  </a:txBody>
                  <a:tcPr marL="101600" marR="101600" marT="38100" marB="38100" anchor="ctr">
                    <a:solidFill>
                      <a:srgbClr val="F4F2FA"/>
                    </a:solidFill>
                  </a:tcPr>
                </a:tc>
              </a:tr>
              <a:tr h="369824">
                <a:tc>
                  <a:txBody>
                    <a:bodyPr/>
                    <a:lstStyle/>
                    <a:p>
                      <a:r>
                        <a:rPr sz="1400" b="0" i="0">
                          <a:solidFill>
                            <a:srgbClr val="1A1440"/>
                          </a:solidFill>
                          <a:latin typeface="Calibri"/>
                        </a:rPr>
                        <a:t>C. One sentence: evidence, branch, caveat, ask</a:t>
                      </a:r>
                    </a:p>
                  </a:txBody>
                  <a:tcPr marL="101600" marR="101600" marT="38100" marB="38100" anchor="ctr">
                    <a:solidFill>
                      <a:srgbClr val="FFFFFF"/>
                    </a:solidFill>
                  </a:tcPr>
                </a:tc>
                <a:tc>
                  <a:txBody>
                    <a:bodyPr/>
                    <a:lstStyle/>
                    <a:p>
                      <a:r>
                        <a:rPr sz="1400" b="0" i="0">
                          <a:solidFill>
                            <a:srgbClr val="1A1440"/>
                          </a:solidFill>
                          <a:latin typeface="Calibri"/>
                        </a:rPr>
                        <a:t>about 20 seconds</a:t>
                      </a:r>
                    </a:p>
                  </a:txBody>
                  <a:tcPr marL="101600" marR="101600" marT="38100" marB="38100" anchor="ctr">
                    <a:solidFill>
                      <a:srgbClr val="FFFFFF"/>
                    </a:solidFill>
                  </a:tcPr>
                </a:tc>
                <a:tc>
                  <a:txBody>
                    <a:bodyPr/>
                    <a:lstStyle/>
                    <a:p>
                      <a:r>
                        <a:rPr sz="1400" b="0" i="0">
                          <a:solidFill>
                            <a:srgbClr val="1A1440"/>
                          </a:solidFill>
                          <a:latin typeface="Calibri"/>
                        </a:rPr>
                        <a:t>Yes, with its limit.</a:t>
                      </a:r>
                    </a:p>
                  </a:txBody>
                  <a:tcPr marL="101600" marR="101600" marT="38100" marB="38100" anchor="ctr">
                    <a:solidFill>
                      <a:srgbClr val="FFFFFF"/>
                    </a:solidFill>
                  </a:tcPr>
                </a:tc>
              </a:tr>
              <a:tr h="369824">
                <a:tc>
                  <a:txBody>
                    <a:bodyPr/>
                    <a:lstStyle/>
                    <a:p>
                      <a:r>
                        <a:rPr sz="1400" b="0" i="0">
                          <a:solidFill>
                            <a:srgbClr val="1A1440"/>
                          </a:solidFill>
                          <a:latin typeface="Calibri"/>
                        </a:rPr>
                        <a:t>D. A weekly dashboard</a:t>
                      </a:r>
                    </a:p>
                  </a:txBody>
                  <a:tcPr marL="101600" marR="101600" marT="38100" marB="38100" anchor="ctr">
                    <a:solidFill>
                      <a:srgbClr val="F4F2FA"/>
                    </a:solidFill>
                  </a:tcPr>
                </a:tc>
                <a:tc>
                  <a:txBody>
                    <a:bodyPr/>
                    <a:lstStyle/>
                    <a:p>
                      <a:r>
                        <a:rPr sz="1400" b="0" i="0">
                          <a:solidFill>
                            <a:srgbClr val="1A1440"/>
                          </a:solidFill>
                          <a:latin typeface="Calibri"/>
                        </a:rPr>
                        <a:t>weeks to build</a:t>
                      </a:r>
                    </a:p>
                  </a:txBody>
                  <a:tcPr marL="101600" marR="101600" marT="38100" marB="38100" anchor="ctr">
                    <a:solidFill>
                      <a:srgbClr val="F4F2FA"/>
                    </a:solidFill>
                  </a:tcPr>
                </a:tc>
                <a:tc>
                  <a:txBody>
                    <a:bodyPr/>
                    <a:lstStyle/>
                    <a:p>
                      <a:r>
                        <a:rPr sz="1400" b="0" i="0">
                          <a:solidFill>
                            <a:srgbClr val="1A1440"/>
                          </a:solidFill>
                          <a:latin typeface="Calibri"/>
                        </a:rPr>
                        <a:t>Whatever she looks at.</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50392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C is the best fit. D earns its build cost when the question turns weekly, as it does when Meera's chief of staff asks for the leadership deck in Week 2.</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19" name="Oval 18"/>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5" name="Oval 24"/>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16 of 23 bought once. How many lost?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quarter of orders, and a number that reads like churn.</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share of Kalpa's customers can you call lost: a) about 70 percent, 16 of 23; b) 30 percent, the ones who came back; c) none from this file alone, and some are too recent to judge; d) all the one-time buyers?</a:t>
            </a:r>
          </a:p>
        </p:txBody>
      </p:sp>
      <p:pic>
        <p:nvPicPr>
          <p:cNvPr id="12" name="mermaid diagram" descr="b77885d7ca9306ee.png"/>
          <p:cNvPicPr>
            <a:picLocks noChangeAspect="1"/>
          </p:cNvPicPr>
          <p:nvPr/>
        </p:nvPicPr>
        <p:blipFill>
          <a:blip r:embed="rId5"/>
          <a:stretch>
            <a:fillRect/>
          </a:stretch>
        </p:blipFill>
        <p:spPr>
          <a:xfrm>
            <a:off x="3524097" y="3195828"/>
            <a:ext cx="5143500" cy="2028825"/>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3" name="Oval 22"/>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9 of the 16 are too recent to judge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Returning customers took a median of 45 days; 9 one-time buyers bought inside the last 45.</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"16 of 23 never came back: 70 percent of our customers are lost."</a:t>
            </a:r>
          </a:p>
        </p:txBody>
      </p:sp>
      <p:sp>
        <p:nvSpPr>
          <p:cNvPr id="12" name="TextBox 11"/>
          <p:cNvSpPr txBox="1"/>
          <p:nvPr/>
        </p:nvSpPr>
        <p:spPr>
          <a:xfrm>
            <a:off x="530352" y="2662428"/>
            <a:ext cx="3527450" cy="698500"/>
          </a:xfrm>
          <a:prstGeom prst="rect">
            <a:avLst/>
          </a:prstGeom>
          <a:noFill/>
        </p:spPr>
        <p:txBody>
          <a:bodyPr wrap="square" anchor="t" lIns="0" rIns="0" tIns="0" bIns="0">
            <a:spAutoFit/>
          </a:bodyPr>
          <a:lstStyle/>
          <a:p>
            <a:pPr algn="l"/>
            <a:r>
              <a:rPr sz="4400" b="0" i="0">
                <a:solidFill>
                  <a:srgbClr val="5B3FD6"/>
                </a:solidFill>
                <a:latin typeface="Georgia"/>
              </a:rPr>
              <a:t>45 days</a:t>
            </a:r>
          </a:p>
        </p:txBody>
      </p:sp>
      <p:sp>
        <p:nvSpPr>
          <p:cNvPr id="13" name="TextBox 12"/>
          <p:cNvSpPr txBox="1"/>
          <p:nvPr/>
        </p:nvSpPr>
        <p:spPr>
          <a:xfrm>
            <a:off x="530352" y="33975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MEDIAN REPEAT GAP</a:t>
            </a:r>
          </a:p>
        </p:txBody>
      </p:sp>
      <p:sp>
        <p:nvSpPr>
          <p:cNvPr id="14" name="TextBox 13"/>
          <p:cNvSpPr txBox="1"/>
          <p:nvPr/>
        </p:nvSpPr>
        <p:spPr>
          <a:xfrm>
            <a:off x="530352" y="3598672"/>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the 7 who came back</a:t>
            </a:r>
          </a:p>
        </p:txBody>
      </p:sp>
      <p:sp>
        <p:nvSpPr>
          <p:cNvPr id="15" name="Rectangle 14"/>
          <p:cNvSpPr/>
          <p:nvPr/>
        </p:nvSpPr>
        <p:spPr>
          <a:xfrm>
            <a:off x="53035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32122" y="2662428"/>
            <a:ext cx="3527450" cy="698500"/>
          </a:xfrm>
          <a:prstGeom prst="rect">
            <a:avLst/>
          </a:prstGeom>
          <a:noFill/>
        </p:spPr>
        <p:txBody>
          <a:bodyPr wrap="square" anchor="t" lIns="0" rIns="0" tIns="0" bIns="0">
            <a:spAutoFit/>
          </a:bodyPr>
          <a:lstStyle/>
          <a:p>
            <a:pPr algn="l"/>
            <a:r>
              <a:rPr sz="4400" b="0" i="0">
                <a:solidFill>
                  <a:srgbClr val="5B3FD6"/>
                </a:solidFill>
                <a:latin typeface="Georgia"/>
              </a:rPr>
              <a:t>9</a:t>
            </a:r>
          </a:p>
        </p:txBody>
      </p:sp>
      <p:sp>
        <p:nvSpPr>
          <p:cNvPr id="17" name="TextBox 16"/>
          <p:cNvSpPr txBox="1"/>
          <p:nvPr/>
        </p:nvSpPr>
        <p:spPr>
          <a:xfrm>
            <a:off x="4332122" y="33975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TOO RECENT TO JUDGE</a:t>
            </a:r>
          </a:p>
        </p:txBody>
      </p:sp>
      <p:sp>
        <p:nvSpPr>
          <p:cNvPr id="18" name="TextBox 17"/>
          <p:cNvSpPr txBox="1"/>
          <p:nvPr/>
        </p:nvSpPr>
        <p:spPr>
          <a:xfrm>
            <a:off x="4332122" y="3598672"/>
            <a:ext cx="3527450" cy="193421"/>
          </a:xfrm>
          <a:prstGeom prst="rect">
            <a:avLst/>
          </a:prstGeom>
          <a:noFill/>
        </p:spPr>
        <p:txBody>
          <a:bodyPr wrap="square" anchor="t" lIns="0" rIns="0" tIns="0" bIns="0">
            <a:spAutoFit/>
          </a:bodyPr>
          <a:lstStyle/>
          <a:p>
            <a:pPr algn="l"/>
            <a:r>
              <a:rPr sz="950" b="0" i="0">
                <a:solidFill>
                  <a:srgbClr val="6B6690"/>
                </a:solidFill>
                <a:latin typeface="Calibri"/>
              </a:rPr>
              <a:t>bought in the last 45 days</a:t>
            </a:r>
          </a:p>
        </p:txBody>
      </p:sp>
      <p:sp>
        <p:nvSpPr>
          <p:cNvPr id="19" name="Rectangle 18"/>
          <p:cNvSpPr/>
          <p:nvPr/>
        </p:nvSpPr>
        <p:spPr>
          <a:xfrm>
            <a:off x="433212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133892" y="2662428"/>
            <a:ext cx="3527450"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21" name="TextBox 20"/>
          <p:cNvSpPr txBox="1"/>
          <p:nvPr/>
        </p:nvSpPr>
        <p:spPr>
          <a:xfrm>
            <a:off x="8133892" y="33975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HAD TIME, NOT BACK</a:t>
            </a:r>
          </a:p>
        </p:txBody>
      </p:sp>
      <p:sp>
        <p:nvSpPr>
          <p:cNvPr id="22" name="TextBox 21"/>
          <p:cNvSpPr txBox="1"/>
          <p:nvPr/>
        </p:nvSpPr>
        <p:spPr>
          <a:xfrm>
            <a:off x="8133892" y="3598672"/>
            <a:ext cx="3527450" cy="193421"/>
          </a:xfrm>
          <a:prstGeom prst="rect">
            <a:avLst/>
          </a:prstGeom>
          <a:noFill/>
        </p:spPr>
        <p:txBody>
          <a:bodyPr wrap="square" anchor="t" lIns="0" rIns="0" tIns="0" bIns="0">
            <a:spAutoFit/>
          </a:bodyPr>
          <a:lstStyle/>
          <a:p>
            <a:pPr algn="l"/>
            <a:r>
              <a:rPr sz="950" b="0" i="0">
                <a:solidFill>
                  <a:srgbClr val="6B6690"/>
                </a:solidFill>
                <a:latin typeface="Calibri"/>
              </a:rPr>
              <a:t>at most 7 of 23 look lost</a:t>
            </a:r>
          </a:p>
        </p:txBody>
      </p:sp>
      <p:sp>
        <p:nvSpPr>
          <p:cNvPr id="23" name="Rectangle 22"/>
          <p:cNvSpPr/>
          <p:nvPr/>
        </p:nvSpPr>
        <p:spPr>
          <a:xfrm>
            <a:off x="813389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530352" y="41254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758952" y="43281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list-checks_bd88901d2a37.png"/>
          <p:cNvPicPr>
            <a:picLocks noChangeAspect="1"/>
          </p:cNvPicPr>
          <p:nvPr/>
        </p:nvPicPr>
        <p:blipFill>
          <a:blip r:embed="rId4"/>
          <a:stretch>
            <a:fillRect/>
          </a:stretch>
        </p:blipFill>
        <p:spPr>
          <a:xfrm>
            <a:off x="868680" y="4437888"/>
            <a:ext cx="237744" cy="237744"/>
          </a:xfrm>
          <a:prstGeom prst="rect">
            <a:avLst/>
          </a:prstGeom>
        </p:spPr>
      </p:pic>
      <p:sp>
        <p:nvSpPr>
          <p:cNvPr id="27" name="TextBox 26"/>
          <p:cNvSpPr txBox="1"/>
          <p:nvPr/>
        </p:nvSpPr>
        <p:spPr>
          <a:xfrm>
            <a:off x="1399031" y="42717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8" name="TextBox 27"/>
          <p:cNvSpPr txBox="1"/>
          <p:nvPr/>
        </p:nvSpPr>
        <p:spPr>
          <a:xfrm>
            <a:off x="1399031" y="4491228"/>
            <a:ext cx="9987991" cy="423672"/>
          </a:xfrm>
          <a:prstGeom prst="rect">
            <a:avLst/>
          </a:prstGeom>
          <a:noFill/>
        </p:spPr>
        <p:txBody>
          <a:bodyPr wrap="square" anchor="t" lIns="0" rIns="0" tIns="0" bIns="0">
            <a:spAutoFit/>
          </a:bodyPr>
          <a:lstStyle/>
          <a:p>
            <a:r>
              <a:rPr sz="1500" b="0" i="0">
                <a:solidFill>
                  <a:srgbClr val="1A1440"/>
                </a:solidFill>
                <a:latin typeface="Calibri"/>
              </a:rPr>
              <a:t>The answer is c. A one-time buyer is not a lost customer until they have had time to come back.</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31" name="Oval 30"/>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33" name="Oval 32"/>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5" name="Oval 34"/>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7" name="Oval 36"/>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9" name="Oval 38"/>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1" name="Oval 40"/>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built from the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Evidence with its window, the branch, the caveat, and the ask, in that order.</a:t>
            </a:r>
          </a:p>
        </p:txBody>
      </p:sp>
      <p:sp>
        <p:nvSpPr>
          <p:cNvPr id="9" name="Rounded Rectangle 8"/>
          <p:cNvSpPr/>
          <p:nvPr/>
        </p:nvSpPr>
        <p:spPr>
          <a:xfrm>
            <a:off x="530352" y="195681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7 came back, 7 have had time and not returned, and 9 bought too recently to judge,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data and AI team, to Meera Raghavan</a:t>
            </a:r>
          </a:p>
        </p:txBody>
      </p:sp>
      <p:pic>
        <p:nvPicPr>
          <p:cNvPr id="11" name="mermaid diagram" descr="be30d280f8f69e24.png"/>
          <p:cNvPicPr>
            <a:picLocks noChangeAspect="1"/>
          </p:cNvPicPr>
          <p:nvPr/>
        </p:nvPicPr>
        <p:blipFill>
          <a:blip r:embed="rId5"/>
          <a:stretch>
            <a:fillRect/>
          </a:stretch>
        </p:blipFill>
        <p:spPr>
          <a:xfrm>
            <a:off x="780897" y="3698240"/>
            <a:ext cx="10629900" cy="13573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16" name="Oval 15"/>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0" name="Oval 19"/>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2" name="Oval 21"/>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4" name="Oval 23"/>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due dates give the same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Order date plus the typical gap, compared with the window's last day.</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too_recent = [c for c in once if (end - first[c]).days &lt; 45]          # recency</a:t>
            </a:r>
          </a:p>
          <a:p>
            <a:pPr>
              <a:spcAft>
                <a:spcPts val="200"/>
              </a:spcAft>
            </a:pPr>
            <a:r>
              <a:rPr sz="1400" b="0" i="0">
                <a:solidFill>
                  <a:srgbClr val="E4E1F1"/>
                </a:solidFill>
                <a:latin typeface="Consolas"/>
              </a:rPr>
              <a:t>due_late   = [c for c in once if first[c] + timedelta(days=45) &gt; end]  # due dates</a:t>
            </a:r>
          </a:p>
        </p:txBody>
      </p:sp>
      <p:sp>
        <p:nvSpPr>
          <p:cNvPr id="14" name="Rounded Rectangle 13"/>
          <p:cNvSpPr/>
          <p:nvPr/>
        </p:nvSpPr>
        <p:spPr>
          <a:xfrm>
            <a:off x="530352" y="308356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4157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3525520"/>
            <a:ext cx="237744" cy="237744"/>
          </a:xfrm>
          <a:prstGeom prst="rect">
            <a:avLst/>
          </a:prstGeom>
        </p:spPr>
      </p:pic>
      <p:sp>
        <p:nvSpPr>
          <p:cNvPr id="17" name="TextBox 16"/>
          <p:cNvSpPr txBox="1"/>
          <p:nvPr/>
        </p:nvSpPr>
        <p:spPr>
          <a:xfrm>
            <a:off x="1399031" y="32298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3449320"/>
            <a:ext cx="9987991" cy="682752"/>
          </a:xfrm>
          <a:prstGeom prst="rect">
            <a:avLst/>
          </a:prstGeom>
          <a:noFill/>
        </p:spPr>
        <p:txBody>
          <a:bodyPr wrap="square" anchor="t" lIns="0" rIns="0" tIns="0" bIns="0">
            <a:spAutoFit/>
          </a:bodyPr>
          <a:lstStyle/>
          <a:p>
            <a:r>
              <a:rPr sz="1500" b="0" i="0">
                <a:solidFill>
                  <a:srgbClr val="1A1440"/>
                </a:solidFill>
                <a:latin typeface="Calibri"/>
              </a:rPr>
              <a:t>Recency reports today's state; a due date is the day a reminder would go out. With more quarters the gap comes from hundreds of customers and the caveat shrinks.</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1" name="Oval 20"/>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23" name="Oval 22"/>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5" name="Oval 24"/>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7" name="Oval 26"/>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9" name="Oval 28"/>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1" name="Oval 30"/>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6 hands Meera a sentence she can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number defensible, the limit stated, the budget held with a date.</a:t>
            </a:r>
          </a:p>
        </p:txBody>
      </p:sp>
      <p:pic>
        <p:nvPicPr>
          <p:cNvPr id="9" name="mermaid diagram" descr="fea0e51645cce6a1.png"/>
          <p:cNvPicPr>
            <a:picLocks noChangeAspect="1"/>
          </p:cNvPicPr>
          <p:nvPr/>
        </p:nvPicPr>
        <p:blipFill>
          <a:blip r:embed="rId7"/>
          <a:stretch>
            <a:fillRect/>
          </a:stretch>
        </p:blipFill>
        <p:spPr>
          <a:xfrm>
            <a:off x="530352" y="1956816"/>
            <a:ext cx="11130991" cy="759828"/>
          </a:xfrm>
          <a:prstGeom prst="rect">
            <a:avLst/>
          </a:prstGeom>
        </p:spPr>
      </p:pic>
      <p:sp>
        <p:nvSpPr>
          <p:cNvPr id="10" name="Rounded Rectangle 9"/>
          <p:cNvSpPr/>
          <p:nvPr/>
        </p:nvSpPr>
        <p:spPr>
          <a:xfrm>
            <a:off x="530352" y="28629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1951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304908"/>
            <a:ext cx="237744" cy="237744"/>
          </a:xfrm>
          <a:prstGeom prst="rect">
            <a:avLst/>
          </a:prstGeom>
        </p:spPr>
      </p:pic>
      <p:sp>
        <p:nvSpPr>
          <p:cNvPr id="13" name="TextBox 12"/>
          <p:cNvSpPr txBox="1"/>
          <p:nvPr/>
        </p:nvSpPr>
        <p:spPr>
          <a:xfrm>
            <a:off x="1399031" y="30092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228708"/>
            <a:ext cx="9987991" cy="682752"/>
          </a:xfrm>
          <a:prstGeom prst="rect">
            <a:avLst/>
          </a:prstGeom>
          <a:noFill/>
        </p:spPr>
        <p:txBody>
          <a:bodyPr wrap="square" anchor="t" lIns="0" rIns="0" tIns="0" bIns="0">
            <a:spAutoFit/>
          </a:bodyPr>
          <a:lstStyle/>
          <a:p>
            <a:r>
              <a:rPr sz="1500" b="0" i="0">
                <a:solidFill>
                  <a:srgbClr val="1A1440"/>
                </a:solidFill>
                <a:latin typeface="Calibri"/>
              </a:rPr>
              <a:t>"This is a sentence I would take into the room: what we know, what we would do, and what we need before spending Rs 12 crore, and every number in it is one we can defend."</a:t>
            </a:r>
          </a:p>
        </p:txBody>
      </p:sp>
      <p:sp>
        <p:nvSpPr>
          <p:cNvPr id="15" name="Rounded Rectangle 14"/>
          <p:cNvSpPr/>
          <p:nvPr/>
        </p:nvSpPr>
        <p:spPr>
          <a:xfrm>
            <a:off x="530352" y="414920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43518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4461624"/>
            <a:ext cx="237744" cy="237744"/>
          </a:xfrm>
          <a:prstGeom prst="rect">
            <a:avLst/>
          </a:prstGeom>
        </p:spPr>
      </p:pic>
      <p:sp>
        <p:nvSpPr>
          <p:cNvPr id="18" name="TextBox 17"/>
          <p:cNvSpPr txBox="1"/>
          <p:nvPr/>
        </p:nvSpPr>
        <p:spPr>
          <a:xfrm>
            <a:off x="1399031" y="42955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4514964"/>
            <a:ext cx="9987991" cy="423672"/>
          </a:xfrm>
          <a:prstGeom prst="rect">
            <a:avLst/>
          </a:prstGeom>
          <a:noFill/>
        </p:spPr>
        <p:txBody>
          <a:bodyPr wrap="square" anchor="t" lIns="0" rIns="0" tIns="0" bIns="0">
            <a:spAutoFit/>
          </a:bodyPr>
          <a:lstStyle/>
          <a:p>
            <a:r>
              <a:rPr sz="1500" b="0" i="0">
                <a:solidFill>
                  <a:srgbClr val="1A1440"/>
                </a:solidFill>
                <a:latin typeface="Calibri"/>
              </a:rPr>
              <a:t>[D] You have one quarter of orders and 70 percent of customers bought once; what do you tell the CEO?</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2" name="Oval 21"/>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943671"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sentence Meera acts on</a:t>
            </a:r>
          </a:p>
        </p:txBody>
      </p:sp>
      <p:sp>
        <p:nvSpPr>
          <p:cNvPr id="24" name="Oval 2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6" name="Oval 2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8" name="Oval 2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0" name="Oval 29"/>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2" name="Oval 31"/>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A</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Anand asks for the whole answer again on what was delivered, alone, in 35 minutes.</a:t>
            </a:r>
          </a:p>
        </p:txBody>
      </p:sp>
      <p:sp>
        <p:nvSpPr>
          <p:cNvPr id="10" name="Rounded Rectangle 9"/>
          <p:cNvSpPr/>
          <p:nvPr/>
        </p:nvSpPr>
        <p:spPr>
          <a:xfrm>
            <a:off x="731519"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194219" y="5074920"/>
            <a:ext cx="18006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 Meera acts on</a:t>
            </a:r>
          </a:p>
        </p:txBody>
      </p:sp>
      <p:sp>
        <p:nvSpPr>
          <p:cNvPr id="12" name="Rounded Rectangle 11"/>
          <p:cNvSpPr/>
          <p:nvPr/>
        </p:nvSpPr>
        <p:spPr>
          <a:xfrm>
            <a:off x="4104613" y="5074920"/>
            <a:ext cx="135297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3" name="Rounded Rectangle 12"/>
          <p:cNvSpPr/>
          <p:nvPr/>
        </p:nvSpPr>
        <p:spPr>
          <a:xfrm>
            <a:off x="5567312" y="5074920"/>
            <a:ext cx="1688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4" name="Rounded Rectangle 13"/>
          <p:cNvSpPr/>
          <p:nvPr/>
        </p:nvSpPr>
        <p:spPr>
          <a:xfrm>
            <a:off x="7365782" y="5074920"/>
            <a:ext cx="1744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5" name="Rounded Rectangle 14"/>
          <p:cNvSpPr/>
          <p:nvPr/>
        </p:nvSpPr>
        <p:spPr>
          <a:xfrm>
            <a:off x="9220214" y="5074920"/>
            <a:ext cx="14089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6" name="Rounded Rectangle 15"/>
          <p:cNvSpPr/>
          <p:nvPr/>
        </p:nvSpPr>
        <p:spPr>
          <a:xfrm>
            <a:off x="10738875" y="5074920"/>
            <a:ext cx="8493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wants it on what stayed delivered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recommendation that holds on one definition only is a coincidence.</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"Booked includes orders we cancelled and orders that came back. Do it again on what was delivered and stayed delivered, and tell me whether your answer survives." Anand Iyer, finance controller</a:t>
            </a:r>
          </a:p>
        </p:txBody>
      </p:sp>
      <p:sp>
        <p:nvSpPr>
          <p:cNvPr id="14" name="Rounded Rectangle 13"/>
          <p:cNvSpPr/>
          <p:nvPr/>
        </p:nvSpPr>
        <p:spPr>
          <a:xfrm>
            <a:off x="530352"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package-check_4017756cdb47.png"/>
          <p:cNvPicPr>
            <a:picLocks noChangeAspect="1"/>
          </p:cNvPicPr>
          <p:nvPr/>
        </p:nvPicPr>
        <p:blipFill>
          <a:blip r:embed="rId5"/>
          <a:stretch>
            <a:fillRect/>
          </a:stretch>
        </p:blipFill>
        <p:spPr>
          <a:xfrm>
            <a:off x="841247" y="3553968"/>
            <a:ext cx="237744" cy="237744"/>
          </a:xfrm>
          <a:prstGeom prst="rect">
            <a:avLst/>
          </a:prstGeom>
        </p:spPr>
      </p:pic>
      <p:sp>
        <p:nvSpPr>
          <p:cNvPr id="17" name="TextBox 16"/>
          <p:cNvSpPr txBox="1"/>
          <p:nvPr/>
        </p:nvSpPr>
        <p:spPr>
          <a:xfrm>
            <a:off x="731519"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1</a:t>
            </a:r>
          </a:p>
        </p:txBody>
      </p:sp>
      <p:sp>
        <p:nvSpPr>
          <p:cNvPr id="18" name="TextBox 17"/>
          <p:cNvSpPr txBox="1"/>
          <p:nvPr/>
        </p:nvSpPr>
        <p:spPr>
          <a:xfrm>
            <a:off x="731519"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delivered leaves</a:t>
            </a:r>
          </a:p>
        </p:txBody>
      </p:sp>
      <p:sp>
        <p:nvSpPr>
          <p:cNvPr id="19" name="TextBox 18"/>
          <p:cNvSpPr txBox="1"/>
          <p:nvPr/>
        </p:nvSpPr>
        <p:spPr>
          <a:xfrm>
            <a:off x="731519" y="4820920"/>
            <a:ext cx="1677558" cy="763016"/>
          </a:xfrm>
          <a:prstGeom prst="rect">
            <a:avLst/>
          </a:prstGeom>
          <a:noFill/>
        </p:spPr>
        <p:txBody>
          <a:bodyPr wrap="square" anchor="t" lIns="0" rIns="0" tIns="0" bIns="0">
            <a:spAutoFit/>
          </a:bodyPr>
          <a:lstStyle/>
          <a:p>
            <a:pPr algn="l"/>
            <a:r>
              <a:rPr sz="1100" b="0" i="0">
                <a:solidFill>
                  <a:srgbClr val="6B6690"/>
                </a:solidFill>
                <a:latin typeface="Calibri"/>
              </a:rPr>
              <a:t>Orders, customers by id, and orders per customer, all on delivered orders.</a:t>
            </a:r>
          </a:p>
        </p:txBody>
      </p:sp>
      <p:sp>
        <p:nvSpPr>
          <p:cNvPr id="20" name="Rounded Rectangle 19"/>
          <p:cNvSpPr/>
          <p:nvPr/>
        </p:nvSpPr>
        <p:spPr>
          <a:xfrm>
            <a:off x="2793126"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2994294"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ruler_ec66f5961a99.png"/>
          <p:cNvPicPr>
            <a:picLocks noChangeAspect="1"/>
          </p:cNvPicPr>
          <p:nvPr/>
        </p:nvPicPr>
        <p:blipFill>
          <a:blip r:embed="rId6"/>
          <a:stretch>
            <a:fillRect/>
          </a:stretch>
        </p:blipFill>
        <p:spPr>
          <a:xfrm>
            <a:off x="3104022" y="3553968"/>
            <a:ext cx="237744" cy="237744"/>
          </a:xfrm>
          <a:prstGeom prst="rect">
            <a:avLst/>
          </a:prstGeom>
        </p:spPr>
      </p:pic>
      <p:sp>
        <p:nvSpPr>
          <p:cNvPr id="23" name="TextBox 22"/>
          <p:cNvSpPr txBox="1"/>
          <p:nvPr/>
        </p:nvSpPr>
        <p:spPr>
          <a:xfrm>
            <a:off x="2994294"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2</a:t>
            </a:r>
          </a:p>
        </p:txBody>
      </p:sp>
      <p:sp>
        <p:nvSpPr>
          <p:cNvPr id="24" name="TextBox 23"/>
          <p:cNvSpPr txBox="1"/>
          <p:nvPr/>
        </p:nvSpPr>
        <p:spPr>
          <a:xfrm>
            <a:off x="2994294"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typical delivered order</a:t>
            </a:r>
          </a:p>
        </p:txBody>
      </p:sp>
      <p:sp>
        <p:nvSpPr>
          <p:cNvPr id="25" name="TextBox 24"/>
          <p:cNvSpPr txBox="1"/>
          <p:nvPr/>
        </p:nvSpPr>
        <p:spPr>
          <a:xfrm>
            <a:off x="2994294" y="4820920"/>
            <a:ext cx="1677558" cy="581406"/>
          </a:xfrm>
          <a:prstGeom prst="rect">
            <a:avLst/>
          </a:prstGeom>
          <a:noFill/>
        </p:spPr>
        <p:txBody>
          <a:bodyPr wrap="square" anchor="t" lIns="0" rIns="0" tIns="0" bIns="0">
            <a:spAutoFit/>
          </a:bodyPr>
          <a:lstStyle/>
          <a:p>
            <a:pPr algn="l"/>
            <a:r>
              <a:rPr sz="1100" b="0" i="0">
                <a:solidFill>
                  <a:srgbClr val="6B6690"/>
                </a:solidFill>
                <a:latin typeface="Calibri"/>
              </a:rPr>
              <a:t>The mean, the median of an odd count, and the orders above the mean.</a:t>
            </a:r>
          </a:p>
        </p:txBody>
      </p:sp>
      <p:sp>
        <p:nvSpPr>
          <p:cNvPr id="26" name="Rounded Rectangle 25"/>
          <p:cNvSpPr/>
          <p:nvPr/>
        </p:nvSpPr>
        <p:spPr>
          <a:xfrm>
            <a:off x="5055900"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5257068"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calculator_852ec1ae1794.png"/>
          <p:cNvPicPr>
            <a:picLocks noChangeAspect="1"/>
          </p:cNvPicPr>
          <p:nvPr/>
        </p:nvPicPr>
        <p:blipFill>
          <a:blip r:embed="rId7"/>
          <a:stretch>
            <a:fillRect/>
          </a:stretch>
        </p:blipFill>
        <p:spPr>
          <a:xfrm>
            <a:off x="5366796" y="3553968"/>
            <a:ext cx="237744" cy="237744"/>
          </a:xfrm>
          <a:prstGeom prst="rect">
            <a:avLst/>
          </a:prstGeom>
        </p:spPr>
      </p:pic>
      <p:sp>
        <p:nvSpPr>
          <p:cNvPr id="29" name="TextBox 28"/>
          <p:cNvSpPr txBox="1"/>
          <p:nvPr/>
        </p:nvSpPr>
        <p:spPr>
          <a:xfrm>
            <a:off x="5257068"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3</a:t>
            </a:r>
          </a:p>
        </p:txBody>
      </p:sp>
      <p:sp>
        <p:nvSpPr>
          <p:cNvPr id="30" name="TextBox 29"/>
          <p:cNvSpPr txBox="1"/>
          <p:nvPr/>
        </p:nvSpPr>
        <p:spPr>
          <a:xfrm>
            <a:off x="5257068"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plan and the discount</a:t>
            </a:r>
          </a:p>
        </p:txBody>
      </p:sp>
      <p:sp>
        <p:nvSpPr>
          <p:cNvPr id="31" name="TextBox 30"/>
          <p:cNvSpPr txBox="1"/>
          <p:nvPr/>
        </p:nvSpPr>
        <p:spPr>
          <a:xfrm>
            <a:off x="5257068" y="4820920"/>
            <a:ext cx="1677558" cy="763016"/>
          </a:xfrm>
          <a:prstGeom prst="rect">
            <a:avLst/>
          </a:prstGeom>
          <a:noFill/>
        </p:spPr>
        <p:txBody>
          <a:bodyPr wrap="square" anchor="t" lIns="0" rIns="0" tIns="0" bIns="0">
            <a:spAutoFit/>
          </a:bodyPr>
          <a:lstStyle/>
          <a:p>
            <a:pPr algn="l"/>
            <a:r>
              <a:rPr sz="1100" b="0" i="0">
                <a:solidFill>
                  <a:srgbClr val="6B6690"/>
                </a:solidFill>
                <a:latin typeface="Calibri"/>
              </a:rPr>
              <a:t>What frequency alone must deliver, and a discount priced through the tree.</a:t>
            </a:r>
          </a:p>
        </p:txBody>
      </p:sp>
      <p:sp>
        <p:nvSpPr>
          <p:cNvPr id="32" name="Rounded Rectangle 31"/>
          <p:cNvSpPr/>
          <p:nvPr/>
        </p:nvSpPr>
        <p:spPr>
          <a:xfrm>
            <a:off x="7318674"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Oval 32"/>
          <p:cNvSpPr/>
          <p:nvPr/>
        </p:nvSpPr>
        <p:spPr>
          <a:xfrm>
            <a:off x="7519842"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git-branch_2cd118b75e1f.png"/>
          <p:cNvPicPr>
            <a:picLocks noChangeAspect="1"/>
          </p:cNvPicPr>
          <p:nvPr/>
        </p:nvPicPr>
        <p:blipFill>
          <a:blip r:embed="rId8"/>
          <a:stretch>
            <a:fillRect/>
          </a:stretch>
        </p:blipFill>
        <p:spPr>
          <a:xfrm>
            <a:off x="7629570" y="3553968"/>
            <a:ext cx="237744" cy="237744"/>
          </a:xfrm>
          <a:prstGeom prst="rect">
            <a:avLst/>
          </a:prstGeom>
        </p:spPr>
      </p:pic>
      <p:sp>
        <p:nvSpPr>
          <p:cNvPr id="35" name="TextBox 34"/>
          <p:cNvSpPr txBox="1"/>
          <p:nvPr/>
        </p:nvSpPr>
        <p:spPr>
          <a:xfrm>
            <a:off x="7519842"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4</a:t>
            </a:r>
          </a:p>
        </p:txBody>
      </p:sp>
      <p:sp>
        <p:nvSpPr>
          <p:cNvPr id="36" name="TextBox 35"/>
          <p:cNvSpPr txBox="1"/>
          <p:nvPr/>
        </p:nvSpPr>
        <p:spPr>
          <a:xfrm>
            <a:off x="7519842"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branch, with the window's edge</a:t>
            </a:r>
          </a:p>
        </p:txBody>
      </p:sp>
      <p:sp>
        <p:nvSpPr>
          <p:cNvPr id="37" name="TextBox 36"/>
          <p:cNvSpPr txBox="1"/>
          <p:nvPr/>
        </p:nvSpPr>
        <p:spPr>
          <a:xfrm>
            <a:off x="7519842" y="4820920"/>
            <a:ext cx="1677558" cy="581406"/>
          </a:xfrm>
          <a:prstGeom prst="rect">
            <a:avLst/>
          </a:prstGeom>
          <a:noFill/>
        </p:spPr>
        <p:txBody>
          <a:bodyPr wrap="square" anchor="t" lIns="0" rIns="0" tIns="0" bIns="0">
            <a:spAutoFit/>
          </a:bodyPr>
          <a:lstStyle/>
          <a:p>
            <a:pPr algn="l"/>
            <a:r>
              <a:rPr sz="1100" b="0" i="0">
                <a:solidFill>
                  <a:srgbClr val="6B6690"/>
                </a:solidFill>
                <a:latin typeface="Calibri"/>
              </a:rPr>
              <a:t>One-time buyers, the ones too recent to judge, and the branch.</a:t>
            </a:r>
          </a:p>
        </p:txBody>
      </p:sp>
      <p:sp>
        <p:nvSpPr>
          <p:cNvPr id="38" name="Rounded Rectangle 37"/>
          <p:cNvSpPr/>
          <p:nvPr/>
        </p:nvSpPr>
        <p:spPr>
          <a:xfrm>
            <a:off x="9581448" y="3243072"/>
            <a:ext cx="2079894" cy="25755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9782616" y="34442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0" name="Picture 39" descr="message-square_028dbd132a0a.png"/>
          <p:cNvPicPr>
            <a:picLocks noChangeAspect="1"/>
          </p:cNvPicPr>
          <p:nvPr/>
        </p:nvPicPr>
        <p:blipFill>
          <a:blip r:embed="rId4"/>
          <a:stretch>
            <a:fillRect/>
          </a:stretch>
        </p:blipFill>
        <p:spPr>
          <a:xfrm>
            <a:off x="9892344" y="3553968"/>
            <a:ext cx="237744" cy="237744"/>
          </a:xfrm>
          <a:prstGeom prst="rect">
            <a:avLst/>
          </a:prstGeom>
        </p:spPr>
      </p:pic>
      <p:sp>
        <p:nvSpPr>
          <p:cNvPr id="41" name="TextBox 40"/>
          <p:cNvSpPr txBox="1"/>
          <p:nvPr/>
        </p:nvSpPr>
        <p:spPr>
          <a:xfrm>
            <a:off x="9782616" y="4011168"/>
            <a:ext cx="1677558" cy="160401"/>
          </a:xfrm>
          <a:prstGeom prst="rect">
            <a:avLst/>
          </a:prstGeom>
          <a:noFill/>
        </p:spPr>
        <p:txBody>
          <a:bodyPr wrap="square" anchor="t" lIns="0" rIns="0" tIns="0" bIns="0">
            <a:spAutoFit/>
          </a:bodyPr>
          <a:lstStyle/>
          <a:p>
            <a:pPr algn="l"/>
            <a:r>
              <a:rPr sz="750" b="1" i="0" spc="250">
                <a:solidFill>
                  <a:srgbClr val="D9A7FF"/>
                </a:solidFill>
                <a:latin typeface="Calibri"/>
              </a:rPr>
              <a:t>PART 5</a:t>
            </a:r>
          </a:p>
        </p:txBody>
      </p:sp>
      <p:sp>
        <p:nvSpPr>
          <p:cNvPr id="42" name="TextBox 41"/>
          <p:cNvSpPr txBox="1"/>
          <p:nvPr/>
        </p:nvSpPr>
        <p:spPr>
          <a:xfrm>
            <a:off x="9782616" y="4248912"/>
            <a:ext cx="1677558" cy="267716"/>
          </a:xfrm>
          <a:prstGeom prst="rect">
            <a:avLst/>
          </a:prstGeom>
          <a:noFill/>
        </p:spPr>
        <p:txBody>
          <a:bodyPr wrap="square" anchor="t" lIns="0" rIns="0" tIns="0" bIns="0">
            <a:spAutoFit/>
          </a:bodyPr>
          <a:lstStyle/>
          <a:p>
            <a:pPr algn="l"/>
            <a:r>
              <a:rPr sz="1400" b="1" i="0">
                <a:solidFill>
                  <a:srgbClr val="FFFFFF"/>
                </a:solidFill>
                <a:latin typeface="Calibri"/>
              </a:rPr>
              <a:t>The sentence</a:t>
            </a:r>
          </a:p>
        </p:txBody>
      </p:sp>
      <p:sp>
        <p:nvSpPr>
          <p:cNvPr id="43" name="TextBox 42"/>
          <p:cNvSpPr txBox="1"/>
          <p:nvPr/>
        </p:nvSpPr>
        <p:spPr>
          <a:xfrm>
            <a:off x="9782616" y="4589780"/>
            <a:ext cx="1677558" cy="581406"/>
          </a:xfrm>
          <a:prstGeom prst="rect">
            <a:avLst/>
          </a:prstGeom>
          <a:noFill/>
        </p:spPr>
        <p:txBody>
          <a:bodyPr wrap="square" anchor="t" lIns="0" rIns="0" tIns="0" bIns="0">
            <a:spAutoFit/>
          </a:bodyPr>
          <a:lstStyle/>
          <a:p>
            <a:pPr algn="l"/>
            <a:r>
              <a:rPr sz="1100" b="0" i="0">
                <a:solidFill>
                  <a:srgbClr val="CFC9EE"/>
                </a:solidFill>
                <a:latin typeface="Calibri"/>
              </a:rPr>
              <a:t>Chapter 6's four parts, on delivered orders, with what held.</a:t>
            </a:r>
          </a:p>
        </p:txBody>
      </p:sp>
      <p:sp>
        <p:nvSpPr>
          <p:cNvPr id="44" name="Oval 4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6" name="Oval 4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48" name="Oval 47"/>
          <p:cNvSpPr/>
          <p:nvPr/>
        </p:nvSpPr>
        <p:spPr>
          <a:xfrm>
            <a:off x="35055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3615309"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50" name="Oval 4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52" name="Oval 51"/>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54" name="Oval 53"/>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56" name="Oval 55"/>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58" name="TextBox 5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to post, and what counts as done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Nine letters, the numbers each part asks for, and one sentence.</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PARTS 1 AND 2</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12 minutes</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delivered leaves and the delivered median, which is one value since 21 is odd.</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PARTS 3 AND 4</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12 minutes</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plan from frequency alone, the discount, and the window's edge.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21" name="Oval 20"/>
          <p:cNvSpPr/>
          <p:nvPr/>
        </p:nvSpPr>
        <p:spPr>
          <a:xfrm>
            <a:off x="9766554"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6 minutes</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sentence, and one line on what moved and what held.</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7" name="Oval 2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29" name="Oval 28"/>
          <p:cNvSpPr/>
          <p:nvPr/>
        </p:nvSpPr>
        <p:spPr>
          <a:xfrm>
            <a:off x="35055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615309"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31" name="Oval 3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3" name="Oval 3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5" name="Oval 34"/>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7" name="Oval 36"/>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B</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room's wrong answers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Six numbers that looked right this morning or in the case, each caught by one check.</a:t>
            </a:r>
          </a:p>
        </p:txBody>
      </p:sp>
      <p:sp>
        <p:nvSpPr>
          <p:cNvPr id="10" name="Rounded Rectangle 9"/>
          <p:cNvSpPr/>
          <p:nvPr/>
        </p:nvSpPr>
        <p:spPr>
          <a:xfrm>
            <a:off x="731519"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194219" y="5074920"/>
            <a:ext cx="18006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 Meera acts on</a:t>
            </a:r>
          </a:p>
        </p:txBody>
      </p:sp>
      <p:sp>
        <p:nvSpPr>
          <p:cNvPr id="12" name="Rounded Rectangle 11"/>
          <p:cNvSpPr/>
          <p:nvPr/>
        </p:nvSpPr>
        <p:spPr>
          <a:xfrm>
            <a:off x="4104613"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3" name="Rounded Rectangle 12"/>
          <p:cNvSpPr/>
          <p:nvPr/>
        </p:nvSpPr>
        <p:spPr>
          <a:xfrm>
            <a:off x="5567312" y="5074920"/>
            <a:ext cx="168874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room's wrong answers</a:t>
            </a:r>
          </a:p>
        </p:txBody>
      </p:sp>
      <p:sp>
        <p:nvSpPr>
          <p:cNvPr id="14" name="Rounded Rectangle 13"/>
          <p:cNvSpPr/>
          <p:nvPr/>
        </p:nvSpPr>
        <p:spPr>
          <a:xfrm>
            <a:off x="7365782" y="5074920"/>
            <a:ext cx="1744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5" name="Rounded Rectangle 14"/>
          <p:cNvSpPr/>
          <p:nvPr/>
        </p:nvSpPr>
        <p:spPr>
          <a:xfrm>
            <a:off x="9220214" y="5074920"/>
            <a:ext cx="14089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6" name="Rounded Rectangle 15"/>
          <p:cNvSpPr/>
          <p:nvPr/>
        </p:nvSpPr>
        <p:spPr>
          <a:xfrm>
            <a:off x="10738875" y="5074920"/>
            <a:ext cx="8493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of these six numbers would you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came out of the file, and each is plausible on a first reading.</a:t>
            </a:r>
          </a:p>
        </p:txBody>
      </p:sp>
      <p:sp>
        <p:nvSpPr>
          <p:cNvPr id="9" name="TextBox 8"/>
          <p:cNvSpPr txBox="1"/>
          <p:nvPr/>
        </p:nvSpPr>
        <p:spPr>
          <a:xfrm>
            <a:off x="53035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5,44,810</a:t>
            </a:r>
          </a:p>
        </p:txBody>
      </p:sp>
      <p:sp>
        <p:nvSpPr>
          <p:cNvPr id="10" name="TextBox 9"/>
          <p:cNvSpPr txBox="1"/>
          <p:nvPr/>
        </p:nvSpPr>
        <p:spPr>
          <a:xfrm>
            <a:off x="53035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SALES</a:t>
            </a:r>
          </a:p>
        </p:txBody>
      </p:sp>
      <p:sp>
        <p:nvSpPr>
          <p:cNvPr id="11" name="TextBox 10"/>
          <p:cNvSpPr txBox="1"/>
          <p:nvPr/>
        </p:nvSpPr>
        <p:spPr>
          <a:xfrm>
            <a:off x="530352"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all 30 orders summed</a:t>
            </a:r>
          </a:p>
        </p:txBody>
      </p:sp>
      <p:sp>
        <p:nvSpPr>
          <p:cNvPr id="12" name="Rectangle 11"/>
          <p:cNvSpPr/>
          <p:nvPr/>
        </p:nvSpPr>
        <p:spPr>
          <a:xfrm>
            <a:off x="53035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31237"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25,943</a:t>
            </a:r>
          </a:p>
        </p:txBody>
      </p:sp>
      <p:sp>
        <p:nvSpPr>
          <p:cNvPr id="14" name="TextBox 13"/>
          <p:cNvSpPr txBox="1"/>
          <p:nvPr/>
        </p:nvSpPr>
        <p:spPr>
          <a:xfrm>
            <a:off x="2431237"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AOV</a:t>
            </a:r>
          </a:p>
        </p:txBody>
      </p:sp>
      <p:sp>
        <p:nvSpPr>
          <p:cNvPr id="15" name="TextBox 14"/>
          <p:cNvSpPr txBox="1"/>
          <p:nvPr/>
        </p:nvSpPr>
        <p:spPr>
          <a:xfrm>
            <a:off x="2431237" y="2512060"/>
            <a:ext cx="1626565" cy="350266"/>
          </a:xfrm>
          <a:prstGeom prst="rect">
            <a:avLst/>
          </a:prstGeom>
          <a:noFill/>
        </p:spPr>
        <p:txBody>
          <a:bodyPr wrap="square" anchor="t" lIns="0" rIns="0" tIns="0" bIns="0">
            <a:spAutoFit/>
          </a:bodyPr>
          <a:lstStyle/>
          <a:p>
            <a:pPr algn="l"/>
            <a:r>
              <a:rPr sz="950" b="0" i="0">
                <a:solidFill>
                  <a:srgbClr val="6B6690"/>
                </a:solidFill>
                <a:latin typeface="Calibri"/>
              </a:rPr>
              <a:t>booked rupees / delivered orders</a:t>
            </a:r>
          </a:p>
        </p:txBody>
      </p:sp>
      <p:sp>
        <p:nvSpPr>
          <p:cNvPr id="16" name="Rectangle 15"/>
          <p:cNvSpPr/>
          <p:nvPr/>
        </p:nvSpPr>
        <p:spPr>
          <a:xfrm>
            <a:off x="2431237"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3212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1.00</a:t>
            </a:r>
          </a:p>
        </p:txBody>
      </p:sp>
      <p:sp>
        <p:nvSpPr>
          <p:cNvPr id="18" name="TextBox 17"/>
          <p:cNvSpPr txBox="1"/>
          <p:nvPr/>
        </p:nvSpPr>
        <p:spPr>
          <a:xfrm>
            <a:off x="433212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ORDERS PER CUSTOMER</a:t>
            </a:r>
          </a:p>
        </p:txBody>
      </p:sp>
      <p:sp>
        <p:nvSpPr>
          <p:cNvPr id="19" name="TextBox 18"/>
          <p:cNvSpPr txBox="1"/>
          <p:nvPr/>
        </p:nvSpPr>
        <p:spPr>
          <a:xfrm>
            <a:off x="4332122"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30 orders / 30 rows</a:t>
            </a:r>
          </a:p>
        </p:txBody>
      </p:sp>
      <p:sp>
        <p:nvSpPr>
          <p:cNvPr id="20" name="Rectangle 19"/>
          <p:cNvSpPr/>
          <p:nvPr/>
        </p:nvSpPr>
        <p:spPr>
          <a:xfrm>
            <a:off x="433212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33007"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18,160</a:t>
            </a:r>
          </a:p>
        </p:txBody>
      </p:sp>
      <p:sp>
        <p:nvSpPr>
          <p:cNvPr id="22" name="TextBox 21"/>
          <p:cNvSpPr txBox="1"/>
          <p:nvPr/>
        </p:nvSpPr>
        <p:spPr>
          <a:xfrm>
            <a:off x="6233007"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TYPICAL ORDER</a:t>
            </a:r>
          </a:p>
        </p:txBody>
      </p:sp>
      <p:sp>
        <p:nvSpPr>
          <p:cNvPr id="23" name="TextBox 22"/>
          <p:cNvSpPr txBox="1"/>
          <p:nvPr/>
        </p:nvSpPr>
        <p:spPr>
          <a:xfrm>
            <a:off x="6233007"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revenue / orders</a:t>
            </a:r>
          </a:p>
        </p:txBody>
      </p:sp>
      <p:sp>
        <p:nvSpPr>
          <p:cNvPr id="24" name="Rectangle 23"/>
          <p:cNvSpPr/>
          <p:nvPr/>
        </p:nvSpPr>
        <p:spPr>
          <a:xfrm>
            <a:off x="6233007"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13389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20%</a:t>
            </a:r>
          </a:p>
        </p:txBody>
      </p:sp>
      <p:sp>
        <p:nvSpPr>
          <p:cNvPr id="26" name="TextBox 25"/>
          <p:cNvSpPr txBox="1"/>
          <p:nvPr/>
        </p:nvSpPr>
        <p:spPr>
          <a:xfrm>
            <a:off x="813389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GROWTH</a:t>
            </a:r>
          </a:p>
        </p:txBody>
      </p:sp>
      <p:sp>
        <p:nvSpPr>
          <p:cNvPr id="27" name="TextBox 26"/>
          <p:cNvSpPr txBox="1"/>
          <p:nvPr/>
        </p:nvSpPr>
        <p:spPr>
          <a:xfrm>
            <a:off x="8133892" y="2512060"/>
            <a:ext cx="1626565" cy="350266"/>
          </a:xfrm>
          <a:prstGeom prst="rect">
            <a:avLst/>
          </a:prstGeom>
          <a:noFill/>
        </p:spPr>
        <p:txBody>
          <a:bodyPr wrap="square" anchor="t" lIns="0" rIns="0" tIns="0" bIns="0">
            <a:spAutoFit/>
          </a:bodyPr>
          <a:lstStyle/>
          <a:p>
            <a:pPr algn="l"/>
            <a:r>
              <a:rPr sz="950" b="0" i="0">
                <a:solidFill>
                  <a:srgbClr val="6B6690"/>
                </a:solidFill>
                <a:latin typeface="Calibri"/>
              </a:rPr>
              <a:t>two 10 percent lifts, added</a:t>
            </a:r>
          </a:p>
        </p:txBody>
      </p:sp>
      <p:sp>
        <p:nvSpPr>
          <p:cNvPr id="28" name="Rectangle 27"/>
          <p:cNvSpPr/>
          <p:nvPr/>
        </p:nvSpPr>
        <p:spPr>
          <a:xfrm>
            <a:off x="813389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034778"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70%</a:t>
            </a:r>
          </a:p>
        </p:txBody>
      </p:sp>
      <p:sp>
        <p:nvSpPr>
          <p:cNvPr id="30" name="TextBox 29"/>
          <p:cNvSpPr txBox="1"/>
          <p:nvPr/>
        </p:nvSpPr>
        <p:spPr>
          <a:xfrm>
            <a:off x="10034778"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CUSTOMERS LOST</a:t>
            </a:r>
          </a:p>
        </p:txBody>
      </p:sp>
      <p:sp>
        <p:nvSpPr>
          <p:cNvPr id="31" name="TextBox 30"/>
          <p:cNvSpPr txBox="1"/>
          <p:nvPr/>
        </p:nvSpPr>
        <p:spPr>
          <a:xfrm>
            <a:off x="10034778"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16 of 23 bought once</a:t>
            </a:r>
          </a:p>
        </p:txBody>
      </p:sp>
      <p:sp>
        <p:nvSpPr>
          <p:cNvPr id="32" name="Rectangle 31"/>
          <p:cNvSpPr/>
          <p:nvPr/>
        </p:nvSpPr>
        <p:spPr>
          <a:xfrm>
            <a:off x="10034778"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all six, since each came from the file; b) only the sales total; c) only the growth figure; d) none of the six as written.</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38" name="Oval 3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40" name="Oval 3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42" name="Oval 41"/>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9189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The room's wrong answers</a:t>
            </a:r>
          </a:p>
        </p:txBody>
      </p:sp>
      <p:sp>
        <p:nvSpPr>
          <p:cNvPr id="44" name="Oval 43"/>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46" name="Oval 45"/>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8" name="Oval 47"/>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none of the six survives its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is caught by one check, and each fix changes what Meera would decide.</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2202003"/>
                <a:gridCol w="4759601"/>
                <a:gridCol w="4169386"/>
              </a:tblGrid>
              <a:tr h="369824">
                <a:tc>
                  <a:txBody>
                    <a:bodyPr/>
                    <a:lstStyle/>
                    <a:p>
                      <a:r>
                        <a:rPr sz="1450" b="1" i="0">
                          <a:solidFill>
                            <a:srgbClr val="FFFFFF"/>
                          </a:solidFill>
                          <a:latin typeface="Calibri"/>
                        </a:rPr>
                        <a:t>The wrong number</a:t>
                      </a:r>
                    </a:p>
                  </a:txBody>
                  <a:tcPr marL="101600" marR="101600" marT="38100" marB="38100" anchor="ctr">
                    <a:solidFill>
                      <a:srgbClr val="1A0F5C"/>
                    </a:solidFill>
                  </a:tcPr>
                </a:tc>
                <a:tc>
                  <a:txBody>
                    <a:bodyPr/>
                    <a:lstStyle/>
                    <a:p>
                      <a:r>
                        <a:rPr sz="1450" b="1" i="0">
                          <a:solidFill>
                            <a:srgbClr val="FFFFFF"/>
                          </a:solidFill>
                          <a:latin typeface="Calibri"/>
                        </a:rPr>
                        <a:t>The check that catches it</a:t>
                      </a:r>
                    </a:p>
                  </a:txBody>
                  <a:tcPr marL="101600" marR="101600" marT="38100" marB="38100" anchor="ctr">
                    <a:solidFill>
                      <a:srgbClr val="1A0F5C"/>
                    </a:solidFill>
                  </a:tcPr>
                </a:tc>
                <a:tc>
                  <a:txBody>
                    <a:bodyPr/>
                    <a:lstStyle/>
                    <a:p>
                      <a:r>
                        <a:rPr sz="1450" b="1" i="0">
                          <a:solidFill>
                            <a:srgbClr val="FFFFFF"/>
                          </a:solidFill>
                          <a:latin typeface="Calibri"/>
                        </a:rPr>
                        <a:t>What to report</a:t>
                      </a:r>
                    </a:p>
                  </a:txBody>
                  <a:tcPr marL="101600" marR="101600" marT="38100" marB="38100" anchor="ctr">
                    <a:solidFill>
                      <a:srgbClr val="1A0F5C"/>
                    </a:solidFill>
                  </a:tcPr>
                </a:tc>
              </a:tr>
              <a:tr h="369824">
                <a:tc>
                  <a:txBody>
                    <a:bodyPr/>
                    <a:lstStyle/>
                    <a:p>
                      <a:r>
                        <a:rPr sz="1400" b="0" i="0">
                          <a:solidFill>
                            <a:srgbClr val="1A1440"/>
                          </a:solidFill>
                          <a:latin typeface="Calibri"/>
                        </a:rPr>
                        <a:t>Rs 5,44,810 as sales</a:t>
                      </a:r>
                    </a:p>
                  </a:txBody>
                  <a:tcPr marL="101600" marR="101600" marT="38100" marB="38100" anchor="ctr">
                    <a:solidFill>
                      <a:srgbClr val="FFFFFF"/>
                    </a:solidFill>
                  </a:tcPr>
                </a:tc>
                <a:tc>
                  <a:txBody>
                    <a:bodyPr/>
                    <a:lstStyle/>
                    <a:p>
                      <a:r>
                        <a:rPr sz="1400" b="0" i="0">
                          <a:solidFill>
                            <a:srgbClr val="1A1440"/>
                          </a:solidFill>
                          <a:latin typeface="Calibri"/>
                        </a:rPr>
                        <a:t>Count orders by status before summing.</a:t>
                      </a:r>
                    </a:p>
                  </a:txBody>
                  <a:tcPr marL="101600" marR="101600" marT="38100" marB="38100" anchor="ctr">
                    <a:solidFill>
                      <a:srgbClr val="FFFFFF"/>
                    </a:solidFill>
                  </a:tcPr>
                </a:tc>
                <a:tc>
                  <a:txBody>
                    <a:bodyPr/>
                    <a:lstStyle/>
                    <a:p>
                      <a:r>
                        <a:rPr sz="1400" b="0" i="0">
                          <a:solidFill>
                            <a:srgbClr val="1A1440"/>
                          </a:solidFill>
                          <a:latin typeface="Calibri"/>
                        </a:rPr>
                        <a:t>Rs 5,35,760 not cancelled, named.</a:t>
                      </a:r>
                    </a:p>
                  </a:txBody>
                  <a:tcPr marL="101600" marR="101600" marT="38100" marB="38100" anchor="ctr">
                    <a:solidFill>
                      <a:srgbClr val="FFFFFF"/>
                    </a:solidFill>
                  </a:tcPr>
                </a:tc>
              </a:tr>
              <a:tr h="369824">
                <a:tc>
                  <a:txBody>
                    <a:bodyPr/>
                    <a:lstStyle/>
                    <a:p>
                      <a:r>
                        <a:rPr sz="1400" b="0" i="0">
                          <a:solidFill>
                            <a:srgbClr val="1A1440"/>
                          </a:solidFill>
                          <a:latin typeface="Calibri"/>
                        </a:rPr>
                        <a:t>Rs 25,943 AOV</a:t>
                      </a:r>
                    </a:p>
                  </a:txBody>
                  <a:tcPr marL="101600" marR="101600" marT="38100" marB="38100" anchor="ctr">
                    <a:solidFill>
                      <a:srgbClr val="F4F2FA"/>
                    </a:solidFill>
                  </a:tcPr>
                </a:tc>
                <a:tc>
                  <a:txBody>
                    <a:bodyPr/>
                    <a:lstStyle/>
                    <a:p>
                      <a:r>
                        <a:rPr sz="1400" b="0" i="0">
                          <a:solidFill>
                            <a:srgbClr val="1A1440"/>
                          </a:solidFill>
                          <a:latin typeface="Calibri"/>
                        </a:rPr>
                        <a:t>Orders x AOV must land on its own revenue.</a:t>
                      </a:r>
                    </a:p>
                  </a:txBody>
                  <a:tcPr marL="101600" marR="101600" marT="38100" marB="38100" anchor="ctr">
                    <a:solidFill>
                      <a:srgbClr val="F4F2FA"/>
                    </a:solidFill>
                  </a:tcPr>
                </a:tc>
                <a:tc>
                  <a:txBody>
                    <a:bodyPr/>
                    <a:lstStyle/>
                    <a:p>
                      <a:r>
                        <a:rPr sz="1400" b="0" i="0">
                          <a:solidFill>
                            <a:srgbClr val="1A1440"/>
                          </a:solidFill>
                          <a:latin typeface="Calibri"/>
                        </a:rPr>
                        <a:t>Rs 18,160 booked or Rs 24,800 delivered.</a:t>
                      </a:r>
                    </a:p>
                  </a:txBody>
                  <a:tcPr marL="101600" marR="101600" marT="38100" marB="38100" anchor="ctr">
                    <a:solidFill>
                      <a:srgbClr val="F4F2FA"/>
                    </a:solidFill>
                  </a:tcPr>
                </a:tc>
              </a:tr>
              <a:tr h="369824">
                <a:tc>
                  <a:txBody>
                    <a:bodyPr/>
                    <a:lstStyle/>
                    <a:p>
                      <a:r>
                        <a:rPr sz="1400" b="0" i="0">
                          <a:solidFill>
                            <a:srgbClr val="1A1440"/>
                          </a:solidFill>
                          <a:latin typeface="Calibri"/>
                        </a:rPr>
                        <a:t>1.00 orders each</a:t>
                      </a:r>
                    </a:p>
                  </a:txBody>
                  <a:tcPr marL="101600" marR="101600" marT="38100" marB="38100" anchor="ctr">
                    <a:solidFill>
                      <a:srgbClr val="FFFFFF"/>
                    </a:solidFill>
                  </a:tcPr>
                </a:tc>
                <a:tc>
                  <a:txBody>
                    <a:bodyPr/>
                    <a:lstStyle/>
                    <a:p>
                      <a:r>
                        <a:rPr sz="1400" b="0" i="0">
                          <a:solidFill>
                            <a:srgbClr val="1A1440"/>
                          </a:solidFill>
                          <a:latin typeface="Calibri"/>
                        </a:rPr>
                        <a:t>Compare rows with distinct ids: 30 against 23.</a:t>
                      </a:r>
                    </a:p>
                  </a:txBody>
                  <a:tcPr marL="101600" marR="101600" marT="38100" marB="38100" anchor="ctr">
                    <a:solidFill>
                      <a:srgbClr val="FFFFFF"/>
                    </a:solidFill>
                  </a:tcPr>
                </a:tc>
                <a:tc>
                  <a:txBody>
                    <a:bodyPr/>
                    <a:lstStyle/>
                    <a:p>
                      <a:r>
                        <a:rPr sz="1400" b="0" i="0">
                          <a:solidFill>
                            <a:srgbClr val="1A1440"/>
                          </a:solidFill>
                          <a:latin typeface="Calibri"/>
                        </a:rPr>
                        <a:t>1.30 orders each, 7 came back.</a:t>
                      </a:r>
                    </a:p>
                  </a:txBody>
                  <a:tcPr marL="101600" marR="101600" marT="38100" marB="38100" anchor="ctr">
                    <a:solidFill>
                      <a:srgbClr val="FFFFFF"/>
                    </a:solidFill>
                  </a:tcPr>
                </a:tc>
              </a:tr>
              <a:tr h="369824">
                <a:tc>
                  <a:txBody>
                    <a:bodyPr/>
                    <a:lstStyle/>
                    <a:p>
                      <a:r>
                        <a:rPr sz="1400" b="0" i="0">
                          <a:solidFill>
                            <a:srgbClr val="1A1440"/>
                          </a:solidFill>
                          <a:latin typeface="Calibri"/>
                        </a:rPr>
                        <a:t>Rs 18,160 typical</a:t>
                      </a:r>
                    </a:p>
                  </a:txBody>
                  <a:tcPr marL="101600" marR="101600" marT="38100" marB="38100" anchor="ctr">
                    <a:solidFill>
                      <a:srgbClr val="F4F2FA"/>
                    </a:solidFill>
                  </a:tcPr>
                </a:tc>
                <a:tc>
                  <a:txBody>
                    <a:bodyPr/>
                    <a:lstStyle/>
                    <a:p>
                      <a:r>
                        <a:rPr sz="1400" b="0" i="0">
                          <a:solidFill>
                            <a:srgbClr val="1A1440"/>
                          </a:solidFill>
                          <a:latin typeface="Calibri"/>
                        </a:rPr>
                        <a:t>Count orders above the mean: 1 of 30.</a:t>
                      </a:r>
                    </a:p>
                  </a:txBody>
                  <a:tcPr marL="101600" marR="101600" marT="38100" marB="38100" anchor="ctr">
                    <a:solidFill>
                      <a:srgbClr val="F4F2FA"/>
                    </a:solidFill>
                  </a:tcPr>
                </a:tc>
                <a:tc>
                  <a:txBody>
                    <a:bodyPr/>
                    <a:lstStyle/>
                    <a:p>
                      <a:r>
                        <a:rPr sz="1400" b="0" i="0">
                          <a:solidFill>
                            <a:srgbClr val="1A1440"/>
                          </a:solidFill>
                          <a:latin typeface="Calibri"/>
                        </a:rPr>
                        <a:t>The median, Rs 2,205.</a:t>
                      </a:r>
                    </a:p>
                  </a:txBody>
                  <a:tcPr marL="101600" marR="101600" marT="38100" marB="38100" anchor="ctr">
                    <a:solidFill>
                      <a:srgbClr val="F4F2FA"/>
                    </a:solidFill>
                  </a:tcPr>
                </a:tc>
              </a:tr>
              <a:tr h="369824">
                <a:tc>
                  <a:txBody>
                    <a:bodyPr/>
                    <a:lstStyle/>
                    <a:p>
                      <a:r>
                        <a:rPr sz="1400" b="0" i="0">
                          <a:solidFill>
                            <a:srgbClr val="1A1440"/>
                          </a:solidFill>
                          <a:latin typeface="Calibri"/>
                        </a:rPr>
                        <a:t>20 percent growth</a:t>
                      </a:r>
                    </a:p>
                  </a:txBody>
                  <a:tcPr marL="101600" marR="101600" marT="38100" marB="38100" anchor="ctr">
                    <a:solidFill>
                      <a:srgbClr val="FFFFFF"/>
                    </a:solidFill>
                  </a:tcPr>
                </a:tc>
                <a:tc>
                  <a:txBody>
                    <a:bodyPr/>
                    <a:lstStyle/>
                    <a:p>
                      <a:r>
                        <a:rPr sz="1400" b="0" i="0">
                          <a:solidFill>
                            <a:srgbClr val="1A1440"/>
                          </a:solidFill>
                          <a:latin typeface="Calibri"/>
                        </a:rPr>
                        <a:t>Recompute through the tree: 1.10 x 1.10.</a:t>
                      </a:r>
                    </a:p>
                  </a:txBody>
                  <a:tcPr marL="101600" marR="101600" marT="38100" marB="38100" anchor="ctr">
                    <a:solidFill>
                      <a:srgbClr val="FFFFFF"/>
                    </a:solidFill>
                  </a:tcPr>
                </a:tc>
                <a:tc>
                  <a:txBody>
                    <a:bodyPr/>
                    <a:lstStyle/>
                    <a:p>
                      <a:r>
                        <a:rPr sz="1400" b="0" i="0">
                          <a:solidFill>
                            <a:srgbClr val="1A1440"/>
                          </a:solidFill>
                          <a:latin typeface="Calibri"/>
                        </a:rPr>
                        <a:t>21 percent, Rs 6,59,220.</a:t>
                      </a:r>
                    </a:p>
                  </a:txBody>
                  <a:tcPr marL="101600" marR="101600" marT="38100" marB="38100" anchor="ctr">
                    <a:solidFill>
                      <a:srgbClr val="FFFFFF"/>
                    </a:solidFill>
                  </a:tcPr>
                </a:tc>
              </a:tr>
              <a:tr h="369824">
                <a:tc>
                  <a:txBody>
                    <a:bodyPr/>
                    <a:lstStyle/>
                    <a:p>
                      <a:r>
                        <a:rPr sz="1400" b="0" i="0">
                          <a:solidFill>
                            <a:srgbClr val="1A1440"/>
                          </a:solidFill>
                          <a:latin typeface="Calibri"/>
                        </a:rPr>
                        <a:t>70 percent lost</a:t>
                      </a:r>
                    </a:p>
                  </a:txBody>
                  <a:tcPr marL="101600" marR="101600" marT="38100" marB="38100" anchor="ctr">
                    <a:solidFill>
                      <a:srgbClr val="F4F2FA"/>
                    </a:solidFill>
                  </a:tcPr>
                </a:tc>
                <a:tc>
                  <a:txBody>
                    <a:bodyPr/>
                    <a:lstStyle/>
                    <a:p>
                      <a:r>
                        <a:rPr sz="1400" b="0" i="0">
                          <a:solidFill>
                            <a:srgbClr val="1A1440"/>
                          </a:solidFill>
                          <a:latin typeface="Calibri"/>
                        </a:rPr>
                        <a:t>Hold back buyers inside the 45-day gap.</a:t>
                      </a:r>
                    </a:p>
                  </a:txBody>
                  <a:tcPr marL="101600" marR="101600" marT="38100" marB="38100" anchor="ctr">
                    <a:solidFill>
                      <a:srgbClr val="F4F2FA"/>
                    </a:solidFill>
                  </a:tcPr>
                </a:tc>
                <a:tc>
                  <a:txBody>
                    <a:bodyPr/>
                    <a:lstStyle/>
                    <a:p>
                      <a:r>
                        <a:rPr sz="1400" b="0" i="0">
                          <a:solidFill>
                            <a:srgbClr val="1A1440"/>
                          </a:solidFill>
                          <a:latin typeface="Calibri"/>
                        </a:rPr>
                        <a:t>7 back, 7 had time, 9 too recent.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The room's wrong answers</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0" name="Oval 19"/>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2" name="Oval 21"/>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escalated case's answer, on delivered orders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moved and what held when Anand changed the definition.</a:t>
            </a:r>
          </a:p>
        </p:txBody>
      </p:sp>
      <p:graphicFrame>
        <p:nvGraphicFramePr>
          <p:cNvPr id="10" name="Table 9"/>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3119142"/>
                <a:gridCol w="3548724"/>
                <a:gridCol w="3548724"/>
                <a:gridCol w="914400"/>
              </a:tblGrid>
              <a:tr h="335280">
                <a:tc>
                  <a:txBody>
                    <a:bodyPr/>
                    <a:lstStyle/>
                    <a:p>
                      <a:r>
                        <a:rPr sz="1250" b="1" i="0">
                          <a:solidFill>
                            <a:srgbClr val="FFFFFF"/>
                          </a:solidFill>
                          <a:latin typeface="Calibri"/>
                        </a:rPr>
                        <a:t>Part</a:t>
                      </a:r>
                    </a:p>
                  </a:txBody>
                  <a:tcPr marL="101600" marR="101600" marT="38100" marB="38100" anchor="ctr">
                    <a:solidFill>
                      <a:srgbClr val="1A0F5C"/>
                    </a:solidFill>
                  </a:tcPr>
                </a:tc>
                <a:tc>
                  <a:txBody>
                    <a:bodyPr/>
                    <a:lstStyle/>
                    <a:p>
                      <a:r>
                        <a:rPr sz="1250" b="1" i="0">
                          <a:solidFill>
                            <a:srgbClr val="FFFFFF"/>
                          </a:solidFill>
                          <a:latin typeface="Calibri"/>
                        </a:rPr>
                        <a:t>Booked</a:t>
                      </a:r>
                    </a:p>
                  </a:txBody>
                  <a:tcPr marL="101600" marR="101600" marT="38100" marB="38100" anchor="ctr">
                    <a:solidFill>
                      <a:srgbClr val="1A0F5C"/>
                    </a:solidFill>
                  </a:tcPr>
                </a:tc>
                <a:tc>
                  <a:txBody>
                    <a:bodyPr/>
                    <a:lstStyle/>
                    <a:p>
                      <a:r>
                        <a:rPr sz="1250" b="1" i="0">
                          <a:solidFill>
                            <a:srgbClr val="FFFFFF"/>
                          </a:solidFill>
                          <a:latin typeface="Calibri"/>
                        </a:rPr>
                        <a:t>Delivered</a:t>
                      </a:r>
                    </a:p>
                  </a:txBody>
                  <a:tcPr marL="101600" marR="101600" marT="38100" marB="38100" anchor="ctr">
                    <a:solidFill>
                      <a:srgbClr val="1A0F5C"/>
                    </a:solidFill>
                  </a:tcPr>
                </a:tc>
                <a:tc>
                  <a:txBody>
                    <a:bodyPr/>
                    <a:lstStyle/>
                    <a:p>
                      <a:r>
                        <a:rPr sz="1250" b="1" i="0">
                          <a:solidFill>
                            <a:srgbClr val="FFFFFF"/>
                          </a:solidFill>
                          <a:latin typeface="Calibri"/>
                        </a:rPr>
                        <a:t>Held?</a:t>
                      </a:r>
                    </a:p>
                  </a:txBody>
                  <a:tcPr marL="101600" marR="101600" marT="38100" marB="38100" anchor="ctr">
                    <a:solidFill>
                      <a:srgbClr val="1A0F5C"/>
                    </a:solidFill>
                  </a:tcPr>
                </a:tc>
              </a:tr>
              <a:tr h="335280">
                <a:tc>
                  <a:txBody>
                    <a:bodyPr/>
                    <a:lstStyle/>
                    <a:p>
                      <a:r>
                        <a:rPr sz="1200" b="0" i="0">
                          <a:solidFill>
                            <a:srgbClr val="1A1440"/>
                          </a:solidFill>
                          <a:latin typeface="Calibri"/>
                        </a:rPr>
                        <a:t>Orders per customer</a:t>
                      </a:r>
                    </a:p>
                  </a:txBody>
                  <a:tcPr marL="101600" marR="101600" marT="38100" marB="38100" anchor="ctr">
                    <a:solidFill>
                      <a:srgbClr val="FFFFFF"/>
                    </a:solidFill>
                  </a:tcPr>
                </a:tc>
                <a:tc>
                  <a:txBody>
                    <a:bodyPr/>
                    <a:lstStyle/>
                    <a:p>
                      <a:r>
                        <a:rPr sz="1200" b="0" i="0">
                          <a:solidFill>
                            <a:srgbClr val="1A1440"/>
                          </a:solidFill>
                          <a:latin typeface="Calibri"/>
                        </a:rPr>
                        <a:t>1.30</a:t>
                      </a:r>
                    </a:p>
                  </a:txBody>
                  <a:tcPr marL="101600" marR="101600" marT="38100" marB="38100" anchor="ctr">
                    <a:solidFill>
                      <a:srgbClr val="FFFFFF"/>
                    </a:solidFill>
                  </a:tcPr>
                </a:tc>
                <a:tc>
                  <a:txBody>
                    <a:bodyPr/>
                    <a:lstStyle/>
                    <a:p>
                      <a:r>
                        <a:rPr sz="1200" b="0" i="0">
                          <a:solidFill>
                            <a:srgbClr val="1A1440"/>
                          </a:solidFill>
                          <a:latin typeface="Calibri"/>
                        </a:rPr>
                        <a:t>1.11</a:t>
                      </a:r>
                    </a:p>
                  </a:txBody>
                  <a:tcPr marL="101600" marR="101600" marT="38100" marB="38100" anchor="ctr">
                    <a:solidFill>
                      <a:srgbClr val="FFFFFF"/>
                    </a:solidFill>
                  </a:tcPr>
                </a:tc>
                <a:tc>
                  <a:txBody>
                    <a:bodyPr/>
                    <a:lstStyle/>
                    <a:p>
                      <a:r>
                        <a:rPr sz="1200" b="0" i="0">
                          <a:solidFill>
                            <a:srgbClr val="1A1440"/>
                          </a:solidFill>
                          <a:latin typeface="Calibri"/>
                        </a:rPr>
                        <a:t>It fell.</a:t>
                      </a:r>
                    </a:p>
                  </a:txBody>
                  <a:tcPr marL="101600" marR="101600" marT="38100" marB="38100" anchor="ctr">
                    <a:solidFill>
                      <a:srgbClr val="FFFFFF"/>
                    </a:solidFill>
                  </a:tcPr>
                </a:tc>
              </a:tr>
              <a:tr h="335280">
                <a:tc>
                  <a:txBody>
                    <a:bodyPr/>
                    <a:lstStyle/>
                    <a:p>
                      <a:r>
                        <a:rPr sz="1200" b="0" i="0">
                          <a:solidFill>
                            <a:srgbClr val="1A1440"/>
                          </a:solidFill>
                          <a:latin typeface="Calibri"/>
                        </a:rPr>
                        <a:t>Typical order</a:t>
                      </a:r>
                    </a:p>
                  </a:txBody>
                  <a:tcPr marL="101600" marR="101600" marT="38100" marB="38100" anchor="ctr">
                    <a:solidFill>
                      <a:srgbClr val="F4F2FA"/>
                    </a:solidFill>
                  </a:tcPr>
                </a:tc>
                <a:tc>
                  <a:txBody>
                    <a:bodyPr/>
                    <a:lstStyle/>
                    <a:p>
                      <a:r>
                        <a:rPr sz="1200" b="0" i="0">
                          <a:solidFill>
                            <a:srgbClr val="1A1440"/>
                          </a:solidFill>
                          <a:latin typeface="Calibri"/>
                        </a:rPr>
                        <a:t>Rs 2,205</a:t>
                      </a:r>
                    </a:p>
                  </a:txBody>
                  <a:tcPr marL="101600" marR="101600" marT="38100" marB="38100" anchor="ctr">
                    <a:solidFill>
                      <a:srgbClr val="F4F2FA"/>
                    </a:solidFill>
                  </a:tcPr>
                </a:tc>
                <a:tc>
                  <a:txBody>
                    <a:bodyPr/>
                    <a:lstStyle/>
                    <a:p>
                      <a:r>
                        <a:rPr sz="1200" b="0" i="0">
                          <a:solidFill>
                            <a:srgbClr val="1A1440"/>
                          </a:solidFill>
                          <a:latin typeface="Calibri"/>
                        </a:rPr>
                        <a:t>Rs 2,060</a:t>
                      </a:r>
                    </a:p>
                  </a:txBody>
                  <a:tcPr marL="101600" marR="101600" marT="38100" marB="38100" anchor="ctr">
                    <a:solidFill>
                      <a:srgbClr val="F4F2FA"/>
                    </a:solidFill>
                  </a:tcPr>
                </a:tc>
                <a:tc>
                  <a:txBody>
                    <a:bodyPr/>
                    <a:lstStyle/>
                    <a:p>
                      <a:r>
                        <a:rPr sz="1200" b="0" i="0">
                          <a:solidFill>
                            <a:srgbClr val="1A1440"/>
                          </a:solidFill>
                          <a:latin typeface="Calibri"/>
                        </a:rPr>
                        <a:t>It held.</a:t>
                      </a:r>
                    </a:p>
                  </a:txBody>
                  <a:tcPr marL="101600" marR="101600" marT="38100" marB="38100" anchor="ctr">
                    <a:solidFill>
                      <a:srgbClr val="F4F2FA"/>
                    </a:solidFill>
                  </a:tcPr>
                </a:tc>
              </a:tr>
              <a:tr h="335280">
                <a:tc>
                  <a:txBody>
                    <a:bodyPr/>
                    <a:lstStyle/>
                    <a:p>
                      <a:r>
                        <a:rPr sz="1200" b="0" i="0">
                          <a:solidFill>
                            <a:srgbClr val="1A1440"/>
                          </a:solidFill>
                          <a:latin typeface="Calibri"/>
                        </a:rPr>
                        <a:t>One-time buyers</a:t>
                      </a:r>
                    </a:p>
                  </a:txBody>
                  <a:tcPr marL="101600" marR="101600" marT="38100" marB="38100" anchor="ctr">
                    <a:solidFill>
                      <a:srgbClr val="FFFFFF"/>
                    </a:solidFill>
                  </a:tcPr>
                </a:tc>
                <a:tc>
                  <a:txBody>
                    <a:bodyPr/>
                    <a:lstStyle/>
                    <a:p>
                      <a:r>
                        <a:rPr sz="1200" b="0" i="0">
                          <a:solidFill>
                            <a:srgbClr val="1A1440"/>
                          </a:solidFill>
                          <a:latin typeface="Calibri"/>
                        </a:rPr>
                        <a:t>16 of 23, 9 too recent</a:t>
                      </a:r>
                    </a:p>
                  </a:txBody>
                  <a:tcPr marL="101600" marR="101600" marT="38100" marB="38100" anchor="ctr">
                    <a:solidFill>
                      <a:srgbClr val="FFFFFF"/>
                    </a:solidFill>
                  </a:tcPr>
                </a:tc>
                <a:tc>
                  <a:txBody>
                    <a:bodyPr/>
                    <a:lstStyle/>
                    <a:p>
                      <a:r>
                        <a:rPr sz="1200" b="0" i="0">
                          <a:solidFill>
                            <a:srgbClr val="1A1440"/>
                          </a:solidFill>
                          <a:latin typeface="Calibri"/>
                        </a:rPr>
                        <a:t>17 of 19, 7 too recent</a:t>
                      </a:r>
                    </a:p>
                  </a:txBody>
                  <a:tcPr marL="101600" marR="101600" marT="38100" marB="38100" anchor="ctr">
                    <a:solidFill>
                      <a:srgbClr val="FFFFFF"/>
                    </a:solidFill>
                  </a:tcPr>
                </a:tc>
                <a:tc>
                  <a:txBody>
                    <a:bodyPr/>
                    <a:lstStyle/>
                    <a:p>
                      <a:r>
                        <a:rPr sz="1200" b="0" i="0">
                          <a:solidFill>
                            <a:srgbClr val="1A1440"/>
                          </a:solidFill>
                          <a:latin typeface="Calibri"/>
                        </a:rPr>
                        <a:t>It held.</a:t>
                      </a:r>
                    </a:p>
                  </a:txBody>
                  <a:tcPr marL="101600" marR="101600" marT="38100" marB="38100" anchor="ctr">
                    <a:solidFill>
                      <a:srgbClr val="FFFFFF"/>
                    </a:solidFill>
                  </a:tcPr>
                </a:tc>
              </a:tr>
              <a:tr h="335280">
                <a:tc>
                  <a:txBody>
                    <a:bodyPr/>
                    <a:lstStyle/>
                    <a:p>
                      <a:r>
                        <a:rPr sz="1200" b="0" i="0">
                          <a:solidFill>
                            <a:srgbClr val="1A1440"/>
                          </a:solidFill>
                          <a:latin typeface="Calibri"/>
                        </a:rPr>
                        <a:t>Branch</a:t>
                      </a:r>
                    </a:p>
                  </a:txBody>
                  <a:tcPr marL="101600" marR="101600" marT="38100" marB="38100" anchor="ctr">
                    <a:solidFill>
                      <a:srgbClr val="F4F2FA"/>
                    </a:solidFill>
                  </a:tcPr>
                </a:tc>
                <a:tc>
                  <a:txBody>
                    <a:bodyPr/>
                    <a:lstStyle/>
                    <a:p>
                      <a:r>
                        <a:rPr sz="1200" b="0" i="0">
                          <a:solidFill>
                            <a:srgbClr val="1A1440"/>
                          </a:solidFill>
                          <a:latin typeface="Calibri"/>
                        </a:rPr>
                        <a:t>Frequency</a:t>
                      </a:r>
                    </a:p>
                  </a:txBody>
                  <a:tcPr marL="101600" marR="101600" marT="38100" marB="38100" anchor="ctr">
                    <a:solidFill>
                      <a:srgbClr val="F4F2FA"/>
                    </a:solidFill>
                  </a:tcPr>
                </a:tc>
                <a:tc>
                  <a:txBody>
                    <a:bodyPr/>
                    <a:lstStyle/>
                    <a:p>
                      <a:r>
                        <a:rPr sz="1200" b="0" i="0">
                          <a:solidFill>
                            <a:srgbClr val="1A1440"/>
                          </a:solidFill>
                          <a:latin typeface="Calibri"/>
                        </a:rPr>
                        <a:t>Frequency</a:t>
                      </a:r>
                    </a:p>
                  </a:txBody>
                  <a:tcPr marL="101600" marR="101600" marT="38100" marB="38100" anchor="ctr">
                    <a:solidFill>
                      <a:srgbClr val="F4F2FA"/>
                    </a:solidFill>
                  </a:tcPr>
                </a:tc>
                <a:tc>
                  <a:txBody>
                    <a:bodyPr/>
                    <a:lstStyle/>
                    <a:p>
                      <a:r>
                        <a:rPr sz="1200" b="0" i="0">
                          <a:solidFill>
                            <a:srgbClr val="1A1440"/>
                          </a:solidFill>
                          <a:latin typeface="Calibri"/>
                        </a:rPr>
                        <a:t>It held.</a:t>
                      </a:r>
                    </a:p>
                  </a:txBody>
                  <a:tcPr marL="101600" marR="101600" marT="38100" marB="38100" anchor="ctr">
                    <a:solidFill>
                      <a:srgbClr val="F4F2FA"/>
                    </a:solidFill>
                  </a:tcPr>
                </a:tc>
              </a:tr>
            </a:tbl>
          </a:graphicData>
        </a:graphic>
      </p:graphicFrame>
      <p:sp>
        <p:nvSpPr>
          <p:cNvPr id="11" name="TextBox 10"/>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delivered view adds a leak to the note: customers come back, and their second orders are the ones cancelled or returned.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6" name="Oval 15"/>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8" name="Oval 17"/>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The room's wrong answers</a:t>
            </a:r>
          </a:p>
        </p:txBody>
      </p:sp>
      <p:sp>
        <p:nvSpPr>
          <p:cNvPr id="20" name="Oval 19"/>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2" name="Oval 21"/>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4" name="Oval 23"/>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D21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C</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second case, in pairs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Twenty-five minutes in pairs: where revenue comes from, and whether one channel changes the branch.</a:t>
            </a:r>
          </a:p>
        </p:txBody>
      </p:sp>
      <p:sp>
        <p:nvSpPr>
          <p:cNvPr id="10" name="Rounded Rectangle 9"/>
          <p:cNvSpPr/>
          <p:nvPr/>
        </p:nvSpPr>
        <p:spPr>
          <a:xfrm>
            <a:off x="731519"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194219" y="5074920"/>
            <a:ext cx="18006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 Meera acts on</a:t>
            </a:r>
          </a:p>
        </p:txBody>
      </p:sp>
      <p:sp>
        <p:nvSpPr>
          <p:cNvPr id="12" name="Rounded Rectangle 11"/>
          <p:cNvSpPr/>
          <p:nvPr/>
        </p:nvSpPr>
        <p:spPr>
          <a:xfrm>
            <a:off x="4104613"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3" name="Rounded Rectangle 12"/>
          <p:cNvSpPr/>
          <p:nvPr/>
        </p:nvSpPr>
        <p:spPr>
          <a:xfrm>
            <a:off x="5567312" y="5074920"/>
            <a:ext cx="1688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4" name="Rounded Rectangle 13"/>
          <p:cNvSpPr/>
          <p:nvPr/>
        </p:nvSpPr>
        <p:spPr>
          <a:xfrm>
            <a:off x="7365782" y="5074920"/>
            <a:ext cx="1744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second case, in pairs</a:t>
            </a:r>
          </a:p>
        </p:txBody>
      </p:sp>
      <p:sp>
        <p:nvSpPr>
          <p:cNvPr id="15" name="Rounded Rectangle 14"/>
          <p:cNvSpPr/>
          <p:nvPr/>
        </p:nvSpPr>
        <p:spPr>
          <a:xfrm>
            <a:off x="9220214" y="5074920"/>
            <a:ext cx="14089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6" name="Rounded Rectangle 15"/>
          <p:cNvSpPr/>
          <p:nvPr/>
        </p:nvSpPr>
        <p:spPr>
          <a:xfrm>
            <a:off x="10738875" y="5074920"/>
            <a:ext cx="8493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asks where revenue comes from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By customer type and by channel, on the same 30 orders.</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"Where does revenue come from, by customer type and channel?"</a:t>
            </a:r>
          </a:p>
        </p:txBody>
      </p:sp>
      <p:graphicFrame>
        <p:nvGraphicFramePr>
          <p:cNvPr id="14" name="Table 13"/>
          <p:cNvGraphicFramePr>
            <a:graphicFrameLocks noGrp="1"/>
          </p:cNvGraphicFramePr>
          <p:nvPr/>
        </p:nvGraphicFramePr>
        <p:xfrm>
          <a:off x="530352" y="2983992"/>
          <a:ext cx="11130990" cy="1849120"/>
        </p:xfrm>
        <a:graphic>
          <a:graphicData uri="http://schemas.openxmlformats.org/drawingml/2006/table">
            <a:tbl>
              <a:tblPr firstRow="0" bandRow="0">
                <a:tableStyleId>{2D5ABB26-0587-4C30-8999-92F81FD0307C}</a:tableStyleId>
              </a:tblPr>
              <a:tblGrid>
                <a:gridCol w="2733626"/>
                <a:gridCol w="914400"/>
                <a:gridCol w="7482964"/>
              </a:tblGrid>
              <a:tr h="369824">
                <a:tc>
                  <a:txBody>
                    <a:bodyPr/>
                    <a:lstStyle/>
                    <a:p>
                      <a:r>
                        <a:rPr sz="1450" b="1" i="0">
                          <a:solidFill>
                            <a:srgbClr val="FFFFFF"/>
                          </a:solidFill>
                          <a:latin typeface="Calibri"/>
                        </a:rPr>
                        <a:t>Customer type</a:t>
                      </a:r>
                    </a:p>
                  </a:txBody>
                  <a:tcPr marL="101600" marR="101600" marT="38100" marB="38100" anchor="ctr">
                    <a:solidFill>
                      <a:srgbClr val="1A0F5C"/>
                    </a:solidFill>
                  </a:tcPr>
                </a:tc>
                <a:tc>
                  <a:txBody>
                    <a:bodyPr/>
                    <a:lstStyle/>
                    <a:p>
                      <a:r>
                        <a:rPr sz="1450" b="1" i="0">
                          <a:solidFill>
                            <a:srgbClr val="FFFFFF"/>
                          </a:solidFill>
                          <a:latin typeface="Calibri"/>
                        </a:rPr>
                        <a:t>Orders</a:t>
                      </a:r>
                    </a:p>
                  </a:txBody>
                  <a:tcPr marL="101600" marR="101600" marT="38100" marB="38100" anchor="ctr">
                    <a:solidFill>
                      <a:srgbClr val="1A0F5C"/>
                    </a:solidFill>
                  </a:tcPr>
                </a:tc>
                <a:tc>
                  <a:txBody>
                    <a:bodyPr/>
                    <a:lstStyle/>
                    <a:p>
                      <a:r>
                        <a:rPr sz="1450" b="1" i="0">
                          <a:solidFill>
                            <a:srgbClr val="FFFFFF"/>
                          </a:solidFill>
                          <a:latin typeface="Calibri"/>
                        </a:rPr>
                        <a:t>Booked revenue</a:t>
                      </a:r>
                    </a:p>
                  </a:txBody>
                  <a:tcPr marL="101600" marR="101600" marT="38100" marB="38100" anchor="ctr">
                    <a:solidFill>
                      <a:srgbClr val="1A0F5C"/>
                    </a:solidFill>
                  </a:tcPr>
                </a:tc>
              </a:tr>
              <a:tr h="369824">
                <a:tc>
                  <a:txBody>
                    <a:bodyPr/>
                    <a:lstStyle/>
                    <a:p>
                      <a:r>
                        <a:rPr sz="1400" b="0" i="0">
                          <a:solidFill>
                            <a:srgbClr val="1A1440"/>
                          </a:solidFill>
                          <a:latin typeface="Calibri"/>
                        </a:rPr>
                        <a:t>Retail-Core</a:t>
                      </a:r>
                    </a:p>
                  </a:txBody>
                  <a:tcPr marL="101600" marR="101600" marT="38100" marB="38100" anchor="ctr">
                    <a:solidFill>
                      <a:srgbClr val="FFFFFF"/>
                    </a:solidFill>
                  </a:tcPr>
                </a:tc>
                <a:tc>
                  <a:txBody>
                    <a:bodyPr/>
                    <a:lstStyle/>
                    <a:p>
                      <a:r>
                        <a:rPr sz="1400" b="0" i="0">
                          <a:solidFill>
                            <a:srgbClr val="1A1440"/>
                          </a:solidFill>
                          <a:latin typeface="Calibri"/>
                        </a:rPr>
                        <a:t>14</a:t>
                      </a:r>
                    </a:p>
                  </a:txBody>
                  <a:tcPr marL="101600" marR="101600" marT="38100" marB="38100" anchor="ctr">
                    <a:solidFill>
                      <a:srgbClr val="FFFFFF"/>
                    </a:solidFill>
                  </a:tcPr>
                </a:tc>
                <a:tc>
                  <a:txBody>
                    <a:bodyPr/>
                    <a:lstStyle/>
                    <a:p>
                      <a:r>
                        <a:rPr sz="1400" b="0" i="0">
                          <a:solidFill>
                            <a:srgbClr val="1A1440"/>
                          </a:solidFill>
                          <a:latin typeface="Calibri"/>
                        </a:rPr>
                        <a:t>Rs 32,650</a:t>
                      </a:r>
                    </a:p>
                  </a:txBody>
                  <a:tcPr marL="101600" marR="101600" marT="38100" marB="38100" anchor="ctr">
                    <a:solidFill>
                      <a:srgbClr val="FFFFFF"/>
                    </a:solidFill>
                  </a:tcPr>
                </a:tc>
              </a:tr>
              <a:tr h="369824">
                <a:tc>
                  <a:txBody>
                    <a:bodyPr/>
                    <a:lstStyle/>
                    <a:p>
                      <a:r>
                        <a:rPr sz="1400" b="0" i="0">
                          <a:solidFill>
                            <a:srgbClr val="1A1440"/>
                          </a:solidFill>
                          <a:latin typeface="Calibri"/>
                        </a:rPr>
                        <a:t>Retail-Plus</a:t>
                      </a:r>
                    </a:p>
                  </a:txBody>
                  <a:tcPr marL="101600" marR="101600" marT="38100" marB="38100" anchor="ctr">
                    <a:solidFill>
                      <a:srgbClr val="F4F2FA"/>
                    </a:solidFill>
                  </a:tcPr>
                </a:tc>
                <a:tc>
                  <a:txBody>
                    <a:bodyPr/>
                    <a:lstStyle/>
                    <a:p>
                      <a:r>
                        <a:rPr sz="1400" b="0" i="0">
                          <a:solidFill>
                            <a:srgbClr val="1A1440"/>
                          </a:solidFill>
                          <a:latin typeface="Calibri"/>
                        </a:rPr>
                        <a:t>10</a:t>
                      </a:r>
                    </a:p>
                  </a:txBody>
                  <a:tcPr marL="101600" marR="101600" marT="38100" marB="38100" anchor="ctr">
                    <a:solidFill>
                      <a:srgbClr val="F4F2FA"/>
                    </a:solidFill>
                  </a:tcPr>
                </a:tc>
                <a:tc>
                  <a:txBody>
                    <a:bodyPr/>
                    <a:lstStyle/>
                    <a:p>
                      <a:r>
                        <a:rPr sz="1400" b="0" i="0">
                          <a:solidFill>
                            <a:srgbClr val="1A1440"/>
                          </a:solidFill>
                          <a:latin typeface="Calibri"/>
                        </a:rPr>
                        <a:t>Rs 27,320</a:t>
                      </a:r>
                    </a:p>
                  </a:txBody>
                  <a:tcPr marL="101600" marR="101600" marT="38100" marB="38100" anchor="ctr">
                    <a:solidFill>
                      <a:srgbClr val="F4F2FA"/>
                    </a:solidFill>
                  </a:tcPr>
                </a:tc>
              </a:tr>
              <a:tr h="369824">
                <a:tc>
                  <a:txBody>
                    <a:bodyPr/>
                    <a:lstStyle/>
                    <a:p>
                      <a:r>
                        <a:rPr sz="1400" b="0" i="0">
                          <a:solidFill>
                            <a:srgbClr val="1A1440"/>
                          </a:solidFill>
                          <a:latin typeface="Calibri"/>
                        </a:rPr>
                        <a:t>Student</a:t>
                      </a:r>
                    </a:p>
                  </a:txBody>
                  <a:tcPr marL="101600" marR="101600" marT="38100" marB="38100" anchor="ctr">
                    <a:solidFill>
                      <a:srgbClr val="FFFFFF"/>
                    </a:solidFill>
                  </a:tcPr>
                </a:tc>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Rs 4,840</a:t>
                      </a:r>
                    </a:p>
                  </a:txBody>
                  <a:tcPr marL="101600" marR="101600" marT="38100" marB="38100" anchor="ctr">
                    <a:solidFill>
                      <a:srgbClr val="FFFFFF"/>
                    </a:solidFill>
                  </a:tcPr>
                </a:tc>
              </a:tr>
              <a:tr h="369824">
                <a:tc>
                  <a:txBody>
                    <a:bodyPr/>
                    <a:lstStyle/>
                    <a:p>
                      <a:r>
                        <a:rPr sz="1400" b="0" i="0">
                          <a:solidFill>
                            <a:srgbClr val="1A1440"/>
                          </a:solidFill>
                          <a:latin typeface="Calibri"/>
                        </a:rPr>
                        <a:t>Business</a:t>
                      </a:r>
                    </a:p>
                  </a:txBody>
                  <a:tcPr marL="101600" marR="101600" marT="38100" marB="38100" anchor="ctr">
                    <a:solidFill>
                      <a:srgbClr val="F4F2FA"/>
                    </a:solidFill>
                  </a:tcPr>
                </a:tc>
                <a:tc>
                  <a:txBody>
                    <a:bodyPr/>
                    <a:lstStyle/>
                    <a:p>
                      <a:r>
                        <a:rPr sz="1400" b="0" i="0">
                          <a:solidFill>
                            <a:srgbClr val="1A1440"/>
                          </a:solidFill>
                          <a:latin typeface="Calibri"/>
                        </a:rPr>
                        <a:t>1</a:t>
                      </a:r>
                    </a:p>
                  </a:txBody>
                  <a:tcPr marL="101600" marR="101600" marT="38100" marB="38100" anchor="ctr">
                    <a:solidFill>
                      <a:srgbClr val="F4F2FA"/>
                    </a:solidFill>
                  </a:tcPr>
                </a:tc>
                <a:tc>
                  <a:txBody>
                    <a:bodyPr/>
                    <a:lstStyle/>
                    <a:p>
                      <a:r>
                        <a:rPr sz="1400" b="0" i="0">
                          <a:solidFill>
                            <a:srgbClr val="1A1440"/>
                          </a:solidFill>
                          <a:latin typeface="Calibri"/>
                        </a:rPr>
                        <a:t>The order your chapter 4 sort put at the top</a:t>
                      </a:r>
                    </a:p>
                  </a:txBody>
                  <a:tcPr marL="101600" marR="101600" marT="38100" marB="38100" anchor="ctr">
                    <a:solidFill>
                      <a:srgbClr val="F4F2FA"/>
                    </a:solidFill>
                  </a:tcPr>
                </a:tc>
              </a:tr>
            </a:tbl>
          </a:graphicData>
        </a:graphic>
      </p:graphicFrame>
      <p:sp>
        <p:nvSpPr>
          <p:cNvPr id="15" name="TextBox 14"/>
          <p:cNvSpPr txBox="1"/>
          <p:nvPr/>
        </p:nvSpPr>
        <p:spPr>
          <a:xfrm>
            <a:off x="530352" y="5089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Work in pairs in the second case brief and its notebook. Segment is recorded on each order, so one customer appears under two types.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8" name="Oval 1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20" name="Oval 1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2" name="Oval 2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4" name="Oval 23"/>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9852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26" name="Oval 25"/>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8" name="Oval 27"/>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Store brings 91.6 percent, so is growth store-led?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Booked revenue by channel on all 30 orders, the first chart most pairs draw.</a:t>
            </a:r>
          </a:p>
        </p:txBody>
      </p:sp>
      <p:pic>
        <p:nvPicPr>
          <p:cNvPr id="9" name="mermaid diagram" descr="1d532103f0151062.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yes, store carries nine rupees in ten; b) not yet, count the orders behind each share first; c) yes, and removing cancelled store orders changes little; d) no, app and web hold twenty of the thirty orders.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1" name="Oval 20"/>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23" name="Oval 22"/>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one order carries store's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the 29 consumer orders store holds under a third, and 4 of its 9 were cancelled.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of 10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 ORDERS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carry almost all of store's revenue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18,920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 CONSUMER ORDERS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Rs 64,810 on 29</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 of 9</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CONSUMER STORE ORDERS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cancelled, Rs 9,050</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ic_caee7398c80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[D] One channel carries nine rupees in ten of revenue; does that change where the growth plan invests?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8" name="Oval 2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30" name="Oval 2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2" name="Oval 3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4" name="Oval 33"/>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9852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36" name="Oval 35"/>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8" name="Oval 37"/>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consumer orders, web leads and half comes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Booked against delivered for each channel, in Rs thousand.</a:t>
            </a:r>
          </a:p>
        </p:txBody>
      </p:sp>
      <p:pic>
        <p:nvPicPr>
          <p:cNvPr id="9" name="mermaid diagram" descr="53d64e1caba4427e.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Web books the most, Rs 27,290, and 5 of its 10 orders came back for Rs 14,970. App kept all 10, Rs 18,600.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5" name="Oval 1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9852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21" name="Oval 20"/>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stays first, with two leaks named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channel view leaves the branch where it was and adds two leaks to the note.</a:t>
            </a:r>
          </a:p>
        </p:txBody>
      </p:sp>
      <p:pic>
        <p:nvPicPr>
          <p:cNvPr id="9" name="mermaid diagram" descr="da11e86c16ec0a2d.png"/>
          <p:cNvPicPr>
            <a:picLocks noChangeAspect="1"/>
          </p:cNvPicPr>
          <p:nvPr/>
        </p:nvPicPr>
        <p:blipFill>
          <a:blip r:embed="rId6"/>
          <a:stretch>
            <a:fillRect/>
          </a:stretch>
        </p:blipFill>
        <p:spPr>
          <a:xfrm>
            <a:off x="530352" y="1740683"/>
            <a:ext cx="4786326" cy="4400761"/>
          </a:xfrm>
          <a:prstGeom prst="rect">
            <a:avLst/>
          </a:prstGeom>
        </p:spPr>
      </p:pic>
      <p:sp>
        <p:nvSpPr>
          <p:cNvPr id="10" name="Rounded Rectangle 9"/>
          <p:cNvSpPr/>
          <p:nvPr/>
        </p:nvSpPr>
        <p:spPr>
          <a:xfrm>
            <a:off x="5761917" y="1956816"/>
            <a:ext cx="589942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6100245" y="265785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1A1440"/>
                </a:solidFill>
                <a:latin typeface="Calibri"/>
              </a:rPr>
              <a:t>"A share is only as strong as the orders behind it. Count them and split them by status, and a 91.6 percent headline turns into two leaks and a branch that stayed where it was."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9" name="Oval 18"/>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3" name="Oval 22"/>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25" name="Oval 24"/>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D</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interview drill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Twenty minutes aloud in pairs: twelve questions from today, each answered in under a minute.</a:t>
            </a:r>
          </a:p>
        </p:txBody>
      </p:sp>
      <p:sp>
        <p:nvSpPr>
          <p:cNvPr id="10" name="Rounded Rectangle 9"/>
          <p:cNvSpPr/>
          <p:nvPr/>
        </p:nvSpPr>
        <p:spPr>
          <a:xfrm>
            <a:off x="731519"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194219" y="5074920"/>
            <a:ext cx="18006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 Meera acts on</a:t>
            </a:r>
          </a:p>
        </p:txBody>
      </p:sp>
      <p:sp>
        <p:nvSpPr>
          <p:cNvPr id="12" name="Rounded Rectangle 11"/>
          <p:cNvSpPr/>
          <p:nvPr/>
        </p:nvSpPr>
        <p:spPr>
          <a:xfrm>
            <a:off x="4104613"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3" name="Rounded Rectangle 12"/>
          <p:cNvSpPr/>
          <p:nvPr/>
        </p:nvSpPr>
        <p:spPr>
          <a:xfrm>
            <a:off x="5567312" y="5074920"/>
            <a:ext cx="1688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4" name="Rounded Rectangle 13"/>
          <p:cNvSpPr/>
          <p:nvPr/>
        </p:nvSpPr>
        <p:spPr>
          <a:xfrm>
            <a:off x="7365782" y="5074920"/>
            <a:ext cx="1744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5" name="Rounded Rectangle 14"/>
          <p:cNvSpPr/>
          <p:nvPr/>
        </p:nvSpPr>
        <p:spPr>
          <a:xfrm>
            <a:off x="9220214" y="5074920"/>
            <a:ext cx="140893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interview drill</a:t>
            </a:r>
          </a:p>
        </p:txBody>
      </p:sp>
      <p:sp>
        <p:nvSpPr>
          <p:cNvPr id="16" name="Rounded Rectangle 15"/>
          <p:cNvSpPr/>
          <p:nvPr/>
        </p:nvSpPr>
        <p:spPr>
          <a:xfrm>
            <a:off x="10738875" y="5074920"/>
            <a:ext cx="8493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sales, fractions and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pairs: one asks, one answers aloud in under a minute, then swap.</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counts as "sales": booked, net of cancellations, or delivered, and which do you give a CEO?</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How would you decide between summing the file yourself and asking Finance for the number?</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extract shows 30 orders and 30 customers; what do you check before saying nobody comes back?</a:t>
                      </a:r>
                    </a:p>
                  </a:txBody>
                  <a:tcPr marL="101600" marR="101600" marT="38100" marB="38100" anchor="ctr">
                    <a:solidFill>
                      <a:srgbClr val="FFFFFF"/>
                    </a:solidFill>
                  </a:tcPr>
                </a:tc>
              </a:tr>
              <a:tr h="369824">
                <a:tc>
                  <a:txBody>
                    <a:bodyPr/>
                    <a:lstStyle/>
                    <a:p>
                      <a:r>
                        <a:rPr sz="1400" b="0" i="0">
                          <a:solidFill>
                            <a:srgbClr val="1A1440"/>
                          </a:solidFill>
                          <a:latin typeface="Calibri"/>
                        </a:rPr>
                        <a:t>[SV]</a:t>
                      </a:r>
                    </a:p>
                  </a:txBody>
                  <a:tcPr marL="101600" marR="101600" marT="38100" marB="38100" anchor="ctr">
                    <a:solidFill>
                      <a:srgbClr val="F4F2FA"/>
                    </a:solidFill>
                  </a:tcPr>
                </a:tc>
                <a:tc>
                  <a:txBody>
                    <a:bodyPr/>
                    <a:lstStyle/>
                    <a:p>
                      <a:r>
                        <a:rPr sz="1400" b="0" i="0">
                          <a:solidFill>
                            <a:srgbClr val="1A1440"/>
                          </a:solidFill>
                          <a:latin typeface="Calibri"/>
                        </a:rPr>
                        <a:t>A list against a dictionary: when do you reach for each?</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0" name="Oval 19"/>
          <p:cNvSpPr/>
          <p:nvPr/>
        </p:nvSpPr>
        <p:spPr>
          <a:xfrm>
            <a:off x="801443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24158"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2" name="Oval 21"/>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the typical order and the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drill, on chapters 2, 4 and 5.</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Mean or median for order value, and why?</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Which middle would you put in a payback model, and what would make you change it?</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 business says "grow revenue 15 percent"; how do you turn that into questions data can answer?</a:t>
                      </a:r>
                    </a:p>
                  </a:txBody>
                  <a:tcPr marL="101600" marR="101600" marT="38100" marB="38100" anchor="ctr">
                    <a:solidFill>
                      <a:srgbClr val="FFFFFF"/>
                    </a:solidFill>
                  </a:tcPr>
                </a:tc>
              </a:tr>
              <a:tr h="611632">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A 10 percent lift in customers and a 10 percent lift in frequency make 20 percent growth; what is the right number, and when does it matter?</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0" name="Oval 19"/>
          <p:cNvSpPr/>
          <p:nvPr/>
        </p:nvSpPr>
        <p:spPr>
          <a:xfrm>
            <a:off x="801443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24158"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2" name="Oval 21"/>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the branch and the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drill's last four, where the answer is a recommendation with its evidence.</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How would you increase sales for an online retailer?</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Marketing wants budget for acquisition; what would you check before agreeing it is the right branch, and how would you say no?</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You have one quarter of orders and 70 percent of customers bought once; what do you tell the CEO?</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One channel carries nine rupees in ten of revenue; does that change where the growth plan invests?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0" name="Oval 19"/>
          <p:cNvSpPr/>
          <p:nvPr/>
        </p:nvSpPr>
        <p:spPr>
          <a:xfrm>
            <a:off x="801443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24158"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2" name="Oval 21"/>
          <p:cNvSpPr/>
          <p:nvPr/>
        </p:nvSpPr>
        <p:spPr>
          <a:xfrm>
            <a:off x="93640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47375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E</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Kahoot, the six lines to keep, and the question Meera sends back.</a:t>
            </a:r>
          </a:p>
        </p:txBody>
      </p:sp>
      <p:sp>
        <p:nvSpPr>
          <p:cNvPr id="10" name="Rounded Rectangle 9"/>
          <p:cNvSpPr/>
          <p:nvPr/>
        </p:nvSpPr>
        <p:spPr>
          <a:xfrm>
            <a:off x="731519"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194219" y="5074920"/>
            <a:ext cx="18006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 Meera acts on</a:t>
            </a:r>
          </a:p>
        </p:txBody>
      </p:sp>
      <p:sp>
        <p:nvSpPr>
          <p:cNvPr id="12" name="Rounded Rectangle 11"/>
          <p:cNvSpPr/>
          <p:nvPr/>
        </p:nvSpPr>
        <p:spPr>
          <a:xfrm>
            <a:off x="4104613" y="5074920"/>
            <a:ext cx="13529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3" name="Rounded Rectangle 12"/>
          <p:cNvSpPr/>
          <p:nvPr/>
        </p:nvSpPr>
        <p:spPr>
          <a:xfrm>
            <a:off x="5567312" y="5074920"/>
            <a:ext cx="168874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4" name="Rounded Rectangle 13"/>
          <p:cNvSpPr/>
          <p:nvPr/>
        </p:nvSpPr>
        <p:spPr>
          <a:xfrm>
            <a:off x="7365782" y="5074920"/>
            <a:ext cx="1744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5" name="Rounded Rectangle 14"/>
          <p:cNvSpPr/>
          <p:nvPr/>
        </p:nvSpPr>
        <p:spPr>
          <a:xfrm>
            <a:off x="9220214" y="5074920"/>
            <a:ext cx="140893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6" name="Rounded Rectangle 15"/>
          <p:cNvSpPr/>
          <p:nvPr/>
        </p:nvSpPr>
        <p:spPr>
          <a:xfrm>
            <a:off x="10738875" y="5074920"/>
            <a:ext cx="84931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today's traps, played for speed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Ungraded: it shows what the day left in the room.</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chapter trap, and two more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SCORES RECORDED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ungraded, every day</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RETURN QUESTION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today, in Tuesday's Kahoot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25" name="Oval 2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7" name="Oval 2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9" name="Oval 28"/>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1" name="Oval 30"/>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3" name="Oval 32"/>
          <p:cNvSpPr/>
          <p:nvPr/>
        </p:nvSpPr>
        <p:spPr>
          <a:xfrm>
            <a:off x="93640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47375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lines to carry out of Monday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line is a chapter's trap turned into a habit.</a:t>
            </a:r>
          </a:p>
        </p:txBody>
      </p:sp>
      <p:sp>
        <p:nvSpPr>
          <p:cNvPr id="9" name="Rounded Rectangle 8"/>
          <p:cNvSpPr/>
          <p:nvPr/>
        </p:nvSpPr>
        <p:spPr>
          <a:xfrm>
            <a:off x="53035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6443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TextBox 10"/>
          <p:cNvSpPr txBox="1"/>
          <p:nvPr/>
        </p:nvSpPr>
        <p:spPr>
          <a:xfrm>
            <a:off x="731519"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1</a:t>
            </a:r>
          </a:p>
        </p:txBody>
      </p:sp>
      <p:sp>
        <p:nvSpPr>
          <p:cNvPr id="12" name="TextBox 11"/>
          <p:cNvSpPr txBox="1"/>
          <p:nvPr/>
        </p:nvSpPr>
        <p:spPr>
          <a:xfrm>
            <a:off x="731519"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Definition</a:t>
            </a:r>
          </a:p>
        </p:txBody>
      </p:sp>
      <p:sp>
        <p:nvSpPr>
          <p:cNvPr id="13" name="TextBox 12"/>
          <p:cNvSpPr txBox="1"/>
          <p:nvPr/>
        </p:nvSpPr>
        <p:spPr>
          <a:xfrm>
            <a:off x="731519" y="2736596"/>
            <a:ext cx="1300429" cy="944626"/>
          </a:xfrm>
          <a:prstGeom prst="rect">
            <a:avLst/>
          </a:prstGeom>
          <a:noFill/>
        </p:spPr>
        <p:txBody>
          <a:bodyPr wrap="square" anchor="t" lIns="0" rIns="0" tIns="0" bIns="0">
            <a:spAutoFit/>
          </a:bodyPr>
          <a:lstStyle/>
          <a:p>
            <a:pPr algn="l"/>
            <a:r>
              <a:rPr sz="1100" b="0" i="0">
                <a:solidFill>
                  <a:srgbClr val="6B6690"/>
                </a:solidFill>
                <a:latin typeface="Calibri"/>
              </a:rPr>
              <a:t>Name the definition before the number: booked, not cancelled, or delivered.</a:t>
            </a:r>
          </a:p>
        </p:txBody>
      </p:sp>
      <p:sp>
        <p:nvSpPr>
          <p:cNvPr id="14" name="Rounded Rectangle 13"/>
          <p:cNvSpPr/>
          <p:nvPr/>
        </p:nvSpPr>
        <p:spPr>
          <a:xfrm>
            <a:off x="2415997"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5008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6" name="TextBox 15"/>
          <p:cNvSpPr txBox="1"/>
          <p:nvPr/>
        </p:nvSpPr>
        <p:spPr>
          <a:xfrm>
            <a:off x="2617165"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2</a:t>
            </a:r>
          </a:p>
        </p:txBody>
      </p:sp>
      <p:sp>
        <p:nvSpPr>
          <p:cNvPr id="17" name="TextBox 16"/>
          <p:cNvSpPr txBox="1"/>
          <p:nvPr/>
        </p:nvSpPr>
        <p:spPr>
          <a:xfrm>
            <a:off x="2617165"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One fraction</a:t>
            </a:r>
          </a:p>
        </p:txBody>
      </p:sp>
      <p:sp>
        <p:nvSpPr>
          <p:cNvPr id="18" name="TextBox 17"/>
          <p:cNvSpPr txBox="1"/>
          <p:nvPr/>
        </p:nvSpPr>
        <p:spPr>
          <a:xfrm>
            <a:off x="2617165" y="2736596"/>
            <a:ext cx="1300429" cy="944626"/>
          </a:xfrm>
          <a:prstGeom prst="rect">
            <a:avLst/>
          </a:prstGeom>
          <a:noFill/>
        </p:spPr>
        <p:txBody>
          <a:bodyPr wrap="square" anchor="t" lIns="0" rIns="0" tIns="0" bIns="0">
            <a:spAutoFit/>
          </a:bodyPr>
          <a:lstStyle/>
          <a:p>
            <a:pPr algn="l"/>
            <a:r>
              <a:rPr sz="1100" b="0" i="0">
                <a:solidFill>
                  <a:srgbClr val="6B6690"/>
                </a:solidFill>
                <a:latin typeface="Calibri"/>
              </a:rPr>
              <a:t>Build every fraction on one definition, and check that it multiplies back.</a:t>
            </a:r>
          </a:p>
        </p:txBody>
      </p:sp>
      <p:sp>
        <p:nvSpPr>
          <p:cNvPr id="19" name="Rounded Rectangle 18"/>
          <p:cNvSpPr/>
          <p:nvPr/>
        </p:nvSpPr>
        <p:spPr>
          <a:xfrm>
            <a:off x="430164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3572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3</a:t>
            </a:r>
          </a:p>
        </p:txBody>
      </p:sp>
      <p:sp>
        <p:nvSpPr>
          <p:cNvPr id="21" name="TextBox 20"/>
          <p:cNvSpPr txBox="1"/>
          <p:nvPr/>
        </p:nvSpPr>
        <p:spPr>
          <a:xfrm>
            <a:off x="4502810"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3</a:t>
            </a:r>
          </a:p>
        </p:txBody>
      </p:sp>
      <p:sp>
        <p:nvSpPr>
          <p:cNvPr id="22" name="TextBox 21"/>
          <p:cNvSpPr txBox="1"/>
          <p:nvPr/>
        </p:nvSpPr>
        <p:spPr>
          <a:xfrm>
            <a:off x="4502810"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Customers</a:t>
            </a:r>
          </a:p>
        </p:txBody>
      </p:sp>
      <p:sp>
        <p:nvSpPr>
          <p:cNvPr id="23" name="TextBox 22"/>
          <p:cNvSpPr txBox="1"/>
          <p:nvPr/>
        </p:nvSpPr>
        <p:spPr>
          <a:xfrm>
            <a:off x="4502810" y="2736596"/>
            <a:ext cx="1300429" cy="581406"/>
          </a:xfrm>
          <a:prstGeom prst="rect">
            <a:avLst/>
          </a:prstGeom>
          <a:noFill/>
        </p:spPr>
        <p:txBody>
          <a:bodyPr wrap="square" anchor="t" lIns="0" rIns="0" tIns="0" bIns="0">
            <a:spAutoFit/>
          </a:bodyPr>
          <a:lstStyle/>
          <a:p>
            <a:pPr algn="l"/>
            <a:r>
              <a:rPr sz="1100" b="0" i="0">
                <a:solidFill>
                  <a:srgbClr val="6B6690"/>
                </a:solidFill>
                <a:latin typeface="Calibri"/>
              </a:rPr>
              <a:t>Count customers by their id, never by the rows.</a:t>
            </a:r>
          </a:p>
        </p:txBody>
      </p:sp>
      <p:sp>
        <p:nvSpPr>
          <p:cNvPr id="24" name="Rounded Rectangle 23"/>
          <p:cNvSpPr/>
          <p:nvPr/>
        </p:nvSpPr>
        <p:spPr>
          <a:xfrm>
            <a:off x="6187287"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02137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4</a:t>
            </a:r>
          </a:p>
        </p:txBody>
      </p:sp>
      <p:sp>
        <p:nvSpPr>
          <p:cNvPr id="26" name="TextBox 25"/>
          <p:cNvSpPr txBox="1"/>
          <p:nvPr/>
        </p:nvSpPr>
        <p:spPr>
          <a:xfrm>
            <a:off x="6388455"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4</a:t>
            </a:r>
          </a:p>
        </p:txBody>
      </p:sp>
      <p:sp>
        <p:nvSpPr>
          <p:cNvPr id="27" name="TextBox 26"/>
          <p:cNvSpPr txBox="1"/>
          <p:nvPr/>
        </p:nvSpPr>
        <p:spPr>
          <a:xfrm>
            <a:off x="6388455"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Typical order</a:t>
            </a:r>
          </a:p>
        </p:txBody>
      </p:sp>
      <p:sp>
        <p:nvSpPr>
          <p:cNvPr id="28" name="TextBox 27"/>
          <p:cNvSpPr txBox="1"/>
          <p:nvPr/>
        </p:nvSpPr>
        <p:spPr>
          <a:xfrm>
            <a:off x="6388455" y="2736596"/>
            <a:ext cx="1300429" cy="763016"/>
          </a:xfrm>
          <a:prstGeom prst="rect">
            <a:avLst/>
          </a:prstGeom>
          <a:noFill/>
        </p:spPr>
        <p:txBody>
          <a:bodyPr wrap="square" anchor="t" lIns="0" rIns="0" tIns="0" bIns="0">
            <a:spAutoFit/>
          </a:bodyPr>
          <a:lstStyle/>
          <a:p>
            <a:pPr algn="l"/>
            <a:r>
              <a:rPr sz="1100" b="0" i="0">
                <a:solidFill>
                  <a:srgbClr val="6B6690"/>
                </a:solidFill>
                <a:latin typeface="Calibri"/>
              </a:rPr>
              <a:t>Report the median when one order can move the mean, and say why.</a:t>
            </a:r>
          </a:p>
        </p:txBody>
      </p:sp>
      <p:sp>
        <p:nvSpPr>
          <p:cNvPr id="29" name="Rounded Rectangle 28"/>
          <p:cNvSpPr/>
          <p:nvPr/>
        </p:nvSpPr>
        <p:spPr>
          <a:xfrm>
            <a:off x="807293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907018"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5</a:t>
            </a:r>
          </a:p>
        </p:txBody>
      </p:sp>
      <p:sp>
        <p:nvSpPr>
          <p:cNvPr id="31" name="TextBox 30"/>
          <p:cNvSpPr txBox="1"/>
          <p:nvPr/>
        </p:nvSpPr>
        <p:spPr>
          <a:xfrm>
            <a:off x="8274100"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5</a:t>
            </a:r>
          </a:p>
        </p:txBody>
      </p:sp>
      <p:sp>
        <p:nvSpPr>
          <p:cNvPr id="32" name="TextBox 31"/>
          <p:cNvSpPr txBox="1"/>
          <p:nvPr/>
        </p:nvSpPr>
        <p:spPr>
          <a:xfrm>
            <a:off x="8274100"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Lifts</a:t>
            </a:r>
          </a:p>
        </p:txBody>
      </p:sp>
      <p:sp>
        <p:nvSpPr>
          <p:cNvPr id="33" name="TextBox 32"/>
          <p:cNvSpPr txBox="1"/>
          <p:nvPr/>
        </p:nvSpPr>
        <p:spPr>
          <a:xfrm>
            <a:off x="8274100" y="2736596"/>
            <a:ext cx="1300429" cy="763016"/>
          </a:xfrm>
          <a:prstGeom prst="rect">
            <a:avLst/>
          </a:prstGeom>
          <a:noFill/>
        </p:spPr>
        <p:txBody>
          <a:bodyPr wrap="square" anchor="t" lIns="0" rIns="0" tIns="0" bIns="0">
            <a:spAutoFit/>
          </a:bodyPr>
          <a:lstStyle/>
          <a:p>
            <a:pPr algn="l"/>
            <a:r>
              <a:rPr sz="1100" b="0" i="0">
                <a:solidFill>
                  <a:srgbClr val="6B6690"/>
                </a:solidFill>
                <a:latin typeface="Calibri"/>
              </a:rPr>
              <a:t>Lifts multiply along the tree: two 10 percent lifts make 21 percent.</a:t>
            </a:r>
          </a:p>
        </p:txBody>
      </p:sp>
      <p:sp>
        <p:nvSpPr>
          <p:cNvPr id="34" name="Rounded Rectangle 33"/>
          <p:cNvSpPr/>
          <p:nvPr/>
        </p:nvSpPr>
        <p:spPr>
          <a:xfrm>
            <a:off x="9958578" y="1956816"/>
            <a:ext cx="1702765" cy="21986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6</a:t>
            </a:r>
          </a:p>
        </p:txBody>
      </p:sp>
      <p:sp>
        <p:nvSpPr>
          <p:cNvPr id="36" name="TextBox 35"/>
          <p:cNvSpPr txBox="1"/>
          <p:nvPr/>
        </p:nvSpPr>
        <p:spPr>
          <a:xfrm>
            <a:off x="10159746" y="2157984"/>
            <a:ext cx="1300429" cy="160401"/>
          </a:xfrm>
          <a:prstGeom prst="rect">
            <a:avLst/>
          </a:prstGeom>
          <a:noFill/>
        </p:spPr>
        <p:txBody>
          <a:bodyPr wrap="square" anchor="t" lIns="0" rIns="0" tIns="0" bIns="0">
            <a:spAutoFit/>
          </a:bodyPr>
          <a:lstStyle/>
          <a:p>
            <a:pPr algn="l"/>
            <a:r>
              <a:rPr sz="750" b="1" i="0" spc="250">
                <a:solidFill>
                  <a:srgbClr val="D9A7FF"/>
                </a:solidFill>
                <a:latin typeface="Calibri"/>
              </a:rPr>
              <a:t>CHAPTER 6</a:t>
            </a:r>
          </a:p>
        </p:txBody>
      </p:sp>
      <p:sp>
        <p:nvSpPr>
          <p:cNvPr id="37" name="TextBox 36"/>
          <p:cNvSpPr txBox="1"/>
          <p:nvPr/>
        </p:nvSpPr>
        <p:spPr>
          <a:xfrm>
            <a:off x="10159746" y="2395728"/>
            <a:ext cx="1300429" cy="498856"/>
          </a:xfrm>
          <a:prstGeom prst="rect">
            <a:avLst/>
          </a:prstGeom>
          <a:noFill/>
        </p:spPr>
        <p:txBody>
          <a:bodyPr wrap="square" anchor="t" lIns="0" rIns="0" tIns="0" bIns="0">
            <a:spAutoFit/>
          </a:bodyPr>
          <a:lstStyle/>
          <a:p>
            <a:pPr algn="l"/>
            <a:r>
              <a:rPr sz="1400" b="1" i="0">
                <a:solidFill>
                  <a:srgbClr val="FFFFFF"/>
                </a:solidFill>
                <a:latin typeface="Calibri"/>
              </a:rPr>
              <a:t>The window's edge</a:t>
            </a:r>
          </a:p>
        </p:txBody>
      </p:sp>
      <p:sp>
        <p:nvSpPr>
          <p:cNvPr id="38" name="TextBox 37"/>
          <p:cNvSpPr txBox="1"/>
          <p:nvPr/>
        </p:nvSpPr>
        <p:spPr>
          <a:xfrm>
            <a:off x="10159746" y="2967736"/>
            <a:ext cx="1300429" cy="944626"/>
          </a:xfrm>
          <a:prstGeom prst="rect">
            <a:avLst/>
          </a:prstGeom>
          <a:noFill/>
        </p:spPr>
        <p:txBody>
          <a:bodyPr wrap="square" anchor="t" lIns="0" rIns="0" tIns="0" bIns="0">
            <a:spAutoFit/>
          </a:bodyPr>
          <a:lstStyle/>
          <a:p>
            <a:pPr algn="l"/>
            <a:r>
              <a:rPr sz="1100" b="0" i="0">
                <a:solidFill>
                  <a:srgbClr val="CFC9EE"/>
                </a:solidFill>
                <a:latin typeface="Calibri"/>
              </a:rPr>
              <a:t>A one-time buyer is not a lost customer until they have had time to come back.</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1" name="Oval 40"/>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43" name="Oval 42"/>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45" name="Oval 44"/>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47" name="Oval 46"/>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49" name="Oval 48"/>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51" name="Oval 50"/>
          <p:cNvSpPr/>
          <p:nvPr/>
        </p:nvSpPr>
        <p:spPr>
          <a:xfrm>
            <a:off x="93640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947375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Meera asks which branch 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has read today's sentence, and her reply is Tuesday's work.</a:t>
            </a:r>
          </a:p>
        </p:txBody>
      </p:sp>
      <p:sp>
        <p:nvSpPr>
          <p:cNvPr id="9" name="Rounded Rectangle 8"/>
          <p:cNvSpPr/>
          <p:nvPr/>
        </p:nvSpPr>
        <p:spPr>
          <a:xfrm>
            <a:off x="530352" y="168249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014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12445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048256"/>
            <a:ext cx="9987991" cy="682752"/>
          </a:xfrm>
          <a:prstGeom prst="rect">
            <a:avLst/>
          </a:prstGeom>
          <a:noFill/>
        </p:spPr>
        <p:txBody>
          <a:bodyPr wrap="square" anchor="t" lIns="0" rIns="0" tIns="0" bIns="0">
            <a:spAutoFit/>
          </a:bodyPr>
          <a:lstStyle/>
          <a:p>
            <a:r>
              <a:rPr sz="1500" b="0" i="0">
                <a:solidFill>
                  <a:srgbClr val="FFFFFF"/>
                </a:solidFill>
                <a:latin typeface="Calibri"/>
              </a:rPr>
              <a:t>"So revenue is customers, times how often they buy, times basket, times price. Now: which of those moved? Q2 was Rs 1.9 crore, Q1 was 2.1."</a:t>
            </a:r>
          </a:p>
        </p:txBody>
      </p:sp>
      <p:pic>
        <p:nvPicPr>
          <p:cNvPr id="14" name="mermaid diagram" descr="26df075a105de9ac.png"/>
          <p:cNvPicPr>
            <a:picLocks noChangeAspect="1"/>
          </p:cNvPicPr>
          <p:nvPr/>
        </p:nvPicPr>
        <p:blipFill>
          <a:blip r:embed="rId6"/>
          <a:stretch>
            <a:fillRect/>
          </a:stretch>
        </p:blipFill>
        <p:spPr>
          <a:xfrm>
            <a:off x="3095744" y="2968752"/>
            <a:ext cx="6000205" cy="323088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sentence Meera acts on</a:t>
            </a:r>
          </a:p>
        </p:txBody>
      </p:sp>
      <p:sp>
        <p:nvSpPr>
          <p:cNvPr id="19" name="Oval 18"/>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5" name="Oval 24"/>
          <p:cNvSpPr/>
          <p:nvPr/>
        </p:nvSpPr>
        <p:spPr>
          <a:xfrm>
            <a:off x="801443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24158"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93640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47375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