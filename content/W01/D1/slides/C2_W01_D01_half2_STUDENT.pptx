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 tree from the morning is still up: 23 customers, 1.30 orders each,</a:t>
            </a:r>
          </a:p>
          <a:p>
            <a:r>
              <a:t>16 bought once, a typical order of Rs 2,205. The afternoon opens on it.</a:t>
            </a:r>
          </a:p>
          <a:p>
            <a:r>
              <a:t>Transition: chapter 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sized (8), the build (4), the trap (8), the second</a:t>
            </a:r>
          </a:p>
          <a:p>
            <a:r>
              <a:t>route (4), Kavya's review (3). Notebook 05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board tree. The question is now a choice between branches, and a</a:t>
            </a:r>
          </a:p>
          <a:p>
            <a:r>
              <a:t>choice needs the cost of each option beside it.</a:t>
            </a:r>
          </a:p>
          <a:p>
            <a:r>
              <a:t>Transition: companies that pay for frequency directly.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companies could have spent the money on acquisition and chose to pay</a:t>
            </a:r>
          </a:p>
          <a:p>
            <a:r>
              <a:t>existing customers to come back more often. Free or faster delivery removes the reason to batch.</a:t>
            </a:r>
          </a:p>
          <a:p>
            <a:r>
              <a:t>Transition: what the plan asks of each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four. A and B are small asks in customers' actions; the difference is</a:t>
            </a:r>
          </a:p>
          <a:p>
            <a:r>
              <a:t>who is asked: people Kalpa has never met, or people who already bought. C rests on an average the</a:t>
            </a:r>
          </a:p>
          <a:p>
            <a:r>
              <a:t>morning showed one order drags.</a:t>
            </a:r>
          </a:p>
          <a:p>
            <a:r>
              <a:t>What would change the call: Tuesday's second quarter showing customers falling while frequency</a:t>
            </a:r>
          </a:p>
          <a:p>
            <a:r>
              <a:t>held, or a cost per retained order above the cost of acquiring a customer.</a:t>
            </a:r>
          </a:p>
          <a:p>
            <a:r>
              <a:t>Transition: the branch on the tree.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Light the frequency branch on the board tree. Notebook 05's build draws the same</a:t>
            </a:r>
          </a:p>
          <a:p>
            <a:r>
              <a:t>tree and counts the one-time buyers.</a:t>
            </a:r>
          </a:p>
          <a:p>
            <a:r>
              <a:t>Transition: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for the right number before the next slide; take letters: 20, 21, 10, 11.</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Rs 5,44,810 x 1.10 = Rs 5,99,291; x 1.10 again =</a:t>
            </a:r>
          </a:p>
          <a:p>
            <a:r>
              <a:t>Rs 6,59,220. What it would mislead: a target sized by addition is missed by the lift on the lift.</a:t>
            </a:r>
          </a:p>
          <a:p>
            <a:r>
              <a:t>The same rule prices a discount: 0.85 x 1.10 = 0.935, a 6.5 percent fall.</a:t>
            </a:r>
          </a:p>
          <a:p>
            <a:r>
              <a:t>Transition: the lift,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05 draws this as a bridge and asserts it lands on the multiplied total.</a:t>
            </a:r>
          </a:p>
          <a:p>
            <a:r>
              <a:t>The parts route wins the argument with the slide.</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count customers by id and repeat buyers, value a</a:t>
            </a:r>
          </a:p>
          <a:p>
            <a:r>
              <a:t>first order at the median, ask for the prior quarter; the no is a no for now with a date.</a:t>
            </a:r>
          </a:p>
          <a:p>
            <a:r>
              <a:t>Transition: chapter 6,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(5), the trap (10), the build (6), the second route</a:t>
            </a:r>
          </a:p>
          <a:p>
            <a:r>
              <a:t>(3), Kavya's review (3). Notebook 06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five notebooks. Marketing will read the sentence looking for</a:t>
            </a:r>
          </a:p>
          <a:p>
            <a:r>
              <a:t>the number it can recompute into a different story.</a:t>
            </a:r>
          </a:p>
          <a:p>
            <a:r>
              <a:t>Transition: a real company's first-window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point: one window shows a shape,</a:t>
            </a:r>
          </a:p>
          <a:p>
            <a:r>
              <a:t>and the verdict needs the next window.</a:t>
            </a:r>
          </a:p>
          <a:p>
            <a:r>
              <a:t>Transition: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The sentence is the only option that carries a decision and its</a:t>
            </a:r>
          </a:p>
          <a:p>
            <a:r>
              <a:t>limit together.</a:t>
            </a:r>
          </a:p>
          <a:p>
            <a:r>
              <a:t>Transition: the number most likely to be misread.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06 builds the draft from variables so no number drifts from the work.</a:t>
            </a:r>
          </a:p>
          <a:p>
            <a:r>
              <a:t>Ask which number in it marketing will reach for first. Most say the 16.</a:t>
            </a:r>
          </a:p>
          <a:p>
            <a:r>
              <a:t>Transition: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by hand. Most pick a. Ask the question marketing would ask: how long do</a:t>
            </a:r>
          </a:p>
          <a:p>
            <a:r>
              <a:t>our customers usually take to come back?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What 70 percent would mislead: retention looks like an emergency on a number</a:t>
            </a:r>
          </a:p>
          <a:p>
            <a:r>
              <a:t>marketing knocks down in one question. The check measures the usual gap from the customers who did</a:t>
            </a:r>
          </a:p>
          <a:p>
            <a:r>
              <a:t>return and holds back everyone who has not had that long. The fix: 7 came back, 7 had time and did</a:t>
            </a:r>
          </a:p>
          <a:p>
            <a:r>
              <a:t>not, 9 are too recent. The gap rests on 7 customers, so the sentence claims nothing beyond it.</a:t>
            </a:r>
          </a:p>
          <a:p>
            <a:r>
              <a:t>The same edge hides in returns rates, renewals and young cohorts: the dossier's returns trap.</a:t>
            </a:r>
          </a:p>
          <a:p>
            <a:r>
              <a:t>Transition: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16 is replaced by the split, and the sentence carries no "lost"</a:t>
            </a:r>
          </a:p>
          <a:p>
            <a:r>
              <a:t>and no percentage marketing can recompute. Notebook 06's checks assert each number is in it.</a:t>
            </a:r>
          </a:p>
          <a:p>
            <a:r>
              <a:t>Transition: the same caveat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Then the escalated case: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3 to brief on S18 and S19, 30 alone with no slides. The support TA answers</a:t>
            </a:r>
          </a:p>
          <a:p>
            <a:r>
              <a:t>environment problems only. Collect wrong numbers while circulating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brief is exercises/unguided/C2_W01_D01_escalated_case_STUDENT.md and the</a:t>
            </a:r>
          </a:p>
          <a:p>
            <a:r>
              <a:t>notebook is notebooks/C2_W01_D01_ex1_escalated_case_STUDENT.ipynb. Each learner posts nine</a:t>
            </a:r>
          </a:p>
          <a:p>
            <a:r>
              <a:t>letters, the numbers each part asks for, and the sentence.</a:t>
            </a:r>
          </a:p>
          <a:p>
            <a:r>
              <a:t>Transition: 30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next 30 minutes run with this slide on screen. Circulate and write down every wrong</a:t>
            </a:r>
          </a:p>
          <a:p>
            <a:r>
              <a:t>number you see; the debrief is built from them.</a:t>
            </a:r>
          </a:p>
          <a:p>
            <a:r>
              <a:t>Transition: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Use the room's own numbers where they match; the slides carry the six every</a:t>
            </a:r>
          </a:p>
          <a:p>
            <a:r>
              <a:t>room produces. A 10-minute break follows.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a:t>
            </a:r>
          </a:p>
          <a:p>
            <a:r>
              <a:t>why it tempts.</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answer is d. Walk the rows in the order the room met them. Then the two the</a:t>
            </a:r>
          </a:p>
          <a:p>
            <a:r>
              <a:t>escalated case adds: a median of 21 orders taken as the average of two middles, and "17 of 19</a:t>
            </a:r>
          </a:p>
          <a:p>
            <a:r>
              <a:t>lost" on delivered orders, which the same 45-day edge corrects to 7 too recent.</a:t>
            </a:r>
          </a:p>
          <a:p>
            <a:r>
              <a:t>Transition: a 10-minute break, then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4 minutes live if the debrief has time. The key is cbdcaabbc, in the solution</a:t>
            </a:r>
          </a:p>
          <a:p>
            <a:r>
              <a:t>notebook, released at the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S23, 15 in pairs with no slides, then S24 to</a:t>
            </a:r>
          </a:p>
          <a:p>
            <a:r>
              <a:t>S27 as the debrief, about 8 minutes. Do not show S24 before the pairs 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pairs split by channel and by status themselves. Watch for pairs who count</a:t>
            </a:r>
          </a:p>
          <a:p>
            <a:r>
              <a:t>customers across the four types and get 24; that is the customer recorded under two types.</a:t>
            </a:r>
          </a:p>
          <a:p>
            <a:r>
              <a:t>Transition: 15 minutes in pairs.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what the count shows.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 order is real revenue; nobody deletes it. The fix is to recompute on the</a:t>
            </a:r>
          </a:p>
          <a:p>
            <a:r>
              <a:t>29 consumer orders and report the top order on its own line.</a:t>
            </a:r>
          </a:p>
          <a:p>
            <a:r>
              <a:t>Transition: the consumer channels, booked against delivered.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a:t>
            </a:r>
          </a:p>
          <a:p>
            <a:r>
              <a:t>app although web books more.</a:t>
            </a:r>
          </a:p>
          <a:p>
            <a:r>
              <a:t>Transition: does this change the branch?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a:t>
            </a:r>
          </a:p>
          <a:p>
            <a:r>
              <a:t>whether either grew.</a:t>
            </a:r>
          </a:p>
          <a:p>
            <a:r>
              <a:t>Transition: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per slide. In pairs, one asks and one answers aloud, then they swap.</a:t>
            </a:r>
          </a:p>
          <a:p>
            <a:r>
              <a:t>The one-breath answers are in the notes; the full answers are in the study notes and notebooks.</a:t>
            </a:r>
          </a:p>
          <a:p>
            <a:r>
              <a:t>Listen for a number with its definition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reconcile to Finance for anything the board sees.</a:t>
            </a:r>
          </a:p>
          <a:p>
            <a:r>
              <a:t>Thirty and thirty: rows against distinct ids; the set gives 23, so 7 came back.</a:t>
            </a:r>
          </a:p>
          <a:p>
            <a:r>
              <a:t>List or dictionary: a list to keep order and walk every record, a dictionary to count or look up</a:t>
            </a:r>
          </a:p>
          <a:p>
            <a:r>
              <a:t>by a key; records are a list of dictionaries.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the mean</a:t>
            </a:r>
          </a:p>
          <a:p>
            <a:r>
              <a:t>where a total must multiply back.</a:t>
            </a:r>
          </a:p>
          <a:p>
            <a:r>
              <a:t>Payback: the median of new customers' first orders; a mean per customer type if the plan targets</a:t>
            </a:r>
          </a:p>
          <a:p>
            <a:r>
              <a:t>types separately.</a:t>
            </a:r>
          </a:p>
          <a:p>
            <a:r>
              <a:t>Grow 15 percent: which revenue and window, then what 15 percent asks of each branch alone.</a:t>
            </a:r>
          </a:p>
          <a:p>
            <a:r>
              <a:t>Two lifts: 1.10 x 1.10 = 1.21, so 21 percent; the gap grows with the lifts.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open the one with room to move and the</a:t>
            </a:r>
          </a:p>
          <a:p>
            <a:r>
              <a:t>cheapest bill.</a:t>
            </a:r>
          </a:p>
          <a:p>
            <a:r>
              <a:t>Acquisition budget: repeat buyers and the median first order; frequency first, budget waits for</a:t>
            </a:r>
          </a:p>
          <a:p>
            <a:r>
              <a:t>two quarters.</a:t>
            </a:r>
          </a:p>
          <a:p>
            <a:r>
              <a:t>Seventy percent: bought once in this window is a fact and not churn; 9 of 16 bought inside the</a:t>
            </a:r>
          </a:p>
          <a:p>
            <a:r>
              <a:t>45-day gap.</a:t>
            </a:r>
          </a:p>
          <a:p>
            <a:r>
              <a:t>Nine rupees in ten: count the orders behind the share; one order carries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9, the six lines 3, Tuesday's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kahoot/C2_W01_D01_quiz_STUDENT.md. Pause on any item below 60 percent</a:t>
            </a:r>
          </a:p>
          <a:p>
            <a:r>
              <a:t>correct and ask one learner who got it right to explain it.</a:t>
            </a:r>
          </a:p>
          <a:p>
            <a:r>
              <a:t>Transition: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Meera's reply and stop; Tuesday's file settles it. Hand out the domain card</a:t>
            </a:r>
          </a:p>
          <a:p>
            <a:r>
              <a:t>now, one per learner. Remind the room of the take-home and the pre-read, and that the practice lab</a:t>
            </a:r>
          </a:p>
          <a:p>
            <a:r>
              <a:t>follows with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2.png"/><Relationship Id="rId6"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 Id="rId6"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sentence Meera acts on</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7" name="TextBox 16"/>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2257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091993"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plan asks little of either customer branch; the evidence says which one to test.</a:t>
            </a:r>
          </a:p>
        </p:txBody>
      </p:sp>
      <p:sp>
        <p:nvSpPr>
          <p:cNvPr id="10" name="Rounded Rectangle 9"/>
          <p:cNvSpPr/>
          <p:nvPr/>
        </p:nvSpPr>
        <p:spPr>
          <a:xfrm>
            <a:off x="731519" y="5074920"/>
            <a:ext cx="13529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one branch, and why not the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measured, and marketing has proposed moving one of them for Rs 12 crore.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Growth against the 15 percent plan, Rs 81,722 more on this extract</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the marketing lead owns acquisition, the head of Retail-Plus owns the members who come back</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on the branch that was fine,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membership is a bet on the orders-per-customer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31" name="Oval 30"/>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3" name="Oval 3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5" name="Oval 34"/>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7" name="Oval 36"/>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9" name="Oval 38"/>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asks 3.45 customers or 4.5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moved alone, sized on this file, with the evidence the file holds for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11788"/>
                <a:gridCol w="4661232"/>
                <a:gridCol w="485797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plan needs</a:t>
                      </a:r>
                    </a:p>
                  </a:txBody>
                  <a:tcPr marL="101600" marR="101600" marT="38100" marB="38100" anchor="ctr">
                    <a:solidFill>
                      <a:srgbClr val="1A0F5C"/>
                    </a:solidFill>
                  </a:tcPr>
                </a:tc>
                <a:tc>
                  <a:txBody>
                    <a:bodyPr/>
                    <a:lstStyle/>
                    <a:p>
                      <a:r>
                        <a:rPr sz="1450" b="1" i="0">
                          <a:solidFill>
                            <a:srgbClr val="FFFFFF"/>
                          </a:solidFill>
                          <a:latin typeface="Calibri"/>
                        </a:rPr>
                        <a:t>Evidence in this file</a:t>
                      </a:r>
                    </a:p>
                  </a:txBody>
                  <a:tcPr marL="101600" marR="101600" marT="38100" marB="38100" anchor="ctr">
                    <a:solidFill>
                      <a:srgbClr val="1A0F5C"/>
                    </a:solidFill>
                  </a:tcPr>
                </a:tc>
              </a:tr>
              <a:tr h="369824">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3.45 more who buy like today's</a:t>
                      </a:r>
                    </a:p>
                  </a:txBody>
                  <a:tcPr marL="101600" marR="101600" marT="38100" marB="38100" anchor="ctr">
                    <a:solidFill>
                      <a:srgbClr val="FFFFFF"/>
                    </a:solidFill>
                  </a:tcPr>
                </a:tc>
                <a:tc>
                  <a:txBody>
                    <a:bodyPr/>
                    <a:lstStyle/>
                    <a:p>
                      <a:r>
                        <a:rPr sz="1400" b="0" i="0">
                          <a:solidFill>
                            <a:srgbClr val="1A1440"/>
                          </a:solidFill>
                          <a:latin typeface="Calibri"/>
                        </a:rPr>
                        <a:t>None; one window cannot show customers falling.</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4.5 more orders from the same 23</a:t>
                      </a:r>
                    </a:p>
                  </a:txBody>
                  <a:tcPr marL="101600" marR="101600" marT="38100" marB="38100" anchor="ctr">
                    <a:solidFill>
                      <a:srgbClr val="F4F2FA"/>
                    </a:solidFill>
                  </a:tcPr>
                </a:tc>
                <a:tc>
                  <a:txBody>
                    <a:bodyPr/>
                    <a:lstStyle/>
                    <a:p>
                      <a:r>
                        <a:rPr sz="1400" b="0" i="0">
                          <a:solidFill>
                            <a:srgbClr val="1A1440"/>
                          </a:solidFill>
                          <a:latin typeface="Calibri"/>
                        </a:rPr>
                        <a:t>7 of 23 already came back.</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Rs 2,724 more on every order</a:t>
                      </a:r>
                    </a:p>
                  </a:txBody>
                  <a:tcPr marL="101600" marR="101600" marT="38100" marB="38100" anchor="ctr">
                    <a:solidFill>
                      <a:srgbClr val="FFFFFF"/>
                    </a:solidFill>
                  </a:tcPr>
                </a:tc>
                <a:tc>
                  <a:txBody>
                    <a:bodyPr/>
                    <a:lstStyle/>
                    <a:p>
                      <a:r>
                        <a:rPr sz="1400" b="0" i="0">
                          <a:solidFill>
                            <a:srgbClr val="1A1440"/>
                          </a:solidFill>
                          <a:latin typeface="Calibri"/>
                        </a:rPr>
                        <a:t>Items and prices are not in the file.</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Every price 15 percent higher, nobody leaving</a:t>
                      </a:r>
                    </a:p>
                  </a:txBody>
                  <a:tcPr marL="101600" marR="101600" marT="38100" marB="38100" anchor="ctr">
                    <a:solidFill>
                      <a:srgbClr val="F4F2FA"/>
                    </a:solidFill>
                  </a:tcPr>
                </a:tc>
                <a:tc>
                  <a:txBody>
                    <a:bodyPr/>
                    <a:lstStyle/>
                    <a:p>
                      <a:r>
                        <a:rPr sz="1400" b="0" i="0">
                          <a:solidFill>
                            <a:srgbClr val="1A1440"/>
                          </a:solidFill>
                          <a:latin typeface="Calibri"/>
                        </a:rPr>
                        <a:t>None, and nothing sells above MRP.</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about 5 of the 16 one-time buyers returning once carries the plan, and a retention test costs a reminder to people already on the list.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is the branch to open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customers are one order away from moving it.</a:t>
            </a:r>
          </a:p>
        </p:txBody>
      </p:sp>
      <p:pic>
        <p:nvPicPr>
          <p:cNvPr id="9" name="mermaid diagram" descr="0e80e5eb94c7fd5b.png"/>
          <p:cNvPicPr>
            <a:picLocks noChangeAspect="1"/>
          </p:cNvPicPr>
          <p:nvPr/>
        </p:nvPicPr>
        <p:blipFill>
          <a:blip r:embed="rId5"/>
          <a:stretch>
            <a:fillRect/>
          </a:stretch>
        </p:blipFill>
        <p:spPr>
          <a:xfrm>
            <a:off x="593760" y="1682496"/>
            <a:ext cx="4659509" cy="4517136"/>
          </a:xfrm>
          <a:prstGeom prst="rect">
            <a:avLst/>
          </a:prstGeom>
        </p:spPr>
      </p:pic>
      <p:sp>
        <p:nvSpPr>
          <p:cNvPr id="10" name="TextBox 9"/>
          <p:cNvSpPr txBox="1"/>
          <p:nvPr/>
        </p:nvSpPr>
        <p:spPr>
          <a:xfrm>
            <a:off x="5761917"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1" name="TextBox 10"/>
          <p:cNvSpPr txBox="1"/>
          <p:nvPr/>
        </p:nvSpPr>
        <p:spPr>
          <a:xfrm>
            <a:off x="5761917"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2" name="TextBox 11"/>
          <p:cNvSpPr txBox="1"/>
          <p:nvPr/>
        </p:nvSpPr>
        <p:spPr>
          <a:xfrm>
            <a:off x="5761917"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of 23 customers</a:t>
            </a:r>
          </a:p>
        </p:txBody>
      </p:sp>
      <p:sp>
        <p:nvSpPr>
          <p:cNvPr id="13" name="Rectangle 12"/>
          <p:cNvSpPr/>
          <p:nvPr/>
        </p:nvSpPr>
        <p:spPr>
          <a:xfrm>
            <a:off x="5761917"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848790"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5" name="TextBox 14"/>
          <p:cNvSpPr txBox="1"/>
          <p:nvPr/>
        </p:nvSpPr>
        <p:spPr>
          <a:xfrm>
            <a:off x="8848790"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6" name="TextBox 15"/>
          <p:cNvSpPr txBox="1"/>
          <p:nvPr/>
        </p:nvSpPr>
        <p:spPr>
          <a:xfrm>
            <a:off x="8848790"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frequency is live</a:t>
            </a:r>
          </a:p>
        </p:txBody>
      </p:sp>
      <p:sp>
        <p:nvSpPr>
          <p:cNvPr id="17" name="Rectangle 16"/>
          <p:cNvSpPr/>
          <p:nvPr/>
        </p:nvSpPr>
        <p:spPr>
          <a:xfrm>
            <a:off x="8848790"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2" name="Oval 21"/>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proposes funding both branches and adds the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"Fund acquisition and retention together: 10 percent more customers and 10 percent more orders each make 20 percent growth, Rs 6,53,772."</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6,53,772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5,44,810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slide's arithmetic is the one most rooms do in their heads.</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recompute through the tree,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lift applies to a customer base already 10 percent larger.</a:t>
            </a:r>
          </a:p>
        </p:txBody>
      </p:sp>
      <p:pic>
        <p:nvPicPr>
          <p:cNvPr id="9" name="mermaid diagram" descr="949233ebfac9713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1.10 x 1.10 = 1.21: Rs 6,59,220, Rs 5,448 above the slide. The line is the added figure and the bars the multiplied one; the gap grows with the lifts.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lift as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base, two lifts of Rs 54,481 each, and the lift on the lift of Rs 5,448.</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05408"/>
                <a:gridCol w="2525582"/>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Rs</a:t>
                      </a:r>
                    </a:p>
                  </a:txBody>
                  <a:tcPr marL="101600" marR="101600" marT="38100" marB="38100" anchor="ctr">
                    <a:solidFill>
                      <a:srgbClr val="1A0F5C"/>
                    </a:solidFill>
                  </a:tcPr>
                </a:tc>
              </a:tr>
              <a:tr h="369824">
                <a:tc>
                  <a:txBody>
                    <a:bodyPr/>
                    <a:lstStyle/>
                    <a:p>
                      <a:r>
                        <a:rPr sz="1400" b="0" i="0">
                          <a:solidFill>
                            <a:srgbClr val="1A1440"/>
                          </a:solidFill>
                          <a:latin typeface="Calibri"/>
                        </a:rPr>
                        <a:t>Booked, this quarter</a:t>
                      </a:r>
                    </a:p>
                  </a:txBody>
                  <a:tcPr marL="101600" marR="101600" marT="38100" marB="38100" anchor="ctr">
                    <a:solidFill>
                      <a:srgbClr val="FFFFFF"/>
                    </a:solidFill>
                  </a:tcPr>
                </a:tc>
                <a:tc>
                  <a:txBody>
                    <a:bodyPr/>
                    <a:lstStyle/>
                    <a:p>
                      <a:r>
                        <a:rPr sz="1400" b="0" i="0">
                          <a:solidFill>
                            <a:srgbClr val="1A1440"/>
                          </a:solidFill>
                          <a:latin typeface="Calibri"/>
                        </a:rPr>
                        <a:t>5,44,810</a:t>
                      </a:r>
                    </a:p>
                  </a:txBody>
                  <a:tcPr marL="101600" marR="101600" marT="38100" marB="38100" anchor="ctr">
                    <a:solidFill>
                      <a:srgbClr val="FFFFFF"/>
                    </a:solidFill>
                  </a:tcPr>
                </a:tc>
              </a:tr>
              <a:tr h="369824">
                <a:tc>
                  <a:txBody>
                    <a:bodyPr/>
                    <a:lstStyle/>
                    <a:p>
                      <a:r>
                        <a:rPr sz="1400" b="0" i="0">
                          <a:solidFill>
                            <a:srgbClr val="1A1440"/>
                          </a:solidFill>
                          <a:latin typeface="Calibri"/>
                        </a:rPr>
                        <a:t>Customers up 10 percent</a:t>
                      </a:r>
                    </a:p>
                  </a:txBody>
                  <a:tcPr marL="101600" marR="101600" marT="38100" marB="38100" anchor="ctr">
                    <a:solidFill>
                      <a:srgbClr val="F4F2FA"/>
                    </a:solidFill>
                  </a:tcPr>
                </a:tc>
                <a:tc>
                  <a:txBody>
                    <a:bodyPr/>
                    <a:lstStyle/>
                    <a:p>
                      <a:r>
                        <a:rPr sz="1400" b="0" i="0">
                          <a:solidFill>
                            <a:srgbClr val="1A1440"/>
                          </a:solidFill>
                          <a:latin typeface="Calibri"/>
                        </a:rPr>
                        <a:t>54,481</a:t>
                      </a:r>
                    </a:p>
                  </a:txBody>
                  <a:tcPr marL="101600" marR="101600" marT="38100" marB="38100" anchor="ctr">
                    <a:solidFill>
                      <a:srgbClr val="F4F2FA"/>
                    </a:solidFill>
                  </a:tcPr>
                </a:tc>
              </a:tr>
              <a:tr h="369824">
                <a:tc>
                  <a:txBody>
                    <a:bodyPr/>
                    <a:lstStyle/>
                    <a:p>
                      <a:r>
                        <a:rPr sz="1400" b="0" i="0">
                          <a:solidFill>
                            <a:srgbClr val="1A1440"/>
                          </a:solidFill>
                          <a:latin typeface="Calibri"/>
                        </a:rPr>
                        <a:t>Orders per customer up 10 percent</a:t>
                      </a:r>
                    </a:p>
                  </a:txBody>
                  <a:tcPr marL="101600" marR="101600" marT="38100" marB="38100" anchor="ctr">
                    <a:solidFill>
                      <a:srgbClr val="FFFFFF"/>
                    </a:solidFill>
                  </a:tcPr>
                </a:tc>
                <a:tc>
                  <a:txBody>
                    <a:bodyPr/>
                    <a:lstStyle/>
                    <a:p>
                      <a:r>
                        <a:rPr sz="1400" b="0" i="0">
                          <a:solidFill>
                            <a:srgbClr val="1A1440"/>
                          </a:solidFill>
                          <a:latin typeface="Calibri"/>
                        </a:rPr>
                        <a:t>54,481</a:t>
                      </a:r>
                    </a:p>
                  </a:txBody>
                  <a:tcPr marL="101600" marR="101600" marT="38100" marB="38100" anchor="ctr">
                    <a:solidFill>
                      <a:srgbClr val="FFFFFF"/>
                    </a:solidFill>
                  </a:tcPr>
                </a:tc>
              </a:tr>
              <a:tr h="369824">
                <a:tc>
                  <a:txBody>
                    <a:bodyPr/>
                    <a:lstStyle/>
                    <a:p>
                      <a:r>
                        <a:rPr sz="1400" b="0" i="0">
                          <a:solidFill>
                            <a:srgbClr val="1A1440"/>
                          </a:solidFill>
                          <a:latin typeface="Calibri"/>
                        </a:rPr>
                        <a:t>The lift on the lift, 0.10 x 0.10</a:t>
                      </a:r>
                    </a:p>
                  </a:txBody>
                  <a:tcPr marL="101600" marR="101600" marT="38100" marB="38100" anchor="ctr">
                    <a:solidFill>
                      <a:srgbClr val="F4F2FA"/>
                    </a:solidFill>
                  </a:tcPr>
                </a:tc>
                <a:tc>
                  <a:txBody>
                    <a:bodyPr/>
                    <a:lstStyle/>
                    <a:p>
                      <a:r>
                        <a:rPr sz="1400" b="0" i="0">
                          <a:solidFill>
                            <a:srgbClr val="1A1440"/>
                          </a:solidFill>
                          <a:latin typeface="Calibri"/>
                        </a:rPr>
                        <a:t>5,448</a:t>
                      </a:r>
                    </a:p>
                  </a:txBody>
                  <a:tcPr marL="101600" marR="101600" marT="38100" marB="38100" anchor="ctr">
                    <a:solidFill>
                      <a:srgbClr val="F4F2FA"/>
                    </a:solidFill>
                  </a:tcPr>
                </a:tc>
              </a:tr>
              <a:tr h="369824">
                <a:tc>
                  <a:txBody>
                    <a:bodyPr/>
                    <a:lstStyle/>
                    <a:p>
                      <a:r>
                        <a:rPr sz="1400" b="0" i="0">
                          <a:solidFill>
                            <a:srgbClr val="1A1440"/>
                          </a:solidFill>
                          <a:latin typeface="Calibri"/>
                        </a:rPr>
                        <a:t>After both lifts</a:t>
                      </a:r>
                    </a:p>
                  </a:txBody>
                  <a:tcPr marL="101600" marR="101600" marT="38100" marB="38100" anchor="ctr">
                    <a:solidFill>
                      <a:srgbClr val="FFFFFF"/>
                    </a:solidFill>
                  </a:tcPr>
                </a:tc>
                <a:tc>
                  <a:txBody>
                    <a:bodyPr/>
                    <a:lstStyle/>
                    <a:p>
                      <a:r>
                        <a:rPr sz="1400" b="0" i="0">
                          <a:solidFill>
                            <a:srgbClr val="1A1440"/>
                          </a:solidFill>
                          <a:latin typeface="Calibri"/>
                        </a:rPr>
                        <a:t>6,59,220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for the total; build the parts when someone asks where the extra came from, since the lift on the lift shows as its own line.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knows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the evidence points at, and the arithmetic whichever branch is funded.</a:t>
            </a:r>
          </a:p>
        </p:txBody>
      </p:sp>
      <p:pic>
        <p:nvPicPr>
          <p:cNvPr id="9" name="mermaid diagram" descr="83705bd7409f06e1.png"/>
          <p:cNvPicPr>
            <a:picLocks noChangeAspect="1"/>
          </p:cNvPicPr>
          <p:nvPr/>
        </p:nvPicPr>
        <p:blipFill>
          <a:blip r:embed="rId7"/>
          <a:stretch>
            <a:fillRect/>
          </a:stretch>
        </p:blipFill>
        <p:spPr>
          <a:xfrm>
            <a:off x="2152497" y="1883092"/>
            <a:ext cx="7886700" cy="1857375"/>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"Pick the branch the evidence points at and the one that costs least to test, then say what would make you pick another. And recompute anything someone adds up."</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[D] Marketing wants budget for acquisition; what would you check before agreeing it is the right branch, and how would you say no?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0" name="Oval 2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sentence Meera acts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sentence she can sign against, and the one number in it most likely to be misread.</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will read one sentence, and so will marketing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answer, the evidence and its limit, in the time it takes to read one line.</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who came back, who has not,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first; the marketing lead reads it for its weakest number</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claim marketing knocks down in one question, and the trust the week depends on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first window's number, and what fifteen months later showed.</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The cost of cost</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Its chief executive said the focus on cost had lowered quality, and customers would always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ways to answer, sized in Meera's reading time.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717907"/>
                <a:gridCol w="1792683"/>
                <a:gridCol w="462040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she supplies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D earns its build cost when the question turns weekly, as it does when Meera's chief of staff asks for the leadership deck in Week 2.</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build: the first draft of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Evidence with its window, the branch, the caveat and the ask, from the chapters' numbers.</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16 of 23 bought once. How many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quarter of orders, and a number that reads like churn.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Kalpa's customers can you call lost: a) about 70 percent, 16 of 23; b) 30 percent, the ones who came back; c) none from this file alone, and some are too recent to judge; d) all the one-time buyers?</a:t>
            </a:r>
          </a:p>
        </p:txBody>
      </p:sp>
      <p:pic>
        <p:nvPicPr>
          <p:cNvPr id="12" name="mermaid diagram" descr="b77885d7ca9306ee.png"/>
          <p:cNvPicPr>
            <a:picLocks noChangeAspect="1"/>
          </p:cNvPicPr>
          <p:nvPr/>
        </p:nvPicPr>
        <p:blipFill>
          <a:blip r:embed="rId5"/>
          <a:stretch>
            <a:fillRect/>
          </a:stretch>
        </p:blipFill>
        <p:spPr>
          <a:xfrm>
            <a:off x="3524097" y="3195828"/>
            <a:ext cx="5143500" cy="2028825"/>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9 of the 16 are too recent to judge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Returning customers took a median of 45 days; 9 one-time buyers bought inside the last 45.</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"16 of 23 never came back: 70 percent of our customers are lost."</a:t>
            </a:r>
          </a:p>
        </p:txBody>
      </p:sp>
      <p:sp>
        <p:nvSpPr>
          <p:cNvPr id="12" name="TextBox 11"/>
          <p:cNvSpPr txBox="1"/>
          <p:nvPr/>
        </p:nvSpPr>
        <p:spPr>
          <a:xfrm>
            <a:off x="53035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45 days</a:t>
            </a:r>
          </a:p>
        </p:txBody>
      </p:sp>
      <p:sp>
        <p:nvSpPr>
          <p:cNvPr id="13" name="TextBox 12"/>
          <p:cNvSpPr txBox="1"/>
          <p:nvPr/>
        </p:nvSpPr>
        <p:spPr>
          <a:xfrm>
            <a:off x="53035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REPEAT GAP</a:t>
            </a:r>
          </a:p>
        </p:txBody>
      </p:sp>
      <p:sp>
        <p:nvSpPr>
          <p:cNvPr id="14" name="TextBox 13"/>
          <p:cNvSpPr txBox="1"/>
          <p:nvPr/>
        </p:nvSpPr>
        <p:spPr>
          <a:xfrm>
            <a:off x="53035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7 who came back</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7" name="TextBox 16"/>
          <p:cNvSpPr txBox="1"/>
          <p:nvPr/>
        </p:nvSpPr>
        <p:spPr>
          <a:xfrm>
            <a:off x="433212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 RECENT TO JUDGE</a:t>
            </a:r>
          </a:p>
        </p:txBody>
      </p:sp>
      <p:sp>
        <p:nvSpPr>
          <p:cNvPr id="18" name="TextBox 17"/>
          <p:cNvSpPr txBox="1"/>
          <p:nvPr/>
        </p:nvSpPr>
        <p:spPr>
          <a:xfrm>
            <a:off x="433212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the last 45 days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1" name="TextBox 20"/>
          <p:cNvSpPr txBox="1"/>
          <p:nvPr/>
        </p:nvSpPr>
        <p:spPr>
          <a:xfrm>
            <a:off x="813389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HAD TIME, NOT BACK</a:t>
            </a:r>
          </a:p>
        </p:txBody>
      </p:sp>
      <p:sp>
        <p:nvSpPr>
          <p:cNvPr id="22" name="TextBox 21"/>
          <p:cNvSpPr txBox="1"/>
          <p:nvPr/>
        </p:nvSpPr>
        <p:spPr>
          <a:xfrm>
            <a:off x="813389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at most 7 of 23 look lost</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30352" y="41254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758952" y="4328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list-checks_bd88901d2a37.png"/>
          <p:cNvPicPr>
            <a:picLocks noChangeAspect="1"/>
          </p:cNvPicPr>
          <p:nvPr/>
        </p:nvPicPr>
        <p:blipFill>
          <a:blip r:embed="rId4"/>
          <a:stretch>
            <a:fillRect/>
          </a:stretch>
        </p:blipFill>
        <p:spPr>
          <a:xfrm>
            <a:off x="868680" y="4437888"/>
            <a:ext cx="237744" cy="237744"/>
          </a:xfrm>
          <a:prstGeom prst="rect">
            <a:avLst/>
          </a:prstGeom>
        </p:spPr>
      </p:pic>
      <p:sp>
        <p:nvSpPr>
          <p:cNvPr id="27" name="TextBox 26"/>
          <p:cNvSpPr txBox="1"/>
          <p:nvPr/>
        </p:nvSpPr>
        <p:spPr>
          <a:xfrm>
            <a:off x="1399031" y="42717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8" name="TextBox 27"/>
          <p:cNvSpPr txBox="1"/>
          <p:nvPr/>
        </p:nvSpPr>
        <p:spPr>
          <a:xfrm>
            <a:off x="1399031" y="4491228"/>
            <a:ext cx="9987991" cy="423672"/>
          </a:xfrm>
          <a:prstGeom prst="rect">
            <a:avLst/>
          </a:prstGeom>
          <a:noFill/>
        </p:spPr>
        <p:txBody>
          <a:bodyPr wrap="square" anchor="t" lIns="0" rIns="0" tIns="0" bIns="0">
            <a:spAutoFit/>
          </a:bodyPr>
          <a:lstStyle/>
          <a:p>
            <a:r>
              <a:rPr sz="1500" b="0" i="0">
                <a:solidFill>
                  <a:srgbClr val="1A1440"/>
                </a:solidFill>
                <a:latin typeface="Calibri"/>
              </a:rPr>
              <a:t>The answer is c. A one-time buyer is not a lost customer until they have had time to come back.</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1" name="Oval 3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33" name="Oval 3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with the window's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16 becomes the split: 7 came back, 7 had time, 9 too recent.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have had time and not returned,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give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 date plus the typical gap, compared with the window's last day.</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 if (end - first[c]).days &lt; 45]          # recency</a:t>
            </a:r>
          </a:p>
          <a:p>
            <a:pPr>
              <a:spcAft>
                <a:spcPts val="200"/>
              </a:spcAft>
            </a:pPr>
            <a:r>
              <a:rPr sz="1400" b="0" i="0">
                <a:solidFill>
                  <a:srgbClr val="E4E1F1"/>
                </a:solidFill>
                <a:latin typeface="Consolas"/>
              </a:rPr>
              <a:t>due_late   = [c for c in once if first[c] + timedelta(days=45) &gt; end]  # due dates</a:t>
            </a:r>
          </a:p>
        </p:txBody>
      </p:sp>
      <p:sp>
        <p:nvSpPr>
          <p:cNvPr id="14" name="Rounded Rectangle 13"/>
          <p:cNvSpPr/>
          <p:nvPr/>
        </p:nvSpPr>
        <p:spPr>
          <a:xfrm>
            <a:off x="530352" y="308356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15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525520"/>
            <a:ext cx="237744" cy="237744"/>
          </a:xfrm>
          <a:prstGeom prst="rect">
            <a:avLst/>
          </a:prstGeom>
        </p:spPr>
      </p:pic>
      <p:sp>
        <p:nvSpPr>
          <p:cNvPr id="17" name="TextBox 16"/>
          <p:cNvSpPr txBox="1"/>
          <p:nvPr/>
        </p:nvSpPr>
        <p:spPr>
          <a:xfrm>
            <a:off x="1399031" y="32298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449320"/>
            <a:ext cx="9987991" cy="682752"/>
          </a:xfrm>
          <a:prstGeom prst="rect">
            <a:avLst/>
          </a:prstGeom>
          <a:noFill/>
        </p:spPr>
        <p:txBody>
          <a:bodyPr wrap="square" anchor="t" lIns="0" rIns="0" tIns="0" bIns="0">
            <a:spAutoFit/>
          </a:bodyPr>
          <a:lstStyle/>
          <a:p>
            <a:r>
              <a:rPr sz="1500" b="0" i="0">
                <a:solidFill>
                  <a:srgbClr val="1A1440"/>
                </a:solidFill>
                <a:latin typeface="Calibri"/>
              </a:rPr>
              <a:t>Recency reports today's state; a due date is the day a reminder would go out. With more quarters the gap comes from hundreds of customers and the caveat shrinks.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1" name="Oval 2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3" name="Oval 2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defensible, the limit stated, the budget held with a date.</a:t>
            </a:r>
          </a:p>
        </p:txBody>
      </p:sp>
      <p:pic>
        <p:nvPicPr>
          <p:cNvPr id="9" name="mermaid diagram" descr="fea0e51645cce6a1.png"/>
          <p:cNvPicPr>
            <a:picLocks noChangeAspect="1"/>
          </p:cNvPicPr>
          <p:nvPr/>
        </p:nvPicPr>
        <p:blipFill>
          <a:blip r:embed="rId7"/>
          <a:stretch>
            <a:fillRect/>
          </a:stretch>
        </p:blipFill>
        <p:spPr>
          <a:xfrm>
            <a:off x="530352" y="1956816"/>
            <a:ext cx="11130991" cy="759828"/>
          </a:xfrm>
          <a:prstGeom prst="rect">
            <a:avLst/>
          </a:prstGeom>
        </p:spPr>
      </p:pic>
      <p:sp>
        <p:nvSpPr>
          <p:cNvPr id="10" name="Rounded Rectangle 9"/>
          <p:cNvSpPr/>
          <p:nvPr/>
        </p:nvSpPr>
        <p:spPr>
          <a:xfrm>
            <a:off x="530352" y="28629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951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304908"/>
            <a:ext cx="237744" cy="237744"/>
          </a:xfrm>
          <a:prstGeom prst="rect">
            <a:avLst/>
          </a:prstGeom>
        </p:spPr>
      </p:pic>
      <p:sp>
        <p:nvSpPr>
          <p:cNvPr id="13" name="TextBox 12"/>
          <p:cNvSpPr txBox="1"/>
          <p:nvPr/>
        </p:nvSpPr>
        <p:spPr>
          <a:xfrm>
            <a:off x="1399031" y="30092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228708"/>
            <a:ext cx="9987991" cy="682752"/>
          </a:xfrm>
          <a:prstGeom prst="rect">
            <a:avLst/>
          </a:prstGeom>
          <a:noFill/>
        </p:spPr>
        <p:txBody>
          <a:bodyPr wrap="square" anchor="t" lIns="0" rIns="0" tIns="0" bIns="0">
            <a:spAutoFit/>
          </a:bodyPr>
          <a:lstStyle/>
          <a:p>
            <a:r>
              <a:rPr sz="15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15" name="Rounded Rectangle 14"/>
          <p:cNvSpPr/>
          <p:nvPr/>
        </p:nvSpPr>
        <p:spPr>
          <a:xfrm>
            <a:off x="530352" y="41492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351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461624"/>
            <a:ext cx="237744" cy="237744"/>
          </a:xfrm>
          <a:prstGeom prst="rect">
            <a:avLst/>
          </a:prstGeom>
        </p:spPr>
      </p:pic>
      <p:sp>
        <p:nvSpPr>
          <p:cNvPr id="18" name="TextBox 17"/>
          <p:cNvSpPr txBox="1"/>
          <p:nvPr/>
        </p:nvSpPr>
        <p:spPr>
          <a:xfrm>
            <a:off x="1399031" y="42955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514964"/>
            <a:ext cx="9987991" cy="423672"/>
          </a:xfrm>
          <a:prstGeom prst="rect">
            <a:avLst/>
          </a:prstGeom>
          <a:noFill/>
        </p:spPr>
        <p:txBody>
          <a:bodyPr wrap="square" anchor="t" lIns="0" rIns="0" tIns="0" bIns="0">
            <a:spAutoFit/>
          </a:bodyPr>
          <a:lstStyle/>
          <a:p>
            <a:r>
              <a:rPr sz="1500" b="0" i="0">
                <a:solidFill>
                  <a:srgbClr val="1A1440"/>
                </a:solidFill>
                <a:latin typeface="Calibri"/>
              </a:rPr>
              <a:t>[D] You have one quarter of orders and 70 percent of customers bought once; what do you tell the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0" name="Oval 2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Anand asks for the whole answer again on what was delivered, alone, in 35 minutes.</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it on what stayed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recommendation that holds on one definition only is a coincidence.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Orders, customers by id, and orders per customer, all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What frequency alone must deliver, and a discount priced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One-time buyers, the ones too recent to judge, and the branch.</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8" name="Oval 47"/>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615309"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50" name="Oval 4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52" name="Oval 51"/>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54" name="Oval 53"/>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6" name="Oval 55"/>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to post, and what counts as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Nine letters, the numbers each part asks for, and one sentence.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delivered leaves and the delivered median, which is one value since 21 is odd.</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plan from frequency alone, the discount, and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sentence, and one line on what moved and what held.</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9" name="Oval 2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9"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1" name="Oval 3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3" name="Oval 3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5" name="Oval 3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7" name="Oval 3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numbers that looked right this morning or in the case, each caught by one check.</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came out of the file, and each is plausible on a first reading.</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all six, since each came from the file; b) only the sales total; c) only the growth figure; d) none of the six as written.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8" name="Oval 3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0" name="Oval 3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42" name="Oval 41"/>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44" name="Oval 4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6" name="Oval 4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8" name="Oval 4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caught by one check, and each fix changes what Meera would decide.</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202003"/>
                <a:gridCol w="4759601"/>
                <a:gridCol w="416938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369824">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not cancelled, named.</a:t>
                      </a:r>
                    </a:p>
                  </a:txBody>
                  <a:tcPr marL="101600" marR="101600" marT="38100" marB="38100" anchor="ctr">
                    <a:solidFill>
                      <a:srgbClr val="FFFFFF"/>
                    </a:solidFill>
                  </a:tcPr>
                </a:tc>
              </a:tr>
              <a:tr h="369824">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Orders x AOV must land on its own revenue.</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a:t>
                      </a:r>
                    </a:p>
                  </a:txBody>
                  <a:tcPr marL="101600" marR="101600" marT="38100" marB="38100" anchor="ctr">
                    <a:solidFill>
                      <a:srgbClr val="F4F2FA"/>
                    </a:solidFill>
                  </a:tcPr>
                </a:tc>
              </a:tr>
              <a:tr h="369824">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1.30 orders each, 7 came back.</a:t>
                      </a:r>
                    </a:p>
                  </a:txBody>
                  <a:tcPr marL="101600" marR="101600" marT="38100" marB="38100" anchor="ctr">
                    <a:solidFill>
                      <a:srgbClr val="FFFFFF"/>
                    </a:solidFill>
                  </a:tcPr>
                </a:tc>
              </a:tr>
              <a:tr h="369824">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a:t>
                      </a:r>
                    </a:p>
                  </a:txBody>
                  <a:tcPr marL="101600" marR="101600" marT="38100" marB="38100" anchor="ctr">
                    <a:solidFill>
                      <a:srgbClr val="F4F2FA"/>
                    </a:solidFill>
                  </a:tcPr>
                </a:tc>
              </a:tr>
              <a:tr h="369824">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21 percent, Rs 6,59,220.</a:t>
                      </a:r>
                    </a:p>
                  </a:txBody>
                  <a:tcPr marL="101600" marR="101600" marT="38100" marB="38100" anchor="ctr">
                    <a:solidFill>
                      <a:srgbClr val="FFFFFF"/>
                    </a:solidFill>
                  </a:tcPr>
                </a:tc>
              </a:tr>
              <a:tr h="369824">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back, 7 had time, 9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escalated case's answer, on delivered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moved and what held when Anand changed the definition.</a:t>
            </a:r>
          </a:p>
        </p:txBody>
      </p:sp>
      <p:graphicFrame>
        <p:nvGraphicFramePr>
          <p:cNvPr id="10" name="Table 9"/>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119142"/>
                <a:gridCol w="3548724"/>
                <a:gridCol w="3548724"/>
                <a:gridCol w="914400"/>
              </a:tblGrid>
              <a:tr h="335280">
                <a:tc>
                  <a:txBody>
                    <a:bodyPr/>
                    <a:lstStyle/>
                    <a:p>
                      <a:r>
                        <a:rPr sz="1250" b="1" i="0">
                          <a:solidFill>
                            <a:srgbClr val="FFFFFF"/>
                          </a:solidFill>
                          <a:latin typeface="Calibri"/>
                        </a:rPr>
                        <a:t>Part</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Held?</a:t>
                      </a:r>
                    </a:p>
                  </a:txBody>
                  <a:tcPr marL="101600" marR="101600" marT="38100" marB="38100" anchor="ctr">
                    <a:solidFill>
                      <a:srgbClr val="1A0F5C"/>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1.30</a:t>
                      </a:r>
                    </a:p>
                  </a:txBody>
                  <a:tcPr marL="101600" marR="101600" marT="38100" marB="38100" anchor="ctr">
                    <a:solidFill>
                      <a:srgbClr val="FFFFFF"/>
                    </a:solidFill>
                  </a:tcPr>
                </a:tc>
                <a:tc>
                  <a:txBody>
                    <a:bodyPr/>
                    <a:lstStyle/>
                    <a:p>
                      <a:r>
                        <a:rPr sz="1200" b="0" i="0">
                          <a:solidFill>
                            <a:srgbClr val="1A1440"/>
                          </a:solidFill>
                          <a:latin typeface="Calibri"/>
                        </a:rPr>
                        <a:t>1.11</a:t>
                      </a:r>
                    </a:p>
                  </a:txBody>
                  <a:tcPr marL="101600" marR="101600" marT="38100" marB="38100" anchor="ctr">
                    <a:solidFill>
                      <a:srgbClr val="FFFFFF"/>
                    </a:solidFill>
                  </a:tcPr>
                </a:tc>
                <a:tc>
                  <a:txBody>
                    <a:bodyPr/>
                    <a:lstStyle/>
                    <a:p>
                      <a:r>
                        <a:rPr sz="1200" b="0" i="0">
                          <a:solidFill>
                            <a:srgbClr val="1A1440"/>
                          </a:solidFill>
                          <a:latin typeface="Calibri"/>
                        </a:rPr>
                        <a:t>It fell.</a:t>
                      </a:r>
                    </a:p>
                  </a:txBody>
                  <a:tcPr marL="101600" marR="101600" marT="38100" marB="38100" anchor="ctr">
                    <a:solidFill>
                      <a:srgbClr val="FFFFFF"/>
                    </a:solidFill>
                  </a:tcPr>
                </a:tc>
              </a:tr>
              <a:tr h="335280">
                <a:tc>
                  <a:txBody>
                    <a:bodyPr/>
                    <a:lstStyle/>
                    <a:p>
                      <a:r>
                        <a:rPr sz="1200" b="0" i="0">
                          <a:solidFill>
                            <a:srgbClr val="1A1440"/>
                          </a:solidFill>
                          <a:latin typeface="Calibri"/>
                        </a:rPr>
                        <a:t>Typical order</a:t>
                      </a:r>
                    </a:p>
                  </a:txBody>
                  <a:tcPr marL="101600" marR="101600" marT="38100" marB="38100" anchor="ctr">
                    <a:solidFill>
                      <a:srgbClr val="F4F2FA"/>
                    </a:solidFill>
                  </a:tcPr>
                </a:tc>
                <a:tc>
                  <a:txBody>
                    <a:bodyPr/>
                    <a:lstStyle/>
                    <a:p>
                      <a:r>
                        <a:rPr sz="1200" b="0" i="0">
                          <a:solidFill>
                            <a:srgbClr val="1A1440"/>
                          </a:solidFill>
                          <a:latin typeface="Calibri"/>
                        </a:rPr>
                        <a:t>Rs 2,205</a:t>
                      </a:r>
                    </a:p>
                  </a:txBody>
                  <a:tcPr marL="101600" marR="101600" marT="38100" marB="38100" anchor="ctr">
                    <a:solidFill>
                      <a:srgbClr val="F4F2FA"/>
                    </a:solidFill>
                  </a:tcPr>
                </a:tc>
                <a:tc>
                  <a:txBody>
                    <a:bodyPr/>
                    <a:lstStyle/>
                    <a:p>
                      <a:r>
                        <a:rPr sz="1200" b="0" i="0">
                          <a:solidFill>
                            <a:srgbClr val="1A1440"/>
                          </a:solidFill>
                          <a:latin typeface="Calibri"/>
                        </a:rPr>
                        <a:t>Rs 2,060</a:t>
                      </a:r>
                    </a:p>
                  </a:txBody>
                  <a:tcPr marL="101600" marR="101600" marT="38100" marB="38100" anchor="ctr">
                    <a:solidFill>
                      <a:srgbClr val="F4F2FA"/>
                    </a:solidFill>
                  </a:tcPr>
                </a:tc>
                <a:tc>
                  <a:txBody>
                    <a:bodyPr/>
                    <a:lstStyle/>
                    <a:p>
                      <a:r>
                        <a:rPr sz="1200" b="0" i="0">
                          <a:solidFill>
                            <a:srgbClr val="1A1440"/>
                          </a:solidFill>
                          <a:latin typeface="Calibri"/>
                        </a:rPr>
                        <a:t>It held.</a:t>
                      </a:r>
                    </a:p>
                  </a:txBody>
                  <a:tcPr marL="101600" marR="101600" marT="38100" marB="38100" anchor="ctr">
                    <a:solidFill>
                      <a:srgbClr val="F4F2FA"/>
                    </a:solidFill>
                  </a:tcPr>
                </a:tc>
              </a:tr>
              <a:tr h="335280">
                <a:tc>
                  <a:txBody>
                    <a:bodyPr/>
                    <a:lstStyle/>
                    <a:p>
                      <a:r>
                        <a:rPr sz="1200" b="0" i="0">
                          <a:solidFill>
                            <a:srgbClr val="1A1440"/>
                          </a:solidFill>
                          <a:latin typeface="Calibri"/>
                        </a:rPr>
                        <a:t>One-time buyers</a:t>
                      </a:r>
                    </a:p>
                  </a:txBody>
                  <a:tcPr marL="101600" marR="101600" marT="38100" marB="38100" anchor="ctr">
                    <a:solidFill>
                      <a:srgbClr val="FFFFFF"/>
                    </a:solidFill>
                  </a:tcPr>
                </a:tc>
                <a:tc>
                  <a:txBody>
                    <a:bodyPr/>
                    <a:lstStyle/>
                    <a:p>
                      <a:r>
                        <a:rPr sz="1200" b="0" i="0">
                          <a:solidFill>
                            <a:srgbClr val="1A1440"/>
                          </a:solidFill>
                          <a:latin typeface="Calibri"/>
                        </a:rPr>
                        <a:t>16 of 23, 9 too recent</a:t>
                      </a:r>
                    </a:p>
                  </a:txBody>
                  <a:tcPr marL="101600" marR="101600" marT="38100" marB="38100" anchor="ctr">
                    <a:solidFill>
                      <a:srgbClr val="FFFFFF"/>
                    </a:solidFill>
                  </a:tcPr>
                </a:tc>
                <a:tc>
                  <a:txBody>
                    <a:bodyPr/>
                    <a:lstStyle/>
                    <a:p>
                      <a:r>
                        <a:rPr sz="1200" b="0" i="0">
                          <a:solidFill>
                            <a:srgbClr val="1A1440"/>
                          </a:solidFill>
                          <a:latin typeface="Calibri"/>
                        </a:rPr>
                        <a:t>17 of 19, 7 too recent</a:t>
                      </a:r>
                    </a:p>
                  </a:txBody>
                  <a:tcPr marL="101600" marR="101600" marT="38100" marB="38100" anchor="ctr">
                    <a:solidFill>
                      <a:srgbClr val="FFFFFF"/>
                    </a:solidFill>
                  </a:tcPr>
                </a:tc>
                <a:tc>
                  <a:txBody>
                    <a:bodyPr/>
                    <a:lstStyle/>
                    <a:p>
                      <a:r>
                        <a:rPr sz="1200" b="0" i="0">
                          <a:solidFill>
                            <a:srgbClr val="1A1440"/>
                          </a:solidFill>
                          <a:latin typeface="Calibri"/>
                        </a:rPr>
                        <a:t>It held.</a:t>
                      </a:r>
                    </a:p>
                  </a:txBody>
                  <a:tcPr marL="101600" marR="101600" marT="38100" marB="38100" anchor="ctr">
                    <a:solidFill>
                      <a:srgbClr val="FFFFFF"/>
                    </a:solidFill>
                  </a:tcPr>
                </a:tc>
              </a:tr>
              <a:tr h="335280">
                <a:tc>
                  <a:txBody>
                    <a:bodyPr/>
                    <a:lstStyle/>
                    <a:p>
                      <a:r>
                        <a:rPr sz="1200" b="0" i="0">
                          <a:solidFill>
                            <a:srgbClr val="1A1440"/>
                          </a:solidFill>
                          <a:latin typeface="Calibri"/>
                        </a:rPr>
                        <a:t>Branch</a:t>
                      </a:r>
                    </a:p>
                  </a:txBody>
                  <a:tcPr marL="101600" marR="101600" marT="38100" marB="38100" anchor="ctr">
                    <a:solidFill>
                      <a:srgbClr val="F4F2FA"/>
                    </a:solidFill>
                  </a:tcPr>
                </a:tc>
                <a:tc>
                  <a:txBody>
                    <a:bodyPr/>
                    <a:lstStyle/>
                    <a:p>
                      <a:r>
                        <a:rPr sz="1200" b="0" i="0">
                          <a:solidFill>
                            <a:srgbClr val="1A1440"/>
                          </a:solidFill>
                          <a:latin typeface="Calibri"/>
                        </a:rPr>
                        <a:t>Frequency</a:t>
                      </a:r>
                    </a:p>
                  </a:txBody>
                  <a:tcPr marL="101600" marR="101600" marT="38100" marB="38100" anchor="ctr">
                    <a:solidFill>
                      <a:srgbClr val="F4F2FA"/>
                    </a:solidFill>
                  </a:tcPr>
                </a:tc>
                <a:tc>
                  <a:txBody>
                    <a:bodyPr/>
                    <a:lstStyle/>
                    <a:p>
                      <a:r>
                        <a:rPr sz="1200" b="0" i="0">
                          <a:solidFill>
                            <a:srgbClr val="1A1440"/>
                          </a:solidFill>
                          <a:latin typeface="Calibri"/>
                        </a:rPr>
                        <a:t>Frequency</a:t>
                      </a:r>
                    </a:p>
                  </a:txBody>
                  <a:tcPr marL="101600" marR="101600" marT="38100" marB="38100" anchor="ctr">
                    <a:solidFill>
                      <a:srgbClr val="F4F2FA"/>
                    </a:solidFill>
                  </a:tcPr>
                </a:tc>
                <a:tc>
                  <a:txBody>
                    <a:bodyPr/>
                    <a:lstStyle/>
                    <a:p>
                      <a:r>
                        <a:rPr sz="1200" b="0" i="0">
                          <a:solidFill>
                            <a:srgbClr val="1A1440"/>
                          </a:solidFill>
                          <a:latin typeface="Calibri"/>
                        </a:rPr>
                        <a:t>It held.</a:t>
                      </a:r>
                    </a:p>
                  </a:txBody>
                  <a:tcPr marL="101600" marR="101600" marT="38100" marB="38100" anchor="ctr">
                    <a:solidFill>
                      <a:srgbClr val="F4F2FA"/>
                    </a:solidFill>
                  </a:tcPr>
                </a:tc>
              </a:tr>
            </a:tbl>
          </a:graphicData>
        </a:graphic>
      </p:graphicFrame>
      <p:sp>
        <p:nvSpPr>
          <p:cNvPr id="11" name="TextBox 10"/>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delivered view adds a leak to the note: customers come back, and their second orders are the ones cancelled or returned.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Twenty-five minutes in pairs: where revenue comes from, and whether one channel changes the branch.</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where revenue comes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By customer type and by channel, on the same 30 orders.</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2733626"/>
                <a:gridCol w="914400"/>
                <a:gridCol w="7482964"/>
              </a:tblGrid>
              <a:tr h="369824">
                <a:tc>
                  <a:txBody>
                    <a:bodyPr/>
                    <a:lstStyle/>
                    <a:p>
                      <a:r>
                        <a:rPr sz="1450" b="1" i="0">
                          <a:solidFill>
                            <a:srgbClr val="FFFFFF"/>
                          </a:solidFill>
                          <a:latin typeface="Calibri"/>
                        </a:rPr>
                        <a:t>Customer type</a:t>
                      </a:r>
                    </a:p>
                  </a:txBody>
                  <a:tcPr marL="101600" marR="101600" marT="38100" marB="38100" anchor="ctr">
                    <a:solidFill>
                      <a:srgbClr val="1A0F5C"/>
                    </a:solidFill>
                  </a:tcPr>
                </a:tc>
                <a:tc>
                  <a:txBody>
                    <a:bodyPr/>
                    <a:lstStyle/>
                    <a:p>
                      <a:r>
                        <a:rPr sz="1450" b="1" i="0">
                          <a:solidFill>
                            <a:srgbClr val="FFFFFF"/>
                          </a:solidFill>
                          <a:latin typeface="Calibri"/>
                        </a:rPr>
                        <a:t>Orders</a:t>
                      </a:r>
                    </a:p>
                  </a:txBody>
                  <a:tcPr marL="101600" marR="101600" marT="38100" marB="38100" anchor="ctr">
                    <a:solidFill>
                      <a:srgbClr val="1A0F5C"/>
                    </a:solidFill>
                  </a:tcPr>
                </a:tc>
                <a:tc>
                  <a:txBody>
                    <a:bodyPr/>
                    <a:lstStyle/>
                    <a:p>
                      <a:r>
                        <a:rPr sz="1450" b="1" i="0">
                          <a:solidFill>
                            <a:srgbClr val="FFFFFF"/>
                          </a:solidFill>
                          <a:latin typeface="Calibri"/>
                        </a:rPr>
                        <a:t>Booked revenue</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Rs 32,650</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c>
                  <a:txBody>
                    <a:bodyPr/>
                    <a:lstStyle/>
                    <a:p>
                      <a:r>
                        <a:rPr sz="1400" b="0" i="0">
                          <a:solidFill>
                            <a:srgbClr val="1A1440"/>
                          </a:solidFill>
                          <a:latin typeface="Calibri"/>
                        </a:rPr>
                        <a:t>Rs 27,320</a:t>
                      </a:r>
                    </a:p>
                  </a:txBody>
                  <a:tcPr marL="101600" marR="101600" marT="38100" marB="38100" anchor="ctr">
                    <a:solidFill>
                      <a:srgbClr val="F4F2FA"/>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Rs 4,840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The order your chapter 4 sort put at the top</a:t>
                      </a:r>
                    </a:p>
                  </a:txBody>
                  <a:tcPr marL="101600" marR="101600" marT="38100" marB="38100" anchor="ctr">
                    <a:solidFill>
                      <a:srgbClr val="F4F2FA"/>
                    </a:solidFill>
                  </a:tcPr>
                </a:tc>
              </a:tr>
            </a:tbl>
          </a:graphicData>
        </a:graphic>
      </p:graphicFrame>
      <p:sp>
        <p:nvSpPr>
          <p:cNvPr id="15" name="TextBox 14"/>
          <p:cNvSpPr txBox="1"/>
          <p:nvPr/>
        </p:nvSpPr>
        <p:spPr>
          <a:xfrm>
            <a:off x="530352" y="5089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in pairs in the second case brief and its notebook. Segment is recorded on each order, so one customer appears under two types.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0" name="Oval 1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4" name="Oval 23"/>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6" name="Oval 2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8" name="Oval 2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Store brings 91.6 percent, so is growth store-led?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by channel on all 30 orders, the first chart most pairs draw.</a:t>
            </a:r>
          </a:p>
        </p:txBody>
      </p:sp>
      <p:pic>
        <p:nvPicPr>
          <p:cNvPr id="9" name="mermaid diagram" descr="1d532103f015106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yes, store carries nine rupees in ten; b) not yet, count the orders behind each share first; c) yes, and removing cancelled store orders changes little; d) no, app and web hold twenty of the thirty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3" name="Oval 22"/>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carries store's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29 consumer orders store holds under a third, and 4 of its 9 were cancelled.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of 10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ORDERS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carry almost all of store's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18,920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CONSUMER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Rs 64,810 on 29</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of 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STORE ORDERS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cancelled, Rs 9,050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 One channel carries nine rupees in ten of revenue; does that change where the growth plan invests?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4" name="Oval 33"/>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6" name="Oval 3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8" name="Oval 3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consumer orders, web leads and half comes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against delivered for each channel, in Rs thousand.</a:t>
            </a:r>
          </a:p>
        </p:txBody>
      </p:sp>
      <p:pic>
        <p:nvPicPr>
          <p:cNvPr id="9" name="mermaid diagram" descr="53d64e1caba4427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books the most, Rs 27,290, and 5 of its 10 orders came back for Rs 14,970. App kept all 10,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channel view leaves the branch where it was and adds two leaks to the note.</a:t>
            </a:r>
          </a:p>
        </p:txBody>
      </p:sp>
      <p:pic>
        <p:nvPicPr>
          <p:cNvPr id="9" name="mermaid diagram" descr="da11e86c16ec0a2d.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"A share is only as strong as the orders behind it. Count them and split them by status, and a 91.6 percent headline turns into two leaks and a branch that stayed where it was."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Twenty minutes aloud in pairs: twelve questions from today, each answered in under a minute.</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one asks, one answers aloud in under a minute, then swap.</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drill, on chapters 2, 4 and 5.</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drill's last four, where the answer is a recommendation with its evidence.</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six lines to keep, and the question Meera sends back.</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today's traps, played for speed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Ungraded: it shows what the day left in the room.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trap, and two more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to carry out of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line is a chapter's trap turned into a habit.</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3" name="Oval 4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45" name="Oval 4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7" name="Oval 4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9" name="Oval 4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1" name="Oval 50"/>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has read today's sentence, and her reply is Tuesday's work.</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41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