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records answer back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30448"/>
            <a:ext cx="10820095" cy="1020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Half one gave you a loop, a condition and an accumulator.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This half points all three at a question somebody actually asked.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 / 35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Where we 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27632"/>
            <a:ext cx="2076236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5F6360"/>
                </a:solidFill>
                <a:latin typeface="Calibri"/>
              </a:rPr>
              <a:t>open the workbench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71764" y="1627632"/>
            <a:ext cx="2076236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5F6360"/>
                </a:solidFill>
                <a:latin typeface="Calibri"/>
              </a:rPr>
              <a:t>the kernel remembers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57729" y="1627632"/>
            <a:ext cx="2076236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5F6360"/>
                </a:solidFill>
                <a:latin typeface="Calibri"/>
              </a:rPr>
              <a:t>type decides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43693" y="1627632"/>
            <a:ext cx="2076236" cy="475488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walk the 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29658" y="1627632"/>
            <a:ext cx="2076236" cy="4754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9C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5F6360"/>
                </a:solidFill>
                <a:latin typeface="Calibri"/>
              </a:rPr>
              <a:t>the business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04288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kernel holds your records and you can name a value's type. Now the records have to produce a number.</a:t>
            </a:r>
          </a:p>
        </p:txBody>
      </p:sp>
      <p:pic>
        <p:nvPicPr>
          <p:cNvPr id="12" name="Picture 11" descr="18ef9b8692bd3b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4608968"/>
            <a:ext cx="10820095" cy="51127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 / 35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question on the 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57728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Someone on the Kalpa Retail side asks how many of these orders are above Rs 2,000 and what those orders add up to.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Nobody has told you whether the file will cooperate with that question.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 / 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1: THE GUIDED BUILD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open the workbench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71764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kernel remembers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57729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type decides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43693" y="4754880"/>
            <a:ext cx="2076236" cy="475488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walk the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29658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business answer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4 / 35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Build it with 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12288"/>
            <a:ext cx="10820095" cy="205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trainer builds this on screen one line at a time, and you build the same lines on your own Codespace at the same pace.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Three pieces, and you already have all three: a loop that walks the records, a condition that asks one question of each record, and two accumulators that remember the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5 / 35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condition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820095" cy="155448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0292" cy="155448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28216"/>
            <a:ext cx="1041775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E4ECF7"/>
                </a:solidFill>
                <a:latin typeface="Consolas"/>
              </a:rPr>
              <a:t>count = 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4ECF7"/>
                </a:solidFill>
                <a:latin typeface="Consolas"/>
              </a:rPr>
              <a:t>total = 0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4ECF7"/>
                </a:solidFill>
                <a:latin typeface="Consolas"/>
              </a:rPr>
              <a:t>for r in records: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4ECF7"/>
                </a:solidFill>
                <a:latin typeface="Consolas"/>
              </a:rPr>
              <a:t>    if r["amount"] &gt; 2000: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4ECF7"/>
                </a:solidFill>
                <a:latin typeface="Consolas"/>
              </a:rPr>
              <a:t>        count = count + 1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4ECF7"/>
                </a:solidFill>
                <a:latin typeface="Consolas"/>
              </a:rPr>
              <a:t>        total = total + r["amount"]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46704"/>
            <a:ext cx="10820095" cy="478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Run it.</a:t>
            </a:r>
          </a:p>
        </p:txBody>
      </p:sp>
      <p:pic>
        <p:nvPicPr>
          <p:cNvPr id="10" name="Picture 9" descr="39a34bff8ec3de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292" y="4133087"/>
            <a:ext cx="10427109" cy="19202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6 / 35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break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ea4710cc4c1ee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615" y="1627632"/>
            <a:ext cx="3969010" cy="442569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71244" y="2140712"/>
            <a:ext cx="5734650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71244" y="2140712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8988" y="2241296"/>
            <a:ext cx="5332314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TypeError: '&gt;' not supported between instances of 'str' and 'int'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1244" y="3138424"/>
            <a:ext cx="5734650" cy="2401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It stops on the very first record in the file, which is KR4200 storing its amount as the text "4500".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met this error in half one, and here it is inside the cell you are typing yourself.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7 / 35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fix, at the point of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486152"/>
            <a:ext cx="10820095" cy="83312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486152"/>
            <a:ext cx="50292" cy="83312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586736"/>
            <a:ext cx="10417759" cy="65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r in records: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if int(r["amount"]) &gt; 2000: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83864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int() takes a value and hands back the whole number it stands for. That is all it is today, a converter you call at the moment you need a number.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put it where the comparison happens, so the record arrives as text and the comparison still gets a number.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8 / 35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820095" cy="2275840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0292" cy="227584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28216"/>
            <a:ext cx="10417759" cy="209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count = 0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total = 0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for r in records: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  if int(r["amount"]) &gt; 2000: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      count = count + 1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      total = total + int(r["amount"])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print(count, total)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068064"/>
            <a:ext cx="10820095" cy="5085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" y="4068064"/>
            <a:ext cx="50292" cy="5085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4168648"/>
            <a:ext cx="10417759" cy="3256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13 35020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41164"/>
            <a:ext cx="10820095" cy="806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13 orders are above Rs 2,000 and they total Rs 35,020, and that is a sentence you can say out loud to the person who asked.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9 / 35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Two thirteens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30144"/>
            <a:ext cx="10820095" cy="1820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delivered orders came to 13 orders, totalling Rs 25,720.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orders above Rs 2,000 came to 13 orders, totalling Rs 35,020.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Those are two different groups of orders that happen to hold the same count. Whenever you report either number, name the group it came from.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10 / 35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Step card, section 1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8239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239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Set both accumulators to zero above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7515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37515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Ask one condition of each record.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6791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6791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Convert at the point where you need the number.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6067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36067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Report the answer as a sentence with its group named.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11 / 35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2: LISTS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open the workbench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71764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kernel remembers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57729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type decides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43693" y="4754880"/>
            <a:ext cx="2076236" cy="475488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walk the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29658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business answer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12 / 35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A list keeps its order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97912"/>
            <a:ext cx="10820095" cy="141020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97912"/>
            <a:ext cx="50292" cy="141020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698496"/>
            <a:ext cx="10417759" cy="1227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ids = ["KR4200", "KR4201", "KR4202", "KR4203", "KR4204"]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ids[0]      "KR4200"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ids[2]      "KR4202"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727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Counting starts at zero, so the first item is item zero and the third item is item two.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13 / 35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A slice and an append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514600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514600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615184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ids[1:3]                ["KR4201", "KR4202"]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ids.append("KR4205")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len(ids)      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00856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slice takes a run of items, starting at the first number and stopping before the second one.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append puts one more item on the end of the list you already have.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14 / 35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b = 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820095" cy="1247902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0292" cy="1247902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28216"/>
            <a:ext cx="10417759" cy="10650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E4ECF7"/>
                </a:solidFill>
                <a:latin typeface="Consolas"/>
              </a:rPr>
              <a:t>a = ["KR4200", "KR4201"]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4ECF7"/>
                </a:solidFill>
                <a:latin typeface="Consolas"/>
              </a:rPr>
              <a:t>b = a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4ECF7"/>
                </a:solidFill>
                <a:latin typeface="Consolas"/>
              </a:rPr>
              <a:t>b.append("KR4202")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4ECF7"/>
                </a:solidFill>
                <a:latin typeface="Consolas"/>
              </a:rPr>
              <a:t>len(a)     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40126"/>
            <a:ext cx="10820095" cy="1002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C1C1A"/>
                </a:solidFill>
                <a:latin typeface="Calibri"/>
              </a:rPr>
              <a:t>b = a gives the same list a second name. There is one list here and two ways to reach it, so appending through either name changes what both names show.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1C1C1A"/>
                </a:solidFill>
                <a:latin typeface="Calibri"/>
              </a:rPr>
              <a:t>When you want a second list, say so on purpose: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4170934"/>
            <a:ext cx="10820095" cy="45440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4170934"/>
            <a:ext cx="50292" cy="45440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" y="4271518"/>
            <a:ext cx="10417759" cy="271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E4ECF7"/>
                </a:solidFill>
                <a:latin typeface="Consolas"/>
              </a:rPr>
              <a:t>b = list(a)</a:t>
            </a:r>
          </a:p>
        </p:txBody>
      </p:sp>
      <p:pic>
        <p:nvPicPr>
          <p:cNvPr id="13" name="Picture 12" descr="392145c4122623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710" y="4864608"/>
            <a:ext cx="2894274" cy="1188719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15 / 35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Question: after b = a and b.append(9), what is len(a)?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647696"/>
            <a:ext cx="10820095" cy="2385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Commit to one before the next slide.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a) 3, since a was never mentioned again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b) 4, since both names point at one list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c) A TypeError, since a list cannot be extended after assignment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d) 1, since a now holds only the appended 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16 / 35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S13b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Answer: 4, since one list has two names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820095" cy="95910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0292" cy="9591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719072"/>
            <a:ext cx="10362895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The claim. </a:t>
            </a:r>
            <a:r>
              <a:rPr sz="2000" b="0">
                <a:solidFill>
                  <a:srgbClr val="1C1C1A"/>
                </a:solidFill>
                <a:latin typeface="Calibri"/>
              </a:rPr>
              <a:t>len(a) is 4. b = a copied the name and not the list, so appending through either name changes the one list both names point at.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" y="2751328"/>
          <a:ext cx="10820095" cy="1548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227485"/>
                <a:gridCol w="8592610"/>
              </a:tblGrid>
              <a:tr h="387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Option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Why it does not hold</a:t>
                      </a:r>
                    </a:p>
                  </a:txBody>
                  <a:tcPr marL="101600" marR="101600" marT="38100" marB="38100" anchor="ctr">
                    <a:solidFill>
                      <a:srgbClr val="2B4A7D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a) 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Reads the code as if b = a had made a copy. Assignment never copies a list.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c) TypeError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Appending to a list is always allowed, whatever names point at it.</a:t>
                      </a:r>
                    </a:p>
                  </a:txBody>
                  <a:tcPr marL="101600" marR="101600" marT="38100" marB="38100" anchor="ctr">
                    <a:solidFill>
                      <a:srgbClr val="F7F7F5"/>
                    </a:solidFill>
                  </a:tcPr>
                </a:tc>
              </a:tr>
              <a:tr h="387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d) 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C1C1A"/>
                          </a:solidFill>
                          <a:latin typeface="Calibri"/>
                        </a:rPr>
                        <a:t>Confuses appending with replacing. Nothing here replaced anything.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" y="4555744"/>
            <a:ext cx="10820095" cy="1319784"/>
          </a:xfrm>
          <a:prstGeom prst="rect">
            <a:avLst/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85800" y="4555744"/>
            <a:ext cx="50292" cy="131978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647184"/>
            <a:ext cx="10362895" cy="1173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2B4A7D"/>
                </a:solidFill>
                <a:latin typeface="Calibri"/>
              </a:rPr>
              <a:t>The mental model. </a:t>
            </a:r>
            <a:r>
              <a:rPr sz="2000" b="0">
                <a:solidFill>
                  <a:srgbClr val="1C1C1A"/>
                </a:solidFill>
                <a:latin typeface="Calibri"/>
              </a:rPr>
              <a:t>A name is a label you stick on a thing. Two labels on one box means opening either one shows you the same contents. Copy on purpose with list(a) or a[:].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17 / 35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Step card, section 2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8239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239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Index from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7515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37515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A slice stops before its second number.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6791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6791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append changes the list in place.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6067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36067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Copy with list(a) when you want two lists instead of two names.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18 / 35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3: A RECORD HAS NAMES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open the workbench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71764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kernel remembers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57729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type decides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43693" y="4754880"/>
            <a:ext cx="2076236" cy="475488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walk the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29658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business answer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19 / 35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A record is a dictionary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820095" cy="104952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0292" cy="104952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28216"/>
            <a:ext cx="10417759" cy="866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E4ECF7"/>
                </a:solidFill>
                <a:latin typeface="Consolas"/>
              </a:rPr>
              <a:t>r = {"order_id": "KR4224", "segment": "Retail-Core", "amount": 1460,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4ECF7"/>
                </a:solidFill>
                <a:latin typeface="Consolas"/>
              </a:rPr>
              <a:t>     "status": "delivered", "order_date": "2026-08-17"}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4ECF7"/>
                </a:solidFill>
                <a:latin typeface="Consolas"/>
              </a:rPr>
              <a:t>r["status"]     "delivered"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41752"/>
            <a:ext cx="10820095" cy="66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C1C1A"/>
                </a:solidFill>
                <a:latin typeface="Calibri"/>
              </a:rPr>
              <a:t>A dictionary stores values under names, and you fetch a field by asking for its name. Your loop has been doing this since half one.</a:t>
            </a:r>
          </a:p>
        </p:txBody>
      </p:sp>
      <p:pic>
        <p:nvPicPr>
          <p:cNvPr id="10" name="Picture 9" descr="a7f2d12a592070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727" y="3675887"/>
            <a:ext cx="4220240" cy="2377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20 / 35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Never by 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10820095" cy="1613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Position is a promise the file never made to you.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The day someone adds a column in front of the status field, every position you wrote points one field to the left, and your code keeps running and answers a different question.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A name survives that reordering, and that is the whole argument.</a:t>
            </a:r>
          </a:p>
        </p:txBody>
      </p:sp>
      <p:pic>
        <p:nvPicPr>
          <p:cNvPr id="7" name="Picture 6" descr="050ee9b2debb64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325" y="3675887"/>
            <a:ext cx="5221044" cy="23774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21 / 35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The break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ce85d7afad3cc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53078"/>
            <a:ext cx="4652640" cy="417480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71244" y="2330704"/>
            <a:ext cx="5734650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71244" y="233070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8988" y="2431288"/>
            <a:ext cx="5332314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records[0]["discount"]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71244" y="3039872"/>
            <a:ext cx="5734650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71244" y="3039872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08988" y="3140456"/>
            <a:ext cx="5332314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KeyError: 'discount'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1244" y="3749040"/>
            <a:ext cx="5734650" cy="1601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of the thirty orders carry a discount field. Asking a dictionary for a name it does not have stops the program, and the error names the field it went looking for.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22 / 35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Absent is different from empty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Nobody wrote a discount of nothing on the other twenty-eight orders. Those records have no discount field on them at all.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So your code has to say what happens when the name is missing, and that instruction is yours to write.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23 / 35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.get() with a default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803144"/>
            <a:ext cx="10820095" cy="54457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803144"/>
            <a:ext cx="50292" cy="54457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903728"/>
            <a:ext cx="10417759" cy="361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r.get("discount", 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12312"/>
            <a:ext cx="1082009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.get() asks for a name and takes a second value to hand back when that name is absent.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 program keeps running, and the number that arrives is the number you chose.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24 / 35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>
                <a:solidFill>
                  <a:srgbClr val="1C1C1A"/>
                </a:solidFill>
                <a:latin typeface="Calibri"/>
              </a:rPr>
              <a:t>The default is a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2114296"/>
            <a:ext cx="10820095" cy="1121664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2114296"/>
            <a:ext cx="50292" cy="112166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214880"/>
            <a:ext cx="10417759" cy="9387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total = 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for r in records: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E4ECF7"/>
                </a:solidFill>
                <a:latin typeface="Consolas"/>
              </a:rPr>
              <a:t>    total = total + r.get("discount", 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00552"/>
            <a:ext cx="10820095" cy="216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With a default of 0, the thirty records total Rs 250 in discounts, which is the sum of the two discounts the file actually records.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With a default of 100, the same thirty records total Rs 3,050, and Rs 2,800 of that is a number you invented twenty-eight times.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Both cells run to the end. Only one of the two totals is a fact.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25 / 35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S20a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Applied to Kalpa: the two defaults, priced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757424"/>
            <a:ext cx="10820095" cy="216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Two of the thirty Kalpa Retail orders carry a discount, KR4215 at Rs 75 and KR4223 at Rs 175.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default of zero reports Rs 250, which is exactly what the file holds.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default of a hundred reports Rs 3,050, of which Rs 2,800 was supplied by you rather than by Kalpa. Nothing on the page says which part came from where.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26 / 35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Step card, section 3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88239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88239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Fetch a field by its name.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7515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37515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Never fetch a field by its position.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6791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86791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A KeyError means that name is absent from that record.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6067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36067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State your default out loud, because it becomes part of your answer.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27 / 35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20095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SECTION 4: THE BUSINESS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open the workbench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71764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the kernel remembers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57729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type decides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43693" y="4754880"/>
            <a:ext cx="2076236" cy="475488"/>
          </a:xfrm>
          <a:prstGeom prst="roundRect">
            <a:avLst/>
          </a:prstGeom>
          <a:noFill/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walk the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29658" y="4754880"/>
            <a:ext cx="2076236" cy="475488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the business answer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FFFFFF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FFFFFF"/>
                </a:solidFill>
                <a:latin typeface="Calibri"/>
              </a:rPr>
              <a:t>28 / 35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A dataset is a list of dictionaries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10820095" cy="1049528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627632"/>
            <a:ext cx="50292" cy="1049528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1728216"/>
            <a:ext cx="10417759" cy="866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E4ECF7"/>
                </a:solidFill>
                <a:latin typeface="Consolas"/>
              </a:rPr>
              <a:t>records = [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4ECF7"/>
                </a:solidFill>
                <a:latin typeface="Consolas"/>
              </a:rPr>
              <a:t>    {"order_id": "KR4200", "segment": "Retail-Core", "amount": "4500", "status": "returned", "order_date": "2026-08-03"},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4ECF7"/>
                </a:solidFill>
                <a:latin typeface="Consolas"/>
              </a:rPr>
              <a:t>    {"order_id": "KR4201", "segment": "Retail-Plus", "amount": 2395, "status": "delivered", "order_date": "2026-08-03"},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E4ECF7"/>
                </a:solidFill>
                <a:latin typeface="Consolas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41752"/>
            <a:ext cx="10820095" cy="668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C1C1A"/>
                </a:solidFill>
                <a:latin typeface="Calibri"/>
              </a:rPr>
              <a:t>Thirty records in one list, and each record is a dictionary carrying the same field names. That is the entire shape of the data you have worked on all day.</a:t>
            </a:r>
          </a:p>
        </p:txBody>
      </p:sp>
      <p:pic>
        <p:nvPicPr>
          <p:cNvPr id="10" name="Picture 9" descr="a7f2d12a592070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5727" y="3675887"/>
            <a:ext cx="4220240" cy="23774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29 / 35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So the loop you already wrote walks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d1f54a66c111c3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224" y="1627632"/>
            <a:ext cx="3669792" cy="442569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71244" y="1932940"/>
            <a:ext cx="5734650" cy="1265936"/>
          </a:xfrm>
          <a:prstGeom prst="rect">
            <a:avLst/>
          </a:prstGeom>
          <a:solidFill>
            <a:srgbClr val="1C1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771244" y="1932940"/>
            <a:ext cx="50292" cy="1265936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08988" y="2033524"/>
            <a:ext cx="5332314" cy="1083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total = 0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for r in records: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  if r["status"] == "delivered":</a:t>
            </a:r>
          </a:p>
          <a:p>
            <a:pPr>
              <a:spcAft>
                <a:spcPts val="200"/>
              </a:spcAft>
            </a:pPr>
            <a:r>
              <a:rPr sz="1400" b="0">
                <a:solidFill>
                  <a:srgbClr val="E4ECF7"/>
                </a:solidFill>
                <a:latin typeface="Consolas"/>
              </a:rPr>
              <a:t>        total = total + int(r["amount"])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71244" y="3363468"/>
            <a:ext cx="5734650" cy="2384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This is the cell the day ends on, and it answers the question you were shown at the start: "Of these thirty Kalpa Retail orders, how much did we actually collect?"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1C1C1A"/>
                </a:solidFill>
                <a:latin typeface="Calibri"/>
              </a:rPr>
              <a:t>The converter sits there because you now know one amount in this file is text, and the cell should not depend on which records happen to be tidy.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30 / 35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300" b="1">
                <a:solidFill>
                  <a:srgbClr val="1C1C1A"/>
                </a:solidFill>
                <a:latin typeface="Calibri"/>
              </a:rPr>
              <a:t>The recipe for any of these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2763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Set your accumulators to zero above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2039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12039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Walk the records one card at a time.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61315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61315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Ask one condition of each card.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05912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05912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Add to the accumulators only when the condition holds, and print at the end.</a:t>
            </a:r>
          </a:p>
        </p:txBody>
      </p:sp>
      <p:pic>
        <p:nvPicPr>
          <p:cNvPr id="14" name="Picture 13" descr="b4d12f2002153d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4546165"/>
            <a:ext cx="10820095" cy="669397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31 / 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Your three questions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91308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591308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How many orders are in the Student segment, and what do they total?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084068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084068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How many orders were returned, and what do returned orders total?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76828"/>
            <a:ext cx="457200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1">
                <a:solidFill>
                  <a:srgbClr val="2B4A7D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576828"/>
            <a:ext cx="10362895" cy="437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900" b="0">
                <a:solidFill>
                  <a:srgbClr val="1C1C1A"/>
                </a:solidFill>
                <a:latin typeface="Calibri"/>
              </a:rPr>
              <a:t>How many delivered orders are above Rs 2,000, and what do they total?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179316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No hints on these. Work on your own Codespace, and the solution is released at close.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32 / 35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Tomorrow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85008"/>
            <a:ext cx="10820095" cy="1710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These same thirty records arrive tomorrow as a file rather than as a cell you can read on screen.</a:t>
            </a:r>
          </a:p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file has forgotten every type it ever knew. Every amount, every status and every date arrives as text, and the cell you just wrote has to survive that.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33 / 35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Crux, half two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853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A dataset is a stack of named cards, and a loop with a condition and an accumulator turns that stack into one number you can defend.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34 / 35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603504"/>
            <a:ext cx="786384" cy="274320"/>
          </a:xfrm>
          <a:prstGeom prst="round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18488" y="493776"/>
            <a:ext cx="9704527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1C1C1A"/>
                </a:solidFill>
                <a:latin typeface="Calibri"/>
              </a:rPr>
              <a:t>Crux, the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35024"/>
            <a:ext cx="10820095" cy="32004"/>
          </a:xfrm>
          <a:prstGeom prst="rect">
            <a:avLst/>
          </a:prstGeom>
          <a:solidFill>
            <a:srgbClr val="2B4A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385312"/>
            <a:ext cx="10820095" cy="910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1C1C1A"/>
                </a:solidFill>
                <a:latin typeface="Calibri"/>
              </a:rPr>
              <a:t>You can take thirty records nobody explained to you and come back with a number, and you can say what would break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7648"/>
            <a:ext cx="10820095" cy="12801"/>
          </a:xfrm>
          <a:prstGeom prst="rect">
            <a:avLst/>
          </a:prstGeom>
          <a:solidFill>
            <a:srgbClr val="C9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391656"/>
            <a:ext cx="97228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000">
                <a:solidFill>
                  <a:srgbClr val="5F6360"/>
                </a:solidFill>
                <a:latin typeface="Calibri"/>
              </a:rPr>
              <a:t>Week 1, Day 1. Half two: the records answer back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8615" y="6391656"/>
            <a:ext cx="10972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>
                <a:solidFill>
                  <a:srgbClr val="5F6360"/>
                </a:solidFill>
                <a:latin typeface="Calibri"/>
              </a:rPr>
              <a:t>35 / 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