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while the room comes back. Meera's question is the day's question,</a:t>
            </a:r>
          </a:p>
          <a:p>
            <a:r>
              <a:t>and this afternoon answers it in the close. The morning's metric tree is still on the board with its</a:t>
            </a:r>
          </a:p>
          <a:p>
            <a:r>
              <a:t>numbers written in.</a:t>
            </a:r>
          </a:p>
          <a:p>
            <a:r>
              <a:t>Transition: S1, what the morning found.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first two of chapter 5's 30. Read the tree from the root: booked revenue of</a:t>
            </a:r>
          </a:p>
          <a:p>
            <a:r>
              <a:t>Rs 5,44,810 still holds the 4 cancelled store orders, not cancelled is Rs 5,35,760 on 26 orders and</a:t>
            </a:r>
          </a:p>
          <a:p>
            <a:r>
              <a:t>delivered is Rs 5,20,790 on 21. The AOV of Rs 18,160 is booked revenue over the 30 orders it was</a:t>
            </a:r>
          </a:p>
          <a:p>
            <a:r>
              <a:t>summed over, and the median of Rs 2,205 is the number marketing gets as the typical order.</a:t>
            </a:r>
          </a:p>
          <a:p>
            <a:r>
              <a:t>Ask one learner which branch looks weakest on this tree and which number says so. Most point at the</a:t>
            </a:r>
          </a:p>
          <a:p>
            <a:r>
              <a:t>16 customers who bought once, which is where chapter 5 starts.</a:t>
            </a:r>
          </a:p>
          <a:p>
            <a:r>
              <a:t>Transition: section 05, which branch Meera opens first.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counting S1's two: the map and the need (3), the real company (1), the base (3),</a:t>
            </a:r>
          </a:p>
          <a:p>
            <a:r>
              <a:t>each branch alone (4), the evidence and the call (4), the check (2), the trap (7), the second route</a:t>
            </a:r>
          </a:p>
          <a:p>
            <a:r>
              <a:t>(2) and Kavya's review (2). D15 is self-study. Notebook 05 is the demonstration.</a:t>
            </a:r>
          </a:p>
          <a:p>
            <a:r>
              <a:t>For more depth: sections 2 and 5 of the retail dossier, study-notes/C2_W01_D01_domain_retail_STUDENT.md, on Retail-Plus and the acquisition payback.</a:t>
            </a:r>
          </a:p>
          <a:p>
            <a:r>
              <a:t>Transition: S2, the chapter's map.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aloud and leave them unanswered; each gets its own slide,</a:t>
            </a:r>
          </a:p>
          <a:p>
            <a:r>
              <a:t>and S16 answers all six in a line each.</a:t>
            </a:r>
          </a:p>
          <a:p>
            <a:r>
              <a:t>Transition: S3, who asks for the branch and what a wrong one costs.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question is now a choice between branches, so put the cost of each option</a:t>
            </a:r>
          </a:p>
          <a:p>
            <a:r>
              <a:t>beside it. Meera decides, the marketing lead wants the Rs 12 crore for acquisition, and the</a:t>
            </a:r>
          </a:p>
          <a:p>
            <a:r>
              <a:t>head of Retail-Plus runs the paid tier whose members come back most often.</a:t>
            </a:r>
          </a:p>
          <a:p>
            <a:r>
              <a:t>Ask: which of the three loses most if we pick the wrong branch?</a:t>
            </a:r>
          </a:p>
          <a:p>
            <a:r>
              <a:t>Transition: S4, two companies that pay to buy frequency.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companies are real and the prices are their own. Free or faster delivery takes</a:t>
            </a:r>
          </a:p>
          <a:p>
            <a:r>
              <a:t>away a customer's reason to wait and batch purchases, so each member orders more often.</a:t>
            </a:r>
          </a:p>
          <a:p>
            <a:r>
              <a:t>Transition: S5, which orders the plan is sized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rule before any number. The plan's levers, the Rs 12 crore of acquisition,</a:t>
            </a:r>
          </a:p>
          <a:p>
            <a:r>
              <a:t>the retention offers and the Retail-Plus membership, all act on consumers who buy again and again,</a:t>
            </a:r>
          </a:p>
          <a:p>
            <a:r>
              <a:t>so the plan is sized on the three consumer segments, and the code writes that rule once. Booked</a:t>
            </a:r>
          </a:p>
          <a:p>
            <a:r>
              <a:t>revenue still counts every order; the consumer view answers the narrower question the plan asks.</a:t>
            </a:r>
          </a:p>
          <a:p>
            <a:r>
              <a:t>Say the view in rupees. How many orders it keeps is each learner's to find in notebook 05's own cell.</a:t>
            </a:r>
          </a:p>
          <a:p>
            <a:r>
              <a:t>Ask: if the plan were sized on all booked revenue, what would each extra order have to be worth?</a:t>
            </a:r>
          </a:p>
          <a:p>
            <a:r>
              <a:t>The booked mean, Rs 18,160, which chapter 4 showed no typical order is; the consumer view's mean is</a:t>
            </a:r>
          </a:p>
          <a:p>
            <a:r>
              <a:t>Rs 2,235.</a:t>
            </a:r>
          </a:p>
          <a:p>
            <a:r>
              <a:t>Transition: S6, what one branch would have to do alone.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before the next slide. Many pick b, sharing the plan out across</a:t>
            </a:r>
          </a:p>
          <a:p>
            <a:r>
              <a:t>the three branches as though they added.</a:t>
            </a:r>
          </a:p>
          <a:p>
            <a:r>
              <a:t>Transition: S7,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three lines: whichever factor carries the 1.15, the product is revenue</a:t>
            </a:r>
          </a:p>
          <a:p>
            <a:r>
              <a:t>times 1.15. Answer b's reasoning aloud: if all three branches shared the plan, each would need about</a:t>
            </a:r>
          </a:p>
          <a:p>
            <a:r>
              <a:t>4.8 percent, since 1.048 x 1.048 x 1.048 is about 1.15, and three lifts of 5 percent would overshoot</a:t>
            </a:r>
          </a:p>
          <a:p>
            <a:r>
              <a:t>to about 15.8 percent. Every branch is asked for the same Rs 9,722; what differs is what that asks</a:t>
            </a:r>
          </a:p>
          <a:p>
            <a:r>
              <a:t>and of whom, which S8 lays out.</a:t>
            </a:r>
          </a:p>
          <a:p>
            <a:r>
              <a:t>Transition: S8, which branch has evidence behind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Some pick c because Rs 335 a basket sounds small; ask them what</a:t>
            </a:r>
          </a:p>
          <a:p>
            <a:r>
              <a:t>in the file would show that a basket can grow.</a:t>
            </a:r>
          </a:p>
          <a:p>
            <a:r>
              <a:t>Transition: S9, the answer and the call.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Walk the three boxes. Acquisition may be short, but one quarter</a:t>
            </a:r>
          </a:p>
          <a:p>
            <a:r>
              <a:t>cannot show customers falling; order value and price rest on items and prices the file does not</a:t>
            </a:r>
          </a:p>
          <a:p>
            <a:r>
              <a:t>hold. Frequency has the evidence and the cheapest test: a reorder reminder to the one-time buyers,</a:t>
            </a:r>
          </a:p>
          <a:p>
            <a:r>
              <a:t>against a group held back for comparison. The call has a second switch as well: a retained order</a:t>
            </a:r>
          </a:p>
          <a:p>
            <a:r>
              <a:t>that costs more than winning a new customer.</a:t>
            </a:r>
          </a:p>
          <a:p>
            <a:r>
              <a:t>Ask: which of the two switches could Tuesday's file show?</a:t>
            </a:r>
          </a:p>
          <a:p>
            <a:r>
              <a:t>Transition: S10, whether the frequency ask is within reach.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ask is small: about three in ten of the consumer view's one-time buyers</a:t>
            </a:r>
          </a:p>
          <a:p>
            <a:r>
              <a:t>ordering once more at the consumer mean. Notebook 05's check multiplies it back to the plan. Keep</a:t>
            </a:r>
          </a:p>
          <a:p>
            <a:r>
              <a:t>the count of extra orders in each learner's own notebook and say the ask in rupees and as three in</a:t>
            </a:r>
          </a:p>
          <a:p>
            <a:r>
              <a:t>ten.</a:t>
            </a:r>
          </a:p>
          <a:p>
            <a:r>
              <a:t>Transition: S11, marketing answers with a bigger plan.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it confidently, as the marketing lead would. Before the next slide, take</a:t>
            </a:r>
          </a:p>
          <a:p>
            <a:r>
              <a:t>hands for 20, 21, 10 or 11 percent; most rooms say 20.</a:t>
            </a:r>
          </a:p>
          <a:p>
            <a:r>
              <a:t>Transition: S12,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it on the board on the consumer view: Rs 64,810 x 1.10 = Rs 71,291, and</a:t>
            </a:r>
          </a:p>
          <a:p>
            <a:r>
              <a:t>x 1.10 again is Rs 78,420. At 10 percent the gap is Rs 648; with two 30 percent lifts the tree says</a:t>
            </a:r>
          </a:p>
          <a:p>
            <a:r>
              <a:t>69 percent where addition says 60.</a:t>
            </a:r>
          </a:p>
          <a:p>
            <a:r>
              <a:t>Transition: S13, the fix and what it changes.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the fix changes: the plan is sized on 21 percent, Rs 78,420, and a discount is</a:t>
            </a:r>
          </a:p>
          <a:p>
            <a:r>
              <a:t>priced through the tree before anyone calls it growth. Marketing's discount comes back in the</a:t>
            </a:r>
          </a:p>
          <a:p>
            <a:r>
              <a:t>escalated case, on delivered orders.</a:t>
            </a:r>
          </a:p>
          <a:p>
            <a:r>
              <a:t>Transition: S14, the same total built from its parts.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draws this as a bridge and asserts it lands on the multiplied total.</a:t>
            </a:r>
          </a:p>
          <a:p>
            <a:r>
              <a:t>Bring the parts route to marketing, since the lift on the lift has its own line there.</a:t>
            </a:r>
          </a:p>
          <a:p>
            <a:r>
              <a:t>Transition: D15 is self-study, so go to S16,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The flat line is revenue before the discount and the rising line is revenue</a:t>
            </a:r>
          </a:p>
          <a:p>
            <a:r>
              <a:t>after it. Marketing's 10 percent lift sits well short of the 17.6 percent break-even, which is why</a:t>
            </a:r>
          </a:p>
          <a:p>
            <a:r>
              <a:t>the tree calls the proposal a fall. Notebook 05's depth section draws the same two lines.</a:t>
            </a:r>
          </a:p>
          <a:p>
            <a:r>
              <a:t>Transition: S16,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the interview question aloud in under a minute: count customers</a:t>
            </a:r>
          </a:p>
          <a:p>
            <a:r>
              <a:t>by id and the repeat buyers, price a new customer on the consumer mean of Rs 2,235, ask for the prior</a:t>
            </a:r>
          </a:p>
          <a:p>
            <a:r>
              <a:t>quarter, and say no for now with a date while offering the cheaper frequency test.</a:t>
            </a:r>
          </a:p>
          <a:p>
            <a:r>
              <a:t>Transition: section 06, the sentence Meera signs.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and the need (3), the real company (1), the options (4), the first draft</a:t>
            </a:r>
          </a:p>
          <a:p>
            <a:r>
              <a:t>(6), the trap (8), the fix (3), the second route (3) and Kavya's review (2). D29 is self-study.</a:t>
            </a:r>
          </a:p>
          <a:p>
            <a:r>
              <a:t>Notebook 06 is the demonstration.</a:t>
            </a:r>
          </a:p>
          <a:p>
            <a:r>
              <a:t>For more depth: section 5 of the retail dossier, study-notes/C2_W01_D01_domain_retail_STUDENT.md, on retention and cohorts.</a:t>
            </a:r>
          </a:p>
          <a:p>
            <a:r>
              <a:t>Transition: S17, the chapter's map.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aloud and leave them open; S30 answers each in one line.</a:t>
            </a:r>
          </a:p>
          <a:p>
            <a:r>
              <a:t>Transition: S18, who reads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Meera will not read the day's notebooks. Marketing will read the sentence looking for the</a:t>
            </a:r>
          </a:p>
          <a:p>
            <a:r>
              <a:t>number it can recompute into a different story.</a:t>
            </a:r>
          </a:p>
          <a:p>
            <a:r>
              <a:t>Ask: which number from chapter 5 would you least like to defend in front of the marketing lead?</a:t>
            </a:r>
          </a:p>
          <a:p>
            <a:r>
              <a:t>Transition: S19, a real company's first window.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dossier's section 8 tells the full case. The first month measured volume, and</a:t>
            </a:r>
          </a:p>
          <a:p>
            <a:r>
              <a:t>the verdict on quality came fifteen months later.</a:t>
            </a:r>
          </a:p>
          <a:p>
            <a:r>
              <a:t>Transition: S20, four ways to hand Meera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A is fast and carries nothing, B hands Meera the choice of number,</a:t>
            </a:r>
          </a:p>
          <a:p>
            <a:r>
              <a:t>and D is the right tool once the definitions are settled and the question recurs. What would change</a:t>
            </a:r>
          </a:p>
          <a:p>
            <a:r>
              <a:t>the call: a weekly question, which arrives in Week 2.</a:t>
            </a:r>
          </a:p>
          <a:p>
            <a:r>
              <a:t>Transition: S21, predict the order of the sentence's parts.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before the next slide.</a:t>
            </a:r>
          </a:p>
          <a:p>
            <a:r>
              <a:t>Transition: S22,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Kavya's order puts the decision where Meera's eye lands last. A sentence that ends</a:t>
            </a:r>
          </a:p>
          <a:p>
            <a:r>
              <a:t>on the caveat reads as doubt, and one that ends on the numbers leaves her to draw the conclusion.</a:t>
            </a:r>
          </a:p>
          <a:p>
            <a:r>
              <a:t>Transition: S23, the first draft built from the chapters' numbers.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Every number in the draft comes from a variable, so the sentence cannot drift from</a:t>
            </a:r>
          </a:p>
          <a:p>
            <a:r>
              <a:t>the work, and notebook 06 checks that the draft carries the customers, the rate and the typical</a:t>
            </a:r>
          </a:p>
          <a:p>
            <a:r>
              <a:t>order.</a:t>
            </a:r>
          </a:p>
          <a:p>
            <a:r>
              <a:t>Ask which number marketing will reach for first. Most say the 16.</a:t>
            </a:r>
          </a:p>
          <a:p>
            <a:r>
              <a:t>Transition: S24, a colleague tightens the draft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the 70 percent as the colleague's tightened draft, which is how it would</a:t>
            </a:r>
          </a:p>
          <a:p>
            <a:r>
              <a:t>reach Meera. Ask what the marketing lead would ask first; someone should say "how long do our</a:t>
            </a:r>
          </a:p>
          <a:p>
            <a:r>
              <a:t>customers usually take to come back?"</a:t>
            </a:r>
          </a:p>
          <a:p>
            <a:r>
              <a:t>Transition: S25, predict how many of the 16 can be called lost.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by hand; most pick a.</a:t>
            </a:r>
          </a:p>
          <a:p>
            <a:r>
              <a:t>Transition: S26, the answer and the check that catches the 70 percent.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check measures the usual gap from the customers who did come back and holds</a:t>
            </a:r>
          </a:p>
          <a:p>
            <a:r>
              <a:t>back everyone who has not had that long. An 88-day window only sees gaps shorter than 88 days, so</a:t>
            </a:r>
          </a:p>
          <a:p>
            <a:r>
              <a:t>45 days is a floor, and more of the 16 may still be on their way back.</a:t>
            </a:r>
          </a:p>
          <a:p>
            <a:r>
              <a:t>Transition: S27, the fix in the sentence Meera signs.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changed: the split replaces the 16, and the sentence carries no "lost" and no</a:t>
            </a:r>
          </a:p>
          <a:p>
            <a:r>
              <a:t>percentage that marketing can recompute. Notebook 06's checks assert that each number is in the</a:t>
            </a:r>
          </a:p>
          <a:p>
            <a:r>
              <a:t>sentence and that the word lost is not.</a:t>
            </a:r>
          </a:p>
          <a:p>
            <a:r>
              <a:t>Transition: S28, the same split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both routes find the same customers. When to switch: count the</a:t>
            </a:r>
          </a:p>
          <a:p>
            <a:r>
              <a:t>days since the order to report today's state, and use due dates to plan follow-ups, since a due date</a:t>
            </a:r>
          </a:p>
          <a:p>
            <a:r>
              <a:t>is the day a reminder would go out. A second quarter shows which of the 9 came back, and the</a:t>
            </a:r>
          </a:p>
          <a:p>
            <a:r>
              <a:t>caveat shrinks.</a:t>
            </a:r>
          </a:p>
          <a:p>
            <a:r>
              <a:t>Transition: D29 is self-study, so go to S30,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Any count of who has not done something yet is cut short at the end of the</a:t>
            </a:r>
          </a:p>
          <a:p>
            <a:r>
              <a:t>window. The dossier's returns-rate trap is the same edge.</a:t>
            </a:r>
          </a:p>
          <a:p>
            <a:r>
              <a:t>Transition: S30,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in under a minute: 70 percent bought once in this window,</a:t>
            </a:r>
          </a:p>
          <a:p>
            <a:r>
              <a:t>which is a fact about the window, and churn needs orders placed after it closes; returning customers</a:t>
            </a:r>
          </a:p>
          <a:p>
            <a:r>
              <a:t>took a median of 45 days and 9 of the 16 are inside it, so 7 came back, 7 are past the gap and 9 are</a:t>
            </a:r>
          </a:p>
          <a:p>
            <a:r>
              <a:t>too recent, and the prior quarter comes before anyone is called lost.</a:t>
            </a:r>
          </a:p>
          <a:p>
            <a:r>
              <a:t>Transition: section A, Anand pushes back.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5 to brief on S31 and S32, then 30 alone with S32 on screen. The support TA</a:t>
            </a:r>
          </a:p>
          <a:p>
            <a:r>
              <a:t>answers environment problems only. Collect wrong numbers while circulating, for the debrief.</a:t>
            </a:r>
          </a:p>
          <a:p>
            <a:r>
              <a:t>Transition: S31, Anand's ask.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brief is exercises/unguided/C2_W01_D01_escalated_case_STUDENT.md and the</a:t>
            </a:r>
          </a:p>
          <a:p>
            <a:r>
              <a:t>notebook is notebooks/C2_W01_D01_ex1_escalated_case_STUDENT.ipynb. Each learner posts the lines the</a:t>
            </a:r>
          </a:p>
          <a:p>
            <a:r>
              <a:t>brief asks for, the sentence, and the notebook's TODO picks on one more line.</a:t>
            </a:r>
          </a:p>
          <a:p>
            <a:r>
              <a:t>Transition: S32, what to post and how long each part takes.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with this slide on screen while the room works alone. Write down every wrong</a:t>
            </a:r>
          </a:p>
          <a:p>
            <a:r>
              <a:t>number you see; the debrief is built from them.</a:t>
            </a:r>
          </a:p>
          <a:p>
            <a:r>
              <a:t>Transition: section B, the room's wrong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question 3 and the answer 12. Use the room's own numbers where they match; the</a:t>
            </a:r>
          </a:p>
          <a:p>
            <a:r>
              <a:t>slides carry the six every room produces. A 10-minute break follows.</a:t>
            </a:r>
          </a:p>
          <a:p>
            <a:r>
              <a:t>Transition: S33, the six numbers.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first, then one defender for b: the sales total is a real sum, which is why</a:t>
            </a:r>
          </a:p>
          <a:p>
            <a:r>
              <a:t>it tempts.</a:t>
            </a:r>
          </a:p>
          <a:p>
            <a:r>
              <a:t>Transition: S34, the checks.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answer is d. Walk the rows in the order the room met them. Then the escalated</a:t>
            </a:r>
          </a:p>
          <a:p>
            <a:r>
              <a:t>case: read what moved and what held on delivered orders from the day sheet's numbers table, and name</a:t>
            </a:r>
          </a:p>
          <a:p>
            <a:r>
              <a:t>the two slips the case adds, a median of an odd count taken as the average of two middles, and</a:t>
            </a:r>
          </a:p>
          <a:p>
            <a:r>
              <a:t>delivered one-time buyers called lost, which the same 45-day edge corrects.</a:t>
            </a:r>
          </a:p>
          <a:p>
            <a:r>
              <a:t>Transition: a 10-minute break, then section C,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the break, 25 minutes: 2 to brief on S35, 15 in pairs with no slides, then S36 to S39 as</a:t>
            </a:r>
          </a:p>
          <a:p>
            <a:r>
              <a:t>the debrief, about 8 minutes. Keep S36 off the screen until the pairs have worked.</a:t>
            </a:r>
          </a:p>
          <a:p>
            <a:r>
              <a:t>Transition: S35, Meera's second question.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17 minutes: 2 to brief, then 15 in pairs with no slides. Say the format aloud: in pairs, 15</a:t>
            </a:r>
          </a:p>
          <a:p>
            <a:r>
              <a:t>minutes, in the second case brief and its notebook, arguing each item before recording it. The</a:t>
            </a:r>
          </a:p>
          <a:p>
            <a:r>
              <a:t>pairs split by channel and by</a:t>
            </a:r>
          </a:p>
          <a:p>
            <a:r>
              <a:t>status themselves. Segment is recorded on each order, so one repeat customer appears under two</a:t>
            </a:r>
          </a:p>
          <a:p>
            <a:r>
              <a:t>customer types; watch for pairs who count customers per type and add the counts.</a:t>
            </a:r>
          </a:p>
          <a:p>
            <a:r>
              <a:t>Transition: after 15 minutes, S36.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Expect a from pairs who stopped at the chart. The answer is b.</a:t>
            </a:r>
          </a:p>
          <a:p>
            <a:r>
              <a:t>Transition: S37,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Remind the room that booked revenue still counts every order and the consumer view</a:t>
            </a:r>
          </a:p>
          <a:p>
            <a:r>
              <a:t>answers the plan's narrower question. Let the pairs say from their own table where the rest of</a:t>
            </a:r>
          </a:p>
          <a:p>
            <a:r>
              <a:t>store's booked revenue sits, and leave the saying to them.</a:t>
            </a:r>
          </a:p>
          <a:p>
            <a:r>
              <a:t>Transition: S38, the consumer channels split by status.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channel a finance controller would call the healthiest, and why it is app</a:t>
            </a:r>
          </a:p>
          <a:p>
            <a:r>
              <a:t>although web books more.</a:t>
            </a:r>
          </a:p>
          <a:p>
            <a:r>
              <a:t>Transition: S39, whether this changes the branch.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leaks sit between booked and delivered on every branch; Tuesday tests whether</a:t>
            </a:r>
          </a:p>
          <a:p>
            <a:r>
              <a:t>either grew. One pair answers the interview question aloud: count the orders behind the share, keep</a:t>
            </a:r>
          </a:p>
          <a:p>
            <a:r>
              <a:t>the segments the plan concerns, and say that the branch stays with two leaks named.</a:t>
            </a:r>
          </a:p>
          <a:p>
            <a:r>
              <a:t>Transition: section D,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about 6 or 7 per slide. In pairs, one asks and one answers aloud, then they swap.</a:t>
            </a:r>
          </a:p>
          <a:p>
            <a:r>
              <a:t>The one-breath answers are in each slide's notes, and the full answers in the study notes and the</a:t>
            </a:r>
          </a:p>
          <a:p>
            <a:r>
              <a:t>notebooks. Listen for a number with its definition in every answer.</a:t>
            </a:r>
          </a:p>
          <a:p>
            <a:r>
              <a:t>Transition: S40, the first four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breath each.</a:t>
            </a:r>
          </a:p>
          <a:p>
            <a:r>
              <a:t>Sales: name all three and give the CEO the one her plan was set on, with the definition beside it.</a:t>
            </a:r>
          </a:p>
          <a:p>
            <a:r>
              <a:t>Sum or Finance: sum by status for a first look, and reconcile to Finance for anything the board sees.</a:t>
            </a:r>
          </a:p>
          <a:p>
            <a:r>
              <a:t>Thirty and thirty: compare rows with distinct ids; the set gives 23, and 7 came back.</a:t>
            </a:r>
          </a:p>
          <a:p>
            <a:r>
              <a:t>List or dictionary: a list keeps order and walks every record, a dictionary counts or looks up by a</a:t>
            </a:r>
          </a:p>
          <a:p>
            <a:r>
              <a:t>key, and records are a list of dictionaries.</a:t>
            </a:r>
          </a:p>
          <a:p>
            <a:r>
              <a:t>Transition: S41, the next four.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Mean or median: the median for a typical order, because one large order drags the mean, and the mean</a:t>
            </a:r>
          </a:p>
          <a:p>
            <a:r>
              <a:t>where a total must multiply back.</a:t>
            </a:r>
          </a:p>
          <a:p>
            <a:r>
              <a:t>Payback: a mean, because a payback is a total, taken over the segments the spend targets, Rs 2,235</a:t>
            </a:r>
          </a:p>
          <a:p>
            <a:r>
              <a:t>on the consumer view, with the median of Rs 2,205 beside it as the typical order.</a:t>
            </a:r>
          </a:p>
          <a:p>
            <a:r>
              <a:t>Grow 15 percent: fix the base and the window, then size what 15 percent asks of each branch alone;</a:t>
            </a:r>
          </a:p>
          <a:p>
            <a:r>
              <a:t>on the consumer view that is Rs 9,722 more, 15 percent more customers or 15 percent more orders from</a:t>
            </a:r>
          </a:p>
          <a:p>
            <a:r>
              <a:t>the same customers.</a:t>
            </a:r>
          </a:p>
          <a:p>
            <a:r>
              <a:t>Two lifts: 1.10 x 1.10 = 1.21, so 21 percent, and the gap grows with the lifts.</a:t>
            </a:r>
          </a:p>
          <a:p>
            <a:r>
              <a:t>Transition: S42, the last four.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Increase sales: draw the tree, measure each branch, and open the one with room to move and the</a:t>
            </a:r>
          </a:p>
          <a:p>
            <a:r>
              <a:t>cheapest bill.</a:t>
            </a:r>
          </a:p>
          <a:p>
            <a:r>
              <a:t>Acquisition budget: count repeat buyers, price a new customer on the consumer mean of Rs 2,235, and</a:t>
            </a:r>
          </a:p>
          <a:p>
            <a:r>
              <a:t>ask for the prior quarter; frequency goes first, and the budget waits for two quarters.</a:t>
            </a:r>
          </a:p>
          <a:p>
            <a:r>
              <a:t>Seventy percent: the file shows who bought once, and churn depends on orders after the window</a:t>
            </a:r>
          </a:p>
          <a:p>
            <a:r>
              <a:t>closes; 9 of the 16 bought inside the 45-day gap.</a:t>
            </a:r>
          </a:p>
          <a:p>
            <a:r>
              <a:t>Nine rupees in ten: count the orders behind the share and keep the segments the plan concerns; on</a:t>
            </a:r>
          </a:p>
          <a:p>
            <a:r>
              <a:t>the three consumer segments store falls from 91.6 to 29.2 percent, and the branch stays.</a:t>
            </a:r>
          </a:p>
          <a:p>
            <a:r>
              <a:t>Transition: section E, the close.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8, the answer to Meera 2, the six lines 3 and Tuesday's question 2.</a:t>
            </a:r>
          </a:p>
          <a:p>
            <a:r>
              <a:t>Transition: S43, the Kahoot.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Run kahoot/C2_W01_D01_quiz_STUDENT.md. Pause on any item below 60 percent correct</a:t>
            </a:r>
          </a:p>
          <a:p>
            <a:r>
              <a:t>and ask one learner who got it right to explain it.</a:t>
            </a:r>
          </a:p>
          <a:p>
            <a:r>
              <a:t>Transition: S44, the answer Meera hears.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sentence aloud as the day's answer to Meera's question. The escalated case</a:t>
            </a:r>
          </a:p>
          <a:p>
            <a:r>
              <a:t>added that the branch holds on delivered orders, and the second case added two leaks to the note,</a:t>
            </a:r>
          </a:p>
          <a:p>
            <a:r>
              <a:t>web returns and store cancellations, without moving the branch.</a:t>
            </a:r>
          </a:p>
          <a:p>
            <a:r>
              <a:t>Transition: S45, the six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same six lines are on the cheat sheet and in the study notes, word for word.</a:t>
            </a:r>
          </a:p>
          <a:p>
            <a:r>
              <a:t>Ask which one the learner's own escalated case broke, and note the answers for Tuesday.</a:t>
            </a:r>
          </a:p>
          <a:p>
            <a:r>
              <a:t>Transition: S46, Meera's reply.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reply and stop; Tuesday's file settles it. Hand out the domain card</a:t>
            </a:r>
          </a:p>
          <a:p>
            <a:r>
              <a:t>now, one per learner. Remind the room of the take-home and the pre-read, and that the practice lab</a:t>
            </a:r>
          </a:p>
          <a:p>
            <a:r>
              <a:t>follows with the TA.</a:t>
            </a:r>
          </a:p>
          <a:p>
            <a:r>
              <a:t>Transition: the practice lab, run by the 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3.png"/><Relationship Id="rId6"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 Id="rId6"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8.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8.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2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3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9.png"/><Relationship Id="rId6" Type="http://schemas.openxmlformats.org/officeDocument/2006/relationships/image" Target="../media/image18.png"/><Relationship Id="rId7" Type="http://schemas.openxmlformats.org/officeDocument/2006/relationships/image" Target="../media/image3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 Id="rId5" Type="http://schemas.openxmlformats.org/officeDocument/2006/relationships/image" Target="../media/image3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4.xml"/><Relationship Id="rId6"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branch, the sentence and the cases</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“Is acquisition even the branch that is short?”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before she signs Rs 12 crore for new customers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branch first</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4" name="TextBox 13"/>
          <p:cNvSpPr txBox="1"/>
          <p:nvPr/>
        </p:nvSpPr>
        <p:spPr>
          <a:xfrm>
            <a:off x="2820352"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What will Meera sign</a:t>
            </a:r>
          </a:p>
        </p:txBody>
      </p:sp>
      <p:sp>
        <p:nvSpPr>
          <p:cNvPr id="15" name="TextBox 14"/>
          <p:cNvSpPr txBox="1"/>
          <p:nvPr/>
        </p:nvSpPr>
        <p:spPr>
          <a:xfrm>
            <a:off x="436911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A</a:t>
            </a:r>
          </a:p>
        </p:txBody>
      </p:sp>
      <p:sp>
        <p:nvSpPr>
          <p:cNvPr id="16" name="TextBox 15"/>
          <p:cNvSpPr txBox="1"/>
          <p:nvPr/>
        </p:nvSpPr>
        <p:spPr>
          <a:xfrm>
            <a:off x="4753165"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Does the branch survive</a:t>
            </a:r>
          </a:p>
        </p:txBody>
      </p:sp>
      <p:sp>
        <p:nvSpPr>
          <p:cNvPr id="17" name="TextBox 16"/>
          <p:cNvSpPr txBox="1"/>
          <p:nvPr/>
        </p:nvSpPr>
        <p:spPr>
          <a:xfrm>
            <a:off x="647938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B</a:t>
            </a:r>
          </a:p>
        </p:txBody>
      </p:sp>
      <p:sp>
        <p:nvSpPr>
          <p:cNvPr id="18" name="TextBox 17"/>
          <p:cNvSpPr txBox="1"/>
          <p:nvPr/>
        </p:nvSpPr>
        <p:spPr>
          <a:xfrm>
            <a:off x="686342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Which numbers hold up</a:t>
            </a:r>
          </a:p>
        </p:txBody>
      </p:sp>
      <p:sp>
        <p:nvSpPr>
          <p:cNvPr id="19" name="TextBox 18"/>
          <p:cNvSpPr txBox="1"/>
          <p:nvPr/>
        </p:nvSpPr>
        <p:spPr>
          <a:xfrm>
            <a:off x="847134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C</a:t>
            </a:r>
          </a:p>
        </p:txBody>
      </p:sp>
      <p:sp>
        <p:nvSpPr>
          <p:cNvPr id="20" name="TextBox 19"/>
          <p:cNvSpPr txBox="1"/>
          <p:nvPr/>
        </p:nvSpPr>
        <p:spPr>
          <a:xfrm>
            <a:off x="8855392"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Where does revenue come from</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D</a:t>
            </a:r>
          </a:p>
        </p:txBody>
      </p:sp>
      <p:sp>
        <p:nvSpPr>
          <p:cNvPr id="22" name="TextBox 21"/>
          <p:cNvSpPr txBox="1"/>
          <p:nvPr/>
        </p:nvSpPr>
        <p:spPr>
          <a:xfrm>
            <a:off x="1005839" y="5669280"/>
            <a:ext cx="1957387" cy="185166"/>
          </a:xfrm>
          <a:prstGeom prst="rect">
            <a:avLst/>
          </a:prstGeom>
          <a:noFill/>
        </p:spPr>
        <p:txBody>
          <a:bodyPr wrap="square" anchor="t" lIns="0" rIns="0" tIns="0" bIns="0">
            <a:spAutoFit/>
          </a:bodyPr>
          <a:lstStyle/>
          <a:p>
            <a:pPr algn="l"/>
            <a:r>
              <a:rPr sz="900" b="0" i="0">
                <a:solidFill>
                  <a:srgbClr val="FFFFFF"/>
                </a:solidFill>
                <a:latin typeface="Calibri"/>
              </a:rPr>
              <a:t>Can you answer the interviewer</a:t>
            </a:r>
          </a:p>
        </p:txBody>
      </p:sp>
      <p:sp>
        <p:nvSpPr>
          <p:cNvPr id="23" name="TextBox 22"/>
          <p:cNvSpPr txBox="1"/>
          <p:nvPr/>
        </p:nvSpPr>
        <p:spPr>
          <a:xfrm>
            <a:off x="3146107"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E</a:t>
            </a:r>
          </a:p>
        </p:txBody>
      </p:sp>
      <p:sp>
        <p:nvSpPr>
          <p:cNvPr id="24" name="TextBox 23"/>
          <p:cNvSpPr txBox="1"/>
          <p:nvPr/>
        </p:nvSpPr>
        <p:spPr>
          <a:xfrm>
            <a:off x="3530155" y="5669280"/>
            <a:ext cx="1365885" cy="185166"/>
          </a:xfrm>
          <a:prstGeom prst="rect">
            <a:avLst/>
          </a:prstGeom>
          <a:noFill/>
        </p:spPr>
        <p:txBody>
          <a:bodyPr wrap="square" anchor="t" lIns="0" rIns="0" tIns="0" bIns="0">
            <a:spAutoFit/>
          </a:bodyPr>
          <a:lstStyle/>
          <a:p>
            <a:pPr algn="l"/>
            <a:r>
              <a:rPr sz="900" b="0" i="0">
                <a:solidFill>
                  <a:srgbClr val="FFFFFF"/>
                </a:solidFill>
                <a:latin typeface="Calibri"/>
              </a:rPr>
              <a:t>What does Meera hear</a:t>
            </a:r>
          </a:p>
        </p:txBody>
      </p:sp>
      <p:sp>
        <p:nvSpPr>
          <p:cNvPr id="25" name="TextBox 2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branch, the sentence and the cases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tree: 23 customers, 1.30 each, Rs 2,205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four chapters find on Kalpa's 30 orders?</a:t>
            </a:r>
          </a:p>
        </p:txBody>
      </p:sp>
      <p:pic>
        <p:nvPicPr>
          <p:cNvPr id="9" name="mermaid diagram" descr="e97e6a0ef2b70bd0.png"/>
          <p:cNvPicPr>
            <a:picLocks noChangeAspect="1"/>
          </p:cNvPicPr>
          <p:nvPr/>
        </p:nvPicPr>
        <p:blipFill>
          <a:blip r:embed="rId5"/>
          <a:stretch>
            <a:fillRect/>
          </a:stretch>
        </p:blipFill>
        <p:spPr>
          <a:xfrm>
            <a:off x="2816866" y="1723167"/>
            <a:ext cx="6557962" cy="341471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Chapter 1 read sales four ways, 30 orders booked for Rs 5,44,810, Rs 5,35,760 not cancelled and Rs 5,20,790 delivered; chapter 2 built each branch as a fraction on one definition; chapter 3 counted customers by id; and chapter 4 chose the median because only 1 of the 30 orders sits above the mean.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7" name="Oval 1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1" name="Oval 2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3" name="Oval 2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first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branch should Meera open first to reach the 15 percent plan, and why not the others?</a:t>
            </a:r>
          </a:p>
        </p:txBody>
      </p:sp>
      <p:sp>
        <p:nvSpPr>
          <p:cNvPr id="10" name="Rounded Rectangle 9"/>
          <p:cNvSpPr/>
          <p:nvPr/>
        </p:nvSpPr>
        <p:spPr>
          <a:xfrm>
            <a:off x="731519" y="5074920"/>
            <a:ext cx="121317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needs the branch before Rs 12 crore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which branch Meera opens first,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who must choose the branch the Rs 12 crore goes to before she signs; a wrong choice spends the budget on a branch that was fine.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base</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branch, and which base is the plan sized on?</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branch</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would each branch have to do alone?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branch has evidence behind it?</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lifts</a:t>
            </a:r>
          </a:p>
        </p:txBody>
      </p:sp>
      <p:sp>
        <p:nvSpPr>
          <p:cNvPr id="32" name="TextBox 31"/>
          <p:cNvSpPr txBox="1"/>
          <p:nvPr/>
        </p:nvSpPr>
        <p:spPr>
          <a:xfrm>
            <a:off x="6351879"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goes wrong when two 10 percent lifts are called 20 percent?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Four parts</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 four parts land on the multiplied total?</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switch</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would switch the call?</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45" name="Oval 4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7" name="Oval 4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49" name="Oval 4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51" name="Oval 5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53" name="Oval 5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55" name="Oval 5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54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12 crore rides on the branch Meera opens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branch, and what does a wrong one cost?</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4" name="Table 13"/>
          <p:cNvGraphicFramePr>
            <a:graphicFrameLocks noGrp="1"/>
          </p:cNvGraphicFramePr>
          <p:nvPr/>
        </p:nvGraphicFramePr>
        <p:xfrm>
          <a:off x="530352" y="2983992"/>
          <a:ext cx="11130991" cy="1834896"/>
        </p:xfrm>
        <a:graphic>
          <a:graphicData uri="http://schemas.openxmlformats.org/drawingml/2006/table">
            <a:tbl>
              <a:tblPr firstRow="0" bandRow="0">
                <a:tableStyleId>{2D5ABB26-0587-4C30-8999-92F81FD0307C}</a:tableStyleId>
              </a:tblPr>
              <a:tblGrid>
                <a:gridCol w="3468944"/>
                <a:gridCol w="766204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Revenue growth is measured against the 15 percent plan, with what each branch alone would have to do.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the marketing lead owns acquisition, and the head of Retail-Plus owns the members most likely to come back.</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Rs 12 crore goes to a branch that was fine, or the plan is sized by adding lifts that multiply.</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54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and Amazon pay to buy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have bet on the frequency branch?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FLIPKART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Flipkart Black, Rs 1,499 a year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Flipkart launched it in 2025, evolving it from its VIP programme (Flipkart Stories, 12 September 2025).</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ackage_0af015590c1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AMAZON INDIA</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Prime, Rs 399 to Rs 1,499 a year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Amazon offers the plans in India (About Amazon India).</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peat_22e899fab79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KALPA</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Retail-Plus, the paid tier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Kalpa's own frequency bet already exists, and its head is one of today's stakeholders.</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membership is a bet on the orders-per-customer branch, placed by companies that could have spent the same money on acquisition.</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30" name="Oval 2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2" name="Oval 31"/>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4" name="Oval 33"/>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6" name="Oval 35"/>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8" name="Oval 37"/>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40" name="Oval 39"/>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54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covers three consumer segments: Rs 64,810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is Meera's 15 percent plan sized on?</a:t>
            </a:r>
          </a:p>
        </p:txBody>
      </p:sp>
      <p:pic>
        <p:nvPicPr>
          <p:cNvPr id="9" name="mermaid diagram" descr="c6209a98178c9392.png"/>
          <p:cNvPicPr>
            <a:picLocks noChangeAspect="1"/>
          </p:cNvPicPr>
          <p:nvPr/>
        </p:nvPicPr>
        <p:blipFill>
          <a:blip r:embed="rId5"/>
          <a:stretch>
            <a:fillRect/>
          </a:stretch>
        </p:blipFill>
        <p:spPr>
          <a:xfrm>
            <a:off x="530352" y="2639183"/>
            <a:ext cx="4786326" cy="2603761"/>
          </a:xfrm>
          <a:prstGeom prst="rect">
            <a:avLst/>
          </a:prstGeom>
        </p:spPr>
      </p:pic>
      <p:sp>
        <p:nvSpPr>
          <p:cNvPr id="10" name="TextBox 9"/>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Meera's plan is about customers who buy again and again, so it concerns three segments, Retail-Core, Retail-Plus and Student, and the consumer view keeps every order whose segment is one of them.</a:t>
            </a:r>
          </a:p>
        </p:txBody>
      </p:sp>
      <p:sp>
        <p:nvSpPr>
          <p:cNvPr id="11" name="Rounded Rectangle 10"/>
          <p:cNvSpPr/>
          <p:nvPr/>
        </p:nvSpPr>
        <p:spPr>
          <a:xfrm>
            <a:off x="5761917" y="3409696"/>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44797" y="35377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100245" y="35377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255693" y="35377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036237" y="3738880"/>
            <a:ext cx="5442225"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CONSUMER = {"Retail-Core", "Retail-Plus",</a:t>
            </a:r>
          </a:p>
          <a:p>
            <a:pPr>
              <a:spcAft>
                <a:spcPts val="200"/>
              </a:spcAft>
            </a:pPr>
            <a:r>
              <a:rPr sz="1400" b="0" i="0">
                <a:solidFill>
                  <a:srgbClr val="E4E1F1"/>
                </a:solidFill>
                <a:latin typeface="Consolas"/>
              </a:rPr>
              <a:t>            "Student"}</a:t>
            </a:r>
          </a:p>
          <a:p>
            <a:pPr>
              <a:spcAft>
                <a:spcPts val="200"/>
              </a:spcAft>
            </a:pPr>
            <a:r>
              <a:rPr sz="1400" b="0" i="0">
                <a:solidFill>
                  <a:srgbClr val="E4E1F1"/>
                </a:solidFill>
                <a:latin typeface="Consolas"/>
              </a:rPr>
              <a:t>consumer = [o for o in ORDERS</a:t>
            </a:r>
          </a:p>
          <a:p>
            <a:pPr>
              <a:spcAft>
                <a:spcPts val="200"/>
              </a:spcAft>
            </a:pPr>
            <a:r>
              <a:rPr sz="1400" b="0" i="0">
                <a:solidFill>
                  <a:srgbClr val="E4E1F1"/>
                </a:solidFill>
                <a:latin typeface="Consolas"/>
              </a:rPr>
              <a:t>            if o["segment"] in CONSUMER]</a:t>
            </a:r>
          </a:p>
          <a:p>
            <a:pPr>
              <a:spcAft>
                <a:spcPts val="200"/>
              </a:spcAft>
            </a:pPr>
            <a:r>
              <a:rPr sz="1400" b="0" i="0">
                <a:solidFill>
                  <a:srgbClr val="E4E1F1"/>
                </a:solidFill>
                <a:latin typeface="Consolas"/>
              </a:rPr>
              <a:t>base = sum(o["amount"] for o in consumer)</a:t>
            </a:r>
          </a:p>
          <a:p>
            <a:pPr>
              <a:spcAft>
                <a:spcPts val="200"/>
              </a:spcAft>
            </a:pPr>
            <a:r>
              <a:rPr sz="1400" b="0" i="0">
                <a:solidFill>
                  <a:srgbClr val="E4E1F1"/>
                </a:solidFill>
                <a:latin typeface="Consolas"/>
              </a:rPr>
              <a:t>plan = base * 1.15</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0" name="Oval 19"/>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2" name="Oval 21"/>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4" name="Oval 2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6" name="Oval 25"/>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8" name="Oval 27"/>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54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far must one branch move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each branch have to do alone to reach the plan?</a:t>
            </a:r>
          </a:p>
        </p:txBody>
      </p:sp>
      <p:pic>
        <p:nvPicPr>
          <p:cNvPr id="9" name="mermaid diagram" descr="91c6e99e185595da.png"/>
          <p:cNvPicPr>
            <a:picLocks noChangeAspect="1"/>
          </p:cNvPicPr>
          <p:nvPr/>
        </p:nvPicPr>
        <p:blipFill>
          <a:blip r:embed="rId5"/>
          <a:stretch>
            <a:fillRect/>
          </a:stretch>
        </p:blipFill>
        <p:spPr>
          <a:xfrm>
            <a:off x="3331216" y="1956816"/>
            <a:ext cx="5529262" cy="2714625"/>
          </a:xfrm>
          <a:prstGeom prst="rect">
            <a:avLst/>
          </a:prstGeom>
        </p:spPr>
      </p:pic>
      <p:sp>
        <p:nvSpPr>
          <p:cNvPr id="10" name="Rounded Rectangle 9"/>
          <p:cNvSpPr/>
          <p:nvPr/>
        </p:nvSpPr>
        <p:spPr>
          <a:xfrm>
            <a:off x="530352" y="48177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457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36617"/>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Revenue is customers x orders per customer x order value. If one branch moves while the other two hold, how far must it rise for 15 percent more revenue: a) 15 percent, the whole plan; b) 5 percent, a third of the plan; c) 7.5 percent, half the plan; d) further for customers than for order value?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whole 15 percent, since branches multiply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one branch moved alone carry the whole plan?</a:t>
            </a:r>
          </a:p>
        </p:txBody>
      </p:sp>
      <p:pic>
        <p:nvPicPr>
          <p:cNvPr id="9" name="mermaid diagram" descr="aa489c56d0e796e8.png"/>
          <p:cNvPicPr>
            <a:picLocks noChangeAspect="1"/>
          </p:cNvPicPr>
          <p:nvPr/>
        </p:nvPicPr>
        <p:blipFill>
          <a:blip r:embed="rId5"/>
          <a:stretch>
            <a:fillRect/>
          </a:stretch>
        </p:blipFill>
        <p:spPr>
          <a:xfrm>
            <a:off x="923265" y="2583751"/>
            <a:ext cx="4000500" cy="2714625"/>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What happened. </a:t>
            </a:r>
            <a:r>
              <a:rPr sz="1500" b="0" i="0">
                <a:solidFill>
                  <a:srgbClr val="1A1440"/>
                </a:solidFill>
                <a:latin typeface="Calibri"/>
              </a:rPr>
              <a:t>The answer is a. Revenue is a product, so a branch that rises 15 percent while the others hold lifts revenue 15 percent, and each branch alone must bring the same Rs 9,722.</a:t>
            </a:r>
          </a:p>
        </p:txBody>
      </p:sp>
      <p:sp>
        <p:nvSpPr>
          <p:cNvPr id="13" name="Rounded Rectangle 12"/>
          <p:cNvSpPr/>
          <p:nvPr/>
        </p:nvSpPr>
        <p:spPr>
          <a:xfrm>
            <a:off x="5761917" y="3462528"/>
            <a:ext cx="5899425"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944797" y="35905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100245" y="35905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255693" y="35905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36237" y="3791712"/>
            <a:ext cx="5442225" cy="1064768"/>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factor x 1.15, the other two held</a:t>
            </a:r>
          </a:p>
          <a:p>
            <a:pPr>
              <a:spcAft>
                <a:spcPts val="200"/>
              </a:spcAft>
            </a:pPr>
            <a:r>
              <a:rPr sz="1400" b="0" i="0">
                <a:solidFill>
                  <a:srgbClr val="E4E1F1"/>
                </a:solidFill>
                <a:latin typeface="Consolas"/>
              </a:rPr>
              <a:t>(cust * 1.15) * per_cust * value == plan</a:t>
            </a:r>
          </a:p>
          <a:p>
            <a:pPr>
              <a:spcAft>
                <a:spcPts val="200"/>
              </a:spcAft>
            </a:pPr>
            <a:r>
              <a:rPr sz="1400" b="0" i="0">
                <a:solidFill>
                  <a:srgbClr val="E4E1F1"/>
                </a:solidFill>
                <a:latin typeface="Consolas"/>
              </a:rPr>
              <a:t>cust * (per_cust * 1.15) * value == plan</a:t>
            </a:r>
          </a:p>
          <a:p>
            <a:pPr>
              <a:spcAft>
                <a:spcPts val="200"/>
              </a:spcAft>
            </a:pPr>
            <a:r>
              <a:rPr sz="1400" b="0" i="0">
                <a:solidFill>
                  <a:srgbClr val="E4E1F1"/>
                </a:solidFill>
                <a:latin typeface="Consolas"/>
              </a:rPr>
              <a:t>cust * per_cust * (value * 1.15) == plan</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0" name="Oval 1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2" name="Oval 21"/>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4" name="Oval 23"/>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6" name="Oval 25"/>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8" name="Oval 27"/>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0" name="Oval 29"/>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54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has evidence behind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does this file give Meera a reason to open first?</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3130238"/>
                <a:gridCol w="8000753"/>
              </a:tblGrid>
              <a:tr h="369824">
                <a:tc>
                  <a:txBody>
                    <a:bodyPr/>
                    <a:lstStyle/>
                    <a:p>
                      <a:r>
                        <a:rPr sz="1450" b="1" i="0">
                          <a:solidFill>
                            <a:srgbClr val="FFFFFF"/>
                          </a:solidFill>
                          <a:latin typeface="Calibri"/>
                        </a:rPr>
                        <a:t>Option, moved alone</a:t>
                      </a:r>
                    </a:p>
                  </a:txBody>
                  <a:tcPr marL="101600" marR="101600" marT="38100" marB="38100" anchor="ctr">
                    <a:solidFill>
                      <a:srgbClr val="1A0F5C"/>
                    </a:solidFill>
                  </a:tcPr>
                </a:tc>
                <a:tc>
                  <a:txBody>
                    <a:bodyPr/>
                    <a:lstStyle/>
                    <a:p>
                      <a:r>
                        <a:rPr sz="1450" b="1" i="0">
                          <a:solidFill>
                            <a:srgbClr val="FFFFFF"/>
                          </a:solidFill>
                          <a:latin typeface="Calibri"/>
                        </a:rPr>
                        <a:t>What 15 percent asks, and of whom</a:t>
                      </a:r>
                    </a:p>
                  </a:txBody>
                  <a:tcPr marL="101600" marR="101600" marT="38100" marB="38100" anchor="ctr">
                    <a:solidFill>
                      <a:srgbClr val="1A0F5C"/>
                    </a:solidFill>
                  </a:tcPr>
                </a:tc>
              </a:tr>
              <a:tr h="611632">
                <a:tc>
                  <a:txBody>
                    <a:bodyPr/>
                    <a:lstStyle/>
                    <a:p>
                      <a:r>
                        <a:rPr sz="1400" b="0" i="0">
                          <a:solidFill>
                            <a:srgbClr val="1A1440"/>
                          </a:solidFill>
                          <a:latin typeface="Calibri"/>
                        </a:rPr>
                        <a:t>A. Customers</a:t>
                      </a:r>
                    </a:p>
                  </a:txBody>
                  <a:tcPr marL="101600" marR="101600" marT="38100" marB="38100" anchor="ctr">
                    <a:solidFill>
                      <a:srgbClr val="FFFFFF"/>
                    </a:solidFill>
                  </a:tcPr>
                </a:tc>
                <a:tc>
                  <a:txBody>
                    <a:bodyPr/>
                    <a:lstStyle/>
                    <a:p>
                      <a:r>
                        <a:rPr sz="1400" b="0" i="0">
                          <a:solidFill>
                            <a:srgbClr val="1A1440"/>
                          </a:solidFill>
                          <a:latin typeface="Calibri"/>
                        </a:rPr>
                        <a:t>It needs 15 percent more customers who buy like today's, all of them people Kalpa has never met.</a:t>
                      </a:r>
                    </a:p>
                  </a:txBody>
                  <a:tcPr marL="101600" marR="101600" marT="38100" marB="38100" anchor="ctr">
                    <a:solidFill>
                      <a:srgbClr val="FFFFFF"/>
                    </a:solidFill>
                  </a:tcPr>
                </a:tc>
              </a:tr>
              <a:tr h="369824">
                <a:tc>
                  <a:txBody>
                    <a:bodyPr/>
                    <a:lstStyle/>
                    <a:p>
                      <a:r>
                        <a:rPr sz="1400" b="0" i="0">
                          <a:solidFill>
                            <a:srgbClr val="1A1440"/>
                          </a:solidFill>
                          <a:latin typeface="Calibri"/>
                        </a:rPr>
                        <a:t>B. Frequency</a:t>
                      </a:r>
                    </a:p>
                  </a:txBody>
                  <a:tcPr marL="101600" marR="101600" marT="38100" marB="38100" anchor="ctr">
                    <a:solidFill>
                      <a:srgbClr val="F4F2FA"/>
                    </a:solidFill>
                  </a:tcPr>
                </a:tc>
                <a:tc>
                  <a:txBody>
                    <a:bodyPr/>
                    <a:lstStyle/>
                    <a:p>
                      <a:r>
                        <a:rPr sz="1400" b="0" i="0">
                          <a:solidFill>
                            <a:srgbClr val="1A1440"/>
                          </a:solidFill>
                          <a:latin typeface="Calibri"/>
                        </a:rPr>
                        <a:t>It needs 15 percent more orders from the customers who already bought.</a:t>
                      </a:r>
                    </a:p>
                  </a:txBody>
                  <a:tcPr marL="101600" marR="101600" marT="38100" marB="38100" anchor="ctr">
                    <a:solidFill>
                      <a:srgbClr val="F4F2FA"/>
                    </a:solidFill>
                  </a:tcPr>
                </a:tc>
              </a:tr>
              <a:tr h="369824">
                <a:tc>
                  <a:txBody>
                    <a:bodyPr/>
                    <a:lstStyle/>
                    <a:p>
                      <a:r>
                        <a:rPr sz="1400" b="0" i="0">
                          <a:solidFill>
                            <a:srgbClr val="1A1440"/>
                          </a:solidFill>
                          <a:latin typeface="Calibri"/>
                        </a:rPr>
                        <a:t>C. Order value</a:t>
                      </a:r>
                    </a:p>
                  </a:txBody>
                  <a:tcPr marL="101600" marR="101600" marT="38100" marB="38100" anchor="ctr">
                    <a:solidFill>
                      <a:srgbClr val="FFFFFF"/>
                    </a:solidFill>
                  </a:tcPr>
                </a:tc>
                <a:tc>
                  <a:txBody>
                    <a:bodyPr/>
                    <a:lstStyle/>
                    <a:p>
                      <a:r>
                        <a:rPr sz="1400" b="0" i="0">
                          <a:solidFill>
                            <a:srgbClr val="1A1440"/>
                          </a:solidFill>
                          <a:latin typeface="Calibri"/>
                        </a:rPr>
                        <a:t>It needs Rs 335 more on every basket, the mean rising from Rs 2,235 to Rs 2,570.</a:t>
                      </a:r>
                    </a:p>
                  </a:txBody>
                  <a:tcPr marL="101600" marR="101600" marT="38100" marB="38100" anchor="ctr">
                    <a:solidFill>
                      <a:srgbClr val="FFFFFF"/>
                    </a:solidFill>
                  </a:tcPr>
                </a:tc>
              </a:tr>
              <a:tr h="369824">
                <a:tc>
                  <a:txBody>
                    <a:bodyPr/>
                    <a:lstStyle/>
                    <a:p>
                      <a:r>
                        <a:rPr sz="1400" b="0" i="0">
                          <a:solidFill>
                            <a:srgbClr val="1A1440"/>
                          </a:solidFill>
                          <a:latin typeface="Calibri"/>
                        </a:rPr>
                        <a:t>D. Price</a:t>
                      </a:r>
                    </a:p>
                  </a:txBody>
                  <a:tcPr marL="101600" marR="101600" marT="38100" marB="38100" anchor="ctr">
                    <a:solidFill>
                      <a:srgbClr val="F4F2FA"/>
                    </a:solidFill>
                  </a:tcPr>
                </a:tc>
                <a:tc>
                  <a:txBody>
                    <a:bodyPr/>
                    <a:lstStyle/>
                    <a:p>
                      <a:r>
                        <a:rPr sz="1400" b="0" i="0">
                          <a:solidFill>
                            <a:srgbClr val="1A1440"/>
                          </a:solidFill>
                          <a:latin typeface="Calibri"/>
                        </a:rPr>
                        <a:t>It needs every price 15 percent higher, with no shopper buying any less.</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Each option asks for the same Rs 9,722. Which one does this file give evidence for: a) customers, b) frequency, c) order value, or d) price?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frequency, since 7 of 23 customers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should Meera open first, and why not the others?</a:t>
            </a:r>
          </a:p>
        </p:txBody>
      </p:sp>
      <p:pic>
        <p:nvPicPr>
          <p:cNvPr id="9" name="mermaid diagram" descr="1211b72884280062.png"/>
          <p:cNvPicPr>
            <a:picLocks noChangeAspect="1"/>
          </p:cNvPicPr>
          <p:nvPr/>
        </p:nvPicPr>
        <p:blipFill>
          <a:blip r:embed="rId6"/>
          <a:stretch>
            <a:fillRect/>
          </a:stretch>
        </p:blipFill>
        <p:spPr>
          <a:xfrm>
            <a:off x="4488290" y="1664208"/>
            <a:ext cx="3215114"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B is the best fit: the customers exist, 7 came back without a push, and a test costs a reminder to people already on the list. A second quarter showing customers falling while frequency held would switch the call to A.</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54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in ten one-time buyers returning once carry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frequency ask within reach of the customers already on file?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9,722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FREQUENCY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15 percent of Rs 64,810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2,235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CONSUMER MEAN ORDER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one more order brings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ONE-TIME BUYERS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consumer view, returning once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13232" y="354787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868680" y="354787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1024128" y="354787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04671" y="374904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mean  = base / len(consumer)            # Rs 2,235</a:t>
            </a:r>
          </a:p>
          <a:p>
            <a:pPr>
              <a:spcAft>
                <a:spcPts val="200"/>
              </a:spcAft>
            </a:pPr>
            <a:r>
              <a:rPr sz="1400" b="0" i="0">
                <a:solidFill>
                  <a:srgbClr val="E4E1F1"/>
                </a:solidFill>
                <a:latin typeface="Consolas"/>
              </a:rPr>
              <a:t>extra = (plan - base) / mean            # the orders frequency must add</a:t>
            </a:r>
          </a:p>
          <a:p>
            <a:pPr>
              <a:spcAft>
                <a:spcPts val="200"/>
              </a:spcAft>
            </a:pPr>
            <a:r>
              <a:rPr sz="1400" b="0" i="0">
                <a:solidFill>
                  <a:srgbClr val="E4E1F1"/>
                </a:solidFill>
                <a:latin typeface="Consolas"/>
              </a:rPr>
              <a:t>share = extra / len(consumer_once)      # about three in ten</a:t>
            </a:r>
          </a:p>
        </p:txBody>
      </p:sp>
      <p:sp>
        <p:nvSpPr>
          <p:cNvPr id="26" name="TextBox 25"/>
          <p:cNvSpPr txBox="1"/>
          <p:nvPr/>
        </p:nvSpPr>
        <p:spPr>
          <a:xfrm>
            <a:off x="530352" y="47990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check multiplies back: the extra orders at the consumer mean bring Rs 9,722, which lands the consumer view on about Rs 74,532.</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9" name="Oval 2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1" name="Oval 30"/>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3" name="Oval 32"/>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5" name="Oval 34"/>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7" name="Oval 36"/>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9" name="Oval 38"/>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two 10 percent lifts make 20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marketing's bigger plan claim for two 10 percent lifts?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The marketing lead's slide: "Fund acquisition and retention together: 10 percent more customers and 10 percent more orders each make 20 percent growth, Rs 77,772 on the consumer view."</a:t>
            </a:r>
          </a:p>
        </p:txBody>
      </p:sp>
      <p:sp>
        <p:nvSpPr>
          <p:cNvPr id="12" name="TextBox 11"/>
          <p:cNvSpPr txBox="1"/>
          <p:nvPr/>
        </p:nvSpPr>
        <p:spPr>
          <a:xfrm>
            <a:off x="530352"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3" name="TextBox 12"/>
          <p:cNvSpPr txBox="1"/>
          <p:nvPr/>
        </p:nvSpPr>
        <p:spPr>
          <a:xfrm>
            <a:off x="530352"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GROWTH</a:t>
            </a:r>
          </a:p>
        </p:txBody>
      </p:sp>
      <p:sp>
        <p:nvSpPr>
          <p:cNvPr id="14" name="TextBox 13"/>
          <p:cNvSpPr txBox="1"/>
          <p:nvPr/>
        </p:nvSpPr>
        <p:spPr>
          <a:xfrm>
            <a:off x="530352"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10 plus 10</a:t>
            </a:r>
          </a:p>
        </p:txBody>
      </p:sp>
      <p:sp>
        <p:nvSpPr>
          <p:cNvPr id="15" name="Rectangle 14"/>
          <p:cNvSpPr/>
          <p:nvPr/>
        </p:nvSpPr>
        <p:spPr>
          <a:xfrm>
            <a:off x="530352"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Rs 77,772</a:t>
            </a:r>
          </a:p>
        </p:txBody>
      </p:sp>
      <p:sp>
        <p:nvSpPr>
          <p:cNvPr id="17" name="TextBox 16"/>
          <p:cNvSpPr txBox="1"/>
          <p:nvPr/>
        </p:nvSpPr>
        <p:spPr>
          <a:xfrm>
            <a:off x="6233007"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REVENUE</a:t>
            </a:r>
          </a:p>
        </p:txBody>
      </p:sp>
      <p:sp>
        <p:nvSpPr>
          <p:cNvPr id="18" name="TextBox 17"/>
          <p:cNvSpPr txBox="1"/>
          <p:nvPr/>
        </p:nvSpPr>
        <p:spPr>
          <a:xfrm>
            <a:off x="6233007"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Rs 64,810 x 1.20</a:t>
            </a:r>
          </a:p>
        </p:txBody>
      </p:sp>
      <p:sp>
        <p:nvSpPr>
          <p:cNvPr id="19" name="Rectangle 18"/>
          <p:cNvSpPr/>
          <p:nvPr/>
        </p:nvSpPr>
        <p:spPr>
          <a:xfrm>
            <a:off x="6233007"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3921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 it would mislead: a target sized by adding the lifts looks met with room to spare, and is then missed by the lift on the lift.</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5" name="Oval 2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7" name="Oval 2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9" name="Oval 2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1" name="Oval 3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3" name="Oval 3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54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lifts multiply to 21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added lifts, and how big is the gap?</a:t>
            </a:r>
          </a:p>
        </p:txBody>
      </p:sp>
      <p:pic>
        <p:nvPicPr>
          <p:cNvPr id="9" name="mermaid diagram" descr="b2153d9cbf91e550.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second lift applies to a customer base already 10 percent larger. Through the tree, 1.10 x 1.10 = 1.21, so the consumer view reaches Rs 78,420, Rs 648 above the slide; the bars are multiplied, the line is added, and the gap grows with the lifts.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multiply the lifts, and a discount the same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once the lifts are multiplied?</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5286956"/>
                <a:gridCol w="2613030"/>
                <a:gridCol w="3231004"/>
              </a:tblGrid>
              <a:tr h="369824">
                <a:tc>
                  <a:txBody>
                    <a:bodyPr/>
                    <a:lstStyle/>
                    <a:p>
                      <a:r>
                        <a:rPr sz="1450" b="1" i="0">
                          <a:solidFill>
                            <a:srgbClr val="FFFFFF"/>
                          </a:solidFill>
                          <a:latin typeface="Calibri"/>
                        </a:rPr>
                        <a:t>Proposal on the consumer view</a:t>
                      </a:r>
                    </a:p>
                  </a:txBody>
                  <a:tcPr marL="101600" marR="101600" marT="38100" marB="38100" anchor="ctr">
                    <a:solidFill>
                      <a:srgbClr val="1A0F5C"/>
                    </a:solidFill>
                  </a:tcPr>
                </a:tc>
                <a:tc>
                  <a:txBody>
                    <a:bodyPr/>
                    <a:lstStyle/>
                    <a:p>
                      <a:r>
                        <a:rPr sz="1450" b="1" i="0">
                          <a:solidFill>
                            <a:srgbClr val="FFFFFF"/>
                          </a:solidFill>
                          <a:latin typeface="Calibri"/>
                        </a:rPr>
                        <a:t>Added</a:t>
                      </a:r>
                    </a:p>
                  </a:txBody>
                  <a:tcPr marL="101600" marR="101600" marT="38100" marB="38100" anchor="ctr">
                    <a:solidFill>
                      <a:srgbClr val="1A0F5C"/>
                    </a:solidFill>
                  </a:tcPr>
                </a:tc>
                <a:tc>
                  <a:txBody>
                    <a:bodyPr/>
                    <a:lstStyle/>
                    <a:p>
                      <a:r>
                        <a:rPr sz="1450" b="1" i="0">
                          <a:solidFill>
                            <a:srgbClr val="FFFFFF"/>
                          </a:solidFill>
                          <a:latin typeface="Calibri"/>
                        </a:rPr>
                        <a:t>Multiplied through the tree</a:t>
                      </a:r>
                    </a:p>
                  </a:txBody>
                  <a:tcPr marL="101600" marR="101600" marT="38100" marB="38100" anchor="ctr">
                    <a:solidFill>
                      <a:srgbClr val="1A0F5C"/>
                    </a:solidFill>
                  </a:tcPr>
                </a:tc>
              </a:tr>
              <a:tr h="369824">
                <a:tc>
                  <a:txBody>
                    <a:bodyPr/>
                    <a:lstStyle/>
                    <a:p>
                      <a:r>
                        <a:rPr sz="1400" b="0" i="0">
                          <a:solidFill>
                            <a:srgbClr val="1A1440"/>
                          </a:solidFill>
                          <a:latin typeface="Calibri"/>
                        </a:rPr>
                        <a:t>Customers up 10 percent and frequency up 10 percent</a:t>
                      </a:r>
                    </a:p>
                  </a:txBody>
                  <a:tcPr marL="101600" marR="101600" marT="38100" marB="38100" anchor="ctr">
                    <a:solidFill>
                      <a:srgbClr val="FFFFFF"/>
                    </a:solidFill>
                  </a:tcPr>
                </a:tc>
                <a:tc>
                  <a:txBody>
                    <a:bodyPr/>
                    <a:lstStyle/>
                    <a:p>
                      <a:r>
                        <a:rPr sz="1400" b="0" i="0">
                          <a:solidFill>
                            <a:srgbClr val="1A1440"/>
                          </a:solidFill>
                          <a:latin typeface="Calibri"/>
                        </a:rPr>
                        <a:t>Up 20 percent, Rs 77,772</a:t>
                      </a:r>
                    </a:p>
                  </a:txBody>
                  <a:tcPr marL="101600" marR="101600" marT="38100" marB="38100" anchor="ctr">
                    <a:solidFill>
                      <a:srgbClr val="FFFFFF"/>
                    </a:solidFill>
                  </a:tcPr>
                </a:tc>
                <a:tc>
                  <a:txBody>
                    <a:bodyPr/>
                    <a:lstStyle/>
                    <a:p>
                      <a:r>
                        <a:rPr sz="1400" b="0" i="0">
                          <a:solidFill>
                            <a:srgbClr val="1A1440"/>
                          </a:solidFill>
                          <a:latin typeface="Calibri"/>
                        </a:rPr>
                        <a:t>Up 21 percent, Rs 78,420</a:t>
                      </a:r>
                    </a:p>
                  </a:txBody>
                  <a:tcPr marL="101600" marR="101600" marT="38100" marB="38100" anchor="ctr">
                    <a:solidFill>
                      <a:srgbClr val="FFFFFF"/>
                    </a:solidFill>
                  </a:tcPr>
                </a:tc>
              </a:tr>
              <a:tr h="369824">
                <a:tc>
                  <a:txBody>
                    <a:bodyPr/>
                    <a:lstStyle/>
                    <a:p>
                      <a:r>
                        <a:rPr sz="1400" b="0" i="0">
                          <a:solidFill>
                            <a:srgbClr val="1A1440"/>
                          </a:solidFill>
                          <a:latin typeface="Calibri"/>
                        </a:rPr>
                        <a:t>15 percent off, with orders up 10 percent</a:t>
                      </a:r>
                    </a:p>
                  </a:txBody>
                  <a:tcPr marL="101600" marR="101600" marT="38100" marB="38100" anchor="ctr">
                    <a:solidFill>
                      <a:srgbClr val="F4F2FA"/>
                    </a:solidFill>
                  </a:tcPr>
                </a:tc>
                <a:tc>
                  <a:txBody>
                    <a:bodyPr/>
                    <a:lstStyle/>
                    <a:p>
                      <a:r>
                        <a:rPr sz="1400" b="0" i="0">
                          <a:solidFill>
                            <a:srgbClr val="1A1440"/>
                          </a:solidFill>
                          <a:latin typeface="Calibri"/>
                        </a:rPr>
                        <a:t>Down 5 percent</a:t>
                      </a:r>
                    </a:p>
                  </a:txBody>
                  <a:tcPr marL="101600" marR="101600" marT="38100" marB="38100" anchor="ctr">
                    <a:solidFill>
                      <a:srgbClr val="F4F2FA"/>
                    </a:solidFill>
                  </a:tcPr>
                </a:tc>
                <a:tc>
                  <a:txBody>
                    <a:bodyPr/>
                    <a:lstStyle/>
                    <a:p>
                      <a:r>
                        <a:rPr sz="1400" b="0" i="0">
                          <a:solidFill>
                            <a:srgbClr val="1A1440"/>
                          </a:solidFill>
                          <a:latin typeface="Calibri"/>
                        </a:rPr>
                        <a:t>Down 6.5 percent, Rs 60,597</a:t>
                      </a:r>
                    </a:p>
                  </a:txBody>
                  <a:tcPr marL="101600" marR="101600" marT="38100" marB="38100" anchor="ctr">
                    <a:solidFill>
                      <a:srgbClr val="F4F2FA"/>
                    </a:solidFill>
                  </a:tcPr>
                </a:tc>
              </a:tr>
            </a:tbl>
          </a:graphicData>
        </a:graphic>
      </p:graphicFrame>
      <p:sp>
        <p:nvSpPr>
          <p:cNvPr id="10" name="Rounded Rectangle 9"/>
          <p:cNvSpPr/>
          <p:nvPr/>
        </p:nvSpPr>
        <p:spPr>
          <a:xfrm>
            <a:off x="530352" y="3322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54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764280"/>
            <a:ext cx="237744" cy="237744"/>
          </a:xfrm>
          <a:prstGeom prst="rect">
            <a:avLst/>
          </a:prstGeom>
        </p:spPr>
      </p:pic>
      <p:sp>
        <p:nvSpPr>
          <p:cNvPr id="13" name="TextBox 12"/>
          <p:cNvSpPr txBox="1"/>
          <p:nvPr/>
        </p:nvSpPr>
        <p:spPr>
          <a:xfrm>
            <a:off x="1399031" y="3468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688080"/>
            <a:ext cx="9987991" cy="682752"/>
          </a:xfrm>
          <a:prstGeom prst="rect">
            <a:avLst/>
          </a:prstGeom>
          <a:noFill/>
        </p:spPr>
        <p:txBody>
          <a:bodyPr wrap="square" anchor="t" lIns="0" rIns="0" tIns="0" bIns="0">
            <a:spAutoFit/>
          </a:bodyPr>
          <a:lstStyle/>
          <a:p>
            <a:r>
              <a:rPr sz="1500" b="0" i="0">
                <a:solidFill>
                  <a:srgbClr val="1A1440"/>
                </a:solidFill>
                <a:latin typeface="Calibri"/>
              </a:rPr>
              <a:t>Lifts multiply along the tree, so size a target through the tree and price a discount as 0.85 x 1.10 = 0.935, a 6.5 percent fall that addition would call 5.</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four parts land on Rs 78,420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four parts land on the multiplied total of Rs 78,420?</a:t>
            </a:r>
          </a:p>
        </p:txBody>
      </p:sp>
      <p:pic>
        <p:nvPicPr>
          <p:cNvPr id="9" name="mermaid diagram" descr="ef39c7b08a52b671.png"/>
          <p:cNvPicPr>
            <a:picLocks noChangeAspect="1"/>
          </p:cNvPicPr>
          <p:nvPr/>
        </p:nvPicPr>
        <p:blipFill>
          <a:blip r:embed="rId6"/>
          <a:stretch>
            <a:fillRect/>
          </a:stretch>
        </p:blipFill>
        <p:spPr>
          <a:xfrm>
            <a:off x="530352" y="1956816"/>
            <a:ext cx="11130991" cy="1101940"/>
          </a:xfrm>
          <a:prstGeom prst="rect">
            <a:avLst/>
          </a:prstGeom>
        </p:spPr>
      </p:pic>
      <p:sp>
        <p:nvSpPr>
          <p:cNvPr id="10" name="TextBox 9"/>
          <p:cNvSpPr txBox="1"/>
          <p:nvPr/>
        </p:nvSpPr>
        <p:spPr>
          <a:xfrm>
            <a:off x="530352" y="32050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base, two lifts of Rs 6,481 and the lift on the lift of Rs 648, which is 0.10 x 0.10 of the base, land where the multiplication did; the slide's Rs 77,772 stops one part short.</a:t>
            </a:r>
          </a:p>
        </p:txBody>
      </p:sp>
      <p:sp>
        <p:nvSpPr>
          <p:cNvPr id="11" name="Rounded Rectangle 10"/>
          <p:cNvSpPr/>
          <p:nvPr/>
        </p:nvSpPr>
        <p:spPr>
          <a:xfrm>
            <a:off x="530352" y="410523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4374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5"/>
          <a:stretch>
            <a:fillRect/>
          </a:stretch>
        </p:blipFill>
        <p:spPr>
          <a:xfrm>
            <a:off x="868680" y="4547196"/>
            <a:ext cx="237744" cy="237744"/>
          </a:xfrm>
          <a:prstGeom prst="rect">
            <a:avLst/>
          </a:prstGeom>
        </p:spPr>
      </p:pic>
      <p:sp>
        <p:nvSpPr>
          <p:cNvPr id="14" name="TextBox 13"/>
          <p:cNvSpPr txBox="1"/>
          <p:nvPr/>
        </p:nvSpPr>
        <p:spPr>
          <a:xfrm>
            <a:off x="1399031" y="42515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4470996"/>
            <a:ext cx="9987991" cy="682752"/>
          </a:xfrm>
          <a:prstGeom prst="rect">
            <a:avLst/>
          </a:prstGeom>
          <a:noFill/>
        </p:spPr>
        <p:txBody>
          <a:bodyPr wrap="square" anchor="t" lIns="0" rIns="0" tIns="0" bIns="0">
            <a:spAutoFit/>
          </a:bodyPr>
          <a:lstStyle/>
          <a:p>
            <a:r>
              <a:rPr sz="1500" b="0" i="0">
                <a:solidFill>
                  <a:srgbClr val="1A1440"/>
                </a:solidFill>
                <a:latin typeface="Calibri"/>
              </a:rPr>
              <a:t>Multiply the factors when you need the total, and build the parts when someone asks where the extra came from, since the lift on the lift shows as its own line.</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0" name="Oval 19"/>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2" name="Oval 21"/>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4" name="Oval 2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6" name="Oval 25"/>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8" name="Oval 27"/>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15 percent discount needs 17.6 percent more orders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must orders rise before 15 percent off holds revenue?</a:t>
            </a:r>
          </a:p>
        </p:txBody>
      </p:sp>
      <p:pic>
        <p:nvPicPr>
          <p:cNvPr id="10" name="mermaid diagram" descr="5a0fec5702db920d.png"/>
          <p:cNvPicPr>
            <a:picLocks noChangeAspect="1"/>
          </p:cNvPicPr>
          <p:nvPr/>
        </p:nvPicPr>
        <p:blipFill>
          <a:blip r:embed="rId5"/>
          <a:stretch>
            <a:fillRect/>
          </a:stretch>
        </p:blipFill>
        <p:spPr>
          <a:xfrm>
            <a:off x="2286863" y="1664208"/>
            <a:ext cx="7617968"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Revenue after the discount is 0.85 x (1 + the lift), which reaches 100 only when the lift is 1 / 0.85 less one, about 17.6 percent; holding margin needs more.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6" name="Oval 1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8" name="Oval 17"/>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2" name="Oval 21"/>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4" name="Oval 23"/>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D15  ·  17 / 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opens frequency and names its switch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should Meera open first to reach the 15 percent plan, and why not the others?</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Which base is the plan sized on?</a:t>
            </a:r>
            <a:r>
              <a:rPr sz="1100" b="0" i="0">
                <a:solidFill>
                  <a:srgbClr val="1A1440"/>
                </a:solidFill>
                <a:latin typeface="Calibri"/>
              </a:rPr>
              <a:t> It is sized on the consumer view, whose Rs 64,810 needs Rs 9,722 more.</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What would each branch have to do alone?</a:t>
            </a:r>
            <a:r>
              <a:rPr sz="1100" b="0" i="0">
                <a:solidFill>
                  <a:srgbClr val="1A1440"/>
                </a:solidFill>
                <a:latin typeface="Calibri"/>
              </a:rPr>
              <a:t> Each would have to rise the whole 15 percent.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Which branch has evidence behind it?</a:t>
            </a:r>
            <a:r>
              <a:rPr sz="1100" b="0" i="0">
                <a:solidFill>
                  <a:srgbClr val="1A1440"/>
                </a:solidFill>
                <a:latin typeface="Calibri"/>
              </a:rPr>
              <a:t> Frequency has, since 7 of 23 customers came back.</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Do two 10 percent lifts make 20 percent?</a:t>
            </a:r>
            <a:r>
              <a:rPr sz="1100" b="0" i="0">
                <a:solidFill>
                  <a:srgbClr val="1A1440"/>
                </a:solidFill>
                <a:latin typeface="Calibri"/>
              </a:rPr>
              <a:t> They make 21 percent, Rs 78,420 against Rs 77,772.</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the four parts land on the multiplied total?</a:t>
            </a:r>
            <a:r>
              <a:rPr sz="1100" b="0" i="0">
                <a:solidFill>
                  <a:srgbClr val="1A1440"/>
                </a:solidFill>
                <a:latin typeface="Calibri"/>
              </a:rPr>
              <a:t> They do, on Rs 78,420.</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What would switch the call?</a:t>
            </a:r>
            <a:r>
              <a:rPr sz="1100" b="0" i="0">
                <a:solidFill>
                  <a:srgbClr val="1A1440"/>
                </a:solidFill>
                <a:latin typeface="Calibri"/>
              </a:rPr>
              <a:t> Customers falling in a second quarter would, or a retained order costing more than a new one.</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"Pick the branch the evidence points at and the one that costs least to test, then say what would make you pick another. And recompute anything someone adds up."</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[D] Marketing wants budget for acquisition; what would you check before agreeing it is the right branch, and how would you say no?</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33" name="Oval 3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5" name="Oval 3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7" name="Oval 3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9" name="Oval 3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41" name="Oval 4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43" name="Oval 4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will Meera sign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one sentence can Meera sign, with its evidence, its branch, its caveat and its ask?</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54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signs one sentence, and marketing tests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sentence Meera signs,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who signs one sentence before the Rs 12 crore moves, and the marketing lead, who will look for the number in it that can be recomputed into another story.</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readers</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reads the sentence, and what will they look for?</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form</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form carries the decision?</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draft</a:t>
            </a:r>
          </a:p>
        </p:txBody>
      </p:sp>
      <p:sp>
        <p:nvSpPr>
          <p:cNvPr id="27" name="TextBox 26"/>
          <p:cNvSpPr txBox="1"/>
          <p:nvPr/>
        </p:nvSpPr>
        <p:spPr>
          <a:xfrm>
            <a:off x="446623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does the team's first draft of Meera's sentence say?</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Lost?</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many of the 16 one-time buyers are really lost?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Due dates</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 due dates find the same buyers?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sentence</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does the sentence Meera signs say?</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5" name="Oval 4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47" name="Oval 4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49" name="Oval 4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51" name="Oval 5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53" name="Oval 5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55" name="Oval 5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54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will hunt the sentence's weakest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sentence, and what will they look for?</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"Before I sign anything, I want to understand our own sales."</a:t>
            </a:r>
          </a:p>
        </p:txBody>
      </p:sp>
      <p:graphicFrame>
        <p:nvGraphicFramePr>
          <p:cNvPr id="14" name="Table 13"/>
          <p:cNvGraphicFramePr>
            <a:graphicFrameLocks noGrp="1"/>
          </p:cNvGraphicFramePr>
          <p:nvPr/>
        </p:nvGraphicFramePr>
        <p:xfrm>
          <a:off x="530352" y="2983992"/>
          <a:ext cx="11130991" cy="1834896"/>
        </p:xfrm>
        <a:graphic>
          <a:graphicData uri="http://schemas.openxmlformats.org/drawingml/2006/table">
            <a:tbl>
              <a:tblPr firstRow="0" bandRow="0">
                <a:tableStyleId>{2D5ABB26-0587-4C30-8999-92F81FD0307C}</a:tableStyleId>
              </a:tblPr>
              <a:tblGrid>
                <a:gridCol w="3468944"/>
                <a:gridCol w="766204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repeat picture shows who came back, who has not, and who has not had time to.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Kavya reviews it first, and the marketing lead reads it for its weakest number.</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Marketing knocks the claim down in one question, and the team loses the trust the week depends on.</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Klarna's first month was not its verdict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happened when a company's first window was read as the verdict?</a:t>
            </a:r>
          </a:p>
        </p:txBody>
      </p:sp>
      <p:sp>
        <p:nvSpPr>
          <p:cNvPr id="9" name="Rectangle 8"/>
          <p:cNvSpPr/>
          <p:nvPr/>
        </p:nvSpPr>
        <p:spPr>
          <a:xfrm>
            <a:off x="3267379" y="2523744"/>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FEBRUARY 2024</a:t>
            </a:r>
          </a:p>
        </p:txBody>
      </p:sp>
      <p:sp>
        <p:nvSpPr>
          <p:cNvPr id="11" name="Oval 10"/>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547405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Two-thirds of chats</a:t>
            </a:r>
          </a:p>
        </p:txBody>
      </p:sp>
      <p:sp>
        <p:nvSpPr>
          <p:cNvPr id="14" name="TextBox 13"/>
          <p:cNvSpPr txBox="1"/>
          <p:nvPr/>
        </p:nvSpPr>
        <p:spPr>
          <a:xfrm>
            <a:off x="694944" y="3277870"/>
            <a:ext cx="5144871" cy="201676"/>
          </a:xfrm>
          <a:prstGeom prst="rect">
            <a:avLst/>
          </a:prstGeom>
          <a:noFill/>
        </p:spPr>
        <p:txBody>
          <a:bodyPr wrap="square" anchor="t" lIns="0" rIns="0" tIns="0" bIns="0">
            <a:spAutoFit/>
          </a:bodyPr>
          <a:lstStyle/>
          <a:p>
            <a:pPr algn="l"/>
            <a:r>
              <a:rPr sz="1000" b="0" i="0">
                <a:solidFill>
                  <a:srgbClr val="6B6690"/>
                </a:solidFill>
                <a:latin typeface="Calibri"/>
              </a:rPr>
              <a:t>Klarna, 27 February 2024</a:t>
            </a:r>
          </a:p>
        </p:txBody>
      </p:sp>
      <p:sp>
        <p:nvSpPr>
          <p:cNvPr id="15" name="TextBox 14"/>
          <p:cNvSpPr txBox="1"/>
          <p:nvPr/>
        </p:nvSpPr>
        <p:spPr>
          <a:xfrm>
            <a:off x="6187287"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MAY 2025</a:t>
            </a:r>
          </a:p>
        </p:txBody>
      </p:sp>
      <p:sp>
        <p:nvSpPr>
          <p:cNvPr id="16" name="Oval 15"/>
          <p:cNvSpPr/>
          <p:nvPr/>
        </p:nvSpPr>
        <p:spPr>
          <a:xfrm>
            <a:off x="8823731"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187287" y="2843784"/>
            <a:ext cx="5474055"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351879" y="2990088"/>
            <a:ext cx="5144871" cy="251205"/>
          </a:xfrm>
          <a:prstGeom prst="rect">
            <a:avLst/>
          </a:prstGeom>
          <a:noFill/>
        </p:spPr>
        <p:txBody>
          <a:bodyPr wrap="square" anchor="t" lIns="0" rIns="0" tIns="0" bIns="0">
            <a:spAutoFit/>
          </a:bodyPr>
          <a:lstStyle/>
          <a:p>
            <a:pPr algn="l"/>
            <a:r>
              <a:rPr sz="1300" b="1" i="0">
                <a:solidFill>
                  <a:srgbClr val="FFFFFF"/>
                </a:solidFill>
                <a:latin typeface="Calibri"/>
              </a:rPr>
              <a:t>Quality, fifteen months on</a:t>
            </a:r>
          </a:p>
        </p:txBody>
      </p:sp>
      <p:sp>
        <p:nvSpPr>
          <p:cNvPr id="19" name="TextBox 18"/>
          <p:cNvSpPr txBox="1"/>
          <p:nvPr/>
        </p:nvSpPr>
        <p:spPr>
          <a:xfrm>
            <a:off x="6351879" y="3277870"/>
            <a:ext cx="5144871" cy="201676"/>
          </a:xfrm>
          <a:prstGeom prst="rect">
            <a:avLst/>
          </a:prstGeom>
          <a:noFill/>
        </p:spPr>
        <p:txBody>
          <a:bodyPr wrap="square" anchor="t" lIns="0" rIns="0" tIns="0" bIns="0">
            <a:spAutoFit/>
          </a:bodyPr>
          <a:lstStyle/>
          <a:p>
            <a:pPr algn="l"/>
            <a:r>
              <a:rPr sz="1000" b="0" i="0">
                <a:solidFill>
                  <a:srgbClr val="CFC9EE"/>
                </a:solidFill>
                <a:latin typeface="Calibri"/>
              </a:rPr>
              <a:t>Fortune, 9 May 2025</a:t>
            </a:r>
          </a:p>
        </p:txBody>
      </p:sp>
      <p:sp>
        <p:nvSpPr>
          <p:cNvPr id="20" name="TextBox 19"/>
          <p:cNvSpPr txBox="1"/>
          <p:nvPr/>
        </p:nvSpPr>
        <p:spPr>
          <a:xfrm>
            <a:off x="530352" y="3930904"/>
            <a:ext cx="11130991" cy="143459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Klarna reported that its AI assistant handled two-thirds of customer-service chats in its first month, and fifteen months later its chief executive said the focus on cost had lowered quality and that customers would always be able to reach a human.</a:t>
            </a:r>
          </a:p>
          <a:p>
            <a:pPr>
              <a:spcAft>
                <a:spcPts val="800"/>
              </a:spcAft>
            </a:pPr>
            <a:r>
              <a:rPr sz="1600" b="0" i="0">
                <a:solidFill>
                  <a:srgbClr val="1A1440"/>
                </a:solidFill>
                <a:latin typeface="Calibri"/>
              </a:rPr>
              <a:t>Meera's sentence carries a caveat so that one window's number is not taken as the verdict.</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5" name="Oval 2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7" name="Oval 2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9" name="Oval 2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1" name="Oval 3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3" name="Oval 3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54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sentence carries the decision and its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carries the decision in Meera's reading time?</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4597095"/>
                <a:gridCol w="1746778"/>
                <a:gridCol w="478711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Reading time</a:t>
                      </a:r>
                    </a:p>
                  </a:txBody>
                  <a:tcPr marL="101600" marR="101600" marT="38100" marB="38100" anchor="ctr">
                    <a:solidFill>
                      <a:srgbClr val="1A0F5C"/>
                    </a:solidFill>
                  </a:tcPr>
                </a:tc>
                <a:tc>
                  <a:txBody>
                    <a:bodyPr/>
                    <a:lstStyle/>
                    <a:p>
                      <a:r>
                        <a:rPr sz="1450" b="1" i="0">
                          <a:solidFill>
                            <a:srgbClr val="FFFFFF"/>
                          </a:solidFill>
                          <a:latin typeface="Calibri"/>
                        </a:rPr>
                        <a:t>Carries a decision?</a:t>
                      </a:r>
                    </a:p>
                  </a:txBody>
                  <a:tcPr marL="101600" marR="101600" marT="38100" marB="38100" anchor="ctr">
                    <a:solidFill>
                      <a:srgbClr val="1A0F5C"/>
                    </a:solidFill>
                  </a:tcPr>
                </a:tc>
              </a:tr>
              <a:tr h="369824">
                <a:tc>
                  <a:txBody>
                    <a:bodyPr/>
                    <a:lstStyle/>
                    <a:p>
                      <a:r>
                        <a:rPr sz="1400" b="0" i="0">
                          <a:solidFill>
                            <a:srgbClr val="1A1440"/>
                          </a:solidFill>
                          <a:latin typeface="Calibri"/>
                        </a:rPr>
                        <a:t>A. One number: 1.30 orders each</a:t>
                      </a:r>
                    </a:p>
                  </a:txBody>
                  <a:tcPr marL="101600" marR="101600" marT="38100" marB="38100" anchor="ctr">
                    <a:solidFill>
                      <a:srgbClr val="FFFFFF"/>
                    </a:solidFill>
                  </a:tcPr>
                </a:tc>
                <a:tc>
                  <a:txBody>
                    <a:bodyPr/>
                    <a:lstStyle/>
                    <a:p>
                      <a:r>
                        <a:rPr sz="1400" b="0" i="0">
                          <a:solidFill>
                            <a:srgbClr val="1A1440"/>
                          </a:solidFill>
                          <a:latin typeface="Calibri"/>
                        </a:rPr>
                        <a:t>2 seconds</a:t>
                      </a:r>
                    </a:p>
                  </a:txBody>
                  <a:tcPr marL="101600" marR="101600" marT="38100" marB="38100" anchor="ctr">
                    <a:solidFill>
                      <a:srgbClr val="FFFFFF"/>
                    </a:solidFill>
                  </a:tcPr>
                </a:tc>
                <a:tc>
                  <a:txBody>
                    <a:bodyPr/>
                    <a:lstStyle/>
                    <a:p>
                      <a:r>
                        <a:rPr sz="1400" b="0" i="0">
                          <a:solidFill>
                            <a:srgbClr val="1A1440"/>
                          </a:solidFill>
                          <a:latin typeface="Calibri"/>
                        </a:rPr>
                        <a:t>No, so she has to supply the meaning.</a:t>
                      </a:r>
                    </a:p>
                  </a:txBody>
                  <a:tcPr marL="101600" marR="101600" marT="38100" marB="38100" anchor="ctr">
                    <a:solidFill>
                      <a:srgbClr val="FFFFFF"/>
                    </a:solidFill>
                  </a:tcPr>
                </a:tc>
              </a:tr>
              <a:tr h="369824">
                <a:tc>
                  <a:txBody>
                    <a:bodyPr/>
                    <a:lstStyle/>
                    <a:p>
                      <a:r>
                        <a:rPr sz="1400" b="0" i="0">
                          <a:solidFill>
                            <a:srgbClr val="1A1440"/>
                          </a:solidFill>
                          <a:latin typeface="Calibri"/>
                        </a:rPr>
                        <a:t>B. The tree as a table</a:t>
                      </a:r>
                    </a:p>
                  </a:txBody>
                  <a:tcPr marL="101600" marR="101600" marT="38100" marB="38100" anchor="ctr">
                    <a:solidFill>
                      <a:srgbClr val="F4F2FA"/>
                    </a:solidFill>
                  </a:tcPr>
                </a:tc>
                <a:tc>
                  <a:txBody>
                    <a:bodyPr/>
                    <a:lstStyle/>
                    <a:p>
                      <a:r>
                        <a:rPr sz="1400" b="0" i="0">
                          <a:solidFill>
                            <a:srgbClr val="1A1440"/>
                          </a:solidFill>
                          <a:latin typeface="Calibri"/>
                        </a:rPr>
                        <a:t>A minute or more</a:t>
                      </a:r>
                    </a:p>
                  </a:txBody>
                  <a:tcPr marL="101600" marR="101600" marT="38100" marB="38100" anchor="ctr">
                    <a:solidFill>
                      <a:srgbClr val="F4F2FA"/>
                    </a:solidFill>
                  </a:tcPr>
                </a:tc>
                <a:tc>
                  <a:txBody>
                    <a:bodyPr/>
                    <a:lstStyle/>
                    <a:p>
                      <a:r>
                        <a:rPr sz="1400" b="0" i="0">
                          <a:solidFill>
                            <a:srgbClr val="1A1440"/>
                          </a:solidFill>
                          <a:latin typeface="Calibri"/>
                        </a:rPr>
                        <a:t>No, so she picks the number that suits the room.</a:t>
                      </a:r>
                    </a:p>
                  </a:txBody>
                  <a:tcPr marL="101600" marR="101600" marT="38100" marB="38100" anchor="ctr">
                    <a:solidFill>
                      <a:srgbClr val="F4F2FA"/>
                    </a:solidFill>
                  </a:tcPr>
                </a:tc>
              </a:tr>
              <a:tr h="369824">
                <a:tc>
                  <a:txBody>
                    <a:bodyPr/>
                    <a:lstStyle/>
                    <a:p>
                      <a:r>
                        <a:rPr sz="1400" b="0" i="0">
                          <a:solidFill>
                            <a:srgbClr val="1A1440"/>
                          </a:solidFill>
                          <a:latin typeface="Calibri"/>
                        </a:rPr>
                        <a:t>C. One sentence: evidence, branch, caveat, ask</a:t>
                      </a:r>
                    </a:p>
                  </a:txBody>
                  <a:tcPr marL="101600" marR="101600" marT="38100" marB="38100" anchor="ctr">
                    <a:solidFill>
                      <a:srgbClr val="FFFFFF"/>
                    </a:solidFill>
                  </a:tcPr>
                </a:tc>
                <a:tc>
                  <a:txBody>
                    <a:bodyPr/>
                    <a:lstStyle/>
                    <a:p>
                      <a:r>
                        <a:rPr sz="1400" b="0" i="0">
                          <a:solidFill>
                            <a:srgbClr val="1A1440"/>
                          </a:solidFill>
                          <a:latin typeface="Calibri"/>
                        </a:rPr>
                        <a:t>About 20 seconds</a:t>
                      </a:r>
                    </a:p>
                  </a:txBody>
                  <a:tcPr marL="101600" marR="101600" marT="38100" marB="38100" anchor="ctr">
                    <a:solidFill>
                      <a:srgbClr val="FFFFFF"/>
                    </a:solidFill>
                  </a:tcPr>
                </a:tc>
                <a:tc>
                  <a:txBody>
                    <a:bodyPr/>
                    <a:lstStyle/>
                    <a:p>
                      <a:r>
                        <a:rPr sz="1400" b="0" i="0">
                          <a:solidFill>
                            <a:srgbClr val="1A1440"/>
                          </a:solidFill>
                          <a:latin typeface="Calibri"/>
                        </a:rPr>
                        <a:t>Yes, with its limit.</a:t>
                      </a:r>
                    </a:p>
                  </a:txBody>
                  <a:tcPr marL="101600" marR="101600" marT="38100" marB="38100" anchor="ctr">
                    <a:solidFill>
                      <a:srgbClr val="FFFFFF"/>
                    </a:solidFill>
                  </a:tcPr>
                </a:tc>
              </a:tr>
              <a:tr h="369824">
                <a:tc>
                  <a:txBody>
                    <a:bodyPr/>
                    <a:lstStyle/>
                    <a:p>
                      <a:r>
                        <a:rPr sz="1400" b="0" i="0">
                          <a:solidFill>
                            <a:srgbClr val="1A1440"/>
                          </a:solidFill>
                          <a:latin typeface="Calibri"/>
                        </a:rPr>
                        <a:t>D. A weekly dashboard</a:t>
                      </a:r>
                    </a:p>
                  </a:txBody>
                  <a:tcPr marL="101600" marR="101600" marT="38100" marB="38100" anchor="ctr">
                    <a:solidFill>
                      <a:srgbClr val="F4F2FA"/>
                    </a:solidFill>
                  </a:tcPr>
                </a:tc>
                <a:tc>
                  <a:txBody>
                    <a:bodyPr/>
                    <a:lstStyle/>
                    <a:p>
                      <a:r>
                        <a:rPr sz="1400" b="0" i="0">
                          <a:solidFill>
                            <a:srgbClr val="1A1440"/>
                          </a:solidFill>
                          <a:latin typeface="Calibri"/>
                        </a:rPr>
                        <a:t>Weeks to build</a:t>
                      </a:r>
                    </a:p>
                  </a:txBody>
                  <a:tcPr marL="101600" marR="101600" marT="38100" marB="38100" anchor="ctr">
                    <a:solidFill>
                      <a:srgbClr val="F4F2FA"/>
                    </a:solidFill>
                  </a:tcPr>
                </a:tc>
                <a:tc>
                  <a:txBody>
                    <a:bodyPr/>
                    <a:lstStyle/>
                    <a:p>
                      <a:r>
                        <a:rPr sz="1400" b="0" i="0">
                          <a:solidFill>
                            <a:srgbClr val="1A1440"/>
                          </a:solidFill>
                          <a:latin typeface="Calibri"/>
                        </a:rPr>
                        <a:t>It carries whatever she looks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C is the best fit, since it is the only form that carries a decision and its limit together. D earns its build cost once the question turns weekly, as it does in Week 2 when Meera's chief of staff asks for the leadership deck.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part does the sentence put last?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 the four parts of Meera's sentence run?</a:t>
            </a:r>
          </a:p>
        </p:txBody>
      </p:sp>
      <p:pic>
        <p:nvPicPr>
          <p:cNvPr id="9" name="mermaid diagram" descr="93224aa77029ee57.png"/>
          <p:cNvPicPr>
            <a:picLocks noChangeAspect="1"/>
          </p:cNvPicPr>
          <p:nvPr/>
        </p:nvPicPr>
        <p:blipFill>
          <a:blip r:embed="rId5"/>
          <a:stretch>
            <a:fillRect/>
          </a:stretch>
        </p:blipFill>
        <p:spPr>
          <a:xfrm>
            <a:off x="3745553" y="1956816"/>
            <a:ext cx="4700587" cy="2043112"/>
          </a:xfrm>
          <a:prstGeom prst="rect">
            <a:avLst/>
          </a:prstGeom>
        </p:spPr>
      </p:pic>
      <p:sp>
        <p:nvSpPr>
          <p:cNvPr id="10" name="Rounded Rectangle 9"/>
          <p:cNvSpPr/>
          <p:nvPr/>
        </p:nvSpPr>
        <p:spPr>
          <a:xfrm>
            <a:off x="530352" y="41462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742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65104"/>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Kavya's review asks for one sentence in four parts. Which part comes last: a) the evidence, so Meera ends on the numbers; b) the ask, what happens to the Rs 12 crore; c) the branch, so she ends on the recommendation; d) the caveat, so she ends on the limit?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ask, so the sentence ends on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sentence end on what happens to the Rs 12 crore?</a:t>
            </a:r>
          </a:p>
        </p:txBody>
      </p:sp>
      <p:pic>
        <p:nvPicPr>
          <p:cNvPr id="9" name="mermaid diagram" descr="8dd151c101b70ddc.png"/>
          <p:cNvPicPr>
            <a:picLocks noChangeAspect="1"/>
          </p:cNvPicPr>
          <p:nvPr/>
        </p:nvPicPr>
        <p:blipFill>
          <a:blip r:embed="rId5"/>
          <a:stretch>
            <a:fillRect/>
          </a:stretch>
        </p:blipFill>
        <p:spPr>
          <a:xfrm>
            <a:off x="2052485" y="1956816"/>
            <a:ext cx="8086725" cy="871537"/>
          </a:xfrm>
          <a:prstGeom prst="rect">
            <a:avLst/>
          </a:prstGeom>
        </p:spPr>
      </p:pic>
      <p:sp>
        <p:nvSpPr>
          <p:cNvPr id="10" name="Rounded Rectangle 9"/>
          <p:cNvSpPr/>
          <p:nvPr/>
        </p:nvSpPr>
        <p:spPr>
          <a:xfrm>
            <a:off x="530352" y="29746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624840"/>
          </a:xfrm>
          <a:prstGeom prst="rect">
            <a:avLst/>
          </a:prstGeom>
          <a:noFill/>
        </p:spPr>
        <p:txBody>
          <a:bodyPr wrap="square" anchor="ctr" lIns="0" rIns="0" tIns="0" bIns="0">
            <a:spAutoFit/>
          </a:bodyPr>
          <a:lstStyle/>
          <a:p>
            <a:r>
              <a:rPr sz="1500" b="1">
                <a:solidFill>
                  <a:srgbClr val="5B3FD6"/>
                </a:solidFill>
                <a:latin typeface="Calibri"/>
              </a:rPr>
              <a:t>What happened. </a:t>
            </a:r>
            <a:r>
              <a:rPr sz="1500" b="0" i="0">
                <a:solidFill>
                  <a:srgbClr val="1A1440"/>
                </a:solidFill>
                <a:latin typeface="Calibri"/>
              </a:rPr>
              <a:t>The answer is b. The evidence comes first so Meera can weigh it, then the branch, then what the window cannot show, and last the ask she acts on.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draft: 23 customers, 1.30 each, 16 bought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team's first draft of Meera's sentence say?</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draft = (f"On the {len(ORDERS)} booked orders from 1 July to 26 September, {customers} customers "</a:t>
            </a:r>
          </a:p>
          <a:p>
            <a:pPr>
              <a:spcAft>
                <a:spcPts val="200"/>
              </a:spcAft>
            </a:pPr>
            <a:r>
              <a:rPr sz="1400" b="0" i="0">
                <a:solidFill>
                  <a:srgbClr val="E4E1F1"/>
                </a:solidFill>
                <a:latin typeface="Consolas"/>
              </a:rPr>
              <a:t>         f"placed {per_customer:.2f} orders each at a typical order of {kit.rupees(median)}, "</a:t>
            </a:r>
          </a:p>
          <a:p>
            <a:pPr>
              <a:spcAft>
                <a:spcPts val="200"/>
              </a:spcAft>
            </a:pPr>
            <a:r>
              <a:rPr sz="1400" b="0" i="0">
                <a:solidFill>
                  <a:srgbClr val="E4E1F1"/>
                </a:solidFill>
                <a:latin typeface="Consolas"/>
              </a:rPr>
              <a:t>         f"and {len(once_ids)} of them bought only once, so I would open frequency first ...")</a:t>
            </a:r>
          </a:p>
        </p:txBody>
      </p:sp>
      <p:sp>
        <p:nvSpPr>
          <p:cNvPr id="14" name="Rounded Rectangle 13"/>
          <p:cNvSpPr/>
          <p:nvPr/>
        </p:nvSpPr>
        <p:spPr>
          <a:xfrm>
            <a:off x="530352" y="333603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33603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and 16 of them bought only once,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first draft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8" name="Oval 17"/>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0" name="Oval 19"/>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2" name="Oval 21"/>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4" name="Oval 2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6" name="Oval 25"/>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8" name="Oval 27"/>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70 percent of our customers are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16 when a colleague tightens the draft?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 tightens the draft for the slide: "16 of 23 never came back: 70 percent of our customers are lost."</a:t>
            </a:r>
          </a:p>
        </p:txBody>
      </p:sp>
      <p:sp>
        <p:nvSpPr>
          <p:cNvPr id="12" name="TextBox 11"/>
          <p:cNvSpPr txBox="1"/>
          <p:nvPr/>
        </p:nvSpPr>
        <p:spPr>
          <a:xfrm>
            <a:off x="53035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3" name="TextBox 12"/>
          <p:cNvSpPr txBox="1"/>
          <p:nvPr/>
        </p:nvSpPr>
        <p:spPr>
          <a:xfrm>
            <a:off x="53035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ONCE</a:t>
            </a:r>
          </a:p>
        </p:txBody>
      </p:sp>
      <p:sp>
        <p:nvSpPr>
          <p:cNvPr id="14" name="TextBox 13"/>
          <p:cNvSpPr txBox="1"/>
          <p:nvPr/>
        </p:nvSpPr>
        <p:spPr>
          <a:xfrm>
            <a:off x="53035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88-day window</a:t>
            </a:r>
          </a:p>
        </p:txBody>
      </p:sp>
      <p:sp>
        <p:nvSpPr>
          <p:cNvPr id="15" name="Rectangle 14"/>
          <p:cNvSpPr/>
          <p:nvPr/>
        </p:nvSpPr>
        <p:spPr>
          <a:xfrm>
            <a:off x="53035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7" name="TextBox 16"/>
          <p:cNvSpPr txBox="1"/>
          <p:nvPr/>
        </p:nvSpPr>
        <p:spPr>
          <a:xfrm>
            <a:off x="433212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8" name="TextBox 17"/>
          <p:cNvSpPr txBox="1"/>
          <p:nvPr/>
        </p:nvSpPr>
        <p:spPr>
          <a:xfrm>
            <a:off x="433212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by id</a:t>
            </a:r>
          </a:p>
        </p:txBody>
      </p:sp>
      <p:sp>
        <p:nvSpPr>
          <p:cNvPr id="19" name="Rectangle 18"/>
          <p:cNvSpPr/>
          <p:nvPr/>
        </p:nvSpPr>
        <p:spPr>
          <a:xfrm>
            <a:off x="433212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70%</a:t>
            </a:r>
          </a:p>
        </p:txBody>
      </p:sp>
      <p:sp>
        <p:nvSpPr>
          <p:cNvPr id="21" name="TextBox 20"/>
          <p:cNvSpPr txBox="1"/>
          <p:nvPr/>
        </p:nvSpPr>
        <p:spPr>
          <a:xfrm>
            <a:off x="813389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CALLED LOST</a:t>
            </a:r>
          </a:p>
        </p:txBody>
      </p:sp>
      <p:sp>
        <p:nvSpPr>
          <p:cNvPr id="22" name="TextBox 21"/>
          <p:cNvSpPr txBox="1"/>
          <p:nvPr/>
        </p:nvSpPr>
        <p:spPr>
          <a:xfrm>
            <a:off x="813389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16 / 23, read as churn</a:t>
            </a:r>
          </a:p>
        </p:txBody>
      </p:sp>
      <p:sp>
        <p:nvSpPr>
          <p:cNvPr id="23" name="Rectangle 22"/>
          <p:cNvSpPr/>
          <p:nvPr/>
        </p:nvSpPr>
        <p:spPr>
          <a:xfrm>
            <a:off x="813389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30352" y="43921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 it would mislead: retention reads as an emergency, on a number marketing knocks down with one question.</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7" name="Oval 2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9" name="Oval 2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1" name="Oval 3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3" name="Oval 3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5" name="Oval 3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7" name="Oval 3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16 can we call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16 one-time buyers are really lost?</a:t>
            </a:r>
          </a:p>
        </p:txBody>
      </p:sp>
      <p:pic>
        <p:nvPicPr>
          <p:cNvPr id="9" name="mermaid diagram" descr="dab0fe087ae369a7.png"/>
          <p:cNvPicPr>
            <a:picLocks noChangeAspect="1"/>
          </p:cNvPicPr>
          <p:nvPr/>
        </p:nvPicPr>
        <p:blipFill>
          <a:blip r:embed="rId5"/>
          <a:stretch>
            <a:fillRect/>
          </a:stretch>
        </p:blipFill>
        <p:spPr>
          <a:xfrm>
            <a:off x="3881285" y="1956816"/>
            <a:ext cx="4429125" cy="1285875"/>
          </a:xfrm>
          <a:prstGeom prst="rect">
            <a:avLst/>
          </a:prstGeom>
        </p:spPr>
      </p:pic>
      <p:sp>
        <p:nvSpPr>
          <p:cNvPr id="10" name="Rounded Rectangle 9"/>
          <p:cNvSpPr/>
          <p:nvPr/>
        </p:nvSpPr>
        <p:spPr>
          <a:xfrm>
            <a:off x="530352" y="33889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170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07867"/>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Of the 16 who bought once, how many can you call lost from this file: a) all 16, which is 70 percent of 23 customers; b) 9, the ones who bought most recently; c) at most 7, the ones past the usual gap; d) none, since 7 customers did come back?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54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at most 7, since 9 of the 16 are too recent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70 percent, and what does it find?</a:t>
            </a:r>
          </a:p>
        </p:txBody>
      </p:sp>
      <p:pic>
        <p:nvPicPr>
          <p:cNvPr id="9" name="mermaid diagram" descr="0eb41c4408bbd8ca.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file shows who bought once inside the window, and whether they are lost depends on orders placed after it closes. The 7 who came back took a median of 45 days, and 9 of the 16 ordered fewer than 45 days before 26 September, so the answer is c.</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the sentence splits the 16 into 7 and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sentence Meera signs say?</a:t>
            </a:r>
          </a:p>
        </p:txBody>
      </p:sp>
      <p:pic>
        <p:nvPicPr>
          <p:cNvPr id="9" name="mermaid diagram" descr="6e6853590db16f67.png"/>
          <p:cNvPicPr>
            <a:picLocks noChangeAspect="1"/>
          </p:cNvPicPr>
          <p:nvPr/>
        </p:nvPicPr>
        <p:blipFill>
          <a:blip r:embed="rId5"/>
          <a:stretch>
            <a:fillRect/>
          </a:stretch>
        </p:blipFill>
        <p:spPr>
          <a:xfrm>
            <a:off x="2888303" y="1848771"/>
            <a:ext cx="6415087" cy="2443162"/>
          </a:xfrm>
          <a:prstGeom prst="rect">
            <a:avLst/>
          </a:prstGeom>
        </p:spPr>
      </p:pic>
      <p:sp>
        <p:nvSpPr>
          <p:cNvPr id="10" name="Rounded Rectangle 9"/>
          <p:cNvSpPr/>
          <p:nvPr/>
        </p:nvSpPr>
        <p:spPr>
          <a:xfrm>
            <a:off x="530352" y="4438237"/>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4438237"/>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6" name="Oval 1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8" name="Oval 17"/>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2" name="Oval 21"/>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4" name="Oval 23"/>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due dates find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due dates find the same buyers as the days since ordering?</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too_recent = [c for c in once_ids if (end - first[c]).days &lt; 45]</a:t>
            </a:r>
          </a:p>
          <a:p>
            <a:pPr>
              <a:spcAft>
                <a:spcPts val="200"/>
              </a:spcAft>
            </a:pPr>
            <a:r>
              <a:rPr sz="1400" b="0" i="0">
                <a:solidFill>
                  <a:srgbClr val="E4E1F1"/>
                </a:solidFill>
                <a:latin typeface="Consolas"/>
              </a:rPr>
              <a:t>due_late = [c for c in once_ids if first[c] + timedelta(days=45) &gt; end]</a:t>
            </a:r>
          </a:p>
          <a:p>
            <a:pPr>
              <a:spcAft>
                <a:spcPts val="200"/>
              </a:spcAft>
            </a:pPr>
            <a:r>
              <a:rPr sz="1400" b="0" i="0">
                <a:solidFill>
                  <a:srgbClr val="E4E1F1"/>
                </a:solidFill>
                <a:latin typeface="Consolas"/>
              </a:rPr>
              <a:t>assert set(due_late) == set(too_recent)       # the same 9 customers</a:t>
            </a:r>
          </a:p>
        </p:txBody>
      </p:sp>
      <p:pic>
        <p:nvPicPr>
          <p:cNvPr id="14" name="mermaid diagram" descr="c20b678d9c23b5b5.png"/>
          <p:cNvPicPr>
            <a:picLocks noChangeAspect="1"/>
          </p:cNvPicPr>
          <p:nvPr/>
        </p:nvPicPr>
        <p:blipFill>
          <a:blip r:embed="rId5"/>
          <a:stretch>
            <a:fillRect/>
          </a:stretch>
        </p:blipFill>
        <p:spPr>
          <a:xfrm>
            <a:off x="1545278" y="3336036"/>
            <a:ext cx="9101137" cy="18002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54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edge hides in returns and renewals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else does the end of a window cut a count short?</a:t>
            </a:r>
          </a:p>
        </p:txBody>
      </p:sp>
      <p:sp>
        <p:nvSpPr>
          <p:cNvPr id="10" name="Rounded Rectangle 9"/>
          <p:cNvSpPr/>
          <p:nvPr/>
        </p:nvSpPr>
        <p:spPr>
          <a:xfrm>
            <a:off x="530352" y="1956816"/>
            <a:ext cx="5474055" cy="17607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ndo-2_88bd06d6412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RETURNS</a:t>
            </a:r>
          </a:p>
        </p:txBody>
      </p:sp>
      <p:sp>
        <p:nvSpPr>
          <p:cNvPr id="14" name="TextBox 13"/>
          <p:cNvSpPr txBox="1"/>
          <p:nvPr/>
        </p:nvSpPr>
        <p:spPr>
          <a:xfrm>
            <a:off x="731519" y="2962656"/>
            <a:ext cx="5071719" cy="498856"/>
          </a:xfrm>
          <a:prstGeom prst="rect">
            <a:avLst/>
          </a:prstGeom>
          <a:noFill/>
        </p:spPr>
        <p:txBody>
          <a:bodyPr wrap="square" anchor="t" lIns="0" rIns="0" tIns="0" bIns="0">
            <a:spAutoFit/>
          </a:bodyPr>
          <a:lstStyle/>
          <a:p>
            <a:pPr algn="l"/>
            <a:r>
              <a:rPr sz="1400" b="1" i="0">
                <a:solidFill>
                  <a:srgbClr val="1A0F5C"/>
                </a:solidFill>
                <a:latin typeface="Calibri"/>
              </a:rPr>
              <a:t>Returns arrive days after delivery, so a returns rate on last week's orders looks cleaner than it is</a:t>
            </a:r>
          </a:p>
        </p:txBody>
      </p:sp>
      <p:sp>
        <p:nvSpPr>
          <p:cNvPr id="15" name="Rounded Rectangle 14"/>
          <p:cNvSpPr/>
          <p:nvPr/>
        </p:nvSpPr>
        <p:spPr>
          <a:xfrm>
            <a:off x="6187287" y="1956816"/>
            <a:ext cx="5474055" cy="17607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clock_84fb0b5a8829.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RENEWALS</a:t>
            </a:r>
          </a:p>
        </p:txBody>
      </p:sp>
      <p:sp>
        <p:nvSpPr>
          <p:cNvPr id="19" name="TextBox 18"/>
          <p:cNvSpPr txBox="1"/>
          <p:nvPr/>
        </p:nvSpPr>
        <p:spPr>
          <a:xfrm>
            <a:off x="6388455" y="2962656"/>
            <a:ext cx="5071719" cy="498856"/>
          </a:xfrm>
          <a:prstGeom prst="rect">
            <a:avLst/>
          </a:prstGeom>
          <a:noFill/>
        </p:spPr>
        <p:txBody>
          <a:bodyPr wrap="square" anchor="t" lIns="0" rIns="0" tIns="0" bIns="0">
            <a:spAutoFit/>
          </a:bodyPr>
          <a:lstStyle/>
          <a:p>
            <a:pPr algn="l"/>
            <a:r>
              <a:rPr sz="1400" b="1" i="0">
                <a:solidFill>
                  <a:srgbClr val="1A0F5C"/>
                </a:solidFill>
                <a:latin typeface="Calibri"/>
              </a:rPr>
              <a:t>A member whose renewal falls after the extract ends has not lapsed, whatever the file shows</a:t>
            </a:r>
          </a:p>
        </p:txBody>
      </p:sp>
      <p:sp>
        <p:nvSpPr>
          <p:cNvPr id="20" name="TextBox 19"/>
          <p:cNvSpPr txBox="1"/>
          <p:nvPr/>
        </p:nvSpPr>
        <p:spPr>
          <a:xfrm>
            <a:off x="530352" y="39004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fix is the same each time: measure how long the thing usually takes, and hold back judgement on everyone who has not had that long.</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5" name="Oval 2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7" name="Oval 2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9" name="Oval 2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1" name="Oval 3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3" name="Oval 3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32 / 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hands Meera a sentence she can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one sentence can Meera sign, with its evidence, its branch, its caveat and its ask?</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Who reads the sentence?</a:t>
            </a:r>
            <a:r>
              <a:rPr sz="1100" b="0" i="0">
                <a:solidFill>
                  <a:srgbClr val="1A1440"/>
                </a:solidFill>
                <a:latin typeface="Calibri"/>
              </a:rPr>
              <a:t> Meera reads it for the decision, and marketing for its weakest number.</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Which form carries the decision?</a:t>
            </a:r>
            <a:r>
              <a:rPr sz="1100" b="0" i="0">
                <a:solidFill>
                  <a:srgbClr val="1A1440"/>
                </a:solidFill>
                <a:latin typeface="Calibri"/>
              </a:rPr>
              <a:t> One sentence does, in about 20 seconds, with its limit.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What does the team's first draft say?</a:t>
            </a:r>
            <a:r>
              <a:rPr sz="1100" b="0" i="0">
                <a:solidFill>
                  <a:srgbClr val="1A1440"/>
                </a:solidFill>
                <a:latin typeface="Calibri"/>
              </a:rPr>
              <a:t> It names 23 customers at 1.30 orders each, Rs 2,205 typical and 16 bought once.</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How many of the 16 are really lost?</a:t>
            </a:r>
            <a:r>
              <a:rPr sz="1100" b="0" i="0">
                <a:solidFill>
                  <a:srgbClr val="1A1440"/>
                </a:solidFill>
                <a:latin typeface="Calibri"/>
              </a:rPr>
              <a:t> At most 7 are, since 9 bought inside the 45-day gap.</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due dates find the same buyers?</a:t>
            </a:r>
            <a:r>
              <a:rPr sz="1100" b="0" i="0">
                <a:solidFill>
                  <a:srgbClr val="1A1440"/>
                </a:solidFill>
                <a:latin typeface="Calibri"/>
              </a:rPr>
              <a:t> They find the same 9.</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What does Meera sign?</a:t>
            </a:r>
            <a:r>
              <a:rPr sz="1100" b="0" i="0">
                <a:solidFill>
                  <a:srgbClr val="1A1440"/>
                </a:solidFill>
                <a:latin typeface="Calibri"/>
              </a:rPr>
              <a:t> She signs a sentence that splits the 16 into 7 past the gap and 9 too recent, and opens frequency.</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"This is a sentence I would take into the room: what we know, what we would do, and what we need before spending Rs 12 crore, and every number in it is one we can defend."</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[D] You have one quarter of orders and 70 percent of customers bought once; what do you tell the CEO?</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3" name="Oval 3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35" name="Oval 3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7" name="Oval 3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9" name="Oval 3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41" name="Oval 4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43" name="Oval 4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A</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branch survive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frequency first survive on the orders that stayed delivered?</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asks for the answer again on delivered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ask, and what does each part rebuild?</a:t>
            </a:r>
          </a:p>
        </p:txBody>
      </p:sp>
      <p:sp>
        <p:nvSpPr>
          <p:cNvPr id="9" name="Rounded Rectangle 8"/>
          <p:cNvSpPr/>
          <p:nvPr/>
        </p:nvSpPr>
        <p:spPr>
          <a:xfrm>
            <a:off x="530352" y="187680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090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18766"/>
            <a:ext cx="237744" cy="237744"/>
          </a:xfrm>
          <a:prstGeom prst="rect">
            <a:avLst/>
          </a:prstGeom>
        </p:spPr>
      </p:pic>
      <p:sp>
        <p:nvSpPr>
          <p:cNvPr id="12" name="TextBox 11"/>
          <p:cNvSpPr txBox="1"/>
          <p:nvPr/>
        </p:nvSpPr>
        <p:spPr>
          <a:xfrm>
            <a:off x="1399031" y="202311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242566"/>
            <a:ext cx="9987991" cy="682752"/>
          </a:xfrm>
          <a:prstGeom prst="rect">
            <a:avLst/>
          </a:prstGeom>
          <a:noFill/>
        </p:spPr>
        <p:txBody>
          <a:bodyPr wrap="square" anchor="t" lIns="0" rIns="0" tIns="0" bIns="0">
            <a:spAutoFit/>
          </a:bodyPr>
          <a:lstStyle/>
          <a:p>
            <a:r>
              <a:rPr sz="1500" b="0" i="0">
                <a:solidFill>
                  <a:srgbClr val="FFFFFF"/>
                </a:solidFill>
                <a:latin typeface="Calibri"/>
              </a:rPr>
              <a:t>"Booked includes orders we cancelled and orders that came back. Do it again on what was delivered and stayed delivered, and tell me whether your answer survives." Anand Iyer, finance controller</a:t>
            </a:r>
          </a:p>
        </p:txBody>
      </p:sp>
      <p:sp>
        <p:nvSpPr>
          <p:cNvPr id="14" name="Rounded Rectangle 13"/>
          <p:cNvSpPr/>
          <p:nvPr/>
        </p:nvSpPr>
        <p:spPr>
          <a:xfrm>
            <a:off x="530352" y="316306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9107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81934"/>
            <a:ext cx="10564063" cy="3581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before the board sees the answer: one that fails on delivered gets restated.</a:t>
            </a:r>
          </a:p>
        </p:txBody>
      </p:sp>
      <p:sp>
        <p:nvSpPr>
          <p:cNvPr id="17" name="TextBox 16"/>
          <p:cNvSpPr txBox="1"/>
          <p:nvPr/>
        </p:nvSpPr>
        <p:spPr>
          <a:xfrm>
            <a:off x="530352" y="3832098"/>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8" name="TextBox 17"/>
          <p:cNvSpPr txBox="1"/>
          <p:nvPr/>
        </p:nvSpPr>
        <p:spPr>
          <a:xfrm>
            <a:off x="1097280" y="3868674"/>
            <a:ext cx="10564063" cy="368808"/>
          </a:xfrm>
          <a:prstGeom prst="rect">
            <a:avLst/>
          </a:prstGeom>
          <a:noFill/>
        </p:spPr>
        <p:txBody>
          <a:bodyPr wrap="square" anchor="t" lIns="0" rIns="0" tIns="0" bIns="0">
            <a:spAutoFit/>
          </a:bodyPr>
          <a:lstStyle/>
          <a:p>
            <a:r>
              <a:rPr sz="1500" b="1" i="0">
                <a:solidFill>
                  <a:srgbClr val="1A1440"/>
                </a:solidFill>
                <a:latin typeface="Calibri"/>
              </a:rPr>
              <a:t>The delivered leaves.</a:t>
            </a:r>
            <a:r>
              <a:rPr sz="1500" b="0" i="0">
                <a:solidFill>
                  <a:srgbClr val="1A1440"/>
                </a:solidFill>
                <a:latin typeface="Calibri"/>
              </a:rPr>
              <a:t> Count orders, customers by id and orders per customer on delivered orders.</a:t>
            </a:r>
          </a:p>
        </p:txBody>
      </p:sp>
      <p:sp>
        <p:nvSpPr>
          <p:cNvPr id="19" name="TextBox 18"/>
          <p:cNvSpPr txBox="1"/>
          <p:nvPr/>
        </p:nvSpPr>
        <p:spPr>
          <a:xfrm>
            <a:off x="530352" y="4274058"/>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20" name="TextBox 19"/>
          <p:cNvSpPr txBox="1"/>
          <p:nvPr/>
        </p:nvSpPr>
        <p:spPr>
          <a:xfrm>
            <a:off x="1097280" y="4310634"/>
            <a:ext cx="10564063" cy="368808"/>
          </a:xfrm>
          <a:prstGeom prst="rect">
            <a:avLst/>
          </a:prstGeom>
          <a:noFill/>
        </p:spPr>
        <p:txBody>
          <a:bodyPr wrap="square" anchor="t" lIns="0" rIns="0" tIns="0" bIns="0">
            <a:spAutoFit/>
          </a:bodyPr>
          <a:lstStyle/>
          <a:p>
            <a:r>
              <a:rPr sz="1500" b="1" i="0">
                <a:solidFill>
                  <a:srgbClr val="1A1440"/>
                </a:solidFill>
                <a:latin typeface="Calibri"/>
              </a:rPr>
              <a:t>The typical delivered order.</a:t>
            </a:r>
            <a:r>
              <a:rPr sz="1500" b="0" i="0">
                <a:solidFill>
                  <a:srgbClr val="1A1440"/>
                </a:solidFill>
                <a:latin typeface="Calibri"/>
              </a:rPr>
              <a:t> Find the mean, the median of an odd count and the orders above the mean.</a:t>
            </a:r>
          </a:p>
        </p:txBody>
      </p:sp>
      <p:sp>
        <p:nvSpPr>
          <p:cNvPr id="21" name="TextBox 20"/>
          <p:cNvSpPr txBox="1"/>
          <p:nvPr/>
        </p:nvSpPr>
        <p:spPr>
          <a:xfrm>
            <a:off x="530352" y="4716018"/>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22" name="TextBox 21"/>
          <p:cNvSpPr txBox="1"/>
          <p:nvPr/>
        </p:nvSpPr>
        <p:spPr>
          <a:xfrm>
            <a:off x="1097280" y="4752594"/>
            <a:ext cx="10564063" cy="368808"/>
          </a:xfrm>
          <a:prstGeom prst="rect">
            <a:avLst/>
          </a:prstGeom>
          <a:noFill/>
        </p:spPr>
        <p:txBody>
          <a:bodyPr wrap="square" anchor="t" lIns="0" rIns="0" tIns="0" bIns="0">
            <a:spAutoFit/>
          </a:bodyPr>
          <a:lstStyle/>
          <a:p>
            <a:r>
              <a:rPr sz="1500" b="1" i="0">
                <a:solidFill>
                  <a:srgbClr val="1A1440"/>
                </a:solidFill>
                <a:latin typeface="Calibri"/>
              </a:rPr>
              <a:t>The plan and the discount.</a:t>
            </a:r>
            <a:r>
              <a:rPr sz="1500" b="0" i="0">
                <a:solidFill>
                  <a:srgbClr val="1A1440"/>
                </a:solidFill>
                <a:latin typeface="Calibri"/>
              </a:rPr>
              <a:t> Size the plan on delivered revenue and price the discount through the tree.</a:t>
            </a:r>
          </a:p>
        </p:txBody>
      </p:sp>
      <p:sp>
        <p:nvSpPr>
          <p:cNvPr id="23" name="TextBox 22"/>
          <p:cNvSpPr txBox="1"/>
          <p:nvPr/>
        </p:nvSpPr>
        <p:spPr>
          <a:xfrm>
            <a:off x="530352" y="5157978"/>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24" name="TextBox 23"/>
          <p:cNvSpPr txBox="1"/>
          <p:nvPr/>
        </p:nvSpPr>
        <p:spPr>
          <a:xfrm>
            <a:off x="1097280" y="5194554"/>
            <a:ext cx="10564063" cy="368808"/>
          </a:xfrm>
          <a:prstGeom prst="rect">
            <a:avLst/>
          </a:prstGeom>
          <a:noFill/>
        </p:spPr>
        <p:txBody>
          <a:bodyPr wrap="square" anchor="t" lIns="0" rIns="0" tIns="0" bIns="0">
            <a:spAutoFit/>
          </a:bodyPr>
          <a:lstStyle/>
          <a:p>
            <a:r>
              <a:rPr sz="1500" b="1" i="0">
                <a:solidFill>
                  <a:srgbClr val="1A1440"/>
                </a:solidFill>
                <a:latin typeface="Calibri"/>
              </a:rPr>
              <a:t>The branch.</a:t>
            </a:r>
            <a:r>
              <a:rPr sz="1500" b="0" i="0">
                <a:solidFill>
                  <a:srgbClr val="1A1440"/>
                </a:solidFill>
                <a:latin typeface="Calibri"/>
              </a:rPr>
              <a:t> Hold back one-time buyers too recent to judge, then pick the branch and the headline.</a:t>
            </a:r>
          </a:p>
        </p:txBody>
      </p:sp>
      <p:sp>
        <p:nvSpPr>
          <p:cNvPr id="25" name="TextBox 24"/>
          <p:cNvSpPr txBox="1"/>
          <p:nvPr/>
        </p:nvSpPr>
        <p:spPr>
          <a:xfrm>
            <a:off x="530352" y="5599938"/>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26" name="TextBox 25"/>
          <p:cNvSpPr txBox="1"/>
          <p:nvPr/>
        </p:nvSpPr>
        <p:spPr>
          <a:xfrm>
            <a:off x="1097280" y="5636514"/>
            <a:ext cx="10564063" cy="368808"/>
          </a:xfrm>
          <a:prstGeom prst="rect">
            <a:avLst/>
          </a:prstGeom>
          <a:noFill/>
        </p:spPr>
        <p:txBody>
          <a:bodyPr wrap="square" anchor="t" lIns="0" rIns="0" tIns="0" bIns="0">
            <a:spAutoFit/>
          </a:bodyPr>
          <a:lstStyle/>
          <a:p>
            <a:r>
              <a:rPr sz="1500" b="1" i="0">
                <a:solidFill>
                  <a:srgbClr val="1A1440"/>
                </a:solidFill>
                <a:latin typeface="Calibri"/>
              </a:rPr>
              <a:t>The sentence.</a:t>
            </a:r>
            <a:r>
              <a:rPr sz="1500" b="0" i="0">
                <a:solidFill>
                  <a:srgbClr val="1A1440"/>
                </a:solidFill>
                <a:latin typeface="Calibri"/>
              </a:rPr>
              <a:t> Write chapter 6's four parts on delivered orders, with what held.</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9" name="Oval 2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1" name="Oval 30"/>
          <p:cNvSpPr/>
          <p:nvPr/>
        </p:nvSpPr>
        <p:spPr>
          <a:xfrm>
            <a:off x="32295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33927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Does the branch survive</a:t>
            </a:r>
          </a:p>
        </p:txBody>
      </p:sp>
      <p:sp>
        <p:nvSpPr>
          <p:cNvPr id="33" name="Oval 32"/>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5" name="Oval 34"/>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7" name="Oval 36"/>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9" name="Oval 38"/>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Post the brief's lines, your sentence and your picks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post, and how long does each part take?</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1 AND 2</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Rebuild the delivered leaves and find the delivered median.</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3 AND 4</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Size the plan on delivered revenue, price the discount and apply the window's edge.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6 minutes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Write the sentence, and one line on what moved and what held.</a:t>
            </a:r>
          </a:p>
        </p:txBody>
      </p:sp>
      <p:sp>
        <p:nvSpPr>
          <p:cNvPr id="25" name="TextBox 24"/>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alone in the escalated case brief and its notebook, with no hints, and run every check before you post.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0" name="Oval 29"/>
          <p:cNvSpPr/>
          <p:nvPr/>
        </p:nvSpPr>
        <p:spPr>
          <a:xfrm>
            <a:off x="32295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33927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Does the branch survive</a:t>
            </a:r>
          </a:p>
        </p:txBody>
      </p:sp>
      <p:sp>
        <p:nvSpPr>
          <p:cNvPr id="32" name="Oval 31"/>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4" name="Oval 3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6" name="Oval 35"/>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8" name="Oval 37"/>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B</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numbers hold up</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of the day's six plausible numbers would you sign, and which check catches each?</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37 / 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of these six numbers would you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plausible numbers survives its check?</a:t>
            </a:r>
          </a:p>
        </p:txBody>
      </p:sp>
      <p:sp>
        <p:nvSpPr>
          <p:cNvPr id="9" name="TextBox 8"/>
          <p:cNvSpPr txBox="1"/>
          <p:nvPr/>
        </p:nvSpPr>
        <p:spPr>
          <a:xfrm>
            <a:off x="53035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5,44,810</a:t>
            </a:r>
          </a:p>
        </p:txBody>
      </p:sp>
      <p:sp>
        <p:nvSpPr>
          <p:cNvPr id="10" name="TextBox 9"/>
          <p:cNvSpPr txBox="1"/>
          <p:nvPr/>
        </p:nvSpPr>
        <p:spPr>
          <a:xfrm>
            <a:off x="53035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SALES</a:t>
            </a:r>
          </a:p>
        </p:txBody>
      </p:sp>
      <p:sp>
        <p:nvSpPr>
          <p:cNvPr id="11" name="TextBox 10"/>
          <p:cNvSpPr txBox="1"/>
          <p:nvPr/>
        </p:nvSpPr>
        <p:spPr>
          <a:xfrm>
            <a:off x="53035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all 30 orders summed</a:t>
            </a:r>
          </a:p>
        </p:txBody>
      </p:sp>
      <p:sp>
        <p:nvSpPr>
          <p:cNvPr id="12" name="Rectangle 11"/>
          <p:cNvSpPr/>
          <p:nvPr/>
        </p:nvSpPr>
        <p:spPr>
          <a:xfrm>
            <a:off x="53035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3123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25,943</a:t>
            </a:r>
          </a:p>
        </p:txBody>
      </p:sp>
      <p:sp>
        <p:nvSpPr>
          <p:cNvPr id="14" name="TextBox 13"/>
          <p:cNvSpPr txBox="1"/>
          <p:nvPr/>
        </p:nvSpPr>
        <p:spPr>
          <a:xfrm>
            <a:off x="243123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AOV</a:t>
            </a:r>
          </a:p>
        </p:txBody>
      </p:sp>
      <p:sp>
        <p:nvSpPr>
          <p:cNvPr id="15" name="TextBox 14"/>
          <p:cNvSpPr txBox="1"/>
          <p:nvPr/>
        </p:nvSpPr>
        <p:spPr>
          <a:xfrm>
            <a:off x="2431237"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6" name="Rectangle 15"/>
          <p:cNvSpPr/>
          <p:nvPr/>
        </p:nvSpPr>
        <p:spPr>
          <a:xfrm>
            <a:off x="243123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3212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1.00</a:t>
            </a:r>
          </a:p>
        </p:txBody>
      </p:sp>
      <p:sp>
        <p:nvSpPr>
          <p:cNvPr id="18" name="TextBox 17"/>
          <p:cNvSpPr txBox="1"/>
          <p:nvPr/>
        </p:nvSpPr>
        <p:spPr>
          <a:xfrm>
            <a:off x="433212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9" name="TextBox 18"/>
          <p:cNvSpPr txBox="1"/>
          <p:nvPr/>
        </p:nvSpPr>
        <p:spPr>
          <a:xfrm>
            <a:off x="433212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30 orders / 30 rows</a:t>
            </a:r>
          </a:p>
        </p:txBody>
      </p:sp>
      <p:sp>
        <p:nvSpPr>
          <p:cNvPr id="20" name="Rectangle 19"/>
          <p:cNvSpPr/>
          <p:nvPr/>
        </p:nvSpPr>
        <p:spPr>
          <a:xfrm>
            <a:off x="433212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3300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18,160</a:t>
            </a:r>
          </a:p>
        </p:txBody>
      </p:sp>
      <p:sp>
        <p:nvSpPr>
          <p:cNvPr id="22" name="TextBox 21"/>
          <p:cNvSpPr txBox="1"/>
          <p:nvPr/>
        </p:nvSpPr>
        <p:spPr>
          <a:xfrm>
            <a:off x="623300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TYPICAL ORDER</a:t>
            </a:r>
          </a:p>
        </p:txBody>
      </p:sp>
      <p:sp>
        <p:nvSpPr>
          <p:cNvPr id="23" name="TextBox 22"/>
          <p:cNvSpPr txBox="1"/>
          <p:nvPr/>
        </p:nvSpPr>
        <p:spPr>
          <a:xfrm>
            <a:off x="6233007"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revenue / orders</a:t>
            </a:r>
          </a:p>
        </p:txBody>
      </p:sp>
      <p:sp>
        <p:nvSpPr>
          <p:cNvPr id="24" name="Rectangle 23"/>
          <p:cNvSpPr/>
          <p:nvPr/>
        </p:nvSpPr>
        <p:spPr>
          <a:xfrm>
            <a:off x="623300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3389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20%</a:t>
            </a:r>
          </a:p>
        </p:txBody>
      </p:sp>
      <p:sp>
        <p:nvSpPr>
          <p:cNvPr id="26" name="TextBox 25"/>
          <p:cNvSpPr txBox="1"/>
          <p:nvPr/>
        </p:nvSpPr>
        <p:spPr>
          <a:xfrm>
            <a:off x="813389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GROWTH</a:t>
            </a:r>
          </a:p>
        </p:txBody>
      </p:sp>
      <p:sp>
        <p:nvSpPr>
          <p:cNvPr id="27" name="TextBox 26"/>
          <p:cNvSpPr txBox="1"/>
          <p:nvPr/>
        </p:nvSpPr>
        <p:spPr>
          <a:xfrm>
            <a:off x="8133892"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two 10 percent lifts, added</a:t>
            </a:r>
          </a:p>
        </p:txBody>
      </p:sp>
      <p:sp>
        <p:nvSpPr>
          <p:cNvPr id="28" name="Rectangle 27"/>
          <p:cNvSpPr/>
          <p:nvPr/>
        </p:nvSpPr>
        <p:spPr>
          <a:xfrm>
            <a:off x="813389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034778"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70%</a:t>
            </a:r>
          </a:p>
        </p:txBody>
      </p:sp>
      <p:sp>
        <p:nvSpPr>
          <p:cNvPr id="30" name="TextBox 29"/>
          <p:cNvSpPr txBox="1"/>
          <p:nvPr/>
        </p:nvSpPr>
        <p:spPr>
          <a:xfrm>
            <a:off x="10034778"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CUSTOMERS LOST</a:t>
            </a:r>
          </a:p>
        </p:txBody>
      </p:sp>
      <p:sp>
        <p:nvSpPr>
          <p:cNvPr id="31" name="TextBox 30"/>
          <p:cNvSpPr txBox="1"/>
          <p:nvPr/>
        </p:nvSpPr>
        <p:spPr>
          <a:xfrm>
            <a:off x="10034778"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16 of 23 bought once</a:t>
            </a:r>
          </a:p>
        </p:txBody>
      </p:sp>
      <p:sp>
        <p:nvSpPr>
          <p:cNvPr id="32" name="Rectangle 31"/>
          <p:cNvSpPr/>
          <p:nvPr/>
        </p:nvSpPr>
        <p:spPr>
          <a:xfrm>
            <a:off x="10034778"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Which would you sign as written: a) all six, since each came from the file; b) only the sales total; c) only the growth figure; d) none of the six?</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6" name="Oval 3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8" name="Oval 37"/>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40" name="Oval 39"/>
          <p:cNvSpPr/>
          <p:nvPr/>
        </p:nvSpPr>
        <p:spPr>
          <a:xfrm>
            <a:off x="47631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8728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numbers hold up</a:t>
            </a:r>
          </a:p>
        </p:txBody>
      </p:sp>
      <p:sp>
        <p:nvSpPr>
          <p:cNvPr id="42" name="Oval 41"/>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44" name="Oval 43"/>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46" name="Oval 45"/>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of the six survives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each number, and what goes to Meera instead?</a:t>
            </a:r>
          </a:p>
        </p:txBody>
      </p:sp>
      <p:graphicFrame>
        <p:nvGraphicFramePr>
          <p:cNvPr id="9" name="Table 8"/>
          <p:cNvGraphicFramePr>
            <a:graphicFrameLocks noGrp="1"/>
          </p:cNvGraphicFramePr>
          <p:nvPr/>
        </p:nvGraphicFramePr>
        <p:xfrm>
          <a:off x="530352" y="1921256"/>
          <a:ext cx="11130990" cy="4039616"/>
        </p:xfrm>
        <a:graphic>
          <a:graphicData uri="http://schemas.openxmlformats.org/drawingml/2006/table">
            <a:tbl>
              <a:tblPr firstRow="0" bandRow="0">
                <a:tableStyleId>{2D5ABB26-0587-4C30-8999-92F81FD0307C}</a:tableStyleId>
              </a:tblPr>
              <a:tblGrid>
                <a:gridCol w="1751534"/>
                <a:gridCol w="4646620"/>
                <a:gridCol w="4732836"/>
              </a:tblGrid>
              <a:tr h="369824">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c>
                  <a:txBody>
                    <a:bodyPr/>
                    <a:lstStyle/>
                    <a:p>
                      <a:r>
                        <a:rPr sz="1450" b="1" i="0">
                          <a:solidFill>
                            <a:srgbClr val="FFFFFF"/>
                          </a:solidFill>
                          <a:latin typeface="Calibri"/>
                        </a:rPr>
                        <a:t>What to report</a:t>
                      </a:r>
                    </a:p>
                  </a:txBody>
                  <a:tcPr marL="101600" marR="101600" marT="38100" marB="38100" anchor="ctr">
                    <a:solidFill>
                      <a:srgbClr val="1A0F5C"/>
                    </a:solidFill>
                  </a:tcPr>
                </a:tc>
              </a:tr>
              <a:tr h="611632">
                <a:tc>
                  <a:txBody>
                    <a:bodyPr/>
                    <a:lstStyle/>
                    <a:p>
                      <a:r>
                        <a:rPr sz="1400" b="0" i="0">
                          <a:solidFill>
                            <a:srgbClr val="1A1440"/>
                          </a:solidFill>
                          <a:latin typeface="Calibri"/>
                        </a:rPr>
                        <a:t>Rs 5,44,810 as sales</a:t>
                      </a:r>
                    </a:p>
                  </a:txBody>
                  <a:tcPr marL="101600" marR="101600" marT="38100" marB="38100" anchor="ctr">
                    <a:solidFill>
                      <a:srgbClr val="FFFFFF"/>
                    </a:solidFill>
                  </a:tcPr>
                </a:tc>
                <a:tc>
                  <a:txBody>
                    <a:bodyPr/>
                    <a:lstStyle/>
                    <a:p>
                      <a:r>
                        <a:rPr sz="1400" b="0" i="0">
                          <a:solidFill>
                            <a:srgbClr val="1A1440"/>
                          </a:solidFill>
                          <a:latin typeface="Calibri"/>
                        </a:rPr>
                        <a:t>Count orders by status before summing.</a:t>
                      </a:r>
                    </a:p>
                  </a:txBody>
                  <a:tcPr marL="101600" marR="101600" marT="38100" marB="38100" anchor="ctr">
                    <a:solidFill>
                      <a:srgbClr val="FFFFFF"/>
                    </a:solidFill>
                  </a:tcPr>
                </a:tc>
                <a:tc>
                  <a:txBody>
                    <a:bodyPr/>
                    <a:lstStyle/>
                    <a:p>
                      <a:r>
                        <a:rPr sz="1400" b="0" i="0">
                          <a:solidFill>
                            <a:srgbClr val="1A1440"/>
                          </a:solidFill>
                          <a:latin typeface="Calibri"/>
                        </a:rPr>
                        <a:t>Each total goes out named, with the bridge: Rs 9,050 cancelled, Rs 14,970 returned.</a:t>
                      </a:r>
                    </a:p>
                  </a:txBody>
                  <a:tcPr marL="101600" marR="101600" marT="38100" marB="38100" anchor="ctr">
                    <a:solidFill>
                      <a:srgbClr val="FFFFFF"/>
                    </a:solidFill>
                  </a:tcPr>
                </a:tc>
              </a:tr>
              <a:tr h="611632">
                <a:tc>
                  <a:txBody>
                    <a:bodyPr/>
                    <a:lstStyle/>
                    <a:p>
                      <a:r>
                        <a:rPr sz="1400" b="0" i="0">
                          <a:solidFill>
                            <a:srgbClr val="1A1440"/>
                          </a:solidFill>
                          <a:latin typeface="Calibri"/>
                        </a:rPr>
                        <a:t>Rs 25,943 AOV</a:t>
                      </a:r>
                    </a:p>
                  </a:txBody>
                  <a:tcPr marL="101600" marR="101600" marT="38100" marB="38100" anchor="ctr">
                    <a:solidFill>
                      <a:srgbClr val="F4F2FA"/>
                    </a:solidFill>
                  </a:tcPr>
                </a:tc>
                <a:tc>
                  <a:txBody>
                    <a:bodyPr/>
                    <a:lstStyle/>
                    <a:p>
                      <a:r>
                        <a:rPr sz="1400" b="0" i="0">
                          <a:solidFill>
                            <a:srgbClr val="1A1440"/>
                          </a:solidFill>
                          <a:latin typeface="Calibri"/>
                        </a:rPr>
                        <a:t>AOV x the 30 orders the revenue covers must give it back.</a:t>
                      </a:r>
                    </a:p>
                  </a:txBody>
                  <a:tcPr marL="101600" marR="101600" marT="38100" marB="38100" anchor="ctr">
                    <a:solidFill>
                      <a:srgbClr val="F4F2FA"/>
                    </a:solidFill>
                  </a:tcPr>
                </a:tc>
                <a:tc>
                  <a:txBody>
                    <a:bodyPr/>
                    <a:lstStyle/>
                    <a:p>
                      <a:r>
                        <a:rPr sz="1400" b="0" i="0">
                          <a:solidFill>
                            <a:srgbClr val="1A1440"/>
                          </a:solidFill>
                          <a:latin typeface="Calibri"/>
                        </a:rPr>
                        <a:t>Rs 18,160 booked or Rs 24,800 delivered, each named, is the AOV.</a:t>
                      </a:r>
                    </a:p>
                  </a:txBody>
                  <a:tcPr marL="101600" marR="101600" marT="38100" marB="38100" anchor="ctr">
                    <a:solidFill>
                      <a:srgbClr val="F4F2FA"/>
                    </a:solidFill>
                  </a:tcPr>
                </a:tc>
              </a:tr>
              <a:tr h="611632">
                <a:tc>
                  <a:txBody>
                    <a:bodyPr/>
                    <a:lstStyle/>
                    <a:p>
                      <a:r>
                        <a:rPr sz="1400" b="0" i="0">
                          <a:solidFill>
                            <a:srgbClr val="1A1440"/>
                          </a:solidFill>
                          <a:latin typeface="Calibri"/>
                        </a:rPr>
                        <a:t>1.00 orders each</a:t>
                      </a:r>
                    </a:p>
                  </a:txBody>
                  <a:tcPr marL="101600" marR="101600" marT="38100" marB="38100" anchor="ctr">
                    <a:solidFill>
                      <a:srgbClr val="FFFFFF"/>
                    </a:solidFill>
                  </a:tcPr>
                </a:tc>
                <a:tc>
                  <a:txBody>
                    <a:bodyPr/>
                    <a:lstStyle/>
                    <a:p>
                      <a:r>
                        <a:rPr sz="1400" b="0" i="0">
                          <a:solidFill>
                            <a:srgbClr val="1A1440"/>
                          </a:solidFill>
                          <a:latin typeface="Calibri"/>
                        </a:rPr>
                        <a:t>Compare rows with distinct ids: 30 against 23.</a:t>
                      </a:r>
                    </a:p>
                  </a:txBody>
                  <a:tcPr marL="101600" marR="101600" marT="38100" marB="38100" anchor="ctr">
                    <a:solidFill>
                      <a:srgbClr val="FFFFFF"/>
                    </a:solidFill>
                  </a:tcPr>
                </a:tc>
                <a:tc>
                  <a:txBody>
                    <a:bodyPr/>
                    <a:lstStyle/>
                    <a:p>
                      <a:r>
                        <a:rPr sz="1400" b="0" i="0">
                          <a:solidFill>
                            <a:srgbClr val="1A1440"/>
                          </a:solidFill>
                          <a:latin typeface="Calibri"/>
                        </a:rPr>
                        <a:t>Kalpa has 1.30 orders per customer, and 7 came back.</a:t>
                      </a:r>
                    </a:p>
                  </a:txBody>
                  <a:tcPr marL="101600" marR="101600" marT="38100" marB="38100" anchor="ctr">
                    <a:solidFill>
                      <a:srgbClr val="FFFFFF"/>
                    </a:solidFill>
                  </a:tcPr>
                </a:tc>
              </a:tr>
              <a:tr h="611632">
                <a:tc>
                  <a:txBody>
                    <a:bodyPr/>
                    <a:lstStyle/>
                    <a:p>
                      <a:r>
                        <a:rPr sz="1400" b="0" i="0">
                          <a:solidFill>
                            <a:srgbClr val="1A1440"/>
                          </a:solidFill>
                          <a:latin typeface="Calibri"/>
                        </a:rPr>
                        <a:t>Rs 18,160 typical</a:t>
                      </a:r>
                    </a:p>
                  </a:txBody>
                  <a:tcPr marL="101600" marR="101600" marT="38100" marB="38100" anchor="ctr">
                    <a:solidFill>
                      <a:srgbClr val="F4F2FA"/>
                    </a:solidFill>
                  </a:tcPr>
                </a:tc>
                <a:tc>
                  <a:txBody>
                    <a:bodyPr/>
                    <a:lstStyle/>
                    <a:p>
                      <a:r>
                        <a:rPr sz="1400" b="0" i="0">
                          <a:solidFill>
                            <a:srgbClr val="1A1440"/>
                          </a:solidFill>
                          <a:latin typeface="Calibri"/>
                        </a:rPr>
                        <a:t>Count orders above the mean: 1 of 30.</a:t>
                      </a:r>
                    </a:p>
                  </a:txBody>
                  <a:tcPr marL="101600" marR="101600" marT="38100" marB="38100" anchor="ctr">
                    <a:solidFill>
                      <a:srgbClr val="F4F2FA"/>
                    </a:solidFill>
                  </a:tcPr>
                </a:tc>
                <a:tc>
                  <a:txBody>
                    <a:bodyPr/>
                    <a:lstStyle/>
                    <a:p>
                      <a:r>
                        <a:rPr sz="1400" b="0" i="0">
                          <a:solidFill>
                            <a:srgbClr val="1A1440"/>
                          </a:solidFill>
                          <a:latin typeface="Calibri"/>
                        </a:rPr>
                        <a:t>The median, Rs 2,205, is the typical order.</a:t>
                      </a:r>
                    </a:p>
                  </a:txBody>
                  <a:tcPr marL="101600" marR="101600" marT="38100" marB="38100" anchor="ctr">
                    <a:solidFill>
                      <a:srgbClr val="F4F2FA"/>
                    </a:solidFill>
                  </a:tcPr>
                </a:tc>
              </a:tr>
              <a:tr h="611632">
                <a:tc>
                  <a:txBody>
                    <a:bodyPr/>
                    <a:lstStyle/>
                    <a:p>
                      <a:r>
                        <a:rPr sz="1400" b="0" i="0">
                          <a:solidFill>
                            <a:srgbClr val="1A1440"/>
                          </a:solidFill>
                          <a:latin typeface="Calibri"/>
                        </a:rPr>
                        <a:t>20 percent growth</a:t>
                      </a:r>
                    </a:p>
                  </a:txBody>
                  <a:tcPr marL="101600" marR="101600" marT="38100" marB="38100" anchor="ctr">
                    <a:solidFill>
                      <a:srgbClr val="FFFFFF"/>
                    </a:solidFill>
                  </a:tcPr>
                </a:tc>
                <a:tc>
                  <a:txBody>
                    <a:bodyPr/>
                    <a:lstStyle/>
                    <a:p>
                      <a:r>
                        <a:rPr sz="1400" b="0" i="0">
                          <a:solidFill>
                            <a:srgbClr val="1A1440"/>
                          </a:solidFill>
                          <a:latin typeface="Calibri"/>
                        </a:rPr>
                        <a:t>Recompute through the tree: 1.10 x 1.10.</a:t>
                      </a:r>
                    </a:p>
                  </a:txBody>
                  <a:tcPr marL="101600" marR="101600" marT="38100" marB="38100" anchor="ctr">
                    <a:solidFill>
                      <a:srgbClr val="FFFFFF"/>
                    </a:solidFill>
                  </a:tcPr>
                </a:tc>
                <a:tc>
                  <a:txBody>
                    <a:bodyPr/>
                    <a:lstStyle/>
                    <a:p>
                      <a:r>
                        <a:rPr sz="1400" b="0" i="0">
                          <a:solidFill>
                            <a:srgbClr val="1A1440"/>
                          </a:solidFill>
                          <a:latin typeface="Calibri"/>
                        </a:rPr>
                        <a:t>Growth is 21 percent, Rs 78,420 on the consumer view.</a:t>
                      </a:r>
                    </a:p>
                  </a:txBody>
                  <a:tcPr marL="101600" marR="101600" marT="38100" marB="38100" anchor="ctr">
                    <a:solidFill>
                      <a:srgbClr val="FFFFFF"/>
                    </a:solidFill>
                  </a:tcPr>
                </a:tc>
              </a:tr>
              <a:tr h="611632">
                <a:tc>
                  <a:txBody>
                    <a:bodyPr/>
                    <a:lstStyle/>
                    <a:p>
                      <a:r>
                        <a:rPr sz="1400" b="0" i="0">
                          <a:solidFill>
                            <a:srgbClr val="1A1440"/>
                          </a:solidFill>
                          <a:latin typeface="Calibri"/>
                        </a:rPr>
                        <a:t>70 percent lost</a:t>
                      </a:r>
                    </a:p>
                  </a:txBody>
                  <a:tcPr marL="101600" marR="101600" marT="38100" marB="38100" anchor="ctr">
                    <a:solidFill>
                      <a:srgbClr val="F4F2FA"/>
                    </a:solidFill>
                  </a:tcPr>
                </a:tc>
                <a:tc>
                  <a:txBody>
                    <a:bodyPr/>
                    <a:lstStyle/>
                    <a:p>
                      <a:r>
                        <a:rPr sz="1400" b="0" i="0">
                          <a:solidFill>
                            <a:srgbClr val="1A1440"/>
                          </a:solidFill>
                          <a:latin typeface="Calibri"/>
                        </a:rPr>
                        <a:t>Hold back buyers inside the 45-day gap.</a:t>
                      </a:r>
                    </a:p>
                  </a:txBody>
                  <a:tcPr marL="101600" marR="101600" marT="38100" marB="38100" anchor="ctr">
                    <a:solidFill>
                      <a:srgbClr val="F4F2FA"/>
                    </a:solidFill>
                  </a:tcPr>
                </a:tc>
                <a:tc>
                  <a:txBody>
                    <a:bodyPr/>
                    <a:lstStyle/>
                    <a:p>
                      <a:r>
                        <a:rPr sz="1400" b="0" i="0">
                          <a:solidFill>
                            <a:srgbClr val="1A1440"/>
                          </a:solidFill>
                          <a:latin typeface="Calibri"/>
                        </a:rPr>
                        <a:t>7 came back, 7 are past the usual gap and 9 are too recent.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6" name="Oval 15"/>
          <p:cNvSpPr/>
          <p:nvPr/>
        </p:nvSpPr>
        <p:spPr>
          <a:xfrm>
            <a:off x="47631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8728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numbers hold up</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0" name="Oval 19"/>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2" name="Oval 21"/>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54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C</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revenue come from</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does revenue come from, by customer type and channel, and does it change the branch?</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40 / 54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Pairs split revenue by channel, type and status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and how do the pairs answer it?</a:t>
            </a:r>
          </a:p>
        </p:txBody>
      </p:sp>
      <p:sp>
        <p:nvSpPr>
          <p:cNvPr id="9" name="Rounded Rectangle 8"/>
          <p:cNvSpPr/>
          <p:nvPr/>
        </p:nvSpPr>
        <p:spPr>
          <a:xfrm>
            <a:off x="530352" y="187680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090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18766"/>
            <a:ext cx="237744" cy="237744"/>
          </a:xfrm>
          <a:prstGeom prst="rect">
            <a:avLst/>
          </a:prstGeom>
        </p:spPr>
      </p:pic>
      <p:sp>
        <p:nvSpPr>
          <p:cNvPr id="12" name="TextBox 11"/>
          <p:cNvSpPr txBox="1"/>
          <p:nvPr/>
        </p:nvSpPr>
        <p:spPr>
          <a:xfrm>
            <a:off x="1399031" y="202311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242566"/>
            <a:ext cx="9987991" cy="682752"/>
          </a:xfrm>
          <a:prstGeom prst="rect">
            <a:avLst/>
          </a:prstGeom>
          <a:noFill/>
        </p:spPr>
        <p:txBody>
          <a:bodyPr wrap="square" anchor="t" lIns="0" rIns="0" tIns="0" bIns="0">
            <a:spAutoFit/>
          </a:bodyPr>
          <a:lstStyle/>
          <a:p>
            <a:r>
              <a:rPr sz="1500" b="0" i="0">
                <a:solidFill>
                  <a:srgbClr val="FFFFFF"/>
                </a:solidFill>
                <a:latin typeface="Calibri"/>
              </a:rPr>
              <a:t>"Where does revenue come from, by customer type and channel? The store team says they carry the business. Should the growth plan be store-led?"</a:t>
            </a:r>
          </a:p>
        </p:txBody>
      </p:sp>
      <p:sp>
        <p:nvSpPr>
          <p:cNvPr id="14" name="Rounded Rectangle 13"/>
          <p:cNvSpPr/>
          <p:nvPr/>
        </p:nvSpPr>
        <p:spPr>
          <a:xfrm>
            <a:off x="530352" y="316306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9107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81934"/>
            <a:ext cx="10564063" cy="3581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before she makes the plan store-led: a misread share funds the wrong channel.</a:t>
            </a:r>
          </a:p>
        </p:txBody>
      </p:sp>
      <p:sp>
        <p:nvSpPr>
          <p:cNvPr id="17" name="Rectangle 16"/>
          <p:cNvSpPr/>
          <p:nvPr/>
        </p:nvSpPr>
        <p:spPr>
          <a:xfrm>
            <a:off x="1381734" y="4435602"/>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0352"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9" name="Oval 18"/>
          <p:cNvSpPr/>
          <p:nvPr/>
        </p:nvSpPr>
        <p:spPr>
          <a:xfrm>
            <a:off x="1281150"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530352"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4944"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By channel</a:t>
            </a:r>
          </a:p>
        </p:txBody>
      </p:sp>
      <p:sp>
        <p:nvSpPr>
          <p:cNvPr id="22" name="TextBox 21"/>
          <p:cNvSpPr txBox="1"/>
          <p:nvPr/>
        </p:nvSpPr>
        <p:spPr>
          <a:xfrm>
            <a:off x="694944"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Find each channel's share of booked revenue.</a:t>
            </a:r>
          </a:p>
        </p:txBody>
      </p:sp>
      <p:sp>
        <p:nvSpPr>
          <p:cNvPr id="23" name="TextBox 22"/>
          <p:cNvSpPr txBox="1"/>
          <p:nvPr/>
        </p:nvSpPr>
        <p:spPr>
          <a:xfrm>
            <a:off x="2415997"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24" name="Oval 23"/>
          <p:cNvSpPr/>
          <p:nvPr/>
        </p:nvSpPr>
        <p:spPr>
          <a:xfrm>
            <a:off x="3166795"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2415997"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580589"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Behind a share</a:t>
            </a:r>
          </a:p>
        </p:txBody>
      </p:sp>
      <p:sp>
        <p:nvSpPr>
          <p:cNvPr id="27" name="TextBox 26"/>
          <p:cNvSpPr txBox="1"/>
          <p:nvPr/>
        </p:nvSpPr>
        <p:spPr>
          <a:xfrm>
            <a:off x="2580589"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Count the orders by status in each channel.</a:t>
            </a:r>
          </a:p>
        </p:txBody>
      </p:sp>
      <p:sp>
        <p:nvSpPr>
          <p:cNvPr id="28" name="TextBox 27"/>
          <p:cNvSpPr txBox="1"/>
          <p:nvPr/>
        </p:nvSpPr>
        <p:spPr>
          <a:xfrm>
            <a:off x="4301642"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9" name="Oval 28"/>
          <p:cNvSpPr/>
          <p:nvPr/>
        </p:nvSpPr>
        <p:spPr>
          <a:xfrm>
            <a:off x="5052441"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4301642"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466234"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Consumer view</a:t>
            </a:r>
          </a:p>
        </p:txBody>
      </p:sp>
      <p:sp>
        <p:nvSpPr>
          <p:cNvPr id="32" name="TextBox 31"/>
          <p:cNvSpPr txBox="1"/>
          <p:nvPr/>
        </p:nvSpPr>
        <p:spPr>
          <a:xfrm>
            <a:off x="4466234"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Recompute the channels on the three consumer segments.</a:t>
            </a:r>
          </a:p>
        </p:txBody>
      </p:sp>
      <p:sp>
        <p:nvSpPr>
          <p:cNvPr id="33" name="TextBox 32"/>
          <p:cNvSpPr txBox="1"/>
          <p:nvPr/>
        </p:nvSpPr>
        <p:spPr>
          <a:xfrm>
            <a:off x="6187287"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34" name="Oval 33"/>
          <p:cNvSpPr/>
          <p:nvPr/>
        </p:nvSpPr>
        <p:spPr>
          <a:xfrm>
            <a:off x="6938086"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187287"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51879"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By status</a:t>
            </a:r>
          </a:p>
        </p:txBody>
      </p:sp>
      <p:sp>
        <p:nvSpPr>
          <p:cNvPr id="37" name="TextBox 36"/>
          <p:cNvSpPr txBox="1"/>
          <p:nvPr/>
        </p:nvSpPr>
        <p:spPr>
          <a:xfrm>
            <a:off x="6351879"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Split what each channel booked, kept and lost.</a:t>
            </a:r>
          </a:p>
        </p:txBody>
      </p:sp>
      <p:sp>
        <p:nvSpPr>
          <p:cNvPr id="38" name="TextBox 37"/>
          <p:cNvSpPr txBox="1"/>
          <p:nvPr/>
        </p:nvSpPr>
        <p:spPr>
          <a:xfrm>
            <a:off x="8072932"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5</a:t>
            </a:r>
          </a:p>
        </p:txBody>
      </p:sp>
      <p:sp>
        <p:nvSpPr>
          <p:cNvPr id="39" name="Oval 38"/>
          <p:cNvSpPr/>
          <p:nvPr/>
        </p:nvSpPr>
        <p:spPr>
          <a:xfrm>
            <a:off x="8823731"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8072932"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237524"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By type</a:t>
            </a:r>
          </a:p>
        </p:txBody>
      </p:sp>
      <p:sp>
        <p:nvSpPr>
          <p:cNvPr id="42" name="TextBox 41"/>
          <p:cNvSpPr txBox="1"/>
          <p:nvPr/>
        </p:nvSpPr>
        <p:spPr>
          <a:xfrm>
            <a:off x="8237524"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Add up revenue for each consumer segment.</a:t>
            </a:r>
          </a:p>
        </p:txBody>
      </p:sp>
      <p:sp>
        <p:nvSpPr>
          <p:cNvPr id="43" name="TextBox 42"/>
          <p:cNvSpPr txBox="1"/>
          <p:nvPr/>
        </p:nvSpPr>
        <p:spPr>
          <a:xfrm>
            <a:off x="9958578"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6</a:t>
            </a:r>
          </a:p>
        </p:txBody>
      </p:sp>
      <p:sp>
        <p:nvSpPr>
          <p:cNvPr id="44" name="Oval 43"/>
          <p:cNvSpPr/>
          <p:nvPr/>
        </p:nvSpPr>
        <p:spPr>
          <a:xfrm>
            <a:off x="10709376" y="4344162"/>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ounded Rectangle 44"/>
          <p:cNvSpPr/>
          <p:nvPr/>
        </p:nvSpPr>
        <p:spPr>
          <a:xfrm>
            <a:off x="9958578" y="4755642"/>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0123170" y="4901946"/>
            <a:ext cx="1373581" cy="251205"/>
          </a:xfrm>
          <a:prstGeom prst="rect">
            <a:avLst/>
          </a:prstGeom>
          <a:noFill/>
        </p:spPr>
        <p:txBody>
          <a:bodyPr wrap="square" anchor="t" lIns="0" rIns="0" tIns="0" bIns="0">
            <a:spAutoFit/>
          </a:bodyPr>
          <a:lstStyle/>
          <a:p>
            <a:pPr algn="l"/>
            <a:r>
              <a:rPr sz="1300" b="1" i="0">
                <a:solidFill>
                  <a:srgbClr val="FFFFFF"/>
                </a:solidFill>
                <a:latin typeface="Calibri"/>
              </a:rPr>
              <a:t>The branch</a:t>
            </a:r>
          </a:p>
        </p:txBody>
      </p:sp>
      <p:sp>
        <p:nvSpPr>
          <p:cNvPr id="47" name="TextBox 46"/>
          <p:cNvSpPr txBox="1"/>
          <p:nvPr/>
        </p:nvSpPr>
        <p:spPr>
          <a:xfrm>
            <a:off x="10123170" y="5189728"/>
            <a:ext cx="1373581" cy="531876"/>
          </a:xfrm>
          <a:prstGeom prst="rect">
            <a:avLst/>
          </a:prstGeom>
          <a:noFill/>
        </p:spPr>
        <p:txBody>
          <a:bodyPr wrap="square" anchor="t" lIns="0" rIns="0" tIns="0" bIns="0">
            <a:spAutoFit/>
          </a:bodyPr>
          <a:lstStyle/>
          <a:p>
            <a:pPr algn="l"/>
            <a:r>
              <a:rPr sz="1000" b="0" i="0">
                <a:solidFill>
                  <a:srgbClr val="CFC9EE"/>
                </a:solidFill>
                <a:latin typeface="Calibri"/>
              </a:rPr>
              <a:t>Decide whether the channel view moves it.</a:t>
            </a:r>
          </a:p>
        </p:txBody>
      </p:sp>
      <p:sp>
        <p:nvSpPr>
          <p:cNvPr id="48" name="Oval 4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50" name="Oval 4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52" name="Oval 51"/>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54" name="Oval 53"/>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56" name="Oval 55"/>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3145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58" name="Oval 57"/>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60" name="Oval 59"/>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62" name="TextBox 6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41 / 54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growth store-led at 91.6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store's share of booked revenue make the plan store-led?</a:t>
            </a:r>
          </a:p>
        </p:txBody>
      </p:sp>
      <p:pic>
        <p:nvPicPr>
          <p:cNvPr id="9" name="mermaid diagram" descr="4ebffec6a896cb91.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Choose one: a) yes, store carries nine rupees in ten; b) not yet, count the orders behind each share first; c) yes, and taking out the cancelled store orders changes little; d) no, app and web hold twenty of the thirty orders.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7" name="Oval 1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21" name="Oval 2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3" name="Oval 2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42 /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the consumer view store holds 29.2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store's share once the view keeps the plan's three segments?</a:t>
            </a:r>
          </a:p>
        </p:txBody>
      </p:sp>
      <p:pic>
        <p:nvPicPr>
          <p:cNvPr id="9" name="mermaid diagram" descr="d8b527a24d61bbd1.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Store's share falls from 91.6 to 29.2 percent once the view keeps the three consumer segments Meera's plan concerns, so its headline share came from outside those segments: store holds Rs 18,920 of the view's Rs 64,810, and web leads with Rs 27,290.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7" name="Oval 1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21" name="Oval 2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3" name="Oval 2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43 / 54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Web books the most, and more than half is returned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splitting each channel by status add?</a:t>
            </a:r>
          </a:p>
        </p:txBody>
      </p:sp>
      <p:pic>
        <p:nvPicPr>
          <p:cNvPr id="9" name="mermaid diagram" descr="f370961bb6e89c18.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Web booked Rs 27,290, and customers returned Rs 14,970 of it. Store kept Rs 9,870 after Rs 9,050 of cancellations, and app kept every rupee of its Rs 18,600.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7" name="Oval 1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21" name="Oval 2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3" name="Oval 2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44 / 54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stays first, with two leaks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channel view change the branch Meera opens first?</a:t>
            </a:r>
          </a:p>
        </p:txBody>
      </p:sp>
      <p:pic>
        <p:nvPicPr>
          <p:cNvPr id="9" name="mermaid diagram" descr="d644ead71be64554.png"/>
          <p:cNvPicPr>
            <a:picLocks noChangeAspect="1"/>
          </p:cNvPicPr>
          <p:nvPr/>
        </p:nvPicPr>
        <p:blipFill>
          <a:blip r:embed="rId7"/>
          <a:stretch>
            <a:fillRect/>
          </a:stretch>
        </p:blipFill>
        <p:spPr>
          <a:xfrm>
            <a:off x="651802" y="2583751"/>
            <a:ext cx="4543425" cy="2714625"/>
          </a:xfrm>
          <a:prstGeom prst="rect">
            <a:avLst/>
          </a:prstGeom>
        </p:spPr>
      </p:pic>
      <p:sp>
        <p:nvSpPr>
          <p:cNvPr id="10" name="TextBox 9"/>
          <p:cNvSpPr txBox="1"/>
          <p:nvPr/>
        </p:nvSpPr>
        <p:spPr>
          <a:xfrm>
            <a:off x="5761917" y="1956816"/>
            <a:ext cx="5899425" cy="812800"/>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The branch stays where chapter 5 put it.</a:t>
            </a:r>
          </a:p>
          <a:p>
            <a:pPr>
              <a:spcAft>
                <a:spcPts val="700"/>
              </a:spcAft>
            </a:pPr>
            <a:r>
              <a:rPr sz="1400" b="0" i="0">
                <a:solidFill>
                  <a:srgbClr val="1A1440"/>
                </a:solidFill>
                <a:latin typeface="Calibri"/>
              </a:rPr>
              <a:t>The note gains two leaks, and Tuesday tests whether either grew.</a:t>
            </a:r>
          </a:p>
        </p:txBody>
      </p:sp>
      <p:sp>
        <p:nvSpPr>
          <p:cNvPr id="11" name="Rounded Rectangle 10"/>
          <p:cNvSpPr/>
          <p:nvPr/>
        </p:nvSpPr>
        <p:spPr>
          <a:xfrm>
            <a:off x="5761917" y="2897632"/>
            <a:ext cx="5899425" cy="150164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90517" y="3419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5"/>
          <a:stretch>
            <a:fillRect/>
          </a:stretch>
        </p:blipFill>
        <p:spPr>
          <a:xfrm>
            <a:off x="6100245" y="3529584"/>
            <a:ext cx="237744" cy="237744"/>
          </a:xfrm>
          <a:prstGeom prst="rect">
            <a:avLst/>
          </a:prstGeom>
        </p:spPr>
      </p:pic>
      <p:sp>
        <p:nvSpPr>
          <p:cNvPr id="14" name="TextBox 13"/>
          <p:cNvSpPr txBox="1"/>
          <p:nvPr/>
        </p:nvSpPr>
        <p:spPr>
          <a:xfrm>
            <a:off x="6630597" y="3043936"/>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6630597" y="3263392"/>
            <a:ext cx="4756425" cy="1062736"/>
          </a:xfrm>
          <a:prstGeom prst="rect">
            <a:avLst/>
          </a:prstGeom>
          <a:noFill/>
        </p:spPr>
        <p:txBody>
          <a:bodyPr wrap="square" anchor="t" lIns="0" rIns="0" tIns="0" bIns="0">
            <a:spAutoFit/>
          </a:bodyPr>
          <a:lstStyle/>
          <a:p>
            <a:r>
              <a:rPr sz="1300" b="0" i="0">
                <a:solidFill>
                  <a:srgbClr val="1A1440"/>
                </a:solidFill>
                <a:latin typeface="Calibri"/>
              </a:rPr>
              <a:t>"Count the orders behind a share before you show it, and keep the segments the plan is about. Split each channel by status, and the 91.6 percent headline leaves the branch where it was and adds two leaks to the note."</a:t>
            </a:r>
          </a:p>
        </p:txBody>
      </p:sp>
      <p:sp>
        <p:nvSpPr>
          <p:cNvPr id="16" name="Rounded Rectangle 15"/>
          <p:cNvSpPr/>
          <p:nvPr/>
        </p:nvSpPr>
        <p:spPr>
          <a:xfrm>
            <a:off x="5761917" y="4563872"/>
            <a:ext cx="5899425"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90517" y="4861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mic_caee7398c80d.png"/>
          <p:cNvPicPr>
            <a:picLocks noChangeAspect="1"/>
          </p:cNvPicPr>
          <p:nvPr/>
        </p:nvPicPr>
        <p:blipFill>
          <a:blip r:embed="rId6"/>
          <a:stretch>
            <a:fillRect/>
          </a:stretch>
        </p:blipFill>
        <p:spPr>
          <a:xfrm>
            <a:off x="6100245" y="4971288"/>
            <a:ext cx="237744" cy="237744"/>
          </a:xfrm>
          <a:prstGeom prst="rect">
            <a:avLst/>
          </a:prstGeom>
        </p:spPr>
      </p:pic>
      <p:sp>
        <p:nvSpPr>
          <p:cNvPr id="19" name="TextBox 18"/>
          <p:cNvSpPr txBox="1"/>
          <p:nvPr/>
        </p:nvSpPr>
        <p:spPr>
          <a:xfrm>
            <a:off x="6630597" y="4710176"/>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0" name="TextBox 19"/>
          <p:cNvSpPr txBox="1"/>
          <p:nvPr/>
        </p:nvSpPr>
        <p:spPr>
          <a:xfrm>
            <a:off x="6630597" y="4929632"/>
            <a:ext cx="4756425" cy="613664"/>
          </a:xfrm>
          <a:prstGeom prst="rect">
            <a:avLst/>
          </a:prstGeom>
          <a:noFill/>
        </p:spPr>
        <p:txBody>
          <a:bodyPr wrap="square" anchor="t" lIns="0" rIns="0" tIns="0" bIns="0">
            <a:spAutoFit/>
          </a:bodyPr>
          <a:lstStyle/>
          <a:p>
            <a:r>
              <a:rPr sz="1300" b="0" i="0">
                <a:solidFill>
                  <a:srgbClr val="1A1440"/>
                </a:solidFill>
                <a:latin typeface="Calibri"/>
              </a:rPr>
              <a:t>[D] One channel carries nine rupees in ten of revenue; does that change where the growth plan invests?</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5" name="Oval 2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7" name="Oval 2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9" name="Oval 2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145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31" name="Oval 3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3" name="Oval 3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45 / 54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D</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answer the interviewer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the day's twelve interview questions aloud, each in under a minute, with its number?</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54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sales, fractions and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define sales, choose a source and count customers aloud?</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counts as "sales": booked, net of cancellations, or delivered, and which do you give a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How would you decide between summing the file yourself and asking Finance for the number?</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extract shows 30 orders and 30 customers; what do you check before saying nobody comes back?</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A list against a dictionary: when do you reach for each?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6" name="Oval 15"/>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0" name="Oval 19"/>
          <p:cNvSpPr/>
          <p:nvPr/>
        </p:nvSpPr>
        <p:spPr>
          <a:xfrm>
            <a:off x="79684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78152"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Can you answer the interviewer</a:t>
            </a:r>
          </a:p>
        </p:txBody>
      </p:sp>
      <p:sp>
        <p:nvSpPr>
          <p:cNvPr id="22" name="Oval 21"/>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47 / 54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typical order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defend a middle, a payback and a growth figure aloud?</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Mean or median for order value, and why?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middle would you put in a payback model, and what would make you change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business says "grow revenue 15 percent"; how do you turn that into questions data can answer?</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10 percent lift in customers and a 10 percent lift in frequency make 20 percent growth; what is the right number, and when does it matter?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6" name="Oval 15"/>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0" name="Oval 19"/>
          <p:cNvSpPr/>
          <p:nvPr/>
        </p:nvSpPr>
        <p:spPr>
          <a:xfrm>
            <a:off x="79684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78152"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Can you answer the interviewer</a:t>
            </a:r>
          </a:p>
        </p:txBody>
      </p:sp>
      <p:sp>
        <p:nvSpPr>
          <p:cNvPr id="22" name="Oval 21"/>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48 / 54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branch and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recommend a branch and hold it when someone pushes back?</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would you increase sales for an online retailer?</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wants budget for acquisition; what would you check before agreeing it is the right branch, and how would you say no?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 have one quarter of orders and 70 percent of customers bought once; what do you tell the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One channel carries nine rupees in ten of revenue; does that change where the growth plan invests?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6" name="Oval 15"/>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0" name="Oval 19"/>
          <p:cNvSpPr/>
          <p:nvPr/>
        </p:nvSpPr>
        <p:spPr>
          <a:xfrm>
            <a:off x="79684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78152"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Can you answer the interviewer</a:t>
            </a:r>
          </a:p>
        </p:txBody>
      </p:sp>
      <p:sp>
        <p:nvSpPr>
          <p:cNvPr id="22" name="Oval 21"/>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49 / 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E</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Meera hear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 we keep from Monday, what does Meera hear, and what will she ask next?</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50 / 54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replays today's traps,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traps does the room still fall for?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chapter, the tree, a second on customers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RETURN QUESTION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today, in Tuesday's Kahoot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item replays one of today's traps in a new setting, so a wrong tap shows which check has not stuck yet.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4" name="Oval 2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6" name="Oval 2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8" name="Oval 27"/>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0" name="Oval 2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2" name="Oval 31"/>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4" name="Oval 33"/>
          <p:cNvSpPr/>
          <p:nvPr/>
        </p:nvSpPr>
        <p:spPr>
          <a:xfrm>
            <a:off x="98240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93381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does Meera hear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51 / 54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 evidence acquisition is short, so frequency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acquisition even the branch that is short?</a:t>
            </a:r>
          </a:p>
        </p:txBody>
      </p:sp>
      <p:pic>
        <p:nvPicPr>
          <p:cNvPr id="9" name="mermaid diagram" descr="5f37d6e5a8b4682b.png"/>
          <p:cNvPicPr>
            <a:picLocks noChangeAspect="1"/>
          </p:cNvPicPr>
          <p:nvPr/>
        </p:nvPicPr>
        <p:blipFill>
          <a:blip r:embed="rId5"/>
          <a:stretch>
            <a:fillRect/>
          </a:stretch>
        </p:blipFill>
        <p:spPr>
          <a:xfrm>
            <a:off x="4512476" y="1664208"/>
            <a:ext cx="3166742" cy="2748280"/>
          </a:xfrm>
          <a:prstGeom prst="rect">
            <a:avLst/>
          </a:prstGeom>
        </p:spPr>
      </p:pic>
      <p:sp>
        <p:nvSpPr>
          <p:cNvPr id="10" name="Rounded Rectangle 9"/>
          <p:cNvSpPr/>
          <p:nvPr/>
        </p:nvSpPr>
        <p:spPr>
          <a:xfrm>
            <a:off x="530352" y="4458208"/>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4458208"/>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6" name="Oval 1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8" name="Oval 17"/>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2" name="Oval 21"/>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4" name="Oval 23"/>
          <p:cNvSpPr/>
          <p:nvPr/>
        </p:nvSpPr>
        <p:spPr>
          <a:xfrm>
            <a:off x="98240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93381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does Meera hear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52 / 54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chapter's trap leaves one line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habit does each of the day's six traps leave behind?</a:t>
            </a:r>
          </a:p>
        </p:txBody>
      </p:sp>
      <p:sp>
        <p:nvSpPr>
          <p:cNvPr id="9" name="Rounded Rectangle 8"/>
          <p:cNvSpPr/>
          <p:nvPr/>
        </p:nvSpPr>
        <p:spPr>
          <a:xfrm>
            <a:off x="53035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6443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TextBox 10"/>
          <p:cNvSpPr txBox="1"/>
          <p:nvPr/>
        </p:nvSpPr>
        <p:spPr>
          <a:xfrm>
            <a:off x="731519"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2" name="TextBox 11"/>
          <p:cNvSpPr txBox="1"/>
          <p:nvPr/>
        </p:nvSpPr>
        <p:spPr>
          <a:xfrm>
            <a:off x="731519"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Definition</a:t>
            </a:r>
          </a:p>
        </p:txBody>
      </p:sp>
      <p:sp>
        <p:nvSpPr>
          <p:cNvPr id="13" name="TextBox 12"/>
          <p:cNvSpPr txBox="1"/>
          <p:nvPr/>
        </p:nvSpPr>
        <p:spPr>
          <a:xfrm>
            <a:off x="731519"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Name the definition before the number: booked, "not cancelled", or delivered.</a:t>
            </a:r>
          </a:p>
        </p:txBody>
      </p:sp>
      <p:sp>
        <p:nvSpPr>
          <p:cNvPr id="14" name="Rounded Rectangle 13"/>
          <p:cNvSpPr/>
          <p:nvPr/>
        </p:nvSpPr>
        <p:spPr>
          <a:xfrm>
            <a:off x="241599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6" name="TextBox 15"/>
          <p:cNvSpPr txBox="1"/>
          <p:nvPr/>
        </p:nvSpPr>
        <p:spPr>
          <a:xfrm>
            <a:off x="261716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7" name="TextBox 16"/>
          <p:cNvSpPr txBox="1"/>
          <p:nvPr/>
        </p:nvSpPr>
        <p:spPr>
          <a:xfrm>
            <a:off x="261716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One fraction</a:t>
            </a:r>
          </a:p>
        </p:txBody>
      </p:sp>
      <p:sp>
        <p:nvSpPr>
          <p:cNvPr id="18" name="TextBox 17"/>
          <p:cNvSpPr txBox="1"/>
          <p:nvPr/>
        </p:nvSpPr>
        <p:spPr>
          <a:xfrm>
            <a:off x="2617165"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Build every fraction on one definition, and check that it multiplies back.</a:t>
            </a:r>
          </a:p>
        </p:txBody>
      </p:sp>
      <p:sp>
        <p:nvSpPr>
          <p:cNvPr id="19" name="Rounded Rectangle 18"/>
          <p:cNvSpPr/>
          <p:nvPr/>
        </p:nvSpPr>
        <p:spPr>
          <a:xfrm>
            <a:off x="430164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1" name="TextBox 20"/>
          <p:cNvSpPr txBox="1"/>
          <p:nvPr/>
        </p:nvSpPr>
        <p:spPr>
          <a:xfrm>
            <a:off x="450281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2" name="TextBox 21"/>
          <p:cNvSpPr txBox="1"/>
          <p:nvPr/>
        </p:nvSpPr>
        <p:spPr>
          <a:xfrm>
            <a:off x="450281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Customers</a:t>
            </a:r>
          </a:p>
        </p:txBody>
      </p:sp>
      <p:sp>
        <p:nvSpPr>
          <p:cNvPr id="23" name="TextBox 22"/>
          <p:cNvSpPr txBox="1"/>
          <p:nvPr/>
        </p:nvSpPr>
        <p:spPr>
          <a:xfrm>
            <a:off x="4502810" y="2736596"/>
            <a:ext cx="1300429" cy="581406"/>
          </a:xfrm>
          <a:prstGeom prst="rect">
            <a:avLst/>
          </a:prstGeom>
          <a:noFill/>
        </p:spPr>
        <p:txBody>
          <a:bodyPr wrap="square" anchor="t" lIns="0" rIns="0" tIns="0" bIns="0">
            <a:spAutoFit/>
          </a:bodyPr>
          <a:lstStyle/>
          <a:p>
            <a:pPr algn="l"/>
            <a:r>
              <a:rPr sz="1100" b="0" i="0">
                <a:solidFill>
                  <a:srgbClr val="6B6690"/>
                </a:solidFill>
                <a:latin typeface="Calibri"/>
              </a:rPr>
              <a:t>Count customers by their id, never by the rows.</a:t>
            </a:r>
          </a:p>
        </p:txBody>
      </p:sp>
      <p:sp>
        <p:nvSpPr>
          <p:cNvPr id="24" name="Rounded Rectangle 23"/>
          <p:cNvSpPr/>
          <p:nvPr/>
        </p:nvSpPr>
        <p:spPr>
          <a:xfrm>
            <a:off x="618728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26" name="TextBox 25"/>
          <p:cNvSpPr txBox="1"/>
          <p:nvPr/>
        </p:nvSpPr>
        <p:spPr>
          <a:xfrm>
            <a:off x="638845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7" name="TextBox 26"/>
          <p:cNvSpPr txBox="1"/>
          <p:nvPr/>
        </p:nvSpPr>
        <p:spPr>
          <a:xfrm>
            <a:off x="638845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Typical order</a:t>
            </a:r>
          </a:p>
        </p:txBody>
      </p:sp>
      <p:sp>
        <p:nvSpPr>
          <p:cNvPr id="28" name="TextBox 27"/>
          <p:cNvSpPr txBox="1"/>
          <p:nvPr/>
        </p:nvSpPr>
        <p:spPr>
          <a:xfrm>
            <a:off x="6388455"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Report the median when one order can move the mean, and say why.</a:t>
            </a:r>
          </a:p>
        </p:txBody>
      </p:sp>
      <p:sp>
        <p:nvSpPr>
          <p:cNvPr id="29" name="Rounded Rectangle 28"/>
          <p:cNvSpPr/>
          <p:nvPr/>
        </p:nvSpPr>
        <p:spPr>
          <a:xfrm>
            <a:off x="807293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90701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5</a:t>
            </a:r>
          </a:p>
        </p:txBody>
      </p:sp>
      <p:sp>
        <p:nvSpPr>
          <p:cNvPr id="31" name="TextBox 30"/>
          <p:cNvSpPr txBox="1"/>
          <p:nvPr/>
        </p:nvSpPr>
        <p:spPr>
          <a:xfrm>
            <a:off x="827410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32" name="TextBox 31"/>
          <p:cNvSpPr txBox="1"/>
          <p:nvPr/>
        </p:nvSpPr>
        <p:spPr>
          <a:xfrm>
            <a:off x="827410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Lifts</a:t>
            </a:r>
          </a:p>
        </p:txBody>
      </p:sp>
      <p:sp>
        <p:nvSpPr>
          <p:cNvPr id="33" name="TextBox 32"/>
          <p:cNvSpPr txBox="1"/>
          <p:nvPr/>
        </p:nvSpPr>
        <p:spPr>
          <a:xfrm>
            <a:off x="8274100"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Lifts multiply along the tree: two 10 percent lifts make 21 percent.</a:t>
            </a:r>
          </a:p>
        </p:txBody>
      </p:sp>
      <p:sp>
        <p:nvSpPr>
          <p:cNvPr id="34" name="Rounded Rectangle 33"/>
          <p:cNvSpPr/>
          <p:nvPr/>
        </p:nvSpPr>
        <p:spPr>
          <a:xfrm>
            <a:off x="9958578" y="1956816"/>
            <a:ext cx="1702765" cy="21986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6</a:t>
            </a:r>
          </a:p>
        </p:txBody>
      </p:sp>
      <p:sp>
        <p:nvSpPr>
          <p:cNvPr id="36" name="TextBox 35"/>
          <p:cNvSpPr txBox="1"/>
          <p:nvPr/>
        </p:nvSpPr>
        <p:spPr>
          <a:xfrm>
            <a:off x="10159746" y="2157984"/>
            <a:ext cx="130042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37" name="TextBox 36"/>
          <p:cNvSpPr txBox="1"/>
          <p:nvPr/>
        </p:nvSpPr>
        <p:spPr>
          <a:xfrm>
            <a:off x="10159746" y="2395728"/>
            <a:ext cx="1300429" cy="498856"/>
          </a:xfrm>
          <a:prstGeom prst="rect">
            <a:avLst/>
          </a:prstGeom>
          <a:noFill/>
        </p:spPr>
        <p:txBody>
          <a:bodyPr wrap="square" anchor="t" lIns="0" rIns="0" tIns="0" bIns="0">
            <a:spAutoFit/>
          </a:bodyPr>
          <a:lstStyle/>
          <a:p>
            <a:pPr algn="l"/>
            <a:r>
              <a:rPr sz="1400" b="1" i="0">
                <a:solidFill>
                  <a:srgbClr val="FFFFFF"/>
                </a:solidFill>
                <a:latin typeface="Calibri"/>
              </a:rPr>
              <a:t>The window's edge</a:t>
            </a:r>
          </a:p>
        </p:txBody>
      </p:sp>
      <p:sp>
        <p:nvSpPr>
          <p:cNvPr id="38" name="TextBox 37"/>
          <p:cNvSpPr txBox="1"/>
          <p:nvPr/>
        </p:nvSpPr>
        <p:spPr>
          <a:xfrm>
            <a:off x="10159746" y="2967736"/>
            <a:ext cx="1300429" cy="944626"/>
          </a:xfrm>
          <a:prstGeom prst="rect">
            <a:avLst/>
          </a:prstGeom>
          <a:noFill/>
        </p:spPr>
        <p:txBody>
          <a:bodyPr wrap="square" anchor="t" lIns="0" rIns="0" tIns="0" bIns="0">
            <a:spAutoFit/>
          </a:bodyPr>
          <a:lstStyle/>
          <a:p>
            <a:pPr algn="l"/>
            <a:r>
              <a:rPr sz="1100" b="0" i="0">
                <a:solidFill>
                  <a:srgbClr val="CFC9EE"/>
                </a:solidFill>
                <a:latin typeface="Calibri"/>
              </a:rPr>
              <a:t>A one-time buyer is not a lost customer until they have had time to come back.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1" name="Oval 4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3" name="Oval 42"/>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45" name="Oval 44"/>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47" name="Oval 46"/>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49" name="Oval 48"/>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51" name="Oval 50"/>
          <p:cNvSpPr/>
          <p:nvPr/>
        </p:nvSpPr>
        <p:spPr>
          <a:xfrm>
            <a:off x="98240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993381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does Meera hear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Meera asks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once she has read the sentence?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a:t>
            </a:r>
          </a:p>
        </p:txBody>
      </p:sp>
      <p:pic>
        <p:nvPicPr>
          <p:cNvPr id="14" name="mermaid diagram" descr="dd794d6c2d730c58.png"/>
          <p:cNvPicPr>
            <a:picLocks noChangeAspect="1"/>
          </p:cNvPicPr>
          <p:nvPr/>
        </p:nvPicPr>
        <p:blipFill>
          <a:blip r:embed="rId6"/>
          <a:stretch>
            <a:fillRect/>
          </a:stretch>
        </p:blipFill>
        <p:spPr>
          <a:xfrm>
            <a:off x="3266922" y="3243072"/>
            <a:ext cx="5657850" cy="26289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54 / 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