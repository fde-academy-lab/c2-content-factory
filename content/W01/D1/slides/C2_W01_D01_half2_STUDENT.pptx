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(7), the build (5),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Say why the base is the 29: the order at the top of chapter 4's sort carries most</a:t>
            </a:r>
          </a:p>
          <a:p>
            <a:r>
              <a:t>of booked revenue, and no offer repeats it; on booked revenue the plan reads 4.5 orders, but each</a:t>
            </a:r>
          </a:p>
          <a:p>
            <a:r>
              <a:t>would have to be worth the Rs 18,160 mean.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for the right number before the next slide; take letters: 20, 21, 10,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it on the board: Rs 5,44,810 x 1.10 = Rs 5,99,291; x 1.10 again =</a:t>
            </a:r>
          </a:p>
          <a:p>
            <a:r>
              <a:t>Rs 6,59,220.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Bring the parts route to marketing: the lift on the lift has its own line.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value a</a:t>
            </a:r>
          </a:p>
          <a:p>
            <a:r>
              <a:t>first order at the median,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build (4), the trap and the fix (12), the</a:t>
            </a:r>
          </a:p>
          <a:p>
            <a:r>
              <a:t>second route (3),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the number most likely to be misread.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06 builds the draft from variables so no number drifts from the work.</a:t>
            </a:r>
          </a:p>
          <a:p>
            <a:r>
              <a:t>Ask which number in it marketing will reach for first. Most say the 16.</a:t>
            </a:r>
          </a:p>
          <a:p>
            <a:r>
              <a:t>Transition: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of S12's sentence, which is how it</a:t>
            </a:r>
          </a:p>
          <a:p>
            <a:r>
              <a:t>would reach Meera. Take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had time and did</a:t>
            </a:r>
          </a:p>
          <a:p>
            <a:r>
              <a:t>not, 9 are too recent. The gap rests on 7 customers, so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16 is replaced by the split, and the sentence carries no "lost"</a:t>
            </a:r>
          </a:p>
          <a:p>
            <a:r>
              <a:t>and no percentage marketing can recompute. Notebook 06's checks assert each number is in it.</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S18 and S19,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a:t>
            </a:r>
          </a:p>
          <a:p>
            <a:r>
              <a:t>brief's two lines (six letters, then three numbers), the sentence, and the notebook's nine TODO</a:t>
            </a:r>
          </a:p>
          <a:p>
            <a:r>
              <a:t>picks on one more line.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Use the room's own numbers where they match; the slides carry the six every</a:t>
            </a:r>
          </a:p>
          <a:p>
            <a:r>
              <a:t>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answer is d. Walk the rows in the order the room met them. Then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 minutes live if the debrief has time. The keys are in the day sheet and the</a:t>
            </a:r>
          </a:p>
          <a:p>
            <a:r>
              <a:t>solutions, released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S23, 15 in pairs with no slides, then S24 to</a:t>
            </a:r>
          </a:p>
          <a:p>
            <a:r>
              <a:t>S27 as the debrief, about 8 minutes. Do not show S24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a mean, because a payback is a total, taken from the segment the spend targets with bulk</a:t>
            </a:r>
          </a:p>
          <a:p>
            <a:r>
              <a:t>orders set aside; the median sits beside it as the typical order.</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the median first order; frequency first, budget waits for</a:t>
            </a:r>
          </a:p>
          <a:p>
            <a:r>
              <a:t>two quarters.</a:t>
            </a:r>
          </a:p>
          <a:p>
            <a:r>
              <a:t>Seventy percent: bought once in this window is a fact about the window, and churn is a claim about the future;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Hand out the domain card</a:t>
            </a:r>
          </a:p>
          <a:p>
            <a:r>
              <a:t>now, one per learner. Remind the room of the take-home and the pre-read, and that the practice lab</a:t>
            </a:r>
          </a:p>
          <a:p>
            <a:r>
              <a:t>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2.png"/><Relationship Id="rId6"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sentence Meera acts on</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5108067"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92257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909199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sized on the 29 everyday orders</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1" name="Oval 30"/>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3" name="Oval 3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5" name="Oval 34"/>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7" name="Oval 36"/>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9" name="Oval 38"/>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3.3 customers or 4.35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alone, on the 29 everyday orders: Rs 64,810, and Rs 9,722 more.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3.3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4.35 more orders from the same 22</a:t>
                      </a:r>
                    </a:p>
                  </a:txBody>
                  <a:tcPr marL="101600" marR="101600" marT="38100" marB="38100" anchor="ctr">
                    <a:solidFill>
                      <a:srgbClr val="F4F2FA"/>
                    </a:solidFill>
                  </a:tcPr>
                </a:tc>
                <a:tc>
                  <a:txBody>
                    <a:bodyPr/>
                    <a:lstStyle/>
                    <a:p>
                      <a:r>
                        <a:rPr sz="1400" b="0" i="0">
                          <a:solidFill>
                            <a:srgbClr val="1A1440"/>
                          </a:solidFill>
                          <a:latin typeface="Calibri"/>
                        </a:rPr>
                        <a:t>7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335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4 or 5 of the 15 one-time buyers returning once at a typical order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2" name="Oval 21"/>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6,53,772."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6,53,772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5,44,810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6,59,220, Rs 5,448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54,481 each, and the lift on the lift of Rs 5,448.</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05408"/>
                <a:gridCol w="2525582"/>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Booked, this quarter</a:t>
                      </a:r>
                    </a:p>
                  </a:txBody>
                  <a:tcPr marL="101600" marR="101600" marT="38100" marB="38100" anchor="ctr">
                    <a:solidFill>
                      <a:srgbClr val="FFFFFF"/>
                    </a:solidFill>
                  </a:tcPr>
                </a:tc>
                <a:tc>
                  <a:txBody>
                    <a:bodyPr/>
                    <a:lstStyle/>
                    <a:p>
                      <a:r>
                        <a:rPr sz="1400" b="0" i="0">
                          <a:solidFill>
                            <a:srgbClr val="1A1440"/>
                          </a:solidFill>
                          <a:latin typeface="Calibri"/>
                        </a:rPr>
                        <a:t>5,44,810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54,481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54,481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5,448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6,59,220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 Meera acts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build: the first draft of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from the chapters' numbers.</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Kalpa's customers can you call lost: a) about 70 percent, 16 of 23; b) 30 percent, the ones who came back; c) none from this file alone, and some are too recent to judge; d) all the one-time buyers?</a:t>
            </a:r>
          </a:p>
        </p:txBody>
      </p:sp>
      <p:pic>
        <p:nvPicPr>
          <p:cNvPr id="12" name="mermaid diagram" descr="b77885d7ca9306ee.png"/>
          <p:cNvPicPr>
            <a:picLocks noChangeAspect="1"/>
          </p:cNvPicPr>
          <p:nvPr/>
        </p:nvPicPr>
        <p:blipFill>
          <a:blip r:embed="rId5"/>
          <a:stretch>
            <a:fillRect/>
          </a:stretch>
        </p:blipFill>
        <p:spPr>
          <a:xfrm>
            <a:off x="3524097" y="31958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the last 45 days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HAD TIME, NOT BACK</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33" name="Oval 3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with the window's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16 becomes the split: 7 came back, 7 had time, 9 too recent.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have had time and not returned,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3" name="Oval 2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whether the answer holds on the orders that stayed sold.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8" name="Oval 47"/>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50" name="Oval 4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52" name="Oval 5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54" name="Oval 53"/>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6" name="Oval 55"/>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letters and three numbers, one sentence, then the notebook's nine picks.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 which is one value since 21 is odd.</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9" name="Oval 2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1" name="Oval 3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5" name="Oval 3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7" name="Oval 3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0" name="Oval 3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2" name="Oval 41"/>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44" name="Oval 4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6" name="Oval 4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0" cy="3072384"/>
        </p:xfrm>
        <a:graphic>
          <a:graphicData uri="http://schemas.openxmlformats.org/drawingml/2006/table">
            <a:tbl>
              <a:tblPr firstRow="0" bandRow="0">
                <a:tableStyleId>{2D5ABB26-0587-4C30-8999-92F81FD0307C}</a:tableStyleId>
              </a:tblPr>
              <a:tblGrid>
                <a:gridCol w="2006908"/>
                <a:gridCol w="5324098"/>
                <a:gridCol w="3799984"/>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6,59,220.</a:t>
                      </a:r>
                    </a:p>
                  </a:txBody>
                  <a:tcPr marL="101600" marR="101600" marT="38100" marB="38100" anchor="ctr">
                    <a:solidFill>
                      <a:srgbClr val="FFFFFF"/>
                    </a:solidFill>
                  </a:tcPr>
                </a:tc>
              </a:tr>
              <a:tr h="369824">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had time,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escalated case's answer, on delivered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moved and what held when Anand changed the definition.</a:t>
            </a:r>
          </a:p>
        </p:txBody>
      </p:sp>
      <p:graphicFrame>
        <p:nvGraphicFramePr>
          <p:cNvPr id="10" name="Table 9"/>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119142"/>
                <a:gridCol w="3548724"/>
                <a:gridCol w="3548724"/>
                <a:gridCol w="914400"/>
              </a:tblGrid>
              <a:tr h="335280">
                <a:tc>
                  <a:txBody>
                    <a:bodyPr/>
                    <a:lstStyle/>
                    <a:p>
                      <a:r>
                        <a:rPr sz="1250" b="1" i="0">
                          <a:solidFill>
                            <a:srgbClr val="FFFFFF"/>
                          </a:solidFill>
                          <a:latin typeface="Calibri"/>
                        </a:rPr>
                        <a:t>Part</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Held?</a:t>
                      </a:r>
                    </a:p>
                  </a:txBody>
                  <a:tcPr marL="101600" marR="101600" marT="38100" marB="38100" anchor="ctr">
                    <a:solidFill>
                      <a:srgbClr val="1A0F5C"/>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1.30</a:t>
                      </a:r>
                    </a:p>
                  </a:txBody>
                  <a:tcPr marL="101600" marR="101600" marT="38100" marB="38100" anchor="ctr">
                    <a:solidFill>
                      <a:srgbClr val="FFFFFF"/>
                    </a:solidFill>
                  </a:tcPr>
                </a:tc>
                <a:tc>
                  <a:txBody>
                    <a:bodyPr/>
                    <a:lstStyle/>
                    <a:p>
                      <a:r>
                        <a:rPr sz="1200" b="0" i="0">
                          <a:solidFill>
                            <a:srgbClr val="1A1440"/>
                          </a:solidFill>
                          <a:latin typeface="Calibri"/>
                        </a:rPr>
                        <a:t>1.11</a:t>
                      </a:r>
                    </a:p>
                  </a:txBody>
                  <a:tcPr marL="101600" marR="101600" marT="38100" marB="38100" anchor="ctr">
                    <a:solidFill>
                      <a:srgbClr val="FFFFFF"/>
                    </a:solidFill>
                  </a:tcPr>
                </a:tc>
                <a:tc>
                  <a:txBody>
                    <a:bodyPr/>
                    <a:lstStyle/>
                    <a:p>
                      <a:r>
                        <a:rPr sz="1200" b="0" i="0">
                          <a:solidFill>
                            <a:srgbClr val="1A1440"/>
                          </a:solidFill>
                          <a:latin typeface="Calibri"/>
                        </a:rPr>
                        <a:t>It fell.</a:t>
                      </a:r>
                    </a:p>
                  </a:txBody>
                  <a:tcPr marL="101600" marR="101600" marT="38100" marB="38100" anchor="ctr">
                    <a:solidFill>
                      <a:srgbClr val="FFFFFF"/>
                    </a:solidFill>
                  </a:tcPr>
                </a:tc>
              </a:tr>
              <a:tr h="335280">
                <a:tc>
                  <a:txBody>
                    <a:bodyPr/>
                    <a:lstStyle/>
                    <a:p>
                      <a:r>
                        <a:rPr sz="1200" b="0" i="0">
                          <a:solidFill>
                            <a:srgbClr val="1A1440"/>
                          </a:solidFill>
                          <a:latin typeface="Calibri"/>
                        </a:rPr>
                        <a:t>Typical order</a:t>
                      </a:r>
                    </a:p>
                  </a:txBody>
                  <a:tcPr marL="101600" marR="101600" marT="38100" marB="38100" anchor="ctr">
                    <a:solidFill>
                      <a:srgbClr val="F4F2FA"/>
                    </a:solidFill>
                  </a:tcPr>
                </a:tc>
                <a:tc>
                  <a:txBody>
                    <a:bodyPr/>
                    <a:lstStyle/>
                    <a:p>
                      <a:r>
                        <a:rPr sz="1200" b="0" i="0">
                          <a:solidFill>
                            <a:srgbClr val="1A1440"/>
                          </a:solidFill>
                          <a:latin typeface="Calibri"/>
                        </a:rPr>
                        <a:t>Rs 2,205</a:t>
                      </a:r>
                    </a:p>
                  </a:txBody>
                  <a:tcPr marL="101600" marR="101600" marT="38100" marB="38100" anchor="ctr">
                    <a:solidFill>
                      <a:srgbClr val="F4F2FA"/>
                    </a:solidFill>
                  </a:tcPr>
                </a:tc>
                <a:tc>
                  <a:txBody>
                    <a:bodyPr/>
                    <a:lstStyle/>
                    <a:p>
                      <a:r>
                        <a:rPr sz="1200" b="0" i="0">
                          <a:solidFill>
                            <a:srgbClr val="1A1440"/>
                          </a:solidFill>
                          <a:latin typeface="Calibri"/>
                        </a:rPr>
                        <a:t>Rs 2,060</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r h="335280">
                <a:tc>
                  <a:txBody>
                    <a:bodyPr/>
                    <a:lstStyle/>
                    <a:p>
                      <a:r>
                        <a:rPr sz="1200" b="0" i="0">
                          <a:solidFill>
                            <a:srgbClr val="1A1440"/>
                          </a:solidFill>
                          <a:latin typeface="Calibri"/>
                        </a:rPr>
                        <a:t>One-time buyers</a:t>
                      </a:r>
                    </a:p>
                  </a:txBody>
                  <a:tcPr marL="101600" marR="101600" marT="38100" marB="38100" anchor="ctr">
                    <a:solidFill>
                      <a:srgbClr val="FFFFFF"/>
                    </a:solidFill>
                  </a:tcPr>
                </a:tc>
                <a:tc>
                  <a:txBody>
                    <a:bodyPr/>
                    <a:lstStyle/>
                    <a:p>
                      <a:r>
                        <a:rPr sz="1200" b="0" i="0">
                          <a:solidFill>
                            <a:srgbClr val="1A1440"/>
                          </a:solidFill>
                          <a:latin typeface="Calibri"/>
                        </a:rPr>
                        <a:t>16 of 23, 9 too recent</a:t>
                      </a:r>
                    </a:p>
                  </a:txBody>
                  <a:tcPr marL="101600" marR="101600" marT="38100" marB="38100" anchor="ctr">
                    <a:solidFill>
                      <a:srgbClr val="FFFFFF"/>
                    </a:solidFill>
                  </a:tcPr>
                </a:tc>
                <a:tc>
                  <a:txBody>
                    <a:bodyPr/>
                    <a:lstStyle/>
                    <a:p>
                      <a:r>
                        <a:rPr sz="1200" b="0" i="0">
                          <a:solidFill>
                            <a:srgbClr val="1A1440"/>
                          </a:solidFill>
                          <a:latin typeface="Calibri"/>
                        </a:rPr>
                        <a:t>17 of 19, 7 too recent</a:t>
                      </a:r>
                    </a:p>
                  </a:txBody>
                  <a:tcPr marL="101600" marR="101600" marT="38100" marB="38100" anchor="ctr">
                    <a:solidFill>
                      <a:srgbClr val="FFFFFF"/>
                    </a:solidFill>
                  </a:tcPr>
                </a:tc>
                <a:tc>
                  <a:txBody>
                    <a:bodyPr/>
                    <a:lstStyle/>
                    <a:p>
                      <a:r>
                        <a:rPr sz="1200" b="0" i="0">
                          <a:solidFill>
                            <a:srgbClr val="1A1440"/>
                          </a:solidFill>
                          <a:latin typeface="Calibri"/>
                        </a:rPr>
                        <a:t>It held.</a:t>
                      </a:r>
                    </a:p>
                  </a:txBody>
                  <a:tcPr marL="101600" marR="101600" marT="38100" marB="38100" anchor="ctr">
                    <a:solidFill>
                      <a:srgbClr val="FFFFFF"/>
                    </a:solidFill>
                  </a:tcPr>
                </a:tc>
              </a:tr>
              <a:tr h="335280">
                <a:tc>
                  <a:txBody>
                    <a:bodyPr/>
                    <a:lstStyle/>
                    <a:p>
                      <a:r>
                        <a:rPr sz="1200" b="0" i="0">
                          <a:solidFill>
                            <a:srgbClr val="1A1440"/>
                          </a:solidFill>
                          <a:latin typeface="Calibri"/>
                        </a:rPr>
                        <a:t>Branch</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bl>
          </a:graphicData>
        </a:graphic>
      </p:graphicFrame>
      <p:sp>
        <p:nvSpPr>
          <p:cNvPr id="11" name="TextBox 10"/>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delivered view adds a leak to the note: customers come back, and their second orders are the ones cancelled or returned.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0" name="Oval 1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4" name="Oval 2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6" name="Oval 2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8" name="Oval 2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4" name="Oval 3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6" name="Oval 3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consumer orders, web leads and half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came back for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Kahoot is ungraded, and it shows which traps the room still falls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trap, and two more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3" name="Oval 4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5" name="Oval 4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7" name="Oval 4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9" name="Oval 4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1" name="Oval 50"/>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