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(8), the build (4),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for the right number before the next slide; take letters: 20, 21, 10,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Rs 5,44,810 x 1.10 = Rs 5,99,291; x 1.10 again =</a:t>
            </a:r>
          </a:p>
          <a:p>
            <a:r>
              <a:t>Rs 6,59,220.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The parts route wins the argument with the slide.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value a</a:t>
            </a:r>
          </a:p>
          <a:p>
            <a:r>
              <a:t>first order at the median,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trap (10), the build (6), the second route</a:t>
            </a:r>
          </a:p>
          <a:p>
            <a:r>
              <a:t>(3),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the number most likely to be misread.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06 builds the draft from variables so no number drifts from the work.</a:t>
            </a:r>
          </a:p>
          <a:p>
            <a:r>
              <a:t>Ask which number in it marketing will reach for first. Most say the 16.</a:t>
            </a:r>
          </a:p>
          <a:p>
            <a:r>
              <a:t>Transition: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had time and did</a:t>
            </a:r>
          </a:p>
          <a:p>
            <a:r>
              <a:t>not, 9 are too recent. The gap rests on 7 customers, so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16 is replaced by the split, and the sentence carries no "lost"</a:t>
            </a:r>
          </a:p>
          <a:p>
            <a:r>
              <a:t>and no percentage marketing can recompute. Notebook 06's checks assert each number is in it.</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3 to brief on S18 and S19,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brief is exercises/unguided/C2_W01_D01_escalated_case_STUDENT.md and the</a:t>
            </a:r>
          </a:p>
          <a:p>
            <a:r>
              <a:t>notebook is notebooks/C2_W01_D01_ex1_escalated_case_STUDENT.ipynb. Each learner posts nine</a:t>
            </a:r>
          </a:p>
          <a:p>
            <a:r>
              <a:t>letters, the numbers each part asks for, and the sentence.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Use the room's own numbers where they match; the slides carry the six every</a:t>
            </a:r>
          </a:p>
          <a:p>
            <a:r>
              <a:t>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answer is d. Walk the rows in the order the room met them. Then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 minutes live if the debrief has time. The key is cbdcaabbc, in the solution</a:t>
            </a:r>
          </a:p>
          <a:p>
            <a:r>
              <a:t>notebook, released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S23, 15 in pairs with no slides, then S24 to</a:t>
            </a:r>
          </a:p>
          <a:p>
            <a:r>
              <a:t>S27 as the debrief, about 8 minutes. Do not show S24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the median of new customers' first orders; a mean per customer type if the plan targets</a:t>
            </a:r>
          </a:p>
          <a:p>
            <a:r>
              <a:t>types separately.</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the median first order; frequency first, budget waits for</a:t>
            </a:r>
          </a:p>
          <a:p>
            <a:r>
              <a:t>two quarters.</a:t>
            </a:r>
          </a:p>
          <a:p>
            <a:r>
              <a:t>Seventy percent: bought once in this window is a fact and not churn;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Remind the room of the</a:t>
            </a:r>
          </a:p>
          <a:p>
            <a:r>
              <a:t>take-home and the pre-read, and that the practice lab 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2.png"/><Relationship Id="rId6"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sentence Meera acts on</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2257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Rs 81,722 more on this extract</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1" name="Oval 30"/>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3" name="Oval 3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5" name="Oval 34"/>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7" name="Oval 36"/>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9" name="Oval 38"/>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3.45 customers or 4.5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moved alone, sized on this file, with the evidence the file holds for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3.45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4.5 more orders from the same 23</a:t>
                      </a:r>
                    </a:p>
                  </a:txBody>
                  <a:tcPr marL="101600" marR="101600" marT="38100" marB="38100" anchor="ctr">
                    <a:solidFill>
                      <a:srgbClr val="F4F2FA"/>
                    </a:solidFill>
                  </a:tcPr>
                </a:tc>
                <a:tc>
                  <a:txBody>
                    <a:bodyPr/>
                    <a:lstStyle/>
                    <a:p>
                      <a:r>
                        <a:rPr sz="1400" b="0" i="0">
                          <a:solidFill>
                            <a:srgbClr val="1A1440"/>
                          </a:solidFill>
                          <a:latin typeface="Calibri"/>
                        </a:rPr>
                        <a:t>7 of 23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2,724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about 5 of the 16 one-time buyers returning once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2" name="Oval 21"/>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6,53,772."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6,53,772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5,44,810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6,59,220, Rs 5,448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54,481 each, and the lift on the lift of Rs 5,448.</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05408"/>
                <a:gridCol w="2525582"/>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Booked, this quarter</a:t>
                      </a:r>
                    </a:p>
                  </a:txBody>
                  <a:tcPr marL="101600" marR="101600" marT="38100" marB="38100" anchor="ctr">
                    <a:solidFill>
                      <a:srgbClr val="FFFFFF"/>
                    </a:solidFill>
                  </a:tcPr>
                </a:tc>
                <a:tc>
                  <a:txBody>
                    <a:bodyPr/>
                    <a:lstStyle/>
                    <a:p>
                      <a:r>
                        <a:rPr sz="1400" b="0" i="0">
                          <a:solidFill>
                            <a:srgbClr val="1A1440"/>
                          </a:solidFill>
                          <a:latin typeface="Calibri"/>
                        </a:rPr>
                        <a:t>5,44,810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54,481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54,481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5,448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6,59,220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 Meera acts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The cost of cost</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build: the first draft of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from the chapters' numbers.</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16 of 23 bought once. How many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Kalpa's customers can you call lost: a) about 70 percent, 16 of 23; b) 30 percent, the ones who came back; c) none from this file alone, and some are too recent to judge; d) all the one-time buyers?</a:t>
            </a:r>
          </a:p>
        </p:txBody>
      </p:sp>
      <p:pic>
        <p:nvPicPr>
          <p:cNvPr id="12" name="mermaid diagram" descr="b77885d7ca9306ee.png"/>
          <p:cNvPicPr>
            <a:picLocks noChangeAspect="1"/>
          </p:cNvPicPr>
          <p:nvPr/>
        </p:nvPicPr>
        <p:blipFill>
          <a:blip r:embed="rId5"/>
          <a:stretch>
            <a:fillRect/>
          </a:stretch>
        </p:blipFill>
        <p:spPr>
          <a:xfrm>
            <a:off x="3524097" y="31958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the last 45 days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HAD TIME, NOT BACK</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33" name="Oval 3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with the window's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16 becomes the split: 7 came back, 7 had time, 9 too recent.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have had time and not returned,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3" name="Oval 2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recommendation that holds on one definition only is a coincidence.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8" name="Oval 47"/>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50" name="Oval 4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52" name="Oval 5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54" name="Oval 53"/>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6" name="Oval 55"/>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Nine letters, the numbers each part asks for, and one sentence.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 which is one value since 21 is odd.</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9" name="Oval 2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1" name="Oval 3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5" name="Oval 3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7" name="Oval 3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0" name="Oval 3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2" name="Oval 41"/>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44" name="Oval 4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6" name="Oval 4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202003"/>
                <a:gridCol w="4759601"/>
                <a:gridCol w="416938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369824">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369824">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Orders x AOV must land on its own revenue.</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6,59,220.</a:t>
                      </a:r>
                    </a:p>
                  </a:txBody>
                  <a:tcPr marL="101600" marR="101600" marT="38100" marB="38100" anchor="ctr">
                    <a:solidFill>
                      <a:srgbClr val="FFFFFF"/>
                    </a:solidFill>
                  </a:tcPr>
                </a:tc>
              </a:tr>
              <a:tr h="369824">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had time,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escalated case's answer, on delivered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moved and what held when Anand changed the definition.</a:t>
            </a:r>
          </a:p>
        </p:txBody>
      </p:sp>
      <p:graphicFrame>
        <p:nvGraphicFramePr>
          <p:cNvPr id="10" name="Table 9"/>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119142"/>
                <a:gridCol w="3548724"/>
                <a:gridCol w="3548724"/>
                <a:gridCol w="914400"/>
              </a:tblGrid>
              <a:tr h="335280">
                <a:tc>
                  <a:txBody>
                    <a:bodyPr/>
                    <a:lstStyle/>
                    <a:p>
                      <a:r>
                        <a:rPr sz="1250" b="1" i="0">
                          <a:solidFill>
                            <a:srgbClr val="FFFFFF"/>
                          </a:solidFill>
                          <a:latin typeface="Calibri"/>
                        </a:rPr>
                        <a:t>Part</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Held?</a:t>
                      </a:r>
                    </a:p>
                  </a:txBody>
                  <a:tcPr marL="101600" marR="101600" marT="38100" marB="38100" anchor="ctr">
                    <a:solidFill>
                      <a:srgbClr val="1A0F5C"/>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1.30</a:t>
                      </a:r>
                    </a:p>
                  </a:txBody>
                  <a:tcPr marL="101600" marR="101600" marT="38100" marB="38100" anchor="ctr">
                    <a:solidFill>
                      <a:srgbClr val="FFFFFF"/>
                    </a:solidFill>
                  </a:tcPr>
                </a:tc>
                <a:tc>
                  <a:txBody>
                    <a:bodyPr/>
                    <a:lstStyle/>
                    <a:p>
                      <a:r>
                        <a:rPr sz="1200" b="0" i="0">
                          <a:solidFill>
                            <a:srgbClr val="1A1440"/>
                          </a:solidFill>
                          <a:latin typeface="Calibri"/>
                        </a:rPr>
                        <a:t>1.11</a:t>
                      </a:r>
                    </a:p>
                  </a:txBody>
                  <a:tcPr marL="101600" marR="101600" marT="38100" marB="38100" anchor="ctr">
                    <a:solidFill>
                      <a:srgbClr val="FFFFFF"/>
                    </a:solidFill>
                  </a:tcPr>
                </a:tc>
                <a:tc>
                  <a:txBody>
                    <a:bodyPr/>
                    <a:lstStyle/>
                    <a:p>
                      <a:r>
                        <a:rPr sz="1200" b="0" i="0">
                          <a:solidFill>
                            <a:srgbClr val="1A1440"/>
                          </a:solidFill>
                          <a:latin typeface="Calibri"/>
                        </a:rPr>
                        <a:t>It fell.</a:t>
                      </a:r>
                    </a:p>
                  </a:txBody>
                  <a:tcPr marL="101600" marR="101600" marT="38100" marB="38100" anchor="ctr">
                    <a:solidFill>
                      <a:srgbClr val="FFFFFF"/>
                    </a:solidFill>
                  </a:tcPr>
                </a:tc>
              </a:tr>
              <a:tr h="335280">
                <a:tc>
                  <a:txBody>
                    <a:bodyPr/>
                    <a:lstStyle/>
                    <a:p>
                      <a:r>
                        <a:rPr sz="1200" b="0" i="0">
                          <a:solidFill>
                            <a:srgbClr val="1A1440"/>
                          </a:solidFill>
                          <a:latin typeface="Calibri"/>
                        </a:rPr>
                        <a:t>Typical order</a:t>
                      </a:r>
                    </a:p>
                  </a:txBody>
                  <a:tcPr marL="101600" marR="101600" marT="38100" marB="38100" anchor="ctr">
                    <a:solidFill>
                      <a:srgbClr val="F4F2FA"/>
                    </a:solidFill>
                  </a:tcPr>
                </a:tc>
                <a:tc>
                  <a:txBody>
                    <a:bodyPr/>
                    <a:lstStyle/>
                    <a:p>
                      <a:r>
                        <a:rPr sz="1200" b="0" i="0">
                          <a:solidFill>
                            <a:srgbClr val="1A1440"/>
                          </a:solidFill>
                          <a:latin typeface="Calibri"/>
                        </a:rPr>
                        <a:t>Rs 2,205</a:t>
                      </a:r>
                    </a:p>
                  </a:txBody>
                  <a:tcPr marL="101600" marR="101600" marT="38100" marB="38100" anchor="ctr">
                    <a:solidFill>
                      <a:srgbClr val="F4F2FA"/>
                    </a:solidFill>
                  </a:tcPr>
                </a:tc>
                <a:tc>
                  <a:txBody>
                    <a:bodyPr/>
                    <a:lstStyle/>
                    <a:p>
                      <a:r>
                        <a:rPr sz="1200" b="0" i="0">
                          <a:solidFill>
                            <a:srgbClr val="1A1440"/>
                          </a:solidFill>
                          <a:latin typeface="Calibri"/>
                        </a:rPr>
                        <a:t>Rs 2,060</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r h="335280">
                <a:tc>
                  <a:txBody>
                    <a:bodyPr/>
                    <a:lstStyle/>
                    <a:p>
                      <a:r>
                        <a:rPr sz="1200" b="0" i="0">
                          <a:solidFill>
                            <a:srgbClr val="1A1440"/>
                          </a:solidFill>
                          <a:latin typeface="Calibri"/>
                        </a:rPr>
                        <a:t>One-time buyers</a:t>
                      </a:r>
                    </a:p>
                  </a:txBody>
                  <a:tcPr marL="101600" marR="101600" marT="38100" marB="38100" anchor="ctr">
                    <a:solidFill>
                      <a:srgbClr val="FFFFFF"/>
                    </a:solidFill>
                  </a:tcPr>
                </a:tc>
                <a:tc>
                  <a:txBody>
                    <a:bodyPr/>
                    <a:lstStyle/>
                    <a:p>
                      <a:r>
                        <a:rPr sz="1200" b="0" i="0">
                          <a:solidFill>
                            <a:srgbClr val="1A1440"/>
                          </a:solidFill>
                          <a:latin typeface="Calibri"/>
                        </a:rPr>
                        <a:t>16 of 23, 9 too recent</a:t>
                      </a:r>
                    </a:p>
                  </a:txBody>
                  <a:tcPr marL="101600" marR="101600" marT="38100" marB="38100" anchor="ctr">
                    <a:solidFill>
                      <a:srgbClr val="FFFFFF"/>
                    </a:solidFill>
                  </a:tcPr>
                </a:tc>
                <a:tc>
                  <a:txBody>
                    <a:bodyPr/>
                    <a:lstStyle/>
                    <a:p>
                      <a:r>
                        <a:rPr sz="1200" b="0" i="0">
                          <a:solidFill>
                            <a:srgbClr val="1A1440"/>
                          </a:solidFill>
                          <a:latin typeface="Calibri"/>
                        </a:rPr>
                        <a:t>17 of 19, 7 too recent</a:t>
                      </a:r>
                    </a:p>
                  </a:txBody>
                  <a:tcPr marL="101600" marR="101600" marT="38100" marB="38100" anchor="ctr">
                    <a:solidFill>
                      <a:srgbClr val="FFFFFF"/>
                    </a:solidFill>
                  </a:tcPr>
                </a:tc>
                <a:tc>
                  <a:txBody>
                    <a:bodyPr/>
                    <a:lstStyle/>
                    <a:p>
                      <a:r>
                        <a:rPr sz="1200" b="0" i="0">
                          <a:solidFill>
                            <a:srgbClr val="1A1440"/>
                          </a:solidFill>
                          <a:latin typeface="Calibri"/>
                        </a:rPr>
                        <a:t>It held.</a:t>
                      </a:r>
                    </a:p>
                  </a:txBody>
                  <a:tcPr marL="101600" marR="101600" marT="38100" marB="38100" anchor="ctr">
                    <a:solidFill>
                      <a:srgbClr val="FFFFFF"/>
                    </a:solidFill>
                  </a:tcPr>
                </a:tc>
              </a:tr>
              <a:tr h="335280">
                <a:tc>
                  <a:txBody>
                    <a:bodyPr/>
                    <a:lstStyle/>
                    <a:p>
                      <a:r>
                        <a:rPr sz="1200" b="0" i="0">
                          <a:solidFill>
                            <a:srgbClr val="1A1440"/>
                          </a:solidFill>
                          <a:latin typeface="Calibri"/>
                        </a:rPr>
                        <a:t>Branch</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bl>
          </a:graphicData>
        </a:graphic>
      </p:graphicFrame>
      <p:sp>
        <p:nvSpPr>
          <p:cNvPr id="11" name="TextBox 10"/>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delivered view adds a leak to the note: customers come back, and their second orders are the ones cancelled or returned.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0" name="Oval 1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4" name="Oval 2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6" name="Oval 2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8" name="Oval 2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4" name="Oval 3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6" name="Oval 3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consumer orders, web leads and half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came back for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"A share is only as strong as the orders behind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Ungraded: it shows what the day left in the room.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trap, and two more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3" name="Oval 4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5" name="Oval 4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7" name="Oval 4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9" name="Oval 4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1" name="Oval 50"/>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