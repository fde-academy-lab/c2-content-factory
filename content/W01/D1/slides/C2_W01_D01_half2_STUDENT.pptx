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before the clock starts, while the room comes back. Meera's question is the day's question,</a:t>
            </a:r>
          </a:p>
          <a:p>
            <a:r>
              <a:t>and this afternoon answers it in the close. The morning's metric tree is still on the board with its</a:t>
            </a:r>
          </a:p>
          <a:p>
            <a:r>
              <a:t>numbers written in.</a:t>
            </a:r>
          </a:p>
          <a:p>
            <a:r>
              <a:t>Transition: S1, what the morning found.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first two of chapter 5's 30. Read the tree from the root: booked revenue of</a:t>
            </a:r>
          </a:p>
          <a:p>
            <a:r>
              <a:t>Rs 5,44,810 still holds the 4 cancelled store orders, not cancelled is Rs 5,35,760 on 26 orders and</a:t>
            </a:r>
          </a:p>
          <a:p>
            <a:r>
              <a:t>delivered is Rs 5,20,790 on 21. The AOV of Rs 18,160 is booked revenue over the 30 orders it was</a:t>
            </a:r>
          </a:p>
          <a:p>
            <a:r>
              <a:t>summed over, and the median of Rs 2,205 is the number marketing gets as the typical order.</a:t>
            </a:r>
          </a:p>
          <a:p>
            <a:r>
              <a:t>Ask one learner which branch looks weakest on this tree and which number says so. Most point at the</a:t>
            </a:r>
          </a:p>
          <a:p>
            <a:r>
              <a:t>16 customers who bought once, which is where chapter 5 starts.</a:t>
            </a:r>
          </a:p>
          <a:p>
            <a:r>
              <a:t>Transition: section 05, which branch Meera opens first.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minutes, counting S1's two: the map and the need (3), the real company (1), the base (3),</a:t>
            </a:r>
          </a:p>
          <a:p>
            <a:r>
              <a:t>each branch alone (4), the evidence and the call (4), the check (2), the trap (7), the second route</a:t>
            </a:r>
          </a:p>
          <a:p>
            <a:r>
              <a:t>(2) and Kavya's review (2). D15 is self-study. Notebook 05 is the demonstration.</a:t>
            </a:r>
          </a:p>
          <a:p>
            <a:r>
              <a:t>Transition: S2, the chapter's map.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six questions aloud and leave them unanswered; each gets its own slide,</a:t>
            </a:r>
          </a:p>
          <a:p>
            <a:r>
              <a:t>and S16 answers all six in a line each.</a:t>
            </a:r>
          </a:p>
          <a:p>
            <a:r>
              <a:t>Transition: S3, who asks for the branch and what a wrong one costs.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question is now a choice between branches, and a choice needs the cost of each</a:t>
            </a:r>
          </a:p>
          <a:p>
            <a:r>
              <a:t>option beside it. Meera decides, the marketing lead wants the Rs 12 crore for acquisition, and the</a:t>
            </a:r>
          </a:p>
          <a:p>
            <a:r>
              <a:t>head of Retail-Plus runs the paid tier whose members come back most often.</a:t>
            </a:r>
          </a:p>
          <a:p>
            <a:r>
              <a:t>Ask: which of the three loses most if we pick the wrong branch?</a:t>
            </a:r>
          </a:p>
          <a:p>
            <a:r>
              <a:t>Transition: S4, two companies that pay to buy frequency.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companies are real and the prices are their own. Free or faster delivery takes</a:t>
            </a:r>
          </a:p>
          <a:p>
            <a:r>
              <a:t>away a customer's reason to wait and batch purchases, so each member orders more often.</a:t>
            </a:r>
          </a:p>
          <a:p>
            <a:r>
              <a:t>Transition: S5, which orders the plan is sized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Say the rule before any number. The plan's levers, the Rs 12 crore of acquisition,</a:t>
            </a:r>
          </a:p>
          <a:p>
            <a:r>
              <a:t>the retention offers and the Retail-Plus membership, all act on consumers who buy again and again,</a:t>
            </a:r>
          </a:p>
          <a:p>
            <a:r>
              <a:t>so the plan is sized on the three consumer segments, and the code writes that rule once. Booked</a:t>
            </a:r>
          </a:p>
          <a:p>
            <a:r>
              <a:t>revenue still counts every order; the consumer view answers the narrower question the plan asks.</a:t>
            </a:r>
          </a:p>
          <a:p>
            <a:r>
              <a:t>Say the view in rupees. How many orders it keeps is each learner's to find in notebook 05's own cell.</a:t>
            </a:r>
          </a:p>
          <a:p>
            <a:r>
              <a:t>Ask: if the plan were sized on all booked revenue, what would each extra order have to be worth?</a:t>
            </a:r>
          </a:p>
          <a:p>
            <a:r>
              <a:t>The booked mean, Rs 18,160, which chapter 4 showed no typical order is; the consumer view's mean is</a:t>
            </a:r>
          </a:p>
          <a:p>
            <a:r>
              <a:t>Rs 2,235.</a:t>
            </a:r>
          </a:p>
          <a:p>
            <a:r>
              <a:t>Transition: S6, what one branch would have to do alone.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Take letters by hand before the next slide. Many pick b, sharing the plan out across</a:t>
            </a:r>
          </a:p>
          <a:p>
            <a:r>
              <a:t>the three branches as though they added.</a:t>
            </a:r>
          </a:p>
          <a:p>
            <a:r>
              <a:t>Transition: S7, the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Walk the three lines: whichever factor carries the 1.15, the product is revenue</a:t>
            </a:r>
          </a:p>
          <a:p>
            <a:r>
              <a:t>times 1.15. Answer b's reasoning aloud: if all three branches shared the plan, each would need about</a:t>
            </a:r>
          </a:p>
          <a:p>
            <a:r>
              <a:t>4.8 percent, since 1.048 x 1.048 x 1.048 is about 1.15, and three lifts of 5 percent would overshoot</a:t>
            </a:r>
          </a:p>
          <a:p>
            <a:r>
              <a:t>to about 15.8 percent. Every branch is asked for the same Rs 9,722; what differs is what that asks</a:t>
            </a:r>
          </a:p>
          <a:p>
            <a:r>
              <a:t>and of whom, which S8 lays out.</a:t>
            </a:r>
          </a:p>
          <a:p>
            <a:r>
              <a:t>Transition: S8, which branch has evidence behind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Take letters by hand. Some pick c because Rs 335 a basket sounds small; ask them what</a:t>
            </a:r>
          </a:p>
          <a:p>
            <a:r>
              <a:t>in the file would show that a basket can grow.</a:t>
            </a:r>
          </a:p>
          <a:p>
            <a:r>
              <a:t>Transition: S9, the answer and the call.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answer is b. Walk the three boxes. Acquisition may be short, but one quarter</a:t>
            </a:r>
          </a:p>
          <a:p>
            <a:r>
              <a:t>cannot show customers falling; order value and price rest on items and prices the file does not</a:t>
            </a:r>
          </a:p>
          <a:p>
            <a:r>
              <a:t>hold. Frequency has the evidence and the cheapest test: a reorder reminder to the one-time buyers,</a:t>
            </a:r>
          </a:p>
          <a:p>
            <a:r>
              <a:t>against a group held back for comparison. The call has a second switch as well: a retained order</a:t>
            </a:r>
          </a:p>
          <a:p>
            <a:r>
              <a:t>that costs more than winning a new customer.</a:t>
            </a:r>
          </a:p>
          <a:p>
            <a:r>
              <a:t>Ask: which of the two switches could Tuesday's file show?</a:t>
            </a:r>
          </a:p>
          <a:p>
            <a:r>
              <a:t>Transition: S10, whether the frequency ask is within reach.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ask is small: about three in ten of the consumer view's one-time buyers</a:t>
            </a:r>
          </a:p>
          <a:p>
            <a:r>
              <a:t>ordering once more at the consumer mean. Notebook 05's check multiplies it back to the plan. Keep</a:t>
            </a:r>
          </a:p>
          <a:p>
            <a:r>
              <a:t>the count of extra orders in each learner's own notebook and say the ask in rupees and as three in</a:t>
            </a:r>
          </a:p>
          <a:p>
            <a:r>
              <a:t>ten.</a:t>
            </a:r>
          </a:p>
          <a:p>
            <a:r>
              <a:t>Transition: S11, marketing answers with a bigger plan.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Present it confidently, as the marketing lead would. Before the next slide, take</a:t>
            </a:r>
          </a:p>
          <a:p>
            <a:r>
              <a:t>hands for 20, 21, 10 or 11 percent; most rooms say 20.</a:t>
            </a:r>
          </a:p>
          <a:p>
            <a:r>
              <a:t>Transition: S12, the check that catches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Work it on the board on the consumer view: Rs 64,810 x 1.10 = Rs 71,291, and</a:t>
            </a:r>
          </a:p>
          <a:p>
            <a:r>
              <a:t>x 1.10 again is Rs 78,420. At 10 percent the gap is Rs 648; with two 30 percent lifts the tree says</a:t>
            </a:r>
          </a:p>
          <a:p>
            <a:r>
              <a:t>69 percent where addition says 60.</a:t>
            </a:r>
          </a:p>
          <a:p>
            <a:r>
              <a:t>Transition: S13, the fix and what it changes.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What the fix changes: the plan is sized on 21 percent, Rs 78,420, and a discount is</a:t>
            </a:r>
          </a:p>
          <a:p>
            <a:r>
              <a:t>priced through the tree before anyone calls it growth. Marketing's discount comes back in the</a:t>
            </a:r>
          </a:p>
          <a:p>
            <a:r>
              <a:t>escalated case, on delivered orders.</a:t>
            </a:r>
          </a:p>
          <a:p>
            <a:r>
              <a:t>Transition: S14, the same total built from its parts.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Notebook 05 draws this as a bridge and asserts it lands on the multiplied total.</a:t>
            </a:r>
          </a:p>
          <a:p>
            <a:r>
              <a:t>When to switch: multiply the factors for the total, and build the parts when someone asks where the</a:t>
            </a:r>
          </a:p>
          <a:p>
            <a:r>
              <a:t>extra came from. The parts route is the one to bring to marketing, since the lift on the lift has</a:t>
            </a:r>
          </a:p>
          <a:p>
            <a:r>
              <a:t>its own line.</a:t>
            </a:r>
          </a:p>
          <a:p>
            <a:r>
              <a:t>Transition: D15 is self-study, so go to S16, Kavya's review.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3 minutes. The flat line is revenue before the discount and the rising line is revenue</a:t>
            </a:r>
          </a:p>
          <a:p>
            <a:r>
              <a:t>after it. Marketing's 10 percent lift sits well short of the 17.6 percent break-even, which is why</a:t>
            </a:r>
          </a:p>
          <a:p>
            <a:r>
              <a:t>the tree calls the proposal a fall. Notebook 05's depth section draws the same two lines.</a:t>
            </a:r>
          </a:p>
          <a:p>
            <a:r>
              <a:t>Transition: S16, Kavya's review.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One learner answers the interview question aloud in under a minute: count customers</a:t>
            </a:r>
          </a:p>
          <a:p>
            <a:r>
              <a:t>by id and the repeat buyers, price a new customer on the consumer mean of Rs 2,235, ask for the prior</a:t>
            </a:r>
          </a:p>
          <a:p>
            <a:r>
              <a:t>quarter, and say no for now with a date while offering the cheaper frequency test.</a:t>
            </a:r>
          </a:p>
          <a:p>
            <a:r>
              <a:t>Transition: section 06, the sentence Meera signs.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minutes: the map and the need (3), the real company (1), the options (4), the first draft</a:t>
            </a:r>
          </a:p>
          <a:p>
            <a:r>
              <a:t>(6), the trap (8), the fix (3), the second route (3) and Kavya's review (2). D29 is self-study.</a:t>
            </a:r>
          </a:p>
          <a:p>
            <a:r>
              <a:t>Notebook 06 is the demonstration.</a:t>
            </a:r>
          </a:p>
          <a:p>
            <a:r>
              <a:t>Transition: S17, the chapter's map.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six questions aloud and leave them open; S30 answers each in one line.</a:t>
            </a:r>
          </a:p>
          <a:p>
            <a:r>
              <a:t>Transition: S18, who reads the sentence.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Meera will not read six notebooks. Marketing will read the sentence looking for the</a:t>
            </a:r>
          </a:p>
          <a:p>
            <a:r>
              <a:t>number it can recompute into a different story.</a:t>
            </a:r>
          </a:p>
          <a:p>
            <a:r>
              <a:t>Ask: which number from chapter 5 would you least like to defend in front of the marketing lead?</a:t>
            </a:r>
          </a:p>
          <a:p>
            <a:r>
              <a:t>Transition: S19, a real company's first window.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dossier's section 8 tells the full case. One window shows a shape, and the</a:t>
            </a:r>
          </a:p>
          <a:p>
            <a:r>
              <a:t>verdict needs the next window.</a:t>
            </a:r>
          </a:p>
          <a:p>
            <a:r>
              <a:t>Transition: S20, four ways to hand Meera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Walk the four. A is fast and carries nothing, B hands Meera the choice of number,</a:t>
            </a:r>
          </a:p>
          <a:p>
            <a:r>
              <a:t>and D is the right tool once the definitions are settled and the question recurs. What would change</a:t>
            </a:r>
          </a:p>
          <a:p>
            <a:r>
              <a:t>the call: a weekly question, which arrives in Week 2.</a:t>
            </a:r>
          </a:p>
          <a:p>
            <a:r>
              <a:t>Transition: S21, predict the order of the sentence's parts.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Take letters by hand before the next slide.</a:t>
            </a:r>
          </a:p>
          <a:p>
            <a:r>
              <a:t>Transition: S22,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Kavya's order puts the decision where Meera's eye lands last. A sentence that ends</a:t>
            </a:r>
          </a:p>
          <a:p>
            <a:r>
              <a:t>on the caveat reads as doubt, and one that ends on the numbers leaves her to draw the conclusion.</a:t>
            </a:r>
          </a:p>
          <a:p>
            <a:r>
              <a:t>Transition: S23, the first draft built from the chapters' numbers.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Every number in the draft comes from a variable, so the sentence cannot drift from</a:t>
            </a:r>
          </a:p>
          <a:p>
            <a:r>
              <a:t>the work, and notebook 06 checks that the draft carries the customers, the rate and the typical</a:t>
            </a:r>
          </a:p>
          <a:p>
            <a:r>
              <a:t>order.</a:t>
            </a:r>
          </a:p>
          <a:p>
            <a:r>
              <a:t>Ask which number marketing will reach for first. Most say the 16.</a:t>
            </a:r>
          </a:p>
          <a:p>
            <a:r>
              <a:t>Transition: S24, a colleague tightens the draft for the slide.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Present the 70 percent as the colleague's tightened draft, which is how it would</a:t>
            </a:r>
          </a:p>
          <a:p>
            <a:r>
              <a:t>reach Meera. Ask what the marketing lead would ask first; someone should say "how long do our</a:t>
            </a:r>
          </a:p>
          <a:p>
            <a:r>
              <a:t>customers usually take to come back?"</a:t>
            </a:r>
          </a:p>
          <a:p>
            <a:r>
              <a:t>Transition: S25, predict how many of the 16 can be called lost.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Take letters by hand; most pick a.</a:t>
            </a:r>
          </a:p>
          <a:p>
            <a:r>
              <a:t>Transition: S26, the answer and the check that catches the 70 percent.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What 70 percent would mislead: retention looks like an emergency on a number</a:t>
            </a:r>
          </a:p>
          <a:p>
            <a:r>
              <a:t>marketing knocks down in one question. The check measures the usual gap from the customers who did</a:t>
            </a:r>
          </a:p>
          <a:p>
            <a:r>
              <a:t>come back and holds back everyone who has not had that long. An 88-day window only sees gaps</a:t>
            </a:r>
          </a:p>
          <a:p>
            <a:r>
              <a:t>shorter than 88 days, so 45 days is a floor, and more of the 16 may still be on their way back.</a:t>
            </a:r>
          </a:p>
          <a:p>
            <a:r>
              <a:t>Transition: S27, the fix in the sentence Meera signs.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What changed: the split replaces the 16, and the sentence carries no "lost" and no</a:t>
            </a:r>
          </a:p>
          <a:p>
            <a:r>
              <a:t>percentage that marketing can recompute. Notebook 06's checks assert that each number is in the</a:t>
            </a:r>
          </a:p>
          <a:p>
            <a:r>
              <a:t>sentence and that the word lost is not.</a:t>
            </a:r>
          </a:p>
          <a:p>
            <a:r>
              <a:t>Transition: S28, the same split by a second route.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notebook asserts both routes find the same customers. When to switch: count the</a:t>
            </a:r>
          </a:p>
          <a:p>
            <a:r>
              <a:t>days since the order to report today's state, and use due dates to plan follow-ups, since a due date</a:t>
            </a:r>
          </a:p>
          <a:p>
            <a:r>
              <a:t>is the day a reminder would go out. A second quarter measures the gap on more customers, and the</a:t>
            </a:r>
          </a:p>
          <a:p>
            <a:r>
              <a:t>caveat shrinks.</a:t>
            </a:r>
          </a:p>
          <a:p>
            <a:r>
              <a:t>Transition: D29 is self-study, so go to S30, Kavya's review.</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2 minutes. Any count of who has not done something yet is cut short at the end of the</a:t>
            </a:r>
          </a:p>
          <a:p>
            <a:r>
              <a:t>window. The dossier's returns-rate trap is the same edge.</a:t>
            </a:r>
          </a:p>
          <a:p>
            <a:r>
              <a:t>Transition: S30, Kavya's review.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One learner answers aloud in under a minute: 70 percent bought once in this window,</a:t>
            </a:r>
          </a:p>
          <a:p>
            <a:r>
              <a:t>which is a fact about the window, and churn needs orders placed after it closes; returning customers</a:t>
            </a:r>
          </a:p>
          <a:p>
            <a:r>
              <a:t>took a median of 45 days and 9 of the 16 are inside it, so 7 came back, 7 are past the gap and 9 are</a:t>
            </a:r>
          </a:p>
          <a:p>
            <a:r>
              <a:t>too recent, and the prior quarter comes before anyone is called lost.</a:t>
            </a:r>
          </a:p>
          <a:p>
            <a:r>
              <a:t>Transition: section A, Anand pushes back.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35 minutes: 5 to brief on S31 and S32, then 30 alone with S32 on screen. The support TA</a:t>
            </a:r>
          </a:p>
          <a:p>
            <a:r>
              <a:t>answers environment problems only. Collect wrong numbers while circulating, for the debrief.</a:t>
            </a:r>
          </a:p>
          <a:p>
            <a:r>
              <a:t>Transition: S31, Anand's ask.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The brief is exercises/unguided/C2_W01_D01_escalated_case_STUDENT.md and the</a:t>
            </a:r>
          </a:p>
          <a:p>
            <a:r>
              <a:t>notebook is notebooks/C2_W01_D01_ex1_escalated_case_STUDENT.ipynb. Each learner posts the lines the</a:t>
            </a:r>
          </a:p>
          <a:p>
            <a:r>
              <a:t>brief asks for, the sentence, and the notebook's TODO picks on one more line.</a:t>
            </a:r>
          </a:p>
          <a:p>
            <a:r>
              <a:t>Transition: S32, what to post and how long each part takes.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minutes, with this slide on screen while the room works alone. Write down every wrong</a:t>
            </a:r>
          </a:p>
          <a:p>
            <a:r>
              <a:t>number you see; the debrief is built from them.</a:t>
            </a:r>
          </a:p>
          <a:p>
            <a:r>
              <a:t>Transition: section B, the room's wrong answers.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15 minutes: the question 3 and the answer 12. Use the room's own numbers where they match; the</a:t>
            </a:r>
          </a:p>
          <a:p>
            <a:r>
              <a:t>slides carry the six every room produces. A 10-minute break follows.</a:t>
            </a:r>
          </a:p>
          <a:p>
            <a:r>
              <a:t>Transition: S33, the six numbers.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Letters first, then one defender for b: the sales total is a real sum, which is why</a:t>
            </a:r>
          </a:p>
          <a:p>
            <a:r>
              <a:t>it tempts.</a:t>
            </a:r>
          </a:p>
          <a:p>
            <a:r>
              <a:t>Transition: S34, the checks.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12 minutes. The answer is d. Walk the rows in the order the room met them. Then the escalated</a:t>
            </a:r>
          </a:p>
          <a:p>
            <a:r>
              <a:t>case: read what moved and what held on delivered orders from the day sheet's numbers table, and name</a:t>
            </a:r>
          </a:p>
          <a:p>
            <a:r>
              <a:t>the two slips the case adds, a median of an odd count taken as the average of two middles, and</a:t>
            </a:r>
          </a:p>
          <a:p>
            <a:r>
              <a:t>delivered one-time buyers called lost, which the same 45-day edge corrects.</a:t>
            </a:r>
          </a:p>
          <a:p>
            <a:r>
              <a:t>Transition: a 10-minute break, then section C, the second case.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after the break, 25 minutes: 2 to brief on S35, 15 in pairs with no slides, then S36 to S39 as</a:t>
            </a:r>
          </a:p>
          <a:p>
            <a:r>
              <a:t>the debrief, about 8 minutes. Keep S36 off the screen until the pairs have worked.</a:t>
            </a:r>
          </a:p>
          <a:p>
            <a:r>
              <a:t>Transition: S35, Meera's second question.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17 minutes: 2 to brief, then 15 in pairs with no slides. The pairs split by channel and by</a:t>
            </a:r>
          </a:p>
          <a:p>
            <a:r>
              <a:t>status themselves. Segment is recorded on each order, so one repeat customer appears under two</a:t>
            </a:r>
          </a:p>
          <a:p>
            <a:r>
              <a:t>customer types; watch for pairs who count customers per type and add the counts.</a:t>
            </a:r>
          </a:p>
          <a:p>
            <a:r>
              <a:t>Transition: after 15 minutes, S36.</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Expect a from pairs who stopped at the chart. The answer is b.</a:t>
            </a:r>
          </a:p>
          <a:p>
            <a:r>
              <a:t>Transition: S37, the answer.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Booked revenue still counts every order; the consumer view answers the narrower</a:t>
            </a:r>
          </a:p>
          <a:p>
            <a:r>
              <a:t>question the plan asks. Let the pairs say from their own table where the rest of store's booked</a:t>
            </a:r>
          </a:p>
          <a:p>
            <a:r>
              <a:t>revenue sits, and leave the saying to them.</a:t>
            </a:r>
          </a:p>
          <a:p>
            <a:r>
              <a:t>Transition: S38, the consumer channels split by status.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Ask which channel a finance controller would call the healthiest, and why it is app</a:t>
            </a:r>
          </a:p>
          <a:p>
            <a:r>
              <a:t>although web books more.</a:t>
            </a:r>
          </a:p>
          <a:p>
            <a:r>
              <a:t>Transition: S39, whether this changes the branch.</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leaks sit between booked and delivered on every branch; Tuesday tests whether</a:t>
            </a:r>
          </a:p>
          <a:p>
            <a:r>
              <a:t>either grew. One pair answers the interview question aloud: count the orders behind the share, keep</a:t>
            </a:r>
          </a:p>
          <a:p>
            <a:r>
              <a:t>the segments the plan concerns, and say that the branch stays with two leaks named.</a:t>
            </a:r>
          </a:p>
          <a:p>
            <a:r>
              <a:t>Transition: section D, the interview drill.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20 minutes, about 6 or 7 per slide. In pairs, one asks and one answers aloud, then they swap.</a:t>
            </a:r>
          </a:p>
          <a:p>
            <a:r>
              <a:t>The one-breath answers are in each slide's notes, and the full answers in the study notes and the</a:t>
            </a:r>
          </a:p>
          <a:p>
            <a:r>
              <a:t>notebooks. Listen for a number with its definition in every answer.</a:t>
            </a:r>
          </a:p>
          <a:p>
            <a:r>
              <a:t>Transition: S40, the first four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One breath each.</a:t>
            </a:r>
          </a:p>
          <a:p>
            <a:r>
              <a:t>Sales: name all three and give the CEO the one her plan was set on, with the definition beside it.</a:t>
            </a:r>
          </a:p>
          <a:p>
            <a:r>
              <a:t>Sum or Finance: sum by status for a first look, and reconcile to Finance for anything the board sees.</a:t>
            </a:r>
          </a:p>
          <a:p>
            <a:r>
              <a:t>Thirty and thirty: compare rows with distinct ids; the set gives 23, and 7 came back.</a:t>
            </a:r>
          </a:p>
          <a:p>
            <a:r>
              <a:t>List or dictionary: a list keeps order and walks every record, a dictionary counts or looks up by a</a:t>
            </a:r>
          </a:p>
          <a:p>
            <a:r>
              <a:t>key, and records are a list of dictionaries.</a:t>
            </a:r>
          </a:p>
          <a:p>
            <a:r>
              <a:t>Transition: S41, the next four.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One breath each.</a:t>
            </a:r>
          </a:p>
          <a:p>
            <a:r>
              <a:t>Mean or median: the median for a typical order, because one large order drags the mean, and the mean</a:t>
            </a:r>
          </a:p>
          <a:p>
            <a:r>
              <a:t>where a total must multiply back.</a:t>
            </a:r>
          </a:p>
          <a:p>
            <a:r>
              <a:t>Payback: a mean, because a payback is a total, taken over the segments the spend targets, Rs 2,235</a:t>
            </a:r>
          </a:p>
          <a:p>
            <a:r>
              <a:t>on the consumer view, with the median of Rs 2,205 beside it as the typical order.</a:t>
            </a:r>
          </a:p>
          <a:p>
            <a:r>
              <a:t>Grow 15 percent: fix the base and the window, then size what 15 percent asks of each branch alone;</a:t>
            </a:r>
          </a:p>
          <a:p>
            <a:r>
              <a:t>on the consumer view that is Rs 9,722 more, 15 percent more customers or 15 percent more orders from</a:t>
            </a:r>
          </a:p>
          <a:p>
            <a:r>
              <a:t>the same customers.</a:t>
            </a:r>
          </a:p>
          <a:p>
            <a:r>
              <a:t>Two lifts: 1.10 x 1.10 = 1.21, so 21 percent, and the gap grows with the lifts.</a:t>
            </a:r>
          </a:p>
          <a:p>
            <a:r>
              <a:t>Transition: S42, the last four.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One breath each.</a:t>
            </a:r>
          </a:p>
          <a:p>
            <a:r>
              <a:t>Increase sales: draw the tree, measure each branch, and open the one with room to move and the</a:t>
            </a:r>
          </a:p>
          <a:p>
            <a:r>
              <a:t>cheapest bill.</a:t>
            </a:r>
          </a:p>
          <a:p>
            <a:r>
              <a:t>Acquisition budget: count repeat buyers, price a new customer on the consumer mean of Rs 2,235, and</a:t>
            </a:r>
          </a:p>
          <a:p>
            <a:r>
              <a:t>ask for the prior quarter; frequency goes first, and the budget waits for two quarters.</a:t>
            </a:r>
          </a:p>
          <a:p>
            <a:r>
              <a:t>Seventy percent: the file shows who bought once, and churn depends on orders after the window</a:t>
            </a:r>
          </a:p>
          <a:p>
            <a:r>
              <a:t>closes; 9 of the 16 bought inside the 45-day gap.</a:t>
            </a:r>
          </a:p>
          <a:p>
            <a:r>
              <a:t>Nine rupees in ten: count the orders behind the share and keep the segments the plan concerns; on</a:t>
            </a:r>
          </a:p>
          <a:p>
            <a:r>
              <a:t>the three consumer segments store falls from 91.6 to 29.2 percent, and the branch stays.</a:t>
            </a:r>
          </a:p>
          <a:p>
            <a:r>
              <a:t>Transition: section E, the close.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15 minutes: the Kahoot 8, the answer to Meera 2, the six lines 3 and Tuesday's question 2.</a:t>
            </a:r>
          </a:p>
          <a:p>
            <a:r>
              <a:t>Transition: S43, the Kahoot.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8 minutes. Run kahoot/C2_W01_D01_quiz_STUDENT.md. Pause on any item below 60 percent correct</a:t>
            </a:r>
          </a:p>
          <a:p>
            <a:r>
              <a:t>and ask one learner who got it right to explain it.</a:t>
            </a:r>
          </a:p>
          <a:p>
            <a:r>
              <a:t>Transition: S44, the answer Meera hears.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sentence aloud as the day's answer to Meera's question. The escalated case</a:t>
            </a:r>
          </a:p>
          <a:p>
            <a:r>
              <a:t>added that the branch holds on delivered orders, and the second case added two leaks to the note,</a:t>
            </a:r>
          </a:p>
          <a:p>
            <a:r>
              <a:t>web returns and store cancellations, without moving the branch.</a:t>
            </a:r>
          </a:p>
          <a:p>
            <a:r>
              <a:t>Transition: S45, the six lines to keep.</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same six lines are on the cheat sheet and in the study notes, word for word.</a:t>
            </a:r>
          </a:p>
          <a:p>
            <a:r>
              <a:t>Ask which one the learner's own escalated case broke, and note the answers for Tuesday.</a:t>
            </a:r>
          </a:p>
          <a:p>
            <a:r>
              <a:t>Transition: S46, Meera's reply.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Meera's reply and stop; Tuesday's file settles it. Hand out the domain card</a:t>
            </a:r>
          </a:p>
          <a:p>
            <a:r>
              <a:t>now, one per learner. Remind the room of the take-home and the pre-read, and that the practice lab</a:t>
            </a:r>
          </a:p>
          <a:p>
            <a:r>
              <a:t>follows with the TA.</a:t>
            </a:r>
          </a:p>
          <a:p>
            <a:r>
              <a:t>Transition: the practice lab, run by the 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 Id="rId5" Type="http://schemas.openxmlformats.org/officeDocument/2006/relationships/image" Target="../media/image13.png"/><Relationship Id="rId6"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 Id="rId5"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 Id="rId5" Type="http://schemas.openxmlformats.org/officeDocument/2006/relationships/image" Target="../media/image13.png"/><Relationship Id="rId6"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7.xml"/><Relationship Id="rId5"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8.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4.xml"/><Relationship Id="rId5"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5.xml"/><Relationship Id="rId5"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8.xml"/><Relationship Id="rId5"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9.xml"/><Relationship Id="rId5"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0.xml"/><Relationship Id="rId5"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1.xml"/><Relationship Id="rId5"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image" Target="../media/image26.png"/><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8.png"/><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2.xml"/><Relationship Id="rId5"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3.xml"/><Relationship Id="rId5"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4.xml"/><Relationship Id="rId5" Type="http://schemas.openxmlformats.org/officeDocument/2006/relationships/image" Target="../media/image3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5.xml"/><Relationship Id="rId5" Type="http://schemas.openxmlformats.org/officeDocument/2006/relationships/image" Target="../media/image9.png"/><Relationship Id="rId6" Type="http://schemas.openxmlformats.org/officeDocument/2006/relationships/image" Target="../media/image18.png"/><Relationship Id="rId7" Type="http://schemas.openxmlformats.org/officeDocument/2006/relationships/image" Target="../media/image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2.xml"/><Relationship Id="rId5" Type="http://schemas.openxmlformats.org/officeDocument/2006/relationships/image" Target="../media/image3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54.xml"/><Relationship Id="rId6" Type="http://schemas.openxmlformats.org/officeDocument/2006/relationships/image" Target="../media/image3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385127"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1  ·  MONDAY  ·  AFTERNOON</a:t>
            </a:r>
          </a:p>
        </p:txBody>
      </p:sp>
      <p:sp>
        <p:nvSpPr>
          <p:cNvPr id="8" name="TextBox 7"/>
          <p:cNvSpPr txBox="1"/>
          <p:nvPr/>
        </p:nvSpPr>
        <p:spPr>
          <a:xfrm>
            <a:off x="621792" y="2807208"/>
            <a:ext cx="10582351" cy="663956"/>
          </a:xfrm>
          <a:prstGeom prst="rect">
            <a:avLst/>
          </a:prstGeom>
          <a:noFill/>
        </p:spPr>
        <p:txBody>
          <a:bodyPr wrap="square" anchor="t" lIns="0" rIns="0" tIns="0" bIns="0">
            <a:spAutoFit/>
          </a:bodyPr>
          <a:lstStyle/>
          <a:p>
            <a:pPr algn="l"/>
            <a:r>
              <a:rPr sz="3800" b="0" i="0">
                <a:solidFill>
                  <a:srgbClr val="FFFFFF"/>
                </a:solidFill>
                <a:latin typeface="Georgia"/>
              </a:rPr>
              <a:t>The branch, the sentence and the cases</a:t>
            </a:r>
          </a:p>
        </p:txBody>
      </p:sp>
      <p:sp>
        <p:nvSpPr>
          <p:cNvPr id="9" name="TextBox 8"/>
          <p:cNvSpPr txBox="1"/>
          <p:nvPr/>
        </p:nvSpPr>
        <p:spPr>
          <a:xfrm>
            <a:off x="621792" y="3635756"/>
            <a:ext cx="10033711" cy="350266"/>
          </a:xfrm>
          <a:prstGeom prst="rect">
            <a:avLst/>
          </a:prstGeom>
          <a:noFill/>
        </p:spPr>
        <p:txBody>
          <a:bodyPr wrap="square" anchor="t" lIns="0" rIns="0" tIns="0" bIns="0">
            <a:spAutoFit/>
          </a:bodyPr>
          <a:lstStyle/>
          <a:p>
            <a:pPr algn="l"/>
            <a:r>
              <a:rPr sz="1900" b="0" i="1">
                <a:solidFill>
                  <a:srgbClr val="D9A7FF"/>
                </a:solidFill>
                <a:latin typeface="Georgia"/>
              </a:rPr>
              <a:t>“Is acquisition even the branch that is short?”</a:t>
            </a:r>
          </a:p>
        </p:txBody>
      </p:sp>
      <p:sp>
        <p:nvSpPr>
          <p:cNvPr id="10" name="TextBox 9"/>
          <p:cNvSpPr txBox="1"/>
          <p:nvPr/>
        </p:nvSpPr>
        <p:spPr>
          <a:xfrm>
            <a:off x="621792" y="4040886"/>
            <a:ext cx="10033711" cy="218186"/>
          </a:xfrm>
          <a:prstGeom prst="rect">
            <a:avLst/>
          </a:prstGeom>
          <a:noFill/>
        </p:spPr>
        <p:txBody>
          <a:bodyPr wrap="square" anchor="t" lIns="0" rIns="0" tIns="0" bIns="0">
            <a:spAutoFit/>
          </a:bodyPr>
          <a:lstStyle/>
          <a:p>
            <a:pPr algn="l"/>
            <a:r>
              <a:rPr sz="1100" b="0" i="0">
                <a:solidFill>
                  <a:srgbClr val="CFC9EE"/>
                </a:solidFill>
                <a:latin typeface="Calibri"/>
              </a:rPr>
              <a:t>Meera Raghavan, CEO, Kalpa Retail, before she signs Rs 12 crore for new customers</a:t>
            </a:r>
          </a:p>
        </p:txBody>
      </p:sp>
      <p:sp>
        <p:nvSpPr>
          <p:cNvPr id="11" name="TextBox 10"/>
          <p:cNvSpPr txBox="1"/>
          <p:nvPr/>
        </p:nvSpPr>
        <p:spPr>
          <a:xfrm>
            <a:off x="621792"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05</a:t>
            </a:r>
          </a:p>
        </p:txBody>
      </p:sp>
      <p:sp>
        <p:nvSpPr>
          <p:cNvPr id="12" name="TextBox 11"/>
          <p:cNvSpPr txBox="1"/>
          <p:nvPr/>
        </p:nvSpPr>
        <p:spPr>
          <a:xfrm>
            <a:off x="1005839" y="5248656"/>
            <a:ext cx="1247584" cy="185166"/>
          </a:xfrm>
          <a:prstGeom prst="rect">
            <a:avLst/>
          </a:prstGeom>
          <a:noFill/>
        </p:spPr>
        <p:txBody>
          <a:bodyPr wrap="square" anchor="t" lIns="0" rIns="0" tIns="0" bIns="0">
            <a:spAutoFit/>
          </a:bodyPr>
          <a:lstStyle/>
          <a:p>
            <a:pPr algn="l"/>
            <a:r>
              <a:rPr sz="900" b="0" i="0">
                <a:solidFill>
                  <a:srgbClr val="FFFFFF"/>
                </a:solidFill>
                <a:latin typeface="Calibri"/>
              </a:rPr>
              <a:t>Which branch first</a:t>
            </a:r>
          </a:p>
        </p:txBody>
      </p:sp>
      <p:sp>
        <p:nvSpPr>
          <p:cNvPr id="13" name="TextBox 12"/>
          <p:cNvSpPr txBox="1"/>
          <p:nvPr/>
        </p:nvSpPr>
        <p:spPr>
          <a:xfrm>
            <a:off x="2436304"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06</a:t>
            </a:r>
          </a:p>
        </p:txBody>
      </p:sp>
      <p:sp>
        <p:nvSpPr>
          <p:cNvPr id="14" name="TextBox 13"/>
          <p:cNvSpPr txBox="1"/>
          <p:nvPr/>
        </p:nvSpPr>
        <p:spPr>
          <a:xfrm>
            <a:off x="2820352" y="5248656"/>
            <a:ext cx="1365885" cy="185166"/>
          </a:xfrm>
          <a:prstGeom prst="rect">
            <a:avLst/>
          </a:prstGeom>
          <a:noFill/>
        </p:spPr>
        <p:txBody>
          <a:bodyPr wrap="square" anchor="t" lIns="0" rIns="0" tIns="0" bIns="0">
            <a:spAutoFit/>
          </a:bodyPr>
          <a:lstStyle/>
          <a:p>
            <a:pPr algn="l"/>
            <a:r>
              <a:rPr sz="900" b="0" i="0">
                <a:solidFill>
                  <a:srgbClr val="FFFFFF"/>
                </a:solidFill>
                <a:latin typeface="Calibri"/>
              </a:rPr>
              <a:t>What will Meera sign</a:t>
            </a:r>
          </a:p>
        </p:txBody>
      </p:sp>
      <p:sp>
        <p:nvSpPr>
          <p:cNvPr id="15" name="TextBox 14"/>
          <p:cNvSpPr txBox="1"/>
          <p:nvPr/>
        </p:nvSpPr>
        <p:spPr>
          <a:xfrm>
            <a:off x="4369117"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A</a:t>
            </a:r>
          </a:p>
        </p:txBody>
      </p:sp>
      <p:sp>
        <p:nvSpPr>
          <p:cNvPr id="16" name="TextBox 15"/>
          <p:cNvSpPr txBox="1"/>
          <p:nvPr/>
        </p:nvSpPr>
        <p:spPr>
          <a:xfrm>
            <a:off x="4753165" y="5248656"/>
            <a:ext cx="1010983" cy="185166"/>
          </a:xfrm>
          <a:prstGeom prst="rect">
            <a:avLst/>
          </a:prstGeom>
          <a:noFill/>
        </p:spPr>
        <p:txBody>
          <a:bodyPr wrap="square" anchor="t" lIns="0" rIns="0" tIns="0" bIns="0">
            <a:spAutoFit/>
          </a:bodyPr>
          <a:lstStyle/>
          <a:p>
            <a:pPr algn="l"/>
            <a:r>
              <a:rPr sz="900" b="0" i="0">
                <a:solidFill>
                  <a:srgbClr val="FFFFFF"/>
                </a:solidFill>
                <a:latin typeface="Calibri"/>
              </a:rPr>
              <a:t>Escalated case</a:t>
            </a:r>
          </a:p>
        </p:txBody>
      </p:sp>
      <p:sp>
        <p:nvSpPr>
          <p:cNvPr id="17" name="TextBox 16"/>
          <p:cNvSpPr txBox="1"/>
          <p:nvPr/>
        </p:nvSpPr>
        <p:spPr>
          <a:xfrm>
            <a:off x="5947028"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B</a:t>
            </a:r>
          </a:p>
        </p:txBody>
      </p:sp>
      <p:sp>
        <p:nvSpPr>
          <p:cNvPr id="18" name="TextBox 17"/>
          <p:cNvSpPr txBox="1"/>
          <p:nvPr/>
        </p:nvSpPr>
        <p:spPr>
          <a:xfrm>
            <a:off x="6331076" y="5248656"/>
            <a:ext cx="951833" cy="185166"/>
          </a:xfrm>
          <a:prstGeom prst="rect">
            <a:avLst/>
          </a:prstGeom>
          <a:noFill/>
        </p:spPr>
        <p:txBody>
          <a:bodyPr wrap="square" anchor="t" lIns="0" rIns="0" tIns="0" bIns="0">
            <a:spAutoFit/>
          </a:bodyPr>
          <a:lstStyle/>
          <a:p>
            <a:pPr algn="l"/>
            <a:r>
              <a:rPr sz="900" b="0" i="0">
                <a:solidFill>
                  <a:srgbClr val="FFFFFF"/>
                </a:solidFill>
                <a:latin typeface="Calibri"/>
              </a:rPr>
              <a:t>Which hold up</a:t>
            </a:r>
          </a:p>
        </p:txBody>
      </p:sp>
      <p:sp>
        <p:nvSpPr>
          <p:cNvPr id="19" name="TextBox 18"/>
          <p:cNvSpPr txBox="1"/>
          <p:nvPr/>
        </p:nvSpPr>
        <p:spPr>
          <a:xfrm>
            <a:off x="7465790"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C</a:t>
            </a:r>
          </a:p>
        </p:txBody>
      </p:sp>
      <p:sp>
        <p:nvSpPr>
          <p:cNvPr id="20" name="TextBox 19"/>
          <p:cNvSpPr txBox="1"/>
          <p:nvPr/>
        </p:nvSpPr>
        <p:spPr>
          <a:xfrm>
            <a:off x="7849838" y="5248656"/>
            <a:ext cx="833532" cy="185166"/>
          </a:xfrm>
          <a:prstGeom prst="rect">
            <a:avLst/>
          </a:prstGeom>
          <a:noFill/>
        </p:spPr>
        <p:txBody>
          <a:bodyPr wrap="square" anchor="t" lIns="0" rIns="0" tIns="0" bIns="0">
            <a:spAutoFit/>
          </a:bodyPr>
          <a:lstStyle/>
          <a:p>
            <a:pPr algn="l"/>
            <a:r>
              <a:rPr sz="900" b="0" i="0">
                <a:solidFill>
                  <a:srgbClr val="FFFFFF"/>
                </a:solidFill>
                <a:latin typeface="Calibri"/>
              </a:rPr>
              <a:t>Second case</a:t>
            </a:r>
          </a:p>
        </p:txBody>
      </p:sp>
      <p:sp>
        <p:nvSpPr>
          <p:cNvPr id="21" name="TextBox 20"/>
          <p:cNvSpPr txBox="1"/>
          <p:nvPr/>
        </p:nvSpPr>
        <p:spPr>
          <a:xfrm>
            <a:off x="8866251"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D</a:t>
            </a:r>
          </a:p>
        </p:txBody>
      </p:sp>
      <p:sp>
        <p:nvSpPr>
          <p:cNvPr id="22" name="TextBox 21"/>
          <p:cNvSpPr txBox="1"/>
          <p:nvPr/>
        </p:nvSpPr>
        <p:spPr>
          <a:xfrm>
            <a:off x="9250299" y="5248656"/>
            <a:ext cx="1010983" cy="185166"/>
          </a:xfrm>
          <a:prstGeom prst="rect">
            <a:avLst/>
          </a:prstGeom>
          <a:noFill/>
        </p:spPr>
        <p:txBody>
          <a:bodyPr wrap="square" anchor="t" lIns="0" rIns="0" tIns="0" bIns="0">
            <a:spAutoFit/>
          </a:bodyPr>
          <a:lstStyle/>
          <a:p>
            <a:pPr algn="l"/>
            <a:r>
              <a:rPr sz="900" b="0" i="0">
                <a:solidFill>
                  <a:srgbClr val="FFFFFF"/>
                </a:solidFill>
                <a:latin typeface="Calibri"/>
              </a:rPr>
              <a:t>Can you say it</a:t>
            </a:r>
          </a:p>
        </p:txBody>
      </p:sp>
      <p:sp>
        <p:nvSpPr>
          <p:cNvPr id="23" name="TextBox 22"/>
          <p:cNvSpPr txBox="1"/>
          <p:nvPr/>
        </p:nvSpPr>
        <p:spPr>
          <a:xfrm>
            <a:off x="10444162"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E</a:t>
            </a:r>
          </a:p>
        </p:txBody>
      </p:sp>
      <p:sp>
        <p:nvSpPr>
          <p:cNvPr id="24" name="TextBox 23"/>
          <p:cNvSpPr txBox="1"/>
          <p:nvPr/>
        </p:nvSpPr>
        <p:spPr>
          <a:xfrm>
            <a:off x="10828210" y="5248656"/>
            <a:ext cx="774382" cy="185166"/>
          </a:xfrm>
          <a:prstGeom prst="rect">
            <a:avLst/>
          </a:prstGeom>
          <a:noFill/>
        </p:spPr>
        <p:txBody>
          <a:bodyPr wrap="square" anchor="t" lIns="0" rIns="0" tIns="0" bIns="0">
            <a:spAutoFit/>
          </a:bodyPr>
          <a:lstStyle/>
          <a:p>
            <a:pPr algn="l"/>
            <a:r>
              <a:rPr sz="900" b="0" i="0">
                <a:solidFill>
                  <a:srgbClr val="FFFFFF"/>
                </a:solidFill>
                <a:latin typeface="Calibri"/>
              </a:rPr>
              <a:t>What stays</a:t>
            </a:r>
          </a:p>
        </p:txBody>
      </p:sp>
      <p:sp>
        <p:nvSpPr>
          <p:cNvPr id="25" name="TextBox 24"/>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1. The branch, the sentence and the cases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54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morning's tree: 23 customers, 1.30 each, Rs 2,205</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the morning's four chapters find on Kalpa's 30 orders?</a:t>
            </a:r>
          </a:p>
        </p:txBody>
      </p:sp>
      <p:pic>
        <p:nvPicPr>
          <p:cNvPr id="9" name="mermaid diagram" descr="e97e6a0ef2b70bd0.png"/>
          <p:cNvPicPr>
            <a:picLocks noChangeAspect="1"/>
          </p:cNvPicPr>
          <p:nvPr/>
        </p:nvPicPr>
        <p:blipFill>
          <a:blip r:embed="rId5"/>
          <a:stretch>
            <a:fillRect/>
          </a:stretch>
        </p:blipFill>
        <p:spPr>
          <a:xfrm>
            <a:off x="2816866" y="1723167"/>
            <a:ext cx="6557962" cy="3414712"/>
          </a:xfrm>
          <a:prstGeom prst="rect">
            <a:avLst/>
          </a:prstGeom>
        </p:spPr>
      </p:pic>
      <p:sp>
        <p:nvSpPr>
          <p:cNvPr id="10" name="TextBox 9"/>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Chapter 1 read sales four ways, 30 orders booked for Rs 5,44,810, Rs 5,35,760 not cancelled and Rs 5,20,790 delivered; chapter 2 built each branch as a fraction on one definition; chapter 3 counted customers by id; and chapter 4 chose the median because only 1 of the 30 orders sits above the mean.</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3" name="Oval 12"/>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15" name="Oval 14"/>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7" name="Oval 16"/>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19" name="Oval 18"/>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1" name="Oval 20"/>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3" name="Oval 22"/>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2 / 54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05</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branch first</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Which branch should Meera open first to reach the 15 percent plan, and why not the others?</a:t>
            </a:r>
          </a:p>
        </p:txBody>
      </p:sp>
      <p:sp>
        <p:nvSpPr>
          <p:cNvPr id="10" name="Rounded Rectangle 9"/>
          <p:cNvSpPr/>
          <p:nvPr/>
        </p:nvSpPr>
        <p:spPr>
          <a:xfrm>
            <a:off x="731519" y="5074920"/>
            <a:ext cx="143164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branch first</a:t>
            </a:r>
          </a:p>
        </p:txBody>
      </p:sp>
      <p:sp>
        <p:nvSpPr>
          <p:cNvPr id="11" name="Rounded Rectangle 10"/>
          <p:cNvSpPr/>
          <p:nvPr/>
        </p:nvSpPr>
        <p:spPr>
          <a:xfrm>
            <a:off x="2272895"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Meera sign</a:t>
            </a:r>
          </a:p>
        </p:txBody>
      </p:sp>
      <p:sp>
        <p:nvSpPr>
          <p:cNvPr id="12" name="Rounded Rectangle 11"/>
          <p:cNvSpPr/>
          <p:nvPr/>
        </p:nvSpPr>
        <p:spPr>
          <a:xfrm>
            <a:off x="3932702" y="5074920"/>
            <a:ext cx="119478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Escalated case</a:t>
            </a:r>
          </a:p>
        </p:txBody>
      </p:sp>
      <p:sp>
        <p:nvSpPr>
          <p:cNvPr id="13" name="Rounded Rectangle 12"/>
          <p:cNvSpPr/>
          <p:nvPr/>
        </p:nvSpPr>
        <p:spPr>
          <a:xfrm>
            <a:off x="5237214" y="5074920"/>
            <a:ext cx="113556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hold up</a:t>
            </a:r>
          </a:p>
        </p:txBody>
      </p:sp>
      <p:sp>
        <p:nvSpPr>
          <p:cNvPr id="14" name="Rounded Rectangle 13"/>
          <p:cNvSpPr/>
          <p:nvPr/>
        </p:nvSpPr>
        <p:spPr>
          <a:xfrm>
            <a:off x="6482510" y="5074920"/>
            <a:ext cx="101713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Second case</a:t>
            </a:r>
          </a:p>
        </p:txBody>
      </p:sp>
      <p:sp>
        <p:nvSpPr>
          <p:cNvPr id="15" name="Rounded Rectangle 14"/>
          <p:cNvSpPr/>
          <p:nvPr/>
        </p:nvSpPr>
        <p:spPr>
          <a:xfrm>
            <a:off x="7609373" y="5074920"/>
            <a:ext cx="119478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say it</a:t>
            </a:r>
          </a:p>
        </p:txBody>
      </p:sp>
      <p:sp>
        <p:nvSpPr>
          <p:cNvPr id="16" name="Rounded Rectangle 15"/>
          <p:cNvSpPr/>
          <p:nvPr/>
        </p:nvSpPr>
        <p:spPr>
          <a:xfrm>
            <a:off x="8913885" y="5074920"/>
            <a:ext cx="95791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stays</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Monday afternoon: chapters 5 and 6 and the cases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 / 54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Meera needs the branch before Rs 12 crore moves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this chapter's answer, and which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Meera Raghavan, who must choose the branch the Rs 12 crore goes to before she signs; a wrong choice spends the budget on a branch that was fine.</a:t>
            </a:r>
          </a:p>
        </p:txBody>
      </p:sp>
      <p:sp>
        <p:nvSpPr>
          <p:cNvPr id="12" name="Rectangle 11"/>
          <p:cNvSpPr/>
          <p:nvPr/>
        </p:nvSpPr>
        <p:spPr>
          <a:xfrm>
            <a:off x="1381734" y="34960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4" name="Oval 13"/>
          <p:cNvSpPr/>
          <p:nvPr/>
        </p:nvSpPr>
        <p:spPr>
          <a:xfrm>
            <a:off x="1281150"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The base</a:t>
            </a:r>
          </a:p>
        </p:txBody>
      </p:sp>
      <p:sp>
        <p:nvSpPr>
          <p:cNvPr id="17" name="TextBox 16"/>
          <p:cNvSpPr txBox="1"/>
          <p:nvPr/>
        </p:nvSpPr>
        <p:spPr>
          <a:xfrm>
            <a:off x="694944" y="4250182"/>
            <a:ext cx="1373581" cy="531876"/>
          </a:xfrm>
          <a:prstGeom prst="rect">
            <a:avLst/>
          </a:prstGeom>
          <a:noFill/>
        </p:spPr>
        <p:txBody>
          <a:bodyPr wrap="square" anchor="t" lIns="0" rIns="0" tIns="0" bIns="0">
            <a:spAutoFit/>
          </a:bodyPr>
          <a:lstStyle/>
          <a:p>
            <a:pPr algn="l"/>
            <a:r>
              <a:rPr sz="1000" b="0" i="0">
                <a:solidFill>
                  <a:srgbClr val="6B6690"/>
                </a:solidFill>
                <a:latin typeface="Calibri"/>
              </a:rPr>
              <a:t>Who needs the branch, and which base is the plan sized on?</a:t>
            </a:r>
          </a:p>
        </p:txBody>
      </p:sp>
      <p:sp>
        <p:nvSpPr>
          <p:cNvPr id="18" name="TextBox 17"/>
          <p:cNvSpPr txBox="1"/>
          <p:nvPr/>
        </p:nvSpPr>
        <p:spPr>
          <a:xfrm>
            <a:off x="241599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19" name="Oval 18"/>
          <p:cNvSpPr/>
          <p:nvPr/>
        </p:nvSpPr>
        <p:spPr>
          <a:xfrm>
            <a:off x="316679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3816096"/>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One branch</a:t>
            </a:r>
          </a:p>
        </p:txBody>
      </p:sp>
      <p:sp>
        <p:nvSpPr>
          <p:cNvPr id="22" name="TextBox 21"/>
          <p:cNvSpPr txBox="1"/>
          <p:nvPr/>
        </p:nvSpPr>
        <p:spPr>
          <a:xfrm>
            <a:off x="2580589"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What would each branch have to do alone?</a:t>
            </a:r>
          </a:p>
        </p:txBody>
      </p:sp>
      <p:sp>
        <p:nvSpPr>
          <p:cNvPr id="23" name="TextBox 22"/>
          <p:cNvSpPr txBox="1"/>
          <p:nvPr/>
        </p:nvSpPr>
        <p:spPr>
          <a:xfrm>
            <a:off x="430164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4" name="Oval 23"/>
          <p:cNvSpPr/>
          <p:nvPr/>
        </p:nvSpPr>
        <p:spPr>
          <a:xfrm>
            <a:off x="505244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3816096"/>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Evidence</a:t>
            </a:r>
          </a:p>
        </p:txBody>
      </p:sp>
      <p:sp>
        <p:nvSpPr>
          <p:cNvPr id="27" name="TextBox 26"/>
          <p:cNvSpPr txBox="1"/>
          <p:nvPr/>
        </p:nvSpPr>
        <p:spPr>
          <a:xfrm>
            <a:off x="4466234"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Which branch has evidence behind it?</a:t>
            </a:r>
          </a:p>
        </p:txBody>
      </p:sp>
      <p:sp>
        <p:nvSpPr>
          <p:cNvPr id="28" name="TextBox 27"/>
          <p:cNvSpPr txBox="1"/>
          <p:nvPr/>
        </p:nvSpPr>
        <p:spPr>
          <a:xfrm>
            <a:off x="618728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29" name="Oval 28"/>
          <p:cNvSpPr/>
          <p:nvPr/>
        </p:nvSpPr>
        <p:spPr>
          <a:xfrm>
            <a:off x="6938086"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3816096"/>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Two lifts</a:t>
            </a:r>
          </a:p>
        </p:txBody>
      </p:sp>
      <p:sp>
        <p:nvSpPr>
          <p:cNvPr id="32" name="TextBox 31"/>
          <p:cNvSpPr txBox="1"/>
          <p:nvPr/>
        </p:nvSpPr>
        <p:spPr>
          <a:xfrm>
            <a:off x="6351879" y="4250182"/>
            <a:ext cx="1373581" cy="696976"/>
          </a:xfrm>
          <a:prstGeom prst="rect">
            <a:avLst/>
          </a:prstGeom>
          <a:noFill/>
        </p:spPr>
        <p:txBody>
          <a:bodyPr wrap="square" anchor="t" lIns="0" rIns="0" tIns="0" bIns="0">
            <a:spAutoFit/>
          </a:bodyPr>
          <a:lstStyle/>
          <a:p>
            <a:pPr algn="l"/>
            <a:r>
              <a:rPr sz="1000" b="0" i="0">
                <a:solidFill>
                  <a:srgbClr val="6B6690"/>
                </a:solidFill>
                <a:latin typeface="Calibri"/>
              </a:rPr>
              <a:t>What goes wrong when two 10 percent lifts are called 20 percent?</a:t>
            </a:r>
          </a:p>
        </p:txBody>
      </p:sp>
      <p:sp>
        <p:nvSpPr>
          <p:cNvPr id="33" name="TextBox 32"/>
          <p:cNvSpPr txBox="1"/>
          <p:nvPr/>
        </p:nvSpPr>
        <p:spPr>
          <a:xfrm>
            <a:off x="807293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5</a:t>
            </a:r>
          </a:p>
        </p:txBody>
      </p:sp>
      <p:sp>
        <p:nvSpPr>
          <p:cNvPr id="34" name="Oval 33"/>
          <p:cNvSpPr/>
          <p:nvPr/>
        </p:nvSpPr>
        <p:spPr>
          <a:xfrm>
            <a:off x="882373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3816096"/>
            <a:ext cx="1702765"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Four parts</a:t>
            </a:r>
          </a:p>
        </p:txBody>
      </p:sp>
      <p:sp>
        <p:nvSpPr>
          <p:cNvPr id="37" name="TextBox 36"/>
          <p:cNvSpPr txBox="1"/>
          <p:nvPr/>
        </p:nvSpPr>
        <p:spPr>
          <a:xfrm>
            <a:off x="8237524" y="4250182"/>
            <a:ext cx="1373581" cy="531876"/>
          </a:xfrm>
          <a:prstGeom prst="rect">
            <a:avLst/>
          </a:prstGeom>
          <a:noFill/>
        </p:spPr>
        <p:txBody>
          <a:bodyPr wrap="square" anchor="t" lIns="0" rIns="0" tIns="0" bIns="0">
            <a:spAutoFit/>
          </a:bodyPr>
          <a:lstStyle/>
          <a:p>
            <a:pPr algn="l"/>
            <a:r>
              <a:rPr sz="1000" b="0" i="0">
                <a:solidFill>
                  <a:srgbClr val="6B6690"/>
                </a:solidFill>
                <a:latin typeface="Calibri"/>
              </a:rPr>
              <a:t>Do the four parts land on the same total?</a:t>
            </a:r>
          </a:p>
        </p:txBody>
      </p:sp>
      <p:sp>
        <p:nvSpPr>
          <p:cNvPr id="38" name="TextBox 37"/>
          <p:cNvSpPr txBox="1"/>
          <p:nvPr/>
        </p:nvSpPr>
        <p:spPr>
          <a:xfrm>
            <a:off x="9958578"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6</a:t>
            </a:r>
          </a:p>
        </p:txBody>
      </p:sp>
      <p:sp>
        <p:nvSpPr>
          <p:cNvPr id="39" name="Oval 38"/>
          <p:cNvSpPr/>
          <p:nvPr/>
        </p:nvSpPr>
        <p:spPr>
          <a:xfrm>
            <a:off x="10709376"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3816096"/>
            <a:ext cx="1702765" cy="142240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3962400"/>
            <a:ext cx="1373581" cy="251205"/>
          </a:xfrm>
          <a:prstGeom prst="rect">
            <a:avLst/>
          </a:prstGeom>
          <a:noFill/>
        </p:spPr>
        <p:txBody>
          <a:bodyPr wrap="square" anchor="t" lIns="0" rIns="0" tIns="0" bIns="0">
            <a:spAutoFit/>
          </a:bodyPr>
          <a:lstStyle/>
          <a:p>
            <a:pPr algn="l"/>
            <a:r>
              <a:rPr sz="1300" b="1" i="0">
                <a:solidFill>
                  <a:srgbClr val="FFFFFF"/>
                </a:solidFill>
                <a:latin typeface="Calibri"/>
              </a:rPr>
              <a:t>The switch</a:t>
            </a:r>
          </a:p>
        </p:txBody>
      </p:sp>
      <p:sp>
        <p:nvSpPr>
          <p:cNvPr id="42" name="TextBox 41"/>
          <p:cNvSpPr txBox="1"/>
          <p:nvPr/>
        </p:nvSpPr>
        <p:spPr>
          <a:xfrm>
            <a:off x="10123170" y="4250182"/>
            <a:ext cx="1373581" cy="366776"/>
          </a:xfrm>
          <a:prstGeom prst="rect">
            <a:avLst/>
          </a:prstGeom>
          <a:noFill/>
        </p:spPr>
        <p:txBody>
          <a:bodyPr wrap="square" anchor="t" lIns="0" rIns="0" tIns="0" bIns="0">
            <a:spAutoFit/>
          </a:bodyPr>
          <a:lstStyle/>
          <a:p>
            <a:pPr algn="l"/>
            <a:r>
              <a:rPr sz="1000" b="0" i="0">
                <a:solidFill>
                  <a:srgbClr val="CFC9EE"/>
                </a:solidFill>
                <a:latin typeface="Calibri"/>
              </a:rPr>
              <a:t>What would switch the call?</a:t>
            </a:r>
          </a:p>
        </p:txBody>
      </p:sp>
      <p:sp>
        <p:nvSpPr>
          <p:cNvPr id="43" name="Oval 4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branch first</a:t>
            </a:r>
          </a:p>
        </p:txBody>
      </p:sp>
      <p:sp>
        <p:nvSpPr>
          <p:cNvPr id="45" name="Oval 44"/>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47" name="Oval 46"/>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49" name="Oval 48"/>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51" name="Oval 50"/>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53" name="Oval 52"/>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55" name="Oval 54"/>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57" name="TextBox 5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4 / 54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Rs 12 crore rides on the branch Meera opens first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asks for the branch, and what does a wrong one cost?</a:t>
            </a:r>
          </a:p>
        </p:txBody>
      </p:sp>
      <p:sp>
        <p:nvSpPr>
          <p:cNvPr id="9" name="Rounded Rectangle 8"/>
          <p:cNvSpPr/>
          <p:nvPr/>
        </p:nvSpPr>
        <p:spPr>
          <a:xfrm>
            <a:off x="530352" y="1956816"/>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159507"/>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26923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423672"/>
          </a:xfrm>
          <a:prstGeom prst="rect">
            <a:avLst/>
          </a:prstGeom>
          <a:noFill/>
        </p:spPr>
        <p:txBody>
          <a:bodyPr wrap="square" anchor="t" lIns="0" rIns="0" tIns="0" bIns="0">
            <a:spAutoFit/>
          </a:bodyPr>
          <a:lstStyle/>
          <a:p>
            <a:r>
              <a:rPr sz="1500" b="0" i="0">
                <a:solidFill>
                  <a:srgbClr val="FFFFFF"/>
                </a:solidFill>
                <a:latin typeface="Calibri"/>
              </a:rPr>
              <a:t>"Is acquisition even the branch that is short?"</a:t>
            </a:r>
          </a:p>
        </p:txBody>
      </p:sp>
      <p:graphicFrame>
        <p:nvGraphicFramePr>
          <p:cNvPr id="14" name="Table 13"/>
          <p:cNvGraphicFramePr>
            <a:graphicFrameLocks noGrp="1"/>
          </p:cNvGraphicFramePr>
          <p:nvPr/>
        </p:nvGraphicFramePr>
        <p:xfrm>
          <a:off x="530352" y="2983992"/>
          <a:ext cx="11130991" cy="1834896"/>
        </p:xfrm>
        <a:graphic>
          <a:graphicData uri="http://schemas.openxmlformats.org/drawingml/2006/table">
            <a:tbl>
              <a:tblPr firstRow="0" bandRow="0">
                <a:tableStyleId>{2D5ABB26-0587-4C30-8999-92F81FD0307C}</a:tableStyleId>
              </a:tblPr>
              <a:tblGrid>
                <a:gridCol w="3468944"/>
                <a:gridCol w="7662047"/>
              </a:tblGrid>
              <a:tr h="611632">
                <a:tc>
                  <a:txBody>
                    <a:bodyPr/>
                    <a:lstStyle/>
                    <a:p>
                      <a:r>
                        <a:rPr sz="1450" b="1" i="0">
                          <a:solidFill>
                            <a:srgbClr val="FFFFFF"/>
                          </a:solidFill>
                          <a:latin typeface="Calibri"/>
                        </a:rPr>
                        <a:t>The metric at stake</a:t>
                      </a:r>
                    </a:p>
                  </a:txBody>
                  <a:tcPr marL="101600" marR="101600" marT="38100" marB="38100" anchor="ctr">
                    <a:solidFill>
                      <a:srgbClr val="1A0F5C"/>
                    </a:solidFill>
                  </a:tcPr>
                </a:tc>
                <a:tc>
                  <a:txBody>
                    <a:bodyPr/>
                    <a:lstStyle/>
                    <a:p>
                      <a:r>
                        <a:rPr sz="1450" b="1" i="0">
                          <a:solidFill>
                            <a:srgbClr val="FFFFFF"/>
                          </a:solidFill>
                          <a:latin typeface="Calibri"/>
                        </a:rPr>
                        <a:t>Revenue growth is measured against the 15 percent plan, with what each branch alone would have to do.</a:t>
                      </a:r>
                    </a:p>
                  </a:txBody>
                  <a:tcPr marL="101600" marR="101600" marT="38100" marB="38100" anchor="ctr">
                    <a:solidFill>
                      <a:srgbClr val="1A0F5C"/>
                    </a:solidFill>
                  </a:tcPr>
                </a:tc>
              </a:tr>
              <a:tr h="611632">
                <a:tc>
                  <a:txBody>
                    <a:bodyPr/>
                    <a:lstStyle/>
                    <a:p>
                      <a:r>
                        <a:rPr sz="1400" b="0" i="0">
                          <a:solidFill>
                            <a:srgbClr val="1A1440"/>
                          </a:solidFill>
                          <a:latin typeface="Calibri"/>
                        </a:rPr>
                        <a:t>Who asks</a:t>
                      </a:r>
                    </a:p>
                  </a:txBody>
                  <a:tcPr marL="101600" marR="101600" marT="38100" marB="38100" anchor="ctr">
                    <a:solidFill>
                      <a:srgbClr val="FFFFFF"/>
                    </a:solidFill>
                  </a:tcPr>
                </a:tc>
                <a:tc>
                  <a:txBody>
                    <a:bodyPr/>
                    <a:lstStyle/>
                    <a:p>
                      <a:r>
                        <a:rPr sz="1400" b="0" i="0">
                          <a:solidFill>
                            <a:srgbClr val="1A1440"/>
                          </a:solidFill>
                          <a:latin typeface="Calibri"/>
                        </a:rPr>
                        <a:t>Meera signs, the marketing lead owns acquisition, and the head of Retail-Plus owns the members most likely to come back.</a:t>
                      </a:r>
                    </a:p>
                  </a:txBody>
                  <a:tcPr marL="101600" marR="101600" marT="38100" marB="38100" anchor="ctr">
                    <a:solidFill>
                      <a:srgbClr val="FFFFFF"/>
                    </a:solidFill>
                  </a:tcPr>
                </a:tc>
              </a:tr>
              <a:tr h="611632">
                <a:tc>
                  <a:txBody>
                    <a:bodyPr/>
                    <a:lstStyle/>
                    <a:p>
                      <a:r>
                        <a:rPr sz="1400" b="0" i="0">
                          <a:solidFill>
                            <a:srgbClr val="1A1440"/>
                          </a:solidFill>
                          <a:latin typeface="Calibri"/>
                        </a:rPr>
                        <a:t>What a wrong number costs</a:t>
                      </a:r>
                    </a:p>
                  </a:txBody>
                  <a:tcPr marL="101600" marR="101600" marT="38100" marB="38100" anchor="ctr">
                    <a:solidFill>
                      <a:srgbClr val="F4F2FA"/>
                    </a:solidFill>
                  </a:tcPr>
                </a:tc>
                <a:tc>
                  <a:txBody>
                    <a:bodyPr/>
                    <a:lstStyle/>
                    <a:p>
                      <a:r>
                        <a:rPr sz="1400" b="0" i="0">
                          <a:solidFill>
                            <a:srgbClr val="1A1440"/>
                          </a:solidFill>
                          <a:latin typeface="Calibri"/>
                        </a:rPr>
                        <a:t>Rs 12 crore goes to a branch that was fine, or the plan is sized by adding lifts that multiply.</a:t>
                      </a:r>
                    </a:p>
                  </a:txBody>
                  <a:tcPr marL="101600" marR="101600" marT="38100" marB="38100" anchor="ctr">
                    <a:solidFill>
                      <a:srgbClr val="F4F2FA"/>
                    </a:solidFill>
                  </a:tcPr>
                </a:tc>
              </a:tr>
            </a:tbl>
          </a:graphicData>
        </a:graphic>
      </p:graphicFrame>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branch first</a:t>
            </a:r>
          </a:p>
        </p:txBody>
      </p:sp>
      <p:sp>
        <p:nvSpPr>
          <p:cNvPr id="17" name="Oval 16"/>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19" name="Oval 18"/>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21" name="Oval 20"/>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3" name="Oval 22"/>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5" name="Oval 24"/>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7" name="Oval 26"/>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5 / 54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Flipkart and Amazon pay to buy frequency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real companies have bet on the frequency branch?</a:t>
            </a:r>
          </a:p>
        </p:txBody>
      </p:sp>
      <p:sp>
        <p:nvSpPr>
          <p:cNvPr id="9" name="Rounded Rectangle 8"/>
          <p:cNvSpPr/>
          <p:nvPr/>
        </p:nvSpPr>
        <p:spPr>
          <a:xfrm>
            <a:off x="53035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badge-check_d6a22696841d.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FLIPKART</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Flipkart Black, Rs 1,499 a year</a:t>
            </a:r>
          </a:p>
        </p:txBody>
      </p:sp>
      <p:sp>
        <p:nvSpPr>
          <p:cNvPr id="14" name="TextBox 13"/>
          <p:cNvSpPr txBox="1"/>
          <p:nvPr/>
        </p:nvSpPr>
        <p:spPr>
          <a:xfrm>
            <a:off x="731519"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Flipkart launched it in 2025, evolving it from its VIP programme (Flipkart Stories, 12 September 2025).</a:t>
            </a:r>
          </a:p>
        </p:txBody>
      </p:sp>
      <p:sp>
        <p:nvSpPr>
          <p:cNvPr id="15" name="Rounded Rectangle 14"/>
          <p:cNvSpPr/>
          <p:nvPr/>
        </p:nvSpPr>
        <p:spPr>
          <a:xfrm>
            <a:off x="430164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package_0af015590c18.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AMAZON INDIA</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Prime, Rs 399 to Rs 1,499 a year</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Amazon offers the plans in India (About Amazon India).</a:t>
            </a:r>
          </a:p>
        </p:txBody>
      </p:sp>
      <p:sp>
        <p:nvSpPr>
          <p:cNvPr id="21" name="Rounded Rectangle 20"/>
          <p:cNvSpPr/>
          <p:nvPr/>
        </p:nvSpPr>
        <p:spPr>
          <a:xfrm>
            <a:off x="8072932" y="1956816"/>
            <a:ext cx="3588410"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repeat_22e899fab798.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KALPA</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Retail-Plus, the paid tier</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CFC9EE"/>
                </a:solidFill>
                <a:latin typeface="Calibri"/>
              </a:rPr>
              <a:t>Kalpa's own frequency bet already exists, and its head is one of today's stakeholders.</a:t>
            </a:r>
          </a:p>
        </p:txBody>
      </p:sp>
      <p:sp>
        <p:nvSpPr>
          <p:cNvPr id="27" name="TextBox 26"/>
          <p:cNvSpPr txBox="1"/>
          <p:nvPr/>
        </p:nvSpPr>
        <p:spPr>
          <a:xfrm>
            <a:off x="530352" y="4294124"/>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membership is a bet on the orders-per-customer branch, placed by companies that could have spent the same money on acquisition.</a:t>
            </a:r>
          </a:p>
        </p:txBody>
      </p:sp>
      <p:sp>
        <p:nvSpPr>
          <p:cNvPr id="28" name="Oval 27"/>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branch first</a:t>
            </a:r>
          </a:p>
        </p:txBody>
      </p:sp>
      <p:sp>
        <p:nvSpPr>
          <p:cNvPr id="30" name="Oval 29"/>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32" name="Oval 31"/>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34" name="Oval 33"/>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36" name="Oval 35"/>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38" name="Oval 37"/>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40" name="Oval 39"/>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42" name="TextBox 4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6 / 54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plan covers three consumer segments: Rs 64,810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orders is Meera's 15 percent plan sized on?</a:t>
            </a:r>
          </a:p>
        </p:txBody>
      </p:sp>
      <p:pic>
        <p:nvPicPr>
          <p:cNvPr id="9" name="mermaid diagram" descr="d6c210c8dd94c363.png"/>
          <p:cNvPicPr>
            <a:picLocks noChangeAspect="1"/>
          </p:cNvPicPr>
          <p:nvPr/>
        </p:nvPicPr>
        <p:blipFill>
          <a:blip r:embed="rId5"/>
          <a:stretch>
            <a:fillRect/>
          </a:stretch>
        </p:blipFill>
        <p:spPr>
          <a:xfrm>
            <a:off x="530352" y="2383912"/>
            <a:ext cx="4786326" cy="3114302"/>
          </a:xfrm>
          <a:prstGeom prst="rect">
            <a:avLst/>
          </a:prstGeom>
        </p:spPr>
      </p:pic>
      <p:sp>
        <p:nvSpPr>
          <p:cNvPr id="10" name="TextBox 9"/>
          <p:cNvSpPr txBox="1"/>
          <p:nvPr/>
        </p:nvSpPr>
        <p:spPr>
          <a:xfrm>
            <a:off x="5761917" y="1956816"/>
            <a:ext cx="5899425"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Meera's plan is about customers who buy again and again, so it concerns three segments, Retail-Core, Retail-Plus and Student, and the consumer view keeps every order whose segment is one of them.</a:t>
            </a:r>
          </a:p>
        </p:txBody>
      </p:sp>
      <p:sp>
        <p:nvSpPr>
          <p:cNvPr id="11" name="Rounded Rectangle 10"/>
          <p:cNvSpPr/>
          <p:nvPr/>
        </p:nvSpPr>
        <p:spPr>
          <a:xfrm>
            <a:off x="5761917" y="3409696"/>
            <a:ext cx="5899425" cy="1972055"/>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5944797" y="353771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100245" y="353771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6255693" y="353771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036237" y="3738880"/>
            <a:ext cx="5442225" cy="1569719"/>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CONSUMER = {"Retail-Core", "Retail-Plus",</a:t>
            </a:r>
          </a:p>
          <a:p>
            <a:pPr>
              <a:spcAft>
                <a:spcPts val="200"/>
              </a:spcAft>
            </a:pPr>
            <a:r>
              <a:rPr sz="1400" b="0" i="0">
                <a:solidFill>
                  <a:srgbClr val="E4E1F1"/>
                </a:solidFill>
                <a:latin typeface="Consolas"/>
              </a:rPr>
              <a:t>            "Student"}</a:t>
            </a:r>
          </a:p>
          <a:p>
            <a:pPr>
              <a:spcAft>
                <a:spcPts val="200"/>
              </a:spcAft>
            </a:pPr>
            <a:r>
              <a:rPr sz="1400" b="0" i="0">
                <a:solidFill>
                  <a:srgbClr val="E4E1F1"/>
                </a:solidFill>
                <a:latin typeface="Consolas"/>
              </a:rPr>
              <a:t>consumer = [o for o in ORDERS</a:t>
            </a:r>
          </a:p>
          <a:p>
            <a:pPr>
              <a:spcAft>
                <a:spcPts val="200"/>
              </a:spcAft>
            </a:pPr>
            <a:r>
              <a:rPr sz="1400" b="0" i="0">
                <a:solidFill>
                  <a:srgbClr val="E4E1F1"/>
                </a:solidFill>
                <a:latin typeface="Consolas"/>
              </a:rPr>
              <a:t>            if o["segment"] in CONSUMER]</a:t>
            </a:r>
          </a:p>
          <a:p>
            <a:pPr>
              <a:spcAft>
                <a:spcPts val="200"/>
              </a:spcAft>
            </a:pPr>
            <a:r>
              <a:rPr sz="1400" b="0" i="0">
                <a:solidFill>
                  <a:srgbClr val="E4E1F1"/>
                </a:solidFill>
                <a:latin typeface="Consolas"/>
              </a:rPr>
              <a:t>base = sum(o["amount"] for o in consumer)</a:t>
            </a:r>
          </a:p>
          <a:p>
            <a:pPr>
              <a:spcAft>
                <a:spcPts val="200"/>
              </a:spcAft>
            </a:pPr>
            <a:r>
              <a:rPr sz="1400" b="0" i="0">
                <a:solidFill>
                  <a:srgbClr val="E4E1F1"/>
                </a:solidFill>
                <a:latin typeface="Consolas"/>
              </a:rPr>
              <a:t>plan = base * 1.15</a:t>
            </a:r>
          </a:p>
        </p:txBody>
      </p:sp>
      <p:sp>
        <p:nvSpPr>
          <p:cNvPr id="16" name="Oval 1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branch first</a:t>
            </a:r>
          </a:p>
        </p:txBody>
      </p:sp>
      <p:sp>
        <p:nvSpPr>
          <p:cNvPr id="18" name="Oval 17"/>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20" name="Oval 19"/>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22" name="Oval 21"/>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4" name="Oval 23"/>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6" name="Oval 25"/>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8" name="Oval 27"/>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7 / 54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how far must one branch move alone?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would each branch have to do alone to reach the plan?</a:t>
            </a:r>
          </a:p>
        </p:txBody>
      </p:sp>
      <p:pic>
        <p:nvPicPr>
          <p:cNvPr id="9" name="mermaid diagram" descr="91c6e99e185595da.png"/>
          <p:cNvPicPr>
            <a:picLocks noChangeAspect="1"/>
          </p:cNvPicPr>
          <p:nvPr/>
        </p:nvPicPr>
        <p:blipFill>
          <a:blip r:embed="rId5"/>
          <a:stretch>
            <a:fillRect/>
          </a:stretch>
        </p:blipFill>
        <p:spPr>
          <a:xfrm>
            <a:off x="3331216" y="1956816"/>
            <a:ext cx="5529262" cy="2714625"/>
          </a:xfrm>
          <a:prstGeom prst="rect">
            <a:avLst/>
          </a:prstGeom>
        </p:spPr>
      </p:pic>
      <p:sp>
        <p:nvSpPr>
          <p:cNvPr id="10" name="Rounded Rectangle 9"/>
          <p:cNvSpPr/>
          <p:nvPr/>
        </p:nvSpPr>
        <p:spPr>
          <a:xfrm>
            <a:off x="530352" y="4817745"/>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945761"/>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936617"/>
            <a:ext cx="10564063" cy="8915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Revenue is customers x orders per customer x order value. If one branch moves while the other two hold, how far must it rise for 15 percent more revenue: a) 15 percent, the whole plan; b) 5 percent, a third of the plan; c) 7.5 percent, half the plan; d) further for customers than for order value?</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branch first</a:t>
            </a:r>
          </a:p>
        </p:txBody>
      </p:sp>
      <p:sp>
        <p:nvSpPr>
          <p:cNvPr id="15" name="Oval 14"/>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17" name="Oval 16"/>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9" name="Oval 18"/>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1" name="Oval 20"/>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3" name="Oval 22"/>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5" name="Oval 24"/>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8 / 54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whole 15 percent, since branches multiply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must one branch moved alone carry the whole plan?</a:t>
            </a:r>
          </a:p>
        </p:txBody>
      </p:sp>
      <p:pic>
        <p:nvPicPr>
          <p:cNvPr id="9" name="mermaid diagram" descr="aa489c56d0e796e8.png"/>
          <p:cNvPicPr>
            <a:picLocks noChangeAspect="1"/>
          </p:cNvPicPr>
          <p:nvPr/>
        </p:nvPicPr>
        <p:blipFill>
          <a:blip r:embed="rId5"/>
          <a:stretch>
            <a:fillRect/>
          </a:stretch>
        </p:blipFill>
        <p:spPr>
          <a:xfrm>
            <a:off x="923265" y="2583751"/>
            <a:ext cx="4000500" cy="2714625"/>
          </a:xfrm>
          <a:prstGeom prst="rect">
            <a:avLst/>
          </a:prstGeom>
        </p:spPr>
      </p:pic>
      <p:sp>
        <p:nvSpPr>
          <p:cNvPr id="10" name="Rounded Rectangle 9"/>
          <p:cNvSpPr/>
          <p:nvPr/>
        </p:nvSpPr>
        <p:spPr>
          <a:xfrm>
            <a:off x="5761917" y="1956816"/>
            <a:ext cx="5899425"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908221" y="2084832"/>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109389" y="2075688"/>
            <a:ext cx="5332497" cy="1158240"/>
          </a:xfrm>
          <a:prstGeom prst="rect">
            <a:avLst/>
          </a:prstGeom>
          <a:noFill/>
        </p:spPr>
        <p:txBody>
          <a:bodyPr wrap="square" anchor="ctr" lIns="0" rIns="0" tIns="0" bIns="0">
            <a:spAutoFit/>
          </a:bodyPr>
          <a:lstStyle/>
          <a:p>
            <a:r>
              <a:rPr sz="1500" b="1">
                <a:solidFill>
                  <a:srgbClr val="5B3FD6"/>
                </a:solidFill>
                <a:latin typeface="Calibri"/>
              </a:rPr>
              <a:t>What happened. </a:t>
            </a:r>
            <a:r>
              <a:rPr sz="1500" b="0" i="0">
                <a:solidFill>
                  <a:srgbClr val="1A1440"/>
                </a:solidFill>
                <a:latin typeface="Calibri"/>
              </a:rPr>
              <a:t>The answer is a. Revenue is a product, so a branch that rises 15 percent while the others hold lifts revenue 15 percent, and each branch alone must bring the same Rs 9,722.</a:t>
            </a:r>
          </a:p>
        </p:txBody>
      </p:sp>
      <p:sp>
        <p:nvSpPr>
          <p:cNvPr id="13" name="Rounded Rectangle 12"/>
          <p:cNvSpPr/>
          <p:nvPr/>
        </p:nvSpPr>
        <p:spPr>
          <a:xfrm>
            <a:off x="5761917" y="3462528"/>
            <a:ext cx="5899425"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5944797" y="3590544"/>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100245" y="3590544"/>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6255693" y="3590544"/>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036237" y="3791712"/>
            <a:ext cx="5442225" cy="1064768"/>
          </a:xfrm>
          <a:prstGeom prst="rect">
            <a:avLst/>
          </a:prstGeom>
          <a:noFill/>
        </p:spPr>
        <p:txBody>
          <a:bodyPr wrap="square" anchor="t" lIns="0" rIns="0" tIns="0" bIns="0">
            <a:spAutoFit/>
          </a:bodyPr>
          <a:lstStyle/>
          <a:p>
            <a:pPr>
              <a:spcAft>
                <a:spcPts val="200"/>
              </a:spcAft>
            </a:pPr>
            <a:r>
              <a:rPr sz="1400" b="0" i="0">
                <a:solidFill>
                  <a:srgbClr val="A9A3D2"/>
                </a:solidFill>
                <a:latin typeface="Consolas"/>
              </a:rPr>
              <a:t># one factor x 1.15, the other two held</a:t>
            </a:r>
          </a:p>
          <a:p>
            <a:pPr>
              <a:spcAft>
                <a:spcPts val="200"/>
              </a:spcAft>
            </a:pPr>
            <a:r>
              <a:rPr sz="1400" b="0" i="0">
                <a:solidFill>
                  <a:srgbClr val="E4E1F1"/>
                </a:solidFill>
                <a:latin typeface="Consolas"/>
              </a:rPr>
              <a:t>(cust * 1.15) * per_cust * value == plan</a:t>
            </a:r>
          </a:p>
          <a:p>
            <a:pPr>
              <a:spcAft>
                <a:spcPts val="200"/>
              </a:spcAft>
            </a:pPr>
            <a:r>
              <a:rPr sz="1400" b="0" i="0">
                <a:solidFill>
                  <a:srgbClr val="E4E1F1"/>
                </a:solidFill>
                <a:latin typeface="Consolas"/>
              </a:rPr>
              <a:t>cust * (per_cust * 1.15) * value == plan</a:t>
            </a:r>
          </a:p>
          <a:p>
            <a:pPr>
              <a:spcAft>
                <a:spcPts val="200"/>
              </a:spcAft>
            </a:pPr>
            <a:r>
              <a:rPr sz="1400" b="0" i="0">
                <a:solidFill>
                  <a:srgbClr val="E4E1F1"/>
                </a:solidFill>
                <a:latin typeface="Consolas"/>
              </a:rPr>
              <a:t>cust * per_cust * (value * 1.15) == plan</a:t>
            </a:r>
          </a:p>
        </p:txBody>
      </p:sp>
      <p:sp>
        <p:nvSpPr>
          <p:cNvPr id="18" name="Oval 17"/>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branch first</a:t>
            </a:r>
          </a:p>
        </p:txBody>
      </p:sp>
      <p:sp>
        <p:nvSpPr>
          <p:cNvPr id="20" name="Oval 19"/>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22" name="Oval 21"/>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24" name="Oval 23"/>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6" name="Oval 25"/>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8" name="Oval 27"/>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30" name="Oval 29"/>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9 / 54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which branch has evidence behind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branch does this file give Meera a reason to open first?</a:t>
            </a:r>
          </a:p>
        </p:txBody>
      </p:sp>
      <p:graphicFrame>
        <p:nvGraphicFramePr>
          <p:cNvPr id="9" name="Table 8"/>
          <p:cNvGraphicFramePr>
            <a:graphicFrameLocks noGrp="1"/>
          </p:cNvGraphicFramePr>
          <p:nvPr/>
        </p:nvGraphicFramePr>
        <p:xfrm>
          <a:off x="530352" y="1956816"/>
          <a:ext cx="11130991" cy="2090928"/>
        </p:xfrm>
        <a:graphic>
          <a:graphicData uri="http://schemas.openxmlformats.org/drawingml/2006/table">
            <a:tbl>
              <a:tblPr firstRow="0" bandRow="0">
                <a:tableStyleId>{2D5ABB26-0587-4C30-8999-92F81FD0307C}</a:tableStyleId>
              </a:tblPr>
              <a:tblGrid>
                <a:gridCol w="3130238"/>
                <a:gridCol w="8000753"/>
              </a:tblGrid>
              <a:tr h="369824">
                <a:tc>
                  <a:txBody>
                    <a:bodyPr/>
                    <a:lstStyle/>
                    <a:p>
                      <a:r>
                        <a:rPr sz="1450" b="1" i="0">
                          <a:solidFill>
                            <a:srgbClr val="FFFFFF"/>
                          </a:solidFill>
                          <a:latin typeface="Calibri"/>
                        </a:rPr>
                        <a:t>Option, moved alone</a:t>
                      </a:r>
                    </a:p>
                  </a:txBody>
                  <a:tcPr marL="101600" marR="101600" marT="38100" marB="38100" anchor="ctr">
                    <a:solidFill>
                      <a:srgbClr val="1A0F5C"/>
                    </a:solidFill>
                  </a:tcPr>
                </a:tc>
                <a:tc>
                  <a:txBody>
                    <a:bodyPr/>
                    <a:lstStyle/>
                    <a:p>
                      <a:r>
                        <a:rPr sz="1450" b="1" i="0">
                          <a:solidFill>
                            <a:srgbClr val="FFFFFF"/>
                          </a:solidFill>
                          <a:latin typeface="Calibri"/>
                        </a:rPr>
                        <a:t>What 15 percent asks, and of whom</a:t>
                      </a:r>
                    </a:p>
                  </a:txBody>
                  <a:tcPr marL="101600" marR="101600" marT="38100" marB="38100" anchor="ctr">
                    <a:solidFill>
                      <a:srgbClr val="1A0F5C"/>
                    </a:solidFill>
                  </a:tcPr>
                </a:tc>
              </a:tr>
              <a:tr h="611632">
                <a:tc>
                  <a:txBody>
                    <a:bodyPr/>
                    <a:lstStyle/>
                    <a:p>
                      <a:r>
                        <a:rPr sz="1400" b="0" i="0">
                          <a:solidFill>
                            <a:srgbClr val="1A1440"/>
                          </a:solidFill>
                          <a:latin typeface="Calibri"/>
                        </a:rPr>
                        <a:t>A. Customers</a:t>
                      </a:r>
                    </a:p>
                  </a:txBody>
                  <a:tcPr marL="101600" marR="101600" marT="38100" marB="38100" anchor="ctr">
                    <a:solidFill>
                      <a:srgbClr val="FFFFFF"/>
                    </a:solidFill>
                  </a:tcPr>
                </a:tc>
                <a:tc>
                  <a:txBody>
                    <a:bodyPr/>
                    <a:lstStyle/>
                    <a:p>
                      <a:r>
                        <a:rPr sz="1400" b="0" i="0">
                          <a:solidFill>
                            <a:srgbClr val="1A1440"/>
                          </a:solidFill>
                          <a:latin typeface="Calibri"/>
                        </a:rPr>
                        <a:t>It needs 15 percent more customers who buy like today's, all of them people Kalpa has never met.</a:t>
                      </a:r>
                    </a:p>
                  </a:txBody>
                  <a:tcPr marL="101600" marR="101600" marT="38100" marB="38100" anchor="ctr">
                    <a:solidFill>
                      <a:srgbClr val="FFFFFF"/>
                    </a:solidFill>
                  </a:tcPr>
                </a:tc>
              </a:tr>
              <a:tr h="369824">
                <a:tc>
                  <a:txBody>
                    <a:bodyPr/>
                    <a:lstStyle/>
                    <a:p>
                      <a:r>
                        <a:rPr sz="1400" b="0" i="0">
                          <a:solidFill>
                            <a:srgbClr val="1A1440"/>
                          </a:solidFill>
                          <a:latin typeface="Calibri"/>
                        </a:rPr>
                        <a:t>B. Frequency</a:t>
                      </a:r>
                    </a:p>
                  </a:txBody>
                  <a:tcPr marL="101600" marR="101600" marT="38100" marB="38100" anchor="ctr">
                    <a:solidFill>
                      <a:srgbClr val="F4F2FA"/>
                    </a:solidFill>
                  </a:tcPr>
                </a:tc>
                <a:tc>
                  <a:txBody>
                    <a:bodyPr/>
                    <a:lstStyle/>
                    <a:p>
                      <a:r>
                        <a:rPr sz="1400" b="0" i="0">
                          <a:solidFill>
                            <a:srgbClr val="1A1440"/>
                          </a:solidFill>
                          <a:latin typeface="Calibri"/>
                        </a:rPr>
                        <a:t>It needs 15 percent more orders from the customers who already bought.</a:t>
                      </a:r>
                    </a:p>
                  </a:txBody>
                  <a:tcPr marL="101600" marR="101600" marT="38100" marB="38100" anchor="ctr">
                    <a:solidFill>
                      <a:srgbClr val="F4F2FA"/>
                    </a:solidFill>
                  </a:tcPr>
                </a:tc>
              </a:tr>
              <a:tr h="369824">
                <a:tc>
                  <a:txBody>
                    <a:bodyPr/>
                    <a:lstStyle/>
                    <a:p>
                      <a:r>
                        <a:rPr sz="1400" b="0" i="0">
                          <a:solidFill>
                            <a:srgbClr val="1A1440"/>
                          </a:solidFill>
                          <a:latin typeface="Calibri"/>
                        </a:rPr>
                        <a:t>C. Order value</a:t>
                      </a:r>
                    </a:p>
                  </a:txBody>
                  <a:tcPr marL="101600" marR="101600" marT="38100" marB="38100" anchor="ctr">
                    <a:solidFill>
                      <a:srgbClr val="FFFFFF"/>
                    </a:solidFill>
                  </a:tcPr>
                </a:tc>
                <a:tc>
                  <a:txBody>
                    <a:bodyPr/>
                    <a:lstStyle/>
                    <a:p>
                      <a:r>
                        <a:rPr sz="1400" b="0" i="0">
                          <a:solidFill>
                            <a:srgbClr val="1A1440"/>
                          </a:solidFill>
                          <a:latin typeface="Calibri"/>
                        </a:rPr>
                        <a:t>It needs Rs 335 more on every basket, the mean rising from Rs 2,235 to Rs 2,570.</a:t>
                      </a:r>
                    </a:p>
                  </a:txBody>
                  <a:tcPr marL="101600" marR="101600" marT="38100" marB="38100" anchor="ctr">
                    <a:solidFill>
                      <a:srgbClr val="FFFFFF"/>
                    </a:solidFill>
                  </a:tcPr>
                </a:tc>
              </a:tr>
              <a:tr h="369824">
                <a:tc>
                  <a:txBody>
                    <a:bodyPr/>
                    <a:lstStyle/>
                    <a:p>
                      <a:r>
                        <a:rPr sz="1400" b="0" i="0">
                          <a:solidFill>
                            <a:srgbClr val="1A1440"/>
                          </a:solidFill>
                          <a:latin typeface="Calibri"/>
                        </a:rPr>
                        <a:t>D. Price</a:t>
                      </a:r>
                    </a:p>
                  </a:txBody>
                  <a:tcPr marL="101600" marR="101600" marT="38100" marB="38100" anchor="ctr">
                    <a:solidFill>
                      <a:srgbClr val="F4F2FA"/>
                    </a:solidFill>
                  </a:tcPr>
                </a:tc>
                <a:tc>
                  <a:txBody>
                    <a:bodyPr/>
                    <a:lstStyle/>
                    <a:p>
                      <a:r>
                        <a:rPr sz="1400" b="0" i="0">
                          <a:solidFill>
                            <a:srgbClr val="1A1440"/>
                          </a:solidFill>
                          <a:latin typeface="Calibri"/>
                        </a:rPr>
                        <a:t>It needs every price 15 percent higher, with no shopper buying any less.</a:t>
                      </a:r>
                    </a:p>
                  </a:txBody>
                  <a:tcPr marL="101600" marR="101600" marT="38100" marB="38100" anchor="ctr">
                    <a:solidFill>
                      <a:srgbClr val="F4F2FA"/>
                    </a:solidFill>
                  </a:tcPr>
                </a:tc>
              </a:tr>
            </a:tbl>
          </a:graphicData>
        </a:graphic>
      </p:graphicFrame>
      <p:sp>
        <p:nvSpPr>
          <p:cNvPr id="10" name="Rounded Rectangle 9"/>
          <p:cNvSpPr/>
          <p:nvPr/>
        </p:nvSpPr>
        <p:spPr>
          <a:xfrm>
            <a:off x="530352" y="430377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43179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422648"/>
            <a:ext cx="10564063" cy="6248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Each option asks for the same Rs 9,722. Which one does this file give evidence for: a) customers, b) frequency, c) order value, or d) price?</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branch first</a:t>
            </a:r>
          </a:p>
        </p:txBody>
      </p:sp>
      <p:sp>
        <p:nvSpPr>
          <p:cNvPr id="15" name="Oval 14"/>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17" name="Oval 16"/>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9" name="Oval 18"/>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1" name="Oval 20"/>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3" name="Oval 22"/>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5" name="Oval 24"/>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10 / 54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frequency, since 7 of 23 customers came back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branch should Meera open first, and why not the others?</a:t>
            </a:r>
          </a:p>
        </p:txBody>
      </p:sp>
      <p:pic>
        <p:nvPicPr>
          <p:cNvPr id="9" name="mermaid diagram" descr="1211b72884280062.png"/>
          <p:cNvPicPr>
            <a:picLocks noChangeAspect="1"/>
          </p:cNvPicPr>
          <p:nvPr/>
        </p:nvPicPr>
        <p:blipFill>
          <a:blip r:embed="rId6"/>
          <a:stretch>
            <a:fillRect/>
          </a:stretch>
        </p:blipFill>
        <p:spPr>
          <a:xfrm>
            <a:off x="4488290" y="1664208"/>
            <a:ext cx="3215114" cy="2944368"/>
          </a:xfrm>
          <a:prstGeom prst="rect">
            <a:avLst/>
          </a:prstGeom>
        </p:spPr>
      </p:pic>
      <p:sp>
        <p:nvSpPr>
          <p:cNvPr id="10" name="Rounded Rectangle 9"/>
          <p:cNvSpPr/>
          <p:nvPr/>
        </p:nvSpPr>
        <p:spPr>
          <a:xfrm>
            <a:off x="530352" y="4654296"/>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511606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5"/>
          <a:stretch>
            <a:fillRect/>
          </a:stretch>
        </p:blipFill>
        <p:spPr>
          <a:xfrm>
            <a:off x="868680" y="5225796"/>
            <a:ext cx="237744" cy="237744"/>
          </a:xfrm>
          <a:prstGeom prst="rect">
            <a:avLst/>
          </a:prstGeom>
        </p:spPr>
      </p:pic>
      <p:sp>
        <p:nvSpPr>
          <p:cNvPr id="13" name="TextBox 12"/>
          <p:cNvSpPr txBox="1"/>
          <p:nvPr/>
        </p:nvSpPr>
        <p:spPr>
          <a:xfrm>
            <a:off x="1399031" y="480060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5020056"/>
            <a:ext cx="9987991" cy="941832"/>
          </a:xfrm>
          <a:prstGeom prst="rect">
            <a:avLst/>
          </a:prstGeom>
          <a:noFill/>
        </p:spPr>
        <p:txBody>
          <a:bodyPr wrap="square" anchor="t" lIns="0" rIns="0" tIns="0" bIns="0">
            <a:spAutoFit/>
          </a:bodyPr>
          <a:lstStyle/>
          <a:p>
            <a:r>
              <a:rPr sz="1500" b="0" i="0">
                <a:solidFill>
                  <a:srgbClr val="1A1440"/>
                </a:solidFill>
                <a:latin typeface="Calibri"/>
              </a:rPr>
              <a:t>B is the best fit: the customers exist, 7 came back without a push, and a test costs a reminder to people already on the list. A second quarter showing customers falling while frequency held would switch the call to A.</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branch first</a:t>
            </a:r>
          </a:p>
        </p:txBody>
      </p:sp>
      <p:sp>
        <p:nvSpPr>
          <p:cNvPr id="17" name="Oval 16"/>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19" name="Oval 18"/>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21" name="Oval 20"/>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3" name="Oval 22"/>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5" name="Oval 24"/>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7" name="Oval 26"/>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11 / 54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in ten one-time buyers returning once carry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Is the frequency ask within reach of the customers already on file?</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9,722</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FROM FREQUENCY</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15 percent of Rs 64,810</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2,235</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CONSUMER MEAN ORDER</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what one more order brings</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3 in 10</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ONE-TIME BUYERS</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in the consumer view, returning once</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1214627"/>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13232" y="354787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868680" y="354787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1024128" y="354787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04671" y="3749040"/>
            <a:ext cx="10673791" cy="812291"/>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mean  = base / len(consumer)            # Rs 2,235</a:t>
            </a:r>
          </a:p>
          <a:p>
            <a:pPr>
              <a:spcAft>
                <a:spcPts val="200"/>
              </a:spcAft>
            </a:pPr>
            <a:r>
              <a:rPr sz="1400" b="0" i="0">
                <a:solidFill>
                  <a:srgbClr val="E4E1F1"/>
                </a:solidFill>
                <a:latin typeface="Consolas"/>
              </a:rPr>
              <a:t>extra = (plan - base) / mean            # the orders frequency must add</a:t>
            </a:r>
          </a:p>
          <a:p>
            <a:pPr>
              <a:spcAft>
                <a:spcPts val="200"/>
              </a:spcAft>
            </a:pPr>
            <a:r>
              <a:rPr sz="1400" b="0" i="0">
                <a:solidFill>
                  <a:srgbClr val="E4E1F1"/>
                </a:solidFill>
                <a:latin typeface="Consolas"/>
              </a:rPr>
              <a:t>share = extra / len(consumer_once)      # about three in ten</a:t>
            </a:r>
          </a:p>
        </p:txBody>
      </p:sp>
      <p:sp>
        <p:nvSpPr>
          <p:cNvPr id="26" name="TextBox 25"/>
          <p:cNvSpPr txBox="1"/>
          <p:nvPr/>
        </p:nvSpPr>
        <p:spPr>
          <a:xfrm>
            <a:off x="530352" y="479907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check multiplies back: the extra orders at the consumer mean bring Rs 9,722, which lands the consumer view on about Rs 74,532.</a:t>
            </a:r>
          </a:p>
        </p:txBody>
      </p:sp>
      <p:sp>
        <p:nvSpPr>
          <p:cNvPr id="27" name="Oval 26"/>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branch first</a:t>
            </a:r>
          </a:p>
        </p:txBody>
      </p:sp>
      <p:sp>
        <p:nvSpPr>
          <p:cNvPr id="29" name="Oval 28"/>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31" name="Oval 30"/>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33" name="Oval 32"/>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35" name="Oval 34"/>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37" name="Oval 36"/>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39" name="Oval 38"/>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41" name="TextBox 4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12 / 54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Wrong answer: two 10 percent lifts make 20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marketing's bigger plan claim for two 10 percent lifts?</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The plausible wrong answer. </a:t>
            </a:r>
            <a:r>
              <a:rPr sz="1500" b="0" i="0">
                <a:solidFill>
                  <a:srgbClr val="1A1440"/>
                </a:solidFill>
                <a:latin typeface="Calibri"/>
              </a:rPr>
              <a:t>The marketing lead's slide: "Fund acquisition and retention together: 10 percent more customers and 10 percent more orders each make 20 percent growth, Rs 77,772 on the consumer view."</a:t>
            </a:r>
          </a:p>
        </p:txBody>
      </p:sp>
      <p:sp>
        <p:nvSpPr>
          <p:cNvPr id="12" name="TextBox 11"/>
          <p:cNvSpPr txBox="1"/>
          <p:nvPr/>
        </p:nvSpPr>
        <p:spPr>
          <a:xfrm>
            <a:off x="530352" y="2929128"/>
            <a:ext cx="5428335" cy="698500"/>
          </a:xfrm>
          <a:prstGeom prst="rect">
            <a:avLst/>
          </a:prstGeom>
          <a:noFill/>
        </p:spPr>
        <p:txBody>
          <a:bodyPr wrap="square" anchor="t" lIns="0" rIns="0" tIns="0" bIns="0">
            <a:spAutoFit/>
          </a:bodyPr>
          <a:lstStyle/>
          <a:p>
            <a:pPr algn="l"/>
            <a:r>
              <a:rPr sz="4400" b="0" i="0">
                <a:solidFill>
                  <a:srgbClr val="5B3FD6"/>
                </a:solidFill>
                <a:latin typeface="Georgia"/>
              </a:rPr>
              <a:t>20%</a:t>
            </a:r>
          </a:p>
        </p:txBody>
      </p:sp>
      <p:sp>
        <p:nvSpPr>
          <p:cNvPr id="13" name="TextBox 12"/>
          <p:cNvSpPr txBox="1"/>
          <p:nvPr/>
        </p:nvSpPr>
        <p:spPr>
          <a:xfrm>
            <a:off x="530352" y="3664204"/>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THE SLIDE'S GROWTH</a:t>
            </a:r>
          </a:p>
        </p:txBody>
      </p:sp>
      <p:sp>
        <p:nvSpPr>
          <p:cNvPr id="14" name="TextBox 13"/>
          <p:cNvSpPr txBox="1"/>
          <p:nvPr/>
        </p:nvSpPr>
        <p:spPr>
          <a:xfrm>
            <a:off x="530352" y="3865372"/>
            <a:ext cx="5428335" cy="193421"/>
          </a:xfrm>
          <a:prstGeom prst="rect">
            <a:avLst/>
          </a:prstGeom>
          <a:noFill/>
        </p:spPr>
        <p:txBody>
          <a:bodyPr wrap="square" anchor="t" lIns="0" rIns="0" tIns="0" bIns="0">
            <a:spAutoFit/>
          </a:bodyPr>
          <a:lstStyle/>
          <a:p>
            <a:pPr algn="l"/>
            <a:r>
              <a:rPr sz="950" b="0" i="0">
                <a:solidFill>
                  <a:srgbClr val="6B6690"/>
                </a:solidFill>
                <a:latin typeface="Calibri"/>
              </a:rPr>
              <a:t>10 plus 10</a:t>
            </a:r>
          </a:p>
        </p:txBody>
      </p:sp>
      <p:sp>
        <p:nvSpPr>
          <p:cNvPr id="15" name="Rectangle 14"/>
          <p:cNvSpPr/>
          <p:nvPr/>
        </p:nvSpPr>
        <p:spPr>
          <a:xfrm>
            <a:off x="530352" y="4117848"/>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233007" y="2929128"/>
            <a:ext cx="5428335" cy="698500"/>
          </a:xfrm>
          <a:prstGeom prst="rect">
            <a:avLst/>
          </a:prstGeom>
          <a:noFill/>
        </p:spPr>
        <p:txBody>
          <a:bodyPr wrap="square" anchor="t" lIns="0" rIns="0" tIns="0" bIns="0">
            <a:spAutoFit/>
          </a:bodyPr>
          <a:lstStyle/>
          <a:p>
            <a:pPr algn="l"/>
            <a:r>
              <a:rPr sz="4400" b="0" i="0">
                <a:solidFill>
                  <a:srgbClr val="5B3FD6"/>
                </a:solidFill>
                <a:latin typeface="Georgia"/>
              </a:rPr>
              <a:t>Rs 77,772</a:t>
            </a:r>
          </a:p>
        </p:txBody>
      </p:sp>
      <p:sp>
        <p:nvSpPr>
          <p:cNvPr id="17" name="TextBox 16"/>
          <p:cNvSpPr txBox="1"/>
          <p:nvPr/>
        </p:nvSpPr>
        <p:spPr>
          <a:xfrm>
            <a:off x="6233007" y="3664204"/>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THE SLIDE'S REVENUE</a:t>
            </a:r>
          </a:p>
        </p:txBody>
      </p:sp>
      <p:sp>
        <p:nvSpPr>
          <p:cNvPr id="18" name="TextBox 17"/>
          <p:cNvSpPr txBox="1"/>
          <p:nvPr/>
        </p:nvSpPr>
        <p:spPr>
          <a:xfrm>
            <a:off x="6233007" y="3865372"/>
            <a:ext cx="5428335" cy="193421"/>
          </a:xfrm>
          <a:prstGeom prst="rect">
            <a:avLst/>
          </a:prstGeom>
          <a:noFill/>
        </p:spPr>
        <p:txBody>
          <a:bodyPr wrap="square" anchor="t" lIns="0" rIns="0" tIns="0" bIns="0">
            <a:spAutoFit/>
          </a:bodyPr>
          <a:lstStyle/>
          <a:p>
            <a:pPr algn="l"/>
            <a:r>
              <a:rPr sz="950" b="0" i="0">
                <a:solidFill>
                  <a:srgbClr val="6B6690"/>
                </a:solidFill>
                <a:latin typeface="Calibri"/>
              </a:rPr>
              <a:t>Rs 64,810 x 1.20</a:t>
            </a:r>
          </a:p>
        </p:txBody>
      </p:sp>
      <p:sp>
        <p:nvSpPr>
          <p:cNvPr id="19" name="Rectangle 18"/>
          <p:cNvSpPr/>
          <p:nvPr/>
        </p:nvSpPr>
        <p:spPr>
          <a:xfrm>
            <a:off x="6233007" y="4117848"/>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0352" y="439216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decision it would mislead: a target sized by adding the lifts looks met with room to spare, and is then missed by the lift on the lift.</a:t>
            </a:r>
          </a:p>
        </p:txBody>
      </p:sp>
      <p:sp>
        <p:nvSpPr>
          <p:cNvPr id="21" name="Oval 2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00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branch first</a:t>
            </a:r>
          </a:p>
        </p:txBody>
      </p:sp>
      <p:sp>
        <p:nvSpPr>
          <p:cNvPr id="23" name="Oval 22"/>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25" name="Oval 24"/>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27" name="Oval 26"/>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9" name="Oval 28"/>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31" name="Oval 30"/>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33" name="Oval 32"/>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35" name="TextBox 3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13 / 54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the lifts multiply to 21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check catches the added lifts, and how big is the gap?</a:t>
            </a:r>
          </a:p>
        </p:txBody>
      </p:sp>
      <p:pic>
        <p:nvPicPr>
          <p:cNvPr id="9" name="mermaid diagram" descr="276fe97e245b70c5.png"/>
          <p:cNvPicPr>
            <a:picLocks noChangeAspect="1"/>
          </p:cNvPicPr>
          <p:nvPr/>
        </p:nvPicPr>
        <p:blipFill>
          <a:blip r:embed="rId5"/>
          <a:stretch>
            <a:fillRect/>
          </a:stretch>
        </p:blipFill>
        <p:spPr>
          <a:xfrm>
            <a:off x="2845155" y="1664208"/>
            <a:ext cx="6501384" cy="3250692"/>
          </a:xfrm>
          <a:prstGeom prst="rect">
            <a:avLst/>
          </a:prstGeom>
        </p:spPr>
      </p:pic>
      <p:sp>
        <p:nvSpPr>
          <p:cNvPr id="10" name="Rounded Rectangle 9"/>
          <p:cNvSpPr/>
          <p:nvPr/>
        </p:nvSpPr>
        <p:spPr>
          <a:xfrm>
            <a:off x="530352" y="496062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08863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079492"/>
            <a:ext cx="10564063" cy="891540"/>
          </a:xfrm>
          <a:prstGeom prst="rect">
            <a:avLst/>
          </a:prstGeom>
          <a:noFill/>
        </p:spPr>
        <p:txBody>
          <a:bodyPr wrap="square" anchor="ctr" lIns="0" rIns="0" tIns="0" bIns="0">
            <a:spAutoFit/>
          </a:bodyPr>
          <a:lstStyle/>
          <a:p>
            <a:r>
              <a:rPr sz="1500" b="1">
                <a:solidFill>
                  <a:srgbClr val="5B3FD6"/>
                </a:solidFill>
                <a:latin typeface="Calibri"/>
              </a:rPr>
              <a:t>Why it is wrong. </a:t>
            </a:r>
            <a:r>
              <a:rPr sz="1500" b="0" i="0">
                <a:solidFill>
                  <a:srgbClr val="1A1440"/>
                </a:solidFill>
                <a:latin typeface="Calibri"/>
              </a:rPr>
              <a:t>The second lift applies to a customer base already 10 percent larger. Through the tree, 1.10 x 1.10 = 1.21, so the consumer view reaches Rs 78,420, Rs 648 above the slide; the bars are multiplied, the line is added, and the gap grows with the lifts.</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branch first</a:t>
            </a:r>
          </a:p>
        </p:txBody>
      </p:sp>
      <p:sp>
        <p:nvSpPr>
          <p:cNvPr id="15" name="Oval 14"/>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17" name="Oval 16"/>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9" name="Oval 18"/>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1" name="Oval 20"/>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3" name="Oval 22"/>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5" name="Oval 24"/>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14 / 54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Fix: multiply the lifts, and a discount the same way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changes once the lifts are multiplied?</a:t>
            </a:r>
          </a:p>
        </p:txBody>
      </p:sp>
      <p:graphicFrame>
        <p:nvGraphicFramePr>
          <p:cNvPr id="9" name="Table 8"/>
          <p:cNvGraphicFramePr>
            <a:graphicFrameLocks noGrp="1"/>
          </p:cNvGraphicFramePr>
          <p:nvPr/>
        </p:nvGraphicFramePr>
        <p:xfrm>
          <a:off x="530352" y="1956816"/>
          <a:ext cx="11130990" cy="1109472"/>
        </p:xfrm>
        <a:graphic>
          <a:graphicData uri="http://schemas.openxmlformats.org/drawingml/2006/table">
            <a:tbl>
              <a:tblPr firstRow="0" bandRow="0">
                <a:tableStyleId>{2D5ABB26-0587-4C30-8999-92F81FD0307C}</a:tableStyleId>
              </a:tblPr>
              <a:tblGrid>
                <a:gridCol w="5286956"/>
                <a:gridCol w="2613030"/>
                <a:gridCol w="3231004"/>
              </a:tblGrid>
              <a:tr h="369824">
                <a:tc>
                  <a:txBody>
                    <a:bodyPr/>
                    <a:lstStyle/>
                    <a:p>
                      <a:r>
                        <a:rPr sz="1450" b="1" i="0">
                          <a:solidFill>
                            <a:srgbClr val="FFFFFF"/>
                          </a:solidFill>
                          <a:latin typeface="Calibri"/>
                        </a:rPr>
                        <a:t>Proposal on the consumer view</a:t>
                      </a:r>
                    </a:p>
                  </a:txBody>
                  <a:tcPr marL="101600" marR="101600" marT="38100" marB="38100" anchor="ctr">
                    <a:solidFill>
                      <a:srgbClr val="1A0F5C"/>
                    </a:solidFill>
                  </a:tcPr>
                </a:tc>
                <a:tc>
                  <a:txBody>
                    <a:bodyPr/>
                    <a:lstStyle/>
                    <a:p>
                      <a:r>
                        <a:rPr sz="1450" b="1" i="0">
                          <a:solidFill>
                            <a:srgbClr val="FFFFFF"/>
                          </a:solidFill>
                          <a:latin typeface="Calibri"/>
                        </a:rPr>
                        <a:t>Added</a:t>
                      </a:r>
                    </a:p>
                  </a:txBody>
                  <a:tcPr marL="101600" marR="101600" marT="38100" marB="38100" anchor="ctr">
                    <a:solidFill>
                      <a:srgbClr val="1A0F5C"/>
                    </a:solidFill>
                  </a:tcPr>
                </a:tc>
                <a:tc>
                  <a:txBody>
                    <a:bodyPr/>
                    <a:lstStyle/>
                    <a:p>
                      <a:r>
                        <a:rPr sz="1450" b="1" i="0">
                          <a:solidFill>
                            <a:srgbClr val="FFFFFF"/>
                          </a:solidFill>
                          <a:latin typeface="Calibri"/>
                        </a:rPr>
                        <a:t>Multiplied through the tree</a:t>
                      </a:r>
                    </a:p>
                  </a:txBody>
                  <a:tcPr marL="101600" marR="101600" marT="38100" marB="38100" anchor="ctr">
                    <a:solidFill>
                      <a:srgbClr val="1A0F5C"/>
                    </a:solidFill>
                  </a:tcPr>
                </a:tc>
              </a:tr>
              <a:tr h="369824">
                <a:tc>
                  <a:txBody>
                    <a:bodyPr/>
                    <a:lstStyle/>
                    <a:p>
                      <a:r>
                        <a:rPr sz="1400" b="0" i="0">
                          <a:solidFill>
                            <a:srgbClr val="1A1440"/>
                          </a:solidFill>
                          <a:latin typeface="Calibri"/>
                        </a:rPr>
                        <a:t>Customers up 10 percent and frequency up 10 percent</a:t>
                      </a:r>
                    </a:p>
                  </a:txBody>
                  <a:tcPr marL="101600" marR="101600" marT="38100" marB="38100" anchor="ctr">
                    <a:solidFill>
                      <a:srgbClr val="FFFFFF"/>
                    </a:solidFill>
                  </a:tcPr>
                </a:tc>
                <a:tc>
                  <a:txBody>
                    <a:bodyPr/>
                    <a:lstStyle/>
                    <a:p>
                      <a:r>
                        <a:rPr sz="1400" b="0" i="0">
                          <a:solidFill>
                            <a:srgbClr val="1A1440"/>
                          </a:solidFill>
                          <a:latin typeface="Calibri"/>
                        </a:rPr>
                        <a:t>Up 20 percent, Rs 77,772</a:t>
                      </a:r>
                    </a:p>
                  </a:txBody>
                  <a:tcPr marL="101600" marR="101600" marT="38100" marB="38100" anchor="ctr">
                    <a:solidFill>
                      <a:srgbClr val="FFFFFF"/>
                    </a:solidFill>
                  </a:tcPr>
                </a:tc>
                <a:tc>
                  <a:txBody>
                    <a:bodyPr/>
                    <a:lstStyle/>
                    <a:p>
                      <a:r>
                        <a:rPr sz="1400" b="0" i="0">
                          <a:solidFill>
                            <a:srgbClr val="1A1440"/>
                          </a:solidFill>
                          <a:latin typeface="Calibri"/>
                        </a:rPr>
                        <a:t>Up 21 percent, Rs 78,420</a:t>
                      </a:r>
                    </a:p>
                  </a:txBody>
                  <a:tcPr marL="101600" marR="101600" marT="38100" marB="38100" anchor="ctr">
                    <a:solidFill>
                      <a:srgbClr val="FFFFFF"/>
                    </a:solidFill>
                  </a:tcPr>
                </a:tc>
              </a:tr>
              <a:tr h="369824">
                <a:tc>
                  <a:txBody>
                    <a:bodyPr/>
                    <a:lstStyle/>
                    <a:p>
                      <a:r>
                        <a:rPr sz="1400" b="0" i="0">
                          <a:solidFill>
                            <a:srgbClr val="1A1440"/>
                          </a:solidFill>
                          <a:latin typeface="Calibri"/>
                        </a:rPr>
                        <a:t>15 percent off, with orders up 10 percent</a:t>
                      </a:r>
                    </a:p>
                  </a:txBody>
                  <a:tcPr marL="101600" marR="101600" marT="38100" marB="38100" anchor="ctr">
                    <a:solidFill>
                      <a:srgbClr val="F4F2FA"/>
                    </a:solidFill>
                  </a:tcPr>
                </a:tc>
                <a:tc>
                  <a:txBody>
                    <a:bodyPr/>
                    <a:lstStyle/>
                    <a:p>
                      <a:r>
                        <a:rPr sz="1400" b="0" i="0">
                          <a:solidFill>
                            <a:srgbClr val="1A1440"/>
                          </a:solidFill>
                          <a:latin typeface="Calibri"/>
                        </a:rPr>
                        <a:t>Down 5 percent</a:t>
                      </a:r>
                    </a:p>
                  </a:txBody>
                  <a:tcPr marL="101600" marR="101600" marT="38100" marB="38100" anchor="ctr">
                    <a:solidFill>
                      <a:srgbClr val="F4F2FA"/>
                    </a:solidFill>
                  </a:tcPr>
                </a:tc>
                <a:tc>
                  <a:txBody>
                    <a:bodyPr/>
                    <a:lstStyle/>
                    <a:p>
                      <a:r>
                        <a:rPr sz="1400" b="0" i="0">
                          <a:solidFill>
                            <a:srgbClr val="1A1440"/>
                          </a:solidFill>
                          <a:latin typeface="Calibri"/>
                        </a:rPr>
                        <a:t>Down 6.5 percent, Rs 60,597</a:t>
                      </a:r>
                    </a:p>
                  </a:txBody>
                  <a:tcPr marL="101600" marR="101600" marT="38100" marB="38100" anchor="ctr">
                    <a:solidFill>
                      <a:srgbClr val="F4F2FA"/>
                    </a:solidFill>
                  </a:tcPr>
                </a:tc>
              </a:tr>
            </a:tbl>
          </a:graphicData>
        </a:graphic>
      </p:graphicFrame>
      <p:sp>
        <p:nvSpPr>
          <p:cNvPr id="10" name="Rounded Rectangle 9"/>
          <p:cNvSpPr/>
          <p:nvPr/>
        </p:nvSpPr>
        <p:spPr>
          <a:xfrm>
            <a:off x="530352" y="3322320"/>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65455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4"/>
          <a:stretch>
            <a:fillRect/>
          </a:stretch>
        </p:blipFill>
        <p:spPr>
          <a:xfrm>
            <a:off x="868680" y="3764280"/>
            <a:ext cx="237744" cy="237744"/>
          </a:xfrm>
          <a:prstGeom prst="rect">
            <a:avLst/>
          </a:prstGeom>
        </p:spPr>
      </p:pic>
      <p:sp>
        <p:nvSpPr>
          <p:cNvPr id="13" name="TextBox 12"/>
          <p:cNvSpPr txBox="1"/>
          <p:nvPr/>
        </p:nvSpPr>
        <p:spPr>
          <a:xfrm>
            <a:off x="1399031" y="346862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3688080"/>
            <a:ext cx="9987991" cy="682752"/>
          </a:xfrm>
          <a:prstGeom prst="rect">
            <a:avLst/>
          </a:prstGeom>
          <a:noFill/>
        </p:spPr>
        <p:txBody>
          <a:bodyPr wrap="square" anchor="t" lIns="0" rIns="0" tIns="0" bIns="0">
            <a:spAutoFit/>
          </a:bodyPr>
          <a:lstStyle/>
          <a:p>
            <a:r>
              <a:rPr sz="1500" b="0" i="0">
                <a:solidFill>
                  <a:srgbClr val="1A1440"/>
                </a:solidFill>
                <a:latin typeface="Calibri"/>
              </a:rPr>
              <a:t>Lifts multiply along the tree, so size a target through the tree and price a discount as 0.85 x 1.10 = 0.935, a 6.5 percent fall that addition would call 5.</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branch first</a:t>
            </a:r>
          </a:p>
        </p:txBody>
      </p:sp>
      <p:sp>
        <p:nvSpPr>
          <p:cNvPr id="17" name="Oval 16"/>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19" name="Oval 18"/>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21" name="Oval 20"/>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3" name="Oval 22"/>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5" name="Oval 24"/>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7" name="Oval 26"/>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15 / 54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four parts land on Rs 78,420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 the four parts land on the same total?</a:t>
            </a:r>
          </a:p>
        </p:txBody>
      </p:sp>
      <p:pic>
        <p:nvPicPr>
          <p:cNvPr id="9" name="mermaid diagram" descr="ef39c7b08a52b671.png"/>
          <p:cNvPicPr>
            <a:picLocks noChangeAspect="1"/>
          </p:cNvPicPr>
          <p:nvPr/>
        </p:nvPicPr>
        <p:blipFill>
          <a:blip r:embed="rId6"/>
          <a:stretch>
            <a:fillRect/>
          </a:stretch>
        </p:blipFill>
        <p:spPr>
          <a:xfrm>
            <a:off x="530352" y="1956816"/>
            <a:ext cx="11130991" cy="1101940"/>
          </a:xfrm>
          <a:prstGeom prst="rect">
            <a:avLst/>
          </a:prstGeom>
        </p:spPr>
      </p:pic>
      <p:sp>
        <p:nvSpPr>
          <p:cNvPr id="10" name="TextBox 9"/>
          <p:cNvSpPr txBox="1"/>
          <p:nvPr/>
        </p:nvSpPr>
        <p:spPr>
          <a:xfrm>
            <a:off x="530352" y="3205060"/>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base, two lifts of Rs 6,481 and the lift on the lift of Rs 648, which is 0.10 x 0.10 of the base, land where the multiplication did; the slide's Rs 77,772 stops one part short.</a:t>
            </a:r>
          </a:p>
        </p:txBody>
      </p:sp>
      <p:sp>
        <p:nvSpPr>
          <p:cNvPr id="11" name="Rounded Rectangle 10"/>
          <p:cNvSpPr/>
          <p:nvPr/>
        </p:nvSpPr>
        <p:spPr>
          <a:xfrm>
            <a:off x="530352" y="4105236"/>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58952" y="443746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list-checks_bd88901d2a37.png"/>
          <p:cNvPicPr>
            <a:picLocks noChangeAspect="1"/>
          </p:cNvPicPr>
          <p:nvPr/>
        </p:nvPicPr>
        <p:blipFill>
          <a:blip r:embed="rId5"/>
          <a:stretch>
            <a:fillRect/>
          </a:stretch>
        </p:blipFill>
        <p:spPr>
          <a:xfrm>
            <a:off x="868680" y="4547196"/>
            <a:ext cx="237744" cy="237744"/>
          </a:xfrm>
          <a:prstGeom prst="rect">
            <a:avLst/>
          </a:prstGeom>
        </p:spPr>
      </p:pic>
      <p:sp>
        <p:nvSpPr>
          <p:cNvPr id="14" name="TextBox 13"/>
          <p:cNvSpPr txBox="1"/>
          <p:nvPr/>
        </p:nvSpPr>
        <p:spPr>
          <a:xfrm>
            <a:off x="1399031" y="425154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5" name="TextBox 14"/>
          <p:cNvSpPr txBox="1"/>
          <p:nvPr/>
        </p:nvSpPr>
        <p:spPr>
          <a:xfrm>
            <a:off x="1399031" y="4470996"/>
            <a:ext cx="9987991" cy="682752"/>
          </a:xfrm>
          <a:prstGeom prst="rect">
            <a:avLst/>
          </a:prstGeom>
          <a:noFill/>
        </p:spPr>
        <p:txBody>
          <a:bodyPr wrap="square" anchor="t" lIns="0" rIns="0" tIns="0" bIns="0">
            <a:spAutoFit/>
          </a:bodyPr>
          <a:lstStyle/>
          <a:p>
            <a:r>
              <a:rPr sz="1500" b="0" i="0">
                <a:solidFill>
                  <a:srgbClr val="1A1440"/>
                </a:solidFill>
                <a:latin typeface="Calibri"/>
              </a:rPr>
              <a:t>Multiply the factors when you need the total, and build the parts when someone asks where the extra came from, since the lift on the lift shows as its own line.</a:t>
            </a:r>
          </a:p>
        </p:txBody>
      </p:sp>
      <p:sp>
        <p:nvSpPr>
          <p:cNvPr id="16" name="Oval 1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branch first</a:t>
            </a:r>
          </a:p>
        </p:txBody>
      </p:sp>
      <p:sp>
        <p:nvSpPr>
          <p:cNvPr id="18" name="Oval 17"/>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20" name="Oval 19"/>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22" name="Oval 21"/>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4" name="Oval 23"/>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6" name="Oval 25"/>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8" name="Oval 27"/>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16 / 54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A 15 percent discount needs 17.6 percent more orders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far must orders rise before 15 percent off holds revenue?</a:t>
            </a:r>
          </a:p>
        </p:txBody>
      </p:sp>
      <p:pic>
        <p:nvPicPr>
          <p:cNvPr id="10" name="mermaid diagram" descr="64eb4623e7e68133.png"/>
          <p:cNvPicPr>
            <a:picLocks noChangeAspect="1"/>
          </p:cNvPicPr>
          <p:nvPr/>
        </p:nvPicPr>
        <p:blipFill>
          <a:blip r:embed="rId5"/>
          <a:stretch>
            <a:fillRect/>
          </a:stretch>
        </p:blipFill>
        <p:spPr>
          <a:xfrm>
            <a:off x="2286863" y="1664208"/>
            <a:ext cx="7617968" cy="3808984"/>
          </a:xfrm>
          <a:prstGeom prst="rect">
            <a:avLst/>
          </a:prstGeom>
        </p:spPr>
      </p:pic>
      <p:sp>
        <p:nvSpPr>
          <p:cNvPr id="11" name="TextBox 10"/>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Revenue after the discount is 0.85 x (1 + the lift), which reaches 100 only when the lift is 1 / 0.85 less one, about 17.6 percent; holding margin needs more.</a:t>
            </a:r>
          </a:p>
        </p:txBody>
      </p:sp>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branch first</a:t>
            </a:r>
          </a:p>
        </p:txBody>
      </p:sp>
      <p:sp>
        <p:nvSpPr>
          <p:cNvPr id="14" name="Oval 13"/>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16" name="Oval 15"/>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8" name="Oval 17"/>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0" name="Oval 19"/>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2" name="Oval 21"/>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4" name="Oval 23"/>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D15  ·  17 / 54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Chapter 5 opens frequency and names its switch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each of the chapter's six questions find?</a:t>
            </a:r>
          </a:p>
        </p:txBody>
      </p:sp>
      <p:sp>
        <p:nvSpPr>
          <p:cNvPr id="9" name="TextBox 8"/>
          <p:cNvSpPr txBox="1"/>
          <p:nvPr/>
        </p:nvSpPr>
        <p:spPr>
          <a:xfrm>
            <a:off x="530352" y="1645920"/>
            <a:ext cx="502920" cy="267716"/>
          </a:xfrm>
          <a:prstGeom prst="rect">
            <a:avLst/>
          </a:prstGeom>
          <a:noFill/>
        </p:spPr>
        <p:txBody>
          <a:bodyPr wrap="square" anchor="t" lIns="0" rIns="0" tIns="0" bIns="0">
            <a:spAutoFit/>
          </a:bodyPr>
          <a:lstStyle/>
          <a:p>
            <a:pPr algn="l"/>
            <a:r>
              <a:rPr sz="1400" b="0" i="0">
                <a:solidFill>
                  <a:srgbClr val="5B3FD6"/>
                </a:solidFill>
                <a:latin typeface="Georgia"/>
              </a:rPr>
              <a:t>01</a:t>
            </a:r>
          </a:p>
        </p:txBody>
      </p:sp>
      <p:sp>
        <p:nvSpPr>
          <p:cNvPr id="10" name="TextBox 9"/>
          <p:cNvSpPr txBox="1"/>
          <p:nvPr/>
        </p:nvSpPr>
        <p:spPr>
          <a:xfrm>
            <a:off x="1097280" y="1682496"/>
            <a:ext cx="10564063" cy="299720"/>
          </a:xfrm>
          <a:prstGeom prst="rect">
            <a:avLst/>
          </a:prstGeom>
          <a:noFill/>
        </p:spPr>
        <p:txBody>
          <a:bodyPr wrap="square" anchor="t" lIns="0" rIns="0" tIns="0" bIns="0">
            <a:spAutoFit/>
          </a:bodyPr>
          <a:lstStyle/>
          <a:p>
            <a:r>
              <a:rPr sz="1100" b="1" i="0">
                <a:solidFill>
                  <a:srgbClr val="1A1440"/>
                </a:solidFill>
                <a:latin typeface="Calibri"/>
              </a:rPr>
              <a:t>Which base is the plan sized on?</a:t>
            </a:r>
            <a:r>
              <a:rPr sz="1100" b="0" i="0">
                <a:solidFill>
                  <a:srgbClr val="1A1440"/>
                </a:solidFill>
                <a:latin typeface="Calibri"/>
              </a:rPr>
              <a:t> It is sized on the consumer view, whose Rs 64,810 needs Rs 9,722 more.</a:t>
            </a:r>
          </a:p>
        </p:txBody>
      </p:sp>
      <p:sp>
        <p:nvSpPr>
          <p:cNvPr id="11" name="TextBox 10"/>
          <p:cNvSpPr txBox="1"/>
          <p:nvPr/>
        </p:nvSpPr>
        <p:spPr>
          <a:xfrm>
            <a:off x="530352" y="2018792"/>
            <a:ext cx="502920" cy="267716"/>
          </a:xfrm>
          <a:prstGeom prst="rect">
            <a:avLst/>
          </a:prstGeom>
          <a:noFill/>
        </p:spPr>
        <p:txBody>
          <a:bodyPr wrap="square" anchor="t" lIns="0" rIns="0" tIns="0" bIns="0">
            <a:spAutoFit/>
          </a:bodyPr>
          <a:lstStyle/>
          <a:p>
            <a:pPr algn="l"/>
            <a:r>
              <a:rPr sz="1400" b="0" i="0">
                <a:solidFill>
                  <a:srgbClr val="5B3FD6"/>
                </a:solidFill>
                <a:latin typeface="Georgia"/>
              </a:rPr>
              <a:t>02</a:t>
            </a:r>
          </a:p>
        </p:txBody>
      </p:sp>
      <p:sp>
        <p:nvSpPr>
          <p:cNvPr id="12" name="TextBox 11"/>
          <p:cNvSpPr txBox="1"/>
          <p:nvPr/>
        </p:nvSpPr>
        <p:spPr>
          <a:xfrm>
            <a:off x="1097280" y="2055368"/>
            <a:ext cx="10564063" cy="299720"/>
          </a:xfrm>
          <a:prstGeom prst="rect">
            <a:avLst/>
          </a:prstGeom>
          <a:noFill/>
        </p:spPr>
        <p:txBody>
          <a:bodyPr wrap="square" anchor="t" lIns="0" rIns="0" tIns="0" bIns="0">
            <a:spAutoFit/>
          </a:bodyPr>
          <a:lstStyle/>
          <a:p>
            <a:r>
              <a:rPr sz="1100" b="1" i="0">
                <a:solidFill>
                  <a:srgbClr val="1A1440"/>
                </a:solidFill>
                <a:latin typeface="Calibri"/>
              </a:rPr>
              <a:t>What would each branch have to do alone?</a:t>
            </a:r>
            <a:r>
              <a:rPr sz="1100" b="0" i="0">
                <a:solidFill>
                  <a:srgbClr val="1A1440"/>
                </a:solidFill>
                <a:latin typeface="Calibri"/>
              </a:rPr>
              <a:t> Each would have to rise the whole 15 percent.</a:t>
            </a:r>
          </a:p>
        </p:txBody>
      </p:sp>
      <p:sp>
        <p:nvSpPr>
          <p:cNvPr id="13" name="TextBox 12"/>
          <p:cNvSpPr txBox="1"/>
          <p:nvPr/>
        </p:nvSpPr>
        <p:spPr>
          <a:xfrm>
            <a:off x="530352" y="2391664"/>
            <a:ext cx="502920" cy="267716"/>
          </a:xfrm>
          <a:prstGeom prst="rect">
            <a:avLst/>
          </a:prstGeom>
          <a:noFill/>
        </p:spPr>
        <p:txBody>
          <a:bodyPr wrap="square" anchor="t" lIns="0" rIns="0" tIns="0" bIns="0">
            <a:spAutoFit/>
          </a:bodyPr>
          <a:lstStyle/>
          <a:p>
            <a:pPr algn="l"/>
            <a:r>
              <a:rPr sz="1400" b="0" i="0">
                <a:solidFill>
                  <a:srgbClr val="5B3FD6"/>
                </a:solidFill>
                <a:latin typeface="Georgia"/>
              </a:rPr>
              <a:t>03</a:t>
            </a:r>
          </a:p>
        </p:txBody>
      </p:sp>
      <p:sp>
        <p:nvSpPr>
          <p:cNvPr id="14" name="TextBox 13"/>
          <p:cNvSpPr txBox="1"/>
          <p:nvPr/>
        </p:nvSpPr>
        <p:spPr>
          <a:xfrm>
            <a:off x="1097280" y="2428240"/>
            <a:ext cx="10564063" cy="299720"/>
          </a:xfrm>
          <a:prstGeom prst="rect">
            <a:avLst/>
          </a:prstGeom>
          <a:noFill/>
        </p:spPr>
        <p:txBody>
          <a:bodyPr wrap="square" anchor="t" lIns="0" rIns="0" tIns="0" bIns="0">
            <a:spAutoFit/>
          </a:bodyPr>
          <a:lstStyle/>
          <a:p>
            <a:r>
              <a:rPr sz="1100" b="1" i="0">
                <a:solidFill>
                  <a:srgbClr val="1A1440"/>
                </a:solidFill>
                <a:latin typeface="Calibri"/>
              </a:rPr>
              <a:t>Which branch has evidence behind it?</a:t>
            </a:r>
            <a:r>
              <a:rPr sz="1100" b="0" i="0">
                <a:solidFill>
                  <a:srgbClr val="1A1440"/>
                </a:solidFill>
                <a:latin typeface="Calibri"/>
              </a:rPr>
              <a:t> Frequency has, since 7 of 23 customers came back.</a:t>
            </a:r>
          </a:p>
        </p:txBody>
      </p:sp>
      <p:sp>
        <p:nvSpPr>
          <p:cNvPr id="15" name="TextBox 14"/>
          <p:cNvSpPr txBox="1"/>
          <p:nvPr/>
        </p:nvSpPr>
        <p:spPr>
          <a:xfrm>
            <a:off x="530352" y="2764536"/>
            <a:ext cx="502920" cy="267716"/>
          </a:xfrm>
          <a:prstGeom prst="rect">
            <a:avLst/>
          </a:prstGeom>
          <a:noFill/>
        </p:spPr>
        <p:txBody>
          <a:bodyPr wrap="square" anchor="t" lIns="0" rIns="0" tIns="0" bIns="0">
            <a:spAutoFit/>
          </a:bodyPr>
          <a:lstStyle/>
          <a:p>
            <a:pPr algn="l"/>
            <a:r>
              <a:rPr sz="1400" b="0" i="0">
                <a:solidFill>
                  <a:srgbClr val="5B3FD6"/>
                </a:solidFill>
                <a:latin typeface="Georgia"/>
              </a:rPr>
              <a:t>04</a:t>
            </a:r>
          </a:p>
        </p:txBody>
      </p:sp>
      <p:sp>
        <p:nvSpPr>
          <p:cNvPr id="16" name="TextBox 15"/>
          <p:cNvSpPr txBox="1"/>
          <p:nvPr/>
        </p:nvSpPr>
        <p:spPr>
          <a:xfrm>
            <a:off x="1097280" y="2801112"/>
            <a:ext cx="10564063" cy="299720"/>
          </a:xfrm>
          <a:prstGeom prst="rect">
            <a:avLst/>
          </a:prstGeom>
          <a:noFill/>
        </p:spPr>
        <p:txBody>
          <a:bodyPr wrap="square" anchor="t" lIns="0" rIns="0" tIns="0" bIns="0">
            <a:spAutoFit/>
          </a:bodyPr>
          <a:lstStyle/>
          <a:p>
            <a:r>
              <a:rPr sz="1100" b="1" i="0">
                <a:solidFill>
                  <a:srgbClr val="1A1440"/>
                </a:solidFill>
                <a:latin typeface="Calibri"/>
              </a:rPr>
              <a:t>Do two 10 percent lifts make 20 percent?</a:t>
            </a:r>
            <a:r>
              <a:rPr sz="1100" b="0" i="0">
                <a:solidFill>
                  <a:srgbClr val="1A1440"/>
                </a:solidFill>
                <a:latin typeface="Calibri"/>
              </a:rPr>
              <a:t> They make 21 percent, Rs 78,420 against Rs 77,772.</a:t>
            </a:r>
          </a:p>
        </p:txBody>
      </p:sp>
      <p:sp>
        <p:nvSpPr>
          <p:cNvPr id="17" name="TextBox 16"/>
          <p:cNvSpPr txBox="1"/>
          <p:nvPr/>
        </p:nvSpPr>
        <p:spPr>
          <a:xfrm>
            <a:off x="530352" y="3137408"/>
            <a:ext cx="502920" cy="267716"/>
          </a:xfrm>
          <a:prstGeom prst="rect">
            <a:avLst/>
          </a:prstGeom>
          <a:noFill/>
        </p:spPr>
        <p:txBody>
          <a:bodyPr wrap="square" anchor="t" lIns="0" rIns="0" tIns="0" bIns="0">
            <a:spAutoFit/>
          </a:bodyPr>
          <a:lstStyle/>
          <a:p>
            <a:pPr algn="l"/>
            <a:r>
              <a:rPr sz="1400" b="0" i="0">
                <a:solidFill>
                  <a:srgbClr val="5B3FD6"/>
                </a:solidFill>
                <a:latin typeface="Georgia"/>
              </a:rPr>
              <a:t>05</a:t>
            </a:r>
          </a:p>
        </p:txBody>
      </p:sp>
      <p:sp>
        <p:nvSpPr>
          <p:cNvPr id="18" name="TextBox 17"/>
          <p:cNvSpPr txBox="1"/>
          <p:nvPr/>
        </p:nvSpPr>
        <p:spPr>
          <a:xfrm>
            <a:off x="1097280" y="3173984"/>
            <a:ext cx="10564063" cy="299720"/>
          </a:xfrm>
          <a:prstGeom prst="rect">
            <a:avLst/>
          </a:prstGeom>
          <a:noFill/>
        </p:spPr>
        <p:txBody>
          <a:bodyPr wrap="square" anchor="t" lIns="0" rIns="0" tIns="0" bIns="0">
            <a:spAutoFit/>
          </a:bodyPr>
          <a:lstStyle/>
          <a:p>
            <a:r>
              <a:rPr sz="1100" b="1" i="0">
                <a:solidFill>
                  <a:srgbClr val="1A1440"/>
                </a:solidFill>
                <a:latin typeface="Calibri"/>
              </a:rPr>
              <a:t>Do the four parts land on the same total?</a:t>
            </a:r>
            <a:r>
              <a:rPr sz="1100" b="0" i="0">
                <a:solidFill>
                  <a:srgbClr val="1A1440"/>
                </a:solidFill>
                <a:latin typeface="Calibri"/>
              </a:rPr>
              <a:t> They do, on Rs 78,420.</a:t>
            </a:r>
          </a:p>
        </p:txBody>
      </p:sp>
      <p:sp>
        <p:nvSpPr>
          <p:cNvPr id="19" name="TextBox 18"/>
          <p:cNvSpPr txBox="1"/>
          <p:nvPr/>
        </p:nvSpPr>
        <p:spPr>
          <a:xfrm>
            <a:off x="530352" y="3510280"/>
            <a:ext cx="502920" cy="267716"/>
          </a:xfrm>
          <a:prstGeom prst="rect">
            <a:avLst/>
          </a:prstGeom>
          <a:noFill/>
        </p:spPr>
        <p:txBody>
          <a:bodyPr wrap="square" anchor="t" lIns="0" rIns="0" tIns="0" bIns="0">
            <a:spAutoFit/>
          </a:bodyPr>
          <a:lstStyle/>
          <a:p>
            <a:pPr algn="l"/>
            <a:r>
              <a:rPr sz="1400" b="0" i="0">
                <a:solidFill>
                  <a:srgbClr val="5B3FD6"/>
                </a:solidFill>
                <a:latin typeface="Georgia"/>
              </a:rPr>
              <a:t>06</a:t>
            </a:r>
          </a:p>
        </p:txBody>
      </p:sp>
      <p:sp>
        <p:nvSpPr>
          <p:cNvPr id="20" name="TextBox 19"/>
          <p:cNvSpPr txBox="1"/>
          <p:nvPr/>
        </p:nvSpPr>
        <p:spPr>
          <a:xfrm>
            <a:off x="1097280" y="3546856"/>
            <a:ext cx="10564063" cy="299720"/>
          </a:xfrm>
          <a:prstGeom prst="rect">
            <a:avLst/>
          </a:prstGeom>
          <a:noFill/>
        </p:spPr>
        <p:txBody>
          <a:bodyPr wrap="square" anchor="t" lIns="0" rIns="0" tIns="0" bIns="0">
            <a:spAutoFit/>
          </a:bodyPr>
          <a:lstStyle/>
          <a:p>
            <a:r>
              <a:rPr sz="1100" b="1" i="0">
                <a:solidFill>
                  <a:srgbClr val="1A1440"/>
                </a:solidFill>
                <a:latin typeface="Calibri"/>
              </a:rPr>
              <a:t>What would switch the call?</a:t>
            </a:r>
            <a:r>
              <a:rPr sz="1100" b="0" i="0">
                <a:solidFill>
                  <a:srgbClr val="1A1440"/>
                </a:solidFill>
                <a:latin typeface="Calibri"/>
              </a:rPr>
              <a:t> Customers falling in a second quarter would, or a retained order costing more than a new one.</a:t>
            </a:r>
          </a:p>
        </p:txBody>
      </p:sp>
      <p:sp>
        <p:nvSpPr>
          <p:cNvPr id="21" name="Rounded Rectangle 20"/>
          <p:cNvSpPr/>
          <p:nvPr/>
        </p:nvSpPr>
        <p:spPr>
          <a:xfrm>
            <a:off x="530352" y="4029456"/>
            <a:ext cx="11130991" cy="983488"/>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429260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search-check_6571e64a041f.png"/>
          <p:cNvPicPr>
            <a:picLocks noChangeAspect="1"/>
          </p:cNvPicPr>
          <p:nvPr/>
        </p:nvPicPr>
        <p:blipFill>
          <a:blip r:embed="rId4"/>
          <a:stretch>
            <a:fillRect/>
          </a:stretch>
        </p:blipFill>
        <p:spPr>
          <a:xfrm>
            <a:off x="868680" y="4402328"/>
            <a:ext cx="237744" cy="237744"/>
          </a:xfrm>
          <a:prstGeom prst="rect">
            <a:avLst/>
          </a:prstGeom>
        </p:spPr>
      </p:pic>
      <p:sp>
        <p:nvSpPr>
          <p:cNvPr id="24" name="TextBox 23"/>
          <p:cNvSpPr txBox="1"/>
          <p:nvPr/>
        </p:nvSpPr>
        <p:spPr>
          <a:xfrm>
            <a:off x="1399031" y="41757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25" name="TextBox 24"/>
          <p:cNvSpPr txBox="1"/>
          <p:nvPr/>
        </p:nvSpPr>
        <p:spPr>
          <a:xfrm>
            <a:off x="1399031" y="4395216"/>
            <a:ext cx="9987991" cy="544576"/>
          </a:xfrm>
          <a:prstGeom prst="rect">
            <a:avLst/>
          </a:prstGeom>
          <a:noFill/>
        </p:spPr>
        <p:txBody>
          <a:bodyPr wrap="square" anchor="t" lIns="0" rIns="0" tIns="0" bIns="0">
            <a:spAutoFit/>
          </a:bodyPr>
          <a:lstStyle/>
          <a:p>
            <a:r>
              <a:rPr sz="1100" b="0" i="0">
                <a:solidFill>
                  <a:srgbClr val="1A1440"/>
                </a:solidFill>
                <a:latin typeface="Calibri"/>
              </a:rPr>
              <a:t>"Pick the branch the evidence points at and the one that costs least to test, then say what would make you pick another. And recompute anything someone adds up."</a:t>
            </a:r>
          </a:p>
        </p:txBody>
      </p:sp>
      <p:sp>
        <p:nvSpPr>
          <p:cNvPr id="26" name="Rounded Rectangle 25"/>
          <p:cNvSpPr/>
          <p:nvPr/>
        </p:nvSpPr>
        <p:spPr>
          <a:xfrm>
            <a:off x="530352" y="5177536"/>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758952" y="53604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mic_caee7398c80d.png"/>
          <p:cNvPicPr>
            <a:picLocks noChangeAspect="1"/>
          </p:cNvPicPr>
          <p:nvPr/>
        </p:nvPicPr>
        <p:blipFill>
          <a:blip r:embed="rId5"/>
          <a:stretch>
            <a:fillRect/>
          </a:stretch>
        </p:blipFill>
        <p:spPr>
          <a:xfrm>
            <a:off x="868680" y="5470144"/>
            <a:ext cx="237744" cy="237744"/>
          </a:xfrm>
          <a:prstGeom prst="rect">
            <a:avLst/>
          </a:prstGeom>
        </p:spPr>
      </p:pic>
      <p:sp>
        <p:nvSpPr>
          <p:cNvPr id="29" name="TextBox 28"/>
          <p:cNvSpPr txBox="1"/>
          <p:nvPr/>
        </p:nvSpPr>
        <p:spPr>
          <a:xfrm>
            <a:off x="1399031" y="532384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30" name="TextBox 29"/>
          <p:cNvSpPr txBox="1"/>
          <p:nvPr/>
        </p:nvSpPr>
        <p:spPr>
          <a:xfrm>
            <a:off x="1399031" y="5543296"/>
            <a:ext cx="9987991" cy="384048"/>
          </a:xfrm>
          <a:prstGeom prst="rect">
            <a:avLst/>
          </a:prstGeom>
          <a:noFill/>
        </p:spPr>
        <p:txBody>
          <a:bodyPr wrap="square" anchor="t" lIns="0" rIns="0" tIns="0" bIns="0">
            <a:spAutoFit/>
          </a:bodyPr>
          <a:lstStyle/>
          <a:p>
            <a:r>
              <a:rPr sz="1100" b="0" i="0">
                <a:solidFill>
                  <a:srgbClr val="1A1440"/>
                </a:solidFill>
                <a:latin typeface="Calibri"/>
              </a:rPr>
              <a:t>[D] Marketing wants budget for acquisition; what would you check before agreeing it is the right branch, and how would you say no?</a:t>
            </a:r>
          </a:p>
        </p:txBody>
      </p:sp>
      <p:sp>
        <p:nvSpPr>
          <p:cNvPr id="31" name="Oval 3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0080"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Which branch first</a:t>
            </a:r>
          </a:p>
        </p:txBody>
      </p:sp>
      <p:sp>
        <p:nvSpPr>
          <p:cNvPr id="33" name="Oval 32"/>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35" name="Oval 34"/>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37" name="Oval 36"/>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39" name="Oval 38"/>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41" name="Oval 40"/>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43" name="Oval 42"/>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45" name="TextBox 4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18 / 54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06</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will Meera sign</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What one sentence can Meera sign, with its evidence, its branch, its caveat and its ask?</a:t>
            </a:r>
          </a:p>
        </p:txBody>
      </p:sp>
      <p:sp>
        <p:nvSpPr>
          <p:cNvPr id="10" name="Rounded Rectangle 9"/>
          <p:cNvSpPr/>
          <p:nvPr/>
        </p:nvSpPr>
        <p:spPr>
          <a:xfrm>
            <a:off x="731519"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branch first</a:t>
            </a:r>
          </a:p>
        </p:txBody>
      </p:sp>
      <p:sp>
        <p:nvSpPr>
          <p:cNvPr id="11" name="Rounded Rectangle 10"/>
          <p:cNvSpPr/>
          <p:nvPr/>
        </p:nvSpPr>
        <p:spPr>
          <a:xfrm>
            <a:off x="2272895" y="5074920"/>
            <a:ext cx="155007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will Meera sign</a:t>
            </a:r>
          </a:p>
        </p:txBody>
      </p:sp>
      <p:sp>
        <p:nvSpPr>
          <p:cNvPr id="12" name="Rounded Rectangle 11"/>
          <p:cNvSpPr/>
          <p:nvPr/>
        </p:nvSpPr>
        <p:spPr>
          <a:xfrm>
            <a:off x="3932702" y="5074920"/>
            <a:ext cx="119478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Escalated case</a:t>
            </a:r>
          </a:p>
        </p:txBody>
      </p:sp>
      <p:sp>
        <p:nvSpPr>
          <p:cNvPr id="13" name="Rounded Rectangle 12"/>
          <p:cNvSpPr/>
          <p:nvPr/>
        </p:nvSpPr>
        <p:spPr>
          <a:xfrm>
            <a:off x="5237214" y="5074920"/>
            <a:ext cx="113556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hold up</a:t>
            </a:r>
          </a:p>
        </p:txBody>
      </p:sp>
      <p:sp>
        <p:nvSpPr>
          <p:cNvPr id="14" name="Rounded Rectangle 13"/>
          <p:cNvSpPr/>
          <p:nvPr/>
        </p:nvSpPr>
        <p:spPr>
          <a:xfrm>
            <a:off x="6482510" y="5074920"/>
            <a:ext cx="101713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Second case</a:t>
            </a:r>
          </a:p>
        </p:txBody>
      </p:sp>
      <p:sp>
        <p:nvSpPr>
          <p:cNvPr id="15" name="Rounded Rectangle 14"/>
          <p:cNvSpPr/>
          <p:nvPr/>
        </p:nvSpPr>
        <p:spPr>
          <a:xfrm>
            <a:off x="7609373" y="5074920"/>
            <a:ext cx="119478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say it</a:t>
            </a:r>
          </a:p>
        </p:txBody>
      </p:sp>
      <p:sp>
        <p:nvSpPr>
          <p:cNvPr id="16" name="Rounded Rectangle 15"/>
          <p:cNvSpPr/>
          <p:nvPr/>
        </p:nvSpPr>
        <p:spPr>
          <a:xfrm>
            <a:off x="8913885" y="5074920"/>
            <a:ext cx="95791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stays</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Monday afternoon: chapters 5 and 6 and the cases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19 / 54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Meera signs one sentence, and marketing tests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this chapter's answer, and which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Meera, who signs one sentence before the Rs 12 crore moves, and the marketing lead, who will look for the number in it that can be recomputed into another story.</a:t>
            </a:r>
          </a:p>
        </p:txBody>
      </p:sp>
      <p:sp>
        <p:nvSpPr>
          <p:cNvPr id="12" name="Rectangle 11"/>
          <p:cNvSpPr/>
          <p:nvPr/>
        </p:nvSpPr>
        <p:spPr>
          <a:xfrm>
            <a:off x="1381734" y="34960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4" name="Oval 13"/>
          <p:cNvSpPr/>
          <p:nvPr/>
        </p:nvSpPr>
        <p:spPr>
          <a:xfrm>
            <a:off x="1281150"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The readers</a:t>
            </a:r>
          </a:p>
        </p:txBody>
      </p:sp>
      <p:sp>
        <p:nvSpPr>
          <p:cNvPr id="17" name="TextBox 16"/>
          <p:cNvSpPr txBox="1"/>
          <p:nvPr/>
        </p:nvSpPr>
        <p:spPr>
          <a:xfrm>
            <a:off x="694944" y="4250182"/>
            <a:ext cx="1373581" cy="531876"/>
          </a:xfrm>
          <a:prstGeom prst="rect">
            <a:avLst/>
          </a:prstGeom>
          <a:noFill/>
        </p:spPr>
        <p:txBody>
          <a:bodyPr wrap="square" anchor="t" lIns="0" rIns="0" tIns="0" bIns="0">
            <a:spAutoFit/>
          </a:bodyPr>
          <a:lstStyle/>
          <a:p>
            <a:pPr algn="l"/>
            <a:r>
              <a:rPr sz="1000" b="0" i="0">
                <a:solidFill>
                  <a:srgbClr val="6B6690"/>
                </a:solidFill>
                <a:latin typeface="Calibri"/>
              </a:rPr>
              <a:t>Who reads the sentence, and what will they look for?</a:t>
            </a:r>
          </a:p>
        </p:txBody>
      </p:sp>
      <p:sp>
        <p:nvSpPr>
          <p:cNvPr id="18" name="TextBox 17"/>
          <p:cNvSpPr txBox="1"/>
          <p:nvPr/>
        </p:nvSpPr>
        <p:spPr>
          <a:xfrm>
            <a:off x="241599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19" name="Oval 18"/>
          <p:cNvSpPr/>
          <p:nvPr/>
        </p:nvSpPr>
        <p:spPr>
          <a:xfrm>
            <a:off x="316679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The form</a:t>
            </a:r>
          </a:p>
        </p:txBody>
      </p:sp>
      <p:sp>
        <p:nvSpPr>
          <p:cNvPr id="22" name="TextBox 21"/>
          <p:cNvSpPr txBox="1"/>
          <p:nvPr/>
        </p:nvSpPr>
        <p:spPr>
          <a:xfrm>
            <a:off x="2580589"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Which form carries the decision?</a:t>
            </a:r>
          </a:p>
        </p:txBody>
      </p:sp>
      <p:sp>
        <p:nvSpPr>
          <p:cNvPr id="23" name="TextBox 22"/>
          <p:cNvSpPr txBox="1"/>
          <p:nvPr/>
        </p:nvSpPr>
        <p:spPr>
          <a:xfrm>
            <a:off x="430164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4" name="Oval 23"/>
          <p:cNvSpPr/>
          <p:nvPr/>
        </p:nvSpPr>
        <p:spPr>
          <a:xfrm>
            <a:off x="505244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The draft</a:t>
            </a:r>
          </a:p>
        </p:txBody>
      </p:sp>
      <p:sp>
        <p:nvSpPr>
          <p:cNvPr id="27" name="TextBox 26"/>
          <p:cNvSpPr txBox="1"/>
          <p:nvPr/>
        </p:nvSpPr>
        <p:spPr>
          <a:xfrm>
            <a:off x="4466234"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What does the first draft say?</a:t>
            </a:r>
          </a:p>
        </p:txBody>
      </p:sp>
      <p:sp>
        <p:nvSpPr>
          <p:cNvPr id="28" name="TextBox 27"/>
          <p:cNvSpPr txBox="1"/>
          <p:nvPr/>
        </p:nvSpPr>
        <p:spPr>
          <a:xfrm>
            <a:off x="6187287"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29" name="Oval 28"/>
          <p:cNvSpPr/>
          <p:nvPr/>
        </p:nvSpPr>
        <p:spPr>
          <a:xfrm>
            <a:off x="6938086"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Lost?</a:t>
            </a:r>
          </a:p>
        </p:txBody>
      </p:sp>
      <p:sp>
        <p:nvSpPr>
          <p:cNvPr id="32" name="TextBox 31"/>
          <p:cNvSpPr txBox="1"/>
          <p:nvPr/>
        </p:nvSpPr>
        <p:spPr>
          <a:xfrm>
            <a:off x="6351879" y="4250182"/>
            <a:ext cx="1373581" cy="531876"/>
          </a:xfrm>
          <a:prstGeom prst="rect">
            <a:avLst/>
          </a:prstGeom>
          <a:noFill/>
        </p:spPr>
        <p:txBody>
          <a:bodyPr wrap="square" anchor="t" lIns="0" rIns="0" tIns="0" bIns="0">
            <a:spAutoFit/>
          </a:bodyPr>
          <a:lstStyle/>
          <a:p>
            <a:pPr algn="l"/>
            <a:r>
              <a:rPr sz="1000" b="0" i="0">
                <a:solidFill>
                  <a:srgbClr val="6B6690"/>
                </a:solidFill>
                <a:latin typeface="Calibri"/>
              </a:rPr>
              <a:t>How many of the 16 one-time buyers are really lost?</a:t>
            </a:r>
          </a:p>
        </p:txBody>
      </p:sp>
      <p:sp>
        <p:nvSpPr>
          <p:cNvPr id="33" name="TextBox 32"/>
          <p:cNvSpPr txBox="1"/>
          <p:nvPr/>
        </p:nvSpPr>
        <p:spPr>
          <a:xfrm>
            <a:off x="8072932"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5</a:t>
            </a:r>
          </a:p>
        </p:txBody>
      </p:sp>
      <p:sp>
        <p:nvSpPr>
          <p:cNvPr id="34" name="Oval 33"/>
          <p:cNvSpPr/>
          <p:nvPr/>
        </p:nvSpPr>
        <p:spPr>
          <a:xfrm>
            <a:off x="882373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38160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3962400"/>
            <a:ext cx="1373581" cy="251205"/>
          </a:xfrm>
          <a:prstGeom prst="rect">
            <a:avLst/>
          </a:prstGeom>
          <a:noFill/>
        </p:spPr>
        <p:txBody>
          <a:bodyPr wrap="square" anchor="t" lIns="0" rIns="0" tIns="0" bIns="0">
            <a:spAutoFit/>
          </a:bodyPr>
          <a:lstStyle/>
          <a:p>
            <a:pPr algn="l"/>
            <a:r>
              <a:rPr sz="1300" b="1" i="0">
                <a:solidFill>
                  <a:srgbClr val="1A0F5C"/>
                </a:solidFill>
                <a:latin typeface="Calibri"/>
              </a:rPr>
              <a:t>Due dates</a:t>
            </a:r>
          </a:p>
        </p:txBody>
      </p:sp>
      <p:sp>
        <p:nvSpPr>
          <p:cNvPr id="37" name="TextBox 36"/>
          <p:cNvSpPr txBox="1"/>
          <p:nvPr/>
        </p:nvSpPr>
        <p:spPr>
          <a:xfrm>
            <a:off x="8237524" y="4250182"/>
            <a:ext cx="1373581" cy="366776"/>
          </a:xfrm>
          <a:prstGeom prst="rect">
            <a:avLst/>
          </a:prstGeom>
          <a:noFill/>
        </p:spPr>
        <p:txBody>
          <a:bodyPr wrap="square" anchor="t" lIns="0" rIns="0" tIns="0" bIns="0">
            <a:spAutoFit/>
          </a:bodyPr>
          <a:lstStyle/>
          <a:p>
            <a:pPr algn="l"/>
            <a:r>
              <a:rPr sz="1000" b="0" i="0">
                <a:solidFill>
                  <a:srgbClr val="6B6690"/>
                </a:solidFill>
                <a:latin typeface="Calibri"/>
              </a:rPr>
              <a:t>Do due dates find the same buyers?</a:t>
            </a:r>
          </a:p>
        </p:txBody>
      </p:sp>
      <p:sp>
        <p:nvSpPr>
          <p:cNvPr id="38" name="TextBox 37"/>
          <p:cNvSpPr txBox="1"/>
          <p:nvPr/>
        </p:nvSpPr>
        <p:spPr>
          <a:xfrm>
            <a:off x="9958578" y="29291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QUESTION 6</a:t>
            </a:r>
          </a:p>
        </p:txBody>
      </p:sp>
      <p:sp>
        <p:nvSpPr>
          <p:cNvPr id="39" name="Oval 38"/>
          <p:cNvSpPr/>
          <p:nvPr/>
        </p:nvSpPr>
        <p:spPr>
          <a:xfrm>
            <a:off x="10709376"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3816096"/>
            <a:ext cx="1702765"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3962400"/>
            <a:ext cx="1373581" cy="251205"/>
          </a:xfrm>
          <a:prstGeom prst="rect">
            <a:avLst/>
          </a:prstGeom>
          <a:noFill/>
        </p:spPr>
        <p:txBody>
          <a:bodyPr wrap="square" anchor="t" lIns="0" rIns="0" tIns="0" bIns="0">
            <a:spAutoFit/>
          </a:bodyPr>
          <a:lstStyle/>
          <a:p>
            <a:pPr algn="l"/>
            <a:r>
              <a:rPr sz="1300" b="1" i="0">
                <a:solidFill>
                  <a:srgbClr val="FFFFFF"/>
                </a:solidFill>
                <a:latin typeface="Calibri"/>
              </a:rPr>
              <a:t>The sentence</a:t>
            </a:r>
          </a:p>
        </p:txBody>
      </p:sp>
      <p:sp>
        <p:nvSpPr>
          <p:cNvPr id="42" name="TextBox 41"/>
          <p:cNvSpPr txBox="1"/>
          <p:nvPr/>
        </p:nvSpPr>
        <p:spPr>
          <a:xfrm>
            <a:off x="10123170" y="4250182"/>
            <a:ext cx="1373581" cy="366776"/>
          </a:xfrm>
          <a:prstGeom prst="rect">
            <a:avLst/>
          </a:prstGeom>
          <a:noFill/>
        </p:spPr>
        <p:txBody>
          <a:bodyPr wrap="square" anchor="t" lIns="0" rIns="0" tIns="0" bIns="0">
            <a:spAutoFit/>
          </a:bodyPr>
          <a:lstStyle/>
          <a:p>
            <a:pPr algn="l"/>
            <a:r>
              <a:rPr sz="1000" b="0" i="0">
                <a:solidFill>
                  <a:srgbClr val="CFC9EE"/>
                </a:solidFill>
                <a:latin typeface="Calibri"/>
              </a:rPr>
              <a:t>What does the sentence Meera signs say?</a:t>
            </a:r>
          </a:p>
        </p:txBody>
      </p:sp>
      <p:sp>
        <p:nvSpPr>
          <p:cNvPr id="43" name="Oval 4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45" name="Oval 44"/>
          <p:cNvSpPr/>
          <p:nvPr/>
        </p:nvSpPr>
        <p:spPr>
          <a:xfrm>
            <a:off x="183394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1943671"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will Meera sign</a:t>
            </a:r>
          </a:p>
        </p:txBody>
      </p:sp>
      <p:sp>
        <p:nvSpPr>
          <p:cNvPr id="47" name="Oval 46"/>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49" name="Oval 48"/>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51" name="Oval 50"/>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53" name="Oval 52"/>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55" name="Oval 54"/>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57" name="TextBox 5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20 / 54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Marketing will hunt the sentence's weakest number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reads the sentence, and what will they look for?</a:t>
            </a:r>
          </a:p>
        </p:txBody>
      </p:sp>
      <p:sp>
        <p:nvSpPr>
          <p:cNvPr id="9" name="Rounded Rectangle 8"/>
          <p:cNvSpPr/>
          <p:nvPr/>
        </p:nvSpPr>
        <p:spPr>
          <a:xfrm>
            <a:off x="530352" y="1956816"/>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159507"/>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26923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423672"/>
          </a:xfrm>
          <a:prstGeom prst="rect">
            <a:avLst/>
          </a:prstGeom>
          <a:noFill/>
        </p:spPr>
        <p:txBody>
          <a:bodyPr wrap="square" anchor="t" lIns="0" rIns="0" tIns="0" bIns="0">
            <a:spAutoFit/>
          </a:bodyPr>
          <a:lstStyle/>
          <a:p>
            <a:r>
              <a:rPr sz="1500" b="0" i="0">
                <a:solidFill>
                  <a:srgbClr val="FFFFFF"/>
                </a:solidFill>
                <a:latin typeface="Calibri"/>
              </a:rPr>
              <a:t>"Before I sign anything, I want to understand our own sales."</a:t>
            </a:r>
          </a:p>
        </p:txBody>
      </p:sp>
      <p:graphicFrame>
        <p:nvGraphicFramePr>
          <p:cNvPr id="14" name="Table 13"/>
          <p:cNvGraphicFramePr>
            <a:graphicFrameLocks noGrp="1"/>
          </p:cNvGraphicFramePr>
          <p:nvPr/>
        </p:nvGraphicFramePr>
        <p:xfrm>
          <a:off x="530352" y="2983992"/>
          <a:ext cx="11130991" cy="1834896"/>
        </p:xfrm>
        <a:graphic>
          <a:graphicData uri="http://schemas.openxmlformats.org/drawingml/2006/table">
            <a:tbl>
              <a:tblPr firstRow="0" bandRow="0">
                <a:tableStyleId>{2D5ABB26-0587-4C30-8999-92F81FD0307C}</a:tableStyleId>
              </a:tblPr>
              <a:tblGrid>
                <a:gridCol w="3468944"/>
                <a:gridCol w="7662047"/>
              </a:tblGrid>
              <a:tr h="611632">
                <a:tc>
                  <a:txBody>
                    <a:bodyPr/>
                    <a:lstStyle/>
                    <a:p>
                      <a:r>
                        <a:rPr sz="1450" b="1" i="0">
                          <a:solidFill>
                            <a:srgbClr val="FFFFFF"/>
                          </a:solidFill>
                          <a:latin typeface="Calibri"/>
                        </a:rPr>
                        <a:t>The metric at stake</a:t>
                      </a:r>
                    </a:p>
                  </a:txBody>
                  <a:tcPr marL="101600" marR="101600" marT="38100" marB="38100" anchor="ctr">
                    <a:solidFill>
                      <a:srgbClr val="1A0F5C"/>
                    </a:solidFill>
                  </a:tcPr>
                </a:tc>
                <a:tc>
                  <a:txBody>
                    <a:bodyPr/>
                    <a:lstStyle/>
                    <a:p>
                      <a:r>
                        <a:rPr sz="1450" b="1" i="0">
                          <a:solidFill>
                            <a:srgbClr val="FFFFFF"/>
                          </a:solidFill>
                          <a:latin typeface="Calibri"/>
                        </a:rPr>
                        <a:t>The repeat picture shows who came back, who has not, and who has not had time to.</a:t>
                      </a:r>
                    </a:p>
                  </a:txBody>
                  <a:tcPr marL="101600" marR="101600" marT="38100" marB="38100" anchor="ctr">
                    <a:solidFill>
                      <a:srgbClr val="1A0F5C"/>
                    </a:solidFill>
                  </a:tcPr>
                </a:tc>
              </a:tr>
              <a:tr h="611632">
                <a:tc>
                  <a:txBody>
                    <a:bodyPr/>
                    <a:lstStyle/>
                    <a:p>
                      <a:r>
                        <a:rPr sz="1400" b="0" i="0">
                          <a:solidFill>
                            <a:srgbClr val="1A1440"/>
                          </a:solidFill>
                          <a:latin typeface="Calibri"/>
                        </a:rPr>
                        <a:t>Who asks</a:t>
                      </a:r>
                    </a:p>
                  </a:txBody>
                  <a:tcPr marL="101600" marR="101600" marT="38100" marB="38100" anchor="ctr">
                    <a:solidFill>
                      <a:srgbClr val="FFFFFF"/>
                    </a:solidFill>
                  </a:tcPr>
                </a:tc>
                <a:tc>
                  <a:txBody>
                    <a:bodyPr/>
                    <a:lstStyle/>
                    <a:p>
                      <a:r>
                        <a:rPr sz="1400" b="0" i="0">
                          <a:solidFill>
                            <a:srgbClr val="1A1440"/>
                          </a:solidFill>
                          <a:latin typeface="Calibri"/>
                        </a:rPr>
                        <a:t>Meera signs, Kavya reviews it first, and the marketing lead reads it for its weakest number.</a:t>
                      </a:r>
                    </a:p>
                  </a:txBody>
                  <a:tcPr marL="101600" marR="101600" marT="38100" marB="38100" anchor="ctr">
                    <a:solidFill>
                      <a:srgbClr val="FFFFFF"/>
                    </a:solidFill>
                  </a:tcPr>
                </a:tc>
              </a:tr>
              <a:tr h="611632">
                <a:tc>
                  <a:txBody>
                    <a:bodyPr/>
                    <a:lstStyle/>
                    <a:p>
                      <a:r>
                        <a:rPr sz="1400" b="0" i="0">
                          <a:solidFill>
                            <a:srgbClr val="1A1440"/>
                          </a:solidFill>
                          <a:latin typeface="Calibri"/>
                        </a:rPr>
                        <a:t>What a wrong number costs</a:t>
                      </a:r>
                    </a:p>
                  </a:txBody>
                  <a:tcPr marL="101600" marR="101600" marT="38100" marB="38100" anchor="ctr">
                    <a:solidFill>
                      <a:srgbClr val="F4F2FA"/>
                    </a:solidFill>
                  </a:tcPr>
                </a:tc>
                <a:tc>
                  <a:txBody>
                    <a:bodyPr/>
                    <a:lstStyle/>
                    <a:p>
                      <a:r>
                        <a:rPr sz="1400" b="0" i="0">
                          <a:solidFill>
                            <a:srgbClr val="1A1440"/>
                          </a:solidFill>
                          <a:latin typeface="Calibri"/>
                        </a:rPr>
                        <a:t>Marketing knocks the claim down in one question, and the team loses the trust the week depends on.</a:t>
                      </a:r>
                    </a:p>
                  </a:txBody>
                  <a:tcPr marL="101600" marR="101600" marT="38100" marB="38100" anchor="ctr">
                    <a:solidFill>
                      <a:srgbClr val="F4F2FA"/>
                    </a:solidFill>
                  </a:tcPr>
                </a:tc>
              </a:tr>
            </a:tbl>
          </a:graphicData>
        </a:graphic>
      </p:graphicFrame>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7" name="Oval 16"/>
          <p:cNvSpPr/>
          <p:nvPr/>
        </p:nvSpPr>
        <p:spPr>
          <a:xfrm>
            <a:off x="183394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943671"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will Meera sign</a:t>
            </a:r>
          </a:p>
        </p:txBody>
      </p:sp>
      <p:sp>
        <p:nvSpPr>
          <p:cNvPr id="19" name="Oval 18"/>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21" name="Oval 20"/>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3" name="Oval 22"/>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5" name="Oval 24"/>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7" name="Oval 26"/>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21 / 54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Klarna's first month was not its verdict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happened when a company's first window was read as the verdict?</a:t>
            </a:r>
          </a:p>
        </p:txBody>
      </p:sp>
      <p:sp>
        <p:nvSpPr>
          <p:cNvPr id="9" name="Rectangle 8"/>
          <p:cNvSpPr/>
          <p:nvPr/>
        </p:nvSpPr>
        <p:spPr>
          <a:xfrm>
            <a:off x="3267379" y="2523744"/>
            <a:ext cx="5656935"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5474055" cy="168656"/>
          </a:xfrm>
          <a:prstGeom prst="rect">
            <a:avLst/>
          </a:prstGeom>
          <a:noFill/>
        </p:spPr>
        <p:txBody>
          <a:bodyPr wrap="square" anchor="t" lIns="0" rIns="0" tIns="0" bIns="0">
            <a:spAutoFit/>
          </a:bodyPr>
          <a:lstStyle/>
          <a:p>
            <a:pPr algn="ctr"/>
            <a:r>
              <a:rPr sz="800" b="1" i="0" spc="250">
                <a:solidFill>
                  <a:srgbClr val="5B3FD6"/>
                </a:solidFill>
                <a:latin typeface="Calibri"/>
              </a:rPr>
              <a:t>FEBRUARY 2024</a:t>
            </a:r>
          </a:p>
        </p:txBody>
      </p:sp>
      <p:sp>
        <p:nvSpPr>
          <p:cNvPr id="11" name="Oval 10"/>
          <p:cNvSpPr/>
          <p:nvPr/>
        </p:nvSpPr>
        <p:spPr>
          <a:xfrm>
            <a:off x="316679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547405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5144871" cy="251205"/>
          </a:xfrm>
          <a:prstGeom prst="rect">
            <a:avLst/>
          </a:prstGeom>
          <a:noFill/>
        </p:spPr>
        <p:txBody>
          <a:bodyPr wrap="square" anchor="t" lIns="0" rIns="0" tIns="0" bIns="0">
            <a:spAutoFit/>
          </a:bodyPr>
          <a:lstStyle/>
          <a:p>
            <a:pPr algn="l"/>
            <a:r>
              <a:rPr sz="1300" b="1" i="0">
                <a:solidFill>
                  <a:srgbClr val="1A0F5C"/>
                </a:solidFill>
                <a:latin typeface="Calibri"/>
              </a:rPr>
              <a:t>Two-thirds of chats</a:t>
            </a:r>
          </a:p>
        </p:txBody>
      </p:sp>
      <p:sp>
        <p:nvSpPr>
          <p:cNvPr id="14" name="TextBox 13"/>
          <p:cNvSpPr txBox="1"/>
          <p:nvPr/>
        </p:nvSpPr>
        <p:spPr>
          <a:xfrm>
            <a:off x="694944" y="3277870"/>
            <a:ext cx="5144871" cy="366776"/>
          </a:xfrm>
          <a:prstGeom prst="rect">
            <a:avLst/>
          </a:prstGeom>
          <a:noFill/>
        </p:spPr>
        <p:txBody>
          <a:bodyPr wrap="square" anchor="t" lIns="0" rIns="0" tIns="0" bIns="0">
            <a:spAutoFit/>
          </a:bodyPr>
          <a:lstStyle/>
          <a:p>
            <a:pPr algn="l"/>
            <a:r>
              <a:rPr sz="1000" b="0" i="0">
                <a:solidFill>
                  <a:srgbClr val="6B6690"/>
                </a:solidFill>
                <a:latin typeface="Calibri"/>
              </a:rPr>
              <a:t>Klarna reported its AI assistant handled two-thirds of customer-service chats in its first month (Klarna, 27 February 2024).</a:t>
            </a:r>
          </a:p>
        </p:txBody>
      </p:sp>
      <p:sp>
        <p:nvSpPr>
          <p:cNvPr id="15" name="TextBox 14"/>
          <p:cNvSpPr txBox="1"/>
          <p:nvPr/>
        </p:nvSpPr>
        <p:spPr>
          <a:xfrm>
            <a:off x="6187287" y="1956816"/>
            <a:ext cx="5474055" cy="168656"/>
          </a:xfrm>
          <a:prstGeom prst="rect">
            <a:avLst/>
          </a:prstGeom>
          <a:noFill/>
        </p:spPr>
        <p:txBody>
          <a:bodyPr wrap="square" anchor="t" lIns="0" rIns="0" tIns="0" bIns="0">
            <a:spAutoFit/>
          </a:bodyPr>
          <a:lstStyle/>
          <a:p>
            <a:pPr algn="ctr"/>
            <a:r>
              <a:rPr sz="800" b="1" i="0" spc="250">
                <a:solidFill>
                  <a:srgbClr val="5B3FD6"/>
                </a:solidFill>
                <a:latin typeface="Calibri"/>
              </a:rPr>
              <a:t>MAY 2025</a:t>
            </a:r>
          </a:p>
        </p:txBody>
      </p:sp>
      <p:sp>
        <p:nvSpPr>
          <p:cNvPr id="16" name="Oval 15"/>
          <p:cNvSpPr/>
          <p:nvPr/>
        </p:nvSpPr>
        <p:spPr>
          <a:xfrm>
            <a:off x="8823731"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6187287" y="2843784"/>
            <a:ext cx="5474055"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351879" y="2990088"/>
            <a:ext cx="5144871" cy="251205"/>
          </a:xfrm>
          <a:prstGeom prst="rect">
            <a:avLst/>
          </a:prstGeom>
          <a:noFill/>
        </p:spPr>
        <p:txBody>
          <a:bodyPr wrap="square" anchor="t" lIns="0" rIns="0" tIns="0" bIns="0">
            <a:spAutoFit/>
          </a:bodyPr>
          <a:lstStyle/>
          <a:p>
            <a:pPr algn="l"/>
            <a:r>
              <a:rPr sz="1300" b="1" i="0">
                <a:solidFill>
                  <a:srgbClr val="FFFFFF"/>
                </a:solidFill>
                <a:latin typeface="Calibri"/>
              </a:rPr>
              <a:t>Quality, fifteen months on</a:t>
            </a:r>
          </a:p>
        </p:txBody>
      </p:sp>
      <p:sp>
        <p:nvSpPr>
          <p:cNvPr id="19" name="TextBox 18"/>
          <p:cNvSpPr txBox="1"/>
          <p:nvPr/>
        </p:nvSpPr>
        <p:spPr>
          <a:xfrm>
            <a:off x="6351879" y="3277870"/>
            <a:ext cx="5144871" cy="366776"/>
          </a:xfrm>
          <a:prstGeom prst="rect">
            <a:avLst/>
          </a:prstGeom>
          <a:noFill/>
        </p:spPr>
        <p:txBody>
          <a:bodyPr wrap="square" anchor="t" lIns="0" rIns="0" tIns="0" bIns="0">
            <a:spAutoFit/>
          </a:bodyPr>
          <a:lstStyle/>
          <a:p>
            <a:pPr algn="l"/>
            <a:r>
              <a:rPr sz="1000" b="0" i="0">
                <a:solidFill>
                  <a:srgbClr val="CFC9EE"/>
                </a:solidFill>
                <a:latin typeface="Calibri"/>
              </a:rPr>
              <a:t>Its chief executive said the focus on cost had lowered quality, and customers would always be able to reach a human (Fortune, 9 May 2025).</a:t>
            </a:r>
          </a:p>
        </p:txBody>
      </p:sp>
      <p:sp>
        <p:nvSpPr>
          <p:cNvPr id="20" name="TextBox 19"/>
          <p:cNvSpPr txBox="1"/>
          <p:nvPr/>
        </p:nvSpPr>
        <p:spPr>
          <a:xfrm>
            <a:off x="530352" y="4103624"/>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number from one window, read as the verdict, is the risk this chapter's caveat guards against.</a:t>
            </a:r>
          </a:p>
        </p:txBody>
      </p:sp>
      <p:sp>
        <p:nvSpPr>
          <p:cNvPr id="21" name="Oval 2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23" name="Oval 22"/>
          <p:cNvSpPr/>
          <p:nvPr/>
        </p:nvSpPr>
        <p:spPr>
          <a:xfrm>
            <a:off x="183394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943671"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will Meera sign</a:t>
            </a:r>
          </a:p>
        </p:txBody>
      </p:sp>
      <p:sp>
        <p:nvSpPr>
          <p:cNvPr id="25" name="Oval 24"/>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27" name="Oval 26"/>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9" name="Oval 28"/>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31" name="Oval 30"/>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33" name="Oval 32"/>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35" name="TextBox 3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22 / 54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One sentence carries the decision and its limit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form carries the decision in Meera's reading time?</a:t>
            </a:r>
          </a:p>
        </p:txBody>
      </p:sp>
      <p:graphicFrame>
        <p:nvGraphicFramePr>
          <p:cNvPr id="9" name="Table 8"/>
          <p:cNvGraphicFramePr>
            <a:graphicFrameLocks noGrp="1"/>
          </p:cNvGraphicFramePr>
          <p:nvPr/>
        </p:nvGraphicFramePr>
        <p:xfrm>
          <a:off x="530352" y="1956816"/>
          <a:ext cx="11130989" cy="1849120"/>
        </p:xfrm>
        <a:graphic>
          <a:graphicData uri="http://schemas.openxmlformats.org/drawingml/2006/table">
            <a:tbl>
              <a:tblPr firstRow="0" bandRow="0">
                <a:tableStyleId>{2D5ABB26-0587-4C30-8999-92F81FD0307C}</a:tableStyleId>
              </a:tblPr>
              <a:tblGrid>
                <a:gridCol w="4597095"/>
                <a:gridCol w="1746778"/>
                <a:gridCol w="4787116"/>
              </a:tblGrid>
              <a:tr h="369824">
                <a:tc>
                  <a:txBody>
                    <a:bodyPr/>
                    <a:lstStyle/>
                    <a:p>
                      <a:r>
                        <a:rPr sz="1450" b="1" i="0">
                          <a:solidFill>
                            <a:srgbClr val="FFFFFF"/>
                          </a:solidFill>
                          <a:latin typeface="Calibri"/>
                        </a:rPr>
                        <a:t>Option</a:t>
                      </a:r>
                    </a:p>
                  </a:txBody>
                  <a:tcPr marL="101600" marR="101600" marT="38100" marB="38100" anchor="ctr">
                    <a:solidFill>
                      <a:srgbClr val="1A0F5C"/>
                    </a:solidFill>
                  </a:tcPr>
                </a:tc>
                <a:tc>
                  <a:txBody>
                    <a:bodyPr/>
                    <a:lstStyle/>
                    <a:p>
                      <a:r>
                        <a:rPr sz="1450" b="1" i="0">
                          <a:solidFill>
                            <a:srgbClr val="FFFFFF"/>
                          </a:solidFill>
                          <a:latin typeface="Calibri"/>
                        </a:rPr>
                        <a:t>Reading time</a:t>
                      </a:r>
                    </a:p>
                  </a:txBody>
                  <a:tcPr marL="101600" marR="101600" marT="38100" marB="38100" anchor="ctr">
                    <a:solidFill>
                      <a:srgbClr val="1A0F5C"/>
                    </a:solidFill>
                  </a:tcPr>
                </a:tc>
                <a:tc>
                  <a:txBody>
                    <a:bodyPr/>
                    <a:lstStyle/>
                    <a:p>
                      <a:r>
                        <a:rPr sz="1450" b="1" i="0">
                          <a:solidFill>
                            <a:srgbClr val="FFFFFF"/>
                          </a:solidFill>
                          <a:latin typeface="Calibri"/>
                        </a:rPr>
                        <a:t>Carries a decision?</a:t>
                      </a:r>
                    </a:p>
                  </a:txBody>
                  <a:tcPr marL="101600" marR="101600" marT="38100" marB="38100" anchor="ctr">
                    <a:solidFill>
                      <a:srgbClr val="1A0F5C"/>
                    </a:solidFill>
                  </a:tcPr>
                </a:tc>
              </a:tr>
              <a:tr h="369824">
                <a:tc>
                  <a:txBody>
                    <a:bodyPr/>
                    <a:lstStyle/>
                    <a:p>
                      <a:r>
                        <a:rPr sz="1400" b="0" i="0">
                          <a:solidFill>
                            <a:srgbClr val="1A1440"/>
                          </a:solidFill>
                          <a:latin typeface="Calibri"/>
                        </a:rPr>
                        <a:t>A. One number: 1.30 orders each</a:t>
                      </a:r>
                    </a:p>
                  </a:txBody>
                  <a:tcPr marL="101600" marR="101600" marT="38100" marB="38100" anchor="ctr">
                    <a:solidFill>
                      <a:srgbClr val="FFFFFF"/>
                    </a:solidFill>
                  </a:tcPr>
                </a:tc>
                <a:tc>
                  <a:txBody>
                    <a:bodyPr/>
                    <a:lstStyle/>
                    <a:p>
                      <a:r>
                        <a:rPr sz="1400" b="0" i="0">
                          <a:solidFill>
                            <a:srgbClr val="1A1440"/>
                          </a:solidFill>
                          <a:latin typeface="Calibri"/>
                        </a:rPr>
                        <a:t>2 seconds</a:t>
                      </a:r>
                    </a:p>
                  </a:txBody>
                  <a:tcPr marL="101600" marR="101600" marT="38100" marB="38100" anchor="ctr">
                    <a:solidFill>
                      <a:srgbClr val="FFFFFF"/>
                    </a:solidFill>
                  </a:tcPr>
                </a:tc>
                <a:tc>
                  <a:txBody>
                    <a:bodyPr/>
                    <a:lstStyle/>
                    <a:p>
                      <a:r>
                        <a:rPr sz="1400" b="0" i="0">
                          <a:solidFill>
                            <a:srgbClr val="1A1440"/>
                          </a:solidFill>
                          <a:latin typeface="Calibri"/>
                        </a:rPr>
                        <a:t>No, so she has to supply the meaning.</a:t>
                      </a:r>
                    </a:p>
                  </a:txBody>
                  <a:tcPr marL="101600" marR="101600" marT="38100" marB="38100" anchor="ctr">
                    <a:solidFill>
                      <a:srgbClr val="FFFFFF"/>
                    </a:solidFill>
                  </a:tcPr>
                </a:tc>
              </a:tr>
              <a:tr h="369824">
                <a:tc>
                  <a:txBody>
                    <a:bodyPr/>
                    <a:lstStyle/>
                    <a:p>
                      <a:r>
                        <a:rPr sz="1400" b="0" i="0">
                          <a:solidFill>
                            <a:srgbClr val="1A1440"/>
                          </a:solidFill>
                          <a:latin typeface="Calibri"/>
                        </a:rPr>
                        <a:t>B. The tree as a table</a:t>
                      </a:r>
                    </a:p>
                  </a:txBody>
                  <a:tcPr marL="101600" marR="101600" marT="38100" marB="38100" anchor="ctr">
                    <a:solidFill>
                      <a:srgbClr val="F4F2FA"/>
                    </a:solidFill>
                  </a:tcPr>
                </a:tc>
                <a:tc>
                  <a:txBody>
                    <a:bodyPr/>
                    <a:lstStyle/>
                    <a:p>
                      <a:r>
                        <a:rPr sz="1400" b="0" i="0">
                          <a:solidFill>
                            <a:srgbClr val="1A1440"/>
                          </a:solidFill>
                          <a:latin typeface="Calibri"/>
                        </a:rPr>
                        <a:t>A minute or more</a:t>
                      </a:r>
                    </a:p>
                  </a:txBody>
                  <a:tcPr marL="101600" marR="101600" marT="38100" marB="38100" anchor="ctr">
                    <a:solidFill>
                      <a:srgbClr val="F4F2FA"/>
                    </a:solidFill>
                  </a:tcPr>
                </a:tc>
                <a:tc>
                  <a:txBody>
                    <a:bodyPr/>
                    <a:lstStyle/>
                    <a:p>
                      <a:r>
                        <a:rPr sz="1400" b="0" i="0">
                          <a:solidFill>
                            <a:srgbClr val="1A1440"/>
                          </a:solidFill>
                          <a:latin typeface="Calibri"/>
                        </a:rPr>
                        <a:t>No, so she picks the number that suits the room.</a:t>
                      </a:r>
                    </a:p>
                  </a:txBody>
                  <a:tcPr marL="101600" marR="101600" marT="38100" marB="38100" anchor="ctr">
                    <a:solidFill>
                      <a:srgbClr val="F4F2FA"/>
                    </a:solidFill>
                  </a:tcPr>
                </a:tc>
              </a:tr>
              <a:tr h="369824">
                <a:tc>
                  <a:txBody>
                    <a:bodyPr/>
                    <a:lstStyle/>
                    <a:p>
                      <a:r>
                        <a:rPr sz="1400" b="0" i="0">
                          <a:solidFill>
                            <a:srgbClr val="1A1440"/>
                          </a:solidFill>
                          <a:latin typeface="Calibri"/>
                        </a:rPr>
                        <a:t>C. One sentence: evidence, branch, caveat, ask</a:t>
                      </a:r>
                    </a:p>
                  </a:txBody>
                  <a:tcPr marL="101600" marR="101600" marT="38100" marB="38100" anchor="ctr">
                    <a:solidFill>
                      <a:srgbClr val="FFFFFF"/>
                    </a:solidFill>
                  </a:tcPr>
                </a:tc>
                <a:tc>
                  <a:txBody>
                    <a:bodyPr/>
                    <a:lstStyle/>
                    <a:p>
                      <a:r>
                        <a:rPr sz="1400" b="0" i="0">
                          <a:solidFill>
                            <a:srgbClr val="1A1440"/>
                          </a:solidFill>
                          <a:latin typeface="Calibri"/>
                        </a:rPr>
                        <a:t>About 20 seconds</a:t>
                      </a:r>
                    </a:p>
                  </a:txBody>
                  <a:tcPr marL="101600" marR="101600" marT="38100" marB="38100" anchor="ctr">
                    <a:solidFill>
                      <a:srgbClr val="FFFFFF"/>
                    </a:solidFill>
                  </a:tcPr>
                </a:tc>
                <a:tc>
                  <a:txBody>
                    <a:bodyPr/>
                    <a:lstStyle/>
                    <a:p>
                      <a:r>
                        <a:rPr sz="1400" b="0" i="0">
                          <a:solidFill>
                            <a:srgbClr val="1A1440"/>
                          </a:solidFill>
                          <a:latin typeface="Calibri"/>
                        </a:rPr>
                        <a:t>Yes, with its limit.</a:t>
                      </a:r>
                    </a:p>
                  </a:txBody>
                  <a:tcPr marL="101600" marR="101600" marT="38100" marB="38100" anchor="ctr">
                    <a:solidFill>
                      <a:srgbClr val="FFFFFF"/>
                    </a:solidFill>
                  </a:tcPr>
                </a:tc>
              </a:tr>
              <a:tr h="369824">
                <a:tc>
                  <a:txBody>
                    <a:bodyPr/>
                    <a:lstStyle/>
                    <a:p>
                      <a:r>
                        <a:rPr sz="1400" b="0" i="0">
                          <a:solidFill>
                            <a:srgbClr val="1A1440"/>
                          </a:solidFill>
                          <a:latin typeface="Calibri"/>
                        </a:rPr>
                        <a:t>D. A weekly dashboard</a:t>
                      </a:r>
                    </a:p>
                  </a:txBody>
                  <a:tcPr marL="101600" marR="101600" marT="38100" marB="38100" anchor="ctr">
                    <a:solidFill>
                      <a:srgbClr val="F4F2FA"/>
                    </a:solidFill>
                  </a:tcPr>
                </a:tc>
                <a:tc>
                  <a:txBody>
                    <a:bodyPr/>
                    <a:lstStyle/>
                    <a:p>
                      <a:r>
                        <a:rPr sz="1400" b="0" i="0">
                          <a:solidFill>
                            <a:srgbClr val="1A1440"/>
                          </a:solidFill>
                          <a:latin typeface="Calibri"/>
                        </a:rPr>
                        <a:t>Weeks to build</a:t>
                      </a:r>
                    </a:p>
                  </a:txBody>
                  <a:tcPr marL="101600" marR="101600" marT="38100" marB="38100" anchor="ctr">
                    <a:solidFill>
                      <a:srgbClr val="F4F2FA"/>
                    </a:solidFill>
                  </a:tcPr>
                </a:tc>
                <a:tc>
                  <a:txBody>
                    <a:bodyPr/>
                    <a:lstStyle/>
                    <a:p>
                      <a:r>
                        <a:rPr sz="1400" b="0" i="0">
                          <a:solidFill>
                            <a:srgbClr val="1A1440"/>
                          </a:solidFill>
                          <a:latin typeface="Calibri"/>
                        </a:rPr>
                        <a:t>It carries whatever she looks at.</a:t>
                      </a:r>
                    </a:p>
                  </a:txBody>
                  <a:tcPr marL="101600" marR="101600" marT="38100" marB="38100" anchor="ctr">
                    <a:solidFill>
                      <a:srgbClr val="F4F2FA"/>
                    </a:solidFill>
                  </a:tcPr>
                </a:tc>
              </a:tr>
            </a:tbl>
          </a:graphicData>
        </a:graphic>
      </p:graphicFrame>
      <p:sp>
        <p:nvSpPr>
          <p:cNvPr id="10" name="Rounded Rectangle 9"/>
          <p:cNvSpPr/>
          <p:nvPr/>
        </p:nvSpPr>
        <p:spPr>
          <a:xfrm>
            <a:off x="530352" y="4061968"/>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52374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list-checks_bd88901d2a37.png"/>
          <p:cNvPicPr>
            <a:picLocks noChangeAspect="1"/>
          </p:cNvPicPr>
          <p:nvPr/>
        </p:nvPicPr>
        <p:blipFill>
          <a:blip r:embed="rId4"/>
          <a:stretch>
            <a:fillRect/>
          </a:stretch>
        </p:blipFill>
        <p:spPr>
          <a:xfrm>
            <a:off x="868680" y="4633468"/>
            <a:ext cx="237744" cy="237744"/>
          </a:xfrm>
          <a:prstGeom prst="rect">
            <a:avLst/>
          </a:prstGeom>
        </p:spPr>
      </p:pic>
      <p:sp>
        <p:nvSpPr>
          <p:cNvPr id="13" name="TextBox 12"/>
          <p:cNvSpPr txBox="1"/>
          <p:nvPr/>
        </p:nvSpPr>
        <p:spPr>
          <a:xfrm>
            <a:off x="1399031" y="420827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4" name="TextBox 13"/>
          <p:cNvSpPr txBox="1"/>
          <p:nvPr/>
        </p:nvSpPr>
        <p:spPr>
          <a:xfrm>
            <a:off x="1399031" y="4427728"/>
            <a:ext cx="9987991" cy="941832"/>
          </a:xfrm>
          <a:prstGeom prst="rect">
            <a:avLst/>
          </a:prstGeom>
          <a:noFill/>
        </p:spPr>
        <p:txBody>
          <a:bodyPr wrap="square" anchor="t" lIns="0" rIns="0" tIns="0" bIns="0">
            <a:spAutoFit/>
          </a:bodyPr>
          <a:lstStyle/>
          <a:p>
            <a:r>
              <a:rPr sz="1500" b="0" i="0">
                <a:solidFill>
                  <a:srgbClr val="1A1440"/>
                </a:solidFill>
                <a:latin typeface="Calibri"/>
              </a:rPr>
              <a:t>C is the best fit, since it is the only form that carries a decision and its limit together. D earns its build cost once the question turns weekly, as it does in Week 2 when Meera's chief of staff asks for the leadership deck.</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7" name="Oval 16"/>
          <p:cNvSpPr/>
          <p:nvPr/>
        </p:nvSpPr>
        <p:spPr>
          <a:xfrm>
            <a:off x="183394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943671"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will Meera sign</a:t>
            </a:r>
          </a:p>
        </p:txBody>
      </p:sp>
      <p:sp>
        <p:nvSpPr>
          <p:cNvPr id="19" name="Oval 18"/>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21" name="Oval 20"/>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3" name="Oval 22"/>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5" name="Oval 24"/>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7" name="Oval 26"/>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23 / 54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which part does the sentence put last?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 what order do the four parts of Meera's sentence run?</a:t>
            </a:r>
          </a:p>
        </p:txBody>
      </p:sp>
      <p:pic>
        <p:nvPicPr>
          <p:cNvPr id="9" name="mermaid diagram" descr="54d016d809ae53d1.png"/>
          <p:cNvPicPr>
            <a:picLocks noChangeAspect="1"/>
          </p:cNvPicPr>
          <p:nvPr/>
        </p:nvPicPr>
        <p:blipFill>
          <a:blip r:embed="rId5"/>
          <a:stretch>
            <a:fillRect/>
          </a:stretch>
        </p:blipFill>
        <p:spPr>
          <a:xfrm>
            <a:off x="5068055" y="1664208"/>
            <a:ext cx="2055584" cy="3250692"/>
          </a:xfrm>
          <a:prstGeom prst="rect">
            <a:avLst/>
          </a:prstGeom>
        </p:spPr>
      </p:pic>
      <p:sp>
        <p:nvSpPr>
          <p:cNvPr id="10" name="Rounded Rectangle 9"/>
          <p:cNvSpPr/>
          <p:nvPr/>
        </p:nvSpPr>
        <p:spPr>
          <a:xfrm>
            <a:off x="530352" y="496062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08863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079492"/>
            <a:ext cx="10564063" cy="8915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Kavya's review asks for one sentence in four parts. Which part comes last: a) the evidence, so Meera ends on the numbers; b) the ask, what happens to the Rs 12 crore; c) the branch, so she ends on the recommendation; d) the caveat, so she ends on the limit?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5" name="Oval 14"/>
          <p:cNvSpPr/>
          <p:nvPr/>
        </p:nvSpPr>
        <p:spPr>
          <a:xfrm>
            <a:off x="183394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943671"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will Meera sign</a:t>
            </a:r>
          </a:p>
        </p:txBody>
      </p:sp>
      <p:sp>
        <p:nvSpPr>
          <p:cNvPr id="17" name="Oval 16"/>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9" name="Oval 18"/>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1" name="Oval 20"/>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3" name="Oval 22"/>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5" name="Oval 24"/>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24 / 54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ask, so the sentence ends on the decision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the sentence end on what happens to the Rs 12 crore?</a:t>
            </a:r>
          </a:p>
        </p:txBody>
      </p:sp>
      <p:pic>
        <p:nvPicPr>
          <p:cNvPr id="9" name="mermaid diagram" descr="8dd151c101b70ddc.png"/>
          <p:cNvPicPr>
            <a:picLocks noChangeAspect="1"/>
          </p:cNvPicPr>
          <p:nvPr/>
        </p:nvPicPr>
        <p:blipFill>
          <a:blip r:embed="rId5"/>
          <a:stretch>
            <a:fillRect/>
          </a:stretch>
        </p:blipFill>
        <p:spPr>
          <a:xfrm>
            <a:off x="2052485" y="1956816"/>
            <a:ext cx="8086725" cy="871537"/>
          </a:xfrm>
          <a:prstGeom prst="rect">
            <a:avLst/>
          </a:prstGeom>
        </p:spPr>
      </p:pic>
      <p:sp>
        <p:nvSpPr>
          <p:cNvPr id="10" name="Rounded Rectangle 9"/>
          <p:cNvSpPr/>
          <p:nvPr/>
        </p:nvSpPr>
        <p:spPr>
          <a:xfrm>
            <a:off x="530352" y="2974657"/>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10267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093529"/>
            <a:ext cx="10564063" cy="624840"/>
          </a:xfrm>
          <a:prstGeom prst="rect">
            <a:avLst/>
          </a:prstGeom>
          <a:noFill/>
        </p:spPr>
        <p:txBody>
          <a:bodyPr wrap="square" anchor="ctr" lIns="0" rIns="0" tIns="0" bIns="0">
            <a:spAutoFit/>
          </a:bodyPr>
          <a:lstStyle/>
          <a:p>
            <a:r>
              <a:rPr sz="1500" b="1">
                <a:solidFill>
                  <a:srgbClr val="5B3FD6"/>
                </a:solidFill>
                <a:latin typeface="Calibri"/>
              </a:rPr>
              <a:t>What happened. </a:t>
            </a:r>
            <a:r>
              <a:rPr sz="1500" b="0" i="0">
                <a:solidFill>
                  <a:srgbClr val="1A1440"/>
                </a:solidFill>
                <a:latin typeface="Calibri"/>
              </a:rPr>
              <a:t>The answer is b. The evidence comes first so Meera can weigh it, then the branch, then what the window cannot show, and last the ask she acts on.</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5" name="Oval 14"/>
          <p:cNvSpPr/>
          <p:nvPr/>
        </p:nvSpPr>
        <p:spPr>
          <a:xfrm>
            <a:off x="183394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943671"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will Meera sign</a:t>
            </a:r>
          </a:p>
        </p:txBody>
      </p:sp>
      <p:sp>
        <p:nvSpPr>
          <p:cNvPr id="17" name="Oval 16"/>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9" name="Oval 18"/>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1" name="Oval 20"/>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3" name="Oval 22"/>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5" name="Oval 24"/>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25 / 54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draft: 23 customers, 1.30 each, 16 bought once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first draft say?</a:t>
            </a:r>
          </a:p>
        </p:txBody>
      </p:sp>
      <p:sp>
        <p:nvSpPr>
          <p:cNvPr id="9" name="Rounded Rectangle 8"/>
          <p:cNvSpPr/>
          <p:nvPr/>
        </p:nvSpPr>
        <p:spPr>
          <a:xfrm>
            <a:off x="530352" y="1956816"/>
            <a:ext cx="11130991" cy="1214627"/>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812291"/>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draft = (f"On the {len(ORDERS)} booked orders from 1 July to 26 September, {customers} customers "</a:t>
            </a:r>
          </a:p>
          <a:p>
            <a:pPr>
              <a:spcAft>
                <a:spcPts val="200"/>
              </a:spcAft>
            </a:pPr>
            <a:r>
              <a:rPr sz="1400" b="0" i="0">
                <a:solidFill>
                  <a:srgbClr val="E4E1F1"/>
                </a:solidFill>
                <a:latin typeface="Consolas"/>
              </a:rPr>
              <a:t>         f"placed {per_customer:.2f} orders each at a typical order of {kit.rupees(median)}, "</a:t>
            </a:r>
          </a:p>
          <a:p>
            <a:pPr>
              <a:spcAft>
                <a:spcPts val="200"/>
              </a:spcAft>
            </a:pPr>
            <a:r>
              <a:rPr sz="1400" b="0" i="0">
                <a:solidFill>
                  <a:srgbClr val="E4E1F1"/>
                </a:solidFill>
                <a:latin typeface="Consolas"/>
              </a:rPr>
              <a:t>         f"and {len(once_ids)} of them bought only once, so I would open frequency first ...")</a:t>
            </a:r>
          </a:p>
        </p:txBody>
      </p:sp>
      <p:sp>
        <p:nvSpPr>
          <p:cNvPr id="14" name="Rounded Rectangle 13"/>
          <p:cNvSpPr/>
          <p:nvPr/>
        </p:nvSpPr>
        <p:spPr>
          <a:xfrm>
            <a:off x="530352" y="3336036"/>
            <a:ext cx="45720" cy="159511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86384" y="3336036"/>
            <a:ext cx="10820095" cy="1595119"/>
          </a:xfrm>
          <a:prstGeom prst="rect">
            <a:avLst/>
          </a:prstGeom>
          <a:noFill/>
        </p:spPr>
        <p:txBody>
          <a:bodyPr wrap="square" anchor="t" lIns="0" rIns="0" tIns="0" bIns="0">
            <a:spAutoFit/>
          </a:bodyPr>
          <a:lstStyle/>
          <a:p>
            <a:r>
              <a:rPr sz="1600" b="0" i="1">
                <a:solidFill>
                  <a:srgbClr val="1A0F5C"/>
                </a:solidFill>
                <a:latin typeface="Georgia"/>
              </a:rPr>
              <a:t>"On the 30 booked orders from 1 July to 26 September, 23 customers placed 1.30 orders each at a typical order of Rs 2,205, and 16 of them bought only once, so I would open frequency before acquisition, and since one quarter cannot show which branch moved, hold the Rs 12 crore until Tuesday's two quarters."</a:t>
            </a:r>
          </a:p>
          <a:p>
            <a:pPr>
              <a:spcBef>
                <a:spcPts val="400"/>
              </a:spcBef>
            </a:pPr>
            <a:r>
              <a:rPr sz="1000" b="0" i="0">
                <a:solidFill>
                  <a:srgbClr val="6B6690"/>
                </a:solidFill>
                <a:latin typeface="Calibri"/>
              </a:rPr>
              <a:t>The first draft</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8" name="Oval 17"/>
          <p:cNvSpPr/>
          <p:nvPr/>
        </p:nvSpPr>
        <p:spPr>
          <a:xfrm>
            <a:off x="183394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943671"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will Meera sign</a:t>
            </a:r>
          </a:p>
        </p:txBody>
      </p:sp>
      <p:sp>
        <p:nvSpPr>
          <p:cNvPr id="20" name="Oval 19"/>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22" name="Oval 21"/>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4" name="Oval 23"/>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6" name="Oval 25"/>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8" name="Oval 27"/>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26 / 54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Wrong answer: 70 percent of our customers are lost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happens to the 16 when a colleague tightens the draft?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The plausible wrong answer. </a:t>
            </a:r>
            <a:r>
              <a:rPr sz="1500" b="0" i="0">
                <a:solidFill>
                  <a:srgbClr val="1A1440"/>
                </a:solidFill>
                <a:latin typeface="Calibri"/>
              </a:rPr>
              <a:t>A colleague tightens the draft for the slide: "16 of 23 never came back: 70 percent of our customers are lost."</a:t>
            </a:r>
          </a:p>
        </p:txBody>
      </p:sp>
      <p:sp>
        <p:nvSpPr>
          <p:cNvPr id="12" name="TextBox 11"/>
          <p:cNvSpPr txBox="1"/>
          <p:nvPr/>
        </p:nvSpPr>
        <p:spPr>
          <a:xfrm>
            <a:off x="530352" y="2929128"/>
            <a:ext cx="3527450" cy="698500"/>
          </a:xfrm>
          <a:prstGeom prst="rect">
            <a:avLst/>
          </a:prstGeom>
          <a:noFill/>
        </p:spPr>
        <p:txBody>
          <a:bodyPr wrap="square" anchor="t" lIns="0" rIns="0" tIns="0" bIns="0">
            <a:spAutoFit/>
          </a:bodyPr>
          <a:lstStyle/>
          <a:p>
            <a:pPr algn="l"/>
            <a:r>
              <a:rPr sz="4400" b="0" i="0">
                <a:solidFill>
                  <a:srgbClr val="5B3FD6"/>
                </a:solidFill>
                <a:latin typeface="Georgia"/>
              </a:rPr>
              <a:t>16</a:t>
            </a:r>
          </a:p>
        </p:txBody>
      </p:sp>
      <p:sp>
        <p:nvSpPr>
          <p:cNvPr id="13" name="TextBox 12"/>
          <p:cNvSpPr txBox="1"/>
          <p:nvPr/>
        </p:nvSpPr>
        <p:spPr>
          <a:xfrm>
            <a:off x="530352" y="366420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BOUGHT ONCE</a:t>
            </a:r>
          </a:p>
        </p:txBody>
      </p:sp>
      <p:sp>
        <p:nvSpPr>
          <p:cNvPr id="14" name="TextBox 13"/>
          <p:cNvSpPr txBox="1"/>
          <p:nvPr/>
        </p:nvSpPr>
        <p:spPr>
          <a:xfrm>
            <a:off x="530352" y="3865372"/>
            <a:ext cx="3527450" cy="193421"/>
          </a:xfrm>
          <a:prstGeom prst="rect">
            <a:avLst/>
          </a:prstGeom>
          <a:noFill/>
        </p:spPr>
        <p:txBody>
          <a:bodyPr wrap="square" anchor="t" lIns="0" rIns="0" tIns="0" bIns="0">
            <a:spAutoFit/>
          </a:bodyPr>
          <a:lstStyle/>
          <a:p>
            <a:pPr algn="l"/>
            <a:r>
              <a:rPr sz="950" b="0" i="0">
                <a:solidFill>
                  <a:srgbClr val="6B6690"/>
                </a:solidFill>
                <a:latin typeface="Calibri"/>
              </a:rPr>
              <a:t>in the 88-day window</a:t>
            </a:r>
          </a:p>
        </p:txBody>
      </p:sp>
      <p:sp>
        <p:nvSpPr>
          <p:cNvPr id="15" name="Rectangle 14"/>
          <p:cNvSpPr/>
          <p:nvPr/>
        </p:nvSpPr>
        <p:spPr>
          <a:xfrm>
            <a:off x="530352" y="411784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332122" y="2929128"/>
            <a:ext cx="3527450" cy="698500"/>
          </a:xfrm>
          <a:prstGeom prst="rect">
            <a:avLst/>
          </a:prstGeom>
          <a:noFill/>
        </p:spPr>
        <p:txBody>
          <a:bodyPr wrap="square" anchor="t" lIns="0" rIns="0" tIns="0" bIns="0">
            <a:spAutoFit/>
          </a:bodyPr>
          <a:lstStyle/>
          <a:p>
            <a:pPr algn="l"/>
            <a:r>
              <a:rPr sz="4400" b="0" i="0">
                <a:solidFill>
                  <a:srgbClr val="5B3FD6"/>
                </a:solidFill>
                <a:latin typeface="Georgia"/>
              </a:rPr>
              <a:t>23</a:t>
            </a:r>
          </a:p>
        </p:txBody>
      </p:sp>
      <p:sp>
        <p:nvSpPr>
          <p:cNvPr id="17" name="TextBox 16"/>
          <p:cNvSpPr txBox="1"/>
          <p:nvPr/>
        </p:nvSpPr>
        <p:spPr>
          <a:xfrm>
            <a:off x="4332122" y="366420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CUSTOMERS</a:t>
            </a:r>
          </a:p>
        </p:txBody>
      </p:sp>
      <p:sp>
        <p:nvSpPr>
          <p:cNvPr id="18" name="TextBox 17"/>
          <p:cNvSpPr txBox="1"/>
          <p:nvPr/>
        </p:nvSpPr>
        <p:spPr>
          <a:xfrm>
            <a:off x="4332122" y="3865372"/>
            <a:ext cx="3527450" cy="193421"/>
          </a:xfrm>
          <a:prstGeom prst="rect">
            <a:avLst/>
          </a:prstGeom>
          <a:noFill/>
        </p:spPr>
        <p:txBody>
          <a:bodyPr wrap="square" anchor="t" lIns="0" rIns="0" tIns="0" bIns="0">
            <a:spAutoFit/>
          </a:bodyPr>
          <a:lstStyle/>
          <a:p>
            <a:pPr algn="l"/>
            <a:r>
              <a:rPr sz="950" b="0" i="0">
                <a:solidFill>
                  <a:srgbClr val="6B6690"/>
                </a:solidFill>
                <a:latin typeface="Calibri"/>
              </a:rPr>
              <a:t>counted by id</a:t>
            </a:r>
          </a:p>
        </p:txBody>
      </p:sp>
      <p:sp>
        <p:nvSpPr>
          <p:cNvPr id="19" name="Rectangle 18"/>
          <p:cNvSpPr/>
          <p:nvPr/>
        </p:nvSpPr>
        <p:spPr>
          <a:xfrm>
            <a:off x="4332122" y="411784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133892" y="2929128"/>
            <a:ext cx="3527450" cy="698500"/>
          </a:xfrm>
          <a:prstGeom prst="rect">
            <a:avLst/>
          </a:prstGeom>
          <a:noFill/>
        </p:spPr>
        <p:txBody>
          <a:bodyPr wrap="square" anchor="t" lIns="0" rIns="0" tIns="0" bIns="0">
            <a:spAutoFit/>
          </a:bodyPr>
          <a:lstStyle/>
          <a:p>
            <a:pPr algn="l"/>
            <a:r>
              <a:rPr sz="4400" b="0" i="0">
                <a:solidFill>
                  <a:srgbClr val="5B3FD6"/>
                </a:solidFill>
                <a:latin typeface="Georgia"/>
              </a:rPr>
              <a:t>70%</a:t>
            </a:r>
          </a:p>
        </p:txBody>
      </p:sp>
      <p:sp>
        <p:nvSpPr>
          <p:cNvPr id="21" name="TextBox 20"/>
          <p:cNvSpPr txBox="1"/>
          <p:nvPr/>
        </p:nvSpPr>
        <p:spPr>
          <a:xfrm>
            <a:off x="8133892" y="366420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CALLED LOST</a:t>
            </a:r>
          </a:p>
        </p:txBody>
      </p:sp>
      <p:sp>
        <p:nvSpPr>
          <p:cNvPr id="22" name="TextBox 21"/>
          <p:cNvSpPr txBox="1"/>
          <p:nvPr/>
        </p:nvSpPr>
        <p:spPr>
          <a:xfrm>
            <a:off x="8133892" y="3865372"/>
            <a:ext cx="3527450" cy="193421"/>
          </a:xfrm>
          <a:prstGeom prst="rect">
            <a:avLst/>
          </a:prstGeom>
          <a:noFill/>
        </p:spPr>
        <p:txBody>
          <a:bodyPr wrap="square" anchor="t" lIns="0" rIns="0" tIns="0" bIns="0">
            <a:spAutoFit/>
          </a:bodyPr>
          <a:lstStyle/>
          <a:p>
            <a:pPr algn="l"/>
            <a:r>
              <a:rPr sz="950" b="0" i="0">
                <a:solidFill>
                  <a:srgbClr val="6B6690"/>
                </a:solidFill>
                <a:latin typeface="Calibri"/>
              </a:rPr>
              <a:t>16 / 23, read as churn</a:t>
            </a:r>
          </a:p>
        </p:txBody>
      </p:sp>
      <p:sp>
        <p:nvSpPr>
          <p:cNvPr id="23" name="Rectangle 22"/>
          <p:cNvSpPr/>
          <p:nvPr/>
        </p:nvSpPr>
        <p:spPr>
          <a:xfrm>
            <a:off x="8133892" y="411784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30352" y="439216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decision it would mislead: retention reads as an emergency, on a number marketing knocks down with one question.</a:t>
            </a:r>
          </a:p>
        </p:txBody>
      </p:sp>
      <p:sp>
        <p:nvSpPr>
          <p:cNvPr id="25" name="Oval 2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27" name="Oval 26"/>
          <p:cNvSpPr/>
          <p:nvPr/>
        </p:nvSpPr>
        <p:spPr>
          <a:xfrm>
            <a:off x="183394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943671"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will Meera sign</a:t>
            </a:r>
          </a:p>
        </p:txBody>
      </p:sp>
      <p:sp>
        <p:nvSpPr>
          <p:cNvPr id="29" name="Oval 28"/>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31" name="Oval 30"/>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33" name="Oval 32"/>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35" name="Oval 34"/>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37" name="Oval 36"/>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27 / 54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how many of the 16 can we call lost?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many of the 16 one-time buyers are really lost?</a:t>
            </a:r>
          </a:p>
        </p:txBody>
      </p:sp>
      <p:pic>
        <p:nvPicPr>
          <p:cNvPr id="9" name="mermaid diagram" descr="dab0fe087ae369a7.png"/>
          <p:cNvPicPr>
            <a:picLocks noChangeAspect="1"/>
          </p:cNvPicPr>
          <p:nvPr/>
        </p:nvPicPr>
        <p:blipFill>
          <a:blip r:embed="rId5"/>
          <a:stretch>
            <a:fillRect/>
          </a:stretch>
        </p:blipFill>
        <p:spPr>
          <a:xfrm>
            <a:off x="3881285" y="1956816"/>
            <a:ext cx="4429125" cy="1285875"/>
          </a:xfrm>
          <a:prstGeom prst="rect">
            <a:avLst/>
          </a:prstGeom>
        </p:spPr>
      </p:pic>
      <p:sp>
        <p:nvSpPr>
          <p:cNvPr id="10" name="Rounded Rectangle 9"/>
          <p:cNvSpPr/>
          <p:nvPr/>
        </p:nvSpPr>
        <p:spPr>
          <a:xfrm>
            <a:off x="530352" y="3388995"/>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517011"/>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507867"/>
            <a:ext cx="10564063" cy="8915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Of the 16 who bought once, how many can you call lost from this file: a) all 16, which is 70 percent of 23 customers; b) 9, the ones who bought most recently; c) at most 7, the ones past the usual gap; d) none, since 7 customers did come back?</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5" name="Oval 14"/>
          <p:cNvSpPr/>
          <p:nvPr/>
        </p:nvSpPr>
        <p:spPr>
          <a:xfrm>
            <a:off x="183394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943671"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will Meera sign</a:t>
            </a:r>
          </a:p>
        </p:txBody>
      </p:sp>
      <p:sp>
        <p:nvSpPr>
          <p:cNvPr id="17" name="Oval 16"/>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9" name="Oval 18"/>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1" name="Oval 20"/>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3" name="Oval 22"/>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5" name="Oval 24"/>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28 / 54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at most 7, since 9 of the 16 are too recent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check catches the 70 percent, and what does it find?</a:t>
            </a:r>
          </a:p>
        </p:txBody>
      </p:sp>
      <p:pic>
        <p:nvPicPr>
          <p:cNvPr id="9" name="mermaid diagram" descr="0eb41c4408bbd8ca.png"/>
          <p:cNvPicPr>
            <a:picLocks noChangeAspect="1"/>
          </p:cNvPicPr>
          <p:nvPr/>
        </p:nvPicPr>
        <p:blipFill>
          <a:blip r:embed="rId5"/>
          <a:stretch>
            <a:fillRect/>
          </a:stretch>
        </p:blipFill>
        <p:spPr>
          <a:xfrm>
            <a:off x="2845155" y="1664208"/>
            <a:ext cx="6501384" cy="3250692"/>
          </a:xfrm>
          <a:prstGeom prst="rect">
            <a:avLst/>
          </a:prstGeom>
        </p:spPr>
      </p:pic>
      <p:sp>
        <p:nvSpPr>
          <p:cNvPr id="10" name="Rounded Rectangle 9"/>
          <p:cNvSpPr/>
          <p:nvPr/>
        </p:nvSpPr>
        <p:spPr>
          <a:xfrm>
            <a:off x="530352" y="496062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08863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079492"/>
            <a:ext cx="10564063" cy="891540"/>
          </a:xfrm>
          <a:prstGeom prst="rect">
            <a:avLst/>
          </a:prstGeom>
          <a:noFill/>
        </p:spPr>
        <p:txBody>
          <a:bodyPr wrap="square" anchor="ctr" lIns="0" rIns="0" tIns="0" bIns="0">
            <a:spAutoFit/>
          </a:bodyPr>
          <a:lstStyle/>
          <a:p>
            <a:r>
              <a:rPr sz="1500" b="1">
                <a:solidFill>
                  <a:srgbClr val="5B3FD6"/>
                </a:solidFill>
                <a:latin typeface="Calibri"/>
              </a:rPr>
              <a:t>Why it is wrong. </a:t>
            </a:r>
            <a:r>
              <a:rPr sz="1500" b="0" i="0">
                <a:solidFill>
                  <a:srgbClr val="1A1440"/>
                </a:solidFill>
                <a:latin typeface="Calibri"/>
              </a:rPr>
              <a:t>The file shows who bought once inside the window, and whether they are lost depends on orders placed after it closes. The 7 who came back took a median of 45 days, and 9 of the 16 ordered fewer than 45 days before 26 September, so the answer is c.</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5" name="Oval 14"/>
          <p:cNvSpPr/>
          <p:nvPr/>
        </p:nvSpPr>
        <p:spPr>
          <a:xfrm>
            <a:off x="183394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943671"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will Meera sign</a:t>
            </a:r>
          </a:p>
        </p:txBody>
      </p:sp>
      <p:sp>
        <p:nvSpPr>
          <p:cNvPr id="17" name="Oval 16"/>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9" name="Oval 18"/>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1" name="Oval 20"/>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3" name="Oval 22"/>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5" name="Oval 24"/>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29 / 54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Fix: the sentence splits the 16 into 7 and 9</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sentence Meera signs say?</a:t>
            </a:r>
          </a:p>
        </p:txBody>
      </p:sp>
      <p:pic>
        <p:nvPicPr>
          <p:cNvPr id="9" name="mermaid diagram" descr="6e6853590db16f67.png"/>
          <p:cNvPicPr>
            <a:picLocks noChangeAspect="1"/>
          </p:cNvPicPr>
          <p:nvPr/>
        </p:nvPicPr>
        <p:blipFill>
          <a:blip r:embed="rId5"/>
          <a:stretch>
            <a:fillRect/>
          </a:stretch>
        </p:blipFill>
        <p:spPr>
          <a:xfrm>
            <a:off x="2888303" y="1848771"/>
            <a:ext cx="6415087" cy="2443162"/>
          </a:xfrm>
          <a:prstGeom prst="rect">
            <a:avLst/>
          </a:prstGeom>
        </p:spPr>
      </p:pic>
      <p:sp>
        <p:nvSpPr>
          <p:cNvPr id="10" name="Rounded Rectangle 9"/>
          <p:cNvSpPr/>
          <p:nvPr/>
        </p:nvSpPr>
        <p:spPr>
          <a:xfrm>
            <a:off x="530352" y="4438237"/>
            <a:ext cx="45720" cy="159511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4438237"/>
            <a:ext cx="10820095" cy="1595119"/>
          </a:xfrm>
          <a:prstGeom prst="rect">
            <a:avLst/>
          </a:prstGeom>
          <a:noFill/>
        </p:spPr>
        <p:txBody>
          <a:bodyPr wrap="square" anchor="t" lIns="0" rIns="0" tIns="0" bIns="0">
            <a:spAutoFit/>
          </a:bodyPr>
          <a:lstStyle/>
          <a:p>
            <a:r>
              <a:rPr sz="1600" b="0" i="1">
                <a:solidFill>
                  <a:srgbClr val="1A0F5C"/>
                </a:solidFill>
                <a:latin typeface="Georgia"/>
              </a:rPr>
              <a:t>"On the 30 booked orders from 1 July to 26 September, 23 customers placed 1.30 orders each at a typical order of Rs 2,205; 7 came back, 7 are past the usual gap without a second order, and 9 bought too recently to judge, so I would open frequency before acquisition, and since one quarter cannot show which branch moved, hold the Rs 12 crore until Tuesday's two quarters."</a:t>
            </a:r>
          </a:p>
          <a:p>
            <a:pPr>
              <a:spcBef>
                <a:spcPts val="400"/>
              </a:spcBef>
            </a:pPr>
            <a:r>
              <a:rPr sz="1000" b="0" i="0">
                <a:solidFill>
                  <a:srgbClr val="6B6690"/>
                </a:solidFill>
                <a:latin typeface="Calibri"/>
              </a:rPr>
              <a:t>The data and AI team, to Meera Raghavan</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4" name="Oval 13"/>
          <p:cNvSpPr/>
          <p:nvPr/>
        </p:nvSpPr>
        <p:spPr>
          <a:xfrm>
            <a:off x="183394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943671"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will Meera sign</a:t>
            </a:r>
          </a:p>
        </p:txBody>
      </p:sp>
      <p:sp>
        <p:nvSpPr>
          <p:cNvPr id="16" name="Oval 15"/>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8" name="Oval 17"/>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0" name="Oval 19"/>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2" name="Oval 21"/>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4" name="Oval 23"/>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30 / 54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due dates find the same 9</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 due dates find the same buyers as the days since ordering?</a:t>
            </a:r>
          </a:p>
        </p:txBody>
      </p:sp>
      <p:sp>
        <p:nvSpPr>
          <p:cNvPr id="9" name="Rounded Rectangle 8"/>
          <p:cNvSpPr/>
          <p:nvPr/>
        </p:nvSpPr>
        <p:spPr>
          <a:xfrm>
            <a:off x="530352" y="1956816"/>
            <a:ext cx="11130991" cy="1214627"/>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812291"/>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too_recent = [c for c in once_ids if (end - first[c]).days &lt; 45]</a:t>
            </a:r>
          </a:p>
          <a:p>
            <a:pPr>
              <a:spcAft>
                <a:spcPts val="200"/>
              </a:spcAft>
            </a:pPr>
            <a:r>
              <a:rPr sz="1400" b="0" i="0">
                <a:solidFill>
                  <a:srgbClr val="E4E1F1"/>
                </a:solidFill>
                <a:latin typeface="Consolas"/>
              </a:rPr>
              <a:t>due_late = [c for c in once_ids if first[c] + timedelta(days=45) &gt; end]</a:t>
            </a:r>
          </a:p>
          <a:p>
            <a:pPr>
              <a:spcAft>
                <a:spcPts val="200"/>
              </a:spcAft>
            </a:pPr>
            <a:r>
              <a:rPr sz="1400" b="0" i="0">
                <a:solidFill>
                  <a:srgbClr val="E4E1F1"/>
                </a:solidFill>
                <a:latin typeface="Consolas"/>
              </a:rPr>
              <a:t>assert set(due_late) == set(too_recent)       # the same 9 customers</a:t>
            </a:r>
          </a:p>
        </p:txBody>
      </p:sp>
      <p:pic>
        <p:nvPicPr>
          <p:cNvPr id="14" name="mermaid diagram" descr="c20b678d9c23b5b5.png"/>
          <p:cNvPicPr>
            <a:picLocks noChangeAspect="1"/>
          </p:cNvPicPr>
          <p:nvPr/>
        </p:nvPicPr>
        <p:blipFill>
          <a:blip r:embed="rId5"/>
          <a:stretch>
            <a:fillRect/>
          </a:stretch>
        </p:blipFill>
        <p:spPr>
          <a:xfrm>
            <a:off x="1545278" y="3336036"/>
            <a:ext cx="9101137" cy="1800225"/>
          </a:xfrm>
          <a:prstGeom prst="rect">
            <a:avLst/>
          </a:prstGeom>
        </p:spPr>
      </p:pic>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7" name="Oval 16"/>
          <p:cNvSpPr/>
          <p:nvPr/>
        </p:nvSpPr>
        <p:spPr>
          <a:xfrm>
            <a:off x="183394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943671"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will Meera sign</a:t>
            </a:r>
          </a:p>
        </p:txBody>
      </p:sp>
      <p:sp>
        <p:nvSpPr>
          <p:cNvPr id="19" name="Oval 18"/>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21" name="Oval 20"/>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3" name="Oval 22"/>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5" name="Oval 24"/>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7" name="Oval 26"/>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S28  ·  31 / 54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same edge hides in returns and renewals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else does the end of a window cut a count short?</a:t>
            </a:r>
          </a:p>
        </p:txBody>
      </p:sp>
      <p:sp>
        <p:nvSpPr>
          <p:cNvPr id="10" name="Rounded Rectangle 9"/>
          <p:cNvSpPr/>
          <p:nvPr/>
        </p:nvSpPr>
        <p:spPr>
          <a:xfrm>
            <a:off x="530352" y="1956816"/>
            <a:ext cx="5474055"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undo-2_88bd06d64129.png"/>
          <p:cNvPicPr>
            <a:picLocks noChangeAspect="1"/>
          </p:cNvPicPr>
          <p:nvPr/>
        </p:nvPicPr>
        <p:blipFill>
          <a:blip r:embed="rId4"/>
          <a:stretch>
            <a:fillRect/>
          </a:stretch>
        </p:blipFill>
        <p:spPr>
          <a:xfrm>
            <a:off x="841247" y="2267712"/>
            <a:ext cx="237744" cy="237744"/>
          </a:xfrm>
          <a:prstGeom prst="rect">
            <a:avLst/>
          </a:prstGeom>
        </p:spPr>
      </p:pic>
      <p:sp>
        <p:nvSpPr>
          <p:cNvPr id="13" name="TextBox 12"/>
          <p:cNvSpPr txBox="1"/>
          <p:nvPr/>
        </p:nvSpPr>
        <p:spPr>
          <a:xfrm>
            <a:off x="731519" y="2724912"/>
            <a:ext cx="5071719" cy="160401"/>
          </a:xfrm>
          <a:prstGeom prst="rect">
            <a:avLst/>
          </a:prstGeom>
          <a:noFill/>
        </p:spPr>
        <p:txBody>
          <a:bodyPr wrap="square" anchor="t" lIns="0" rIns="0" tIns="0" bIns="0">
            <a:spAutoFit/>
          </a:bodyPr>
          <a:lstStyle/>
          <a:p>
            <a:pPr algn="l"/>
            <a:r>
              <a:rPr sz="750" b="1" i="0" spc="250">
                <a:solidFill>
                  <a:srgbClr val="5B3FD6"/>
                </a:solidFill>
                <a:latin typeface="Calibri"/>
              </a:rPr>
              <a:t>RETURNS</a:t>
            </a:r>
          </a:p>
        </p:txBody>
      </p:sp>
      <p:sp>
        <p:nvSpPr>
          <p:cNvPr id="14" name="TextBox 13"/>
          <p:cNvSpPr txBox="1"/>
          <p:nvPr/>
        </p:nvSpPr>
        <p:spPr>
          <a:xfrm>
            <a:off x="731519" y="2962656"/>
            <a:ext cx="5071719" cy="267716"/>
          </a:xfrm>
          <a:prstGeom prst="rect">
            <a:avLst/>
          </a:prstGeom>
          <a:noFill/>
        </p:spPr>
        <p:txBody>
          <a:bodyPr wrap="square" anchor="t" lIns="0" rIns="0" tIns="0" bIns="0">
            <a:spAutoFit/>
          </a:bodyPr>
          <a:lstStyle/>
          <a:p>
            <a:pPr algn="l"/>
            <a:r>
              <a:rPr sz="1400" b="1" i="0">
                <a:solidFill>
                  <a:srgbClr val="1A0F5C"/>
                </a:solidFill>
                <a:latin typeface="Calibri"/>
              </a:rPr>
              <a:t>A returns rate on last week's orders</a:t>
            </a:r>
          </a:p>
        </p:txBody>
      </p:sp>
      <p:sp>
        <p:nvSpPr>
          <p:cNvPr id="15" name="TextBox 14"/>
          <p:cNvSpPr txBox="1"/>
          <p:nvPr/>
        </p:nvSpPr>
        <p:spPr>
          <a:xfrm>
            <a:off x="731519" y="3303524"/>
            <a:ext cx="5071719" cy="399796"/>
          </a:xfrm>
          <a:prstGeom prst="rect">
            <a:avLst/>
          </a:prstGeom>
          <a:noFill/>
        </p:spPr>
        <p:txBody>
          <a:bodyPr wrap="square" anchor="t" lIns="0" rIns="0" tIns="0" bIns="0">
            <a:spAutoFit/>
          </a:bodyPr>
          <a:lstStyle/>
          <a:p>
            <a:pPr algn="l"/>
            <a:r>
              <a:rPr sz="1100" b="0" i="0">
                <a:solidFill>
                  <a:srgbClr val="6B6690"/>
                </a:solidFill>
                <a:latin typeface="Calibri"/>
              </a:rPr>
              <a:t>Returns arrive days after delivery, so the newest orders look cleaner than they are.</a:t>
            </a:r>
          </a:p>
        </p:txBody>
      </p:sp>
      <p:sp>
        <p:nvSpPr>
          <p:cNvPr id="16" name="Rounded Rectangle 15"/>
          <p:cNvSpPr/>
          <p:nvPr/>
        </p:nvSpPr>
        <p:spPr>
          <a:xfrm>
            <a:off x="6187287" y="1956816"/>
            <a:ext cx="5474055"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calendar-clock_84fb0b5a8829.png"/>
          <p:cNvPicPr>
            <a:picLocks noChangeAspect="1"/>
          </p:cNvPicPr>
          <p:nvPr/>
        </p:nvPicPr>
        <p:blipFill>
          <a:blip r:embed="rId5"/>
          <a:stretch>
            <a:fillRect/>
          </a:stretch>
        </p:blipFill>
        <p:spPr>
          <a:xfrm>
            <a:off x="6498183" y="2267712"/>
            <a:ext cx="237744" cy="237744"/>
          </a:xfrm>
          <a:prstGeom prst="rect">
            <a:avLst/>
          </a:prstGeom>
        </p:spPr>
      </p:pic>
      <p:sp>
        <p:nvSpPr>
          <p:cNvPr id="19" name="TextBox 18"/>
          <p:cNvSpPr txBox="1"/>
          <p:nvPr/>
        </p:nvSpPr>
        <p:spPr>
          <a:xfrm>
            <a:off x="6388455" y="2724912"/>
            <a:ext cx="5071719" cy="160401"/>
          </a:xfrm>
          <a:prstGeom prst="rect">
            <a:avLst/>
          </a:prstGeom>
          <a:noFill/>
        </p:spPr>
        <p:txBody>
          <a:bodyPr wrap="square" anchor="t" lIns="0" rIns="0" tIns="0" bIns="0">
            <a:spAutoFit/>
          </a:bodyPr>
          <a:lstStyle/>
          <a:p>
            <a:pPr algn="l"/>
            <a:r>
              <a:rPr sz="750" b="1" i="0" spc="250">
                <a:solidFill>
                  <a:srgbClr val="5B3FD6"/>
                </a:solidFill>
                <a:latin typeface="Calibri"/>
              </a:rPr>
              <a:t>RENEWALS</a:t>
            </a:r>
          </a:p>
        </p:txBody>
      </p:sp>
      <p:sp>
        <p:nvSpPr>
          <p:cNvPr id="20" name="TextBox 19"/>
          <p:cNvSpPr txBox="1"/>
          <p:nvPr/>
        </p:nvSpPr>
        <p:spPr>
          <a:xfrm>
            <a:off x="6388455" y="2962656"/>
            <a:ext cx="5071719" cy="267716"/>
          </a:xfrm>
          <a:prstGeom prst="rect">
            <a:avLst/>
          </a:prstGeom>
          <a:noFill/>
        </p:spPr>
        <p:txBody>
          <a:bodyPr wrap="square" anchor="t" lIns="0" rIns="0" tIns="0" bIns="0">
            <a:spAutoFit/>
          </a:bodyPr>
          <a:lstStyle/>
          <a:p>
            <a:pPr algn="l"/>
            <a:r>
              <a:rPr sz="1400" b="1" i="0">
                <a:solidFill>
                  <a:srgbClr val="1A0F5C"/>
                </a:solidFill>
                <a:latin typeface="Calibri"/>
              </a:rPr>
              <a:t>Members not yet due to renew</a:t>
            </a:r>
          </a:p>
        </p:txBody>
      </p:sp>
      <p:sp>
        <p:nvSpPr>
          <p:cNvPr id="21" name="TextBox 20"/>
          <p:cNvSpPr txBox="1"/>
          <p:nvPr/>
        </p:nvSpPr>
        <p:spPr>
          <a:xfrm>
            <a:off x="6388455" y="3303524"/>
            <a:ext cx="5071719" cy="399796"/>
          </a:xfrm>
          <a:prstGeom prst="rect">
            <a:avLst/>
          </a:prstGeom>
          <a:noFill/>
        </p:spPr>
        <p:txBody>
          <a:bodyPr wrap="square" anchor="t" lIns="0" rIns="0" tIns="0" bIns="0">
            <a:spAutoFit/>
          </a:bodyPr>
          <a:lstStyle/>
          <a:p>
            <a:pPr algn="l"/>
            <a:r>
              <a:rPr sz="1100" b="0" i="0">
                <a:solidFill>
                  <a:srgbClr val="6B6690"/>
                </a:solidFill>
                <a:latin typeface="Calibri"/>
              </a:rPr>
              <a:t>A member whose renewal falls after the extract ends has not lapsed, whatever the file shows.</a:t>
            </a:r>
          </a:p>
        </p:txBody>
      </p:sp>
      <p:sp>
        <p:nvSpPr>
          <p:cNvPr id="22" name="TextBox 21"/>
          <p:cNvSpPr txBox="1"/>
          <p:nvPr/>
        </p:nvSpPr>
        <p:spPr>
          <a:xfrm>
            <a:off x="530352" y="410413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fix is the same each time: measure how long the thing usually takes, and hold back judgement on everyone who has not had that long.</a:t>
            </a:r>
          </a:p>
        </p:txBody>
      </p:sp>
      <p:sp>
        <p:nvSpPr>
          <p:cNvPr id="23" name="Oval 2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25" name="Oval 24"/>
          <p:cNvSpPr/>
          <p:nvPr/>
        </p:nvSpPr>
        <p:spPr>
          <a:xfrm>
            <a:off x="183394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943671"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will Meera sign</a:t>
            </a:r>
          </a:p>
        </p:txBody>
      </p:sp>
      <p:sp>
        <p:nvSpPr>
          <p:cNvPr id="27" name="Oval 26"/>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29" name="Oval 28"/>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31" name="Oval 30"/>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33" name="Oval 32"/>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35" name="Oval 34"/>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D29  ·  32 / 54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Chapter 6 hands Meera a sentence she can sign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each of the chapter's six questions find?</a:t>
            </a:r>
          </a:p>
        </p:txBody>
      </p:sp>
      <p:sp>
        <p:nvSpPr>
          <p:cNvPr id="9" name="TextBox 8"/>
          <p:cNvSpPr txBox="1"/>
          <p:nvPr/>
        </p:nvSpPr>
        <p:spPr>
          <a:xfrm>
            <a:off x="530352" y="1645920"/>
            <a:ext cx="502920" cy="267716"/>
          </a:xfrm>
          <a:prstGeom prst="rect">
            <a:avLst/>
          </a:prstGeom>
          <a:noFill/>
        </p:spPr>
        <p:txBody>
          <a:bodyPr wrap="square" anchor="t" lIns="0" rIns="0" tIns="0" bIns="0">
            <a:spAutoFit/>
          </a:bodyPr>
          <a:lstStyle/>
          <a:p>
            <a:pPr algn="l"/>
            <a:r>
              <a:rPr sz="1400" b="0" i="0">
                <a:solidFill>
                  <a:srgbClr val="5B3FD6"/>
                </a:solidFill>
                <a:latin typeface="Georgia"/>
              </a:rPr>
              <a:t>01</a:t>
            </a:r>
          </a:p>
        </p:txBody>
      </p:sp>
      <p:sp>
        <p:nvSpPr>
          <p:cNvPr id="10" name="TextBox 9"/>
          <p:cNvSpPr txBox="1"/>
          <p:nvPr/>
        </p:nvSpPr>
        <p:spPr>
          <a:xfrm>
            <a:off x="1097280" y="1682496"/>
            <a:ext cx="10564063" cy="299720"/>
          </a:xfrm>
          <a:prstGeom prst="rect">
            <a:avLst/>
          </a:prstGeom>
          <a:noFill/>
        </p:spPr>
        <p:txBody>
          <a:bodyPr wrap="square" anchor="t" lIns="0" rIns="0" tIns="0" bIns="0">
            <a:spAutoFit/>
          </a:bodyPr>
          <a:lstStyle/>
          <a:p>
            <a:r>
              <a:rPr sz="1100" b="1" i="0">
                <a:solidFill>
                  <a:srgbClr val="1A1440"/>
                </a:solidFill>
                <a:latin typeface="Calibri"/>
              </a:rPr>
              <a:t>Who reads the sentence?</a:t>
            </a:r>
            <a:r>
              <a:rPr sz="1100" b="0" i="0">
                <a:solidFill>
                  <a:srgbClr val="1A1440"/>
                </a:solidFill>
                <a:latin typeface="Calibri"/>
              </a:rPr>
              <a:t> Meera reads it for the decision, and marketing for its weakest number.</a:t>
            </a:r>
          </a:p>
        </p:txBody>
      </p:sp>
      <p:sp>
        <p:nvSpPr>
          <p:cNvPr id="11" name="TextBox 10"/>
          <p:cNvSpPr txBox="1"/>
          <p:nvPr/>
        </p:nvSpPr>
        <p:spPr>
          <a:xfrm>
            <a:off x="530352" y="2018792"/>
            <a:ext cx="502920" cy="267716"/>
          </a:xfrm>
          <a:prstGeom prst="rect">
            <a:avLst/>
          </a:prstGeom>
          <a:noFill/>
        </p:spPr>
        <p:txBody>
          <a:bodyPr wrap="square" anchor="t" lIns="0" rIns="0" tIns="0" bIns="0">
            <a:spAutoFit/>
          </a:bodyPr>
          <a:lstStyle/>
          <a:p>
            <a:pPr algn="l"/>
            <a:r>
              <a:rPr sz="1400" b="0" i="0">
                <a:solidFill>
                  <a:srgbClr val="5B3FD6"/>
                </a:solidFill>
                <a:latin typeface="Georgia"/>
              </a:rPr>
              <a:t>02</a:t>
            </a:r>
          </a:p>
        </p:txBody>
      </p:sp>
      <p:sp>
        <p:nvSpPr>
          <p:cNvPr id="12" name="TextBox 11"/>
          <p:cNvSpPr txBox="1"/>
          <p:nvPr/>
        </p:nvSpPr>
        <p:spPr>
          <a:xfrm>
            <a:off x="1097280" y="2055368"/>
            <a:ext cx="10564063" cy="299720"/>
          </a:xfrm>
          <a:prstGeom prst="rect">
            <a:avLst/>
          </a:prstGeom>
          <a:noFill/>
        </p:spPr>
        <p:txBody>
          <a:bodyPr wrap="square" anchor="t" lIns="0" rIns="0" tIns="0" bIns="0">
            <a:spAutoFit/>
          </a:bodyPr>
          <a:lstStyle/>
          <a:p>
            <a:r>
              <a:rPr sz="1100" b="1" i="0">
                <a:solidFill>
                  <a:srgbClr val="1A1440"/>
                </a:solidFill>
                <a:latin typeface="Calibri"/>
              </a:rPr>
              <a:t>Which form carries the decision?</a:t>
            </a:r>
            <a:r>
              <a:rPr sz="1100" b="0" i="0">
                <a:solidFill>
                  <a:srgbClr val="1A1440"/>
                </a:solidFill>
                <a:latin typeface="Calibri"/>
              </a:rPr>
              <a:t> One sentence does, in about 20 seconds, with its limit.</a:t>
            </a:r>
          </a:p>
        </p:txBody>
      </p:sp>
      <p:sp>
        <p:nvSpPr>
          <p:cNvPr id="13" name="TextBox 12"/>
          <p:cNvSpPr txBox="1"/>
          <p:nvPr/>
        </p:nvSpPr>
        <p:spPr>
          <a:xfrm>
            <a:off x="530352" y="2391664"/>
            <a:ext cx="502920" cy="267716"/>
          </a:xfrm>
          <a:prstGeom prst="rect">
            <a:avLst/>
          </a:prstGeom>
          <a:noFill/>
        </p:spPr>
        <p:txBody>
          <a:bodyPr wrap="square" anchor="t" lIns="0" rIns="0" tIns="0" bIns="0">
            <a:spAutoFit/>
          </a:bodyPr>
          <a:lstStyle/>
          <a:p>
            <a:pPr algn="l"/>
            <a:r>
              <a:rPr sz="1400" b="0" i="0">
                <a:solidFill>
                  <a:srgbClr val="5B3FD6"/>
                </a:solidFill>
                <a:latin typeface="Georgia"/>
              </a:rPr>
              <a:t>03</a:t>
            </a:r>
          </a:p>
        </p:txBody>
      </p:sp>
      <p:sp>
        <p:nvSpPr>
          <p:cNvPr id="14" name="TextBox 13"/>
          <p:cNvSpPr txBox="1"/>
          <p:nvPr/>
        </p:nvSpPr>
        <p:spPr>
          <a:xfrm>
            <a:off x="1097280" y="2428240"/>
            <a:ext cx="10564063" cy="299720"/>
          </a:xfrm>
          <a:prstGeom prst="rect">
            <a:avLst/>
          </a:prstGeom>
          <a:noFill/>
        </p:spPr>
        <p:txBody>
          <a:bodyPr wrap="square" anchor="t" lIns="0" rIns="0" tIns="0" bIns="0">
            <a:spAutoFit/>
          </a:bodyPr>
          <a:lstStyle/>
          <a:p>
            <a:r>
              <a:rPr sz="1100" b="1" i="0">
                <a:solidFill>
                  <a:srgbClr val="1A1440"/>
                </a:solidFill>
                <a:latin typeface="Calibri"/>
              </a:rPr>
              <a:t>What does the first draft say?</a:t>
            </a:r>
            <a:r>
              <a:rPr sz="1100" b="0" i="0">
                <a:solidFill>
                  <a:srgbClr val="1A1440"/>
                </a:solidFill>
                <a:latin typeface="Calibri"/>
              </a:rPr>
              <a:t> It names 23 customers at 1.30 orders each, Rs 2,205 typical and 16 bought once.</a:t>
            </a:r>
          </a:p>
        </p:txBody>
      </p:sp>
      <p:sp>
        <p:nvSpPr>
          <p:cNvPr id="15" name="TextBox 14"/>
          <p:cNvSpPr txBox="1"/>
          <p:nvPr/>
        </p:nvSpPr>
        <p:spPr>
          <a:xfrm>
            <a:off x="530352" y="2764536"/>
            <a:ext cx="502920" cy="267716"/>
          </a:xfrm>
          <a:prstGeom prst="rect">
            <a:avLst/>
          </a:prstGeom>
          <a:noFill/>
        </p:spPr>
        <p:txBody>
          <a:bodyPr wrap="square" anchor="t" lIns="0" rIns="0" tIns="0" bIns="0">
            <a:spAutoFit/>
          </a:bodyPr>
          <a:lstStyle/>
          <a:p>
            <a:pPr algn="l"/>
            <a:r>
              <a:rPr sz="1400" b="0" i="0">
                <a:solidFill>
                  <a:srgbClr val="5B3FD6"/>
                </a:solidFill>
                <a:latin typeface="Georgia"/>
              </a:rPr>
              <a:t>04</a:t>
            </a:r>
          </a:p>
        </p:txBody>
      </p:sp>
      <p:sp>
        <p:nvSpPr>
          <p:cNvPr id="16" name="TextBox 15"/>
          <p:cNvSpPr txBox="1"/>
          <p:nvPr/>
        </p:nvSpPr>
        <p:spPr>
          <a:xfrm>
            <a:off x="1097280" y="2801112"/>
            <a:ext cx="10564063" cy="299720"/>
          </a:xfrm>
          <a:prstGeom prst="rect">
            <a:avLst/>
          </a:prstGeom>
          <a:noFill/>
        </p:spPr>
        <p:txBody>
          <a:bodyPr wrap="square" anchor="t" lIns="0" rIns="0" tIns="0" bIns="0">
            <a:spAutoFit/>
          </a:bodyPr>
          <a:lstStyle/>
          <a:p>
            <a:r>
              <a:rPr sz="1100" b="1" i="0">
                <a:solidFill>
                  <a:srgbClr val="1A1440"/>
                </a:solidFill>
                <a:latin typeface="Calibri"/>
              </a:rPr>
              <a:t>How many of the 16 are really lost?</a:t>
            </a:r>
            <a:r>
              <a:rPr sz="1100" b="0" i="0">
                <a:solidFill>
                  <a:srgbClr val="1A1440"/>
                </a:solidFill>
                <a:latin typeface="Calibri"/>
              </a:rPr>
              <a:t> At most 7 are, since 9 bought inside the 45-day gap.</a:t>
            </a:r>
          </a:p>
        </p:txBody>
      </p:sp>
      <p:sp>
        <p:nvSpPr>
          <p:cNvPr id="17" name="TextBox 16"/>
          <p:cNvSpPr txBox="1"/>
          <p:nvPr/>
        </p:nvSpPr>
        <p:spPr>
          <a:xfrm>
            <a:off x="530352" y="3137408"/>
            <a:ext cx="502920" cy="267716"/>
          </a:xfrm>
          <a:prstGeom prst="rect">
            <a:avLst/>
          </a:prstGeom>
          <a:noFill/>
        </p:spPr>
        <p:txBody>
          <a:bodyPr wrap="square" anchor="t" lIns="0" rIns="0" tIns="0" bIns="0">
            <a:spAutoFit/>
          </a:bodyPr>
          <a:lstStyle/>
          <a:p>
            <a:pPr algn="l"/>
            <a:r>
              <a:rPr sz="1400" b="0" i="0">
                <a:solidFill>
                  <a:srgbClr val="5B3FD6"/>
                </a:solidFill>
                <a:latin typeface="Georgia"/>
              </a:rPr>
              <a:t>05</a:t>
            </a:r>
          </a:p>
        </p:txBody>
      </p:sp>
      <p:sp>
        <p:nvSpPr>
          <p:cNvPr id="18" name="TextBox 17"/>
          <p:cNvSpPr txBox="1"/>
          <p:nvPr/>
        </p:nvSpPr>
        <p:spPr>
          <a:xfrm>
            <a:off x="1097280" y="3173984"/>
            <a:ext cx="10564063" cy="299720"/>
          </a:xfrm>
          <a:prstGeom prst="rect">
            <a:avLst/>
          </a:prstGeom>
          <a:noFill/>
        </p:spPr>
        <p:txBody>
          <a:bodyPr wrap="square" anchor="t" lIns="0" rIns="0" tIns="0" bIns="0">
            <a:spAutoFit/>
          </a:bodyPr>
          <a:lstStyle/>
          <a:p>
            <a:r>
              <a:rPr sz="1100" b="1" i="0">
                <a:solidFill>
                  <a:srgbClr val="1A1440"/>
                </a:solidFill>
                <a:latin typeface="Calibri"/>
              </a:rPr>
              <a:t>Do due dates find the same buyers?</a:t>
            </a:r>
            <a:r>
              <a:rPr sz="1100" b="0" i="0">
                <a:solidFill>
                  <a:srgbClr val="1A1440"/>
                </a:solidFill>
                <a:latin typeface="Calibri"/>
              </a:rPr>
              <a:t> They find the same 9.</a:t>
            </a:r>
          </a:p>
        </p:txBody>
      </p:sp>
      <p:sp>
        <p:nvSpPr>
          <p:cNvPr id="19" name="TextBox 18"/>
          <p:cNvSpPr txBox="1"/>
          <p:nvPr/>
        </p:nvSpPr>
        <p:spPr>
          <a:xfrm>
            <a:off x="530352" y="3510280"/>
            <a:ext cx="502920" cy="267716"/>
          </a:xfrm>
          <a:prstGeom prst="rect">
            <a:avLst/>
          </a:prstGeom>
          <a:noFill/>
        </p:spPr>
        <p:txBody>
          <a:bodyPr wrap="square" anchor="t" lIns="0" rIns="0" tIns="0" bIns="0">
            <a:spAutoFit/>
          </a:bodyPr>
          <a:lstStyle/>
          <a:p>
            <a:pPr algn="l"/>
            <a:r>
              <a:rPr sz="1400" b="0" i="0">
                <a:solidFill>
                  <a:srgbClr val="5B3FD6"/>
                </a:solidFill>
                <a:latin typeface="Georgia"/>
              </a:rPr>
              <a:t>06</a:t>
            </a:r>
          </a:p>
        </p:txBody>
      </p:sp>
      <p:sp>
        <p:nvSpPr>
          <p:cNvPr id="20" name="TextBox 19"/>
          <p:cNvSpPr txBox="1"/>
          <p:nvPr/>
        </p:nvSpPr>
        <p:spPr>
          <a:xfrm>
            <a:off x="1097280" y="3546856"/>
            <a:ext cx="10564063" cy="299720"/>
          </a:xfrm>
          <a:prstGeom prst="rect">
            <a:avLst/>
          </a:prstGeom>
          <a:noFill/>
        </p:spPr>
        <p:txBody>
          <a:bodyPr wrap="square" anchor="t" lIns="0" rIns="0" tIns="0" bIns="0">
            <a:spAutoFit/>
          </a:bodyPr>
          <a:lstStyle/>
          <a:p>
            <a:r>
              <a:rPr sz="1100" b="1" i="0">
                <a:solidFill>
                  <a:srgbClr val="1A1440"/>
                </a:solidFill>
                <a:latin typeface="Calibri"/>
              </a:rPr>
              <a:t>What does Meera sign?</a:t>
            </a:r>
            <a:r>
              <a:rPr sz="1100" b="0" i="0">
                <a:solidFill>
                  <a:srgbClr val="1A1440"/>
                </a:solidFill>
                <a:latin typeface="Calibri"/>
              </a:rPr>
              <a:t> She signs a sentence that splits the 16 into 7 past the gap and 9 too recent, and opens frequency.</a:t>
            </a:r>
          </a:p>
        </p:txBody>
      </p:sp>
      <p:sp>
        <p:nvSpPr>
          <p:cNvPr id="21" name="Rounded Rectangle 20"/>
          <p:cNvSpPr/>
          <p:nvPr/>
        </p:nvSpPr>
        <p:spPr>
          <a:xfrm>
            <a:off x="530352" y="4029456"/>
            <a:ext cx="11130991" cy="983488"/>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429260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search-check_6571e64a041f.png"/>
          <p:cNvPicPr>
            <a:picLocks noChangeAspect="1"/>
          </p:cNvPicPr>
          <p:nvPr/>
        </p:nvPicPr>
        <p:blipFill>
          <a:blip r:embed="rId4"/>
          <a:stretch>
            <a:fillRect/>
          </a:stretch>
        </p:blipFill>
        <p:spPr>
          <a:xfrm>
            <a:off x="868680" y="4402328"/>
            <a:ext cx="237744" cy="237744"/>
          </a:xfrm>
          <a:prstGeom prst="rect">
            <a:avLst/>
          </a:prstGeom>
        </p:spPr>
      </p:pic>
      <p:sp>
        <p:nvSpPr>
          <p:cNvPr id="24" name="TextBox 23"/>
          <p:cNvSpPr txBox="1"/>
          <p:nvPr/>
        </p:nvSpPr>
        <p:spPr>
          <a:xfrm>
            <a:off x="1399031" y="41757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25" name="TextBox 24"/>
          <p:cNvSpPr txBox="1"/>
          <p:nvPr/>
        </p:nvSpPr>
        <p:spPr>
          <a:xfrm>
            <a:off x="1399031" y="4395216"/>
            <a:ext cx="9987991" cy="544576"/>
          </a:xfrm>
          <a:prstGeom prst="rect">
            <a:avLst/>
          </a:prstGeom>
          <a:noFill/>
        </p:spPr>
        <p:txBody>
          <a:bodyPr wrap="square" anchor="t" lIns="0" rIns="0" tIns="0" bIns="0">
            <a:spAutoFit/>
          </a:bodyPr>
          <a:lstStyle/>
          <a:p>
            <a:r>
              <a:rPr sz="1100" b="0" i="0">
                <a:solidFill>
                  <a:srgbClr val="1A1440"/>
                </a:solidFill>
                <a:latin typeface="Calibri"/>
              </a:rPr>
              <a:t>"This is a sentence I would take into the room: what we know, what we would do, and what we need before spending Rs 12 crore, and every number in it is one we can defend."</a:t>
            </a:r>
          </a:p>
        </p:txBody>
      </p:sp>
      <p:sp>
        <p:nvSpPr>
          <p:cNvPr id="26" name="Rounded Rectangle 25"/>
          <p:cNvSpPr/>
          <p:nvPr/>
        </p:nvSpPr>
        <p:spPr>
          <a:xfrm>
            <a:off x="530352" y="5177536"/>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758952" y="53604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mic_caee7398c80d.png"/>
          <p:cNvPicPr>
            <a:picLocks noChangeAspect="1"/>
          </p:cNvPicPr>
          <p:nvPr/>
        </p:nvPicPr>
        <p:blipFill>
          <a:blip r:embed="rId5"/>
          <a:stretch>
            <a:fillRect/>
          </a:stretch>
        </p:blipFill>
        <p:spPr>
          <a:xfrm>
            <a:off x="868680" y="5470144"/>
            <a:ext cx="237744" cy="237744"/>
          </a:xfrm>
          <a:prstGeom prst="rect">
            <a:avLst/>
          </a:prstGeom>
        </p:spPr>
      </p:pic>
      <p:sp>
        <p:nvSpPr>
          <p:cNvPr id="29" name="TextBox 28"/>
          <p:cNvSpPr txBox="1"/>
          <p:nvPr/>
        </p:nvSpPr>
        <p:spPr>
          <a:xfrm>
            <a:off x="1399031" y="532384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30" name="TextBox 29"/>
          <p:cNvSpPr txBox="1"/>
          <p:nvPr/>
        </p:nvSpPr>
        <p:spPr>
          <a:xfrm>
            <a:off x="1399031" y="5543296"/>
            <a:ext cx="9987991" cy="384048"/>
          </a:xfrm>
          <a:prstGeom prst="rect">
            <a:avLst/>
          </a:prstGeom>
          <a:noFill/>
        </p:spPr>
        <p:txBody>
          <a:bodyPr wrap="square" anchor="t" lIns="0" rIns="0" tIns="0" bIns="0">
            <a:spAutoFit/>
          </a:bodyPr>
          <a:lstStyle/>
          <a:p>
            <a:r>
              <a:rPr sz="1100" b="0" i="0">
                <a:solidFill>
                  <a:srgbClr val="1A1440"/>
                </a:solidFill>
                <a:latin typeface="Calibri"/>
              </a:rPr>
              <a:t>[D] You have one quarter of orders and 70 percent of customers bought once; what do you tell the CEO?</a:t>
            </a:r>
          </a:p>
        </p:txBody>
      </p:sp>
      <p:sp>
        <p:nvSpPr>
          <p:cNvPr id="31" name="Oval 3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33" name="Oval 32"/>
          <p:cNvSpPr/>
          <p:nvPr/>
        </p:nvSpPr>
        <p:spPr>
          <a:xfrm>
            <a:off x="1833943"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943671"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will Meera sign</a:t>
            </a:r>
          </a:p>
        </p:txBody>
      </p:sp>
      <p:sp>
        <p:nvSpPr>
          <p:cNvPr id="35" name="Oval 34"/>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37" name="Oval 36"/>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39" name="Oval 38"/>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41" name="Oval 40"/>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43" name="Oval 42"/>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45" name="TextBox 4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S30  ·  33 / 54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A</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Escalated case</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Does the answer survive on the orders that stayed delivered?</a:t>
            </a:r>
          </a:p>
        </p:txBody>
      </p:sp>
      <p:sp>
        <p:nvSpPr>
          <p:cNvPr id="10" name="Rounded Rectangle 9"/>
          <p:cNvSpPr/>
          <p:nvPr/>
        </p:nvSpPr>
        <p:spPr>
          <a:xfrm>
            <a:off x="731519"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branch first</a:t>
            </a:r>
          </a:p>
        </p:txBody>
      </p:sp>
      <p:sp>
        <p:nvSpPr>
          <p:cNvPr id="11" name="Rounded Rectangle 10"/>
          <p:cNvSpPr/>
          <p:nvPr/>
        </p:nvSpPr>
        <p:spPr>
          <a:xfrm>
            <a:off x="2272895"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Meera sign</a:t>
            </a:r>
          </a:p>
        </p:txBody>
      </p:sp>
      <p:sp>
        <p:nvSpPr>
          <p:cNvPr id="12" name="Rounded Rectangle 11"/>
          <p:cNvSpPr/>
          <p:nvPr/>
        </p:nvSpPr>
        <p:spPr>
          <a:xfrm>
            <a:off x="3932702" y="5074920"/>
            <a:ext cx="119478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Escalated case</a:t>
            </a:r>
          </a:p>
        </p:txBody>
      </p:sp>
      <p:sp>
        <p:nvSpPr>
          <p:cNvPr id="13" name="Rounded Rectangle 12"/>
          <p:cNvSpPr/>
          <p:nvPr/>
        </p:nvSpPr>
        <p:spPr>
          <a:xfrm>
            <a:off x="5237214" y="5074920"/>
            <a:ext cx="113556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hold up</a:t>
            </a:r>
          </a:p>
        </p:txBody>
      </p:sp>
      <p:sp>
        <p:nvSpPr>
          <p:cNvPr id="14" name="Rounded Rectangle 13"/>
          <p:cNvSpPr/>
          <p:nvPr/>
        </p:nvSpPr>
        <p:spPr>
          <a:xfrm>
            <a:off x="6482510" y="5074920"/>
            <a:ext cx="101713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Second case</a:t>
            </a:r>
          </a:p>
        </p:txBody>
      </p:sp>
      <p:sp>
        <p:nvSpPr>
          <p:cNvPr id="15" name="Rounded Rectangle 14"/>
          <p:cNvSpPr/>
          <p:nvPr/>
        </p:nvSpPr>
        <p:spPr>
          <a:xfrm>
            <a:off x="7609373" y="5074920"/>
            <a:ext cx="119478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say it</a:t>
            </a:r>
          </a:p>
        </p:txBody>
      </p:sp>
      <p:sp>
        <p:nvSpPr>
          <p:cNvPr id="16" name="Rounded Rectangle 15"/>
          <p:cNvSpPr/>
          <p:nvPr/>
        </p:nvSpPr>
        <p:spPr>
          <a:xfrm>
            <a:off x="8913885" y="5074920"/>
            <a:ext cx="95791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stays</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Monday afternoon: chapters 5 and 6 and the cases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34 / 54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Anand asks for the answer again on delivered orders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Anand ask, and what does each part rebuild?</a:t>
            </a:r>
          </a:p>
        </p:txBody>
      </p:sp>
      <p:sp>
        <p:nvSpPr>
          <p:cNvPr id="9" name="Rounded Rectangle 8"/>
          <p:cNvSpPr/>
          <p:nvPr/>
        </p:nvSpPr>
        <p:spPr>
          <a:xfrm>
            <a:off x="530352" y="195681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890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39877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682752"/>
          </a:xfrm>
          <a:prstGeom prst="rect">
            <a:avLst/>
          </a:prstGeom>
          <a:noFill/>
        </p:spPr>
        <p:txBody>
          <a:bodyPr wrap="square" anchor="t" lIns="0" rIns="0" tIns="0" bIns="0">
            <a:spAutoFit/>
          </a:bodyPr>
          <a:lstStyle/>
          <a:p>
            <a:r>
              <a:rPr sz="1500" b="0" i="0">
                <a:solidFill>
                  <a:srgbClr val="FFFFFF"/>
                </a:solidFill>
                <a:latin typeface="Calibri"/>
              </a:rPr>
              <a:t>"Booked includes orders we cancelled and orders that came back. Do it again on what was delivered and stayed delivered, and tell me whether your answer survives." Anand Iyer, finance controller</a:t>
            </a:r>
          </a:p>
        </p:txBody>
      </p:sp>
      <p:sp>
        <p:nvSpPr>
          <p:cNvPr id="14" name="Rounded Rectangle 13"/>
          <p:cNvSpPr/>
          <p:nvPr/>
        </p:nvSpPr>
        <p:spPr>
          <a:xfrm>
            <a:off x="530352" y="3243072"/>
            <a:ext cx="2079894" cy="25755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31519" y="3444240"/>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package-check_4017756cdb47.png"/>
          <p:cNvPicPr>
            <a:picLocks noChangeAspect="1"/>
          </p:cNvPicPr>
          <p:nvPr/>
        </p:nvPicPr>
        <p:blipFill>
          <a:blip r:embed="rId5"/>
          <a:stretch>
            <a:fillRect/>
          </a:stretch>
        </p:blipFill>
        <p:spPr>
          <a:xfrm>
            <a:off x="841247" y="3553968"/>
            <a:ext cx="237744" cy="237744"/>
          </a:xfrm>
          <a:prstGeom prst="rect">
            <a:avLst/>
          </a:prstGeom>
        </p:spPr>
      </p:pic>
      <p:sp>
        <p:nvSpPr>
          <p:cNvPr id="17" name="TextBox 16"/>
          <p:cNvSpPr txBox="1"/>
          <p:nvPr/>
        </p:nvSpPr>
        <p:spPr>
          <a:xfrm>
            <a:off x="731519" y="4011168"/>
            <a:ext cx="1677558" cy="160401"/>
          </a:xfrm>
          <a:prstGeom prst="rect">
            <a:avLst/>
          </a:prstGeom>
          <a:noFill/>
        </p:spPr>
        <p:txBody>
          <a:bodyPr wrap="square" anchor="t" lIns="0" rIns="0" tIns="0" bIns="0">
            <a:spAutoFit/>
          </a:bodyPr>
          <a:lstStyle/>
          <a:p>
            <a:pPr algn="l"/>
            <a:r>
              <a:rPr sz="750" b="1" i="0" spc="250">
                <a:solidFill>
                  <a:srgbClr val="5B3FD6"/>
                </a:solidFill>
                <a:latin typeface="Calibri"/>
              </a:rPr>
              <a:t>PART 1</a:t>
            </a:r>
          </a:p>
        </p:txBody>
      </p:sp>
      <p:sp>
        <p:nvSpPr>
          <p:cNvPr id="18" name="TextBox 17"/>
          <p:cNvSpPr txBox="1"/>
          <p:nvPr/>
        </p:nvSpPr>
        <p:spPr>
          <a:xfrm>
            <a:off x="731519" y="4248912"/>
            <a:ext cx="1677558" cy="498856"/>
          </a:xfrm>
          <a:prstGeom prst="rect">
            <a:avLst/>
          </a:prstGeom>
          <a:noFill/>
        </p:spPr>
        <p:txBody>
          <a:bodyPr wrap="square" anchor="t" lIns="0" rIns="0" tIns="0" bIns="0">
            <a:spAutoFit/>
          </a:bodyPr>
          <a:lstStyle/>
          <a:p>
            <a:pPr algn="l"/>
            <a:r>
              <a:rPr sz="1400" b="1" i="0">
                <a:solidFill>
                  <a:srgbClr val="1A0F5C"/>
                </a:solidFill>
                <a:latin typeface="Calibri"/>
              </a:rPr>
              <a:t>The delivered leaves</a:t>
            </a:r>
          </a:p>
        </p:txBody>
      </p:sp>
      <p:sp>
        <p:nvSpPr>
          <p:cNvPr id="19" name="TextBox 18"/>
          <p:cNvSpPr txBox="1"/>
          <p:nvPr/>
        </p:nvSpPr>
        <p:spPr>
          <a:xfrm>
            <a:off x="731519" y="4820920"/>
            <a:ext cx="1677558" cy="763016"/>
          </a:xfrm>
          <a:prstGeom prst="rect">
            <a:avLst/>
          </a:prstGeom>
          <a:noFill/>
        </p:spPr>
        <p:txBody>
          <a:bodyPr wrap="square" anchor="t" lIns="0" rIns="0" tIns="0" bIns="0">
            <a:spAutoFit/>
          </a:bodyPr>
          <a:lstStyle/>
          <a:p>
            <a:pPr algn="l"/>
            <a:r>
              <a:rPr sz="1100" b="0" i="0">
                <a:solidFill>
                  <a:srgbClr val="6B6690"/>
                </a:solidFill>
                <a:latin typeface="Calibri"/>
              </a:rPr>
              <a:t>Count orders, customers by id and orders per customer on delivered orders.</a:t>
            </a:r>
          </a:p>
        </p:txBody>
      </p:sp>
      <p:sp>
        <p:nvSpPr>
          <p:cNvPr id="20" name="Rounded Rectangle 19"/>
          <p:cNvSpPr/>
          <p:nvPr/>
        </p:nvSpPr>
        <p:spPr>
          <a:xfrm>
            <a:off x="2793126" y="3243072"/>
            <a:ext cx="2079894" cy="25755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2994294" y="3444240"/>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2" name="Picture 21" descr="ruler_ec66f5961a99.png"/>
          <p:cNvPicPr>
            <a:picLocks noChangeAspect="1"/>
          </p:cNvPicPr>
          <p:nvPr/>
        </p:nvPicPr>
        <p:blipFill>
          <a:blip r:embed="rId6"/>
          <a:stretch>
            <a:fillRect/>
          </a:stretch>
        </p:blipFill>
        <p:spPr>
          <a:xfrm>
            <a:off x="3104022" y="3553968"/>
            <a:ext cx="237744" cy="237744"/>
          </a:xfrm>
          <a:prstGeom prst="rect">
            <a:avLst/>
          </a:prstGeom>
        </p:spPr>
      </p:pic>
      <p:sp>
        <p:nvSpPr>
          <p:cNvPr id="23" name="TextBox 22"/>
          <p:cNvSpPr txBox="1"/>
          <p:nvPr/>
        </p:nvSpPr>
        <p:spPr>
          <a:xfrm>
            <a:off x="2994294" y="4011168"/>
            <a:ext cx="1677558" cy="160401"/>
          </a:xfrm>
          <a:prstGeom prst="rect">
            <a:avLst/>
          </a:prstGeom>
          <a:noFill/>
        </p:spPr>
        <p:txBody>
          <a:bodyPr wrap="square" anchor="t" lIns="0" rIns="0" tIns="0" bIns="0">
            <a:spAutoFit/>
          </a:bodyPr>
          <a:lstStyle/>
          <a:p>
            <a:pPr algn="l"/>
            <a:r>
              <a:rPr sz="750" b="1" i="0" spc="250">
                <a:solidFill>
                  <a:srgbClr val="5B3FD6"/>
                </a:solidFill>
                <a:latin typeface="Calibri"/>
              </a:rPr>
              <a:t>PART 2</a:t>
            </a:r>
          </a:p>
        </p:txBody>
      </p:sp>
      <p:sp>
        <p:nvSpPr>
          <p:cNvPr id="24" name="TextBox 23"/>
          <p:cNvSpPr txBox="1"/>
          <p:nvPr/>
        </p:nvSpPr>
        <p:spPr>
          <a:xfrm>
            <a:off x="2994294" y="4248912"/>
            <a:ext cx="1677558" cy="498856"/>
          </a:xfrm>
          <a:prstGeom prst="rect">
            <a:avLst/>
          </a:prstGeom>
          <a:noFill/>
        </p:spPr>
        <p:txBody>
          <a:bodyPr wrap="square" anchor="t" lIns="0" rIns="0" tIns="0" bIns="0">
            <a:spAutoFit/>
          </a:bodyPr>
          <a:lstStyle/>
          <a:p>
            <a:pPr algn="l"/>
            <a:r>
              <a:rPr sz="1400" b="1" i="0">
                <a:solidFill>
                  <a:srgbClr val="1A0F5C"/>
                </a:solidFill>
                <a:latin typeface="Calibri"/>
              </a:rPr>
              <a:t>The typical delivered order</a:t>
            </a:r>
          </a:p>
        </p:txBody>
      </p:sp>
      <p:sp>
        <p:nvSpPr>
          <p:cNvPr id="25" name="TextBox 24"/>
          <p:cNvSpPr txBox="1"/>
          <p:nvPr/>
        </p:nvSpPr>
        <p:spPr>
          <a:xfrm>
            <a:off x="2994294" y="4820920"/>
            <a:ext cx="1677558" cy="763016"/>
          </a:xfrm>
          <a:prstGeom prst="rect">
            <a:avLst/>
          </a:prstGeom>
          <a:noFill/>
        </p:spPr>
        <p:txBody>
          <a:bodyPr wrap="square" anchor="t" lIns="0" rIns="0" tIns="0" bIns="0">
            <a:spAutoFit/>
          </a:bodyPr>
          <a:lstStyle/>
          <a:p>
            <a:pPr algn="l"/>
            <a:r>
              <a:rPr sz="1100" b="0" i="0">
                <a:solidFill>
                  <a:srgbClr val="6B6690"/>
                </a:solidFill>
                <a:latin typeface="Calibri"/>
              </a:rPr>
              <a:t>Find the mean, the median of an odd count and the orders above the mean.</a:t>
            </a:r>
          </a:p>
        </p:txBody>
      </p:sp>
      <p:sp>
        <p:nvSpPr>
          <p:cNvPr id="26" name="Rounded Rectangle 25"/>
          <p:cNvSpPr/>
          <p:nvPr/>
        </p:nvSpPr>
        <p:spPr>
          <a:xfrm>
            <a:off x="5055900" y="3243072"/>
            <a:ext cx="2079894" cy="25755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5257068" y="3444240"/>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calculator_852ec1ae1794.png"/>
          <p:cNvPicPr>
            <a:picLocks noChangeAspect="1"/>
          </p:cNvPicPr>
          <p:nvPr/>
        </p:nvPicPr>
        <p:blipFill>
          <a:blip r:embed="rId7"/>
          <a:stretch>
            <a:fillRect/>
          </a:stretch>
        </p:blipFill>
        <p:spPr>
          <a:xfrm>
            <a:off x="5366796" y="3553968"/>
            <a:ext cx="237744" cy="237744"/>
          </a:xfrm>
          <a:prstGeom prst="rect">
            <a:avLst/>
          </a:prstGeom>
        </p:spPr>
      </p:pic>
      <p:sp>
        <p:nvSpPr>
          <p:cNvPr id="29" name="TextBox 28"/>
          <p:cNvSpPr txBox="1"/>
          <p:nvPr/>
        </p:nvSpPr>
        <p:spPr>
          <a:xfrm>
            <a:off x="5257068" y="4011168"/>
            <a:ext cx="1677558" cy="160401"/>
          </a:xfrm>
          <a:prstGeom prst="rect">
            <a:avLst/>
          </a:prstGeom>
          <a:noFill/>
        </p:spPr>
        <p:txBody>
          <a:bodyPr wrap="square" anchor="t" lIns="0" rIns="0" tIns="0" bIns="0">
            <a:spAutoFit/>
          </a:bodyPr>
          <a:lstStyle/>
          <a:p>
            <a:pPr algn="l"/>
            <a:r>
              <a:rPr sz="750" b="1" i="0" spc="250">
                <a:solidFill>
                  <a:srgbClr val="5B3FD6"/>
                </a:solidFill>
                <a:latin typeface="Calibri"/>
              </a:rPr>
              <a:t>PART 3</a:t>
            </a:r>
          </a:p>
        </p:txBody>
      </p:sp>
      <p:sp>
        <p:nvSpPr>
          <p:cNvPr id="30" name="TextBox 29"/>
          <p:cNvSpPr txBox="1"/>
          <p:nvPr/>
        </p:nvSpPr>
        <p:spPr>
          <a:xfrm>
            <a:off x="5257068" y="4248912"/>
            <a:ext cx="1677558" cy="498856"/>
          </a:xfrm>
          <a:prstGeom prst="rect">
            <a:avLst/>
          </a:prstGeom>
          <a:noFill/>
        </p:spPr>
        <p:txBody>
          <a:bodyPr wrap="square" anchor="t" lIns="0" rIns="0" tIns="0" bIns="0">
            <a:spAutoFit/>
          </a:bodyPr>
          <a:lstStyle/>
          <a:p>
            <a:pPr algn="l"/>
            <a:r>
              <a:rPr sz="1400" b="1" i="0">
                <a:solidFill>
                  <a:srgbClr val="1A0F5C"/>
                </a:solidFill>
                <a:latin typeface="Calibri"/>
              </a:rPr>
              <a:t>The plan and the discount</a:t>
            </a:r>
          </a:p>
        </p:txBody>
      </p:sp>
      <p:sp>
        <p:nvSpPr>
          <p:cNvPr id="31" name="TextBox 30"/>
          <p:cNvSpPr txBox="1"/>
          <p:nvPr/>
        </p:nvSpPr>
        <p:spPr>
          <a:xfrm>
            <a:off x="5257068" y="4820920"/>
            <a:ext cx="1677558" cy="763016"/>
          </a:xfrm>
          <a:prstGeom prst="rect">
            <a:avLst/>
          </a:prstGeom>
          <a:noFill/>
        </p:spPr>
        <p:txBody>
          <a:bodyPr wrap="square" anchor="t" lIns="0" rIns="0" tIns="0" bIns="0">
            <a:spAutoFit/>
          </a:bodyPr>
          <a:lstStyle/>
          <a:p>
            <a:pPr algn="l"/>
            <a:r>
              <a:rPr sz="1100" b="0" i="0">
                <a:solidFill>
                  <a:srgbClr val="6B6690"/>
                </a:solidFill>
                <a:latin typeface="Calibri"/>
              </a:rPr>
              <a:t>Size the 15 percent plan on delivered revenue, and price a discount through the tree.</a:t>
            </a:r>
          </a:p>
        </p:txBody>
      </p:sp>
      <p:sp>
        <p:nvSpPr>
          <p:cNvPr id="32" name="Rounded Rectangle 31"/>
          <p:cNvSpPr/>
          <p:nvPr/>
        </p:nvSpPr>
        <p:spPr>
          <a:xfrm>
            <a:off x="7318674" y="3243072"/>
            <a:ext cx="2079894" cy="25755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Oval 32"/>
          <p:cNvSpPr/>
          <p:nvPr/>
        </p:nvSpPr>
        <p:spPr>
          <a:xfrm>
            <a:off x="7519842" y="3444240"/>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4" name="Picture 33" descr="git-branch_2cd118b75e1f.png"/>
          <p:cNvPicPr>
            <a:picLocks noChangeAspect="1"/>
          </p:cNvPicPr>
          <p:nvPr/>
        </p:nvPicPr>
        <p:blipFill>
          <a:blip r:embed="rId8"/>
          <a:stretch>
            <a:fillRect/>
          </a:stretch>
        </p:blipFill>
        <p:spPr>
          <a:xfrm>
            <a:off x="7629570" y="3553968"/>
            <a:ext cx="237744" cy="237744"/>
          </a:xfrm>
          <a:prstGeom prst="rect">
            <a:avLst/>
          </a:prstGeom>
        </p:spPr>
      </p:pic>
      <p:sp>
        <p:nvSpPr>
          <p:cNvPr id="35" name="TextBox 34"/>
          <p:cNvSpPr txBox="1"/>
          <p:nvPr/>
        </p:nvSpPr>
        <p:spPr>
          <a:xfrm>
            <a:off x="7519842" y="4011168"/>
            <a:ext cx="1677558" cy="160401"/>
          </a:xfrm>
          <a:prstGeom prst="rect">
            <a:avLst/>
          </a:prstGeom>
          <a:noFill/>
        </p:spPr>
        <p:txBody>
          <a:bodyPr wrap="square" anchor="t" lIns="0" rIns="0" tIns="0" bIns="0">
            <a:spAutoFit/>
          </a:bodyPr>
          <a:lstStyle/>
          <a:p>
            <a:pPr algn="l"/>
            <a:r>
              <a:rPr sz="750" b="1" i="0" spc="250">
                <a:solidFill>
                  <a:srgbClr val="5B3FD6"/>
                </a:solidFill>
                <a:latin typeface="Calibri"/>
              </a:rPr>
              <a:t>PART 4</a:t>
            </a:r>
          </a:p>
        </p:txBody>
      </p:sp>
      <p:sp>
        <p:nvSpPr>
          <p:cNvPr id="36" name="TextBox 35"/>
          <p:cNvSpPr txBox="1"/>
          <p:nvPr/>
        </p:nvSpPr>
        <p:spPr>
          <a:xfrm>
            <a:off x="7519842" y="4248912"/>
            <a:ext cx="1677558" cy="498856"/>
          </a:xfrm>
          <a:prstGeom prst="rect">
            <a:avLst/>
          </a:prstGeom>
          <a:noFill/>
        </p:spPr>
        <p:txBody>
          <a:bodyPr wrap="square" anchor="t" lIns="0" rIns="0" tIns="0" bIns="0">
            <a:spAutoFit/>
          </a:bodyPr>
          <a:lstStyle/>
          <a:p>
            <a:pPr algn="l"/>
            <a:r>
              <a:rPr sz="1400" b="1" i="0">
                <a:solidFill>
                  <a:srgbClr val="1A0F5C"/>
                </a:solidFill>
                <a:latin typeface="Calibri"/>
              </a:rPr>
              <a:t>The branch, with the window's edge</a:t>
            </a:r>
          </a:p>
        </p:txBody>
      </p:sp>
      <p:sp>
        <p:nvSpPr>
          <p:cNvPr id="37" name="TextBox 36"/>
          <p:cNvSpPr txBox="1"/>
          <p:nvPr/>
        </p:nvSpPr>
        <p:spPr>
          <a:xfrm>
            <a:off x="7519842" y="4820920"/>
            <a:ext cx="1677558" cy="763016"/>
          </a:xfrm>
          <a:prstGeom prst="rect">
            <a:avLst/>
          </a:prstGeom>
          <a:noFill/>
        </p:spPr>
        <p:txBody>
          <a:bodyPr wrap="square" anchor="t" lIns="0" rIns="0" tIns="0" bIns="0">
            <a:spAutoFit/>
          </a:bodyPr>
          <a:lstStyle/>
          <a:p>
            <a:pPr algn="l"/>
            <a:r>
              <a:rPr sz="1100" b="0" i="0">
                <a:solidFill>
                  <a:srgbClr val="6B6690"/>
                </a:solidFill>
                <a:latin typeface="Calibri"/>
              </a:rPr>
              <a:t>Hold back one-time buyers too recent to judge, then pick the branch and the headline.</a:t>
            </a:r>
          </a:p>
        </p:txBody>
      </p:sp>
      <p:sp>
        <p:nvSpPr>
          <p:cNvPr id="38" name="Rounded Rectangle 37"/>
          <p:cNvSpPr/>
          <p:nvPr/>
        </p:nvSpPr>
        <p:spPr>
          <a:xfrm>
            <a:off x="9581448" y="3243072"/>
            <a:ext cx="2079894" cy="25755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9782616" y="344424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0" name="Picture 39" descr="message-square_028dbd132a0a.png"/>
          <p:cNvPicPr>
            <a:picLocks noChangeAspect="1"/>
          </p:cNvPicPr>
          <p:nvPr/>
        </p:nvPicPr>
        <p:blipFill>
          <a:blip r:embed="rId4"/>
          <a:stretch>
            <a:fillRect/>
          </a:stretch>
        </p:blipFill>
        <p:spPr>
          <a:xfrm>
            <a:off x="9892344" y="3553968"/>
            <a:ext cx="237744" cy="237744"/>
          </a:xfrm>
          <a:prstGeom prst="rect">
            <a:avLst/>
          </a:prstGeom>
        </p:spPr>
      </p:pic>
      <p:sp>
        <p:nvSpPr>
          <p:cNvPr id="41" name="TextBox 40"/>
          <p:cNvSpPr txBox="1"/>
          <p:nvPr/>
        </p:nvSpPr>
        <p:spPr>
          <a:xfrm>
            <a:off x="9782616" y="4011168"/>
            <a:ext cx="1677558" cy="160401"/>
          </a:xfrm>
          <a:prstGeom prst="rect">
            <a:avLst/>
          </a:prstGeom>
          <a:noFill/>
        </p:spPr>
        <p:txBody>
          <a:bodyPr wrap="square" anchor="t" lIns="0" rIns="0" tIns="0" bIns="0">
            <a:spAutoFit/>
          </a:bodyPr>
          <a:lstStyle/>
          <a:p>
            <a:pPr algn="l"/>
            <a:r>
              <a:rPr sz="750" b="1" i="0" spc="250">
                <a:solidFill>
                  <a:srgbClr val="D9A7FF"/>
                </a:solidFill>
                <a:latin typeface="Calibri"/>
              </a:rPr>
              <a:t>PART 5</a:t>
            </a:r>
          </a:p>
        </p:txBody>
      </p:sp>
      <p:sp>
        <p:nvSpPr>
          <p:cNvPr id="42" name="TextBox 41"/>
          <p:cNvSpPr txBox="1"/>
          <p:nvPr/>
        </p:nvSpPr>
        <p:spPr>
          <a:xfrm>
            <a:off x="9782616" y="4248912"/>
            <a:ext cx="1677558" cy="267716"/>
          </a:xfrm>
          <a:prstGeom prst="rect">
            <a:avLst/>
          </a:prstGeom>
          <a:noFill/>
        </p:spPr>
        <p:txBody>
          <a:bodyPr wrap="square" anchor="t" lIns="0" rIns="0" tIns="0" bIns="0">
            <a:spAutoFit/>
          </a:bodyPr>
          <a:lstStyle/>
          <a:p>
            <a:pPr algn="l"/>
            <a:r>
              <a:rPr sz="1400" b="1" i="0">
                <a:solidFill>
                  <a:srgbClr val="FFFFFF"/>
                </a:solidFill>
                <a:latin typeface="Calibri"/>
              </a:rPr>
              <a:t>The sentence</a:t>
            </a:r>
          </a:p>
        </p:txBody>
      </p:sp>
      <p:sp>
        <p:nvSpPr>
          <p:cNvPr id="43" name="TextBox 42"/>
          <p:cNvSpPr txBox="1"/>
          <p:nvPr/>
        </p:nvSpPr>
        <p:spPr>
          <a:xfrm>
            <a:off x="9782616" y="4589780"/>
            <a:ext cx="1677558" cy="581406"/>
          </a:xfrm>
          <a:prstGeom prst="rect">
            <a:avLst/>
          </a:prstGeom>
          <a:noFill/>
        </p:spPr>
        <p:txBody>
          <a:bodyPr wrap="square" anchor="t" lIns="0" rIns="0" tIns="0" bIns="0">
            <a:spAutoFit/>
          </a:bodyPr>
          <a:lstStyle/>
          <a:p>
            <a:pPr algn="l"/>
            <a:r>
              <a:rPr sz="1100" b="0" i="0">
                <a:solidFill>
                  <a:srgbClr val="CFC9EE"/>
                </a:solidFill>
                <a:latin typeface="Calibri"/>
              </a:rPr>
              <a:t>Write chapter 6's four parts on delivered orders, with what held.</a:t>
            </a:r>
          </a:p>
        </p:txBody>
      </p:sp>
      <p:sp>
        <p:nvSpPr>
          <p:cNvPr id="44" name="Oval 4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46" name="Oval 45"/>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48" name="Oval 47"/>
          <p:cNvSpPr/>
          <p:nvPr/>
        </p:nvSpPr>
        <p:spPr>
          <a:xfrm>
            <a:off x="322954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3339274" y="6437376"/>
            <a:ext cx="918400" cy="152146"/>
          </a:xfrm>
          <a:prstGeom prst="rect">
            <a:avLst/>
          </a:prstGeom>
          <a:noFill/>
        </p:spPr>
        <p:txBody>
          <a:bodyPr wrap="square" anchor="t" lIns="0" rIns="0" tIns="0" bIns="0">
            <a:spAutoFit/>
          </a:bodyPr>
          <a:lstStyle/>
          <a:p>
            <a:pPr algn="l"/>
            <a:r>
              <a:rPr sz="700" b="1" i="0">
                <a:solidFill>
                  <a:srgbClr val="5B3FD6"/>
                </a:solidFill>
                <a:latin typeface="Calibri"/>
              </a:rPr>
              <a:t>Escalated case</a:t>
            </a:r>
          </a:p>
        </p:txBody>
      </p:sp>
      <p:sp>
        <p:nvSpPr>
          <p:cNvPr id="50" name="Oval 49"/>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52" name="Oval 51"/>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54" name="Oval 53"/>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56" name="Oval 55"/>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58" name="TextBox 5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S31  ·  35 / 54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Post the brief's lines, your sentence and your picks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you post, and how long does each part take?</a:t>
            </a:r>
          </a:p>
        </p:txBody>
      </p:sp>
      <p:sp>
        <p:nvSpPr>
          <p:cNvPr id="9" name="Rectangle 8"/>
          <p:cNvSpPr/>
          <p:nvPr/>
        </p:nvSpPr>
        <p:spPr>
          <a:xfrm>
            <a:off x="2324557" y="2523744"/>
            <a:ext cx="7542580"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PARTS 1 AND 2</a:t>
            </a:r>
          </a:p>
        </p:txBody>
      </p:sp>
      <p:sp>
        <p:nvSpPr>
          <p:cNvPr id="11" name="Oval 10"/>
          <p:cNvSpPr/>
          <p:nvPr/>
        </p:nvSpPr>
        <p:spPr>
          <a:xfrm>
            <a:off x="222397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3588410"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3259226" cy="251205"/>
          </a:xfrm>
          <a:prstGeom prst="rect">
            <a:avLst/>
          </a:prstGeom>
          <a:noFill/>
        </p:spPr>
        <p:txBody>
          <a:bodyPr wrap="square" anchor="t" lIns="0" rIns="0" tIns="0" bIns="0">
            <a:spAutoFit/>
          </a:bodyPr>
          <a:lstStyle/>
          <a:p>
            <a:pPr algn="l"/>
            <a:r>
              <a:rPr sz="1300" b="1" i="0">
                <a:solidFill>
                  <a:srgbClr val="1A0F5C"/>
                </a:solidFill>
                <a:latin typeface="Calibri"/>
              </a:rPr>
              <a:t>12 minutes</a:t>
            </a:r>
          </a:p>
        </p:txBody>
      </p:sp>
      <p:sp>
        <p:nvSpPr>
          <p:cNvPr id="14" name="TextBox 13"/>
          <p:cNvSpPr txBox="1"/>
          <p:nvPr/>
        </p:nvSpPr>
        <p:spPr>
          <a:xfrm>
            <a:off x="694944" y="3277870"/>
            <a:ext cx="3259226" cy="366776"/>
          </a:xfrm>
          <a:prstGeom prst="rect">
            <a:avLst/>
          </a:prstGeom>
          <a:noFill/>
        </p:spPr>
        <p:txBody>
          <a:bodyPr wrap="square" anchor="t" lIns="0" rIns="0" tIns="0" bIns="0">
            <a:spAutoFit/>
          </a:bodyPr>
          <a:lstStyle/>
          <a:p>
            <a:pPr algn="l"/>
            <a:r>
              <a:rPr sz="1000" b="0" i="0">
                <a:solidFill>
                  <a:srgbClr val="6B6690"/>
                </a:solidFill>
                <a:latin typeface="Calibri"/>
              </a:rPr>
              <a:t>Rebuild the delivered leaves and find the delivered median.</a:t>
            </a:r>
          </a:p>
        </p:txBody>
      </p:sp>
      <p:sp>
        <p:nvSpPr>
          <p:cNvPr id="15" name="TextBox 14"/>
          <p:cNvSpPr txBox="1"/>
          <p:nvPr/>
        </p:nvSpPr>
        <p:spPr>
          <a:xfrm>
            <a:off x="430164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PARTS 3 AND 4</a:t>
            </a:r>
          </a:p>
        </p:txBody>
      </p:sp>
      <p:sp>
        <p:nvSpPr>
          <p:cNvPr id="16" name="Oval 15"/>
          <p:cNvSpPr/>
          <p:nvPr/>
        </p:nvSpPr>
        <p:spPr>
          <a:xfrm>
            <a:off x="599526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4301642" y="2843784"/>
            <a:ext cx="3588410"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466234" y="2990088"/>
            <a:ext cx="3259226" cy="251205"/>
          </a:xfrm>
          <a:prstGeom prst="rect">
            <a:avLst/>
          </a:prstGeom>
          <a:noFill/>
        </p:spPr>
        <p:txBody>
          <a:bodyPr wrap="square" anchor="t" lIns="0" rIns="0" tIns="0" bIns="0">
            <a:spAutoFit/>
          </a:bodyPr>
          <a:lstStyle/>
          <a:p>
            <a:pPr algn="l"/>
            <a:r>
              <a:rPr sz="1300" b="1" i="0">
                <a:solidFill>
                  <a:srgbClr val="1A0F5C"/>
                </a:solidFill>
                <a:latin typeface="Calibri"/>
              </a:rPr>
              <a:t>12 minutes</a:t>
            </a:r>
          </a:p>
        </p:txBody>
      </p:sp>
      <p:sp>
        <p:nvSpPr>
          <p:cNvPr id="19" name="TextBox 18"/>
          <p:cNvSpPr txBox="1"/>
          <p:nvPr/>
        </p:nvSpPr>
        <p:spPr>
          <a:xfrm>
            <a:off x="4466234" y="3277870"/>
            <a:ext cx="3259226" cy="366776"/>
          </a:xfrm>
          <a:prstGeom prst="rect">
            <a:avLst/>
          </a:prstGeom>
          <a:noFill/>
        </p:spPr>
        <p:txBody>
          <a:bodyPr wrap="square" anchor="t" lIns="0" rIns="0" tIns="0" bIns="0">
            <a:spAutoFit/>
          </a:bodyPr>
          <a:lstStyle/>
          <a:p>
            <a:pPr algn="l"/>
            <a:r>
              <a:rPr sz="1000" b="0" i="0">
                <a:solidFill>
                  <a:srgbClr val="6B6690"/>
                </a:solidFill>
                <a:latin typeface="Calibri"/>
              </a:rPr>
              <a:t>Size the plan on delivered revenue, price the discount and apply the window's edge.</a:t>
            </a:r>
          </a:p>
        </p:txBody>
      </p:sp>
      <p:sp>
        <p:nvSpPr>
          <p:cNvPr id="20" name="TextBox 19"/>
          <p:cNvSpPr txBox="1"/>
          <p:nvPr/>
        </p:nvSpPr>
        <p:spPr>
          <a:xfrm>
            <a:off x="807293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PART 5</a:t>
            </a:r>
          </a:p>
        </p:txBody>
      </p:sp>
      <p:sp>
        <p:nvSpPr>
          <p:cNvPr id="21" name="Oval 20"/>
          <p:cNvSpPr/>
          <p:nvPr/>
        </p:nvSpPr>
        <p:spPr>
          <a:xfrm>
            <a:off x="9766554"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8072932" y="2843784"/>
            <a:ext cx="3588410"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37524" y="2990088"/>
            <a:ext cx="3259226" cy="251205"/>
          </a:xfrm>
          <a:prstGeom prst="rect">
            <a:avLst/>
          </a:prstGeom>
          <a:noFill/>
        </p:spPr>
        <p:txBody>
          <a:bodyPr wrap="square" anchor="t" lIns="0" rIns="0" tIns="0" bIns="0">
            <a:spAutoFit/>
          </a:bodyPr>
          <a:lstStyle/>
          <a:p>
            <a:pPr algn="l"/>
            <a:r>
              <a:rPr sz="1300" b="1" i="0">
                <a:solidFill>
                  <a:srgbClr val="FFFFFF"/>
                </a:solidFill>
                <a:latin typeface="Calibri"/>
              </a:rPr>
              <a:t>6 minutes</a:t>
            </a:r>
          </a:p>
        </p:txBody>
      </p:sp>
      <p:sp>
        <p:nvSpPr>
          <p:cNvPr id="24" name="TextBox 23"/>
          <p:cNvSpPr txBox="1"/>
          <p:nvPr/>
        </p:nvSpPr>
        <p:spPr>
          <a:xfrm>
            <a:off x="8237524" y="3277870"/>
            <a:ext cx="3259226" cy="366776"/>
          </a:xfrm>
          <a:prstGeom prst="rect">
            <a:avLst/>
          </a:prstGeom>
          <a:noFill/>
        </p:spPr>
        <p:txBody>
          <a:bodyPr wrap="square" anchor="t" lIns="0" rIns="0" tIns="0" bIns="0">
            <a:spAutoFit/>
          </a:bodyPr>
          <a:lstStyle/>
          <a:p>
            <a:pPr algn="l"/>
            <a:r>
              <a:rPr sz="1000" b="0" i="0">
                <a:solidFill>
                  <a:srgbClr val="CFC9EE"/>
                </a:solidFill>
                <a:latin typeface="Calibri"/>
              </a:rPr>
              <a:t>Write the sentence, and one line on what moved and what held.</a:t>
            </a:r>
          </a:p>
        </p:txBody>
      </p:sp>
      <p:sp>
        <p:nvSpPr>
          <p:cNvPr id="25" name="TextBox 24"/>
          <p:cNvSpPr txBox="1"/>
          <p:nvPr/>
        </p:nvSpPr>
        <p:spPr>
          <a:xfrm>
            <a:off x="530352" y="4103624"/>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Work alone in the escalated case brief and its notebook, with no hints, and run every check before you post.</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28" name="Oval 27"/>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30" name="Oval 29"/>
          <p:cNvSpPr/>
          <p:nvPr/>
        </p:nvSpPr>
        <p:spPr>
          <a:xfrm>
            <a:off x="322954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339274" y="6437376"/>
            <a:ext cx="918400" cy="152146"/>
          </a:xfrm>
          <a:prstGeom prst="rect">
            <a:avLst/>
          </a:prstGeom>
          <a:noFill/>
        </p:spPr>
        <p:txBody>
          <a:bodyPr wrap="square" anchor="t" lIns="0" rIns="0" tIns="0" bIns="0">
            <a:spAutoFit/>
          </a:bodyPr>
          <a:lstStyle/>
          <a:p>
            <a:pPr algn="l"/>
            <a:r>
              <a:rPr sz="700" b="1" i="0">
                <a:solidFill>
                  <a:srgbClr val="5B3FD6"/>
                </a:solidFill>
                <a:latin typeface="Calibri"/>
              </a:rPr>
              <a:t>Escalated case</a:t>
            </a:r>
          </a:p>
        </p:txBody>
      </p:sp>
      <p:sp>
        <p:nvSpPr>
          <p:cNvPr id="32" name="Oval 31"/>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34" name="Oval 33"/>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36" name="Oval 35"/>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38" name="Oval 37"/>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S32  ·  36 / 54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B</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hold up</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Which of the day's six plausible numbers would you sign, and which check catches each?</a:t>
            </a:r>
          </a:p>
        </p:txBody>
      </p:sp>
      <p:sp>
        <p:nvSpPr>
          <p:cNvPr id="10" name="Rounded Rectangle 9"/>
          <p:cNvSpPr/>
          <p:nvPr/>
        </p:nvSpPr>
        <p:spPr>
          <a:xfrm>
            <a:off x="731519"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branch first</a:t>
            </a:r>
          </a:p>
        </p:txBody>
      </p:sp>
      <p:sp>
        <p:nvSpPr>
          <p:cNvPr id="11" name="Rounded Rectangle 10"/>
          <p:cNvSpPr/>
          <p:nvPr/>
        </p:nvSpPr>
        <p:spPr>
          <a:xfrm>
            <a:off x="2272895"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Meera sign</a:t>
            </a:r>
          </a:p>
        </p:txBody>
      </p:sp>
      <p:sp>
        <p:nvSpPr>
          <p:cNvPr id="12" name="Rounded Rectangle 11"/>
          <p:cNvSpPr/>
          <p:nvPr/>
        </p:nvSpPr>
        <p:spPr>
          <a:xfrm>
            <a:off x="3932702" y="5074920"/>
            <a:ext cx="119478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Escalated case</a:t>
            </a:r>
          </a:p>
        </p:txBody>
      </p:sp>
      <p:sp>
        <p:nvSpPr>
          <p:cNvPr id="13" name="Rounded Rectangle 12"/>
          <p:cNvSpPr/>
          <p:nvPr/>
        </p:nvSpPr>
        <p:spPr>
          <a:xfrm>
            <a:off x="5237214" y="5074920"/>
            <a:ext cx="113556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hold up</a:t>
            </a:r>
          </a:p>
        </p:txBody>
      </p:sp>
      <p:sp>
        <p:nvSpPr>
          <p:cNvPr id="14" name="Rounded Rectangle 13"/>
          <p:cNvSpPr/>
          <p:nvPr/>
        </p:nvSpPr>
        <p:spPr>
          <a:xfrm>
            <a:off x="6482510" y="5074920"/>
            <a:ext cx="101713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Second case</a:t>
            </a:r>
          </a:p>
        </p:txBody>
      </p:sp>
      <p:sp>
        <p:nvSpPr>
          <p:cNvPr id="15" name="Rounded Rectangle 14"/>
          <p:cNvSpPr/>
          <p:nvPr/>
        </p:nvSpPr>
        <p:spPr>
          <a:xfrm>
            <a:off x="7609373" y="5074920"/>
            <a:ext cx="119478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say it</a:t>
            </a:r>
          </a:p>
        </p:txBody>
      </p:sp>
      <p:sp>
        <p:nvSpPr>
          <p:cNvPr id="16" name="Rounded Rectangle 15"/>
          <p:cNvSpPr/>
          <p:nvPr/>
        </p:nvSpPr>
        <p:spPr>
          <a:xfrm>
            <a:off x="8913885" y="5074920"/>
            <a:ext cx="95791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stays</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Monday afternoon: chapters 5 and 6 and the cases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37 / 54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which of these six numbers would you sign?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the day's plausible numbers survives its check?</a:t>
            </a:r>
          </a:p>
        </p:txBody>
      </p:sp>
      <p:sp>
        <p:nvSpPr>
          <p:cNvPr id="9" name="TextBox 8"/>
          <p:cNvSpPr txBox="1"/>
          <p:nvPr/>
        </p:nvSpPr>
        <p:spPr>
          <a:xfrm>
            <a:off x="530352" y="1956816"/>
            <a:ext cx="1626565" cy="317500"/>
          </a:xfrm>
          <a:prstGeom prst="rect">
            <a:avLst/>
          </a:prstGeom>
          <a:noFill/>
        </p:spPr>
        <p:txBody>
          <a:bodyPr wrap="square" anchor="t" lIns="0" rIns="0" tIns="0" bIns="0">
            <a:spAutoFit/>
          </a:bodyPr>
          <a:lstStyle/>
          <a:p>
            <a:pPr algn="l"/>
            <a:r>
              <a:rPr sz="2000" b="0" i="0">
                <a:solidFill>
                  <a:srgbClr val="5B3FD6"/>
                </a:solidFill>
                <a:latin typeface="Georgia"/>
              </a:rPr>
              <a:t>Rs 5,44,810</a:t>
            </a:r>
          </a:p>
        </p:txBody>
      </p:sp>
      <p:sp>
        <p:nvSpPr>
          <p:cNvPr id="10" name="TextBox 9"/>
          <p:cNvSpPr txBox="1"/>
          <p:nvPr/>
        </p:nvSpPr>
        <p:spPr>
          <a:xfrm>
            <a:off x="530352" y="2310892"/>
            <a:ext cx="1626565" cy="168656"/>
          </a:xfrm>
          <a:prstGeom prst="rect">
            <a:avLst/>
          </a:prstGeom>
          <a:noFill/>
        </p:spPr>
        <p:txBody>
          <a:bodyPr wrap="square" anchor="t" lIns="0" rIns="0" tIns="0" bIns="0">
            <a:spAutoFit/>
          </a:bodyPr>
          <a:lstStyle/>
          <a:p>
            <a:pPr algn="l"/>
            <a:r>
              <a:rPr sz="800" b="1" i="0" spc="250">
                <a:solidFill>
                  <a:srgbClr val="1A0F5C"/>
                </a:solidFill>
                <a:latin typeface="Calibri"/>
              </a:rPr>
              <a:t>SALES</a:t>
            </a:r>
          </a:p>
        </p:txBody>
      </p:sp>
      <p:sp>
        <p:nvSpPr>
          <p:cNvPr id="11" name="TextBox 10"/>
          <p:cNvSpPr txBox="1"/>
          <p:nvPr/>
        </p:nvSpPr>
        <p:spPr>
          <a:xfrm>
            <a:off x="530352" y="2512060"/>
            <a:ext cx="1626565" cy="193421"/>
          </a:xfrm>
          <a:prstGeom prst="rect">
            <a:avLst/>
          </a:prstGeom>
          <a:noFill/>
        </p:spPr>
        <p:txBody>
          <a:bodyPr wrap="square" anchor="t" lIns="0" rIns="0" tIns="0" bIns="0">
            <a:spAutoFit/>
          </a:bodyPr>
          <a:lstStyle/>
          <a:p>
            <a:pPr algn="l"/>
            <a:r>
              <a:rPr sz="950" b="0" i="0">
                <a:solidFill>
                  <a:srgbClr val="6B6690"/>
                </a:solidFill>
                <a:latin typeface="Calibri"/>
              </a:rPr>
              <a:t>all 30 orders summed</a:t>
            </a:r>
          </a:p>
        </p:txBody>
      </p:sp>
      <p:sp>
        <p:nvSpPr>
          <p:cNvPr id="12" name="Rectangle 11"/>
          <p:cNvSpPr/>
          <p:nvPr/>
        </p:nvSpPr>
        <p:spPr>
          <a:xfrm>
            <a:off x="530352" y="3145536"/>
            <a:ext cx="162656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431237" y="1956816"/>
            <a:ext cx="1626565" cy="317500"/>
          </a:xfrm>
          <a:prstGeom prst="rect">
            <a:avLst/>
          </a:prstGeom>
          <a:noFill/>
        </p:spPr>
        <p:txBody>
          <a:bodyPr wrap="square" anchor="t" lIns="0" rIns="0" tIns="0" bIns="0">
            <a:spAutoFit/>
          </a:bodyPr>
          <a:lstStyle/>
          <a:p>
            <a:pPr algn="l"/>
            <a:r>
              <a:rPr sz="2000" b="0" i="0">
                <a:solidFill>
                  <a:srgbClr val="5B3FD6"/>
                </a:solidFill>
                <a:latin typeface="Georgia"/>
              </a:rPr>
              <a:t>Rs 25,943</a:t>
            </a:r>
          </a:p>
        </p:txBody>
      </p:sp>
      <p:sp>
        <p:nvSpPr>
          <p:cNvPr id="14" name="TextBox 13"/>
          <p:cNvSpPr txBox="1"/>
          <p:nvPr/>
        </p:nvSpPr>
        <p:spPr>
          <a:xfrm>
            <a:off x="2431237" y="2310892"/>
            <a:ext cx="1626565" cy="168656"/>
          </a:xfrm>
          <a:prstGeom prst="rect">
            <a:avLst/>
          </a:prstGeom>
          <a:noFill/>
        </p:spPr>
        <p:txBody>
          <a:bodyPr wrap="square" anchor="t" lIns="0" rIns="0" tIns="0" bIns="0">
            <a:spAutoFit/>
          </a:bodyPr>
          <a:lstStyle/>
          <a:p>
            <a:pPr algn="l"/>
            <a:r>
              <a:rPr sz="800" b="1" i="0" spc="250">
                <a:solidFill>
                  <a:srgbClr val="1A0F5C"/>
                </a:solidFill>
                <a:latin typeface="Calibri"/>
              </a:rPr>
              <a:t>AOV</a:t>
            </a:r>
          </a:p>
        </p:txBody>
      </p:sp>
      <p:sp>
        <p:nvSpPr>
          <p:cNvPr id="15" name="TextBox 14"/>
          <p:cNvSpPr txBox="1"/>
          <p:nvPr/>
        </p:nvSpPr>
        <p:spPr>
          <a:xfrm>
            <a:off x="2431237" y="2512060"/>
            <a:ext cx="1626565" cy="350266"/>
          </a:xfrm>
          <a:prstGeom prst="rect">
            <a:avLst/>
          </a:prstGeom>
          <a:noFill/>
        </p:spPr>
        <p:txBody>
          <a:bodyPr wrap="square" anchor="t" lIns="0" rIns="0" tIns="0" bIns="0">
            <a:spAutoFit/>
          </a:bodyPr>
          <a:lstStyle/>
          <a:p>
            <a:pPr algn="l"/>
            <a:r>
              <a:rPr sz="950" b="0" i="0">
                <a:solidFill>
                  <a:srgbClr val="6B6690"/>
                </a:solidFill>
                <a:latin typeface="Calibri"/>
              </a:rPr>
              <a:t>booked rupees / delivered orders</a:t>
            </a:r>
          </a:p>
        </p:txBody>
      </p:sp>
      <p:sp>
        <p:nvSpPr>
          <p:cNvPr id="16" name="Rectangle 15"/>
          <p:cNvSpPr/>
          <p:nvPr/>
        </p:nvSpPr>
        <p:spPr>
          <a:xfrm>
            <a:off x="2431237" y="3145536"/>
            <a:ext cx="162656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332122" y="1956816"/>
            <a:ext cx="1626565" cy="317500"/>
          </a:xfrm>
          <a:prstGeom prst="rect">
            <a:avLst/>
          </a:prstGeom>
          <a:noFill/>
        </p:spPr>
        <p:txBody>
          <a:bodyPr wrap="square" anchor="t" lIns="0" rIns="0" tIns="0" bIns="0">
            <a:spAutoFit/>
          </a:bodyPr>
          <a:lstStyle/>
          <a:p>
            <a:pPr algn="l"/>
            <a:r>
              <a:rPr sz="2000" b="0" i="0">
                <a:solidFill>
                  <a:srgbClr val="5B3FD6"/>
                </a:solidFill>
                <a:latin typeface="Georgia"/>
              </a:rPr>
              <a:t>1.00</a:t>
            </a:r>
          </a:p>
        </p:txBody>
      </p:sp>
      <p:sp>
        <p:nvSpPr>
          <p:cNvPr id="18" name="TextBox 17"/>
          <p:cNvSpPr txBox="1"/>
          <p:nvPr/>
        </p:nvSpPr>
        <p:spPr>
          <a:xfrm>
            <a:off x="4332122" y="2310892"/>
            <a:ext cx="1626565" cy="168656"/>
          </a:xfrm>
          <a:prstGeom prst="rect">
            <a:avLst/>
          </a:prstGeom>
          <a:noFill/>
        </p:spPr>
        <p:txBody>
          <a:bodyPr wrap="square" anchor="t" lIns="0" rIns="0" tIns="0" bIns="0">
            <a:spAutoFit/>
          </a:bodyPr>
          <a:lstStyle/>
          <a:p>
            <a:pPr algn="l"/>
            <a:r>
              <a:rPr sz="800" b="1" i="0" spc="250">
                <a:solidFill>
                  <a:srgbClr val="1A0F5C"/>
                </a:solidFill>
                <a:latin typeface="Calibri"/>
              </a:rPr>
              <a:t>ORDERS PER CUSTOMER</a:t>
            </a:r>
          </a:p>
        </p:txBody>
      </p:sp>
      <p:sp>
        <p:nvSpPr>
          <p:cNvPr id="19" name="TextBox 18"/>
          <p:cNvSpPr txBox="1"/>
          <p:nvPr/>
        </p:nvSpPr>
        <p:spPr>
          <a:xfrm>
            <a:off x="4332122" y="2512060"/>
            <a:ext cx="1626565" cy="193421"/>
          </a:xfrm>
          <a:prstGeom prst="rect">
            <a:avLst/>
          </a:prstGeom>
          <a:noFill/>
        </p:spPr>
        <p:txBody>
          <a:bodyPr wrap="square" anchor="t" lIns="0" rIns="0" tIns="0" bIns="0">
            <a:spAutoFit/>
          </a:bodyPr>
          <a:lstStyle/>
          <a:p>
            <a:pPr algn="l"/>
            <a:r>
              <a:rPr sz="950" b="0" i="0">
                <a:solidFill>
                  <a:srgbClr val="6B6690"/>
                </a:solidFill>
                <a:latin typeface="Calibri"/>
              </a:rPr>
              <a:t>30 orders / 30 rows</a:t>
            </a:r>
          </a:p>
        </p:txBody>
      </p:sp>
      <p:sp>
        <p:nvSpPr>
          <p:cNvPr id="20" name="Rectangle 19"/>
          <p:cNvSpPr/>
          <p:nvPr/>
        </p:nvSpPr>
        <p:spPr>
          <a:xfrm>
            <a:off x="4332122" y="3145536"/>
            <a:ext cx="162656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33007" y="1956816"/>
            <a:ext cx="1626565" cy="317500"/>
          </a:xfrm>
          <a:prstGeom prst="rect">
            <a:avLst/>
          </a:prstGeom>
          <a:noFill/>
        </p:spPr>
        <p:txBody>
          <a:bodyPr wrap="square" anchor="t" lIns="0" rIns="0" tIns="0" bIns="0">
            <a:spAutoFit/>
          </a:bodyPr>
          <a:lstStyle/>
          <a:p>
            <a:pPr algn="l"/>
            <a:r>
              <a:rPr sz="2000" b="0" i="0">
                <a:solidFill>
                  <a:srgbClr val="5B3FD6"/>
                </a:solidFill>
                <a:latin typeface="Georgia"/>
              </a:rPr>
              <a:t>Rs 18,160</a:t>
            </a:r>
          </a:p>
        </p:txBody>
      </p:sp>
      <p:sp>
        <p:nvSpPr>
          <p:cNvPr id="22" name="TextBox 21"/>
          <p:cNvSpPr txBox="1"/>
          <p:nvPr/>
        </p:nvSpPr>
        <p:spPr>
          <a:xfrm>
            <a:off x="6233007" y="2310892"/>
            <a:ext cx="1626565" cy="168656"/>
          </a:xfrm>
          <a:prstGeom prst="rect">
            <a:avLst/>
          </a:prstGeom>
          <a:noFill/>
        </p:spPr>
        <p:txBody>
          <a:bodyPr wrap="square" anchor="t" lIns="0" rIns="0" tIns="0" bIns="0">
            <a:spAutoFit/>
          </a:bodyPr>
          <a:lstStyle/>
          <a:p>
            <a:pPr algn="l"/>
            <a:r>
              <a:rPr sz="800" b="1" i="0" spc="250">
                <a:solidFill>
                  <a:srgbClr val="1A0F5C"/>
                </a:solidFill>
                <a:latin typeface="Calibri"/>
              </a:rPr>
              <a:t>TYPICAL ORDER</a:t>
            </a:r>
          </a:p>
        </p:txBody>
      </p:sp>
      <p:sp>
        <p:nvSpPr>
          <p:cNvPr id="23" name="TextBox 22"/>
          <p:cNvSpPr txBox="1"/>
          <p:nvPr/>
        </p:nvSpPr>
        <p:spPr>
          <a:xfrm>
            <a:off x="6233007" y="2512060"/>
            <a:ext cx="1626565" cy="193421"/>
          </a:xfrm>
          <a:prstGeom prst="rect">
            <a:avLst/>
          </a:prstGeom>
          <a:noFill/>
        </p:spPr>
        <p:txBody>
          <a:bodyPr wrap="square" anchor="t" lIns="0" rIns="0" tIns="0" bIns="0">
            <a:spAutoFit/>
          </a:bodyPr>
          <a:lstStyle/>
          <a:p>
            <a:pPr algn="l"/>
            <a:r>
              <a:rPr sz="950" b="0" i="0">
                <a:solidFill>
                  <a:srgbClr val="6B6690"/>
                </a:solidFill>
                <a:latin typeface="Calibri"/>
              </a:rPr>
              <a:t>revenue / orders</a:t>
            </a:r>
          </a:p>
        </p:txBody>
      </p:sp>
      <p:sp>
        <p:nvSpPr>
          <p:cNvPr id="24" name="Rectangle 23"/>
          <p:cNvSpPr/>
          <p:nvPr/>
        </p:nvSpPr>
        <p:spPr>
          <a:xfrm>
            <a:off x="6233007" y="3145536"/>
            <a:ext cx="162656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133892" y="1956816"/>
            <a:ext cx="1626565" cy="317500"/>
          </a:xfrm>
          <a:prstGeom prst="rect">
            <a:avLst/>
          </a:prstGeom>
          <a:noFill/>
        </p:spPr>
        <p:txBody>
          <a:bodyPr wrap="square" anchor="t" lIns="0" rIns="0" tIns="0" bIns="0">
            <a:spAutoFit/>
          </a:bodyPr>
          <a:lstStyle/>
          <a:p>
            <a:pPr algn="l"/>
            <a:r>
              <a:rPr sz="2000" b="0" i="0">
                <a:solidFill>
                  <a:srgbClr val="5B3FD6"/>
                </a:solidFill>
                <a:latin typeface="Georgia"/>
              </a:rPr>
              <a:t>20%</a:t>
            </a:r>
          </a:p>
        </p:txBody>
      </p:sp>
      <p:sp>
        <p:nvSpPr>
          <p:cNvPr id="26" name="TextBox 25"/>
          <p:cNvSpPr txBox="1"/>
          <p:nvPr/>
        </p:nvSpPr>
        <p:spPr>
          <a:xfrm>
            <a:off x="8133892" y="2310892"/>
            <a:ext cx="1626565" cy="168656"/>
          </a:xfrm>
          <a:prstGeom prst="rect">
            <a:avLst/>
          </a:prstGeom>
          <a:noFill/>
        </p:spPr>
        <p:txBody>
          <a:bodyPr wrap="square" anchor="t" lIns="0" rIns="0" tIns="0" bIns="0">
            <a:spAutoFit/>
          </a:bodyPr>
          <a:lstStyle/>
          <a:p>
            <a:pPr algn="l"/>
            <a:r>
              <a:rPr sz="800" b="1" i="0" spc="250">
                <a:solidFill>
                  <a:srgbClr val="1A0F5C"/>
                </a:solidFill>
                <a:latin typeface="Calibri"/>
              </a:rPr>
              <a:t>GROWTH</a:t>
            </a:r>
          </a:p>
        </p:txBody>
      </p:sp>
      <p:sp>
        <p:nvSpPr>
          <p:cNvPr id="27" name="TextBox 26"/>
          <p:cNvSpPr txBox="1"/>
          <p:nvPr/>
        </p:nvSpPr>
        <p:spPr>
          <a:xfrm>
            <a:off x="8133892" y="2512060"/>
            <a:ext cx="1626565" cy="350266"/>
          </a:xfrm>
          <a:prstGeom prst="rect">
            <a:avLst/>
          </a:prstGeom>
          <a:noFill/>
        </p:spPr>
        <p:txBody>
          <a:bodyPr wrap="square" anchor="t" lIns="0" rIns="0" tIns="0" bIns="0">
            <a:spAutoFit/>
          </a:bodyPr>
          <a:lstStyle/>
          <a:p>
            <a:pPr algn="l"/>
            <a:r>
              <a:rPr sz="950" b="0" i="0">
                <a:solidFill>
                  <a:srgbClr val="6B6690"/>
                </a:solidFill>
                <a:latin typeface="Calibri"/>
              </a:rPr>
              <a:t>two 10 percent lifts, added</a:t>
            </a:r>
          </a:p>
        </p:txBody>
      </p:sp>
      <p:sp>
        <p:nvSpPr>
          <p:cNvPr id="28" name="Rectangle 27"/>
          <p:cNvSpPr/>
          <p:nvPr/>
        </p:nvSpPr>
        <p:spPr>
          <a:xfrm>
            <a:off x="8133892" y="3145536"/>
            <a:ext cx="162656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0034778" y="1956816"/>
            <a:ext cx="1626565" cy="317500"/>
          </a:xfrm>
          <a:prstGeom prst="rect">
            <a:avLst/>
          </a:prstGeom>
          <a:noFill/>
        </p:spPr>
        <p:txBody>
          <a:bodyPr wrap="square" anchor="t" lIns="0" rIns="0" tIns="0" bIns="0">
            <a:spAutoFit/>
          </a:bodyPr>
          <a:lstStyle/>
          <a:p>
            <a:pPr algn="l"/>
            <a:r>
              <a:rPr sz="2000" b="0" i="0">
                <a:solidFill>
                  <a:srgbClr val="5B3FD6"/>
                </a:solidFill>
                <a:latin typeface="Georgia"/>
              </a:rPr>
              <a:t>70%</a:t>
            </a:r>
          </a:p>
        </p:txBody>
      </p:sp>
      <p:sp>
        <p:nvSpPr>
          <p:cNvPr id="30" name="TextBox 29"/>
          <p:cNvSpPr txBox="1"/>
          <p:nvPr/>
        </p:nvSpPr>
        <p:spPr>
          <a:xfrm>
            <a:off x="10034778" y="2310892"/>
            <a:ext cx="1626565" cy="168656"/>
          </a:xfrm>
          <a:prstGeom prst="rect">
            <a:avLst/>
          </a:prstGeom>
          <a:noFill/>
        </p:spPr>
        <p:txBody>
          <a:bodyPr wrap="square" anchor="t" lIns="0" rIns="0" tIns="0" bIns="0">
            <a:spAutoFit/>
          </a:bodyPr>
          <a:lstStyle/>
          <a:p>
            <a:pPr algn="l"/>
            <a:r>
              <a:rPr sz="800" b="1" i="0" spc="250">
                <a:solidFill>
                  <a:srgbClr val="1A0F5C"/>
                </a:solidFill>
                <a:latin typeface="Calibri"/>
              </a:rPr>
              <a:t>CUSTOMERS LOST</a:t>
            </a:r>
          </a:p>
        </p:txBody>
      </p:sp>
      <p:sp>
        <p:nvSpPr>
          <p:cNvPr id="31" name="TextBox 30"/>
          <p:cNvSpPr txBox="1"/>
          <p:nvPr/>
        </p:nvSpPr>
        <p:spPr>
          <a:xfrm>
            <a:off x="10034778" y="2512060"/>
            <a:ext cx="1626565" cy="193421"/>
          </a:xfrm>
          <a:prstGeom prst="rect">
            <a:avLst/>
          </a:prstGeom>
          <a:noFill/>
        </p:spPr>
        <p:txBody>
          <a:bodyPr wrap="square" anchor="t" lIns="0" rIns="0" tIns="0" bIns="0">
            <a:spAutoFit/>
          </a:bodyPr>
          <a:lstStyle/>
          <a:p>
            <a:pPr algn="l"/>
            <a:r>
              <a:rPr sz="950" b="0" i="0">
                <a:solidFill>
                  <a:srgbClr val="6B6690"/>
                </a:solidFill>
                <a:latin typeface="Calibri"/>
              </a:rPr>
              <a:t>16 of 23 bought once</a:t>
            </a:r>
          </a:p>
        </p:txBody>
      </p:sp>
      <p:sp>
        <p:nvSpPr>
          <p:cNvPr id="32" name="Rectangle 31"/>
          <p:cNvSpPr/>
          <p:nvPr/>
        </p:nvSpPr>
        <p:spPr>
          <a:xfrm>
            <a:off x="10034778" y="3145536"/>
            <a:ext cx="162656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Which would you sign as written: a) all six, since each came from the file; b) only the sales total; c) only the growth figure; d) none of the six?</a:t>
            </a:r>
          </a:p>
        </p:txBody>
      </p:sp>
      <p:sp>
        <p:nvSpPr>
          <p:cNvPr id="34" name="Oval 3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36" name="Oval 35"/>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38" name="Oval 37"/>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40" name="Oval 39"/>
          <p:cNvSpPr/>
          <p:nvPr/>
        </p:nvSpPr>
        <p:spPr>
          <a:xfrm>
            <a:off x="43491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458843" y="6437376"/>
            <a:ext cx="872394" cy="152146"/>
          </a:xfrm>
          <a:prstGeom prst="rect">
            <a:avLst/>
          </a:prstGeom>
          <a:noFill/>
        </p:spPr>
        <p:txBody>
          <a:bodyPr wrap="square" anchor="t" lIns="0" rIns="0" tIns="0" bIns="0">
            <a:spAutoFit/>
          </a:bodyPr>
          <a:lstStyle/>
          <a:p>
            <a:pPr algn="l"/>
            <a:r>
              <a:rPr sz="700" b="1" i="0">
                <a:solidFill>
                  <a:srgbClr val="5B3FD6"/>
                </a:solidFill>
                <a:latin typeface="Calibri"/>
              </a:rPr>
              <a:t>Which hold up</a:t>
            </a:r>
          </a:p>
        </p:txBody>
      </p:sp>
      <p:sp>
        <p:nvSpPr>
          <p:cNvPr id="42" name="Oval 41"/>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44" name="Oval 43"/>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46" name="Oval 45"/>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48" name="TextBox 4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S33  ·  38 / 54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none of the six survives its check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check catches each number, and what goes to Meera instead?</a:t>
            </a:r>
          </a:p>
        </p:txBody>
      </p:sp>
      <p:graphicFrame>
        <p:nvGraphicFramePr>
          <p:cNvPr id="9" name="Table 8"/>
          <p:cNvGraphicFramePr>
            <a:graphicFrameLocks noGrp="1"/>
          </p:cNvGraphicFramePr>
          <p:nvPr/>
        </p:nvGraphicFramePr>
        <p:xfrm>
          <a:off x="530352" y="1921256"/>
          <a:ext cx="11130990" cy="4039616"/>
        </p:xfrm>
        <a:graphic>
          <a:graphicData uri="http://schemas.openxmlformats.org/drawingml/2006/table">
            <a:tbl>
              <a:tblPr firstRow="0" bandRow="0">
                <a:tableStyleId>{2D5ABB26-0587-4C30-8999-92F81FD0307C}</a:tableStyleId>
              </a:tblPr>
              <a:tblGrid>
                <a:gridCol w="1751534"/>
                <a:gridCol w="4646620"/>
                <a:gridCol w="4732836"/>
              </a:tblGrid>
              <a:tr h="369824">
                <a:tc>
                  <a:txBody>
                    <a:bodyPr/>
                    <a:lstStyle/>
                    <a:p>
                      <a:r>
                        <a:rPr sz="1450" b="1" i="0">
                          <a:solidFill>
                            <a:srgbClr val="FFFFFF"/>
                          </a:solidFill>
                          <a:latin typeface="Calibri"/>
                        </a:rPr>
                        <a:t>The wrong number</a:t>
                      </a:r>
                    </a:p>
                  </a:txBody>
                  <a:tcPr marL="101600" marR="101600" marT="38100" marB="38100" anchor="ctr">
                    <a:solidFill>
                      <a:srgbClr val="1A0F5C"/>
                    </a:solidFill>
                  </a:tcPr>
                </a:tc>
                <a:tc>
                  <a:txBody>
                    <a:bodyPr/>
                    <a:lstStyle/>
                    <a:p>
                      <a:r>
                        <a:rPr sz="1450" b="1" i="0">
                          <a:solidFill>
                            <a:srgbClr val="FFFFFF"/>
                          </a:solidFill>
                          <a:latin typeface="Calibri"/>
                        </a:rPr>
                        <a:t>The check that catches it</a:t>
                      </a:r>
                    </a:p>
                  </a:txBody>
                  <a:tcPr marL="101600" marR="101600" marT="38100" marB="38100" anchor="ctr">
                    <a:solidFill>
                      <a:srgbClr val="1A0F5C"/>
                    </a:solidFill>
                  </a:tcPr>
                </a:tc>
                <a:tc>
                  <a:txBody>
                    <a:bodyPr/>
                    <a:lstStyle/>
                    <a:p>
                      <a:r>
                        <a:rPr sz="1450" b="1" i="0">
                          <a:solidFill>
                            <a:srgbClr val="FFFFFF"/>
                          </a:solidFill>
                          <a:latin typeface="Calibri"/>
                        </a:rPr>
                        <a:t>What to report</a:t>
                      </a:r>
                    </a:p>
                  </a:txBody>
                  <a:tcPr marL="101600" marR="101600" marT="38100" marB="38100" anchor="ctr">
                    <a:solidFill>
                      <a:srgbClr val="1A0F5C"/>
                    </a:solidFill>
                  </a:tcPr>
                </a:tc>
              </a:tr>
              <a:tr h="611632">
                <a:tc>
                  <a:txBody>
                    <a:bodyPr/>
                    <a:lstStyle/>
                    <a:p>
                      <a:r>
                        <a:rPr sz="1400" b="0" i="0">
                          <a:solidFill>
                            <a:srgbClr val="1A1440"/>
                          </a:solidFill>
                          <a:latin typeface="Calibri"/>
                        </a:rPr>
                        <a:t>Rs 5,44,810 as sales</a:t>
                      </a:r>
                    </a:p>
                  </a:txBody>
                  <a:tcPr marL="101600" marR="101600" marT="38100" marB="38100" anchor="ctr">
                    <a:solidFill>
                      <a:srgbClr val="FFFFFF"/>
                    </a:solidFill>
                  </a:tcPr>
                </a:tc>
                <a:tc>
                  <a:txBody>
                    <a:bodyPr/>
                    <a:lstStyle/>
                    <a:p>
                      <a:r>
                        <a:rPr sz="1400" b="0" i="0">
                          <a:solidFill>
                            <a:srgbClr val="1A1440"/>
                          </a:solidFill>
                          <a:latin typeface="Calibri"/>
                        </a:rPr>
                        <a:t>Count orders by status before summing.</a:t>
                      </a:r>
                    </a:p>
                  </a:txBody>
                  <a:tcPr marL="101600" marR="101600" marT="38100" marB="38100" anchor="ctr">
                    <a:solidFill>
                      <a:srgbClr val="FFFFFF"/>
                    </a:solidFill>
                  </a:tcPr>
                </a:tc>
                <a:tc>
                  <a:txBody>
                    <a:bodyPr/>
                    <a:lstStyle/>
                    <a:p>
                      <a:r>
                        <a:rPr sz="1400" b="0" i="0">
                          <a:solidFill>
                            <a:srgbClr val="1A1440"/>
                          </a:solidFill>
                          <a:latin typeface="Calibri"/>
                        </a:rPr>
                        <a:t>Rs 5,35,760, named as not cancelled, goes in the note.</a:t>
                      </a:r>
                    </a:p>
                  </a:txBody>
                  <a:tcPr marL="101600" marR="101600" marT="38100" marB="38100" anchor="ctr">
                    <a:solidFill>
                      <a:srgbClr val="FFFFFF"/>
                    </a:solidFill>
                  </a:tcPr>
                </a:tc>
              </a:tr>
              <a:tr h="611632">
                <a:tc>
                  <a:txBody>
                    <a:bodyPr/>
                    <a:lstStyle/>
                    <a:p>
                      <a:r>
                        <a:rPr sz="1400" b="0" i="0">
                          <a:solidFill>
                            <a:srgbClr val="1A1440"/>
                          </a:solidFill>
                          <a:latin typeface="Calibri"/>
                        </a:rPr>
                        <a:t>Rs 25,943 AOV</a:t>
                      </a:r>
                    </a:p>
                  </a:txBody>
                  <a:tcPr marL="101600" marR="101600" marT="38100" marB="38100" anchor="ctr">
                    <a:solidFill>
                      <a:srgbClr val="F4F2FA"/>
                    </a:solidFill>
                  </a:tcPr>
                </a:tc>
                <a:tc>
                  <a:txBody>
                    <a:bodyPr/>
                    <a:lstStyle/>
                    <a:p>
                      <a:r>
                        <a:rPr sz="1400" b="0" i="0">
                          <a:solidFill>
                            <a:srgbClr val="1A1440"/>
                          </a:solidFill>
                          <a:latin typeface="Calibri"/>
                        </a:rPr>
                        <a:t>AOV x the 30 orders the revenue covers must give it back.</a:t>
                      </a:r>
                    </a:p>
                  </a:txBody>
                  <a:tcPr marL="101600" marR="101600" marT="38100" marB="38100" anchor="ctr">
                    <a:solidFill>
                      <a:srgbClr val="F4F2FA"/>
                    </a:solidFill>
                  </a:tcPr>
                </a:tc>
                <a:tc>
                  <a:txBody>
                    <a:bodyPr/>
                    <a:lstStyle/>
                    <a:p>
                      <a:r>
                        <a:rPr sz="1400" b="0" i="0">
                          <a:solidFill>
                            <a:srgbClr val="1A1440"/>
                          </a:solidFill>
                          <a:latin typeface="Calibri"/>
                        </a:rPr>
                        <a:t>Rs 18,160 booked or Rs 24,800 delivered, each named, is the AOV.</a:t>
                      </a:r>
                    </a:p>
                  </a:txBody>
                  <a:tcPr marL="101600" marR="101600" marT="38100" marB="38100" anchor="ctr">
                    <a:solidFill>
                      <a:srgbClr val="F4F2FA"/>
                    </a:solidFill>
                  </a:tcPr>
                </a:tc>
              </a:tr>
              <a:tr h="611632">
                <a:tc>
                  <a:txBody>
                    <a:bodyPr/>
                    <a:lstStyle/>
                    <a:p>
                      <a:r>
                        <a:rPr sz="1400" b="0" i="0">
                          <a:solidFill>
                            <a:srgbClr val="1A1440"/>
                          </a:solidFill>
                          <a:latin typeface="Calibri"/>
                        </a:rPr>
                        <a:t>1.00 orders each</a:t>
                      </a:r>
                    </a:p>
                  </a:txBody>
                  <a:tcPr marL="101600" marR="101600" marT="38100" marB="38100" anchor="ctr">
                    <a:solidFill>
                      <a:srgbClr val="FFFFFF"/>
                    </a:solidFill>
                  </a:tcPr>
                </a:tc>
                <a:tc>
                  <a:txBody>
                    <a:bodyPr/>
                    <a:lstStyle/>
                    <a:p>
                      <a:r>
                        <a:rPr sz="1400" b="0" i="0">
                          <a:solidFill>
                            <a:srgbClr val="1A1440"/>
                          </a:solidFill>
                          <a:latin typeface="Calibri"/>
                        </a:rPr>
                        <a:t>Compare rows with distinct ids: 30 against 23.</a:t>
                      </a:r>
                    </a:p>
                  </a:txBody>
                  <a:tcPr marL="101600" marR="101600" marT="38100" marB="38100" anchor="ctr">
                    <a:solidFill>
                      <a:srgbClr val="FFFFFF"/>
                    </a:solidFill>
                  </a:tcPr>
                </a:tc>
                <a:tc>
                  <a:txBody>
                    <a:bodyPr/>
                    <a:lstStyle/>
                    <a:p>
                      <a:r>
                        <a:rPr sz="1400" b="0" i="0">
                          <a:solidFill>
                            <a:srgbClr val="1A1440"/>
                          </a:solidFill>
                          <a:latin typeface="Calibri"/>
                        </a:rPr>
                        <a:t>Kalpa has 1.30 orders per customer, and 7 came back.</a:t>
                      </a:r>
                    </a:p>
                  </a:txBody>
                  <a:tcPr marL="101600" marR="101600" marT="38100" marB="38100" anchor="ctr">
                    <a:solidFill>
                      <a:srgbClr val="FFFFFF"/>
                    </a:solidFill>
                  </a:tcPr>
                </a:tc>
              </a:tr>
              <a:tr h="611632">
                <a:tc>
                  <a:txBody>
                    <a:bodyPr/>
                    <a:lstStyle/>
                    <a:p>
                      <a:r>
                        <a:rPr sz="1400" b="0" i="0">
                          <a:solidFill>
                            <a:srgbClr val="1A1440"/>
                          </a:solidFill>
                          <a:latin typeface="Calibri"/>
                        </a:rPr>
                        <a:t>Rs 18,160 typical</a:t>
                      </a:r>
                    </a:p>
                  </a:txBody>
                  <a:tcPr marL="101600" marR="101600" marT="38100" marB="38100" anchor="ctr">
                    <a:solidFill>
                      <a:srgbClr val="F4F2FA"/>
                    </a:solidFill>
                  </a:tcPr>
                </a:tc>
                <a:tc>
                  <a:txBody>
                    <a:bodyPr/>
                    <a:lstStyle/>
                    <a:p>
                      <a:r>
                        <a:rPr sz="1400" b="0" i="0">
                          <a:solidFill>
                            <a:srgbClr val="1A1440"/>
                          </a:solidFill>
                          <a:latin typeface="Calibri"/>
                        </a:rPr>
                        <a:t>Count orders above the mean: 1 of 30.</a:t>
                      </a:r>
                    </a:p>
                  </a:txBody>
                  <a:tcPr marL="101600" marR="101600" marT="38100" marB="38100" anchor="ctr">
                    <a:solidFill>
                      <a:srgbClr val="F4F2FA"/>
                    </a:solidFill>
                  </a:tcPr>
                </a:tc>
                <a:tc>
                  <a:txBody>
                    <a:bodyPr/>
                    <a:lstStyle/>
                    <a:p>
                      <a:r>
                        <a:rPr sz="1400" b="0" i="0">
                          <a:solidFill>
                            <a:srgbClr val="1A1440"/>
                          </a:solidFill>
                          <a:latin typeface="Calibri"/>
                        </a:rPr>
                        <a:t>The median, Rs 2,205, is the typical order.</a:t>
                      </a:r>
                    </a:p>
                  </a:txBody>
                  <a:tcPr marL="101600" marR="101600" marT="38100" marB="38100" anchor="ctr">
                    <a:solidFill>
                      <a:srgbClr val="F4F2FA"/>
                    </a:solidFill>
                  </a:tcPr>
                </a:tc>
              </a:tr>
              <a:tr h="611632">
                <a:tc>
                  <a:txBody>
                    <a:bodyPr/>
                    <a:lstStyle/>
                    <a:p>
                      <a:r>
                        <a:rPr sz="1400" b="0" i="0">
                          <a:solidFill>
                            <a:srgbClr val="1A1440"/>
                          </a:solidFill>
                          <a:latin typeface="Calibri"/>
                        </a:rPr>
                        <a:t>20 percent growth</a:t>
                      </a:r>
                    </a:p>
                  </a:txBody>
                  <a:tcPr marL="101600" marR="101600" marT="38100" marB="38100" anchor="ctr">
                    <a:solidFill>
                      <a:srgbClr val="FFFFFF"/>
                    </a:solidFill>
                  </a:tcPr>
                </a:tc>
                <a:tc>
                  <a:txBody>
                    <a:bodyPr/>
                    <a:lstStyle/>
                    <a:p>
                      <a:r>
                        <a:rPr sz="1400" b="0" i="0">
                          <a:solidFill>
                            <a:srgbClr val="1A1440"/>
                          </a:solidFill>
                          <a:latin typeface="Calibri"/>
                        </a:rPr>
                        <a:t>Recompute through the tree: 1.10 x 1.10.</a:t>
                      </a:r>
                    </a:p>
                  </a:txBody>
                  <a:tcPr marL="101600" marR="101600" marT="38100" marB="38100" anchor="ctr">
                    <a:solidFill>
                      <a:srgbClr val="FFFFFF"/>
                    </a:solidFill>
                  </a:tcPr>
                </a:tc>
                <a:tc>
                  <a:txBody>
                    <a:bodyPr/>
                    <a:lstStyle/>
                    <a:p>
                      <a:r>
                        <a:rPr sz="1400" b="0" i="0">
                          <a:solidFill>
                            <a:srgbClr val="1A1440"/>
                          </a:solidFill>
                          <a:latin typeface="Calibri"/>
                        </a:rPr>
                        <a:t>Growth is 21 percent, Rs 78,420 on the consumer view.</a:t>
                      </a:r>
                    </a:p>
                  </a:txBody>
                  <a:tcPr marL="101600" marR="101600" marT="38100" marB="38100" anchor="ctr">
                    <a:solidFill>
                      <a:srgbClr val="FFFFFF"/>
                    </a:solidFill>
                  </a:tcPr>
                </a:tc>
              </a:tr>
              <a:tr h="611632">
                <a:tc>
                  <a:txBody>
                    <a:bodyPr/>
                    <a:lstStyle/>
                    <a:p>
                      <a:r>
                        <a:rPr sz="1400" b="0" i="0">
                          <a:solidFill>
                            <a:srgbClr val="1A1440"/>
                          </a:solidFill>
                          <a:latin typeface="Calibri"/>
                        </a:rPr>
                        <a:t>70 percent lost</a:t>
                      </a:r>
                    </a:p>
                  </a:txBody>
                  <a:tcPr marL="101600" marR="101600" marT="38100" marB="38100" anchor="ctr">
                    <a:solidFill>
                      <a:srgbClr val="F4F2FA"/>
                    </a:solidFill>
                  </a:tcPr>
                </a:tc>
                <a:tc>
                  <a:txBody>
                    <a:bodyPr/>
                    <a:lstStyle/>
                    <a:p>
                      <a:r>
                        <a:rPr sz="1400" b="0" i="0">
                          <a:solidFill>
                            <a:srgbClr val="1A1440"/>
                          </a:solidFill>
                          <a:latin typeface="Calibri"/>
                        </a:rPr>
                        <a:t>Hold back buyers inside the 45-day gap.</a:t>
                      </a:r>
                    </a:p>
                  </a:txBody>
                  <a:tcPr marL="101600" marR="101600" marT="38100" marB="38100" anchor="ctr">
                    <a:solidFill>
                      <a:srgbClr val="F4F2FA"/>
                    </a:solidFill>
                  </a:tcPr>
                </a:tc>
                <a:tc>
                  <a:txBody>
                    <a:bodyPr/>
                    <a:lstStyle/>
                    <a:p>
                      <a:r>
                        <a:rPr sz="1400" b="0" i="0">
                          <a:solidFill>
                            <a:srgbClr val="1A1440"/>
                          </a:solidFill>
                          <a:latin typeface="Calibri"/>
                        </a:rPr>
                        <a:t>7 came back, 7 are past the usual gap and 9 are too recent.</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2" name="Oval 11"/>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14" name="Oval 13"/>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6" name="Oval 15"/>
          <p:cNvSpPr/>
          <p:nvPr/>
        </p:nvSpPr>
        <p:spPr>
          <a:xfrm>
            <a:off x="434911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458843" y="6437376"/>
            <a:ext cx="872394" cy="152146"/>
          </a:xfrm>
          <a:prstGeom prst="rect">
            <a:avLst/>
          </a:prstGeom>
          <a:noFill/>
        </p:spPr>
        <p:txBody>
          <a:bodyPr wrap="square" anchor="t" lIns="0" rIns="0" tIns="0" bIns="0">
            <a:spAutoFit/>
          </a:bodyPr>
          <a:lstStyle/>
          <a:p>
            <a:pPr algn="l"/>
            <a:r>
              <a:rPr sz="700" b="1" i="0">
                <a:solidFill>
                  <a:srgbClr val="5B3FD6"/>
                </a:solidFill>
                <a:latin typeface="Calibri"/>
              </a:rPr>
              <a:t>Which hold up</a:t>
            </a:r>
          </a:p>
        </p:txBody>
      </p:sp>
      <p:sp>
        <p:nvSpPr>
          <p:cNvPr id="18" name="Oval 17"/>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0" name="Oval 19"/>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2" name="Oval 21"/>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S34  ·  39 / 54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C</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Second case</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Where does revenue come from, by customer type and channel, and does it change the branch?</a:t>
            </a:r>
          </a:p>
        </p:txBody>
      </p:sp>
      <p:sp>
        <p:nvSpPr>
          <p:cNvPr id="10" name="Rounded Rectangle 9"/>
          <p:cNvSpPr/>
          <p:nvPr/>
        </p:nvSpPr>
        <p:spPr>
          <a:xfrm>
            <a:off x="731519"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branch first</a:t>
            </a:r>
          </a:p>
        </p:txBody>
      </p:sp>
      <p:sp>
        <p:nvSpPr>
          <p:cNvPr id="11" name="Rounded Rectangle 10"/>
          <p:cNvSpPr/>
          <p:nvPr/>
        </p:nvSpPr>
        <p:spPr>
          <a:xfrm>
            <a:off x="2272895"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Meera sign</a:t>
            </a:r>
          </a:p>
        </p:txBody>
      </p:sp>
      <p:sp>
        <p:nvSpPr>
          <p:cNvPr id="12" name="Rounded Rectangle 11"/>
          <p:cNvSpPr/>
          <p:nvPr/>
        </p:nvSpPr>
        <p:spPr>
          <a:xfrm>
            <a:off x="3932702" y="5074920"/>
            <a:ext cx="119478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Escalated case</a:t>
            </a:r>
          </a:p>
        </p:txBody>
      </p:sp>
      <p:sp>
        <p:nvSpPr>
          <p:cNvPr id="13" name="Rounded Rectangle 12"/>
          <p:cNvSpPr/>
          <p:nvPr/>
        </p:nvSpPr>
        <p:spPr>
          <a:xfrm>
            <a:off x="5237214" y="5074920"/>
            <a:ext cx="113556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hold up</a:t>
            </a:r>
          </a:p>
        </p:txBody>
      </p:sp>
      <p:sp>
        <p:nvSpPr>
          <p:cNvPr id="14" name="Rounded Rectangle 13"/>
          <p:cNvSpPr/>
          <p:nvPr/>
        </p:nvSpPr>
        <p:spPr>
          <a:xfrm>
            <a:off x="6482510" y="5074920"/>
            <a:ext cx="101713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Second case</a:t>
            </a:r>
          </a:p>
        </p:txBody>
      </p:sp>
      <p:sp>
        <p:nvSpPr>
          <p:cNvPr id="15" name="Rounded Rectangle 14"/>
          <p:cNvSpPr/>
          <p:nvPr/>
        </p:nvSpPr>
        <p:spPr>
          <a:xfrm>
            <a:off x="7609373" y="5074920"/>
            <a:ext cx="119478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say it</a:t>
            </a:r>
          </a:p>
        </p:txBody>
      </p:sp>
      <p:sp>
        <p:nvSpPr>
          <p:cNvPr id="16" name="Rounded Rectangle 15"/>
          <p:cNvSpPr/>
          <p:nvPr/>
        </p:nvSpPr>
        <p:spPr>
          <a:xfrm>
            <a:off x="8913885" y="5074920"/>
            <a:ext cx="95791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stays</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Monday afternoon: chapters 5 and 6 and the cases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40 / 54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Pairs split revenue by channel, type and status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Meera ask, and how do the pairs answer it?</a:t>
            </a:r>
          </a:p>
        </p:txBody>
      </p:sp>
      <p:sp>
        <p:nvSpPr>
          <p:cNvPr id="9" name="Rounded Rectangle 8"/>
          <p:cNvSpPr/>
          <p:nvPr/>
        </p:nvSpPr>
        <p:spPr>
          <a:xfrm>
            <a:off x="530352" y="1890268"/>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2250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332228"/>
            <a:ext cx="237744" cy="237744"/>
          </a:xfrm>
          <a:prstGeom prst="rect">
            <a:avLst/>
          </a:prstGeom>
        </p:spPr>
      </p:pic>
      <p:sp>
        <p:nvSpPr>
          <p:cNvPr id="12" name="TextBox 11"/>
          <p:cNvSpPr txBox="1"/>
          <p:nvPr/>
        </p:nvSpPr>
        <p:spPr>
          <a:xfrm>
            <a:off x="1399031" y="2036572"/>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256028"/>
            <a:ext cx="9987991" cy="682752"/>
          </a:xfrm>
          <a:prstGeom prst="rect">
            <a:avLst/>
          </a:prstGeom>
          <a:noFill/>
        </p:spPr>
        <p:txBody>
          <a:bodyPr wrap="square" anchor="t" lIns="0" rIns="0" tIns="0" bIns="0">
            <a:spAutoFit/>
          </a:bodyPr>
          <a:lstStyle/>
          <a:p>
            <a:r>
              <a:rPr sz="1500" b="0" i="0">
                <a:solidFill>
                  <a:srgbClr val="FFFFFF"/>
                </a:solidFill>
                <a:latin typeface="Calibri"/>
              </a:rPr>
              <a:t>"Where does revenue come from, by customer type and channel? The store team says they carry the business. Should the growth plan be store-led?"</a:t>
            </a:r>
          </a:p>
        </p:txBody>
      </p:sp>
      <p:sp>
        <p:nvSpPr>
          <p:cNvPr id="14" name="Rectangle 13"/>
          <p:cNvSpPr/>
          <p:nvPr/>
        </p:nvSpPr>
        <p:spPr>
          <a:xfrm>
            <a:off x="1381734" y="3743452"/>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30352" y="3176524"/>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STEP 1</a:t>
            </a:r>
          </a:p>
        </p:txBody>
      </p:sp>
      <p:sp>
        <p:nvSpPr>
          <p:cNvPr id="16" name="Oval 15"/>
          <p:cNvSpPr/>
          <p:nvPr/>
        </p:nvSpPr>
        <p:spPr>
          <a:xfrm>
            <a:off x="1281150" y="3652012"/>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4063492"/>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94944" y="4209796"/>
            <a:ext cx="1373581" cy="251205"/>
          </a:xfrm>
          <a:prstGeom prst="rect">
            <a:avLst/>
          </a:prstGeom>
          <a:noFill/>
        </p:spPr>
        <p:txBody>
          <a:bodyPr wrap="square" anchor="t" lIns="0" rIns="0" tIns="0" bIns="0">
            <a:spAutoFit/>
          </a:bodyPr>
          <a:lstStyle/>
          <a:p>
            <a:pPr algn="l"/>
            <a:r>
              <a:rPr sz="1300" b="1" i="0">
                <a:solidFill>
                  <a:srgbClr val="1A0F5C"/>
                </a:solidFill>
                <a:latin typeface="Calibri"/>
              </a:rPr>
              <a:t>By channel</a:t>
            </a:r>
          </a:p>
        </p:txBody>
      </p:sp>
      <p:sp>
        <p:nvSpPr>
          <p:cNvPr id="19" name="TextBox 18"/>
          <p:cNvSpPr txBox="1"/>
          <p:nvPr/>
        </p:nvSpPr>
        <p:spPr>
          <a:xfrm>
            <a:off x="694944" y="4497578"/>
            <a:ext cx="1373581" cy="531876"/>
          </a:xfrm>
          <a:prstGeom prst="rect">
            <a:avLst/>
          </a:prstGeom>
          <a:noFill/>
        </p:spPr>
        <p:txBody>
          <a:bodyPr wrap="square" anchor="t" lIns="0" rIns="0" tIns="0" bIns="0">
            <a:spAutoFit/>
          </a:bodyPr>
          <a:lstStyle/>
          <a:p>
            <a:pPr algn="l"/>
            <a:r>
              <a:rPr sz="1000" b="0" i="0">
                <a:solidFill>
                  <a:srgbClr val="6B6690"/>
                </a:solidFill>
                <a:latin typeface="Calibri"/>
              </a:rPr>
              <a:t>Find each channel's share of booked revenue.</a:t>
            </a:r>
          </a:p>
        </p:txBody>
      </p:sp>
      <p:sp>
        <p:nvSpPr>
          <p:cNvPr id="20" name="TextBox 19"/>
          <p:cNvSpPr txBox="1"/>
          <p:nvPr/>
        </p:nvSpPr>
        <p:spPr>
          <a:xfrm>
            <a:off x="2415997" y="3176524"/>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STEP 2</a:t>
            </a:r>
          </a:p>
        </p:txBody>
      </p:sp>
      <p:sp>
        <p:nvSpPr>
          <p:cNvPr id="21" name="Oval 20"/>
          <p:cNvSpPr/>
          <p:nvPr/>
        </p:nvSpPr>
        <p:spPr>
          <a:xfrm>
            <a:off x="3166795" y="3652012"/>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2415997" y="4063492"/>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580589" y="4209796"/>
            <a:ext cx="1373581" cy="251205"/>
          </a:xfrm>
          <a:prstGeom prst="rect">
            <a:avLst/>
          </a:prstGeom>
          <a:noFill/>
        </p:spPr>
        <p:txBody>
          <a:bodyPr wrap="square" anchor="t" lIns="0" rIns="0" tIns="0" bIns="0">
            <a:spAutoFit/>
          </a:bodyPr>
          <a:lstStyle/>
          <a:p>
            <a:pPr algn="l"/>
            <a:r>
              <a:rPr sz="1300" b="1" i="0">
                <a:solidFill>
                  <a:srgbClr val="1A0F5C"/>
                </a:solidFill>
                <a:latin typeface="Calibri"/>
              </a:rPr>
              <a:t>Behind a share</a:t>
            </a:r>
          </a:p>
        </p:txBody>
      </p:sp>
      <p:sp>
        <p:nvSpPr>
          <p:cNvPr id="24" name="TextBox 23"/>
          <p:cNvSpPr txBox="1"/>
          <p:nvPr/>
        </p:nvSpPr>
        <p:spPr>
          <a:xfrm>
            <a:off x="2580589" y="4497578"/>
            <a:ext cx="1373581" cy="531876"/>
          </a:xfrm>
          <a:prstGeom prst="rect">
            <a:avLst/>
          </a:prstGeom>
          <a:noFill/>
        </p:spPr>
        <p:txBody>
          <a:bodyPr wrap="square" anchor="t" lIns="0" rIns="0" tIns="0" bIns="0">
            <a:spAutoFit/>
          </a:bodyPr>
          <a:lstStyle/>
          <a:p>
            <a:pPr algn="l"/>
            <a:r>
              <a:rPr sz="1000" b="0" i="0">
                <a:solidFill>
                  <a:srgbClr val="6B6690"/>
                </a:solidFill>
                <a:latin typeface="Calibri"/>
              </a:rPr>
              <a:t>Count the orders by status in each channel.</a:t>
            </a:r>
          </a:p>
        </p:txBody>
      </p:sp>
      <p:sp>
        <p:nvSpPr>
          <p:cNvPr id="25" name="TextBox 24"/>
          <p:cNvSpPr txBox="1"/>
          <p:nvPr/>
        </p:nvSpPr>
        <p:spPr>
          <a:xfrm>
            <a:off x="4301642" y="3176524"/>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STEP 3</a:t>
            </a:r>
          </a:p>
        </p:txBody>
      </p:sp>
      <p:sp>
        <p:nvSpPr>
          <p:cNvPr id="26" name="Oval 25"/>
          <p:cNvSpPr/>
          <p:nvPr/>
        </p:nvSpPr>
        <p:spPr>
          <a:xfrm>
            <a:off x="5052441" y="3652012"/>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4301642" y="4063492"/>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466234" y="4209796"/>
            <a:ext cx="1373581" cy="251205"/>
          </a:xfrm>
          <a:prstGeom prst="rect">
            <a:avLst/>
          </a:prstGeom>
          <a:noFill/>
        </p:spPr>
        <p:txBody>
          <a:bodyPr wrap="square" anchor="t" lIns="0" rIns="0" tIns="0" bIns="0">
            <a:spAutoFit/>
          </a:bodyPr>
          <a:lstStyle/>
          <a:p>
            <a:pPr algn="l"/>
            <a:r>
              <a:rPr sz="1300" b="1" i="0">
                <a:solidFill>
                  <a:srgbClr val="1A0F5C"/>
                </a:solidFill>
                <a:latin typeface="Calibri"/>
              </a:rPr>
              <a:t>Consumer view</a:t>
            </a:r>
          </a:p>
        </p:txBody>
      </p:sp>
      <p:sp>
        <p:nvSpPr>
          <p:cNvPr id="29" name="TextBox 28"/>
          <p:cNvSpPr txBox="1"/>
          <p:nvPr/>
        </p:nvSpPr>
        <p:spPr>
          <a:xfrm>
            <a:off x="4466234" y="4497578"/>
            <a:ext cx="1373581" cy="531876"/>
          </a:xfrm>
          <a:prstGeom prst="rect">
            <a:avLst/>
          </a:prstGeom>
          <a:noFill/>
        </p:spPr>
        <p:txBody>
          <a:bodyPr wrap="square" anchor="t" lIns="0" rIns="0" tIns="0" bIns="0">
            <a:spAutoFit/>
          </a:bodyPr>
          <a:lstStyle/>
          <a:p>
            <a:pPr algn="l"/>
            <a:r>
              <a:rPr sz="1000" b="0" i="0">
                <a:solidFill>
                  <a:srgbClr val="6B6690"/>
                </a:solidFill>
                <a:latin typeface="Calibri"/>
              </a:rPr>
              <a:t>Recompute the channels on the three consumer segments.</a:t>
            </a:r>
          </a:p>
        </p:txBody>
      </p:sp>
      <p:sp>
        <p:nvSpPr>
          <p:cNvPr id="30" name="TextBox 29"/>
          <p:cNvSpPr txBox="1"/>
          <p:nvPr/>
        </p:nvSpPr>
        <p:spPr>
          <a:xfrm>
            <a:off x="6187287" y="3176524"/>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STEP 4</a:t>
            </a:r>
          </a:p>
        </p:txBody>
      </p:sp>
      <p:sp>
        <p:nvSpPr>
          <p:cNvPr id="31" name="Oval 30"/>
          <p:cNvSpPr/>
          <p:nvPr/>
        </p:nvSpPr>
        <p:spPr>
          <a:xfrm>
            <a:off x="6938086" y="3652012"/>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6187287" y="4063492"/>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351879" y="4209796"/>
            <a:ext cx="1373581" cy="251205"/>
          </a:xfrm>
          <a:prstGeom prst="rect">
            <a:avLst/>
          </a:prstGeom>
          <a:noFill/>
        </p:spPr>
        <p:txBody>
          <a:bodyPr wrap="square" anchor="t" lIns="0" rIns="0" tIns="0" bIns="0">
            <a:spAutoFit/>
          </a:bodyPr>
          <a:lstStyle/>
          <a:p>
            <a:pPr algn="l"/>
            <a:r>
              <a:rPr sz="1300" b="1" i="0">
                <a:solidFill>
                  <a:srgbClr val="1A0F5C"/>
                </a:solidFill>
                <a:latin typeface="Calibri"/>
              </a:rPr>
              <a:t>By status</a:t>
            </a:r>
          </a:p>
        </p:txBody>
      </p:sp>
      <p:sp>
        <p:nvSpPr>
          <p:cNvPr id="34" name="TextBox 33"/>
          <p:cNvSpPr txBox="1"/>
          <p:nvPr/>
        </p:nvSpPr>
        <p:spPr>
          <a:xfrm>
            <a:off x="6351879" y="4497578"/>
            <a:ext cx="1373581" cy="531876"/>
          </a:xfrm>
          <a:prstGeom prst="rect">
            <a:avLst/>
          </a:prstGeom>
          <a:noFill/>
        </p:spPr>
        <p:txBody>
          <a:bodyPr wrap="square" anchor="t" lIns="0" rIns="0" tIns="0" bIns="0">
            <a:spAutoFit/>
          </a:bodyPr>
          <a:lstStyle/>
          <a:p>
            <a:pPr algn="l"/>
            <a:r>
              <a:rPr sz="1000" b="0" i="0">
                <a:solidFill>
                  <a:srgbClr val="6B6690"/>
                </a:solidFill>
                <a:latin typeface="Calibri"/>
              </a:rPr>
              <a:t>Split what each channel booked, kept and lost.</a:t>
            </a:r>
          </a:p>
        </p:txBody>
      </p:sp>
      <p:sp>
        <p:nvSpPr>
          <p:cNvPr id="35" name="TextBox 34"/>
          <p:cNvSpPr txBox="1"/>
          <p:nvPr/>
        </p:nvSpPr>
        <p:spPr>
          <a:xfrm>
            <a:off x="8072932" y="3176524"/>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STEP 5</a:t>
            </a:r>
          </a:p>
        </p:txBody>
      </p:sp>
      <p:sp>
        <p:nvSpPr>
          <p:cNvPr id="36" name="Oval 35"/>
          <p:cNvSpPr/>
          <p:nvPr/>
        </p:nvSpPr>
        <p:spPr>
          <a:xfrm>
            <a:off x="8823731" y="3652012"/>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8072932" y="4063492"/>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237524" y="4209796"/>
            <a:ext cx="1373581" cy="251205"/>
          </a:xfrm>
          <a:prstGeom prst="rect">
            <a:avLst/>
          </a:prstGeom>
          <a:noFill/>
        </p:spPr>
        <p:txBody>
          <a:bodyPr wrap="square" anchor="t" lIns="0" rIns="0" tIns="0" bIns="0">
            <a:spAutoFit/>
          </a:bodyPr>
          <a:lstStyle/>
          <a:p>
            <a:pPr algn="l"/>
            <a:r>
              <a:rPr sz="1300" b="1" i="0">
                <a:solidFill>
                  <a:srgbClr val="1A0F5C"/>
                </a:solidFill>
                <a:latin typeface="Calibri"/>
              </a:rPr>
              <a:t>By type</a:t>
            </a:r>
          </a:p>
        </p:txBody>
      </p:sp>
      <p:sp>
        <p:nvSpPr>
          <p:cNvPr id="39" name="TextBox 38"/>
          <p:cNvSpPr txBox="1"/>
          <p:nvPr/>
        </p:nvSpPr>
        <p:spPr>
          <a:xfrm>
            <a:off x="8237524" y="4497578"/>
            <a:ext cx="1373581" cy="531876"/>
          </a:xfrm>
          <a:prstGeom prst="rect">
            <a:avLst/>
          </a:prstGeom>
          <a:noFill/>
        </p:spPr>
        <p:txBody>
          <a:bodyPr wrap="square" anchor="t" lIns="0" rIns="0" tIns="0" bIns="0">
            <a:spAutoFit/>
          </a:bodyPr>
          <a:lstStyle/>
          <a:p>
            <a:pPr algn="l"/>
            <a:r>
              <a:rPr sz="1000" b="0" i="0">
                <a:solidFill>
                  <a:srgbClr val="6B6690"/>
                </a:solidFill>
                <a:latin typeface="Calibri"/>
              </a:rPr>
              <a:t>Add up revenue for each consumer segment.</a:t>
            </a:r>
          </a:p>
        </p:txBody>
      </p:sp>
      <p:sp>
        <p:nvSpPr>
          <p:cNvPr id="40" name="TextBox 39"/>
          <p:cNvSpPr txBox="1"/>
          <p:nvPr/>
        </p:nvSpPr>
        <p:spPr>
          <a:xfrm>
            <a:off x="9958578" y="3176524"/>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STEP 6</a:t>
            </a:r>
          </a:p>
        </p:txBody>
      </p:sp>
      <p:sp>
        <p:nvSpPr>
          <p:cNvPr id="41" name="Oval 40"/>
          <p:cNvSpPr/>
          <p:nvPr/>
        </p:nvSpPr>
        <p:spPr>
          <a:xfrm>
            <a:off x="10709376" y="3652012"/>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9958578" y="4063492"/>
            <a:ext cx="1702765"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0123170" y="4209796"/>
            <a:ext cx="1373581" cy="251205"/>
          </a:xfrm>
          <a:prstGeom prst="rect">
            <a:avLst/>
          </a:prstGeom>
          <a:noFill/>
        </p:spPr>
        <p:txBody>
          <a:bodyPr wrap="square" anchor="t" lIns="0" rIns="0" tIns="0" bIns="0">
            <a:spAutoFit/>
          </a:bodyPr>
          <a:lstStyle/>
          <a:p>
            <a:pPr algn="l"/>
            <a:r>
              <a:rPr sz="1300" b="1" i="0">
                <a:solidFill>
                  <a:srgbClr val="FFFFFF"/>
                </a:solidFill>
                <a:latin typeface="Calibri"/>
              </a:rPr>
              <a:t>The branch</a:t>
            </a:r>
          </a:p>
        </p:txBody>
      </p:sp>
      <p:sp>
        <p:nvSpPr>
          <p:cNvPr id="44" name="TextBox 43"/>
          <p:cNvSpPr txBox="1"/>
          <p:nvPr/>
        </p:nvSpPr>
        <p:spPr>
          <a:xfrm>
            <a:off x="10123170" y="4497578"/>
            <a:ext cx="1373581" cy="531876"/>
          </a:xfrm>
          <a:prstGeom prst="rect">
            <a:avLst/>
          </a:prstGeom>
          <a:noFill/>
        </p:spPr>
        <p:txBody>
          <a:bodyPr wrap="square" anchor="t" lIns="0" rIns="0" tIns="0" bIns="0">
            <a:spAutoFit/>
          </a:bodyPr>
          <a:lstStyle/>
          <a:p>
            <a:pPr algn="l"/>
            <a:r>
              <a:rPr sz="1000" b="0" i="0">
                <a:solidFill>
                  <a:srgbClr val="CFC9EE"/>
                </a:solidFill>
                <a:latin typeface="Calibri"/>
              </a:rPr>
              <a:t>Decide whether the channel view moves it.</a:t>
            </a:r>
          </a:p>
        </p:txBody>
      </p:sp>
      <p:sp>
        <p:nvSpPr>
          <p:cNvPr id="45" name="TextBox 44"/>
          <p:cNvSpPr txBox="1"/>
          <p:nvPr/>
        </p:nvSpPr>
        <p:spPr>
          <a:xfrm>
            <a:off x="530352" y="5496052"/>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In pairs, 15 minutes, in the second case brief and its notebook; argue each item before you record it.</a:t>
            </a:r>
          </a:p>
        </p:txBody>
      </p:sp>
      <p:sp>
        <p:nvSpPr>
          <p:cNvPr id="46" name="Oval 4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48" name="Oval 47"/>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50" name="Oval 49"/>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52" name="Oval 51"/>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54" name="Oval 53"/>
          <p:cNvSpPr/>
          <p:nvPr/>
        </p:nvSpPr>
        <p:spPr>
          <a:xfrm>
            <a:off x="54226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5532405" y="6437376"/>
            <a:ext cx="780383" cy="152146"/>
          </a:xfrm>
          <a:prstGeom prst="rect">
            <a:avLst/>
          </a:prstGeom>
          <a:noFill/>
        </p:spPr>
        <p:txBody>
          <a:bodyPr wrap="square" anchor="t" lIns="0" rIns="0" tIns="0" bIns="0">
            <a:spAutoFit/>
          </a:bodyPr>
          <a:lstStyle/>
          <a:p>
            <a:pPr algn="l"/>
            <a:r>
              <a:rPr sz="700" b="1" i="0">
                <a:solidFill>
                  <a:srgbClr val="5B3FD6"/>
                </a:solidFill>
                <a:latin typeface="Calibri"/>
              </a:rPr>
              <a:t>Second case</a:t>
            </a:r>
          </a:p>
        </p:txBody>
      </p:sp>
      <p:sp>
        <p:nvSpPr>
          <p:cNvPr id="56" name="Oval 55"/>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58" name="Oval 57"/>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60" name="TextBox 5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S35  ·  41 / 54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is growth store-led at 91.6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store's share of booked revenue make the plan store-led?</a:t>
            </a:r>
          </a:p>
        </p:txBody>
      </p:sp>
      <p:pic>
        <p:nvPicPr>
          <p:cNvPr id="9" name="mermaid diagram" descr="af6d7a6b69ef2dbb.png"/>
          <p:cNvPicPr>
            <a:picLocks noChangeAspect="1"/>
          </p:cNvPicPr>
          <p:nvPr/>
        </p:nvPicPr>
        <p:blipFill>
          <a:blip r:embed="rId5"/>
          <a:stretch>
            <a:fillRect/>
          </a:stretch>
        </p:blipFill>
        <p:spPr>
          <a:xfrm>
            <a:off x="2563215" y="1664208"/>
            <a:ext cx="7065264" cy="3532632"/>
          </a:xfrm>
          <a:prstGeom prst="rect">
            <a:avLst/>
          </a:prstGeom>
        </p:spPr>
      </p:pic>
      <p:sp>
        <p:nvSpPr>
          <p:cNvPr id="10" name="TextBox 9"/>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Choose one: a) yes, store carries nine rupees in ten; b) not yet, count the orders behind each share first; c) yes, and taking out the cancelled store orders changes little; d) no, app and web hold twenty of the thirty orders.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3" name="Oval 12"/>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15" name="Oval 14"/>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7" name="Oval 16"/>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19" name="Oval 18"/>
          <p:cNvSpPr/>
          <p:nvPr/>
        </p:nvSpPr>
        <p:spPr>
          <a:xfrm>
            <a:off x="54226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532405" y="6437376"/>
            <a:ext cx="780383" cy="152146"/>
          </a:xfrm>
          <a:prstGeom prst="rect">
            <a:avLst/>
          </a:prstGeom>
          <a:noFill/>
        </p:spPr>
        <p:txBody>
          <a:bodyPr wrap="square" anchor="t" lIns="0" rIns="0" tIns="0" bIns="0">
            <a:spAutoFit/>
          </a:bodyPr>
          <a:lstStyle/>
          <a:p>
            <a:pPr algn="l"/>
            <a:r>
              <a:rPr sz="700" b="1" i="0">
                <a:solidFill>
                  <a:srgbClr val="5B3FD6"/>
                </a:solidFill>
                <a:latin typeface="Calibri"/>
              </a:rPr>
              <a:t>Second case</a:t>
            </a:r>
          </a:p>
        </p:txBody>
      </p:sp>
      <p:sp>
        <p:nvSpPr>
          <p:cNvPr id="21" name="Oval 20"/>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3" name="Oval 22"/>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S36  ·  42 / 54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in the consumer view store holds 29.2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happens to store's share once the view keeps the plan's three segments?</a:t>
            </a:r>
          </a:p>
        </p:txBody>
      </p:sp>
      <p:pic>
        <p:nvPicPr>
          <p:cNvPr id="9" name="mermaid diagram" descr="c1dfd2e6df4eda57.png"/>
          <p:cNvPicPr>
            <a:picLocks noChangeAspect="1"/>
          </p:cNvPicPr>
          <p:nvPr/>
        </p:nvPicPr>
        <p:blipFill>
          <a:blip r:embed="rId5"/>
          <a:stretch>
            <a:fillRect/>
          </a:stretch>
        </p:blipFill>
        <p:spPr>
          <a:xfrm>
            <a:off x="2563215" y="1664208"/>
            <a:ext cx="7065264" cy="3532632"/>
          </a:xfrm>
          <a:prstGeom prst="rect">
            <a:avLst/>
          </a:prstGeom>
        </p:spPr>
      </p:pic>
      <p:sp>
        <p:nvSpPr>
          <p:cNvPr id="10" name="TextBox 9"/>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Once the view keeps the three consumer segments Meera's plan concerns, store's share falls from 91.6 to 29.2 percent, Rs 18,920 of Rs 64,810, so its headline share came from outside those segments; web leads with Rs 27,290.</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3" name="Oval 12"/>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15" name="Oval 14"/>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7" name="Oval 16"/>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19" name="Oval 18"/>
          <p:cNvSpPr/>
          <p:nvPr/>
        </p:nvSpPr>
        <p:spPr>
          <a:xfrm>
            <a:off x="54226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532405" y="6437376"/>
            <a:ext cx="780383" cy="152146"/>
          </a:xfrm>
          <a:prstGeom prst="rect">
            <a:avLst/>
          </a:prstGeom>
          <a:noFill/>
        </p:spPr>
        <p:txBody>
          <a:bodyPr wrap="square" anchor="t" lIns="0" rIns="0" tIns="0" bIns="0">
            <a:spAutoFit/>
          </a:bodyPr>
          <a:lstStyle/>
          <a:p>
            <a:pPr algn="l"/>
            <a:r>
              <a:rPr sz="700" b="1" i="0">
                <a:solidFill>
                  <a:srgbClr val="5B3FD6"/>
                </a:solidFill>
                <a:latin typeface="Calibri"/>
              </a:rPr>
              <a:t>Second case</a:t>
            </a:r>
          </a:p>
        </p:txBody>
      </p:sp>
      <p:sp>
        <p:nvSpPr>
          <p:cNvPr id="21" name="Oval 20"/>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3" name="Oval 22"/>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S37  ·  43 / 54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Web books the most, and more than half came back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splitting each channel by status add?</a:t>
            </a:r>
          </a:p>
        </p:txBody>
      </p:sp>
      <p:pic>
        <p:nvPicPr>
          <p:cNvPr id="9" name="mermaid diagram" descr="f370961bb6e89c18.png"/>
          <p:cNvPicPr>
            <a:picLocks noChangeAspect="1"/>
          </p:cNvPicPr>
          <p:nvPr/>
        </p:nvPicPr>
        <p:blipFill>
          <a:blip r:embed="rId5"/>
          <a:stretch>
            <a:fillRect/>
          </a:stretch>
        </p:blipFill>
        <p:spPr>
          <a:xfrm>
            <a:off x="2286863" y="1664208"/>
            <a:ext cx="7617968"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Web booked Rs 27,290, and Rs 14,970 of it came back as returns. Store kept Rs 9,870 after Rs 9,050 of cancellations, and app kept every rupee of its Rs 18,600.</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3" name="Oval 12"/>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15" name="Oval 14"/>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7" name="Oval 16"/>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19" name="Oval 18"/>
          <p:cNvSpPr/>
          <p:nvPr/>
        </p:nvSpPr>
        <p:spPr>
          <a:xfrm>
            <a:off x="54226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532405" y="6437376"/>
            <a:ext cx="780383" cy="152146"/>
          </a:xfrm>
          <a:prstGeom prst="rect">
            <a:avLst/>
          </a:prstGeom>
          <a:noFill/>
        </p:spPr>
        <p:txBody>
          <a:bodyPr wrap="square" anchor="t" lIns="0" rIns="0" tIns="0" bIns="0">
            <a:spAutoFit/>
          </a:bodyPr>
          <a:lstStyle/>
          <a:p>
            <a:pPr algn="l"/>
            <a:r>
              <a:rPr sz="700" b="1" i="0">
                <a:solidFill>
                  <a:srgbClr val="5B3FD6"/>
                </a:solidFill>
                <a:latin typeface="Calibri"/>
              </a:rPr>
              <a:t>Second case</a:t>
            </a:r>
          </a:p>
        </p:txBody>
      </p:sp>
      <p:sp>
        <p:nvSpPr>
          <p:cNvPr id="21" name="Oval 20"/>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3" name="Oval 22"/>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S38  ·  44 / 54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Frequency stays first, with two leaks named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the channel view change the branch Meera opens first?</a:t>
            </a:r>
          </a:p>
        </p:txBody>
      </p:sp>
      <p:pic>
        <p:nvPicPr>
          <p:cNvPr id="9" name="mermaid diagram" descr="d644ead71be64554.png"/>
          <p:cNvPicPr>
            <a:picLocks noChangeAspect="1"/>
          </p:cNvPicPr>
          <p:nvPr/>
        </p:nvPicPr>
        <p:blipFill>
          <a:blip r:embed="rId7"/>
          <a:stretch>
            <a:fillRect/>
          </a:stretch>
        </p:blipFill>
        <p:spPr>
          <a:xfrm>
            <a:off x="4175174" y="1664208"/>
            <a:ext cx="3841346" cy="2295144"/>
          </a:xfrm>
          <a:prstGeom prst="rect">
            <a:avLst/>
          </a:prstGeom>
        </p:spPr>
      </p:pic>
      <p:sp>
        <p:nvSpPr>
          <p:cNvPr id="10" name="Rounded Rectangle 9"/>
          <p:cNvSpPr/>
          <p:nvPr/>
        </p:nvSpPr>
        <p:spPr>
          <a:xfrm>
            <a:off x="530352" y="4005072"/>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46684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5"/>
          <a:stretch>
            <a:fillRect/>
          </a:stretch>
        </p:blipFill>
        <p:spPr>
          <a:xfrm>
            <a:off x="868680" y="4576572"/>
            <a:ext cx="237744" cy="237744"/>
          </a:xfrm>
          <a:prstGeom prst="rect">
            <a:avLst/>
          </a:prstGeom>
        </p:spPr>
      </p:pic>
      <p:sp>
        <p:nvSpPr>
          <p:cNvPr id="13" name="TextBox 12"/>
          <p:cNvSpPr txBox="1"/>
          <p:nvPr/>
        </p:nvSpPr>
        <p:spPr>
          <a:xfrm>
            <a:off x="1399031" y="415137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370832"/>
            <a:ext cx="9987991" cy="941832"/>
          </a:xfrm>
          <a:prstGeom prst="rect">
            <a:avLst/>
          </a:prstGeom>
          <a:noFill/>
        </p:spPr>
        <p:txBody>
          <a:bodyPr wrap="square" anchor="t" lIns="0" rIns="0" tIns="0" bIns="0">
            <a:spAutoFit/>
          </a:bodyPr>
          <a:lstStyle/>
          <a:p>
            <a:r>
              <a:rPr sz="1500" b="0" i="0">
                <a:solidFill>
                  <a:srgbClr val="1A1440"/>
                </a:solidFill>
                <a:latin typeface="Calibri"/>
              </a:rPr>
              <a:t>"Count the orders behind a share before you show it, and keep the segments the plan is about. Split each channel by status, and the 91.6 percent headline leaves the branch where it was and adds two leaks to the note."</a:t>
            </a:r>
          </a:p>
        </p:txBody>
      </p:sp>
      <p:sp>
        <p:nvSpPr>
          <p:cNvPr id="15" name="Rounded Rectangle 14"/>
          <p:cNvSpPr/>
          <p:nvPr/>
        </p:nvSpPr>
        <p:spPr>
          <a:xfrm>
            <a:off x="530352" y="555040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88264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6"/>
          <a:stretch>
            <a:fillRect/>
          </a:stretch>
        </p:blipFill>
        <p:spPr>
          <a:xfrm>
            <a:off x="868680" y="5992368"/>
            <a:ext cx="237744" cy="237744"/>
          </a:xfrm>
          <a:prstGeom prst="rect">
            <a:avLst/>
          </a:prstGeom>
        </p:spPr>
      </p:pic>
      <p:sp>
        <p:nvSpPr>
          <p:cNvPr id="18" name="TextBox 17"/>
          <p:cNvSpPr txBox="1"/>
          <p:nvPr/>
        </p:nvSpPr>
        <p:spPr>
          <a:xfrm>
            <a:off x="1399031" y="569671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916168"/>
            <a:ext cx="9987991" cy="682752"/>
          </a:xfrm>
          <a:prstGeom prst="rect">
            <a:avLst/>
          </a:prstGeom>
          <a:noFill/>
        </p:spPr>
        <p:txBody>
          <a:bodyPr wrap="square" anchor="t" lIns="0" rIns="0" tIns="0" bIns="0">
            <a:spAutoFit/>
          </a:bodyPr>
          <a:lstStyle/>
          <a:p>
            <a:r>
              <a:rPr sz="1500" b="0" i="0">
                <a:solidFill>
                  <a:srgbClr val="1A1440"/>
                </a:solidFill>
                <a:latin typeface="Calibri"/>
              </a:rPr>
              <a:t>[D] One channel carries nine rupees in ten of revenue; does that change where the growth plan invests?</a:t>
            </a:r>
          </a:p>
        </p:txBody>
      </p:sp>
      <p:sp>
        <p:nvSpPr>
          <p:cNvPr id="20" name="Oval 1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22" name="Oval 21"/>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24" name="Oval 23"/>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26" name="Oval 25"/>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8" name="Oval 27"/>
          <p:cNvSpPr/>
          <p:nvPr/>
        </p:nvSpPr>
        <p:spPr>
          <a:xfrm>
            <a:off x="54226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532405" y="6437376"/>
            <a:ext cx="780383" cy="152146"/>
          </a:xfrm>
          <a:prstGeom prst="rect">
            <a:avLst/>
          </a:prstGeom>
          <a:noFill/>
        </p:spPr>
        <p:txBody>
          <a:bodyPr wrap="square" anchor="t" lIns="0" rIns="0" tIns="0" bIns="0">
            <a:spAutoFit/>
          </a:bodyPr>
          <a:lstStyle/>
          <a:p>
            <a:pPr algn="l"/>
            <a:r>
              <a:rPr sz="700" b="1" i="0">
                <a:solidFill>
                  <a:srgbClr val="5B3FD6"/>
                </a:solidFill>
                <a:latin typeface="Calibri"/>
              </a:rPr>
              <a:t>Second case</a:t>
            </a:r>
          </a:p>
        </p:txBody>
      </p:sp>
      <p:sp>
        <p:nvSpPr>
          <p:cNvPr id="30" name="Oval 29"/>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32" name="Oval 31"/>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S39  ·  45 / 54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D</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Can you say it</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Can you answer the day's twelve interview questions aloud, each in under a minute, with its number?</a:t>
            </a:r>
          </a:p>
        </p:txBody>
      </p:sp>
      <p:sp>
        <p:nvSpPr>
          <p:cNvPr id="10" name="Rounded Rectangle 9"/>
          <p:cNvSpPr/>
          <p:nvPr/>
        </p:nvSpPr>
        <p:spPr>
          <a:xfrm>
            <a:off x="731519"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branch first</a:t>
            </a:r>
          </a:p>
        </p:txBody>
      </p:sp>
      <p:sp>
        <p:nvSpPr>
          <p:cNvPr id="11" name="Rounded Rectangle 10"/>
          <p:cNvSpPr/>
          <p:nvPr/>
        </p:nvSpPr>
        <p:spPr>
          <a:xfrm>
            <a:off x="2272895"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Meera sign</a:t>
            </a:r>
          </a:p>
        </p:txBody>
      </p:sp>
      <p:sp>
        <p:nvSpPr>
          <p:cNvPr id="12" name="Rounded Rectangle 11"/>
          <p:cNvSpPr/>
          <p:nvPr/>
        </p:nvSpPr>
        <p:spPr>
          <a:xfrm>
            <a:off x="3932702" y="5074920"/>
            <a:ext cx="119478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Escalated case</a:t>
            </a:r>
          </a:p>
        </p:txBody>
      </p:sp>
      <p:sp>
        <p:nvSpPr>
          <p:cNvPr id="13" name="Rounded Rectangle 12"/>
          <p:cNvSpPr/>
          <p:nvPr/>
        </p:nvSpPr>
        <p:spPr>
          <a:xfrm>
            <a:off x="5237214" y="5074920"/>
            <a:ext cx="113556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hold up</a:t>
            </a:r>
          </a:p>
        </p:txBody>
      </p:sp>
      <p:sp>
        <p:nvSpPr>
          <p:cNvPr id="14" name="Rounded Rectangle 13"/>
          <p:cNvSpPr/>
          <p:nvPr/>
        </p:nvSpPr>
        <p:spPr>
          <a:xfrm>
            <a:off x="6482510" y="5074920"/>
            <a:ext cx="101713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Second case</a:t>
            </a:r>
          </a:p>
        </p:txBody>
      </p:sp>
      <p:sp>
        <p:nvSpPr>
          <p:cNvPr id="15" name="Rounded Rectangle 14"/>
          <p:cNvSpPr/>
          <p:nvPr/>
        </p:nvSpPr>
        <p:spPr>
          <a:xfrm>
            <a:off x="7609373" y="5074920"/>
            <a:ext cx="119478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Can you say it</a:t>
            </a:r>
          </a:p>
        </p:txBody>
      </p:sp>
      <p:sp>
        <p:nvSpPr>
          <p:cNvPr id="16" name="Rounded Rectangle 15"/>
          <p:cNvSpPr/>
          <p:nvPr/>
        </p:nvSpPr>
        <p:spPr>
          <a:xfrm>
            <a:off x="8913885" y="5074920"/>
            <a:ext cx="95791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stays</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Monday afternoon: chapters 5 and 6 and the cases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46 / 54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questions on sales, fractions and customers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Can you define sales, choose a source and count customers aloud?</a:t>
            </a:r>
          </a:p>
        </p:txBody>
      </p:sp>
      <p:graphicFrame>
        <p:nvGraphicFramePr>
          <p:cNvPr id="9" name="Table 8"/>
          <p:cNvGraphicFramePr>
            <a:graphicFrameLocks noGrp="1"/>
          </p:cNvGraphicFramePr>
          <p:nvPr/>
        </p:nvGraphicFramePr>
        <p:xfrm>
          <a:off x="530352" y="1956816"/>
          <a:ext cx="11130991" cy="1849120"/>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Tag</a:t>
                      </a:r>
                    </a:p>
                  </a:txBody>
                  <a:tcPr marL="101600" marR="101600" marT="38100" marB="38100" anchor="ctr">
                    <a:solidFill>
                      <a:srgbClr val="1A0F5C"/>
                    </a:solidFill>
                  </a:tcPr>
                </a:tc>
                <a:tc>
                  <a:txBody>
                    <a:bodyPr/>
                    <a:lstStyle/>
                    <a:p>
                      <a:r>
                        <a:rPr sz="1450" b="1" i="0">
                          <a:solidFill>
                            <a:srgbClr val="FFFFFF"/>
                          </a:solidFill>
                          <a:latin typeface="Calibri"/>
                        </a:rPr>
                        <a:t>Question</a:t>
                      </a:r>
                    </a:p>
                  </a:txBody>
                  <a:tcPr marL="101600" marR="101600" marT="38100" marB="38100" anchor="ctr">
                    <a:solidFill>
                      <a:srgbClr val="1A0F5C"/>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What counts as "sales": booked, net of cancellations, or delivered, and which do you give a CEO?</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How would you decide between summing the file yourself and asking Finance for the number?</a:t>
                      </a:r>
                    </a:p>
                  </a:txBody>
                  <a:tcPr marL="101600" marR="101600" marT="38100" marB="38100" anchor="ctr">
                    <a:solidFill>
                      <a:srgbClr val="F4F2FA"/>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Your extract shows 30 orders and 30 customers; what do you check before saying nobody comes back?</a:t>
                      </a:r>
                    </a:p>
                  </a:txBody>
                  <a:tcPr marL="101600" marR="101600" marT="38100" marB="38100" anchor="ctr">
                    <a:solidFill>
                      <a:srgbClr val="FFFFFF"/>
                    </a:solidFill>
                  </a:tcPr>
                </a:tc>
              </a:tr>
              <a:tr h="369824">
                <a:tc>
                  <a:txBody>
                    <a:bodyPr/>
                    <a:lstStyle/>
                    <a:p>
                      <a:r>
                        <a:rPr sz="1400" b="0" i="0">
                          <a:solidFill>
                            <a:srgbClr val="1A1440"/>
                          </a:solidFill>
                          <a:latin typeface="Calibri"/>
                        </a:rPr>
                        <a:t>[SV]</a:t>
                      </a:r>
                    </a:p>
                  </a:txBody>
                  <a:tcPr marL="101600" marR="101600" marT="38100" marB="38100" anchor="ctr">
                    <a:solidFill>
                      <a:srgbClr val="F4F2FA"/>
                    </a:solidFill>
                  </a:tcPr>
                </a:tc>
                <a:tc>
                  <a:txBody>
                    <a:bodyPr/>
                    <a:lstStyle/>
                    <a:p>
                      <a:r>
                        <a:rPr sz="1400" b="0" i="0">
                          <a:solidFill>
                            <a:srgbClr val="1A1440"/>
                          </a:solidFill>
                          <a:latin typeface="Calibri"/>
                        </a:rPr>
                        <a:t>A list against a dictionary: when do you reach for each?</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2" name="Oval 11"/>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14" name="Oval 13"/>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6" name="Oval 15"/>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18" name="Oval 17"/>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0" name="Oval 19"/>
          <p:cNvSpPr/>
          <p:nvPr/>
        </p:nvSpPr>
        <p:spPr>
          <a:xfrm>
            <a:off x="64042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13957" y="6437376"/>
            <a:ext cx="918400" cy="152146"/>
          </a:xfrm>
          <a:prstGeom prst="rect">
            <a:avLst/>
          </a:prstGeom>
          <a:noFill/>
        </p:spPr>
        <p:txBody>
          <a:bodyPr wrap="square" anchor="t" lIns="0" rIns="0" tIns="0" bIns="0">
            <a:spAutoFit/>
          </a:bodyPr>
          <a:lstStyle/>
          <a:p>
            <a:pPr algn="l"/>
            <a:r>
              <a:rPr sz="700" b="1" i="0">
                <a:solidFill>
                  <a:srgbClr val="5B3FD6"/>
                </a:solidFill>
                <a:latin typeface="Calibri"/>
              </a:rPr>
              <a:t>Can you say it</a:t>
            </a:r>
          </a:p>
        </p:txBody>
      </p:sp>
      <p:sp>
        <p:nvSpPr>
          <p:cNvPr id="22" name="Oval 21"/>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S40  ·  47 / 54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questions on the typical order and the tree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Can you defend a middle, a payback and a growth figure aloud?</a:t>
            </a:r>
          </a:p>
        </p:txBody>
      </p:sp>
      <p:graphicFrame>
        <p:nvGraphicFramePr>
          <p:cNvPr id="9" name="Table 8"/>
          <p:cNvGraphicFramePr>
            <a:graphicFrameLocks noGrp="1"/>
          </p:cNvGraphicFramePr>
          <p:nvPr/>
        </p:nvGraphicFramePr>
        <p:xfrm>
          <a:off x="530352" y="1956816"/>
          <a:ext cx="11130991" cy="2090928"/>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Tag</a:t>
                      </a:r>
                    </a:p>
                  </a:txBody>
                  <a:tcPr marL="101600" marR="101600" marT="38100" marB="38100" anchor="ctr">
                    <a:solidFill>
                      <a:srgbClr val="1A0F5C"/>
                    </a:solidFill>
                  </a:tcPr>
                </a:tc>
                <a:tc>
                  <a:txBody>
                    <a:bodyPr/>
                    <a:lstStyle/>
                    <a:p>
                      <a:r>
                        <a:rPr sz="1450" b="1" i="0">
                          <a:solidFill>
                            <a:srgbClr val="FFFFFF"/>
                          </a:solidFill>
                          <a:latin typeface="Calibri"/>
                        </a:rPr>
                        <a:t>Question</a:t>
                      </a:r>
                    </a:p>
                  </a:txBody>
                  <a:tcPr marL="101600" marR="101600" marT="38100" marB="38100" anchor="ctr">
                    <a:solidFill>
                      <a:srgbClr val="1A0F5C"/>
                    </a:solidFill>
                  </a:tcPr>
                </a:tc>
              </a:tr>
              <a:tr h="369824">
                <a:tc>
                  <a:txBody>
                    <a:bodyPr/>
                    <a:lstStyle/>
                    <a:p>
                      <a:r>
                        <a:rPr sz="1400" b="0" i="0">
                          <a:solidFill>
                            <a:srgbClr val="1A1440"/>
                          </a:solidFill>
                          <a:latin typeface="Calibri"/>
                        </a:rPr>
                        <a:t>[S]</a:t>
                      </a:r>
                    </a:p>
                  </a:txBody>
                  <a:tcPr marL="101600" marR="101600" marT="38100" marB="38100" anchor="ctr">
                    <a:solidFill>
                      <a:srgbClr val="FFFFFF"/>
                    </a:solidFill>
                  </a:tcPr>
                </a:tc>
                <a:tc>
                  <a:txBody>
                    <a:bodyPr/>
                    <a:lstStyle/>
                    <a:p>
                      <a:r>
                        <a:rPr sz="1400" b="0" i="0">
                          <a:solidFill>
                            <a:srgbClr val="1A1440"/>
                          </a:solidFill>
                          <a:latin typeface="Calibri"/>
                        </a:rPr>
                        <a:t>Mean or median for order value, and why?</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Which middle would you put in a payback model, and what would make you change it?</a:t>
                      </a:r>
                    </a:p>
                  </a:txBody>
                  <a:tcPr marL="101600" marR="101600" marT="38100" marB="38100" anchor="ctr">
                    <a:solidFill>
                      <a:srgbClr val="F4F2FA"/>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A business says "grow revenue 15 percent"; how do you turn that into questions data can answer?</a:t>
                      </a:r>
                    </a:p>
                  </a:txBody>
                  <a:tcPr marL="101600" marR="101600" marT="38100" marB="38100" anchor="ctr">
                    <a:solidFill>
                      <a:srgbClr val="FFFFFF"/>
                    </a:solidFill>
                  </a:tcPr>
                </a:tc>
              </a:tr>
              <a:tr h="611632">
                <a:tc>
                  <a:txBody>
                    <a:bodyPr/>
                    <a:lstStyle/>
                    <a:p>
                      <a:r>
                        <a:rPr sz="1400" b="0" i="0">
                          <a:solidFill>
                            <a:srgbClr val="1A1440"/>
                          </a:solidFill>
                          <a:latin typeface="Calibri"/>
                        </a:rPr>
                        <a:t>[F]</a:t>
                      </a:r>
                    </a:p>
                  </a:txBody>
                  <a:tcPr marL="101600" marR="101600" marT="38100" marB="38100" anchor="ctr">
                    <a:solidFill>
                      <a:srgbClr val="F4F2FA"/>
                    </a:solidFill>
                  </a:tcPr>
                </a:tc>
                <a:tc>
                  <a:txBody>
                    <a:bodyPr/>
                    <a:lstStyle/>
                    <a:p>
                      <a:r>
                        <a:rPr sz="1400" b="0" i="0">
                          <a:solidFill>
                            <a:srgbClr val="1A1440"/>
                          </a:solidFill>
                          <a:latin typeface="Calibri"/>
                        </a:rPr>
                        <a:t>A 10 percent lift in customers and a 10 percent lift in frequency make 20 percent growth; what is the right number, and when does it matter?</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2" name="Oval 11"/>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14" name="Oval 13"/>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6" name="Oval 15"/>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18" name="Oval 17"/>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0" name="Oval 19"/>
          <p:cNvSpPr/>
          <p:nvPr/>
        </p:nvSpPr>
        <p:spPr>
          <a:xfrm>
            <a:off x="64042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13957" y="6437376"/>
            <a:ext cx="918400" cy="152146"/>
          </a:xfrm>
          <a:prstGeom prst="rect">
            <a:avLst/>
          </a:prstGeom>
          <a:noFill/>
        </p:spPr>
        <p:txBody>
          <a:bodyPr wrap="square" anchor="t" lIns="0" rIns="0" tIns="0" bIns="0">
            <a:spAutoFit/>
          </a:bodyPr>
          <a:lstStyle/>
          <a:p>
            <a:pPr algn="l"/>
            <a:r>
              <a:rPr sz="700" b="1" i="0">
                <a:solidFill>
                  <a:srgbClr val="5B3FD6"/>
                </a:solidFill>
                <a:latin typeface="Calibri"/>
              </a:rPr>
              <a:t>Can you say it</a:t>
            </a:r>
          </a:p>
        </p:txBody>
      </p:sp>
      <p:sp>
        <p:nvSpPr>
          <p:cNvPr id="22" name="Oval 21"/>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S41  ·  48 / 54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questions on the branch and the sentence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Can you recommend a branch and hold it when someone pushes back?</a:t>
            </a:r>
          </a:p>
        </p:txBody>
      </p:sp>
      <p:graphicFrame>
        <p:nvGraphicFramePr>
          <p:cNvPr id="9" name="Table 8"/>
          <p:cNvGraphicFramePr>
            <a:graphicFrameLocks noGrp="1"/>
          </p:cNvGraphicFramePr>
          <p:nvPr/>
        </p:nvGraphicFramePr>
        <p:xfrm>
          <a:off x="530352" y="1956816"/>
          <a:ext cx="11130991" cy="2090928"/>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Tag</a:t>
                      </a:r>
                    </a:p>
                  </a:txBody>
                  <a:tcPr marL="101600" marR="101600" marT="38100" marB="38100" anchor="ctr">
                    <a:solidFill>
                      <a:srgbClr val="1A0F5C"/>
                    </a:solidFill>
                  </a:tcPr>
                </a:tc>
                <a:tc>
                  <a:txBody>
                    <a:bodyPr/>
                    <a:lstStyle/>
                    <a:p>
                      <a:r>
                        <a:rPr sz="1450" b="1" i="0">
                          <a:solidFill>
                            <a:srgbClr val="FFFFFF"/>
                          </a:solidFill>
                          <a:latin typeface="Calibri"/>
                        </a:rPr>
                        <a:t>Question</a:t>
                      </a:r>
                    </a:p>
                  </a:txBody>
                  <a:tcPr marL="101600" marR="101600" marT="38100" marB="38100" anchor="ctr">
                    <a:solidFill>
                      <a:srgbClr val="1A0F5C"/>
                    </a:solidFill>
                  </a:tcPr>
                </a:tc>
              </a:tr>
              <a:tr h="369824">
                <a:tc>
                  <a:txBody>
                    <a:bodyPr/>
                    <a:lstStyle/>
                    <a:p>
                      <a:r>
                        <a:rPr sz="1400" b="0" i="0">
                          <a:solidFill>
                            <a:srgbClr val="1A1440"/>
                          </a:solidFill>
                          <a:latin typeface="Calibri"/>
                        </a:rPr>
                        <a:t>[S]</a:t>
                      </a:r>
                    </a:p>
                  </a:txBody>
                  <a:tcPr marL="101600" marR="101600" marT="38100" marB="38100" anchor="ctr">
                    <a:solidFill>
                      <a:srgbClr val="FFFFFF"/>
                    </a:solidFill>
                  </a:tcPr>
                </a:tc>
                <a:tc>
                  <a:txBody>
                    <a:bodyPr/>
                    <a:lstStyle/>
                    <a:p>
                      <a:r>
                        <a:rPr sz="1400" b="0" i="0">
                          <a:solidFill>
                            <a:srgbClr val="1A1440"/>
                          </a:solidFill>
                          <a:latin typeface="Calibri"/>
                        </a:rPr>
                        <a:t>How would you increase sales for an online retailer?</a:t>
                      </a:r>
                    </a:p>
                  </a:txBody>
                  <a:tcPr marL="101600" marR="101600" marT="38100" marB="38100" anchor="ctr">
                    <a:solidFill>
                      <a:srgbClr val="FFFFFF"/>
                    </a:solidFill>
                  </a:tcPr>
                </a:tc>
              </a:tr>
              <a:tr h="611632">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Marketing wants budget for acquisition; what would you check before agreeing it is the right branch, and how would you say no?</a:t>
                      </a:r>
                    </a:p>
                  </a:txBody>
                  <a:tcPr marL="101600" marR="101600" marT="38100" marB="38100" anchor="ctr">
                    <a:solidFill>
                      <a:srgbClr val="F4F2FA"/>
                    </a:solidFill>
                  </a:tcPr>
                </a:tc>
              </a:tr>
              <a:tr h="369824">
                <a:tc>
                  <a:txBody>
                    <a:bodyPr/>
                    <a:lstStyle/>
                    <a:p>
                      <a:r>
                        <a:rPr sz="1400" b="0" i="0">
                          <a:solidFill>
                            <a:srgbClr val="1A1440"/>
                          </a:solidFill>
                          <a:latin typeface="Calibri"/>
                        </a:rPr>
                        <a:t>[D]</a:t>
                      </a:r>
                    </a:p>
                  </a:txBody>
                  <a:tcPr marL="101600" marR="101600" marT="38100" marB="38100" anchor="ctr">
                    <a:solidFill>
                      <a:srgbClr val="FFFFFF"/>
                    </a:solidFill>
                  </a:tcPr>
                </a:tc>
                <a:tc>
                  <a:txBody>
                    <a:bodyPr/>
                    <a:lstStyle/>
                    <a:p>
                      <a:r>
                        <a:rPr sz="1400" b="0" i="0">
                          <a:solidFill>
                            <a:srgbClr val="1A1440"/>
                          </a:solidFill>
                          <a:latin typeface="Calibri"/>
                        </a:rPr>
                        <a:t>You have one quarter of orders and 70 percent of customers bought once; what do you tell the CEO?</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One channel carries nine rupees in ten of revenue; does that change where the growth plan invests?</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2" name="Oval 11"/>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14" name="Oval 13"/>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6" name="Oval 15"/>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18" name="Oval 17"/>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0" name="Oval 19"/>
          <p:cNvSpPr/>
          <p:nvPr/>
        </p:nvSpPr>
        <p:spPr>
          <a:xfrm>
            <a:off x="640422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13957" y="6437376"/>
            <a:ext cx="918400" cy="152146"/>
          </a:xfrm>
          <a:prstGeom prst="rect">
            <a:avLst/>
          </a:prstGeom>
          <a:noFill/>
        </p:spPr>
        <p:txBody>
          <a:bodyPr wrap="square" anchor="t" lIns="0" rIns="0" tIns="0" bIns="0">
            <a:spAutoFit/>
          </a:bodyPr>
          <a:lstStyle/>
          <a:p>
            <a:pPr algn="l"/>
            <a:r>
              <a:rPr sz="700" b="1" i="0">
                <a:solidFill>
                  <a:srgbClr val="5B3FD6"/>
                </a:solidFill>
                <a:latin typeface="Calibri"/>
              </a:rPr>
              <a:t>Can you say it</a:t>
            </a:r>
          </a:p>
        </p:txBody>
      </p:sp>
      <p:sp>
        <p:nvSpPr>
          <p:cNvPr id="22" name="Oval 21"/>
          <p:cNvSpPr/>
          <p:nvPr/>
        </p:nvSpPr>
        <p:spPr>
          <a:xfrm>
            <a:off x="752379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633525" y="6437376"/>
            <a:ext cx="734377" cy="152146"/>
          </a:xfrm>
          <a:prstGeom prst="rect">
            <a:avLst/>
          </a:prstGeom>
          <a:noFill/>
        </p:spPr>
        <p:txBody>
          <a:bodyPr wrap="square" anchor="t" lIns="0" rIns="0" tIns="0" bIns="0">
            <a:spAutoFit/>
          </a:bodyPr>
          <a:lstStyle/>
          <a:p>
            <a:pPr algn="l"/>
            <a:r>
              <a:rPr sz="700" b="0" i="0">
                <a:solidFill>
                  <a:srgbClr val="6B6690"/>
                </a:solidFill>
                <a:latin typeface="Calibri"/>
              </a:rPr>
              <a:t>What stays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S42  ·  49 / 54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E</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stays</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What do we keep from Monday, what does Meera hear, and what will she ask next?</a:t>
            </a:r>
          </a:p>
        </p:txBody>
      </p:sp>
      <p:sp>
        <p:nvSpPr>
          <p:cNvPr id="10" name="Rounded Rectangle 9"/>
          <p:cNvSpPr/>
          <p:nvPr/>
        </p:nvSpPr>
        <p:spPr>
          <a:xfrm>
            <a:off x="731519"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branch first</a:t>
            </a:r>
          </a:p>
        </p:txBody>
      </p:sp>
      <p:sp>
        <p:nvSpPr>
          <p:cNvPr id="11" name="Rounded Rectangle 10"/>
          <p:cNvSpPr/>
          <p:nvPr/>
        </p:nvSpPr>
        <p:spPr>
          <a:xfrm>
            <a:off x="2272895"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Meera sign</a:t>
            </a:r>
          </a:p>
        </p:txBody>
      </p:sp>
      <p:sp>
        <p:nvSpPr>
          <p:cNvPr id="12" name="Rounded Rectangle 11"/>
          <p:cNvSpPr/>
          <p:nvPr/>
        </p:nvSpPr>
        <p:spPr>
          <a:xfrm>
            <a:off x="3932702" y="5074920"/>
            <a:ext cx="119478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Escalated case</a:t>
            </a:r>
          </a:p>
        </p:txBody>
      </p:sp>
      <p:sp>
        <p:nvSpPr>
          <p:cNvPr id="13" name="Rounded Rectangle 12"/>
          <p:cNvSpPr/>
          <p:nvPr/>
        </p:nvSpPr>
        <p:spPr>
          <a:xfrm>
            <a:off x="5237214" y="5074920"/>
            <a:ext cx="113556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hold up</a:t>
            </a:r>
          </a:p>
        </p:txBody>
      </p:sp>
      <p:sp>
        <p:nvSpPr>
          <p:cNvPr id="14" name="Rounded Rectangle 13"/>
          <p:cNvSpPr/>
          <p:nvPr/>
        </p:nvSpPr>
        <p:spPr>
          <a:xfrm>
            <a:off x="6482510" y="5074920"/>
            <a:ext cx="101713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Second case</a:t>
            </a:r>
          </a:p>
        </p:txBody>
      </p:sp>
      <p:sp>
        <p:nvSpPr>
          <p:cNvPr id="15" name="Rounded Rectangle 14"/>
          <p:cNvSpPr/>
          <p:nvPr/>
        </p:nvSpPr>
        <p:spPr>
          <a:xfrm>
            <a:off x="7609373" y="5074920"/>
            <a:ext cx="119478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say it</a:t>
            </a:r>
          </a:p>
        </p:txBody>
      </p:sp>
      <p:sp>
        <p:nvSpPr>
          <p:cNvPr id="16" name="Rounded Rectangle 15"/>
          <p:cNvSpPr/>
          <p:nvPr/>
        </p:nvSpPr>
        <p:spPr>
          <a:xfrm>
            <a:off x="8913885" y="5074920"/>
            <a:ext cx="95791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stays</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Monday afternoon: chapters 5 and 6 and the cases</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50 / 54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Kahoot replays today's traps, ungraded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today's traps does the room still fall for?</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8</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ITEMS</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one per chapter, the tree, a second on customers</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0</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SCORES RECORDED</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ungraded, every day</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RETURN QUESTION</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from today, in Tuesday's Kahoot</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Each item replays one of today's traps in a new setting, so a wrong tap shows which check has not stuck yet.</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24" name="Oval 23"/>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26" name="Oval 25"/>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28" name="Oval 27"/>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30" name="Oval 29"/>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32" name="Oval 31"/>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34" name="Oval 33"/>
          <p:cNvSpPr/>
          <p:nvPr/>
        </p:nvSpPr>
        <p:spPr>
          <a:xfrm>
            <a:off x="752379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633525" y="6437376"/>
            <a:ext cx="734377" cy="152146"/>
          </a:xfrm>
          <a:prstGeom prst="rect">
            <a:avLst/>
          </a:prstGeom>
          <a:noFill/>
        </p:spPr>
        <p:txBody>
          <a:bodyPr wrap="square" anchor="t" lIns="0" rIns="0" tIns="0" bIns="0">
            <a:spAutoFit/>
          </a:bodyPr>
          <a:lstStyle/>
          <a:p>
            <a:pPr algn="l"/>
            <a:r>
              <a:rPr sz="700" b="1" i="0">
                <a:solidFill>
                  <a:srgbClr val="5B3FD6"/>
                </a:solidFill>
                <a:latin typeface="Calibri"/>
              </a:rPr>
              <a:t>What stays</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S43  ·  51 / 54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No evidence acquisition is short, so frequency first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Is acquisition even the branch that is short?</a:t>
            </a:r>
          </a:p>
        </p:txBody>
      </p:sp>
      <p:pic>
        <p:nvPicPr>
          <p:cNvPr id="9" name="mermaid diagram" descr="5f37d6e5a8b4682b.png"/>
          <p:cNvPicPr>
            <a:picLocks noChangeAspect="1"/>
          </p:cNvPicPr>
          <p:nvPr/>
        </p:nvPicPr>
        <p:blipFill>
          <a:blip r:embed="rId5"/>
          <a:stretch>
            <a:fillRect/>
          </a:stretch>
        </p:blipFill>
        <p:spPr>
          <a:xfrm>
            <a:off x="4512476" y="1664208"/>
            <a:ext cx="3166742" cy="2748280"/>
          </a:xfrm>
          <a:prstGeom prst="rect">
            <a:avLst/>
          </a:prstGeom>
        </p:spPr>
      </p:pic>
      <p:sp>
        <p:nvSpPr>
          <p:cNvPr id="10" name="Rounded Rectangle 9"/>
          <p:cNvSpPr/>
          <p:nvPr/>
        </p:nvSpPr>
        <p:spPr>
          <a:xfrm>
            <a:off x="530352" y="4458208"/>
            <a:ext cx="45720" cy="159511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4458208"/>
            <a:ext cx="10820095" cy="1595119"/>
          </a:xfrm>
          <a:prstGeom prst="rect">
            <a:avLst/>
          </a:prstGeom>
          <a:noFill/>
        </p:spPr>
        <p:txBody>
          <a:bodyPr wrap="square" anchor="t" lIns="0" rIns="0" tIns="0" bIns="0">
            <a:spAutoFit/>
          </a:bodyPr>
          <a:lstStyle/>
          <a:p>
            <a:r>
              <a:rPr sz="1600" b="0" i="1">
                <a:solidFill>
                  <a:srgbClr val="1A0F5C"/>
                </a:solidFill>
                <a:latin typeface="Georgia"/>
              </a:rPr>
              <a:t>"On the 30 booked orders from 1 July to 26 September, 23 customers placed 1.30 orders each at a typical order of Rs 2,205; 7 came back, 7 are past the usual gap without a second order, and 9 bought too recently to judge, so I would open frequency before acquisition, and since one quarter cannot show which branch moved, hold the Rs 12 crore until Tuesday's two quarters."</a:t>
            </a:r>
          </a:p>
          <a:p>
            <a:pPr>
              <a:spcBef>
                <a:spcPts val="400"/>
              </a:spcBef>
            </a:pPr>
            <a:r>
              <a:rPr sz="1000" b="0" i="0">
                <a:solidFill>
                  <a:srgbClr val="6B6690"/>
                </a:solidFill>
                <a:latin typeface="Calibri"/>
              </a:rPr>
              <a:t>The data and AI team, to Meera Raghavan</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4" name="Oval 13"/>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16" name="Oval 15"/>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18" name="Oval 17"/>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0" name="Oval 19"/>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2" name="Oval 21"/>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4" name="Oval 23"/>
          <p:cNvSpPr/>
          <p:nvPr/>
        </p:nvSpPr>
        <p:spPr>
          <a:xfrm>
            <a:off x="752379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633525" y="6437376"/>
            <a:ext cx="734377" cy="152146"/>
          </a:xfrm>
          <a:prstGeom prst="rect">
            <a:avLst/>
          </a:prstGeom>
          <a:noFill/>
        </p:spPr>
        <p:txBody>
          <a:bodyPr wrap="square" anchor="t" lIns="0" rIns="0" tIns="0" bIns="0">
            <a:spAutoFit/>
          </a:bodyPr>
          <a:lstStyle/>
          <a:p>
            <a:pPr algn="l"/>
            <a:r>
              <a:rPr sz="700" b="1" i="0">
                <a:solidFill>
                  <a:srgbClr val="5B3FD6"/>
                </a:solidFill>
                <a:latin typeface="Calibri"/>
              </a:rPr>
              <a:t>What stays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S44  ·  52 / 54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Each chapter's trap leaves one line to keep</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habit does each of the day's six traps leave behind?</a:t>
            </a:r>
          </a:p>
        </p:txBody>
      </p:sp>
      <p:sp>
        <p:nvSpPr>
          <p:cNvPr id="9" name="Rounded Rectangle 8"/>
          <p:cNvSpPr/>
          <p:nvPr/>
        </p:nvSpPr>
        <p:spPr>
          <a:xfrm>
            <a:off x="530352" y="1956816"/>
            <a:ext cx="1702765" cy="219862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364437" y="2084832"/>
            <a:ext cx="731520" cy="432816"/>
          </a:xfrm>
          <a:prstGeom prst="rect">
            <a:avLst/>
          </a:prstGeom>
          <a:noFill/>
        </p:spPr>
        <p:txBody>
          <a:bodyPr wrap="square" anchor="t" lIns="0" rIns="0" tIns="0" bIns="0">
            <a:spAutoFit/>
          </a:bodyPr>
          <a:lstStyle/>
          <a:p>
            <a:pPr algn="r"/>
            <a:r>
              <a:rPr sz="2400" b="0" i="0">
                <a:solidFill>
                  <a:srgbClr val="CFC9EE"/>
                </a:solidFill>
                <a:latin typeface="Georgia"/>
              </a:rPr>
              <a:t>1</a:t>
            </a:r>
          </a:p>
        </p:txBody>
      </p:sp>
      <p:sp>
        <p:nvSpPr>
          <p:cNvPr id="11" name="TextBox 10"/>
          <p:cNvSpPr txBox="1"/>
          <p:nvPr/>
        </p:nvSpPr>
        <p:spPr>
          <a:xfrm>
            <a:off x="731519" y="2157984"/>
            <a:ext cx="1300429" cy="160401"/>
          </a:xfrm>
          <a:prstGeom prst="rect">
            <a:avLst/>
          </a:prstGeom>
          <a:noFill/>
        </p:spPr>
        <p:txBody>
          <a:bodyPr wrap="square" anchor="t" lIns="0" rIns="0" tIns="0" bIns="0">
            <a:spAutoFit/>
          </a:bodyPr>
          <a:lstStyle/>
          <a:p>
            <a:pPr algn="l"/>
            <a:r>
              <a:rPr sz="750" b="1" i="0" spc="250">
                <a:solidFill>
                  <a:srgbClr val="5B3FD6"/>
                </a:solidFill>
                <a:latin typeface="Calibri"/>
              </a:rPr>
              <a:t>CHAPTER 1</a:t>
            </a:r>
          </a:p>
        </p:txBody>
      </p:sp>
      <p:sp>
        <p:nvSpPr>
          <p:cNvPr id="12" name="TextBox 11"/>
          <p:cNvSpPr txBox="1"/>
          <p:nvPr/>
        </p:nvSpPr>
        <p:spPr>
          <a:xfrm>
            <a:off x="731519" y="2395728"/>
            <a:ext cx="1300429" cy="267716"/>
          </a:xfrm>
          <a:prstGeom prst="rect">
            <a:avLst/>
          </a:prstGeom>
          <a:noFill/>
        </p:spPr>
        <p:txBody>
          <a:bodyPr wrap="square" anchor="t" lIns="0" rIns="0" tIns="0" bIns="0">
            <a:spAutoFit/>
          </a:bodyPr>
          <a:lstStyle/>
          <a:p>
            <a:pPr algn="l"/>
            <a:r>
              <a:rPr sz="1400" b="1" i="0">
                <a:solidFill>
                  <a:srgbClr val="1A0F5C"/>
                </a:solidFill>
                <a:latin typeface="Calibri"/>
              </a:rPr>
              <a:t>Definition</a:t>
            </a:r>
          </a:p>
        </p:txBody>
      </p:sp>
      <p:sp>
        <p:nvSpPr>
          <p:cNvPr id="13" name="TextBox 12"/>
          <p:cNvSpPr txBox="1"/>
          <p:nvPr/>
        </p:nvSpPr>
        <p:spPr>
          <a:xfrm>
            <a:off x="731519" y="2736596"/>
            <a:ext cx="1300429" cy="944626"/>
          </a:xfrm>
          <a:prstGeom prst="rect">
            <a:avLst/>
          </a:prstGeom>
          <a:noFill/>
        </p:spPr>
        <p:txBody>
          <a:bodyPr wrap="square" anchor="t" lIns="0" rIns="0" tIns="0" bIns="0">
            <a:spAutoFit/>
          </a:bodyPr>
          <a:lstStyle/>
          <a:p>
            <a:pPr algn="l"/>
            <a:r>
              <a:rPr sz="1100" b="0" i="0">
                <a:solidFill>
                  <a:srgbClr val="6B6690"/>
                </a:solidFill>
                <a:latin typeface="Calibri"/>
              </a:rPr>
              <a:t>Name the definition before the number: booked, "not cancelled", or delivered.</a:t>
            </a:r>
          </a:p>
        </p:txBody>
      </p:sp>
      <p:sp>
        <p:nvSpPr>
          <p:cNvPr id="14" name="Rounded Rectangle 13"/>
          <p:cNvSpPr/>
          <p:nvPr/>
        </p:nvSpPr>
        <p:spPr>
          <a:xfrm>
            <a:off x="2415997" y="1956816"/>
            <a:ext cx="1702765" cy="219862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50082" y="2084832"/>
            <a:ext cx="731520" cy="432816"/>
          </a:xfrm>
          <a:prstGeom prst="rect">
            <a:avLst/>
          </a:prstGeom>
          <a:noFill/>
        </p:spPr>
        <p:txBody>
          <a:bodyPr wrap="square" anchor="t" lIns="0" rIns="0" tIns="0" bIns="0">
            <a:spAutoFit/>
          </a:bodyPr>
          <a:lstStyle/>
          <a:p>
            <a:pPr algn="r"/>
            <a:r>
              <a:rPr sz="2400" b="0" i="0">
                <a:solidFill>
                  <a:srgbClr val="CFC9EE"/>
                </a:solidFill>
                <a:latin typeface="Georgia"/>
              </a:rPr>
              <a:t>2</a:t>
            </a:r>
          </a:p>
        </p:txBody>
      </p:sp>
      <p:sp>
        <p:nvSpPr>
          <p:cNvPr id="16" name="TextBox 15"/>
          <p:cNvSpPr txBox="1"/>
          <p:nvPr/>
        </p:nvSpPr>
        <p:spPr>
          <a:xfrm>
            <a:off x="2617165" y="2157984"/>
            <a:ext cx="1300429" cy="160401"/>
          </a:xfrm>
          <a:prstGeom prst="rect">
            <a:avLst/>
          </a:prstGeom>
          <a:noFill/>
        </p:spPr>
        <p:txBody>
          <a:bodyPr wrap="square" anchor="t" lIns="0" rIns="0" tIns="0" bIns="0">
            <a:spAutoFit/>
          </a:bodyPr>
          <a:lstStyle/>
          <a:p>
            <a:pPr algn="l"/>
            <a:r>
              <a:rPr sz="750" b="1" i="0" spc="250">
                <a:solidFill>
                  <a:srgbClr val="5B3FD6"/>
                </a:solidFill>
                <a:latin typeface="Calibri"/>
              </a:rPr>
              <a:t>CHAPTER 2</a:t>
            </a:r>
          </a:p>
        </p:txBody>
      </p:sp>
      <p:sp>
        <p:nvSpPr>
          <p:cNvPr id="17" name="TextBox 16"/>
          <p:cNvSpPr txBox="1"/>
          <p:nvPr/>
        </p:nvSpPr>
        <p:spPr>
          <a:xfrm>
            <a:off x="2617165" y="2395728"/>
            <a:ext cx="1300429" cy="267716"/>
          </a:xfrm>
          <a:prstGeom prst="rect">
            <a:avLst/>
          </a:prstGeom>
          <a:noFill/>
        </p:spPr>
        <p:txBody>
          <a:bodyPr wrap="square" anchor="t" lIns="0" rIns="0" tIns="0" bIns="0">
            <a:spAutoFit/>
          </a:bodyPr>
          <a:lstStyle/>
          <a:p>
            <a:pPr algn="l"/>
            <a:r>
              <a:rPr sz="1400" b="1" i="0">
                <a:solidFill>
                  <a:srgbClr val="1A0F5C"/>
                </a:solidFill>
                <a:latin typeface="Calibri"/>
              </a:rPr>
              <a:t>One fraction</a:t>
            </a:r>
          </a:p>
        </p:txBody>
      </p:sp>
      <p:sp>
        <p:nvSpPr>
          <p:cNvPr id="18" name="TextBox 17"/>
          <p:cNvSpPr txBox="1"/>
          <p:nvPr/>
        </p:nvSpPr>
        <p:spPr>
          <a:xfrm>
            <a:off x="2617165" y="2736596"/>
            <a:ext cx="1300429" cy="944626"/>
          </a:xfrm>
          <a:prstGeom prst="rect">
            <a:avLst/>
          </a:prstGeom>
          <a:noFill/>
        </p:spPr>
        <p:txBody>
          <a:bodyPr wrap="square" anchor="t" lIns="0" rIns="0" tIns="0" bIns="0">
            <a:spAutoFit/>
          </a:bodyPr>
          <a:lstStyle/>
          <a:p>
            <a:pPr algn="l"/>
            <a:r>
              <a:rPr sz="1100" b="0" i="0">
                <a:solidFill>
                  <a:srgbClr val="6B6690"/>
                </a:solidFill>
                <a:latin typeface="Calibri"/>
              </a:rPr>
              <a:t>Build every fraction on one definition, and check that it multiplies back.</a:t>
            </a:r>
          </a:p>
        </p:txBody>
      </p:sp>
      <p:sp>
        <p:nvSpPr>
          <p:cNvPr id="19" name="Rounded Rectangle 18"/>
          <p:cNvSpPr/>
          <p:nvPr/>
        </p:nvSpPr>
        <p:spPr>
          <a:xfrm>
            <a:off x="4301642" y="1956816"/>
            <a:ext cx="1702765" cy="219862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35727" y="2084832"/>
            <a:ext cx="731520" cy="432816"/>
          </a:xfrm>
          <a:prstGeom prst="rect">
            <a:avLst/>
          </a:prstGeom>
          <a:noFill/>
        </p:spPr>
        <p:txBody>
          <a:bodyPr wrap="square" anchor="t" lIns="0" rIns="0" tIns="0" bIns="0">
            <a:spAutoFit/>
          </a:bodyPr>
          <a:lstStyle/>
          <a:p>
            <a:pPr algn="r"/>
            <a:r>
              <a:rPr sz="2400" b="0" i="0">
                <a:solidFill>
                  <a:srgbClr val="CFC9EE"/>
                </a:solidFill>
                <a:latin typeface="Georgia"/>
              </a:rPr>
              <a:t>3</a:t>
            </a:r>
          </a:p>
        </p:txBody>
      </p:sp>
      <p:sp>
        <p:nvSpPr>
          <p:cNvPr id="21" name="TextBox 20"/>
          <p:cNvSpPr txBox="1"/>
          <p:nvPr/>
        </p:nvSpPr>
        <p:spPr>
          <a:xfrm>
            <a:off x="4502810" y="2157984"/>
            <a:ext cx="1300429" cy="160401"/>
          </a:xfrm>
          <a:prstGeom prst="rect">
            <a:avLst/>
          </a:prstGeom>
          <a:noFill/>
        </p:spPr>
        <p:txBody>
          <a:bodyPr wrap="square" anchor="t" lIns="0" rIns="0" tIns="0" bIns="0">
            <a:spAutoFit/>
          </a:bodyPr>
          <a:lstStyle/>
          <a:p>
            <a:pPr algn="l"/>
            <a:r>
              <a:rPr sz="750" b="1" i="0" spc="250">
                <a:solidFill>
                  <a:srgbClr val="5B3FD6"/>
                </a:solidFill>
                <a:latin typeface="Calibri"/>
              </a:rPr>
              <a:t>CHAPTER 3</a:t>
            </a:r>
          </a:p>
        </p:txBody>
      </p:sp>
      <p:sp>
        <p:nvSpPr>
          <p:cNvPr id="22" name="TextBox 21"/>
          <p:cNvSpPr txBox="1"/>
          <p:nvPr/>
        </p:nvSpPr>
        <p:spPr>
          <a:xfrm>
            <a:off x="4502810" y="2395728"/>
            <a:ext cx="1300429" cy="267716"/>
          </a:xfrm>
          <a:prstGeom prst="rect">
            <a:avLst/>
          </a:prstGeom>
          <a:noFill/>
        </p:spPr>
        <p:txBody>
          <a:bodyPr wrap="square" anchor="t" lIns="0" rIns="0" tIns="0" bIns="0">
            <a:spAutoFit/>
          </a:bodyPr>
          <a:lstStyle/>
          <a:p>
            <a:pPr algn="l"/>
            <a:r>
              <a:rPr sz="1400" b="1" i="0">
                <a:solidFill>
                  <a:srgbClr val="1A0F5C"/>
                </a:solidFill>
                <a:latin typeface="Calibri"/>
              </a:rPr>
              <a:t>Customers</a:t>
            </a:r>
          </a:p>
        </p:txBody>
      </p:sp>
      <p:sp>
        <p:nvSpPr>
          <p:cNvPr id="23" name="TextBox 22"/>
          <p:cNvSpPr txBox="1"/>
          <p:nvPr/>
        </p:nvSpPr>
        <p:spPr>
          <a:xfrm>
            <a:off x="4502810" y="2736596"/>
            <a:ext cx="1300429" cy="581406"/>
          </a:xfrm>
          <a:prstGeom prst="rect">
            <a:avLst/>
          </a:prstGeom>
          <a:noFill/>
        </p:spPr>
        <p:txBody>
          <a:bodyPr wrap="square" anchor="t" lIns="0" rIns="0" tIns="0" bIns="0">
            <a:spAutoFit/>
          </a:bodyPr>
          <a:lstStyle/>
          <a:p>
            <a:pPr algn="l"/>
            <a:r>
              <a:rPr sz="1100" b="0" i="0">
                <a:solidFill>
                  <a:srgbClr val="6B6690"/>
                </a:solidFill>
                <a:latin typeface="Calibri"/>
              </a:rPr>
              <a:t>Count customers by their id, never by the rows.</a:t>
            </a:r>
          </a:p>
        </p:txBody>
      </p:sp>
      <p:sp>
        <p:nvSpPr>
          <p:cNvPr id="24" name="Rounded Rectangle 23"/>
          <p:cNvSpPr/>
          <p:nvPr/>
        </p:nvSpPr>
        <p:spPr>
          <a:xfrm>
            <a:off x="6187287" y="1956816"/>
            <a:ext cx="1702765" cy="219862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021372" y="2084832"/>
            <a:ext cx="731520" cy="432816"/>
          </a:xfrm>
          <a:prstGeom prst="rect">
            <a:avLst/>
          </a:prstGeom>
          <a:noFill/>
        </p:spPr>
        <p:txBody>
          <a:bodyPr wrap="square" anchor="t" lIns="0" rIns="0" tIns="0" bIns="0">
            <a:spAutoFit/>
          </a:bodyPr>
          <a:lstStyle/>
          <a:p>
            <a:pPr algn="r"/>
            <a:r>
              <a:rPr sz="2400" b="0" i="0">
                <a:solidFill>
                  <a:srgbClr val="CFC9EE"/>
                </a:solidFill>
                <a:latin typeface="Georgia"/>
              </a:rPr>
              <a:t>4</a:t>
            </a:r>
          </a:p>
        </p:txBody>
      </p:sp>
      <p:sp>
        <p:nvSpPr>
          <p:cNvPr id="26" name="TextBox 25"/>
          <p:cNvSpPr txBox="1"/>
          <p:nvPr/>
        </p:nvSpPr>
        <p:spPr>
          <a:xfrm>
            <a:off x="6388455" y="2157984"/>
            <a:ext cx="1300429" cy="160401"/>
          </a:xfrm>
          <a:prstGeom prst="rect">
            <a:avLst/>
          </a:prstGeom>
          <a:noFill/>
        </p:spPr>
        <p:txBody>
          <a:bodyPr wrap="square" anchor="t" lIns="0" rIns="0" tIns="0" bIns="0">
            <a:spAutoFit/>
          </a:bodyPr>
          <a:lstStyle/>
          <a:p>
            <a:pPr algn="l"/>
            <a:r>
              <a:rPr sz="750" b="1" i="0" spc="250">
                <a:solidFill>
                  <a:srgbClr val="5B3FD6"/>
                </a:solidFill>
                <a:latin typeface="Calibri"/>
              </a:rPr>
              <a:t>CHAPTER 4</a:t>
            </a:r>
          </a:p>
        </p:txBody>
      </p:sp>
      <p:sp>
        <p:nvSpPr>
          <p:cNvPr id="27" name="TextBox 26"/>
          <p:cNvSpPr txBox="1"/>
          <p:nvPr/>
        </p:nvSpPr>
        <p:spPr>
          <a:xfrm>
            <a:off x="6388455" y="2395728"/>
            <a:ext cx="1300429" cy="267716"/>
          </a:xfrm>
          <a:prstGeom prst="rect">
            <a:avLst/>
          </a:prstGeom>
          <a:noFill/>
        </p:spPr>
        <p:txBody>
          <a:bodyPr wrap="square" anchor="t" lIns="0" rIns="0" tIns="0" bIns="0">
            <a:spAutoFit/>
          </a:bodyPr>
          <a:lstStyle/>
          <a:p>
            <a:pPr algn="l"/>
            <a:r>
              <a:rPr sz="1400" b="1" i="0">
                <a:solidFill>
                  <a:srgbClr val="1A0F5C"/>
                </a:solidFill>
                <a:latin typeface="Calibri"/>
              </a:rPr>
              <a:t>Typical order</a:t>
            </a:r>
          </a:p>
        </p:txBody>
      </p:sp>
      <p:sp>
        <p:nvSpPr>
          <p:cNvPr id="28" name="TextBox 27"/>
          <p:cNvSpPr txBox="1"/>
          <p:nvPr/>
        </p:nvSpPr>
        <p:spPr>
          <a:xfrm>
            <a:off x="6388455" y="2736596"/>
            <a:ext cx="1300429" cy="763016"/>
          </a:xfrm>
          <a:prstGeom prst="rect">
            <a:avLst/>
          </a:prstGeom>
          <a:noFill/>
        </p:spPr>
        <p:txBody>
          <a:bodyPr wrap="square" anchor="t" lIns="0" rIns="0" tIns="0" bIns="0">
            <a:spAutoFit/>
          </a:bodyPr>
          <a:lstStyle/>
          <a:p>
            <a:pPr algn="l"/>
            <a:r>
              <a:rPr sz="1100" b="0" i="0">
                <a:solidFill>
                  <a:srgbClr val="6B6690"/>
                </a:solidFill>
                <a:latin typeface="Calibri"/>
              </a:rPr>
              <a:t>Report the median when one order can move the mean, and say why.</a:t>
            </a:r>
          </a:p>
        </p:txBody>
      </p:sp>
      <p:sp>
        <p:nvSpPr>
          <p:cNvPr id="29" name="Rounded Rectangle 28"/>
          <p:cNvSpPr/>
          <p:nvPr/>
        </p:nvSpPr>
        <p:spPr>
          <a:xfrm>
            <a:off x="8072932" y="1956816"/>
            <a:ext cx="1702765" cy="219862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907018" y="2084832"/>
            <a:ext cx="731520" cy="432816"/>
          </a:xfrm>
          <a:prstGeom prst="rect">
            <a:avLst/>
          </a:prstGeom>
          <a:noFill/>
        </p:spPr>
        <p:txBody>
          <a:bodyPr wrap="square" anchor="t" lIns="0" rIns="0" tIns="0" bIns="0">
            <a:spAutoFit/>
          </a:bodyPr>
          <a:lstStyle/>
          <a:p>
            <a:pPr algn="r"/>
            <a:r>
              <a:rPr sz="2400" b="0" i="0">
                <a:solidFill>
                  <a:srgbClr val="CFC9EE"/>
                </a:solidFill>
                <a:latin typeface="Georgia"/>
              </a:rPr>
              <a:t>5</a:t>
            </a:r>
          </a:p>
        </p:txBody>
      </p:sp>
      <p:sp>
        <p:nvSpPr>
          <p:cNvPr id="31" name="TextBox 30"/>
          <p:cNvSpPr txBox="1"/>
          <p:nvPr/>
        </p:nvSpPr>
        <p:spPr>
          <a:xfrm>
            <a:off x="8274100" y="2157984"/>
            <a:ext cx="1300429" cy="160401"/>
          </a:xfrm>
          <a:prstGeom prst="rect">
            <a:avLst/>
          </a:prstGeom>
          <a:noFill/>
        </p:spPr>
        <p:txBody>
          <a:bodyPr wrap="square" anchor="t" lIns="0" rIns="0" tIns="0" bIns="0">
            <a:spAutoFit/>
          </a:bodyPr>
          <a:lstStyle/>
          <a:p>
            <a:pPr algn="l"/>
            <a:r>
              <a:rPr sz="750" b="1" i="0" spc="250">
                <a:solidFill>
                  <a:srgbClr val="5B3FD6"/>
                </a:solidFill>
                <a:latin typeface="Calibri"/>
              </a:rPr>
              <a:t>CHAPTER 5</a:t>
            </a:r>
          </a:p>
        </p:txBody>
      </p:sp>
      <p:sp>
        <p:nvSpPr>
          <p:cNvPr id="32" name="TextBox 31"/>
          <p:cNvSpPr txBox="1"/>
          <p:nvPr/>
        </p:nvSpPr>
        <p:spPr>
          <a:xfrm>
            <a:off x="8274100" y="2395728"/>
            <a:ext cx="1300429" cy="267716"/>
          </a:xfrm>
          <a:prstGeom prst="rect">
            <a:avLst/>
          </a:prstGeom>
          <a:noFill/>
        </p:spPr>
        <p:txBody>
          <a:bodyPr wrap="square" anchor="t" lIns="0" rIns="0" tIns="0" bIns="0">
            <a:spAutoFit/>
          </a:bodyPr>
          <a:lstStyle/>
          <a:p>
            <a:pPr algn="l"/>
            <a:r>
              <a:rPr sz="1400" b="1" i="0">
                <a:solidFill>
                  <a:srgbClr val="1A0F5C"/>
                </a:solidFill>
                <a:latin typeface="Calibri"/>
              </a:rPr>
              <a:t>Lifts</a:t>
            </a:r>
          </a:p>
        </p:txBody>
      </p:sp>
      <p:sp>
        <p:nvSpPr>
          <p:cNvPr id="33" name="TextBox 32"/>
          <p:cNvSpPr txBox="1"/>
          <p:nvPr/>
        </p:nvSpPr>
        <p:spPr>
          <a:xfrm>
            <a:off x="8274100" y="2736596"/>
            <a:ext cx="1300429" cy="763016"/>
          </a:xfrm>
          <a:prstGeom prst="rect">
            <a:avLst/>
          </a:prstGeom>
          <a:noFill/>
        </p:spPr>
        <p:txBody>
          <a:bodyPr wrap="square" anchor="t" lIns="0" rIns="0" tIns="0" bIns="0">
            <a:spAutoFit/>
          </a:bodyPr>
          <a:lstStyle/>
          <a:p>
            <a:pPr algn="l"/>
            <a:r>
              <a:rPr sz="1100" b="0" i="0">
                <a:solidFill>
                  <a:srgbClr val="6B6690"/>
                </a:solidFill>
                <a:latin typeface="Calibri"/>
              </a:rPr>
              <a:t>Lifts multiply along the tree: two 10 percent lifts make 21 percent.</a:t>
            </a:r>
          </a:p>
        </p:txBody>
      </p:sp>
      <p:sp>
        <p:nvSpPr>
          <p:cNvPr id="34" name="Rounded Rectangle 33"/>
          <p:cNvSpPr/>
          <p:nvPr/>
        </p:nvSpPr>
        <p:spPr>
          <a:xfrm>
            <a:off x="9958578" y="1956816"/>
            <a:ext cx="1702765" cy="219862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10792663" y="2084832"/>
            <a:ext cx="731520" cy="432816"/>
          </a:xfrm>
          <a:prstGeom prst="rect">
            <a:avLst/>
          </a:prstGeom>
          <a:noFill/>
        </p:spPr>
        <p:txBody>
          <a:bodyPr wrap="square" anchor="t" lIns="0" rIns="0" tIns="0" bIns="0">
            <a:spAutoFit/>
          </a:bodyPr>
          <a:lstStyle/>
          <a:p>
            <a:pPr algn="r"/>
            <a:r>
              <a:rPr sz="2400" b="0" i="0">
                <a:solidFill>
                  <a:srgbClr val="5B3FD6"/>
                </a:solidFill>
                <a:latin typeface="Georgia"/>
              </a:rPr>
              <a:t>6</a:t>
            </a:r>
          </a:p>
        </p:txBody>
      </p:sp>
      <p:sp>
        <p:nvSpPr>
          <p:cNvPr id="36" name="TextBox 35"/>
          <p:cNvSpPr txBox="1"/>
          <p:nvPr/>
        </p:nvSpPr>
        <p:spPr>
          <a:xfrm>
            <a:off x="10159746" y="2157984"/>
            <a:ext cx="1300429" cy="160401"/>
          </a:xfrm>
          <a:prstGeom prst="rect">
            <a:avLst/>
          </a:prstGeom>
          <a:noFill/>
        </p:spPr>
        <p:txBody>
          <a:bodyPr wrap="square" anchor="t" lIns="0" rIns="0" tIns="0" bIns="0">
            <a:spAutoFit/>
          </a:bodyPr>
          <a:lstStyle/>
          <a:p>
            <a:pPr algn="l"/>
            <a:r>
              <a:rPr sz="750" b="1" i="0" spc="250">
                <a:solidFill>
                  <a:srgbClr val="D9A7FF"/>
                </a:solidFill>
                <a:latin typeface="Calibri"/>
              </a:rPr>
              <a:t>CHAPTER 6</a:t>
            </a:r>
          </a:p>
        </p:txBody>
      </p:sp>
      <p:sp>
        <p:nvSpPr>
          <p:cNvPr id="37" name="TextBox 36"/>
          <p:cNvSpPr txBox="1"/>
          <p:nvPr/>
        </p:nvSpPr>
        <p:spPr>
          <a:xfrm>
            <a:off x="10159746" y="2395728"/>
            <a:ext cx="1300429" cy="498856"/>
          </a:xfrm>
          <a:prstGeom prst="rect">
            <a:avLst/>
          </a:prstGeom>
          <a:noFill/>
        </p:spPr>
        <p:txBody>
          <a:bodyPr wrap="square" anchor="t" lIns="0" rIns="0" tIns="0" bIns="0">
            <a:spAutoFit/>
          </a:bodyPr>
          <a:lstStyle/>
          <a:p>
            <a:pPr algn="l"/>
            <a:r>
              <a:rPr sz="1400" b="1" i="0">
                <a:solidFill>
                  <a:srgbClr val="FFFFFF"/>
                </a:solidFill>
                <a:latin typeface="Calibri"/>
              </a:rPr>
              <a:t>The window's edge</a:t>
            </a:r>
          </a:p>
        </p:txBody>
      </p:sp>
      <p:sp>
        <p:nvSpPr>
          <p:cNvPr id="38" name="TextBox 37"/>
          <p:cNvSpPr txBox="1"/>
          <p:nvPr/>
        </p:nvSpPr>
        <p:spPr>
          <a:xfrm>
            <a:off x="10159746" y="2967736"/>
            <a:ext cx="1300429" cy="944626"/>
          </a:xfrm>
          <a:prstGeom prst="rect">
            <a:avLst/>
          </a:prstGeom>
          <a:noFill/>
        </p:spPr>
        <p:txBody>
          <a:bodyPr wrap="square" anchor="t" lIns="0" rIns="0" tIns="0" bIns="0">
            <a:spAutoFit/>
          </a:bodyPr>
          <a:lstStyle/>
          <a:p>
            <a:pPr algn="l"/>
            <a:r>
              <a:rPr sz="1100" b="0" i="0">
                <a:solidFill>
                  <a:srgbClr val="CFC9EE"/>
                </a:solidFill>
                <a:latin typeface="Calibri"/>
              </a:rPr>
              <a:t>A one-time buyer is not a lost customer until they have had time to come back.</a:t>
            </a:r>
          </a:p>
        </p:txBody>
      </p:sp>
      <p:sp>
        <p:nvSpPr>
          <p:cNvPr id="39" name="Oval 3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41" name="Oval 40"/>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43" name="Oval 42"/>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45" name="Oval 44"/>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47" name="Oval 46"/>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49" name="Oval 48"/>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51" name="Oval 50"/>
          <p:cNvSpPr/>
          <p:nvPr/>
        </p:nvSpPr>
        <p:spPr>
          <a:xfrm>
            <a:off x="752379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7633525" y="6437376"/>
            <a:ext cx="734377" cy="152146"/>
          </a:xfrm>
          <a:prstGeom prst="rect">
            <a:avLst/>
          </a:prstGeom>
          <a:noFill/>
        </p:spPr>
        <p:txBody>
          <a:bodyPr wrap="square" anchor="t" lIns="0" rIns="0" tIns="0" bIns="0">
            <a:spAutoFit/>
          </a:bodyPr>
          <a:lstStyle/>
          <a:p>
            <a:pPr algn="l"/>
            <a:r>
              <a:rPr sz="700" b="1" i="0">
                <a:solidFill>
                  <a:srgbClr val="5B3FD6"/>
                </a:solidFill>
                <a:latin typeface="Calibri"/>
              </a:rPr>
              <a:t>What stays</a:t>
            </a:r>
          </a:p>
        </p:txBody>
      </p:sp>
      <p:sp>
        <p:nvSpPr>
          <p:cNvPr id="53" name="TextBox 5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S45  ·  53 / 54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Tomorrow, Meera asks which branch moved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Meera ask once she has read the sentence?</a:t>
            </a:r>
          </a:p>
        </p:txBody>
      </p:sp>
      <p:sp>
        <p:nvSpPr>
          <p:cNvPr id="9" name="Rounded Rectangle 8"/>
          <p:cNvSpPr/>
          <p:nvPr/>
        </p:nvSpPr>
        <p:spPr>
          <a:xfrm>
            <a:off x="530352" y="195681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890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39877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682752"/>
          </a:xfrm>
          <a:prstGeom prst="rect">
            <a:avLst/>
          </a:prstGeom>
          <a:noFill/>
        </p:spPr>
        <p:txBody>
          <a:bodyPr wrap="square" anchor="t" lIns="0" rIns="0" tIns="0" bIns="0">
            <a:spAutoFit/>
          </a:bodyPr>
          <a:lstStyle/>
          <a:p>
            <a:r>
              <a:rPr sz="1500" b="0" i="0">
                <a:solidFill>
                  <a:srgbClr val="FFFFFF"/>
                </a:solidFill>
                <a:latin typeface="Calibri"/>
              </a:rPr>
              <a:t>"So revenue is customers, times how often they buy, times basket, times price. Now: which of those moved? Q2 was Rs 1.9 crore, Q1 was 2.1."</a:t>
            </a:r>
          </a:p>
        </p:txBody>
      </p:sp>
      <p:pic>
        <p:nvPicPr>
          <p:cNvPr id="14" name="mermaid diagram" descr="dd794d6c2d730c58.png"/>
          <p:cNvPicPr>
            <a:picLocks noChangeAspect="1"/>
          </p:cNvPicPr>
          <p:nvPr/>
        </p:nvPicPr>
        <p:blipFill>
          <a:blip r:embed="rId6"/>
          <a:stretch>
            <a:fillRect/>
          </a:stretch>
        </p:blipFill>
        <p:spPr>
          <a:xfrm>
            <a:off x="3266922" y="3243072"/>
            <a:ext cx="5657850" cy="2628900"/>
          </a:xfrm>
          <a:prstGeom prst="rect">
            <a:avLst/>
          </a:prstGeom>
        </p:spPr>
      </p:pic>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Which branch first</a:t>
            </a:r>
          </a:p>
        </p:txBody>
      </p:sp>
      <p:sp>
        <p:nvSpPr>
          <p:cNvPr id="17" name="Oval 16"/>
          <p:cNvSpPr/>
          <p:nvPr/>
        </p:nvSpPr>
        <p:spPr>
          <a:xfrm>
            <a:off x="1833943"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943671"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will Meera sign</a:t>
            </a:r>
          </a:p>
        </p:txBody>
      </p:sp>
      <p:sp>
        <p:nvSpPr>
          <p:cNvPr id="19" name="Oval 18"/>
          <p:cNvSpPr/>
          <p:nvPr/>
        </p:nvSpPr>
        <p:spPr>
          <a:xfrm>
            <a:off x="322954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339274"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Escalated case</a:t>
            </a:r>
          </a:p>
        </p:txBody>
      </p:sp>
      <p:sp>
        <p:nvSpPr>
          <p:cNvPr id="21" name="Oval 20"/>
          <p:cNvSpPr/>
          <p:nvPr/>
        </p:nvSpPr>
        <p:spPr>
          <a:xfrm>
            <a:off x="434911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458843" y="6437376"/>
            <a:ext cx="872394" cy="152146"/>
          </a:xfrm>
          <a:prstGeom prst="rect">
            <a:avLst/>
          </a:prstGeom>
          <a:noFill/>
        </p:spPr>
        <p:txBody>
          <a:bodyPr wrap="square" anchor="t" lIns="0" rIns="0" tIns="0" bIns="0">
            <a:spAutoFit/>
          </a:bodyPr>
          <a:lstStyle/>
          <a:p>
            <a:pPr algn="l"/>
            <a:r>
              <a:rPr sz="700" b="0" i="0">
                <a:solidFill>
                  <a:srgbClr val="6B6690"/>
                </a:solidFill>
                <a:latin typeface="Calibri"/>
              </a:rPr>
              <a:t>Which hold up</a:t>
            </a:r>
          </a:p>
        </p:txBody>
      </p:sp>
      <p:sp>
        <p:nvSpPr>
          <p:cNvPr id="23" name="Oval 22"/>
          <p:cNvSpPr/>
          <p:nvPr/>
        </p:nvSpPr>
        <p:spPr>
          <a:xfrm>
            <a:off x="54226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532405" y="6437376"/>
            <a:ext cx="780383" cy="152146"/>
          </a:xfrm>
          <a:prstGeom prst="rect">
            <a:avLst/>
          </a:prstGeom>
          <a:noFill/>
        </p:spPr>
        <p:txBody>
          <a:bodyPr wrap="square" anchor="t" lIns="0" rIns="0" tIns="0" bIns="0">
            <a:spAutoFit/>
          </a:bodyPr>
          <a:lstStyle/>
          <a:p>
            <a:pPr algn="l"/>
            <a:r>
              <a:rPr sz="700" b="0" i="0">
                <a:solidFill>
                  <a:srgbClr val="6B6690"/>
                </a:solidFill>
                <a:latin typeface="Calibri"/>
              </a:rPr>
              <a:t>Second case</a:t>
            </a:r>
          </a:p>
        </p:txBody>
      </p:sp>
      <p:sp>
        <p:nvSpPr>
          <p:cNvPr id="25" name="Oval 24"/>
          <p:cNvSpPr/>
          <p:nvPr/>
        </p:nvSpPr>
        <p:spPr>
          <a:xfrm>
            <a:off x="640422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13957" y="6437376"/>
            <a:ext cx="918400" cy="152146"/>
          </a:xfrm>
          <a:prstGeom prst="rect">
            <a:avLst/>
          </a:prstGeom>
          <a:noFill/>
        </p:spPr>
        <p:txBody>
          <a:bodyPr wrap="square" anchor="t" lIns="0" rIns="0" tIns="0" bIns="0">
            <a:spAutoFit/>
          </a:bodyPr>
          <a:lstStyle/>
          <a:p>
            <a:pPr algn="l"/>
            <a:r>
              <a:rPr sz="700" b="0" i="0">
                <a:solidFill>
                  <a:srgbClr val="6B6690"/>
                </a:solidFill>
                <a:latin typeface="Calibri"/>
              </a:rPr>
              <a:t>Can you say it</a:t>
            </a:r>
          </a:p>
        </p:txBody>
      </p:sp>
      <p:sp>
        <p:nvSpPr>
          <p:cNvPr id="27" name="Oval 26"/>
          <p:cNvSpPr/>
          <p:nvPr/>
        </p:nvSpPr>
        <p:spPr>
          <a:xfrm>
            <a:off x="752379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633525" y="6437376"/>
            <a:ext cx="734377" cy="152146"/>
          </a:xfrm>
          <a:prstGeom prst="rect">
            <a:avLst/>
          </a:prstGeom>
          <a:noFill/>
        </p:spPr>
        <p:txBody>
          <a:bodyPr wrap="square" anchor="t" lIns="0" rIns="0" tIns="0" bIns="0">
            <a:spAutoFit/>
          </a:bodyPr>
          <a:lstStyle/>
          <a:p>
            <a:pPr algn="l"/>
            <a:r>
              <a:rPr sz="700" b="1" i="0">
                <a:solidFill>
                  <a:srgbClr val="5B3FD6"/>
                </a:solidFill>
                <a:latin typeface="Calibri"/>
              </a:rPr>
              <a:t>What stays</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S46  ·  54 / 54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