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machine that remembers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notebook that opened the day is a machine that holds on to whatever you hand it.</a:t>
            </a:r>
          </a:p>
          <a:p>
            <a:pPr>
              <a:spcAft>
                <a:spcPts val="900"/>
              </a:spcAft>
            </a:pPr>
            <a:r>
              <a:rPr sz="2000" b="0">
                <a:solidFill>
                  <a:srgbClr val="1C1C1A"/>
                </a:solidFill>
                <a:latin typeface="Calibri"/>
              </a:rPr>
              <a:t>For the next stretch you learn what it is holding, why it sometimes refuses you, and how to get it back when it forgets.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1627632"/>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open the workbench</a:t>
            </a:r>
          </a:p>
        </p:txBody>
      </p:sp>
      <p:sp>
        <p:nvSpPr>
          <p:cNvPr id="7" name="Rounded Rectangle 6"/>
          <p:cNvSpPr/>
          <p:nvPr/>
        </p:nvSpPr>
        <p:spPr>
          <a:xfrm>
            <a:off x="2871764" y="1627632"/>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the kernel remembers</a:t>
            </a:r>
          </a:p>
        </p:txBody>
      </p:sp>
      <p:sp>
        <p:nvSpPr>
          <p:cNvPr id="8" name="Rounded Rectangle 7"/>
          <p:cNvSpPr/>
          <p:nvPr/>
        </p:nvSpPr>
        <p:spPr>
          <a:xfrm>
            <a:off x="5057729" y="1627632"/>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type decides</a:t>
            </a:r>
          </a:p>
        </p:txBody>
      </p:sp>
      <p:sp>
        <p:nvSpPr>
          <p:cNvPr id="9" name="Rounded Rectangle 8"/>
          <p:cNvSpPr/>
          <p:nvPr/>
        </p:nvSpPr>
        <p:spPr>
          <a:xfrm>
            <a:off x="7243693" y="1627632"/>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walk the records</a:t>
            </a:r>
          </a:p>
        </p:txBody>
      </p:sp>
      <p:sp>
        <p:nvSpPr>
          <p:cNvPr id="10" name="Rounded Rectangle 9"/>
          <p:cNvSpPr/>
          <p:nvPr/>
        </p:nvSpPr>
        <p:spPr>
          <a:xfrm>
            <a:off x="9429658" y="1627632"/>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the business answer</a:t>
            </a:r>
          </a:p>
        </p:txBody>
      </p:sp>
      <p:sp>
        <p:nvSpPr>
          <p:cNvPr id="11" name="TextBox 10"/>
          <p:cNvSpPr txBox="1"/>
          <p:nvPr/>
        </p:nvSpPr>
        <p:spPr>
          <a:xfrm>
            <a:off x="685800" y="230428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 order in this file is a Kalpa Retail order. The same thirty orders come back tomorrow as a file, and they come back again in Week 2 in pandas and in SQL.</a:t>
            </a:r>
          </a:p>
        </p:txBody>
      </p:sp>
      <p:pic>
        <p:nvPicPr>
          <p:cNvPr id="12" name="Picture 11" descr="18ef9b8692bd3bb7.png"/>
          <p:cNvPicPr>
            <a:picLocks noChangeAspect="1"/>
          </p:cNvPicPr>
          <p:nvPr/>
        </p:nvPicPr>
        <p:blipFill>
          <a:blip r:embed="rId2"/>
          <a:stretch>
            <a:fillRect/>
          </a:stretch>
        </p:blipFill>
        <p:spPr>
          <a:xfrm>
            <a:off x="685799" y="4608968"/>
            <a:ext cx="10820095" cy="511279"/>
          </a:xfrm>
          <a:prstGeom prst="rect">
            <a:avLst/>
          </a:prstGeom>
        </p:spPr>
      </p:pic>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answer you just watched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question was "Of these thirty Kalpa Retail orders, how much did we actually collect?"</a:t>
            </a:r>
          </a:p>
          <a:p>
            <a:pPr>
              <a:spcAft>
                <a:spcPts val="900"/>
              </a:spcAft>
            </a:pPr>
            <a:r>
              <a:rPr sz="2000" b="0">
                <a:solidFill>
                  <a:srgbClr val="1C1C1A"/>
                </a:solidFill>
                <a:latin typeface="Calibri"/>
              </a:rPr>
              <a:t>The answer was 13 delivered orders, totalling Rs 25,720.</a:t>
            </a:r>
          </a:p>
          <a:p>
            <a:pPr>
              <a:spcAft>
                <a:spcPts val="900"/>
              </a:spcAft>
            </a:pPr>
            <a:r>
              <a:rPr sz="2000" b="0">
                <a:solidFill>
                  <a:srgbClr val="1C1C1A"/>
                </a:solidFill>
                <a:latin typeface="Calibri"/>
              </a:rPr>
              <a:t>Nobody explained those records to you before the notebook ran, and that is the situation you will be hired into.</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77063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77063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87121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total = 0</a:t>
            </a:r>
          </a:p>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total = total + int(r["amount"])</a:t>
            </a:r>
          </a:p>
        </p:txBody>
      </p:sp>
      <p:sp>
        <p:nvSpPr>
          <p:cNvPr id="9" name="TextBox 8"/>
          <p:cNvSpPr txBox="1"/>
          <p:nvPr/>
        </p:nvSpPr>
        <p:spPr>
          <a:xfrm>
            <a:off x="685800" y="43454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Four lines produced that answer. You will have written this before the day ends.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OPEN THE WORKBENCH</a:t>
            </a:r>
          </a:p>
        </p:txBody>
      </p:sp>
      <p:sp>
        <p:nvSpPr>
          <p:cNvPr id="4" name="Rounded Rectangle 3"/>
          <p:cNvSpPr/>
          <p:nvPr/>
        </p:nvSpPr>
        <p:spPr>
          <a:xfrm>
            <a:off x="685800"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open the workbench</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kernel remembers</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type decides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walk the records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business answer</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1. Half one: the machine that remembers</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a Codespace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Codespace is a computer that GitHub runs for you and shows you inside a browser tab, with VS Code, Python and this repository already on it.</a:t>
            </a:r>
          </a:p>
          <a:p>
            <a:pPr>
              <a:spcAft>
                <a:spcPts val="900"/>
              </a:spcAft>
            </a:pPr>
            <a:r>
              <a:rPr sz="2000" b="0">
                <a:solidFill>
                  <a:srgbClr val="1C1C1A"/>
                </a:solidFill>
                <a:latin typeface="Calibri"/>
              </a:rPr>
              <a:t>Nothing is installed on your laptop and nothing needs to be. The Codespace you open today is the environment for the whole programme.</a:t>
            </a:r>
          </a:p>
        </p:txBody>
      </p:sp>
      <p:pic>
        <p:nvPicPr>
          <p:cNvPr id="7" name="Picture 6" descr="4c957173599c672c.png"/>
          <p:cNvPicPr>
            <a:picLocks noChangeAspect="1"/>
          </p:cNvPicPr>
          <p:nvPr/>
        </p:nvPicPr>
        <p:blipFill>
          <a:blip r:embed="rId2"/>
          <a:stretch>
            <a:fillRect/>
          </a:stretch>
        </p:blipFill>
        <p:spPr>
          <a:xfrm>
            <a:off x="3601757" y="3675887"/>
            <a:ext cx="4988180"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layout, part by part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29536"/>
            <a:ext cx="10820095" cy="3421888"/>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explorer down the left lists the files in the repository, and today's notebook is one of them.</a:t>
            </a:r>
          </a:p>
          <a:p>
            <a:pPr>
              <a:spcAft>
                <a:spcPts val="900"/>
              </a:spcAft>
            </a:pPr>
            <a:r>
              <a:rPr sz="2000" b="0">
                <a:solidFill>
                  <a:srgbClr val="1C1C1A"/>
                </a:solidFill>
                <a:latin typeface="Calibri"/>
              </a:rPr>
              <a:t>The editor in the middle is where the notebook opens, one cell under another.</a:t>
            </a:r>
          </a:p>
          <a:p>
            <a:pPr>
              <a:spcAft>
                <a:spcPts val="900"/>
              </a:spcAft>
            </a:pPr>
            <a:r>
              <a:rPr sz="2000" b="0">
                <a:solidFill>
                  <a:srgbClr val="1C1C1A"/>
                </a:solidFill>
                <a:latin typeface="Calibri"/>
              </a:rPr>
              <a:t>Each cell has a run button on its left, and the output of that cell appears directly under it.</a:t>
            </a:r>
          </a:p>
          <a:p>
            <a:pPr>
              <a:spcAft>
                <a:spcPts val="900"/>
              </a:spcAft>
            </a:pPr>
            <a:r>
              <a:rPr sz="2000" b="0">
                <a:solidFill>
                  <a:srgbClr val="1C1C1A"/>
                </a:solidFill>
                <a:latin typeface="Calibri"/>
              </a:rPr>
              <a:t>The kernel indicator at the top right names the Python that is running your cells.</a:t>
            </a:r>
          </a:p>
          <a:p>
            <a:pPr>
              <a:spcAft>
                <a:spcPts val="900"/>
              </a:spcAft>
            </a:pPr>
            <a:r>
              <a:rPr sz="2000" b="0">
                <a:solidFill>
                  <a:srgbClr val="1C1C1A"/>
                </a:solidFill>
                <a:latin typeface="Calibri"/>
              </a:rPr>
              <a:t>The terminal panel at the bottom is a shell on the same machine, and you have no reason to open it today.</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Running a cell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cell is a box you type Python into, and Shift and Enter runs it.</a:t>
            </a:r>
          </a:p>
          <a:p>
            <a:pPr>
              <a:spcAft>
                <a:spcPts val="900"/>
              </a:spcAft>
            </a:pPr>
            <a:r>
              <a:rPr sz="2000" b="0">
                <a:solidFill>
                  <a:srgbClr val="1C1C1A"/>
                </a:solidFill>
                <a:latin typeface="Calibri"/>
              </a:rPr>
              <a:t>The output appears under the cell you ran, and it stays on screen until you run that cell again.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1</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Open the Codespace from the repository and wait for the editor to finish loading.</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Open the notebook from the explorer on the left.</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Run a cell with Shift and Enter.</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Read the output under the cell before you move on.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THE KERNEL REMEMBERS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open the workbench</a:t>
            </a:r>
          </a:p>
        </p:txBody>
      </p:sp>
      <p:sp>
        <p:nvSpPr>
          <p:cNvPr id="5" name="Rounded Rectangle 4"/>
          <p:cNvSpPr/>
          <p:nvPr/>
        </p:nvSpPr>
        <p:spPr>
          <a:xfrm>
            <a:off x="2871764"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the kernel remembers</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type decides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walk the records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business answer</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1. Half one: the machine that remembers</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bench</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613408"/>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kernel is a workbench that keeps whatever you put on it for as long as it is running.</a:t>
            </a:r>
          </a:p>
          <a:p>
            <a:pPr>
              <a:spcAft>
                <a:spcPts val="800"/>
              </a:spcAft>
            </a:pPr>
            <a:r>
              <a:rPr sz="1700" b="0">
                <a:solidFill>
                  <a:srgbClr val="1C1C1A"/>
                </a:solidFill>
                <a:latin typeface="Calibri"/>
              </a:rPr>
              <a:t>Running a cell is you putting something on the bench. Restarting the kernel sweeps the bench clean, and the file on disk is untouched by that.</a:t>
            </a:r>
          </a:p>
          <a:p>
            <a:pPr>
              <a:spcAft>
                <a:spcPts val="800"/>
              </a:spcAft>
            </a:pPr>
            <a:r>
              <a:rPr sz="1700" b="0">
                <a:solidFill>
                  <a:srgbClr val="1C1C1A"/>
                </a:solidFill>
                <a:latin typeface="Calibri"/>
              </a:rPr>
              <a:t>This picture is the one we use for the rest of the day.</a:t>
            </a:r>
          </a:p>
        </p:txBody>
      </p:sp>
      <p:pic>
        <p:nvPicPr>
          <p:cNvPr id="7" name="Picture 6" descr="7479995596a4da23.png"/>
          <p:cNvPicPr>
            <a:picLocks noChangeAspect="1"/>
          </p:cNvPicPr>
          <p:nvPr/>
        </p:nvPicPr>
        <p:blipFill>
          <a:blip r:embed="rId2"/>
          <a:stretch>
            <a:fillRect/>
          </a:stretch>
        </p:blipFill>
        <p:spPr>
          <a:xfrm>
            <a:off x="685800" y="4415618"/>
            <a:ext cx="10820095" cy="897979"/>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Cells run in the order you run them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notebook is a stack of cells on a screen, and the kernel has no opinion at all about that stack.</a:t>
            </a:r>
          </a:p>
          <a:p>
            <a:pPr>
              <a:spcAft>
                <a:spcPts val="900"/>
              </a:spcAft>
            </a:pPr>
            <a:r>
              <a:rPr sz="2000" b="0">
                <a:solidFill>
                  <a:srgbClr val="1C1C1A"/>
                </a:solidFill>
                <a:latin typeface="Calibri"/>
              </a:rPr>
              <a:t>The kernel sees the order you clicked run in. If you ran the third cell first, then the third cell ran first.</a:t>
            </a:r>
          </a:p>
        </p:txBody>
      </p:sp>
      <p:pic>
        <p:nvPicPr>
          <p:cNvPr id="7" name="Picture 6" descr="2e48a53b63f84a37.png"/>
          <p:cNvPicPr>
            <a:picLocks noChangeAspect="1"/>
          </p:cNvPicPr>
          <p:nvPr/>
        </p:nvPicPr>
        <p:blipFill>
          <a:blip r:embed="rId2"/>
          <a:stretch>
            <a:fillRect/>
          </a:stretch>
        </p:blipFill>
        <p:spPr>
          <a:xfrm>
            <a:off x="2262367" y="3675887"/>
            <a:ext cx="7666959"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execution counter is the truth</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22300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number in square brackets to the left of a cell counts the runs the kernel has done.</a:t>
            </a:r>
          </a:p>
        </p:txBody>
      </p:sp>
      <p:sp>
        <p:nvSpPr>
          <p:cNvPr id="7" name="Rectangle 6"/>
          <p:cNvSpPr/>
          <p:nvPr/>
        </p:nvSpPr>
        <p:spPr>
          <a:xfrm>
            <a:off x="685800" y="3261360"/>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261360"/>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361944"/>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[2]  records = [ ... ]</a:t>
            </a:r>
          </a:p>
          <a:p>
            <a:pPr>
              <a:spcAft>
                <a:spcPts val="200"/>
              </a:spcAft>
            </a:pPr>
            <a:r>
              <a:rPr sz="1600" b="0">
                <a:solidFill>
                  <a:srgbClr val="E4ECF7"/>
                </a:solidFill>
                <a:latin typeface="Consolas"/>
              </a:rPr>
              <a:t>[3]  count = 0</a:t>
            </a:r>
          </a:p>
          <a:p>
            <a:pPr>
              <a:spcAft>
                <a:spcPts val="200"/>
              </a:spcAft>
            </a:pPr>
            <a:r>
              <a:rPr sz="1600" b="0">
                <a:solidFill>
                  <a:srgbClr val="E4ECF7"/>
                </a:solidFill>
                <a:latin typeface="Consolas"/>
              </a:rPr>
              <a:t>[1]  for r in records:</a:t>
            </a:r>
          </a:p>
        </p:txBody>
      </p:sp>
      <p:sp>
        <p:nvSpPr>
          <p:cNvPr id="10" name="TextBox 9"/>
          <p:cNvSpPr txBox="1"/>
          <p:nvPr/>
        </p:nvSpPr>
        <p:spPr>
          <a:xfrm>
            <a:off x="685800" y="4547615"/>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cell at the bottom of the screen ran first. Read the counters, never the positions.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Applied to Kalpa: the counters on today's notebook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setup cell that loads the thirty Kalpa Retail orders carries counter [1] on a clean kernel, and every later counter climbs from there without a gap.</a:t>
            </a:r>
          </a:p>
          <a:p>
            <a:pPr>
              <a:spcAft>
                <a:spcPts val="900"/>
              </a:spcAft>
            </a:pPr>
            <a:r>
              <a:rPr sz="2000" b="0">
                <a:solidFill>
                  <a:srgbClr val="1C1C1A"/>
                </a:solidFill>
                <a:latin typeface="Calibri"/>
              </a:rPr>
              <a:t>A gap in that sequence means somebody ran a cell, edited it and ran something else, so the output you are reading came from code that no longer exists on the page.</a:t>
            </a:r>
          </a:p>
          <a:p>
            <a:pPr>
              <a:spcAft>
                <a:spcPts val="900"/>
              </a:spcAft>
            </a:pPr>
            <a:r>
              <a:rPr sz="2000" b="0">
                <a:solidFill>
                  <a:srgbClr val="1C1C1A"/>
                </a:solidFill>
                <a:latin typeface="Calibri"/>
              </a:rPr>
              <a:t>Read the counters before you read the outputs, every time you open a notebook somebody else ran.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break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314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314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372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NameError: name 'records' is not defined</a:t>
            </a:r>
          </a:p>
        </p:txBody>
      </p:sp>
      <p:sp>
        <p:nvSpPr>
          <p:cNvPr id="9" name="TextBox 8"/>
          <p:cNvSpPr txBox="1"/>
          <p:nvPr/>
        </p:nvSpPr>
        <p:spPr>
          <a:xfrm>
            <a:off x="685800" y="3512312"/>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ran the counting cell before the setup cell, so the name records was never put on the bench and the kernel had nothing to hand your loop.</a:t>
            </a:r>
          </a:p>
          <a:p>
            <a:pPr>
              <a:spcAft>
                <a:spcPts val="900"/>
              </a:spcAft>
            </a:pPr>
            <a:r>
              <a:rPr sz="2000" b="0">
                <a:solidFill>
                  <a:srgbClr val="1C1C1A"/>
                </a:solidFill>
                <a:latin typeface="Calibri"/>
              </a:rPr>
              <a:t>The error names the exact word it went looking for.</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recovery drill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48db783d6d6abd6c.png"/>
          <p:cNvPicPr>
            <a:picLocks noChangeAspect="1"/>
          </p:cNvPicPr>
          <p:nvPr/>
        </p:nvPicPr>
        <p:blipFill>
          <a:blip r:embed="rId2"/>
          <a:stretch>
            <a:fillRect/>
          </a:stretch>
        </p:blipFill>
        <p:spPr>
          <a:xfrm>
            <a:off x="4370005" y="1517904"/>
            <a:ext cx="3451684" cy="2979928"/>
          </a:xfrm>
          <a:prstGeom prst="rect">
            <a:avLst/>
          </a:prstGeom>
        </p:spPr>
      </p:pic>
      <p:sp>
        <p:nvSpPr>
          <p:cNvPr id="7" name="TextBox 6"/>
          <p:cNvSpPr txBox="1"/>
          <p:nvPr/>
        </p:nvSpPr>
        <p:spPr>
          <a:xfrm>
            <a:off x="685800" y="4543552"/>
            <a:ext cx="10820095" cy="1509775"/>
          </a:xfrm>
          <a:prstGeom prst="rect">
            <a:avLst/>
          </a:prstGeom>
          <a:noFill/>
        </p:spPr>
        <p:txBody>
          <a:bodyPr wrap="square" anchor="t" lIns="0" rIns="0" tIns="0" bIns="0">
            <a:spAutoFit/>
          </a:bodyPr>
          <a:lstStyle/>
          <a:p>
            <a:r>
              <a:rPr sz="2000" b="0">
                <a:solidFill>
                  <a:srgbClr val="1C1C1A"/>
                </a:solidFill>
                <a:latin typeface="Calibri"/>
              </a:rPr>
              <a:t>Restart the kernel, then run all cells from the top. You are back where you were, in a few seconds. The file on disk never changed. What you lost was the state on the bench, and the cells put that state straight back. Do the drill now on purpose, because you will do it many times this week.</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2</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The kernel holds what you gave it until you restart it.</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Run order is what the kernel sees, and screen order is what you see.</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Read the execution counter first when an output surprises you.</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Restart and run all is the recovery, and it costs you seconds.</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TYPE DECIDES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open the workbench</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kernel remembers</a:t>
            </a:r>
          </a:p>
        </p:txBody>
      </p:sp>
      <p:sp>
        <p:nvSpPr>
          <p:cNvPr id="6" name="Rounded Rectangle 5"/>
          <p:cNvSpPr/>
          <p:nvPr/>
        </p:nvSpPr>
        <p:spPr>
          <a:xfrm>
            <a:off x="5057729"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type decides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walk the records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the business answer</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1. Half one: the machine that remembers</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Four types you meet today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930400"/>
          </a:xfrm>
          <a:prstGeom prst="rect">
            <a:avLst/>
          </a:prstGeom>
          <a:noFill/>
        </p:spPr>
        <p:txBody>
          <a:bodyPr wrap="square" anchor="t" lIns="0" rIns="0" tIns="0" bIns="0">
            <a:spAutoFit/>
          </a:bodyPr>
          <a:lstStyle/>
          <a:p>
            <a:pPr>
              <a:spcAft>
                <a:spcPts val="900"/>
              </a:spcAft>
            </a:pPr>
            <a:r>
              <a:rPr sz="2000" b="0">
                <a:solidFill>
                  <a:srgbClr val="1C1C1A"/>
                </a:solidFill>
                <a:latin typeface="Calibri"/>
              </a:rPr>
              <a:t>str holds text, like the order id "KR4224" and the status "delivered".</a:t>
            </a:r>
          </a:p>
          <a:p>
            <a:pPr>
              <a:spcAft>
                <a:spcPts val="900"/>
              </a:spcAft>
            </a:pPr>
            <a:r>
              <a:rPr sz="2000" b="0">
                <a:solidFill>
                  <a:srgbClr val="1C1C1A"/>
                </a:solidFill>
                <a:latin typeface="Calibri"/>
              </a:rPr>
              <a:t>int holds a whole number, like the amount 1460.</a:t>
            </a:r>
          </a:p>
          <a:p>
            <a:pPr>
              <a:spcAft>
                <a:spcPts val="900"/>
              </a:spcAft>
            </a:pPr>
            <a:r>
              <a:rPr sz="2000" b="0">
                <a:solidFill>
                  <a:srgbClr val="1C1C1A"/>
                </a:solidFill>
                <a:latin typeface="Calibri"/>
              </a:rPr>
              <a:t>float holds a number with a decimal part, like 1460.5.</a:t>
            </a:r>
          </a:p>
          <a:p>
            <a:pPr>
              <a:spcAft>
                <a:spcPts val="900"/>
              </a:spcAft>
            </a:pPr>
            <a:r>
              <a:rPr sz="2000" b="0">
                <a:solidFill>
                  <a:srgbClr val="1C1C1A"/>
                </a:solidFill>
                <a:latin typeface="Calibri"/>
              </a:rPr>
              <a:t>bool holds True or False, which is what every comparison hands back.</a:t>
            </a:r>
          </a:p>
        </p:txBody>
      </p:sp>
      <p:pic>
        <p:nvPicPr>
          <p:cNvPr id="7" name="Picture 6" descr="30303fda5a6e110f.png"/>
          <p:cNvPicPr>
            <a:picLocks noChangeAspect="1"/>
          </p:cNvPicPr>
          <p:nvPr/>
        </p:nvPicPr>
        <p:blipFill>
          <a:blip r:embed="rId2"/>
          <a:stretch>
            <a:fillRect/>
          </a:stretch>
        </p:blipFill>
        <p:spPr>
          <a:xfrm>
            <a:off x="4220590" y="3686047"/>
            <a:ext cx="3750514" cy="236728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type() is the question you ask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9791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9791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9849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type("4500")        &lt;class 'str'&gt;</a:t>
            </a:r>
          </a:p>
          <a:p>
            <a:pPr>
              <a:spcAft>
                <a:spcPts val="200"/>
              </a:spcAft>
            </a:pPr>
            <a:r>
              <a:rPr sz="1600" b="0">
                <a:solidFill>
                  <a:srgbClr val="E4ECF7"/>
                </a:solidFill>
                <a:latin typeface="Consolas"/>
              </a:rPr>
              <a:t>type(4500)          &lt;class 'int'&gt;</a:t>
            </a:r>
          </a:p>
          <a:p>
            <a:pPr>
              <a:spcAft>
                <a:spcPts val="200"/>
              </a:spcAft>
            </a:pPr>
            <a:r>
              <a:rPr sz="1600" b="0">
                <a:solidFill>
                  <a:srgbClr val="E4ECF7"/>
                </a:solidFill>
                <a:latin typeface="Consolas"/>
              </a:rPr>
              <a:t>type(4500.0)        &lt;class 'float'&gt;</a:t>
            </a:r>
          </a:p>
          <a:p>
            <a:pPr>
              <a:spcAft>
                <a:spcPts val="200"/>
              </a:spcAft>
            </a:pPr>
            <a:r>
              <a:rPr sz="1600" b="0">
                <a:solidFill>
                  <a:srgbClr val="E4ECF7"/>
                </a:solidFill>
                <a:latin typeface="Consolas"/>
              </a:rPr>
              <a:t>type(4500 &gt; 2000)   &lt;class 'bool'&gt;</a:t>
            </a:r>
          </a:p>
        </p:txBody>
      </p:sp>
      <p:sp>
        <p:nvSpPr>
          <p:cNvPr id="9" name="TextBox 8"/>
          <p:cNvSpPr txBox="1"/>
          <p:nvPr/>
        </p:nvSpPr>
        <p:spPr>
          <a:xfrm>
            <a:off x="685800" y="41727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When an operator behaves in a way you did not expect, ask the value what it is before you change any code.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Look at the record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70328"/>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370328"/>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470912"/>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{"order_id": "KR4200", "segment": "Retail-Core", "amount": "4500", "status": "returned", "order_date": "2026-08-03"}</a:t>
            </a:r>
          </a:p>
          <a:p>
            <a:pPr>
              <a:spcAft>
                <a:spcPts val="200"/>
              </a:spcAft>
            </a:pPr>
            <a:r>
              <a:rPr sz="1600" b="0">
                <a:solidFill>
                  <a:srgbClr val="E4ECF7"/>
                </a:solidFill>
                <a:latin typeface="Consolas"/>
              </a:rPr>
              <a:t>{"order_id": "KR4201", "segment": "Retail-Plus", "amount": 2395, "status": "delivered", "order_date": "2026-08-03"}</a:t>
            </a:r>
          </a:p>
        </p:txBody>
      </p:sp>
      <p:sp>
        <p:nvSpPr>
          <p:cNvPr id="9" name="TextBox 8"/>
          <p:cNvSpPr txBox="1"/>
          <p:nvPr/>
        </p:nvSpPr>
        <p:spPr>
          <a:xfrm>
            <a:off x="685800" y="39451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of those two amounts is wearing quotes. Read the two lines again and find it.</a:t>
            </a:r>
          </a:p>
          <a:p>
            <a:pPr>
              <a:spcAft>
                <a:spcPts val="900"/>
              </a:spcAft>
            </a:pPr>
            <a:r>
              <a:rPr sz="2000" b="0">
                <a:solidFill>
                  <a:srgbClr val="1C1C1A"/>
                </a:solidFill>
                <a:latin typeface="Calibri"/>
              </a:rPr>
              <a:t>KR4200 stores its amount as the text "4500", and it is the largest amount in the file.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break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ea4710cc4c1eeb0.png"/>
          <p:cNvPicPr>
            <a:picLocks noChangeAspect="1"/>
          </p:cNvPicPr>
          <p:nvPr/>
        </p:nvPicPr>
        <p:blipFill>
          <a:blip r:embed="rId2"/>
          <a:stretch>
            <a:fillRect/>
          </a:stretch>
        </p:blipFill>
        <p:spPr>
          <a:xfrm>
            <a:off x="1027615" y="1627632"/>
            <a:ext cx="3969010" cy="4425696"/>
          </a:xfrm>
          <a:prstGeom prst="rect">
            <a:avLst/>
          </a:prstGeom>
        </p:spPr>
      </p:pic>
      <p:sp>
        <p:nvSpPr>
          <p:cNvPr id="7" name="Rectangle 6"/>
          <p:cNvSpPr/>
          <p:nvPr/>
        </p:nvSpPr>
        <p:spPr>
          <a:xfrm>
            <a:off x="5771244" y="2214880"/>
            <a:ext cx="5734650"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2214880"/>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2315464"/>
            <a:ext cx="5332314"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amount = "4500"</a:t>
            </a:r>
          </a:p>
          <a:p>
            <a:pPr>
              <a:spcAft>
                <a:spcPts val="200"/>
              </a:spcAft>
            </a:pPr>
            <a:r>
              <a:rPr sz="1600" b="0">
                <a:solidFill>
                  <a:srgbClr val="E4ECF7"/>
                </a:solidFill>
                <a:latin typeface="Consolas"/>
              </a:rPr>
              <a:t>amount &gt; 2000</a:t>
            </a:r>
          </a:p>
        </p:txBody>
      </p:sp>
      <p:sp>
        <p:nvSpPr>
          <p:cNvPr id="10" name="Rectangle 9"/>
          <p:cNvSpPr/>
          <p:nvPr/>
        </p:nvSpPr>
        <p:spPr>
          <a:xfrm>
            <a:off x="5771244" y="3212592"/>
            <a:ext cx="5734650"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771244" y="321259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08988" y="3313176"/>
            <a:ext cx="5332314"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TypeError: '&gt;' not supported between instances of 'str' and 'int'</a:t>
            </a:r>
          </a:p>
        </p:txBody>
      </p:sp>
      <p:sp>
        <p:nvSpPr>
          <p:cNvPr id="13" name="TextBox 12"/>
          <p:cNvSpPr txBox="1"/>
          <p:nvPr/>
        </p:nvSpPr>
        <p:spPr>
          <a:xfrm>
            <a:off x="5771244" y="4210304"/>
            <a:ext cx="5734650"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Python was asked whether a piece of text is greater than a number. It stopped and named both types it was holding.</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From the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Mars Climate Orbiter, 1999. A value crossed a system boundary in the wrong unit, nothing validated it, and the mission, about USD 327 million, was lost.</a:t>
            </a:r>
          </a:p>
          <a:p>
            <a:pPr>
              <a:spcAft>
                <a:spcPts val="900"/>
              </a:spcAft>
            </a:pPr>
            <a:r>
              <a:rPr sz="2000" b="0">
                <a:solidFill>
                  <a:srgbClr val="1C1C1A"/>
                </a:solidFill>
                <a:latin typeface="Calibri"/>
              </a:rPr>
              <a:t>Today's type discipline is the small version of that lesson.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Refusing beats guessing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spreadsheet would place that text amount somewhere in the sort order and show you a number with no warning attached to it.</a:t>
            </a:r>
          </a:p>
          <a:p>
            <a:pPr>
              <a:spcAft>
                <a:spcPts val="900"/>
              </a:spcAft>
            </a:pPr>
            <a:r>
              <a:rPr sz="2000" b="0">
                <a:solidFill>
                  <a:srgbClr val="1C1C1A"/>
                </a:solidFill>
                <a:latin typeface="Calibri"/>
              </a:rPr>
              <a:t>Python refuses the comparison and tells you which two types it was holding. You lose ten seconds and you keep the truth.</a:t>
            </a:r>
          </a:p>
          <a:p>
            <a:pPr>
              <a:spcAft>
                <a:spcPts val="900"/>
              </a:spcAft>
            </a:pPr>
            <a:r>
              <a:rPr sz="2000" b="0">
                <a:solidFill>
                  <a:srgbClr val="1C1C1A"/>
                </a:solidFill>
                <a:latin typeface="Calibri"/>
              </a:rPr>
              <a:t>That is your answer when someone asks why the error was the good outcome.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is '10' &gt; 9 True, or an error?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Take thirty seconds and commit to one of these four before the next slide.</a:t>
            </a:r>
          </a:p>
          <a:p>
            <a:pPr>
              <a:spcAft>
                <a:spcPts val="900"/>
              </a:spcAft>
            </a:pPr>
            <a:r>
              <a:rPr sz="2000" b="0">
                <a:solidFill>
                  <a:srgbClr val="1C1C1A"/>
                </a:solidFill>
                <a:latin typeface="Calibri"/>
              </a:rPr>
              <a:t>a) True, since ten is larger than nine</a:t>
            </a:r>
          </a:p>
          <a:p>
            <a:pPr>
              <a:spcAft>
                <a:spcPts val="900"/>
              </a:spcAft>
            </a:pPr>
            <a:r>
              <a:rPr sz="2000" b="0">
                <a:solidFill>
                  <a:srgbClr val="1C1C1A"/>
                </a:solidFill>
                <a:latin typeface="Calibri"/>
              </a:rPr>
              <a:t>b) False, since the quotes make it text and text sorts differently</a:t>
            </a:r>
          </a:p>
          <a:p>
            <a:pPr>
              <a:spcAft>
                <a:spcPts val="900"/>
              </a:spcAft>
            </a:pPr>
            <a:r>
              <a:rPr sz="2000" b="0">
                <a:solidFill>
                  <a:srgbClr val="1C1C1A"/>
                </a:solidFill>
                <a:latin typeface="Calibri"/>
              </a:rPr>
              <a:t>c) A TypeError, because the two sides are different kinds of thing</a:t>
            </a:r>
          </a:p>
          <a:p>
            <a:pPr>
              <a:spcAft>
                <a:spcPts val="900"/>
              </a:spcAft>
            </a:pPr>
            <a:r>
              <a:rPr sz="2000" b="0">
                <a:solidFill>
                  <a:srgbClr val="1C1C1A"/>
                </a:solidFill>
                <a:latin typeface="Calibri"/>
              </a:rPr>
              <a:t>d) It depends on the version of Python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it raises, and refusing is safer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'10' &gt; 9 raises TypeError: '&gt;' not supported between instances of 'str' and 'int', and Python names both types while it refuses.</a:t>
            </a:r>
          </a:p>
        </p:txBody>
      </p:sp>
      <p:graphicFrame>
        <p:nvGraphicFramePr>
          <p:cNvPr id="9" name="Table 8"/>
          <p:cNvGraphicFramePr>
            <a:graphicFrameLocks noGrp="1"/>
          </p:cNvGraphicFramePr>
          <p:nvPr/>
        </p:nvGraphicFramePr>
        <p:xfrm>
          <a:off x="685800" y="2643124"/>
          <a:ext cx="10820094" cy="2083816"/>
        </p:xfrm>
        <a:graphic>
          <a:graphicData uri="http://schemas.openxmlformats.org/drawingml/2006/table">
            <a:tbl>
              <a:tblPr firstRow="0" bandRow="0">
                <a:tableStyleId>{2D5ABB26-0587-4C30-8999-92F81FD0307C}</a:tableStyleId>
              </a:tblPr>
              <a:tblGrid>
                <a:gridCol w="3522828"/>
                <a:gridCol w="7297266"/>
              </a:tblGrid>
              <a:tr h="352552">
                <a:tc>
                  <a:txBody>
                    <a:bodyPr/>
                    <a:lstStyle/>
                    <a:p>
                      <a:r>
                        <a:rPr sz="1400" b="1">
                          <a:solidFill>
                            <a:srgbClr val="FFFFFF"/>
                          </a:solidFill>
                          <a:latin typeface="Calibri"/>
                        </a:rPr>
                        <a:t>Option</a:t>
                      </a:r>
                    </a:p>
                  </a:txBody>
                  <a:tcPr marL="101600" marR="101600" marT="38100" marB="38100" anchor="ctr">
                    <a:solidFill>
                      <a:srgbClr val="2B4A7D"/>
                    </a:solidFill>
                  </a:tcPr>
                </a:tc>
                <a:tc>
                  <a:txBody>
                    <a:bodyPr/>
                    <a:lstStyle/>
                    <a:p>
                      <a:r>
                        <a:rPr sz="1400" b="1">
                          <a:solidFill>
                            <a:srgbClr val="FFFFFF"/>
                          </a:solidFill>
                          <a:latin typeface="Calibri"/>
                        </a:rPr>
                        <a:t>Why it does not hold</a:t>
                      </a:r>
                    </a:p>
                  </a:txBody>
                  <a:tcPr marL="101600" marR="101600" marT="38100" marB="38100" anchor="ctr">
                    <a:solidFill>
                      <a:srgbClr val="2B4A7D"/>
                    </a:solidFill>
                  </a:tcPr>
                </a:tc>
              </a:tr>
              <a:tr h="577088">
                <a:tc>
                  <a:txBody>
                    <a:bodyPr/>
                    <a:lstStyle/>
                    <a:p>
                      <a:r>
                        <a:rPr sz="1300" b="0">
                          <a:solidFill>
                            <a:srgbClr val="1C1C1A"/>
                          </a:solidFill>
                          <a:latin typeface="Calibri"/>
                        </a:rPr>
                        <a:t>a) True</a:t>
                      </a:r>
                    </a:p>
                  </a:txBody>
                  <a:tcPr marL="101600" marR="101600" marT="38100" marB="38100" anchor="ctr">
                    <a:solidFill>
                      <a:srgbClr val="FFFFFF"/>
                    </a:solidFill>
                  </a:tcPr>
                </a:tc>
                <a:tc>
                  <a:txBody>
                    <a:bodyPr/>
                    <a:lstStyle/>
                    <a:p>
                      <a:r>
                        <a:rPr sz="1300" b="0">
                          <a:solidFill>
                            <a:srgbClr val="1C1C1A"/>
                          </a:solidFill>
                          <a:latin typeface="Calibri"/>
                        </a:rPr>
                        <a:t>Reads the digits and ignores the quotes. Python has no rule that converts one side to match the other.</a:t>
                      </a:r>
                    </a:p>
                  </a:txBody>
                  <a:tcPr marL="101600" marR="101600" marT="38100" marB="38100" anchor="ctr">
                    <a:solidFill>
                      <a:srgbClr val="FFFFFF"/>
                    </a:solidFill>
                  </a:tcPr>
                </a:tc>
              </a:tr>
              <a:tr h="577088">
                <a:tc>
                  <a:txBody>
                    <a:bodyPr/>
                    <a:lstStyle/>
                    <a:p>
                      <a:r>
                        <a:rPr sz="1300" b="0">
                          <a:solidFill>
                            <a:srgbClr val="1C1C1A"/>
                          </a:solidFill>
                          <a:latin typeface="Calibri"/>
                        </a:rPr>
                        <a:t>b) False</a:t>
                      </a:r>
                    </a:p>
                  </a:txBody>
                  <a:tcPr marL="101600" marR="101600" marT="38100" marB="38100" anchor="ctr">
                    <a:solidFill>
                      <a:srgbClr val="F7F7F5"/>
                    </a:solidFill>
                  </a:tcPr>
                </a:tc>
                <a:tc>
                  <a:txBody>
                    <a:bodyPr/>
                    <a:lstStyle/>
                    <a:p>
                      <a:r>
                        <a:rPr sz="1300" b="0">
                          <a:solidFill>
                            <a:srgbClr val="1C1C1A"/>
                          </a:solidFill>
                          <a:latin typeface="Calibri"/>
                        </a:rPr>
                        <a:t>Would be the answer if both sides were text, since '10' &gt; '9' really is False. One side is a number here.</a:t>
                      </a:r>
                    </a:p>
                  </a:txBody>
                  <a:tcPr marL="101600" marR="101600" marT="38100" marB="38100" anchor="ctr">
                    <a:solidFill>
                      <a:srgbClr val="F7F7F5"/>
                    </a:solidFill>
                  </a:tcPr>
                </a:tc>
              </a:tr>
              <a:tr h="577088">
                <a:tc>
                  <a:txBody>
                    <a:bodyPr/>
                    <a:lstStyle/>
                    <a:p>
                      <a:r>
                        <a:rPr sz="1300" b="0">
                          <a:solidFill>
                            <a:srgbClr val="1C1C1A"/>
                          </a:solidFill>
                          <a:latin typeface="Calibri"/>
                        </a:rPr>
                        <a:t>d) It depends on the version</a:t>
                      </a:r>
                    </a:p>
                  </a:txBody>
                  <a:tcPr marL="101600" marR="101600" marT="38100" marB="38100" anchor="ctr">
                    <a:solidFill>
                      <a:srgbClr val="FFFFFF"/>
                    </a:solidFill>
                  </a:tcPr>
                </a:tc>
                <a:tc>
                  <a:txBody>
                    <a:bodyPr/>
                    <a:lstStyle/>
                    <a:p>
                      <a:r>
                        <a:rPr sz="1300" b="0">
                          <a:solidFill>
                            <a:srgbClr val="1C1C1A"/>
                          </a:solidFill>
                          <a:latin typeface="Calibri"/>
                        </a:rPr>
                        <a:t>Python 2 compared across types and produced an order nobody could defend. Python 3 removed it on purpose.</a:t>
                      </a:r>
                    </a:p>
                  </a:txBody>
                  <a:tcPr marL="101600" marR="101600" marT="38100" marB="38100" anchor="ctr">
                    <a:solidFill>
                      <a:srgbClr val="FFFFFF"/>
                    </a:solidFill>
                  </a:tcPr>
                </a:tc>
              </a:tr>
            </a:tbl>
          </a:graphicData>
        </a:graphic>
      </p:graphicFrame>
      <p:sp>
        <p:nvSpPr>
          <p:cNvPr id="10" name="Rectangle 9"/>
          <p:cNvSpPr/>
          <p:nvPr/>
        </p:nvSpPr>
        <p:spPr>
          <a:xfrm>
            <a:off x="685800" y="498297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98297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5074412"/>
            <a:ext cx="10362895" cy="704595"/>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A spreadsheet guesses and shows you a total. Python refuses and shows you both types. You lose ten seconds and keep the truth.</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Comparison operators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9791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9791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9849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2395 &gt; 2000                   True</a:t>
            </a:r>
          </a:p>
          <a:p>
            <a:pPr>
              <a:spcAft>
                <a:spcPts val="200"/>
              </a:spcAft>
            </a:pPr>
            <a:r>
              <a:rPr sz="1600" b="0">
                <a:solidFill>
                  <a:srgbClr val="E4ECF7"/>
                </a:solidFill>
                <a:latin typeface="Consolas"/>
              </a:rPr>
              <a:t>2395 &gt;= 2395                  True</a:t>
            </a:r>
          </a:p>
          <a:p>
            <a:pPr>
              <a:spcAft>
                <a:spcPts val="200"/>
              </a:spcAft>
            </a:pPr>
            <a:r>
              <a:rPr sz="1600" b="0">
                <a:solidFill>
                  <a:srgbClr val="E4ECF7"/>
                </a:solidFill>
                <a:latin typeface="Consolas"/>
              </a:rPr>
              <a:t>"delivered" == "delivered"    True</a:t>
            </a:r>
          </a:p>
          <a:p>
            <a:pPr>
              <a:spcAft>
                <a:spcPts val="200"/>
              </a:spcAft>
            </a:pPr>
            <a:r>
              <a:rPr sz="1600" b="0">
                <a:solidFill>
                  <a:srgbClr val="E4ECF7"/>
                </a:solidFill>
                <a:latin typeface="Consolas"/>
              </a:rPr>
              <a:t>"delivered" != "returned"     True</a:t>
            </a:r>
          </a:p>
        </p:txBody>
      </p:sp>
      <p:sp>
        <p:nvSpPr>
          <p:cNvPr id="9" name="TextBox 8"/>
          <p:cNvSpPr txBox="1"/>
          <p:nvPr/>
        </p:nvSpPr>
        <p:spPr>
          <a:xfrm>
            <a:off x="685800" y="41727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Each of these hands back a bool, and the if statement reads that bool and nothing else.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if, elif and else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98b9cc313d70196.png"/>
          <p:cNvPicPr>
            <a:picLocks noChangeAspect="1"/>
          </p:cNvPicPr>
          <p:nvPr/>
        </p:nvPicPr>
        <p:blipFill>
          <a:blip r:embed="rId2"/>
          <a:stretch>
            <a:fillRect/>
          </a:stretch>
        </p:blipFill>
        <p:spPr>
          <a:xfrm>
            <a:off x="1815847" y="1627632"/>
            <a:ext cx="2392545" cy="4425696"/>
          </a:xfrm>
          <a:prstGeom prst="rect">
            <a:avLst/>
          </a:prstGeom>
        </p:spPr>
      </p:pic>
      <p:sp>
        <p:nvSpPr>
          <p:cNvPr id="7" name="Rectangle 6"/>
          <p:cNvSpPr/>
          <p:nvPr/>
        </p:nvSpPr>
        <p:spPr>
          <a:xfrm>
            <a:off x="5771244" y="1992376"/>
            <a:ext cx="5734650" cy="22758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992376"/>
            <a:ext cx="50292" cy="22758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2092960"/>
            <a:ext cx="5332314" cy="209295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amount = 1460</a:t>
            </a:r>
          </a:p>
          <a:p>
            <a:pPr>
              <a:spcAft>
                <a:spcPts val="200"/>
              </a:spcAft>
            </a:pPr>
            <a:r>
              <a:rPr sz="1600" b="0">
                <a:solidFill>
                  <a:srgbClr val="E4ECF7"/>
                </a:solidFill>
                <a:latin typeface="Consolas"/>
              </a:rPr>
              <a:t>if amount &gt; 2000:</a:t>
            </a:r>
          </a:p>
          <a:p>
            <a:pPr>
              <a:spcAft>
                <a:spcPts val="200"/>
              </a:spcAft>
            </a:pPr>
            <a:r>
              <a:rPr sz="1600" b="0">
                <a:solidFill>
                  <a:srgbClr val="E4ECF7"/>
                </a:solidFill>
                <a:latin typeface="Consolas"/>
              </a:rPr>
              <a:t>    band = "large"</a:t>
            </a:r>
          </a:p>
          <a:p>
            <a:pPr>
              <a:spcAft>
                <a:spcPts val="200"/>
              </a:spcAft>
            </a:pPr>
            <a:r>
              <a:rPr sz="1600" b="0">
                <a:solidFill>
                  <a:srgbClr val="E4ECF7"/>
                </a:solidFill>
                <a:latin typeface="Consolas"/>
              </a:rPr>
              <a:t>elif amount &gt; 1500:</a:t>
            </a:r>
          </a:p>
          <a:p>
            <a:pPr>
              <a:spcAft>
                <a:spcPts val="200"/>
              </a:spcAft>
            </a:pPr>
            <a:r>
              <a:rPr sz="1600" b="0">
                <a:solidFill>
                  <a:srgbClr val="E4ECF7"/>
                </a:solidFill>
                <a:latin typeface="Consolas"/>
              </a:rPr>
              <a:t>    band = "medium"</a:t>
            </a:r>
          </a:p>
          <a:p>
            <a:pPr>
              <a:spcAft>
                <a:spcPts val="200"/>
              </a:spcAft>
            </a:pPr>
            <a:r>
              <a:rPr sz="1600" b="0">
                <a:solidFill>
                  <a:srgbClr val="E4ECF7"/>
                </a:solidFill>
                <a:latin typeface="Consolas"/>
              </a:rPr>
              <a:t>else:</a:t>
            </a:r>
          </a:p>
          <a:p>
            <a:pPr>
              <a:spcAft>
                <a:spcPts val="200"/>
              </a:spcAft>
            </a:pPr>
            <a:r>
              <a:rPr sz="1600" b="0">
                <a:solidFill>
                  <a:srgbClr val="E4ECF7"/>
                </a:solidFill>
                <a:latin typeface="Consolas"/>
              </a:rPr>
              <a:t>    band = "small"</a:t>
            </a:r>
          </a:p>
        </p:txBody>
      </p:sp>
      <p:sp>
        <p:nvSpPr>
          <p:cNvPr id="10" name="TextBox 9"/>
          <p:cNvSpPr txBox="1"/>
          <p:nvPr/>
        </p:nvSpPr>
        <p:spPr>
          <a:xfrm>
            <a:off x="5771244" y="4432808"/>
            <a:ext cx="5734650"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Python tries the conditions from the top and stops at the first one that is True, so band holds "small" here.</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loop walks the stack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67280"/>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dataset is a stack of cards, and the loop deals you one card at a time and calls it r.</a:t>
            </a:r>
          </a:p>
        </p:txBody>
      </p:sp>
      <p:sp>
        <p:nvSpPr>
          <p:cNvPr id="7" name="Rectangle 6"/>
          <p:cNvSpPr/>
          <p:nvPr/>
        </p:nvSpPr>
        <p:spPr>
          <a:xfrm>
            <a:off x="685800" y="340563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40563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50621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print(r["order_id"])</a:t>
            </a:r>
          </a:p>
        </p:txBody>
      </p:sp>
      <p:sp>
        <p:nvSpPr>
          <p:cNvPr id="10" name="TextBox 9"/>
          <p:cNvSpPr txBox="1"/>
          <p:nvPr/>
        </p:nvSpPr>
        <p:spPr>
          <a:xfrm>
            <a:off x="685800" y="440334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Thirty records means thirty turns through the indented lines. The way a field is fetched by its name gets its proper treatment in half two.</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count accumulator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1f54a66c111c316.png"/>
          <p:cNvPicPr>
            <a:picLocks noChangeAspect="1"/>
          </p:cNvPicPr>
          <p:nvPr/>
        </p:nvPicPr>
        <p:blipFill>
          <a:blip r:embed="rId2"/>
          <a:stretch>
            <a:fillRect/>
          </a:stretch>
        </p:blipFill>
        <p:spPr>
          <a:xfrm>
            <a:off x="1177224" y="1627632"/>
            <a:ext cx="3669792" cy="4425696"/>
          </a:xfrm>
          <a:prstGeom prst="rect">
            <a:avLst/>
          </a:prstGeom>
        </p:spPr>
      </p:pic>
      <p:sp>
        <p:nvSpPr>
          <p:cNvPr id="7" name="Rectangle 6"/>
          <p:cNvSpPr/>
          <p:nvPr/>
        </p:nvSpPr>
        <p:spPr>
          <a:xfrm>
            <a:off x="5771244" y="1627632"/>
            <a:ext cx="5734650" cy="1987295"/>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98729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1728216"/>
            <a:ext cx="5332314" cy="1804415"/>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count = 0</a:t>
            </a:r>
          </a:p>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count = count + 1</a:t>
            </a:r>
          </a:p>
          <a:p>
            <a:pPr>
              <a:spcAft>
                <a:spcPts val="200"/>
              </a:spcAft>
            </a:pPr>
          </a:p>
          <a:p>
            <a:pPr>
              <a:spcAft>
                <a:spcPts val="200"/>
              </a:spcAft>
            </a:pPr>
            <a:r>
              <a:rPr sz="1600" b="0">
                <a:solidFill>
                  <a:srgbClr val="E4ECF7"/>
                </a:solidFill>
                <a:latin typeface="Consolas"/>
              </a:rPr>
              <a:t>print(count)</a:t>
            </a:r>
          </a:p>
        </p:txBody>
      </p:sp>
      <p:sp>
        <p:nvSpPr>
          <p:cNvPr id="10" name="Rectangle 9"/>
          <p:cNvSpPr/>
          <p:nvPr/>
        </p:nvSpPr>
        <p:spPr>
          <a:xfrm>
            <a:off x="5771244" y="3779519"/>
            <a:ext cx="5734650"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771244" y="3779519"/>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08988" y="3880104"/>
            <a:ext cx="5332314"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13</a:t>
            </a:r>
          </a:p>
        </p:txBody>
      </p:sp>
      <p:sp>
        <p:nvSpPr>
          <p:cNvPr id="13" name="TextBox 12"/>
          <p:cNvSpPr txBox="1"/>
          <p:nvPr/>
        </p:nvSpPr>
        <p:spPr>
          <a:xfrm>
            <a:off x="5771244" y="4488687"/>
            <a:ext cx="5734650"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counter is set to zero once, above the loop, and each card that passes the condition adds one to it.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sum accumulator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987295"/>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98729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1804415"/>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total = 0</a:t>
            </a:r>
          </a:p>
          <a:p>
            <a:pPr>
              <a:spcAft>
                <a:spcPts val="200"/>
              </a:spcAft>
            </a:pPr>
            <a:r>
              <a:rPr sz="1600" b="0">
                <a:solidFill>
                  <a:srgbClr val="E4ECF7"/>
                </a:solidFill>
                <a:latin typeface="Consolas"/>
              </a:rPr>
              <a:t>for r in records:</a:t>
            </a:r>
          </a:p>
          <a:p>
            <a:pPr>
              <a:spcAft>
                <a:spcPts val="200"/>
              </a:spcAft>
            </a:pPr>
            <a:r>
              <a:rPr sz="1600" b="0">
                <a:solidFill>
                  <a:srgbClr val="E4ECF7"/>
                </a:solidFill>
                <a:latin typeface="Consolas"/>
              </a:rPr>
              <a:t>    if r["status"] == "delivered":</a:t>
            </a:r>
          </a:p>
          <a:p>
            <a:pPr>
              <a:spcAft>
                <a:spcPts val="200"/>
              </a:spcAft>
            </a:pPr>
            <a:r>
              <a:rPr sz="1600" b="0">
                <a:solidFill>
                  <a:srgbClr val="E4ECF7"/>
                </a:solidFill>
                <a:latin typeface="Consolas"/>
              </a:rPr>
              <a:t>        total = total + int(r["amount"])</a:t>
            </a:r>
          </a:p>
          <a:p>
            <a:pPr>
              <a:spcAft>
                <a:spcPts val="200"/>
              </a:spcAft>
            </a:pPr>
          </a:p>
          <a:p>
            <a:pPr>
              <a:spcAft>
                <a:spcPts val="200"/>
              </a:spcAft>
            </a:pPr>
            <a:r>
              <a:rPr sz="1600" b="0">
                <a:solidFill>
                  <a:srgbClr val="E4ECF7"/>
                </a:solidFill>
                <a:latin typeface="Consolas"/>
              </a:rPr>
              <a:t>print(total)</a:t>
            </a:r>
          </a:p>
        </p:txBody>
      </p:sp>
      <p:sp>
        <p:nvSpPr>
          <p:cNvPr id="9" name="Rectangle 8"/>
          <p:cNvSpPr/>
          <p:nvPr/>
        </p:nvSpPr>
        <p:spPr>
          <a:xfrm>
            <a:off x="685800" y="3779519"/>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85800" y="3779519"/>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3880104"/>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25720</a:t>
            </a:r>
          </a:p>
        </p:txBody>
      </p:sp>
      <p:sp>
        <p:nvSpPr>
          <p:cNvPr id="12" name="TextBox 11"/>
          <p:cNvSpPr txBox="1"/>
          <p:nvPr/>
        </p:nvSpPr>
        <p:spPr>
          <a:xfrm>
            <a:off x="685800" y="4488687"/>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shape is the same and the amount goes in where the one was. That is 13 delivered orders totalling Rs 25,720, which is the number the notebook handed you at the start of the day.</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Applied to Kalpa: the delivered answer, in full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Thirteen of the thirty Kalpa Retail orders were delivered, and those thirteen come to Rs 25,720.</a:t>
            </a:r>
          </a:p>
          <a:p>
            <a:pPr>
              <a:spcAft>
                <a:spcPts val="900"/>
              </a:spcAft>
            </a:pPr>
            <a:r>
              <a:rPr sz="2000" b="0">
                <a:solidFill>
                  <a:srgbClr val="1C1C1A"/>
                </a:solidFill>
                <a:latin typeface="Calibri"/>
              </a:rPr>
              <a:t>The thirty amounts together come to Rs 58,210, so more than half the money in the file sits in orders that were returned or cancelled.</a:t>
            </a:r>
          </a:p>
          <a:p>
            <a:pPr>
              <a:spcAft>
                <a:spcPts val="900"/>
              </a:spcAft>
            </a:pPr>
            <a:r>
              <a:rPr sz="2000" b="0">
                <a:solidFill>
                  <a:srgbClr val="1C1C1A"/>
                </a:solidFill>
                <a:latin typeface="Calibri"/>
              </a:rPr>
              <a:t>That gap is the first thing a business person asks about, and your loop is what puts a number on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Find the mistake in this loop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4528b0d887bbc55.png"/>
          <p:cNvPicPr>
            <a:picLocks noChangeAspect="1"/>
          </p:cNvPicPr>
          <p:nvPr/>
        </p:nvPicPr>
        <p:blipFill>
          <a:blip r:embed="rId2"/>
          <a:stretch>
            <a:fillRect/>
          </a:stretch>
        </p:blipFill>
        <p:spPr>
          <a:xfrm>
            <a:off x="685800" y="1967409"/>
            <a:ext cx="4652640" cy="3746140"/>
          </a:xfrm>
          <a:prstGeom prst="rect">
            <a:avLst/>
          </a:prstGeom>
        </p:spPr>
      </p:pic>
      <p:sp>
        <p:nvSpPr>
          <p:cNvPr id="7" name="Rectangle 6"/>
          <p:cNvSpPr/>
          <p:nvPr/>
        </p:nvSpPr>
        <p:spPr>
          <a:xfrm>
            <a:off x="5771244" y="1627632"/>
            <a:ext cx="5734650" cy="1770887"/>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77088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8988" y="1728216"/>
            <a:ext cx="5332314" cy="158800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for r in records:</a:t>
            </a:r>
          </a:p>
          <a:p>
            <a:pPr>
              <a:spcAft>
                <a:spcPts val="200"/>
              </a:spcAft>
            </a:pPr>
            <a:r>
              <a:rPr sz="1400" b="0">
                <a:solidFill>
                  <a:srgbClr val="E4ECF7"/>
                </a:solidFill>
                <a:latin typeface="Consolas"/>
              </a:rPr>
              <a:t>    if r["status"] == "delivered":</a:t>
            </a:r>
          </a:p>
          <a:p>
            <a:pPr>
              <a:spcAft>
                <a:spcPts val="200"/>
              </a:spcAft>
            </a:pPr>
            <a:r>
              <a:rPr sz="1400" b="0">
                <a:solidFill>
                  <a:srgbClr val="E4ECF7"/>
                </a:solidFill>
                <a:latin typeface="Consolas"/>
              </a:rPr>
              <a:t>        total = 0</a:t>
            </a:r>
          </a:p>
          <a:p>
            <a:pPr>
              <a:spcAft>
                <a:spcPts val="200"/>
              </a:spcAft>
            </a:pPr>
            <a:r>
              <a:rPr sz="1400" b="0">
                <a:solidFill>
                  <a:srgbClr val="E4ECF7"/>
                </a:solidFill>
                <a:latin typeface="Consolas"/>
              </a:rPr>
              <a:t>        total = total + int(r["amount"])</a:t>
            </a:r>
          </a:p>
          <a:p>
            <a:pPr>
              <a:spcAft>
                <a:spcPts val="200"/>
              </a:spcAft>
            </a:pPr>
          </a:p>
          <a:p>
            <a:pPr>
              <a:spcAft>
                <a:spcPts val="200"/>
              </a:spcAft>
            </a:pPr>
            <a:r>
              <a:rPr sz="1400" b="0">
                <a:solidFill>
                  <a:srgbClr val="E4ECF7"/>
                </a:solidFill>
                <a:latin typeface="Consolas"/>
              </a:rPr>
              <a:t>print(total)</a:t>
            </a:r>
          </a:p>
        </p:txBody>
      </p:sp>
      <p:sp>
        <p:nvSpPr>
          <p:cNvPr id="10" name="Rectangle 9"/>
          <p:cNvSpPr/>
          <p:nvPr/>
        </p:nvSpPr>
        <p:spPr>
          <a:xfrm>
            <a:off x="5771244" y="3563112"/>
            <a:ext cx="5734650" cy="5085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5771244" y="3563112"/>
            <a:ext cx="50292" cy="5085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08988" y="3663696"/>
            <a:ext cx="5332314" cy="32562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1460</a:t>
            </a:r>
          </a:p>
        </p:txBody>
      </p:sp>
      <p:sp>
        <p:nvSpPr>
          <p:cNvPr id="13" name="TextBox 12"/>
          <p:cNvSpPr txBox="1"/>
          <p:nvPr/>
        </p:nvSpPr>
        <p:spPr>
          <a:xfrm>
            <a:off x="5771244" y="4236212"/>
            <a:ext cx="5734650" cy="15036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This runs and it prints a number. Rs 1,460 is the amount of KR4224, the last delivered order in the file, and it is a total of nothing at all.</a:t>
            </a:r>
          </a:p>
          <a:p>
            <a:pPr>
              <a:spcAft>
                <a:spcPts val="800"/>
              </a:spcAft>
            </a:pPr>
            <a:r>
              <a:rPr sz="1700" b="0">
                <a:solidFill>
                  <a:srgbClr val="1C1C1A"/>
                </a:solidFill>
                <a:latin typeface="Calibri"/>
              </a:rPr>
              <a:t>Which line is in the wrong place?</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Ask type() when an operator surprises you.</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Read both type names in a TypeError before you touch the code.</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Set the accumulator to zero once, above the loop.</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When a number looks wrong, go and find the record that explains it.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 half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errors landed on your screen this half, and each one told you exactly what it was holding.</a:t>
            </a:r>
          </a:p>
          <a:p>
            <a:pPr>
              <a:spcAft>
                <a:spcPts val="900"/>
              </a:spcAft>
            </a:pPr>
            <a:r>
              <a:rPr sz="2000" b="0">
                <a:solidFill>
                  <a:srgbClr val="1C1C1A"/>
                </a:solidFill>
                <a:latin typeface="Calibri"/>
              </a:rPr>
              <a:t>The kernel remembers exactly what you gave it and nothing else, and the type of a value decides what every operator means.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1. Half one: the machine that remembers</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