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screen before the clock starts. Leave Meera's words up while the room settles, and do not read them yet:</a:t>
            </a:r>
          </a:p>
          <a:p>
            <a:r>
              <a:t>they close the story in 45 minutes. Say once that Kalpa is fictional and the whole programme is set</a:t>
            </a:r>
          </a:p>
          <a:p>
            <a:r>
              <a:t>inside it, and that the first 45 minutes are about the business, with no laptop open.</a:t>
            </a:r>
          </a:p>
          <a:p>
            <a:r>
              <a:t>Transition: one Saturday at Kalpa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45 minutes in six parts, then 5 minutes for Meera's ask. The talk track is</a:t>
            </a:r>
          </a:p>
          <a:p>
            <a:r>
              <a:t>trainer/C2_W01_D01_domain_story_TRAINER.md, and it holds what to say, the question per part and</a:t>
            </a:r>
          </a:p>
          <a:p>
            <a:r>
              <a:t>the facts you may quote with their sources. Six drawings go on the board, one per part, and stay</a:t>
            </a:r>
          </a:p>
          <a:p>
            <a:r>
              <a:t>up all day. The domain card goes out at the close of the afternoon, after the room has met the traps.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Part 1 of the talk track. Tell the Saturday from the shelf check to the Monday</a:t>
            </a:r>
          </a:p>
          <a:p>
            <a:r>
              <a:t>page, and follow the Retail-Plus member's basket: Rs 2,000 of goods, Rs 200 off in a promotion,</a:t>
            </a:r>
          </a:p>
          <a:p>
            <a:r>
              <a:t>Rs 1,800 paid with a card held as a token; the bedsheet comes back next week. The app's 2,000</a:t>
            </a:r>
          </a:p>
          <a:p>
            <a:r>
              <a:t>orders average Rs 1,500.</a:t>
            </a:r>
          </a:p>
          <a:p>
            <a:r>
              <a:t>Ask: think of the last thing you bought in a shop and on an app; which one knew more about you?</a:t>
            </a:r>
          </a:p>
          <a:p>
            <a:r>
              <a:t>Land it: the data team works where customers leave traces, and a store leaves far fewer.</a:t>
            </a:r>
          </a:p>
          <a:p>
            <a:r>
              <a:t>Draw the value chain on the board, six boxes left to right.</a:t>
            </a:r>
          </a:p>
          <a:p>
            <a:r>
              <a:t>Transition: which real companies Kalpa is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Part 2 of the talk track. Ask first: what does your phone company know about you</a:t>
            </a:r>
          </a:p>
          <a:p>
            <a:r>
              <a:t>that a grocer would want? Land it: units that share customers can learn a great deal about each</a:t>
            </a:r>
          </a:p>
          <a:p>
            <a:r>
              <a:t>one, and each unit keeps its own books and needs its own purpose before it uses the data.</a:t>
            </a:r>
          </a:p>
          <a:p>
            <a:r>
              <a:t>Kalpa is fictional; Reliance and Tata are real groups built like it, and every fact about them is</a:t>
            </a:r>
          </a:p>
          <a:p>
            <a:r>
              <a:t>in the talk track's facts table with its source. The GCC you have joined works like the Indian</a:t>
            </a:r>
          </a:p>
          <a:p>
            <a:r>
              <a:t>centres of Walmart, Target, Tesco and Lowe's.</a:t>
            </a:r>
          </a:p>
          <a:p>
            <a:r>
              <a:t>Draw the group on the board, six boxes.</a:t>
            </a:r>
          </a:p>
          <a:p>
            <a:r>
              <a:t>Transition: where the money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Part 3 of the talk track, the part never to cut. Illustrative numbers. The slide lays the board's six boxes</a:t>
            </a:r>
          </a:p>
          <a:p>
            <a:r>
              <a:t>left to right; on the board, draw them top to bottom and write each deduction on its arrow: cancellations and returns come off first; GST is collected for the state;</a:t>
            </a:r>
          </a:p>
          <a:p>
            <a:r>
              <a:t>the cost of the goods goes to suppliers; per-order costs are picking, delivery, payment fees,</a:t>
            </a:r>
          </a:p>
          <a:p>
            <a:r>
              <a:t>returns and the offers that bring a customer back; fixed costs are stores, warehouses,</a:t>
            </a:r>
          </a:p>
          <a:p>
            <a:r>
              <a:t>technology, head office and the budget that wins new customers.</a:t>
            </a:r>
          </a:p>
          <a:p>
            <a:r>
              <a:t>Ask first: of the member's Rs 1,800, how much does Kalpa keep as EBITDA? Four ranges, hands up</a:t>
            </a:r>
          </a:p>
          <a:p>
            <a:r>
              <a:t>for each; then reveal about Rs 50, the basket's Rs 150 of contribution less about Rs 100 towards</a:t>
            </a:r>
          </a:p>
          <a:p>
            <a:r>
              <a:t>the costs that do not change with one more order. Real retailers keep a thin slice: DMart reported</a:t>
            </a:r>
          </a:p>
          <a:p>
            <a:r>
              <a:t>profit after tax of 4.8 percent of revenue for FY26.</a:t>
            </a:r>
          </a:p>
          <a:p>
            <a:r>
              <a:t>Add the marketplace sentence: a marketplace books only its fees as revenue, and foreign-owned</a:t>
            </a:r>
          </a:p>
          <a:p>
            <a:r>
              <a:t>multi-brand e-commerce selling to Indian consumers runs that way under Press Note 2 of 2018.</a:t>
            </a:r>
          </a:p>
          <a:p>
            <a:r>
              <a:t>Transition: who asks the data team for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Part 4 of the talk track. Name the six boxes: Meera, Anand, the marketing lead, the</a:t>
            </a:r>
          </a:p>
          <a:p>
            <a:r>
              <a:t>head of Retail-Plus, the other functions (buying, pricing, supply chain, stores, and support, where</a:t>
            </a:r>
          </a:p>
          <a:p>
            <a:r>
              <a:t>Farhan Sheikh arrives in Week 8), and Kavya Nair with us in the GCC, who reviews everything before</a:t>
            </a:r>
          </a:p>
          <a:p>
            <a:r>
              <a:t>it leaves. The data platform lead sits beside the GCC and wants the warehouse queried, never exported.</a:t>
            </a:r>
          </a:p>
          <a:p>
            <a:r>
              <a:t>Ask: if one of our numbers is wrong, whose mistake can we undo next week, and whose can we not?</a:t>
            </a:r>
          </a:p>
          <a:p>
            <a:r>
              <a:t>Land it: before a number leaves the team, know who asked for it and whether being wrong can be</a:t>
            </a:r>
          </a:p>
          <a:p>
            <a:r>
              <a:t>taken back.</a:t>
            </a:r>
          </a:p>
          <a:p>
            <a:r>
              <a:t>Draw who asks on the board, six boxes. If short of time, draw it, ask once and move on.</a:t>
            </a:r>
          </a:p>
          <a:p>
            <a:r>
              <a:t>Transition: the tree every retail number hangs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9 minutes. Part 5 of the talk track, the other part never to cut. Say the three traps with</a:t>
            </a:r>
          </a:p>
          <a:p>
            <a:r>
              <a:t>their illustrative numbers: retention of 300 over 380 is 79 percent and divides by survivors; the</a:t>
            </a:r>
          </a:p>
          <a:p>
            <a:r>
              <a:t>pressure cookers ran out on Saturday, so Sunday's file shows no sales and no row says anyone asked;</a:t>
            </a:r>
          </a:p>
          <a:p>
            <a:r>
              <a:t>total growth of 15 percent is 2 percent like for like.</a:t>
            </a:r>
          </a:p>
          <a:p>
            <a:r>
              <a:t>Ask: the festive lights have sold 62 percent in four weeks with Diwali ahead; good news or bad?</a:t>
            </a:r>
          </a:p>
          <a:p>
            <a:r>
              <a:t>Collect three things to check first. Land it: a rate means nothing until you say what it is</a:t>
            </a:r>
          </a:p>
          <a:p>
            <a:r>
              <a:t>compared with, and over which window.</a:t>
            </a:r>
          </a:p>
          <a:p>
            <a:r>
              <a:t>Draw the metric tree, six boxes, and leave it on the board all day; the case writes its numbers</a:t>
            </a:r>
          </a:p>
          <a:p>
            <a:r>
              <a:t>onto it.</a:t>
            </a:r>
          </a:p>
          <a:p>
            <a:r>
              <a:t>Transition: from describing to acting.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Part 6 of the talk track. Klarna's assistant took two-thirds of its chats in its</a:t>
            </a:r>
          </a:p>
          <a:p>
            <a:r>
              <a:t>first month in 2024, and fifteen months later its chief executive said the cost focus had lowered</a:t>
            </a:r>
          </a:p>
          <a:p>
            <a:r>
              <a:t>quality; a tribunal held Air Canada responsible for what its chatbot said.</a:t>
            </a:r>
          </a:p>
          <a:p>
            <a:r>
              <a:t>Ask: which would you let a system do with no person checking: send the Monday numbers, reorder</a:t>
            </a:r>
          </a:p>
          <a:p>
            <a:r>
              <a:t>detergent, refund the bedsheet, change a price? Listen for the reasons.</a:t>
            </a:r>
          </a:p>
          <a:p>
            <a:r>
              <a:t>Keep the domain card back until the close.</a:t>
            </a:r>
          </a:p>
          <a:p>
            <a:r>
              <a:t>Transition: the business in one line, and the question its CEO asked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story's last line, read aloud: "That is the business. On Monday its</a:t>
            </a:r>
          </a:p>
          <a:p>
            <a:r>
              <a:t>CEO read one page, and she asked us one question before she signs anything."</a:t>
            </a:r>
          </a:p>
          <a:p>
            <a:r>
              <a:t>Then Anand's line. Do not explain it; chapter 4 tests it on the file.</a:t>
            </a:r>
          </a:p>
          <a:p>
            <a:r>
              <a:t>Transition: one message holds four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Point at each chapter once. Each ends on a number written onto the board tree,</a:t>
            </a:r>
          </a:p>
          <a:p>
            <a:r>
              <a:t>and each has a wrong number that looks right; an analyst's job is to catch those before a CEO acts on one.</a:t>
            </a:r>
          </a:p>
          <a:p>
            <a:r>
              <a:t>Chapters 1 to 4 run this morning, with the break before chapter 4; 5 and 6 open the afternoon.</a:t>
            </a:r>
          </a:p>
          <a:p>
            <a:r>
              <a:t>Transition: chapter 1, which total is 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(8, with 2 for the TypeError if it</a:t>
            </a:r>
          </a:p>
          <a:p>
            <a:r>
              <a:t>happens), the trap (7), the second route (4), Kavya's review (3). Notebook 01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the room to name what "sales" could mean before the next slide and write the</a:t>
            </a:r>
          </a:p>
          <a:p>
            <a:r>
              <a:t>answers on the board. Most name booked revenue first; somebody says "what we delivered".</a:t>
            </a:r>
          </a:p>
          <a:p>
            <a:r>
              <a:t>Transition: a real retailer publishes two of them for the same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company is real and the numbers are its own. The point to make is</a:t>
            </a:r>
          </a:p>
          <a:p>
            <a:r>
              <a:t>that the largest retailer in India states which revenue it means.</a:t>
            </a:r>
          </a:p>
          <a:p>
            <a:r>
              <a:t>Transition: four ways the team could answer Meera.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Walk the four. D is fine at 30 rows and impossible at 30 lakh; C is the right</a:t>
            </a:r>
          </a:p>
          <a:p>
            <a:r>
              <a:t>answer for the board and too slow for a first look. What would change the call: Finance has fixed</a:t>
            </a:r>
          </a:p>
          <a:p>
            <a:r>
              <a:t>the definition the 15 percent plan was set on.</a:t>
            </a:r>
          </a:p>
          <a:p>
            <a:r>
              <a:t>Transition: build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Draw this chain under the board tree. An engineer who can say what the data</a:t>
            </a:r>
          </a:p>
          <a:p>
            <a:r>
              <a:t>cannot answer saves the CEO from a guess.</a:t>
            </a:r>
          </a:p>
          <a:p>
            <a:r>
              <a:t>Transition: open notebook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 before running; take letters by hand. Most say c; some say a because</a:t>
            </a:r>
          </a:p>
          <a:p>
            <a:r>
              <a:t>"only delivered is real", which confuses the largest with the truest. When the room runs the</a:t>
            </a:r>
          </a:p>
          <a:p>
            <a:r>
              <a:t>notebook's first loop it stops on a TypeError, because one amount is stored as text. Give it two</a:t>
            </a:r>
          </a:p>
          <a:p>
            <a:r>
              <a:t>minutes, no more: read the last line bottom up (the kind of error, the operation, the two types),</a:t>
            </a:r>
          </a:p>
          <a:p>
            <a:r>
              <a:t>have each learner print the loop variable on their own screen without reading the record out,</a:t>
            </a:r>
          </a:p>
          <a:p>
            <a:r>
              <a:t>apply int() as the loop above does, and move on. Wednesday asks why.</a:t>
            </a:r>
          </a:p>
          <a:p>
            <a:r>
              <a:t>Transition: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with their order counts. Ask which goes in front of Meera, take</a:t>
            </a:r>
          </a:p>
          <a:p>
            <a:r>
              <a:t>two answers and leave them open.</a:t>
            </a:r>
          </a:p>
          <a:p>
            <a:r>
              <a:t>Transition: the one a hurried analyst sends.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Present it confidently, as the hurried analyst would. Ask what is wrong before</a:t>
            </a:r>
          </a:p>
          <a:p>
            <a:r>
              <a:t>the next slide, then what decision it misleads: store looks busier than it was.</a:t>
            </a:r>
          </a:p>
          <a:p>
            <a:r>
              <a:t>Transition: the check that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check counts orders before anything is summed. Store's 10 orders overstate its kept orders</a:t>
            </a:r>
          </a:p>
          <a:p>
            <a:r>
              <a:t>by 4 in 10. The five returns did become sales and came back, which is why they stay in "not</a:t>
            </a:r>
          </a:p>
          <a:p>
            <a:r>
              <a:t>cancelled" and leave "delivered".</a:t>
            </a:r>
          </a:p>
          <a:p>
            <a:r>
              <a:t>Transition: the fix, as a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Write the two totals on the root of the board tree with their definitions.</a:t>
            </a:r>
          </a:p>
          <a:p>
            <a:r>
              <a:t>Transition: the same numbers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the notebook's second-route cell; its three checks assert the routes agree.</a:t>
            </a:r>
          </a:p>
          <a:p>
            <a:r>
              <a:t>When to switch: a part-refund status tomorrow breaks the one-loop route and not this one. At a</a:t>
            </a:r>
          </a:p>
          <a:p>
            <a:r>
              <a:t>million rows both become one GROUP BY status, which Week 2 teaches.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Kavya Nair is the team's senior analyst; her review closes every chapter. One</a:t>
            </a:r>
          </a:p>
          <a:p>
            <a:r>
              <a:t>learner answers the interview question aloud in under a minute: name the readings, say what each</a:t>
            </a:r>
          </a:p>
          <a:p>
            <a:r>
              <a:t>answers, choose one for the decision and state the others.</a:t>
            </a:r>
          </a:p>
          <a:p>
            <a:r>
              <a:t>Transition: chapter 2, the tree as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(6), the build (4), the trap (9), the second route</a:t>
            </a:r>
          </a:p>
          <a:p>
            <a:r>
              <a:t>(5), Kavya's review (3). Notebook 02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Check the multiplication with units on the board: customers times orders per</a:t>
            </a:r>
          </a:p>
          <a:p>
            <a:r>
              <a:t>customer gives orders; orders times revenue per order gives rupees. The denominators cancel.</a:t>
            </a:r>
          </a:p>
          <a:p>
            <a:r>
              <a:t>Transition: a real company that reports its tree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Kalpa Connect is the Jio-like unit and arrives in Build 3. The point here is the</a:t>
            </a:r>
          </a:p>
          <a:p>
            <a:r>
              <a:t>shape: a company reports its branches, each as a fraction, and investors multiply them.</a:t>
            </a:r>
          </a:p>
          <a:p>
            <a:r>
              <a:t>Transition: which tree this file can fill.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The sizing here counts fields: the file's seven fields fill A and B.</a:t>
            </a:r>
          </a:p>
          <a:p>
            <a:r>
              <a:t>Ask what data would let us draw C; the order-items table arrives later in the programme.</a:t>
            </a:r>
          </a:p>
          <a:p>
            <a:r>
              <a:t>Transition: build B's first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what does 30 times Rs 18,160 give? Exactly booked revenue. Write</a:t>
            </a:r>
          </a:p>
          <a:p>
            <a:r>
              <a:t>Rs 18,160 on the board tree in pencil with a question mark; Anand's warning is about this number.</a:t>
            </a:r>
          </a:p>
          <a:p>
            <a:r>
              <a:t>Transition: what goes wrong when two reports feed one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by hand. Most compute it and get c; the question is whether anyone</a:t>
            </a:r>
          </a:p>
          <a:p>
            <a:r>
              <a:t>objects to the division itself.</a:t>
            </a:r>
          </a:p>
          <a:p>
            <a:r>
              <a:t>Transition: the answer, and what it does to the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c. What it would mislead: marketing's payback case values each new</a:t>
            </a:r>
          </a:p>
          <a:p>
            <a:r>
              <a:t>customer's order at Rs 25,943. The error is invisible until something is multiplied back.</a:t>
            </a:r>
          </a:p>
          <a:p>
            <a:r>
              <a:t>Transition: the one-line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fix and what changed: two honest AOVs, Rs 18,160 booked and Rs 24,800</a:t>
            </a:r>
          </a:p>
          <a:p>
            <a:r>
              <a:t>delivered, each with its definition; the mixed one goes nowhere.</a:t>
            </a:r>
          </a:p>
          <a:p>
            <a:r>
              <a:t>Transition: the same AOV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notebook asserts all three agree. The real switch is the one chapter 4</a:t>
            </a:r>
          </a:p>
          <a:p>
            <a:r>
              <a:t>makes: for "what does a typical order look like", the mean may be the wrong middle.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aloud: draw the tree, measure each branch on one window and</a:t>
            </a:r>
          </a:p>
          <a:p>
            <a:r>
              <a:t>definition, find the short one, then place initiatives on it.</a:t>
            </a:r>
          </a:p>
          <a:p>
            <a:r>
              <a:t>Transition: chapter 3, counting the customer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(8), the trap (9), the second route</a:t>
            </a:r>
          </a:p>
          <a:p>
            <a:r>
              <a:t>(3), Kavya's review (2); the delivered leaves sit in S35's notes; cut them first. Notebook 03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Ask: if nobody ever came back, what would orders per customer be? Exactly 1.</a:t>
            </a:r>
          </a:p>
          <a:p>
            <a:r>
              <a:t>Keep that thought for the trap.</a:t>
            </a:r>
          </a:p>
          <a:p>
            <a:r>
              <a:t>Transition: a real retailer's customer count, and its denominator.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point is the denominator: registered, active and ordering customers are three</a:t>
            </a:r>
          </a:p>
          <a:p>
            <a:r>
              <a:t>different counts, and each gives a different rate.</a:t>
            </a:r>
          </a:p>
          <a:p>
            <a:r>
              <a:t>Transition: four ways to count customers.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B is right when only the count is needed. The switch to SQL is Week 2's.</a:t>
            </a:r>
          </a:p>
          <a:p>
            <a:r>
              <a:t>Transition: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Letters by hand. Some say 16, confusing one-time with repeat.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Write 23 and 1.30 on the board tree. Note one repeat customer carries two</a:t>
            </a:r>
          </a:p>
          <a:p>
            <a:r>
              <a:t>segments because the segment sits on each order.</a:t>
            </a:r>
          </a:p>
          <a:p>
            <a:r>
              <a:t>Transition: the count a colleague sent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Present it as the figure a colleague's first draft sent Meera before the room built</a:t>
            </a:r>
          </a:p>
          <a:p>
            <a:r>
              <a:t>the count: the case for the budget, made by a counting slip. Ask what would check it before the</a:t>
            </a:r>
          </a:p>
          <a:p>
            <a:r>
              <a:t>next slide.</a:t>
            </a:r>
          </a:p>
          <a:p>
            <a:r>
              <a:t>Transition: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 set keeps each value once however often it is added. The fix: 30 / 23 = 1.30</a:t>
            </a:r>
          </a:p>
          <a:p>
            <a:r>
              <a:t>orders per customer, and frequency is a live branch. On delivered orders the same count gives 19</a:t>
            </a:r>
          </a:p>
          <a:p>
            <a:r>
              <a:t>customers, 1.11 each, and 2 who kept two; the escalated case this afternoon rebuilds on that.</a:t>
            </a:r>
          </a:p>
          <a:p>
            <a:r>
              <a:t>Transition: the same rate by a second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notebook asserts the two agree and that the dictionary's keys are the set.</a:t>
            </a:r>
          </a:p>
          <a:p>
            <a:r>
              <a:t>Use the counts whenever someone will ask how many came back.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learner answers aloud: rows against distinct ids, then the window, then</a:t>
            </a:r>
          </a:p>
          <a:p>
            <a:r>
              <a:t>whether one person can carry two ids.</a:t>
            </a:r>
          </a:p>
          <a:p>
            <a:r>
              <a:t>Transition: a 10-minute break, then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after the break: the need (3), the options (5), the build (5), the trap with the</a:t>
            </a:r>
          </a:p>
          <a:p>
            <a:r>
              <a:t>sort and the fix (10), the second route (4), Kavya's review (3). Notebook 04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Anand's line again; now it is testable.</a:t>
            </a:r>
          </a:p>
          <a:p>
            <a:r>
              <a:t>Transition: a real company's reported order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 mean over millions of similar small baskets describes them well; a mean over 30</a:t>
            </a:r>
          </a:p>
          <a:p>
            <a:r>
              <a:t>orders with one very large one does not.</a:t>
            </a:r>
          </a:p>
          <a:p>
            <a:r>
              <a:t>Transition: four middles.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invented set is five orders from Rs 1,900 to Rs 2,600 plus one of Rs 90,000;</a:t>
            </a:r>
          </a:p>
          <a:p>
            <a:r>
              <a:t>the notebook's sizing cell draws the three moves.</a:t>
            </a:r>
          </a:p>
          <a:p>
            <a:r>
              <a:t>Transition: build the median.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Write Rs 2,205 on the board tree beside the pencilled Rs 18,160. The median runs</a:t>
            </a:r>
          </a:p>
          <a:p>
            <a:r>
              <a:t>Rs 2,205 booked, Rs 2,100 not cancelled, Rs 2,060 delivered; the mean runs Rs 18,160 to Rs 24,800.</a:t>
            </a:r>
          </a:p>
          <a:p>
            <a:r>
              <a:t>Notebook 04 step 2 builds option C on Kalpa's own orders: a trimmed mean of Rs 2,300.</a:t>
            </a:r>
          </a:p>
          <a:p>
            <a:r>
              <a:t>Transition: the number marketing sent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Present it as marketing's slide, which reached Meera before the room built the median; the</a:t>
            </a:r>
          </a:p>
          <a:p>
            <a:r>
              <a:t>room's job is to name the check. Ask first how many orders sit above the mean; most say about half. The check is</a:t>
            </a:r>
          </a:p>
          <a:p>
            <a:r>
              <a:t>that count: one.</a:t>
            </a:r>
          </a:p>
          <a:p>
            <a:r>
              <a:t>Transition: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Show the strip chart in notebook 04. Then every learner types the sort in the</a:t>
            </a:r>
          </a:p>
          <a:p>
            <a:r>
              <a:t>empty cell and finds what sits at the top on their own screen. Do not read the record out; ask</a:t>
            </a:r>
          </a:p>
          <a:p>
            <a:r>
              <a:t>what kind of order it must be.</a:t>
            </a:r>
          </a:p>
          <a:p>
            <a:r>
              <a:t>Transition: the middle one order cannot drag.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What changed: the typical order is Rs 2,205, and the slide's Rs 18,160 overstates it</a:t>
            </a:r>
          </a:p>
          <a:p>
            <a:r>
              <a:t>eightfold. The payback itself is rebuilt on the consumer segment's mean, which chapter 5 uses.</a:t>
            </a:r>
          </a:p>
          <a:p>
            <a:r>
              <a:t>Rub out the pencilled Rs 18,160 on the board tree and leave Rs 2,205.</a:t>
            </a:r>
          </a:p>
          <a:p>
            <a:r>
              <a:t>Transition: the median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notebook asserts agreement on all three definitions.</a:t>
            </a:r>
          </a:p>
          <a:p>
            <a:r>
              <a:t>Transition: Kavya's review, and the tree after the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aloud. Leave the tree on the board over lunch; chapter 5</a:t>
            </a:r>
          </a:p>
          <a:p>
            <a:r>
              <a:t>opens on it and asks which branch Meera opens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Relationship Id="rId5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Relationship Id="rId5" Type="http://schemas.openxmlformats.org/officeDocument/2006/relationships/image" Target="../media/image2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2.xml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MONDAY  · 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“Before I sign anything, I want to understand our own sales. Is acquisition even the branch that is short?”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 Raghavan, CEO,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800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2051" y="5248656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3165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78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6828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644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490" y="5248656"/>
            <a:ext cx="11884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question before the budget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52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retail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Before any data, the business: how a retailer makes money, who asks the data team for what, and the metrics as formulas.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52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Saturday at Kalpa Retail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store and an app in the same city, from the first shelf check to the Monday page.</a:t>
            </a:r>
          </a:p>
        </p:txBody>
      </p:sp>
      <p:pic>
        <p:nvPicPr>
          <p:cNvPr id="9" name="mermaid diagram" descr="3f8161a49132de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3043237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2" name="Oval 1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6" name="Oval 1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8" name="Oval 1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Kalpa is built like an Indian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group, five units, and one data and AI centre in Bengaluru serving each of them.</a:t>
            </a:r>
          </a:p>
        </p:txBody>
      </p:sp>
      <p:pic>
        <p:nvPicPr>
          <p:cNvPr id="9" name="mermaid diagram" descr="f3348aaf59c80f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1847" y="1664208"/>
            <a:ext cx="8028000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Kalpa's stores work like DMart's, and its app sells stock Kalpa owns, like DMart Ready; Flipkart and Amazon India are marketplaces whose sellers own the goods.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Rs 100 ordered leaves Rs 2.50 of EBITDA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EBITDA is earnings before interest, tax, depreciation and amortisation: what the Rs 100 leaves.</a:t>
            </a:r>
          </a:p>
        </p:txBody>
      </p:sp>
      <p:pic>
        <p:nvPicPr>
          <p:cNvPr id="9" name="mermaid diagram" descr="dc597e71f1d37b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577551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2680671"/>
          <a:ext cx="11130990" cy="2702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16144"/>
                <a:gridCol w="914400"/>
                <a:gridCol w="680044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GMV to kept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Cancellations and returns come off first.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Kept to net 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GST is collected for the state.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Net revenue to gross margin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the goods goes to suppliers.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Gross margin to contribution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12.5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Picking, delivery, fees, returns and retention offers come with every order.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Contribution to EBITDA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Stores, warehouses, tech, head office and acquisition do not grow with one more order.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people already want something from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asks for a different number, and each loses something different when it is wrong.</a:t>
            </a:r>
          </a:p>
        </p:txBody>
      </p:sp>
      <p:pic>
        <p:nvPicPr>
          <p:cNvPr id="9" name="mermaid diagram" descr="b0704b47a3cbb9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2926" y="1682496"/>
            <a:ext cx="5305842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2" name="Oval 1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6" name="Oval 1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8" name="Oval 1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retail number hangs off one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order value, less what leaks.</a:t>
            </a:r>
          </a:p>
        </p:txBody>
      </p:sp>
      <p:pic>
        <p:nvPicPr>
          <p:cNvPr id="9" name="mermaid diagram" descr="b3e65c98a2c7e6e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0740" y="1664208"/>
            <a:ext cx="6790214" cy="3203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metric is a numerator over a denominator in a window, and a rate means nothing until you say what it is compared with.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further right, the more a wrong answer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Describe, predict, recommend and act, and the rules every rung works under.</a:t>
            </a:r>
          </a:p>
        </p:txBody>
      </p:sp>
      <p:pic>
        <p:nvPicPr>
          <p:cNvPr id="9" name="mermaid diagram" descr="1efa8da59bf12e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857375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960495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3528"/>
                <a:gridCol w="80274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 for the data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price model never goes above the legal ceiling.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DPDP Act and Rules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Personal data is used only for a stated purpose.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RBI tokenisation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payments table holds tokens and last four digits, never card numbers.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E-commerce Rules 2020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Consent is an explicit click, and a ranking is explained.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52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read one page and asked one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grew 4 percent against a plan of 15, and marketing wants Rs 12 crore.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"Before I sign anything, I want to understand our own sales. What is 'sales' made of? Where does revenue come from, by customer type and channel? Is acquisition even the branch that is short?"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24307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controller, Kalpa Retail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year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212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212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212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expected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3212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389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389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MARKETING'S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389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acquire customers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389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30" name="Oval 2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2" name="Oval 3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4" name="Oval 3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6" name="Oval 3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52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message holds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client message is split into questions, each with the chapter that answers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554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72495"/>
                <a:gridCol w="5428994"/>
                <a:gridCol w="2429500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she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Where it is answered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is sales made of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Each reading of sales, then the tree as metrics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1 and 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Is acquisition the short branch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leaves counted, and the branch to open first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3 and 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No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typical order, stated so one order cannot move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 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By customer type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Revenue grouped by segment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second case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f2034b542243f3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767328"/>
            <a:ext cx="11130991" cy="75982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52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Four readings of sales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Thirty orders add up to more than one honest total, and a number without its definition misleads.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52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wants one number called 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file holds 30 orders from 1 July to 26 September, each delivered, returned or cancelled.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is 'sales' made of?"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Sales, the base every growth percentage is measured from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Meera, and behind her Anand, whose books it must match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plan measured from demand that never became a sale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Retail publishes two totals a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Gross revenue and revenue from operations, with GST recovered as the step between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90,408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GROSS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79,745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FROM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GST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STEP BETWEEN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collected for the 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Two correct numbers for one quarter is normal in retail, which is why every number carries its definition.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52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answer, and one best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option sized on this file: rows touched, time, and what it gets wrong.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55361"/>
                <a:gridCol w="914400"/>
                <a:gridCol w="1761323"/>
                <a:gridCol w="469990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Error on this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A. Add every amount and send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counts the 4 cancelled orders as sales.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B. Sum by status, with the bridge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once the bridge lands.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C. Ask Finance for the books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day or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 Finance's definition.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D. Tick orders off by hand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ten minutes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typo can hide in any of 30 cells.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2148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3120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355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5500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one pass gives all three readings and names every rupee between them. Finance's definition of the plan's base would decide which of B's totals goes in the note.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reading of sales removes one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Booked keeps everything, and each step down removes what never became a sale.</a:t>
            </a:r>
          </a:p>
        </p:txBody>
      </p:sp>
      <p:pic>
        <p:nvPicPr>
          <p:cNvPr id="9" name="mermaid diagram" descr="ce8493801b32e0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1873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90425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file has no discount field, so sales after discounts cannot be computed from it.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reading comes out largest?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loop keeps three sums: booked, not cancelled and delivered.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224531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822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amount =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readings["booked"]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!= "cancelled":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readings["not cancelled"]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== "delivered":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readings["delivered"] += amount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345939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4473955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464811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rupee reading is largest: a) delivered, b) not cancelled, c) booked, or d) all three are equal?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booked, then not cancelled, then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three differ by Rs 24,020 across 9 orders.</a:t>
            </a:r>
          </a:p>
        </p:txBody>
      </p:sp>
      <p:pic>
        <p:nvPicPr>
          <p:cNvPr id="9" name="mermaid diagram" descr="ca8d2cc0c11d9c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answer is c: booked Rs 5,44,810, not cancelled Rs 5,35,760, delivered Rs 5,20,790. The order count, 30, is the fourth reading.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sales of Rs 5,44,810 from all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biggest number, sent without a definition, reaches the CEO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colleague's first draft to Meera: "Sales this quarter: Rs 5,44,810 on 30 orders."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9291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6007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REPORTED AS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018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 in the 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1178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9291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6007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CANCELLED ORDERS INSIDE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8018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9,050 never sold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41178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9291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6007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 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8018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baseline takes all of them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41178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3921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arithmetic is right, and a growth plan built on it counts demand that never arrived as a baseline to beat.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52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Count by status before summing: all 4 are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count by channel and status shows where the cancellations sit.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507329"/>
                <a:gridCol w="3201932"/>
                <a:gridCol w="350732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Returned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the statuses before adding the amounts, and write the definition beside every total.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52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the definition beside the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bridge walks from booked to delivered, so every rupee that leaves is named.</a:t>
            </a:r>
          </a:p>
        </p:txBody>
      </p:sp>
      <p:pic>
        <p:nvPicPr>
          <p:cNvPr id="9" name="mermaid diagram" descr="9b977b89f0e721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2618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3649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sentence for Meera names the definition first: "Sales this quarter, net of cancellations, were Rs 5,35,760 on 26 orders."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52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sums by status, then combine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Rupees added under each status, then each reading built from the statuses.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by_status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by_status[order["status"]] = by_status.get(order["status"], 0) +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not_cancelled = by_status["delivered"] + by_status["returned"]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9207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3047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734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95427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two routes must agree to the rupee. Group by status when a new status may appear, since it needs no new if; write each reading out when a reader must see the definition.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52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1 puts one honest number on the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root now carries a total with its definition, and the branches are still empty.</a:t>
            </a:r>
          </a:p>
        </p:txBody>
      </p:sp>
      <p:pic>
        <p:nvPicPr>
          <p:cNvPr id="9" name="mermaid diagram" descr="b22dd0441fcbd2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860341"/>
            <a:ext cx="4786326" cy="41614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 found Rs 9,050 that was never a sale by counting before adding. Which definition Meera plans on is her call; your job is to make sure she can see which one she is reading."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counts as "sales": booked, net of cancellations, or delivered, and which do you give a CEO?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52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tree as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branch helps Meera only when it is a fraction on one definition and one window.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23 / 52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needs the branches, each as a fraction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average order value.</a:t>
            </a:r>
          </a:p>
        </p:txBody>
      </p:sp>
      <p:pic>
        <p:nvPicPr>
          <p:cNvPr id="9" name="mermaid diagram" descr="820672459b9912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23639"/>
            <a:ext cx="4786326" cy="4034849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4" cy="207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17827"/>
                <a:gridCol w="3181597"/>
              </a:tblGrid>
              <a:tr h="611632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AOV, revenue over orders, the first branch the file can measure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for the tree; marketing, whose payback values each new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tree that multiplies to revenue nobody booked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52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Jio reports its revenue as a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Subscribers times revenue per user: customers times what each one brings.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533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JIO SUBSCRIBERS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215.6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PER 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month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MONTHLY CHURN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leak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A telecom's tree has two branches and a leak; a retailer's has three branches and two leaks.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52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file fills the three-branch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trees a team could draw, sized by the fields each needs.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37866"/>
                <a:gridCol w="3119232"/>
                <a:gridCol w="34738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 this file?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Orders x AOV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Yes, and it hides who buys.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Customers x frequency x AOV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amount, customer 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B with items, price and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items, prices,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A funnel from visits to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sessions or footfall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the deepest tree this file fills, with marketing's branch beside the two it competes with. Order lines with items and prices would move the call to C.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52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AOV is Rs 18,160, and the tree multiplies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times AOV lands exactly on booked revenue, because AOV was made from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booked definition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BOOKED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AOV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5,44,810 over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product always lands on revenue, so a wrong leaf never shows in the total and shows only in the split.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52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booked rupees over delivered orders?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Finance reports booked revenue; the operations dashboard counts delivered orders.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8118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19398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307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hurried analyst divides Finance's Rs 5,44,810 by the dashboard's 21 delivered orders. The AOV is: a) Rs 18,160, b) Rs 24,800, c) Rs 25,943, or d) Rs 23,687?</a:t>
            </a:r>
          </a:p>
        </p:txBody>
      </p:sp>
      <p:pic>
        <p:nvPicPr>
          <p:cNvPr id="12" name="mermaid diagram" descr="eb85d68c34aded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2784157"/>
            <a:ext cx="5143500" cy="3286125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5" name="Oval 14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9" name="Oval 18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1" name="Oval 20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52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Rs 25,943, which matches no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Multiplied back on 30 orders it claims Rs 7,78,300 that nobody booked.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colleague's note to marketing: "Our average order is Rs 25,943."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25,943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MIXED 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booked rupees / delivered orders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7,78,300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MULTIPLIES 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43% above booked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24,800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DELIVERED AOV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delivered / delivered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numerator keeps the rupees of 9 cancelled and returned orders while the denominator has dropped those orders.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52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Check: AOV x the orders summed gives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one definition the identity holds; on a mixed one it lands on nothing.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76880"/>
                <a:gridCol w="1276662"/>
                <a:gridCol w="4063461"/>
                <a:gridCol w="321398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Fraction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AOV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x the orders the revenue covers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Gives that revenue back?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18,160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booked revenue.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Delivered / delivered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24,800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delivered revenue.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25,943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7,78,300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One definition per fraction; ask each report what it counts before you divide.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52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AOV is the mean of the amounts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over orders and the mean of the 30 amounts are one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aov = revenue / orders                       # from the totals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mean_route = sum(amounts) / len(amounts)      # from the rows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statistics.fmean(amounts)                     # from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Totals route when a report holds them; rows route when you hold the rows. Chapter 4 asks whether the mean is the right middle at all.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31 / 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2 names three branches the file lacks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Items, price and discounts are not in this extract, and saying so is part of the answer.</a:t>
            </a:r>
          </a:p>
        </p:txBody>
      </p:sp>
      <p:pic>
        <p:nvPicPr>
          <p:cNvPr id="9" name="mermaid diagram" descr="bf29fd3e72f3b9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0150" y="1664208"/>
            <a:ext cx="6811395" cy="22951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00507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373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4703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1513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7083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 gave me each branch as a numerator over a denominator and told me which three this file cannot fill, so I know which ones I can plan on."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9132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940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60374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376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5708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How would you increase sales for an online retailer?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32 / 52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leaves, counted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Customers and how often they buy, counted from 30 rows, and the tree multiplied 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33 / 52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If nobody comes back, acquisition is the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customers branch is the one the Rs 12 crore buys, so it is the first leaf to get right.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"Is acquisition even the branch that is short?"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Customers, and orders per customer: orders over distinct 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Meera; the marketing lead and the head of Retail-Plus, who own the two branches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"Nobody comes back" makes Rs 12 crore look like the only way to grow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34 / 52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counts 396 million registered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registered customer is a denominator of its own, and which people you count is the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396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REGISTERED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Reliance Retail, 30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20,169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Divide a quarter's orders by registered customers and you get a different, smaller metric than orders per customer who ordered.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35 / 52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dictionary counts customers and repeats at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ways to count customers on 30 rows, and what each can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80802"/>
                <a:gridCol w="1906895"/>
                <a:gridCol w="574329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len(ORDERS)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orders there are, which is not customers.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len(set(ids))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 there are.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A dictionary of orders per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how many orders each, who came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Sort the ids and count changes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sort and a pass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and it is easy to miscount by hand.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 is the best fit because one pass fills both customer branches and names the repeat buyers. At millions of rows it becomes one COUNT(DISTINCT) in the warehouse.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36 / 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of 23 customers, how many came back?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dictionary keyed by customer id counts each one's orders in one 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counts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cid = order["customer_id"]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counts[cid] = counts.get(cid, 0) + 1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How many of the 23 bought more than once: a) none, b) 7, c) 16, or d) 23?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37 / 52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7 came back, and 16 bought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is now measured, and the tree multiplies back to booked revenue.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distinct 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23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16 bought once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23 x 1.30 x Rs 18,160 = Rs 5,44,810. The answer is b; here orders less customers equals repeat buyers only because nobody bought three times.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52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30 customers, nobody comes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colleague's first draft divided orders by the number of rows: 1.00 each.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"30 customers placed 30 orders: 1.00 each, so nobody comes back."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CUSTOMERS, AS COUNTED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of rows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JUSTIFIES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acquisition as the only branch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division is correct and its denominator is wrong: a row is an order, and one customer can place several.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52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set counts distinct ids: 23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column counted as a list and as a set gives 30 and 23.</a:t>
            </a:r>
          </a:p>
        </p:txBody>
      </p:sp>
      <p:pic>
        <p:nvPicPr>
          <p:cNvPr id="9" name="mermaid diagram" descr="66b4e121e16331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3214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31780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len(ids) is 30 and len(set(ids)) is 23: seven orders came from people who had already bought.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40 / 52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the mean of the counts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per customer is also the average of the dictionary's values.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second_route = sum(counts.values()) / len(counts)   # 1.30, the same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163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2730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297738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19684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ratio route needs two counts; the counts route needs the rows and also shows the spread, 16 at one and 7 at two, which the ratio hides.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41 / 52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3 fills both customer branches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23 customers, 1.30 orders each, 7 came back, and the tree multiplies back.</a:t>
            </a:r>
          </a:p>
        </p:txBody>
      </p:sp>
      <p:pic>
        <p:nvPicPr>
          <p:cNvPr id="9" name="mermaid diagram" descr="9d2b79a6708e97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"Your first 30 was a count of rows, divided as if it were people. A count of people comes from their ids, and every rate you send upstairs names its denominator."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Your extract shows 30 orders and 30 customers; what do you check before saying nobody comes back?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42 / 52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typical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Anand said no averages, and one order is about to show why.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43 / 52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first order's worth decides the payback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payback case values each new customer by the order they will place.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does a typical order look like?"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98399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8399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" y="3871976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typical order, which marketing's payback credits to every new customer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and the marketing lead; Anand, who warned against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first order valued eight times too high, and a payback that looks short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44 / 52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Blinkit reports AOV, a mean, for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reported average order value is the right number for totals across millions of orders.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518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BLINKIT NET AOV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2,443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DARK 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MediaNama on Eternal's results, 24 July 2026. The mean is the right number for totals and the wrong one for one shopper's basket when a few very large orders share the file.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45 / 52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middles, sized on one large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far each moves when one invented Rs 90,000 order joins five invented small ones.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2318"/>
                <a:gridCol w="3343153"/>
                <a:gridCol w="504551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Moves with one large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Right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14,623, every rupee of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Totals must multiply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Median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50, one place in the sort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is what a typical order looks like.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Trimmed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83, and it needs a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There is a stated rule for how many to drop.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Mean per customer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 at all within a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type gets its own plan.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for the typical order, with A beside it for the total. D answers better when marketing prices the payback per customer type, which the second case tests. The numbers in this table are invented.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46 / 52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build: the median is Rs 2,205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Sort the 30 amounts and take halfway between the 15th and the 16th.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halfway between Rs 2,110 and Rs 2,300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OVER 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order does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When the mean is eight times the median, sort the file before quoting either.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47 / 52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a typical order is Rs 18,160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mean, as it appears on marketing's slide.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"A typical Kalpa order is Rs 18,160, and so is each new customer's first order."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total over 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 of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ABOVE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29 sit below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3921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Valued at Rs 18,160, a new customer looks about eight times more valuable than the orders Kalpa takes, and Rs 12 crore looks cheap.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3" name="Oval 2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5" name="Oval 2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7" name="Oval 2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9" name="Oval 2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48 / 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29 of 30 orders sit below the mean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04 draws every amount as a dot; here, where they sit against the mean.</a:t>
            </a:r>
          </a:p>
        </p:txBody>
      </p:sp>
      <p:pic>
        <p:nvPicPr>
          <p:cNvPr id="9" name="mermaid diagram" descr="f13c429466f1ca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956816"/>
            <a:ext cx="5143500" cy="30432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1463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dots pile up below Rs 5,000 and the mean stands far to the right of them.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49 / 52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send the median, and say which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typical order is Rs 2,205, the mean stays for totals, and the top order gets its own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median, booked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OVERSTATED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typical order, credited at the mean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8816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9135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Report the median for the typical order and the mean for the total, and say which order separates them. A payback needs a mean, from the segment the spend targets, with the one-off large order set aside.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50 / 52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statistics.median agrees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library holds the even-count rule, and must match the hand-written middle.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ranked = sorted(amounts)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median = (ranked[14] + ranked[15]) / 2      # 2205.0, by hand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statistics.median(amounts)                  # 2205.0,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Write the middle once by hand so the even-count rule is yours; then use the library, and in Week 2 PERCENTILE_CONT(0.5) and pandas median.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51 / 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morning's tree points at frequency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measured and named: 16 of 23 bought once, and a typical order is Rs 2,205.</a:t>
            </a:r>
          </a:p>
        </p:txBody>
      </p:sp>
      <p:pic>
        <p:nvPicPr>
          <p:cNvPr id="9" name="mermaid diagram" descr="f6600bb199e6ec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528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"Anand said no averages and you know why. Put the median in the sentence, say the mean is eight times higher, and say one order does it."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502152"/>
            <a:ext cx="5899425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37048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381457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64845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3867912"/>
            <a:ext cx="4756425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Mean or median for order value, and why?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52 / 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