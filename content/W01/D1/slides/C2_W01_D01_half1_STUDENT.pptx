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before the clock starts. Leave Meera's words up while the room settles and do not explain</a:t>
            </a:r>
          </a:p>
          <a:p>
            <a:r>
              <a:t>them yet: the next slide sets out the questions that climb to her answer, and the story ends on her</a:t>
            </a:r>
          </a:p>
          <a:p>
            <a:r>
              <a:t>full message. Say once that Kalpa is fictional and the whole programme is set inside it, and that</a:t>
            </a:r>
          </a:p>
          <a:p>
            <a:r>
              <a:t>the first 45 minutes are about the business, with no laptop open.</a:t>
            </a:r>
          </a:p>
          <a:p>
            <a:r>
              <a:t>Transition: the day's question, and the nine questions that climb to its answer.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day's question once, then the nine short questions in order: the story</a:t>
            </a:r>
          </a:p>
          <a:p>
            <a:r>
              <a:t>first, chapters 1 to 4 this morning with a break before chapter 4, and chapters 5 and 6 and the two</a:t>
            </a:r>
          </a:p>
          <a:p>
            <a:r>
              <a:t>cases after lunch. Each chapter ends on a number, the next chapter asks the question that number</a:t>
            </a:r>
          </a:p>
          <a:p>
            <a:r>
              <a:t>raises, and the afternoon closes on the sentence Meera signs. Answer nothing yet.</a:t>
            </a:r>
          </a:p>
          <a:p>
            <a:r>
              <a:t>Ask: if you had to answer Meera by tonight, which of the nine would you start with? Take one answer</a:t>
            </a:r>
          </a:p>
          <a:p>
            <a:r>
              <a:t>and leave it open.</a:t>
            </a:r>
          </a:p>
          <a:p>
            <a:r>
              <a:t>Watch for anyone who jumps straight to "buy more customers" or "cut prices"; write it on the board</a:t>
            </a:r>
          </a:p>
          <a:p>
            <a:r>
              <a:t>and say chapter 5 tests it.</a:t>
            </a:r>
          </a:p>
          <a:p>
            <a:r>
              <a:t>Transition: before any data, the business, starting with how a retailer earns.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45 minutes in six parts, told from the talk track, trainer/C2_W01_D01_domain_story_TRAINER.md,</a:t>
            </a:r>
          </a:p>
          <a:p>
            <a:r>
              <a:t>which holds what to say, the question for each part and the facts you may quote with their sources:</a:t>
            </a:r>
          </a:p>
          <a:p>
            <a:r>
              <a:t>the map 1, the Saturday 7, the real companies 7, where Rs 100 goes 10, who asks 6, the tree 9, and</a:t>
            </a:r>
          </a:p>
          <a:p>
            <a:r>
              <a:t>describing to acting 5. No laptop opens. Each part puts one drawing on the board, and the Rs 100</a:t>
            </a:r>
          </a:p>
          <a:p>
            <a:r>
              <a:t>journey and the metric tree stay up all day. The story states every metric as a formula with what it</a:t>
            </a:r>
          </a:p>
          <a:p>
            <a:r>
              <a:t>answers and who asks, and it stages no wrong number, since each of those belongs to a chapter.</a:t>
            </a:r>
          </a:p>
          <a:p>
            <a:r>
              <a:t>Meera's ask follows in 4 minutes. The domain card goes out at the close of the afternoon.</a:t>
            </a:r>
          </a:p>
          <a:p>
            <a:r>
              <a:t>Transition: the six questions the story answers.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first of part 1's 8. Read the six questions aloud and say that the story</a:t>
            </a:r>
          </a:p>
          <a:p>
            <a:r>
              <a:t>answers them in this order and then hands over to Meera's message. Nobody needs to write anything,</a:t>
            </a:r>
          </a:p>
          <a:p>
            <a:r>
              <a:t>since each part leaves a drawing on the board.</a:t>
            </a:r>
          </a:p>
          <a:p>
            <a:r>
              <a:t>Ask: which of the six have you wondered about as a shopper? Take one hand.</a:t>
            </a:r>
          </a:p>
          <a:p>
            <a:r>
              <a:t>Watch for laptops opening; the story runs without them.</a:t>
            </a:r>
          </a:p>
          <a:p>
            <a:r>
              <a:t>Transition: one Saturday at a Kalpa Retail store and on its app.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the rest of part 1 of the talk track. Tell the Saturday: the store manager checks</a:t>
            </a:r>
          </a:p>
          <a:p>
            <a:r>
              <a:t>every shelf against its planogram, and one check in twenty-five finds a gap; the truck brings 900 of</a:t>
            </a:r>
          </a:p>
          <a:p>
            <a:r>
              <a:t>the 1,000 cases the cookware supplier was asked for; 1,200 people come through the doors and 480 pay</a:t>
            </a:r>
          </a:p>
          <a:p>
            <a:r>
              <a:t>at a till, with an average bill of Rs 1,250. On the app the same day, 50,000 people open it 80,000</a:t>
            </a:r>
          </a:p>
          <a:p>
            <a:r>
              <a:t>times, fill 8,000 carts and place 2,000 orders averaging Rs 1,500. Follow one Retail-Plus member's</a:t>
            </a:r>
          </a:p>
          <a:p>
            <a:r>
              <a:t>basket: Rs 2,000 of goods, Rs 200 off in a promotion, Rs 1,800 paid with a card the app holds only</a:t>
            </a:r>
          </a:p>
          <a:p>
            <a:r>
              <a:t>as a token. Next week the bedsheet comes back, and a cash-on-delivery parcel is refused at the door</a:t>
            </a:r>
          </a:p>
          <a:p>
            <a:r>
              <a:t>and travels back as an RTO. On Monday the CEO reads one page.</a:t>
            </a:r>
          </a:p>
          <a:p>
            <a:r>
              <a:t>Ask: think of the last thing you bought in a shop and the last thing you ordered on an app; which</a:t>
            </a:r>
          </a:p>
          <a:p>
            <a:r>
              <a:t>one knew more about you, and what exactly did it know?</a:t>
            </a:r>
          </a:p>
          <a:p>
            <a:r>
              <a:t>Watch for "the shop, because the staff know me": the staff may, and the till keeps only the bill.</a:t>
            </a:r>
          </a:p>
          <a:p>
            <a:r>
              <a:t>Land it: the data team works where customers leave traces, and a store leaves far fewer than an app.</a:t>
            </a:r>
          </a:p>
          <a:p>
            <a:r>
              <a:t>Draw the value chain on the board, six boxes left to right.</a:t>
            </a:r>
          </a:p>
          <a:p>
            <a:r>
              <a:t>Transition: which real companies Kalpa is like.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part 2 of the talk track. Ask first: what does your phone company know about you</a:t>
            </a:r>
          </a:p>
          <a:p>
            <a:r>
              <a:t>that a grocer would want? Listen for where you are through the day, the apps you open, how you pay</a:t>
            </a:r>
          </a:p>
          <a:p>
            <a:r>
              <a:t>and your number.</a:t>
            </a:r>
          </a:p>
          <a:p>
            <a:r>
              <a:t>Watch for "if both belong to one group, the grocer can simply use it": India's data protection law</a:t>
            </a:r>
          </a:p>
          <a:p>
            <a:r>
              <a:t>ties each use of personal data to a purpose the person agreed to, so even inside one group the</a:t>
            </a:r>
          </a:p>
          <a:p>
            <a:r>
              <a:t>purpose decides what one business may use.</a:t>
            </a:r>
          </a:p>
          <a:p>
            <a:r>
              <a:t>Say that Kalpa Group is headquartered in Singapore and runs five businesses, and that its data and</a:t>
            </a:r>
          </a:p>
          <a:p>
            <a:r>
              <a:t>engineering centre in Bengaluru, the Global Capability Centre, is the team the room has joined.</a:t>
            </a:r>
          </a:p>
          <a:p>
            <a:r>
              <a:t>Reliance and Tata are real groups built like it: in the quarter to June 2026 Reliance reported Jio</a:t>
            </a:r>
          </a:p>
          <a:p>
            <a:r>
              <a:t>with 533 million subscribers and Reliance Retail with 20,169 stores (Reliance Industries media</a:t>
            </a:r>
          </a:p>
          <a:p>
            <a:r>
              <a:t>release, 17 July 2026). The centre works like the Indian centres of Walmart, Target, Tesco and</a:t>
            </a:r>
          </a:p>
          <a:p>
            <a:r>
              <a:t>Lowe's, and Retail-Plus is Kalpa's paid tier, a membership of the kind Amazon Prime is.</a:t>
            </a:r>
          </a:p>
          <a:p>
            <a:r>
              <a:t>Draw the group on the board, six boxes.</a:t>
            </a:r>
          </a:p>
          <a:p>
            <a:r>
              <a:t>Transition: where the money from one basket goes.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 part 3 of the talk track, the part never to cut. The numbers are illustrative.</a:t>
            </a:r>
          </a:p>
          <a:p>
            <a:r>
              <a:t>Say that GMV, gross merchandise value, is everything customers ordered at the price they were</a:t>
            </a:r>
          </a:p>
          <a:p>
            <a:r>
              <a:t>charged, and that finance reports a smaller number, net revenue, which is what Kalpa earns from the</a:t>
            </a:r>
          </a:p>
          <a:p>
            <a:r>
              <a:t>goods. The two differ on purpose: Rs 100 of GMV becomes Rs 80 of net revenue, and what the Rs 20</a:t>
            </a:r>
          </a:p>
          <a:p>
            <a:r>
              <a:t>between them is, the room finds in chapter 1 this morning, so hold the question until then. From net</a:t>
            </a:r>
          </a:p>
          <a:p>
            <a:r>
              <a:t>revenue take the cost of the goods and gross margin is left; take what every order costs and</a:t>
            </a:r>
          </a:p>
          <a:p>
            <a:r>
              <a:t>contribution is left; take the costs that do not grow with one more order and EBITDA is left. Real</a:t>
            </a:r>
          </a:p>
          <a:p>
            <a:r>
              <a:t>retailers keep a thin slice: DMart reported profit after tax of 4.8 percent of revenue for FY26</a:t>
            </a:r>
          </a:p>
          <a:p>
            <a:r>
              <a:t>(Avenue Supermarts results release, 2 May 2026).</a:t>
            </a:r>
          </a:p>
          <a:p>
            <a:r>
              <a:t>Ask first: of the member's Rs 1,800, how much does Kalpa keep as EBITDA: under Rs 20, Rs 20 to 100,</a:t>
            </a:r>
          </a:p>
          <a:p>
            <a:r>
              <a:t>Rs 100 to 400, or more than Rs 400? Hands up for each range, then reveal about Rs 50 on these</a:t>
            </a:r>
          </a:p>
          <a:p>
            <a:r>
              <a:t>illustrative numbers, the basket's Rs 150 of contribution less about Rs 100 towards the costs that</a:t>
            </a:r>
          </a:p>
          <a:p>
            <a:r>
              <a:t>do not change with one more order.</a:t>
            </a:r>
          </a:p>
          <a:p>
            <a:r>
              <a:t>Watch for rooms that guess high; they most need this part.</a:t>
            </a:r>
          </a:p>
          <a:p>
            <a:r>
              <a:t>Add the marketplace sentence: a marketplace such as Flipkart or Amazon India books only its fees as</a:t>
            </a:r>
          </a:p>
          <a:p>
            <a:r>
              <a:t>revenue, and a foreign-owned multi-brand e-commerce business selling to Indian consumers must run</a:t>
            </a:r>
          </a:p>
          <a:p>
            <a:r>
              <a:t>that way under Press Note 2 of 2018.</a:t>
            </a:r>
          </a:p>
          <a:p>
            <a:r>
              <a:t>Draw Rs 100's journey on the board, five boxes top to bottom, with the first arrow left as a</a:t>
            </a:r>
          </a:p>
          <a:p>
            <a:r>
              <a:t>question. It stays up all day.</a:t>
            </a:r>
          </a:p>
          <a:p>
            <a:r>
              <a:t>Transition: who asks the data team for which number.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part 4 of the talk track. Name the boxes: Meera Raghavan; Anand Iyer, the finance</a:t>
            </a:r>
          </a:p>
          <a:p>
            <a:r>
              <a:t>controller; the marketing lead and the head of Retail-Plus; customer support, where Farhan Sheikh</a:t>
            </a:r>
          </a:p>
          <a:p>
            <a:r>
              <a:t>arrives in Week 8 with two thousand tickets a day; the other functions, whose heads the story has</a:t>
            </a:r>
          </a:p>
          <a:p>
            <a:r>
              <a:t>not named; and Kavya Nair with us in the GCC, who checks everything before it leaves the team. The</a:t>
            </a:r>
          </a:p>
          <a:p>
            <a:r>
              <a:t>data platform lead sits beside the GCC and wants the warehouse queried, never exported.</a:t>
            </a:r>
          </a:p>
          <a:p>
            <a:r>
              <a:t>Ask: if one of our numbers is wrong, whose mistake can we undo next week, and whose can we not?</a:t>
            </a:r>
          </a:p>
          <a:p>
            <a:r>
              <a:t>Watch for "all of them, we send a correction": a correction fixes the dashboard, and the decision</a:t>
            </a:r>
          </a:p>
          <a:p>
            <a:r>
              <a:t>taken on the wrong number stays taken.</a:t>
            </a:r>
          </a:p>
          <a:p>
            <a:r>
              <a:t>Land it: before a number leaves the team, know who asked for it and whether being wrong can be</a:t>
            </a:r>
          </a:p>
          <a:p>
            <a:r>
              <a:t>taken back.</a:t>
            </a:r>
          </a:p>
          <a:p>
            <a:r>
              <a:t>Draw who asks on the board, six boxes. If short of time, draw it, ask once and move on.</a:t>
            </a:r>
          </a:p>
          <a:p>
            <a:r>
              <a:t>Transition: the tree every retail number hangs off.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9 minutes, part 5 of the talk track, the other part never to cut. Say that revenue is</a:t>
            </a:r>
          </a:p>
          <a:p>
            <a:r>
              <a:t>customers, times orders per customer, times average order value, and that order value is items per</a:t>
            </a:r>
          </a:p>
          <a:p>
            <a:r>
              <a:t>order times price per item, less discounts. Customers are new or returning: winning new ones costs</a:t>
            </a:r>
          </a:p>
          <a:p>
            <a:r>
              <a:t>acquisition, and bringing them back is retention. Stock on the shelf decides whether any of it can</a:t>
            </a:r>
          </a:p>
          <a:p>
            <a:r>
              <a:t>happen, and some of what is ordered does not stay sold, which is why the leaks sit beside the tree.</a:t>
            </a:r>
          </a:p>
          <a:p>
            <a:r>
              <a:t>Read each formula with who asks for it, and add conversion, orders over visits in the same window,</a:t>
            </a:r>
          </a:p>
          <a:p>
            <a:r>
              <a:t>which the app team asks for. Every metric is a numerator over a denominator in one window.</a:t>
            </a:r>
          </a:p>
          <a:p>
            <a:r>
              <a:t>Ask: which branch does marketing's Rs 12 crore grow, and which would an offer to Retail-Plus</a:t>
            </a:r>
          </a:p>
          <a:p>
            <a:r>
              <a:t>members grow?</a:t>
            </a:r>
          </a:p>
          <a:p>
            <a:r>
              <a:t>Watch for the pair customers and orders per customer; some will add order value for a membership</a:t>
            </a:r>
          </a:p>
          <a:p>
            <a:r>
              <a:t>that lifts the basket.</a:t>
            </a:r>
          </a:p>
          <a:p>
            <a:r>
              <a:t>Land it: each branch has an owner, a formula and a cost to move, and Meera will ask which branch is</a:t>
            </a:r>
          </a:p>
          <a:p>
            <a:r>
              <a:t>short.</a:t>
            </a:r>
          </a:p>
          <a:p>
            <a:r>
              <a:t>Draw the metric tree on the board, six boxes, and leave it up all day; the chapters write their</a:t>
            </a:r>
          </a:p>
          <a:p>
            <a:r>
              <a:t>numbers onto it.</a:t>
            </a:r>
          </a:p>
          <a:p>
            <a:r>
              <a:t>Transition: from describing what happened to letting a system act.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part 6 of the talk track. Say that analytics describes and a person reads it, a</a:t>
            </a:r>
          </a:p>
          <a:p>
            <a:r>
              <a:t>forecast predicts and a person decides, a model recommends and a person approves, and an agent acts</a:t>
            </a:r>
          </a:p>
          <a:p>
            <a:r>
              <a:t>inside limits with nobody checking before it takes effect. Klarna's AI assistant took two-thirds of</a:t>
            </a:r>
          </a:p>
          <a:p>
            <a:r>
              <a:t>its customer-service chats in its first month in 2024 (Klarna, 27 February 2024), and fifteen months</a:t>
            </a:r>
          </a:p>
          <a:p>
            <a:r>
              <a:t>later its chief executive said the cost focus had lowered quality (Fortune, 9 May 2025); a tribunal</a:t>
            </a:r>
          </a:p>
          <a:p>
            <a:r>
              <a:t>held Air Canada responsible for what its chatbot said about a refund (Moffatt v. Air Canada, 2024</a:t>
            </a:r>
          </a:p>
          <a:p>
            <a:r>
              <a:t>BCCRT 149).</a:t>
            </a:r>
          </a:p>
          <a:p>
            <a:r>
              <a:t>Ask: which would you let a system do with no person checking: send the Monday numbers, reorder</a:t>
            </a:r>
          </a:p>
          <a:p>
            <a:r>
              <a:t>detergent, refund the bedsheet, change a price?</a:t>
            </a:r>
          </a:p>
          <a:p>
            <a:r>
              <a:t>Watch for "the Monday numbers, since they are only a report": they are the riskiest of the four,</a:t>
            </a:r>
          </a:p>
          <a:p>
            <a:r>
              <a:t>because the CEO decides on them before anyone could catch a wrong one, and the detergent reorder</a:t>
            </a:r>
          </a:p>
          <a:p>
            <a:r>
              <a:t>inside limits is the safest.</a:t>
            </a:r>
          </a:p>
          <a:p>
            <a:r>
              <a:t>Land it: an agent is only as safe as its policy and the limits around it. Keep the domain card back</a:t>
            </a:r>
          </a:p>
          <a:p>
            <a:r>
              <a:t>until the close of the afternoon.</a:t>
            </a:r>
          </a:p>
          <a:p>
            <a:r>
              <a:t>Transition: the business in one line, and the question its CEO asked 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story's last line aloud: "That is the business. On Monday its CEO read</a:t>
            </a:r>
          </a:p>
          <a:p>
            <a:r>
              <a:t>one page: revenue grew 4 percent against a plan of 15, marketing wants Rs 12 crore, and she asked us</a:t>
            </a:r>
          </a:p>
          <a:p>
            <a:r>
              <a:t>one question before she signs anything." Then read her message and Anand's line. Do not explain</a:t>
            </a:r>
          </a:p>
          <a:p>
            <a:r>
              <a:t>Anand's line; chapter 4 tests it on the file.</a:t>
            </a:r>
          </a:p>
          <a:p>
            <a:r>
              <a:t>Ask: which sentence in her message is the real question? Most pick the last one.</a:t>
            </a:r>
          </a:p>
          <a:p>
            <a:r>
              <a:t>Transition: her message, split into the questions the chapters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Point at each row once. Chapters 1 to 4 run this morning with the break before</a:t>
            </a:r>
          </a:p>
          <a:p>
            <a:r>
              <a:t>chapter 4; chapters 5 and 6 open the afternoon, then the escalated case and the second case. Every</a:t>
            </a:r>
          </a:p>
          <a:p>
            <a:r>
              <a:t>chapter ends on a number written onto the board tree.</a:t>
            </a:r>
          </a:p>
          <a:p>
            <a:r>
              <a:t>Ask: which row would marketing like us to skip? Take one answer; chapter 3 comes back to it.</a:t>
            </a:r>
          </a:p>
          <a:p>
            <a:r>
              <a:t>Transition: chapter 1, which total is sales.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minutes: the map 1, the need 2, Reliance 2, the options 4, the picture 1, the build 7 (the</a:t>
            </a:r>
          </a:p>
          <a:p>
            <a:r>
              <a:t>loop 3, with 2 of them for the TypeError if it happens, the predict 1, the answer 2 and the check</a:t>
            </a:r>
          </a:p>
          <a:p>
            <a:r>
              <a:t>1), the trap 7 (the draft 2, why it is wrong 3 and the fix 2), the second route 3 and the close 3.</a:t>
            </a:r>
          </a:p>
          <a:p>
            <a:r>
              <a:t>Notebook 01 is the demonstration, and every number on these slides is one it prints.</a:t>
            </a:r>
          </a:p>
          <a:p>
            <a:r>
              <a:t>Transition: who needs the answer, and the six questions on the 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six questions; the chapter's last slide answers each in one line. The file</a:t>
            </a:r>
          </a:p>
          <a:p>
            <a:r>
              <a:t>is 30 Kalpa Retail orders from 1 July to 26 September 2026, an 88-day window, and each order is</a:t>
            </a:r>
          </a:p>
          <a:p>
            <a:r>
              <a:t>delivered, returned after delivery or cancelled before it left.</a:t>
            </a:r>
          </a:p>
          <a:p>
            <a:r>
              <a:t>Ask the room to hold one question for a slide: what could "sales" mean?</a:t>
            </a:r>
          </a:p>
          <a:p>
            <a:r>
              <a:t>Transition: the need, in Meera's words.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Ask the room to name what "sales" could mean, and write each answer on the board.</a:t>
            </a:r>
          </a:p>
          <a:p>
            <a:r>
              <a:t>Most name everything ordered first; somebody says "what we delivered". Say that the story left</a:t>
            </a:r>
          </a:p>
          <a:p>
            <a:r>
              <a:t>Rs 20 between Rs 100 of GMV and Rs 80 of net revenue as a question, and that this chapter finds the</a:t>
            </a:r>
          </a:p>
          <a:p>
            <a:r>
              <a:t>part of that gap the file can show.</a:t>
            </a:r>
          </a:p>
          <a:p>
            <a:r>
              <a:t>Watch for "sales is the sum of the amount column"; hold it for the options.</a:t>
            </a:r>
          </a:p>
          <a:p>
            <a:r>
              <a:t>Transition: a real retailer that publishes two totals for the same quarter.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company is real and the numbers are its own. Make one point: the largest</a:t>
            </a:r>
          </a:p>
          <a:p>
            <a:r>
              <a:t>retailer in India states which revenue it means, and so does every number the team sends. Point at</a:t>
            </a:r>
          </a:p>
          <a:p>
            <a:r>
              <a:t>the first arrow of the Rs 100 drawing on the board and write "tax" and "never stayed sold" beside it.</a:t>
            </a:r>
          </a:p>
          <a:p>
            <a:r>
              <a:t>Ask: which of Reliance's two totals would an investor compare with last year's? Either works, as</a:t>
            </a:r>
          </a:p>
          <a:p>
            <a:r>
              <a:t>long as it is the same one both years.</a:t>
            </a:r>
          </a:p>
          <a:p>
            <a:r>
              <a:t>Transition: four ways the team could answer Meera.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Walk the four. D is fine at 30 rows and impossible at 30 lakh; C is the right</a:t>
            </a:r>
          </a:p>
          <a:p>
            <a:r>
              <a:t>answer for the board and too slow for a first look; A is the fastest and hides its definition. What</a:t>
            </a:r>
          </a:p>
          <a:p>
            <a:r>
              <a:t>would change the call: Finance has fixed the definition the 15 percent plan was set on.</a:t>
            </a:r>
          </a:p>
          <a:p>
            <a:r>
              <a:t>Ask: which would you run first if Meera wanted an answer in ten minutes? Most say A; ask what it</a:t>
            </a:r>
          </a:p>
          <a:p>
            <a:r>
              <a:t>would count.</a:t>
            </a:r>
          </a:p>
          <a:p>
            <a:r>
              <a:t>Transition: what each reading keeps.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Draw this chain under the board tree. An engineer who can say what the data cannot</a:t>
            </a:r>
          </a:p>
          <a:p>
            <a:r>
              <a:t>answer saves the CEO from a guess.</a:t>
            </a:r>
          </a:p>
          <a:p>
            <a:r>
              <a:t>Transition: the loop that computes all three readings.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2 of them for the TypeError if it happens. Walk the loop: one dictionary holds four</a:t>
            </a:r>
          </a:p>
          <a:p>
            <a:r>
              <a:t>running totals, and each if keeps what its reading keeps. When the room runs the notebook's first</a:t>
            </a:r>
          </a:p>
          <a:p>
            <a:r>
              <a:t>loop, which adds the amounts without int(), it may stop on a TypeError. Give it two minutes and no</a:t>
            </a:r>
          </a:p>
          <a:p>
            <a:r>
              <a:t>more: read the last line bottom up (the kind of error, the operation, the two types), have each</a:t>
            </a:r>
          </a:p>
          <a:p>
            <a:r>
              <a:t>learner print the loop variable on their own screen without reading the record out, apply int() as</a:t>
            </a:r>
          </a:p>
          <a:p>
            <a:r>
              <a:t>this loop does, and move on. Wednesday asks why an amount arrived that way.</a:t>
            </a:r>
          </a:p>
          <a:p>
            <a:r>
              <a:t>Watch for learners who start cleaning the file; today's fix is int() and nothing more.</a:t>
            </a:r>
          </a:p>
          <a:p>
            <a:r>
              <a:t>Transition: predict the result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Letters by hand. Most say c; some say a because "only delivered is real", which</a:t>
            </a:r>
          </a:p>
          <a:p>
            <a:r>
              <a:t>confuses the largest reading with the truest one.</a:t>
            </a:r>
          </a:p>
          <a:p>
            <a:r>
              <a:t>Transition: run it and read the three.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c. Delivered (a) is the smallest, since it drops the returns as well</a:t>
            </a:r>
          </a:p>
          <a:p>
            <a:r>
              <a:t>as the cancellations; not cancelled (b) keeps less than booked; the three could only be equal (d) if</a:t>
            </a:r>
          </a:p>
          <a:p>
            <a:r>
              <a:t>no order were cancelled or returned. Read the three with their order counts: the order count, 30,</a:t>
            </a:r>
          </a:p>
          <a:p>
            <a:r>
              <a:t>is a fourth reading, how many times somebody decided to buy. Point at the axis, which starts at</a:t>
            </a:r>
          </a:p>
          <a:p>
            <a:r>
              <a:t>Rs 5 lakh so the gaps show; say so whenever an axis does not start at zero.</a:t>
            </a:r>
          </a:p>
          <a:p>
            <a:r>
              <a:t>Ask: which of the three goes in front of Meera? Take two answers and leave them open.</a:t>
            </a:r>
          </a:p>
          <a:p>
            <a:r>
              <a:t>Transition: the check that the loop did what it claims.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 check proves the build did what it claims before anyone reads the number aloud.</a:t>
            </a:r>
          </a:p>
          <a:p>
            <a:r>
              <a:t>Point out that these checks test the build and cannot say which reading is sales; that is a</a:t>
            </a:r>
          </a:p>
          <a:p>
            <a:r>
              <a:t>business question.</a:t>
            </a:r>
          </a:p>
          <a:p>
            <a:r>
              <a:t>Transition: the line a colleague sent Meera first.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Present it confidently, as the colleague's figure, before anyone in the room has</a:t>
            </a:r>
          </a:p>
          <a:p>
            <a:r>
              <a:t>checked it. Ask what is wrong with it, and which decision it would mislead: the plan's base, and the</a:t>
            </a:r>
          </a:p>
          <a:p>
            <a:r>
              <a:t>channel whose orders sit inside it.</a:t>
            </a:r>
          </a:p>
          <a:p>
            <a:r>
              <a:t>Watch for "nothing, the sum is correct": agree that the sum is correct, and ask what it counts.</a:t>
            </a:r>
          </a:p>
          <a:p>
            <a:r>
              <a:t>Transition: the check that catches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check counts orders before anything is summed. Store's 10 orders overstate its</a:t>
            </a:r>
          </a:p>
          <a:p>
            <a:r>
              <a:t>kept orders by 4 in 10. The five web returns did become sales and came back, which is why they stay</a:t>
            </a:r>
          </a:p>
          <a:p>
            <a:r>
              <a:t>in "not cancelled" and leave "delivered".</a:t>
            </a:r>
          </a:p>
          <a:p>
            <a:r>
              <a:t>Ask: if the head of stores read the draft, what would they believe about store's quarter?</a:t>
            </a:r>
          </a:p>
          <a:p>
            <a:r>
              <a:t>Transition: the fix, drawn as a bridge.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What changed: Rs 9,050 and 4 store orders leave sales, and store's kept orders fall</a:t>
            </a:r>
          </a:p>
          <a:p>
            <a:r>
              <a:t>from the 10 the draft implied to 6. Write both totals on the root of the board tree, each with its</a:t>
            </a:r>
          </a:p>
          <a:p>
            <a:r>
              <a:t>definition.</a:t>
            </a:r>
          </a:p>
          <a:p>
            <a:r>
              <a:t>Transition: the same three totals by a second route.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Run the notebook's second-route cell; its checks assert that both routes agree to</a:t>
            </a:r>
          </a:p>
          <a:p>
            <a:r>
              <a:t>the rupee on all three readings. When to switch: a part-refund status tomorrow needs a new if in the</a:t>
            </a:r>
          </a:p>
          <a:p>
            <a:r>
              <a:t>one-loop route and nothing in this one; write each reading out when a reader must see the</a:t>
            </a:r>
          </a:p>
          <a:p>
            <a:r>
              <a:t>definition. At a million rows both become one GROUP BY status, which Week 2 teaches.</a:t>
            </a:r>
          </a:p>
          <a:p>
            <a:r>
              <a:t>Transition: the chapter's answers, one line each.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six answers down the table. Kavya Nair is the team's senior analyst, and</a:t>
            </a:r>
          </a:p>
          <a:p>
            <a:r>
              <a:t>her review closes every chapter. One learner answers the interview question aloud in under a</a:t>
            </a:r>
          </a:p>
          <a:p>
            <a:r>
              <a:t>minute: name the readings, say what each answers, choose one for the decision and state the others</a:t>
            </a:r>
          </a:p>
          <a:p>
            <a:r>
              <a:t>beside it.</a:t>
            </a:r>
          </a:p>
          <a:p>
            <a:r>
              <a:t>Transition: chapter 2, what each branch of the tree is.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minutes: the map 1, the need 2, Jio 1, the options 4, the picture 2, the build 6 (the code</a:t>
            </a:r>
          </a:p>
          <a:p>
            <a:r>
              <a:t>2, the predict 1, the answer 2 and the check 1), the trap 9 (the predict 1, the wrong answer 3, why</a:t>
            </a:r>
          </a:p>
          <a:p>
            <a:r>
              <a:t>it is wrong 3 and the fix 2), the second route 3 and the close 2. Notebook 02 is the demonstration.</a:t>
            </a:r>
          </a:p>
          <a:p>
            <a:r>
              <a:t>Transition: who needs the branches, and the six questions on the way.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Chapter 1 settled the readings: Rs 5,44,810 booked on 30 orders, Rs 5,35,760 not</a:t>
            </a:r>
          </a:p>
          <a:p>
            <a:r>
              <a:t>cancelled on 26 and Rs 5,20,790 delivered on 21. This chapter builds the tree on them, on the booked</a:t>
            </a:r>
          </a:p>
          <a:p>
            <a:r>
              <a:t>definition. Read the six questions.</a:t>
            </a:r>
          </a:p>
          <a:p>
            <a:r>
              <a:t>Transition: why each branch has to be a fraction.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Check the multiplication with units on the board: customers times orders per</a:t>
            </a:r>
          </a:p>
          <a:p>
            <a:r>
              <a:t>customer gives orders, and orders times revenue per order gives rupees, because each denominator</a:t>
            </a:r>
          </a:p>
          <a:p>
            <a:r>
              <a:t>cancels the next numerator. That is also why a branch measured on another definition breaks the</a:t>
            </a:r>
          </a:p>
          <a:p>
            <a:r>
              <a:t>chain.</a:t>
            </a:r>
          </a:p>
          <a:p>
            <a:r>
              <a:t>Transition: a real company that reports its revenue this way.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Kalpa Connect is the Jio-like unit and arrives in Build 3. The point is the shape: a</a:t>
            </a:r>
          </a:p>
          <a:p>
            <a:r>
              <a:t>company reports its branches, each as a fraction.</a:t>
            </a:r>
          </a:p>
          <a:p>
            <a:r>
              <a:t>Transition: which tree this file can fill.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sizing here counts fields: the file's seven fields fill A and B. Ask what data</a:t>
            </a:r>
          </a:p>
          <a:p>
            <a:r>
              <a:t>would let us draw C; the order-items table arrives later in the programme, and traffic data would</a:t>
            </a:r>
          </a:p>
          <a:p>
            <a:r>
              <a:t>put D in front of the tree.</a:t>
            </a:r>
          </a:p>
          <a:p>
            <a:r>
              <a:t>Transition: the tree the file can fill, drawn beside what it cannot.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Draw the three lower branches dashed on the board tree. Saying which branches the</a:t>
            </a:r>
          </a:p>
          <a:p>
            <a:r>
              <a:t>file cannot fill is part of the answer, because those are the ones nobody can plan on yet.</a:t>
            </a:r>
          </a:p>
          <a:p>
            <a:r>
              <a:t>Transition: the code that measures the first branch.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Walk the three lines: a count, a sum on one definition, and the fraction of the</a:t>
            </a:r>
          </a:p>
          <a:p>
            <a:r>
              <a:t>two. Say aloud that both lines read the same list, which is what one definition means in code.</a:t>
            </a:r>
          </a:p>
          <a:p>
            <a:r>
              <a:t>Transition: predict what the two multiply back to.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Letters by hand. Most say a; some say c because of rounding.</a:t>
            </a:r>
          </a:p>
          <a:p>
            <a:r>
              <a:t>Transition: the answer, with the AOV.</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a. Repeat customers (b) never enter this fraction, which counts</a:t>
            </a:r>
          </a:p>
          <a:p>
            <a:r>
              <a:t>orders; rounding (c) moves the product by a few rupees at most; prices per item (d) split the AOV</a:t>
            </a:r>
          </a:p>
          <a:p>
            <a:r>
              <a:t>further and do not change it. Write Rs 18,160 on the board tree in pencil with a question mark;</a:t>
            </a:r>
          </a:p>
          <a:p>
            <a:r>
              <a:t>Anand's warning is about this number, and chapter 4 comes back to it.</a:t>
            </a:r>
          </a:p>
          <a:p>
            <a:r>
              <a:t>Transition: the checks.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checks prove the build. They cannot say whether Rs 18,160 describes an order</a:t>
            </a:r>
          </a:p>
          <a:p>
            <a:r>
              <a:t>anyone at Kalpa would recognise, which is chapter 4's question.</a:t>
            </a:r>
          </a:p>
          <a:p>
            <a:r>
              <a:t>Transition: what happens when two reports feed one fraction.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Letters by hand. Most divide and get c; the real question is whether anyone objects</a:t>
            </a:r>
          </a:p>
          <a:p>
            <a:r>
              <a:t>to the division itself.</a:t>
            </a:r>
          </a:p>
          <a:p>
            <a:r>
              <a:t>Transition: the answer, and the note a colleague sent with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answer is c, Rs 5,44,810 over 21. Rs 18,160 (a) is booked over booked, Rs 24,800</a:t>
            </a:r>
          </a:p>
          <a:p>
            <a:r>
              <a:t>(b) is delivered over delivered, and Rs 23,687 (d) divides by the 23 customers. What the mixed</a:t>
            </a:r>
          </a:p>
          <a:p>
            <a:r>
              <a:t>number would mislead: marketing's payback case would value each new customer's order at Rs 25,943.</a:t>
            </a:r>
          </a:p>
          <a:p>
            <a:r>
              <a:t>The error stays invisible until something is multiplied back.</a:t>
            </a:r>
          </a:p>
          <a:p>
            <a:r>
              <a:t>Ask: which half of the fraction would you check first?</a:t>
            </a:r>
          </a:p>
          <a:p>
            <a:r>
              <a:t>Transition: the check that catches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Multiplying the mixed AOV by the 21 delivered orders would only hand back the</a:t>
            </a:r>
          </a:p>
          <a:p>
            <a:r>
              <a:t>numerator, so the check uses the 30 orders the booked rupees came from: 30 x (Rs 5,44,810 / 21) is</a:t>
            </a:r>
          </a:p>
          <a:p>
            <a:r>
              <a:t>Rs 7,78,300.</a:t>
            </a:r>
          </a:p>
          <a:p>
            <a:r>
              <a:t>Transition: the fix.</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What changed: two honest AOVs, each sent with its definition, and the mixed</a:t>
            </a:r>
          </a:p>
          <a:p>
            <a:r>
              <a:t>Rs 25,943 goes nowhere. Marketing's note names which of the two it uses.</a:t>
            </a:r>
          </a:p>
          <a:p>
            <a:r>
              <a:t>Transition: the same AOV by a second route.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notebook asserts that the three routes agree, and they agree because the mean</a:t>
            </a:r>
          </a:p>
          <a:p>
            <a:r>
              <a:t>is what the tree calls AOV. The switch that matters is chapter 4's: when the question is what a</a:t>
            </a:r>
          </a:p>
          <a:p>
            <a:r>
              <a:t>typical order looks like, the mean may be the wrong middle.</a:t>
            </a:r>
          </a:p>
          <a:p>
            <a:r>
              <a:t>Transition: the chapter's answers, one line each.</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learner answers aloud: draw the tree, measure each branch on one window and one</a:t>
            </a:r>
          </a:p>
          <a:p>
            <a:r>
              <a:t>definition, find the short one, then place initiatives on it.</a:t>
            </a:r>
          </a:p>
          <a:p>
            <a:r>
              <a:t>Transition: chapter 3, the customer branches counted.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minutes: the map 1, the need 2, Reliance 1, the options 4, the picture 2, the build 8 (the</a:t>
            </a:r>
          </a:p>
          <a:p>
            <a:r>
              <a:t>code 2, the predict 1, the answer 3 and the check 2), the trap 8 (the draft 3, why it is wrong 3</a:t>
            </a:r>
          </a:p>
          <a:p>
            <a:r>
              <a:t>and the fix 2), the second route 2 and the close 2. D53, the count on delivered orders, is</a:t>
            </a:r>
          </a:p>
          <a:p>
            <a:r>
              <a:t>self-study; in the room it is the first thing to cut. Notebook 03 is the demonstration.</a:t>
            </a:r>
          </a:p>
          <a:p>
            <a:r>
              <a:t>Transition: who needs the count, and the six questions on the way.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Chapter 2 measured order value: Rs 5,44,810 over 30 orders is an AOV of Rs 18,160,</a:t>
            </a:r>
          </a:p>
          <a:p>
            <a:r>
              <a:t>and the two customer branches are still empty. Read the six questions.</a:t>
            </a:r>
          </a:p>
          <a:p>
            <a:r>
              <a:t>Transition: what rides on the count.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Ask: if nobody ever came back, what would orders per customer be? Exactly 1. Keep</a:t>
            </a:r>
          </a:p>
          <a:p>
            <a:r>
              <a:t>that thought for the trap.</a:t>
            </a:r>
          </a:p>
          <a:p>
            <a:r>
              <a:t>Transition: a real retailer's customer count, and its denominator.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point is the denominator: registered, active and ordering customers are three</a:t>
            </a:r>
          </a:p>
          <a:p>
            <a:r>
              <a:t>different counts, and each gives a different rate.</a:t>
            </a:r>
          </a:p>
          <a:p>
            <a:r>
              <a:t>Transition: four ways to count customers.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B is right when only the count is needed, and C when someone will ask who came</a:t>
            </a:r>
          </a:p>
          <a:p>
            <a:r>
              <a:t>back. The switch to SQL is Week 2's.</a:t>
            </a:r>
          </a:p>
          <a:p>
            <a:r>
              <a:t>Ask: which option would you trust if the file had a million rows and you had one minute?</a:t>
            </a:r>
          </a:p>
          <a:p>
            <a:r>
              <a:t>Transition: why one person can leave several rows.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Draw it with the three invented rows. The rows are orders, and the people behind</a:t>
            </a:r>
          </a:p>
          <a:p>
            <a:r>
              <a:t>them are the customers; the rate needs people in its denominator.</a:t>
            </a:r>
          </a:p>
          <a:p>
            <a:r>
              <a:t>Transition: the build on Kalpa's 30 rows.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Walk the loop line by line, then the two lines under it: the number of keys is the</a:t>
            </a:r>
          </a:p>
          <a:p>
            <a:r>
              <a:t>number of customers, and the counts of one are the customers who bought once.</a:t>
            </a:r>
          </a:p>
          <a:p>
            <a:r>
              <a:t>Transition: predict how many came back.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Letters by hand. Some say 16, confusing one-time buyers with repeat buyers.</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answer is b. Orders per customer near 1 (a) still leaves room for 7 repeat</a:t>
            </a:r>
          </a:p>
          <a:p>
            <a:r>
              <a:t>buyers; 16 (c) are the customers who bought once; 23 (d) is every customer. Write 23 and 1.30 on the</a:t>
            </a:r>
          </a:p>
          <a:p>
            <a:r>
              <a:t>board tree. One repeat customer carries Retail-Core on one order and Retail-Plus on the other,</a:t>
            </a:r>
          </a:p>
          <a:p>
            <a:r>
              <a:t>because the segment is recorded on each order, so a count of customers per segment has to say which</a:t>
            </a:r>
          </a:p>
          <a:p>
            <a:r>
              <a:t>order's segment it used.</a:t>
            </a:r>
          </a:p>
          <a:p>
            <a:r>
              <a:t>Transition: the checks.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Both checks pass in the notebook. With the rounded 1.30 and Rs 18,160 the product</a:t>
            </a:r>
          </a:p>
          <a:p>
            <a:r>
              <a:t>comes to about Rs 5,43,000, so write the fractions unrounded when you check the identity.</a:t>
            </a:r>
          </a:p>
          <a:p>
            <a:r>
              <a:t>Transition: the count a colleague sent first.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Present it as the figure a colleague's first draft sent Meera before the room built</a:t>
            </a:r>
          </a:p>
          <a:p>
            <a:r>
              <a:t>the count: the case for the budget, made by a counting slip. Ask what would check it before the</a:t>
            </a:r>
          </a:p>
          <a:p>
            <a:r>
              <a:t>next slide.</a:t>
            </a:r>
          </a:p>
          <a:p>
            <a:r>
              <a:t>Watch for learners who accept it because the division is right.</a:t>
            </a:r>
          </a:p>
          <a:p>
            <a:r>
              <a:t>Transition: the check.</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A set keeps each value once however often it is added, so the list's 30 against the</a:t>
            </a:r>
          </a:p>
          <a:p>
            <a:r>
              <a:t>set's 23 says 7 orders came from people who had already bought.</a:t>
            </a:r>
          </a:p>
          <a:p>
            <a:r>
              <a:t>Transition: the fix.</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What changed, in customers: 7 people the draft could not see.</a:t>
            </a:r>
          </a:p>
          <a:p>
            <a:r>
              <a:t>Transition: the same rate by a second route.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notebook asserts that the two routes agree and that the dictionary's keys are</a:t>
            </a:r>
          </a:p>
          <a:p>
            <a:r>
              <a:t>the set's members.</a:t>
            </a:r>
          </a:p>
          <a:p>
            <a:r>
              <a:t>Transition: the chapter's answers; D53, on delivered orders, is self-study.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3 minutes. Chapter 1's delivered reading kept 21 of the 30 orders; counted by id they</a:t>
            </a:r>
          </a:p>
          <a:p>
            <a:r>
              <a:t>come from 19 customers, 1.11 orders each, and 2 of them kept two. The escalated case this afternoon</a:t>
            </a:r>
          </a:p>
          <a:p>
            <a:r>
              <a:t>rebuilds Meera's answer on delivered orders, and this is its first leaf. In the room, cut this slide</a:t>
            </a:r>
          </a:p>
          <a:p>
            <a:r>
              <a:t>first.</a:t>
            </a:r>
          </a:p>
          <a:p>
            <a:r>
              <a:t>Transition: the chapter's answers.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learner answers aloud: rows against distinct ids, then the window, since a</a:t>
            </a:r>
          </a:p>
          <a:p>
            <a:r>
              <a:t>customer who buys every four months looks like a one-time buyer in one quarter, then whether one</a:t>
            </a:r>
          </a:p>
          <a:p>
            <a:r>
              <a:t>person can carry two ids.</a:t>
            </a:r>
          </a:p>
          <a:p>
            <a:r>
              <a:t>Transition: a 10-minute break, then chapter 4.</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minutes after the break: the map 1, the need 2, Blinkit 1, the options 4, the picture 2,</a:t>
            </a:r>
          </a:p>
          <a:p>
            <a:r>
              <a:t>the build 6 (the code 2, the predict 1, the answer 2 and the check 1), the trap 9 (marketing's slide</a:t>
            </a:r>
          </a:p>
          <a:p>
            <a:r>
              <a:t>3, why it is wrong with the sort 4 and the fix 2), the second route 3 and the close 2. D64 and D65,</a:t>
            </a:r>
          </a:p>
          <a:p>
            <a:r>
              <a:t>the trimmed mean on Kalpa's orders, are self-study. Notebook 04 is the demonstration.</a:t>
            </a:r>
          </a:p>
          <a:p>
            <a:r>
              <a:t>Transition: who needs a typical order, and the six questions on the way.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Chapter 3 found 23 customers, 1.30 orders each and 7 who came back, and the tree</a:t>
            </a:r>
          </a:p>
          <a:p>
            <a:r>
              <a:t>multiplies back through an AOV of Rs 18,160. Read the six questions.</a:t>
            </a:r>
          </a:p>
          <a:p>
            <a:r>
              <a:t>Transition: what the typical order prices.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Anand's line again; now it can be tested on the file.</a:t>
            </a:r>
          </a:p>
          <a:p>
            <a:r>
              <a:t>Transition: a real company's reported order value.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 mean over millions of similar small baskets describes them well; the question is</a:t>
            </a:r>
          </a:p>
          <a:p>
            <a:r>
              <a:t>whether Kalpa's 30 orders are that kind of file.</a:t>
            </a:r>
          </a:p>
          <a:p>
            <a:r>
              <a:t>Transition: four middles a team could report.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invented set is five orders from Rs 1,900 to Rs 2,600 plus one of Rs 90,000;</a:t>
            </a:r>
          </a:p>
          <a:p>
            <a:r>
              <a:t>the notebook's sizing cell draws the three moves. The trimmed mean is the middle a spreadsheet user</a:t>
            </a:r>
          </a:p>
          <a:p>
            <a:r>
              <a:t>reaches for first, and it needs a rule for how many orders to drop.</a:t>
            </a:r>
          </a:p>
          <a:p>
            <a:r>
              <a:t>Ask: which of the four would Anand accept, and why?</a:t>
            </a:r>
          </a:p>
          <a:p>
            <a:r>
              <a:t>Transition: the picture of what one large order does.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numbers are invented and are no Kalpa orders.</a:t>
            </a:r>
          </a:p>
          <a:p>
            <a:r>
              <a:t>Transition: the median on Kalpa's 30 orders.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Walk the two lines. Ask what changes with an odd count, say 31 orders: one middle</a:t>
            </a:r>
          </a:p>
          <a:p>
            <a:r>
              <a:t>order, ranked[15], and no averaging.</a:t>
            </a:r>
          </a:p>
          <a:p>
            <a:r>
              <a:t>Transition: predict the median.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Letters by hand. Many expect b, since in a textbook the mean and the median sit close</a:t>
            </a:r>
          </a:p>
          <a:p>
            <a:r>
              <a:t>together.</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a. The mean (b) and the median would match only if the orders spread</a:t>
            </a:r>
          </a:p>
          <a:p>
            <a:r>
              <a:t>evenly around it; half the mean (c) has no rule behind it; Rs 2,300 (d) is one of the two middle</a:t>
            </a:r>
          </a:p>
          <a:p>
            <a:r>
              <a:t>orders, and an even count takes the halfway point. Write Rs 2,205 on the board tree beside the</a:t>
            </a:r>
          </a:p>
          <a:p>
            <a:r>
              <a:t>pencilled Rs 18,160.</a:t>
            </a:r>
          </a:p>
          <a:p>
            <a:r>
              <a:t>Transition: the check.</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notebook's checks confirm that the median is Rs 2,205 and the mean about eight</a:t>
            </a:r>
          </a:p>
          <a:p>
            <a:r>
              <a:t>times it. Two middles that far apart are a finding in themselves.</a:t>
            </a:r>
          </a:p>
          <a:p>
            <a:r>
              <a:t>Transition: marketing's slide; D64 and D65, on the trimmed mean, are self-study.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2 minutes. This is option C from the options slide, run on Kalpa's own orders, as</a:t>
            </a:r>
          </a:p>
          <a:p>
            <a:r>
              <a:t>notebook 04's second level runs it.</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2 minutes. The answer is c. The trimmed mean falls far from the mean (a) and from the</a:t>
            </a:r>
          </a:p>
          <a:p>
            <a:r>
              <a:t>halfway point (b), and it cannot fall below every order (d), since it averages 28 of them.</a:t>
            </a:r>
          </a:p>
          <a:p>
            <a:r>
              <a:t>Transition: marketing's slide.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Present it as marketing's slide, which reached Meera before the room built the</a:t>
            </a:r>
          </a:p>
          <a:p>
            <a:r>
              <a:t>median; the room's job is to name the check. Ask first how many of the 30 orders sit above the</a:t>
            </a:r>
          </a:p>
          <a:p>
            <a:r>
              <a:t>mean; most say about half.</a:t>
            </a:r>
          </a:p>
          <a:p>
            <a:r>
              <a:t>Transition: the check.</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A middle that describes the orders has about half of them on each side, and the</a:t>
            </a:r>
          </a:p>
          <a:p>
            <a:r>
              <a:t>median has 15 above it by construction. Show the strip chart in notebook 04, where the amounts sit</a:t>
            </a:r>
          </a:p>
          <a:p>
            <a:r>
              <a:t>on a scale in which each step is ten times the one before: they pile up in the low thousands, and</a:t>
            </a:r>
          </a:p>
          <a:p>
            <a:r>
              <a:t>the mean stands far to the right of them. Then every learner runs the sort in the notebook's empty</a:t>
            </a:r>
          </a:p>
          <a:p>
            <a:r>
              <a:t>cell and reads their own result; nobody reads a record aloud.</a:t>
            </a:r>
          </a:p>
          <a:p>
            <a:r>
              <a:t>Transition: the fix.</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What changed: the typical order is Rs 2,205, and the slide's Rs 18,160 overstates it</a:t>
            </a:r>
          </a:p>
          <a:p>
            <a:r>
              <a:t>about eightfold. Rub out the pencilled Rs 18,160 on the board tree and write Rs 2,205. The payback</a:t>
            </a:r>
          </a:p>
          <a:p>
            <a:r>
              <a:t>still needs a mean, taken from the customers the spend targets, which chapter 5 builds.</a:t>
            </a:r>
          </a:p>
          <a:p>
            <a:r>
              <a:t>Transition: the median by a second route.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notebook asserts that both routes agree on both definitions. After this the</a:t>
            </a:r>
          </a:p>
          <a:p>
            <a:r>
              <a:t>library is the route; the switch that still matters is between middles, since the mean comes back</a:t>
            </a:r>
          </a:p>
          <a:p>
            <a:r>
              <a:t>whenever a total has to reconcile.</a:t>
            </a:r>
          </a:p>
          <a:p>
            <a:r>
              <a:t>Transition: the chapter's answers.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learner answers aloud: the median when a few large orders can pull the mean,</a:t>
            </a:r>
          </a:p>
          <a:p>
            <a:r>
              <a:t>reported with the count of orders above the mean, and the mean kept for totals, since mean times</a:t>
            </a:r>
          </a:p>
          <a:p>
            <a:r>
              <a:t>count gives revenue. Chapter 5 takes the payback's mean from the three consumer segments Meera's</a:t>
            </a:r>
          </a:p>
          <a:p>
            <a:r>
              <a:t>plan concerns, Retail-Core, Retail-Plus and Student. Leave the tree on the board over lunch; chapter</a:t>
            </a:r>
          </a:p>
          <a:p>
            <a:r>
              <a:t>5 opens on it and asks which branch Meera opens first.</a:t>
            </a:r>
          </a:p>
          <a:p>
            <a:r>
              <a:t>Transition: lunch, then chapter 5 in the afternoon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5.xml"/><Relationship Id="rId6"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8.xml"/><Relationship Id="rId5"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1.xml"/><Relationship Id="rId5"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3.xml"/><Relationship Id="rId5"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 Id="rId5"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6.xml"/><Relationship Id="rId5" Type="http://schemas.openxmlformats.org/officeDocument/2006/relationships/image" Target="../media/image12.png"/><Relationship Id="rId6"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20.pn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0.xml"/><Relationship Id="rId5"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3.xml"/><Relationship Id="rId5"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6.xml"/><Relationship Id="rId5"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8.xml"/><Relationship Id="rId5"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1.xml"/><Relationship Id="rId5" Type="http://schemas.openxmlformats.org/officeDocument/2006/relationships/image" Target="../media/image12.png"/><Relationship Id="rId6"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2.xml"/><Relationship Id="rId5" Type="http://schemas.openxmlformats.org/officeDocument/2006/relationships/image" Target="../media/image12.png"/><Relationship Id="rId6"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20.png"/><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46.xml"/><Relationship Id="rId6"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9.xml"/><Relationship Id="rId5"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2.xml"/><Relationship Id="rId5" Type="http://schemas.openxmlformats.org/officeDocument/2006/relationships/image" Target="../media/image3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3.xml"/><Relationship Id="rId5" Type="http://schemas.openxmlformats.org/officeDocument/2006/relationships/image" Target="../media/image3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4.xml"/><Relationship Id="rId5" Type="http://schemas.openxmlformats.org/officeDocument/2006/relationships/image" Target="../media/image3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5.xml"/><Relationship Id="rId5" Type="http://schemas.openxmlformats.org/officeDocument/2006/relationships/image" Target="../media/image3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8.xml"/><Relationship Id="rId5" Type="http://schemas.openxmlformats.org/officeDocument/2006/relationships/image" Target="../media/image3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20.png"/><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5.xml"/><Relationship Id="rId5" Type="http://schemas.openxmlformats.org/officeDocument/2006/relationships/image" Target="../media/image3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8.xml"/><Relationship Id="rId5" Type="http://schemas.openxmlformats.org/officeDocument/2006/relationships/image" Target="../media/image3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1.xml"/><Relationship Id="rId5" Type="http://schemas.openxmlformats.org/officeDocument/2006/relationships/image" Target="../media/image3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2.xml"/><Relationship Id="rId5" Type="http://schemas.openxmlformats.org/officeDocument/2006/relationships/image" Target="../media/image3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3.xml"/><Relationship Id="rId5" Type="http://schemas.openxmlformats.org/officeDocument/2006/relationships/image" Target="../media/image3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20.png"/><Relationship Id="rId6" Type="http://schemas.openxmlformats.org/officeDocument/2006/relationships/notesSlide" Target="../notesSlides/notesSlide7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196228"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1  ·  MONDAY  ·  MORNING</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The question before the budget</a:t>
            </a:r>
          </a:p>
        </p:txBody>
      </p:sp>
      <p:sp>
        <p:nvSpPr>
          <p:cNvPr id="9" name="TextBox 8"/>
          <p:cNvSpPr txBox="1"/>
          <p:nvPr/>
        </p:nvSpPr>
        <p:spPr>
          <a:xfrm>
            <a:off x="621792" y="3635756"/>
            <a:ext cx="10033711" cy="663956"/>
          </a:xfrm>
          <a:prstGeom prst="rect">
            <a:avLst/>
          </a:prstGeom>
          <a:noFill/>
        </p:spPr>
        <p:txBody>
          <a:bodyPr wrap="square" anchor="t" lIns="0" rIns="0" tIns="0" bIns="0">
            <a:spAutoFit/>
          </a:bodyPr>
          <a:lstStyle/>
          <a:p>
            <a:pPr algn="l"/>
            <a:r>
              <a:rPr sz="1900" b="0" i="1">
                <a:solidFill>
                  <a:srgbClr val="D9A7FF"/>
                </a:solidFill>
                <a:latin typeface="Georgia"/>
              </a:rPr>
              <a:t>“Before I sign anything, I want to understand our own sales. Is acquisition even the branch that is short?”</a:t>
            </a:r>
          </a:p>
        </p:txBody>
      </p:sp>
      <p:sp>
        <p:nvSpPr>
          <p:cNvPr id="10" name="TextBox 9"/>
          <p:cNvSpPr txBox="1"/>
          <p:nvPr/>
        </p:nvSpPr>
        <p:spPr>
          <a:xfrm>
            <a:off x="621792" y="4354576"/>
            <a:ext cx="10033711" cy="218186"/>
          </a:xfrm>
          <a:prstGeom prst="rect">
            <a:avLst/>
          </a:prstGeom>
          <a:noFill/>
        </p:spPr>
        <p:txBody>
          <a:bodyPr wrap="square" anchor="t" lIns="0" rIns="0" tIns="0" bIns="0">
            <a:spAutoFit/>
          </a:bodyPr>
          <a:lstStyle/>
          <a:p>
            <a:pPr algn="l"/>
            <a:r>
              <a:rPr sz="1100" b="0" i="0">
                <a:solidFill>
                  <a:srgbClr val="CFC9EE"/>
                </a:solidFill>
                <a:latin typeface="Calibri"/>
              </a:rPr>
              <a:t>Meera Raghavan, CEO, Kalpa Retail, to the data and AI team at Kalpa's Global Capability Centre</a:t>
            </a:r>
          </a:p>
        </p:txBody>
      </p:sp>
      <p:sp>
        <p:nvSpPr>
          <p:cNvPr id="11" name="TextBox 10"/>
          <p:cNvSpPr txBox="1"/>
          <p:nvPr/>
        </p:nvSpPr>
        <p:spPr>
          <a:xfrm>
            <a:off x="62179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00</a:t>
            </a:r>
          </a:p>
        </p:txBody>
      </p:sp>
      <p:sp>
        <p:nvSpPr>
          <p:cNvPr id="12" name="TextBox 11"/>
          <p:cNvSpPr txBox="1"/>
          <p:nvPr/>
        </p:nvSpPr>
        <p:spPr>
          <a:xfrm>
            <a:off x="1005839" y="5248656"/>
            <a:ext cx="1365885" cy="185166"/>
          </a:xfrm>
          <a:prstGeom prst="rect">
            <a:avLst/>
          </a:prstGeom>
          <a:noFill/>
        </p:spPr>
        <p:txBody>
          <a:bodyPr wrap="square" anchor="t" lIns="0" rIns="0" tIns="0" bIns="0">
            <a:spAutoFit/>
          </a:bodyPr>
          <a:lstStyle/>
          <a:p>
            <a:pPr algn="l"/>
            <a:r>
              <a:rPr sz="900" b="0" i="0">
                <a:solidFill>
                  <a:srgbClr val="FFFFFF"/>
                </a:solidFill>
                <a:latin typeface="Calibri"/>
              </a:rPr>
              <a:t>How does retail earn</a:t>
            </a:r>
          </a:p>
        </p:txBody>
      </p:sp>
      <p:sp>
        <p:nvSpPr>
          <p:cNvPr id="13" name="TextBox 12"/>
          <p:cNvSpPr txBox="1"/>
          <p:nvPr/>
        </p:nvSpPr>
        <p:spPr>
          <a:xfrm>
            <a:off x="2554605"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4" name="TextBox 13"/>
          <p:cNvSpPr txBox="1"/>
          <p:nvPr/>
        </p:nvSpPr>
        <p:spPr>
          <a:xfrm>
            <a:off x="2938653" y="5248656"/>
            <a:ext cx="1365885" cy="185166"/>
          </a:xfrm>
          <a:prstGeom prst="rect">
            <a:avLst/>
          </a:prstGeom>
          <a:noFill/>
        </p:spPr>
        <p:txBody>
          <a:bodyPr wrap="square" anchor="t" lIns="0" rIns="0" tIns="0" bIns="0">
            <a:spAutoFit/>
          </a:bodyPr>
          <a:lstStyle/>
          <a:p>
            <a:pPr algn="l"/>
            <a:r>
              <a:rPr sz="900" b="0" i="0">
                <a:solidFill>
                  <a:srgbClr val="FFFFFF"/>
                </a:solidFill>
                <a:latin typeface="Calibri"/>
              </a:rPr>
              <a:t>Which total is sales</a:t>
            </a:r>
          </a:p>
        </p:txBody>
      </p:sp>
      <p:sp>
        <p:nvSpPr>
          <p:cNvPr id="15" name="TextBox 14"/>
          <p:cNvSpPr txBox="1"/>
          <p:nvPr/>
        </p:nvSpPr>
        <p:spPr>
          <a:xfrm>
            <a:off x="4487418"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6" name="TextBox 15"/>
          <p:cNvSpPr txBox="1"/>
          <p:nvPr/>
        </p:nvSpPr>
        <p:spPr>
          <a:xfrm>
            <a:off x="4871466" y="5248656"/>
            <a:ext cx="1306734" cy="185166"/>
          </a:xfrm>
          <a:prstGeom prst="rect">
            <a:avLst/>
          </a:prstGeom>
          <a:noFill/>
        </p:spPr>
        <p:txBody>
          <a:bodyPr wrap="square" anchor="t" lIns="0" rIns="0" tIns="0" bIns="0">
            <a:spAutoFit/>
          </a:bodyPr>
          <a:lstStyle/>
          <a:p>
            <a:pPr algn="l"/>
            <a:r>
              <a:rPr sz="900" b="0" i="0">
                <a:solidFill>
                  <a:srgbClr val="FFFFFF"/>
                </a:solidFill>
                <a:latin typeface="Calibri"/>
              </a:rPr>
              <a:t>What is each branch</a:t>
            </a:r>
          </a:p>
        </p:txBody>
      </p:sp>
      <p:sp>
        <p:nvSpPr>
          <p:cNvPr id="17" name="TextBox 16"/>
          <p:cNvSpPr txBox="1"/>
          <p:nvPr/>
        </p:nvSpPr>
        <p:spPr>
          <a:xfrm>
            <a:off x="6361080"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03</a:t>
            </a:r>
          </a:p>
        </p:txBody>
      </p:sp>
      <p:sp>
        <p:nvSpPr>
          <p:cNvPr id="18" name="TextBox 17"/>
          <p:cNvSpPr txBox="1"/>
          <p:nvPr/>
        </p:nvSpPr>
        <p:spPr>
          <a:xfrm>
            <a:off x="6745128" y="5248656"/>
            <a:ext cx="1484185" cy="185166"/>
          </a:xfrm>
          <a:prstGeom prst="rect">
            <a:avLst/>
          </a:prstGeom>
          <a:noFill/>
        </p:spPr>
        <p:txBody>
          <a:bodyPr wrap="square" anchor="t" lIns="0" rIns="0" tIns="0" bIns="0">
            <a:spAutoFit/>
          </a:bodyPr>
          <a:lstStyle/>
          <a:p>
            <a:pPr algn="l"/>
            <a:r>
              <a:rPr sz="900" b="0" i="0">
                <a:solidFill>
                  <a:srgbClr val="FFFFFF"/>
                </a:solidFill>
                <a:latin typeface="Calibri"/>
              </a:rPr>
              <a:t>Do customers come back</a:t>
            </a:r>
          </a:p>
        </p:txBody>
      </p:sp>
      <p:sp>
        <p:nvSpPr>
          <p:cNvPr id="19" name="TextBox 18"/>
          <p:cNvSpPr txBox="1"/>
          <p:nvPr/>
        </p:nvSpPr>
        <p:spPr>
          <a:xfrm>
            <a:off x="8412194"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04</a:t>
            </a:r>
          </a:p>
        </p:txBody>
      </p:sp>
      <p:sp>
        <p:nvSpPr>
          <p:cNvPr id="20" name="TextBox 19"/>
          <p:cNvSpPr txBox="1"/>
          <p:nvPr/>
        </p:nvSpPr>
        <p:spPr>
          <a:xfrm>
            <a:off x="8796242" y="5248656"/>
            <a:ext cx="1543335" cy="185166"/>
          </a:xfrm>
          <a:prstGeom prst="rect">
            <a:avLst/>
          </a:prstGeom>
          <a:noFill/>
        </p:spPr>
        <p:txBody>
          <a:bodyPr wrap="square" anchor="t" lIns="0" rIns="0" tIns="0" bIns="0">
            <a:spAutoFit/>
          </a:bodyPr>
          <a:lstStyle/>
          <a:p>
            <a:pPr algn="l"/>
            <a:r>
              <a:rPr sz="900" b="0" i="0">
                <a:solidFill>
                  <a:srgbClr val="FFFFFF"/>
                </a:solidFill>
                <a:latin typeface="Calibri"/>
              </a:rPr>
              <a:t>What is a typical order</a:t>
            </a:r>
          </a:p>
        </p:txBody>
      </p:sp>
      <p:sp>
        <p:nvSpPr>
          <p:cNvPr id="21" name="TextBox 20"/>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1. The question before the budget</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76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Nine questions climb to Meera's answer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Before Meera signs Rs 12 crore for new customers, is acquisition even the branch of sales that is short?</a:t>
            </a:r>
          </a:p>
        </p:txBody>
      </p:sp>
      <p:pic>
        <p:nvPicPr>
          <p:cNvPr id="9" name="mermaid diagram" descr="6e49ef48999e1989.png"/>
          <p:cNvPicPr>
            <a:picLocks noChangeAspect="1"/>
          </p:cNvPicPr>
          <p:nvPr/>
        </p:nvPicPr>
        <p:blipFill>
          <a:blip r:embed="rId5"/>
          <a:stretch>
            <a:fillRect/>
          </a:stretch>
        </p:blipFill>
        <p:spPr>
          <a:xfrm>
            <a:off x="530352" y="1956816"/>
            <a:ext cx="11130991" cy="3944242"/>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2" name="Oval 11"/>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4" name="Oval 13"/>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8" name="Oval 17"/>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2 / 76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04</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How does retail earn</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How does a retailer like Kalpa make money, who asks the data team for which number, and how is each number worked out?</a:t>
            </a:r>
          </a:p>
        </p:txBody>
      </p:sp>
      <p:sp>
        <p:nvSpPr>
          <p:cNvPr id="10" name="Rounded Rectangle 9"/>
          <p:cNvSpPr/>
          <p:nvPr/>
        </p:nvSpPr>
        <p:spPr>
          <a:xfrm>
            <a:off x="731519" y="5074920"/>
            <a:ext cx="155007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How does retail earn</a:t>
            </a:r>
          </a:p>
        </p:txBody>
      </p:sp>
      <p:sp>
        <p:nvSpPr>
          <p:cNvPr id="11" name="Rounded Rectangle 10"/>
          <p:cNvSpPr/>
          <p:nvPr/>
        </p:nvSpPr>
        <p:spPr>
          <a:xfrm>
            <a:off x="2391327"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total is sales</a:t>
            </a:r>
          </a:p>
        </p:txBody>
      </p:sp>
      <p:sp>
        <p:nvSpPr>
          <p:cNvPr id="12" name="Rounded Rectangle 11"/>
          <p:cNvSpPr/>
          <p:nvPr/>
        </p:nvSpPr>
        <p:spPr>
          <a:xfrm>
            <a:off x="4051134"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each branch</a:t>
            </a:r>
          </a:p>
        </p:txBody>
      </p:sp>
      <p:sp>
        <p:nvSpPr>
          <p:cNvPr id="13" name="Rounded Rectangle 12"/>
          <p:cNvSpPr/>
          <p:nvPr/>
        </p:nvSpPr>
        <p:spPr>
          <a:xfrm>
            <a:off x="5651726"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 customers come back</a:t>
            </a:r>
          </a:p>
        </p:txBody>
      </p:sp>
      <p:sp>
        <p:nvSpPr>
          <p:cNvPr id="14" name="Rounded Rectangle 13"/>
          <p:cNvSpPr/>
          <p:nvPr/>
        </p:nvSpPr>
        <p:spPr>
          <a:xfrm>
            <a:off x="7429965"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typical order</a:t>
            </a:r>
          </a:p>
        </p:txBody>
      </p:sp>
      <p:sp>
        <p:nvSpPr>
          <p:cNvPr id="15" name="TextBox 14"/>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Monday morning: the story and chapters 1 to 4</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 / 76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team needs the business first, in six questions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to know how a retailer earns, and which questions get us there?</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Everyone on the data team: each of Kalpa's stakeholders asks us for a number, and an analyst who cannot say how the money moves cannot say which number answers them or what a wrong one costs.</a:t>
            </a:r>
          </a:p>
        </p:txBody>
      </p:sp>
      <p:sp>
        <p:nvSpPr>
          <p:cNvPr id="12" name="Rectangle 11"/>
          <p:cNvSpPr/>
          <p:nvPr/>
        </p:nvSpPr>
        <p:spPr>
          <a:xfrm>
            <a:off x="1381734" y="34960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PART 1</a:t>
            </a:r>
          </a:p>
        </p:txBody>
      </p:sp>
      <p:sp>
        <p:nvSpPr>
          <p:cNvPr id="14" name="Oval 13"/>
          <p:cNvSpPr/>
          <p:nvPr/>
        </p:nvSpPr>
        <p:spPr>
          <a:xfrm>
            <a:off x="1281150"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One Saturday</a:t>
            </a:r>
          </a:p>
        </p:txBody>
      </p:sp>
      <p:sp>
        <p:nvSpPr>
          <p:cNvPr id="17" name="TextBox 16"/>
          <p:cNvSpPr txBox="1"/>
          <p:nvPr/>
        </p:nvSpPr>
        <p:spPr>
          <a:xfrm>
            <a:off x="694944"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What happens at a Kalpa store and on its app in one day?</a:t>
            </a:r>
          </a:p>
        </p:txBody>
      </p:sp>
      <p:sp>
        <p:nvSpPr>
          <p:cNvPr id="18" name="TextBox 17"/>
          <p:cNvSpPr txBox="1"/>
          <p:nvPr/>
        </p:nvSpPr>
        <p:spPr>
          <a:xfrm>
            <a:off x="241599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PART 2</a:t>
            </a:r>
          </a:p>
        </p:txBody>
      </p:sp>
      <p:sp>
        <p:nvSpPr>
          <p:cNvPr id="19" name="Oval 18"/>
          <p:cNvSpPr/>
          <p:nvPr/>
        </p:nvSpPr>
        <p:spPr>
          <a:xfrm>
            <a:off x="316679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Real companies</a:t>
            </a:r>
          </a:p>
        </p:txBody>
      </p:sp>
      <p:sp>
        <p:nvSpPr>
          <p:cNvPr id="22" name="TextBox 21"/>
          <p:cNvSpPr txBox="1"/>
          <p:nvPr/>
        </p:nvSpPr>
        <p:spPr>
          <a:xfrm>
            <a:off x="2580589"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Which real companies is Kalpa like?</a:t>
            </a:r>
          </a:p>
        </p:txBody>
      </p:sp>
      <p:sp>
        <p:nvSpPr>
          <p:cNvPr id="23" name="TextBox 22"/>
          <p:cNvSpPr txBox="1"/>
          <p:nvPr/>
        </p:nvSpPr>
        <p:spPr>
          <a:xfrm>
            <a:off x="430164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PART 3</a:t>
            </a:r>
          </a:p>
        </p:txBody>
      </p:sp>
      <p:sp>
        <p:nvSpPr>
          <p:cNvPr id="24" name="Oval 23"/>
          <p:cNvSpPr/>
          <p:nvPr/>
        </p:nvSpPr>
        <p:spPr>
          <a:xfrm>
            <a:off x="505244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Rs 100</a:t>
            </a:r>
          </a:p>
        </p:txBody>
      </p:sp>
      <p:sp>
        <p:nvSpPr>
          <p:cNvPr id="27" name="TextBox 26"/>
          <p:cNvSpPr txBox="1"/>
          <p:nvPr/>
        </p:nvSpPr>
        <p:spPr>
          <a:xfrm>
            <a:off x="4466234"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Where does Rs 100 at the checkout go?</a:t>
            </a:r>
          </a:p>
        </p:txBody>
      </p:sp>
      <p:sp>
        <p:nvSpPr>
          <p:cNvPr id="28" name="TextBox 27"/>
          <p:cNvSpPr txBox="1"/>
          <p:nvPr/>
        </p:nvSpPr>
        <p:spPr>
          <a:xfrm>
            <a:off x="618728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PART 4</a:t>
            </a:r>
          </a:p>
        </p:txBody>
      </p:sp>
      <p:sp>
        <p:nvSpPr>
          <p:cNvPr id="29" name="Oval 28"/>
          <p:cNvSpPr/>
          <p:nvPr/>
        </p:nvSpPr>
        <p:spPr>
          <a:xfrm>
            <a:off x="693808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Who asks</a:t>
            </a:r>
          </a:p>
        </p:txBody>
      </p:sp>
      <p:sp>
        <p:nvSpPr>
          <p:cNvPr id="32" name="TextBox 31"/>
          <p:cNvSpPr txBox="1"/>
          <p:nvPr/>
        </p:nvSpPr>
        <p:spPr>
          <a:xfrm>
            <a:off x="6351879"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Who asks the data team for which number?</a:t>
            </a:r>
          </a:p>
        </p:txBody>
      </p:sp>
      <p:sp>
        <p:nvSpPr>
          <p:cNvPr id="33" name="TextBox 32"/>
          <p:cNvSpPr txBox="1"/>
          <p:nvPr/>
        </p:nvSpPr>
        <p:spPr>
          <a:xfrm>
            <a:off x="807293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PART 5</a:t>
            </a:r>
          </a:p>
        </p:txBody>
      </p:sp>
      <p:sp>
        <p:nvSpPr>
          <p:cNvPr id="34" name="Oval 33"/>
          <p:cNvSpPr/>
          <p:nvPr/>
        </p:nvSpPr>
        <p:spPr>
          <a:xfrm>
            <a:off x="882373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tree</a:t>
            </a:r>
          </a:p>
        </p:txBody>
      </p:sp>
      <p:sp>
        <p:nvSpPr>
          <p:cNvPr id="37" name="TextBox 36"/>
          <p:cNvSpPr txBox="1"/>
          <p:nvPr/>
        </p:nvSpPr>
        <p:spPr>
          <a:xfrm>
            <a:off x="8237524"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Which tree does every retail number hang off?</a:t>
            </a:r>
          </a:p>
        </p:txBody>
      </p:sp>
      <p:sp>
        <p:nvSpPr>
          <p:cNvPr id="38" name="TextBox 37"/>
          <p:cNvSpPr txBox="1"/>
          <p:nvPr/>
        </p:nvSpPr>
        <p:spPr>
          <a:xfrm>
            <a:off x="9958578"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PART 6</a:t>
            </a:r>
          </a:p>
        </p:txBody>
      </p:sp>
      <p:sp>
        <p:nvSpPr>
          <p:cNvPr id="39" name="Oval 38"/>
          <p:cNvSpPr/>
          <p:nvPr/>
        </p:nvSpPr>
        <p:spPr>
          <a:xfrm>
            <a:off x="1070937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People and agents</a:t>
            </a:r>
          </a:p>
        </p:txBody>
      </p:sp>
      <p:sp>
        <p:nvSpPr>
          <p:cNvPr id="42" name="TextBox 41"/>
          <p:cNvSpPr txBox="1"/>
          <p:nvPr/>
        </p:nvSpPr>
        <p:spPr>
          <a:xfrm>
            <a:off x="10123170" y="4464812"/>
            <a:ext cx="1373581" cy="531876"/>
          </a:xfrm>
          <a:prstGeom prst="rect">
            <a:avLst/>
          </a:prstGeom>
          <a:noFill/>
        </p:spPr>
        <p:txBody>
          <a:bodyPr wrap="square" anchor="t" lIns="0" rIns="0" tIns="0" bIns="0">
            <a:spAutoFit/>
          </a:bodyPr>
          <a:lstStyle/>
          <a:p>
            <a:pPr algn="l"/>
            <a:r>
              <a:rPr sz="1000" b="0" i="0">
                <a:solidFill>
                  <a:srgbClr val="6B6690"/>
                </a:solidFill>
                <a:latin typeface="Calibri"/>
              </a:rPr>
              <a:t>How far may a system act with no person checking?</a:t>
            </a:r>
          </a:p>
        </p:txBody>
      </p:sp>
      <p:sp>
        <p:nvSpPr>
          <p:cNvPr id="43" name="Oval 4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How does retail earn</a:t>
            </a:r>
          </a:p>
        </p:txBody>
      </p:sp>
      <p:sp>
        <p:nvSpPr>
          <p:cNvPr id="45" name="Oval 44"/>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47" name="Oval 46"/>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49" name="Oval 4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51" name="Oval 50"/>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4 / 76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Saturday runs from the shelf to Monday's page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happens on one Saturday at a Kalpa store and on its app?</a:t>
            </a:r>
          </a:p>
        </p:txBody>
      </p:sp>
      <p:pic>
        <p:nvPicPr>
          <p:cNvPr id="9" name="mermaid diagram" descr="3f8161a49132def9.png"/>
          <p:cNvPicPr>
            <a:picLocks noChangeAspect="1"/>
          </p:cNvPicPr>
          <p:nvPr/>
        </p:nvPicPr>
        <p:blipFill>
          <a:blip r:embed="rId5"/>
          <a:stretch>
            <a:fillRect/>
          </a:stretch>
        </p:blipFill>
        <p:spPr>
          <a:xfrm>
            <a:off x="780897" y="1956816"/>
            <a:ext cx="10629900" cy="3043237"/>
          </a:xfrm>
          <a:prstGeom prst="rect">
            <a:avLst/>
          </a:prstGeom>
        </p:spPr>
      </p:pic>
      <p:sp>
        <p:nvSpPr>
          <p:cNvPr id="10" name="TextBox 9"/>
          <p:cNvSpPr txBox="1"/>
          <p:nvPr/>
        </p:nvSpPr>
        <p:spPr>
          <a:xfrm>
            <a:off x="530352" y="5146357"/>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Suppliers fill the distribution centre, which stocks the store and feeds the last mile; the app's orders ride the last mile, and what comes back goes to the returns desk.</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5 / 76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Kalpa is built like Reliance, its stores like DMart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real companies is Kalpa like?</a:t>
            </a:r>
          </a:p>
        </p:txBody>
      </p:sp>
      <p:pic>
        <p:nvPicPr>
          <p:cNvPr id="9" name="mermaid diagram" descr="f3348aaf59c80f92.png"/>
          <p:cNvPicPr>
            <a:picLocks noChangeAspect="1"/>
          </p:cNvPicPr>
          <p:nvPr/>
        </p:nvPicPr>
        <p:blipFill>
          <a:blip r:embed="rId5"/>
          <a:stretch>
            <a:fillRect/>
          </a:stretch>
        </p:blipFill>
        <p:spPr>
          <a:xfrm>
            <a:off x="2081847" y="1664208"/>
            <a:ext cx="8028000"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Kalpa is fictional. Its stores work like DMart's and its app sells stock Kalpa owns, like DMart Ready, while Flipkart and Amazon India are marketplaces whose sellers own the goods.</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76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Rs 100 of GMV leaves Rs 2.50 of EBITDA</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Rs 100 ordered go before EBITDA, earnings before interest, tax, depreciation and amortisation?</a:t>
            </a:r>
          </a:p>
        </p:txBody>
      </p:sp>
      <p:pic>
        <p:nvPicPr>
          <p:cNvPr id="9" name="mermaid diagram" descr="a70a039fc224f66d.png"/>
          <p:cNvPicPr>
            <a:picLocks noChangeAspect="1"/>
          </p:cNvPicPr>
          <p:nvPr/>
        </p:nvPicPr>
        <p:blipFill>
          <a:blip r:embed="rId5"/>
          <a:stretch>
            <a:fillRect/>
          </a:stretch>
        </p:blipFill>
        <p:spPr>
          <a:xfrm>
            <a:off x="530352" y="1956816"/>
            <a:ext cx="11130991" cy="745203"/>
          </a:xfrm>
          <a:prstGeom prst="rect">
            <a:avLst/>
          </a:prstGeom>
        </p:spPr>
      </p:pic>
      <p:graphicFrame>
        <p:nvGraphicFramePr>
          <p:cNvPr id="10" name="Table 9"/>
          <p:cNvGraphicFramePr>
            <a:graphicFrameLocks noGrp="1"/>
          </p:cNvGraphicFramePr>
          <p:nvPr/>
        </p:nvGraphicFramePr>
        <p:xfrm>
          <a:off x="530352" y="2848323"/>
          <a:ext cx="11130990" cy="2574544"/>
        </p:xfrm>
        <a:graphic>
          <a:graphicData uri="http://schemas.openxmlformats.org/drawingml/2006/table">
            <a:tbl>
              <a:tblPr firstRow="0" bandRow="0">
                <a:tableStyleId>{2D5ABB26-0587-4C30-8999-92F81FD0307C}</a:tableStyleId>
              </a:tblPr>
              <a:tblGrid>
                <a:gridCol w="3416144"/>
                <a:gridCol w="914400"/>
                <a:gridCol w="6800446"/>
              </a:tblGrid>
              <a:tr h="369824">
                <a:tc>
                  <a:txBody>
                    <a:bodyPr/>
                    <a:lstStyle/>
                    <a:p>
                      <a:r>
                        <a:rPr sz="1450" b="1" i="0">
                          <a:solidFill>
                            <a:srgbClr val="FFFFFF"/>
                          </a:solidFill>
                          <a:latin typeface="Calibri"/>
                        </a:rPr>
                        <a:t>Step</a:t>
                      </a:r>
                    </a:p>
                  </a:txBody>
                  <a:tcPr marL="101600" marR="101600" marT="38100" marB="38100" anchor="ctr">
                    <a:solidFill>
                      <a:srgbClr val="1A0F5C"/>
                    </a:solidFill>
                  </a:tcPr>
                </a:tc>
                <a:tc>
                  <a:txBody>
                    <a:bodyPr/>
                    <a:lstStyle/>
                    <a:p>
                      <a:r>
                        <a:rPr sz="1450" b="1" i="0">
                          <a:solidFill>
                            <a:srgbClr val="FFFFFF"/>
                          </a:solidFill>
                          <a:latin typeface="Calibri"/>
                        </a:rPr>
                        <a:t>Less</a:t>
                      </a:r>
                    </a:p>
                  </a:txBody>
                  <a:tcPr marL="101600" marR="101600" marT="38100" marB="38100" anchor="ctr">
                    <a:solidFill>
                      <a:srgbClr val="1A0F5C"/>
                    </a:solidFill>
                  </a:tcPr>
                </a:tc>
                <a:tc>
                  <a:txBody>
                    <a:bodyPr/>
                    <a:lstStyle/>
                    <a:p>
                      <a:r>
                        <a:rPr sz="1450" b="1" i="0">
                          <a:solidFill>
                            <a:srgbClr val="FFFFFF"/>
                          </a:solidFill>
                          <a:latin typeface="Calibri"/>
                        </a:rPr>
                        <a:t>What goes</a:t>
                      </a:r>
                    </a:p>
                  </a:txBody>
                  <a:tcPr marL="101600" marR="101600" marT="38100" marB="38100" anchor="ctr">
                    <a:solidFill>
                      <a:srgbClr val="1A0F5C"/>
                    </a:solidFill>
                  </a:tcPr>
                </a:tc>
              </a:tr>
              <a:tr h="611632">
                <a:tc>
                  <a:txBody>
                    <a:bodyPr/>
                    <a:lstStyle/>
                    <a:p>
                      <a:r>
                        <a:rPr sz="1400" b="0" i="0">
                          <a:solidFill>
                            <a:srgbClr val="1A1440"/>
                          </a:solidFill>
                          <a:latin typeface="Calibri"/>
                        </a:rPr>
                        <a:t>GMV to net revenue</a:t>
                      </a:r>
                    </a:p>
                  </a:txBody>
                  <a:tcPr marL="101600" marR="101600" marT="38100" marB="38100" anchor="ctr">
                    <a:solidFill>
                      <a:srgbClr val="FFFFFF"/>
                    </a:solidFill>
                  </a:tcPr>
                </a:tc>
                <a:tc>
                  <a:txBody>
                    <a:bodyPr/>
                    <a:lstStyle/>
                    <a:p>
                      <a:r>
                        <a:rPr sz="1400" b="0" i="0">
                          <a:solidFill>
                            <a:srgbClr val="1A1440"/>
                          </a:solidFill>
                          <a:latin typeface="Calibri"/>
                        </a:rPr>
                        <a:t>Rs 20</a:t>
                      </a:r>
                    </a:p>
                  </a:txBody>
                  <a:tcPr marL="101600" marR="101600" marT="38100" marB="38100" anchor="ctr">
                    <a:solidFill>
                      <a:srgbClr val="FFFFFF"/>
                    </a:solidFill>
                  </a:tcPr>
                </a:tc>
                <a:tc>
                  <a:txBody>
                    <a:bodyPr/>
                    <a:lstStyle/>
                    <a:p>
                      <a:r>
                        <a:rPr sz="1400" b="0" i="0">
                          <a:solidFill>
                            <a:srgbClr val="1A1440"/>
                          </a:solidFill>
                          <a:latin typeface="Calibri"/>
                        </a:rPr>
                        <a:t>GMV is everything ordered at the price charged, net revenue is what Kalpa earns from the goods, and chapter 1 finds what sits between them.</a:t>
                      </a:r>
                    </a:p>
                  </a:txBody>
                  <a:tcPr marL="101600" marR="101600" marT="38100" marB="38100" anchor="ctr">
                    <a:solidFill>
                      <a:srgbClr val="FFFFFF"/>
                    </a:solidFill>
                  </a:tcPr>
                </a:tc>
              </a:tr>
              <a:tr h="369824">
                <a:tc>
                  <a:txBody>
                    <a:bodyPr/>
                    <a:lstStyle/>
                    <a:p>
                      <a:r>
                        <a:rPr sz="1400" b="0" i="0">
                          <a:solidFill>
                            <a:srgbClr val="1A1440"/>
                          </a:solidFill>
                          <a:latin typeface="Calibri"/>
                        </a:rPr>
                        <a:t>Net revenue to gross margin</a:t>
                      </a:r>
                    </a:p>
                  </a:txBody>
                  <a:tcPr marL="101600" marR="101600" marT="38100" marB="38100" anchor="ctr">
                    <a:solidFill>
                      <a:srgbClr val="F4F2FA"/>
                    </a:solidFill>
                  </a:tcPr>
                </a:tc>
                <a:tc>
                  <a:txBody>
                    <a:bodyPr/>
                    <a:lstStyle/>
                    <a:p>
                      <a:r>
                        <a:rPr sz="1400" b="0" i="0">
                          <a:solidFill>
                            <a:srgbClr val="1A1440"/>
                          </a:solidFill>
                          <a:latin typeface="Calibri"/>
                        </a:rPr>
                        <a:t>Rs 60</a:t>
                      </a:r>
                    </a:p>
                  </a:txBody>
                  <a:tcPr marL="101600" marR="101600" marT="38100" marB="38100" anchor="ctr">
                    <a:solidFill>
                      <a:srgbClr val="F4F2FA"/>
                    </a:solidFill>
                  </a:tcPr>
                </a:tc>
                <a:tc>
                  <a:txBody>
                    <a:bodyPr/>
                    <a:lstStyle/>
                    <a:p>
                      <a:r>
                        <a:rPr sz="1400" b="0" i="0">
                          <a:solidFill>
                            <a:srgbClr val="1A1440"/>
                          </a:solidFill>
                          <a:latin typeface="Calibri"/>
                        </a:rPr>
                        <a:t>The cost of the goods goes to suppliers.</a:t>
                      </a:r>
                    </a:p>
                  </a:txBody>
                  <a:tcPr marL="101600" marR="101600" marT="38100" marB="38100" anchor="ctr">
                    <a:solidFill>
                      <a:srgbClr val="F4F2FA"/>
                    </a:solidFill>
                  </a:tcPr>
                </a:tc>
              </a:tr>
              <a:tr h="611632">
                <a:tc>
                  <a:txBody>
                    <a:bodyPr/>
                    <a:lstStyle/>
                    <a:p>
                      <a:r>
                        <a:rPr sz="1400" b="0" i="0">
                          <a:solidFill>
                            <a:srgbClr val="1A1440"/>
                          </a:solidFill>
                          <a:latin typeface="Calibri"/>
                        </a:rPr>
                        <a:t>Gross margin to contribution</a:t>
                      </a:r>
                    </a:p>
                  </a:txBody>
                  <a:tcPr marL="101600" marR="101600" marT="38100" marB="38100" anchor="ctr">
                    <a:solidFill>
                      <a:srgbClr val="FFFFFF"/>
                    </a:solidFill>
                  </a:tcPr>
                </a:tc>
                <a:tc>
                  <a:txBody>
                    <a:bodyPr/>
                    <a:lstStyle/>
                    <a:p>
                      <a:r>
                        <a:rPr sz="1400" b="0" i="0">
                          <a:solidFill>
                            <a:srgbClr val="1A1440"/>
                          </a:solidFill>
                          <a:latin typeface="Calibri"/>
                        </a:rPr>
                        <a:t>Rs 12.5</a:t>
                      </a:r>
                    </a:p>
                  </a:txBody>
                  <a:tcPr marL="101600" marR="101600" marT="38100" marB="38100" anchor="ctr">
                    <a:solidFill>
                      <a:srgbClr val="FFFFFF"/>
                    </a:solidFill>
                  </a:tcPr>
                </a:tc>
                <a:tc>
                  <a:txBody>
                    <a:bodyPr/>
                    <a:lstStyle/>
                    <a:p>
                      <a:r>
                        <a:rPr sz="1400" b="0" i="0">
                          <a:solidFill>
                            <a:srgbClr val="1A1440"/>
                          </a:solidFill>
                          <a:latin typeface="Calibri"/>
                        </a:rPr>
                        <a:t>Each order pays for picking, packing, delivery, the payment fee and the offers that bring a customer back.</a:t>
                      </a:r>
                    </a:p>
                  </a:txBody>
                  <a:tcPr marL="101600" marR="101600" marT="38100" marB="38100" anchor="ctr">
                    <a:solidFill>
                      <a:srgbClr val="FFFFFF"/>
                    </a:solidFill>
                  </a:tcPr>
                </a:tc>
              </a:tr>
              <a:tr h="611632">
                <a:tc>
                  <a:txBody>
                    <a:bodyPr/>
                    <a:lstStyle/>
                    <a:p>
                      <a:r>
                        <a:rPr sz="1400" b="0" i="0">
                          <a:solidFill>
                            <a:srgbClr val="1A1440"/>
                          </a:solidFill>
                          <a:latin typeface="Calibri"/>
                        </a:rPr>
                        <a:t>Contribution to EBITDA</a:t>
                      </a:r>
                    </a:p>
                  </a:txBody>
                  <a:tcPr marL="101600" marR="101600" marT="38100" marB="38100" anchor="ctr">
                    <a:solidFill>
                      <a:srgbClr val="F4F2FA"/>
                    </a:solidFill>
                  </a:tcPr>
                </a:tc>
                <a:tc>
                  <a:txBody>
                    <a:bodyPr/>
                    <a:lstStyle/>
                    <a:p>
                      <a:r>
                        <a:rPr sz="1400" b="0" i="0">
                          <a:solidFill>
                            <a:srgbClr val="1A1440"/>
                          </a:solidFill>
                          <a:latin typeface="Calibri"/>
                        </a:rPr>
                        <a:t>Rs 5</a:t>
                      </a:r>
                    </a:p>
                  </a:txBody>
                  <a:tcPr marL="101600" marR="101600" marT="38100" marB="38100" anchor="ctr">
                    <a:solidFill>
                      <a:srgbClr val="F4F2FA"/>
                    </a:solidFill>
                  </a:tcPr>
                </a:tc>
                <a:tc>
                  <a:txBody>
                    <a:bodyPr/>
                    <a:lstStyle/>
                    <a:p>
                      <a:r>
                        <a:rPr sz="1400" b="0" i="0">
                          <a:solidFill>
                            <a:srgbClr val="1A1440"/>
                          </a:solidFill>
                          <a:latin typeface="Calibri"/>
                        </a:rPr>
                        <a:t>Stores, warehouses, technology, head office and the budget that wins new customers do not grow with one more order.</a:t>
                      </a:r>
                    </a:p>
                  </a:txBody>
                  <a:tcPr marL="101600" marR="101600" marT="38100" marB="38100" anchor="ctr">
                    <a:solidFill>
                      <a:srgbClr val="F4F2FA"/>
                    </a:solidFill>
                  </a:tcPr>
                </a:tc>
              </a:tr>
            </a:tbl>
          </a:graphicData>
        </a:graphic>
      </p:graphicFrame>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7 / 76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people already want a number from us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asks the data team for which number, and what does a wrong one cost them?</a:t>
            </a:r>
          </a:p>
        </p:txBody>
      </p:sp>
      <p:pic>
        <p:nvPicPr>
          <p:cNvPr id="9" name="mermaid diagram" descr="186da1f08c6e6638.png"/>
          <p:cNvPicPr>
            <a:picLocks noChangeAspect="1"/>
          </p:cNvPicPr>
          <p:nvPr/>
        </p:nvPicPr>
        <p:blipFill>
          <a:blip r:embed="rId5"/>
          <a:stretch>
            <a:fillRect/>
          </a:stretch>
        </p:blipFill>
        <p:spPr>
          <a:xfrm>
            <a:off x="530352" y="1830876"/>
            <a:ext cx="4786326" cy="4220375"/>
          </a:xfrm>
          <a:prstGeom prst="rect">
            <a:avLst/>
          </a:prstGeom>
        </p:spPr>
      </p:pic>
      <p:graphicFrame>
        <p:nvGraphicFramePr>
          <p:cNvPr id="10" name="Table 9"/>
          <p:cNvGraphicFramePr>
            <a:graphicFrameLocks noGrp="1"/>
          </p:cNvGraphicFramePr>
          <p:nvPr/>
        </p:nvGraphicFramePr>
        <p:xfrm>
          <a:off x="5761917" y="1871472"/>
          <a:ext cx="5899425" cy="4139184"/>
        </p:xfrm>
        <a:graphic>
          <a:graphicData uri="http://schemas.openxmlformats.org/drawingml/2006/table">
            <a:tbl>
              <a:tblPr firstRow="0" bandRow="0">
                <a:tableStyleId>{2D5ABB26-0587-4C30-8999-92F81FD0307C}</a:tableStyleId>
              </a:tblPr>
              <a:tblGrid>
                <a:gridCol w="1966475"/>
                <a:gridCol w="1966475"/>
                <a:gridCol w="1966475"/>
              </a:tblGrid>
              <a:tr h="611632">
                <a:tc>
                  <a:txBody>
                    <a:bodyPr/>
                    <a:lstStyle/>
                    <a:p>
                      <a:r>
                        <a:rPr sz="1450" b="1" i="0">
                          <a:solidFill>
                            <a:srgbClr val="FFFFFF"/>
                          </a:solidFill>
                          <a:latin typeface="Calibri"/>
                        </a:rPr>
                        <a:t>Who asks</a:t>
                      </a:r>
                    </a:p>
                  </a:txBody>
                  <a:tcPr marL="101600" marR="101600" marT="38100" marB="38100" anchor="ctr">
                    <a:solidFill>
                      <a:srgbClr val="1A0F5C"/>
                    </a:solidFill>
                  </a:tcPr>
                </a:tc>
                <a:tc>
                  <a:txBody>
                    <a:bodyPr/>
                    <a:lstStyle/>
                    <a:p>
                      <a:r>
                        <a:rPr sz="1450" b="1" i="0">
                          <a:solidFill>
                            <a:srgbClr val="FFFFFF"/>
                          </a:solidFill>
                          <a:latin typeface="Calibri"/>
                        </a:rPr>
                        <a:t>What they want from us</a:t>
                      </a:r>
                    </a:p>
                  </a:txBody>
                  <a:tcPr marL="101600" marR="101600" marT="38100" marB="38100" anchor="ctr">
                    <a:solidFill>
                      <a:srgbClr val="1A0F5C"/>
                    </a:solidFill>
                  </a:tcPr>
                </a:tc>
                <a:tc>
                  <a:txBody>
                    <a:bodyPr/>
                    <a:lstStyle/>
                    <a:p>
                      <a:r>
                        <a:rPr sz="1450" b="1" i="0">
                          <a:solidFill>
                            <a:srgbClr val="FFFFFF"/>
                          </a:solidFill>
                          <a:latin typeface="Calibri"/>
                        </a:rPr>
                        <a:t>What a wrong number costs</a:t>
                      </a:r>
                    </a:p>
                  </a:txBody>
                  <a:tcPr marL="101600" marR="101600" marT="38100" marB="38100" anchor="ctr">
                    <a:solidFill>
                      <a:srgbClr val="1A0F5C"/>
                    </a:solidFill>
                  </a:tcPr>
                </a:tc>
              </a:tr>
              <a:tr h="1095248">
                <a:tc>
                  <a:txBody>
                    <a:bodyPr/>
                    <a:lstStyle/>
                    <a:p>
                      <a:r>
                        <a:rPr sz="1400" b="0" i="0">
                          <a:solidFill>
                            <a:srgbClr val="1A1440"/>
                          </a:solidFill>
                          <a:latin typeface="Calibri"/>
                        </a:rPr>
                        <a:t>Meera, CEO</a:t>
                      </a:r>
                    </a:p>
                  </a:txBody>
                  <a:tcPr marL="101600" marR="101600" marT="38100" marB="38100" anchor="ctr">
                    <a:solidFill>
                      <a:srgbClr val="FFFFFF"/>
                    </a:solidFill>
                  </a:tcPr>
                </a:tc>
                <a:tc>
                  <a:txBody>
                    <a:bodyPr/>
                    <a:lstStyle/>
                    <a:p>
                      <a:r>
                        <a:rPr sz="1400" b="0" i="0">
                          <a:solidFill>
                            <a:srgbClr val="1A1440"/>
                          </a:solidFill>
                          <a:latin typeface="Calibri"/>
                        </a:rPr>
                        <a:t>She wants to know where growth comes from and where it leaks.</a:t>
                      </a:r>
                    </a:p>
                  </a:txBody>
                  <a:tcPr marL="101600" marR="101600" marT="38100" marB="38100" anchor="ctr">
                    <a:solidFill>
                      <a:srgbClr val="FFFFFF"/>
                    </a:solidFill>
                  </a:tcPr>
                </a:tc>
                <a:tc>
                  <a:txBody>
                    <a:bodyPr/>
                    <a:lstStyle/>
                    <a:p>
                      <a:r>
                        <a:rPr sz="1400" b="0" i="0">
                          <a:solidFill>
                            <a:srgbClr val="1A1440"/>
                          </a:solidFill>
                          <a:latin typeface="Calibri"/>
                        </a:rPr>
                        <a:t>She signs a budget for the wrong branch.</a:t>
                      </a:r>
                    </a:p>
                  </a:txBody>
                  <a:tcPr marL="101600" marR="101600" marT="38100" marB="38100" anchor="ctr">
                    <a:solidFill>
                      <a:srgbClr val="FFFFFF"/>
                    </a:solidFill>
                  </a:tcPr>
                </a:tc>
              </a:tr>
              <a:tr h="853440">
                <a:tc>
                  <a:txBody>
                    <a:bodyPr/>
                    <a:lstStyle/>
                    <a:p>
                      <a:r>
                        <a:rPr sz="1400" b="0" i="0">
                          <a:solidFill>
                            <a:srgbClr val="1A1440"/>
                          </a:solidFill>
                          <a:latin typeface="Calibri"/>
                        </a:rPr>
                        <a:t>Anand, finance controller</a:t>
                      </a:r>
                    </a:p>
                  </a:txBody>
                  <a:tcPr marL="101600" marR="101600" marT="38100" marB="38100" anchor="ctr">
                    <a:solidFill>
                      <a:srgbClr val="F4F2FA"/>
                    </a:solidFill>
                  </a:tcPr>
                </a:tc>
                <a:tc>
                  <a:txBody>
                    <a:bodyPr/>
                    <a:lstStyle/>
                    <a:p>
                      <a:r>
                        <a:rPr sz="1400" b="0" i="0">
                          <a:solidFill>
                            <a:srgbClr val="1A1440"/>
                          </a:solidFill>
                          <a:latin typeface="Calibri"/>
                        </a:rPr>
                        <a:t>He wants our numbers to match his books.</a:t>
                      </a:r>
                    </a:p>
                  </a:txBody>
                  <a:tcPr marL="101600" marR="101600" marT="38100" marB="38100" anchor="ctr">
                    <a:solidFill>
                      <a:srgbClr val="F4F2FA"/>
                    </a:solidFill>
                  </a:tcPr>
                </a:tc>
                <a:tc>
                  <a:txBody>
                    <a:bodyPr/>
                    <a:lstStyle/>
                    <a:p>
                      <a:r>
                        <a:rPr sz="1400" b="0" i="0">
                          <a:solidFill>
                            <a:srgbClr val="1A1440"/>
                          </a:solidFill>
                          <a:latin typeface="Calibri"/>
                        </a:rPr>
                        <a:t>He restates a figure in front of the board.</a:t>
                      </a:r>
                    </a:p>
                  </a:txBody>
                  <a:tcPr marL="101600" marR="101600" marT="38100" marB="38100" anchor="ctr">
                    <a:solidFill>
                      <a:srgbClr val="F4F2FA"/>
                    </a:solidFill>
                  </a:tcPr>
                </a:tc>
              </a:tr>
              <a:tr h="1578864">
                <a:tc>
                  <a:txBody>
                    <a:bodyPr/>
                    <a:lstStyle/>
                    <a:p>
                      <a:r>
                        <a:rPr sz="1400" b="0" i="0">
                          <a:solidFill>
                            <a:srgbClr val="1A1440"/>
                          </a:solidFill>
                          <a:latin typeface="Calibri"/>
                        </a:rPr>
                        <a:t>The marketing and Retail-Plus leads</a:t>
                      </a:r>
                    </a:p>
                  </a:txBody>
                  <a:tcPr marL="101600" marR="101600" marT="38100" marB="38100" anchor="ctr">
                    <a:solidFill>
                      <a:srgbClr val="FFFFFF"/>
                    </a:solidFill>
                  </a:tcPr>
                </a:tc>
                <a:tc>
                  <a:txBody>
                    <a:bodyPr/>
                    <a:lstStyle/>
                    <a:p>
                      <a:r>
                        <a:rPr sz="1400" b="0" i="0">
                          <a:solidFill>
                            <a:srgbClr val="1A1440"/>
                          </a:solidFill>
                          <a:latin typeface="Calibri"/>
                        </a:rPr>
                        <a:t>They want to know whether Kalpa needs more customers and whether the paid tier is slipping.</a:t>
                      </a:r>
                    </a:p>
                  </a:txBody>
                  <a:tcPr marL="101600" marR="101600" marT="38100" marB="38100" anchor="ctr">
                    <a:solidFill>
                      <a:srgbClr val="FFFFFF"/>
                    </a:solidFill>
                  </a:tcPr>
                </a:tc>
                <a:tc>
                  <a:txBody>
                    <a:bodyPr/>
                    <a:lstStyle/>
                    <a:p>
                      <a:r>
                        <a:rPr sz="1400" b="0" i="0">
                          <a:solidFill>
                            <a:srgbClr val="1A1440"/>
                          </a:solidFill>
                          <a:latin typeface="Calibri"/>
                        </a:rPr>
                        <a:t>A campaign budget is spent, or the wrong members are protected.</a:t>
                      </a:r>
                    </a:p>
                  </a:txBody>
                  <a:tcPr marL="101600" marR="101600" marT="38100" marB="38100" anchor="ctr">
                    <a:solidFill>
                      <a:srgbClr val="FFFFFF"/>
                    </a:solidFill>
                  </a:tcPr>
                </a:tc>
              </a:tr>
            </a:tbl>
          </a:graphicData>
        </a:graphic>
      </p:graphicFrame>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8 / 76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Revenue is customers x orders each x order value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tree does every retail number hang off?</a:t>
            </a:r>
          </a:p>
        </p:txBody>
      </p:sp>
      <p:pic>
        <p:nvPicPr>
          <p:cNvPr id="9" name="mermaid diagram" descr="cdb1ead9079bea01.png"/>
          <p:cNvPicPr>
            <a:picLocks noChangeAspect="1"/>
          </p:cNvPicPr>
          <p:nvPr/>
        </p:nvPicPr>
        <p:blipFill>
          <a:blip r:embed="rId5"/>
          <a:stretch>
            <a:fillRect/>
          </a:stretch>
        </p:blipFill>
        <p:spPr>
          <a:xfrm>
            <a:off x="530352" y="2812031"/>
            <a:ext cx="4786326" cy="2258065"/>
          </a:xfrm>
          <a:prstGeom prst="rect">
            <a:avLst/>
          </a:prstGeom>
        </p:spPr>
      </p:pic>
      <p:graphicFrame>
        <p:nvGraphicFramePr>
          <p:cNvPr id="10" name="Table 9"/>
          <p:cNvGraphicFramePr>
            <a:graphicFrameLocks noGrp="1"/>
          </p:cNvGraphicFramePr>
          <p:nvPr/>
        </p:nvGraphicFramePr>
        <p:xfrm>
          <a:off x="5761917" y="1956816"/>
          <a:ext cx="5899424" cy="3413760"/>
        </p:xfrm>
        <a:graphic>
          <a:graphicData uri="http://schemas.openxmlformats.org/drawingml/2006/table">
            <a:tbl>
              <a:tblPr firstRow="0" bandRow="0">
                <a:tableStyleId>{2D5ABB26-0587-4C30-8999-92F81FD0307C}</a:tableStyleId>
              </a:tblPr>
              <a:tblGrid>
                <a:gridCol w="1475530"/>
                <a:gridCol w="2211947"/>
                <a:gridCol w="2211947"/>
              </a:tblGrid>
              <a:tr h="369824">
                <a:tc>
                  <a:txBody>
                    <a:bodyPr/>
                    <a:lstStyle/>
                    <a:p>
                      <a:r>
                        <a:rPr sz="1450" b="1" i="0">
                          <a:solidFill>
                            <a:srgbClr val="FFFFFF"/>
                          </a:solidFill>
                          <a:latin typeface="Calibri"/>
                        </a:rPr>
                        <a:t>Metric</a:t>
                      </a:r>
                    </a:p>
                  </a:txBody>
                  <a:tcPr marL="101600" marR="101600" marT="38100" marB="38100" anchor="ctr">
                    <a:solidFill>
                      <a:srgbClr val="1A0F5C"/>
                    </a:solidFill>
                  </a:tcPr>
                </a:tc>
                <a:tc>
                  <a:txBody>
                    <a:bodyPr/>
                    <a:lstStyle/>
                    <a:p>
                      <a:r>
                        <a:rPr sz="1450" b="1" i="0">
                          <a:solidFill>
                            <a:srgbClr val="FFFFFF"/>
                          </a:solidFill>
                          <a:latin typeface="Calibri"/>
                        </a:rPr>
                        <a:t>Formula</a:t>
                      </a:r>
                    </a:p>
                  </a:txBody>
                  <a:tcPr marL="101600" marR="101600" marT="38100" marB="38100" anchor="ctr">
                    <a:solidFill>
                      <a:srgbClr val="1A0F5C"/>
                    </a:solidFill>
                  </a:tcPr>
                </a:tc>
                <a:tc>
                  <a:txBody>
                    <a:bodyPr/>
                    <a:lstStyle/>
                    <a:p>
                      <a:r>
                        <a:rPr sz="1450" b="1" i="0">
                          <a:solidFill>
                            <a:srgbClr val="FFFFFF"/>
                          </a:solidFill>
                          <a:latin typeface="Calibri"/>
                        </a:rPr>
                        <a:t>Who asks for it</a:t>
                      </a:r>
                    </a:p>
                  </a:txBody>
                  <a:tcPr marL="101600" marR="101600" marT="38100" marB="38100" anchor="ctr">
                    <a:solidFill>
                      <a:srgbClr val="1A0F5C"/>
                    </a:solidFill>
                  </a:tcPr>
                </a:tc>
              </a:tr>
              <a:tr h="1095248">
                <a:tc>
                  <a:txBody>
                    <a:bodyPr/>
                    <a:lstStyle/>
                    <a:p>
                      <a:r>
                        <a:rPr sz="1400" b="0" i="0">
                          <a:solidFill>
                            <a:srgbClr val="1A1440"/>
                          </a:solidFill>
                          <a:latin typeface="Calibri"/>
                        </a:rPr>
                        <a:t>Revenue</a:t>
                      </a:r>
                    </a:p>
                  </a:txBody>
                  <a:tcPr marL="101600" marR="101600" marT="38100" marB="38100" anchor="ctr">
                    <a:solidFill>
                      <a:srgbClr val="FFFFFF"/>
                    </a:solidFill>
                  </a:tcPr>
                </a:tc>
                <a:tc>
                  <a:txBody>
                    <a:bodyPr/>
                    <a:lstStyle/>
                    <a:p>
                      <a:r>
                        <a:rPr sz="1400" b="0" i="0">
                          <a:solidFill>
                            <a:srgbClr val="1A1440"/>
                          </a:solidFill>
                          <a:latin typeface="Calibri"/>
                        </a:rPr>
                        <a:t>Revenue is customers x orders per customer x average order value.</a:t>
                      </a:r>
                    </a:p>
                  </a:txBody>
                  <a:tcPr marL="101600" marR="101600" marT="38100" marB="38100" anchor="ctr">
                    <a:solidFill>
                      <a:srgbClr val="FFFFFF"/>
                    </a:solidFill>
                  </a:tcPr>
                </a:tc>
                <a:tc>
                  <a:txBody>
                    <a:bodyPr/>
                    <a:lstStyle/>
                    <a:p>
                      <a:r>
                        <a:rPr sz="1400" b="0" i="0">
                          <a:solidFill>
                            <a:srgbClr val="1A1440"/>
                          </a:solidFill>
                          <a:latin typeface="Calibri"/>
                        </a:rPr>
                        <a:t>Meera asks, for the plan.</a:t>
                      </a:r>
                    </a:p>
                  </a:txBody>
                  <a:tcPr marL="101600" marR="101600" marT="38100" marB="38100" anchor="ctr">
                    <a:solidFill>
                      <a:srgbClr val="FFFFFF"/>
                    </a:solidFill>
                  </a:tcPr>
                </a:tc>
              </a:tr>
              <a:tr h="1095248">
                <a:tc>
                  <a:txBody>
                    <a:bodyPr/>
                    <a:lstStyle/>
                    <a:p>
                      <a:r>
                        <a:rPr sz="1400" b="0" i="0">
                          <a:solidFill>
                            <a:srgbClr val="1A1440"/>
                          </a:solidFill>
                          <a:latin typeface="Calibri"/>
                        </a:rPr>
                        <a:t>Orders per customer</a:t>
                      </a:r>
                    </a:p>
                  </a:txBody>
                  <a:tcPr marL="101600" marR="101600" marT="38100" marB="38100" anchor="ctr">
                    <a:solidFill>
                      <a:srgbClr val="F4F2FA"/>
                    </a:solidFill>
                  </a:tcPr>
                </a:tc>
                <a:tc>
                  <a:txBody>
                    <a:bodyPr/>
                    <a:lstStyle/>
                    <a:p>
                      <a:r>
                        <a:rPr sz="1400" b="0" i="0">
                          <a:solidFill>
                            <a:srgbClr val="1A1440"/>
                          </a:solidFill>
                          <a:latin typeface="Calibri"/>
                        </a:rPr>
                        <a:t>It is orders in the window over the customers who ordered in it.</a:t>
                      </a:r>
                    </a:p>
                  </a:txBody>
                  <a:tcPr marL="101600" marR="101600" marT="38100" marB="38100" anchor="ctr">
                    <a:solidFill>
                      <a:srgbClr val="F4F2FA"/>
                    </a:solidFill>
                  </a:tcPr>
                </a:tc>
                <a:tc>
                  <a:txBody>
                    <a:bodyPr/>
                    <a:lstStyle/>
                    <a:p>
                      <a:r>
                        <a:rPr sz="1400" b="0" i="0">
                          <a:solidFill>
                            <a:srgbClr val="1A1440"/>
                          </a:solidFill>
                          <a:latin typeface="Calibri"/>
                        </a:rPr>
                        <a:t>The head of Retail-Plus asks.</a:t>
                      </a:r>
                    </a:p>
                  </a:txBody>
                  <a:tcPr marL="101600" marR="101600" marT="38100" marB="38100" anchor="ctr">
                    <a:solidFill>
                      <a:srgbClr val="F4F2FA"/>
                    </a:solidFill>
                  </a:tcPr>
                </a:tc>
              </a:tr>
              <a:tr h="853440">
                <a:tc>
                  <a:txBody>
                    <a:bodyPr/>
                    <a:lstStyle/>
                    <a:p>
                      <a:r>
                        <a:rPr sz="1400" b="0" i="0">
                          <a:solidFill>
                            <a:srgbClr val="1A1440"/>
                          </a:solidFill>
                          <a:latin typeface="Calibri"/>
                        </a:rPr>
                        <a:t>Average order value</a:t>
                      </a:r>
                    </a:p>
                  </a:txBody>
                  <a:tcPr marL="101600" marR="101600" marT="38100" marB="38100" anchor="ctr">
                    <a:solidFill>
                      <a:srgbClr val="FFFFFF"/>
                    </a:solidFill>
                  </a:tcPr>
                </a:tc>
                <a:tc>
                  <a:txBody>
                    <a:bodyPr/>
                    <a:lstStyle/>
                    <a:p>
                      <a:r>
                        <a:rPr sz="1400" b="0" i="0">
                          <a:solidFill>
                            <a:srgbClr val="1A1440"/>
                          </a:solidFill>
                          <a:latin typeface="Calibri"/>
                        </a:rPr>
                        <a:t>It is revenue in the window over the orders in it.</a:t>
                      </a:r>
                    </a:p>
                  </a:txBody>
                  <a:tcPr marL="101600" marR="101600" marT="38100" marB="38100" anchor="ctr">
                    <a:solidFill>
                      <a:srgbClr val="FFFFFF"/>
                    </a:solidFill>
                  </a:tcPr>
                </a:tc>
                <a:tc>
                  <a:txBody>
                    <a:bodyPr/>
                    <a:lstStyle/>
                    <a:p>
                      <a:r>
                        <a:rPr sz="1400" b="0" i="0">
                          <a:solidFill>
                            <a:srgbClr val="1A1440"/>
                          </a:solidFill>
                          <a:latin typeface="Calibri"/>
                        </a:rPr>
                        <a:t>The marketing lead asks, for the payback.</a:t>
                      </a:r>
                    </a:p>
                  </a:txBody>
                  <a:tcPr marL="101600" marR="101600" marT="38100" marB="38100" anchor="ctr">
                    <a:solidFill>
                      <a:srgbClr val="FFFFFF"/>
                    </a:solidFill>
                  </a:tcPr>
                </a:tc>
              </a:tr>
            </a:tbl>
          </a:graphicData>
        </a:graphic>
      </p:graphicFrame>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9 / 76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further right, the more a wrong answer costs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far may a system act on its own before a person checks it?</a:t>
            </a:r>
          </a:p>
        </p:txBody>
      </p:sp>
      <p:pic>
        <p:nvPicPr>
          <p:cNvPr id="9" name="mermaid diagram" descr="1efa8da59bf12e23.png"/>
          <p:cNvPicPr>
            <a:picLocks noChangeAspect="1"/>
          </p:cNvPicPr>
          <p:nvPr/>
        </p:nvPicPr>
        <p:blipFill>
          <a:blip r:embed="rId5"/>
          <a:stretch>
            <a:fillRect/>
          </a:stretch>
        </p:blipFill>
        <p:spPr>
          <a:xfrm>
            <a:off x="780897" y="1956816"/>
            <a:ext cx="10629900" cy="1857375"/>
          </a:xfrm>
          <a:prstGeom prst="rect">
            <a:avLst/>
          </a:prstGeom>
        </p:spPr>
      </p:pic>
      <p:graphicFrame>
        <p:nvGraphicFramePr>
          <p:cNvPr id="10" name="Table 9"/>
          <p:cNvGraphicFramePr>
            <a:graphicFrameLocks noGrp="1"/>
          </p:cNvGraphicFramePr>
          <p:nvPr/>
        </p:nvGraphicFramePr>
        <p:xfrm>
          <a:off x="530352" y="3960495"/>
          <a:ext cx="11130991" cy="1849120"/>
        </p:xfrm>
        <a:graphic>
          <a:graphicData uri="http://schemas.openxmlformats.org/drawingml/2006/table">
            <a:tbl>
              <a:tblPr firstRow="0" bandRow="0">
                <a:tableStyleId>{2D5ABB26-0587-4C30-8999-92F81FD0307C}</a:tableStyleId>
              </a:tblPr>
              <a:tblGrid>
                <a:gridCol w="3103528"/>
                <a:gridCol w="8027463"/>
              </a:tblGrid>
              <a:tr h="369824">
                <a:tc>
                  <a:txBody>
                    <a:bodyPr/>
                    <a:lstStyle/>
                    <a:p>
                      <a:r>
                        <a:rPr sz="1450" b="1" i="0">
                          <a:solidFill>
                            <a:srgbClr val="FFFFFF"/>
                          </a:solidFill>
                          <a:latin typeface="Calibri"/>
                        </a:rPr>
                        <a:t>Rule</a:t>
                      </a:r>
                    </a:p>
                  </a:txBody>
                  <a:tcPr marL="101600" marR="101600" marT="38100" marB="38100" anchor="ctr">
                    <a:solidFill>
                      <a:srgbClr val="1A0F5C"/>
                    </a:solidFill>
                  </a:tcPr>
                </a:tc>
                <a:tc>
                  <a:txBody>
                    <a:bodyPr/>
                    <a:lstStyle/>
                    <a:p>
                      <a:r>
                        <a:rPr sz="1450" b="1" i="0">
                          <a:solidFill>
                            <a:srgbClr val="FFFFFF"/>
                          </a:solidFill>
                          <a:latin typeface="Calibri"/>
                        </a:rPr>
                        <a:t>What it means for the data team</a:t>
                      </a:r>
                    </a:p>
                  </a:txBody>
                  <a:tcPr marL="101600" marR="101600" marT="38100" marB="38100" anchor="ctr">
                    <a:solidFill>
                      <a:srgbClr val="1A0F5C"/>
                    </a:solidFill>
                  </a:tcPr>
                </a:tc>
              </a:tr>
              <a:tr h="369824">
                <a:tc>
                  <a:txBody>
                    <a:bodyPr/>
                    <a:lstStyle/>
                    <a:p>
                      <a:r>
                        <a:rPr sz="1400" b="0" i="0">
                          <a:solidFill>
                            <a:srgbClr val="1A1440"/>
                          </a:solidFill>
                          <a:latin typeface="Calibri"/>
                        </a:rPr>
                        <a:t>MRP</a:t>
                      </a:r>
                    </a:p>
                  </a:txBody>
                  <a:tcPr marL="101600" marR="101600" marT="38100" marB="38100" anchor="ctr">
                    <a:solidFill>
                      <a:srgbClr val="FFFFFF"/>
                    </a:solidFill>
                  </a:tcPr>
                </a:tc>
                <a:tc>
                  <a:txBody>
                    <a:bodyPr/>
                    <a:lstStyle/>
                    <a:p>
                      <a:r>
                        <a:rPr sz="1400" b="0" i="0">
                          <a:solidFill>
                            <a:srgbClr val="1A1440"/>
                          </a:solidFill>
                          <a:latin typeface="Calibri"/>
                        </a:rPr>
                        <a:t>A price model never sets a price above the maximum retail price printed on the pack.</a:t>
                      </a:r>
                    </a:p>
                  </a:txBody>
                  <a:tcPr marL="101600" marR="101600" marT="38100" marB="38100" anchor="ctr">
                    <a:solidFill>
                      <a:srgbClr val="FFFFFF"/>
                    </a:solidFill>
                  </a:tcPr>
                </a:tc>
              </a:tr>
              <a:tr h="369824">
                <a:tc>
                  <a:txBody>
                    <a:bodyPr/>
                    <a:lstStyle/>
                    <a:p>
                      <a:r>
                        <a:rPr sz="1400" b="0" i="0">
                          <a:solidFill>
                            <a:srgbClr val="1A1440"/>
                          </a:solidFill>
                          <a:latin typeface="Calibri"/>
                        </a:rPr>
                        <a:t>DPDP Act and Rules</a:t>
                      </a:r>
                    </a:p>
                  </a:txBody>
                  <a:tcPr marL="101600" marR="101600" marT="38100" marB="38100" anchor="ctr">
                    <a:solidFill>
                      <a:srgbClr val="F4F2FA"/>
                    </a:solidFill>
                  </a:tcPr>
                </a:tc>
                <a:tc>
                  <a:txBody>
                    <a:bodyPr/>
                    <a:lstStyle/>
                    <a:p>
                      <a:r>
                        <a:rPr sz="1400" b="0" i="0">
                          <a:solidFill>
                            <a:srgbClr val="1A1440"/>
                          </a:solidFill>
                          <a:latin typeface="Calibri"/>
                        </a:rPr>
                        <a:t>Personal data is used only for a purpose the person agreed to.</a:t>
                      </a:r>
                    </a:p>
                  </a:txBody>
                  <a:tcPr marL="101600" marR="101600" marT="38100" marB="38100" anchor="ctr">
                    <a:solidFill>
                      <a:srgbClr val="F4F2FA"/>
                    </a:solidFill>
                  </a:tcPr>
                </a:tc>
              </a:tr>
              <a:tr h="369824">
                <a:tc>
                  <a:txBody>
                    <a:bodyPr/>
                    <a:lstStyle/>
                    <a:p>
                      <a:r>
                        <a:rPr sz="1400" b="0" i="0">
                          <a:solidFill>
                            <a:srgbClr val="1A1440"/>
                          </a:solidFill>
                          <a:latin typeface="Calibri"/>
                        </a:rPr>
                        <a:t>RBI tokenisation</a:t>
                      </a:r>
                    </a:p>
                  </a:txBody>
                  <a:tcPr marL="101600" marR="101600" marT="38100" marB="38100" anchor="ctr">
                    <a:solidFill>
                      <a:srgbClr val="FFFFFF"/>
                    </a:solidFill>
                  </a:tcPr>
                </a:tc>
                <a:tc>
                  <a:txBody>
                    <a:bodyPr/>
                    <a:lstStyle/>
                    <a:p>
                      <a:r>
                        <a:rPr sz="1400" b="0" i="0">
                          <a:solidFill>
                            <a:srgbClr val="1A1440"/>
                          </a:solidFill>
                          <a:latin typeface="Calibri"/>
                        </a:rPr>
                        <a:t>A payments table holds tokens and the last four digits, never card numbers.</a:t>
                      </a:r>
                    </a:p>
                  </a:txBody>
                  <a:tcPr marL="101600" marR="101600" marT="38100" marB="38100" anchor="ctr">
                    <a:solidFill>
                      <a:srgbClr val="FFFFFF"/>
                    </a:solidFill>
                  </a:tcPr>
                </a:tc>
              </a:tr>
              <a:tr h="369824">
                <a:tc>
                  <a:txBody>
                    <a:bodyPr/>
                    <a:lstStyle/>
                    <a:p>
                      <a:r>
                        <a:rPr sz="1400" b="0" i="0">
                          <a:solidFill>
                            <a:srgbClr val="1A1440"/>
                          </a:solidFill>
                          <a:latin typeface="Calibri"/>
                        </a:rPr>
                        <a:t>E-commerce Rules 2020</a:t>
                      </a:r>
                    </a:p>
                  </a:txBody>
                  <a:tcPr marL="101600" marR="101600" marT="38100" marB="38100" anchor="ctr">
                    <a:solidFill>
                      <a:srgbClr val="F4F2FA"/>
                    </a:solidFill>
                  </a:tcPr>
                </a:tc>
                <a:tc>
                  <a:txBody>
                    <a:bodyPr/>
                    <a:lstStyle/>
                    <a:p>
                      <a:r>
                        <a:rPr sz="1400" b="0" i="0">
                          <a:solidFill>
                            <a:srgbClr val="1A1440"/>
                          </a:solidFill>
                          <a:latin typeface="Calibri"/>
                        </a:rPr>
                        <a:t>Consent is an explicit click, and a ranking comes with its explanation.</a:t>
                      </a:r>
                    </a:p>
                  </a:txBody>
                  <a:tcPr marL="101600" marR="101600" marT="38100" marB="38100" anchor="ctr">
                    <a:solidFill>
                      <a:srgbClr val="F4F2FA"/>
                    </a:solidFill>
                  </a:tcPr>
                </a:tc>
              </a:tr>
            </a:tbl>
          </a:graphicData>
        </a:graphic>
      </p:graphicFrame>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10 / 76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Meera asks whether acquisition is the short branch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Kalpa's CEO ask the data team on Monday?</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"Before I sign anything, I want to understand our own sales. What is 'sales' made of? Where does revenue come from, by customer type and channel? Is acquisition even the branch that is short?"</a:t>
            </a:r>
          </a:p>
        </p:txBody>
      </p:sp>
      <p:sp>
        <p:nvSpPr>
          <p:cNvPr id="14" name="Rounded Rectangle 13"/>
          <p:cNvSpPr/>
          <p:nvPr/>
        </p:nvSpPr>
        <p:spPr>
          <a:xfrm>
            <a:off x="530352" y="3243072"/>
            <a:ext cx="45720" cy="74168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6384" y="3243072"/>
            <a:ext cx="10820095" cy="741680"/>
          </a:xfrm>
          <a:prstGeom prst="rect">
            <a:avLst/>
          </a:prstGeom>
          <a:noFill/>
        </p:spPr>
        <p:txBody>
          <a:bodyPr wrap="square" anchor="t" lIns="0" rIns="0" tIns="0" bIns="0">
            <a:spAutoFit/>
          </a:bodyPr>
          <a:lstStyle/>
          <a:p>
            <a:r>
              <a:rPr sz="1600" b="0" i="1">
                <a:solidFill>
                  <a:srgbClr val="1A0F5C"/>
                </a:solidFill>
                <a:latin typeface="Georgia"/>
              </a:rPr>
              <a:t>"No averages. One business customer can move an average."</a:t>
            </a:r>
          </a:p>
          <a:p>
            <a:pPr>
              <a:spcBef>
                <a:spcPts val="400"/>
              </a:spcBef>
            </a:pPr>
            <a:r>
              <a:rPr sz="1000" b="0" i="0">
                <a:solidFill>
                  <a:srgbClr val="6B6690"/>
                </a:solidFill>
                <a:latin typeface="Calibri"/>
              </a:rPr>
              <a:t>Anand Iyer, finance controller, Kalpa Retail</a:t>
            </a:r>
          </a:p>
        </p:txBody>
      </p:sp>
      <p:sp>
        <p:nvSpPr>
          <p:cNvPr id="16" name="TextBox 15"/>
          <p:cNvSpPr txBox="1"/>
          <p:nvPr/>
        </p:nvSpPr>
        <p:spPr>
          <a:xfrm>
            <a:off x="530352" y="4131056"/>
            <a:ext cx="3527450" cy="698500"/>
          </a:xfrm>
          <a:prstGeom prst="rect">
            <a:avLst/>
          </a:prstGeom>
          <a:noFill/>
        </p:spPr>
        <p:txBody>
          <a:bodyPr wrap="square" anchor="t" lIns="0" rIns="0" tIns="0" bIns="0">
            <a:spAutoFit/>
          </a:bodyPr>
          <a:lstStyle/>
          <a:p>
            <a:pPr algn="l"/>
            <a:r>
              <a:rPr sz="4400" b="0" i="0">
                <a:solidFill>
                  <a:srgbClr val="5B3FD6"/>
                </a:solidFill>
                <a:latin typeface="Georgia"/>
              </a:rPr>
              <a:t>4%</a:t>
            </a:r>
          </a:p>
        </p:txBody>
      </p:sp>
      <p:sp>
        <p:nvSpPr>
          <p:cNvPr id="17" name="TextBox 16"/>
          <p:cNvSpPr txBox="1"/>
          <p:nvPr/>
        </p:nvSpPr>
        <p:spPr>
          <a:xfrm>
            <a:off x="530352" y="486613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REVENUE GROWTH</a:t>
            </a:r>
          </a:p>
        </p:txBody>
      </p:sp>
      <p:sp>
        <p:nvSpPr>
          <p:cNvPr id="18" name="TextBox 17"/>
          <p:cNvSpPr txBox="1"/>
          <p:nvPr/>
        </p:nvSpPr>
        <p:spPr>
          <a:xfrm>
            <a:off x="530352" y="5067300"/>
            <a:ext cx="3527450" cy="193421"/>
          </a:xfrm>
          <a:prstGeom prst="rect">
            <a:avLst/>
          </a:prstGeom>
          <a:noFill/>
        </p:spPr>
        <p:txBody>
          <a:bodyPr wrap="square" anchor="t" lIns="0" rIns="0" tIns="0" bIns="0">
            <a:spAutoFit/>
          </a:bodyPr>
          <a:lstStyle/>
          <a:p>
            <a:pPr algn="l"/>
            <a:r>
              <a:rPr sz="950" b="0" i="0">
                <a:solidFill>
                  <a:srgbClr val="6B6690"/>
                </a:solidFill>
                <a:latin typeface="Calibri"/>
              </a:rPr>
              <a:t>last year</a:t>
            </a:r>
          </a:p>
        </p:txBody>
      </p:sp>
      <p:sp>
        <p:nvSpPr>
          <p:cNvPr id="19" name="Rectangle 18"/>
          <p:cNvSpPr/>
          <p:nvPr/>
        </p:nvSpPr>
        <p:spPr>
          <a:xfrm>
            <a:off x="530352" y="531977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332122" y="4131056"/>
            <a:ext cx="3527450" cy="698500"/>
          </a:xfrm>
          <a:prstGeom prst="rect">
            <a:avLst/>
          </a:prstGeom>
          <a:noFill/>
        </p:spPr>
        <p:txBody>
          <a:bodyPr wrap="square" anchor="t" lIns="0" rIns="0" tIns="0" bIns="0">
            <a:spAutoFit/>
          </a:bodyPr>
          <a:lstStyle/>
          <a:p>
            <a:pPr algn="l"/>
            <a:r>
              <a:rPr sz="4400" b="0" i="0">
                <a:solidFill>
                  <a:srgbClr val="5B3FD6"/>
                </a:solidFill>
                <a:latin typeface="Georgia"/>
              </a:rPr>
              <a:t>15%</a:t>
            </a:r>
          </a:p>
        </p:txBody>
      </p:sp>
      <p:sp>
        <p:nvSpPr>
          <p:cNvPr id="21" name="TextBox 20"/>
          <p:cNvSpPr txBox="1"/>
          <p:nvPr/>
        </p:nvSpPr>
        <p:spPr>
          <a:xfrm>
            <a:off x="4332122" y="486613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PLAN</a:t>
            </a:r>
          </a:p>
        </p:txBody>
      </p:sp>
      <p:sp>
        <p:nvSpPr>
          <p:cNvPr id="22" name="TextBox 21"/>
          <p:cNvSpPr txBox="1"/>
          <p:nvPr/>
        </p:nvSpPr>
        <p:spPr>
          <a:xfrm>
            <a:off x="4332122" y="5067300"/>
            <a:ext cx="3527450" cy="193421"/>
          </a:xfrm>
          <a:prstGeom prst="rect">
            <a:avLst/>
          </a:prstGeom>
          <a:noFill/>
        </p:spPr>
        <p:txBody>
          <a:bodyPr wrap="square" anchor="t" lIns="0" rIns="0" tIns="0" bIns="0">
            <a:spAutoFit/>
          </a:bodyPr>
          <a:lstStyle/>
          <a:p>
            <a:pPr algn="l"/>
            <a:r>
              <a:rPr sz="950" b="0" i="0">
                <a:solidFill>
                  <a:srgbClr val="6B6690"/>
                </a:solidFill>
                <a:latin typeface="Calibri"/>
              </a:rPr>
              <a:t>what the board expected</a:t>
            </a:r>
          </a:p>
        </p:txBody>
      </p:sp>
      <p:sp>
        <p:nvSpPr>
          <p:cNvPr id="23" name="Rectangle 22"/>
          <p:cNvSpPr/>
          <p:nvPr/>
        </p:nvSpPr>
        <p:spPr>
          <a:xfrm>
            <a:off x="4332122" y="531977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133892" y="4131056"/>
            <a:ext cx="3527450" cy="698500"/>
          </a:xfrm>
          <a:prstGeom prst="rect">
            <a:avLst/>
          </a:prstGeom>
          <a:noFill/>
        </p:spPr>
        <p:txBody>
          <a:bodyPr wrap="square" anchor="t" lIns="0" rIns="0" tIns="0" bIns="0">
            <a:spAutoFit/>
          </a:bodyPr>
          <a:lstStyle/>
          <a:p>
            <a:pPr algn="l"/>
            <a:r>
              <a:rPr sz="4400" b="0" i="0">
                <a:solidFill>
                  <a:srgbClr val="5B3FD6"/>
                </a:solidFill>
                <a:latin typeface="Georgia"/>
              </a:rPr>
              <a:t>Rs 12 cr</a:t>
            </a:r>
          </a:p>
        </p:txBody>
      </p:sp>
      <p:sp>
        <p:nvSpPr>
          <p:cNvPr id="25" name="TextBox 24"/>
          <p:cNvSpPr txBox="1"/>
          <p:nvPr/>
        </p:nvSpPr>
        <p:spPr>
          <a:xfrm>
            <a:off x="8133892" y="486613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MARKETING'S ASK</a:t>
            </a:r>
          </a:p>
        </p:txBody>
      </p:sp>
      <p:sp>
        <p:nvSpPr>
          <p:cNvPr id="26" name="TextBox 25"/>
          <p:cNvSpPr txBox="1"/>
          <p:nvPr/>
        </p:nvSpPr>
        <p:spPr>
          <a:xfrm>
            <a:off x="8133892" y="5067300"/>
            <a:ext cx="3527450" cy="193421"/>
          </a:xfrm>
          <a:prstGeom prst="rect">
            <a:avLst/>
          </a:prstGeom>
          <a:noFill/>
        </p:spPr>
        <p:txBody>
          <a:bodyPr wrap="square" anchor="t" lIns="0" rIns="0" tIns="0" bIns="0">
            <a:spAutoFit/>
          </a:bodyPr>
          <a:lstStyle/>
          <a:p>
            <a:pPr algn="l"/>
            <a:r>
              <a:rPr sz="950" b="0" i="0">
                <a:solidFill>
                  <a:srgbClr val="6B6690"/>
                </a:solidFill>
                <a:latin typeface="Calibri"/>
              </a:rPr>
              <a:t>to acquire customers</a:t>
            </a:r>
          </a:p>
        </p:txBody>
      </p:sp>
      <p:sp>
        <p:nvSpPr>
          <p:cNvPr id="27" name="Rectangle 26"/>
          <p:cNvSpPr/>
          <p:nvPr/>
        </p:nvSpPr>
        <p:spPr>
          <a:xfrm>
            <a:off x="8133892" y="531977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How does retail earn</a:t>
            </a:r>
          </a:p>
        </p:txBody>
      </p:sp>
      <p:sp>
        <p:nvSpPr>
          <p:cNvPr id="30" name="Oval 29"/>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32" name="Oval 31"/>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34" name="Oval 33"/>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36" name="Oval 35"/>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11 / 76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Each part of Meera's message becomes a chapter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chapter answers each part of Meera's message?</a:t>
            </a:r>
          </a:p>
        </p:txBody>
      </p:sp>
      <p:graphicFrame>
        <p:nvGraphicFramePr>
          <p:cNvPr id="9" name="Table 8"/>
          <p:cNvGraphicFramePr>
            <a:graphicFrameLocks noGrp="1"/>
          </p:cNvGraphicFramePr>
          <p:nvPr/>
        </p:nvGraphicFramePr>
        <p:xfrm>
          <a:off x="530352" y="1956816"/>
          <a:ext cx="11130989" cy="2944368"/>
        </p:xfrm>
        <a:graphic>
          <a:graphicData uri="http://schemas.openxmlformats.org/drawingml/2006/table">
            <a:tbl>
              <a:tblPr firstRow="0" bandRow="0">
                <a:tableStyleId>{2D5ABB26-0587-4C30-8999-92F81FD0307C}</a:tableStyleId>
              </a:tblPr>
              <a:tblGrid>
                <a:gridCol w="3947409"/>
                <a:gridCol w="4834795"/>
                <a:gridCol w="2348785"/>
              </a:tblGrid>
              <a:tr h="369824">
                <a:tc>
                  <a:txBody>
                    <a:bodyPr/>
                    <a:lstStyle/>
                    <a:p>
                      <a:r>
                        <a:rPr sz="1450" b="1" i="0">
                          <a:solidFill>
                            <a:srgbClr val="FFFFFF"/>
                          </a:solidFill>
                          <a:latin typeface="Calibri"/>
                        </a:rPr>
                        <a:t>What she asked</a:t>
                      </a:r>
                    </a:p>
                  </a:txBody>
                  <a:tcPr marL="101600" marR="101600" marT="38100" marB="38100" anchor="ctr">
                    <a:solidFill>
                      <a:srgbClr val="1A0F5C"/>
                    </a:solidFill>
                  </a:tcPr>
                </a:tc>
                <a:tc>
                  <a:txBody>
                    <a:bodyPr/>
                    <a:lstStyle/>
                    <a:p>
                      <a:r>
                        <a:rPr sz="1450" b="1" i="0">
                          <a:solidFill>
                            <a:srgbClr val="FFFFFF"/>
                          </a:solidFill>
                          <a:latin typeface="Calibri"/>
                        </a:rPr>
                        <a:t>The question it becomes</a:t>
                      </a:r>
                    </a:p>
                  </a:txBody>
                  <a:tcPr marL="101600" marR="101600" marT="38100" marB="38100" anchor="ctr">
                    <a:solidFill>
                      <a:srgbClr val="1A0F5C"/>
                    </a:solidFill>
                  </a:tcPr>
                </a:tc>
                <a:tc>
                  <a:txBody>
                    <a:bodyPr/>
                    <a:lstStyle/>
                    <a:p>
                      <a:r>
                        <a:rPr sz="1450" b="1" i="0">
                          <a:solidFill>
                            <a:srgbClr val="FFFFFF"/>
                          </a:solidFill>
                          <a:latin typeface="Calibri"/>
                        </a:rPr>
                        <a:t>Where it is answered</a:t>
                      </a:r>
                    </a:p>
                  </a:txBody>
                  <a:tcPr marL="101600" marR="101600" marT="38100" marB="38100" anchor="ctr">
                    <a:solidFill>
                      <a:srgbClr val="1A0F5C"/>
                    </a:solidFill>
                  </a:tcPr>
                </a:tc>
              </a:tr>
              <a:tr h="611632">
                <a:tc>
                  <a:txBody>
                    <a:bodyPr/>
                    <a:lstStyle/>
                    <a:p>
                      <a:r>
                        <a:rPr sz="1400" b="0" i="0">
                          <a:solidFill>
                            <a:srgbClr val="1A1440"/>
                          </a:solidFill>
                          <a:latin typeface="Calibri"/>
                        </a:rPr>
                        <a:t>"What is 'sales' made of?"</a:t>
                      </a:r>
                    </a:p>
                  </a:txBody>
                  <a:tcPr marL="101600" marR="101600" marT="38100" marB="38100" anchor="ctr">
                    <a:solidFill>
                      <a:srgbClr val="FFFFFF"/>
                    </a:solidFill>
                  </a:tcPr>
                </a:tc>
                <a:tc>
                  <a:txBody>
                    <a:bodyPr/>
                    <a:lstStyle/>
                    <a:p>
                      <a:r>
                        <a:rPr sz="1400" b="0" i="0">
                          <a:solidFill>
                            <a:srgbClr val="1A1440"/>
                          </a:solidFill>
                          <a:latin typeface="Calibri"/>
                        </a:rPr>
                        <a:t>Which total is sales, and what is each branch?</a:t>
                      </a:r>
                    </a:p>
                  </a:txBody>
                  <a:tcPr marL="101600" marR="101600" marT="38100" marB="38100" anchor="ctr">
                    <a:solidFill>
                      <a:srgbClr val="FFFFFF"/>
                    </a:solidFill>
                  </a:tcPr>
                </a:tc>
                <a:tc>
                  <a:txBody>
                    <a:bodyPr/>
                    <a:lstStyle/>
                    <a:p>
                      <a:r>
                        <a:rPr sz="1400" b="0" i="0">
                          <a:solidFill>
                            <a:srgbClr val="1A1440"/>
                          </a:solidFill>
                          <a:latin typeface="Calibri"/>
                        </a:rPr>
                        <a:t>Chapters 1 and 2 answer it.</a:t>
                      </a:r>
                    </a:p>
                  </a:txBody>
                  <a:tcPr marL="101600" marR="101600" marT="38100" marB="38100" anchor="ctr">
                    <a:solidFill>
                      <a:srgbClr val="FFFFFF"/>
                    </a:solidFill>
                  </a:tcPr>
                </a:tc>
              </a:tr>
              <a:tr h="611632">
                <a:tc>
                  <a:txBody>
                    <a:bodyPr/>
                    <a:lstStyle/>
                    <a:p>
                      <a:r>
                        <a:rPr sz="1400" b="0" i="0">
                          <a:solidFill>
                            <a:srgbClr val="1A1440"/>
                          </a:solidFill>
                          <a:latin typeface="Calibri"/>
                        </a:rPr>
                        <a:t>"Is acquisition even the branch that is short?"</a:t>
                      </a:r>
                    </a:p>
                  </a:txBody>
                  <a:tcPr marL="101600" marR="101600" marT="38100" marB="38100" anchor="ctr">
                    <a:solidFill>
                      <a:srgbClr val="F4F2FA"/>
                    </a:solidFill>
                  </a:tcPr>
                </a:tc>
                <a:tc>
                  <a:txBody>
                    <a:bodyPr/>
                    <a:lstStyle/>
                    <a:p>
                      <a:r>
                        <a:rPr sz="1400" b="0" i="0">
                          <a:solidFill>
                            <a:srgbClr val="1A1440"/>
                          </a:solidFill>
                          <a:latin typeface="Calibri"/>
                        </a:rPr>
                        <a:t>Do customers come back, and which branch comes first?</a:t>
                      </a:r>
                    </a:p>
                  </a:txBody>
                  <a:tcPr marL="101600" marR="101600" marT="38100" marB="38100" anchor="ctr">
                    <a:solidFill>
                      <a:srgbClr val="F4F2FA"/>
                    </a:solidFill>
                  </a:tcPr>
                </a:tc>
                <a:tc>
                  <a:txBody>
                    <a:bodyPr/>
                    <a:lstStyle/>
                    <a:p>
                      <a:r>
                        <a:rPr sz="1400" b="0" i="0">
                          <a:solidFill>
                            <a:srgbClr val="1A1440"/>
                          </a:solidFill>
                          <a:latin typeface="Calibri"/>
                        </a:rPr>
                        <a:t>Chapters 3 and 5 answer it.</a:t>
                      </a:r>
                    </a:p>
                  </a:txBody>
                  <a:tcPr marL="101600" marR="101600" marT="38100" marB="38100" anchor="ctr">
                    <a:solidFill>
                      <a:srgbClr val="F4F2FA"/>
                    </a:solidFill>
                  </a:tcPr>
                </a:tc>
              </a:tr>
              <a:tr h="369824">
                <a:tc>
                  <a:txBody>
                    <a:bodyPr/>
                    <a:lstStyle/>
                    <a:p>
                      <a:r>
                        <a:rPr sz="1400" b="0" i="0">
                          <a:solidFill>
                            <a:srgbClr val="1A1440"/>
                          </a:solidFill>
                          <a:latin typeface="Calibri"/>
                        </a:rPr>
                        <a:t>Anand: "No averages."</a:t>
                      </a:r>
                    </a:p>
                  </a:txBody>
                  <a:tcPr marL="101600" marR="101600" marT="38100" marB="38100" anchor="ctr">
                    <a:solidFill>
                      <a:srgbClr val="FFFFFF"/>
                    </a:solidFill>
                  </a:tcPr>
                </a:tc>
                <a:tc>
                  <a:txBody>
                    <a:bodyPr/>
                    <a:lstStyle/>
                    <a:p>
                      <a:r>
                        <a:rPr sz="1400" b="0" i="0">
                          <a:solidFill>
                            <a:srgbClr val="1A1440"/>
                          </a:solidFill>
                          <a:latin typeface="Calibri"/>
                        </a:rPr>
                        <a:t>What does a typical order look like?</a:t>
                      </a:r>
                    </a:p>
                  </a:txBody>
                  <a:tcPr marL="101600" marR="101600" marT="38100" marB="38100" anchor="ctr">
                    <a:solidFill>
                      <a:srgbClr val="FFFFFF"/>
                    </a:solidFill>
                  </a:tcPr>
                </a:tc>
                <a:tc>
                  <a:txBody>
                    <a:bodyPr/>
                    <a:lstStyle/>
                    <a:p>
                      <a:r>
                        <a:rPr sz="1400" b="0" i="0">
                          <a:solidFill>
                            <a:srgbClr val="1A1440"/>
                          </a:solidFill>
                          <a:latin typeface="Calibri"/>
                        </a:rPr>
                        <a:t>Chapter 4 answers it.</a:t>
                      </a:r>
                    </a:p>
                  </a:txBody>
                  <a:tcPr marL="101600" marR="101600" marT="38100" marB="38100" anchor="ctr">
                    <a:solidFill>
                      <a:srgbClr val="FFFFFF"/>
                    </a:solidFill>
                  </a:tcPr>
                </a:tc>
              </a:tr>
              <a:tr h="611632">
                <a:tc>
                  <a:txBody>
                    <a:bodyPr/>
                    <a:lstStyle/>
                    <a:p>
                      <a:r>
                        <a:rPr sz="1400" b="0" i="0">
                          <a:solidFill>
                            <a:srgbClr val="1A1440"/>
                          </a:solidFill>
                          <a:latin typeface="Calibri"/>
                        </a:rPr>
                        <a:t>"By customer type and channel"</a:t>
                      </a:r>
                    </a:p>
                  </a:txBody>
                  <a:tcPr marL="101600" marR="101600" marT="38100" marB="38100" anchor="ctr">
                    <a:solidFill>
                      <a:srgbClr val="F4F2FA"/>
                    </a:solidFill>
                  </a:tcPr>
                </a:tc>
                <a:tc>
                  <a:txBody>
                    <a:bodyPr/>
                    <a:lstStyle/>
                    <a:p>
                      <a:r>
                        <a:rPr sz="1400" b="0" i="0">
                          <a:solidFill>
                            <a:srgbClr val="1A1440"/>
                          </a:solidFill>
                          <a:latin typeface="Calibri"/>
                        </a:rPr>
                        <a:t>Where does revenue come from, and does it change the branch?</a:t>
                      </a:r>
                    </a:p>
                  </a:txBody>
                  <a:tcPr marL="101600" marR="101600" marT="38100" marB="38100" anchor="ctr">
                    <a:solidFill>
                      <a:srgbClr val="F4F2FA"/>
                    </a:solidFill>
                  </a:tcPr>
                </a:tc>
                <a:tc>
                  <a:txBody>
                    <a:bodyPr/>
                    <a:lstStyle/>
                    <a:p>
                      <a:r>
                        <a:rPr sz="1400" b="0" i="0">
                          <a:solidFill>
                            <a:srgbClr val="1A1440"/>
                          </a:solidFill>
                          <a:latin typeface="Calibri"/>
                        </a:rPr>
                        <a:t>The second case answers it.</a:t>
                      </a:r>
                    </a:p>
                  </a:txBody>
                  <a:tcPr marL="101600" marR="101600" marT="38100" marB="38100" anchor="ctr">
                    <a:solidFill>
                      <a:srgbClr val="F4F2FA"/>
                    </a:solidFill>
                  </a:tcPr>
                </a:tc>
              </a:tr>
              <a:tr h="369824">
                <a:tc>
                  <a:txBody>
                    <a:bodyPr/>
                    <a:lstStyle/>
                    <a:p>
                      <a:r>
                        <a:rPr sz="1400" b="0" i="0">
                          <a:solidFill>
                            <a:srgbClr val="1A1440"/>
                          </a:solidFill>
                          <a:latin typeface="Calibri"/>
                        </a:rPr>
                        <a:t>"Before I sign anything"</a:t>
                      </a:r>
                    </a:p>
                  </a:txBody>
                  <a:tcPr marL="101600" marR="101600" marT="38100" marB="38100" anchor="ctr">
                    <a:solidFill>
                      <a:srgbClr val="FFFFFF"/>
                    </a:solidFill>
                  </a:tcPr>
                </a:tc>
                <a:tc>
                  <a:txBody>
                    <a:bodyPr/>
                    <a:lstStyle/>
                    <a:p>
                      <a:r>
                        <a:rPr sz="1400" b="0" i="0">
                          <a:solidFill>
                            <a:srgbClr val="1A1440"/>
                          </a:solidFill>
                          <a:latin typeface="Calibri"/>
                        </a:rPr>
                        <a:t>What one sentence can she sign?</a:t>
                      </a:r>
                    </a:p>
                  </a:txBody>
                  <a:tcPr marL="101600" marR="101600" marT="38100" marB="38100" anchor="ctr">
                    <a:solidFill>
                      <a:srgbClr val="FFFFFF"/>
                    </a:solidFill>
                  </a:tcPr>
                </a:tc>
                <a:tc>
                  <a:txBody>
                    <a:bodyPr/>
                    <a:lstStyle/>
                    <a:p>
                      <a:r>
                        <a:rPr sz="1400" b="0" i="0">
                          <a:solidFill>
                            <a:srgbClr val="1A1440"/>
                          </a:solidFill>
                          <a:latin typeface="Calibri"/>
                        </a:rPr>
                        <a:t>Chapter 6 answers it.</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How does retail earn</a:t>
            </a:r>
          </a:p>
        </p:txBody>
      </p:sp>
      <p:sp>
        <p:nvSpPr>
          <p:cNvPr id="12" name="Oval 11"/>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4" name="Oval 13"/>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8" name="Oval 17"/>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12 / 76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00</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total is sales</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Which of the file's totals should Meera call sales, and what does each one count?</a:t>
            </a:r>
          </a:p>
        </p:txBody>
      </p:sp>
      <p:sp>
        <p:nvSpPr>
          <p:cNvPr id="10" name="Rounded Rectangle 9"/>
          <p:cNvSpPr/>
          <p:nvPr/>
        </p:nvSpPr>
        <p:spPr>
          <a:xfrm>
            <a:off x="731519"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does retail earn</a:t>
            </a:r>
          </a:p>
        </p:txBody>
      </p:sp>
      <p:sp>
        <p:nvSpPr>
          <p:cNvPr id="11" name="Rounded Rectangle 10"/>
          <p:cNvSpPr/>
          <p:nvPr/>
        </p:nvSpPr>
        <p:spPr>
          <a:xfrm>
            <a:off x="2391327" y="5074920"/>
            <a:ext cx="155007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total is sales</a:t>
            </a:r>
          </a:p>
        </p:txBody>
      </p:sp>
      <p:sp>
        <p:nvSpPr>
          <p:cNvPr id="12" name="Rounded Rectangle 11"/>
          <p:cNvSpPr/>
          <p:nvPr/>
        </p:nvSpPr>
        <p:spPr>
          <a:xfrm>
            <a:off x="4051134"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each branch</a:t>
            </a:r>
          </a:p>
        </p:txBody>
      </p:sp>
      <p:sp>
        <p:nvSpPr>
          <p:cNvPr id="13" name="Rounded Rectangle 12"/>
          <p:cNvSpPr/>
          <p:nvPr/>
        </p:nvSpPr>
        <p:spPr>
          <a:xfrm>
            <a:off x="5651726"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 customers come back</a:t>
            </a:r>
          </a:p>
        </p:txBody>
      </p:sp>
      <p:sp>
        <p:nvSpPr>
          <p:cNvPr id="14" name="Rounded Rectangle 13"/>
          <p:cNvSpPr/>
          <p:nvPr/>
        </p:nvSpPr>
        <p:spPr>
          <a:xfrm>
            <a:off x="7429965"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typical order</a:t>
            </a:r>
          </a:p>
        </p:txBody>
      </p:sp>
      <p:sp>
        <p:nvSpPr>
          <p:cNvPr id="15" name="TextBox 14"/>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Monday morning: the story and chapters 1 to 4</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13 / 76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Meera and Anand need one named total for the plan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to know which total is sales, and which questions lead there?</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Meera measures the 15 percent plan from sales and Anand's books must match it, so a total that counts orders nobody kept sets the plan's base too high.</a:t>
            </a:r>
          </a:p>
        </p:txBody>
      </p:sp>
      <p:sp>
        <p:nvSpPr>
          <p:cNvPr id="12" name="Rectangle 11"/>
          <p:cNvSpPr/>
          <p:nvPr/>
        </p:nvSpPr>
        <p:spPr>
          <a:xfrm>
            <a:off x="1381734" y="34960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4" name="Oval 13"/>
          <p:cNvSpPr/>
          <p:nvPr/>
        </p:nvSpPr>
        <p:spPr>
          <a:xfrm>
            <a:off x="1281150"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Who needs it</a:t>
            </a:r>
          </a:p>
        </p:txBody>
      </p:sp>
      <p:sp>
        <p:nvSpPr>
          <p:cNvPr id="17" name="TextBox 16"/>
          <p:cNvSpPr txBox="1"/>
          <p:nvPr/>
        </p:nvSpPr>
        <p:spPr>
          <a:xfrm>
            <a:off x="694944" y="4250182"/>
            <a:ext cx="1373581" cy="696976"/>
          </a:xfrm>
          <a:prstGeom prst="rect">
            <a:avLst/>
          </a:prstGeom>
          <a:noFill/>
        </p:spPr>
        <p:txBody>
          <a:bodyPr wrap="square" anchor="t" lIns="0" rIns="0" tIns="0" bIns="0">
            <a:spAutoFit/>
          </a:bodyPr>
          <a:lstStyle/>
          <a:p>
            <a:pPr algn="l"/>
            <a:r>
              <a:rPr sz="1000" b="0" i="0">
                <a:solidFill>
                  <a:srgbClr val="6B6690"/>
                </a:solidFill>
                <a:latin typeface="Calibri"/>
              </a:rPr>
              <a:t>Who needs one number called sales, and what does a wrong one cost?</a:t>
            </a:r>
          </a:p>
        </p:txBody>
      </p:sp>
      <p:sp>
        <p:nvSpPr>
          <p:cNvPr id="18" name="TextBox 17"/>
          <p:cNvSpPr txBox="1"/>
          <p:nvPr/>
        </p:nvSpPr>
        <p:spPr>
          <a:xfrm>
            <a:off x="241599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19" name="Oval 18"/>
          <p:cNvSpPr/>
          <p:nvPr/>
        </p:nvSpPr>
        <p:spPr>
          <a:xfrm>
            <a:off x="316679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Four ways</a:t>
            </a:r>
          </a:p>
        </p:txBody>
      </p:sp>
      <p:sp>
        <p:nvSpPr>
          <p:cNvPr id="22" name="TextBox 21"/>
          <p:cNvSpPr txBox="1"/>
          <p:nvPr/>
        </p:nvSpPr>
        <p:spPr>
          <a:xfrm>
            <a:off x="2580589"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Which way of answering fits this file?</a:t>
            </a:r>
          </a:p>
        </p:txBody>
      </p:sp>
      <p:sp>
        <p:nvSpPr>
          <p:cNvPr id="23" name="TextBox 22"/>
          <p:cNvSpPr txBox="1"/>
          <p:nvPr/>
        </p:nvSpPr>
        <p:spPr>
          <a:xfrm>
            <a:off x="430164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4" name="Oval 23"/>
          <p:cNvSpPr/>
          <p:nvPr/>
        </p:nvSpPr>
        <p:spPr>
          <a:xfrm>
            <a:off x="505244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Three sums</a:t>
            </a:r>
          </a:p>
        </p:txBody>
      </p:sp>
      <p:sp>
        <p:nvSpPr>
          <p:cNvPr id="27" name="TextBox 26"/>
          <p:cNvSpPr txBox="1"/>
          <p:nvPr/>
        </p:nvSpPr>
        <p:spPr>
          <a:xfrm>
            <a:off x="4466234"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Which reading of sales comes out largest?</a:t>
            </a:r>
          </a:p>
        </p:txBody>
      </p:sp>
      <p:sp>
        <p:nvSpPr>
          <p:cNvPr id="28" name="TextBox 27"/>
          <p:cNvSpPr txBox="1"/>
          <p:nvPr/>
        </p:nvSpPr>
        <p:spPr>
          <a:xfrm>
            <a:off x="618728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29" name="Oval 28"/>
          <p:cNvSpPr/>
          <p:nvPr/>
        </p:nvSpPr>
        <p:spPr>
          <a:xfrm>
            <a:off x="693808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All 30 as sales</a:t>
            </a:r>
          </a:p>
        </p:txBody>
      </p:sp>
      <p:sp>
        <p:nvSpPr>
          <p:cNvPr id="32" name="TextBox 31"/>
          <p:cNvSpPr txBox="1"/>
          <p:nvPr/>
        </p:nvSpPr>
        <p:spPr>
          <a:xfrm>
            <a:off x="6351879"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What goes wrong if all 30 orders are sent as sales?</a:t>
            </a:r>
          </a:p>
        </p:txBody>
      </p:sp>
      <p:sp>
        <p:nvSpPr>
          <p:cNvPr id="33" name="TextBox 32"/>
          <p:cNvSpPr txBox="1"/>
          <p:nvPr/>
        </p:nvSpPr>
        <p:spPr>
          <a:xfrm>
            <a:off x="807293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5</a:t>
            </a:r>
          </a:p>
        </p:txBody>
      </p:sp>
      <p:sp>
        <p:nvSpPr>
          <p:cNvPr id="34" name="Oval 33"/>
          <p:cNvSpPr/>
          <p:nvPr/>
        </p:nvSpPr>
        <p:spPr>
          <a:xfrm>
            <a:off x="882373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By status</a:t>
            </a:r>
          </a:p>
        </p:txBody>
      </p:sp>
      <p:sp>
        <p:nvSpPr>
          <p:cNvPr id="37" name="TextBox 36"/>
          <p:cNvSpPr txBox="1"/>
          <p:nvPr/>
        </p:nvSpPr>
        <p:spPr>
          <a:xfrm>
            <a:off x="8237524"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Do sums by status reach the same totals?</a:t>
            </a:r>
          </a:p>
        </p:txBody>
      </p:sp>
      <p:sp>
        <p:nvSpPr>
          <p:cNvPr id="38" name="TextBox 37"/>
          <p:cNvSpPr txBox="1"/>
          <p:nvPr/>
        </p:nvSpPr>
        <p:spPr>
          <a:xfrm>
            <a:off x="9958578"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6</a:t>
            </a:r>
          </a:p>
        </p:txBody>
      </p:sp>
      <p:sp>
        <p:nvSpPr>
          <p:cNvPr id="39" name="Oval 38"/>
          <p:cNvSpPr/>
          <p:nvPr/>
        </p:nvSpPr>
        <p:spPr>
          <a:xfrm>
            <a:off x="1070937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root</a:t>
            </a:r>
          </a:p>
        </p:txBody>
      </p:sp>
      <p:sp>
        <p:nvSpPr>
          <p:cNvPr id="42" name="TextBox 41"/>
          <p:cNvSpPr txBox="1"/>
          <p:nvPr/>
        </p:nvSpPr>
        <p:spPr>
          <a:xfrm>
            <a:off x="10123170"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Which number goes on the tree's root?</a:t>
            </a:r>
          </a:p>
        </p:txBody>
      </p:sp>
      <p:sp>
        <p:nvSpPr>
          <p:cNvPr id="43" name="Oval 4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45" name="Oval 44"/>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03568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total is sales</a:t>
            </a:r>
          </a:p>
        </p:txBody>
      </p:sp>
      <p:sp>
        <p:nvSpPr>
          <p:cNvPr id="47" name="Oval 46"/>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49" name="Oval 4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51" name="Oval 50"/>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14 / 76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Meera's 15 percent plan is measured from sales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one number called sales, and what does a wrong one cost?</a:t>
            </a:r>
          </a:p>
        </p:txBody>
      </p:sp>
      <p:pic>
        <p:nvPicPr>
          <p:cNvPr id="9" name="mermaid diagram" descr="0c6f76d5c380c438.png"/>
          <p:cNvPicPr>
            <a:picLocks noChangeAspect="1"/>
          </p:cNvPicPr>
          <p:nvPr/>
        </p:nvPicPr>
        <p:blipFill>
          <a:blip r:embed="rId6"/>
          <a:stretch>
            <a:fillRect/>
          </a:stretch>
        </p:blipFill>
        <p:spPr>
          <a:xfrm>
            <a:off x="593760" y="1682496"/>
            <a:ext cx="4659509" cy="4517136"/>
          </a:xfrm>
          <a:prstGeom prst="rect">
            <a:avLst/>
          </a:prstGeom>
        </p:spPr>
      </p:pic>
      <p:sp>
        <p:nvSpPr>
          <p:cNvPr id="10" name="Rounded Rectangle 9"/>
          <p:cNvSpPr/>
          <p:nvPr/>
        </p:nvSpPr>
        <p:spPr>
          <a:xfrm>
            <a:off x="5761917" y="1956816"/>
            <a:ext cx="5899425"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5990517" y="215950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message-square_028dbd132a0a.png"/>
          <p:cNvPicPr>
            <a:picLocks noChangeAspect="1"/>
          </p:cNvPicPr>
          <p:nvPr/>
        </p:nvPicPr>
        <p:blipFill>
          <a:blip r:embed="rId4"/>
          <a:stretch>
            <a:fillRect/>
          </a:stretch>
        </p:blipFill>
        <p:spPr>
          <a:xfrm>
            <a:off x="6100245" y="2269236"/>
            <a:ext cx="237744" cy="237744"/>
          </a:xfrm>
          <a:prstGeom prst="rect">
            <a:avLst/>
          </a:prstGeom>
        </p:spPr>
      </p:pic>
      <p:sp>
        <p:nvSpPr>
          <p:cNvPr id="13" name="TextBox 12"/>
          <p:cNvSpPr txBox="1"/>
          <p:nvPr/>
        </p:nvSpPr>
        <p:spPr>
          <a:xfrm>
            <a:off x="6630597" y="2103120"/>
            <a:ext cx="4756425"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4" name="TextBox 13"/>
          <p:cNvSpPr txBox="1"/>
          <p:nvPr/>
        </p:nvSpPr>
        <p:spPr>
          <a:xfrm>
            <a:off x="6630597" y="2322576"/>
            <a:ext cx="4756425" cy="423672"/>
          </a:xfrm>
          <a:prstGeom prst="rect">
            <a:avLst/>
          </a:prstGeom>
          <a:noFill/>
        </p:spPr>
        <p:txBody>
          <a:bodyPr wrap="square" anchor="t" lIns="0" rIns="0" tIns="0" bIns="0">
            <a:spAutoFit/>
          </a:bodyPr>
          <a:lstStyle/>
          <a:p>
            <a:r>
              <a:rPr sz="1500" b="0" i="0">
                <a:solidFill>
                  <a:srgbClr val="FFFFFF"/>
                </a:solidFill>
                <a:latin typeface="Calibri"/>
              </a:rPr>
              <a:t>"What is 'sales' made of?"</a:t>
            </a:r>
          </a:p>
        </p:txBody>
      </p:sp>
      <p:graphicFrame>
        <p:nvGraphicFramePr>
          <p:cNvPr id="15" name="Table 14"/>
          <p:cNvGraphicFramePr>
            <a:graphicFrameLocks noGrp="1"/>
          </p:cNvGraphicFramePr>
          <p:nvPr/>
        </p:nvGraphicFramePr>
        <p:xfrm>
          <a:off x="5761917" y="2983992"/>
          <a:ext cx="5899424" cy="2076704"/>
        </p:xfrm>
        <a:graphic>
          <a:graphicData uri="http://schemas.openxmlformats.org/drawingml/2006/table">
            <a:tbl>
              <a:tblPr firstRow="0" bandRow="0">
                <a:tableStyleId>{2D5ABB26-0587-4C30-8999-92F81FD0307C}</a:tableStyleId>
              </a:tblPr>
              <a:tblGrid>
                <a:gridCol w="2717827"/>
                <a:gridCol w="3181597"/>
              </a:tblGrid>
              <a:tr h="611632">
                <a:tc>
                  <a:txBody>
                    <a:bodyPr/>
                    <a:lstStyle/>
                    <a:p>
                      <a:r>
                        <a:rPr sz="1450" b="1" i="0">
                          <a:solidFill>
                            <a:srgbClr val="FFFFFF"/>
                          </a:solidFill>
                          <a:latin typeface="Calibri"/>
                        </a:rPr>
                        <a:t>The metric at stake</a:t>
                      </a:r>
                    </a:p>
                  </a:txBody>
                  <a:tcPr marL="101600" marR="101600" marT="38100" marB="38100" anchor="ctr">
                    <a:solidFill>
                      <a:srgbClr val="1A0F5C"/>
                    </a:solidFill>
                  </a:tcPr>
                </a:tc>
                <a:tc>
                  <a:txBody>
                    <a:bodyPr/>
                    <a:lstStyle/>
                    <a:p>
                      <a:r>
                        <a:rPr sz="1450" b="1" i="0">
                          <a:solidFill>
                            <a:srgbClr val="FFFFFF"/>
                          </a:solidFill>
                          <a:latin typeface="Calibri"/>
                        </a:rPr>
                        <a:t>Sales is the base every growth percentage is measured from.</a:t>
                      </a:r>
                    </a:p>
                  </a:txBody>
                  <a:tcPr marL="101600" marR="101600" marT="38100" marB="38100" anchor="ctr">
                    <a:solidFill>
                      <a:srgbClr val="1A0F5C"/>
                    </a:solidFill>
                  </a:tcPr>
                </a:tc>
              </a:tr>
              <a:tr h="611632">
                <a:tc>
                  <a:txBody>
                    <a:bodyPr/>
                    <a:lstStyle/>
                    <a:p>
                      <a:r>
                        <a:rPr sz="1400" b="0" i="0">
                          <a:solidFill>
                            <a:srgbClr val="1A1440"/>
                          </a:solidFill>
                          <a:latin typeface="Calibri"/>
                        </a:rPr>
                        <a:t>Who asks</a:t>
                      </a:r>
                    </a:p>
                  </a:txBody>
                  <a:tcPr marL="101600" marR="101600" marT="38100" marB="38100" anchor="ctr">
                    <a:solidFill>
                      <a:srgbClr val="FFFFFF"/>
                    </a:solidFill>
                  </a:tcPr>
                </a:tc>
                <a:tc>
                  <a:txBody>
                    <a:bodyPr/>
                    <a:lstStyle/>
                    <a:p>
                      <a:r>
                        <a:rPr sz="1400" b="0" i="0">
                          <a:solidFill>
                            <a:srgbClr val="1A1440"/>
                          </a:solidFill>
                          <a:latin typeface="Calibri"/>
                        </a:rPr>
                        <a:t>Meera asks, and Anand's books must match the number.</a:t>
                      </a:r>
                    </a:p>
                  </a:txBody>
                  <a:tcPr marL="101600" marR="101600" marT="38100" marB="38100" anchor="ctr">
                    <a:solidFill>
                      <a:srgbClr val="FFFFFF"/>
                    </a:solidFill>
                  </a:tcPr>
                </a:tc>
              </a:tr>
              <a:tr h="853440">
                <a:tc>
                  <a:txBody>
                    <a:bodyPr/>
                    <a:lstStyle/>
                    <a:p>
                      <a:r>
                        <a:rPr sz="1400" b="0" i="0">
                          <a:solidFill>
                            <a:srgbClr val="1A1440"/>
                          </a:solidFill>
                          <a:latin typeface="Calibri"/>
                        </a:rPr>
                        <a:t>What a wrong number costs</a:t>
                      </a:r>
                    </a:p>
                  </a:txBody>
                  <a:tcPr marL="101600" marR="101600" marT="38100" marB="38100" anchor="ctr">
                    <a:solidFill>
                      <a:srgbClr val="F4F2FA"/>
                    </a:solidFill>
                  </a:tcPr>
                </a:tc>
                <a:tc>
                  <a:txBody>
                    <a:bodyPr/>
                    <a:lstStyle/>
                    <a:p>
                      <a:r>
                        <a:rPr sz="1400" b="0" i="0">
                          <a:solidFill>
                            <a:srgbClr val="1A1440"/>
                          </a:solidFill>
                          <a:latin typeface="Calibri"/>
                        </a:rPr>
                        <a:t>A plan measured from demand that never became a sale sets its target too high.</a:t>
                      </a:r>
                    </a:p>
                  </a:txBody>
                  <a:tcPr marL="101600" marR="101600" marT="38100" marB="38100" anchor="ctr">
                    <a:solidFill>
                      <a:srgbClr val="F4F2FA"/>
                    </a:solidFill>
                  </a:tcPr>
                </a:tc>
              </a:tr>
            </a:tbl>
          </a:graphicData>
        </a:graphic>
      </p:graphicFrame>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8" name="Oval 17"/>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03568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total is sales</a:t>
            </a:r>
          </a:p>
        </p:txBody>
      </p:sp>
      <p:sp>
        <p:nvSpPr>
          <p:cNvPr id="20" name="Oval 19"/>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2" name="Oval 21"/>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4" name="Oval 23"/>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15 / 76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Reliance Retail publishes two totals a quarter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a real retailer report more than one total for one quarter?</a:t>
            </a:r>
          </a:p>
        </p:txBody>
      </p:sp>
      <p:sp>
        <p:nvSpPr>
          <p:cNvPr id="9" name="TextBox 8"/>
          <p:cNvSpPr txBox="1"/>
          <p:nvPr/>
        </p:nvSpPr>
        <p:spPr>
          <a:xfrm>
            <a:off x="53035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Rs 90,408 cr</a:t>
            </a:r>
          </a:p>
        </p:txBody>
      </p:sp>
      <p:sp>
        <p:nvSpPr>
          <p:cNvPr id="10" name="TextBox 9"/>
          <p:cNvSpPr txBox="1"/>
          <p:nvPr/>
        </p:nvSpPr>
        <p:spPr>
          <a:xfrm>
            <a:off x="53035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GROSS REVENUE</a:t>
            </a:r>
          </a:p>
        </p:txBody>
      </p:sp>
      <p:sp>
        <p:nvSpPr>
          <p:cNvPr id="11" name="TextBox 10"/>
          <p:cNvSpPr txBox="1"/>
          <p:nvPr/>
        </p:nvSpPr>
        <p:spPr>
          <a:xfrm>
            <a:off x="53035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quarter to June 2026</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Rs 79,745 cr</a:t>
            </a:r>
          </a:p>
        </p:txBody>
      </p:sp>
      <p:sp>
        <p:nvSpPr>
          <p:cNvPr id="14" name="TextBox 13"/>
          <p:cNvSpPr txBox="1"/>
          <p:nvPr/>
        </p:nvSpPr>
        <p:spPr>
          <a:xfrm>
            <a:off x="433212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REVENUE FROM OPERATIONS</a:t>
            </a:r>
          </a:p>
        </p:txBody>
      </p:sp>
      <p:sp>
        <p:nvSpPr>
          <p:cNvPr id="15" name="TextBox 14"/>
          <p:cNvSpPr txBox="1"/>
          <p:nvPr/>
        </p:nvSpPr>
        <p:spPr>
          <a:xfrm>
            <a:off x="433212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same quarter</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GST</a:t>
            </a:r>
          </a:p>
        </p:txBody>
      </p:sp>
      <p:sp>
        <p:nvSpPr>
          <p:cNvPr id="18" name="TextBox 17"/>
          <p:cNvSpPr txBox="1"/>
          <p:nvPr/>
        </p:nvSpPr>
        <p:spPr>
          <a:xfrm>
            <a:off x="813389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STEP BETWEEN THEM</a:t>
            </a:r>
          </a:p>
        </p:txBody>
      </p:sp>
      <p:sp>
        <p:nvSpPr>
          <p:cNvPr id="19" name="TextBox 18"/>
          <p:cNvSpPr txBox="1"/>
          <p:nvPr/>
        </p:nvSpPr>
        <p:spPr>
          <a:xfrm>
            <a:off x="813389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collected for the state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Source: Reliance Industries media release, 17 July 2026. Both totals are correct, so each goes out with its name. The story's Rs 20 between GMV and net revenue holds two kinds of step, tax like Reliance's GST and orders that never stayed sold, and the second kind is the one Kalpa's file can show.</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4" name="Oval 23"/>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03568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total is sales</a:t>
            </a:r>
          </a:p>
        </p:txBody>
      </p:sp>
      <p:sp>
        <p:nvSpPr>
          <p:cNvPr id="26" name="Oval 25"/>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8" name="Oval 2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30" name="Oval 29"/>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16 / 76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Summing by status fits: one pass, every reading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way of answering fits this file?</a:t>
            </a:r>
          </a:p>
        </p:txBody>
      </p:sp>
      <p:graphicFrame>
        <p:nvGraphicFramePr>
          <p:cNvPr id="9" name="Table 8"/>
          <p:cNvGraphicFramePr>
            <a:graphicFrameLocks noGrp="1"/>
          </p:cNvGraphicFramePr>
          <p:nvPr/>
        </p:nvGraphicFramePr>
        <p:xfrm>
          <a:off x="530352" y="1956816"/>
          <a:ext cx="11130989" cy="1676400"/>
        </p:xfrm>
        <a:graphic>
          <a:graphicData uri="http://schemas.openxmlformats.org/drawingml/2006/table">
            <a:tbl>
              <a:tblPr firstRow="0" bandRow="0">
                <a:tableStyleId>{2D5ABB26-0587-4C30-8999-92F81FD0307C}</a:tableStyleId>
              </a:tblPr>
              <a:tblGrid>
                <a:gridCol w="4556554"/>
                <a:gridCol w="914400"/>
                <a:gridCol w="1707769"/>
                <a:gridCol w="3952266"/>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Rows</a:t>
                      </a:r>
                    </a:p>
                  </a:txBody>
                  <a:tcPr marL="101600" marR="101600" marT="38100" marB="38100" anchor="ctr">
                    <a:solidFill>
                      <a:srgbClr val="1A0F5C"/>
                    </a:solidFill>
                  </a:tcPr>
                </a:tc>
                <a:tc>
                  <a:txBody>
                    <a:bodyPr/>
                    <a:lstStyle/>
                    <a:p>
                      <a:r>
                        <a:rPr sz="1250" b="1" i="0">
                          <a:solidFill>
                            <a:srgbClr val="FFFFFF"/>
                          </a:solidFill>
                          <a:latin typeface="Calibri"/>
                        </a:rPr>
                        <a:t>Time</a:t>
                      </a:r>
                    </a:p>
                  </a:txBody>
                  <a:tcPr marL="101600" marR="101600" marT="38100" marB="38100" anchor="ctr">
                    <a:solidFill>
                      <a:srgbClr val="1A0F5C"/>
                    </a:solidFill>
                  </a:tcPr>
                </a:tc>
                <a:tc>
                  <a:txBody>
                    <a:bodyPr/>
                    <a:lstStyle/>
                    <a:p>
                      <a:r>
                        <a:rPr sz="1250" b="1" i="0">
                          <a:solidFill>
                            <a:srgbClr val="FFFFFF"/>
                          </a:solidFill>
                          <a:latin typeface="Calibri"/>
                        </a:rPr>
                        <a:t>Error on this file</a:t>
                      </a:r>
                    </a:p>
                  </a:txBody>
                  <a:tcPr marL="101600" marR="101600" marT="38100" marB="38100" anchor="ctr">
                    <a:solidFill>
                      <a:srgbClr val="1A0F5C"/>
                    </a:solidFill>
                  </a:tcPr>
                </a:tc>
              </a:tr>
              <a:tr h="335280">
                <a:tc>
                  <a:txBody>
                    <a:bodyPr/>
                    <a:lstStyle/>
                    <a:p>
                      <a:r>
                        <a:rPr sz="1200" b="0" i="0">
                          <a:solidFill>
                            <a:srgbClr val="1A1440"/>
                          </a:solidFill>
                          <a:latin typeface="Calibri"/>
                        </a:rPr>
                        <a:t>A. Add every amount and send the total</a:t>
                      </a:r>
                    </a:p>
                  </a:txBody>
                  <a:tcPr marL="101600" marR="101600" marT="38100" marB="38100" anchor="ctr">
                    <a:solidFill>
                      <a:srgbClr val="FFFFFF"/>
                    </a:solidFill>
                  </a:tcPr>
                </a:tc>
                <a:tc>
                  <a:txBody>
                    <a:bodyPr/>
                    <a:lstStyle/>
                    <a:p>
                      <a:r>
                        <a:rPr sz="1200" b="0" i="0">
                          <a:solidFill>
                            <a:srgbClr val="1A1440"/>
                          </a:solidFill>
                          <a:latin typeface="Calibri"/>
                        </a:rPr>
                        <a:t>30</a:t>
                      </a:r>
                    </a:p>
                  </a:txBody>
                  <a:tcPr marL="101600" marR="101600" marT="38100" marB="38100" anchor="ctr">
                    <a:solidFill>
                      <a:srgbClr val="FFFFFF"/>
                    </a:solidFill>
                  </a:tcPr>
                </a:tc>
                <a:tc>
                  <a:txBody>
                    <a:bodyPr/>
                    <a:lstStyle/>
                    <a:p>
                      <a:r>
                        <a:rPr sz="1200" b="0" i="0">
                          <a:solidFill>
                            <a:srgbClr val="1A1440"/>
                          </a:solidFill>
                          <a:latin typeface="Calibri"/>
                        </a:rPr>
                        <a:t>under a second</a:t>
                      </a:r>
                    </a:p>
                  </a:txBody>
                  <a:tcPr marL="101600" marR="101600" marT="38100" marB="38100" anchor="ctr">
                    <a:solidFill>
                      <a:srgbClr val="FFFFFF"/>
                    </a:solidFill>
                  </a:tcPr>
                </a:tc>
                <a:tc>
                  <a:txBody>
                    <a:bodyPr/>
                    <a:lstStyle/>
                    <a:p>
                      <a:r>
                        <a:rPr sz="1200" b="0" i="0">
                          <a:solidFill>
                            <a:srgbClr val="1A1440"/>
                          </a:solidFill>
                          <a:latin typeface="Calibri"/>
                        </a:rPr>
                        <a:t>It counts every cancelled order as a sale.</a:t>
                      </a:r>
                    </a:p>
                  </a:txBody>
                  <a:tcPr marL="101600" marR="101600" marT="38100" marB="38100" anchor="ctr">
                    <a:solidFill>
                      <a:srgbClr val="FFFFFF"/>
                    </a:solidFill>
                  </a:tcPr>
                </a:tc>
              </a:tr>
              <a:tr h="335280">
                <a:tc>
                  <a:txBody>
                    <a:bodyPr/>
                    <a:lstStyle/>
                    <a:p>
                      <a:r>
                        <a:rPr sz="1200" b="0" i="0">
                          <a:solidFill>
                            <a:srgbClr val="1A1440"/>
                          </a:solidFill>
                          <a:latin typeface="Calibri"/>
                        </a:rPr>
                        <a:t>B. Sum by status, with a bridge between the totals</a:t>
                      </a:r>
                    </a:p>
                  </a:txBody>
                  <a:tcPr marL="101600" marR="101600" marT="38100" marB="38100" anchor="ctr">
                    <a:solidFill>
                      <a:srgbClr val="F4F2FA"/>
                    </a:solidFill>
                  </a:tcPr>
                </a:tc>
                <a:tc>
                  <a:txBody>
                    <a:bodyPr/>
                    <a:lstStyle/>
                    <a:p>
                      <a:r>
                        <a:rPr sz="1200" b="0" i="0">
                          <a:solidFill>
                            <a:srgbClr val="1A1440"/>
                          </a:solidFill>
                          <a:latin typeface="Calibri"/>
                        </a:rPr>
                        <a:t>30, once</a:t>
                      </a:r>
                    </a:p>
                  </a:txBody>
                  <a:tcPr marL="101600" marR="101600" marT="38100" marB="38100" anchor="ctr">
                    <a:solidFill>
                      <a:srgbClr val="F4F2FA"/>
                    </a:solidFill>
                  </a:tcPr>
                </a:tc>
                <a:tc>
                  <a:txBody>
                    <a:bodyPr/>
                    <a:lstStyle/>
                    <a:p>
                      <a:r>
                        <a:rPr sz="1200" b="0" i="0">
                          <a:solidFill>
                            <a:srgbClr val="1A1440"/>
                          </a:solidFill>
                          <a:latin typeface="Calibri"/>
                        </a:rPr>
                        <a:t>under a second</a:t>
                      </a:r>
                    </a:p>
                  </a:txBody>
                  <a:tcPr marL="101600" marR="101600" marT="38100" marB="38100" anchor="ctr">
                    <a:solidFill>
                      <a:srgbClr val="F4F2FA"/>
                    </a:solidFill>
                  </a:tcPr>
                </a:tc>
                <a:tc>
                  <a:txBody>
                    <a:bodyPr/>
                    <a:lstStyle/>
                    <a:p>
                      <a:r>
                        <a:rPr sz="1200" b="0" i="0">
                          <a:solidFill>
                            <a:srgbClr val="1A1440"/>
                          </a:solidFill>
                          <a:latin typeface="Calibri"/>
                        </a:rPr>
                        <a:t>It has none once the bridge names each gap.</a:t>
                      </a:r>
                    </a:p>
                  </a:txBody>
                  <a:tcPr marL="101600" marR="101600" marT="38100" marB="38100" anchor="ctr">
                    <a:solidFill>
                      <a:srgbClr val="F4F2FA"/>
                    </a:solidFill>
                  </a:tcPr>
                </a:tc>
              </a:tr>
              <a:tr h="335280">
                <a:tc>
                  <a:txBody>
                    <a:bodyPr/>
                    <a:lstStyle/>
                    <a:p>
                      <a:r>
                        <a:rPr sz="1200" b="0" i="0">
                          <a:solidFill>
                            <a:srgbClr val="1A1440"/>
                          </a:solidFill>
                          <a:latin typeface="Calibri"/>
                        </a:rPr>
                        <a:t>C. Ask Finance for the figure in the books</a:t>
                      </a:r>
                    </a:p>
                  </a:txBody>
                  <a:tcPr marL="101600" marR="101600" marT="38100" marB="38100" anchor="ctr">
                    <a:solidFill>
                      <a:srgbClr val="FFFFFF"/>
                    </a:solidFill>
                  </a:tcPr>
                </a:tc>
                <a:tc>
                  <a:txBody>
                    <a:bodyPr/>
                    <a:lstStyle/>
                    <a:p>
                      <a:r>
                        <a:rPr sz="1200" b="0" i="0">
                          <a:solidFill>
                            <a:srgbClr val="1A1440"/>
                          </a:solidFill>
                          <a:latin typeface="Calibri"/>
                        </a:rPr>
                        <a:t>none</a:t>
                      </a:r>
                    </a:p>
                  </a:txBody>
                  <a:tcPr marL="101600" marR="101600" marT="38100" marB="38100" anchor="ctr">
                    <a:solidFill>
                      <a:srgbClr val="FFFFFF"/>
                    </a:solidFill>
                  </a:tcPr>
                </a:tc>
                <a:tc>
                  <a:txBody>
                    <a:bodyPr/>
                    <a:lstStyle/>
                    <a:p>
                      <a:r>
                        <a:rPr sz="1200" b="0" i="0">
                          <a:solidFill>
                            <a:srgbClr val="1A1440"/>
                          </a:solidFill>
                          <a:latin typeface="Calibri"/>
                        </a:rPr>
                        <a:t>a day or more</a:t>
                      </a:r>
                    </a:p>
                  </a:txBody>
                  <a:tcPr marL="101600" marR="101600" marT="38100" marB="38100" anchor="ctr">
                    <a:solidFill>
                      <a:srgbClr val="FFFFFF"/>
                    </a:solidFill>
                  </a:tcPr>
                </a:tc>
                <a:tc>
                  <a:txBody>
                    <a:bodyPr/>
                    <a:lstStyle/>
                    <a:p>
                      <a:r>
                        <a:rPr sz="1200" b="0" i="0">
                          <a:solidFill>
                            <a:srgbClr val="1A1440"/>
                          </a:solidFill>
                          <a:latin typeface="Calibri"/>
                        </a:rPr>
                        <a:t>It has none on Finance's definition.</a:t>
                      </a:r>
                    </a:p>
                  </a:txBody>
                  <a:tcPr marL="101600" marR="101600" marT="38100" marB="38100" anchor="ctr">
                    <a:solidFill>
                      <a:srgbClr val="FFFFFF"/>
                    </a:solidFill>
                  </a:tcPr>
                </a:tc>
              </a:tr>
              <a:tr h="335280">
                <a:tc>
                  <a:txBody>
                    <a:bodyPr/>
                    <a:lstStyle/>
                    <a:p>
                      <a:r>
                        <a:rPr sz="1200" b="0" i="0">
                          <a:solidFill>
                            <a:srgbClr val="1A1440"/>
                          </a:solidFill>
                          <a:latin typeface="Calibri"/>
                        </a:rPr>
                        <a:t>D. Tick the orders off by hand</a:t>
                      </a:r>
                    </a:p>
                  </a:txBody>
                  <a:tcPr marL="101600" marR="101600" marT="38100" marB="38100" anchor="ctr">
                    <a:solidFill>
                      <a:srgbClr val="F4F2FA"/>
                    </a:solidFill>
                  </a:tcPr>
                </a:tc>
                <a:tc>
                  <a:txBody>
                    <a:bodyPr/>
                    <a:lstStyle/>
                    <a:p>
                      <a:r>
                        <a:rPr sz="1200" b="0" i="0">
                          <a:solidFill>
                            <a:srgbClr val="1A1440"/>
                          </a:solidFill>
                          <a:latin typeface="Calibri"/>
                        </a:rPr>
                        <a:t>30</a:t>
                      </a:r>
                    </a:p>
                  </a:txBody>
                  <a:tcPr marL="101600" marR="101600" marT="38100" marB="38100" anchor="ctr">
                    <a:solidFill>
                      <a:srgbClr val="F4F2FA"/>
                    </a:solidFill>
                  </a:tcPr>
                </a:tc>
                <a:tc>
                  <a:txBody>
                    <a:bodyPr/>
                    <a:lstStyle/>
                    <a:p>
                      <a:r>
                        <a:rPr sz="1200" b="0" i="0">
                          <a:solidFill>
                            <a:srgbClr val="1A1440"/>
                          </a:solidFill>
                          <a:latin typeface="Calibri"/>
                        </a:rPr>
                        <a:t>about ten minutes</a:t>
                      </a:r>
                    </a:p>
                  </a:txBody>
                  <a:tcPr marL="101600" marR="101600" marT="38100" marB="38100" anchor="ctr">
                    <a:solidFill>
                      <a:srgbClr val="F4F2FA"/>
                    </a:solidFill>
                  </a:tcPr>
                </a:tc>
                <a:tc>
                  <a:txBody>
                    <a:bodyPr/>
                    <a:lstStyle/>
                    <a:p>
                      <a:r>
                        <a:rPr sz="1200" b="0" i="0">
                          <a:solidFill>
                            <a:srgbClr val="1A1440"/>
                          </a:solidFill>
                          <a:latin typeface="Calibri"/>
                        </a:rPr>
                        <a:t>A typo can hide in any of the 30 cells.</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351019"/>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4460748"/>
            <a:ext cx="237744" cy="237744"/>
          </a:xfrm>
          <a:prstGeom prst="rect">
            <a:avLst/>
          </a:prstGeom>
        </p:spPr>
      </p:pic>
      <p:sp>
        <p:nvSpPr>
          <p:cNvPr id="13" name="TextBox 12"/>
          <p:cNvSpPr txBox="1"/>
          <p:nvPr/>
        </p:nvSpPr>
        <p:spPr>
          <a:xfrm>
            <a:off x="1399031" y="403555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255008"/>
            <a:ext cx="9987991" cy="941832"/>
          </a:xfrm>
          <a:prstGeom prst="rect">
            <a:avLst/>
          </a:prstGeom>
          <a:noFill/>
        </p:spPr>
        <p:txBody>
          <a:bodyPr wrap="square" anchor="t" lIns="0" rIns="0" tIns="0" bIns="0">
            <a:spAutoFit/>
          </a:bodyPr>
          <a:lstStyle/>
          <a:p>
            <a:r>
              <a:rPr sz="1500" b="0" i="0">
                <a:solidFill>
                  <a:srgbClr val="1A1440"/>
                </a:solidFill>
                <a:latin typeface="Calibri"/>
              </a:rPr>
              <a:t>B is the best fit, since one pass gives every reading and the bridge names each rupee between them. If Finance has already fixed the definition the plan was set on, C decides which of B's totals goes in the note.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7" name="Oval 16"/>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3568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total is sales</a:t>
            </a:r>
          </a:p>
        </p:txBody>
      </p:sp>
      <p:sp>
        <p:nvSpPr>
          <p:cNvPr id="19" name="Oval 18"/>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3" name="Oval 22"/>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17 / 76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Each reading of sales drops one more status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reading of sales keep?</a:t>
            </a:r>
          </a:p>
        </p:txBody>
      </p:sp>
      <p:pic>
        <p:nvPicPr>
          <p:cNvPr id="9" name="mermaid diagram" descr="f8a67af25d61b8a9.png"/>
          <p:cNvPicPr>
            <a:picLocks noChangeAspect="1"/>
          </p:cNvPicPr>
          <p:nvPr/>
        </p:nvPicPr>
        <p:blipFill>
          <a:blip r:embed="rId5"/>
          <a:stretch>
            <a:fillRect/>
          </a:stretch>
        </p:blipFill>
        <p:spPr>
          <a:xfrm>
            <a:off x="530352" y="1956816"/>
            <a:ext cx="11130991" cy="1187305"/>
          </a:xfrm>
          <a:prstGeom prst="rect">
            <a:avLst/>
          </a:prstGeom>
        </p:spPr>
      </p:pic>
      <p:sp>
        <p:nvSpPr>
          <p:cNvPr id="10" name="TextBox 9"/>
          <p:cNvSpPr txBox="1"/>
          <p:nvPr/>
        </p:nvSpPr>
        <p:spPr>
          <a:xfrm>
            <a:off x="530352" y="3290425"/>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file has no tax field, so the step Reliance reports as GST cannot be taken from it.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3" name="Oval 12"/>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18 / 76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One loop keeps booked, not cancelled and delivered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one pass over the 30 orders keep three sums?</a:t>
            </a:r>
          </a:p>
        </p:txBody>
      </p:sp>
      <p:sp>
        <p:nvSpPr>
          <p:cNvPr id="9" name="Rounded Rectangle 8"/>
          <p:cNvSpPr/>
          <p:nvPr/>
        </p:nvSpPr>
        <p:spPr>
          <a:xfrm>
            <a:off x="530352" y="1956816"/>
            <a:ext cx="11130991" cy="272948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232714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readings = {"orders": 0, "booked": 0, "not cancelled": 0, "delivered": 0}</a:t>
            </a:r>
          </a:p>
          <a:p>
            <a:pPr>
              <a:spcAft>
                <a:spcPts val="200"/>
              </a:spcAft>
            </a:pPr>
            <a:r>
              <a:rPr sz="1400" b="0" i="0">
                <a:solidFill>
                  <a:srgbClr val="E4E1F1"/>
                </a:solidFill>
                <a:latin typeface="Consolas"/>
              </a:rPr>
              <a:t>for order in ORDERS:</a:t>
            </a:r>
          </a:p>
          <a:p>
            <a:pPr>
              <a:spcAft>
                <a:spcPts val="200"/>
              </a:spcAft>
            </a:pPr>
            <a:r>
              <a:rPr sz="1400" b="0" i="0">
                <a:solidFill>
                  <a:srgbClr val="E4E1F1"/>
                </a:solidFill>
                <a:latin typeface="Consolas"/>
              </a:rPr>
              <a:t>    amount = int(order["amount"])</a:t>
            </a:r>
          </a:p>
          <a:p>
            <a:pPr>
              <a:spcAft>
                <a:spcPts val="200"/>
              </a:spcAft>
            </a:pPr>
            <a:r>
              <a:rPr sz="1400" b="0" i="0">
                <a:solidFill>
                  <a:srgbClr val="E4E1F1"/>
                </a:solidFill>
                <a:latin typeface="Consolas"/>
              </a:rPr>
              <a:t>    readings["orders"] += 1</a:t>
            </a:r>
          </a:p>
          <a:p>
            <a:pPr>
              <a:spcAft>
                <a:spcPts val="200"/>
              </a:spcAft>
            </a:pPr>
            <a:r>
              <a:rPr sz="1400" b="0" i="0">
                <a:solidFill>
                  <a:srgbClr val="E4E1F1"/>
                </a:solidFill>
                <a:latin typeface="Consolas"/>
              </a:rPr>
              <a:t>    readings["booked"] += amount</a:t>
            </a:r>
          </a:p>
          <a:p>
            <a:pPr>
              <a:spcAft>
                <a:spcPts val="200"/>
              </a:spcAft>
            </a:pPr>
            <a:r>
              <a:rPr sz="1400" b="0" i="0">
                <a:solidFill>
                  <a:srgbClr val="E4E1F1"/>
                </a:solidFill>
                <a:latin typeface="Consolas"/>
              </a:rPr>
              <a:t>    if order["status"] != "cancelled":</a:t>
            </a:r>
          </a:p>
          <a:p>
            <a:pPr>
              <a:spcAft>
                <a:spcPts val="200"/>
              </a:spcAft>
            </a:pPr>
            <a:r>
              <a:rPr sz="1400" b="0" i="0">
                <a:solidFill>
                  <a:srgbClr val="E4E1F1"/>
                </a:solidFill>
                <a:latin typeface="Consolas"/>
              </a:rPr>
              <a:t>        readings["not cancelled"] += amount</a:t>
            </a:r>
          </a:p>
          <a:p>
            <a:pPr>
              <a:spcAft>
                <a:spcPts val="200"/>
              </a:spcAft>
            </a:pPr>
            <a:r>
              <a:rPr sz="1400" b="0" i="0">
                <a:solidFill>
                  <a:srgbClr val="E4E1F1"/>
                </a:solidFill>
                <a:latin typeface="Consolas"/>
              </a:rPr>
              <a:t>    if order["status"] == "delivered":</a:t>
            </a:r>
          </a:p>
          <a:p>
            <a:pPr>
              <a:spcAft>
                <a:spcPts val="200"/>
              </a:spcAft>
            </a:pPr>
            <a:r>
              <a:rPr sz="1400" b="0" i="0">
                <a:solidFill>
                  <a:srgbClr val="E4E1F1"/>
                </a:solidFill>
                <a:latin typeface="Consolas"/>
              </a:rPr>
              <a:t>        readings["delivered"] += amount</a:t>
            </a:r>
          </a:p>
        </p:txBody>
      </p:sp>
      <p:sp>
        <p:nvSpPr>
          <p:cNvPr id="14" name="TextBox 13"/>
          <p:cNvSpPr txBox="1"/>
          <p:nvPr/>
        </p:nvSpPr>
        <p:spPr>
          <a:xfrm>
            <a:off x="530352" y="485089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Each order is added to every reading that keeps its status, and int() makes each amount a whole number before it is added.</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7" name="Oval 16"/>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3568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total is sales</a:t>
            </a:r>
          </a:p>
        </p:txBody>
      </p:sp>
      <p:sp>
        <p:nvSpPr>
          <p:cNvPr id="19" name="Oval 18"/>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3" name="Oval 22"/>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19 / 76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reading of sales comes out largest?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Before the loop runs, which of its three sums do you expect on top?</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Delivered, because only delivered orders are real.</a:t>
            </a:r>
          </a:p>
          <a:p>
            <a:pPr>
              <a:spcAft>
                <a:spcPts val="800"/>
              </a:spcAft>
            </a:pPr>
            <a:r>
              <a:rPr sz="1600" b="0" i="0">
                <a:solidFill>
                  <a:srgbClr val="1A1440"/>
                </a:solidFill>
                <a:latin typeface="Calibri"/>
              </a:rPr>
              <a:t>b) Not cancelled, because it keeps returns and deliveries.</a:t>
            </a:r>
          </a:p>
          <a:p>
            <a:pPr>
              <a:spcAft>
                <a:spcPts val="800"/>
              </a:spcAft>
            </a:pPr>
            <a:r>
              <a:rPr sz="1600" b="0" i="0">
                <a:solidFill>
                  <a:srgbClr val="1A1440"/>
                </a:solidFill>
                <a:latin typeface="Calibri"/>
              </a:rPr>
              <a:t>c) Booked, because it keeps every order placed.</a:t>
            </a:r>
          </a:p>
          <a:p>
            <a:pPr>
              <a:spcAft>
                <a:spcPts val="800"/>
              </a:spcAft>
            </a:pPr>
            <a:r>
              <a:rPr sz="1600" b="0" i="0">
                <a:solidFill>
                  <a:srgbClr val="1A1440"/>
                </a:solidFill>
                <a:latin typeface="Calibri"/>
              </a:rPr>
              <a:t>d) All three come out equal.</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2" name="Oval 11"/>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03568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total is sales</a:t>
            </a:r>
          </a:p>
        </p:txBody>
      </p:sp>
      <p:sp>
        <p:nvSpPr>
          <p:cNvPr id="14" name="Oval 13"/>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8" name="Oval 17"/>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20 / 76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 booked is largest at Rs 5,44,810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far apart are the three readings of sales?</a:t>
            </a:r>
          </a:p>
        </p:txBody>
      </p:sp>
      <p:pic>
        <p:nvPicPr>
          <p:cNvPr id="9" name="mermaid diagram" descr="67307e52744f9805.png"/>
          <p:cNvPicPr>
            <a:picLocks noChangeAspect="1"/>
          </p:cNvPicPr>
          <p:nvPr/>
        </p:nvPicPr>
        <p:blipFill>
          <a:blip r:embed="rId5"/>
          <a:stretch>
            <a:fillRect/>
          </a:stretch>
        </p:blipFill>
        <p:spPr>
          <a:xfrm>
            <a:off x="2286863" y="1664208"/>
            <a:ext cx="7617968"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Booked is Rs 5,44,810 on 30 orders, not cancelled Rs 5,35,760 on 26 and delivered Rs 5,20,790 on 21, so Rs 24,020 on 9 orders separates the widest pair.</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3" name="Oval 12"/>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21 / 76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Check: 30 orders, and each reading keeps less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Did the loop visit every order, and does each narrower reading keep less?</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kit.check("the loop visited all 30 orders", readings["orders"] == 30)</a:t>
            </a:r>
          </a:p>
          <a:p>
            <a:pPr>
              <a:spcAft>
                <a:spcPts val="200"/>
              </a:spcAft>
            </a:pPr>
            <a:r>
              <a:rPr sz="1400" b="0" i="0">
                <a:solidFill>
                  <a:srgbClr val="E4E1F1"/>
                </a:solidFill>
                <a:latin typeface="Consolas"/>
              </a:rPr>
              <a:t>kit.check("booked sales is Rs 5,44,810", readings["booked"] == 544810)</a:t>
            </a:r>
          </a:p>
          <a:p>
            <a:pPr>
              <a:spcAft>
                <a:spcPts val="200"/>
              </a:spcAft>
            </a:pPr>
            <a:r>
              <a:rPr sz="1400" b="0" i="0">
                <a:solidFill>
                  <a:srgbClr val="E4E1F1"/>
                </a:solidFill>
                <a:latin typeface="Consolas"/>
              </a:rPr>
              <a:t>kit.check("each narrower reading keeps less",</a:t>
            </a:r>
          </a:p>
          <a:p>
            <a:pPr>
              <a:spcAft>
                <a:spcPts val="200"/>
              </a:spcAft>
            </a:pPr>
            <a:r>
              <a:rPr sz="1400" b="0" i="0">
                <a:solidFill>
                  <a:srgbClr val="E4E1F1"/>
                </a:solidFill>
                <a:latin typeface="Consolas"/>
              </a:rPr>
              <a:t>          readings["booked"] &gt;= readings["not cancelled"] &gt;= readings["delivered"])</a:t>
            </a:r>
          </a:p>
        </p:txBody>
      </p:sp>
      <p:sp>
        <p:nvSpPr>
          <p:cNvPr id="14" name="TextBox 13"/>
          <p:cNvSpPr txBox="1"/>
          <p:nvPr/>
        </p:nvSpPr>
        <p:spPr>
          <a:xfrm>
            <a:off x="530352" y="3588512"/>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All three checks pass, so the totals are the file's own and no reading is larger than the one it narrows.</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7" name="Oval 16"/>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3568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total is sales</a:t>
            </a:r>
          </a:p>
        </p:txBody>
      </p:sp>
      <p:sp>
        <p:nvSpPr>
          <p:cNvPr id="19" name="Oval 18"/>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3" name="Oval 22"/>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22 / 76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draft sends Rs 5,44,810 on 30 orders as sales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goes wrong if all 30 orders are sent as sales?</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The plausible wrong answer. </a:t>
            </a:r>
            <a:r>
              <a:rPr sz="1500" b="0" i="0">
                <a:solidFill>
                  <a:srgbClr val="1A1440"/>
                </a:solidFill>
                <a:latin typeface="Calibri"/>
              </a:rPr>
              <a:t>A colleague's first draft to Meera reads: "Sales this quarter: Rs 5,44,810 on 30 orders."</a:t>
            </a:r>
          </a:p>
        </p:txBody>
      </p:sp>
      <p:pic>
        <p:nvPicPr>
          <p:cNvPr id="12" name="mermaid diagram" descr="38afa10b774664b9.png"/>
          <p:cNvPicPr>
            <a:picLocks noChangeAspect="1"/>
          </p:cNvPicPr>
          <p:nvPr/>
        </p:nvPicPr>
        <p:blipFill>
          <a:blip r:embed="rId5"/>
          <a:stretch>
            <a:fillRect/>
          </a:stretch>
        </p:blipFill>
        <p:spPr>
          <a:xfrm>
            <a:off x="2152497" y="2929128"/>
            <a:ext cx="7886700" cy="1600200"/>
          </a:xfrm>
          <a:prstGeom prst="rect">
            <a:avLst/>
          </a:prstGeom>
        </p:spPr>
      </p:pic>
      <p:sp>
        <p:nvSpPr>
          <p:cNvPr id="13" name="TextBox 12"/>
          <p:cNvSpPr txBox="1"/>
          <p:nvPr/>
        </p:nvSpPr>
        <p:spPr>
          <a:xfrm>
            <a:off x="530352" y="4675632"/>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arithmetic is right, and the draft treats every order placed as a sale Meera's plan has to grow from.</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6" name="Oval 15"/>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03568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total is sales</a:t>
            </a:r>
          </a:p>
        </p:txBody>
      </p:sp>
      <p:sp>
        <p:nvSpPr>
          <p:cNvPr id="18" name="Oval 17"/>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0" name="Oval 19"/>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2" name="Oval 21"/>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23 / 76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count by status shows 4 cancelled, all in store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check catches the orders inside the total that were never sold?</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Why it is wrong. </a:t>
            </a:r>
            <a:r>
              <a:rPr sz="1500" b="0" i="0">
                <a:solidFill>
                  <a:srgbClr val="1A1440"/>
                </a:solidFill>
                <a:latin typeface="Calibri"/>
              </a:rPr>
              <a:t>A cancelled order never left the shelf and never paid Kalpa a rupee, so it is demand that never arrived, and counting orders by channel and status before adding any amount shows where the 4 sit.</a:t>
            </a:r>
          </a:p>
        </p:txBody>
      </p:sp>
      <p:graphicFrame>
        <p:nvGraphicFramePr>
          <p:cNvPr id="12" name="Table 11"/>
          <p:cNvGraphicFramePr>
            <a:graphicFrameLocks noGrp="1"/>
          </p:cNvGraphicFramePr>
          <p:nvPr/>
        </p:nvGraphicFramePr>
        <p:xfrm>
          <a:off x="530352" y="2929128"/>
          <a:ext cx="11130990" cy="1341120"/>
        </p:xfrm>
        <a:graphic>
          <a:graphicData uri="http://schemas.openxmlformats.org/drawingml/2006/table">
            <a:tbl>
              <a:tblPr firstRow="0" bandRow="0">
                <a:tableStyleId>{2D5ABB26-0587-4C30-8999-92F81FD0307C}</a:tableStyleId>
              </a:tblPr>
              <a:tblGrid>
                <a:gridCol w="914400"/>
                <a:gridCol w="3507329"/>
                <a:gridCol w="3201932"/>
                <a:gridCol w="3507329"/>
              </a:tblGrid>
              <a:tr h="335280">
                <a:tc>
                  <a:txBody>
                    <a:bodyPr/>
                    <a:lstStyle/>
                    <a:p>
                      <a:r>
                        <a:rPr sz="1250" b="1" i="0">
                          <a:solidFill>
                            <a:srgbClr val="FFFFFF"/>
                          </a:solidFill>
                          <a:latin typeface="Calibri"/>
                        </a:rPr>
                        <a:t>Channel</a:t>
                      </a:r>
                    </a:p>
                  </a:txBody>
                  <a:tcPr marL="101600" marR="101600" marT="38100" marB="38100" anchor="ctr">
                    <a:solidFill>
                      <a:srgbClr val="1A0F5C"/>
                    </a:solidFill>
                  </a:tcPr>
                </a:tc>
                <a:tc>
                  <a:txBody>
                    <a:bodyPr/>
                    <a:lstStyle/>
                    <a:p>
                      <a:r>
                        <a:rPr sz="1250" b="1" i="0">
                          <a:solidFill>
                            <a:srgbClr val="FFFFFF"/>
                          </a:solidFill>
                          <a:latin typeface="Calibri"/>
                        </a:rPr>
                        <a:t>Delivered</a:t>
                      </a:r>
                    </a:p>
                  </a:txBody>
                  <a:tcPr marL="101600" marR="101600" marT="38100" marB="38100" anchor="ctr">
                    <a:solidFill>
                      <a:srgbClr val="1A0F5C"/>
                    </a:solidFill>
                  </a:tcPr>
                </a:tc>
                <a:tc>
                  <a:txBody>
                    <a:bodyPr/>
                    <a:lstStyle/>
                    <a:p>
                      <a:r>
                        <a:rPr sz="1250" b="1" i="0">
                          <a:solidFill>
                            <a:srgbClr val="FFFFFF"/>
                          </a:solidFill>
                          <a:latin typeface="Calibri"/>
                        </a:rPr>
                        <a:t>Returned</a:t>
                      </a:r>
                    </a:p>
                  </a:txBody>
                  <a:tcPr marL="101600" marR="101600" marT="38100" marB="38100" anchor="ctr">
                    <a:solidFill>
                      <a:srgbClr val="1A0F5C"/>
                    </a:solidFill>
                  </a:tcPr>
                </a:tc>
                <a:tc>
                  <a:txBody>
                    <a:bodyPr/>
                    <a:lstStyle/>
                    <a:p>
                      <a:r>
                        <a:rPr sz="1250" b="1" i="0">
                          <a:solidFill>
                            <a:srgbClr val="FFFFFF"/>
                          </a:solidFill>
                          <a:latin typeface="Calibri"/>
                        </a:rPr>
                        <a:t>Cancelled</a:t>
                      </a:r>
                    </a:p>
                  </a:txBody>
                  <a:tcPr marL="101600" marR="101600" marT="38100" marB="38100" anchor="ctr">
                    <a:solidFill>
                      <a:srgbClr val="1A0F5C"/>
                    </a:solidFill>
                  </a:tcPr>
                </a:tc>
              </a:tr>
              <a:tr h="335280">
                <a:tc>
                  <a:txBody>
                    <a:bodyPr/>
                    <a:lstStyle/>
                    <a:p>
                      <a:r>
                        <a:rPr sz="1200" b="0" i="0">
                          <a:solidFill>
                            <a:srgbClr val="1A1440"/>
                          </a:solidFill>
                          <a:latin typeface="Calibri"/>
                        </a:rPr>
                        <a:t>App</a:t>
                      </a:r>
                    </a:p>
                  </a:txBody>
                  <a:tcPr marL="101600" marR="101600" marT="38100" marB="38100" anchor="ctr">
                    <a:solidFill>
                      <a:srgbClr val="FFFFFF"/>
                    </a:solidFill>
                  </a:tcPr>
                </a:tc>
                <a:tc>
                  <a:txBody>
                    <a:bodyPr/>
                    <a:lstStyle/>
                    <a:p>
                      <a:r>
                        <a:rPr sz="1200" b="0" i="0">
                          <a:solidFill>
                            <a:srgbClr val="1A1440"/>
                          </a:solidFill>
                          <a:latin typeface="Calibri"/>
                        </a:rPr>
                        <a:t>10</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r>
              <a:tr h="335280">
                <a:tc>
                  <a:txBody>
                    <a:bodyPr/>
                    <a:lstStyle/>
                    <a:p>
                      <a:r>
                        <a:rPr sz="1200" b="0" i="0">
                          <a:solidFill>
                            <a:srgbClr val="1A1440"/>
                          </a:solidFill>
                          <a:latin typeface="Calibri"/>
                        </a:rPr>
                        <a:t>Web</a:t>
                      </a:r>
                    </a:p>
                  </a:txBody>
                  <a:tcPr marL="101600" marR="101600" marT="38100" marB="38100" anchor="ctr">
                    <a:solidFill>
                      <a:srgbClr val="F4F2FA"/>
                    </a:solidFill>
                  </a:tcPr>
                </a:tc>
                <a:tc>
                  <a:txBody>
                    <a:bodyPr/>
                    <a:lstStyle/>
                    <a:p>
                      <a:r>
                        <a:rPr sz="1200" b="0" i="0">
                          <a:solidFill>
                            <a:srgbClr val="1A1440"/>
                          </a:solidFill>
                          <a:latin typeface="Calibri"/>
                        </a:rPr>
                        <a:t>5</a:t>
                      </a:r>
                    </a:p>
                  </a:txBody>
                  <a:tcPr marL="101600" marR="101600" marT="38100" marB="38100" anchor="ctr">
                    <a:solidFill>
                      <a:srgbClr val="F4F2FA"/>
                    </a:solidFill>
                  </a:tcPr>
                </a:tc>
                <a:tc>
                  <a:txBody>
                    <a:bodyPr/>
                    <a:lstStyle/>
                    <a:p>
                      <a:r>
                        <a:rPr sz="1200" b="0" i="0">
                          <a:solidFill>
                            <a:srgbClr val="1A1440"/>
                          </a:solidFill>
                          <a:latin typeface="Calibri"/>
                        </a:rPr>
                        <a:t>5</a:t>
                      </a:r>
                    </a:p>
                  </a:txBody>
                  <a:tcPr marL="101600" marR="101600" marT="38100" marB="38100" anchor="ctr">
                    <a:solidFill>
                      <a:srgbClr val="F4F2FA"/>
                    </a:solidFill>
                  </a:tcPr>
                </a:tc>
                <a:tc>
                  <a:txBody>
                    <a:bodyPr/>
                    <a:lstStyle/>
                    <a:p>
                      <a:r>
                        <a:rPr sz="1200" b="0" i="0">
                          <a:solidFill>
                            <a:srgbClr val="1A1440"/>
                          </a:solidFill>
                          <a:latin typeface="Calibri"/>
                        </a:rPr>
                        <a:t>0</a:t>
                      </a:r>
                    </a:p>
                  </a:txBody>
                  <a:tcPr marL="101600" marR="101600" marT="38100" marB="38100" anchor="ctr">
                    <a:solidFill>
                      <a:srgbClr val="F4F2FA"/>
                    </a:solidFill>
                  </a:tcPr>
                </a:tc>
              </a:tr>
              <a:tr h="335280">
                <a:tc>
                  <a:txBody>
                    <a:bodyPr/>
                    <a:lstStyle/>
                    <a:p>
                      <a:r>
                        <a:rPr sz="1200" b="0" i="0">
                          <a:solidFill>
                            <a:srgbClr val="1A1440"/>
                          </a:solidFill>
                          <a:latin typeface="Calibri"/>
                        </a:rPr>
                        <a:t>Store</a:t>
                      </a:r>
                    </a:p>
                  </a:txBody>
                  <a:tcPr marL="101600" marR="101600" marT="38100" marB="38100" anchor="ctr">
                    <a:solidFill>
                      <a:srgbClr val="FFFFFF"/>
                    </a:solidFill>
                  </a:tcPr>
                </a:tc>
                <a:tc>
                  <a:txBody>
                    <a:bodyPr/>
                    <a:lstStyle/>
                    <a:p>
                      <a:r>
                        <a:rPr sz="1200" b="0" i="0">
                          <a:solidFill>
                            <a:srgbClr val="1A1440"/>
                          </a:solidFill>
                          <a:latin typeface="Calibri"/>
                        </a:rPr>
                        <a:t>6</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c>
                  <a:txBody>
                    <a:bodyPr/>
                    <a:lstStyle/>
                    <a:p>
                      <a:r>
                        <a:rPr sz="1200" b="0" i="0">
                          <a:solidFill>
                            <a:srgbClr val="1A1440"/>
                          </a:solidFill>
                          <a:latin typeface="Calibri"/>
                        </a:rPr>
                        <a:t>4</a:t>
                      </a:r>
                    </a:p>
                  </a:txBody>
                  <a:tcPr marL="101600" marR="101600" marT="38100" marB="38100" anchor="ctr">
                    <a:solidFill>
                      <a:srgbClr val="FFFFFF"/>
                    </a:solidFill>
                  </a:tcPr>
                </a:tc>
              </a:tr>
            </a:tbl>
          </a:graphicData>
        </a:graphic>
      </p:graphicFrame>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5" name="Oval 14"/>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3568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total is sales</a:t>
            </a:r>
          </a:p>
        </p:txBody>
      </p:sp>
      <p:sp>
        <p:nvSpPr>
          <p:cNvPr id="17" name="Oval 16"/>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9" name="Oval 1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1" name="Oval 20"/>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24 / 76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writes the definition beside each total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fix change in the note to Meera?</a:t>
            </a:r>
          </a:p>
        </p:txBody>
      </p:sp>
      <p:pic>
        <p:nvPicPr>
          <p:cNvPr id="9" name="mermaid diagram" descr="d0687df179c50ce5.png"/>
          <p:cNvPicPr>
            <a:picLocks noChangeAspect="1"/>
          </p:cNvPicPr>
          <p:nvPr/>
        </p:nvPicPr>
        <p:blipFill>
          <a:blip r:embed="rId5"/>
          <a:stretch>
            <a:fillRect/>
          </a:stretch>
        </p:blipFill>
        <p:spPr>
          <a:xfrm>
            <a:off x="530352" y="1956816"/>
            <a:ext cx="11130991" cy="1261812"/>
          </a:xfrm>
          <a:prstGeom prst="rect">
            <a:avLst/>
          </a:prstGeom>
        </p:spPr>
      </p:pic>
      <p:sp>
        <p:nvSpPr>
          <p:cNvPr id="10" name="TextBox 9"/>
          <p:cNvSpPr txBox="1"/>
          <p:nvPr/>
        </p:nvSpPr>
        <p:spPr>
          <a:xfrm>
            <a:off x="530352" y="336493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sentence for Meera names the definition first: "Sales this quarter, net of cancellations, were Rs 5,35,760 on 26 orders; Rs 9,050 on 4 store orders was cancelled."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3" name="Oval 12"/>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25 / 76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Sums by status land on the same three totals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 sums by status reach the same totals as the one loop?</a:t>
            </a:r>
          </a:p>
        </p:txBody>
      </p:sp>
      <p:sp>
        <p:nvSpPr>
          <p:cNvPr id="9" name="Rounded Rectangle 8"/>
          <p:cNvSpPr/>
          <p:nvPr/>
        </p:nvSpPr>
        <p:spPr>
          <a:xfrm>
            <a:off x="530352" y="1682496"/>
            <a:ext cx="5291175" cy="2224531"/>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181051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181051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181051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011680"/>
            <a:ext cx="4833975" cy="1822195"/>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by_status = {}</a:t>
            </a:r>
          </a:p>
          <a:p>
            <a:pPr>
              <a:spcAft>
                <a:spcPts val="200"/>
              </a:spcAft>
            </a:pPr>
            <a:r>
              <a:rPr sz="1400" b="0" i="0">
                <a:solidFill>
                  <a:srgbClr val="E4E1F1"/>
                </a:solidFill>
                <a:latin typeface="Consolas"/>
              </a:rPr>
              <a:t>for order in ORDERS:</a:t>
            </a:r>
          </a:p>
          <a:p>
            <a:pPr>
              <a:spcAft>
                <a:spcPts val="200"/>
              </a:spcAft>
            </a:pPr>
            <a:r>
              <a:rPr sz="1400" b="0" i="0">
                <a:solidFill>
                  <a:srgbClr val="E4E1F1"/>
                </a:solidFill>
                <a:latin typeface="Consolas"/>
              </a:rPr>
              <a:t>    status = order["status"]</a:t>
            </a:r>
          </a:p>
          <a:p>
            <a:pPr>
              <a:spcAft>
                <a:spcPts val="200"/>
              </a:spcAft>
            </a:pPr>
            <a:r>
              <a:rPr sz="1400" b="0" i="0">
                <a:solidFill>
                  <a:srgbClr val="E4E1F1"/>
                </a:solidFill>
                <a:latin typeface="Consolas"/>
              </a:rPr>
              <a:t>    by_status[status] = by_status.get(status, 0) + int(order["amount"])</a:t>
            </a:r>
          </a:p>
          <a:p>
            <a:pPr>
              <a:spcAft>
                <a:spcPts val="200"/>
              </a:spcAft>
            </a:pPr>
            <a:r>
              <a:rPr sz="1400" b="0" i="0">
                <a:solidFill>
                  <a:srgbClr val="E4E1F1"/>
                </a:solidFill>
                <a:latin typeface="Consolas"/>
              </a:rPr>
              <a:t>not_cancelled = by_status["delivered"] + by_status["returned"]</a:t>
            </a:r>
          </a:p>
        </p:txBody>
      </p:sp>
      <p:pic>
        <p:nvPicPr>
          <p:cNvPr id="14" name="mermaid diagram" descr="f0830e2210d9a970.png"/>
          <p:cNvPicPr>
            <a:picLocks noChangeAspect="1"/>
          </p:cNvPicPr>
          <p:nvPr/>
        </p:nvPicPr>
        <p:blipFill>
          <a:blip r:embed="rId6"/>
          <a:stretch>
            <a:fillRect/>
          </a:stretch>
        </p:blipFill>
        <p:spPr>
          <a:xfrm>
            <a:off x="6370167" y="1682496"/>
            <a:ext cx="5291175" cy="2271754"/>
          </a:xfrm>
          <a:prstGeom prst="rect">
            <a:avLst/>
          </a:prstGeom>
        </p:spPr>
      </p:pic>
      <p:sp>
        <p:nvSpPr>
          <p:cNvPr id="15" name="Rounded Rectangle 14"/>
          <p:cNvSpPr/>
          <p:nvPr/>
        </p:nvSpPr>
        <p:spPr>
          <a:xfrm>
            <a:off x="6370167" y="4100554"/>
            <a:ext cx="5291175" cy="163982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598767" y="469186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checks_bd88901d2a37.png"/>
          <p:cNvPicPr>
            <a:picLocks noChangeAspect="1"/>
          </p:cNvPicPr>
          <p:nvPr/>
        </p:nvPicPr>
        <p:blipFill>
          <a:blip r:embed="rId5"/>
          <a:stretch>
            <a:fillRect/>
          </a:stretch>
        </p:blipFill>
        <p:spPr>
          <a:xfrm>
            <a:off x="6708495" y="4801594"/>
            <a:ext cx="237744" cy="237744"/>
          </a:xfrm>
          <a:prstGeom prst="rect">
            <a:avLst/>
          </a:prstGeom>
        </p:spPr>
      </p:pic>
      <p:sp>
        <p:nvSpPr>
          <p:cNvPr id="18" name="TextBox 17"/>
          <p:cNvSpPr txBox="1"/>
          <p:nvPr/>
        </p:nvSpPr>
        <p:spPr>
          <a:xfrm>
            <a:off x="7238847" y="4246858"/>
            <a:ext cx="4148175"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9" name="TextBox 18"/>
          <p:cNvSpPr txBox="1"/>
          <p:nvPr/>
        </p:nvSpPr>
        <p:spPr>
          <a:xfrm>
            <a:off x="7238847" y="4466314"/>
            <a:ext cx="4148175" cy="1200912"/>
          </a:xfrm>
          <a:prstGeom prst="rect">
            <a:avLst/>
          </a:prstGeom>
          <a:noFill/>
        </p:spPr>
        <p:txBody>
          <a:bodyPr wrap="square" anchor="t" lIns="0" rIns="0" tIns="0" bIns="0">
            <a:spAutoFit/>
          </a:bodyPr>
          <a:lstStyle/>
          <a:p>
            <a:r>
              <a:rPr sz="1500" b="0" i="0">
                <a:solidFill>
                  <a:srgbClr val="1A1440"/>
                </a:solidFill>
                <a:latin typeface="Calibri"/>
              </a:rPr>
              <a:t>The two routes must agree to the rupee, and grouping by status is the route to keep when a new status may appear, since it needs no new if.</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2" name="Oval 21"/>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03568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total is sales</a:t>
            </a:r>
          </a:p>
        </p:txBody>
      </p:sp>
      <p:sp>
        <p:nvSpPr>
          <p:cNvPr id="24" name="Oval 23"/>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6" name="Oval 2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8" name="Oval 27"/>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26 / 76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Meera gets Rs 5,35,760, named net of cancellations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the file's totals should Meera call sales, and what does each one count?</a:t>
            </a:r>
          </a:p>
        </p:txBody>
      </p:sp>
      <p:graphicFrame>
        <p:nvGraphicFramePr>
          <p:cNvPr id="9" name="Table 8"/>
          <p:cNvGraphicFramePr>
            <a:graphicFrameLocks noGrp="1"/>
          </p:cNvGraphicFramePr>
          <p:nvPr/>
        </p:nvGraphicFramePr>
        <p:xfrm>
          <a:off x="530352" y="1682496"/>
          <a:ext cx="11130990" cy="2176272"/>
        </p:xfrm>
        <a:graphic>
          <a:graphicData uri="http://schemas.openxmlformats.org/drawingml/2006/table">
            <a:tbl>
              <a:tblPr firstRow="0" bandRow="0">
                <a:tableStyleId>{2D5ABB26-0587-4C30-8999-92F81FD0307C}</a:tableStyleId>
              </a:tblPr>
              <a:tblGrid>
                <a:gridCol w="2792969"/>
                <a:gridCol w="8338021"/>
              </a:tblGrid>
              <a:tr h="310896">
                <a:tc>
                  <a:txBody>
                    <a:bodyPr/>
                    <a:lstStyle/>
                    <a:p>
                      <a:r>
                        <a:rPr sz="950" b="1" i="0">
                          <a:solidFill>
                            <a:srgbClr val="FFFFFF"/>
                          </a:solidFill>
                          <a:latin typeface="Calibri"/>
                        </a:rPr>
                        <a:t>Question</a:t>
                      </a:r>
                    </a:p>
                  </a:txBody>
                  <a:tcPr marL="101600" marR="101600" marT="38100" marB="38100" anchor="ctr">
                    <a:solidFill>
                      <a:srgbClr val="1A0F5C"/>
                    </a:solidFill>
                  </a:tcPr>
                </a:tc>
                <a:tc>
                  <a:txBody>
                    <a:bodyPr/>
                    <a:lstStyle/>
                    <a:p>
                      <a:r>
                        <a:rPr sz="950" b="1" i="0">
                          <a:solidFill>
                            <a:srgbClr val="FFFFFF"/>
                          </a:solidFill>
                          <a:latin typeface="Calibri"/>
                        </a:rPr>
                        <a:t>Answer</a:t>
                      </a:r>
                    </a:p>
                  </a:txBody>
                  <a:tcPr marL="101600" marR="101600" marT="38100" marB="38100" anchor="ctr">
                    <a:solidFill>
                      <a:srgbClr val="1A0F5C"/>
                    </a:solidFill>
                  </a:tcPr>
                </a:tc>
              </a:tr>
              <a:tr h="310896">
                <a:tc>
                  <a:txBody>
                    <a:bodyPr/>
                    <a:lstStyle/>
                    <a:p>
                      <a:r>
                        <a:rPr sz="900" b="0" i="0">
                          <a:solidFill>
                            <a:srgbClr val="1A1440"/>
                          </a:solidFill>
                          <a:latin typeface="Calibri"/>
                        </a:rPr>
                        <a:t>Who needs sales?</a:t>
                      </a:r>
                    </a:p>
                  </a:txBody>
                  <a:tcPr marL="101600" marR="101600" marT="38100" marB="38100" anchor="ctr">
                    <a:solidFill>
                      <a:srgbClr val="FFFFFF"/>
                    </a:solidFill>
                  </a:tcPr>
                </a:tc>
                <a:tc>
                  <a:txBody>
                    <a:bodyPr/>
                    <a:lstStyle/>
                    <a:p>
                      <a:r>
                        <a:rPr sz="900" b="0" i="0">
                          <a:solidFill>
                            <a:srgbClr val="1A1440"/>
                          </a:solidFill>
                          <a:latin typeface="Calibri"/>
                        </a:rPr>
                        <a:t>Meera needs it for the plan's base, and Anand needs it to match his books.</a:t>
                      </a:r>
                    </a:p>
                  </a:txBody>
                  <a:tcPr marL="101600" marR="101600" marT="38100" marB="38100" anchor="ctr">
                    <a:solidFill>
                      <a:srgbClr val="FFFFFF"/>
                    </a:solidFill>
                  </a:tcPr>
                </a:tc>
              </a:tr>
              <a:tr h="310896">
                <a:tc>
                  <a:txBody>
                    <a:bodyPr/>
                    <a:lstStyle/>
                    <a:p>
                      <a:r>
                        <a:rPr sz="900" b="0" i="0">
                          <a:solidFill>
                            <a:srgbClr val="1A1440"/>
                          </a:solidFill>
                          <a:latin typeface="Calibri"/>
                        </a:rPr>
                        <a:t>Which way fits?</a:t>
                      </a:r>
                    </a:p>
                  </a:txBody>
                  <a:tcPr marL="101600" marR="101600" marT="38100" marB="38100" anchor="ctr">
                    <a:solidFill>
                      <a:srgbClr val="F4F2FA"/>
                    </a:solidFill>
                  </a:tcPr>
                </a:tc>
                <a:tc>
                  <a:txBody>
                    <a:bodyPr/>
                    <a:lstStyle/>
                    <a:p>
                      <a:r>
                        <a:rPr sz="900" b="0" i="0">
                          <a:solidFill>
                            <a:srgbClr val="1A1440"/>
                          </a:solidFill>
                          <a:latin typeface="Calibri"/>
                        </a:rPr>
                        <a:t>One pass that sums by status, with a bridge, fits this file.</a:t>
                      </a:r>
                    </a:p>
                  </a:txBody>
                  <a:tcPr marL="101600" marR="101600" marT="38100" marB="38100" anchor="ctr">
                    <a:solidFill>
                      <a:srgbClr val="F4F2FA"/>
                    </a:solidFill>
                  </a:tcPr>
                </a:tc>
              </a:tr>
              <a:tr h="310896">
                <a:tc>
                  <a:txBody>
                    <a:bodyPr/>
                    <a:lstStyle/>
                    <a:p>
                      <a:r>
                        <a:rPr sz="900" b="0" i="0">
                          <a:solidFill>
                            <a:srgbClr val="1A1440"/>
                          </a:solidFill>
                          <a:latin typeface="Calibri"/>
                        </a:rPr>
                        <a:t>Which reading is largest?</a:t>
                      </a:r>
                    </a:p>
                  </a:txBody>
                  <a:tcPr marL="101600" marR="101600" marT="38100" marB="38100" anchor="ctr">
                    <a:solidFill>
                      <a:srgbClr val="FFFFFF"/>
                    </a:solidFill>
                  </a:tcPr>
                </a:tc>
                <a:tc>
                  <a:txBody>
                    <a:bodyPr/>
                    <a:lstStyle/>
                    <a:p>
                      <a:r>
                        <a:rPr sz="900" b="0" i="0">
                          <a:solidFill>
                            <a:srgbClr val="1A1440"/>
                          </a:solidFill>
                          <a:latin typeface="Calibri"/>
                        </a:rPr>
                        <a:t>Booked is Rs 5,44,810, then not cancelled Rs 5,35,760, then delivered Rs 5,20,790.</a:t>
                      </a:r>
                    </a:p>
                  </a:txBody>
                  <a:tcPr marL="101600" marR="101600" marT="38100" marB="38100" anchor="ctr">
                    <a:solidFill>
                      <a:srgbClr val="FFFFFF"/>
                    </a:solidFill>
                  </a:tcPr>
                </a:tc>
              </a:tr>
              <a:tr h="310896">
                <a:tc>
                  <a:txBody>
                    <a:bodyPr/>
                    <a:lstStyle/>
                    <a:p>
                      <a:r>
                        <a:rPr sz="900" b="0" i="0">
                          <a:solidFill>
                            <a:srgbClr val="1A1440"/>
                          </a:solidFill>
                          <a:latin typeface="Calibri"/>
                        </a:rPr>
                        <a:t>All 30 as sales?</a:t>
                      </a:r>
                    </a:p>
                  </a:txBody>
                  <a:tcPr marL="101600" marR="101600" marT="38100" marB="38100" anchor="ctr">
                    <a:solidFill>
                      <a:srgbClr val="F4F2FA"/>
                    </a:solidFill>
                  </a:tcPr>
                </a:tc>
                <a:tc>
                  <a:txBody>
                    <a:bodyPr/>
                    <a:lstStyle/>
                    <a:p>
                      <a:r>
                        <a:rPr sz="900" b="0" i="0">
                          <a:solidFill>
                            <a:srgbClr val="1A1440"/>
                          </a:solidFill>
                          <a:latin typeface="Calibri"/>
                        </a:rPr>
                        <a:t>That total counts 4 cancelled store orders, Rs 9,050 that was never sold.</a:t>
                      </a:r>
                    </a:p>
                  </a:txBody>
                  <a:tcPr marL="101600" marR="101600" marT="38100" marB="38100" anchor="ctr">
                    <a:solidFill>
                      <a:srgbClr val="F4F2FA"/>
                    </a:solidFill>
                  </a:tcPr>
                </a:tc>
              </a:tr>
              <a:tr h="310896">
                <a:tc>
                  <a:txBody>
                    <a:bodyPr/>
                    <a:lstStyle/>
                    <a:p>
                      <a:r>
                        <a:rPr sz="900" b="0" i="0">
                          <a:solidFill>
                            <a:srgbClr val="1A1440"/>
                          </a:solidFill>
                          <a:latin typeface="Calibri"/>
                        </a:rPr>
                        <a:t>Sums by status?</a:t>
                      </a:r>
                    </a:p>
                  </a:txBody>
                  <a:tcPr marL="101600" marR="101600" marT="38100" marB="38100" anchor="ctr">
                    <a:solidFill>
                      <a:srgbClr val="FFFFFF"/>
                    </a:solidFill>
                  </a:tcPr>
                </a:tc>
                <a:tc>
                  <a:txBody>
                    <a:bodyPr/>
                    <a:lstStyle/>
                    <a:p>
                      <a:r>
                        <a:rPr sz="900" b="0" i="0">
                          <a:solidFill>
                            <a:srgbClr val="1A1440"/>
                          </a:solidFill>
                          <a:latin typeface="Calibri"/>
                        </a:rPr>
                        <a:t>They reach the same three totals to the rupee.</a:t>
                      </a:r>
                    </a:p>
                  </a:txBody>
                  <a:tcPr marL="101600" marR="101600" marT="38100" marB="38100" anchor="ctr">
                    <a:solidFill>
                      <a:srgbClr val="FFFFFF"/>
                    </a:solidFill>
                  </a:tcPr>
                </a:tc>
              </a:tr>
              <a:tr h="310896">
                <a:tc>
                  <a:txBody>
                    <a:bodyPr/>
                    <a:lstStyle/>
                    <a:p>
                      <a:r>
                        <a:rPr sz="900" b="0" i="0">
                          <a:solidFill>
                            <a:srgbClr val="1A1440"/>
                          </a:solidFill>
                          <a:latin typeface="Calibri"/>
                        </a:rPr>
                        <a:t>The tree's root?</a:t>
                      </a:r>
                    </a:p>
                  </a:txBody>
                  <a:tcPr marL="101600" marR="101600" marT="38100" marB="38100" anchor="ctr">
                    <a:solidFill>
                      <a:srgbClr val="F4F2FA"/>
                    </a:solidFill>
                  </a:tcPr>
                </a:tc>
                <a:tc>
                  <a:txBody>
                    <a:bodyPr/>
                    <a:lstStyle/>
                    <a:p>
                      <a:r>
                        <a:rPr sz="900" b="0" i="0">
                          <a:solidFill>
                            <a:srgbClr val="1A1440"/>
                          </a:solidFill>
                          <a:latin typeface="Calibri"/>
                        </a:rPr>
                        <a:t>It carries Rs 5,35,760 net of cancellations, with delivered beside it.</a:t>
                      </a:r>
                    </a:p>
                  </a:txBody>
                  <a:tcPr marL="101600" marR="101600" marT="38100" marB="38100" anchor="ctr">
                    <a:solidFill>
                      <a:srgbClr val="F4F2FA"/>
                    </a:solidFill>
                  </a:tcPr>
                </a:tc>
              </a:tr>
            </a:tbl>
          </a:graphicData>
        </a:graphic>
      </p:graphicFrame>
      <p:sp>
        <p:nvSpPr>
          <p:cNvPr id="10" name="Rounded Rectangle 9"/>
          <p:cNvSpPr/>
          <p:nvPr/>
        </p:nvSpPr>
        <p:spPr>
          <a:xfrm>
            <a:off x="530352" y="4114800"/>
            <a:ext cx="11130991" cy="9489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36067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470400"/>
            <a:ext cx="237744" cy="237744"/>
          </a:xfrm>
          <a:prstGeom prst="rect">
            <a:avLst/>
          </a:prstGeom>
        </p:spPr>
      </p:pic>
      <p:sp>
        <p:nvSpPr>
          <p:cNvPr id="13" name="TextBox 12"/>
          <p:cNvSpPr txBox="1"/>
          <p:nvPr/>
        </p:nvSpPr>
        <p:spPr>
          <a:xfrm>
            <a:off x="1399031" y="426110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480560"/>
            <a:ext cx="9987991" cy="510032"/>
          </a:xfrm>
          <a:prstGeom prst="rect">
            <a:avLst/>
          </a:prstGeom>
          <a:noFill/>
        </p:spPr>
        <p:txBody>
          <a:bodyPr wrap="square" anchor="t" lIns="0" rIns="0" tIns="0" bIns="0">
            <a:spAutoFit/>
          </a:bodyPr>
          <a:lstStyle/>
          <a:p>
            <a:r>
              <a:rPr sz="1000" b="0" i="0">
                <a:solidFill>
                  <a:srgbClr val="1A1440"/>
                </a:solidFill>
                <a:latin typeface="Calibri"/>
              </a:rPr>
              <a:t>"You found Rs 9,050 that was never a sale by counting before adding. Which definition Meera plans on is her call; your job is to make sure she can see which one she is reading."</a:t>
            </a:r>
          </a:p>
        </p:txBody>
      </p:sp>
      <p:sp>
        <p:nvSpPr>
          <p:cNvPr id="15" name="Rounded Rectangle 14"/>
          <p:cNvSpPr/>
          <p:nvPr/>
        </p:nvSpPr>
        <p:spPr>
          <a:xfrm>
            <a:off x="530352" y="5228336"/>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112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20944"/>
            <a:ext cx="237744" cy="237744"/>
          </a:xfrm>
          <a:prstGeom prst="rect">
            <a:avLst/>
          </a:prstGeom>
        </p:spPr>
      </p:pic>
      <p:sp>
        <p:nvSpPr>
          <p:cNvPr id="18" name="TextBox 17"/>
          <p:cNvSpPr txBox="1"/>
          <p:nvPr/>
        </p:nvSpPr>
        <p:spPr>
          <a:xfrm>
            <a:off x="1399031" y="537464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594096"/>
            <a:ext cx="9987991" cy="384048"/>
          </a:xfrm>
          <a:prstGeom prst="rect">
            <a:avLst/>
          </a:prstGeom>
          <a:noFill/>
        </p:spPr>
        <p:txBody>
          <a:bodyPr wrap="square" anchor="t" lIns="0" rIns="0" tIns="0" bIns="0">
            <a:spAutoFit/>
          </a:bodyPr>
          <a:lstStyle/>
          <a:p>
            <a:r>
              <a:rPr sz="1000" b="0" i="0">
                <a:solidFill>
                  <a:srgbClr val="1A1440"/>
                </a:solidFill>
                <a:latin typeface="Calibri"/>
              </a:rPr>
              <a:t>[F] What counts as "sales": booked, net of cancellations, or delivered, and which do you give a CEO?</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2" name="Oval 21"/>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03568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total is sales</a:t>
            </a:r>
          </a:p>
        </p:txBody>
      </p:sp>
      <p:sp>
        <p:nvSpPr>
          <p:cNvPr id="24" name="Oval 23"/>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6" name="Oval 2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8" name="Oval 27"/>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27 / 76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is each branch</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How does sales split into customers, orders per customer and order value, each a fraction on one definition?</a:t>
            </a:r>
          </a:p>
        </p:txBody>
      </p:sp>
      <p:sp>
        <p:nvSpPr>
          <p:cNvPr id="10" name="Rounded Rectangle 9"/>
          <p:cNvSpPr/>
          <p:nvPr/>
        </p:nvSpPr>
        <p:spPr>
          <a:xfrm>
            <a:off x="731519"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does retail earn</a:t>
            </a:r>
          </a:p>
        </p:txBody>
      </p:sp>
      <p:sp>
        <p:nvSpPr>
          <p:cNvPr id="11" name="Rounded Rectangle 10"/>
          <p:cNvSpPr/>
          <p:nvPr/>
        </p:nvSpPr>
        <p:spPr>
          <a:xfrm>
            <a:off x="2391327"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total is sales</a:t>
            </a:r>
          </a:p>
        </p:txBody>
      </p:sp>
      <p:sp>
        <p:nvSpPr>
          <p:cNvPr id="12" name="Rounded Rectangle 11"/>
          <p:cNvSpPr/>
          <p:nvPr/>
        </p:nvSpPr>
        <p:spPr>
          <a:xfrm>
            <a:off x="4051134" y="5074920"/>
            <a:ext cx="149086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is each branch</a:t>
            </a:r>
          </a:p>
        </p:txBody>
      </p:sp>
      <p:sp>
        <p:nvSpPr>
          <p:cNvPr id="13" name="Rounded Rectangle 12"/>
          <p:cNvSpPr/>
          <p:nvPr/>
        </p:nvSpPr>
        <p:spPr>
          <a:xfrm>
            <a:off x="5651726"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 customers come back</a:t>
            </a:r>
          </a:p>
        </p:txBody>
      </p:sp>
      <p:sp>
        <p:nvSpPr>
          <p:cNvPr id="14" name="Rounded Rectangle 13"/>
          <p:cNvSpPr/>
          <p:nvPr/>
        </p:nvSpPr>
        <p:spPr>
          <a:xfrm>
            <a:off x="7429965"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typical order</a:t>
            </a:r>
          </a:p>
        </p:txBody>
      </p:sp>
      <p:sp>
        <p:nvSpPr>
          <p:cNvPr id="15" name="TextBox 14"/>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Monday morning: the story and chapters 1 to 4</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28 / 76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Meera and marketing need each branch as a fraction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each branch of sales as a number, and which questions lead there?</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Meera, who must see which branch of sales is short, and the marketing lead, whose payback case values every new order: a branch built from two definitions multiplies to revenue nobody booked.</a:t>
            </a:r>
          </a:p>
        </p:txBody>
      </p:sp>
      <p:sp>
        <p:nvSpPr>
          <p:cNvPr id="12" name="Rectangle 11"/>
          <p:cNvSpPr/>
          <p:nvPr/>
        </p:nvSpPr>
        <p:spPr>
          <a:xfrm>
            <a:off x="1381734" y="34960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4" name="Oval 13"/>
          <p:cNvSpPr/>
          <p:nvPr/>
        </p:nvSpPr>
        <p:spPr>
          <a:xfrm>
            <a:off x="1281150"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Why fractions</a:t>
            </a:r>
          </a:p>
        </p:txBody>
      </p:sp>
      <p:sp>
        <p:nvSpPr>
          <p:cNvPr id="17" name="TextBox 16"/>
          <p:cNvSpPr txBox="1"/>
          <p:nvPr/>
        </p:nvSpPr>
        <p:spPr>
          <a:xfrm>
            <a:off x="694944"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Who needs the branches, and why as fractions?</a:t>
            </a:r>
          </a:p>
        </p:txBody>
      </p:sp>
      <p:sp>
        <p:nvSpPr>
          <p:cNvPr id="18" name="TextBox 17"/>
          <p:cNvSpPr txBox="1"/>
          <p:nvPr/>
        </p:nvSpPr>
        <p:spPr>
          <a:xfrm>
            <a:off x="241599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19" name="Oval 18"/>
          <p:cNvSpPr/>
          <p:nvPr/>
        </p:nvSpPr>
        <p:spPr>
          <a:xfrm>
            <a:off x="316679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Which tree</a:t>
            </a:r>
          </a:p>
        </p:txBody>
      </p:sp>
      <p:sp>
        <p:nvSpPr>
          <p:cNvPr id="22" name="TextBox 21"/>
          <p:cNvSpPr txBox="1"/>
          <p:nvPr/>
        </p:nvSpPr>
        <p:spPr>
          <a:xfrm>
            <a:off x="2580589"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Which tree can this file fill?</a:t>
            </a:r>
          </a:p>
        </p:txBody>
      </p:sp>
      <p:sp>
        <p:nvSpPr>
          <p:cNvPr id="23" name="TextBox 22"/>
          <p:cNvSpPr txBox="1"/>
          <p:nvPr/>
        </p:nvSpPr>
        <p:spPr>
          <a:xfrm>
            <a:off x="430164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4" name="Oval 23"/>
          <p:cNvSpPr/>
          <p:nvPr/>
        </p:nvSpPr>
        <p:spPr>
          <a:xfrm>
            <a:off x="505244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Order value</a:t>
            </a:r>
          </a:p>
        </p:txBody>
      </p:sp>
      <p:sp>
        <p:nvSpPr>
          <p:cNvPr id="27" name="TextBox 26"/>
          <p:cNvSpPr txBox="1"/>
          <p:nvPr/>
        </p:nvSpPr>
        <p:spPr>
          <a:xfrm>
            <a:off x="4466234"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What is the average order value?</a:t>
            </a:r>
          </a:p>
        </p:txBody>
      </p:sp>
      <p:sp>
        <p:nvSpPr>
          <p:cNvPr id="28" name="TextBox 27"/>
          <p:cNvSpPr txBox="1"/>
          <p:nvPr/>
        </p:nvSpPr>
        <p:spPr>
          <a:xfrm>
            <a:off x="618728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29" name="Oval 28"/>
          <p:cNvSpPr/>
          <p:nvPr/>
        </p:nvSpPr>
        <p:spPr>
          <a:xfrm>
            <a:off x="693808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Two reports</a:t>
            </a:r>
          </a:p>
        </p:txBody>
      </p:sp>
      <p:sp>
        <p:nvSpPr>
          <p:cNvPr id="32" name="TextBox 31"/>
          <p:cNvSpPr txBox="1"/>
          <p:nvPr/>
        </p:nvSpPr>
        <p:spPr>
          <a:xfrm>
            <a:off x="6351879" y="4250182"/>
            <a:ext cx="1373581" cy="696976"/>
          </a:xfrm>
          <a:prstGeom prst="rect">
            <a:avLst/>
          </a:prstGeom>
          <a:noFill/>
        </p:spPr>
        <p:txBody>
          <a:bodyPr wrap="square" anchor="t" lIns="0" rIns="0" tIns="0" bIns="0">
            <a:spAutoFit/>
          </a:bodyPr>
          <a:lstStyle/>
          <a:p>
            <a:pPr algn="l"/>
            <a:r>
              <a:rPr sz="1000" b="0" i="0">
                <a:solidFill>
                  <a:srgbClr val="6B6690"/>
                </a:solidFill>
                <a:latin typeface="Calibri"/>
              </a:rPr>
              <a:t>What goes wrong when booked rupees are divided by delivered orders?</a:t>
            </a:r>
          </a:p>
        </p:txBody>
      </p:sp>
      <p:sp>
        <p:nvSpPr>
          <p:cNvPr id="33" name="TextBox 32"/>
          <p:cNvSpPr txBox="1"/>
          <p:nvPr/>
        </p:nvSpPr>
        <p:spPr>
          <a:xfrm>
            <a:off x="807293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5</a:t>
            </a:r>
          </a:p>
        </p:txBody>
      </p:sp>
      <p:sp>
        <p:nvSpPr>
          <p:cNvPr id="34" name="Oval 33"/>
          <p:cNvSpPr/>
          <p:nvPr/>
        </p:nvSpPr>
        <p:spPr>
          <a:xfrm>
            <a:off x="882373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mean</a:t>
            </a:r>
          </a:p>
        </p:txBody>
      </p:sp>
      <p:sp>
        <p:nvSpPr>
          <p:cNvPr id="37" name="TextBox 36"/>
          <p:cNvSpPr txBox="1"/>
          <p:nvPr/>
        </p:nvSpPr>
        <p:spPr>
          <a:xfrm>
            <a:off x="8237524"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Does the mean of the amounts agree?</a:t>
            </a:r>
          </a:p>
        </p:txBody>
      </p:sp>
      <p:sp>
        <p:nvSpPr>
          <p:cNvPr id="38" name="TextBox 37"/>
          <p:cNvSpPr txBox="1"/>
          <p:nvPr/>
        </p:nvSpPr>
        <p:spPr>
          <a:xfrm>
            <a:off x="9958578"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6</a:t>
            </a:r>
          </a:p>
        </p:txBody>
      </p:sp>
      <p:sp>
        <p:nvSpPr>
          <p:cNvPr id="39" name="Oval 38"/>
          <p:cNvSpPr/>
          <p:nvPr/>
        </p:nvSpPr>
        <p:spPr>
          <a:xfrm>
            <a:off x="1070937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What is missing</a:t>
            </a:r>
          </a:p>
        </p:txBody>
      </p:sp>
      <p:sp>
        <p:nvSpPr>
          <p:cNvPr id="42" name="TextBox 41"/>
          <p:cNvSpPr txBox="1"/>
          <p:nvPr/>
        </p:nvSpPr>
        <p:spPr>
          <a:xfrm>
            <a:off x="10123170"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Which branches does the file still lack?</a:t>
            </a:r>
          </a:p>
        </p:txBody>
      </p:sp>
      <p:sp>
        <p:nvSpPr>
          <p:cNvPr id="43" name="Oval 4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45" name="Oval 44"/>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47" name="Oval 46"/>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49" name="Oval 4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51" name="Oval 50"/>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29 / 76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branch helps Meera only as a fraction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branches, and why must each one be a fraction?</a:t>
            </a:r>
          </a:p>
        </p:txBody>
      </p:sp>
      <p:pic>
        <p:nvPicPr>
          <p:cNvPr id="9" name="mermaid diagram" descr="35b42452d49721de.png"/>
          <p:cNvPicPr>
            <a:picLocks noChangeAspect="1"/>
          </p:cNvPicPr>
          <p:nvPr/>
        </p:nvPicPr>
        <p:blipFill>
          <a:blip r:embed="rId5"/>
          <a:stretch>
            <a:fillRect/>
          </a:stretch>
        </p:blipFill>
        <p:spPr>
          <a:xfrm>
            <a:off x="530352" y="1956816"/>
            <a:ext cx="11130991" cy="1371475"/>
          </a:xfrm>
          <a:prstGeom prst="rect">
            <a:avLst/>
          </a:prstGeom>
        </p:spPr>
      </p:pic>
      <p:graphicFrame>
        <p:nvGraphicFramePr>
          <p:cNvPr id="10" name="Table 9"/>
          <p:cNvGraphicFramePr>
            <a:graphicFrameLocks noGrp="1"/>
          </p:cNvGraphicFramePr>
          <p:nvPr/>
        </p:nvGraphicFramePr>
        <p:xfrm>
          <a:off x="530352" y="3474595"/>
          <a:ext cx="11130991" cy="1479296"/>
        </p:xfrm>
        <a:graphic>
          <a:graphicData uri="http://schemas.openxmlformats.org/drawingml/2006/table">
            <a:tbl>
              <a:tblPr firstRow="0" bandRow="0">
                <a:tableStyleId>{2D5ABB26-0587-4C30-8999-92F81FD0307C}</a:tableStyleId>
              </a:tblPr>
              <a:tblGrid>
                <a:gridCol w="3468944"/>
                <a:gridCol w="7662047"/>
              </a:tblGrid>
              <a:tr h="369824">
                <a:tc>
                  <a:txBody>
                    <a:bodyPr/>
                    <a:lstStyle/>
                    <a:p>
                      <a:r>
                        <a:rPr sz="1450" b="1" i="0">
                          <a:solidFill>
                            <a:srgbClr val="FFFFFF"/>
                          </a:solidFill>
                          <a:latin typeface="Calibri"/>
                        </a:rPr>
                        <a:t>The metric at stake</a:t>
                      </a:r>
                    </a:p>
                  </a:txBody>
                  <a:tcPr marL="101600" marR="101600" marT="38100" marB="38100" anchor="ctr">
                    <a:solidFill>
                      <a:srgbClr val="1A0F5C"/>
                    </a:solidFill>
                  </a:tcPr>
                </a:tc>
                <a:tc>
                  <a:txBody>
                    <a:bodyPr/>
                    <a:lstStyle/>
                    <a:p>
                      <a:r>
                        <a:rPr sz="1450" b="1" i="0">
                          <a:solidFill>
                            <a:srgbClr val="FFFFFF"/>
                          </a:solidFill>
                          <a:latin typeface="Calibri"/>
                        </a:rPr>
                        <a:t>AOV, revenue over orders, is the first branch this file can measure.</a:t>
                      </a:r>
                    </a:p>
                  </a:txBody>
                  <a:tcPr marL="101600" marR="101600" marT="38100" marB="38100" anchor="ctr">
                    <a:solidFill>
                      <a:srgbClr val="1A0F5C"/>
                    </a:solidFill>
                  </a:tcPr>
                </a:tc>
              </a:tr>
              <a:tr h="369824">
                <a:tc>
                  <a:txBody>
                    <a:bodyPr/>
                    <a:lstStyle/>
                    <a:p>
                      <a:r>
                        <a:rPr sz="1400" b="0" i="0">
                          <a:solidFill>
                            <a:srgbClr val="1A1440"/>
                          </a:solidFill>
                          <a:latin typeface="Calibri"/>
                        </a:rPr>
                        <a:t>Who asks</a:t>
                      </a:r>
                    </a:p>
                  </a:txBody>
                  <a:tcPr marL="101600" marR="101600" marT="38100" marB="38100" anchor="ctr">
                    <a:solidFill>
                      <a:srgbClr val="FFFFFF"/>
                    </a:solidFill>
                  </a:tcPr>
                </a:tc>
                <a:tc>
                  <a:txBody>
                    <a:bodyPr/>
                    <a:lstStyle/>
                    <a:p>
                      <a:r>
                        <a:rPr sz="1400" b="0" i="0">
                          <a:solidFill>
                            <a:srgbClr val="1A1440"/>
                          </a:solidFill>
                          <a:latin typeface="Calibri"/>
                        </a:rPr>
                        <a:t>Meera asks for the tree, and marketing values each new order with its AOV.</a:t>
                      </a:r>
                    </a:p>
                  </a:txBody>
                  <a:tcPr marL="101600" marR="101600" marT="38100" marB="38100" anchor="ctr">
                    <a:solidFill>
                      <a:srgbClr val="FFFFFF"/>
                    </a:solidFill>
                  </a:tcPr>
                </a:tc>
              </a:tr>
              <a:tr h="369824">
                <a:tc>
                  <a:txBody>
                    <a:bodyPr/>
                    <a:lstStyle/>
                    <a:p>
                      <a:r>
                        <a:rPr sz="1400" b="0" i="0">
                          <a:solidFill>
                            <a:srgbClr val="1A1440"/>
                          </a:solidFill>
                          <a:latin typeface="Calibri"/>
                        </a:rPr>
                        <a:t>What a wrong number costs</a:t>
                      </a:r>
                    </a:p>
                  </a:txBody>
                  <a:tcPr marL="101600" marR="101600" marT="38100" marB="38100" anchor="ctr">
                    <a:solidFill>
                      <a:srgbClr val="F4F2FA"/>
                    </a:solidFill>
                  </a:tcPr>
                </a:tc>
                <a:tc>
                  <a:txBody>
                    <a:bodyPr/>
                    <a:lstStyle/>
                    <a:p>
                      <a:r>
                        <a:rPr sz="1400" b="0" i="0">
                          <a:solidFill>
                            <a:srgbClr val="1A1440"/>
                          </a:solidFill>
                          <a:latin typeface="Calibri"/>
                        </a:rPr>
                        <a:t>A tree built from two definitions multiplies to revenue nobody booked.</a:t>
                      </a:r>
                    </a:p>
                  </a:txBody>
                  <a:tcPr marL="101600" marR="101600" marT="38100" marB="38100" anchor="ctr">
                    <a:solidFill>
                      <a:srgbClr val="F4F2FA"/>
                    </a:solidFill>
                  </a:tcPr>
                </a:tc>
              </a:tr>
              <a:tr h="369824">
                <a:tc>
                  <a:txBody>
                    <a:bodyPr/>
                    <a:lstStyle/>
                    <a:p>
                      <a:r>
                        <a:rPr sz="1400" b="0" i="0">
                          <a:solidFill>
                            <a:srgbClr val="1A1440"/>
                          </a:solidFill>
                          <a:latin typeface="Calibri"/>
                        </a:rPr>
                        <a:t>What chapter 1 found</a:t>
                      </a:r>
                    </a:p>
                  </a:txBody>
                  <a:tcPr marL="101600" marR="101600" marT="38100" marB="38100" anchor="ctr">
                    <a:solidFill>
                      <a:srgbClr val="FFFFFF"/>
                    </a:solidFill>
                  </a:tcPr>
                </a:tc>
                <a:tc>
                  <a:txBody>
                    <a:bodyPr/>
                    <a:lstStyle/>
                    <a:p>
                      <a:r>
                        <a:rPr sz="1400" b="0" i="0">
                          <a:solidFill>
                            <a:srgbClr val="1A1440"/>
                          </a:solidFill>
                          <a:latin typeface="Calibri"/>
                        </a:rPr>
                        <a:t>Booked sales is Rs 5,44,810 on 30 orders.</a:t>
                      </a:r>
                    </a:p>
                  </a:txBody>
                  <a:tcPr marL="101600" marR="101600" marT="38100" marB="38100" anchor="ctr">
                    <a:solidFill>
                      <a:srgbClr val="FFFFFF"/>
                    </a:solidFill>
                  </a:tcPr>
                </a:tc>
              </a:tr>
            </a:tbl>
          </a:graphicData>
        </a:graphic>
      </p:graphicFrame>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30 / 76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Jio reports its revenue as a tree of branches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a real company report its revenue as branches?</a:t>
            </a:r>
          </a:p>
        </p:txBody>
      </p:sp>
      <p:sp>
        <p:nvSpPr>
          <p:cNvPr id="9" name="TextBox 8"/>
          <p:cNvSpPr txBox="1"/>
          <p:nvPr/>
        </p:nvSpPr>
        <p:spPr>
          <a:xfrm>
            <a:off x="53035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533 million</a:t>
            </a:r>
          </a:p>
        </p:txBody>
      </p:sp>
      <p:sp>
        <p:nvSpPr>
          <p:cNvPr id="10" name="TextBox 9"/>
          <p:cNvSpPr txBox="1"/>
          <p:nvPr/>
        </p:nvSpPr>
        <p:spPr>
          <a:xfrm>
            <a:off x="53035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JIO SUBSCRIBERS</a:t>
            </a:r>
          </a:p>
        </p:txBody>
      </p:sp>
      <p:sp>
        <p:nvSpPr>
          <p:cNvPr id="11" name="TextBox 10"/>
          <p:cNvSpPr txBox="1"/>
          <p:nvPr/>
        </p:nvSpPr>
        <p:spPr>
          <a:xfrm>
            <a:off x="53035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quarter to June 2026</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Rs 215.6</a:t>
            </a:r>
          </a:p>
        </p:txBody>
      </p:sp>
      <p:sp>
        <p:nvSpPr>
          <p:cNvPr id="14" name="TextBox 13"/>
          <p:cNvSpPr txBox="1"/>
          <p:nvPr/>
        </p:nvSpPr>
        <p:spPr>
          <a:xfrm>
            <a:off x="433212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REVENUE PER USER</a:t>
            </a:r>
          </a:p>
        </p:txBody>
      </p:sp>
      <p:sp>
        <p:nvSpPr>
          <p:cNvPr id="15" name="TextBox 14"/>
          <p:cNvSpPr txBox="1"/>
          <p:nvPr/>
        </p:nvSpPr>
        <p:spPr>
          <a:xfrm>
            <a:off x="433212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a month</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1.6%</a:t>
            </a:r>
          </a:p>
        </p:txBody>
      </p:sp>
      <p:sp>
        <p:nvSpPr>
          <p:cNvPr id="18" name="TextBox 17"/>
          <p:cNvSpPr txBox="1"/>
          <p:nvPr/>
        </p:nvSpPr>
        <p:spPr>
          <a:xfrm>
            <a:off x="813389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MONTHLY CHURN</a:t>
            </a:r>
          </a:p>
        </p:txBody>
      </p:sp>
      <p:sp>
        <p:nvSpPr>
          <p:cNvPr id="19" name="TextBox 18"/>
          <p:cNvSpPr txBox="1"/>
          <p:nvPr/>
        </p:nvSpPr>
        <p:spPr>
          <a:xfrm>
            <a:off x="813389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subscribers who leave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Source: Reliance Industries media release, 17 July 2026. A telecom's revenue is subscribers times revenue per user, with churn as its leak, and investors multiply the branches the way this chapter multiplies Kalpa's.</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4" name="Oval 23"/>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6" name="Oval 25"/>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28" name="Oval 2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30" name="Oval 29"/>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31 / 76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This file fills customers x frequency x AOV</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tree can this file fill?</a:t>
            </a:r>
          </a:p>
        </p:txBody>
      </p:sp>
      <p:graphicFrame>
        <p:nvGraphicFramePr>
          <p:cNvPr id="9" name="Table 8"/>
          <p:cNvGraphicFramePr>
            <a:graphicFrameLocks noGrp="1"/>
          </p:cNvGraphicFramePr>
          <p:nvPr/>
        </p:nvGraphicFramePr>
        <p:xfrm>
          <a:off x="530352" y="1956816"/>
          <a:ext cx="11130989" cy="2090928"/>
        </p:xfrm>
        <a:graphic>
          <a:graphicData uri="http://schemas.openxmlformats.org/drawingml/2006/table">
            <a:tbl>
              <a:tblPr firstRow="0" bandRow="0">
                <a:tableStyleId>{2D5ABB26-0587-4C30-8999-92F81FD0307C}</a:tableStyleId>
              </a:tblPr>
              <a:tblGrid>
                <a:gridCol w="4268205"/>
                <a:gridCol w="1978340"/>
                <a:gridCol w="1281039"/>
                <a:gridCol w="3603405"/>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Fields it needs</a:t>
                      </a:r>
                    </a:p>
                  </a:txBody>
                  <a:tcPr marL="101600" marR="101600" marT="38100" marB="38100" anchor="ctr">
                    <a:solidFill>
                      <a:srgbClr val="1A0F5C"/>
                    </a:solidFill>
                  </a:tcPr>
                </a:tc>
                <a:tc>
                  <a:txBody>
                    <a:bodyPr/>
                    <a:lstStyle/>
                    <a:p>
                      <a:r>
                        <a:rPr sz="1250" b="1" i="0">
                          <a:solidFill>
                            <a:srgbClr val="FFFFFF"/>
                          </a:solidFill>
                          <a:latin typeface="Calibri"/>
                        </a:rPr>
                        <a:t>In this file?</a:t>
                      </a:r>
                    </a:p>
                  </a:txBody>
                  <a:tcPr marL="101600" marR="101600" marT="38100" marB="38100" anchor="ctr">
                    <a:solidFill>
                      <a:srgbClr val="1A0F5C"/>
                    </a:solidFill>
                  </a:tcPr>
                </a:tc>
                <a:tc>
                  <a:txBody>
                    <a:bodyPr/>
                    <a:lstStyle/>
                    <a:p>
                      <a:r>
                        <a:rPr sz="1250" b="1" i="0">
                          <a:solidFill>
                            <a:srgbClr val="FFFFFF"/>
                          </a:solidFill>
                          <a:latin typeface="Calibri"/>
                        </a:rPr>
                        <a:t>What it tells Meera</a:t>
                      </a:r>
                    </a:p>
                  </a:txBody>
                  <a:tcPr marL="101600" marR="101600" marT="38100" marB="38100" anchor="ctr">
                    <a:solidFill>
                      <a:srgbClr val="1A0F5C"/>
                    </a:solidFill>
                  </a:tcPr>
                </a:tc>
              </a:tr>
              <a:tr h="335280">
                <a:tc>
                  <a:txBody>
                    <a:bodyPr/>
                    <a:lstStyle/>
                    <a:p>
                      <a:r>
                        <a:rPr sz="1200" b="0" i="0">
                          <a:solidFill>
                            <a:srgbClr val="1A1440"/>
                          </a:solidFill>
                          <a:latin typeface="Calibri"/>
                        </a:rPr>
                        <a:t>A. Orders x AOV</a:t>
                      </a:r>
                    </a:p>
                  </a:txBody>
                  <a:tcPr marL="101600" marR="101600" marT="38100" marB="38100" anchor="ctr">
                    <a:solidFill>
                      <a:srgbClr val="FFFFFF"/>
                    </a:solidFill>
                  </a:tcPr>
                </a:tc>
                <a:tc>
                  <a:txBody>
                    <a:bodyPr/>
                    <a:lstStyle/>
                    <a:p>
                      <a:r>
                        <a:rPr sz="1200" b="0" i="0">
                          <a:solidFill>
                            <a:srgbClr val="1A1440"/>
                          </a:solidFill>
                          <a:latin typeface="Calibri"/>
                        </a:rPr>
                        <a:t>amount</a:t>
                      </a:r>
                    </a:p>
                  </a:txBody>
                  <a:tcPr marL="101600" marR="101600" marT="38100" marB="38100" anchor="ctr">
                    <a:solidFill>
                      <a:srgbClr val="FFFFFF"/>
                    </a:solidFill>
                  </a:tcPr>
                </a:tc>
                <a:tc>
                  <a:txBody>
                    <a:bodyPr/>
                    <a:lstStyle/>
                    <a:p>
                      <a:r>
                        <a:rPr sz="1200" b="0" i="0">
                          <a:solidFill>
                            <a:srgbClr val="1A1440"/>
                          </a:solidFill>
                          <a:latin typeface="Calibri"/>
                        </a:rPr>
                        <a:t>Yes</a:t>
                      </a:r>
                    </a:p>
                  </a:txBody>
                  <a:tcPr marL="101600" marR="101600" marT="38100" marB="38100" anchor="ctr">
                    <a:solidFill>
                      <a:srgbClr val="FFFFFF"/>
                    </a:solidFill>
                  </a:tcPr>
                </a:tc>
                <a:tc>
                  <a:txBody>
                    <a:bodyPr/>
                    <a:lstStyle/>
                    <a:p>
                      <a:r>
                        <a:rPr sz="1200" b="0" i="0">
                          <a:solidFill>
                            <a:srgbClr val="1A1440"/>
                          </a:solidFill>
                          <a:latin typeface="Calibri"/>
                        </a:rPr>
                        <a:t>It sizes orders and hides who buys.</a:t>
                      </a:r>
                    </a:p>
                  </a:txBody>
                  <a:tcPr marL="101600" marR="101600" marT="38100" marB="38100" anchor="ctr">
                    <a:solidFill>
                      <a:srgbClr val="FFFFFF"/>
                    </a:solidFill>
                  </a:tcPr>
                </a:tc>
              </a:tr>
              <a:tr h="542544">
                <a:tc>
                  <a:txBody>
                    <a:bodyPr/>
                    <a:lstStyle/>
                    <a:p>
                      <a:r>
                        <a:rPr sz="1200" b="0" i="0">
                          <a:solidFill>
                            <a:srgbClr val="1A1440"/>
                          </a:solidFill>
                          <a:latin typeface="Calibri"/>
                        </a:rPr>
                        <a:t>B. Customers x orders per customer x AOV</a:t>
                      </a:r>
                    </a:p>
                  </a:txBody>
                  <a:tcPr marL="101600" marR="101600" marT="38100" marB="38100" anchor="ctr">
                    <a:solidFill>
                      <a:srgbClr val="F4F2FA"/>
                    </a:solidFill>
                  </a:tcPr>
                </a:tc>
                <a:tc>
                  <a:txBody>
                    <a:bodyPr/>
                    <a:lstStyle/>
                    <a:p>
                      <a:r>
                        <a:rPr sz="1200" b="0" i="0">
                          <a:solidFill>
                            <a:srgbClr val="1A1440"/>
                          </a:solidFill>
                          <a:latin typeface="Calibri"/>
                        </a:rPr>
                        <a:t>amount, customer id</a:t>
                      </a:r>
                    </a:p>
                  </a:txBody>
                  <a:tcPr marL="101600" marR="101600" marT="38100" marB="38100" anchor="ctr">
                    <a:solidFill>
                      <a:srgbClr val="F4F2FA"/>
                    </a:solidFill>
                  </a:tcPr>
                </a:tc>
                <a:tc>
                  <a:txBody>
                    <a:bodyPr/>
                    <a:lstStyle/>
                    <a:p>
                      <a:r>
                        <a:rPr sz="1200" b="0" i="0">
                          <a:solidFill>
                            <a:srgbClr val="1A1440"/>
                          </a:solidFill>
                          <a:latin typeface="Calibri"/>
                        </a:rPr>
                        <a:t>Yes</a:t>
                      </a:r>
                    </a:p>
                  </a:txBody>
                  <a:tcPr marL="101600" marR="101600" marT="38100" marB="38100" anchor="ctr">
                    <a:solidFill>
                      <a:srgbClr val="F4F2FA"/>
                    </a:solidFill>
                  </a:tcPr>
                </a:tc>
                <a:tc>
                  <a:txBody>
                    <a:bodyPr/>
                    <a:lstStyle/>
                    <a:p>
                      <a:r>
                        <a:rPr sz="1200" b="0" i="0">
                          <a:solidFill>
                            <a:srgbClr val="1A1440"/>
                          </a:solidFill>
                          <a:latin typeface="Calibri"/>
                        </a:rPr>
                        <a:t>It shows who buys, how often and for how much.</a:t>
                      </a:r>
                    </a:p>
                  </a:txBody>
                  <a:tcPr marL="101600" marR="101600" marT="38100" marB="38100" anchor="ctr">
                    <a:solidFill>
                      <a:srgbClr val="F4F2FA"/>
                    </a:solidFill>
                  </a:tcPr>
                </a:tc>
              </a:tr>
              <a:tr h="542544">
                <a:tc>
                  <a:txBody>
                    <a:bodyPr/>
                    <a:lstStyle/>
                    <a:p>
                      <a:r>
                        <a:rPr sz="1200" b="0" i="0">
                          <a:solidFill>
                            <a:srgbClr val="1A1440"/>
                          </a:solidFill>
                          <a:latin typeface="Calibri"/>
                        </a:rPr>
                        <a:t>C. B, with AOV split into items x price, less discounts</a:t>
                      </a:r>
                    </a:p>
                  </a:txBody>
                  <a:tcPr marL="101600" marR="101600" marT="38100" marB="38100" anchor="ctr">
                    <a:solidFill>
                      <a:srgbClr val="FFFFFF"/>
                    </a:solidFill>
                  </a:tcPr>
                </a:tc>
                <a:tc>
                  <a:txBody>
                    <a:bodyPr/>
                    <a:lstStyle/>
                    <a:p>
                      <a:r>
                        <a:rPr sz="1200" b="0" i="0">
                          <a:solidFill>
                            <a:srgbClr val="1A1440"/>
                          </a:solidFill>
                          <a:latin typeface="Calibri"/>
                        </a:rPr>
                        <a:t>items, prices, discounts</a:t>
                      </a:r>
                    </a:p>
                  </a:txBody>
                  <a:tcPr marL="101600" marR="101600" marT="38100" marB="38100" anchor="ctr">
                    <a:solidFill>
                      <a:srgbClr val="FFFFFF"/>
                    </a:solidFill>
                  </a:tcPr>
                </a:tc>
                <a:tc>
                  <a:txBody>
                    <a:bodyPr/>
                    <a:lstStyle/>
                    <a:p>
                      <a:r>
                        <a:rPr sz="1200" b="0" i="0">
                          <a:solidFill>
                            <a:srgbClr val="1A1440"/>
                          </a:solidFill>
                          <a:latin typeface="Calibri"/>
                        </a:rPr>
                        <a:t>No</a:t>
                      </a:r>
                    </a:p>
                  </a:txBody>
                  <a:tcPr marL="101600" marR="101600" marT="38100" marB="38100" anchor="ctr">
                    <a:solidFill>
                      <a:srgbClr val="FFFFFF"/>
                    </a:solidFill>
                  </a:tcPr>
                </a:tc>
                <a:tc>
                  <a:txBody>
                    <a:bodyPr/>
                    <a:lstStyle/>
                    <a:p>
                      <a:r>
                        <a:rPr sz="1200" b="0" i="0">
                          <a:solidFill>
                            <a:srgbClr val="1A1440"/>
                          </a:solidFill>
                          <a:latin typeface="Calibri"/>
                        </a:rPr>
                        <a:t>It would show which part of the basket moved.</a:t>
                      </a:r>
                    </a:p>
                  </a:txBody>
                  <a:tcPr marL="101600" marR="101600" marT="38100" marB="38100" anchor="ctr">
                    <a:solidFill>
                      <a:srgbClr val="FFFFFF"/>
                    </a:solidFill>
                  </a:tcPr>
                </a:tc>
              </a:tr>
              <a:tr h="335280">
                <a:tc>
                  <a:txBody>
                    <a:bodyPr/>
                    <a:lstStyle/>
                    <a:p>
                      <a:r>
                        <a:rPr sz="1200" b="0" i="0">
                          <a:solidFill>
                            <a:srgbClr val="1A1440"/>
                          </a:solidFill>
                          <a:latin typeface="Calibri"/>
                        </a:rPr>
                        <a:t>D. A funnel from visits to orders</a:t>
                      </a:r>
                    </a:p>
                  </a:txBody>
                  <a:tcPr marL="101600" marR="101600" marT="38100" marB="38100" anchor="ctr">
                    <a:solidFill>
                      <a:srgbClr val="F4F2FA"/>
                    </a:solidFill>
                  </a:tcPr>
                </a:tc>
                <a:tc>
                  <a:txBody>
                    <a:bodyPr/>
                    <a:lstStyle/>
                    <a:p>
                      <a:r>
                        <a:rPr sz="1200" b="0" i="0">
                          <a:solidFill>
                            <a:srgbClr val="1A1440"/>
                          </a:solidFill>
                          <a:latin typeface="Calibri"/>
                        </a:rPr>
                        <a:t>sessions or footfall</a:t>
                      </a:r>
                    </a:p>
                  </a:txBody>
                  <a:tcPr marL="101600" marR="101600" marT="38100" marB="38100" anchor="ctr">
                    <a:solidFill>
                      <a:srgbClr val="F4F2FA"/>
                    </a:solidFill>
                  </a:tcPr>
                </a:tc>
                <a:tc>
                  <a:txBody>
                    <a:bodyPr/>
                    <a:lstStyle/>
                    <a:p>
                      <a:r>
                        <a:rPr sz="1200" b="0" i="0">
                          <a:solidFill>
                            <a:srgbClr val="1A1440"/>
                          </a:solidFill>
                          <a:latin typeface="Calibri"/>
                        </a:rPr>
                        <a:t>No</a:t>
                      </a:r>
                    </a:p>
                  </a:txBody>
                  <a:tcPr marL="101600" marR="101600" marT="38100" marB="38100" anchor="ctr">
                    <a:solidFill>
                      <a:srgbClr val="F4F2FA"/>
                    </a:solidFill>
                  </a:tcPr>
                </a:tc>
                <a:tc>
                  <a:txBody>
                    <a:bodyPr/>
                    <a:lstStyle/>
                    <a:p>
                      <a:r>
                        <a:rPr sz="1200" b="0" i="0">
                          <a:solidFill>
                            <a:srgbClr val="1A1440"/>
                          </a:solidFill>
                          <a:latin typeface="Calibri"/>
                        </a:rPr>
                        <a:t>It would show where shoppers drop out.</a:t>
                      </a:r>
                    </a:p>
                  </a:txBody>
                  <a:tcPr marL="101600" marR="101600" marT="38100" marB="38100" anchor="ctr">
                    <a:solidFill>
                      <a:srgbClr val="F4F2FA"/>
                    </a:solidFill>
                  </a:tcPr>
                </a:tc>
              </a:tr>
            </a:tbl>
          </a:graphicData>
        </a:graphic>
      </p:graphicFrame>
      <p:sp>
        <p:nvSpPr>
          <p:cNvPr id="10" name="Rounded Rectangle 9"/>
          <p:cNvSpPr/>
          <p:nvPr/>
        </p:nvSpPr>
        <p:spPr>
          <a:xfrm>
            <a:off x="530352" y="430377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63600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4745736"/>
            <a:ext cx="237744" cy="237744"/>
          </a:xfrm>
          <a:prstGeom prst="rect">
            <a:avLst/>
          </a:prstGeom>
        </p:spPr>
      </p:pic>
      <p:sp>
        <p:nvSpPr>
          <p:cNvPr id="13" name="TextBox 12"/>
          <p:cNvSpPr txBox="1"/>
          <p:nvPr/>
        </p:nvSpPr>
        <p:spPr>
          <a:xfrm>
            <a:off x="1399031" y="445008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669536"/>
            <a:ext cx="9987991" cy="682752"/>
          </a:xfrm>
          <a:prstGeom prst="rect">
            <a:avLst/>
          </a:prstGeom>
          <a:noFill/>
        </p:spPr>
        <p:txBody>
          <a:bodyPr wrap="square" anchor="t" lIns="0" rIns="0" tIns="0" bIns="0">
            <a:spAutoFit/>
          </a:bodyPr>
          <a:lstStyle/>
          <a:p>
            <a:r>
              <a:rPr sz="1500" b="0" i="0">
                <a:solidFill>
                  <a:srgbClr val="1A1440"/>
                </a:solidFill>
                <a:latin typeface="Calibri"/>
              </a:rPr>
              <a:t>B is the best fit: it is the deepest tree this file fills, and it puts marketing's branch beside the two it competes with. Order lines with items and prices would move the call to C.</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7" name="Oval 16"/>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9" name="Oval 18"/>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3" name="Oval 22"/>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32 / 76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branches can be measured and three cannot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branch divide, and which can this file measure?</a:t>
            </a:r>
          </a:p>
        </p:txBody>
      </p:sp>
      <p:pic>
        <p:nvPicPr>
          <p:cNvPr id="9" name="mermaid diagram" descr="46a61d914ad3f811.png"/>
          <p:cNvPicPr>
            <a:picLocks noChangeAspect="1"/>
          </p:cNvPicPr>
          <p:nvPr/>
        </p:nvPicPr>
        <p:blipFill>
          <a:blip r:embed="rId5"/>
          <a:stretch>
            <a:fillRect/>
          </a:stretch>
        </p:blipFill>
        <p:spPr>
          <a:xfrm>
            <a:off x="2234799" y="1682496"/>
            <a:ext cx="7722096" cy="4517136"/>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2" name="Oval 11"/>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4" name="Oval 13"/>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8" name="Oval 17"/>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33 / 76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AOV is booked revenue over the orders it came from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the first branch become a number?</a:t>
            </a:r>
          </a:p>
        </p:txBody>
      </p:sp>
      <p:sp>
        <p:nvSpPr>
          <p:cNvPr id="9" name="Rounded Rectangle 8"/>
          <p:cNvSpPr/>
          <p:nvPr/>
        </p:nvSpPr>
        <p:spPr>
          <a:xfrm>
            <a:off x="530352" y="1956816"/>
            <a:ext cx="11130991" cy="1214627"/>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81229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orders = len(ORDERS)</a:t>
            </a:r>
          </a:p>
          <a:p>
            <a:pPr>
              <a:spcAft>
                <a:spcPts val="200"/>
              </a:spcAft>
            </a:pPr>
            <a:r>
              <a:rPr sz="1400" b="0" i="0">
                <a:solidFill>
                  <a:srgbClr val="E4E1F1"/>
                </a:solidFill>
                <a:latin typeface="Consolas"/>
              </a:rPr>
              <a:t>revenue = sum(order["amount"] for order in ORDERS)</a:t>
            </a:r>
          </a:p>
          <a:p>
            <a:pPr>
              <a:spcAft>
                <a:spcPts val="200"/>
              </a:spcAft>
            </a:pPr>
            <a:r>
              <a:rPr sz="1400" b="0" i="0">
                <a:solidFill>
                  <a:srgbClr val="E4E1F1"/>
                </a:solidFill>
                <a:latin typeface="Consolas"/>
              </a:rPr>
              <a:t>aov = revenue / orders</a:t>
            </a:r>
          </a:p>
        </p:txBody>
      </p:sp>
      <p:sp>
        <p:nvSpPr>
          <p:cNvPr id="14" name="TextBox 13"/>
          <p:cNvSpPr txBox="1"/>
          <p:nvPr/>
        </p:nvSpPr>
        <p:spPr>
          <a:xfrm>
            <a:off x="530352" y="333603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Chapter 1's int() fix is applied once as the orders load, so every amount here is a whole number, and both halves of the fraction count the same 30 booked orders.</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7" name="Oval 16"/>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9" name="Oval 18"/>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3" name="Oval 22"/>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34 / 76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orders times the AOV give back?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Booked revenue splits into orders x AOV, so what do the two multiply back to?</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Exactly booked revenue, because the average was made from that total.</a:t>
            </a:r>
          </a:p>
          <a:p>
            <a:pPr>
              <a:spcAft>
                <a:spcPts val="800"/>
              </a:spcAft>
            </a:pPr>
            <a:r>
              <a:rPr sz="1600" b="0" i="0">
                <a:solidFill>
                  <a:srgbClr val="1A1440"/>
                </a:solidFill>
                <a:latin typeface="Calibri"/>
              </a:rPr>
              <a:t>b) More than booked revenue, because repeat customers count twice.</a:t>
            </a:r>
          </a:p>
          <a:p>
            <a:pPr>
              <a:spcAft>
                <a:spcPts val="800"/>
              </a:spcAft>
            </a:pPr>
            <a:r>
              <a:rPr sz="1600" b="0" i="0">
                <a:solidFill>
                  <a:srgbClr val="1A1440"/>
                </a:solidFill>
                <a:latin typeface="Calibri"/>
              </a:rPr>
              <a:t>c) Less than booked revenue, because the average rounds down.</a:t>
            </a:r>
          </a:p>
          <a:p>
            <a:pPr>
              <a:spcAft>
                <a:spcPts val="800"/>
              </a:spcAft>
            </a:pPr>
            <a:r>
              <a:rPr sz="1600" b="0" i="0">
                <a:solidFill>
                  <a:srgbClr val="1A1440"/>
                </a:solidFill>
                <a:latin typeface="Calibri"/>
              </a:rPr>
              <a:t>d) Nothing useful until prices per item are known.</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2" name="Oval 11"/>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4" name="Oval 13"/>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8" name="Oval 17"/>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35 / 76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a, orders x AOV lands on booked revenue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is the average order value on the booked definition?</a:t>
            </a:r>
          </a:p>
        </p:txBody>
      </p:sp>
      <p:pic>
        <p:nvPicPr>
          <p:cNvPr id="9" name="mermaid diagram" descr="3e6219a3c68d20be.png"/>
          <p:cNvPicPr>
            <a:picLocks noChangeAspect="1"/>
          </p:cNvPicPr>
          <p:nvPr/>
        </p:nvPicPr>
        <p:blipFill>
          <a:blip r:embed="rId5"/>
          <a:stretch>
            <a:fillRect/>
          </a:stretch>
        </p:blipFill>
        <p:spPr>
          <a:xfrm>
            <a:off x="1359541" y="1956816"/>
            <a:ext cx="9472612" cy="1857375"/>
          </a:xfrm>
          <a:prstGeom prst="rect">
            <a:avLst/>
          </a:prstGeom>
        </p:spPr>
      </p:pic>
      <p:sp>
        <p:nvSpPr>
          <p:cNvPr id="10" name="TextBox 9"/>
          <p:cNvSpPr txBox="1"/>
          <p:nvPr/>
        </p:nvSpPr>
        <p:spPr>
          <a:xfrm>
            <a:off x="530352" y="3960495"/>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AOV is Rs 5,44,810 over 30 orders, about Rs 18,160, and 30 times the unrounded AOV is Rs 5,44,810 exactly. The product always lands on revenue, so a wrong branch never shows in the total and shows only in the split.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  ·  36 / 76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Check: the tree lands; 3 of 6 branches are absent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the identity hold, and how many branches does the file lack?</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kit.check("orders x AOV lands on booked revenue", round(orders * aov) == revenue)</a:t>
            </a:r>
          </a:p>
          <a:p>
            <a:pPr>
              <a:spcAft>
                <a:spcPts val="200"/>
              </a:spcAft>
            </a:pPr>
            <a:r>
              <a:rPr sz="1400" b="0" i="0">
                <a:solidFill>
                  <a:srgbClr val="E4E1F1"/>
                </a:solidFill>
                <a:latin typeface="Consolas"/>
              </a:rPr>
              <a:t>kit.check("booked AOV is Rs 18,160", round(aov) == 18160)</a:t>
            </a:r>
          </a:p>
          <a:p>
            <a:pPr>
              <a:spcAft>
                <a:spcPts val="200"/>
              </a:spcAft>
            </a:pPr>
            <a:r>
              <a:rPr sz="1400" b="0" i="0">
                <a:solidFill>
                  <a:srgbClr val="E4E1F1"/>
                </a:solidFill>
                <a:latin typeface="Consolas"/>
              </a:rPr>
              <a:t>missing = [b for b in ("items", "price", "discount") if b not in ORDERS[0]]</a:t>
            </a:r>
          </a:p>
          <a:p>
            <a:pPr>
              <a:spcAft>
                <a:spcPts val="200"/>
              </a:spcAft>
            </a:pPr>
            <a:r>
              <a:rPr sz="1400" b="0" i="0">
                <a:solidFill>
                  <a:srgbClr val="E4E1F1"/>
                </a:solidFill>
                <a:latin typeface="Consolas"/>
              </a:rPr>
              <a:t>kit.check("three branches of six are not in this file", len(missing) == 3)</a:t>
            </a:r>
          </a:p>
        </p:txBody>
      </p:sp>
      <p:sp>
        <p:nvSpPr>
          <p:cNvPr id="14" name="TextBox 13"/>
          <p:cNvSpPr txBox="1"/>
          <p:nvPr/>
        </p:nvSpPr>
        <p:spPr>
          <a:xfrm>
            <a:off x="530352" y="358851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All three pass: the product lands on Rs 5,44,810, the AOV rounds to Rs 18,160, and items, price and discounts are not fields in the file.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7" name="Oval 16"/>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9" name="Oval 18"/>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3" name="Oval 22"/>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37 / 76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AOV do booked rupees over delivered orders give?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Finance reports booked revenue and the operations dashboard counts delivered orders; what if each feeds one half?</a:t>
            </a:r>
          </a:p>
        </p:txBody>
      </p:sp>
      <p:pic>
        <p:nvPicPr>
          <p:cNvPr id="9" name="mermaid diagram" descr="db354801d02206f5.png"/>
          <p:cNvPicPr>
            <a:picLocks noChangeAspect="1"/>
          </p:cNvPicPr>
          <p:nvPr/>
        </p:nvPicPr>
        <p:blipFill>
          <a:blip r:embed="rId5"/>
          <a:stretch>
            <a:fillRect/>
          </a:stretch>
        </p:blipFill>
        <p:spPr>
          <a:xfrm>
            <a:off x="530352" y="2412098"/>
            <a:ext cx="4786326" cy="3057930"/>
          </a:xfrm>
          <a:prstGeom prst="rect">
            <a:avLst/>
          </a:prstGeom>
        </p:spPr>
      </p:pic>
      <p:sp>
        <p:nvSpPr>
          <p:cNvPr id="10" name="TextBox 9"/>
          <p:cNvSpPr txBox="1"/>
          <p:nvPr/>
        </p:nvSpPr>
        <p:spPr>
          <a:xfrm>
            <a:off x="5761917" y="1956816"/>
            <a:ext cx="5899425"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Rs 18,160</a:t>
            </a:r>
          </a:p>
          <a:p>
            <a:pPr>
              <a:spcAft>
                <a:spcPts val="800"/>
              </a:spcAft>
            </a:pPr>
            <a:r>
              <a:rPr sz="1600" b="0" i="0">
                <a:solidFill>
                  <a:srgbClr val="1A1440"/>
                </a:solidFill>
                <a:latin typeface="Calibri"/>
              </a:rPr>
              <a:t>b) Rs 24,800</a:t>
            </a:r>
          </a:p>
          <a:p>
            <a:pPr>
              <a:spcAft>
                <a:spcPts val="800"/>
              </a:spcAft>
            </a:pPr>
            <a:r>
              <a:rPr sz="1600" b="0" i="0">
                <a:solidFill>
                  <a:srgbClr val="1A1440"/>
                </a:solidFill>
                <a:latin typeface="Calibri"/>
              </a:rPr>
              <a:t>c) Rs 25,943</a:t>
            </a:r>
          </a:p>
          <a:p>
            <a:pPr>
              <a:spcAft>
                <a:spcPts val="800"/>
              </a:spcAft>
            </a:pPr>
            <a:r>
              <a:rPr sz="1600" b="0" i="0">
                <a:solidFill>
                  <a:srgbClr val="1A1440"/>
                </a:solidFill>
                <a:latin typeface="Calibri"/>
              </a:rPr>
              <a:t>d) Rs 23,687</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38 / 76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 Rs 25,943, which matches no definition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goes wrong when booked rupees are divided by delivered orders?</a:t>
            </a:r>
          </a:p>
        </p:txBody>
      </p:sp>
      <p:sp>
        <p:nvSpPr>
          <p:cNvPr id="9" name="Rounded Rectangle 8"/>
          <p:cNvSpPr/>
          <p:nvPr/>
        </p:nvSpPr>
        <p:spPr>
          <a:xfrm>
            <a:off x="530352" y="1956816"/>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358140"/>
          </a:xfrm>
          <a:prstGeom prst="rect">
            <a:avLst/>
          </a:prstGeom>
          <a:noFill/>
        </p:spPr>
        <p:txBody>
          <a:bodyPr wrap="square" anchor="ctr" lIns="0" rIns="0" tIns="0" bIns="0">
            <a:spAutoFit/>
          </a:bodyPr>
          <a:lstStyle/>
          <a:p>
            <a:r>
              <a:rPr sz="1500" b="1">
                <a:solidFill>
                  <a:srgbClr val="5B3FD6"/>
                </a:solidFill>
                <a:latin typeface="Calibri"/>
              </a:rPr>
              <a:t>The plausible wrong answer. </a:t>
            </a:r>
            <a:r>
              <a:rPr sz="1500" b="0" i="0">
                <a:solidFill>
                  <a:srgbClr val="1A1440"/>
                </a:solidFill>
                <a:latin typeface="Calibri"/>
              </a:rPr>
              <a:t>A colleague's note to marketing reads: "Our average order is Rs 25,943."</a:t>
            </a:r>
          </a:p>
        </p:txBody>
      </p:sp>
      <p:sp>
        <p:nvSpPr>
          <p:cNvPr id="12" name="TextBox 11"/>
          <p:cNvSpPr txBox="1"/>
          <p:nvPr/>
        </p:nvSpPr>
        <p:spPr>
          <a:xfrm>
            <a:off x="530352" y="2662428"/>
            <a:ext cx="3527450" cy="635000"/>
          </a:xfrm>
          <a:prstGeom prst="rect">
            <a:avLst/>
          </a:prstGeom>
          <a:noFill/>
        </p:spPr>
        <p:txBody>
          <a:bodyPr wrap="square" anchor="t" lIns="0" rIns="0" tIns="0" bIns="0">
            <a:spAutoFit/>
          </a:bodyPr>
          <a:lstStyle/>
          <a:p>
            <a:pPr algn="l"/>
            <a:r>
              <a:rPr sz="4000" b="0" i="0">
                <a:solidFill>
                  <a:srgbClr val="5B3FD6"/>
                </a:solidFill>
                <a:latin typeface="Georgia"/>
              </a:rPr>
              <a:t>Rs 25,943</a:t>
            </a:r>
          </a:p>
        </p:txBody>
      </p:sp>
      <p:sp>
        <p:nvSpPr>
          <p:cNvPr id="13" name="TextBox 12"/>
          <p:cNvSpPr txBox="1"/>
          <p:nvPr/>
        </p:nvSpPr>
        <p:spPr>
          <a:xfrm>
            <a:off x="530352" y="333400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MIXED AOV</a:t>
            </a:r>
          </a:p>
        </p:txBody>
      </p:sp>
      <p:sp>
        <p:nvSpPr>
          <p:cNvPr id="14" name="TextBox 13"/>
          <p:cNvSpPr txBox="1"/>
          <p:nvPr/>
        </p:nvSpPr>
        <p:spPr>
          <a:xfrm>
            <a:off x="530352" y="3535172"/>
            <a:ext cx="3527450" cy="193421"/>
          </a:xfrm>
          <a:prstGeom prst="rect">
            <a:avLst/>
          </a:prstGeom>
          <a:noFill/>
        </p:spPr>
        <p:txBody>
          <a:bodyPr wrap="square" anchor="t" lIns="0" rIns="0" tIns="0" bIns="0">
            <a:spAutoFit/>
          </a:bodyPr>
          <a:lstStyle/>
          <a:p>
            <a:pPr algn="l"/>
            <a:r>
              <a:rPr sz="950" b="0" i="0">
                <a:solidFill>
                  <a:srgbClr val="6B6690"/>
                </a:solidFill>
                <a:latin typeface="Calibri"/>
              </a:rPr>
              <a:t>booked rupees / delivered orders</a:t>
            </a:r>
          </a:p>
        </p:txBody>
      </p:sp>
      <p:sp>
        <p:nvSpPr>
          <p:cNvPr id="15" name="Rectangle 14"/>
          <p:cNvSpPr/>
          <p:nvPr/>
        </p:nvSpPr>
        <p:spPr>
          <a:xfrm>
            <a:off x="530352" y="385114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32122" y="2662428"/>
            <a:ext cx="3527450" cy="635000"/>
          </a:xfrm>
          <a:prstGeom prst="rect">
            <a:avLst/>
          </a:prstGeom>
          <a:noFill/>
        </p:spPr>
        <p:txBody>
          <a:bodyPr wrap="square" anchor="t" lIns="0" rIns="0" tIns="0" bIns="0">
            <a:spAutoFit/>
          </a:bodyPr>
          <a:lstStyle/>
          <a:p>
            <a:pPr algn="l"/>
            <a:r>
              <a:rPr sz="4000" b="0" i="0">
                <a:solidFill>
                  <a:srgbClr val="5B3FD6"/>
                </a:solidFill>
                <a:latin typeface="Georgia"/>
              </a:rPr>
              <a:t>Rs 7,78,300</a:t>
            </a:r>
          </a:p>
        </p:txBody>
      </p:sp>
      <p:sp>
        <p:nvSpPr>
          <p:cNvPr id="17" name="TextBox 16"/>
          <p:cNvSpPr txBox="1"/>
          <p:nvPr/>
        </p:nvSpPr>
        <p:spPr>
          <a:xfrm>
            <a:off x="4332122" y="333400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MULTIPLIED BACK</a:t>
            </a:r>
          </a:p>
        </p:txBody>
      </p:sp>
      <p:sp>
        <p:nvSpPr>
          <p:cNvPr id="18" name="TextBox 17"/>
          <p:cNvSpPr txBox="1"/>
          <p:nvPr/>
        </p:nvSpPr>
        <p:spPr>
          <a:xfrm>
            <a:off x="4332122" y="3535172"/>
            <a:ext cx="3527450" cy="193421"/>
          </a:xfrm>
          <a:prstGeom prst="rect">
            <a:avLst/>
          </a:prstGeom>
          <a:noFill/>
        </p:spPr>
        <p:txBody>
          <a:bodyPr wrap="square" anchor="t" lIns="0" rIns="0" tIns="0" bIns="0">
            <a:spAutoFit/>
          </a:bodyPr>
          <a:lstStyle/>
          <a:p>
            <a:pPr algn="l"/>
            <a:r>
              <a:rPr sz="950" b="0" i="0">
                <a:solidFill>
                  <a:srgbClr val="6B6690"/>
                </a:solidFill>
                <a:latin typeface="Calibri"/>
              </a:rPr>
              <a:t>on the 30 booked orders</a:t>
            </a:r>
          </a:p>
        </p:txBody>
      </p:sp>
      <p:sp>
        <p:nvSpPr>
          <p:cNvPr id="19" name="Rectangle 18"/>
          <p:cNvSpPr/>
          <p:nvPr/>
        </p:nvSpPr>
        <p:spPr>
          <a:xfrm>
            <a:off x="4332122" y="385114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133892" y="2662428"/>
            <a:ext cx="3527450" cy="635000"/>
          </a:xfrm>
          <a:prstGeom prst="rect">
            <a:avLst/>
          </a:prstGeom>
          <a:noFill/>
        </p:spPr>
        <p:txBody>
          <a:bodyPr wrap="square" anchor="t" lIns="0" rIns="0" tIns="0" bIns="0">
            <a:spAutoFit/>
          </a:bodyPr>
          <a:lstStyle/>
          <a:p>
            <a:pPr algn="l"/>
            <a:r>
              <a:rPr sz="4000" b="0" i="0">
                <a:solidFill>
                  <a:srgbClr val="5B3FD6"/>
                </a:solidFill>
                <a:latin typeface="Georgia"/>
              </a:rPr>
              <a:t>43%</a:t>
            </a:r>
          </a:p>
        </p:txBody>
      </p:sp>
      <p:sp>
        <p:nvSpPr>
          <p:cNvPr id="21" name="TextBox 20"/>
          <p:cNvSpPr txBox="1"/>
          <p:nvPr/>
        </p:nvSpPr>
        <p:spPr>
          <a:xfrm>
            <a:off x="8133892" y="333400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ABOVE BOOKED</a:t>
            </a:r>
          </a:p>
        </p:txBody>
      </p:sp>
      <p:sp>
        <p:nvSpPr>
          <p:cNvPr id="22" name="TextBox 21"/>
          <p:cNvSpPr txBox="1"/>
          <p:nvPr/>
        </p:nvSpPr>
        <p:spPr>
          <a:xfrm>
            <a:off x="8133892" y="3535172"/>
            <a:ext cx="3527450" cy="193421"/>
          </a:xfrm>
          <a:prstGeom prst="rect">
            <a:avLst/>
          </a:prstGeom>
          <a:noFill/>
        </p:spPr>
        <p:txBody>
          <a:bodyPr wrap="square" anchor="t" lIns="0" rIns="0" tIns="0" bIns="0">
            <a:spAutoFit/>
          </a:bodyPr>
          <a:lstStyle/>
          <a:p>
            <a:pPr algn="l"/>
            <a:r>
              <a:rPr sz="950" b="0" i="0">
                <a:solidFill>
                  <a:srgbClr val="6B6690"/>
                </a:solidFill>
                <a:latin typeface="Calibri"/>
              </a:rPr>
              <a:t>revenue nobody booked</a:t>
            </a:r>
          </a:p>
        </p:txBody>
      </p:sp>
      <p:sp>
        <p:nvSpPr>
          <p:cNvPr id="23" name="Rectangle 22"/>
          <p:cNvSpPr/>
          <p:nvPr/>
        </p:nvSpPr>
        <p:spPr>
          <a:xfrm>
            <a:off x="8133892" y="385114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6" name="Oval 25"/>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8" name="Oval 27"/>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30" name="Oval 29"/>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32" name="Oval 31"/>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39 / 76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AOV x the orders summed must give revenue back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check catches a fraction built from two definitions?</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Why it is wrong. </a:t>
            </a:r>
            <a:r>
              <a:rPr sz="1500" b="0" i="0">
                <a:solidFill>
                  <a:srgbClr val="1A1440"/>
                </a:solidFill>
                <a:latin typeface="Calibri"/>
              </a:rPr>
              <a:t>The numerator keeps the rupees of the 9 cancelled and returned orders while the denominator has dropped those orders, so every order looks Rs 7,783 larger than a booked order averages.</a:t>
            </a:r>
          </a:p>
        </p:txBody>
      </p:sp>
      <p:graphicFrame>
        <p:nvGraphicFramePr>
          <p:cNvPr id="12" name="Table 11"/>
          <p:cNvGraphicFramePr>
            <a:graphicFrameLocks noGrp="1"/>
          </p:cNvGraphicFramePr>
          <p:nvPr/>
        </p:nvGraphicFramePr>
        <p:xfrm>
          <a:off x="530352" y="2929128"/>
          <a:ext cx="11130991" cy="1341120"/>
        </p:xfrm>
        <a:graphic>
          <a:graphicData uri="http://schemas.openxmlformats.org/drawingml/2006/table">
            <a:tbl>
              <a:tblPr firstRow="0" bandRow="0">
                <a:tableStyleId>{2D5ABB26-0587-4C30-8999-92F81FD0307C}</a:tableStyleId>
              </a:tblPr>
              <a:tblGrid>
                <a:gridCol w="2315429"/>
                <a:gridCol w="1147132"/>
                <a:gridCol w="4087346"/>
                <a:gridCol w="3581084"/>
              </a:tblGrid>
              <a:tr h="335280">
                <a:tc>
                  <a:txBody>
                    <a:bodyPr/>
                    <a:lstStyle/>
                    <a:p>
                      <a:r>
                        <a:rPr sz="1250" b="1" i="0">
                          <a:solidFill>
                            <a:srgbClr val="FFFFFF"/>
                          </a:solidFill>
                          <a:latin typeface="Calibri"/>
                        </a:rPr>
                        <a:t>Fraction</a:t>
                      </a:r>
                    </a:p>
                  </a:txBody>
                  <a:tcPr marL="101600" marR="101600" marT="38100" marB="38100" anchor="ctr">
                    <a:solidFill>
                      <a:srgbClr val="1A0F5C"/>
                    </a:solidFill>
                  </a:tcPr>
                </a:tc>
                <a:tc>
                  <a:txBody>
                    <a:bodyPr/>
                    <a:lstStyle/>
                    <a:p>
                      <a:r>
                        <a:rPr sz="1250" b="1" i="0">
                          <a:solidFill>
                            <a:srgbClr val="FFFFFF"/>
                          </a:solidFill>
                          <a:latin typeface="Calibri"/>
                        </a:rPr>
                        <a:t>AOV</a:t>
                      </a:r>
                    </a:p>
                  </a:txBody>
                  <a:tcPr marL="101600" marR="101600" marT="38100" marB="38100" anchor="ctr">
                    <a:solidFill>
                      <a:srgbClr val="1A0F5C"/>
                    </a:solidFill>
                  </a:tcPr>
                </a:tc>
                <a:tc>
                  <a:txBody>
                    <a:bodyPr/>
                    <a:lstStyle/>
                    <a:p>
                      <a:r>
                        <a:rPr sz="1250" b="1" i="0">
                          <a:solidFill>
                            <a:srgbClr val="FFFFFF"/>
                          </a:solidFill>
                          <a:latin typeface="Calibri"/>
                        </a:rPr>
                        <a:t>Times the orders the revenue covers</a:t>
                      </a:r>
                    </a:p>
                  </a:txBody>
                  <a:tcPr marL="101600" marR="101600" marT="38100" marB="38100" anchor="ctr">
                    <a:solidFill>
                      <a:srgbClr val="1A0F5C"/>
                    </a:solidFill>
                  </a:tcPr>
                </a:tc>
                <a:tc>
                  <a:txBody>
                    <a:bodyPr/>
                    <a:lstStyle/>
                    <a:p>
                      <a:r>
                        <a:rPr sz="1250" b="1" i="0">
                          <a:solidFill>
                            <a:srgbClr val="FFFFFF"/>
                          </a:solidFill>
                          <a:latin typeface="Calibri"/>
                        </a:rPr>
                        <a:t>Does that revenue come back?</a:t>
                      </a:r>
                    </a:p>
                  </a:txBody>
                  <a:tcPr marL="101600" marR="101600" marT="38100" marB="38100" anchor="ctr">
                    <a:solidFill>
                      <a:srgbClr val="1A0F5C"/>
                    </a:solidFill>
                  </a:tcPr>
                </a:tc>
              </a:tr>
              <a:tr h="335280">
                <a:tc>
                  <a:txBody>
                    <a:bodyPr/>
                    <a:lstStyle/>
                    <a:p>
                      <a:r>
                        <a:rPr sz="1200" b="0" i="0">
                          <a:solidFill>
                            <a:srgbClr val="1A1440"/>
                          </a:solidFill>
                          <a:latin typeface="Calibri"/>
                        </a:rPr>
                        <a:t>Booked / booked</a:t>
                      </a:r>
                    </a:p>
                  </a:txBody>
                  <a:tcPr marL="101600" marR="101600" marT="38100" marB="38100" anchor="ctr">
                    <a:solidFill>
                      <a:srgbClr val="FFFFFF"/>
                    </a:solidFill>
                  </a:tcPr>
                </a:tc>
                <a:tc>
                  <a:txBody>
                    <a:bodyPr/>
                    <a:lstStyle/>
                    <a:p>
                      <a:r>
                        <a:rPr sz="1200" b="0" i="0">
                          <a:solidFill>
                            <a:srgbClr val="1A1440"/>
                          </a:solidFill>
                          <a:latin typeface="Calibri"/>
                        </a:rPr>
                        <a:t>Rs 18,160</a:t>
                      </a:r>
                    </a:p>
                  </a:txBody>
                  <a:tcPr marL="101600" marR="101600" marT="38100" marB="38100" anchor="ctr">
                    <a:solidFill>
                      <a:srgbClr val="FFFFFF"/>
                    </a:solidFill>
                  </a:tcPr>
                </a:tc>
                <a:tc>
                  <a:txBody>
                    <a:bodyPr/>
                    <a:lstStyle/>
                    <a:p>
                      <a:r>
                        <a:rPr sz="1200" b="0" i="0">
                          <a:solidFill>
                            <a:srgbClr val="1A1440"/>
                          </a:solidFill>
                          <a:latin typeface="Calibri"/>
                        </a:rPr>
                        <a:t>30 orders give Rs 5,44,810.</a:t>
                      </a:r>
                    </a:p>
                  </a:txBody>
                  <a:tcPr marL="101600" marR="101600" marT="38100" marB="38100" anchor="ctr">
                    <a:solidFill>
                      <a:srgbClr val="FFFFFF"/>
                    </a:solidFill>
                  </a:tcPr>
                </a:tc>
                <a:tc>
                  <a:txBody>
                    <a:bodyPr/>
                    <a:lstStyle/>
                    <a:p>
                      <a:r>
                        <a:rPr sz="1200" b="0" i="0">
                          <a:solidFill>
                            <a:srgbClr val="1A1440"/>
                          </a:solidFill>
                          <a:latin typeface="Calibri"/>
                        </a:rPr>
                        <a:t>Yes, booked revenue comes back.</a:t>
                      </a:r>
                    </a:p>
                  </a:txBody>
                  <a:tcPr marL="101600" marR="101600" marT="38100" marB="38100" anchor="ctr">
                    <a:solidFill>
                      <a:srgbClr val="FFFFFF"/>
                    </a:solidFill>
                  </a:tcPr>
                </a:tc>
              </a:tr>
              <a:tr h="335280">
                <a:tc>
                  <a:txBody>
                    <a:bodyPr/>
                    <a:lstStyle/>
                    <a:p>
                      <a:r>
                        <a:rPr sz="1200" b="0" i="0">
                          <a:solidFill>
                            <a:srgbClr val="1A1440"/>
                          </a:solidFill>
                          <a:latin typeface="Calibri"/>
                        </a:rPr>
                        <a:t>Delivered / delivered</a:t>
                      </a:r>
                    </a:p>
                  </a:txBody>
                  <a:tcPr marL="101600" marR="101600" marT="38100" marB="38100" anchor="ctr">
                    <a:solidFill>
                      <a:srgbClr val="F4F2FA"/>
                    </a:solidFill>
                  </a:tcPr>
                </a:tc>
                <a:tc>
                  <a:txBody>
                    <a:bodyPr/>
                    <a:lstStyle/>
                    <a:p>
                      <a:r>
                        <a:rPr sz="1200" b="0" i="0">
                          <a:solidFill>
                            <a:srgbClr val="1A1440"/>
                          </a:solidFill>
                          <a:latin typeface="Calibri"/>
                        </a:rPr>
                        <a:t>Rs 24,800</a:t>
                      </a:r>
                    </a:p>
                  </a:txBody>
                  <a:tcPr marL="101600" marR="101600" marT="38100" marB="38100" anchor="ctr">
                    <a:solidFill>
                      <a:srgbClr val="F4F2FA"/>
                    </a:solidFill>
                  </a:tcPr>
                </a:tc>
                <a:tc>
                  <a:txBody>
                    <a:bodyPr/>
                    <a:lstStyle/>
                    <a:p>
                      <a:r>
                        <a:rPr sz="1200" b="0" i="0">
                          <a:solidFill>
                            <a:srgbClr val="1A1440"/>
                          </a:solidFill>
                          <a:latin typeface="Calibri"/>
                        </a:rPr>
                        <a:t>21 orders give Rs 5,20,790.</a:t>
                      </a:r>
                    </a:p>
                  </a:txBody>
                  <a:tcPr marL="101600" marR="101600" marT="38100" marB="38100" anchor="ctr">
                    <a:solidFill>
                      <a:srgbClr val="F4F2FA"/>
                    </a:solidFill>
                  </a:tcPr>
                </a:tc>
                <a:tc>
                  <a:txBody>
                    <a:bodyPr/>
                    <a:lstStyle/>
                    <a:p>
                      <a:r>
                        <a:rPr sz="1200" b="0" i="0">
                          <a:solidFill>
                            <a:srgbClr val="1A1440"/>
                          </a:solidFill>
                          <a:latin typeface="Calibri"/>
                        </a:rPr>
                        <a:t>Yes, delivered revenue comes back.</a:t>
                      </a:r>
                    </a:p>
                  </a:txBody>
                  <a:tcPr marL="101600" marR="101600" marT="38100" marB="38100" anchor="ctr">
                    <a:solidFill>
                      <a:srgbClr val="F4F2FA"/>
                    </a:solidFill>
                  </a:tcPr>
                </a:tc>
              </a:tr>
              <a:tr h="335280">
                <a:tc>
                  <a:txBody>
                    <a:bodyPr/>
                    <a:lstStyle/>
                    <a:p>
                      <a:r>
                        <a:rPr sz="1200" b="0" i="0">
                          <a:solidFill>
                            <a:srgbClr val="1A1440"/>
                          </a:solidFill>
                          <a:latin typeface="Calibri"/>
                        </a:rPr>
                        <a:t>Booked / delivered</a:t>
                      </a:r>
                    </a:p>
                  </a:txBody>
                  <a:tcPr marL="101600" marR="101600" marT="38100" marB="38100" anchor="ctr">
                    <a:solidFill>
                      <a:srgbClr val="FFFFFF"/>
                    </a:solidFill>
                  </a:tcPr>
                </a:tc>
                <a:tc>
                  <a:txBody>
                    <a:bodyPr/>
                    <a:lstStyle/>
                    <a:p>
                      <a:r>
                        <a:rPr sz="1200" b="0" i="0">
                          <a:solidFill>
                            <a:srgbClr val="1A1440"/>
                          </a:solidFill>
                          <a:latin typeface="Calibri"/>
                        </a:rPr>
                        <a:t>Rs 25,943</a:t>
                      </a:r>
                    </a:p>
                  </a:txBody>
                  <a:tcPr marL="101600" marR="101600" marT="38100" marB="38100" anchor="ctr">
                    <a:solidFill>
                      <a:srgbClr val="FFFFFF"/>
                    </a:solidFill>
                  </a:tcPr>
                </a:tc>
                <a:tc>
                  <a:txBody>
                    <a:bodyPr/>
                    <a:lstStyle/>
                    <a:p>
                      <a:r>
                        <a:rPr sz="1200" b="0" i="0">
                          <a:solidFill>
                            <a:srgbClr val="1A1440"/>
                          </a:solidFill>
                          <a:latin typeface="Calibri"/>
                        </a:rPr>
                        <a:t>30 orders give Rs 7,78,300.</a:t>
                      </a:r>
                    </a:p>
                  </a:txBody>
                  <a:tcPr marL="101600" marR="101600" marT="38100" marB="38100" anchor="ctr">
                    <a:solidFill>
                      <a:srgbClr val="FFFFFF"/>
                    </a:solidFill>
                  </a:tcPr>
                </a:tc>
                <a:tc>
                  <a:txBody>
                    <a:bodyPr/>
                    <a:lstStyle/>
                    <a:p>
                      <a:r>
                        <a:rPr sz="1200" b="0" i="0">
                          <a:solidFill>
                            <a:srgbClr val="1A1440"/>
                          </a:solidFill>
                          <a:latin typeface="Calibri"/>
                        </a:rPr>
                        <a:t>No, it lands Rs 2,33,490 over.</a:t>
                      </a:r>
                    </a:p>
                  </a:txBody>
                  <a:tcPr marL="101600" marR="101600" marT="38100" marB="38100" anchor="ctr">
                    <a:solidFill>
                      <a:srgbClr val="FFFFFF"/>
                    </a:solidFill>
                  </a:tcPr>
                </a:tc>
              </a:tr>
            </a:tbl>
          </a:graphicData>
        </a:graphic>
      </p:graphicFrame>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5" name="Oval 14"/>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7" name="Oval 16"/>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19" name="Oval 1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1" name="Oval 20"/>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40 / 76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One definition per fraction: Rs 18,160 or Rs 24,800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fix change in the note to marketing?</a:t>
            </a:r>
          </a:p>
        </p:txBody>
      </p:sp>
      <p:pic>
        <p:nvPicPr>
          <p:cNvPr id="9" name="mermaid diagram" descr="eb9444bd459b1eae.png"/>
          <p:cNvPicPr>
            <a:picLocks noChangeAspect="1"/>
          </p:cNvPicPr>
          <p:nvPr/>
        </p:nvPicPr>
        <p:blipFill>
          <a:blip r:embed="rId6"/>
          <a:stretch>
            <a:fillRect/>
          </a:stretch>
        </p:blipFill>
        <p:spPr>
          <a:xfrm>
            <a:off x="530352" y="1740683"/>
            <a:ext cx="4786326" cy="4400761"/>
          </a:xfrm>
          <a:prstGeom prst="rect">
            <a:avLst/>
          </a:prstGeom>
        </p:spPr>
      </p:pic>
      <p:sp>
        <p:nvSpPr>
          <p:cNvPr id="10" name="Rounded Rectangle 9"/>
          <p:cNvSpPr/>
          <p:nvPr/>
        </p:nvSpPr>
        <p:spPr>
          <a:xfrm>
            <a:off x="5761917" y="1956816"/>
            <a:ext cx="5899425"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5990517"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5"/>
          <a:stretch>
            <a:fillRect/>
          </a:stretch>
        </p:blipFill>
        <p:spPr>
          <a:xfrm>
            <a:off x="6100245" y="2398776"/>
            <a:ext cx="237744" cy="237744"/>
          </a:xfrm>
          <a:prstGeom prst="rect">
            <a:avLst/>
          </a:prstGeom>
        </p:spPr>
      </p:pic>
      <p:sp>
        <p:nvSpPr>
          <p:cNvPr id="13" name="TextBox 12"/>
          <p:cNvSpPr txBox="1"/>
          <p:nvPr/>
        </p:nvSpPr>
        <p:spPr>
          <a:xfrm>
            <a:off x="6630597" y="2103120"/>
            <a:ext cx="4756425"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6630597" y="2322576"/>
            <a:ext cx="4756425" cy="682752"/>
          </a:xfrm>
          <a:prstGeom prst="rect">
            <a:avLst/>
          </a:prstGeom>
          <a:noFill/>
        </p:spPr>
        <p:txBody>
          <a:bodyPr wrap="square" anchor="t" lIns="0" rIns="0" tIns="0" bIns="0">
            <a:spAutoFit/>
          </a:bodyPr>
          <a:lstStyle/>
          <a:p>
            <a:r>
              <a:rPr sz="1500" b="0" i="0">
                <a:solidFill>
                  <a:srgbClr val="1A1440"/>
                </a:solidFill>
                <a:latin typeface="Calibri"/>
              </a:rPr>
              <a:t>Each fraction takes one definition, so ask each report what it counts before you divide.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7" name="Oval 16"/>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9" name="Oval 18"/>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3" name="Oval 22"/>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41 / 76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mean of the 30 amounts is the same Rs 18,160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the mean of the amounts agree with revenue over orders?</a:t>
            </a:r>
          </a:p>
        </p:txBody>
      </p:sp>
      <p:pic>
        <p:nvPicPr>
          <p:cNvPr id="9" name="mermaid diagram" descr="643bfbd18658dae2.png"/>
          <p:cNvPicPr>
            <a:picLocks noChangeAspect="1"/>
          </p:cNvPicPr>
          <p:nvPr/>
        </p:nvPicPr>
        <p:blipFill>
          <a:blip r:embed="rId6"/>
          <a:stretch>
            <a:fillRect/>
          </a:stretch>
        </p:blipFill>
        <p:spPr>
          <a:xfrm>
            <a:off x="530352" y="2292440"/>
            <a:ext cx="4786326" cy="3297246"/>
          </a:xfrm>
          <a:prstGeom prst="rect">
            <a:avLst/>
          </a:prstGeom>
        </p:spPr>
      </p:pic>
      <p:sp>
        <p:nvSpPr>
          <p:cNvPr id="10" name="Rounded Rectangle 9"/>
          <p:cNvSpPr/>
          <p:nvPr/>
        </p:nvSpPr>
        <p:spPr>
          <a:xfrm>
            <a:off x="5761917" y="1956816"/>
            <a:ext cx="5899425"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5944797"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6100245"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255693"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036237" y="2286000"/>
            <a:ext cx="5442225"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amounts = [order["amount"] for order in ORDERS]</a:t>
            </a:r>
          </a:p>
          <a:p>
            <a:pPr>
              <a:spcAft>
                <a:spcPts val="200"/>
              </a:spcAft>
            </a:pPr>
            <a:r>
              <a:rPr sz="1400" b="0" i="0">
                <a:solidFill>
                  <a:srgbClr val="E4E1F1"/>
                </a:solidFill>
                <a:latin typeface="Consolas"/>
              </a:rPr>
              <a:t>mean_route = sum(amounts) / len(amounts)     # from the rows</a:t>
            </a:r>
          </a:p>
          <a:p>
            <a:pPr>
              <a:spcAft>
                <a:spcPts val="200"/>
              </a:spcAft>
            </a:pPr>
            <a:r>
              <a:rPr sz="1400" b="0" i="0">
                <a:solidFill>
                  <a:srgbClr val="E4E1F1"/>
                </a:solidFill>
                <a:latin typeface="Consolas"/>
              </a:rPr>
              <a:t>statistics.fmean(amounts)                    # from the library</a:t>
            </a:r>
          </a:p>
        </p:txBody>
      </p:sp>
      <p:sp>
        <p:nvSpPr>
          <p:cNvPr id="15" name="Rounded Rectangle 14"/>
          <p:cNvSpPr/>
          <p:nvPr/>
        </p:nvSpPr>
        <p:spPr>
          <a:xfrm>
            <a:off x="5761917" y="3840988"/>
            <a:ext cx="5899425"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5990517" y="430276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checks_bd88901d2a37.png"/>
          <p:cNvPicPr>
            <a:picLocks noChangeAspect="1"/>
          </p:cNvPicPr>
          <p:nvPr/>
        </p:nvPicPr>
        <p:blipFill>
          <a:blip r:embed="rId5"/>
          <a:stretch>
            <a:fillRect/>
          </a:stretch>
        </p:blipFill>
        <p:spPr>
          <a:xfrm>
            <a:off x="6100245" y="4412488"/>
            <a:ext cx="237744" cy="237744"/>
          </a:xfrm>
          <a:prstGeom prst="rect">
            <a:avLst/>
          </a:prstGeom>
        </p:spPr>
      </p:pic>
      <p:sp>
        <p:nvSpPr>
          <p:cNvPr id="18" name="TextBox 17"/>
          <p:cNvSpPr txBox="1"/>
          <p:nvPr/>
        </p:nvSpPr>
        <p:spPr>
          <a:xfrm>
            <a:off x="6630597" y="3987291"/>
            <a:ext cx="4756425"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9" name="TextBox 18"/>
          <p:cNvSpPr txBox="1"/>
          <p:nvPr/>
        </p:nvSpPr>
        <p:spPr>
          <a:xfrm>
            <a:off x="6630597" y="4206748"/>
            <a:ext cx="4756425" cy="941832"/>
          </a:xfrm>
          <a:prstGeom prst="rect">
            <a:avLst/>
          </a:prstGeom>
          <a:noFill/>
        </p:spPr>
        <p:txBody>
          <a:bodyPr wrap="square" anchor="t" lIns="0" rIns="0" tIns="0" bIns="0">
            <a:spAutoFit/>
          </a:bodyPr>
          <a:lstStyle/>
          <a:p>
            <a:r>
              <a:rPr sz="1500" b="0" i="0">
                <a:solidFill>
                  <a:srgbClr val="1A1440"/>
                </a:solidFill>
                <a:latin typeface="Calibri"/>
              </a:rPr>
              <a:t>Use the totals when a report holds them and the rows when you hold the rows; chapter 4 asks whether the mean is the right middle at all.</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2" name="Oval 21"/>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4" name="Oval 23"/>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26" name="Oval 2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8" name="Oval 27"/>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S38  ·  42 / 76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Each branch is a fraction; AOV is Rs 18,160 booked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sales split into customers, orders per customer and order value, each a fraction on one definition?</a:t>
            </a:r>
          </a:p>
        </p:txBody>
      </p:sp>
      <p:graphicFrame>
        <p:nvGraphicFramePr>
          <p:cNvPr id="9" name="Table 8"/>
          <p:cNvGraphicFramePr>
            <a:graphicFrameLocks noGrp="1"/>
          </p:cNvGraphicFramePr>
          <p:nvPr/>
        </p:nvGraphicFramePr>
        <p:xfrm>
          <a:off x="530352" y="1682496"/>
          <a:ext cx="11130990" cy="2176272"/>
        </p:xfrm>
        <a:graphic>
          <a:graphicData uri="http://schemas.openxmlformats.org/drawingml/2006/table">
            <a:tbl>
              <a:tblPr firstRow="0" bandRow="0">
                <a:tableStyleId>{2D5ABB26-0587-4C30-8999-92F81FD0307C}</a:tableStyleId>
              </a:tblPr>
              <a:tblGrid>
                <a:gridCol w="2437222"/>
                <a:gridCol w="8693768"/>
              </a:tblGrid>
              <a:tr h="310896">
                <a:tc>
                  <a:txBody>
                    <a:bodyPr/>
                    <a:lstStyle/>
                    <a:p>
                      <a:r>
                        <a:rPr sz="950" b="1" i="0">
                          <a:solidFill>
                            <a:srgbClr val="FFFFFF"/>
                          </a:solidFill>
                          <a:latin typeface="Calibri"/>
                        </a:rPr>
                        <a:t>Question</a:t>
                      </a:r>
                    </a:p>
                  </a:txBody>
                  <a:tcPr marL="101600" marR="101600" marT="38100" marB="38100" anchor="ctr">
                    <a:solidFill>
                      <a:srgbClr val="1A0F5C"/>
                    </a:solidFill>
                  </a:tcPr>
                </a:tc>
                <a:tc>
                  <a:txBody>
                    <a:bodyPr/>
                    <a:lstStyle/>
                    <a:p>
                      <a:r>
                        <a:rPr sz="950" b="1" i="0">
                          <a:solidFill>
                            <a:srgbClr val="FFFFFF"/>
                          </a:solidFill>
                          <a:latin typeface="Calibri"/>
                        </a:rPr>
                        <a:t>Answer</a:t>
                      </a:r>
                    </a:p>
                  </a:txBody>
                  <a:tcPr marL="101600" marR="101600" marT="38100" marB="38100" anchor="ctr">
                    <a:solidFill>
                      <a:srgbClr val="1A0F5C"/>
                    </a:solidFill>
                  </a:tcPr>
                </a:tc>
              </a:tr>
              <a:tr h="310896">
                <a:tc>
                  <a:txBody>
                    <a:bodyPr/>
                    <a:lstStyle/>
                    <a:p>
                      <a:r>
                        <a:rPr sz="900" b="0" i="0">
                          <a:solidFill>
                            <a:srgbClr val="1A1440"/>
                          </a:solidFill>
                          <a:latin typeface="Calibri"/>
                        </a:rPr>
                        <a:t>Why fractions?</a:t>
                      </a:r>
                    </a:p>
                  </a:txBody>
                  <a:tcPr marL="101600" marR="101600" marT="38100" marB="38100" anchor="ctr">
                    <a:solidFill>
                      <a:srgbClr val="FFFFFF"/>
                    </a:solidFill>
                  </a:tcPr>
                </a:tc>
                <a:tc>
                  <a:txBody>
                    <a:bodyPr/>
                    <a:lstStyle/>
                    <a:p>
                      <a:r>
                        <a:rPr sz="900" b="0" i="0">
                          <a:solidFill>
                            <a:srgbClr val="1A1440"/>
                          </a:solidFill>
                          <a:latin typeface="Calibri"/>
                        </a:rPr>
                        <a:t>Each branch is a numerator over a denominator, so the branches multiply back to revenue.</a:t>
                      </a:r>
                    </a:p>
                  </a:txBody>
                  <a:tcPr marL="101600" marR="101600" marT="38100" marB="38100" anchor="ctr">
                    <a:solidFill>
                      <a:srgbClr val="FFFFFF"/>
                    </a:solidFill>
                  </a:tcPr>
                </a:tc>
              </a:tr>
              <a:tr h="310896">
                <a:tc>
                  <a:txBody>
                    <a:bodyPr/>
                    <a:lstStyle/>
                    <a:p>
                      <a:r>
                        <a:rPr sz="900" b="0" i="0">
                          <a:solidFill>
                            <a:srgbClr val="1A1440"/>
                          </a:solidFill>
                          <a:latin typeface="Calibri"/>
                        </a:rPr>
                        <a:t>Which tree?</a:t>
                      </a:r>
                    </a:p>
                  </a:txBody>
                  <a:tcPr marL="101600" marR="101600" marT="38100" marB="38100" anchor="ctr">
                    <a:solidFill>
                      <a:srgbClr val="F4F2FA"/>
                    </a:solidFill>
                  </a:tcPr>
                </a:tc>
                <a:tc>
                  <a:txBody>
                    <a:bodyPr/>
                    <a:lstStyle/>
                    <a:p>
                      <a:r>
                        <a:rPr sz="900" b="0" i="0">
                          <a:solidFill>
                            <a:srgbClr val="1A1440"/>
                          </a:solidFill>
                          <a:latin typeface="Calibri"/>
                        </a:rPr>
                        <a:t>Customers x orders per customer x AOV is the deepest tree this file fills.</a:t>
                      </a:r>
                    </a:p>
                  </a:txBody>
                  <a:tcPr marL="101600" marR="101600" marT="38100" marB="38100" anchor="ctr">
                    <a:solidFill>
                      <a:srgbClr val="F4F2FA"/>
                    </a:solidFill>
                  </a:tcPr>
                </a:tc>
              </a:tr>
              <a:tr h="310896">
                <a:tc>
                  <a:txBody>
                    <a:bodyPr/>
                    <a:lstStyle/>
                    <a:p>
                      <a:r>
                        <a:rPr sz="900" b="0" i="0">
                          <a:solidFill>
                            <a:srgbClr val="1A1440"/>
                          </a:solidFill>
                          <a:latin typeface="Calibri"/>
                        </a:rPr>
                        <a:t>The AOV?</a:t>
                      </a:r>
                    </a:p>
                  </a:txBody>
                  <a:tcPr marL="101600" marR="101600" marT="38100" marB="38100" anchor="ctr">
                    <a:solidFill>
                      <a:srgbClr val="FFFFFF"/>
                    </a:solidFill>
                  </a:tcPr>
                </a:tc>
                <a:tc>
                  <a:txBody>
                    <a:bodyPr/>
                    <a:lstStyle/>
                    <a:p>
                      <a:r>
                        <a:rPr sz="900" b="0" i="0">
                          <a:solidFill>
                            <a:srgbClr val="1A1440"/>
                          </a:solidFill>
                          <a:latin typeface="Calibri"/>
                        </a:rPr>
                        <a:t>It is Rs 18,160, booked revenue over 30 orders.</a:t>
                      </a:r>
                    </a:p>
                  </a:txBody>
                  <a:tcPr marL="101600" marR="101600" marT="38100" marB="38100" anchor="ctr">
                    <a:solidFill>
                      <a:srgbClr val="FFFFFF"/>
                    </a:solidFill>
                  </a:tcPr>
                </a:tc>
              </a:tr>
              <a:tr h="310896">
                <a:tc>
                  <a:txBody>
                    <a:bodyPr/>
                    <a:lstStyle/>
                    <a:p>
                      <a:r>
                        <a:rPr sz="900" b="0" i="0">
                          <a:solidFill>
                            <a:srgbClr val="1A1440"/>
                          </a:solidFill>
                          <a:latin typeface="Calibri"/>
                        </a:rPr>
                        <a:t>Booked over delivered?</a:t>
                      </a:r>
                    </a:p>
                  </a:txBody>
                  <a:tcPr marL="101600" marR="101600" marT="38100" marB="38100" anchor="ctr">
                    <a:solidFill>
                      <a:srgbClr val="F4F2FA"/>
                    </a:solidFill>
                  </a:tcPr>
                </a:tc>
                <a:tc>
                  <a:txBody>
                    <a:bodyPr/>
                    <a:lstStyle/>
                    <a:p>
                      <a:r>
                        <a:rPr sz="900" b="0" i="0">
                          <a:solidFill>
                            <a:srgbClr val="1A1440"/>
                          </a:solidFill>
                          <a:latin typeface="Calibri"/>
                        </a:rPr>
                        <a:t>It gives Rs 25,943, which matches no definition and claims Rs 7,78,300.</a:t>
                      </a:r>
                    </a:p>
                  </a:txBody>
                  <a:tcPr marL="101600" marR="101600" marT="38100" marB="38100" anchor="ctr">
                    <a:solidFill>
                      <a:srgbClr val="F4F2FA"/>
                    </a:solidFill>
                  </a:tcPr>
                </a:tc>
              </a:tr>
              <a:tr h="310896">
                <a:tc>
                  <a:txBody>
                    <a:bodyPr/>
                    <a:lstStyle/>
                    <a:p>
                      <a:r>
                        <a:rPr sz="900" b="0" i="0">
                          <a:solidFill>
                            <a:srgbClr val="1A1440"/>
                          </a:solidFill>
                          <a:latin typeface="Calibri"/>
                        </a:rPr>
                        <a:t>Does the mean agree?</a:t>
                      </a:r>
                    </a:p>
                  </a:txBody>
                  <a:tcPr marL="101600" marR="101600" marT="38100" marB="38100" anchor="ctr">
                    <a:solidFill>
                      <a:srgbClr val="FFFFFF"/>
                    </a:solidFill>
                  </a:tcPr>
                </a:tc>
                <a:tc>
                  <a:txBody>
                    <a:bodyPr/>
                    <a:lstStyle/>
                    <a:p>
                      <a:r>
                        <a:rPr sz="900" b="0" i="0">
                          <a:solidFill>
                            <a:srgbClr val="1A1440"/>
                          </a:solidFill>
                          <a:latin typeface="Calibri"/>
                        </a:rPr>
                        <a:t>The mean of the 30 amounts is the same Rs 18,160.</a:t>
                      </a:r>
                    </a:p>
                  </a:txBody>
                  <a:tcPr marL="101600" marR="101600" marT="38100" marB="38100" anchor="ctr">
                    <a:solidFill>
                      <a:srgbClr val="FFFFFF"/>
                    </a:solidFill>
                  </a:tcPr>
                </a:tc>
              </a:tr>
              <a:tr h="310896">
                <a:tc>
                  <a:txBody>
                    <a:bodyPr/>
                    <a:lstStyle/>
                    <a:p>
                      <a:r>
                        <a:rPr sz="900" b="0" i="0">
                          <a:solidFill>
                            <a:srgbClr val="1A1440"/>
                          </a:solidFill>
                          <a:latin typeface="Calibri"/>
                        </a:rPr>
                        <a:t>What is missing?</a:t>
                      </a:r>
                    </a:p>
                  </a:txBody>
                  <a:tcPr marL="101600" marR="101600" marT="38100" marB="38100" anchor="ctr">
                    <a:solidFill>
                      <a:srgbClr val="F4F2FA"/>
                    </a:solidFill>
                  </a:tcPr>
                </a:tc>
                <a:tc>
                  <a:txBody>
                    <a:bodyPr/>
                    <a:lstStyle/>
                    <a:p>
                      <a:r>
                        <a:rPr sz="900" b="0" i="0">
                          <a:solidFill>
                            <a:srgbClr val="1A1440"/>
                          </a:solidFill>
                          <a:latin typeface="Calibri"/>
                        </a:rPr>
                        <a:t>Items, price and discounts are missing, so order value cannot be split yet.</a:t>
                      </a:r>
                    </a:p>
                  </a:txBody>
                  <a:tcPr marL="101600" marR="101600" marT="38100" marB="38100" anchor="ctr">
                    <a:solidFill>
                      <a:srgbClr val="F4F2FA"/>
                    </a:solidFill>
                  </a:tcPr>
                </a:tc>
              </a:tr>
            </a:tbl>
          </a:graphicData>
        </a:graphic>
      </p:graphicFrame>
      <p:sp>
        <p:nvSpPr>
          <p:cNvPr id="10" name="Rounded Rectangle 9"/>
          <p:cNvSpPr/>
          <p:nvPr/>
        </p:nvSpPr>
        <p:spPr>
          <a:xfrm>
            <a:off x="530352" y="4114800"/>
            <a:ext cx="11130991" cy="9489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36067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470400"/>
            <a:ext cx="237744" cy="237744"/>
          </a:xfrm>
          <a:prstGeom prst="rect">
            <a:avLst/>
          </a:prstGeom>
        </p:spPr>
      </p:pic>
      <p:sp>
        <p:nvSpPr>
          <p:cNvPr id="13" name="TextBox 12"/>
          <p:cNvSpPr txBox="1"/>
          <p:nvPr/>
        </p:nvSpPr>
        <p:spPr>
          <a:xfrm>
            <a:off x="1399031" y="426110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480560"/>
            <a:ext cx="9987991" cy="510032"/>
          </a:xfrm>
          <a:prstGeom prst="rect">
            <a:avLst/>
          </a:prstGeom>
          <a:noFill/>
        </p:spPr>
        <p:txBody>
          <a:bodyPr wrap="square" anchor="t" lIns="0" rIns="0" tIns="0" bIns="0">
            <a:spAutoFit/>
          </a:bodyPr>
          <a:lstStyle/>
          <a:p>
            <a:r>
              <a:rPr sz="1000" b="0" i="0">
                <a:solidFill>
                  <a:srgbClr val="1A1440"/>
                </a:solidFill>
                <a:latin typeface="Calibri"/>
              </a:rPr>
              <a:t>"You gave me each branch as a numerator over a denominator and told me which three this file cannot fill, so I know which ones I can plan on. When two reports feed one fraction, ask each what it counts before you divide."</a:t>
            </a:r>
          </a:p>
        </p:txBody>
      </p:sp>
      <p:sp>
        <p:nvSpPr>
          <p:cNvPr id="15" name="Rounded Rectangle 14"/>
          <p:cNvSpPr/>
          <p:nvPr/>
        </p:nvSpPr>
        <p:spPr>
          <a:xfrm>
            <a:off x="530352" y="5228336"/>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112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20944"/>
            <a:ext cx="237744" cy="237744"/>
          </a:xfrm>
          <a:prstGeom prst="rect">
            <a:avLst/>
          </a:prstGeom>
        </p:spPr>
      </p:pic>
      <p:sp>
        <p:nvSpPr>
          <p:cNvPr id="18" name="TextBox 17"/>
          <p:cNvSpPr txBox="1"/>
          <p:nvPr/>
        </p:nvSpPr>
        <p:spPr>
          <a:xfrm>
            <a:off x="1399031" y="537464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594096"/>
            <a:ext cx="9987991" cy="384048"/>
          </a:xfrm>
          <a:prstGeom prst="rect">
            <a:avLst/>
          </a:prstGeom>
          <a:noFill/>
        </p:spPr>
        <p:txBody>
          <a:bodyPr wrap="square" anchor="t" lIns="0" rIns="0" tIns="0" bIns="0">
            <a:spAutoFit/>
          </a:bodyPr>
          <a:lstStyle/>
          <a:p>
            <a:r>
              <a:rPr sz="1000" b="0" i="0">
                <a:solidFill>
                  <a:srgbClr val="1A1440"/>
                </a:solidFill>
                <a:latin typeface="Calibri"/>
              </a:rPr>
              <a:t>[S] How would you increase sales for an online retailer?</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2" name="Oval 21"/>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4" name="Oval 23"/>
          <p:cNvSpPr/>
          <p:nvPr/>
        </p:nvSpPr>
        <p:spPr>
          <a:xfrm>
            <a:off x="332155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431285"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What is each branch</a:t>
            </a:r>
          </a:p>
        </p:txBody>
      </p:sp>
      <p:sp>
        <p:nvSpPr>
          <p:cNvPr id="26" name="Oval 2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8" name="Oval 27"/>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S39  ·  43 / 76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Do customers come back</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How many customers does Kalpa have, and how many came back for a second order?</a:t>
            </a:r>
          </a:p>
        </p:txBody>
      </p:sp>
      <p:sp>
        <p:nvSpPr>
          <p:cNvPr id="10" name="Rounded Rectangle 9"/>
          <p:cNvSpPr/>
          <p:nvPr/>
        </p:nvSpPr>
        <p:spPr>
          <a:xfrm>
            <a:off x="731519"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does retail earn</a:t>
            </a:r>
          </a:p>
        </p:txBody>
      </p:sp>
      <p:sp>
        <p:nvSpPr>
          <p:cNvPr id="11" name="Rounded Rectangle 10"/>
          <p:cNvSpPr/>
          <p:nvPr/>
        </p:nvSpPr>
        <p:spPr>
          <a:xfrm>
            <a:off x="2391327"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total is sales</a:t>
            </a:r>
          </a:p>
        </p:txBody>
      </p:sp>
      <p:sp>
        <p:nvSpPr>
          <p:cNvPr id="12" name="Rounded Rectangle 11"/>
          <p:cNvSpPr/>
          <p:nvPr/>
        </p:nvSpPr>
        <p:spPr>
          <a:xfrm>
            <a:off x="4051134"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each branch</a:t>
            </a:r>
          </a:p>
        </p:txBody>
      </p:sp>
      <p:sp>
        <p:nvSpPr>
          <p:cNvPr id="13" name="Rounded Rectangle 12"/>
          <p:cNvSpPr/>
          <p:nvPr/>
        </p:nvSpPr>
        <p:spPr>
          <a:xfrm>
            <a:off x="5651726" y="5074920"/>
            <a:ext cx="166851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Do customers come back</a:t>
            </a:r>
          </a:p>
        </p:txBody>
      </p:sp>
      <p:sp>
        <p:nvSpPr>
          <p:cNvPr id="14" name="Rounded Rectangle 13"/>
          <p:cNvSpPr/>
          <p:nvPr/>
        </p:nvSpPr>
        <p:spPr>
          <a:xfrm>
            <a:off x="7429965"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typical order</a:t>
            </a:r>
          </a:p>
        </p:txBody>
      </p:sp>
      <p:sp>
        <p:nvSpPr>
          <p:cNvPr id="15" name="TextBox 14"/>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Monday morning: the story and chapters 1 to 4</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44 / 76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Meera's budget turns on whether customers return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customer count, and which questions lead to it?</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Meera, before she signs Rs 12 crore to buy customers, and the marketing lead and the head of Retail-Plus, who own the two customer branches: if nobody comes back, acquisition is the only branch, and if customers return, frequency can grow without buying anyone new.</a:t>
            </a:r>
          </a:p>
        </p:txBody>
      </p:sp>
      <p:sp>
        <p:nvSpPr>
          <p:cNvPr id="12" name="Rectangle 11"/>
          <p:cNvSpPr/>
          <p:nvPr/>
        </p:nvSpPr>
        <p:spPr>
          <a:xfrm>
            <a:off x="1381734" y="37627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4" name="Oval 13"/>
          <p:cNvSpPr/>
          <p:nvPr/>
        </p:nvSpPr>
        <p:spPr>
          <a:xfrm>
            <a:off x="1281150"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0827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What rides on it</a:t>
            </a:r>
          </a:p>
        </p:txBody>
      </p:sp>
      <p:sp>
        <p:nvSpPr>
          <p:cNvPr id="17" name="TextBox 16"/>
          <p:cNvSpPr txBox="1"/>
          <p:nvPr/>
        </p:nvSpPr>
        <p:spPr>
          <a:xfrm>
            <a:off x="694944" y="4516882"/>
            <a:ext cx="1373581" cy="531876"/>
          </a:xfrm>
          <a:prstGeom prst="rect">
            <a:avLst/>
          </a:prstGeom>
          <a:noFill/>
        </p:spPr>
        <p:txBody>
          <a:bodyPr wrap="square" anchor="t" lIns="0" rIns="0" tIns="0" bIns="0">
            <a:spAutoFit/>
          </a:bodyPr>
          <a:lstStyle/>
          <a:p>
            <a:pPr algn="l"/>
            <a:r>
              <a:rPr sz="1000" b="0" i="0">
                <a:solidFill>
                  <a:srgbClr val="6B6690"/>
                </a:solidFill>
                <a:latin typeface="Calibri"/>
              </a:rPr>
              <a:t>Who needs the customer count, and what rides on it?</a:t>
            </a:r>
          </a:p>
        </p:txBody>
      </p:sp>
      <p:sp>
        <p:nvSpPr>
          <p:cNvPr id="18" name="TextBox 17"/>
          <p:cNvSpPr txBox="1"/>
          <p:nvPr/>
        </p:nvSpPr>
        <p:spPr>
          <a:xfrm>
            <a:off x="2415997"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19" name="Oval 18"/>
          <p:cNvSpPr/>
          <p:nvPr/>
        </p:nvSpPr>
        <p:spPr>
          <a:xfrm>
            <a:off x="3166795"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40827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Rows and people</a:t>
            </a:r>
          </a:p>
        </p:txBody>
      </p:sp>
      <p:sp>
        <p:nvSpPr>
          <p:cNvPr id="22" name="TextBox 21"/>
          <p:cNvSpPr txBox="1"/>
          <p:nvPr/>
        </p:nvSpPr>
        <p:spPr>
          <a:xfrm>
            <a:off x="2580589" y="4516882"/>
            <a:ext cx="1373581" cy="531876"/>
          </a:xfrm>
          <a:prstGeom prst="rect">
            <a:avLst/>
          </a:prstGeom>
          <a:noFill/>
        </p:spPr>
        <p:txBody>
          <a:bodyPr wrap="square" anchor="t" lIns="0" rIns="0" tIns="0" bIns="0">
            <a:spAutoFit/>
          </a:bodyPr>
          <a:lstStyle/>
          <a:p>
            <a:pPr algn="l"/>
            <a:r>
              <a:rPr sz="1000" b="0" i="0">
                <a:solidFill>
                  <a:srgbClr val="6B6690"/>
                </a:solidFill>
                <a:latin typeface="Calibri"/>
              </a:rPr>
              <a:t>How do we count customers when a row is an order?</a:t>
            </a:r>
          </a:p>
        </p:txBody>
      </p:sp>
      <p:sp>
        <p:nvSpPr>
          <p:cNvPr id="23" name="TextBox 22"/>
          <p:cNvSpPr txBox="1"/>
          <p:nvPr/>
        </p:nvSpPr>
        <p:spPr>
          <a:xfrm>
            <a:off x="430164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4" name="Oval 23"/>
          <p:cNvSpPr/>
          <p:nvPr/>
        </p:nvSpPr>
        <p:spPr>
          <a:xfrm>
            <a:off x="505244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40827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Who came back</a:t>
            </a:r>
          </a:p>
        </p:txBody>
      </p:sp>
      <p:sp>
        <p:nvSpPr>
          <p:cNvPr id="27" name="TextBox 26"/>
          <p:cNvSpPr txBox="1"/>
          <p:nvPr/>
        </p:nvSpPr>
        <p:spPr>
          <a:xfrm>
            <a:off x="4466234" y="4516882"/>
            <a:ext cx="1373581" cy="366776"/>
          </a:xfrm>
          <a:prstGeom prst="rect">
            <a:avLst/>
          </a:prstGeom>
          <a:noFill/>
        </p:spPr>
        <p:txBody>
          <a:bodyPr wrap="square" anchor="t" lIns="0" rIns="0" tIns="0" bIns="0">
            <a:spAutoFit/>
          </a:bodyPr>
          <a:lstStyle/>
          <a:p>
            <a:pPr algn="l"/>
            <a:r>
              <a:rPr sz="1000" b="0" i="0">
                <a:solidFill>
                  <a:srgbClr val="6B6690"/>
                </a:solidFill>
                <a:latin typeface="Calibri"/>
              </a:rPr>
              <a:t>How many customers came back?</a:t>
            </a:r>
          </a:p>
        </p:txBody>
      </p:sp>
      <p:sp>
        <p:nvSpPr>
          <p:cNvPr id="28" name="TextBox 27"/>
          <p:cNvSpPr txBox="1"/>
          <p:nvPr/>
        </p:nvSpPr>
        <p:spPr>
          <a:xfrm>
            <a:off x="6187287"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29" name="Oval 28"/>
          <p:cNvSpPr/>
          <p:nvPr/>
        </p:nvSpPr>
        <p:spPr>
          <a:xfrm>
            <a:off x="6938086"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40827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Every row a customer</a:t>
            </a:r>
          </a:p>
        </p:txBody>
      </p:sp>
      <p:sp>
        <p:nvSpPr>
          <p:cNvPr id="32" name="TextBox 31"/>
          <p:cNvSpPr txBox="1"/>
          <p:nvPr/>
        </p:nvSpPr>
        <p:spPr>
          <a:xfrm>
            <a:off x="6351879" y="4731512"/>
            <a:ext cx="1373581" cy="531876"/>
          </a:xfrm>
          <a:prstGeom prst="rect">
            <a:avLst/>
          </a:prstGeom>
          <a:noFill/>
        </p:spPr>
        <p:txBody>
          <a:bodyPr wrap="square" anchor="t" lIns="0" rIns="0" tIns="0" bIns="0">
            <a:spAutoFit/>
          </a:bodyPr>
          <a:lstStyle/>
          <a:p>
            <a:pPr algn="l"/>
            <a:r>
              <a:rPr sz="1000" b="0" i="0">
                <a:solidFill>
                  <a:srgbClr val="6B6690"/>
                </a:solidFill>
                <a:latin typeface="Calibri"/>
              </a:rPr>
              <a:t>What goes wrong if every row is counted as a customer?</a:t>
            </a:r>
          </a:p>
        </p:txBody>
      </p:sp>
      <p:sp>
        <p:nvSpPr>
          <p:cNvPr id="33" name="TextBox 32"/>
          <p:cNvSpPr txBox="1"/>
          <p:nvPr/>
        </p:nvSpPr>
        <p:spPr>
          <a:xfrm>
            <a:off x="807293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5</a:t>
            </a:r>
          </a:p>
        </p:txBody>
      </p:sp>
      <p:sp>
        <p:nvSpPr>
          <p:cNvPr id="34" name="Oval 33"/>
          <p:cNvSpPr/>
          <p:nvPr/>
        </p:nvSpPr>
        <p:spPr>
          <a:xfrm>
            <a:off x="882373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40827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The mean of counts</a:t>
            </a:r>
          </a:p>
        </p:txBody>
      </p:sp>
      <p:sp>
        <p:nvSpPr>
          <p:cNvPr id="37" name="TextBox 36"/>
          <p:cNvSpPr txBox="1"/>
          <p:nvPr/>
        </p:nvSpPr>
        <p:spPr>
          <a:xfrm>
            <a:off x="8237524" y="4731512"/>
            <a:ext cx="1373581" cy="366776"/>
          </a:xfrm>
          <a:prstGeom prst="rect">
            <a:avLst/>
          </a:prstGeom>
          <a:noFill/>
        </p:spPr>
        <p:txBody>
          <a:bodyPr wrap="square" anchor="t" lIns="0" rIns="0" tIns="0" bIns="0">
            <a:spAutoFit/>
          </a:bodyPr>
          <a:lstStyle/>
          <a:p>
            <a:pPr algn="l"/>
            <a:r>
              <a:rPr sz="1000" b="0" i="0">
                <a:solidFill>
                  <a:srgbClr val="6B6690"/>
                </a:solidFill>
                <a:latin typeface="Calibri"/>
              </a:rPr>
              <a:t>Does the mean of the counts agree?</a:t>
            </a:r>
          </a:p>
        </p:txBody>
      </p:sp>
      <p:sp>
        <p:nvSpPr>
          <p:cNvPr id="38" name="TextBox 37"/>
          <p:cNvSpPr txBox="1"/>
          <p:nvPr/>
        </p:nvSpPr>
        <p:spPr>
          <a:xfrm>
            <a:off x="9958578"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6</a:t>
            </a:r>
          </a:p>
        </p:txBody>
      </p:sp>
      <p:sp>
        <p:nvSpPr>
          <p:cNvPr id="39" name="Oval 38"/>
          <p:cNvSpPr/>
          <p:nvPr/>
        </p:nvSpPr>
        <p:spPr>
          <a:xfrm>
            <a:off x="10709376"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40827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Delivered only</a:t>
            </a:r>
          </a:p>
        </p:txBody>
      </p:sp>
      <p:sp>
        <p:nvSpPr>
          <p:cNvPr id="42" name="TextBox 41"/>
          <p:cNvSpPr txBox="1"/>
          <p:nvPr/>
        </p:nvSpPr>
        <p:spPr>
          <a:xfrm>
            <a:off x="10123170" y="4516882"/>
            <a:ext cx="1373581" cy="366776"/>
          </a:xfrm>
          <a:prstGeom prst="rect">
            <a:avLst/>
          </a:prstGeom>
          <a:noFill/>
        </p:spPr>
        <p:txBody>
          <a:bodyPr wrap="square" anchor="t" lIns="0" rIns="0" tIns="0" bIns="0">
            <a:spAutoFit/>
          </a:bodyPr>
          <a:lstStyle/>
          <a:p>
            <a:pPr algn="l"/>
            <a:r>
              <a:rPr sz="1000" b="0" i="0">
                <a:solidFill>
                  <a:srgbClr val="6B6690"/>
                </a:solidFill>
                <a:latin typeface="Calibri"/>
              </a:rPr>
              <a:t>What changes on delivered orders?</a:t>
            </a:r>
          </a:p>
        </p:txBody>
      </p:sp>
      <p:sp>
        <p:nvSpPr>
          <p:cNvPr id="43" name="Oval 4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45" name="Oval 44"/>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47" name="Oval 46"/>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49" name="Oval 48"/>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51" name="Oval 50"/>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S40  ·  45 / 76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If nobody comes back, acquisition is the only branch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customer count, and what rides on it?</a:t>
            </a:r>
          </a:p>
        </p:txBody>
      </p:sp>
      <p:sp>
        <p:nvSpPr>
          <p:cNvPr id="9" name="Rounded Rectangle 8"/>
          <p:cNvSpPr/>
          <p:nvPr/>
        </p:nvSpPr>
        <p:spPr>
          <a:xfrm>
            <a:off x="530352" y="1682496"/>
            <a:ext cx="5291175"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01472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124456"/>
            <a:ext cx="237744" cy="237744"/>
          </a:xfrm>
          <a:prstGeom prst="rect">
            <a:avLst/>
          </a:prstGeom>
        </p:spPr>
      </p:pic>
      <p:sp>
        <p:nvSpPr>
          <p:cNvPr id="12" name="TextBox 11"/>
          <p:cNvSpPr txBox="1"/>
          <p:nvPr/>
        </p:nvSpPr>
        <p:spPr>
          <a:xfrm>
            <a:off x="1399031" y="1828800"/>
            <a:ext cx="4148175"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048256"/>
            <a:ext cx="4148175" cy="682752"/>
          </a:xfrm>
          <a:prstGeom prst="rect">
            <a:avLst/>
          </a:prstGeom>
          <a:noFill/>
        </p:spPr>
        <p:txBody>
          <a:bodyPr wrap="square" anchor="t" lIns="0" rIns="0" tIns="0" bIns="0">
            <a:spAutoFit/>
          </a:bodyPr>
          <a:lstStyle/>
          <a:p>
            <a:r>
              <a:rPr sz="1500" b="0" i="0">
                <a:solidFill>
                  <a:srgbClr val="FFFFFF"/>
                </a:solidFill>
                <a:latin typeface="Calibri"/>
              </a:rPr>
              <a:t>"Is acquisition even the branch that is short?"</a:t>
            </a:r>
          </a:p>
        </p:txBody>
      </p:sp>
      <p:pic>
        <p:nvPicPr>
          <p:cNvPr id="14" name="mermaid diagram" descr="324864c13355ad43.png"/>
          <p:cNvPicPr>
            <a:picLocks noChangeAspect="1"/>
          </p:cNvPicPr>
          <p:nvPr/>
        </p:nvPicPr>
        <p:blipFill>
          <a:blip r:embed="rId6"/>
          <a:stretch>
            <a:fillRect/>
          </a:stretch>
        </p:blipFill>
        <p:spPr>
          <a:xfrm>
            <a:off x="530352" y="2968752"/>
            <a:ext cx="5291175" cy="2608843"/>
          </a:xfrm>
          <a:prstGeom prst="rect">
            <a:avLst/>
          </a:prstGeom>
        </p:spPr>
      </p:pic>
      <p:graphicFrame>
        <p:nvGraphicFramePr>
          <p:cNvPr id="15" name="Table 14"/>
          <p:cNvGraphicFramePr>
            <a:graphicFrameLocks noGrp="1"/>
          </p:cNvGraphicFramePr>
          <p:nvPr/>
        </p:nvGraphicFramePr>
        <p:xfrm>
          <a:off x="6370167" y="1682496"/>
          <a:ext cx="5291174" cy="2802128"/>
        </p:xfrm>
        <a:graphic>
          <a:graphicData uri="http://schemas.openxmlformats.org/drawingml/2006/table">
            <a:tbl>
              <a:tblPr firstRow="0" bandRow="0">
                <a:tableStyleId>{2D5ABB26-0587-4C30-8999-92F81FD0307C}</a:tableStyleId>
              </a:tblPr>
              <a:tblGrid>
                <a:gridCol w="2581132"/>
                <a:gridCol w="2710042"/>
              </a:tblGrid>
              <a:tr h="1095248">
                <a:tc>
                  <a:txBody>
                    <a:bodyPr/>
                    <a:lstStyle/>
                    <a:p>
                      <a:r>
                        <a:rPr sz="1450" b="1" i="0">
                          <a:solidFill>
                            <a:srgbClr val="FFFFFF"/>
                          </a:solidFill>
                          <a:latin typeface="Calibri"/>
                        </a:rPr>
                        <a:t>The metric at stake</a:t>
                      </a:r>
                    </a:p>
                  </a:txBody>
                  <a:tcPr marL="101600" marR="101600" marT="38100" marB="38100" anchor="ctr">
                    <a:solidFill>
                      <a:srgbClr val="1A0F5C"/>
                    </a:solidFill>
                  </a:tcPr>
                </a:tc>
                <a:tc>
                  <a:txBody>
                    <a:bodyPr/>
                    <a:lstStyle/>
                    <a:p>
                      <a:r>
                        <a:rPr sz="1450" b="1" i="0">
                          <a:solidFill>
                            <a:srgbClr val="FFFFFF"/>
                          </a:solidFill>
                          <a:latin typeface="Calibri"/>
                        </a:rPr>
                        <a:t>Customers are counted, and orders per customer is orders over customers in the window.</a:t>
                      </a:r>
                    </a:p>
                  </a:txBody>
                  <a:tcPr marL="101600" marR="101600" marT="38100" marB="38100" anchor="ctr">
                    <a:solidFill>
                      <a:srgbClr val="1A0F5C"/>
                    </a:solidFill>
                  </a:tcPr>
                </a:tc>
              </a:tr>
              <a:tr h="853440">
                <a:tc>
                  <a:txBody>
                    <a:bodyPr/>
                    <a:lstStyle/>
                    <a:p>
                      <a:r>
                        <a:rPr sz="1400" b="0" i="0">
                          <a:solidFill>
                            <a:srgbClr val="1A1440"/>
                          </a:solidFill>
                          <a:latin typeface="Calibri"/>
                        </a:rPr>
                        <a:t>Who asks</a:t>
                      </a:r>
                    </a:p>
                  </a:txBody>
                  <a:tcPr marL="101600" marR="101600" marT="38100" marB="38100" anchor="ctr">
                    <a:solidFill>
                      <a:srgbClr val="FFFFFF"/>
                    </a:solidFill>
                  </a:tcPr>
                </a:tc>
                <a:tc>
                  <a:txBody>
                    <a:bodyPr/>
                    <a:lstStyle/>
                    <a:p>
                      <a:r>
                        <a:rPr sz="1400" b="0" i="0">
                          <a:solidFill>
                            <a:srgbClr val="1A1440"/>
                          </a:solidFill>
                          <a:latin typeface="Calibri"/>
                        </a:rPr>
                        <a:t>Meera asks, with the marketing lead and the head of Retail-Plus.</a:t>
                      </a:r>
                    </a:p>
                  </a:txBody>
                  <a:tcPr marL="101600" marR="101600" marT="38100" marB="38100" anchor="ctr">
                    <a:solidFill>
                      <a:srgbClr val="FFFFFF"/>
                    </a:solidFill>
                  </a:tcPr>
                </a:tc>
              </a:tr>
              <a:tr h="853440">
                <a:tc>
                  <a:txBody>
                    <a:bodyPr/>
                    <a:lstStyle/>
                    <a:p>
                      <a:r>
                        <a:rPr sz="1400" b="0" i="0">
                          <a:solidFill>
                            <a:srgbClr val="1A1440"/>
                          </a:solidFill>
                          <a:latin typeface="Calibri"/>
                        </a:rPr>
                        <a:t>What a wrong number costs</a:t>
                      </a:r>
                    </a:p>
                  </a:txBody>
                  <a:tcPr marL="101600" marR="101600" marT="38100" marB="38100" anchor="ctr">
                    <a:solidFill>
                      <a:srgbClr val="F4F2FA"/>
                    </a:solidFill>
                  </a:tcPr>
                </a:tc>
                <a:tc>
                  <a:txBody>
                    <a:bodyPr/>
                    <a:lstStyle/>
                    <a:p>
                      <a:r>
                        <a:rPr sz="1400" b="0" i="0">
                          <a:solidFill>
                            <a:srgbClr val="1A1440"/>
                          </a:solidFill>
                          <a:latin typeface="Calibri"/>
                        </a:rPr>
                        <a:t>"Nobody comes back" makes Rs 12 crore look like the only way to grow.</a:t>
                      </a:r>
                    </a:p>
                  </a:txBody>
                  <a:tcPr marL="101600" marR="101600" marT="38100" marB="38100" anchor="ctr">
                    <a:solidFill>
                      <a:srgbClr val="F4F2FA"/>
                    </a:solidFill>
                  </a:tcPr>
                </a:tc>
              </a:tr>
            </a:tbl>
          </a:graphicData>
        </a:graphic>
      </p:graphicFrame>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8" name="Oval 17"/>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0" name="Oval 19"/>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2" name="Oval 21"/>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24" name="Oval 23"/>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S41  ·  46 / 76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Reliance counts 396 million registered customers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customers does a real retailer count?</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396 million</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REGISTERED CUSTOMERS</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Reliance Retail, 30 June 2026</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20,169</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STORES</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the same date</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Source: Reliance Industries media release, 17 July 2026. A registered customer is a denominator of its own: divide a quarter's orders by it and you get a smaller metric than orders per customer who ordered.</a:t>
            </a:r>
          </a:p>
        </p:txBody>
      </p:sp>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0" name="Oval 19"/>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2" name="Oval 21"/>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4" name="Oval 23"/>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26" name="Oval 25"/>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S42  ·  47 / 76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dictionary counts customers and repeats at once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we count customers when a row is an order?</a:t>
            </a:r>
          </a:p>
        </p:txBody>
      </p:sp>
      <p:graphicFrame>
        <p:nvGraphicFramePr>
          <p:cNvPr id="9" name="Table 8"/>
          <p:cNvGraphicFramePr>
            <a:graphicFrameLocks noGrp="1"/>
          </p:cNvGraphicFramePr>
          <p:nvPr/>
        </p:nvGraphicFramePr>
        <p:xfrm>
          <a:off x="530352" y="1956816"/>
          <a:ext cx="11130989" cy="2505456"/>
        </p:xfrm>
        <a:graphic>
          <a:graphicData uri="http://schemas.openxmlformats.org/drawingml/2006/table">
            <a:tbl>
              <a:tblPr firstRow="0" bandRow="0">
                <a:tableStyleId>{2D5ABB26-0587-4C30-8999-92F81FD0307C}</a:tableStyleId>
              </a:tblPr>
              <a:tblGrid>
                <a:gridCol w="2528514"/>
                <a:gridCol w="1257348"/>
                <a:gridCol w="4435263"/>
                <a:gridCol w="2909864"/>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Passes</a:t>
                      </a:r>
                    </a:p>
                  </a:txBody>
                  <a:tcPr marL="101600" marR="101600" marT="38100" marB="38100" anchor="ctr">
                    <a:solidFill>
                      <a:srgbClr val="1A0F5C"/>
                    </a:solidFill>
                  </a:tcPr>
                </a:tc>
                <a:tc>
                  <a:txBody>
                    <a:bodyPr/>
                    <a:lstStyle/>
                    <a:p>
                      <a:r>
                        <a:rPr sz="1250" b="1" i="0">
                          <a:solidFill>
                            <a:srgbClr val="FFFFFF"/>
                          </a:solidFill>
                          <a:latin typeface="Calibri"/>
                        </a:rPr>
                        <a:t>What it answers</a:t>
                      </a:r>
                    </a:p>
                  </a:txBody>
                  <a:tcPr marL="101600" marR="101600" marT="38100" marB="38100" anchor="ctr">
                    <a:solidFill>
                      <a:srgbClr val="1A0F5C"/>
                    </a:solidFill>
                  </a:tcPr>
                </a:tc>
                <a:tc>
                  <a:txBody>
                    <a:bodyPr/>
                    <a:lstStyle/>
                    <a:p>
                      <a:r>
                        <a:rPr sz="1250" b="1" i="0">
                          <a:solidFill>
                            <a:srgbClr val="FFFFFF"/>
                          </a:solidFill>
                          <a:latin typeface="Calibri"/>
                        </a:rPr>
                        <a:t>Error on this file</a:t>
                      </a:r>
                    </a:p>
                  </a:txBody>
                  <a:tcPr marL="101600" marR="101600" marT="38100" marB="38100" anchor="ctr">
                    <a:solidFill>
                      <a:srgbClr val="1A0F5C"/>
                    </a:solidFill>
                  </a:tcPr>
                </a:tc>
              </a:tr>
              <a:tr h="542544">
                <a:tc>
                  <a:txBody>
                    <a:bodyPr/>
                    <a:lstStyle/>
                    <a:p>
                      <a:r>
                        <a:rPr sz="1200" b="0" i="0">
                          <a:solidFill>
                            <a:srgbClr val="1A1440"/>
                          </a:solidFill>
                          <a:latin typeface="Calibri"/>
                        </a:rPr>
                        <a:t>A. len(ORDERS), the rows</a:t>
                      </a:r>
                    </a:p>
                  </a:txBody>
                  <a:tcPr marL="101600" marR="101600" marT="38100" marB="38100" anchor="ctr">
                    <a:solidFill>
                      <a:srgbClr val="FFFFFF"/>
                    </a:solidFill>
                  </a:tcPr>
                </a:tc>
                <a:tc>
                  <a:txBody>
                    <a:bodyPr/>
                    <a:lstStyle/>
                    <a:p>
                      <a:r>
                        <a:rPr sz="1200" b="0" i="0">
                          <a:solidFill>
                            <a:srgbClr val="1A1440"/>
                          </a:solidFill>
                          <a:latin typeface="Calibri"/>
                        </a:rPr>
                        <a:t>none</a:t>
                      </a:r>
                    </a:p>
                  </a:txBody>
                  <a:tcPr marL="101600" marR="101600" marT="38100" marB="38100" anchor="ctr">
                    <a:solidFill>
                      <a:srgbClr val="FFFFFF"/>
                    </a:solidFill>
                  </a:tcPr>
                </a:tc>
                <a:tc>
                  <a:txBody>
                    <a:bodyPr/>
                    <a:lstStyle/>
                    <a:p>
                      <a:r>
                        <a:rPr sz="1200" b="0" i="0">
                          <a:solidFill>
                            <a:srgbClr val="1A1440"/>
                          </a:solidFill>
                          <a:latin typeface="Calibri"/>
                        </a:rPr>
                        <a:t>It says how many orders there are.</a:t>
                      </a:r>
                    </a:p>
                  </a:txBody>
                  <a:tcPr marL="101600" marR="101600" marT="38100" marB="38100" anchor="ctr">
                    <a:solidFill>
                      <a:srgbClr val="FFFFFF"/>
                    </a:solidFill>
                  </a:tcPr>
                </a:tc>
                <a:tc>
                  <a:txBody>
                    <a:bodyPr/>
                    <a:lstStyle/>
                    <a:p>
                      <a:r>
                        <a:rPr sz="1200" b="0" i="0">
                          <a:solidFill>
                            <a:srgbClr val="1A1440"/>
                          </a:solidFill>
                          <a:latin typeface="Calibri"/>
                        </a:rPr>
                        <a:t>It counts a repeat customer once per order.</a:t>
                      </a:r>
                    </a:p>
                  </a:txBody>
                  <a:tcPr marL="101600" marR="101600" marT="38100" marB="38100" anchor="ctr">
                    <a:solidFill>
                      <a:srgbClr val="FFFFFF"/>
                    </a:solidFill>
                  </a:tcPr>
                </a:tc>
              </a:tr>
              <a:tr h="542544">
                <a:tc>
                  <a:txBody>
                    <a:bodyPr/>
                    <a:lstStyle/>
                    <a:p>
                      <a:r>
                        <a:rPr sz="1200" b="0" i="0">
                          <a:solidFill>
                            <a:srgbClr val="1A1440"/>
                          </a:solidFill>
                          <a:latin typeface="Calibri"/>
                        </a:rPr>
                        <a:t>B. len(set(ids)), distinct ids</a:t>
                      </a:r>
                    </a:p>
                  </a:txBody>
                  <a:tcPr marL="101600" marR="101600" marT="38100" marB="38100" anchor="ctr">
                    <a:solidFill>
                      <a:srgbClr val="F4F2FA"/>
                    </a:solidFill>
                  </a:tcPr>
                </a:tc>
                <a:tc>
                  <a:txBody>
                    <a:bodyPr/>
                    <a:lstStyle/>
                    <a:p>
                      <a:r>
                        <a:rPr sz="1200" b="0" i="0">
                          <a:solidFill>
                            <a:srgbClr val="1A1440"/>
                          </a:solidFill>
                          <a:latin typeface="Calibri"/>
                        </a:rPr>
                        <a:t>one</a:t>
                      </a:r>
                    </a:p>
                  </a:txBody>
                  <a:tcPr marL="101600" marR="101600" marT="38100" marB="38100" anchor="ctr">
                    <a:solidFill>
                      <a:srgbClr val="F4F2FA"/>
                    </a:solidFill>
                  </a:tcPr>
                </a:tc>
                <a:tc>
                  <a:txBody>
                    <a:bodyPr/>
                    <a:lstStyle/>
                    <a:p>
                      <a:r>
                        <a:rPr sz="1200" b="0" i="0">
                          <a:solidFill>
                            <a:srgbClr val="1A1440"/>
                          </a:solidFill>
                          <a:latin typeface="Calibri"/>
                        </a:rPr>
                        <a:t>It says how many customers there are.</a:t>
                      </a:r>
                    </a:p>
                  </a:txBody>
                  <a:tcPr marL="101600" marR="101600" marT="38100" marB="38100" anchor="ctr">
                    <a:solidFill>
                      <a:srgbClr val="F4F2FA"/>
                    </a:solidFill>
                  </a:tcPr>
                </a:tc>
                <a:tc>
                  <a:txBody>
                    <a:bodyPr/>
                    <a:lstStyle/>
                    <a:p>
                      <a:r>
                        <a:rPr sz="1200" b="0" i="0">
                          <a:solidFill>
                            <a:srgbClr val="1A1440"/>
                          </a:solidFill>
                          <a:latin typeface="Calibri"/>
                        </a:rPr>
                        <a:t>It says nothing about who came back.</a:t>
                      </a:r>
                    </a:p>
                  </a:txBody>
                  <a:tcPr marL="101600" marR="101600" marT="38100" marB="38100" anchor="ctr">
                    <a:solidFill>
                      <a:srgbClr val="F4F2FA"/>
                    </a:solidFill>
                  </a:tcPr>
                </a:tc>
              </a:tr>
              <a:tr h="542544">
                <a:tc>
                  <a:txBody>
                    <a:bodyPr/>
                    <a:lstStyle/>
                    <a:p>
                      <a:r>
                        <a:rPr sz="1200" b="0" i="0">
                          <a:solidFill>
                            <a:srgbClr val="1A1440"/>
                          </a:solidFill>
                          <a:latin typeface="Calibri"/>
                        </a:rPr>
                        <a:t>C. A dictionary of orders per id</a:t>
                      </a:r>
                    </a:p>
                  </a:txBody>
                  <a:tcPr marL="101600" marR="101600" marT="38100" marB="38100" anchor="ctr">
                    <a:solidFill>
                      <a:srgbClr val="FFFFFF"/>
                    </a:solidFill>
                  </a:tcPr>
                </a:tc>
                <a:tc>
                  <a:txBody>
                    <a:bodyPr/>
                    <a:lstStyle/>
                    <a:p>
                      <a:r>
                        <a:rPr sz="1200" b="0" i="0">
                          <a:solidFill>
                            <a:srgbClr val="1A1440"/>
                          </a:solidFill>
                          <a:latin typeface="Calibri"/>
                        </a:rPr>
                        <a:t>one</a:t>
                      </a:r>
                    </a:p>
                  </a:txBody>
                  <a:tcPr marL="101600" marR="101600" marT="38100" marB="38100" anchor="ctr">
                    <a:solidFill>
                      <a:srgbClr val="FFFFFF"/>
                    </a:solidFill>
                  </a:tcPr>
                </a:tc>
                <a:tc>
                  <a:txBody>
                    <a:bodyPr/>
                    <a:lstStyle/>
                    <a:p>
                      <a:r>
                        <a:rPr sz="1200" b="0" i="0">
                          <a:solidFill>
                            <a:srgbClr val="1A1440"/>
                          </a:solidFill>
                          <a:latin typeface="Calibri"/>
                        </a:rPr>
                        <a:t>It says how many customers, how many orders each and who came back.</a:t>
                      </a:r>
                    </a:p>
                  </a:txBody>
                  <a:tcPr marL="101600" marR="101600" marT="38100" marB="38100" anchor="ctr">
                    <a:solidFill>
                      <a:srgbClr val="FFFFFF"/>
                    </a:solidFill>
                  </a:tcPr>
                </a:tc>
                <a:tc>
                  <a:txBody>
                    <a:bodyPr/>
                    <a:lstStyle/>
                    <a:p>
                      <a:r>
                        <a:rPr sz="1200" b="0" i="0">
                          <a:solidFill>
                            <a:srgbClr val="1A1440"/>
                          </a:solidFill>
                          <a:latin typeface="Calibri"/>
                        </a:rPr>
                        <a:t>It has none on this file.</a:t>
                      </a:r>
                    </a:p>
                  </a:txBody>
                  <a:tcPr marL="101600" marR="101600" marT="38100" marB="38100" anchor="ctr">
                    <a:solidFill>
                      <a:srgbClr val="FFFFFF"/>
                    </a:solidFill>
                  </a:tcPr>
                </a:tc>
              </a:tr>
              <a:tr h="542544">
                <a:tc>
                  <a:txBody>
                    <a:bodyPr/>
                    <a:lstStyle/>
                    <a:p>
                      <a:r>
                        <a:rPr sz="1200" b="0" i="0">
                          <a:solidFill>
                            <a:srgbClr val="1A1440"/>
                          </a:solidFill>
                          <a:latin typeface="Calibri"/>
                        </a:rPr>
                        <a:t>D. Sort the ids and count the changes</a:t>
                      </a:r>
                    </a:p>
                  </a:txBody>
                  <a:tcPr marL="101600" marR="101600" marT="38100" marB="38100" anchor="ctr">
                    <a:solidFill>
                      <a:srgbClr val="F4F2FA"/>
                    </a:solidFill>
                  </a:tcPr>
                </a:tc>
                <a:tc>
                  <a:txBody>
                    <a:bodyPr/>
                    <a:lstStyle/>
                    <a:p>
                      <a:r>
                        <a:rPr sz="1200" b="0" i="0">
                          <a:solidFill>
                            <a:srgbClr val="1A1440"/>
                          </a:solidFill>
                          <a:latin typeface="Calibri"/>
                        </a:rPr>
                        <a:t>a sort and a pass</a:t>
                      </a:r>
                    </a:p>
                  </a:txBody>
                  <a:tcPr marL="101600" marR="101600" marT="38100" marB="38100" anchor="ctr">
                    <a:solidFill>
                      <a:srgbClr val="F4F2FA"/>
                    </a:solidFill>
                  </a:tcPr>
                </a:tc>
                <a:tc>
                  <a:txBody>
                    <a:bodyPr/>
                    <a:lstStyle/>
                    <a:p>
                      <a:r>
                        <a:rPr sz="1200" b="0" i="0">
                          <a:solidFill>
                            <a:srgbClr val="1A1440"/>
                          </a:solidFill>
                          <a:latin typeface="Calibri"/>
                        </a:rPr>
                        <a:t>It says how many customers there are.</a:t>
                      </a:r>
                    </a:p>
                  </a:txBody>
                  <a:tcPr marL="101600" marR="101600" marT="38100" marB="38100" anchor="ctr">
                    <a:solidFill>
                      <a:srgbClr val="F4F2FA"/>
                    </a:solidFill>
                  </a:tcPr>
                </a:tc>
                <a:tc>
                  <a:txBody>
                    <a:bodyPr/>
                    <a:lstStyle/>
                    <a:p>
                      <a:r>
                        <a:rPr sz="1200" b="0" i="0">
                          <a:solidFill>
                            <a:srgbClr val="1A1440"/>
                          </a:solidFill>
                          <a:latin typeface="Calibri"/>
                        </a:rPr>
                        <a:t>It is easy to miscount by hand.</a:t>
                      </a:r>
                    </a:p>
                  </a:txBody>
                  <a:tcPr marL="101600" marR="101600" marT="38100" marB="38100" anchor="ctr">
                    <a:solidFill>
                      <a:srgbClr val="F4F2FA"/>
                    </a:solidFill>
                  </a:tcPr>
                </a:tc>
              </a:tr>
            </a:tbl>
          </a:graphicData>
        </a:graphic>
      </p:graphicFrame>
      <p:sp>
        <p:nvSpPr>
          <p:cNvPr id="10" name="Rounded Rectangle 9"/>
          <p:cNvSpPr/>
          <p:nvPr/>
        </p:nvSpPr>
        <p:spPr>
          <a:xfrm>
            <a:off x="530352" y="4718304"/>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505053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5160264"/>
            <a:ext cx="237744" cy="237744"/>
          </a:xfrm>
          <a:prstGeom prst="rect">
            <a:avLst/>
          </a:prstGeom>
        </p:spPr>
      </p:pic>
      <p:sp>
        <p:nvSpPr>
          <p:cNvPr id="13" name="TextBox 12"/>
          <p:cNvSpPr txBox="1"/>
          <p:nvPr/>
        </p:nvSpPr>
        <p:spPr>
          <a:xfrm>
            <a:off x="1399031" y="486460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5084064"/>
            <a:ext cx="9987991" cy="682752"/>
          </a:xfrm>
          <a:prstGeom prst="rect">
            <a:avLst/>
          </a:prstGeom>
          <a:noFill/>
        </p:spPr>
        <p:txBody>
          <a:bodyPr wrap="square" anchor="t" lIns="0" rIns="0" tIns="0" bIns="0">
            <a:spAutoFit/>
          </a:bodyPr>
          <a:lstStyle/>
          <a:p>
            <a:r>
              <a:rPr sz="1500" b="0" i="0">
                <a:solidFill>
                  <a:srgbClr val="1A1440"/>
                </a:solidFill>
                <a:latin typeface="Calibri"/>
              </a:rPr>
              <a:t>C is the best fit, since one pass fills both customer branches and names the repeat buyers. At millions of rows the count becomes one COUNT(DISTINCT customer_id) in the warehouse, which Week 2 teaches.</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7" name="Oval 16"/>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9" name="Oval 18"/>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1" name="Oval 20"/>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23" name="Oval 22"/>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S43  ·  48 / 76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row is an order, and one person can place several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can one customer leave several rows in the file?</a:t>
            </a:r>
          </a:p>
        </p:txBody>
      </p:sp>
      <p:pic>
        <p:nvPicPr>
          <p:cNvPr id="9" name="mermaid diagram" descr="995ad796a7a9b998.png"/>
          <p:cNvPicPr>
            <a:picLocks noChangeAspect="1"/>
          </p:cNvPicPr>
          <p:nvPr/>
        </p:nvPicPr>
        <p:blipFill>
          <a:blip r:embed="rId5"/>
          <a:stretch>
            <a:fillRect/>
          </a:stretch>
        </p:blipFill>
        <p:spPr>
          <a:xfrm>
            <a:off x="2152497" y="1874488"/>
            <a:ext cx="7886700" cy="3214687"/>
          </a:xfrm>
          <a:prstGeom prst="rect">
            <a:avLst/>
          </a:prstGeom>
        </p:spPr>
      </p:pic>
      <p:sp>
        <p:nvSpPr>
          <p:cNvPr id="10" name="TextBox 9"/>
          <p:cNvSpPr txBox="1"/>
          <p:nvPr/>
        </p:nvSpPr>
        <p:spPr>
          <a:xfrm>
            <a:off x="530352" y="5235479"/>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On three invented rows, customer A ordered twice, so three orders come from two people and orders per customer is 1.5.</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S44  ·  49 / 76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dictionary keyed by customer id counts orders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one pass count each customer's orders?</a:t>
            </a:r>
          </a:p>
        </p:txBody>
      </p:sp>
      <p:sp>
        <p:nvSpPr>
          <p:cNvPr id="9" name="Rounded Rectangle 8"/>
          <p:cNvSpPr/>
          <p:nvPr/>
        </p:nvSpPr>
        <p:spPr>
          <a:xfrm>
            <a:off x="530352" y="1956816"/>
            <a:ext cx="11130991" cy="1972055"/>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569719"/>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counts = {}</a:t>
            </a:r>
          </a:p>
          <a:p>
            <a:pPr>
              <a:spcAft>
                <a:spcPts val="200"/>
              </a:spcAft>
            </a:pPr>
            <a:r>
              <a:rPr sz="1400" b="0" i="0">
                <a:solidFill>
                  <a:srgbClr val="E4E1F1"/>
                </a:solidFill>
                <a:latin typeface="Consolas"/>
              </a:rPr>
              <a:t>for order in ORDERS:</a:t>
            </a:r>
          </a:p>
          <a:p>
            <a:pPr>
              <a:spcAft>
                <a:spcPts val="200"/>
              </a:spcAft>
            </a:pPr>
            <a:r>
              <a:rPr sz="1400" b="0" i="0">
                <a:solidFill>
                  <a:srgbClr val="E4E1F1"/>
                </a:solidFill>
                <a:latin typeface="Consolas"/>
              </a:rPr>
              <a:t>    cid = order["customer_id"]</a:t>
            </a:r>
          </a:p>
          <a:p>
            <a:pPr>
              <a:spcAft>
                <a:spcPts val="200"/>
              </a:spcAft>
            </a:pPr>
            <a:r>
              <a:rPr sz="1400" b="0" i="0">
                <a:solidFill>
                  <a:srgbClr val="E4E1F1"/>
                </a:solidFill>
                <a:latin typeface="Consolas"/>
              </a:rPr>
              <a:t>    counts[cid] = counts.get(cid, 0) + 1</a:t>
            </a:r>
          </a:p>
          <a:p>
            <a:pPr>
              <a:spcAft>
                <a:spcPts val="200"/>
              </a:spcAft>
            </a:pPr>
            <a:r>
              <a:rPr sz="1400" b="0" i="0">
                <a:solidFill>
                  <a:srgbClr val="E4E1F1"/>
                </a:solidFill>
                <a:latin typeface="Consolas"/>
              </a:rPr>
              <a:t>customers = len(counts)</a:t>
            </a:r>
          </a:p>
          <a:p>
            <a:pPr>
              <a:spcAft>
                <a:spcPts val="200"/>
              </a:spcAft>
            </a:pPr>
            <a:r>
              <a:rPr sz="1400" b="0" i="0">
                <a:solidFill>
                  <a:srgbClr val="E4E1F1"/>
                </a:solidFill>
                <a:latin typeface="Consolas"/>
              </a:rPr>
              <a:t>once = sum(1 for n in counts.values() if n == 1)</a:t>
            </a:r>
          </a:p>
        </p:txBody>
      </p:sp>
      <p:sp>
        <p:nvSpPr>
          <p:cNvPr id="14" name="TextBox 13"/>
          <p:cNvSpPr txBox="1"/>
          <p:nvPr/>
        </p:nvSpPr>
        <p:spPr>
          <a:xfrm>
            <a:off x="530352" y="4093463"/>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customer id is the key and the count of that customer's orders is the value, so counts.get(cid, 0) starts each new customer at zero.</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7" name="Oval 16"/>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9" name="Oval 18"/>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1" name="Oval 20"/>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23" name="Oval 22"/>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S45  ·  50 / 76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How many customers bought more than once?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dictionary holds each customer's order count, so how many counts are above one?</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None, since orders per customer is close to 1.</a:t>
            </a:r>
          </a:p>
          <a:p>
            <a:pPr>
              <a:spcAft>
                <a:spcPts val="800"/>
              </a:spcAft>
            </a:pPr>
            <a:r>
              <a:rPr sz="1600" b="0" i="0">
                <a:solidFill>
                  <a:srgbClr val="1A1440"/>
                </a:solidFill>
                <a:latin typeface="Calibri"/>
              </a:rPr>
              <a:t>b) 7, the gap between 30 orders and 23 customers.</a:t>
            </a:r>
          </a:p>
          <a:p>
            <a:pPr>
              <a:spcAft>
                <a:spcPts val="800"/>
              </a:spcAft>
            </a:pPr>
            <a:r>
              <a:rPr sz="1600" b="0" i="0">
                <a:solidFill>
                  <a:srgbClr val="1A1440"/>
                </a:solidFill>
                <a:latin typeface="Calibri"/>
              </a:rPr>
              <a:t>c) 16, the customers who are not new.</a:t>
            </a:r>
          </a:p>
          <a:p>
            <a:pPr>
              <a:spcAft>
                <a:spcPts val="800"/>
              </a:spcAft>
            </a:pPr>
            <a:r>
              <a:rPr sz="1600" b="0" i="0">
                <a:solidFill>
                  <a:srgbClr val="1A1440"/>
                </a:solidFill>
                <a:latin typeface="Calibri"/>
              </a:rPr>
              <a:t>d) 23, since the rate is above 1.</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2" name="Oval 11"/>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4" name="Oval 13"/>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6" name="Oval 15"/>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18" name="Oval 17"/>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S46  ·  51 / 76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7 of Kalpa's 23 customers came back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customers does Kalpa have, and how many came back?</a:t>
            </a:r>
          </a:p>
        </p:txBody>
      </p:sp>
      <p:pic>
        <p:nvPicPr>
          <p:cNvPr id="9" name="mermaid diagram" descr="4404402cbd5eef5f.png"/>
          <p:cNvPicPr>
            <a:picLocks noChangeAspect="1"/>
          </p:cNvPicPr>
          <p:nvPr/>
        </p:nvPicPr>
        <p:blipFill>
          <a:blip r:embed="rId5"/>
          <a:stretch>
            <a:fillRect/>
          </a:stretch>
        </p:blipFill>
        <p:spPr>
          <a:xfrm>
            <a:off x="2286863" y="1664208"/>
            <a:ext cx="7617968"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23 customers placed 30 orders, 1.30 each; 16 bought once and 7 came back. Orders less customers equals the repeat buyers here only because nobody bought three times.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S47  ·  52 / 76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Check: the counts add to 30 and the tree lands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 the counts add back to 30, and does the tree multiply back to revenue?</a:t>
            </a:r>
          </a:p>
        </p:txBody>
      </p:sp>
      <p:pic>
        <p:nvPicPr>
          <p:cNvPr id="9" name="mermaid diagram" descr="3e7a8d9c59ec9a68.png"/>
          <p:cNvPicPr>
            <a:picLocks noChangeAspect="1"/>
          </p:cNvPicPr>
          <p:nvPr/>
        </p:nvPicPr>
        <p:blipFill>
          <a:blip r:embed="rId5"/>
          <a:stretch>
            <a:fillRect/>
          </a:stretch>
        </p:blipFill>
        <p:spPr>
          <a:xfrm>
            <a:off x="2152497" y="1956816"/>
            <a:ext cx="7886700" cy="3043237"/>
          </a:xfrm>
          <a:prstGeom prst="rect">
            <a:avLst/>
          </a:prstGeom>
        </p:spPr>
      </p:pic>
      <p:sp>
        <p:nvSpPr>
          <p:cNvPr id="10" name="TextBox 9"/>
          <p:cNvSpPr txBox="1"/>
          <p:nvPr/>
        </p:nvSpPr>
        <p:spPr>
          <a:xfrm>
            <a:off x="530352" y="5146357"/>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23 counts add back to 30 orders, and 23 x (30 / 23) x (Rs 5,44,810 / 30) lands exactly on Rs 5,44,810.</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19" name="Oval 18"/>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S48  ·  53 / 76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draft counts 30 customers at 1.00 order each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goes wrong if every row is counted as a customer?</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The plausible wrong answer. </a:t>
            </a:r>
            <a:r>
              <a:rPr sz="1500" b="0" i="0">
                <a:solidFill>
                  <a:srgbClr val="1A1440"/>
                </a:solidFill>
                <a:latin typeface="Calibri"/>
              </a:rPr>
              <a:t>A colleague's first draft to Meera reads: "30 customers placed 30 orders: 1.00 each, so nobody comes back."</a:t>
            </a:r>
          </a:p>
        </p:txBody>
      </p:sp>
      <p:pic>
        <p:nvPicPr>
          <p:cNvPr id="12" name="mermaid diagram" descr="ad7d7c8718461cdd.png"/>
          <p:cNvPicPr>
            <a:picLocks noChangeAspect="1"/>
          </p:cNvPicPr>
          <p:nvPr/>
        </p:nvPicPr>
        <p:blipFill>
          <a:blip r:embed="rId5"/>
          <a:stretch>
            <a:fillRect/>
          </a:stretch>
        </p:blipFill>
        <p:spPr>
          <a:xfrm>
            <a:off x="2152497" y="2929128"/>
            <a:ext cx="7886700" cy="1600200"/>
          </a:xfrm>
          <a:prstGeom prst="rect">
            <a:avLst/>
          </a:prstGeom>
        </p:spPr>
      </p:pic>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5" name="Oval 14"/>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7" name="Oval 16"/>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9" name="Oval 18"/>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21" name="Oval 20"/>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S49  ·  54 / 76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id column holds 30 rows and 23 distinct ids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check tells rows apart from customers?</a:t>
            </a:r>
          </a:p>
        </p:txBody>
      </p:sp>
      <p:sp>
        <p:nvSpPr>
          <p:cNvPr id="9" name="Rounded Rectangle 8"/>
          <p:cNvSpPr/>
          <p:nvPr/>
        </p:nvSpPr>
        <p:spPr>
          <a:xfrm>
            <a:off x="530352" y="1682496"/>
            <a:ext cx="11130991" cy="469899"/>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810512"/>
            <a:ext cx="45720" cy="213867"/>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801368"/>
            <a:ext cx="10564063" cy="287019"/>
          </a:xfrm>
          <a:prstGeom prst="rect">
            <a:avLst/>
          </a:prstGeom>
          <a:noFill/>
        </p:spPr>
        <p:txBody>
          <a:bodyPr wrap="square" anchor="ctr" lIns="0" rIns="0" tIns="0" bIns="0">
            <a:spAutoFit/>
          </a:bodyPr>
          <a:lstStyle/>
          <a:p>
            <a:r>
              <a:rPr sz="1100" b="1">
                <a:solidFill>
                  <a:srgbClr val="5B3FD6"/>
                </a:solidFill>
                <a:latin typeface="Calibri"/>
              </a:rPr>
              <a:t>Why it is wrong. </a:t>
            </a:r>
            <a:r>
              <a:rPr sz="1100" b="0" i="0">
                <a:solidFill>
                  <a:srgbClr val="1A1440"/>
                </a:solidFill>
                <a:latin typeface="Calibri"/>
              </a:rPr>
              <a:t>The division is correct and its denominator is wrong: a row is an order, and one customer can place several.</a:t>
            </a:r>
          </a:p>
        </p:txBody>
      </p:sp>
      <p:sp>
        <p:nvSpPr>
          <p:cNvPr id="12" name="Rounded Rectangle 11"/>
          <p:cNvSpPr/>
          <p:nvPr/>
        </p:nvSpPr>
        <p:spPr>
          <a:xfrm>
            <a:off x="530352" y="2316988"/>
            <a:ext cx="11130991" cy="817879"/>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713232" y="2445004"/>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868680" y="2445004"/>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1024128" y="2445004"/>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04671" y="2646172"/>
            <a:ext cx="10673791" cy="415543"/>
          </a:xfrm>
          <a:prstGeom prst="rect">
            <a:avLst/>
          </a:prstGeom>
          <a:noFill/>
        </p:spPr>
        <p:txBody>
          <a:bodyPr wrap="square" anchor="t" lIns="0" rIns="0" tIns="0" bIns="0">
            <a:spAutoFit/>
          </a:bodyPr>
          <a:lstStyle/>
          <a:p>
            <a:pPr>
              <a:spcAft>
                <a:spcPts val="200"/>
              </a:spcAft>
            </a:pPr>
            <a:r>
              <a:rPr sz="1000" b="0" i="0">
                <a:solidFill>
                  <a:srgbClr val="E4E1F1"/>
                </a:solidFill>
                <a:latin typeface="Consolas"/>
              </a:rPr>
              <a:t>ids = [order["customer_id"] for order in ORDERS]</a:t>
            </a:r>
          </a:p>
          <a:p>
            <a:pPr>
              <a:spcAft>
                <a:spcPts val="200"/>
              </a:spcAft>
            </a:pPr>
            <a:r>
              <a:rPr sz="1000" b="0" i="0">
                <a:solidFill>
                  <a:srgbClr val="E4E1F1"/>
                </a:solidFill>
                <a:latin typeface="Consolas"/>
              </a:rPr>
              <a:t>len(ids), len(set(ids))        # (30, 23)</a:t>
            </a:r>
          </a:p>
        </p:txBody>
      </p:sp>
      <p:pic>
        <p:nvPicPr>
          <p:cNvPr id="17" name="mermaid diagram" descr="7ccc89ba58af027e.png"/>
          <p:cNvPicPr>
            <a:picLocks noChangeAspect="1"/>
          </p:cNvPicPr>
          <p:nvPr/>
        </p:nvPicPr>
        <p:blipFill>
          <a:blip r:embed="rId5"/>
          <a:stretch>
            <a:fillRect/>
          </a:stretch>
        </p:blipFill>
        <p:spPr>
          <a:xfrm>
            <a:off x="3195675" y="3299460"/>
            <a:ext cx="5800344" cy="2900172"/>
          </a:xfrm>
          <a:prstGeom prst="rect">
            <a:avLst/>
          </a:prstGeom>
        </p:spPr>
      </p:pic>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0" name="Oval 19"/>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2" name="Oval 21"/>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4" name="Oval 23"/>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26" name="Oval 25"/>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S50  ·  55 / 76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Fixed: 30 / 23 = 1.30 orders, and 7 came back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dividing by distinct customers change?</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23</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CUSTOMERS</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distinct ids</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1.30</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ORDERS PER CUSTOMER</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30 / 23</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7</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CAME BACK</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16 bought once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draft's 1.00 goes nowhere, 7 returning customers are visible again, and "nobody comes back" leaves the case for the Rs 12 crore.</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4" name="Oval 23"/>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6" name="Oval 25"/>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8" name="Oval 27"/>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30" name="Oval 29"/>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S51  ·  56 / 76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mean of the 23 counts is the same 1.30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the mean of the counts agree with orders over customers?</a:t>
            </a:r>
          </a:p>
        </p:txBody>
      </p:sp>
      <p:sp>
        <p:nvSpPr>
          <p:cNvPr id="9" name="Rounded Rectangle 8"/>
          <p:cNvSpPr/>
          <p:nvPr/>
        </p:nvSpPr>
        <p:spPr>
          <a:xfrm>
            <a:off x="530352" y="1956816"/>
            <a:ext cx="11130991" cy="709676"/>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307340"/>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second_route = sum(counts.values()) / len(counts)   # 1.30, the same rate</a:t>
            </a:r>
          </a:p>
        </p:txBody>
      </p:sp>
      <p:sp>
        <p:nvSpPr>
          <p:cNvPr id="14" name="Rounded Rectangle 13"/>
          <p:cNvSpPr/>
          <p:nvPr/>
        </p:nvSpPr>
        <p:spPr>
          <a:xfrm>
            <a:off x="530352" y="2831084"/>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58952" y="329285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list-checks_bd88901d2a37.png"/>
          <p:cNvPicPr>
            <a:picLocks noChangeAspect="1"/>
          </p:cNvPicPr>
          <p:nvPr/>
        </p:nvPicPr>
        <p:blipFill>
          <a:blip r:embed="rId4"/>
          <a:stretch>
            <a:fillRect/>
          </a:stretch>
        </p:blipFill>
        <p:spPr>
          <a:xfrm>
            <a:off x="868680" y="3402584"/>
            <a:ext cx="237744" cy="237744"/>
          </a:xfrm>
          <a:prstGeom prst="rect">
            <a:avLst/>
          </a:prstGeom>
        </p:spPr>
      </p:pic>
      <p:sp>
        <p:nvSpPr>
          <p:cNvPr id="17" name="TextBox 16"/>
          <p:cNvSpPr txBox="1"/>
          <p:nvPr/>
        </p:nvSpPr>
        <p:spPr>
          <a:xfrm>
            <a:off x="1399031" y="297738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8" name="TextBox 17"/>
          <p:cNvSpPr txBox="1"/>
          <p:nvPr/>
        </p:nvSpPr>
        <p:spPr>
          <a:xfrm>
            <a:off x="1399031" y="3196844"/>
            <a:ext cx="9987991" cy="941832"/>
          </a:xfrm>
          <a:prstGeom prst="rect">
            <a:avLst/>
          </a:prstGeom>
          <a:noFill/>
        </p:spPr>
        <p:txBody>
          <a:bodyPr wrap="square" anchor="t" lIns="0" rIns="0" tIns="0" bIns="0">
            <a:spAutoFit/>
          </a:bodyPr>
          <a:lstStyle/>
          <a:p>
            <a:r>
              <a:rPr sz="1500" b="0" i="0">
                <a:solidFill>
                  <a:srgbClr val="1A1440"/>
                </a:solidFill>
                <a:latin typeface="Calibri"/>
              </a:rPr>
              <a:t>The ratio needs two counts, which a report holds; the counts need the rows and also show the spread, 16 customers at one order and 7 at two, which the ratio hides. Use the counts whenever someone will ask how many came back.</a:t>
            </a:r>
          </a:p>
        </p:txBody>
      </p:sp>
      <p:sp>
        <p:nvSpPr>
          <p:cNvPr id="19" name="Oval 1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1" name="Oval 20"/>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3" name="Oval 22"/>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5" name="Oval 24"/>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27" name="Oval 26"/>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S52  ·  57 / 76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On delivered orders: 19 customers, 1.11 each</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changes when only delivered orders count?</a:t>
            </a:r>
          </a:p>
        </p:txBody>
      </p:sp>
      <p:graphicFrame>
        <p:nvGraphicFramePr>
          <p:cNvPr id="10" name="Table 9"/>
          <p:cNvGraphicFramePr>
            <a:graphicFrameLocks noGrp="1"/>
          </p:cNvGraphicFramePr>
          <p:nvPr/>
        </p:nvGraphicFramePr>
        <p:xfrm>
          <a:off x="530352" y="1682496"/>
          <a:ext cx="5291175" cy="1849120"/>
        </p:xfrm>
        <a:graphic>
          <a:graphicData uri="http://schemas.openxmlformats.org/drawingml/2006/table">
            <a:tbl>
              <a:tblPr firstRow="0" bandRow="0">
                <a:tableStyleId>{2D5ABB26-0587-4C30-8999-92F81FD0307C}</a:tableStyleId>
              </a:tblPr>
              <a:tblGrid>
                <a:gridCol w="3007725"/>
                <a:gridCol w="914400"/>
                <a:gridCol w="1369050"/>
              </a:tblGrid>
              <a:tr h="369824">
                <a:tc>
                  <a:txBody>
                    <a:bodyPr/>
                    <a:lstStyle/>
                    <a:p/>
                  </a:txBody>
                  <a:tcPr marL="101600" marR="101600" marT="38100" marB="38100" anchor="ctr">
                    <a:solidFill>
                      <a:srgbClr val="1A0F5C"/>
                    </a:solidFill>
                  </a:tcPr>
                </a:tc>
                <a:tc>
                  <a:txBody>
                    <a:bodyPr/>
                    <a:lstStyle/>
                    <a:p>
                      <a:r>
                        <a:rPr sz="1450" b="1" i="0">
                          <a:solidFill>
                            <a:srgbClr val="FFFFFF"/>
                          </a:solidFill>
                          <a:latin typeface="Calibri"/>
                        </a:rPr>
                        <a:t>Booked</a:t>
                      </a:r>
                    </a:p>
                  </a:txBody>
                  <a:tcPr marL="101600" marR="101600" marT="38100" marB="38100" anchor="ctr">
                    <a:solidFill>
                      <a:srgbClr val="1A0F5C"/>
                    </a:solidFill>
                  </a:tcPr>
                </a:tc>
                <a:tc>
                  <a:txBody>
                    <a:bodyPr/>
                    <a:lstStyle/>
                    <a:p>
                      <a:r>
                        <a:rPr sz="1450" b="1" i="0">
                          <a:solidFill>
                            <a:srgbClr val="FFFFFF"/>
                          </a:solidFill>
                          <a:latin typeface="Calibri"/>
                        </a:rPr>
                        <a:t>Delivered</a:t>
                      </a:r>
                    </a:p>
                  </a:txBody>
                  <a:tcPr marL="101600" marR="101600" marT="38100" marB="38100" anchor="ctr">
                    <a:solidFill>
                      <a:srgbClr val="1A0F5C"/>
                    </a:solidFill>
                  </a:tcPr>
                </a:tc>
              </a:tr>
              <a:tr h="369824">
                <a:tc>
                  <a:txBody>
                    <a:bodyPr/>
                    <a:lstStyle/>
                    <a:p>
                      <a:r>
                        <a:rPr sz="1400" b="0" i="0">
                          <a:solidFill>
                            <a:srgbClr val="1A1440"/>
                          </a:solidFill>
                          <a:latin typeface="Calibri"/>
                        </a:rPr>
                        <a:t>Orders</a:t>
                      </a:r>
                    </a:p>
                  </a:txBody>
                  <a:tcPr marL="101600" marR="101600" marT="38100" marB="38100" anchor="ctr">
                    <a:solidFill>
                      <a:srgbClr val="FFFFFF"/>
                    </a:solidFill>
                  </a:tcPr>
                </a:tc>
                <a:tc>
                  <a:txBody>
                    <a:bodyPr/>
                    <a:lstStyle/>
                    <a:p>
                      <a:r>
                        <a:rPr sz="1400" b="0" i="0">
                          <a:solidFill>
                            <a:srgbClr val="1A1440"/>
                          </a:solidFill>
                          <a:latin typeface="Calibri"/>
                        </a:rPr>
                        <a:t>30</a:t>
                      </a:r>
                    </a:p>
                  </a:txBody>
                  <a:tcPr marL="101600" marR="101600" marT="38100" marB="38100" anchor="ctr">
                    <a:solidFill>
                      <a:srgbClr val="FFFFFF"/>
                    </a:solidFill>
                  </a:tcPr>
                </a:tc>
                <a:tc>
                  <a:txBody>
                    <a:bodyPr/>
                    <a:lstStyle/>
                    <a:p>
                      <a:r>
                        <a:rPr sz="1400" b="0" i="0">
                          <a:solidFill>
                            <a:srgbClr val="1A1440"/>
                          </a:solidFill>
                          <a:latin typeface="Calibri"/>
                        </a:rPr>
                        <a:t>21</a:t>
                      </a:r>
                    </a:p>
                  </a:txBody>
                  <a:tcPr marL="101600" marR="101600" marT="38100" marB="38100" anchor="ctr">
                    <a:solidFill>
                      <a:srgbClr val="FFFFFF"/>
                    </a:solidFill>
                  </a:tcPr>
                </a:tc>
              </a:tr>
              <a:tr h="369824">
                <a:tc>
                  <a:txBody>
                    <a:bodyPr/>
                    <a:lstStyle/>
                    <a:p>
                      <a:r>
                        <a:rPr sz="1400" b="0" i="0">
                          <a:solidFill>
                            <a:srgbClr val="1A1440"/>
                          </a:solidFill>
                          <a:latin typeface="Calibri"/>
                        </a:rPr>
                        <a:t>Customers</a:t>
                      </a:r>
                    </a:p>
                  </a:txBody>
                  <a:tcPr marL="101600" marR="101600" marT="38100" marB="38100" anchor="ctr">
                    <a:solidFill>
                      <a:srgbClr val="F4F2FA"/>
                    </a:solidFill>
                  </a:tcPr>
                </a:tc>
                <a:tc>
                  <a:txBody>
                    <a:bodyPr/>
                    <a:lstStyle/>
                    <a:p>
                      <a:r>
                        <a:rPr sz="1400" b="0" i="0">
                          <a:solidFill>
                            <a:srgbClr val="1A1440"/>
                          </a:solidFill>
                          <a:latin typeface="Calibri"/>
                        </a:rPr>
                        <a:t>23</a:t>
                      </a:r>
                    </a:p>
                  </a:txBody>
                  <a:tcPr marL="101600" marR="101600" marT="38100" marB="38100" anchor="ctr">
                    <a:solidFill>
                      <a:srgbClr val="F4F2FA"/>
                    </a:solidFill>
                  </a:tcPr>
                </a:tc>
                <a:tc>
                  <a:txBody>
                    <a:bodyPr/>
                    <a:lstStyle/>
                    <a:p>
                      <a:r>
                        <a:rPr sz="1400" b="0" i="0">
                          <a:solidFill>
                            <a:srgbClr val="1A1440"/>
                          </a:solidFill>
                          <a:latin typeface="Calibri"/>
                        </a:rPr>
                        <a:t>19</a:t>
                      </a:r>
                    </a:p>
                  </a:txBody>
                  <a:tcPr marL="101600" marR="101600" marT="38100" marB="38100" anchor="ctr">
                    <a:solidFill>
                      <a:srgbClr val="F4F2FA"/>
                    </a:solidFill>
                  </a:tcPr>
                </a:tc>
              </a:tr>
              <a:tr h="369824">
                <a:tc>
                  <a:txBody>
                    <a:bodyPr/>
                    <a:lstStyle/>
                    <a:p>
                      <a:r>
                        <a:rPr sz="1400" b="0" i="0">
                          <a:solidFill>
                            <a:srgbClr val="1A1440"/>
                          </a:solidFill>
                          <a:latin typeface="Calibri"/>
                        </a:rPr>
                        <a:t>Orders per customer</a:t>
                      </a:r>
                    </a:p>
                  </a:txBody>
                  <a:tcPr marL="101600" marR="101600" marT="38100" marB="38100" anchor="ctr">
                    <a:solidFill>
                      <a:srgbClr val="FFFFFF"/>
                    </a:solidFill>
                  </a:tcPr>
                </a:tc>
                <a:tc>
                  <a:txBody>
                    <a:bodyPr/>
                    <a:lstStyle/>
                    <a:p>
                      <a:r>
                        <a:rPr sz="1400" b="0" i="0">
                          <a:solidFill>
                            <a:srgbClr val="1A1440"/>
                          </a:solidFill>
                          <a:latin typeface="Calibri"/>
                        </a:rPr>
                        <a:t>1.30</a:t>
                      </a:r>
                    </a:p>
                  </a:txBody>
                  <a:tcPr marL="101600" marR="101600" marT="38100" marB="38100" anchor="ctr">
                    <a:solidFill>
                      <a:srgbClr val="FFFFFF"/>
                    </a:solidFill>
                  </a:tcPr>
                </a:tc>
                <a:tc>
                  <a:txBody>
                    <a:bodyPr/>
                    <a:lstStyle/>
                    <a:p>
                      <a:r>
                        <a:rPr sz="1400" b="0" i="0">
                          <a:solidFill>
                            <a:srgbClr val="1A1440"/>
                          </a:solidFill>
                          <a:latin typeface="Calibri"/>
                        </a:rPr>
                        <a:t>1.11</a:t>
                      </a:r>
                    </a:p>
                  </a:txBody>
                  <a:tcPr marL="101600" marR="101600" marT="38100" marB="38100" anchor="ctr">
                    <a:solidFill>
                      <a:srgbClr val="FFFFFF"/>
                    </a:solidFill>
                  </a:tcPr>
                </a:tc>
              </a:tr>
              <a:tr h="369824">
                <a:tc>
                  <a:txBody>
                    <a:bodyPr/>
                    <a:lstStyle/>
                    <a:p>
                      <a:r>
                        <a:rPr sz="1400" b="0" i="0">
                          <a:solidFill>
                            <a:srgbClr val="1A1440"/>
                          </a:solidFill>
                          <a:latin typeface="Calibri"/>
                        </a:rPr>
                        <a:t>Customers with two orders</a:t>
                      </a:r>
                    </a:p>
                  </a:txBody>
                  <a:tcPr marL="101600" marR="101600" marT="38100" marB="38100" anchor="ctr">
                    <a:solidFill>
                      <a:srgbClr val="F4F2FA"/>
                    </a:solidFill>
                  </a:tcPr>
                </a:tc>
                <a:tc>
                  <a:txBody>
                    <a:bodyPr/>
                    <a:lstStyle/>
                    <a:p>
                      <a:r>
                        <a:rPr sz="1400" b="0" i="0">
                          <a:solidFill>
                            <a:srgbClr val="1A1440"/>
                          </a:solidFill>
                          <a:latin typeface="Calibri"/>
                        </a:rPr>
                        <a:t>7</a:t>
                      </a:r>
                    </a:p>
                  </a:txBody>
                  <a:tcPr marL="101600" marR="101600" marT="38100" marB="38100" anchor="ctr">
                    <a:solidFill>
                      <a:srgbClr val="F4F2FA"/>
                    </a:solidFill>
                  </a:tcPr>
                </a:tc>
                <a:tc>
                  <a:txBody>
                    <a:bodyPr/>
                    <a:lstStyle/>
                    <a:p>
                      <a:r>
                        <a:rPr sz="1400" b="0" i="0">
                          <a:solidFill>
                            <a:srgbClr val="1A1440"/>
                          </a:solidFill>
                          <a:latin typeface="Calibri"/>
                        </a:rPr>
                        <a:t>2</a:t>
                      </a:r>
                    </a:p>
                  </a:txBody>
                  <a:tcPr marL="101600" marR="101600" marT="38100" marB="38100" anchor="ctr">
                    <a:solidFill>
                      <a:srgbClr val="F4F2FA"/>
                    </a:solidFill>
                  </a:tcPr>
                </a:tc>
              </a:tr>
            </a:tbl>
          </a:graphicData>
        </a:graphic>
      </p:graphicFrame>
      <p:pic>
        <p:nvPicPr>
          <p:cNvPr id="11" name="mermaid diagram" descr="b37757a988f2ad8b.png"/>
          <p:cNvPicPr>
            <a:picLocks noChangeAspect="1"/>
          </p:cNvPicPr>
          <p:nvPr/>
        </p:nvPicPr>
        <p:blipFill>
          <a:blip r:embed="rId5"/>
          <a:stretch>
            <a:fillRect/>
          </a:stretch>
        </p:blipFill>
        <p:spPr>
          <a:xfrm>
            <a:off x="6370167" y="1682496"/>
            <a:ext cx="5291175" cy="2645587"/>
          </a:xfrm>
          <a:prstGeom prst="rect">
            <a:avLst/>
          </a:prstGeom>
        </p:spPr>
      </p:pic>
      <p:sp>
        <p:nvSpPr>
          <p:cNvPr id="12" name="TextBox 11"/>
          <p:cNvSpPr txBox="1"/>
          <p:nvPr/>
        </p:nvSpPr>
        <p:spPr>
          <a:xfrm>
            <a:off x="6370167" y="4474387"/>
            <a:ext cx="5291175"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On the delivered definition 19 customers kept 21 orders and 2 kept two, so every leaf moves with the definition, and each count goes out with the definition it was taken on.</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5" name="Oval 14"/>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7" name="Oval 16"/>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9" name="Oval 18"/>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21" name="Oval 20"/>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D53  ·  58 / 76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Kalpa has 23 customers, and 7 came back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customers does Kalpa have, and how many came back for a second order?</a:t>
            </a:r>
          </a:p>
        </p:txBody>
      </p:sp>
      <p:graphicFrame>
        <p:nvGraphicFramePr>
          <p:cNvPr id="9" name="Table 8"/>
          <p:cNvGraphicFramePr>
            <a:graphicFrameLocks noGrp="1"/>
          </p:cNvGraphicFramePr>
          <p:nvPr/>
        </p:nvGraphicFramePr>
        <p:xfrm>
          <a:off x="530352" y="1682496"/>
          <a:ext cx="11130991" cy="2176272"/>
        </p:xfrm>
        <a:graphic>
          <a:graphicData uri="http://schemas.openxmlformats.org/drawingml/2006/table">
            <a:tbl>
              <a:tblPr firstRow="0" bandRow="0">
                <a:tableStyleId>{2D5ABB26-0587-4C30-8999-92F81FD0307C}</a:tableStyleId>
              </a:tblPr>
              <a:tblGrid>
                <a:gridCol w="2890251"/>
                <a:gridCol w="8240740"/>
              </a:tblGrid>
              <a:tr h="310896">
                <a:tc>
                  <a:txBody>
                    <a:bodyPr/>
                    <a:lstStyle/>
                    <a:p>
                      <a:r>
                        <a:rPr sz="950" b="1" i="0">
                          <a:solidFill>
                            <a:srgbClr val="FFFFFF"/>
                          </a:solidFill>
                          <a:latin typeface="Calibri"/>
                        </a:rPr>
                        <a:t>Question</a:t>
                      </a:r>
                    </a:p>
                  </a:txBody>
                  <a:tcPr marL="101600" marR="101600" marT="38100" marB="38100" anchor="ctr">
                    <a:solidFill>
                      <a:srgbClr val="1A0F5C"/>
                    </a:solidFill>
                  </a:tcPr>
                </a:tc>
                <a:tc>
                  <a:txBody>
                    <a:bodyPr/>
                    <a:lstStyle/>
                    <a:p>
                      <a:r>
                        <a:rPr sz="950" b="1" i="0">
                          <a:solidFill>
                            <a:srgbClr val="FFFFFF"/>
                          </a:solidFill>
                          <a:latin typeface="Calibri"/>
                        </a:rPr>
                        <a:t>Answer</a:t>
                      </a:r>
                    </a:p>
                  </a:txBody>
                  <a:tcPr marL="101600" marR="101600" marT="38100" marB="38100" anchor="ctr">
                    <a:solidFill>
                      <a:srgbClr val="1A0F5C"/>
                    </a:solidFill>
                  </a:tcPr>
                </a:tc>
              </a:tr>
              <a:tr h="310896">
                <a:tc>
                  <a:txBody>
                    <a:bodyPr/>
                    <a:lstStyle/>
                    <a:p>
                      <a:r>
                        <a:rPr sz="900" b="0" i="0">
                          <a:solidFill>
                            <a:srgbClr val="1A1440"/>
                          </a:solidFill>
                          <a:latin typeface="Calibri"/>
                        </a:rPr>
                        <a:t>What rides on the count?</a:t>
                      </a:r>
                    </a:p>
                  </a:txBody>
                  <a:tcPr marL="101600" marR="101600" marT="38100" marB="38100" anchor="ctr">
                    <a:solidFill>
                      <a:srgbClr val="FFFFFF"/>
                    </a:solidFill>
                  </a:tcPr>
                </a:tc>
                <a:tc>
                  <a:txBody>
                    <a:bodyPr/>
                    <a:lstStyle/>
                    <a:p>
                      <a:r>
                        <a:rPr sz="900" b="0" i="0">
                          <a:solidFill>
                            <a:srgbClr val="1A1440"/>
                          </a:solidFill>
                          <a:latin typeface="Calibri"/>
                        </a:rPr>
                        <a:t>It decides whether acquisition is the only branch before Meera signs Rs 12 crore.</a:t>
                      </a:r>
                    </a:p>
                  </a:txBody>
                  <a:tcPr marL="101600" marR="101600" marT="38100" marB="38100" anchor="ctr">
                    <a:solidFill>
                      <a:srgbClr val="FFFFFF"/>
                    </a:solidFill>
                  </a:tcPr>
                </a:tc>
              </a:tr>
              <a:tr h="310896">
                <a:tc>
                  <a:txBody>
                    <a:bodyPr/>
                    <a:lstStyle/>
                    <a:p>
                      <a:r>
                        <a:rPr sz="900" b="0" i="0">
                          <a:solidFill>
                            <a:srgbClr val="1A1440"/>
                          </a:solidFill>
                          <a:latin typeface="Calibri"/>
                        </a:rPr>
                        <a:t>How are customers counted?</a:t>
                      </a:r>
                    </a:p>
                  </a:txBody>
                  <a:tcPr marL="101600" marR="101600" marT="38100" marB="38100" anchor="ctr">
                    <a:solidFill>
                      <a:srgbClr val="F4F2FA"/>
                    </a:solidFill>
                  </a:tcPr>
                </a:tc>
                <a:tc>
                  <a:txBody>
                    <a:bodyPr/>
                    <a:lstStyle/>
                    <a:p>
                      <a:r>
                        <a:rPr sz="900" b="0" i="0">
                          <a:solidFill>
                            <a:srgbClr val="1A1440"/>
                          </a:solidFill>
                          <a:latin typeface="Calibri"/>
                        </a:rPr>
                        <a:t>A row is an order, so customers are counted by distinct id.</a:t>
                      </a:r>
                    </a:p>
                  </a:txBody>
                  <a:tcPr marL="101600" marR="101600" marT="38100" marB="38100" anchor="ctr">
                    <a:solidFill>
                      <a:srgbClr val="F4F2FA"/>
                    </a:solidFill>
                  </a:tcPr>
                </a:tc>
              </a:tr>
              <a:tr h="310896">
                <a:tc>
                  <a:txBody>
                    <a:bodyPr/>
                    <a:lstStyle/>
                    <a:p>
                      <a:r>
                        <a:rPr sz="900" b="0" i="0">
                          <a:solidFill>
                            <a:srgbClr val="1A1440"/>
                          </a:solidFill>
                          <a:latin typeface="Calibri"/>
                        </a:rPr>
                        <a:t>How many came back?</a:t>
                      </a:r>
                    </a:p>
                  </a:txBody>
                  <a:tcPr marL="101600" marR="101600" marT="38100" marB="38100" anchor="ctr">
                    <a:solidFill>
                      <a:srgbClr val="FFFFFF"/>
                    </a:solidFill>
                  </a:tcPr>
                </a:tc>
                <a:tc>
                  <a:txBody>
                    <a:bodyPr/>
                    <a:lstStyle/>
                    <a:p>
                      <a:r>
                        <a:rPr sz="900" b="0" i="0">
                          <a:solidFill>
                            <a:srgbClr val="1A1440"/>
                          </a:solidFill>
                          <a:latin typeface="Calibri"/>
                        </a:rPr>
                        <a:t>7 of 23 customers came back and 16 bought once, 1.30 orders each.</a:t>
                      </a:r>
                    </a:p>
                  </a:txBody>
                  <a:tcPr marL="101600" marR="101600" marT="38100" marB="38100" anchor="ctr">
                    <a:solidFill>
                      <a:srgbClr val="FFFFFF"/>
                    </a:solidFill>
                  </a:tcPr>
                </a:tc>
              </a:tr>
              <a:tr h="310896">
                <a:tc>
                  <a:txBody>
                    <a:bodyPr/>
                    <a:lstStyle/>
                    <a:p>
                      <a:r>
                        <a:rPr sz="900" b="0" i="0">
                          <a:solidFill>
                            <a:srgbClr val="1A1440"/>
                          </a:solidFill>
                          <a:latin typeface="Calibri"/>
                        </a:rPr>
                        <a:t>Every row a customer?</a:t>
                      </a:r>
                    </a:p>
                  </a:txBody>
                  <a:tcPr marL="101600" marR="101600" marT="38100" marB="38100" anchor="ctr">
                    <a:solidFill>
                      <a:srgbClr val="F4F2FA"/>
                    </a:solidFill>
                  </a:tcPr>
                </a:tc>
                <a:tc>
                  <a:txBody>
                    <a:bodyPr/>
                    <a:lstStyle/>
                    <a:p>
                      <a:r>
                        <a:rPr sz="900" b="0" i="0">
                          <a:solidFill>
                            <a:srgbClr val="1A1440"/>
                          </a:solidFill>
                          <a:latin typeface="Calibri"/>
                        </a:rPr>
                        <a:t>The draft's 30 at 1.00 each says nobody comes back, and the ids say 7 did.</a:t>
                      </a:r>
                    </a:p>
                  </a:txBody>
                  <a:tcPr marL="101600" marR="101600" marT="38100" marB="38100" anchor="ctr">
                    <a:solidFill>
                      <a:srgbClr val="F4F2FA"/>
                    </a:solidFill>
                  </a:tcPr>
                </a:tc>
              </a:tr>
              <a:tr h="310896">
                <a:tc>
                  <a:txBody>
                    <a:bodyPr/>
                    <a:lstStyle/>
                    <a:p>
                      <a:r>
                        <a:rPr sz="900" b="0" i="0">
                          <a:solidFill>
                            <a:srgbClr val="1A1440"/>
                          </a:solidFill>
                          <a:latin typeface="Calibri"/>
                        </a:rPr>
                        <a:t>Does the mean agree?</a:t>
                      </a:r>
                    </a:p>
                  </a:txBody>
                  <a:tcPr marL="101600" marR="101600" marT="38100" marB="38100" anchor="ctr">
                    <a:solidFill>
                      <a:srgbClr val="FFFFFF"/>
                    </a:solidFill>
                  </a:tcPr>
                </a:tc>
                <a:tc>
                  <a:txBody>
                    <a:bodyPr/>
                    <a:lstStyle/>
                    <a:p>
                      <a:r>
                        <a:rPr sz="900" b="0" i="0">
                          <a:solidFill>
                            <a:srgbClr val="1A1440"/>
                          </a:solidFill>
                          <a:latin typeface="Calibri"/>
                        </a:rPr>
                        <a:t>The mean of the 23 counts is also 1.30.</a:t>
                      </a:r>
                    </a:p>
                  </a:txBody>
                  <a:tcPr marL="101600" marR="101600" marT="38100" marB="38100" anchor="ctr">
                    <a:solidFill>
                      <a:srgbClr val="FFFFFF"/>
                    </a:solidFill>
                  </a:tcPr>
                </a:tc>
              </a:tr>
              <a:tr h="310896">
                <a:tc>
                  <a:txBody>
                    <a:bodyPr/>
                    <a:lstStyle/>
                    <a:p>
                      <a:r>
                        <a:rPr sz="900" b="0" i="0">
                          <a:solidFill>
                            <a:srgbClr val="1A1440"/>
                          </a:solidFill>
                          <a:latin typeface="Calibri"/>
                        </a:rPr>
                        <a:t>Delivered only?</a:t>
                      </a:r>
                    </a:p>
                  </a:txBody>
                  <a:tcPr marL="101600" marR="101600" marT="38100" marB="38100" anchor="ctr">
                    <a:solidFill>
                      <a:srgbClr val="F4F2FA"/>
                    </a:solidFill>
                  </a:tcPr>
                </a:tc>
                <a:tc>
                  <a:txBody>
                    <a:bodyPr/>
                    <a:lstStyle/>
                    <a:p>
                      <a:r>
                        <a:rPr sz="900" b="0" i="0">
                          <a:solidFill>
                            <a:srgbClr val="1A1440"/>
                          </a:solidFill>
                          <a:latin typeface="Calibri"/>
                        </a:rPr>
                        <a:t>19 customers kept 21 orders, 1.11 each, and 2 kept two.</a:t>
                      </a:r>
                    </a:p>
                  </a:txBody>
                  <a:tcPr marL="101600" marR="101600" marT="38100" marB="38100" anchor="ctr">
                    <a:solidFill>
                      <a:srgbClr val="F4F2FA"/>
                    </a:solidFill>
                  </a:tcPr>
                </a:tc>
              </a:tr>
            </a:tbl>
          </a:graphicData>
        </a:graphic>
      </p:graphicFrame>
      <p:sp>
        <p:nvSpPr>
          <p:cNvPr id="10" name="Rounded Rectangle 9"/>
          <p:cNvSpPr/>
          <p:nvPr/>
        </p:nvSpPr>
        <p:spPr>
          <a:xfrm>
            <a:off x="530352" y="4114800"/>
            <a:ext cx="11130991" cy="9489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36067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470400"/>
            <a:ext cx="237744" cy="237744"/>
          </a:xfrm>
          <a:prstGeom prst="rect">
            <a:avLst/>
          </a:prstGeom>
        </p:spPr>
      </p:pic>
      <p:sp>
        <p:nvSpPr>
          <p:cNvPr id="13" name="TextBox 12"/>
          <p:cNvSpPr txBox="1"/>
          <p:nvPr/>
        </p:nvSpPr>
        <p:spPr>
          <a:xfrm>
            <a:off x="1399031" y="426110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480560"/>
            <a:ext cx="9987991" cy="510032"/>
          </a:xfrm>
          <a:prstGeom prst="rect">
            <a:avLst/>
          </a:prstGeom>
          <a:noFill/>
        </p:spPr>
        <p:txBody>
          <a:bodyPr wrap="square" anchor="t" lIns="0" rIns="0" tIns="0" bIns="0">
            <a:spAutoFit/>
          </a:bodyPr>
          <a:lstStyle/>
          <a:p>
            <a:r>
              <a:rPr sz="1000" b="0" i="0">
                <a:solidFill>
                  <a:srgbClr val="1A1440"/>
                </a:solidFill>
                <a:latin typeface="Calibri"/>
              </a:rPr>
              <a:t>"Your first 30 was a count of rows, divided as if it were people. A count of people comes from their ids, and every rate you send upstairs names its denominator."</a:t>
            </a:r>
          </a:p>
        </p:txBody>
      </p:sp>
      <p:sp>
        <p:nvSpPr>
          <p:cNvPr id="15" name="Rounded Rectangle 14"/>
          <p:cNvSpPr/>
          <p:nvPr/>
        </p:nvSpPr>
        <p:spPr>
          <a:xfrm>
            <a:off x="530352" y="5228336"/>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112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20944"/>
            <a:ext cx="237744" cy="237744"/>
          </a:xfrm>
          <a:prstGeom prst="rect">
            <a:avLst/>
          </a:prstGeom>
        </p:spPr>
      </p:pic>
      <p:sp>
        <p:nvSpPr>
          <p:cNvPr id="18" name="TextBox 17"/>
          <p:cNvSpPr txBox="1"/>
          <p:nvPr/>
        </p:nvSpPr>
        <p:spPr>
          <a:xfrm>
            <a:off x="1399031" y="537464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594096"/>
            <a:ext cx="9987991" cy="384048"/>
          </a:xfrm>
          <a:prstGeom prst="rect">
            <a:avLst/>
          </a:prstGeom>
          <a:noFill/>
        </p:spPr>
        <p:txBody>
          <a:bodyPr wrap="square" anchor="t" lIns="0" rIns="0" tIns="0" bIns="0">
            <a:spAutoFit/>
          </a:bodyPr>
          <a:lstStyle/>
          <a:p>
            <a:r>
              <a:rPr sz="1000" b="0" i="0">
                <a:solidFill>
                  <a:srgbClr val="1A1440"/>
                </a:solidFill>
                <a:latin typeface="Calibri"/>
              </a:rPr>
              <a:t>[F] Your extract shows 30 orders and 30 customers; what do you check before saying nobody comes back?</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2" name="Oval 21"/>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4" name="Oval 23"/>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6" name="Oval 25"/>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78088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Do customers come back</a:t>
            </a:r>
          </a:p>
        </p:txBody>
      </p:sp>
      <p:sp>
        <p:nvSpPr>
          <p:cNvPr id="28" name="Oval 27"/>
          <p:cNvSpPr/>
          <p:nvPr/>
        </p:nvSpPr>
        <p:spPr>
          <a:xfrm>
            <a:off x="61587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268497"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a typical order</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S54  ·  59 / 76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is a typical order</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What does a typical Kalpa order look like, stated so that one large order cannot move it?</a:t>
            </a:r>
          </a:p>
        </p:txBody>
      </p:sp>
      <p:sp>
        <p:nvSpPr>
          <p:cNvPr id="10" name="Rounded Rectangle 9"/>
          <p:cNvSpPr/>
          <p:nvPr/>
        </p:nvSpPr>
        <p:spPr>
          <a:xfrm>
            <a:off x="731519"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does retail earn</a:t>
            </a:r>
          </a:p>
        </p:txBody>
      </p:sp>
      <p:sp>
        <p:nvSpPr>
          <p:cNvPr id="11" name="Rounded Rectangle 10"/>
          <p:cNvSpPr/>
          <p:nvPr/>
        </p:nvSpPr>
        <p:spPr>
          <a:xfrm>
            <a:off x="2391327"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total is sales</a:t>
            </a:r>
          </a:p>
        </p:txBody>
      </p:sp>
      <p:sp>
        <p:nvSpPr>
          <p:cNvPr id="12" name="Rounded Rectangle 11"/>
          <p:cNvSpPr/>
          <p:nvPr/>
        </p:nvSpPr>
        <p:spPr>
          <a:xfrm>
            <a:off x="4051134"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each branch</a:t>
            </a:r>
          </a:p>
        </p:txBody>
      </p:sp>
      <p:sp>
        <p:nvSpPr>
          <p:cNvPr id="13" name="Rounded Rectangle 12"/>
          <p:cNvSpPr/>
          <p:nvPr/>
        </p:nvSpPr>
        <p:spPr>
          <a:xfrm>
            <a:off x="5651726"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 customers come back</a:t>
            </a:r>
          </a:p>
        </p:txBody>
      </p:sp>
      <p:sp>
        <p:nvSpPr>
          <p:cNvPr id="14" name="Rounded Rectangle 13"/>
          <p:cNvSpPr/>
          <p:nvPr/>
        </p:nvSpPr>
        <p:spPr>
          <a:xfrm>
            <a:off x="7429965" y="5074920"/>
            <a:ext cx="172772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is a typical order</a:t>
            </a:r>
          </a:p>
        </p:txBody>
      </p:sp>
      <p:sp>
        <p:nvSpPr>
          <p:cNvPr id="15" name="TextBox 14"/>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Monday morning: the story and chapters 1 to 4</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60 / 76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Marketing and Anand both need a typical order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a typical order, and which questions lead to it?</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marketing lead, whose payback case values every new customer by the order they will place, Meera, who signs the budget on that payback, and Anand, who has warned against averages: an order valued too high makes Rs 12 crore look cheap.</a:t>
            </a:r>
          </a:p>
        </p:txBody>
      </p:sp>
      <p:sp>
        <p:nvSpPr>
          <p:cNvPr id="12" name="Rectangle 11"/>
          <p:cNvSpPr/>
          <p:nvPr/>
        </p:nvSpPr>
        <p:spPr>
          <a:xfrm>
            <a:off x="1381734" y="37627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4" name="Oval 13"/>
          <p:cNvSpPr/>
          <p:nvPr/>
        </p:nvSpPr>
        <p:spPr>
          <a:xfrm>
            <a:off x="1281150"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0827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What it prices</a:t>
            </a:r>
          </a:p>
        </p:txBody>
      </p:sp>
      <p:sp>
        <p:nvSpPr>
          <p:cNvPr id="17" name="TextBox 16"/>
          <p:cNvSpPr txBox="1"/>
          <p:nvPr/>
        </p:nvSpPr>
        <p:spPr>
          <a:xfrm>
            <a:off x="694944" y="4516882"/>
            <a:ext cx="1373581" cy="531876"/>
          </a:xfrm>
          <a:prstGeom prst="rect">
            <a:avLst/>
          </a:prstGeom>
          <a:noFill/>
        </p:spPr>
        <p:txBody>
          <a:bodyPr wrap="square" anchor="t" lIns="0" rIns="0" tIns="0" bIns="0">
            <a:spAutoFit/>
          </a:bodyPr>
          <a:lstStyle/>
          <a:p>
            <a:pPr algn="l"/>
            <a:r>
              <a:rPr sz="1000" b="0" i="0">
                <a:solidFill>
                  <a:srgbClr val="6B6690"/>
                </a:solidFill>
                <a:latin typeface="Calibri"/>
              </a:rPr>
              <a:t>Who needs a typical order, and what does it price?</a:t>
            </a:r>
          </a:p>
        </p:txBody>
      </p:sp>
      <p:sp>
        <p:nvSpPr>
          <p:cNvPr id="18" name="TextBox 17"/>
          <p:cNvSpPr txBox="1"/>
          <p:nvPr/>
        </p:nvSpPr>
        <p:spPr>
          <a:xfrm>
            <a:off x="2415997"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19" name="Oval 18"/>
          <p:cNvSpPr/>
          <p:nvPr/>
        </p:nvSpPr>
        <p:spPr>
          <a:xfrm>
            <a:off x="3166795"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40827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Which middle</a:t>
            </a:r>
          </a:p>
        </p:txBody>
      </p:sp>
      <p:sp>
        <p:nvSpPr>
          <p:cNvPr id="22" name="TextBox 21"/>
          <p:cNvSpPr txBox="1"/>
          <p:nvPr/>
        </p:nvSpPr>
        <p:spPr>
          <a:xfrm>
            <a:off x="2580589" y="4516882"/>
            <a:ext cx="1373581" cy="366776"/>
          </a:xfrm>
          <a:prstGeom prst="rect">
            <a:avLst/>
          </a:prstGeom>
          <a:noFill/>
        </p:spPr>
        <p:txBody>
          <a:bodyPr wrap="square" anchor="t" lIns="0" rIns="0" tIns="0" bIns="0">
            <a:spAutoFit/>
          </a:bodyPr>
          <a:lstStyle/>
          <a:p>
            <a:pPr algn="l"/>
            <a:r>
              <a:rPr sz="1000" b="0" i="0">
                <a:solidFill>
                  <a:srgbClr val="6B6690"/>
                </a:solidFill>
                <a:latin typeface="Calibri"/>
              </a:rPr>
              <a:t>Which middle survives one large order?</a:t>
            </a:r>
          </a:p>
        </p:txBody>
      </p:sp>
      <p:sp>
        <p:nvSpPr>
          <p:cNvPr id="23" name="TextBox 22"/>
          <p:cNvSpPr txBox="1"/>
          <p:nvPr/>
        </p:nvSpPr>
        <p:spPr>
          <a:xfrm>
            <a:off x="430164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4" name="Oval 23"/>
          <p:cNvSpPr/>
          <p:nvPr/>
        </p:nvSpPr>
        <p:spPr>
          <a:xfrm>
            <a:off x="505244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40827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median</a:t>
            </a:r>
          </a:p>
        </p:txBody>
      </p:sp>
      <p:sp>
        <p:nvSpPr>
          <p:cNvPr id="27" name="TextBox 26"/>
          <p:cNvSpPr txBox="1"/>
          <p:nvPr/>
        </p:nvSpPr>
        <p:spPr>
          <a:xfrm>
            <a:off x="4466234" y="4516882"/>
            <a:ext cx="1373581" cy="366776"/>
          </a:xfrm>
          <a:prstGeom prst="rect">
            <a:avLst/>
          </a:prstGeom>
          <a:noFill/>
        </p:spPr>
        <p:txBody>
          <a:bodyPr wrap="square" anchor="t" lIns="0" rIns="0" tIns="0" bIns="0">
            <a:spAutoFit/>
          </a:bodyPr>
          <a:lstStyle/>
          <a:p>
            <a:pPr algn="l"/>
            <a:r>
              <a:rPr sz="1000" b="0" i="0">
                <a:solidFill>
                  <a:srgbClr val="6B6690"/>
                </a:solidFill>
                <a:latin typeface="Calibri"/>
              </a:rPr>
              <a:t>What is the median order?</a:t>
            </a:r>
          </a:p>
        </p:txBody>
      </p:sp>
      <p:sp>
        <p:nvSpPr>
          <p:cNvPr id="28" name="TextBox 27"/>
          <p:cNvSpPr txBox="1"/>
          <p:nvPr/>
        </p:nvSpPr>
        <p:spPr>
          <a:xfrm>
            <a:off x="6187287"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29" name="Oval 28"/>
          <p:cNvSpPr/>
          <p:nvPr/>
        </p:nvSpPr>
        <p:spPr>
          <a:xfrm>
            <a:off x="6938086"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40827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Mean as typical</a:t>
            </a:r>
          </a:p>
        </p:txBody>
      </p:sp>
      <p:sp>
        <p:nvSpPr>
          <p:cNvPr id="32" name="TextBox 31"/>
          <p:cNvSpPr txBox="1"/>
          <p:nvPr/>
        </p:nvSpPr>
        <p:spPr>
          <a:xfrm>
            <a:off x="6351879" y="4516882"/>
            <a:ext cx="1373581" cy="531876"/>
          </a:xfrm>
          <a:prstGeom prst="rect">
            <a:avLst/>
          </a:prstGeom>
          <a:noFill/>
        </p:spPr>
        <p:txBody>
          <a:bodyPr wrap="square" anchor="t" lIns="0" rIns="0" tIns="0" bIns="0">
            <a:spAutoFit/>
          </a:bodyPr>
          <a:lstStyle/>
          <a:p>
            <a:pPr algn="l"/>
            <a:r>
              <a:rPr sz="1000" b="0" i="0">
                <a:solidFill>
                  <a:srgbClr val="6B6690"/>
                </a:solidFill>
                <a:latin typeface="Calibri"/>
              </a:rPr>
              <a:t>What goes wrong when the mean is sold as typical?</a:t>
            </a:r>
          </a:p>
        </p:txBody>
      </p:sp>
      <p:sp>
        <p:nvSpPr>
          <p:cNvPr id="33" name="TextBox 32"/>
          <p:cNvSpPr txBox="1"/>
          <p:nvPr/>
        </p:nvSpPr>
        <p:spPr>
          <a:xfrm>
            <a:off x="807293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5</a:t>
            </a:r>
          </a:p>
        </p:txBody>
      </p:sp>
      <p:sp>
        <p:nvSpPr>
          <p:cNvPr id="34" name="Oval 33"/>
          <p:cNvSpPr/>
          <p:nvPr/>
        </p:nvSpPr>
        <p:spPr>
          <a:xfrm>
            <a:off x="882373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40827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library</a:t>
            </a:r>
          </a:p>
        </p:txBody>
      </p:sp>
      <p:sp>
        <p:nvSpPr>
          <p:cNvPr id="37" name="TextBox 36"/>
          <p:cNvSpPr txBox="1"/>
          <p:nvPr/>
        </p:nvSpPr>
        <p:spPr>
          <a:xfrm>
            <a:off x="8237524" y="4516882"/>
            <a:ext cx="1373581" cy="366776"/>
          </a:xfrm>
          <a:prstGeom prst="rect">
            <a:avLst/>
          </a:prstGeom>
          <a:noFill/>
        </p:spPr>
        <p:txBody>
          <a:bodyPr wrap="square" anchor="t" lIns="0" rIns="0" tIns="0" bIns="0">
            <a:spAutoFit/>
          </a:bodyPr>
          <a:lstStyle/>
          <a:p>
            <a:pPr algn="l"/>
            <a:r>
              <a:rPr sz="1000" b="0" i="0">
                <a:solidFill>
                  <a:srgbClr val="6B6690"/>
                </a:solidFill>
                <a:latin typeface="Calibri"/>
              </a:rPr>
              <a:t>Does statistics.median agree?</a:t>
            </a:r>
          </a:p>
        </p:txBody>
      </p:sp>
      <p:sp>
        <p:nvSpPr>
          <p:cNvPr id="38" name="TextBox 37"/>
          <p:cNvSpPr txBox="1"/>
          <p:nvPr/>
        </p:nvSpPr>
        <p:spPr>
          <a:xfrm>
            <a:off x="9958578"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6</a:t>
            </a:r>
          </a:p>
        </p:txBody>
      </p:sp>
      <p:sp>
        <p:nvSpPr>
          <p:cNvPr id="39" name="Oval 38"/>
          <p:cNvSpPr/>
          <p:nvPr/>
        </p:nvSpPr>
        <p:spPr>
          <a:xfrm>
            <a:off x="10709376"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40827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payback</a:t>
            </a:r>
          </a:p>
        </p:txBody>
      </p:sp>
      <p:sp>
        <p:nvSpPr>
          <p:cNvPr id="42" name="TextBox 41"/>
          <p:cNvSpPr txBox="1"/>
          <p:nvPr/>
        </p:nvSpPr>
        <p:spPr>
          <a:xfrm>
            <a:off x="10123170" y="4516882"/>
            <a:ext cx="1373581" cy="366776"/>
          </a:xfrm>
          <a:prstGeom prst="rect">
            <a:avLst/>
          </a:prstGeom>
          <a:noFill/>
        </p:spPr>
        <p:txBody>
          <a:bodyPr wrap="square" anchor="t" lIns="0" rIns="0" tIns="0" bIns="0">
            <a:spAutoFit/>
          </a:bodyPr>
          <a:lstStyle/>
          <a:p>
            <a:pPr algn="l"/>
            <a:r>
              <a:rPr sz="1000" b="0" i="0">
                <a:solidFill>
                  <a:srgbClr val="6B6690"/>
                </a:solidFill>
                <a:latin typeface="Calibri"/>
              </a:rPr>
              <a:t>What goes into the payback case?</a:t>
            </a:r>
          </a:p>
        </p:txBody>
      </p:sp>
      <p:sp>
        <p:nvSpPr>
          <p:cNvPr id="43" name="Oval 4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45" name="Oval 44"/>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47" name="Oval 46"/>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49" name="Oval 4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51" name="Oval 50"/>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S55  ·  61 / 76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first order's value decides the payback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a typical order, and what does it price?</a:t>
            </a:r>
          </a:p>
        </p:txBody>
      </p:sp>
      <p:sp>
        <p:nvSpPr>
          <p:cNvPr id="9" name="Rounded Rectangle 8"/>
          <p:cNvSpPr/>
          <p:nvPr/>
        </p:nvSpPr>
        <p:spPr>
          <a:xfrm>
            <a:off x="530352" y="195681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15950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26923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423672"/>
          </a:xfrm>
          <a:prstGeom prst="rect">
            <a:avLst/>
          </a:prstGeom>
          <a:noFill/>
        </p:spPr>
        <p:txBody>
          <a:bodyPr wrap="square" anchor="t" lIns="0" rIns="0" tIns="0" bIns="0">
            <a:spAutoFit/>
          </a:bodyPr>
          <a:lstStyle/>
          <a:p>
            <a:r>
              <a:rPr sz="1500" b="0" i="0">
                <a:solidFill>
                  <a:srgbClr val="FFFFFF"/>
                </a:solidFill>
                <a:latin typeface="Calibri"/>
              </a:rPr>
              <a:t>"What does a typical order look like?"</a:t>
            </a:r>
          </a:p>
        </p:txBody>
      </p:sp>
      <p:sp>
        <p:nvSpPr>
          <p:cNvPr id="14" name="Rounded Rectangle 13"/>
          <p:cNvSpPr/>
          <p:nvPr/>
        </p:nvSpPr>
        <p:spPr>
          <a:xfrm>
            <a:off x="530352" y="2983992"/>
            <a:ext cx="45720" cy="74168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6384" y="2983992"/>
            <a:ext cx="10820095" cy="741680"/>
          </a:xfrm>
          <a:prstGeom prst="rect">
            <a:avLst/>
          </a:prstGeom>
          <a:noFill/>
        </p:spPr>
        <p:txBody>
          <a:bodyPr wrap="square" anchor="t" lIns="0" rIns="0" tIns="0" bIns="0">
            <a:spAutoFit/>
          </a:bodyPr>
          <a:lstStyle/>
          <a:p>
            <a:r>
              <a:rPr sz="1600" b="0" i="1">
                <a:solidFill>
                  <a:srgbClr val="1A0F5C"/>
                </a:solidFill>
                <a:latin typeface="Georgia"/>
              </a:rPr>
              <a:t>"No averages. One business customer can move an average."</a:t>
            </a:r>
          </a:p>
          <a:p>
            <a:pPr>
              <a:spcBef>
                <a:spcPts val="400"/>
              </a:spcBef>
            </a:pPr>
            <a:r>
              <a:rPr sz="1000" b="0" i="0">
                <a:solidFill>
                  <a:srgbClr val="6B6690"/>
                </a:solidFill>
                <a:latin typeface="Calibri"/>
              </a:rPr>
              <a:t>Anand Iyer, finance controller</a:t>
            </a:r>
          </a:p>
        </p:txBody>
      </p:sp>
      <p:graphicFrame>
        <p:nvGraphicFramePr>
          <p:cNvPr id="16" name="Table 15"/>
          <p:cNvGraphicFramePr>
            <a:graphicFrameLocks noGrp="1"/>
          </p:cNvGraphicFramePr>
          <p:nvPr/>
        </p:nvGraphicFramePr>
        <p:xfrm>
          <a:off x="530352" y="3871976"/>
          <a:ext cx="11130991" cy="1351280"/>
        </p:xfrm>
        <a:graphic>
          <a:graphicData uri="http://schemas.openxmlformats.org/drawingml/2006/table">
            <a:tbl>
              <a:tblPr firstRow="0" bandRow="0">
                <a:tableStyleId>{2D5ABB26-0587-4C30-8999-92F81FD0307C}</a:tableStyleId>
              </a:tblPr>
              <a:tblGrid>
                <a:gridCol w="3468944"/>
                <a:gridCol w="7662047"/>
              </a:tblGrid>
              <a:tr h="369824">
                <a:tc>
                  <a:txBody>
                    <a:bodyPr/>
                    <a:lstStyle/>
                    <a:p>
                      <a:r>
                        <a:rPr sz="1450" b="1" i="0">
                          <a:solidFill>
                            <a:srgbClr val="FFFFFF"/>
                          </a:solidFill>
                          <a:latin typeface="Calibri"/>
                        </a:rPr>
                        <a:t>The metric at stake</a:t>
                      </a:r>
                    </a:p>
                  </a:txBody>
                  <a:tcPr marL="101600" marR="101600" marT="38100" marB="38100" anchor="ctr">
                    <a:solidFill>
                      <a:srgbClr val="1A0F5C"/>
                    </a:solidFill>
                  </a:tcPr>
                </a:tc>
                <a:tc>
                  <a:txBody>
                    <a:bodyPr/>
                    <a:lstStyle/>
                    <a:p>
                      <a:r>
                        <a:rPr sz="1450" b="1" i="0">
                          <a:solidFill>
                            <a:srgbClr val="FFFFFF"/>
                          </a:solidFill>
                          <a:latin typeface="Calibri"/>
                        </a:rPr>
                        <a:t>The typical order is what marketing's payback credits to every new customer.</a:t>
                      </a:r>
                    </a:p>
                  </a:txBody>
                  <a:tcPr marL="101600" marR="101600" marT="38100" marB="38100" anchor="ctr">
                    <a:solidFill>
                      <a:srgbClr val="1A0F5C"/>
                    </a:solidFill>
                  </a:tcPr>
                </a:tc>
              </a:tr>
              <a:tr h="369824">
                <a:tc>
                  <a:txBody>
                    <a:bodyPr/>
                    <a:lstStyle/>
                    <a:p>
                      <a:r>
                        <a:rPr sz="1400" b="0" i="0">
                          <a:solidFill>
                            <a:srgbClr val="1A1440"/>
                          </a:solidFill>
                          <a:latin typeface="Calibri"/>
                        </a:rPr>
                        <a:t>Who asks</a:t>
                      </a:r>
                    </a:p>
                  </a:txBody>
                  <a:tcPr marL="101600" marR="101600" marT="38100" marB="38100" anchor="ctr">
                    <a:solidFill>
                      <a:srgbClr val="FFFFFF"/>
                    </a:solidFill>
                  </a:tcPr>
                </a:tc>
                <a:tc>
                  <a:txBody>
                    <a:bodyPr/>
                    <a:lstStyle/>
                    <a:p>
                      <a:r>
                        <a:rPr sz="1400" b="0" i="0">
                          <a:solidFill>
                            <a:srgbClr val="1A1440"/>
                          </a:solidFill>
                          <a:latin typeface="Calibri"/>
                        </a:rPr>
                        <a:t>Meera and the marketing lead ask, and Anand has already warned against averages.</a:t>
                      </a:r>
                    </a:p>
                  </a:txBody>
                  <a:tcPr marL="101600" marR="101600" marT="38100" marB="38100" anchor="ctr">
                    <a:solidFill>
                      <a:srgbClr val="FFFFFF"/>
                    </a:solidFill>
                  </a:tcPr>
                </a:tc>
              </a:tr>
              <a:tr h="611632">
                <a:tc>
                  <a:txBody>
                    <a:bodyPr/>
                    <a:lstStyle/>
                    <a:p>
                      <a:r>
                        <a:rPr sz="1400" b="0" i="0">
                          <a:solidFill>
                            <a:srgbClr val="1A1440"/>
                          </a:solidFill>
                          <a:latin typeface="Calibri"/>
                        </a:rPr>
                        <a:t>What a wrong number costs</a:t>
                      </a:r>
                    </a:p>
                  </a:txBody>
                  <a:tcPr marL="101600" marR="101600" marT="38100" marB="38100" anchor="ctr">
                    <a:solidFill>
                      <a:srgbClr val="F4F2FA"/>
                    </a:solidFill>
                  </a:tcPr>
                </a:tc>
                <a:tc>
                  <a:txBody>
                    <a:bodyPr/>
                    <a:lstStyle/>
                    <a:p>
                      <a:r>
                        <a:rPr sz="1400" b="0" i="0">
                          <a:solidFill>
                            <a:srgbClr val="1A1440"/>
                          </a:solidFill>
                          <a:latin typeface="Calibri"/>
                        </a:rPr>
                        <a:t>A first order valued too high makes the payback look short and Rs 12 crore look cheap.</a:t>
                      </a:r>
                    </a:p>
                  </a:txBody>
                  <a:tcPr marL="101600" marR="101600" marT="38100" marB="38100" anchor="ctr">
                    <a:solidFill>
                      <a:srgbClr val="F4F2FA"/>
                    </a:solidFill>
                  </a:tcPr>
                </a:tc>
              </a:tr>
            </a:tbl>
          </a:graphicData>
        </a:graphic>
      </p:graphicFrame>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9" name="Oval 18"/>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1" name="Oval 20"/>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3" name="Oval 22"/>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5" name="Oval 24"/>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S56  ·  62 / 76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Blinkit reports a mean order value, right for totals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real company report as its order value?</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Rs 518</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BLINKIT NET AOV</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quarter to June 2026</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2,443</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DARK STORES</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the same quarter</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Source: MediaNama on Eternal's results, 24 July 2026. A reported AOV is a mean, the right number for totals across millions of similar baskets and the wrong one for one shopper's basket when a few very large orders share the file.</a:t>
            </a:r>
          </a:p>
        </p:txBody>
      </p:sp>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0" name="Oval 19"/>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2" name="Oval 21"/>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4" name="Oval 23"/>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6" name="Oval 25"/>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S57  ·  63 / 76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median barely moves when one large order joins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middle survives one large order?</a:t>
            </a:r>
          </a:p>
        </p:txBody>
      </p:sp>
      <p:graphicFrame>
        <p:nvGraphicFramePr>
          <p:cNvPr id="9" name="Table 8"/>
          <p:cNvGraphicFramePr>
            <a:graphicFrameLocks noGrp="1"/>
          </p:cNvGraphicFramePr>
          <p:nvPr/>
        </p:nvGraphicFramePr>
        <p:xfrm>
          <a:off x="530352" y="1682496"/>
          <a:ext cx="11130989" cy="2332736"/>
        </p:xfrm>
        <a:graphic>
          <a:graphicData uri="http://schemas.openxmlformats.org/drawingml/2006/table">
            <a:tbl>
              <a:tblPr firstRow="0" bandRow="0">
                <a:tableStyleId>{2D5ABB26-0587-4C30-8999-92F81FD0307C}</a:tableStyleId>
              </a:tblPr>
              <a:tblGrid>
                <a:gridCol w="4085983"/>
                <a:gridCol w="3259546"/>
                <a:gridCol w="3785460"/>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Moves when one large order joins</a:t>
                      </a:r>
                    </a:p>
                  </a:txBody>
                  <a:tcPr marL="101600" marR="101600" marT="38100" marB="38100" anchor="ctr">
                    <a:solidFill>
                      <a:srgbClr val="1A0F5C"/>
                    </a:solidFill>
                  </a:tcPr>
                </a:tc>
                <a:tc>
                  <a:txBody>
                    <a:bodyPr/>
                    <a:lstStyle/>
                    <a:p>
                      <a:r>
                        <a:rPr sz="1450" b="1" i="0">
                          <a:solidFill>
                            <a:srgbClr val="FFFFFF"/>
                          </a:solidFill>
                          <a:latin typeface="Calibri"/>
                        </a:rPr>
                        <a:t>Right call when</a:t>
                      </a:r>
                    </a:p>
                  </a:txBody>
                  <a:tcPr marL="101600" marR="101600" marT="38100" marB="38100" anchor="ctr">
                    <a:solidFill>
                      <a:srgbClr val="1A0F5C"/>
                    </a:solidFill>
                  </a:tcPr>
                </a:tc>
              </a:tr>
              <a:tr h="369824">
                <a:tc>
                  <a:txBody>
                    <a:bodyPr/>
                    <a:lstStyle/>
                    <a:p>
                      <a:r>
                        <a:rPr sz="1400" b="0" i="0">
                          <a:solidFill>
                            <a:srgbClr val="1A1440"/>
                          </a:solidFill>
                          <a:latin typeface="Calibri"/>
                        </a:rPr>
                        <a:t>A. The mean, total over count</a:t>
                      </a:r>
                    </a:p>
                  </a:txBody>
                  <a:tcPr marL="101600" marR="101600" marT="38100" marB="38100" anchor="ctr">
                    <a:solidFill>
                      <a:srgbClr val="FFFFFF"/>
                    </a:solidFill>
                  </a:tcPr>
                </a:tc>
                <a:tc>
                  <a:txBody>
                    <a:bodyPr/>
                    <a:lstStyle/>
                    <a:p>
                      <a:r>
                        <a:rPr sz="1400" b="0" i="0">
                          <a:solidFill>
                            <a:srgbClr val="1A1440"/>
                          </a:solidFill>
                          <a:latin typeface="Calibri"/>
                        </a:rPr>
                        <a:t>It moves by Rs 14,623.</a:t>
                      </a:r>
                    </a:p>
                  </a:txBody>
                  <a:tcPr marL="101600" marR="101600" marT="38100" marB="38100" anchor="ctr">
                    <a:solidFill>
                      <a:srgbClr val="FFFFFF"/>
                    </a:solidFill>
                  </a:tcPr>
                </a:tc>
                <a:tc>
                  <a:txBody>
                    <a:bodyPr/>
                    <a:lstStyle/>
                    <a:p>
                      <a:r>
                        <a:rPr sz="1400" b="0" i="0">
                          <a:solidFill>
                            <a:srgbClr val="1A1440"/>
                          </a:solidFill>
                          <a:latin typeface="Calibri"/>
                        </a:rPr>
                        <a:t>Totals must multiply back.</a:t>
                      </a:r>
                    </a:p>
                  </a:txBody>
                  <a:tcPr marL="101600" marR="101600" marT="38100" marB="38100" anchor="ctr">
                    <a:solidFill>
                      <a:srgbClr val="FFFFFF"/>
                    </a:solidFill>
                  </a:tcPr>
                </a:tc>
              </a:tr>
              <a:tr h="611632">
                <a:tc>
                  <a:txBody>
                    <a:bodyPr/>
                    <a:lstStyle/>
                    <a:p>
                      <a:r>
                        <a:rPr sz="1400" b="0" i="0">
                          <a:solidFill>
                            <a:srgbClr val="1A1440"/>
                          </a:solidFill>
                          <a:latin typeface="Calibri"/>
                        </a:rPr>
                        <a:t>B. The median, the middle of the sorted amounts</a:t>
                      </a:r>
                    </a:p>
                  </a:txBody>
                  <a:tcPr marL="101600" marR="101600" marT="38100" marB="38100" anchor="ctr">
                    <a:solidFill>
                      <a:srgbClr val="F4F2FA"/>
                    </a:solidFill>
                  </a:tcPr>
                </a:tc>
                <a:tc>
                  <a:txBody>
                    <a:bodyPr/>
                    <a:lstStyle/>
                    <a:p>
                      <a:r>
                        <a:rPr sz="1400" b="0" i="0">
                          <a:solidFill>
                            <a:srgbClr val="1A1440"/>
                          </a:solidFill>
                          <a:latin typeface="Calibri"/>
                        </a:rPr>
                        <a:t>It moves by Rs 50, one place in the sort.</a:t>
                      </a:r>
                    </a:p>
                  </a:txBody>
                  <a:tcPr marL="101600" marR="101600" marT="38100" marB="38100" anchor="ctr">
                    <a:solidFill>
                      <a:srgbClr val="F4F2FA"/>
                    </a:solidFill>
                  </a:tcPr>
                </a:tc>
                <a:tc>
                  <a:txBody>
                    <a:bodyPr/>
                    <a:lstStyle/>
                    <a:p>
                      <a:r>
                        <a:rPr sz="1400" b="0" i="0">
                          <a:solidFill>
                            <a:srgbClr val="1A1440"/>
                          </a:solidFill>
                          <a:latin typeface="Calibri"/>
                        </a:rPr>
                        <a:t>The question is what a typical order looks like.</a:t>
                      </a:r>
                    </a:p>
                  </a:txBody>
                  <a:tcPr marL="101600" marR="101600" marT="38100" marB="38100" anchor="ctr">
                    <a:solidFill>
                      <a:srgbClr val="F4F2FA"/>
                    </a:solidFill>
                  </a:tcPr>
                </a:tc>
              </a:tr>
              <a:tr h="611632">
                <a:tc>
                  <a:txBody>
                    <a:bodyPr/>
                    <a:lstStyle/>
                    <a:p>
                      <a:r>
                        <a:rPr sz="1400" b="0" i="0">
                          <a:solidFill>
                            <a:srgbClr val="1A1440"/>
                          </a:solidFill>
                          <a:latin typeface="Calibri"/>
                        </a:rPr>
                        <a:t>C. A trimmed mean, dropping the top and bottom order</a:t>
                      </a:r>
                    </a:p>
                  </a:txBody>
                  <a:tcPr marL="101600" marR="101600" marT="38100" marB="38100" anchor="ctr">
                    <a:solidFill>
                      <a:srgbClr val="FFFFFF"/>
                    </a:solidFill>
                  </a:tcPr>
                </a:tc>
                <a:tc>
                  <a:txBody>
                    <a:bodyPr/>
                    <a:lstStyle/>
                    <a:p>
                      <a:r>
                        <a:rPr sz="1400" b="0" i="0">
                          <a:solidFill>
                            <a:srgbClr val="1A1440"/>
                          </a:solidFill>
                          <a:latin typeface="Calibri"/>
                        </a:rPr>
                        <a:t>It moves by Rs 83, and it needs a rule.</a:t>
                      </a:r>
                    </a:p>
                  </a:txBody>
                  <a:tcPr marL="101600" marR="101600" marT="38100" marB="38100" anchor="ctr">
                    <a:solidFill>
                      <a:srgbClr val="FFFFFF"/>
                    </a:solidFill>
                  </a:tcPr>
                </a:tc>
                <a:tc>
                  <a:txBody>
                    <a:bodyPr/>
                    <a:lstStyle/>
                    <a:p>
                      <a:r>
                        <a:rPr sz="1400" b="0" i="0">
                          <a:solidFill>
                            <a:srgbClr val="1A1440"/>
                          </a:solidFill>
                          <a:latin typeface="Calibri"/>
                        </a:rPr>
                        <a:t>A stated rule says how many to drop.</a:t>
                      </a:r>
                    </a:p>
                  </a:txBody>
                  <a:tcPr marL="101600" marR="101600" marT="38100" marB="38100" anchor="ctr">
                    <a:solidFill>
                      <a:srgbClr val="FFFFFF"/>
                    </a:solidFill>
                  </a:tcPr>
                </a:tc>
              </a:tr>
              <a:tr h="369824">
                <a:tc>
                  <a:txBody>
                    <a:bodyPr/>
                    <a:lstStyle/>
                    <a:p>
                      <a:r>
                        <a:rPr sz="1400" b="0" i="0">
                          <a:solidFill>
                            <a:srgbClr val="1A1440"/>
                          </a:solidFill>
                          <a:latin typeface="Calibri"/>
                        </a:rPr>
                        <a:t>D. A mean per customer type</a:t>
                      </a:r>
                    </a:p>
                  </a:txBody>
                  <a:tcPr marL="101600" marR="101600" marT="38100" marB="38100" anchor="ctr">
                    <a:solidFill>
                      <a:srgbClr val="F4F2FA"/>
                    </a:solidFill>
                  </a:tcPr>
                </a:tc>
                <a:tc>
                  <a:txBody>
                    <a:bodyPr/>
                    <a:lstStyle/>
                    <a:p>
                      <a:r>
                        <a:rPr sz="1400" b="0" i="0">
                          <a:solidFill>
                            <a:srgbClr val="1A1440"/>
                          </a:solidFill>
                          <a:latin typeface="Calibri"/>
                        </a:rPr>
                        <a:t>It does not move within a type.</a:t>
                      </a:r>
                    </a:p>
                  </a:txBody>
                  <a:tcPr marL="101600" marR="101600" marT="38100" marB="38100" anchor="ctr">
                    <a:solidFill>
                      <a:srgbClr val="F4F2FA"/>
                    </a:solidFill>
                  </a:tcPr>
                </a:tc>
                <a:tc>
                  <a:txBody>
                    <a:bodyPr/>
                    <a:lstStyle/>
                    <a:p>
                      <a:r>
                        <a:rPr sz="1400" b="0" i="0">
                          <a:solidFill>
                            <a:srgbClr val="1A1440"/>
                          </a:solidFill>
                          <a:latin typeface="Calibri"/>
                        </a:rPr>
                        <a:t>Each type gets its own plan.</a:t>
                      </a:r>
                    </a:p>
                  </a:txBody>
                  <a:tcPr marL="101600" marR="101600" marT="38100" marB="38100" anchor="ctr">
                    <a:solidFill>
                      <a:srgbClr val="F4F2FA"/>
                    </a:solidFill>
                  </a:tcPr>
                </a:tc>
              </a:tr>
            </a:tbl>
          </a:graphicData>
        </a:graphic>
      </p:graphicFrame>
      <p:sp>
        <p:nvSpPr>
          <p:cNvPr id="10" name="TextBox 9"/>
          <p:cNvSpPr txBox="1"/>
          <p:nvPr/>
        </p:nvSpPr>
        <p:spPr>
          <a:xfrm>
            <a:off x="530352" y="4271264"/>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Sized on six invented orders: five of Rs 1,900 to Rs 2,600, then one of Rs 90,000.</a:t>
            </a:r>
          </a:p>
        </p:txBody>
      </p:sp>
      <p:sp>
        <p:nvSpPr>
          <p:cNvPr id="11" name="Rounded Rectangle 10"/>
          <p:cNvSpPr/>
          <p:nvPr/>
        </p:nvSpPr>
        <p:spPr>
          <a:xfrm>
            <a:off x="530352" y="4895087"/>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58952" y="5227319"/>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list-checks_bd88901d2a37.png"/>
          <p:cNvPicPr>
            <a:picLocks noChangeAspect="1"/>
          </p:cNvPicPr>
          <p:nvPr/>
        </p:nvPicPr>
        <p:blipFill>
          <a:blip r:embed="rId4"/>
          <a:stretch>
            <a:fillRect/>
          </a:stretch>
        </p:blipFill>
        <p:spPr>
          <a:xfrm>
            <a:off x="868680" y="5337047"/>
            <a:ext cx="237744" cy="237744"/>
          </a:xfrm>
          <a:prstGeom prst="rect">
            <a:avLst/>
          </a:prstGeom>
        </p:spPr>
      </p:pic>
      <p:sp>
        <p:nvSpPr>
          <p:cNvPr id="14" name="TextBox 13"/>
          <p:cNvSpPr txBox="1"/>
          <p:nvPr/>
        </p:nvSpPr>
        <p:spPr>
          <a:xfrm>
            <a:off x="1399031" y="5041391"/>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5" name="TextBox 14"/>
          <p:cNvSpPr txBox="1"/>
          <p:nvPr/>
        </p:nvSpPr>
        <p:spPr>
          <a:xfrm>
            <a:off x="1399031" y="5260848"/>
            <a:ext cx="9987991" cy="682752"/>
          </a:xfrm>
          <a:prstGeom prst="rect">
            <a:avLst/>
          </a:prstGeom>
          <a:noFill/>
        </p:spPr>
        <p:txBody>
          <a:bodyPr wrap="square" anchor="t" lIns="0" rIns="0" tIns="0" bIns="0">
            <a:spAutoFit/>
          </a:bodyPr>
          <a:lstStyle/>
          <a:p>
            <a:r>
              <a:rPr sz="1500" b="0" i="0">
                <a:solidFill>
                  <a:srgbClr val="1A1440"/>
                </a:solidFill>
                <a:latin typeface="Calibri"/>
              </a:rPr>
              <a:t>B for the typical order, with A beside it for totals; D answers better if marketing prices the payback per customer type.</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8" name="Oval 17"/>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0" name="Oval 19"/>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2" name="Oval 21"/>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4" name="Oval 23"/>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S58  ·  64 / 76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One large order drags the mean and nudges the median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one large order do to each middle?</a:t>
            </a:r>
          </a:p>
        </p:txBody>
      </p:sp>
      <p:pic>
        <p:nvPicPr>
          <p:cNvPr id="9" name="mermaid diagram" descr="4a4d6cdff1a95394.png"/>
          <p:cNvPicPr>
            <a:picLocks noChangeAspect="1"/>
          </p:cNvPicPr>
          <p:nvPr/>
        </p:nvPicPr>
        <p:blipFill>
          <a:blip r:embed="rId5"/>
          <a:stretch>
            <a:fillRect/>
          </a:stretch>
        </p:blipFill>
        <p:spPr>
          <a:xfrm>
            <a:off x="659453" y="1903063"/>
            <a:ext cx="10872787" cy="3157537"/>
          </a:xfrm>
          <a:prstGeom prst="rect">
            <a:avLst/>
          </a:prstGeom>
        </p:spPr>
      </p:pic>
      <p:sp>
        <p:nvSpPr>
          <p:cNvPr id="10" name="TextBox 9"/>
          <p:cNvSpPr txBox="1"/>
          <p:nvPr/>
        </p:nvSpPr>
        <p:spPr>
          <a:xfrm>
            <a:off x="530352" y="5206904"/>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mean shares the large order's rupees across every order, so it jumps by Rs 14,623, while the median only asks which order sits in the middle, so it moves Rs 50.</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S59  ·  65 / 76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Sort the 30 amounts and average the 15th and 16th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is the middle of 30 orders found?</a:t>
            </a:r>
          </a:p>
        </p:txBody>
      </p:sp>
      <p:sp>
        <p:nvSpPr>
          <p:cNvPr id="9" name="Rounded Rectangle 8"/>
          <p:cNvSpPr/>
          <p:nvPr/>
        </p:nvSpPr>
        <p:spPr>
          <a:xfrm>
            <a:off x="530352" y="1956816"/>
            <a:ext cx="11130991" cy="962152"/>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559816"/>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ranked = sorted(amounts)</a:t>
            </a:r>
          </a:p>
          <a:p>
            <a:pPr>
              <a:spcAft>
                <a:spcPts val="200"/>
              </a:spcAft>
            </a:pPr>
            <a:r>
              <a:rPr sz="1400" b="0" i="0">
                <a:solidFill>
                  <a:srgbClr val="E4E1F1"/>
                </a:solidFill>
                <a:latin typeface="Consolas"/>
              </a:rPr>
              <a:t>median = (ranked[14] + ranked[15]) / 2     # the 15th and 16th in size order</a:t>
            </a:r>
          </a:p>
        </p:txBody>
      </p:sp>
      <p:sp>
        <p:nvSpPr>
          <p:cNvPr id="14" name="TextBox 13"/>
          <p:cNvSpPr txBox="1"/>
          <p:nvPr/>
        </p:nvSpPr>
        <p:spPr>
          <a:xfrm>
            <a:off x="530352" y="3083560"/>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With an even count there are two middle orders and the median is halfway between them; Python counts from 0, so the 15th order is ranked[14].</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7" name="Oval 16"/>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9" name="Oval 18"/>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3" name="Oval 22"/>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S60  ·  66 / 76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is the median of Kalpa's 30 orders?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mean is Rs 18,160, so where do you expect the middle order to sit?</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About Rs 2,200.</a:t>
            </a:r>
          </a:p>
          <a:p>
            <a:pPr>
              <a:spcAft>
                <a:spcPts val="800"/>
              </a:spcAft>
            </a:pPr>
            <a:r>
              <a:rPr sz="1600" b="0" i="0">
                <a:solidFill>
                  <a:srgbClr val="1A1440"/>
                </a:solidFill>
                <a:latin typeface="Calibri"/>
              </a:rPr>
              <a:t>b) Rs 18,160, the same as the mean.</a:t>
            </a:r>
          </a:p>
          <a:p>
            <a:pPr>
              <a:spcAft>
                <a:spcPts val="800"/>
              </a:spcAft>
            </a:pPr>
            <a:r>
              <a:rPr sz="1600" b="0" i="0">
                <a:solidFill>
                  <a:srgbClr val="1A1440"/>
                </a:solidFill>
                <a:latin typeface="Calibri"/>
              </a:rPr>
              <a:t>c) Rs 9,080, half the mean.</a:t>
            </a:r>
          </a:p>
          <a:p>
            <a:pPr>
              <a:spcAft>
                <a:spcPts val="800"/>
              </a:spcAft>
            </a:pPr>
            <a:r>
              <a:rPr sz="1600" b="0" i="0">
                <a:solidFill>
                  <a:srgbClr val="1A1440"/>
                </a:solidFill>
                <a:latin typeface="Calibri"/>
              </a:rPr>
              <a:t>d) Rs 2,300, the 16th order in size order.</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2" name="Oval 11"/>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4" name="Oval 13"/>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8" name="Oval 17"/>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S61  ·  67 / 76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a, the median order is Rs 2,205</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is the median order, and how far is it from the mean?</a:t>
            </a:r>
          </a:p>
        </p:txBody>
      </p:sp>
      <p:pic>
        <p:nvPicPr>
          <p:cNvPr id="9" name="mermaid diagram" descr="7f12e7ad326eac1f.png"/>
          <p:cNvPicPr>
            <a:picLocks noChangeAspect="1"/>
          </p:cNvPicPr>
          <p:nvPr/>
        </p:nvPicPr>
        <p:blipFill>
          <a:blip r:embed="rId5"/>
          <a:stretch>
            <a:fillRect/>
          </a:stretch>
        </p:blipFill>
        <p:spPr>
          <a:xfrm>
            <a:off x="2286863" y="1664208"/>
            <a:ext cx="7617968"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The 15th and 16th orders in size order are Rs 2,110 and Rs 2,300, so the median is Rs 2,205, about one eighth of the Rs 18,160 mean.</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S62  ·  68 / 76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Check: the mean is 8.2 times the median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the median check out, and how far apart are the two middles?</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2,205</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MEDIAN</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halfway between Rs 2,110 and Rs 2,300</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18,160</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MEAN</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chapter 2's AOV</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8.2</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MEAN OVER MEDIAN</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two middles far apart</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6225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st-checks_bd88901d2a37.png"/>
          <p:cNvPicPr>
            <a:picLocks noChangeAspect="1"/>
          </p:cNvPicPr>
          <p:nvPr/>
        </p:nvPicPr>
        <p:blipFill>
          <a:blip r:embed="rId4"/>
          <a:stretch>
            <a:fillRect/>
          </a:stretch>
        </p:blipFill>
        <p:spPr>
          <a:xfrm>
            <a:off x="868680" y="373227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25" name="TextBox 24"/>
          <p:cNvSpPr txBox="1"/>
          <p:nvPr/>
        </p:nvSpPr>
        <p:spPr>
          <a:xfrm>
            <a:off x="1399031" y="3785616"/>
            <a:ext cx="9987991" cy="423672"/>
          </a:xfrm>
          <a:prstGeom prst="rect">
            <a:avLst/>
          </a:prstGeom>
          <a:noFill/>
        </p:spPr>
        <p:txBody>
          <a:bodyPr wrap="square" anchor="t" lIns="0" rIns="0" tIns="0" bIns="0">
            <a:spAutoFit/>
          </a:bodyPr>
          <a:lstStyle/>
          <a:p>
            <a:r>
              <a:rPr sz="1500" b="0" i="0">
                <a:solidFill>
                  <a:srgbClr val="1A1440"/>
                </a:solidFill>
                <a:latin typeface="Calibri"/>
              </a:rPr>
              <a:t>When the mean is several times the median, sort the file before quoting either.</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8" name="Oval 27"/>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30" name="Oval 29"/>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32" name="Oval 31"/>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34" name="Oval 33"/>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S63  ·  69 / 76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Where does a trimmed mean of the 30 land?</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Drop the smallest and the largest order and average the other 28: where do you expect it?</a:t>
            </a:r>
          </a:p>
        </p:txBody>
      </p:sp>
      <p:sp>
        <p:nvSpPr>
          <p:cNvPr id="10" name="TextBox 9"/>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Near the mean of Rs 18,160.</a:t>
            </a:r>
          </a:p>
          <a:p>
            <a:pPr>
              <a:spcAft>
                <a:spcPts val="800"/>
              </a:spcAft>
            </a:pPr>
            <a:r>
              <a:rPr sz="1600" b="0" i="0">
                <a:solidFill>
                  <a:srgbClr val="1A1440"/>
                </a:solidFill>
                <a:latin typeface="Calibri"/>
              </a:rPr>
              <a:t>b) Halfway between the mean and the median.</a:t>
            </a:r>
          </a:p>
          <a:p>
            <a:pPr>
              <a:spcAft>
                <a:spcPts val="800"/>
              </a:spcAft>
            </a:pPr>
            <a:r>
              <a:rPr sz="1600" b="0" i="0">
                <a:solidFill>
                  <a:srgbClr val="1A1440"/>
                </a:solidFill>
                <a:latin typeface="Calibri"/>
              </a:rPr>
              <a:t>c) Within about Rs 100 of the median.</a:t>
            </a:r>
          </a:p>
          <a:p>
            <a:pPr>
              <a:spcAft>
                <a:spcPts val="800"/>
              </a:spcAft>
            </a:pPr>
            <a:r>
              <a:rPr sz="1600" b="0" i="0">
                <a:solidFill>
                  <a:srgbClr val="1A1440"/>
                </a:solidFill>
                <a:latin typeface="Calibri"/>
              </a:rPr>
              <a:t>d) Below every order in the file.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3" name="Oval 12"/>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5" name="Oval 14"/>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19" name="Oval 18"/>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D64  ·  70 / 76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Answer: c, the trimmed mean is Rs 2,300</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trimming one order from each end give on this file?</a:t>
            </a:r>
          </a:p>
        </p:txBody>
      </p:sp>
      <p:pic>
        <p:nvPicPr>
          <p:cNvPr id="10" name="mermaid diagram" descr="adab4de946312684.png"/>
          <p:cNvPicPr>
            <a:picLocks noChangeAspect="1"/>
          </p:cNvPicPr>
          <p:nvPr/>
        </p:nvPicPr>
        <p:blipFill>
          <a:blip r:embed="rId5"/>
          <a:stretch>
            <a:fillRect/>
          </a:stretch>
        </p:blipFill>
        <p:spPr>
          <a:xfrm>
            <a:off x="2286863" y="1664208"/>
            <a:ext cx="7617968" cy="3808984"/>
          </a:xfrm>
          <a:prstGeom prst="rect">
            <a:avLst/>
          </a:prstGeom>
        </p:spPr>
      </p:pic>
      <p:sp>
        <p:nvSpPr>
          <p:cNvPr id="11" name="TextBox 10"/>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Trimming one order from each end lands at Rs 2,300, beside the median of Rs 2,205. A trim needs a rule for how many orders to drop and the median needs none, so the median stays the call.</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4" name="Oval 13"/>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6" name="Oval 15"/>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8" name="Oval 1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0" name="Oval 19"/>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D65  ·  71 / 76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Marketing's slide says a typical order is Rs 18,160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goes wrong when the mean is sold as the typical order?</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The plausible wrong answer. </a:t>
            </a:r>
            <a:r>
              <a:rPr sz="1500" b="0" i="0">
                <a:solidFill>
                  <a:srgbClr val="1A1440"/>
                </a:solidFill>
                <a:latin typeface="Calibri"/>
              </a:rPr>
              <a:t>Marketing's slide reads: "A typical Kalpa order is Rs 18,160, and so is each new customer's first order."</a:t>
            </a:r>
          </a:p>
        </p:txBody>
      </p:sp>
      <p:pic>
        <p:nvPicPr>
          <p:cNvPr id="12" name="mermaid diagram" descr="ac7f64a985f1f208.png"/>
          <p:cNvPicPr>
            <a:picLocks noChangeAspect="1"/>
          </p:cNvPicPr>
          <p:nvPr/>
        </p:nvPicPr>
        <p:blipFill>
          <a:blip r:embed="rId5"/>
          <a:stretch>
            <a:fillRect/>
          </a:stretch>
        </p:blipFill>
        <p:spPr>
          <a:xfrm>
            <a:off x="2152497" y="2929128"/>
            <a:ext cx="7886700" cy="1600200"/>
          </a:xfrm>
          <a:prstGeom prst="rect">
            <a:avLst/>
          </a:prstGeom>
        </p:spPr>
      </p:pic>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15" name="Oval 14"/>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17" name="Oval 16"/>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19" name="Oval 1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1" name="Oval 20"/>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S66  ·  72 / 76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Only 1 of the 30 orders sits above the mean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check shows whether Kalpa's orders look like the mean?</a:t>
            </a:r>
          </a:p>
        </p:txBody>
      </p:sp>
      <p:sp>
        <p:nvSpPr>
          <p:cNvPr id="9" name="Rounded Rectangle 8"/>
          <p:cNvSpPr/>
          <p:nvPr/>
        </p:nvSpPr>
        <p:spPr>
          <a:xfrm>
            <a:off x="530352" y="168249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81051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801368"/>
            <a:ext cx="10564063" cy="624840"/>
          </a:xfrm>
          <a:prstGeom prst="rect">
            <a:avLst/>
          </a:prstGeom>
          <a:noFill/>
        </p:spPr>
        <p:txBody>
          <a:bodyPr wrap="square" anchor="ctr" lIns="0" rIns="0" tIns="0" bIns="0">
            <a:spAutoFit/>
          </a:bodyPr>
          <a:lstStyle/>
          <a:p>
            <a:r>
              <a:rPr sz="1500" b="1">
                <a:solidFill>
                  <a:srgbClr val="5B3FD6"/>
                </a:solidFill>
                <a:latin typeface="Calibri"/>
              </a:rPr>
              <a:t>Why it is wrong. </a:t>
            </a:r>
            <a:r>
              <a:rPr sz="1500" b="0" i="0">
                <a:solidFill>
                  <a:srgbClr val="1A1440"/>
                </a:solidFill>
                <a:latin typeface="Calibri"/>
              </a:rPr>
              <a:t>A typical order is one most orders look like, and only 1 of the 30 orders is larger than Rs 18,160, so a payback priced on the mean values each new customer's order about eight times too high.</a:t>
            </a:r>
          </a:p>
        </p:txBody>
      </p:sp>
      <p:sp>
        <p:nvSpPr>
          <p:cNvPr id="12" name="Rounded Rectangle 11"/>
          <p:cNvSpPr/>
          <p:nvPr/>
        </p:nvSpPr>
        <p:spPr>
          <a:xfrm>
            <a:off x="530352" y="2654808"/>
            <a:ext cx="11130991" cy="709676"/>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713232" y="2782824"/>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868680" y="2782824"/>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1024128" y="2782824"/>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04671" y="2983992"/>
            <a:ext cx="10673791" cy="307340"/>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above = sum(1 for a in amounts if a &gt; mean)     # 1</a:t>
            </a:r>
          </a:p>
        </p:txBody>
      </p:sp>
      <p:pic>
        <p:nvPicPr>
          <p:cNvPr id="17" name="mermaid diagram" descr="f5292f8800866544.png"/>
          <p:cNvPicPr>
            <a:picLocks noChangeAspect="1"/>
          </p:cNvPicPr>
          <p:nvPr/>
        </p:nvPicPr>
        <p:blipFill>
          <a:blip r:embed="rId5"/>
          <a:stretch>
            <a:fillRect/>
          </a:stretch>
        </p:blipFill>
        <p:spPr>
          <a:xfrm>
            <a:off x="3839039" y="3529076"/>
            <a:ext cx="4513615" cy="2670555"/>
          </a:xfrm>
          <a:prstGeom prst="rect">
            <a:avLst/>
          </a:prstGeom>
        </p:spPr>
      </p:pic>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0" name="Oval 19"/>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2" name="Oval 21"/>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4" name="Oval 23"/>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6" name="Oval 25"/>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S67  ·  73 / 76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Send the median as typical and the mean for totals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fix change in the numbers Meera sees?</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2,205</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TYPICAL ORDER</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median, booked</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18,160</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MEAN</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kept for totals</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8x</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OVERSTATED</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 first order priced at the mean</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7520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st-checks_bd88901d2a37.png"/>
          <p:cNvPicPr>
            <a:picLocks noChangeAspect="1"/>
          </p:cNvPicPr>
          <p:nvPr/>
        </p:nvPicPr>
        <p:blipFill>
          <a:blip r:embed="rId4"/>
          <a:stretch>
            <a:fillRect/>
          </a:stretch>
        </p:blipFill>
        <p:spPr>
          <a:xfrm>
            <a:off x="868680" y="386181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25" name="TextBox 24"/>
          <p:cNvSpPr txBox="1"/>
          <p:nvPr/>
        </p:nvSpPr>
        <p:spPr>
          <a:xfrm>
            <a:off x="1399031" y="3785616"/>
            <a:ext cx="9987991" cy="682752"/>
          </a:xfrm>
          <a:prstGeom prst="rect">
            <a:avLst/>
          </a:prstGeom>
          <a:noFill/>
        </p:spPr>
        <p:txBody>
          <a:bodyPr wrap="square" anchor="t" lIns="0" rIns="0" tIns="0" bIns="0">
            <a:spAutoFit/>
          </a:bodyPr>
          <a:lstStyle/>
          <a:p>
            <a:r>
              <a:rPr sz="1500" b="0" i="0">
                <a:solidFill>
                  <a:srgbClr val="1A1440"/>
                </a:solidFill>
                <a:latin typeface="Calibri"/>
              </a:rPr>
              <a:t>Report the median for the typical order and the mean for the total, and say how far apart the two are.</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8" name="Oval 27"/>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30" name="Oval 29"/>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32" name="Oval 31"/>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34" name="Oval 33"/>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S68  ·  74 / 76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library's median agrees on both definitions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statistics.median agree with the hand-written middle?</a:t>
            </a:r>
          </a:p>
        </p:txBody>
      </p:sp>
      <p:sp>
        <p:nvSpPr>
          <p:cNvPr id="9" name="Rounded Rectangle 8"/>
          <p:cNvSpPr/>
          <p:nvPr/>
        </p:nvSpPr>
        <p:spPr>
          <a:xfrm>
            <a:off x="530352" y="1956816"/>
            <a:ext cx="11130991" cy="709676"/>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307340"/>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statistics.median(amounts)     # 2205.0, the same as the sorted middle</a:t>
            </a:r>
          </a:p>
        </p:txBody>
      </p:sp>
      <p:graphicFrame>
        <p:nvGraphicFramePr>
          <p:cNvPr id="14" name="Table 13"/>
          <p:cNvGraphicFramePr>
            <a:graphicFrameLocks noGrp="1"/>
          </p:cNvGraphicFramePr>
          <p:nvPr/>
        </p:nvGraphicFramePr>
        <p:xfrm>
          <a:off x="530352" y="2831084"/>
          <a:ext cx="11130990" cy="1005840"/>
        </p:xfrm>
        <a:graphic>
          <a:graphicData uri="http://schemas.openxmlformats.org/drawingml/2006/table">
            <a:tbl>
              <a:tblPr firstRow="0" bandRow="0">
                <a:tableStyleId>{2D5ABB26-0587-4C30-8999-92F81FD0307C}</a:tableStyleId>
              </a:tblPr>
              <a:tblGrid>
                <a:gridCol w="2934501"/>
                <a:gridCol w="914400"/>
                <a:gridCol w="3224556"/>
                <a:gridCol w="4057533"/>
              </a:tblGrid>
              <a:tr h="335280">
                <a:tc>
                  <a:txBody>
                    <a:bodyPr/>
                    <a:lstStyle/>
                    <a:p>
                      <a:r>
                        <a:rPr sz="1250" b="1" i="0">
                          <a:solidFill>
                            <a:srgbClr val="FFFFFF"/>
                          </a:solidFill>
                          <a:latin typeface="Calibri"/>
                        </a:rPr>
                        <a:t>Definition</a:t>
                      </a:r>
                    </a:p>
                  </a:txBody>
                  <a:tcPr marL="101600" marR="101600" marT="38100" marB="38100" anchor="ctr">
                    <a:solidFill>
                      <a:srgbClr val="1A0F5C"/>
                    </a:solidFill>
                  </a:tcPr>
                </a:tc>
                <a:tc>
                  <a:txBody>
                    <a:bodyPr/>
                    <a:lstStyle/>
                    <a:p>
                      <a:r>
                        <a:rPr sz="1250" b="1" i="0">
                          <a:solidFill>
                            <a:srgbClr val="FFFFFF"/>
                          </a:solidFill>
                          <a:latin typeface="Calibri"/>
                        </a:rPr>
                        <a:t>Orders</a:t>
                      </a:r>
                    </a:p>
                  </a:txBody>
                  <a:tcPr marL="101600" marR="101600" marT="38100" marB="38100" anchor="ctr">
                    <a:solidFill>
                      <a:srgbClr val="1A0F5C"/>
                    </a:solidFill>
                  </a:tcPr>
                </a:tc>
                <a:tc>
                  <a:txBody>
                    <a:bodyPr/>
                    <a:lstStyle/>
                    <a:p>
                      <a:r>
                        <a:rPr sz="1250" b="1" i="0">
                          <a:solidFill>
                            <a:srgbClr val="FFFFFF"/>
                          </a:solidFill>
                          <a:latin typeface="Calibri"/>
                        </a:rPr>
                        <a:t>Sorted middle</a:t>
                      </a:r>
                    </a:p>
                  </a:txBody>
                  <a:tcPr marL="101600" marR="101600" marT="38100" marB="38100" anchor="ctr">
                    <a:solidFill>
                      <a:srgbClr val="1A0F5C"/>
                    </a:solidFill>
                  </a:tcPr>
                </a:tc>
                <a:tc>
                  <a:txBody>
                    <a:bodyPr/>
                    <a:lstStyle/>
                    <a:p>
                      <a:r>
                        <a:rPr sz="1250" b="1" i="0">
                          <a:solidFill>
                            <a:srgbClr val="FFFFFF"/>
                          </a:solidFill>
                          <a:latin typeface="Calibri"/>
                        </a:rPr>
                        <a:t>statistics.median</a:t>
                      </a:r>
                    </a:p>
                  </a:txBody>
                  <a:tcPr marL="101600" marR="101600" marT="38100" marB="38100" anchor="ctr">
                    <a:solidFill>
                      <a:srgbClr val="1A0F5C"/>
                    </a:solidFill>
                  </a:tcPr>
                </a:tc>
              </a:tr>
              <a:tr h="335280">
                <a:tc>
                  <a:txBody>
                    <a:bodyPr/>
                    <a:lstStyle/>
                    <a:p>
                      <a:r>
                        <a:rPr sz="1200" b="0" i="0">
                          <a:solidFill>
                            <a:srgbClr val="1A1440"/>
                          </a:solidFill>
                          <a:latin typeface="Calibri"/>
                        </a:rPr>
                        <a:t>Booked</a:t>
                      </a:r>
                    </a:p>
                  </a:txBody>
                  <a:tcPr marL="101600" marR="101600" marT="38100" marB="38100" anchor="ctr">
                    <a:solidFill>
                      <a:srgbClr val="FFFFFF"/>
                    </a:solidFill>
                  </a:tcPr>
                </a:tc>
                <a:tc>
                  <a:txBody>
                    <a:bodyPr/>
                    <a:lstStyle/>
                    <a:p>
                      <a:r>
                        <a:rPr sz="1200" b="0" i="0">
                          <a:solidFill>
                            <a:srgbClr val="1A1440"/>
                          </a:solidFill>
                          <a:latin typeface="Calibri"/>
                        </a:rPr>
                        <a:t>30</a:t>
                      </a:r>
                    </a:p>
                  </a:txBody>
                  <a:tcPr marL="101600" marR="101600" marT="38100" marB="38100" anchor="ctr">
                    <a:solidFill>
                      <a:srgbClr val="FFFFFF"/>
                    </a:solidFill>
                  </a:tcPr>
                </a:tc>
                <a:tc>
                  <a:txBody>
                    <a:bodyPr/>
                    <a:lstStyle/>
                    <a:p>
                      <a:r>
                        <a:rPr sz="1200" b="0" i="0">
                          <a:solidFill>
                            <a:srgbClr val="1A1440"/>
                          </a:solidFill>
                          <a:latin typeface="Calibri"/>
                        </a:rPr>
                        <a:t>Rs 2,205</a:t>
                      </a:r>
                    </a:p>
                  </a:txBody>
                  <a:tcPr marL="101600" marR="101600" marT="38100" marB="38100" anchor="ctr">
                    <a:solidFill>
                      <a:srgbClr val="FFFFFF"/>
                    </a:solidFill>
                  </a:tcPr>
                </a:tc>
                <a:tc>
                  <a:txBody>
                    <a:bodyPr/>
                    <a:lstStyle/>
                    <a:p>
                      <a:r>
                        <a:rPr sz="1200" b="0" i="0">
                          <a:solidFill>
                            <a:srgbClr val="1A1440"/>
                          </a:solidFill>
                          <a:latin typeface="Calibri"/>
                        </a:rPr>
                        <a:t>Rs 2,205</a:t>
                      </a:r>
                    </a:p>
                  </a:txBody>
                  <a:tcPr marL="101600" marR="101600" marT="38100" marB="38100" anchor="ctr">
                    <a:solidFill>
                      <a:srgbClr val="FFFFFF"/>
                    </a:solidFill>
                  </a:tcPr>
                </a:tc>
              </a:tr>
              <a:tr h="335280">
                <a:tc>
                  <a:txBody>
                    <a:bodyPr/>
                    <a:lstStyle/>
                    <a:p>
                      <a:r>
                        <a:rPr sz="1200" b="0" i="0">
                          <a:solidFill>
                            <a:srgbClr val="1A1440"/>
                          </a:solidFill>
                          <a:latin typeface="Calibri"/>
                        </a:rPr>
                        <a:t>Not cancelled</a:t>
                      </a:r>
                    </a:p>
                  </a:txBody>
                  <a:tcPr marL="101600" marR="101600" marT="38100" marB="38100" anchor="ctr">
                    <a:solidFill>
                      <a:srgbClr val="F4F2FA"/>
                    </a:solidFill>
                  </a:tcPr>
                </a:tc>
                <a:tc>
                  <a:txBody>
                    <a:bodyPr/>
                    <a:lstStyle/>
                    <a:p>
                      <a:r>
                        <a:rPr sz="1200" b="0" i="0">
                          <a:solidFill>
                            <a:srgbClr val="1A1440"/>
                          </a:solidFill>
                          <a:latin typeface="Calibri"/>
                        </a:rPr>
                        <a:t>26</a:t>
                      </a:r>
                    </a:p>
                  </a:txBody>
                  <a:tcPr marL="101600" marR="101600" marT="38100" marB="38100" anchor="ctr">
                    <a:solidFill>
                      <a:srgbClr val="F4F2FA"/>
                    </a:solidFill>
                  </a:tcPr>
                </a:tc>
                <a:tc>
                  <a:txBody>
                    <a:bodyPr/>
                    <a:lstStyle/>
                    <a:p>
                      <a:r>
                        <a:rPr sz="1200" b="0" i="0">
                          <a:solidFill>
                            <a:srgbClr val="1A1440"/>
                          </a:solidFill>
                          <a:latin typeface="Calibri"/>
                        </a:rPr>
                        <a:t>Rs 2,100</a:t>
                      </a:r>
                    </a:p>
                  </a:txBody>
                  <a:tcPr marL="101600" marR="101600" marT="38100" marB="38100" anchor="ctr">
                    <a:solidFill>
                      <a:srgbClr val="F4F2FA"/>
                    </a:solidFill>
                  </a:tcPr>
                </a:tc>
                <a:tc>
                  <a:txBody>
                    <a:bodyPr/>
                    <a:lstStyle/>
                    <a:p>
                      <a:r>
                        <a:rPr sz="1200" b="0" i="0">
                          <a:solidFill>
                            <a:srgbClr val="1A1440"/>
                          </a:solidFill>
                          <a:latin typeface="Calibri"/>
                        </a:rPr>
                        <a:t>Rs 2,100</a:t>
                      </a:r>
                    </a:p>
                  </a:txBody>
                  <a:tcPr marL="101600" marR="101600" marT="38100" marB="38100" anchor="ctr">
                    <a:solidFill>
                      <a:srgbClr val="F4F2FA"/>
                    </a:solidFill>
                  </a:tcPr>
                </a:tc>
              </a:tr>
            </a:tbl>
          </a:graphicData>
        </a:graphic>
      </p:graphicFrame>
      <p:sp>
        <p:nvSpPr>
          <p:cNvPr id="15" name="Rounded Rectangle 14"/>
          <p:cNvSpPr/>
          <p:nvPr/>
        </p:nvSpPr>
        <p:spPr>
          <a:xfrm>
            <a:off x="530352" y="409295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44251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checks_bd88901d2a37.png"/>
          <p:cNvPicPr>
            <a:picLocks noChangeAspect="1"/>
          </p:cNvPicPr>
          <p:nvPr/>
        </p:nvPicPr>
        <p:blipFill>
          <a:blip r:embed="rId4"/>
          <a:stretch>
            <a:fillRect/>
          </a:stretch>
        </p:blipFill>
        <p:spPr>
          <a:xfrm>
            <a:off x="868680" y="4534916"/>
            <a:ext cx="237744" cy="237744"/>
          </a:xfrm>
          <a:prstGeom prst="rect">
            <a:avLst/>
          </a:prstGeom>
        </p:spPr>
      </p:pic>
      <p:sp>
        <p:nvSpPr>
          <p:cNvPr id="18" name="TextBox 17"/>
          <p:cNvSpPr txBox="1"/>
          <p:nvPr/>
        </p:nvSpPr>
        <p:spPr>
          <a:xfrm>
            <a:off x="1399031" y="42392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9" name="TextBox 18"/>
          <p:cNvSpPr txBox="1"/>
          <p:nvPr/>
        </p:nvSpPr>
        <p:spPr>
          <a:xfrm>
            <a:off x="1399031" y="4458716"/>
            <a:ext cx="9987991" cy="682752"/>
          </a:xfrm>
          <a:prstGeom prst="rect">
            <a:avLst/>
          </a:prstGeom>
          <a:noFill/>
        </p:spPr>
        <p:txBody>
          <a:bodyPr wrap="square" anchor="t" lIns="0" rIns="0" tIns="0" bIns="0">
            <a:spAutoFit/>
          </a:bodyPr>
          <a:lstStyle/>
          <a:p>
            <a:r>
              <a:rPr sz="1500" b="0" i="0">
                <a:solidFill>
                  <a:srgbClr val="1A1440"/>
                </a:solidFill>
                <a:latin typeface="Calibri"/>
              </a:rPr>
              <a:t>Write the middle once by hand so the even-count rule is yours, then use the library, and in Week 2 PERCENTILE_CONT(0.5) in SQL and median in pandas.</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2" name="Oval 21"/>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4" name="Oval 23"/>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6" name="Oval 2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8" name="Oval 27"/>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S69  ·  75 / 76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typical Kalpa order is Rs 2,205, the median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typical Kalpa order look like, stated so that one large order cannot move it?</a:t>
            </a:r>
          </a:p>
        </p:txBody>
      </p:sp>
      <p:graphicFrame>
        <p:nvGraphicFramePr>
          <p:cNvPr id="9" name="Table 8"/>
          <p:cNvGraphicFramePr>
            <a:graphicFrameLocks noGrp="1"/>
          </p:cNvGraphicFramePr>
          <p:nvPr/>
        </p:nvGraphicFramePr>
        <p:xfrm>
          <a:off x="530352" y="1794764"/>
          <a:ext cx="11130990" cy="2226056"/>
        </p:xfrm>
        <a:graphic>
          <a:graphicData uri="http://schemas.openxmlformats.org/drawingml/2006/table">
            <a:tbl>
              <a:tblPr firstRow="0" bandRow="0">
                <a:tableStyleId>{2D5ABB26-0587-4C30-8999-92F81FD0307C}</a:tableStyleId>
              </a:tblPr>
              <a:tblGrid>
                <a:gridCol w="3123985"/>
                <a:gridCol w="8007005"/>
              </a:tblGrid>
              <a:tr h="318008">
                <a:tc>
                  <a:txBody>
                    <a:bodyPr/>
                    <a:lstStyle/>
                    <a:p>
                      <a:r>
                        <a:rPr sz="1150" b="1" i="0">
                          <a:solidFill>
                            <a:srgbClr val="FFFFFF"/>
                          </a:solidFill>
                          <a:latin typeface="Calibri"/>
                        </a:rPr>
                        <a:t>Question</a:t>
                      </a:r>
                    </a:p>
                  </a:txBody>
                  <a:tcPr marL="101600" marR="101600" marT="38100" marB="38100" anchor="ctr">
                    <a:solidFill>
                      <a:srgbClr val="1A0F5C"/>
                    </a:solidFill>
                  </a:tcPr>
                </a:tc>
                <a:tc>
                  <a:txBody>
                    <a:bodyPr/>
                    <a:lstStyle/>
                    <a:p>
                      <a:r>
                        <a:rPr sz="1150" b="1" i="0">
                          <a:solidFill>
                            <a:srgbClr val="FFFFFF"/>
                          </a:solidFill>
                          <a:latin typeface="Calibri"/>
                        </a:rPr>
                        <a:t>Answer</a:t>
                      </a:r>
                    </a:p>
                  </a:txBody>
                  <a:tcPr marL="101600" marR="101600" marT="38100" marB="38100" anchor="ctr">
                    <a:solidFill>
                      <a:srgbClr val="1A0F5C"/>
                    </a:solidFill>
                  </a:tcPr>
                </a:tc>
              </a:tr>
              <a:tr h="318008">
                <a:tc>
                  <a:txBody>
                    <a:bodyPr/>
                    <a:lstStyle/>
                    <a:p>
                      <a:r>
                        <a:rPr sz="1100" b="0" i="0">
                          <a:solidFill>
                            <a:srgbClr val="1A1440"/>
                          </a:solidFill>
                          <a:latin typeface="Calibri"/>
                        </a:rPr>
                        <a:t>What does it price?</a:t>
                      </a:r>
                    </a:p>
                  </a:txBody>
                  <a:tcPr marL="101600" marR="101600" marT="38100" marB="38100" anchor="ctr">
                    <a:solidFill>
                      <a:srgbClr val="FFFFFF"/>
                    </a:solidFill>
                  </a:tcPr>
                </a:tc>
                <a:tc>
                  <a:txBody>
                    <a:bodyPr/>
                    <a:lstStyle/>
                    <a:p>
                      <a:r>
                        <a:rPr sz="1100" b="0" i="0">
                          <a:solidFill>
                            <a:srgbClr val="1A1440"/>
                          </a:solidFill>
                          <a:latin typeface="Calibri"/>
                        </a:rPr>
                        <a:t>It prices each new customer's first order in marketing's payback.</a:t>
                      </a:r>
                    </a:p>
                  </a:txBody>
                  <a:tcPr marL="101600" marR="101600" marT="38100" marB="38100" anchor="ctr">
                    <a:solidFill>
                      <a:srgbClr val="FFFFFF"/>
                    </a:solidFill>
                  </a:tcPr>
                </a:tc>
              </a:tr>
              <a:tr h="318008">
                <a:tc>
                  <a:txBody>
                    <a:bodyPr/>
                    <a:lstStyle/>
                    <a:p>
                      <a:r>
                        <a:rPr sz="1100" b="0" i="0">
                          <a:solidFill>
                            <a:srgbClr val="1A1440"/>
                          </a:solidFill>
                          <a:latin typeface="Calibri"/>
                        </a:rPr>
                        <a:t>Which middle survives?</a:t>
                      </a:r>
                    </a:p>
                  </a:txBody>
                  <a:tcPr marL="101600" marR="101600" marT="38100" marB="38100" anchor="ctr">
                    <a:solidFill>
                      <a:srgbClr val="F4F2FA"/>
                    </a:solidFill>
                  </a:tcPr>
                </a:tc>
                <a:tc>
                  <a:txBody>
                    <a:bodyPr/>
                    <a:lstStyle/>
                    <a:p>
                      <a:r>
                        <a:rPr sz="1100" b="0" i="0">
                          <a:solidFill>
                            <a:srgbClr val="1A1440"/>
                          </a:solidFill>
                          <a:latin typeface="Calibri"/>
                        </a:rPr>
                        <a:t>The median survives, since it moves one place when a large order joins.</a:t>
                      </a:r>
                    </a:p>
                  </a:txBody>
                  <a:tcPr marL="101600" marR="101600" marT="38100" marB="38100" anchor="ctr">
                    <a:solidFill>
                      <a:srgbClr val="F4F2FA"/>
                    </a:solidFill>
                  </a:tcPr>
                </a:tc>
              </a:tr>
              <a:tr h="318008">
                <a:tc>
                  <a:txBody>
                    <a:bodyPr/>
                    <a:lstStyle/>
                    <a:p>
                      <a:r>
                        <a:rPr sz="1100" b="0" i="0">
                          <a:solidFill>
                            <a:srgbClr val="1A1440"/>
                          </a:solidFill>
                          <a:latin typeface="Calibri"/>
                        </a:rPr>
                        <a:t>What is the median?</a:t>
                      </a:r>
                    </a:p>
                  </a:txBody>
                  <a:tcPr marL="101600" marR="101600" marT="38100" marB="38100" anchor="ctr">
                    <a:solidFill>
                      <a:srgbClr val="FFFFFF"/>
                    </a:solidFill>
                  </a:tcPr>
                </a:tc>
                <a:tc>
                  <a:txBody>
                    <a:bodyPr/>
                    <a:lstStyle/>
                    <a:p>
                      <a:r>
                        <a:rPr sz="1100" b="0" i="0">
                          <a:solidFill>
                            <a:srgbClr val="1A1440"/>
                          </a:solidFill>
                          <a:latin typeface="Calibri"/>
                        </a:rPr>
                        <a:t>It is Rs 2,205, halfway between Rs 2,110 and Rs 2,300.</a:t>
                      </a:r>
                    </a:p>
                  </a:txBody>
                  <a:tcPr marL="101600" marR="101600" marT="38100" marB="38100" anchor="ctr">
                    <a:solidFill>
                      <a:srgbClr val="FFFFFF"/>
                    </a:solidFill>
                  </a:tcPr>
                </a:tc>
              </a:tr>
              <a:tr h="318008">
                <a:tc>
                  <a:txBody>
                    <a:bodyPr/>
                    <a:lstStyle/>
                    <a:p>
                      <a:r>
                        <a:rPr sz="1100" b="0" i="0">
                          <a:solidFill>
                            <a:srgbClr val="1A1440"/>
                          </a:solidFill>
                          <a:latin typeface="Calibri"/>
                        </a:rPr>
                        <a:t>The mean as typical?</a:t>
                      </a:r>
                    </a:p>
                  </a:txBody>
                  <a:tcPr marL="101600" marR="101600" marT="38100" marB="38100" anchor="ctr">
                    <a:solidFill>
                      <a:srgbClr val="F4F2FA"/>
                    </a:solidFill>
                  </a:tcPr>
                </a:tc>
                <a:tc>
                  <a:txBody>
                    <a:bodyPr/>
                    <a:lstStyle/>
                    <a:p>
                      <a:r>
                        <a:rPr sz="1100" b="0" i="0">
                          <a:solidFill>
                            <a:srgbClr val="1A1440"/>
                          </a:solidFill>
                          <a:latin typeface="Calibri"/>
                        </a:rPr>
                        <a:t>Only 1 of the 30 orders sits above the Rs 18,160 mean.</a:t>
                      </a:r>
                    </a:p>
                  </a:txBody>
                  <a:tcPr marL="101600" marR="101600" marT="38100" marB="38100" anchor="ctr">
                    <a:solidFill>
                      <a:srgbClr val="F4F2FA"/>
                    </a:solidFill>
                  </a:tcPr>
                </a:tc>
              </a:tr>
              <a:tr h="318008">
                <a:tc>
                  <a:txBody>
                    <a:bodyPr/>
                    <a:lstStyle/>
                    <a:p>
                      <a:r>
                        <a:rPr sz="1100" b="0" i="0">
                          <a:solidFill>
                            <a:srgbClr val="1A1440"/>
                          </a:solidFill>
                          <a:latin typeface="Calibri"/>
                        </a:rPr>
                        <a:t>Does the library agree?</a:t>
                      </a:r>
                    </a:p>
                  </a:txBody>
                  <a:tcPr marL="101600" marR="101600" marT="38100" marB="38100" anchor="ctr">
                    <a:solidFill>
                      <a:srgbClr val="FFFFFF"/>
                    </a:solidFill>
                  </a:tcPr>
                </a:tc>
                <a:tc>
                  <a:txBody>
                    <a:bodyPr/>
                    <a:lstStyle/>
                    <a:p>
                      <a:r>
                        <a:rPr sz="1100" b="0" i="0">
                          <a:solidFill>
                            <a:srgbClr val="1A1440"/>
                          </a:solidFill>
                          <a:latin typeface="Calibri"/>
                        </a:rPr>
                        <a:t>statistics.median gives Rs 2,205, and Rs 2,100 on the not-cancelled orders.</a:t>
                      </a:r>
                    </a:p>
                  </a:txBody>
                  <a:tcPr marL="101600" marR="101600" marT="38100" marB="38100" anchor="ctr">
                    <a:solidFill>
                      <a:srgbClr val="FFFFFF"/>
                    </a:solidFill>
                  </a:tcPr>
                </a:tc>
              </a:tr>
              <a:tr h="318008">
                <a:tc>
                  <a:txBody>
                    <a:bodyPr/>
                    <a:lstStyle/>
                    <a:p>
                      <a:r>
                        <a:rPr sz="1100" b="0" i="0">
                          <a:solidFill>
                            <a:srgbClr val="1A1440"/>
                          </a:solidFill>
                          <a:latin typeface="Calibri"/>
                        </a:rPr>
                        <a:t>What goes into the payback?</a:t>
                      </a:r>
                    </a:p>
                  </a:txBody>
                  <a:tcPr marL="101600" marR="101600" marT="38100" marB="38100" anchor="ctr">
                    <a:solidFill>
                      <a:srgbClr val="F4F2FA"/>
                    </a:solidFill>
                  </a:tcPr>
                </a:tc>
                <a:tc>
                  <a:txBody>
                    <a:bodyPr/>
                    <a:lstStyle/>
                    <a:p>
                      <a:r>
                        <a:rPr sz="1100" b="0" i="0">
                          <a:solidFill>
                            <a:srgbClr val="1A1440"/>
                          </a:solidFill>
                          <a:latin typeface="Calibri"/>
                        </a:rPr>
                        <a:t>It takes a mean from the customers the spend targets, with the median quoted as the typical order.</a:t>
                      </a:r>
                    </a:p>
                  </a:txBody>
                  <a:tcPr marL="101600" marR="101600" marT="38100" marB="38100" anchor="ctr">
                    <a:solidFill>
                      <a:srgbClr val="F4F2FA"/>
                    </a:solidFill>
                  </a:tcPr>
                </a:tc>
              </a:tr>
            </a:tbl>
          </a:graphicData>
        </a:graphic>
      </p:graphicFrame>
      <p:sp>
        <p:nvSpPr>
          <p:cNvPr id="10" name="Rounded Rectangle 9"/>
          <p:cNvSpPr/>
          <p:nvPr/>
        </p:nvSpPr>
        <p:spPr>
          <a:xfrm>
            <a:off x="530352" y="4276852"/>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45973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569460"/>
            <a:ext cx="237744" cy="237744"/>
          </a:xfrm>
          <a:prstGeom prst="rect">
            <a:avLst/>
          </a:prstGeom>
        </p:spPr>
      </p:pic>
      <p:sp>
        <p:nvSpPr>
          <p:cNvPr id="13" name="TextBox 12"/>
          <p:cNvSpPr txBox="1"/>
          <p:nvPr/>
        </p:nvSpPr>
        <p:spPr>
          <a:xfrm>
            <a:off x="1399031" y="442315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642612"/>
            <a:ext cx="9987991" cy="384048"/>
          </a:xfrm>
          <a:prstGeom prst="rect">
            <a:avLst/>
          </a:prstGeom>
          <a:noFill/>
        </p:spPr>
        <p:txBody>
          <a:bodyPr wrap="square" anchor="t" lIns="0" rIns="0" tIns="0" bIns="0">
            <a:spAutoFit/>
          </a:bodyPr>
          <a:lstStyle/>
          <a:p>
            <a:r>
              <a:rPr sz="1100" b="0" i="0">
                <a:solidFill>
                  <a:srgbClr val="1A1440"/>
                </a:solidFill>
                <a:latin typeface="Calibri"/>
              </a:rPr>
              <a:t>"Anand said no averages, and now you know why. Put the median in the sentence and say the mean is about eight times higher."</a:t>
            </a:r>
          </a:p>
        </p:txBody>
      </p:sp>
      <p:sp>
        <p:nvSpPr>
          <p:cNvPr id="15" name="Rounded Rectangle 14"/>
          <p:cNvSpPr/>
          <p:nvPr/>
        </p:nvSpPr>
        <p:spPr>
          <a:xfrm>
            <a:off x="530352" y="5264404"/>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472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57012"/>
            <a:ext cx="237744" cy="237744"/>
          </a:xfrm>
          <a:prstGeom prst="rect">
            <a:avLst/>
          </a:prstGeom>
        </p:spPr>
      </p:pic>
      <p:sp>
        <p:nvSpPr>
          <p:cNvPr id="18" name="TextBox 17"/>
          <p:cNvSpPr txBox="1"/>
          <p:nvPr/>
        </p:nvSpPr>
        <p:spPr>
          <a:xfrm>
            <a:off x="1399031" y="541070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630164"/>
            <a:ext cx="9987991" cy="384048"/>
          </a:xfrm>
          <a:prstGeom prst="rect">
            <a:avLst/>
          </a:prstGeom>
          <a:noFill/>
        </p:spPr>
        <p:txBody>
          <a:bodyPr wrap="square" anchor="t" lIns="0" rIns="0" tIns="0" bIns="0">
            <a:spAutoFit/>
          </a:bodyPr>
          <a:lstStyle/>
          <a:p>
            <a:r>
              <a:rPr sz="1100" b="0" i="0">
                <a:solidFill>
                  <a:srgbClr val="1A1440"/>
                </a:solidFill>
                <a:latin typeface="Calibri"/>
              </a:rPr>
              <a:t>[S] Mean or median for order value, and why?</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How does retail earn</a:t>
            </a:r>
          </a:p>
        </p:txBody>
      </p:sp>
      <p:sp>
        <p:nvSpPr>
          <p:cNvPr id="22" name="Oval 21"/>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03568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total is sales</a:t>
            </a:r>
          </a:p>
        </p:txBody>
      </p:sp>
      <p:sp>
        <p:nvSpPr>
          <p:cNvPr id="24" name="Oval 23"/>
          <p:cNvSpPr/>
          <p:nvPr/>
        </p:nvSpPr>
        <p:spPr>
          <a:xfrm>
            <a:off x="332155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431285"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What is each branch</a:t>
            </a:r>
          </a:p>
        </p:txBody>
      </p:sp>
      <p:sp>
        <p:nvSpPr>
          <p:cNvPr id="26" name="Oval 2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78088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Do customers come back</a:t>
            </a:r>
          </a:p>
        </p:txBody>
      </p:sp>
      <p:sp>
        <p:nvSpPr>
          <p:cNvPr id="28" name="Oval 27"/>
          <p:cNvSpPr/>
          <p:nvPr/>
        </p:nvSpPr>
        <p:spPr>
          <a:xfrm>
            <a:off x="61587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268497"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a typical order</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S70  ·  76 / 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