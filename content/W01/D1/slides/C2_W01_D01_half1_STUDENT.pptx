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wants the</a:t>
            </a:r>
          </a:p>
          <a:p>
            <a:r>
              <a:t>warehouse queried, never exported.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reaches a decision it was never built for.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an agent is only as safe as its policy and the limits around it. Keep the domain card back</a:t>
            </a:r>
          </a:p>
          <a:p>
            <a:r>
              <a:t>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Make one point: the largest</a:t>
            </a:r>
          </a:p>
          <a:p>
            <a:r>
              <a:t>retailer in 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 engineer who can say what the data cannot</a:t>
            </a:r>
          </a:p>
          <a:p>
            <a:r>
              <a:t>answer saves the CEO from a guess.</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both totals on the root of the board tree, each with its</a:t>
            </a:r>
          </a:p>
          <a:p>
            <a:r>
              <a:t>definition.</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down the table.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The point is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The switch that matters is chapter 4's: when the question is what a</a:t>
            </a:r>
          </a:p>
          <a:p>
            <a:r>
              <a:t>typical order 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point is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 The switch to SQL is Week 2's.</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the case for the budget, made by a counting slip. Ask what would check it before the</a:t>
            </a:r>
          </a:p>
          <a:p>
            <a:r>
              <a:t>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set keeps each value once however often it is added, so the list's 30 against the</a:t>
            </a:r>
          </a:p>
          <a:p>
            <a:r>
              <a:t>set's 23 says 7 orders came from people who had already bought.</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Two middles that far apart are a finding in themselves.</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the switch that still matters is between middles, since the mean comes back</a:t>
            </a:r>
          </a:p>
          <a:p>
            <a:r>
              <a:t>whenever a 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6e49ef48999e1989.png"/>
          <p:cNvPicPr>
            <a:picLocks noChangeAspect="1"/>
          </p:cNvPicPr>
          <p:nvPr/>
        </p:nvPicPr>
        <p:blipFill>
          <a:blip r:embed="rId5"/>
          <a:stretch>
            <a:fillRect/>
          </a:stretch>
        </p:blipFill>
        <p:spPr>
          <a:xfrm>
            <a:off x="530352" y="1956816"/>
            <a:ext cx="11130991" cy="394424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the shelf to Monday's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3f8161a49132def9.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f3348aaf59c80f92.png"/>
          <p:cNvPicPr>
            <a:picLocks noChangeAspect="1"/>
          </p:cNvPicPr>
          <p:nvPr/>
        </p:nvPicPr>
        <p:blipFill>
          <a:blip r:embed="rId5"/>
          <a:stretch>
            <a:fillRect/>
          </a:stretch>
        </p:blipFill>
        <p:spPr>
          <a:xfrm>
            <a:off x="2081847" y="1664208"/>
            <a:ext cx="802800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0152f89ecf866c8e.png"/>
          <p:cNvPicPr>
            <a:picLocks noChangeAspect="1"/>
          </p:cNvPicPr>
          <p:nvPr/>
        </p:nvPicPr>
        <p:blipFill>
          <a:blip r:embed="rId5"/>
          <a:stretch>
            <a:fillRect/>
          </a:stretch>
        </p:blipFill>
        <p:spPr>
          <a:xfrm>
            <a:off x="530352" y="1956816"/>
            <a:ext cx="11130991" cy="738438"/>
          </a:xfrm>
          <a:prstGeom prst="rect">
            <a:avLst/>
          </a:prstGeom>
        </p:spPr>
      </p:pic>
      <p:graphicFrame>
        <p:nvGraphicFramePr>
          <p:cNvPr id="10" name="Table 9"/>
          <p:cNvGraphicFramePr>
            <a:graphicFrameLocks noGrp="1"/>
          </p:cNvGraphicFramePr>
          <p:nvPr/>
        </p:nvGraphicFramePr>
        <p:xfrm>
          <a:off x="530352" y="2841558"/>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b0704b47a3cbb9d0.png"/>
          <p:cNvPicPr>
            <a:picLocks noChangeAspect="1"/>
          </p:cNvPicPr>
          <p:nvPr/>
        </p:nvPicPr>
        <p:blipFill>
          <a:blip r:embed="rId5"/>
          <a:stretch>
            <a:fillRect/>
          </a:stretch>
        </p:blipFill>
        <p:spPr>
          <a:xfrm>
            <a:off x="530352" y="1903641"/>
            <a:ext cx="4786326" cy="4074845"/>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7599fe091b06d96c.png"/>
          <p:cNvPicPr>
            <a:picLocks noChangeAspect="1"/>
          </p:cNvPicPr>
          <p:nvPr/>
        </p:nvPicPr>
        <p:blipFill>
          <a:blip r:embed="rId6"/>
          <a:stretch>
            <a:fillRect/>
          </a:stretch>
        </p:blipFill>
        <p:spPr>
          <a:xfrm>
            <a:off x="2866355" y="1664208"/>
            <a:ext cx="645898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1efa8da59bf12e23.png"/>
          <p:cNvPicPr>
            <a:picLocks noChangeAspect="1"/>
          </p:cNvPicPr>
          <p:nvPr/>
        </p:nvPicPr>
        <p:blipFill>
          <a:blip r:embed="rId5"/>
          <a:stretch>
            <a:fillRect/>
          </a:stretch>
        </p:blipFill>
        <p:spPr>
          <a:xfrm>
            <a:off x="780897" y="1956816"/>
            <a:ext cx="10629900" cy="1857375"/>
          </a:xfrm>
          <a:prstGeom prst="rect">
            <a:avLst/>
          </a:prstGeom>
        </p:spPr>
      </p:pic>
      <p:graphicFrame>
        <p:nvGraphicFramePr>
          <p:cNvPr id="10" name="Table 9"/>
          <p:cNvGraphicFramePr>
            <a:graphicFrameLocks noGrp="1"/>
          </p:cNvGraphicFramePr>
          <p:nvPr/>
        </p:nvGraphicFramePr>
        <p:xfrm>
          <a:off x="530352" y="3960495"/>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this file?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0c6f76d5c380c438.png"/>
          <p:cNvPicPr>
            <a:picLocks noChangeAspect="1"/>
          </p:cNvPicPr>
          <p:nvPr/>
        </p:nvPicPr>
        <p:blipFill>
          <a:blip r:embed="rId6"/>
          <a:stretch>
            <a:fillRect/>
          </a:stretch>
        </p:blipFill>
        <p:spPr>
          <a:xfrm>
            <a:off x="593760" y="1682496"/>
            <a:ext cx="4659509" cy="4517136"/>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this file?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f8a67af25d61b8a9.png"/>
          <p:cNvPicPr>
            <a:picLocks noChangeAspect="1"/>
          </p:cNvPicPr>
          <p:nvPr/>
        </p:nvPicPr>
        <p:blipFill>
          <a:blip r:embed="rId5"/>
          <a:stretch>
            <a:fillRect/>
          </a:stretch>
        </p:blipFill>
        <p:spPr>
          <a:xfrm>
            <a:off x="530352" y="1956816"/>
            <a:ext cx="11130991" cy="1187305"/>
          </a:xfrm>
          <a:prstGeom prst="rect">
            <a:avLst/>
          </a:prstGeom>
        </p:spPr>
      </p:pic>
      <p:sp>
        <p:nvSpPr>
          <p:cNvPr id="10" name="TextBox 9"/>
          <p:cNvSpPr txBox="1"/>
          <p:nvPr/>
        </p:nvSpPr>
        <p:spPr>
          <a:xfrm>
            <a:off x="530352" y="329042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67307e52744f980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38afa10b774664b9.png"/>
          <p:cNvPicPr>
            <a:picLocks noChangeAspect="1"/>
          </p:cNvPicPr>
          <p:nvPr/>
        </p:nvPicPr>
        <p:blipFill>
          <a:blip r:embed="rId5"/>
          <a:stretch>
            <a:fillRect/>
          </a:stretch>
        </p:blipFill>
        <p:spPr>
          <a:xfrm>
            <a:off x="2152497" y="2929128"/>
            <a:ext cx="7886700" cy="1600200"/>
          </a:xfrm>
          <a:prstGeom prst="rect">
            <a:avLst/>
          </a:prstGeom>
        </p:spPr>
      </p:pic>
      <p:sp>
        <p:nvSpPr>
          <p:cNvPr id="13" name="TextBox 12"/>
          <p:cNvSpPr txBox="1"/>
          <p:nvPr/>
        </p:nvSpPr>
        <p:spPr>
          <a:xfrm>
            <a:off x="530352" y="46756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d0687df179c50ce5.png"/>
          <p:cNvPicPr>
            <a:picLocks noChangeAspect="1"/>
          </p:cNvPicPr>
          <p:nvPr/>
        </p:nvPicPr>
        <p:blipFill>
          <a:blip r:embed="rId5"/>
          <a:stretch>
            <a:fillRect/>
          </a:stretch>
        </p:blipFill>
        <p:spPr>
          <a:xfrm>
            <a:off x="530352" y="1956816"/>
            <a:ext cx="11130991" cy="1261812"/>
          </a:xfrm>
          <a:prstGeom prst="rect">
            <a:avLst/>
          </a:prstGeom>
        </p:spPr>
      </p:pic>
      <p:sp>
        <p:nvSpPr>
          <p:cNvPr id="10" name="TextBox 9"/>
          <p:cNvSpPr txBox="1"/>
          <p:nvPr/>
        </p:nvSpPr>
        <p:spPr>
          <a:xfrm>
            <a:off x="530352" y="3364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sentence for Meera names the definition first: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sp>
        <p:nvSpPr>
          <p:cNvPr id="9" name="Rounded Rectangle 8"/>
          <p:cNvSpPr/>
          <p:nvPr/>
        </p:nvSpPr>
        <p:spPr>
          <a:xfrm>
            <a:off x="530352" y="1682496"/>
            <a:ext cx="529117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pic>
        <p:nvPicPr>
          <p:cNvPr id="14" name="mermaid diagram" descr="f0830e2210d9a970.png"/>
          <p:cNvPicPr>
            <a:picLocks noChangeAspect="1"/>
          </p:cNvPicPr>
          <p:nvPr/>
        </p:nvPicPr>
        <p:blipFill>
          <a:blip r:embed="rId6"/>
          <a:stretch>
            <a:fillRect/>
          </a:stretch>
        </p:blipFill>
        <p:spPr>
          <a:xfrm>
            <a:off x="6370167" y="1682496"/>
            <a:ext cx="5291175" cy="2271754"/>
          </a:xfrm>
          <a:prstGeom prst="rect">
            <a:avLst/>
          </a:prstGeom>
        </p:spPr>
      </p:pic>
      <p:sp>
        <p:nvSpPr>
          <p:cNvPr id="15" name="Rounded Rectangle 14"/>
          <p:cNvSpPr/>
          <p:nvPr/>
        </p:nvSpPr>
        <p:spPr>
          <a:xfrm>
            <a:off x="6370167" y="4100554"/>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98767" y="46918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708495" y="4801594"/>
            <a:ext cx="237744" cy="237744"/>
          </a:xfrm>
          <a:prstGeom prst="rect">
            <a:avLst/>
          </a:prstGeom>
        </p:spPr>
      </p:pic>
      <p:sp>
        <p:nvSpPr>
          <p:cNvPr id="18" name="TextBox 17"/>
          <p:cNvSpPr txBox="1"/>
          <p:nvPr/>
        </p:nvSpPr>
        <p:spPr>
          <a:xfrm>
            <a:off x="7238847" y="4246858"/>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7238847" y="4466314"/>
            <a:ext cx="4148175" cy="120091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gets Rs 5,35,760, named net of cancellations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792969"/>
                <a:gridCol w="833802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needs sales?</a:t>
                      </a:r>
                    </a:p>
                  </a:txBody>
                  <a:tcPr marL="101600" marR="101600" marT="38100" marB="38100" anchor="ctr">
                    <a:solidFill>
                      <a:srgbClr val="FFFFFF"/>
                    </a:solidFill>
                  </a:tcPr>
                </a:tc>
                <a:tc>
                  <a:txBody>
                    <a:bodyPr/>
                    <a:lstStyle/>
                    <a:p>
                      <a:r>
                        <a:rPr sz="900" b="0" i="0">
                          <a:solidFill>
                            <a:srgbClr val="1A1440"/>
                          </a:solidFill>
                          <a:latin typeface="Calibri"/>
                        </a:rPr>
                        <a:t>Meera needs it for the plan's base, and Anand needs it to match his books.</a:t>
                      </a:r>
                    </a:p>
                  </a:txBody>
                  <a:tcPr marL="101600" marR="101600" marT="38100" marB="38100" anchor="ctr">
                    <a:solidFill>
                      <a:srgbClr val="FFFFFF"/>
                    </a:solidFill>
                  </a:tcPr>
                </a:tc>
              </a:tr>
              <a:tr h="310896">
                <a:tc>
                  <a:txBody>
                    <a:bodyPr/>
                    <a:lstStyle/>
                    <a:p>
                      <a:r>
                        <a:rPr sz="900" b="0" i="0">
                          <a:solidFill>
                            <a:srgbClr val="1A1440"/>
                          </a:solidFill>
                          <a:latin typeface="Calibri"/>
                        </a:rPr>
                        <a:t>Which way fits?</a:t>
                      </a:r>
                    </a:p>
                  </a:txBody>
                  <a:tcPr marL="101600" marR="101600" marT="38100" marB="38100" anchor="ctr">
                    <a:solidFill>
                      <a:srgbClr val="F4F2FA"/>
                    </a:solidFill>
                  </a:tcPr>
                </a:tc>
                <a:tc>
                  <a:txBody>
                    <a:bodyPr/>
                    <a:lstStyle/>
                    <a:p>
                      <a:r>
                        <a:rPr sz="900" b="0" i="0">
                          <a:solidFill>
                            <a:srgbClr val="1A1440"/>
                          </a:solidFill>
                          <a:latin typeface="Calibri"/>
                        </a:rPr>
                        <a:t>One pass that sums by status, with a bridge, fits this file.</a:t>
                      </a:r>
                    </a:p>
                  </a:txBody>
                  <a:tcPr marL="101600" marR="101600" marT="38100" marB="38100" anchor="ctr">
                    <a:solidFill>
                      <a:srgbClr val="F4F2FA"/>
                    </a:solidFill>
                  </a:tcPr>
                </a:tc>
              </a:tr>
              <a:tr h="310896">
                <a:tc>
                  <a:txBody>
                    <a:bodyPr/>
                    <a:lstStyle/>
                    <a:p>
                      <a:r>
                        <a:rPr sz="900" b="0" i="0">
                          <a:solidFill>
                            <a:srgbClr val="1A1440"/>
                          </a:solidFill>
                          <a:latin typeface="Calibri"/>
                        </a:rPr>
                        <a:t>Which reading is largest?</a:t>
                      </a:r>
                    </a:p>
                  </a:txBody>
                  <a:tcPr marL="101600" marR="101600" marT="38100" marB="38100" anchor="ctr">
                    <a:solidFill>
                      <a:srgbClr val="FFFFFF"/>
                    </a:solidFill>
                  </a:tcPr>
                </a:tc>
                <a:tc>
                  <a:txBody>
                    <a:bodyPr/>
                    <a:lstStyle/>
                    <a:p>
                      <a:r>
                        <a:rPr sz="900" b="0" i="0">
                          <a:solidFill>
                            <a:srgbClr val="1A1440"/>
                          </a:solidFill>
                          <a:latin typeface="Calibri"/>
                        </a:rPr>
                        <a:t>Booked is Rs 5,44,810, then not cancelled Rs 5,35,760, then delivered Rs 5,20,790.</a:t>
                      </a:r>
                    </a:p>
                  </a:txBody>
                  <a:tcPr marL="101600" marR="101600" marT="38100" marB="38100" anchor="ctr">
                    <a:solidFill>
                      <a:srgbClr val="FFFFFF"/>
                    </a:solidFill>
                  </a:tcPr>
                </a:tc>
              </a:tr>
              <a:tr h="310896">
                <a:tc>
                  <a:txBody>
                    <a:bodyPr/>
                    <a:lstStyle/>
                    <a:p>
                      <a:r>
                        <a:rPr sz="900" b="0" i="0">
                          <a:solidFill>
                            <a:srgbClr val="1A1440"/>
                          </a:solidFill>
                          <a:latin typeface="Calibri"/>
                        </a:rPr>
                        <a:t>All 30 as sales?</a:t>
                      </a:r>
                    </a:p>
                  </a:txBody>
                  <a:tcPr marL="101600" marR="101600" marT="38100" marB="38100" anchor="ctr">
                    <a:solidFill>
                      <a:srgbClr val="F4F2FA"/>
                    </a:solidFill>
                  </a:tcPr>
                </a:tc>
                <a:tc>
                  <a:txBody>
                    <a:bodyPr/>
                    <a:lstStyle/>
                    <a:p>
                      <a:r>
                        <a:rPr sz="900" b="0" i="0">
                          <a:solidFill>
                            <a:srgbClr val="1A1440"/>
                          </a:solidFill>
                          <a:latin typeface="Calibri"/>
                        </a:rPr>
                        <a:t>That total counts 4 cancelled store orders, Rs 9,050 that was never sold.</a:t>
                      </a:r>
                    </a:p>
                  </a:txBody>
                  <a:tcPr marL="101600" marR="101600" marT="38100" marB="38100" anchor="ctr">
                    <a:solidFill>
                      <a:srgbClr val="F4F2FA"/>
                    </a:solidFill>
                  </a:tcPr>
                </a:tc>
              </a:tr>
              <a:tr h="310896">
                <a:tc>
                  <a:txBody>
                    <a:bodyPr/>
                    <a:lstStyle/>
                    <a:p>
                      <a:r>
                        <a:rPr sz="900" b="0" i="0">
                          <a:solidFill>
                            <a:srgbClr val="1A1440"/>
                          </a:solidFill>
                          <a:latin typeface="Calibri"/>
                        </a:rPr>
                        <a:t>Sums by status?</a:t>
                      </a:r>
                    </a:p>
                  </a:txBody>
                  <a:tcPr marL="101600" marR="101600" marT="38100" marB="38100" anchor="ctr">
                    <a:solidFill>
                      <a:srgbClr val="FFFFFF"/>
                    </a:solidFill>
                  </a:tcPr>
                </a:tc>
                <a:tc>
                  <a:txBody>
                    <a:bodyPr/>
                    <a:lstStyle/>
                    <a:p>
                      <a:r>
                        <a:rPr sz="900" b="0" i="0">
                          <a:solidFill>
                            <a:srgbClr val="1A1440"/>
                          </a:solidFill>
                          <a:latin typeface="Calibri"/>
                        </a:rPr>
                        <a:t>They reach the same three totals to the rupee.</a:t>
                      </a:r>
                    </a:p>
                  </a:txBody>
                  <a:tcPr marL="101600" marR="101600" marT="38100" marB="38100" anchor="ctr">
                    <a:solidFill>
                      <a:srgbClr val="FFFFFF"/>
                    </a:solidFill>
                  </a:tcPr>
                </a:tc>
              </a:tr>
              <a:tr h="310896">
                <a:tc>
                  <a:txBody>
                    <a:bodyPr/>
                    <a:lstStyle/>
                    <a:p>
                      <a:r>
                        <a:rPr sz="900" b="0" i="0">
                          <a:solidFill>
                            <a:srgbClr val="1A1440"/>
                          </a:solidFill>
                          <a:latin typeface="Calibri"/>
                        </a:rPr>
                        <a:t>The tree's root?</a:t>
                      </a:r>
                    </a:p>
                  </a:txBody>
                  <a:tcPr marL="101600" marR="101600" marT="38100" marB="38100" anchor="ctr">
                    <a:solidFill>
                      <a:srgbClr val="F4F2FA"/>
                    </a:solidFill>
                  </a:tcPr>
                </a:tc>
                <a:tc>
                  <a:txBody>
                    <a:bodyPr/>
                    <a:lstStyle/>
                    <a:p>
                      <a:r>
                        <a:rPr sz="900" b="0" i="0">
                          <a:solidFill>
                            <a:srgbClr val="1A1440"/>
                          </a:solidFill>
                          <a:latin typeface="Calibri"/>
                        </a:rPr>
                        <a:t>It carries Rs 5,35,760 net of cancellations, with delivered beside it.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counts as "sales": booked, net of cancellations, or delivered, and which do you give a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35b42452d49721de.png"/>
          <p:cNvPicPr>
            <a:picLocks noChangeAspect="1"/>
          </p:cNvPicPr>
          <p:nvPr/>
        </p:nvPicPr>
        <p:blipFill>
          <a:blip r:embed="rId5"/>
          <a:stretch>
            <a:fillRect/>
          </a:stretch>
        </p:blipFill>
        <p:spPr>
          <a:xfrm>
            <a:off x="530352" y="1956816"/>
            <a:ext cx="11130991" cy="1371475"/>
          </a:xfrm>
          <a:prstGeom prst="rect">
            <a:avLst/>
          </a:prstGeom>
        </p:spPr>
      </p:pic>
      <p:graphicFrame>
        <p:nvGraphicFramePr>
          <p:cNvPr id="10" name="Table 9"/>
          <p:cNvGraphicFramePr>
            <a:graphicFrameLocks noGrp="1"/>
          </p:cNvGraphicFramePr>
          <p:nvPr/>
        </p:nvGraphicFramePr>
        <p:xfrm>
          <a:off x="530352" y="3474595"/>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the branches the way this chapter multiplies Kalpa's.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46a61d914ad3f811.png"/>
          <p:cNvPicPr>
            <a:picLocks noChangeAspect="1"/>
          </p:cNvPicPr>
          <p:nvPr/>
        </p:nvPicPr>
        <p:blipFill>
          <a:blip r:embed="rId5"/>
          <a:stretch>
            <a:fillRect/>
          </a:stretch>
        </p:blipFill>
        <p:spPr>
          <a:xfrm>
            <a:off x="2234799" y="1682496"/>
            <a:ext cx="772209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3e6219a3c68d20be.png"/>
          <p:cNvPicPr>
            <a:picLocks noChangeAspect="1"/>
          </p:cNvPicPr>
          <p:nvPr/>
        </p:nvPicPr>
        <p:blipFill>
          <a:blip r:embed="rId5"/>
          <a:stretch>
            <a:fillRect/>
          </a:stretch>
        </p:blipFill>
        <p:spPr>
          <a:xfrm>
            <a:off x="1359541" y="1956816"/>
            <a:ext cx="9472612"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db354801d02206f5.png"/>
          <p:cNvPicPr>
            <a:picLocks noChangeAspect="1"/>
          </p:cNvPicPr>
          <p:nvPr/>
        </p:nvPicPr>
        <p:blipFill>
          <a:blip r:embed="rId5"/>
          <a:stretch>
            <a:fillRect/>
          </a:stretch>
        </p:blipFill>
        <p:spPr>
          <a:xfrm>
            <a:off x="530352" y="2412098"/>
            <a:ext cx="4786326" cy="3057930"/>
          </a:xfrm>
          <a:prstGeom prst="rect">
            <a:avLst/>
          </a:prstGeom>
        </p:spPr>
      </p:pic>
      <p:sp>
        <p:nvSpPr>
          <p:cNvPr id="10" name="TextBox 9"/>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eb9444bd459b1eae.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643bfbd18658dae2.png"/>
          <p:cNvPicPr>
            <a:picLocks noChangeAspect="1"/>
          </p:cNvPicPr>
          <p:nvPr/>
        </p:nvPicPr>
        <p:blipFill>
          <a:blip r:embed="rId6"/>
          <a:stretch>
            <a:fillRect/>
          </a:stretch>
        </p:blipFill>
        <p:spPr>
          <a:xfrm>
            <a:off x="530352" y="2292440"/>
            <a:ext cx="4786326" cy="3297246"/>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437222"/>
                <a:gridCol w="869376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Why fractions?</a:t>
                      </a:r>
                    </a:p>
                  </a:txBody>
                  <a:tcPr marL="101600" marR="101600" marT="38100" marB="38100" anchor="ctr">
                    <a:solidFill>
                      <a:srgbClr val="FFFFFF"/>
                    </a:solidFill>
                  </a:tcPr>
                </a:tc>
                <a:tc>
                  <a:txBody>
                    <a:bodyPr/>
                    <a:lstStyle/>
                    <a:p>
                      <a:r>
                        <a:rPr sz="900" b="0" i="0">
                          <a:solidFill>
                            <a:srgbClr val="1A1440"/>
                          </a:solidFill>
                          <a:latin typeface="Calibri"/>
                        </a:rPr>
                        <a:t>Each branch is a numerator over a denominator, so the branches multiply back to revenue.</a:t>
                      </a:r>
                    </a:p>
                  </a:txBody>
                  <a:tcPr marL="101600" marR="101600" marT="38100" marB="38100" anchor="ctr">
                    <a:solidFill>
                      <a:srgbClr val="FFFFFF"/>
                    </a:solidFill>
                  </a:tcPr>
                </a:tc>
              </a:tr>
              <a:tr h="310896">
                <a:tc>
                  <a:txBody>
                    <a:bodyPr/>
                    <a:lstStyle/>
                    <a:p>
                      <a:r>
                        <a:rPr sz="900" b="0" i="0">
                          <a:solidFill>
                            <a:srgbClr val="1A1440"/>
                          </a:solidFill>
                          <a:latin typeface="Calibri"/>
                        </a:rPr>
                        <a:t>Which tree?</a:t>
                      </a:r>
                    </a:p>
                  </a:txBody>
                  <a:tcPr marL="101600" marR="101600" marT="38100" marB="38100" anchor="ctr">
                    <a:solidFill>
                      <a:srgbClr val="F4F2FA"/>
                    </a:solidFill>
                  </a:tcPr>
                </a:tc>
                <a:tc>
                  <a:txBody>
                    <a:bodyPr/>
                    <a:lstStyle/>
                    <a:p>
                      <a:r>
                        <a:rPr sz="900" b="0" i="0">
                          <a:solidFill>
                            <a:srgbClr val="1A1440"/>
                          </a:solidFill>
                          <a:latin typeface="Calibri"/>
                        </a:rPr>
                        <a:t>Customers x orders per customer x AOV is the deepest tree this file fills.</a:t>
                      </a:r>
                    </a:p>
                  </a:txBody>
                  <a:tcPr marL="101600" marR="101600" marT="38100" marB="38100" anchor="ctr">
                    <a:solidFill>
                      <a:srgbClr val="F4F2FA"/>
                    </a:solidFill>
                  </a:tcPr>
                </a:tc>
              </a:tr>
              <a:tr h="310896">
                <a:tc>
                  <a:txBody>
                    <a:bodyPr/>
                    <a:lstStyle/>
                    <a:p>
                      <a:r>
                        <a:rPr sz="900" b="0" i="0">
                          <a:solidFill>
                            <a:srgbClr val="1A1440"/>
                          </a:solidFill>
                          <a:latin typeface="Calibri"/>
                        </a:rPr>
                        <a:t>The AOV?</a:t>
                      </a:r>
                    </a:p>
                  </a:txBody>
                  <a:tcPr marL="101600" marR="101600" marT="38100" marB="38100" anchor="ctr">
                    <a:solidFill>
                      <a:srgbClr val="FFFFFF"/>
                    </a:solidFill>
                  </a:tcPr>
                </a:tc>
                <a:tc>
                  <a:txBody>
                    <a:bodyPr/>
                    <a:lstStyle/>
                    <a:p>
                      <a:r>
                        <a:rPr sz="900" b="0" i="0">
                          <a:solidFill>
                            <a:srgbClr val="1A1440"/>
                          </a:solidFill>
                          <a:latin typeface="Calibri"/>
                        </a:rPr>
                        <a:t>It is Rs 18,160, booked revenue over 30 orders.</a:t>
                      </a:r>
                    </a:p>
                  </a:txBody>
                  <a:tcPr marL="101600" marR="101600" marT="38100" marB="38100" anchor="ctr">
                    <a:solidFill>
                      <a:srgbClr val="FFFFFF"/>
                    </a:solidFill>
                  </a:tcPr>
                </a:tc>
              </a:tr>
              <a:tr h="310896">
                <a:tc>
                  <a:txBody>
                    <a:bodyPr/>
                    <a:lstStyle/>
                    <a:p>
                      <a:r>
                        <a:rPr sz="900" b="0" i="0">
                          <a:solidFill>
                            <a:srgbClr val="1A1440"/>
                          </a:solidFill>
                          <a:latin typeface="Calibri"/>
                        </a:rPr>
                        <a:t>Booked over delivered?</a:t>
                      </a:r>
                    </a:p>
                  </a:txBody>
                  <a:tcPr marL="101600" marR="101600" marT="38100" marB="38100" anchor="ctr">
                    <a:solidFill>
                      <a:srgbClr val="F4F2FA"/>
                    </a:solidFill>
                  </a:tcPr>
                </a:tc>
                <a:tc>
                  <a:txBody>
                    <a:bodyPr/>
                    <a:lstStyle/>
                    <a:p>
                      <a:r>
                        <a:rPr sz="900" b="0" i="0">
                          <a:solidFill>
                            <a:srgbClr val="1A1440"/>
                          </a:solidFill>
                          <a:latin typeface="Calibri"/>
                        </a:rPr>
                        <a:t>It gives Rs 25,943, which matches no definition and claims Rs 7,78,300.</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30 amounts is the same Rs 18,160.</a:t>
                      </a:r>
                    </a:p>
                  </a:txBody>
                  <a:tcPr marL="101600" marR="101600" marT="38100" marB="38100" anchor="ctr">
                    <a:solidFill>
                      <a:srgbClr val="FFFFFF"/>
                    </a:solidFill>
                  </a:tcPr>
                </a:tc>
              </a:tr>
              <a:tr h="310896">
                <a:tc>
                  <a:txBody>
                    <a:bodyPr/>
                    <a:lstStyle/>
                    <a:p>
                      <a:r>
                        <a:rPr sz="900" b="0" i="0">
                          <a:solidFill>
                            <a:srgbClr val="1A1440"/>
                          </a:solidFill>
                          <a:latin typeface="Calibri"/>
                        </a:rPr>
                        <a:t>What is missing?</a:t>
                      </a:r>
                    </a:p>
                  </a:txBody>
                  <a:tcPr marL="101600" marR="101600" marT="38100" marB="38100" anchor="ctr">
                    <a:solidFill>
                      <a:srgbClr val="F4F2FA"/>
                    </a:solidFill>
                  </a:tcPr>
                </a:tc>
                <a:tc>
                  <a:txBody>
                    <a:bodyPr/>
                    <a:lstStyle/>
                    <a:p>
                      <a:r>
                        <a:rPr sz="900" b="0" i="0">
                          <a:solidFill>
                            <a:srgbClr val="1A1440"/>
                          </a:solidFill>
                          <a:latin typeface="Calibri"/>
                        </a:rPr>
                        <a:t>Items, price and discounts are missing, so order value cannot be split yet.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How would you increase sales for an online retailer?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sp>
        <p:nvSpPr>
          <p:cNvPr id="9" name="Rounded Rectangle 8"/>
          <p:cNvSpPr/>
          <p:nvPr/>
        </p:nvSpPr>
        <p:spPr>
          <a:xfrm>
            <a:off x="530352" y="1682496"/>
            <a:ext cx="5291175"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68275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pic>
        <p:nvPicPr>
          <p:cNvPr id="14" name="mermaid diagram" descr="324864c13355ad43.png"/>
          <p:cNvPicPr>
            <a:picLocks noChangeAspect="1"/>
          </p:cNvPicPr>
          <p:nvPr/>
        </p:nvPicPr>
        <p:blipFill>
          <a:blip r:embed="rId6"/>
          <a:stretch>
            <a:fillRect/>
          </a:stretch>
        </p:blipFill>
        <p:spPr>
          <a:xfrm>
            <a:off x="530352" y="2968752"/>
            <a:ext cx="5291175" cy="2608843"/>
          </a:xfrm>
          <a:prstGeom prst="rect">
            <a:avLst/>
          </a:prstGeom>
        </p:spPr>
      </p:pic>
      <p:graphicFrame>
        <p:nvGraphicFramePr>
          <p:cNvPr id="15" name="Table 14"/>
          <p:cNvGraphicFramePr>
            <a:graphicFrameLocks noGrp="1"/>
          </p:cNvGraphicFramePr>
          <p:nvPr/>
        </p:nvGraphicFramePr>
        <p:xfrm>
          <a:off x="6370167" y="1682496"/>
          <a:ext cx="5291174" cy="2802128"/>
        </p:xfrm>
        <a:graphic>
          <a:graphicData uri="http://schemas.openxmlformats.org/drawingml/2006/table">
            <a:tbl>
              <a:tblPr firstRow="0" bandRow="0">
                <a:tableStyleId>{2D5ABB26-0587-4C30-8999-92F81FD0307C}</a:tableStyleId>
              </a:tblPr>
              <a:tblGrid>
                <a:gridCol w="2581132"/>
                <a:gridCol w="2710042"/>
              </a:tblGrid>
              <a:tr h="1095248">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853440">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995ad796a7a9b998.png"/>
          <p:cNvPicPr>
            <a:picLocks noChangeAspect="1"/>
          </p:cNvPicPr>
          <p:nvPr/>
        </p:nvPicPr>
        <p:blipFill>
          <a:blip r:embed="rId5"/>
          <a:stretch>
            <a:fillRect/>
          </a:stretch>
        </p:blipFill>
        <p:spPr>
          <a:xfrm>
            <a:off x="2152497" y="1874488"/>
            <a:ext cx="78867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4404402cbd5eef5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3e7a8d9c59ec9a68.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ad7d7c8718461cdd.png"/>
          <p:cNvPicPr>
            <a:picLocks noChangeAspect="1"/>
          </p:cNvPicPr>
          <p:nvPr/>
        </p:nvPicPr>
        <p:blipFill>
          <a:blip r:embed="rId5"/>
          <a:stretch>
            <a:fillRect/>
          </a:stretch>
        </p:blipFill>
        <p:spPr>
          <a:xfrm>
            <a:off x="2152497" y="2929128"/>
            <a:ext cx="7886700" cy="1600200"/>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draft's 1.00 goes nowhere, 7 returning customers are visible again, and "nobody comes back" leaves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50052"/>
                <a:gridCol w="818093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What rides on the count?</a:t>
                      </a:r>
                    </a:p>
                  </a:txBody>
                  <a:tcPr marL="101600" marR="101600" marT="38100" marB="38100" anchor="ctr">
                    <a:solidFill>
                      <a:srgbClr val="FFFFFF"/>
                    </a:solidFill>
                  </a:tcPr>
                </a:tc>
                <a:tc>
                  <a:txBody>
                    <a:bodyPr/>
                    <a:lstStyle/>
                    <a:p>
                      <a:r>
                        <a:rPr sz="900" b="0" i="0">
                          <a:solidFill>
                            <a:srgbClr val="1A1440"/>
                          </a:solidFill>
                          <a:latin typeface="Calibri"/>
                        </a:rPr>
                        <a:t>It decides whether acquisition is the only branch before Meera signs Rs 12 crore.</a:t>
                      </a:r>
                    </a:p>
                  </a:txBody>
                  <a:tcPr marL="101600" marR="101600" marT="38100" marB="38100" anchor="ctr">
                    <a:solidFill>
                      <a:srgbClr val="FFFFFF"/>
                    </a:solidFill>
                  </a:tcPr>
                </a:tc>
              </a:tr>
              <a:tr h="310896">
                <a:tc>
                  <a:txBody>
                    <a:bodyPr/>
                    <a:lstStyle/>
                    <a:p>
                      <a:r>
                        <a:rPr sz="900" b="0" i="0">
                          <a:solidFill>
                            <a:srgbClr val="1A1440"/>
                          </a:solidFill>
                          <a:latin typeface="Calibri"/>
                        </a:rPr>
                        <a:t>How are customers counted?</a:t>
                      </a:r>
                    </a:p>
                  </a:txBody>
                  <a:tcPr marL="101600" marR="101600" marT="38100" marB="38100" anchor="ctr">
                    <a:solidFill>
                      <a:srgbClr val="F4F2FA"/>
                    </a:solidFill>
                  </a:tcPr>
                </a:tc>
                <a:tc>
                  <a:txBody>
                    <a:bodyPr/>
                    <a:lstStyle/>
                    <a:p>
                      <a:r>
                        <a:rPr sz="900" b="0" i="0">
                          <a:solidFill>
                            <a:srgbClr val="1A1440"/>
                          </a:solidFill>
                          <a:latin typeface="Calibri"/>
                        </a:rPr>
                        <a:t>A row is an order, so customers are counted by distinct id.</a:t>
                      </a:r>
                    </a:p>
                  </a:txBody>
                  <a:tcPr marL="101600" marR="101600" marT="38100" marB="38100" anchor="ctr">
                    <a:solidFill>
                      <a:srgbClr val="F4F2FA"/>
                    </a:solidFill>
                  </a:tcPr>
                </a:tc>
              </a:tr>
              <a:tr h="310896">
                <a:tc>
                  <a:txBody>
                    <a:bodyPr/>
                    <a:lstStyle/>
                    <a:p>
                      <a:r>
                        <a:rPr sz="900" b="0" i="0">
                          <a:solidFill>
                            <a:srgbClr val="1A1440"/>
                          </a:solidFill>
                          <a:latin typeface="Calibri"/>
                        </a:rPr>
                        <a:t>How many came back?</a:t>
                      </a:r>
                    </a:p>
                  </a:txBody>
                  <a:tcPr marL="101600" marR="101600" marT="38100" marB="38100" anchor="ctr">
                    <a:solidFill>
                      <a:srgbClr val="FFFFFF"/>
                    </a:solidFill>
                  </a:tcPr>
                </a:tc>
                <a:tc>
                  <a:txBody>
                    <a:bodyPr/>
                    <a:lstStyle/>
                    <a:p>
                      <a:r>
                        <a:rPr sz="900" b="0" i="0">
                          <a:solidFill>
                            <a:srgbClr val="1A1440"/>
                          </a:solidFill>
                          <a:latin typeface="Calibri"/>
                        </a:rPr>
                        <a:t>7 of 23 customers came back and 16 bought once, 1.30 orders each.</a:t>
                      </a:r>
                    </a:p>
                  </a:txBody>
                  <a:tcPr marL="101600" marR="101600" marT="38100" marB="38100" anchor="ctr">
                    <a:solidFill>
                      <a:srgbClr val="FFFFFF"/>
                    </a:solidFill>
                  </a:tcPr>
                </a:tc>
              </a:tr>
              <a:tr h="310896">
                <a:tc>
                  <a:txBody>
                    <a:bodyPr/>
                    <a:lstStyle/>
                    <a:p>
                      <a:r>
                        <a:rPr sz="900" b="0" i="0">
                          <a:solidFill>
                            <a:srgbClr val="1A1440"/>
                          </a:solidFill>
                          <a:latin typeface="Calibri"/>
                        </a:rPr>
                        <a:t>Every row a customer?</a:t>
                      </a:r>
                    </a:p>
                  </a:txBody>
                  <a:tcPr marL="101600" marR="101600" marT="38100" marB="38100" anchor="ctr">
                    <a:solidFill>
                      <a:srgbClr val="F4F2FA"/>
                    </a:solidFill>
                  </a:tcPr>
                </a:tc>
                <a:tc>
                  <a:txBody>
                    <a:bodyPr/>
                    <a:lstStyle/>
                    <a:p>
                      <a:r>
                        <a:rPr sz="900" b="0" i="0">
                          <a:solidFill>
                            <a:srgbClr val="1A1440"/>
                          </a:solidFill>
                          <a:latin typeface="Calibri"/>
                        </a:rPr>
                        <a:t>The draft's 30 at 1.00 each says nobody comes back, and the ids say 7 did.</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23 counts is also 1.30.</a:t>
                      </a:r>
                    </a:p>
                  </a:txBody>
                  <a:tcPr marL="101600" marR="101600" marT="38100" marB="38100" anchor="ctr">
                    <a:solidFill>
                      <a:srgbClr val="FFFFFF"/>
                    </a:solidFill>
                  </a:tcPr>
                </a:tc>
              </a:tr>
              <a:tr h="310896">
                <a:tc>
                  <a:txBody>
                    <a:bodyPr/>
                    <a:lstStyle/>
                    <a:p>
                      <a:r>
                        <a:rPr sz="900" b="0" i="0">
                          <a:solidFill>
                            <a:srgbClr val="1A1440"/>
                          </a:solidFill>
                          <a:latin typeface="Calibri"/>
                        </a:rPr>
                        <a:t>Which count goes on the tree?</a:t>
                      </a:r>
                    </a:p>
                  </a:txBody>
                  <a:tcPr marL="101600" marR="101600" marT="38100" marB="38100" anchor="ctr">
                    <a:solidFill>
                      <a:srgbClr val="F4F2FA"/>
                    </a:solidFill>
                  </a:tcPr>
                </a:tc>
                <a:tc>
                  <a:txBody>
                    <a:bodyPr/>
                    <a:lstStyle/>
                    <a:p>
                      <a:r>
                        <a:rPr sz="900" b="0" i="0">
                          <a:solidFill>
                            <a:srgbClr val="1A1440"/>
                          </a:solidFill>
                          <a:latin typeface="Calibri"/>
                        </a:rPr>
                        <a:t>23 customers at 1.30 orders each, written as booked orders from 1 July to 26 September.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"Your first 30 was a count of rows, divided as if it were people. A count of people comes from their ids, and every rate you send upstairs names its denominator."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Your extract shows 30 orders and 30 customers; what do you check before saying nobody comes back?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middle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e36dd5e1b7a1445b.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7f12e7ad326eac1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adab4de946312684.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ac7f64a985f1f208.png"/>
          <p:cNvPicPr>
            <a:picLocks noChangeAspect="1"/>
          </p:cNvPicPr>
          <p:nvPr/>
        </p:nvPicPr>
        <p:blipFill>
          <a:blip r:embed="rId5"/>
          <a:stretch>
            <a:fillRect/>
          </a:stretch>
        </p:blipFill>
        <p:spPr>
          <a:xfrm>
            <a:off x="2152497" y="2929128"/>
            <a:ext cx="7886700" cy="1600200"/>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68249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65480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78282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78282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78282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298399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a514fe383fee3821.png"/>
          <p:cNvPicPr>
            <a:picLocks noChangeAspect="1"/>
          </p:cNvPicPr>
          <p:nvPr/>
        </p:nvPicPr>
        <p:blipFill>
          <a:blip r:embed="rId5"/>
          <a:stretch>
            <a:fillRect/>
          </a:stretch>
        </p:blipFill>
        <p:spPr>
          <a:xfrm>
            <a:off x="3630718" y="3529076"/>
            <a:ext cx="4930257" cy="267055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123985"/>
                <a:gridCol w="800700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does it price?</a:t>
                      </a:r>
                    </a:p>
                  </a:txBody>
                  <a:tcPr marL="101600" marR="101600" marT="38100" marB="38100" anchor="ctr">
                    <a:solidFill>
                      <a:srgbClr val="FFFFFF"/>
                    </a:solidFill>
                  </a:tcPr>
                </a:tc>
                <a:tc>
                  <a:txBody>
                    <a:bodyPr/>
                    <a:lstStyle/>
                    <a:p>
                      <a:r>
                        <a:rPr sz="1100" b="0" i="0">
                          <a:solidFill>
                            <a:srgbClr val="1A1440"/>
                          </a:solidFill>
                          <a:latin typeface="Calibri"/>
                        </a:rPr>
                        <a:t>It prices each new customer's first order in marketing's payback.</a:t>
                      </a:r>
                    </a:p>
                  </a:txBody>
                  <a:tcPr marL="101600" marR="101600" marT="38100" marB="38100" anchor="ctr">
                    <a:solidFill>
                      <a:srgbClr val="FFFFFF"/>
                    </a:solidFill>
                  </a:tcPr>
                </a:tc>
              </a:tr>
              <a:tr h="318008">
                <a:tc>
                  <a:txBody>
                    <a:bodyPr/>
                    <a:lstStyle/>
                    <a:p>
                      <a:r>
                        <a:rPr sz="1100" b="0" i="0">
                          <a:solidFill>
                            <a:srgbClr val="1A1440"/>
                          </a:solidFill>
                          <a:latin typeface="Calibri"/>
                        </a:rPr>
                        <a:t>Which middle survives?</a:t>
                      </a:r>
                    </a:p>
                  </a:txBody>
                  <a:tcPr marL="101600" marR="101600" marT="38100" marB="38100" anchor="ctr">
                    <a:solidFill>
                      <a:srgbClr val="F4F2FA"/>
                    </a:solidFill>
                  </a:tcPr>
                </a:tc>
                <a:tc>
                  <a:txBody>
                    <a:bodyPr/>
                    <a:lstStyle/>
                    <a:p>
                      <a:r>
                        <a:rPr sz="1100" b="0" i="0">
                          <a:solidFill>
                            <a:srgbClr val="1A1440"/>
                          </a:solidFill>
                          <a:latin typeface="Calibri"/>
                        </a:rPr>
                        <a:t>The median survives, since it moves one place when a large order joins.</a:t>
                      </a:r>
                    </a:p>
                  </a:txBody>
                  <a:tcPr marL="101600" marR="101600" marT="38100" marB="38100" anchor="ctr">
                    <a:solidFill>
                      <a:srgbClr val="F4F2FA"/>
                    </a:solidFill>
                  </a:tcPr>
                </a:tc>
              </a:tr>
              <a:tr h="318008">
                <a:tc>
                  <a:txBody>
                    <a:bodyPr/>
                    <a:lstStyle/>
                    <a:p>
                      <a:r>
                        <a:rPr sz="1100" b="0" i="0">
                          <a:solidFill>
                            <a:srgbClr val="1A1440"/>
                          </a:solidFill>
                          <a:latin typeface="Calibri"/>
                        </a:rPr>
                        <a:t>What is the median?</a:t>
                      </a:r>
                    </a:p>
                  </a:txBody>
                  <a:tcPr marL="101600" marR="101600" marT="38100" marB="38100" anchor="ctr">
                    <a:solidFill>
                      <a:srgbClr val="FFFFFF"/>
                    </a:solidFill>
                  </a:tcPr>
                </a:tc>
                <a:tc>
                  <a:txBody>
                    <a:bodyPr/>
                    <a:lstStyle/>
                    <a:p>
                      <a:r>
                        <a:rPr sz="1100" b="0" i="0">
                          <a:solidFill>
                            <a:srgbClr val="1A1440"/>
                          </a:solidFill>
                          <a:latin typeface="Calibri"/>
                        </a:rPr>
                        <a:t>It is Rs 2,205, halfway between Rs 2,110 and Rs 2,300.</a:t>
                      </a:r>
                    </a:p>
                  </a:txBody>
                  <a:tcPr marL="101600" marR="101600" marT="38100" marB="38100" anchor="ctr">
                    <a:solidFill>
                      <a:srgbClr val="FFFFFF"/>
                    </a:solidFill>
                  </a:tcPr>
                </a:tc>
              </a:tr>
              <a:tr h="318008">
                <a:tc>
                  <a:txBody>
                    <a:bodyPr/>
                    <a:lstStyle/>
                    <a:p>
                      <a:r>
                        <a:rPr sz="1100" b="0" i="0">
                          <a:solidFill>
                            <a:srgbClr val="1A1440"/>
                          </a:solidFill>
                          <a:latin typeface="Calibri"/>
                        </a:rPr>
                        <a:t>The mean as typical?</a:t>
                      </a:r>
                    </a:p>
                  </a:txBody>
                  <a:tcPr marL="101600" marR="101600" marT="38100" marB="38100" anchor="ctr">
                    <a:solidFill>
                      <a:srgbClr val="F4F2FA"/>
                    </a:solidFill>
                  </a:tcPr>
                </a:tc>
                <a:tc>
                  <a:txBody>
                    <a:bodyPr/>
                    <a:lstStyle/>
                    <a:p>
                      <a:r>
                        <a:rPr sz="1100" b="0" i="0">
                          <a:solidFill>
                            <a:srgbClr val="1A1440"/>
                          </a:solidFill>
                          <a:latin typeface="Calibri"/>
                        </a:rPr>
                        <a:t>Only 1 of the 30 orders sits above the Rs 18,160 mean.</a:t>
                      </a:r>
                    </a:p>
                  </a:txBody>
                  <a:tcPr marL="101600" marR="101600" marT="38100" marB="38100" anchor="ctr">
                    <a:solidFill>
                      <a:srgbClr val="F4F2FA"/>
                    </a:solidFill>
                  </a:tcPr>
                </a:tc>
              </a:tr>
              <a:tr h="318008">
                <a:tc>
                  <a:txBody>
                    <a:bodyPr/>
                    <a:lstStyle/>
                    <a:p>
                      <a:r>
                        <a:rPr sz="1100" b="0" i="0">
                          <a:solidFill>
                            <a:srgbClr val="1A1440"/>
                          </a:solidFill>
                          <a:latin typeface="Calibri"/>
                        </a:rPr>
                        <a:t>Does the library agree?</a:t>
                      </a:r>
                    </a:p>
                  </a:txBody>
                  <a:tcPr marL="101600" marR="101600" marT="38100" marB="38100" anchor="ctr">
                    <a:solidFill>
                      <a:srgbClr val="FFFFFF"/>
                    </a:solidFill>
                  </a:tcPr>
                </a:tc>
                <a:tc>
                  <a:txBody>
                    <a:bodyPr/>
                    <a:lstStyle/>
                    <a:p>
                      <a:r>
                        <a:rPr sz="1100" b="0" i="0">
                          <a:solidFill>
                            <a:srgbClr val="1A1440"/>
                          </a:solidFill>
                          <a:latin typeface="Calibri"/>
                        </a:rPr>
                        <a:t>statistics.median gives Rs 2,205, and Rs 2,100 on the not-cancelled orders.</a:t>
                      </a:r>
                    </a:p>
                  </a:txBody>
                  <a:tcPr marL="101600" marR="101600" marT="38100" marB="38100" anchor="ctr">
                    <a:solidFill>
                      <a:srgbClr val="FFFFFF"/>
                    </a:solidFill>
                  </a:tcPr>
                </a:tc>
              </a:tr>
              <a:tr h="318008">
                <a:tc>
                  <a:txBody>
                    <a:bodyPr/>
                    <a:lstStyle/>
                    <a:p>
                      <a:r>
                        <a:rPr sz="1100" b="0" i="0">
                          <a:solidFill>
                            <a:srgbClr val="1A1440"/>
                          </a:solidFill>
                          <a:latin typeface="Calibri"/>
                        </a:rPr>
                        <a:t>What goes into the payback?</a:t>
                      </a:r>
                    </a:p>
                  </a:txBody>
                  <a:tcPr marL="101600" marR="101600" marT="38100" marB="38100" anchor="ctr">
                    <a:solidFill>
                      <a:srgbClr val="F4F2FA"/>
                    </a:solidFill>
                  </a:tcPr>
                </a:tc>
                <a:tc>
                  <a:txBody>
                    <a:bodyPr/>
                    <a:lstStyle/>
                    <a:p>
                      <a:r>
                        <a:rPr sz="1100" b="0" i="0">
                          <a:solidFill>
                            <a:srgbClr val="1A1440"/>
                          </a:solidFill>
                          <a:latin typeface="Calibri"/>
                        </a:rPr>
                        <a:t>It takes a mean from the customers the spend targets, with the median quoted as the typical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