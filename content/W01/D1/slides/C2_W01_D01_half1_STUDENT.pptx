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Leave Meera's words up while the room settles and do not explain</a:t>
            </a:r>
          </a:p>
          <a:p>
            <a:r>
              <a:t>them yet: the next slide sets out the questions that climb to her answer, and the story ends on her</a:t>
            </a:r>
          </a:p>
          <a:p>
            <a:r>
              <a:t>full message. Say once that Kalpa is fictional and the whole programme is set inside it, and that</a:t>
            </a:r>
          </a:p>
          <a:p>
            <a:r>
              <a:t>the first 45 minutes are about the business, with no laptop open.</a:t>
            </a:r>
          </a:p>
          <a:p>
            <a:r>
              <a:t>Transition: the day's question, and the nine questions that climb to its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question once, then the nine short questions in order: the story</a:t>
            </a:r>
          </a:p>
          <a:p>
            <a:r>
              <a:t>first, chapters 1 to 4 this morning with a break before chapter 4, and chapters 5 and 6 and the two</a:t>
            </a:r>
          </a:p>
          <a:p>
            <a:r>
              <a:t>cases after lunch. Each chapter ends on a number, the next chapter asks the question that number</a:t>
            </a:r>
          </a:p>
          <a:p>
            <a:r>
              <a:t>raises, and the afternoon closes on the sentence Meera signs. Answer nothing yet.</a:t>
            </a:r>
          </a:p>
          <a:p>
            <a:r>
              <a:t>Ask: if you had to answer Meera by tonight, which of the nine would you start with? Take one answer</a:t>
            </a:r>
          </a:p>
          <a:p>
            <a:r>
              <a:t>and leave it open.</a:t>
            </a:r>
          </a:p>
          <a:p>
            <a:r>
              <a:t>Watch for anyone who jumps straight to "buy more customers" or "cut prices"; write it on the board</a:t>
            </a:r>
          </a:p>
          <a:p>
            <a:r>
              <a:t>and say chapter 5 tests it.</a:t>
            </a:r>
          </a:p>
          <a:p>
            <a:r>
              <a:t>Transition: before any data, the business, starting with how a retailer earns.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in six parts, told from the talk track, trainer/C2_W01_D01_domain_story_TRAINER.md,</a:t>
            </a:r>
          </a:p>
          <a:p>
            <a:r>
              <a:t>which holds what to say, the question for each part and the facts you may quote with their sources:</a:t>
            </a:r>
          </a:p>
          <a:p>
            <a:r>
              <a:t>the map 1, the Saturday 7, the real companies 7, where Rs 100 goes 10, who asks 6, the tree 9, and</a:t>
            </a:r>
          </a:p>
          <a:p>
            <a:r>
              <a:t>describing to acting 5; D8 and D9, the tree's ten formulas, are self-study. No laptop opens. Each</a:t>
            </a:r>
          </a:p>
          <a:p>
            <a:r>
              <a:t>part puts one drawing on the board, and the Rs 100 journey and the metric tree stay up all day. The</a:t>
            </a:r>
          </a:p>
          <a:p>
            <a:r>
              <a:t>story states every metric as a formula with what it answers and who asks, and it stages no wrong</a:t>
            </a:r>
          </a:p>
          <a:p>
            <a:r>
              <a:t>number, since each of those belongs to a chapter.</a:t>
            </a:r>
          </a:p>
          <a:p>
            <a:r>
              <a:t>Meera's ask follows in 4 minutes. The domain card goes out at the close of the afternoon.</a:t>
            </a:r>
          </a:p>
          <a:p>
            <a:r>
              <a:t>For more depth, a learner reads the retail dossier, study-notes/C2_W01_D01_domain_retail_STUDENT.md, which tells the same business at length.</a:t>
            </a:r>
          </a:p>
          <a:p>
            <a:r>
              <a:t>Transition: the six questions the story answers.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first of part 1's 8. Read the six questions aloud and say that the story</a:t>
            </a:r>
          </a:p>
          <a:p>
            <a:r>
              <a:t>answers them in this order and then hands over to Meera's message. Nobody needs to write anything,</a:t>
            </a:r>
          </a:p>
          <a:p>
            <a:r>
              <a:t>since each part leaves a drawing on the board.</a:t>
            </a:r>
          </a:p>
          <a:p>
            <a:r>
              <a:t>Ask: which of the six have you wondered about as a shopper? Take one hand.</a:t>
            </a:r>
          </a:p>
          <a:p>
            <a:r>
              <a:t>Watch for laptops opening; the story runs without them.</a:t>
            </a:r>
          </a:p>
          <a:p>
            <a:r>
              <a:t>Transition: one Saturday at a Kalpa Retail store and on its app.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rest of part 1 of the talk track. Tell the Saturday: the store manager checks</a:t>
            </a:r>
          </a:p>
          <a:p>
            <a:r>
              <a:t>every shelf against its planogram, and one check in twenty-five finds a gap; the truck brings 900 of</a:t>
            </a:r>
          </a:p>
          <a:p>
            <a:r>
              <a:t>the 1,000 cases the cookware supplier was asked for; 1,200 people come through the doors and 480 pay</a:t>
            </a:r>
          </a:p>
          <a:p>
            <a:r>
              <a:t>at a till, with an average bill of Rs 1,250. On the app the same day, 50,000 people open it 80,000</a:t>
            </a:r>
          </a:p>
          <a:p>
            <a:r>
              <a:t>times, fill 8,000 carts and place 2,000 orders averaging Rs 1,500. Follow one Retail-Plus member's</a:t>
            </a:r>
          </a:p>
          <a:p>
            <a:r>
              <a:t>basket: Rs 2,000 of goods, Rs 200 off in a promotion, Rs 1,800 paid with a card the app holds only</a:t>
            </a:r>
          </a:p>
          <a:p>
            <a:r>
              <a:t>as a token. Next week the bedsheet comes back, and a cash-on-delivery parcel is refused at the door</a:t>
            </a:r>
          </a:p>
          <a:p>
            <a:r>
              <a:t>and travels back as an RTO. On Monday the CEO reads one page.</a:t>
            </a:r>
          </a:p>
          <a:p>
            <a:r>
              <a:t>Ask: think of the last thing you bought in a shop and the last thing you ordered on an app; which</a:t>
            </a:r>
          </a:p>
          <a:p>
            <a:r>
              <a:t>one knew more about you, and what exactly did it know?</a:t>
            </a:r>
          </a:p>
          <a:p>
            <a:r>
              <a:t>Watch for "the shop, because the staff know me": the staff may, and the till keeps only the bill.</a:t>
            </a:r>
          </a:p>
          <a:p>
            <a:r>
              <a:t>Land it: the data team works where customers leave traces, and a store leaves far fewer than an app.</a:t>
            </a:r>
          </a:p>
          <a:p>
            <a:r>
              <a:t>Draw the value chain on the board, six boxes left to right.</a:t>
            </a:r>
          </a:p>
          <a:p>
            <a:r>
              <a:t>Transition: which real companies Kalpa is like.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part 2 of the talk track. Ask first: what does your phone company know about you</a:t>
            </a:r>
          </a:p>
          <a:p>
            <a:r>
              <a:t>that a grocer would want? Listen for where you are through the day, the apps you open, how you pay</a:t>
            </a:r>
          </a:p>
          <a:p>
            <a:r>
              <a:t>and your number.</a:t>
            </a:r>
          </a:p>
          <a:p>
            <a:r>
              <a:t>Watch for "if both belong to one group, the grocer can simply use it": India's data protection law</a:t>
            </a:r>
          </a:p>
          <a:p>
            <a:r>
              <a:t>ties each use of personal data to a purpose the person agreed to, so even inside one group the</a:t>
            </a:r>
          </a:p>
          <a:p>
            <a:r>
              <a:t>purpose decides what one business may use.</a:t>
            </a:r>
          </a:p>
          <a:p>
            <a:r>
              <a:t>Say that Kalpa Group is headquartered in Singapore and runs five businesses, and that its data and</a:t>
            </a:r>
          </a:p>
          <a:p>
            <a:r>
              <a:t>engineering centre in Bengaluru, the Global Capability Centre, is the team the room has joined.</a:t>
            </a:r>
          </a:p>
          <a:p>
            <a:r>
              <a:t>Reliance and Tata are real groups built like it: in the quarter to June 2026 Reliance reported Jio</a:t>
            </a:r>
          </a:p>
          <a:p>
            <a:r>
              <a:t>with 533 million subscribers and Reliance Retail with 20,169 stores (Reliance Industries media</a:t>
            </a:r>
          </a:p>
          <a:p>
            <a:r>
              <a:t>release, 17 July 2026). The centre works like the Indian centres of Walmart, Target, Tesco and</a:t>
            </a:r>
          </a:p>
          <a:p>
            <a:r>
              <a:t>Lowe's, and Retail-Plus is Kalpa's paid tier, a membership of the kind Amazon Prime is.</a:t>
            </a:r>
          </a:p>
          <a:p>
            <a:r>
              <a:t>Draw the group on the board, six boxes.</a:t>
            </a:r>
          </a:p>
          <a:p>
            <a:r>
              <a:t>Transition: where the money from one basket goes.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part 3 of the talk track, the part never to cut. The numbers are illustrative.</a:t>
            </a:r>
          </a:p>
          <a:p>
            <a:r>
              <a:t>Ask first: the member paid Rs 1,800, so how much of it does Kalpa keep as EBITDA: under Rs 20,</a:t>
            </a:r>
          </a:p>
          <a:p>
            <a:r>
              <a:t>Rs 20 to 100, Rs 100 to 400, or more than Rs 400? Take hands for each range and leave the answer</a:t>
            </a:r>
          </a:p>
          <a:p>
            <a:r>
              <a:t>open while the drawing goes up.</a:t>
            </a:r>
          </a:p>
          <a:p>
            <a:r>
              <a:t>Say that GMV, gross merchandise value, is everything customers ordered at the prices they were</a:t>
            </a:r>
          </a:p>
          <a:p>
            <a:r>
              <a:t>charged, and that finance reports a smaller number, net revenue, which is what Kalpa earns from the</a:t>
            </a:r>
          </a:p>
          <a:p>
            <a:r>
              <a:t>goods; the two differ on purpose. Rs 100 of GMV becomes Rs 80 of net revenue, and what the Rs 20</a:t>
            </a:r>
          </a:p>
          <a:p>
            <a:r>
              <a:t>between them is made of is the question chapter 1 opens on Kalpa's own orders, so it stays on the</a:t>
            </a:r>
          </a:p>
          <a:p>
            <a:r>
              <a:t>board as a question. From net revenue take the cost of the goods and Rs 20 of gross margin is left;</a:t>
            </a:r>
          </a:p>
          <a:p>
            <a:r>
              <a:t>take what every order costs and Rs 7.50 of contribution is left; take the costs that do not grow</a:t>
            </a:r>
          </a:p>
          <a:p>
            <a:r>
              <a:t>with one more order and Rs 2.50 of EBITDA is left. Real retailers keep a thin slice: DMart reported</a:t>
            </a:r>
          </a:p>
          <a:p>
            <a:r>
              <a:t>profit after tax of 4.8 percent of revenue for FY26 (Avenue Supermarts results release, 2 May 2026).</a:t>
            </a:r>
          </a:p>
          <a:p>
            <a:r>
              <a:t>Then reveal the guess: on these illustrative numbers the basket keeps about Rs 50 as EBITDA, its</a:t>
            </a:r>
          </a:p>
          <a:p>
            <a:r>
              <a:t>Rs 150 of contribution less about Rs 100 towards the costs that do not change with one more order.</a:t>
            </a:r>
          </a:p>
          <a:p>
            <a:r>
              <a:t>If a learner asks how the basket reaches Rs 150, the first step, from the Rs 1,800 charged to what</a:t>
            </a:r>
          </a:p>
          <a:p>
            <a:r>
              <a:t>Kalpa earns, is chapter 1's question.</a:t>
            </a:r>
          </a:p>
          <a:p>
            <a:r>
              <a:t>Watch for rooms that guess high; they most need this part.</a:t>
            </a:r>
          </a:p>
          <a:p>
            <a:r>
              <a:t>Add the marketplace sentence: a marketplace such as Flipkart or Amazon India books only its fees as</a:t>
            </a:r>
          </a:p>
          <a:p>
            <a:r>
              <a:t>revenue, and a foreign-owned multi-brand e-commerce business selling to Indian consumers must run</a:t>
            </a:r>
          </a:p>
          <a:p>
            <a:r>
              <a:t>that way under Press Note 2 of 2018.</a:t>
            </a:r>
          </a:p>
          <a:p>
            <a:r>
              <a:t>Draw Rs 100's journey on the board, five boxes top to bottom, with the first arrow written as the</a:t>
            </a:r>
          </a:p>
          <a:p>
            <a:r>
              <a:t>open question it is. It stays up all day.</a:t>
            </a:r>
          </a:p>
          <a:p>
            <a:r>
              <a:t>Transition: who asks the data team for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part 4 of the talk track. Name the six boxes: Meera Raghavan; Anand Iyer, the</a:t>
            </a:r>
          </a:p>
          <a:p>
            <a:r>
              <a:t>finance controller; the marketing lead; the head of Retail-Plus; the other functions, which are</a:t>
            </a:r>
          </a:p>
          <a:p>
            <a:r>
              <a:t>category buying, pricing, supply chain, store operations and customer support, where Farhan Sheikh</a:t>
            </a:r>
          </a:p>
          <a:p>
            <a:r>
              <a:t>arrives in Week 8 with two thousand tickets a day; and Kavya Nair with us in the GCC, who checks</a:t>
            </a:r>
          </a:p>
          <a:p>
            <a:r>
              <a:t>everything before it leaves the team. The data platform lead sits beside the GCC and requires</a:t>
            </a:r>
          </a:p>
          <a:p>
            <a:r>
              <a:t>every analysis to run as a query inside the warehouse, so the data stays where it is governed.</a:t>
            </a:r>
          </a:p>
          <a:p>
            <a:r>
              <a:t>Ask: if one of our numbers is wrong, whose mistake can we undo next week, and whose can we not?</a:t>
            </a:r>
          </a:p>
          <a:p>
            <a:r>
              <a:t>Watch for "all of them, we send a correction": a correction fixes the dashboard, and the decision</a:t>
            </a:r>
          </a:p>
          <a:p>
            <a:r>
              <a:t>taken on the wrong number stays taken.</a:t>
            </a:r>
          </a:p>
          <a:p>
            <a:r>
              <a:t>Land it: before a number leaves the team, know who asked for it and whether being wrong can be</a:t>
            </a:r>
          </a:p>
          <a:p>
            <a:r>
              <a:t>taken back.</a:t>
            </a:r>
          </a:p>
          <a:p>
            <a:r>
              <a:t>Draw who asks on the board, six boxes. If short of time, draw it, ask once and move on.</a:t>
            </a:r>
          </a:p>
          <a:p>
            <a:r>
              <a:t>Transition: the tree every retail number hangs off.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part 5 of the talk track, the other part never to cut. Say that every retail number</a:t>
            </a:r>
          </a:p>
          <a:p>
            <a:r>
              <a:t>hangs off one tree: revenue is customers, times orders per customer, times items per order, times</a:t>
            </a:r>
          </a:p>
          <a:p>
            <a:r>
              <a:t>price per item, less discounts. Customers are new or returning: new ones are won by acquisition and</a:t>
            </a:r>
          </a:p>
          <a:p>
            <a:r>
              <a:t>returning ones kept by retention. Stock on the shelf decides whether any of it can happen, and some</a:t>
            </a:r>
          </a:p>
          <a:p>
            <a:r>
              <a:t>of what is ordered does not stay sold before the margin is counted. Then read the formulas off the</a:t>
            </a:r>
          </a:p>
          <a:p>
            <a:r>
              <a:t>tree, one line each, pointing at the branch as you say it: how the number is worked out, the</a:t>
            </a:r>
          </a:p>
          <a:p>
            <a:r>
              <a:t>question it answers and who at Kalpa asks; D8 and D9 list all ten for self-study. If the room</a:t>
            </a:r>
          </a:p>
          <a:p>
            <a:r>
              <a:t>wants a number, part 1 fills two: 2,000 orders from 80,000 visits to the app is 2.5 percent, and</a:t>
            </a:r>
          </a:p>
          <a:p>
            <a:r>
              <a:t>Rs 1,500 an order is the app's average order value.</a:t>
            </a:r>
          </a:p>
          <a:p>
            <a:r>
              <a:t>Ask: the marketing lead, the head of Retail-Plus and Anand Iyer each walk up to this board; which</a:t>
            </a:r>
          </a:p>
          <a:p>
            <a:r>
              <a:t>number on the tree does each of them ask about first, and why that one?</a:t>
            </a:r>
          </a:p>
          <a:p>
            <a:r>
              <a:t>Listen for customers, the new ones above all, for the marketing lead; how often members order and</a:t>
            </a:r>
          </a:p>
          <a:p>
            <a:r>
              <a:t>how many come back, for the head of Retail-Plus; gross margin and numbers that match his books, for</a:t>
            </a:r>
          </a:p>
          <a:p>
            <a:r>
              <a:t>Anand. Watch for "all three ask about revenue": revenue is Meera's number, and each of the three</a:t>
            </a:r>
          </a:p>
          <a:p>
            <a:r>
              <a:t>owns a branch of it and asks for that branch first.</a:t>
            </a:r>
          </a:p>
          <a:p>
            <a:r>
              <a:t>Land it: every number on the tree has a formula and an owner, and a number sent without knowing its</a:t>
            </a:r>
          </a:p>
          <a:p>
            <a:r>
              <a:t>owner can end up in a decision its formula does not answer.</a:t>
            </a:r>
          </a:p>
          <a:p>
            <a:r>
              <a:t>Draw the metric tree on the board, six boxes, and leave it up all day; the chapters write their</a:t>
            </a:r>
          </a:p>
          <a:p>
            <a:r>
              <a:t>numbers onto it.</a:t>
            </a:r>
          </a:p>
          <a:p>
            <a:r>
              <a:t>Transition: part 6, from describing to acting; D8 and D9, the formula tables,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first five formulas the trainer reads off the tree in part 5, each with</a:t>
            </a:r>
          </a:p>
          <a:p>
            <a:r>
              <a:t>the question it answers and who at Kalpa asks for it; the next slide carries the other five.</a:t>
            </a:r>
          </a:p>
          <a:p>
            <a:r>
              <a:t>Transition: the money and stock numbers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other five formulas from part 5. Lifetime value, acquisition cost and</a:t>
            </a:r>
          </a:p>
          <a:p>
            <a:r>
              <a:t>payback decide whether a budget such as marketing's Rs 12 crore pays for itself; gross margin and</a:t>
            </a:r>
          </a:p>
          <a:p>
            <a:r>
              <a:t>days of inventory are the finance controller's and the buyers' numbers; like-for-like growth is how</a:t>
            </a:r>
          </a:p>
          <a:p>
            <a:r>
              <a:t>a retailer with new stores reports the ones it already had.</a:t>
            </a:r>
          </a:p>
          <a:p>
            <a:r>
              <a:t>Transition: part 6, from describing what happened to letting a system 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part 6 of the talk track. Say that analytics describes and a person reads it, a</a:t>
            </a:r>
          </a:p>
          <a:p>
            <a:r>
              <a:t>forecast predicts and a person decides, a model recommends and a person approves, and an agent acts</a:t>
            </a:r>
          </a:p>
          <a:p>
            <a:r>
              <a:t>inside limits with nobody checking before it takes effect. Klarna's AI assistant took two-thirds of</a:t>
            </a:r>
          </a:p>
          <a:p>
            <a:r>
              <a:t>its customer-service chats in its first month in 2024 (Klarna, 27 February 2024), and fifteen months</a:t>
            </a:r>
          </a:p>
          <a:p>
            <a:r>
              <a:t>later its chief executive said the cost focus had lowered quality (Fortune, 9 May 2025); a tribunal</a:t>
            </a:r>
          </a:p>
          <a:p>
            <a:r>
              <a:t>held Air Canada responsible for what its chatbot said about a refund (Moffatt v. Air Canada, 2024</a:t>
            </a:r>
          </a:p>
          <a:p>
            <a:r>
              <a:t>BCCRT 149).</a:t>
            </a:r>
          </a:p>
          <a:p>
            <a:r>
              <a:t>Ask: which would you let a system do with no person checking: send the Monday numbers, reorder</a:t>
            </a:r>
          </a:p>
          <a:p>
            <a:r>
              <a:t>detergent, refund the bedsheet, change a price?</a:t>
            </a:r>
          </a:p>
          <a:p>
            <a:r>
              <a:t>Watch for "the Monday numbers, since they are only a report": they are the riskiest of the four,</a:t>
            </a:r>
          </a:p>
          <a:p>
            <a:r>
              <a:t>because the CEO decides on them before anyone could catch a wrong one, and the detergent reorder</a:t>
            </a:r>
          </a:p>
          <a:p>
            <a:r>
              <a:t>inside limits is the safest.</a:t>
            </a:r>
          </a:p>
          <a:p>
            <a:r>
              <a:t>Land it: nobody checks an agent before it acts, so its policy and limits are what keep it safe.</a:t>
            </a:r>
          </a:p>
          <a:p>
            <a:r>
              <a:t>Keep the domain card back until the close of the afternoon.</a:t>
            </a:r>
          </a:p>
          <a:p>
            <a:r>
              <a:t>Transition: the business in one line, and the question its CEO asked 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story's last line aloud: "That is the business. On Monday its CEO read</a:t>
            </a:r>
          </a:p>
          <a:p>
            <a:r>
              <a:t>one page: revenue grew 4 percent against a plan of 15, marketing wants Rs 12 crore, and she asked us</a:t>
            </a:r>
          </a:p>
          <a:p>
            <a:r>
              <a:t>one question before she signs anything." Then read her message and Anand's line. Do not explain</a:t>
            </a:r>
          </a:p>
          <a:p>
            <a:r>
              <a:t>Anand's line; chapter 4 tests it on the file.</a:t>
            </a:r>
          </a:p>
          <a:p>
            <a:r>
              <a:t>Ask: which sentence in her message would you answer first? Most pick the last one.</a:t>
            </a:r>
          </a:p>
          <a:p>
            <a:r>
              <a:t>Transition: her message, split into the questions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each row once. Chapters 1 to 4 run this morning with the break before</a:t>
            </a:r>
          </a:p>
          <a:p>
            <a:r>
              <a:t>chapter 4; chapters 5 and 6 open the afternoon, then the escalated case and the second case. Every</a:t>
            </a:r>
          </a:p>
          <a:p>
            <a:r>
              <a:t>chapter ends on a number written onto the board tree.</a:t>
            </a:r>
          </a:p>
          <a:p>
            <a:r>
              <a:t>Ask: which row would marketing like us to skip? Take one answer; chapter 3 comes back to it.</a:t>
            </a:r>
          </a:p>
          <a:p>
            <a:r>
              <a:t>Transition: chapter 1, which total is sales.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2, the options 4, the picture 1, the build 7 (the</a:t>
            </a:r>
          </a:p>
          <a:p>
            <a:r>
              <a:t>loop 3, with 2 of them for the TypeError if it happens, the predict 1, the answer 2 and the check</a:t>
            </a:r>
          </a:p>
          <a:p>
            <a:r>
              <a:t>1), the trap 7 (the draft 2, why it is wrong 3 and the fix 2), the second route 3 and the close 3.</a:t>
            </a:r>
          </a:p>
          <a:p>
            <a:r>
              <a:t>Notebook 01 is the demonstration, and every number on these slides is one it prints.</a:t>
            </a:r>
          </a:p>
          <a:p>
            <a:r>
              <a:t>For more depth: section 3 of the retail dossier, study-notes/C2_W01_D01_domain_retail_STUDENT.md, on where each rupee goes.</a:t>
            </a:r>
          </a:p>
          <a:p>
            <a:r>
              <a:t>Transition: who needs the answer,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chapter's last slide answers each in one line. The file</a:t>
            </a:r>
          </a:p>
          <a:p>
            <a:r>
              <a:t>is 30 Kalpa Retail orders from 1 July to 26 September 2026, an 88-day window, and each order is</a:t>
            </a:r>
          </a:p>
          <a:p>
            <a:r>
              <a:t>delivered, returned after delivery or cancelled before it left.</a:t>
            </a:r>
          </a:p>
          <a:p>
            <a:r>
              <a:t>Ask the room to hold one question for a slide: what could "sales" mean?</a:t>
            </a:r>
          </a:p>
          <a:p>
            <a:r>
              <a:t>Transition: the need, in Meera's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name what "sales" could mean, and write each answer on the board.</a:t>
            </a:r>
          </a:p>
          <a:p>
            <a:r>
              <a:t>Most name everything ordered first; somebody says "what we delivered". Say that the story left</a:t>
            </a:r>
          </a:p>
          <a:p>
            <a:r>
              <a:t>Rs 20 between Rs 100 of GMV and Rs 80 of net revenue as a question, and that this chapter finds the</a:t>
            </a:r>
          </a:p>
          <a:p>
            <a:r>
              <a:t>part of that gap the file can show.</a:t>
            </a:r>
          </a:p>
          <a:p>
            <a:r>
              <a:t>Watch for "sales is the sum of the amount column"; hold it for the options.</a:t>
            </a:r>
          </a:p>
          <a:p>
            <a:r>
              <a:t>Transition: a real retailer that publishes two totals for the same quarter.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company is real and the numbers are its own. Say that the largest retailer in</a:t>
            </a:r>
          </a:p>
          <a:p>
            <a:r>
              <a:t>India states which revenue it means, and so does every number the team sends. Point at</a:t>
            </a:r>
          </a:p>
          <a:p>
            <a:r>
              <a:t>the first arrow of the Rs 100 drawing on the board and write "tax" and "never stayed sold" beside it.</a:t>
            </a:r>
          </a:p>
          <a:p>
            <a:r>
              <a:t>Ask: which of Reliance's two totals would an investor compare with last year's? Either works, as</a:t>
            </a:r>
          </a:p>
          <a:p>
            <a:r>
              <a:t>long as it is the same one both years.</a:t>
            </a:r>
          </a:p>
          <a:p>
            <a:r>
              <a:t>Transition: four ways the team could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D is fine at 30 rows and impossible at 30 lakh; C is the right</a:t>
            </a:r>
          </a:p>
          <a:p>
            <a:r>
              <a:t>answer for the board and too slow for a first look; A is the fastest and hides its definition. What</a:t>
            </a:r>
          </a:p>
          <a:p>
            <a:r>
              <a:t>would change the call: Finance has fixed the definition the 15 percent plan was set on.</a:t>
            </a:r>
          </a:p>
          <a:p>
            <a:r>
              <a:t>Ask: which would you run first if Meera wanted an answer in ten minutes? Most say A; ask what it</a:t>
            </a:r>
          </a:p>
          <a:p>
            <a:r>
              <a:t>would count.</a:t>
            </a:r>
          </a:p>
          <a:p>
            <a:r>
              <a:t>Transition: what each reading keeps.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Draw this chain under the board tree and say what the file cannot answer, sales</a:t>
            </a:r>
          </a:p>
          <a:p>
            <a:r>
              <a:t>net of tax, so the CEO is not left to guess it.</a:t>
            </a:r>
          </a:p>
          <a:p>
            <a:r>
              <a:t>Transition: the loop that computes all three readings.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2 of them for the TypeError if it happens. Walk the loop: one dictionary holds four</a:t>
            </a:r>
          </a:p>
          <a:p>
            <a:r>
              <a:t>running totals, and each if keeps what its reading keeps. When the room runs the notebook's first</a:t>
            </a:r>
          </a:p>
          <a:p>
            <a:r>
              <a:t>loop, which adds the amounts without int(), it may stop on a TypeError. Give it two minutes and no</a:t>
            </a:r>
          </a:p>
          <a:p>
            <a:r>
              <a:t>more: read the last line bottom up (the kind of error, the operation, the two types), have each</a:t>
            </a:r>
          </a:p>
          <a:p>
            <a:r>
              <a:t>learner print the loop variable on their own screen without reading the record out, apply int() as</a:t>
            </a:r>
          </a:p>
          <a:p>
            <a:r>
              <a:t>this loop does, and move on. Wednesday asks why an amount arrived that way.</a:t>
            </a:r>
          </a:p>
          <a:p>
            <a:r>
              <a:t>Watch for learners who start cleaning the file; today's fix is int() and nothing more.</a:t>
            </a:r>
          </a:p>
          <a:p>
            <a:r>
              <a:t>Transition: predict the result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c; some say a because "only delivered is real", which</a:t>
            </a:r>
          </a:p>
          <a:p>
            <a:r>
              <a:t>confuses the largest reading with the truest one.</a:t>
            </a:r>
          </a:p>
          <a:p>
            <a:r>
              <a:t>Transition: run it and read the three.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Delivered (a) is the smallest, since it drops the returns as well</a:t>
            </a:r>
          </a:p>
          <a:p>
            <a:r>
              <a:t>as the cancellations; not cancelled (b) keeps less than booked; the three could only be equal (d) if</a:t>
            </a:r>
          </a:p>
          <a:p>
            <a:r>
              <a:t>no order were cancelled or returned. Read the three with their order counts: the order count, 30,</a:t>
            </a:r>
          </a:p>
          <a:p>
            <a:r>
              <a:t>is a fourth reading, how many times somebody decided to buy. Point at the axis, which starts at</a:t>
            </a:r>
          </a:p>
          <a:p>
            <a:r>
              <a:t>Rs 5 lakh so the gaps show; say so whenever an axis does not start at zero.</a:t>
            </a:r>
          </a:p>
          <a:p>
            <a:r>
              <a:t>Ask: which of the three goes in front of Meera? Take two answers and leave them open.</a:t>
            </a:r>
          </a:p>
          <a:p>
            <a:r>
              <a:t>Transition: the check that the loop did what it claims.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check proves the build did what it claims before anyone reads the number aloud.</a:t>
            </a:r>
          </a:p>
          <a:p>
            <a:r>
              <a:t>Point out that these checks test the build and cannot say which reading is sales; that is a</a:t>
            </a:r>
          </a:p>
          <a:p>
            <a:r>
              <a:t>business question.</a:t>
            </a:r>
          </a:p>
          <a:p>
            <a:r>
              <a:t>Transition: the line a colleague sent Meera first.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colleague's figure, before anyone in the room has</a:t>
            </a:r>
          </a:p>
          <a:p>
            <a:r>
              <a:t>checked it. Ask what is wrong with it, and which decision it would mislead: the plan's base, and the</a:t>
            </a:r>
          </a:p>
          <a:p>
            <a:r>
              <a:t>channel whose orders sit inside it.</a:t>
            </a:r>
          </a:p>
          <a:p>
            <a:r>
              <a:t>Watch for "nothing, the sum is correct": agree that the sum is correct, and ask what it counts.</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counts orders before anything is summed. Store's 10 orders overstate its</a:t>
            </a:r>
          </a:p>
          <a:p>
            <a:r>
              <a:t>kept orders by 4 in 10. The five web returns did become sales and came back, which is why they stay</a:t>
            </a:r>
          </a:p>
          <a:p>
            <a:r>
              <a:t>in "not cancelled" and leave "delivered".</a:t>
            </a:r>
          </a:p>
          <a:p>
            <a:r>
              <a:t>Ask: if the head of stores read the draft, what would they believe about store's quarter?</a:t>
            </a:r>
          </a:p>
          <a:p>
            <a:r>
              <a:t>Transition: the fix, drawn as a bridge.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Rs 9,050 and 4 store orders leave sales, and store's kept orders fall</a:t>
            </a:r>
          </a:p>
          <a:p>
            <a:r>
              <a:t>from the 10 the draft implied to 6. Write booked on the root of the board tree, named, with the</a:t>
            </a:r>
          </a:p>
          <a:p>
            <a:r>
              <a:t>other two totals and the bridge beside it.</a:t>
            </a:r>
          </a:p>
          <a:p>
            <a:r>
              <a:t>Transition: the same three totals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notebook's second-route cell; its checks assert that both routes agree to</a:t>
            </a:r>
          </a:p>
          <a:p>
            <a:r>
              <a:t>the rupee on all three readings. When to switch: a part-refund status tomorrow needs a new if in the</a:t>
            </a:r>
          </a:p>
          <a:p>
            <a:r>
              <a:t>one-loop route and nothing in this one; write each reading out when a reader must see the</a:t>
            </a:r>
          </a:p>
          <a:p>
            <a:r>
              <a:t>definition. At a million rows both become one GROUP BY status, which Week 2 teaches.</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six answers in order. Kavya Nair is the team's senior analyst, and</a:t>
            </a:r>
          </a:p>
          <a:p>
            <a:r>
              <a:t>her review closes every chapter. One learner answers the interview question aloud in under a</a:t>
            </a:r>
          </a:p>
          <a:p>
            <a:r>
              <a:t>minute: name the readings, say what each answers, choose one for the decision and state the others</a:t>
            </a:r>
          </a:p>
          <a:p>
            <a:r>
              <a:t>beside it.</a:t>
            </a:r>
          </a:p>
          <a:p>
            <a:r>
              <a:t>Transition: chapter 2, what each branch of the tree 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Jio 1, the options 4, the picture 2, the build 6 (the code</a:t>
            </a:r>
          </a:p>
          <a:p>
            <a:r>
              <a:t>2, the predict 1, the answer 2 and the check 1), the trap 9 (the predict 1, the wrong answer 3, why</a:t>
            </a:r>
          </a:p>
          <a:p>
            <a:r>
              <a:t>it is wrong 3 and the fix 2), the second route 3 and the close 2. Notebook 02 is the demonstration.</a:t>
            </a:r>
          </a:p>
          <a:p>
            <a:r>
              <a:t>For more depth: section 5 of the retail dossier, study-notes/C2_W01_D01_domain_retail_STUDENT.md, on the metric tree, AOV and basket size.</a:t>
            </a:r>
          </a:p>
          <a:p>
            <a:r>
              <a:t>Transition: who needs the branches,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settled the readings: Rs 5,44,810 booked on 30 orders, Rs 5,35,760 not</a:t>
            </a:r>
          </a:p>
          <a:p>
            <a:r>
              <a:t>cancelled on 26 and Rs 5,20,790 delivered on 21. This chapter builds the tree on them, on the booked</a:t>
            </a:r>
          </a:p>
          <a:p>
            <a:r>
              <a:t>definition. Read the six questions.</a:t>
            </a:r>
          </a:p>
          <a:p>
            <a:r>
              <a:t>Transition: why each branch has to be a fraction.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the multiplication with units on the board: customers times orders per</a:t>
            </a:r>
          </a:p>
          <a:p>
            <a:r>
              <a:t>customer gives orders, and orders times revenue per order gives rupees, because each denominator</a:t>
            </a:r>
          </a:p>
          <a:p>
            <a:r>
              <a:t>cancels the next numerator. That is also why a branch measured on another definition breaks the</a:t>
            </a:r>
          </a:p>
          <a:p>
            <a:r>
              <a:t>chain.</a:t>
            </a:r>
          </a:p>
          <a:p>
            <a:r>
              <a:t>Transition: a real company that reports its revenue this way.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Kalpa Connect is the Jio-like unit and arrives in Build 3. Point at the shape: a</a:t>
            </a:r>
          </a:p>
          <a:p>
            <a:r>
              <a:t>company reports its branches, each as a fraction.</a:t>
            </a:r>
          </a:p>
          <a:p>
            <a:r>
              <a:t>Transition: which tree this file can fill.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sizing here counts fields: the file's seven fields fill A and B. Ask what data</a:t>
            </a:r>
          </a:p>
          <a:p>
            <a:r>
              <a:t>would let us draw C; the order-items table arrives later in the programme, and traffic data would</a:t>
            </a:r>
          </a:p>
          <a:p>
            <a:r>
              <a:t>put D in front of the tree.</a:t>
            </a:r>
          </a:p>
          <a:p>
            <a:r>
              <a:t>Transition: the tree the file can fill, drawn beside what it cannot.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three lower branches dashed on the board tree. Saying which branches the</a:t>
            </a:r>
          </a:p>
          <a:p>
            <a:r>
              <a:t>file cannot fill is part of the answer, because those are the ones nobody can plan on yet.</a:t>
            </a:r>
          </a:p>
          <a:p>
            <a:r>
              <a:t>Transition: the code that measures the first branch.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three lines: a count, a sum on one definition, and the fraction of the</a:t>
            </a:r>
          </a:p>
          <a:p>
            <a:r>
              <a:t>two. Say aloud that both lines read the same list, which is what one definition means in code.</a:t>
            </a:r>
          </a:p>
          <a:p>
            <a:r>
              <a:t>Transition: predict what the two multiply back to.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a; some say c because of rounding.</a:t>
            </a:r>
          </a:p>
          <a:p>
            <a:r>
              <a:t>Transition: the answer, with the AOV.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Repeat customers (b) never enter this fraction, which counts</a:t>
            </a:r>
          </a:p>
          <a:p>
            <a:r>
              <a:t>orders; rounding (c) moves the product by Rs 10 when the AOV is first rounded to Rs 18,160, and by</a:t>
            </a:r>
          </a:p>
          <a:p>
            <a:r>
              <a:t>nothing when it is not; prices per item (d) split the AOV further and leave it as it is. Write Rs 18,160 on the board tree in pencil with a question mark;</a:t>
            </a:r>
          </a:p>
          <a:p>
            <a:r>
              <a:t>Anand's warning is about this number, and chapter 4 comes back to it.</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checks prove the build. They cannot say whether Rs 18,160 describes an order</a:t>
            </a:r>
          </a:p>
          <a:p>
            <a:r>
              <a:t>anyone at Kalpa would recognise, which is chapter 4's question.</a:t>
            </a:r>
          </a:p>
          <a:p>
            <a:r>
              <a:t>Transition: what happens when two reports feed one fraction.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divide and get c; watch for anyone who objects to the division</a:t>
            </a:r>
          </a:p>
          <a:p>
            <a:r>
              <a:t>itself, and ask them why.</a:t>
            </a:r>
          </a:p>
          <a:p>
            <a:r>
              <a:t>Transition: the answer, and the note a colleague sent with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Rs 5,44,810 over 21. Rs 18,160 (a) is booked over booked, Rs 24,800</a:t>
            </a:r>
          </a:p>
          <a:p>
            <a:r>
              <a:t>(b) is delivered over delivered, and Rs 23,687 (d) divides by the 23 customers. What the mixed</a:t>
            </a:r>
          </a:p>
          <a:p>
            <a:r>
              <a:t>number would mislead: marketing's payback case would value each new customer's order at Rs 25,943.</a:t>
            </a:r>
          </a:p>
          <a:p>
            <a:r>
              <a:t>The error stays invisible until something is multiplied back.</a:t>
            </a:r>
          </a:p>
          <a:p>
            <a:r>
              <a:t>Ask: which half of the fraction would you check first?</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Multiplying the mixed AOV by the 21 delivered orders would only hand back the</a:t>
            </a:r>
          </a:p>
          <a:p>
            <a:r>
              <a:t>numerator, so the check uses the 30 orders the booked rupees came from: 30 x (Rs 5,44,810 / 21) is</a:t>
            </a:r>
          </a:p>
          <a:p>
            <a:r>
              <a:t>Rs 7,78,300.</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two honest AOVs, each sent with its definition, and the mixed</a:t>
            </a:r>
          </a:p>
          <a:p>
            <a:r>
              <a:t>Rs 25,943 goes nowhere. Marketing's note names which of the two it uses.</a:t>
            </a:r>
          </a:p>
          <a:p>
            <a:r>
              <a:t>Transition: the same AOV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the three routes agree, and they agree because the mean</a:t>
            </a:r>
          </a:p>
          <a:p>
            <a:r>
              <a:t>is what the tree calls AOV. Chapter 4 names the switch: when the question is what a typical order</a:t>
            </a:r>
          </a:p>
          <a:p>
            <a:r>
              <a:t>looks like, the mean may be the wrong middle.</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draw the tree, measure each branch on one window and one</a:t>
            </a:r>
          </a:p>
          <a:p>
            <a:r>
              <a:t>definition, find the short one, then place initiatives on it.</a:t>
            </a:r>
          </a:p>
          <a:p>
            <a:r>
              <a:t>Transition: chapter 3, the customer branches counted.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1, the options 4, the picture 2, the build 8 (the</a:t>
            </a:r>
          </a:p>
          <a:p>
            <a:r>
              <a:t>code 2, the predict 1, the answer 3 and the check 2), the trap 8 (the draft 3, why it is wrong 3</a:t>
            </a:r>
          </a:p>
          <a:p>
            <a:r>
              <a:t>and the fix 2), the second route 2 and the close 2. Notebook 03 is the demonstration.</a:t>
            </a:r>
          </a:p>
          <a:p>
            <a:r>
              <a:t>For more depth: section 5 of the retail dossier, study-notes/C2_W01_D01_domain_retail_STUDENT.md, on frequency and repeat rate.</a:t>
            </a:r>
          </a:p>
          <a:p>
            <a:r>
              <a:t>Transition: who needs the count,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measured order value: Rs 5,44,810 over 30 orders is an AOV of Rs 18,160,</a:t>
            </a:r>
          </a:p>
          <a:p>
            <a:r>
              <a:t>and the two customer branches are still empty. Read the six questions.</a:t>
            </a:r>
          </a:p>
          <a:p>
            <a:r>
              <a:t>Transition: what rides 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if nobody ever came back, what would orders per customer be? Exactly 1. Keep</a:t>
            </a:r>
          </a:p>
          <a:p>
            <a:r>
              <a:t>that thought for the trap.</a:t>
            </a:r>
          </a:p>
          <a:p>
            <a:r>
              <a:t>Transition: a real retailer's customer count, and its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Stress the denominator: registered, active and ordering customers are three</a:t>
            </a:r>
          </a:p>
          <a:p>
            <a:r>
              <a:t>different counts, and each gives a different rate.</a:t>
            </a:r>
          </a:p>
          <a:p>
            <a:r>
              <a:t>Transition: four ways to count customers.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 is right when only the count is needed, and C when someone will ask who came</a:t>
            </a:r>
          </a:p>
          <a:p>
            <a:r>
              <a:t>back.</a:t>
            </a:r>
          </a:p>
          <a:p>
            <a:r>
              <a:t>Ask: which option would you trust if the file had a million rows and you had one minute?</a:t>
            </a:r>
          </a:p>
          <a:p>
            <a:r>
              <a:t>Transition: why one person can leave several rows.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it with the three invented rows. The rows are orders, and the people behind</a:t>
            </a:r>
          </a:p>
          <a:p>
            <a:r>
              <a:t>them are the customers; the rate needs people in its denominator.</a:t>
            </a:r>
          </a:p>
          <a:p>
            <a:r>
              <a:t>Transition: the build on Kalpa's 30 rows.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loop line by line, then the two lines under it: the number of keys is the</a:t>
            </a:r>
          </a:p>
          <a:p>
            <a:r>
              <a:t>number of customers, and the counts of one are the customers who bought once.</a:t>
            </a:r>
          </a:p>
          <a:p>
            <a:r>
              <a:t>Transition: predict how many came back.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Some say 16, confusing one-time buyers with repeat buyers.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Orders per customer near 1 (a) still leaves room for 7 repeat</a:t>
            </a:r>
          </a:p>
          <a:p>
            <a:r>
              <a:t>buyers; 16 (c) are the customers who bought once; 23 (d) is every customer. Write 23 and 1.30 on the</a:t>
            </a:r>
          </a:p>
          <a:p>
            <a:r>
              <a:t>board tree. One repeat customer carries Retail-Core on one order and Retail-Plus on the other,</a:t>
            </a:r>
          </a:p>
          <a:p>
            <a:r>
              <a:t>because the segment is recorded on each order, so a count of customers per segment has to say which</a:t>
            </a:r>
          </a:p>
          <a:p>
            <a:r>
              <a:t>order's segment it used.</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Both checks pass in the notebook. With the rounded 1.30 and Rs 18,160 the product</a:t>
            </a:r>
          </a:p>
          <a:p>
            <a:r>
              <a:t>comes to about Rs 5,43,000, so write the fractions unrounded when you check the identity.</a:t>
            </a:r>
          </a:p>
          <a:p>
            <a:r>
              <a:t>Transition: the count a colleague sent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the figure a colleague's first draft sent Meera before the room built</a:t>
            </a:r>
          </a:p>
          <a:p>
            <a:r>
              <a:t>the count; it makes the case for the budget out of a counting slip. Ask what would check it before</a:t>
            </a:r>
          </a:p>
          <a:p>
            <a:r>
              <a:t>the next slide.</a:t>
            </a:r>
          </a:p>
          <a:p>
            <a:r>
              <a:t>Watch for learners who accept it because the division is right.</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why the set is shorter: it keeps each value once however often it is added.</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in customers: 7 people the draft could not see.</a:t>
            </a:r>
          </a:p>
          <a:p>
            <a:r>
              <a:t>Transition: the same rate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that the two routes agree and that the dictionary's keys are</a:t>
            </a:r>
          </a:p>
          <a:p>
            <a:r>
              <a:t>the set's members.</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rows against distinct ids, then the window, since a</a:t>
            </a:r>
          </a:p>
          <a:p>
            <a:r>
              <a:t>customer who buys every four months looks like a one-time buyer in one quarter, then whether one</a:t>
            </a:r>
          </a:p>
          <a:p>
            <a:r>
              <a:t>person can carry two ids.</a:t>
            </a:r>
          </a:p>
          <a:p>
            <a:r>
              <a:t>Transition: a 10-minute break, then chapter 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after the break: the map 1, the need 2, Blinkit 1, the options 4, the picture 2,</a:t>
            </a:r>
          </a:p>
          <a:p>
            <a:r>
              <a:t>the build 6 (the code 2, the predict 1, the answer 2 and the check 1), the trap 9 (marketing's slide</a:t>
            </a:r>
          </a:p>
          <a:p>
            <a:r>
              <a:t>3, why it is wrong with the sort 4 and the fix 2), the second route 3 and the close 2. D65 and D66,</a:t>
            </a:r>
          </a:p>
          <a:p>
            <a:r>
              <a:t>the trimmed mean on Kalpa's orders, are self-study. Notebook 04 is the demonstration.</a:t>
            </a:r>
          </a:p>
          <a:p>
            <a:r>
              <a:t>For more depth: section 5 of the retail dossier, study-notes/C2_W01_D01_domain_retail_STUDENT.md, on average order value and basket size.</a:t>
            </a:r>
          </a:p>
          <a:p>
            <a:r>
              <a:t>Transition: who needs a typical order,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found 23 customers, 1.30 orders each and 7 who came back, and the tree</a:t>
            </a:r>
          </a:p>
          <a:p>
            <a:r>
              <a:t>multiplies back through an AOV of Rs 18,160. Read the six questions.</a:t>
            </a:r>
          </a:p>
          <a:p>
            <a:r>
              <a:t>Transition: what the typical order prices.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again; now it can be tested on the file.</a:t>
            </a:r>
          </a:p>
          <a:p>
            <a:r>
              <a:t>Transition: a real company's reported order value.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mean over millions of similar small baskets describes them well; the question is</a:t>
            </a:r>
          </a:p>
          <a:p>
            <a:r>
              <a:t>whether Kalpa's 30 orders are that kind of file.</a:t>
            </a:r>
          </a:p>
          <a:p>
            <a:r>
              <a:t>Transition: four middles a team could report.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invented set is five orders from Rs 1,900 to Rs 2,600 plus one of Rs 90,000;</a:t>
            </a:r>
          </a:p>
          <a:p>
            <a:r>
              <a:t>the notebook's sizing cell draws the three moves. The trimmed mean is the middle a spreadsheet user</a:t>
            </a:r>
          </a:p>
          <a:p>
            <a:r>
              <a:t>reaches for first, and it needs a rule for how many orders to drop.</a:t>
            </a:r>
          </a:p>
          <a:p>
            <a:r>
              <a:t>Ask: which of the four would Anand accept, and why?</a:t>
            </a:r>
          </a:p>
          <a:p>
            <a:r>
              <a:t>Transition: the picture of what one large order does.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numbers are invented, and none of them is a Kalpa order. Ask which middle Anand</a:t>
            </a:r>
          </a:p>
          <a:p>
            <a:r>
              <a:t>would trust after seeing the two boxes.</a:t>
            </a:r>
          </a:p>
          <a:p>
            <a:r>
              <a:t>Transition: the median on Kalpa's 30 orders.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two lines. Ask what changes with an odd count, say 31 orders: one middle</a:t>
            </a:r>
          </a:p>
          <a:p>
            <a:r>
              <a:t>order, ranked[15], and no averaging.</a:t>
            </a:r>
          </a:p>
          <a:p>
            <a:r>
              <a:t>Transition: predict the median.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Many expect b, since in a textbook the mean and the median sit close</a:t>
            </a:r>
          </a:p>
          <a:p>
            <a:r>
              <a:t>together.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The mean (b) equals the median only when the orders spread evenly</a:t>
            </a:r>
          </a:p>
          <a:p>
            <a:r>
              <a:t>on both sides of the middle; half the mean (c) has no rule behind it; Rs 2,300 (d) is one of the two middle</a:t>
            </a:r>
          </a:p>
          <a:p>
            <a:r>
              <a:t>orders, and an even count takes the halfway point. Write Rs 2,205 on the board tree beside the</a:t>
            </a:r>
          </a:p>
          <a:p>
            <a:r>
              <a:t>pencilled Rs 18,160.</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notebook's checks confirm that the median is Rs 2,205 and the mean about eight</a:t>
            </a:r>
          </a:p>
          <a:p>
            <a:r>
              <a:t>times it, a gap worth reporting on its own.</a:t>
            </a:r>
          </a:p>
          <a:p>
            <a:r>
              <a:t>Transition: marketing's slide; D65 and D66, on the trimmed mean,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This is option C from the options slide, run on Kalpa's own orders, as</a:t>
            </a:r>
          </a:p>
          <a:p>
            <a:r>
              <a:t>notebook 04's second level runs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answer is c. The trimmed mean falls far from the mean (a) and from the</a:t>
            </a:r>
          </a:p>
          <a:p>
            <a:r>
              <a:t>halfway point (b), and it cannot fall below every order (d), since it averages 28 of them.</a:t>
            </a:r>
          </a:p>
          <a:p>
            <a:r>
              <a:t>Transition: marketing's slide.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marketing's slide, which reached Meera before the room built the</a:t>
            </a:r>
          </a:p>
          <a:p>
            <a:r>
              <a:t>median; the room's job is to name the check. Ask first how many of the 30 orders sit above the</a:t>
            </a:r>
          </a:p>
          <a:p>
            <a:r>
              <a:t>mean; most say about half.</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middle that describes the orders has about half of them on each side, and the</a:t>
            </a:r>
          </a:p>
          <a:p>
            <a:r>
              <a:t>median has 15 above it by construction. Show the strip chart in notebook 04, where the amounts sit</a:t>
            </a:r>
          </a:p>
          <a:p>
            <a:r>
              <a:t>on a scale in which each step is ten times the one before: they pile up in the low thousands, and</a:t>
            </a:r>
          </a:p>
          <a:p>
            <a:r>
              <a:t>the mean stands far to the right of them. Then every learner runs the sort in the notebook's empty</a:t>
            </a:r>
          </a:p>
          <a:p>
            <a:r>
              <a:t>cell and reads their own result; nobody reads a record aloud.</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typical order is Rs 2,205, and the slide's Rs 18,160 overstates it</a:t>
            </a:r>
          </a:p>
          <a:p>
            <a:r>
              <a:t>about eightfold. Rub out the pencilled Rs 18,160 on the board tree and write Rs 2,205. The payback</a:t>
            </a:r>
          </a:p>
          <a:p>
            <a:r>
              <a:t>still needs a mean, taken from the customers the spend targets, which chapter 5 builds.</a:t>
            </a:r>
          </a:p>
          <a:p>
            <a:r>
              <a:t>Transition: the median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both routes agree on both definitions. After this the</a:t>
            </a:r>
          </a:p>
          <a:p>
            <a:r>
              <a:t>library is the route, and the choice left is between middles, since the mean comes back whenever a</a:t>
            </a:r>
          </a:p>
          <a:p>
            <a:r>
              <a:t>total has to reconcile.</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the median when a few large orders can pull the mean,</a:t>
            </a:r>
          </a:p>
          <a:p>
            <a:r>
              <a:t>reported with the count of orders above the mean, and the mean kept for totals, since mean times</a:t>
            </a:r>
          </a:p>
          <a:p>
            <a:r>
              <a:t>count gives revenue. Chapter 5 takes the payback's mean from the three consumer segments Meera's</a:t>
            </a:r>
          </a:p>
          <a:p>
            <a:r>
              <a:t>plan concerns, Retail-Core, Retail-Plus and Student. Leave the tree on the board over lunch; chapter</a:t>
            </a:r>
          </a:p>
          <a:p>
            <a:r>
              <a:t>5 opens on it and asks which branch Meera opens first.</a:t>
            </a:r>
          </a:p>
          <a:p>
            <a:r>
              <a:t>Transition: lunch, then chapter 5 in the afternoon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7.xml"/><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0.png"/><Relationship Id="rId6"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10.png"/><Relationship Id="rId6"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10.png"/><Relationship Id="rId6"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8.xml"/><Relationship Id="rId6"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2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3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3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 Id="rId5"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 Id="rId5" Type="http://schemas.openxmlformats.org/officeDocument/2006/relationships/image" Target="../media/image3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question before the budget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I sign anything, I want to understand our own sales. Is acquisition even the branch that is short?”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00</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does retail earn</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4" name="TextBox 13"/>
          <p:cNvSpPr txBox="1"/>
          <p:nvPr/>
        </p:nvSpPr>
        <p:spPr>
          <a:xfrm>
            <a:off x="2938653"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total is sales</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6" name="TextBox 15"/>
          <p:cNvSpPr txBox="1"/>
          <p:nvPr/>
        </p:nvSpPr>
        <p:spPr>
          <a:xfrm>
            <a:off x="4871466"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What is each branch</a:t>
            </a:r>
          </a:p>
        </p:txBody>
      </p:sp>
      <p:sp>
        <p:nvSpPr>
          <p:cNvPr id="17" name="TextBox 16"/>
          <p:cNvSpPr txBox="1"/>
          <p:nvPr/>
        </p:nvSpPr>
        <p:spPr>
          <a:xfrm>
            <a:off x="63610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8" name="TextBox 17"/>
          <p:cNvSpPr txBox="1"/>
          <p:nvPr/>
        </p:nvSpPr>
        <p:spPr>
          <a:xfrm>
            <a:off x="6745128"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Do customers come back</a:t>
            </a:r>
          </a:p>
        </p:txBody>
      </p:sp>
      <p:sp>
        <p:nvSpPr>
          <p:cNvPr id="19" name="TextBox 18"/>
          <p:cNvSpPr txBox="1"/>
          <p:nvPr/>
        </p:nvSpPr>
        <p:spPr>
          <a:xfrm>
            <a:off x="841219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20" name="TextBox 19"/>
          <p:cNvSpPr txBox="1"/>
          <p:nvPr/>
        </p:nvSpPr>
        <p:spPr>
          <a:xfrm>
            <a:off x="8796242"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is a typical order</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question before the budget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questions climb to Meera's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Meera signs Rs 12 crore for new customers, is acquisition even the branch of sales that is short?</a:t>
            </a:r>
          </a:p>
        </p:txBody>
      </p:sp>
      <p:pic>
        <p:nvPicPr>
          <p:cNvPr id="9" name="mermaid diagram" descr="beecb42018aa7450.png"/>
          <p:cNvPicPr>
            <a:picLocks noChangeAspect="1"/>
          </p:cNvPicPr>
          <p:nvPr/>
        </p:nvPicPr>
        <p:blipFill>
          <a:blip r:embed="rId5"/>
          <a:stretch>
            <a:fillRect/>
          </a:stretch>
        </p:blipFill>
        <p:spPr>
          <a:xfrm>
            <a:off x="530352" y="1956816"/>
            <a:ext cx="11130991" cy="2271824"/>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does retail earn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a retailer like Kalpa make money, who asks the data team for which number, and how is each number worked out?</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77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team needs the business first, in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how a retailer earns, and which questions get us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Everyone on the data team: each of Kalpa's stakeholders asks us for a number, and an analyst who cannot say how the money moves cannot say which number answers them or what a wrong one costs.</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Saturday</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happens at a Kalpa store and on its app in one day?</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Real companies</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real companies is Kalpa like?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Rs 100</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does Rs 100 at the checkout go?</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asks</a:t>
            </a:r>
          </a:p>
        </p:txBody>
      </p:sp>
      <p:sp>
        <p:nvSpPr>
          <p:cNvPr id="32" name="TextBox 31"/>
          <p:cNvSpPr txBox="1"/>
          <p:nvPr/>
        </p:nvSpPr>
        <p:spPr>
          <a:xfrm>
            <a:off x="635187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Who asks the data team for which number?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tree</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tree does every retail number hang off?</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People and agents</a:t>
            </a:r>
          </a:p>
        </p:txBody>
      </p:sp>
      <p:sp>
        <p:nvSpPr>
          <p:cNvPr id="42" name="TextBox 41"/>
          <p:cNvSpPr txBox="1"/>
          <p:nvPr/>
        </p:nvSpPr>
        <p:spPr>
          <a:xfrm>
            <a:off x="10123170"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far may a system act with no person checking?</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Saturday runs from suppliers to the returns desk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on one Saturday at a Kalpa store and on its app?</a:t>
            </a:r>
          </a:p>
        </p:txBody>
      </p:sp>
      <p:pic>
        <p:nvPicPr>
          <p:cNvPr id="9" name="mermaid diagram" descr="a3c9accf52c6754f.png"/>
          <p:cNvPicPr>
            <a:picLocks noChangeAspect="1"/>
          </p:cNvPicPr>
          <p:nvPr/>
        </p:nvPicPr>
        <p:blipFill>
          <a:blip r:embed="rId5"/>
          <a:stretch>
            <a:fillRect/>
          </a:stretch>
        </p:blipFill>
        <p:spPr>
          <a:xfrm>
            <a:off x="1559566" y="1956816"/>
            <a:ext cx="9072562" cy="2085975"/>
          </a:xfrm>
          <a:prstGeom prst="rect">
            <a:avLst/>
          </a:prstGeom>
        </p:spPr>
      </p:pic>
      <p:sp>
        <p:nvSpPr>
          <p:cNvPr id="10" name="TextBox 9"/>
          <p:cNvSpPr txBox="1"/>
          <p:nvPr/>
        </p:nvSpPr>
        <p:spPr>
          <a:xfrm>
            <a:off x="530352" y="41890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Suppliers fill the distribution centre, which stocks the store and feeds the last mile; the app's orders ride the last mile, and what comes back goes to the returns desk.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77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is built like Reliance, its stores like DMart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is Kalpa like?</a:t>
            </a:r>
          </a:p>
        </p:txBody>
      </p:sp>
      <p:pic>
        <p:nvPicPr>
          <p:cNvPr id="9" name="mermaid diagram" descr="7347b0ecd32c3374.png"/>
          <p:cNvPicPr>
            <a:picLocks noChangeAspect="1"/>
          </p:cNvPicPr>
          <p:nvPr/>
        </p:nvPicPr>
        <p:blipFill>
          <a:blip r:embed="rId5"/>
          <a:stretch>
            <a:fillRect/>
          </a:stretch>
        </p:blipFill>
        <p:spPr>
          <a:xfrm>
            <a:off x="1952472" y="1956816"/>
            <a:ext cx="8286750" cy="2657475"/>
          </a:xfrm>
          <a:prstGeom prst="rect">
            <a:avLst/>
          </a:prstGeom>
        </p:spPr>
      </p:pic>
      <p:sp>
        <p:nvSpPr>
          <p:cNvPr id="10" name="TextBox 9"/>
          <p:cNvSpPr txBox="1"/>
          <p:nvPr/>
        </p:nvSpPr>
        <p:spPr>
          <a:xfrm>
            <a:off x="530352" y="47605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is fictional. Its stores work like DMart's and its app sells stock Kalpa owns, like DMart Ready, while Flipkart and Amazon India are marketplaces whose sellers own the goods.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77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100 of GMV leaves Rs 2.50 of EBITDA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Rs 100 ordered go before EBITDA, earnings before interest, tax, depreciation and amortisation?</a:t>
            </a:r>
          </a:p>
        </p:txBody>
      </p:sp>
      <p:pic>
        <p:nvPicPr>
          <p:cNvPr id="9" name="mermaid diagram" descr="6b186a34087089eb.png"/>
          <p:cNvPicPr>
            <a:picLocks noChangeAspect="1"/>
          </p:cNvPicPr>
          <p:nvPr/>
        </p:nvPicPr>
        <p:blipFill>
          <a:blip r:embed="rId5"/>
          <a:stretch>
            <a:fillRect/>
          </a:stretch>
        </p:blipFill>
        <p:spPr>
          <a:xfrm>
            <a:off x="530351" y="1956816"/>
            <a:ext cx="11130991" cy="657936"/>
          </a:xfrm>
          <a:prstGeom prst="rect">
            <a:avLst/>
          </a:prstGeom>
        </p:spPr>
      </p:pic>
      <p:graphicFrame>
        <p:nvGraphicFramePr>
          <p:cNvPr id="10" name="Table 9"/>
          <p:cNvGraphicFramePr>
            <a:graphicFrameLocks noGrp="1"/>
          </p:cNvGraphicFramePr>
          <p:nvPr/>
        </p:nvGraphicFramePr>
        <p:xfrm>
          <a:off x="530352" y="2761056"/>
          <a:ext cx="11130990" cy="2574544"/>
        </p:xfrm>
        <a:graphic>
          <a:graphicData uri="http://schemas.openxmlformats.org/drawingml/2006/table">
            <a:tbl>
              <a:tblPr firstRow="0" bandRow="0">
                <a:tableStyleId>{2D5ABB26-0587-4C30-8999-92F81FD0307C}</a:tableStyleId>
              </a:tblPr>
              <a:tblGrid>
                <a:gridCol w="3416144"/>
                <a:gridCol w="914400"/>
                <a:gridCol w="6800446"/>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Less</a:t>
                      </a:r>
                    </a:p>
                  </a:txBody>
                  <a:tcPr marL="101600" marR="101600" marT="38100" marB="38100" anchor="ctr">
                    <a:solidFill>
                      <a:srgbClr val="1A0F5C"/>
                    </a:solidFill>
                  </a:tcPr>
                </a:tc>
                <a:tc>
                  <a:txBody>
                    <a:bodyPr/>
                    <a:lstStyle/>
                    <a:p>
                      <a:r>
                        <a:rPr sz="1450" b="1" i="0">
                          <a:solidFill>
                            <a:srgbClr val="FFFFFF"/>
                          </a:solidFill>
                          <a:latin typeface="Calibri"/>
                        </a:rPr>
                        <a:t>What goes</a:t>
                      </a:r>
                    </a:p>
                  </a:txBody>
                  <a:tcPr marL="101600" marR="101600" marT="38100" marB="38100" anchor="ctr">
                    <a:solidFill>
                      <a:srgbClr val="1A0F5C"/>
                    </a:solidFill>
                  </a:tcPr>
                </a:tc>
              </a:tr>
              <a:tr h="611632">
                <a:tc>
                  <a:txBody>
                    <a:bodyPr/>
                    <a:lstStyle/>
                    <a:p>
                      <a:r>
                        <a:rPr sz="1400" b="0" i="0">
                          <a:solidFill>
                            <a:srgbClr val="1A1440"/>
                          </a:solidFill>
                          <a:latin typeface="Calibri"/>
                        </a:rPr>
                        <a:t>GMV to net revenue</a:t>
                      </a:r>
                    </a:p>
                  </a:txBody>
                  <a:tcPr marL="101600" marR="101600" marT="38100" marB="38100" anchor="ctr">
                    <a:solidFill>
                      <a:srgbClr val="FFFFFF"/>
                    </a:solidFill>
                  </a:tcPr>
                </a:tc>
                <a:tc>
                  <a:txBody>
                    <a:bodyPr/>
                    <a:lstStyle/>
                    <a:p>
                      <a:r>
                        <a:rPr sz="1400" b="0" i="0">
                          <a:solidFill>
                            <a:srgbClr val="1A1440"/>
                          </a:solidFill>
                          <a:latin typeface="Calibri"/>
                        </a:rPr>
                        <a:t>Rs 20</a:t>
                      </a:r>
                    </a:p>
                  </a:txBody>
                  <a:tcPr marL="101600" marR="101600" marT="38100" marB="38100" anchor="ctr">
                    <a:solidFill>
                      <a:srgbClr val="FFFFFF"/>
                    </a:solidFill>
                  </a:tcPr>
                </a:tc>
                <a:tc>
                  <a:txBody>
                    <a:bodyPr/>
                    <a:lstStyle/>
                    <a:p>
                      <a:r>
                        <a:rPr sz="1400" b="0" i="0">
                          <a:solidFill>
                            <a:srgbClr val="1A1440"/>
                          </a:solidFill>
                          <a:latin typeface="Calibri"/>
                        </a:rPr>
                        <a:t>GMV is everything ordered at the price charged, net revenue is what Kalpa earns from the goods, and chapter 1 finds what sits between them.</a:t>
                      </a:r>
                    </a:p>
                  </a:txBody>
                  <a:tcPr marL="101600" marR="101600" marT="38100" marB="38100" anchor="ctr">
                    <a:solidFill>
                      <a:srgbClr val="FFFFFF"/>
                    </a:solidFill>
                  </a:tcPr>
                </a:tc>
              </a:tr>
              <a:tr h="369824">
                <a:tc>
                  <a:txBody>
                    <a:bodyPr/>
                    <a:lstStyle/>
                    <a:p>
                      <a:r>
                        <a:rPr sz="1400" b="0" i="0">
                          <a:solidFill>
                            <a:srgbClr val="1A1440"/>
                          </a:solidFill>
                          <a:latin typeface="Calibri"/>
                        </a:rPr>
                        <a:t>Net revenue to gross margin</a:t>
                      </a:r>
                    </a:p>
                  </a:txBody>
                  <a:tcPr marL="101600" marR="101600" marT="38100" marB="38100" anchor="ctr">
                    <a:solidFill>
                      <a:srgbClr val="F4F2FA"/>
                    </a:solidFill>
                  </a:tcPr>
                </a:tc>
                <a:tc>
                  <a:txBody>
                    <a:bodyPr/>
                    <a:lstStyle/>
                    <a:p>
                      <a:r>
                        <a:rPr sz="1400" b="0" i="0">
                          <a:solidFill>
                            <a:srgbClr val="1A1440"/>
                          </a:solidFill>
                          <a:latin typeface="Calibri"/>
                        </a:rPr>
                        <a:t>Rs 60</a:t>
                      </a:r>
                    </a:p>
                  </a:txBody>
                  <a:tcPr marL="101600" marR="101600" marT="38100" marB="38100" anchor="ctr">
                    <a:solidFill>
                      <a:srgbClr val="F4F2FA"/>
                    </a:solidFill>
                  </a:tcPr>
                </a:tc>
                <a:tc>
                  <a:txBody>
                    <a:bodyPr/>
                    <a:lstStyle/>
                    <a:p>
                      <a:r>
                        <a:rPr sz="1400" b="0" i="0">
                          <a:solidFill>
                            <a:srgbClr val="1A1440"/>
                          </a:solidFill>
                          <a:latin typeface="Calibri"/>
                        </a:rPr>
                        <a:t>The cost of the goods goes to suppliers.</a:t>
                      </a:r>
                    </a:p>
                  </a:txBody>
                  <a:tcPr marL="101600" marR="101600" marT="38100" marB="38100" anchor="ctr">
                    <a:solidFill>
                      <a:srgbClr val="F4F2FA"/>
                    </a:solidFill>
                  </a:tcPr>
                </a:tc>
              </a:tr>
              <a:tr h="611632">
                <a:tc>
                  <a:txBody>
                    <a:bodyPr/>
                    <a:lstStyle/>
                    <a:p>
                      <a:r>
                        <a:rPr sz="1400" b="0" i="0">
                          <a:solidFill>
                            <a:srgbClr val="1A1440"/>
                          </a:solidFill>
                          <a:latin typeface="Calibri"/>
                        </a:rPr>
                        <a:t>Gross margin to contribution</a:t>
                      </a:r>
                    </a:p>
                  </a:txBody>
                  <a:tcPr marL="101600" marR="101600" marT="38100" marB="38100" anchor="ctr">
                    <a:solidFill>
                      <a:srgbClr val="FFFFFF"/>
                    </a:solidFill>
                  </a:tcPr>
                </a:tc>
                <a:tc>
                  <a:txBody>
                    <a:bodyPr/>
                    <a:lstStyle/>
                    <a:p>
                      <a:r>
                        <a:rPr sz="1400" b="0" i="0">
                          <a:solidFill>
                            <a:srgbClr val="1A1440"/>
                          </a:solidFill>
                          <a:latin typeface="Calibri"/>
                        </a:rPr>
                        <a:t>Rs 12.5</a:t>
                      </a:r>
                    </a:p>
                  </a:txBody>
                  <a:tcPr marL="101600" marR="101600" marT="38100" marB="38100" anchor="ctr">
                    <a:solidFill>
                      <a:srgbClr val="FFFFFF"/>
                    </a:solidFill>
                  </a:tcPr>
                </a:tc>
                <a:tc>
                  <a:txBody>
                    <a:bodyPr/>
                    <a:lstStyle/>
                    <a:p>
                      <a:r>
                        <a:rPr sz="1400" b="0" i="0">
                          <a:solidFill>
                            <a:srgbClr val="1A1440"/>
                          </a:solidFill>
                          <a:latin typeface="Calibri"/>
                        </a:rPr>
                        <a:t>Each order pays for picking, packing, delivery, the payment fee and the offers that bring a customer back.</a:t>
                      </a:r>
                    </a:p>
                  </a:txBody>
                  <a:tcPr marL="101600" marR="101600" marT="38100" marB="38100" anchor="ctr">
                    <a:solidFill>
                      <a:srgbClr val="FFFFFF"/>
                    </a:solidFill>
                  </a:tcPr>
                </a:tc>
              </a:tr>
              <a:tr h="611632">
                <a:tc>
                  <a:txBody>
                    <a:bodyPr/>
                    <a:lstStyle/>
                    <a:p>
                      <a:r>
                        <a:rPr sz="1400" b="0" i="0">
                          <a:solidFill>
                            <a:srgbClr val="1A1440"/>
                          </a:solidFill>
                          <a:latin typeface="Calibri"/>
                        </a:rPr>
                        <a:t>Contribution to EBITDA</a:t>
                      </a:r>
                    </a:p>
                  </a:txBody>
                  <a:tcPr marL="101600" marR="101600" marT="38100" marB="38100" anchor="ctr">
                    <a:solidFill>
                      <a:srgbClr val="F4F2FA"/>
                    </a:solidFill>
                  </a:tcPr>
                </a:tc>
                <a:tc>
                  <a:txBody>
                    <a:bodyPr/>
                    <a:lstStyle/>
                    <a:p>
                      <a:r>
                        <a:rPr sz="1400" b="0" i="0">
                          <a:solidFill>
                            <a:srgbClr val="1A1440"/>
                          </a:solidFill>
                          <a:latin typeface="Calibri"/>
                        </a:rPr>
                        <a:t>Rs 5</a:t>
                      </a:r>
                    </a:p>
                  </a:txBody>
                  <a:tcPr marL="101600" marR="101600" marT="38100" marB="38100" anchor="ctr">
                    <a:solidFill>
                      <a:srgbClr val="F4F2FA"/>
                    </a:solidFill>
                  </a:tcPr>
                </a:tc>
                <a:tc>
                  <a:txBody>
                    <a:bodyPr/>
                    <a:lstStyle/>
                    <a:p>
                      <a:r>
                        <a:rPr sz="1400" b="0" i="0">
                          <a:solidFill>
                            <a:srgbClr val="1A1440"/>
                          </a:solidFill>
                          <a:latin typeface="Calibri"/>
                        </a:rPr>
                        <a:t>Stores, warehouses, technology, head office and the budget that wins new customers do not grow with one more order.</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people already want a number from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the data team for which number, and what does a wrong one cost them?</a:t>
            </a:r>
          </a:p>
        </p:txBody>
      </p:sp>
      <p:pic>
        <p:nvPicPr>
          <p:cNvPr id="9" name="mermaid diagram" descr="032e03ba04b096df.png"/>
          <p:cNvPicPr>
            <a:picLocks noChangeAspect="1"/>
          </p:cNvPicPr>
          <p:nvPr/>
        </p:nvPicPr>
        <p:blipFill>
          <a:blip r:embed="rId5"/>
          <a:stretch>
            <a:fillRect/>
          </a:stretch>
        </p:blipFill>
        <p:spPr>
          <a:xfrm>
            <a:off x="530352" y="2118261"/>
            <a:ext cx="4786326" cy="3645604"/>
          </a:xfrm>
          <a:prstGeom prst="rect">
            <a:avLst/>
          </a:prstGeom>
        </p:spPr>
      </p:pic>
      <p:graphicFrame>
        <p:nvGraphicFramePr>
          <p:cNvPr id="10" name="Table 9"/>
          <p:cNvGraphicFramePr>
            <a:graphicFrameLocks noGrp="1"/>
          </p:cNvGraphicFramePr>
          <p:nvPr/>
        </p:nvGraphicFramePr>
        <p:xfrm>
          <a:off x="5761917" y="1807464"/>
          <a:ext cx="5899424" cy="4267200"/>
        </p:xfrm>
        <a:graphic>
          <a:graphicData uri="http://schemas.openxmlformats.org/drawingml/2006/table">
            <a:tbl>
              <a:tblPr firstRow="0" bandRow="0">
                <a:tableStyleId>{2D5ABB26-0587-4C30-8999-92F81FD0307C}</a:tableStyleId>
              </a:tblPr>
              <a:tblGrid>
                <a:gridCol w="1765618"/>
                <a:gridCol w="2066903"/>
                <a:gridCol w="2066903"/>
              </a:tblGrid>
              <a:tr h="611632">
                <a:tc>
                  <a:txBody>
                    <a:bodyPr/>
                    <a:lstStyle/>
                    <a:p>
                      <a:r>
                        <a:rPr sz="1450" b="1" i="0">
                          <a:solidFill>
                            <a:srgbClr val="FFFFFF"/>
                          </a:solidFill>
                          <a:latin typeface="Calibri"/>
                        </a:rPr>
                        <a:t>Who asks</a:t>
                      </a:r>
                    </a:p>
                  </a:txBody>
                  <a:tcPr marL="101600" marR="101600" marT="38100" marB="38100" anchor="ctr">
                    <a:solidFill>
                      <a:srgbClr val="1A0F5C"/>
                    </a:solidFill>
                  </a:tcPr>
                </a:tc>
                <a:tc>
                  <a:txBody>
                    <a:bodyPr/>
                    <a:lstStyle/>
                    <a:p>
                      <a:r>
                        <a:rPr sz="1450" b="1" i="0">
                          <a:solidFill>
                            <a:srgbClr val="FFFFFF"/>
                          </a:solidFill>
                          <a:latin typeface="Calibri"/>
                        </a:rPr>
                        <a:t>What they want from us</a:t>
                      </a:r>
                    </a:p>
                  </a:txBody>
                  <a:tcPr marL="101600" marR="101600" marT="38100" marB="38100" anchor="ctr">
                    <a:solidFill>
                      <a:srgbClr val="1A0F5C"/>
                    </a:solidFill>
                  </a:tcPr>
                </a:tc>
                <a:tc>
                  <a:txBody>
                    <a:bodyPr/>
                    <a:lstStyle/>
                    <a:p>
                      <a:r>
                        <a:rPr sz="1450" b="1" i="0">
                          <a:solidFill>
                            <a:srgbClr val="FFFFFF"/>
                          </a:solidFill>
                          <a:latin typeface="Calibri"/>
                        </a:rPr>
                        <a:t>What a wrong number costs</a:t>
                      </a:r>
                    </a:p>
                  </a:txBody>
                  <a:tcPr marL="101600" marR="101600" marT="38100" marB="38100" anchor="ctr">
                    <a:solidFill>
                      <a:srgbClr val="1A0F5C"/>
                    </a:solidFill>
                  </a:tcPr>
                </a:tc>
              </a:tr>
              <a:tr h="1095248">
                <a:tc>
                  <a:txBody>
                    <a:bodyPr/>
                    <a:lstStyle/>
                    <a:p>
                      <a:r>
                        <a:rPr sz="1400" b="0" i="0">
                          <a:solidFill>
                            <a:srgbClr val="1A1440"/>
                          </a:solidFill>
                          <a:latin typeface="Calibri"/>
                        </a:rPr>
                        <a:t>Meera, CEO</a:t>
                      </a:r>
                    </a:p>
                  </a:txBody>
                  <a:tcPr marL="101600" marR="101600" marT="38100" marB="38100" anchor="ctr">
                    <a:solidFill>
                      <a:srgbClr val="FFFFFF"/>
                    </a:solidFill>
                  </a:tcPr>
                </a:tc>
                <a:tc>
                  <a:txBody>
                    <a:bodyPr/>
                    <a:lstStyle/>
                    <a:p>
                      <a:r>
                        <a:rPr sz="1400" b="0" i="0">
                          <a:solidFill>
                            <a:srgbClr val="1A1440"/>
                          </a:solidFill>
                          <a:latin typeface="Calibri"/>
                        </a:rPr>
                        <a:t>She wants to know where growth comes from and where it leaks.</a:t>
                      </a:r>
                    </a:p>
                  </a:txBody>
                  <a:tcPr marL="101600" marR="101600" marT="38100" marB="38100" anchor="ctr">
                    <a:solidFill>
                      <a:srgbClr val="FFFFFF"/>
                    </a:solidFill>
                  </a:tcPr>
                </a:tc>
                <a:tc>
                  <a:txBody>
                    <a:bodyPr/>
                    <a:lstStyle/>
                    <a:p>
                      <a:r>
                        <a:rPr sz="1400" b="0" i="0">
                          <a:solidFill>
                            <a:srgbClr val="1A1440"/>
                          </a:solidFill>
                          <a:latin typeface="Calibri"/>
                        </a:rPr>
                        <a:t>She signs a budget for the wrong branch.</a:t>
                      </a:r>
                    </a:p>
                  </a:txBody>
                  <a:tcPr marL="101600" marR="101600" marT="38100" marB="38100" anchor="ctr">
                    <a:solidFill>
                      <a:srgbClr val="FFFFFF"/>
                    </a:solidFill>
                  </a:tcPr>
                </a:tc>
              </a:tr>
              <a:tr h="853440">
                <a:tc>
                  <a:txBody>
                    <a:bodyPr/>
                    <a:lstStyle/>
                    <a:p>
                      <a:r>
                        <a:rPr sz="1400" b="0" i="0">
                          <a:solidFill>
                            <a:srgbClr val="1A1440"/>
                          </a:solidFill>
                          <a:latin typeface="Calibri"/>
                        </a:rPr>
                        <a:t>Anand, finance controller</a:t>
                      </a:r>
                    </a:p>
                  </a:txBody>
                  <a:tcPr marL="101600" marR="101600" marT="38100" marB="38100" anchor="ctr">
                    <a:solidFill>
                      <a:srgbClr val="F4F2FA"/>
                    </a:solidFill>
                  </a:tcPr>
                </a:tc>
                <a:tc>
                  <a:txBody>
                    <a:bodyPr/>
                    <a:lstStyle/>
                    <a:p>
                      <a:r>
                        <a:rPr sz="1400" b="0" i="0">
                          <a:solidFill>
                            <a:srgbClr val="1A1440"/>
                          </a:solidFill>
                          <a:latin typeface="Calibri"/>
                        </a:rPr>
                        <a:t>He wants our numbers to match his books.</a:t>
                      </a:r>
                    </a:p>
                  </a:txBody>
                  <a:tcPr marL="101600" marR="101600" marT="38100" marB="38100" anchor="ctr">
                    <a:solidFill>
                      <a:srgbClr val="F4F2FA"/>
                    </a:solidFill>
                  </a:tcPr>
                </a:tc>
                <a:tc>
                  <a:txBody>
                    <a:bodyPr/>
                    <a:lstStyle/>
                    <a:p>
                      <a:r>
                        <a:rPr sz="1400" b="0" i="0">
                          <a:solidFill>
                            <a:srgbClr val="1A1440"/>
                          </a:solidFill>
                          <a:latin typeface="Calibri"/>
                        </a:rPr>
                        <a:t>He restates a figure in front of the board.</a:t>
                      </a:r>
                    </a:p>
                  </a:txBody>
                  <a:tcPr marL="101600" marR="101600" marT="38100" marB="38100" anchor="ctr">
                    <a:solidFill>
                      <a:srgbClr val="F4F2FA"/>
                    </a:solidFill>
                  </a:tcPr>
                </a:tc>
              </a:tr>
              <a:tr h="853440">
                <a:tc>
                  <a:txBody>
                    <a:bodyPr/>
                    <a:lstStyle/>
                    <a:p>
                      <a:r>
                        <a:rPr sz="1400" b="0" i="0">
                          <a:solidFill>
                            <a:srgbClr val="1A1440"/>
                          </a:solidFill>
                          <a:latin typeface="Calibri"/>
                        </a:rPr>
                        <a:t>The marketing lead</a:t>
                      </a:r>
                    </a:p>
                  </a:txBody>
                  <a:tcPr marL="101600" marR="101600" marT="38100" marB="38100" anchor="ctr">
                    <a:solidFill>
                      <a:srgbClr val="FFFFFF"/>
                    </a:solidFill>
                  </a:tcPr>
                </a:tc>
                <a:tc>
                  <a:txBody>
                    <a:bodyPr/>
                    <a:lstStyle/>
                    <a:p>
                      <a:r>
                        <a:rPr sz="1400" b="0" i="0">
                          <a:solidFill>
                            <a:srgbClr val="1A1440"/>
                          </a:solidFill>
                          <a:latin typeface="Calibri"/>
                        </a:rPr>
                        <a:t>The lead wants to know whether Kalpa needs more customers.</a:t>
                      </a:r>
                    </a:p>
                  </a:txBody>
                  <a:tcPr marL="101600" marR="101600" marT="38100" marB="38100" anchor="ctr">
                    <a:solidFill>
                      <a:srgbClr val="FFFFFF"/>
                    </a:solidFill>
                  </a:tcPr>
                </a:tc>
                <a:tc>
                  <a:txBody>
                    <a:bodyPr/>
                    <a:lstStyle/>
                    <a:p>
                      <a:r>
                        <a:rPr sz="1400" b="0" i="0">
                          <a:solidFill>
                            <a:srgbClr val="1A1440"/>
                          </a:solidFill>
                          <a:latin typeface="Calibri"/>
                        </a:rPr>
                        <a:t>A campaign budget is spent before anyone can take it back.</a:t>
                      </a:r>
                    </a:p>
                  </a:txBody>
                  <a:tcPr marL="101600" marR="101600" marT="38100" marB="38100" anchor="ctr">
                    <a:solidFill>
                      <a:srgbClr val="FFFFFF"/>
                    </a:solidFill>
                  </a:tcPr>
                </a:tc>
              </a:tr>
              <a:tr h="853440">
                <a:tc>
                  <a:txBody>
                    <a:bodyPr/>
                    <a:lstStyle/>
                    <a:p>
                      <a:r>
                        <a:rPr sz="1400" b="0" i="0">
                          <a:solidFill>
                            <a:srgbClr val="1A1440"/>
                          </a:solidFill>
                          <a:latin typeface="Calibri"/>
                        </a:rPr>
                        <a:t>The head of Retail-Plus</a:t>
                      </a:r>
                    </a:p>
                  </a:txBody>
                  <a:tcPr marL="101600" marR="101600" marT="38100" marB="38100" anchor="ctr">
                    <a:solidFill>
                      <a:srgbClr val="F4F2FA"/>
                    </a:solidFill>
                  </a:tcPr>
                </a:tc>
                <a:tc>
                  <a:txBody>
                    <a:bodyPr/>
                    <a:lstStyle/>
                    <a:p>
                      <a:r>
                        <a:rPr sz="1400" b="0" i="0">
                          <a:solidFill>
                            <a:srgbClr val="1A1440"/>
                          </a:solidFill>
                          <a:latin typeface="Calibri"/>
                        </a:rPr>
                        <a:t>The head wants to know whether the paid tier is slipping.</a:t>
                      </a:r>
                    </a:p>
                  </a:txBody>
                  <a:tcPr marL="101600" marR="101600" marT="38100" marB="38100" anchor="ctr">
                    <a:solidFill>
                      <a:srgbClr val="F4F2FA"/>
                    </a:solidFill>
                  </a:tcPr>
                </a:tc>
                <a:tc>
                  <a:txBody>
                    <a:bodyPr/>
                    <a:lstStyle/>
                    <a:p>
                      <a:r>
                        <a:rPr sz="1400" b="0" i="0">
                          <a:solidFill>
                            <a:srgbClr val="1A1440"/>
                          </a:solidFill>
                          <a:latin typeface="Calibri"/>
                        </a:rPr>
                        <a:t>Members lapse while the wrong ones are protected.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is customers x orders each x order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does every retail number hang off?</a:t>
            </a:r>
          </a:p>
        </p:txBody>
      </p:sp>
      <p:pic>
        <p:nvPicPr>
          <p:cNvPr id="9" name="mermaid diagram" descr="55a8745fc7fb5af9.png"/>
          <p:cNvPicPr>
            <a:picLocks noChangeAspect="1"/>
          </p:cNvPicPr>
          <p:nvPr/>
        </p:nvPicPr>
        <p:blipFill>
          <a:blip r:embed="rId6"/>
          <a:stretch>
            <a:fillRect/>
          </a:stretch>
        </p:blipFill>
        <p:spPr>
          <a:xfrm>
            <a:off x="530352" y="1913999"/>
            <a:ext cx="11130991" cy="2786162"/>
          </a:xfrm>
          <a:prstGeom prst="rect">
            <a:avLst/>
          </a:prstGeom>
        </p:spPr>
      </p:pic>
      <p:sp>
        <p:nvSpPr>
          <p:cNvPr id="10" name="Rounded Rectangle 9"/>
          <p:cNvSpPr/>
          <p:nvPr/>
        </p:nvSpPr>
        <p:spPr>
          <a:xfrm>
            <a:off x="530352" y="484646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9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425"/>
            <a:ext cx="237744" cy="237744"/>
          </a:xfrm>
          <a:prstGeom prst="rect">
            <a:avLst/>
          </a:prstGeom>
        </p:spPr>
      </p:pic>
      <p:sp>
        <p:nvSpPr>
          <p:cNvPr id="13" name="TextBox 12"/>
          <p:cNvSpPr txBox="1"/>
          <p:nvPr/>
        </p:nvSpPr>
        <p:spPr>
          <a:xfrm>
            <a:off x="1399031" y="499276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225"/>
            <a:ext cx="9987991" cy="682752"/>
          </a:xfrm>
          <a:prstGeom prst="rect">
            <a:avLst/>
          </a:prstGeom>
          <a:noFill/>
        </p:spPr>
        <p:txBody>
          <a:bodyPr wrap="square" anchor="t" lIns="0" rIns="0" tIns="0" bIns="0">
            <a:spAutoFit/>
          </a:bodyPr>
          <a:lstStyle/>
          <a:p>
            <a:r>
              <a:rPr sz="1500" b="0" i="0">
                <a:solidFill>
                  <a:srgbClr val="1A1440"/>
                </a:solidFill>
                <a:latin typeface="Calibri"/>
              </a:rPr>
              <a:t>Each number on the tree is worked out by its own formula, and each answers a question somebody at Kalpa asks.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branch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numbers on the tree's branches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316794"/>
                <a:gridCol w="3613958"/>
                <a:gridCol w="3795313"/>
                <a:gridCol w="2404924"/>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Conversion</a:t>
                      </a:r>
                    </a:p>
                  </a:txBody>
                  <a:tcPr marL="101600" marR="101600" marT="38100" marB="38100" anchor="ctr">
                    <a:solidFill>
                      <a:srgbClr val="FFFFFF"/>
                    </a:solidFill>
                  </a:tcPr>
                </a:tc>
                <a:tc>
                  <a:txBody>
                    <a:bodyPr/>
                    <a:lstStyle/>
                    <a:p>
                      <a:r>
                        <a:rPr sz="1200" b="0" i="0">
                          <a:solidFill>
                            <a:srgbClr val="1A1440"/>
                          </a:solidFill>
                          <a:latin typeface="Calibri"/>
                        </a:rPr>
                        <a:t>Orders / visits</a:t>
                      </a:r>
                    </a:p>
                  </a:txBody>
                  <a:tcPr marL="101600" marR="101600" marT="38100" marB="38100" anchor="ctr">
                    <a:solidFill>
                      <a:srgbClr val="FFFFFF"/>
                    </a:solidFill>
                  </a:tcPr>
                </a:tc>
                <a:tc>
                  <a:txBody>
                    <a:bodyPr/>
                    <a:lstStyle/>
                    <a:p>
                      <a:r>
                        <a:rPr sz="1200" b="0" i="0">
                          <a:solidFill>
                            <a:srgbClr val="1A1440"/>
                          </a:solidFill>
                          <a:latin typeface="Calibri"/>
                        </a:rPr>
                        <a:t>Of the people who came, how many bought?</a:t>
                      </a:r>
                    </a:p>
                  </a:txBody>
                  <a:tcPr marL="101600" marR="101600" marT="38100" marB="38100" anchor="ctr">
                    <a:solidFill>
                      <a:srgbClr val="FFFFFF"/>
                    </a:solidFill>
                  </a:tcPr>
                </a:tc>
                <a:tc>
                  <a:txBody>
                    <a:bodyPr/>
                    <a:lstStyle/>
                    <a:p>
                      <a:r>
                        <a:rPr sz="1200" b="0" i="0">
                          <a:solidFill>
                            <a:srgbClr val="1A1440"/>
                          </a:solidFill>
                          <a:latin typeface="Calibri"/>
                        </a:rPr>
                        <a:t>Marketing and the app's product team</a:t>
                      </a:r>
                    </a:p>
                  </a:txBody>
                  <a:tcPr marL="101600" marR="101600" marT="38100" marB="38100" anchor="ctr">
                    <a:solidFill>
                      <a:srgbClr val="FFFFFF"/>
                    </a:solidFill>
                  </a:tcPr>
                </a:tc>
              </a:tr>
              <a:tr h="542544">
                <a:tc>
                  <a:txBody>
                    <a:bodyPr/>
                    <a:lstStyle/>
                    <a:p>
                      <a:r>
                        <a:rPr sz="1200" b="0" i="0">
                          <a:solidFill>
                            <a:srgbClr val="1A1440"/>
                          </a:solidFill>
                          <a:latin typeface="Calibri"/>
                        </a:rPr>
                        <a:t>Average order value</a:t>
                      </a:r>
                    </a:p>
                  </a:txBody>
                  <a:tcPr marL="101600" marR="101600" marT="38100" marB="38100" anchor="ctr">
                    <a:solidFill>
                      <a:srgbClr val="F4F2FA"/>
                    </a:solidFill>
                  </a:tcPr>
                </a:tc>
                <a:tc>
                  <a:txBody>
                    <a:bodyPr/>
                    <a:lstStyle/>
                    <a:p>
                      <a:r>
                        <a:rPr sz="1200" b="0" i="0">
                          <a:solidFill>
                            <a:srgbClr val="1A1440"/>
                          </a:solidFill>
                          <a:latin typeface="Calibri"/>
                        </a:rPr>
                        <a:t>Revenue / orders</a:t>
                      </a:r>
                    </a:p>
                  </a:txBody>
                  <a:tcPr marL="101600" marR="101600" marT="38100" marB="38100" anchor="ctr">
                    <a:solidFill>
                      <a:srgbClr val="F4F2FA"/>
                    </a:solidFill>
                  </a:tcPr>
                </a:tc>
                <a:tc>
                  <a:txBody>
                    <a:bodyPr/>
                    <a:lstStyle/>
                    <a:p>
                      <a:r>
                        <a:rPr sz="1200" b="0" i="0">
                          <a:solidFill>
                            <a:srgbClr val="1A1440"/>
                          </a:solidFill>
                          <a:latin typeface="Calibri"/>
                        </a:rPr>
                        <a:t>How much does one order bring in?</a:t>
                      </a:r>
                    </a:p>
                  </a:txBody>
                  <a:tcPr marL="101600" marR="101600" marT="38100" marB="38100" anchor="ctr">
                    <a:solidFill>
                      <a:srgbClr val="F4F2FA"/>
                    </a:solidFill>
                  </a:tcPr>
                </a:tc>
                <a:tc>
                  <a:txBody>
                    <a:bodyPr/>
                    <a:lstStyle/>
                    <a:p>
                      <a:r>
                        <a:rPr sz="1200" b="0" i="0">
                          <a:solidFill>
                            <a:srgbClr val="1A1440"/>
                          </a:solidFill>
                          <a:latin typeface="Calibri"/>
                        </a:rPr>
                        <a:t>Merchandising, marketing and finance</a:t>
                      </a:r>
                    </a:p>
                  </a:txBody>
                  <a:tcPr marL="101600" marR="101600" marT="38100" marB="38100" anchor="ctr">
                    <a:solidFill>
                      <a:srgbClr val="F4F2FA"/>
                    </a:solidFill>
                  </a:tcPr>
                </a:tc>
              </a:tr>
              <a:tr h="542544">
                <a:tc>
                  <a:txBody>
                    <a:bodyPr/>
                    <a:lstStyle/>
                    <a:p>
                      <a:r>
                        <a:rPr sz="1200" b="0" i="0">
                          <a:solidFill>
                            <a:srgbClr val="1A1440"/>
                          </a:solidFill>
                          <a:latin typeface="Calibri"/>
                        </a:rPr>
                        <a:t>Orders per customer</a:t>
                      </a:r>
                    </a:p>
                  </a:txBody>
                  <a:tcPr marL="101600" marR="101600" marT="38100" marB="38100" anchor="ctr">
                    <a:solidFill>
                      <a:srgbClr val="FFFFFF"/>
                    </a:solidFill>
                  </a:tcPr>
                </a:tc>
                <a:tc>
                  <a:txBody>
                    <a:bodyPr/>
                    <a:lstStyle/>
                    <a:p>
                      <a:r>
                        <a:rPr sz="1200" b="0" i="0">
                          <a:solidFill>
                            <a:srgbClr val="1A1440"/>
                          </a:solidFill>
                          <a:latin typeface="Calibri"/>
                        </a:rPr>
                        <a:t>Orders / customers who ordered</a:t>
                      </a:r>
                    </a:p>
                  </a:txBody>
                  <a:tcPr marL="101600" marR="101600" marT="38100" marB="38100" anchor="ctr">
                    <a:solidFill>
                      <a:srgbClr val="FFFFFF"/>
                    </a:solidFill>
                  </a:tcPr>
                </a:tc>
                <a:tc>
                  <a:txBody>
                    <a:bodyPr/>
                    <a:lstStyle/>
                    <a:p>
                      <a:r>
                        <a:rPr sz="1200" b="0" i="0">
                          <a:solidFill>
                            <a:srgbClr val="1A1440"/>
                          </a:solidFill>
                          <a:latin typeface="Calibri"/>
                        </a:rPr>
                        <a:t>How often does a customer buy?</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r h="542544">
                <a:tc>
                  <a:txBody>
                    <a:bodyPr/>
                    <a:lstStyle/>
                    <a:p>
                      <a:r>
                        <a:rPr sz="1200" b="0" i="0">
                          <a:solidFill>
                            <a:srgbClr val="1A1440"/>
                          </a:solidFill>
                          <a:latin typeface="Calibri"/>
                        </a:rPr>
                        <a:t>Repeat rate</a:t>
                      </a:r>
                    </a:p>
                  </a:txBody>
                  <a:tcPr marL="101600" marR="101600" marT="38100" marB="38100" anchor="ctr">
                    <a:solidFill>
                      <a:srgbClr val="F4F2FA"/>
                    </a:solidFill>
                  </a:tcPr>
                </a:tc>
                <a:tc>
                  <a:txBody>
                    <a:bodyPr/>
                    <a:lstStyle/>
                    <a:p>
                      <a:r>
                        <a:rPr sz="1200" b="0" i="0">
                          <a:solidFill>
                            <a:srgbClr val="1A1440"/>
                          </a:solidFill>
                          <a:latin typeface="Calibri"/>
                        </a:rPr>
                        <a:t>Customers with two or more orders / customers who ordered</a:t>
                      </a:r>
                    </a:p>
                  </a:txBody>
                  <a:tcPr marL="101600" marR="101600" marT="38100" marB="38100" anchor="ctr">
                    <a:solidFill>
                      <a:srgbClr val="F4F2FA"/>
                    </a:solidFill>
                  </a:tcPr>
                </a:tc>
                <a:tc>
                  <a:txBody>
                    <a:bodyPr/>
                    <a:lstStyle/>
                    <a:p>
                      <a:r>
                        <a:rPr sz="1200" b="0" i="0">
                          <a:solidFill>
                            <a:srgbClr val="1A1440"/>
                          </a:solidFill>
                          <a:latin typeface="Calibri"/>
                        </a:rPr>
                        <a:t>How many customers came back for another order?</a:t>
                      </a:r>
                    </a:p>
                  </a:txBody>
                  <a:tcPr marL="101600" marR="101600" marT="38100" marB="38100" anchor="ctr">
                    <a:solidFill>
                      <a:srgbClr val="F4F2FA"/>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4F2FA"/>
                    </a:solidFill>
                  </a:tcPr>
                </a:tc>
              </a:tr>
              <a:tr h="542544">
                <a:tc>
                  <a:txBody>
                    <a:bodyPr/>
                    <a:lstStyle/>
                    <a:p>
                      <a:r>
                        <a:rPr sz="1200" b="0" i="0">
                          <a:solidFill>
                            <a:srgbClr val="1A1440"/>
                          </a:solidFill>
                          <a:latin typeface="Calibri"/>
                        </a:rPr>
                        <a:t>Retention</a:t>
                      </a:r>
                    </a:p>
                  </a:txBody>
                  <a:tcPr marL="101600" marR="101600" marT="38100" marB="38100" anchor="ctr">
                    <a:solidFill>
                      <a:srgbClr val="FFFFFF"/>
                    </a:solidFill>
                  </a:tcPr>
                </a:tc>
                <a:tc>
                  <a:txBody>
                    <a:bodyPr/>
                    <a:lstStyle/>
                    <a:p>
                      <a:r>
                        <a:rPr sz="1200" b="0" i="0">
                          <a:solidFill>
                            <a:srgbClr val="1A1440"/>
                          </a:solidFill>
                          <a:latin typeface="Calibri"/>
                        </a:rPr>
                        <a:t>A cohort's buyers in month k / the cohort's starting size</a:t>
                      </a:r>
                    </a:p>
                  </a:txBody>
                  <a:tcPr marL="101600" marR="101600" marT="38100" marB="38100" anchor="ctr">
                    <a:solidFill>
                      <a:srgbClr val="FFFFFF"/>
                    </a:solidFill>
                  </a:tcPr>
                </a:tc>
                <a:tc>
                  <a:txBody>
                    <a:bodyPr/>
                    <a:lstStyle/>
                    <a:p>
                      <a:r>
                        <a:rPr sz="1200" b="0" i="0">
                          <a:solidFill>
                            <a:srgbClr val="1A1440"/>
                          </a:solidFill>
                          <a:latin typeface="Calibri"/>
                        </a:rPr>
                        <a:t>How many of one month's new customers still buy k months on?</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  ·  10 /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money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money and stock numbers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688585"/>
                <a:gridCol w="3871026"/>
                <a:gridCol w="3389096"/>
                <a:gridCol w="2182282"/>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Customer lifetime value</a:t>
                      </a:r>
                    </a:p>
                  </a:txBody>
                  <a:tcPr marL="101600" marR="101600" marT="38100" marB="38100" anchor="ctr">
                    <a:solidFill>
                      <a:srgbClr val="FFFFFF"/>
                    </a:solidFill>
                  </a:tcPr>
                </a:tc>
                <a:tc>
                  <a:txBody>
                    <a:bodyPr/>
                    <a:lstStyle/>
                    <a:p>
                      <a:r>
                        <a:rPr sz="1200" b="0" i="0">
                          <a:solidFill>
                            <a:srgbClr val="1A1440"/>
                          </a:solidFill>
                          <a:latin typeface="Calibri"/>
                        </a:rPr>
                        <a:t>Contribution per order x orders a year x years as a customer</a:t>
                      </a:r>
                    </a:p>
                  </a:txBody>
                  <a:tcPr marL="101600" marR="101600" marT="38100" marB="38100" anchor="ctr">
                    <a:solidFill>
                      <a:srgbClr val="FFFFFF"/>
                    </a:solidFill>
                  </a:tcPr>
                </a:tc>
                <a:tc>
                  <a:txBody>
                    <a:bodyPr/>
                    <a:lstStyle/>
                    <a:p>
                      <a:r>
                        <a:rPr sz="1200" b="0" i="0">
                          <a:solidFill>
                            <a:srgbClr val="1A1440"/>
                          </a:solidFill>
                          <a:latin typeface="Calibri"/>
                        </a:rPr>
                        <a:t>What is one customer worth over the years they buy?</a:t>
                      </a:r>
                    </a:p>
                  </a:txBody>
                  <a:tcPr marL="101600" marR="101600" marT="38100" marB="38100" anchor="ctr">
                    <a:solidFill>
                      <a:srgbClr val="FFFFFF"/>
                    </a:solidFill>
                  </a:tcPr>
                </a:tc>
                <a:tc>
                  <a:txBody>
                    <a:bodyPr/>
                    <a:lstStyle/>
                    <a:p>
                      <a:r>
                        <a:rPr sz="1200" b="0" i="0">
                          <a:solidFill>
                            <a:srgbClr val="1A1440"/>
                          </a:solidFill>
                          <a:latin typeface="Calibri"/>
                        </a:rPr>
                        <a:t>Marketing and finance</a:t>
                      </a:r>
                    </a:p>
                  </a:txBody>
                  <a:tcPr marL="101600" marR="101600" marT="38100" marB="38100" anchor="ctr">
                    <a:solidFill>
                      <a:srgbClr val="FFFFFF"/>
                    </a:solidFill>
                  </a:tcPr>
                </a:tc>
              </a:tr>
              <a:tr h="542544">
                <a:tc>
                  <a:txBody>
                    <a:bodyPr/>
                    <a:lstStyle/>
                    <a:p>
                      <a:r>
                        <a:rPr sz="1200" b="0" i="0">
                          <a:solidFill>
                            <a:srgbClr val="1A1440"/>
                          </a:solidFill>
                          <a:latin typeface="Calibri"/>
                        </a:rPr>
                        <a:t>Acquisition cost and payback</a:t>
                      </a:r>
                    </a:p>
                  </a:txBody>
                  <a:tcPr marL="101600" marR="101600" marT="38100" marB="38100" anchor="ctr">
                    <a:solidFill>
                      <a:srgbClr val="F4F2FA"/>
                    </a:solidFill>
                  </a:tcPr>
                </a:tc>
                <a:tc>
                  <a:txBody>
                    <a:bodyPr/>
                    <a:lstStyle/>
                    <a:p>
                      <a:r>
                        <a:rPr sz="1200" b="0" i="0">
                          <a:solidFill>
                            <a:srgbClr val="1A1440"/>
                          </a:solidFill>
                          <a:latin typeface="Calibri"/>
                        </a:rPr>
                        <a:t>Spend / new customers, then that cost / monthly contribution per customer</a:t>
                      </a:r>
                    </a:p>
                  </a:txBody>
                  <a:tcPr marL="101600" marR="101600" marT="38100" marB="38100" anchor="ctr">
                    <a:solidFill>
                      <a:srgbClr val="F4F2FA"/>
                    </a:solidFill>
                  </a:tcPr>
                </a:tc>
                <a:tc>
                  <a:txBody>
                    <a:bodyPr/>
                    <a:lstStyle/>
                    <a:p>
                      <a:r>
                        <a:rPr sz="1200" b="0" i="0">
                          <a:solidFill>
                            <a:srgbClr val="1A1440"/>
                          </a:solidFill>
                          <a:latin typeface="Calibri"/>
                        </a:rPr>
                        <a:t>What did each new customer cost, and when do they repay it?</a:t>
                      </a:r>
                    </a:p>
                  </a:txBody>
                  <a:tcPr marL="101600" marR="101600" marT="38100" marB="38100" anchor="ctr">
                    <a:solidFill>
                      <a:srgbClr val="F4F2FA"/>
                    </a:solidFill>
                  </a:tcPr>
                </a:tc>
                <a:tc>
                  <a:txBody>
                    <a:bodyPr/>
                    <a:lstStyle/>
                    <a:p>
                      <a:r>
                        <a:rPr sz="1200" b="0" i="0">
                          <a:solidFill>
                            <a:srgbClr val="1A1440"/>
                          </a:solidFill>
                          <a:latin typeface="Calibri"/>
                        </a:rPr>
                        <a:t>Meera and Anand, before signing</a:t>
                      </a:r>
                    </a:p>
                  </a:txBody>
                  <a:tcPr marL="101600" marR="101600" marT="38100" marB="38100" anchor="ctr">
                    <a:solidFill>
                      <a:srgbClr val="F4F2FA"/>
                    </a:solidFill>
                  </a:tcPr>
                </a:tc>
              </a:tr>
              <a:tr h="542544">
                <a:tc>
                  <a:txBody>
                    <a:bodyPr/>
                    <a:lstStyle/>
                    <a:p>
                      <a:r>
                        <a:rPr sz="1200" b="0" i="0">
                          <a:solidFill>
                            <a:srgbClr val="1A1440"/>
                          </a:solidFill>
                          <a:latin typeface="Calibri"/>
                        </a:rPr>
                        <a:t>Gross margin</a:t>
                      </a:r>
                    </a:p>
                  </a:txBody>
                  <a:tcPr marL="101600" marR="101600" marT="38100" marB="38100" anchor="ctr">
                    <a:solidFill>
                      <a:srgbClr val="FFFFFF"/>
                    </a:solidFill>
                  </a:tcPr>
                </a:tc>
                <a:tc>
                  <a:txBody>
                    <a:bodyPr/>
                    <a:lstStyle/>
                    <a:p>
                      <a:r>
                        <a:rPr sz="1200" b="0" i="0">
                          <a:solidFill>
                            <a:srgbClr val="1A1440"/>
                          </a:solidFill>
                          <a:latin typeface="Calibri"/>
                        </a:rPr>
                        <a:t>(Net revenue less the cost of goods) / net revenue</a:t>
                      </a:r>
                    </a:p>
                  </a:txBody>
                  <a:tcPr marL="101600" marR="101600" marT="38100" marB="38100" anchor="ctr">
                    <a:solidFill>
                      <a:srgbClr val="FFFFFF"/>
                    </a:solidFill>
                  </a:tcPr>
                </a:tc>
                <a:tc>
                  <a:txBody>
                    <a:bodyPr/>
                    <a:lstStyle/>
                    <a:p>
                      <a:r>
                        <a:rPr sz="1200" b="0" i="0">
                          <a:solidFill>
                            <a:srgbClr val="1A1440"/>
                          </a:solidFill>
                          <a:latin typeface="Calibri"/>
                        </a:rPr>
                        <a:t>How much of each rupee earned is left after the goods?</a:t>
                      </a:r>
                    </a:p>
                  </a:txBody>
                  <a:tcPr marL="101600" marR="101600" marT="38100" marB="38100" anchor="ctr">
                    <a:solidFill>
                      <a:srgbClr val="FFFFFF"/>
                    </a:solidFill>
                  </a:tcPr>
                </a:tc>
                <a:tc>
                  <a:txBody>
                    <a:bodyPr/>
                    <a:lstStyle/>
                    <a:p>
                      <a:r>
                        <a:rPr sz="1200" b="0" i="0">
                          <a:solidFill>
                            <a:srgbClr val="1A1440"/>
                          </a:solidFill>
                          <a:latin typeface="Calibri"/>
                        </a:rPr>
                        <a:t>Anand and the category buyers</a:t>
                      </a:r>
                    </a:p>
                  </a:txBody>
                  <a:tcPr marL="101600" marR="101600" marT="38100" marB="38100" anchor="ctr">
                    <a:solidFill>
                      <a:srgbClr val="FFFFFF"/>
                    </a:solidFill>
                  </a:tcPr>
                </a:tc>
              </a:tr>
              <a:tr h="542544">
                <a:tc>
                  <a:txBody>
                    <a:bodyPr/>
                    <a:lstStyle/>
                    <a:p>
                      <a:r>
                        <a:rPr sz="1200" b="0" i="0">
                          <a:solidFill>
                            <a:srgbClr val="1A1440"/>
                          </a:solidFill>
                          <a:latin typeface="Calibri"/>
                        </a:rPr>
                        <a:t>Days of inventory</a:t>
                      </a:r>
                    </a:p>
                  </a:txBody>
                  <a:tcPr marL="101600" marR="101600" marT="38100" marB="38100" anchor="ctr">
                    <a:solidFill>
                      <a:srgbClr val="F4F2FA"/>
                    </a:solidFill>
                  </a:tcPr>
                </a:tc>
                <a:tc>
                  <a:txBody>
                    <a:bodyPr/>
                    <a:lstStyle/>
                    <a:p>
                      <a:r>
                        <a:rPr sz="1200" b="0" i="0">
                          <a:solidFill>
                            <a:srgbClr val="1A1440"/>
                          </a:solidFill>
                          <a:latin typeface="Calibri"/>
                        </a:rPr>
                        <a:t>Average stock at cost / cost of goods per day</a:t>
                      </a:r>
                    </a:p>
                  </a:txBody>
                  <a:tcPr marL="101600" marR="101600" marT="38100" marB="38100" anchor="ctr">
                    <a:solidFill>
                      <a:srgbClr val="F4F2FA"/>
                    </a:solidFill>
                  </a:tcPr>
                </a:tc>
                <a:tc>
                  <a:txBody>
                    <a:bodyPr/>
                    <a:lstStyle/>
                    <a:p>
                      <a:r>
                        <a:rPr sz="1200" b="0" i="0">
                          <a:solidFill>
                            <a:srgbClr val="1A1440"/>
                          </a:solidFill>
                          <a:latin typeface="Calibri"/>
                        </a:rPr>
                        <a:t>How many days would today's stock last?</a:t>
                      </a:r>
                    </a:p>
                  </a:txBody>
                  <a:tcPr marL="101600" marR="101600" marT="38100" marB="38100" anchor="ctr">
                    <a:solidFill>
                      <a:srgbClr val="F4F2FA"/>
                    </a:solidFill>
                  </a:tcPr>
                </a:tc>
                <a:tc>
                  <a:txBody>
                    <a:bodyPr/>
                    <a:lstStyle/>
                    <a:p>
                      <a:r>
                        <a:rPr sz="1200" b="0" i="0">
                          <a:solidFill>
                            <a:srgbClr val="1A1440"/>
                          </a:solidFill>
                          <a:latin typeface="Calibri"/>
                        </a:rPr>
                        <a:t>Supply chain, the buyers and finance</a:t>
                      </a:r>
                    </a:p>
                  </a:txBody>
                  <a:tcPr marL="101600" marR="101600" marT="38100" marB="38100" anchor="ctr">
                    <a:solidFill>
                      <a:srgbClr val="F4F2FA"/>
                    </a:solidFill>
                  </a:tcPr>
                </a:tc>
              </a:tr>
              <a:tr h="542544">
                <a:tc>
                  <a:txBody>
                    <a:bodyPr/>
                    <a:lstStyle/>
                    <a:p>
                      <a:r>
                        <a:rPr sz="1200" b="0" i="0">
                          <a:solidFill>
                            <a:srgbClr val="1A1440"/>
                          </a:solidFill>
                          <a:latin typeface="Calibri"/>
                        </a:rPr>
                        <a:t>Like-for-like growth</a:t>
                      </a:r>
                    </a:p>
                  </a:txBody>
                  <a:tcPr marL="101600" marR="101600" marT="38100" marB="38100" anchor="ctr">
                    <a:solidFill>
                      <a:srgbClr val="FFFFFF"/>
                    </a:solidFill>
                  </a:tcPr>
                </a:tc>
                <a:tc>
                  <a:txBody>
                    <a:bodyPr/>
                    <a:lstStyle/>
                    <a:p>
                      <a:r>
                        <a:rPr sz="1200" b="0" i="0">
                          <a:solidFill>
                            <a:srgbClr val="1A1440"/>
                          </a:solidFill>
                          <a:latin typeface="Calibri"/>
                        </a:rPr>
                        <a:t>Same stores' sales this period / their sales last period, less 1</a:t>
                      </a:r>
                    </a:p>
                  </a:txBody>
                  <a:tcPr marL="101600" marR="101600" marT="38100" marB="38100" anchor="ctr">
                    <a:solidFill>
                      <a:srgbClr val="FFFFFF"/>
                    </a:solidFill>
                  </a:tcPr>
                </a:tc>
                <a:tc>
                  <a:txBody>
                    <a:bodyPr/>
                    <a:lstStyle/>
                    <a:p>
                      <a:r>
                        <a:rPr sz="1200" b="0" i="0">
                          <a:solidFill>
                            <a:srgbClr val="1A1440"/>
                          </a:solidFill>
                          <a:latin typeface="Calibri"/>
                        </a:rPr>
                        <a:t>Did the stores that were already open sell more?</a:t>
                      </a:r>
                    </a:p>
                  </a:txBody>
                  <a:tcPr marL="101600" marR="101600" marT="38100" marB="38100" anchor="ctr">
                    <a:solidFill>
                      <a:srgbClr val="FFFFFF"/>
                    </a:solidFill>
                  </a:tcPr>
                </a:tc>
                <a:tc>
                  <a:txBody>
                    <a:bodyPr/>
                    <a:lstStyle/>
                    <a:p>
                      <a:r>
                        <a:rPr sz="1200" b="0" i="0">
                          <a:solidFill>
                            <a:srgbClr val="1A1440"/>
                          </a:solidFill>
                          <a:latin typeface="Calibri"/>
                        </a:rPr>
                        <a:t>Meera, store operations and investors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11 / 77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further right, the more a wrong answer costs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may a system act on its own before a person checks it?</a:t>
            </a:r>
          </a:p>
        </p:txBody>
      </p:sp>
      <p:pic>
        <p:nvPicPr>
          <p:cNvPr id="9" name="mermaid diagram" descr="b367f018e4143e2b.png"/>
          <p:cNvPicPr>
            <a:picLocks noChangeAspect="1"/>
          </p:cNvPicPr>
          <p:nvPr/>
        </p:nvPicPr>
        <p:blipFill>
          <a:blip r:embed="rId5"/>
          <a:stretch>
            <a:fillRect/>
          </a:stretch>
        </p:blipFill>
        <p:spPr>
          <a:xfrm>
            <a:off x="1202378" y="1956816"/>
            <a:ext cx="9786937" cy="1128712"/>
          </a:xfrm>
          <a:prstGeom prst="rect">
            <a:avLst/>
          </a:prstGeom>
        </p:spPr>
      </p:pic>
      <p:graphicFrame>
        <p:nvGraphicFramePr>
          <p:cNvPr id="10" name="Table 9"/>
          <p:cNvGraphicFramePr>
            <a:graphicFrameLocks noGrp="1"/>
          </p:cNvGraphicFramePr>
          <p:nvPr/>
        </p:nvGraphicFramePr>
        <p:xfrm>
          <a:off x="530352" y="3231832"/>
          <a:ext cx="11130991" cy="1849120"/>
        </p:xfrm>
        <a:graphic>
          <a:graphicData uri="http://schemas.openxmlformats.org/drawingml/2006/table">
            <a:tbl>
              <a:tblPr firstRow="0" bandRow="0">
                <a:tableStyleId>{2D5ABB26-0587-4C30-8999-92F81FD0307C}</a:tableStyleId>
              </a:tblPr>
              <a:tblGrid>
                <a:gridCol w="3103528"/>
                <a:gridCol w="8027463"/>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means for the data team</a:t>
                      </a:r>
                    </a:p>
                  </a:txBody>
                  <a:tcPr marL="101600" marR="101600" marT="38100" marB="38100" anchor="ctr">
                    <a:solidFill>
                      <a:srgbClr val="1A0F5C"/>
                    </a:solidFill>
                  </a:tcPr>
                </a:tc>
              </a:tr>
              <a:tr h="369824">
                <a:tc>
                  <a:txBody>
                    <a:bodyPr/>
                    <a:lstStyle/>
                    <a:p>
                      <a:r>
                        <a:rPr sz="1400" b="0" i="0">
                          <a:solidFill>
                            <a:srgbClr val="1A1440"/>
                          </a:solidFill>
                          <a:latin typeface="Calibri"/>
                        </a:rPr>
                        <a:t>MRP</a:t>
                      </a:r>
                    </a:p>
                  </a:txBody>
                  <a:tcPr marL="101600" marR="101600" marT="38100" marB="38100" anchor="ctr">
                    <a:solidFill>
                      <a:srgbClr val="FFFFFF"/>
                    </a:solidFill>
                  </a:tcPr>
                </a:tc>
                <a:tc>
                  <a:txBody>
                    <a:bodyPr/>
                    <a:lstStyle/>
                    <a:p>
                      <a:r>
                        <a:rPr sz="1400" b="0" i="0">
                          <a:solidFill>
                            <a:srgbClr val="1A1440"/>
                          </a:solidFill>
                          <a:latin typeface="Calibri"/>
                        </a:rPr>
                        <a:t>A price model never sets a price above the maximum retail price printed on the pack.</a:t>
                      </a:r>
                    </a:p>
                  </a:txBody>
                  <a:tcPr marL="101600" marR="101600" marT="38100" marB="38100" anchor="ctr">
                    <a:solidFill>
                      <a:srgbClr val="FFFFFF"/>
                    </a:solidFill>
                  </a:tcPr>
                </a:tc>
              </a:tr>
              <a:tr h="369824">
                <a:tc>
                  <a:txBody>
                    <a:bodyPr/>
                    <a:lstStyle/>
                    <a:p>
                      <a:r>
                        <a:rPr sz="1400" b="0" i="0">
                          <a:solidFill>
                            <a:srgbClr val="1A1440"/>
                          </a:solidFill>
                          <a:latin typeface="Calibri"/>
                        </a:rPr>
                        <a:t>DPDP Act and Rules</a:t>
                      </a:r>
                    </a:p>
                  </a:txBody>
                  <a:tcPr marL="101600" marR="101600" marT="38100" marB="38100" anchor="ctr">
                    <a:solidFill>
                      <a:srgbClr val="F4F2FA"/>
                    </a:solidFill>
                  </a:tcPr>
                </a:tc>
                <a:tc>
                  <a:txBody>
                    <a:bodyPr/>
                    <a:lstStyle/>
                    <a:p>
                      <a:r>
                        <a:rPr sz="1400" b="0" i="0">
                          <a:solidFill>
                            <a:srgbClr val="1A1440"/>
                          </a:solidFill>
                          <a:latin typeface="Calibri"/>
                        </a:rPr>
                        <a:t>Personal data is used only for a purpose the person agreed to.</a:t>
                      </a:r>
                    </a:p>
                  </a:txBody>
                  <a:tcPr marL="101600" marR="101600" marT="38100" marB="38100" anchor="ctr">
                    <a:solidFill>
                      <a:srgbClr val="F4F2FA"/>
                    </a:solidFill>
                  </a:tcPr>
                </a:tc>
              </a:tr>
              <a:tr h="369824">
                <a:tc>
                  <a:txBody>
                    <a:bodyPr/>
                    <a:lstStyle/>
                    <a:p>
                      <a:r>
                        <a:rPr sz="1400" b="0" i="0">
                          <a:solidFill>
                            <a:srgbClr val="1A1440"/>
                          </a:solidFill>
                          <a:latin typeface="Calibri"/>
                        </a:rPr>
                        <a:t>RBI tokenisation</a:t>
                      </a:r>
                    </a:p>
                  </a:txBody>
                  <a:tcPr marL="101600" marR="101600" marT="38100" marB="38100" anchor="ctr">
                    <a:solidFill>
                      <a:srgbClr val="FFFFFF"/>
                    </a:solidFill>
                  </a:tcPr>
                </a:tc>
                <a:tc>
                  <a:txBody>
                    <a:bodyPr/>
                    <a:lstStyle/>
                    <a:p>
                      <a:r>
                        <a:rPr sz="1400" b="0" i="0">
                          <a:solidFill>
                            <a:srgbClr val="1A1440"/>
                          </a:solidFill>
                          <a:latin typeface="Calibri"/>
                        </a:rPr>
                        <a:t>A payments table holds tokens and the last four digits, never card numbers.</a:t>
                      </a:r>
                    </a:p>
                  </a:txBody>
                  <a:tcPr marL="101600" marR="101600" marT="38100" marB="38100" anchor="ctr">
                    <a:solidFill>
                      <a:srgbClr val="FFFFFF"/>
                    </a:solidFill>
                  </a:tcPr>
                </a:tc>
              </a:tr>
              <a:tr h="369824">
                <a:tc>
                  <a:txBody>
                    <a:bodyPr/>
                    <a:lstStyle/>
                    <a:p>
                      <a:r>
                        <a:rPr sz="1400" b="0" i="0">
                          <a:solidFill>
                            <a:srgbClr val="1A1440"/>
                          </a:solidFill>
                          <a:latin typeface="Calibri"/>
                        </a:rPr>
                        <a:t>E-commerce Rules 2020</a:t>
                      </a:r>
                    </a:p>
                  </a:txBody>
                  <a:tcPr marL="101600" marR="101600" marT="38100" marB="38100" anchor="ctr">
                    <a:solidFill>
                      <a:srgbClr val="F4F2FA"/>
                    </a:solidFill>
                  </a:tcPr>
                </a:tc>
                <a:tc>
                  <a:txBody>
                    <a:bodyPr/>
                    <a:lstStyle/>
                    <a:p>
                      <a:r>
                        <a:rPr sz="1400" b="0" i="0">
                          <a:solidFill>
                            <a:srgbClr val="1A1440"/>
                          </a:solidFill>
                          <a:latin typeface="Calibri"/>
                        </a:rPr>
                        <a:t>Consent is an explicit click, and a ranking comes with its explanation.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whether acquisition is the short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Kalpa's CEO ask the data team on Monday?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 What is 'sales' made of? Where does revenue come from, by customer type and channel? Is acquisition even the branch that is short?"</a:t>
            </a:r>
          </a:p>
        </p:txBody>
      </p:sp>
      <p:sp>
        <p:nvSpPr>
          <p:cNvPr id="14" name="Rounded Rectangle 13"/>
          <p:cNvSpPr/>
          <p:nvPr/>
        </p:nvSpPr>
        <p:spPr>
          <a:xfrm>
            <a:off x="530352" y="324307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24307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 Kalpa Retail</a:t>
            </a:r>
          </a:p>
        </p:txBody>
      </p:sp>
      <p:sp>
        <p:nvSpPr>
          <p:cNvPr id="16" name="TextBox 15"/>
          <p:cNvSpPr txBox="1"/>
          <p:nvPr/>
        </p:nvSpPr>
        <p:spPr>
          <a:xfrm>
            <a:off x="53035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7" name="TextBox 16"/>
          <p:cNvSpPr txBox="1"/>
          <p:nvPr/>
        </p:nvSpPr>
        <p:spPr>
          <a:xfrm>
            <a:off x="53035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GROWTH</a:t>
            </a:r>
          </a:p>
        </p:txBody>
      </p:sp>
      <p:sp>
        <p:nvSpPr>
          <p:cNvPr id="18" name="TextBox 17"/>
          <p:cNvSpPr txBox="1"/>
          <p:nvPr/>
        </p:nvSpPr>
        <p:spPr>
          <a:xfrm>
            <a:off x="53035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last year</a:t>
            </a:r>
          </a:p>
        </p:txBody>
      </p:sp>
      <p:sp>
        <p:nvSpPr>
          <p:cNvPr id="19" name="Rectangle 18"/>
          <p:cNvSpPr/>
          <p:nvPr/>
        </p:nvSpPr>
        <p:spPr>
          <a:xfrm>
            <a:off x="53035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3212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21" name="TextBox 20"/>
          <p:cNvSpPr txBox="1"/>
          <p:nvPr/>
        </p:nvSpPr>
        <p:spPr>
          <a:xfrm>
            <a:off x="433212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PLAN</a:t>
            </a:r>
          </a:p>
        </p:txBody>
      </p:sp>
      <p:sp>
        <p:nvSpPr>
          <p:cNvPr id="22" name="TextBox 21"/>
          <p:cNvSpPr txBox="1"/>
          <p:nvPr/>
        </p:nvSpPr>
        <p:spPr>
          <a:xfrm>
            <a:off x="433212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board expected</a:t>
            </a:r>
          </a:p>
        </p:txBody>
      </p:sp>
      <p:sp>
        <p:nvSpPr>
          <p:cNvPr id="23" name="Rectangle 22"/>
          <p:cNvSpPr/>
          <p:nvPr/>
        </p:nvSpPr>
        <p:spPr>
          <a:xfrm>
            <a:off x="433212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3389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5" name="TextBox 24"/>
          <p:cNvSpPr txBox="1"/>
          <p:nvPr/>
        </p:nvSpPr>
        <p:spPr>
          <a:xfrm>
            <a:off x="813389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MARKETING'S ASK</a:t>
            </a:r>
          </a:p>
        </p:txBody>
      </p:sp>
      <p:sp>
        <p:nvSpPr>
          <p:cNvPr id="26" name="TextBox 25"/>
          <p:cNvSpPr txBox="1"/>
          <p:nvPr/>
        </p:nvSpPr>
        <p:spPr>
          <a:xfrm>
            <a:off x="813389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to acquire customers</a:t>
            </a:r>
          </a:p>
        </p:txBody>
      </p:sp>
      <p:sp>
        <p:nvSpPr>
          <p:cNvPr id="27" name="Rectangle 26"/>
          <p:cNvSpPr/>
          <p:nvPr/>
        </p:nvSpPr>
        <p:spPr>
          <a:xfrm>
            <a:off x="813389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2" name="Oval 3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4" name="Oval 3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6" name="Oval 3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part of Meera's message becomes a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chapter answers each part of Meera's message?</a:t>
            </a:r>
          </a:p>
        </p:txBody>
      </p:sp>
      <p:graphicFrame>
        <p:nvGraphicFramePr>
          <p:cNvPr id="9" name="Table 8"/>
          <p:cNvGraphicFramePr>
            <a:graphicFrameLocks noGrp="1"/>
          </p:cNvGraphicFramePr>
          <p:nvPr/>
        </p:nvGraphicFramePr>
        <p:xfrm>
          <a:off x="530352" y="1956816"/>
          <a:ext cx="11130989" cy="2944368"/>
        </p:xfrm>
        <a:graphic>
          <a:graphicData uri="http://schemas.openxmlformats.org/drawingml/2006/table">
            <a:tbl>
              <a:tblPr firstRow="0" bandRow="0">
                <a:tableStyleId>{2D5ABB26-0587-4C30-8999-92F81FD0307C}</a:tableStyleId>
              </a:tblPr>
              <a:tblGrid>
                <a:gridCol w="3947409"/>
                <a:gridCol w="4834795"/>
                <a:gridCol w="2348785"/>
              </a:tblGrid>
              <a:tr h="369824">
                <a:tc>
                  <a:txBody>
                    <a:bodyPr/>
                    <a:lstStyle/>
                    <a:p>
                      <a:r>
                        <a:rPr sz="1450" b="1" i="0">
                          <a:solidFill>
                            <a:srgbClr val="FFFFFF"/>
                          </a:solidFill>
                          <a:latin typeface="Calibri"/>
                        </a:rPr>
                        <a:t>What she asked</a:t>
                      </a:r>
                    </a:p>
                  </a:txBody>
                  <a:tcPr marL="101600" marR="101600" marT="38100" marB="38100" anchor="ctr">
                    <a:solidFill>
                      <a:srgbClr val="1A0F5C"/>
                    </a:solidFill>
                  </a:tcPr>
                </a:tc>
                <a:tc>
                  <a:txBody>
                    <a:bodyPr/>
                    <a:lstStyle/>
                    <a:p>
                      <a:r>
                        <a:rPr sz="1450" b="1" i="0">
                          <a:solidFill>
                            <a:srgbClr val="FFFFFF"/>
                          </a:solidFill>
                          <a:latin typeface="Calibri"/>
                        </a:rPr>
                        <a:t>The question it becomes</a:t>
                      </a:r>
                    </a:p>
                  </a:txBody>
                  <a:tcPr marL="101600" marR="101600" marT="38100" marB="38100" anchor="ctr">
                    <a:solidFill>
                      <a:srgbClr val="1A0F5C"/>
                    </a:solidFill>
                  </a:tcPr>
                </a:tc>
                <a:tc>
                  <a:txBody>
                    <a:bodyPr/>
                    <a:lstStyle/>
                    <a:p>
                      <a:r>
                        <a:rPr sz="1450" b="1" i="0">
                          <a:solidFill>
                            <a:srgbClr val="FFFFFF"/>
                          </a:solidFill>
                          <a:latin typeface="Calibri"/>
                        </a:rPr>
                        <a:t>Where it is answered</a:t>
                      </a:r>
                    </a:p>
                  </a:txBody>
                  <a:tcPr marL="101600" marR="101600" marT="38100" marB="38100" anchor="ctr">
                    <a:solidFill>
                      <a:srgbClr val="1A0F5C"/>
                    </a:solidFill>
                  </a:tcPr>
                </a:tc>
              </a:tr>
              <a:tr h="611632">
                <a:tc>
                  <a:txBody>
                    <a:bodyPr/>
                    <a:lstStyle/>
                    <a:p>
                      <a:r>
                        <a:rPr sz="1400" b="0" i="0">
                          <a:solidFill>
                            <a:srgbClr val="1A1440"/>
                          </a:solidFill>
                          <a:latin typeface="Calibri"/>
                        </a:rPr>
                        <a:t>"What is 'sales' made of?"</a:t>
                      </a:r>
                    </a:p>
                  </a:txBody>
                  <a:tcPr marL="101600" marR="101600" marT="38100" marB="38100" anchor="ctr">
                    <a:solidFill>
                      <a:srgbClr val="FFFFFF"/>
                    </a:solidFill>
                  </a:tcPr>
                </a:tc>
                <a:tc>
                  <a:txBody>
                    <a:bodyPr/>
                    <a:lstStyle/>
                    <a:p>
                      <a:r>
                        <a:rPr sz="1400" b="0" i="0">
                          <a:solidFill>
                            <a:srgbClr val="1A1440"/>
                          </a:solidFill>
                          <a:latin typeface="Calibri"/>
                        </a:rPr>
                        <a:t>Which total is sales, and what is each branch?</a:t>
                      </a:r>
                    </a:p>
                  </a:txBody>
                  <a:tcPr marL="101600" marR="101600" marT="38100" marB="38100" anchor="ctr">
                    <a:solidFill>
                      <a:srgbClr val="FFFFFF"/>
                    </a:solidFill>
                  </a:tcPr>
                </a:tc>
                <a:tc>
                  <a:txBody>
                    <a:bodyPr/>
                    <a:lstStyle/>
                    <a:p>
                      <a:r>
                        <a:rPr sz="1400" b="0" i="0">
                          <a:solidFill>
                            <a:srgbClr val="1A1440"/>
                          </a:solidFill>
                          <a:latin typeface="Calibri"/>
                        </a:rPr>
                        <a:t>Chapters 1 and 2 answer it.</a:t>
                      </a:r>
                    </a:p>
                  </a:txBody>
                  <a:tcPr marL="101600" marR="101600" marT="38100" marB="38100" anchor="ctr">
                    <a:solidFill>
                      <a:srgbClr val="FFFFFF"/>
                    </a:solidFill>
                  </a:tcPr>
                </a:tc>
              </a:tr>
              <a:tr h="611632">
                <a:tc>
                  <a:txBody>
                    <a:bodyPr/>
                    <a:lstStyle/>
                    <a:p>
                      <a:r>
                        <a:rPr sz="1400" b="0" i="0">
                          <a:solidFill>
                            <a:srgbClr val="1A1440"/>
                          </a:solidFill>
                          <a:latin typeface="Calibri"/>
                        </a:rPr>
                        <a:t>"Is acquisition even the branch that is short?"</a:t>
                      </a:r>
                    </a:p>
                  </a:txBody>
                  <a:tcPr marL="101600" marR="101600" marT="38100" marB="38100" anchor="ctr">
                    <a:solidFill>
                      <a:srgbClr val="F4F2FA"/>
                    </a:solidFill>
                  </a:tcPr>
                </a:tc>
                <a:tc>
                  <a:txBody>
                    <a:bodyPr/>
                    <a:lstStyle/>
                    <a:p>
                      <a:r>
                        <a:rPr sz="1400" b="0" i="0">
                          <a:solidFill>
                            <a:srgbClr val="1A1440"/>
                          </a:solidFill>
                          <a:latin typeface="Calibri"/>
                        </a:rPr>
                        <a:t>Do customers come back, and which branch comes first?</a:t>
                      </a:r>
                    </a:p>
                  </a:txBody>
                  <a:tcPr marL="101600" marR="101600" marT="38100" marB="38100" anchor="ctr">
                    <a:solidFill>
                      <a:srgbClr val="F4F2FA"/>
                    </a:solidFill>
                  </a:tcPr>
                </a:tc>
                <a:tc>
                  <a:txBody>
                    <a:bodyPr/>
                    <a:lstStyle/>
                    <a:p>
                      <a:r>
                        <a:rPr sz="1400" b="0" i="0">
                          <a:solidFill>
                            <a:srgbClr val="1A1440"/>
                          </a:solidFill>
                          <a:latin typeface="Calibri"/>
                        </a:rPr>
                        <a:t>Chapters 3 and 5 answer it.</a:t>
                      </a:r>
                    </a:p>
                  </a:txBody>
                  <a:tcPr marL="101600" marR="101600" marT="38100" marB="38100" anchor="ctr">
                    <a:solidFill>
                      <a:srgbClr val="F4F2FA"/>
                    </a:solidFill>
                  </a:tcPr>
                </a:tc>
              </a:tr>
              <a:tr h="369824">
                <a:tc>
                  <a:txBody>
                    <a:bodyPr/>
                    <a:lstStyle/>
                    <a:p>
                      <a:r>
                        <a:rPr sz="1400" b="0" i="0">
                          <a:solidFill>
                            <a:srgbClr val="1A1440"/>
                          </a:solidFill>
                          <a:latin typeface="Calibri"/>
                        </a:rPr>
                        <a:t>Anand: "No averages."</a:t>
                      </a:r>
                    </a:p>
                  </a:txBody>
                  <a:tcPr marL="101600" marR="101600" marT="38100" marB="38100" anchor="ctr">
                    <a:solidFill>
                      <a:srgbClr val="FFFFFF"/>
                    </a:solidFill>
                  </a:tcPr>
                </a:tc>
                <a:tc>
                  <a:txBody>
                    <a:bodyPr/>
                    <a:lstStyle/>
                    <a:p>
                      <a:r>
                        <a:rPr sz="1400" b="0" i="0">
                          <a:solidFill>
                            <a:srgbClr val="1A1440"/>
                          </a:solidFill>
                          <a:latin typeface="Calibri"/>
                        </a:rPr>
                        <a:t>What does a typical order look like?</a:t>
                      </a:r>
                    </a:p>
                  </a:txBody>
                  <a:tcPr marL="101600" marR="101600" marT="38100" marB="38100" anchor="ctr">
                    <a:solidFill>
                      <a:srgbClr val="FFFFFF"/>
                    </a:solidFill>
                  </a:tcPr>
                </a:tc>
                <a:tc>
                  <a:txBody>
                    <a:bodyPr/>
                    <a:lstStyle/>
                    <a:p>
                      <a:r>
                        <a:rPr sz="1400" b="0" i="0">
                          <a:solidFill>
                            <a:srgbClr val="1A1440"/>
                          </a:solidFill>
                          <a:latin typeface="Calibri"/>
                        </a:rPr>
                        <a:t>Chapter 4 answers it.</a:t>
                      </a:r>
                    </a:p>
                  </a:txBody>
                  <a:tcPr marL="101600" marR="101600" marT="38100" marB="38100" anchor="ctr">
                    <a:solidFill>
                      <a:srgbClr val="FFFFFF"/>
                    </a:solidFill>
                  </a:tcPr>
                </a:tc>
              </a:tr>
              <a:tr h="611632">
                <a:tc>
                  <a:txBody>
                    <a:bodyPr/>
                    <a:lstStyle/>
                    <a:p>
                      <a:r>
                        <a:rPr sz="1400" b="0" i="0">
                          <a:solidFill>
                            <a:srgbClr val="1A1440"/>
                          </a:solidFill>
                          <a:latin typeface="Calibri"/>
                        </a:rPr>
                        <a:t>"By customer type and channel"</a:t>
                      </a:r>
                    </a:p>
                  </a:txBody>
                  <a:tcPr marL="101600" marR="101600" marT="38100" marB="38100" anchor="ctr">
                    <a:solidFill>
                      <a:srgbClr val="F4F2FA"/>
                    </a:solidFill>
                  </a:tcPr>
                </a:tc>
                <a:tc>
                  <a:txBody>
                    <a:bodyPr/>
                    <a:lstStyle/>
                    <a:p>
                      <a:r>
                        <a:rPr sz="1400" b="0" i="0">
                          <a:solidFill>
                            <a:srgbClr val="1A1440"/>
                          </a:solidFill>
                          <a:latin typeface="Calibri"/>
                        </a:rPr>
                        <a:t>Where does revenue come from, and does it change the branch?</a:t>
                      </a:r>
                    </a:p>
                  </a:txBody>
                  <a:tcPr marL="101600" marR="101600" marT="38100" marB="38100" anchor="ctr">
                    <a:solidFill>
                      <a:srgbClr val="F4F2FA"/>
                    </a:solidFill>
                  </a:tcPr>
                </a:tc>
                <a:tc>
                  <a:txBody>
                    <a:bodyPr/>
                    <a:lstStyle/>
                    <a:p>
                      <a:r>
                        <a:rPr sz="1400" b="0" i="0">
                          <a:solidFill>
                            <a:srgbClr val="1A1440"/>
                          </a:solidFill>
                          <a:latin typeface="Calibri"/>
                        </a:rPr>
                        <a:t>The second case answers it.</a:t>
                      </a:r>
                    </a:p>
                  </a:txBody>
                  <a:tcPr marL="101600" marR="101600" marT="38100" marB="38100" anchor="ctr">
                    <a:solidFill>
                      <a:srgbClr val="F4F2FA"/>
                    </a:solidFill>
                  </a:tcPr>
                </a:tc>
              </a:tr>
              <a:tr h="369824">
                <a:tc>
                  <a:txBody>
                    <a:bodyPr/>
                    <a:lstStyle/>
                    <a:p>
                      <a:r>
                        <a:rPr sz="1400" b="0" i="0">
                          <a:solidFill>
                            <a:srgbClr val="1A1440"/>
                          </a:solidFill>
                          <a:latin typeface="Calibri"/>
                        </a:rPr>
                        <a:t>"Before I sign anything"</a:t>
                      </a:r>
                    </a:p>
                  </a:txBody>
                  <a:tcPr marL="101600" marR="101600" marT="38100" marB="38100" anchor="ctr">
                    <a:solidFill>
                      <a:srgbClr val="FFFFFF"/>
                    </a:solidFill>
                  </a:tcPr>
                </a:tc>
                <a:tc>
                  <a:txBody>
                    <a:bodyPr/>
                    <a:lstStyle/>
                    <a:p>
                      <a:r>
                        <a:rPr sz="1400" b="0" i="0">
                          <a:solidFill>
                            <a:srgbClr val="1A1440"/>
                          </a:solidFill>
                          <a:latin typeface="Calibri"/>
                        </a:rPr>
                        <a:t>What one sentence can she sign?</a:t>
                      </a:r>
                    </a:p>
                  </a:txBody>
                  <a:tcPr marL="101600" marR="101600" marT="38100" marB="38100" anchor="ctr">
                    <a:solidFill>
                      <a:srgbClr val="FFFFFF"/>
                    </a:solidFill>
                  </a:tcPr>
                </a:tc>
                <a:tc>
                  <a:txBody>
                    <a:bodyPr/>
                    <a:lstStyle/>
                    <a:p>
                      <a:r>
                        <a:rPr sz="1400" b="0" i="0">
                          <a:solidFill>
                            <a:srgbClr val="1A1440"/>
                          </a:solidFill>
                          <a:latin typeface="Calibri"/>
                        </a:rPr>
                        <a:t>Chapter 6 answers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total is sales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file's totals should Meera call sales, and what does each one count?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Anand need one named total for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which total is sales,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measures the 15 percent plan from sales and Anand's books must match it, so a total that counts orders nobody kept sets the plan's base too high.</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needs it</a:t>
            </a:r>
          </a:p>
        </p:txBody>
      </p:sp>
      <p:sp>
        <p:nvSpPr>
          <p:cNvPr id="17" name="TextBox 16"/>
          <p:cNvSpPr txBox="1"/>
          <p:nvPr/>
        </p:nvSpPr>
        <p:spPr>
          <a:xfrm>
            <a:off x="694944"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Who needs one number called sales, and what does a wrong one cost?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ways</a:t>
            </a:r>
          </a:p>
        </p:txBody>
      </p:sp>
      <p:sp>
        <p:nvSpPr>
          <p:cNvPr id="22" name="TextBox 21"/>
          <p:cNvSpPr txBox="1"/>
          <p:nvPr/>
        </p:nvSpPr>
        <p:spPr>
          <a:xfrm>
            <a:off x="258058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way of answering fits a file of 30 orders?</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Three sums</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reading of sales comes out largest?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All 30 as sales</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all 30 orders are sent as sales?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sums by status reach the same totals?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root</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number goes on the tree's root?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77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15 percent plan is measured from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one number called sales, and what does a wrong one cost?</a:t>
            </a:r>
          </a:p>
        </p:txBody>
      </p:sp>
      <p:pic>
        <p:nvPicPr>
          <p:cNvPr id="9" name="mermaid diagram" descr="7be5881f10c96b8b.png"/>
          <p:cNvPicPr>
            <a:picLocks noChangeAspect="1"/>
          </p:cNvPicPr>
          <p:nvPr/>
        </p:nvPicPr>
        <p:blipFill>
          <a:blip r:embed="rId6"/>
          <a:stretch>
            <a:fillRect/>
          </a:stretch>
        </p:blipFill>
        <p:spPr>
          <a:xfrm>
            <a:off x="530352" y="2767059"/>
            <a:ext cx="4786326" cy="2348009"/>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"What is 'sales' made of?"</a:t>
            </a:r>
          </a:p>
        </p:txBody>
      </p:sp>
      <p:graphicFrame>
        <p:nvGraphicFramePr>
          <p:cNvPr id="15" name="Table 14"/>
          <p:cNvGraphicFramePr>
            <a:graphicFrameLocks noGrp="1"/>
          </p:cNvGraphicFramePr>
          <p:nvPr/>
        </p:nvGraphicFramePr>
        <p:xfrm>
          <a:off x="5761917" y="2983992"/>
          <a:ext cx="5899424" cy="2076704"/>
        </p:xfrm>
        <a:graphic>
          <a:graphicData uri="http://schemas.openxmlformats.org/drawingml/2006/table">
            <a:tbl>
              <a:tblPr firstRow="0" bandRow="0">
                <a:tableStyleId>{2D5ABB26-0587-4C30-8999-92F81FD0307C}</a:tableStyleId>
              </a:tblPr>
              <a:tblGrid>
                <a:gridCol w="2717827"/>
                <a:gridCol w="318159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Sales is the base every growth percentage is measured from.</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and Anand's books must match the number.</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plan measured from demand that never became a sale sets its target too high.</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77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Retail publishes two totals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retailer report more than one total for one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90,408 cr</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GROSS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79,745 cr</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FROM OPERATIONS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GST</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STEP BETWEEN THEM</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collected for the state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Both totals are correct, so each goes out with its name. The story's Rs 20 between GMV and net revenue holds two kinds of step, tax like Reliance's GST and orders that never stayed sold, and the second kind is the one Kalpa's file can show.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Summing by status fits: one pass, every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of answering fits a file of 30 orders?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556554"/>
                <a:gridCol w="914400"/>
                <a:gridCol w="1707769"/>
                <a:gridCol w="395226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335280">
                <a:tc>
                  <a:txBody>
                    <a:bodyPr/>
                    <a:lstStyle/>
                    <a:p>
                      <a:r>
                        <a:rPr sz="1200" b="0" i="0">
                          <a:solidFill>
                            <a:srgbClr val="1A1440"/>
                          </a:solidFill>
                          <a:latin typeface="Calibri"/>
                        </a:rPr>
                        <a:t>A. Add every amount and send the total</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It counts every cancelled order as a sale.</a:t>
                      </a:r>
                    </a:p>
                  </a:txBody>
                  <a:tcPr marL="101600" marR="101600" marT="38100" marB="38100" anchor="ctr">
                    <a:solidFill>
                      <a:srgbClr val="FFFFFF"/>
                    </a:solidFill>
                  </a:tcPr>
                </a:tc>
              </a:tr>
              <a:tr h="335280">
                <a:tc>
                  <a:txBody>
                    <a:bodyPr/>
                    <a:lstStyle/>
                    <a:p>
                      <a:r>
                        <a:rPr sz="1200" b="0" i="0">
                          <a:solidFill>
                            <a:srgbClr val="1A1440"/>
                          </a:solidFill>
                          <a:latin typeface="Calibri"/>
                        </a:rPr>
                        <a:t>B. Sum by status, with a bridge between the totals</a:t>
                      </a:r>
                    </a:p>
                  </a:txBody>
                  <a:tcPr marL="101600" marR="101600" marT="38100" marB="38100" anchor="ctr">
                    <a:solidFill>
                      <a:srgbClr val="F4F2FA"/>
                    </a:solidFill>
                  </a:tcPr>
                </a:tc>
                <a:tc>
                  <a:txBody>
                    <a:bodyPr/>
                    <a:lstStyle/>
                    <a:p>
                      <a:r>
                        <a:rPr sz="1200" b="0" i="0">
                          <a:solidFill>
                            <a:srgbClr val="1A1440"/>
                          </a:solidFill>
                          <a:latin typeface="Calibri"/>
                        </a:rPr>
                        <a:t>30, once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It has none once the bridge names each gap.</a:t>
                      </a:r>
                    </a:p>
                  </a:txBody>
                  <a:tcPr marL="101600" marR="101600" marT="38100" marB="38100" anchor="ctr">
                    <a:solidFill>
                      <a:srgbClr val="F4F2FA"/>
                    </a:solidFill>
                  </a:tcPr>
                </a:tc>
              </a:tr>
              <a:tr h="335280">
                <a:tc>
                  <a:txBody>
                    <a:bodyPr/>
                    <a:lstStyle/>
                    <a:p>
                      <a:r>
                        <a:rPr sz="1200" b="0" i="0">
                          <a:solidFill>
                            <a:srgbClr val="1A1440"/>
                          </a:solidFill>
                          <a:latin typeface="Calibri"/>
                        </a:rPr>
                        <a:t>C. Ask Finance for the figure in the books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a day or more</a:t>
                      </a:r>
                    </a:p>
                  </a:txBody>
                  <a:tcPr marL="101600" marR="101600" marT="38100" marB="38100" anchor="ctr">
                    <a:solidFill>
                      <a:srgbClr val="FFFFFF"/>
                    </a:solidFill>
                  </a:tcPr>
                </a:tc>
                <a:tc>
                  <a:txBody>
                    <a:bodyPr/>
                    <a:lstStyle/>
                    <a:p>
                      <a:r>
                        <a:rPr sz="1200" b="0" i="0">
                          <a:solidFill>
                            <a:srgbClr val="1A1440"/>
                          </a:solidFill>
                          <a:latin typeface="Calibri"/>
                        </a:rPr>
                        <a:t>It has none on Finance's definition.</a:t>
                      </a:r>
                    </a:p>
                  </a:txBody>
                  <a:tcPr marL="101600" marR="101600" marT="38100" marB="38100" anchor="ctr">
                    <a:solidFill>
                      <a:srgbClr val="FFFFFF"/>
                    </a:solidFill>
                  </a:tcPr>
                </a:tc>
              </a:tr>
              <a:tr h="335280">
                <a:tc>
                  <a:txBody>
                    <a:bodyPr/>
                    <a:lstStyle/>
                    <a:p>
                      <a:r>
                        <a:rPr sz="1200" b="0" i="0">
                          <a:solidFill>
                            <a:srgbClr val="1A1440"/>
                          </a:solidFill>
                          <a:latin typeface="Calibri"/>
                        </a:rPr>
                        <a:t>D. Tick the orders off by hand</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about ten minutes</a:t>
                      </a:r>
                    </a:p>
                  </a:txBody>
                  <a:tcPr marL="101600" marR="101600" marT="38100" marB="38100" anchor="ctr">
                    <a:solidFill>
                      <a:srgbClr val="F4F2FA"/>
                    </a:solidFill>
                  </a:tcPr>
                </a:tc>
                <a:tc>
                  <a:txBody>
                    <a:bodyPr/>
                    <a:lstStyle/>
                    <a:p>
                      <a:r>
                        <a:rPr sz="1200" b="0" i="0">
                          <a:solidFill>
                            <a:srgbClr val="1A1440"/>
                          </a:solidFill>
                          <a:latin typeface="Calibri"/>
                        </a:rPr>
                        <a:t>A typo can hide in any of the 30 cells.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B is the best fit, since one pass gives every reading and the bridge names each rupee between them. If Finance has already fixed the definition the plan was set on, C decides which of B's totals goes in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77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reading of sales drops one more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reading of sales keep?</a:t>
            </a:r>
          </a:p>
        </p:txBody>
      </p:sp>
      <p:pic>
        <p:nvPicPr>
          <p:cNvPr id="9" name="mermaid diagram" descr="a1171161ad41d607.png"/>
          <p:cNvPicPr>
            <a:picLocks noChangeAspect="1"/>
          </p:cNvPicPr>
          <p:nvPr/>
        </p:nvPicPr>
        <p:blipFill>
          <a:blip r:embed="rId5"/>
          <a:stretch>
            <a:fillRect/>
          </a:stretch>
        </p:blipFill>
        <p:spPr>
          <a:xfrm>
            <a:off x="530352" y="1956816"/>
            <a:ext cx="11130991" cy="935476"/>
          </a:xfrm>
          <a:prstGeom prst="rect">
            <a:avLst/>
          </a:prstGeom>
        </p:spPr>
      </p:pic>
      <p:sp>
        <p:nvSpPr>
          <p:cNvPr id="10" name="TextBox 9"/>
          <p:cNvSpPr txBox="1"/>
          <p:nvPr/>
        </p:nvSpPr>
        <p:spPr>
          <a:xfrm>
            <a:off x="530352" y="303859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 has no tax field, so the step Reliance reports as GST cannot be taken from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77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loop keeps booked, not cancelled and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over the 30 orders keep three sums?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readings = {"orders": 0, "booked": 0, "not cancelled": 0, "delivered": 0}</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amount = int(order["amount"])</a:t>
            </a:r>
          </a:p>
          <a:p>
            <a:pPr>
              <a:spcAft>
                <a:spcPts val="200"/>
              </a:spcAft>
            </a:pPr>
            <a:r>
              <a:rPr sz="1400" b="0" i="0">
                <a:solidFill>
                  <a:srgbClr val="E4E1F1"/>
                </a:solidFill>
                <a:latin typeface="Consolas"/>
              </a:rPr>
              <a:t>    readings["orders"] += 1</a:t>
            </a:r>
          </a:p>
          <a:p>
            <a:pPr>
              <a:spcAft>
                <a:spcPts val="200"/>
              </a:spcAft>
            </a:pPr>
            <a:r>
              <a:rPr sz="1400" b="0" i="0">
                <a:solidFill>
                  <a:srgbClr val="E4E1F1"/>
                </a:solidFill>
                <a:latin typeface="Consolas"/>
              </a:rPr>
              <a:t>    readings["booked"] += amount</a:t>
            </a:r>
          </a:p>
          <a:p>
            <a:pPr>
              <a:spcAft>
                <a:spcPts val="200"/>
              </a:spcAft>
            </a:pPr>
            <a:r>
              <a:rPr sz="1400" b="0" i="0">
                <a:solidFill>
                  <a:srgbClr val="E4E1F1"/>
                </a:solidFill>
                <a:latin typeface="Consolas"/>
              </a:rPr>
              <a:t>    if order["status"] != "cancelled":</a:t>
            </a:r>
          </a:p>
          <a:p>
            <a:pPr>
              <a:spcAft>
                <a:spcPts val="200"/>
              </a:spcAft>
            </a:pPr>
            <a:r>
              <a:rPr sz="1400" b="0" i="0">
                <a:solidFill>
                  <a:srgbClr val="E4E1F1"/>
                </a:solidFill>
                <a:latin typeface="Consolas"/>
              </a:rPr>
              <a:t>        readings["not cancelled"] += amount</a:t>
            </a:r>
          </a:p>
          <a:p>
            <a:pPr>
              <a:spcAft>
                <a:spcPts val="200"/>
              </a:spcAft>
            </a:pPr>
            <a:r>
              <a:rPr sz="1400" b="0" i="0">
                <a:solidFill>
                  <a:srgbClr val="E4E1F1"/>
                </a:solidFill>
                <a:latin typeface="Consolas"/>
              </a:rPr>
              <a:t>    if order["status"] == "delivered":</a:t>
            </a:r>
          </a:p>
          <a:p>
            <a:pPr>
              <a:spcAft>
                <a:spcPts val="200"/>
              </a:spcAft>
            </a:pPr>
            <a:r>
              <a:rPr sz="1400" b="0" i="0">
                <a:solidFill>
                  <a:srgbClr val="E4E1F1"/>
                </a:solidFill>
                <a:latin typeface="Consolas"/>
              </a:rPr>
              <a:t>        readings["delivered"] += amount</a:t>
            </a:r>
          </a:p>
        </p:txBody>
      </p:sp>
      <p:sp>
        <p:nvSpPr>
          <p:cNvPr id="14" name="TextBox 13"/>
          <p:cNvSpPr txBox="1"/>
          <p:nvPr/>
        </p:nvSpPr>
        <p:spPr>
          <a:xfrm>
            <a:off x="530352" y="48508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order is added to every reading that keeps its status, and int() makes each amount a whole number before it is added.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77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reading of sales comes out largest?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loop runs, which of its three sums do you expect on top?</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Delivered, because only delivered orders are real.</a:t>
            </a:r>
          </a:p>
          <a:p>
            <a:pPr>
              <a:spcAft>
                <a:spcPts val="800"/>
              </a:spcAft>
            </a:pPr>
            <a:r>
              <a:rPr sz="1600" b="0" i="0">
                <a:solidFill>
                  <a:srgbClr val="1A1440"/>
                </a:solidFill>
                <a:latin typeface="Calibri"/>
              </a:rPr>
              <a:t>b) Not cancelled, because it keeps returns and deliveries.</a:t>
            </a:r>
          </a:p>
          <a:p>
            <a:pPr>
              <a:spcAft>
                <a:spcPts val="800"/>
              </a:spcAft>
            </a:pPr>
            <a:r>
              <a:rPr sz="1600" b="0" i="0">
                <a:solidFill>
                  <a:srgbClr val="1A1440"/>
                </a:solidFill>
                <a:latin typeface="Calibri"/>
              </a:rPr>
              <a:t>c) Booked, because it keeps every order placed.</a:t>
            </a:r>
          </a:p>
          <a:p>
            <a:pPr>
              <a:spcAft>
                <a:spcPts val="800"/>
              </a:spcAft>
            </a:pPr>
            <a:r>
              <a:rPr sz="1600" b="0" i="0">
                <a:solidFill>
                  <a:srgbClr val="1A1440"/>
                </a:solidFill>
                <a:latin typeface="Calibri"/>
              </a:rPr>
              <a:t>d) All three come out equal.</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77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booked is largest at Rs 5,44,810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are the three readings of sales?</a:t>
            </a:r>
          </a:p>
        </p:txBody>
      </p:sp>
      <p:pic>
        <p:nvPicPr>
          <p:cNvPr id="9" name="mermaid diagram" descr="0834c85ed74e6b0d.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Booked is Rs 5,44,810 on 30 orders, not cancelled Rs 5,35,760 on 26 and delivered Rs 5,20,790 on 21, so Rs 24,020 on 9 orders separates the widest pair.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30 orders, and each reading keeps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loop visit every order, and does each narrower reading keep less?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kit.check("the loop visited all 30 orders", readings["orders"] == 30)</a:t>
            </a:r>
          </a:p>
          <a:p>
            <a:pPr>
              <a:spcAft>
                <a:spcPts val="200"/>
              </a:spcAft>
            </a:pPr>
            <a:r>
              <a:rPr sz="1400" b="0" i="0">
                <a:solidFill>
                  <a:srgbClr val="E4E1F1"/>
                </a:solidFill>
                <a:latin typeface="Consolas"/>
              </a:rPr>
              <a:t>kit.check("booked sales is Rs 5,44,810", readings["booked"] == 544810)</a:t>
            </a:r>
          </a:p>
          <a:p>
            <a:pPr>
              <a:spcAft>
                <a:spcPts val="200"/>
              </a:spcAft>
            </a:pPr>
            <a:r>
              <a:rPr sz="1400" b="0" i="0">
                <a:solidFill>
                  <a:srgbClr val="E4E1F1"/>
                </a:solidFill>
                <a:latin typeface="Consolas"/>
              </a:rPr>
              <a:t>kit.check("each narrower reading keeps less",</a:t>
            </a:r>
          </a:p>
          <a:p>
            <a:pPr>
              <a:spcAft>
                <a:spcPts val="200"/>
              </a:spcAft>
            </a:pPr>
            <a:r>
              <a:rPr sz="1400" b="0" i="0">
                <a:solidFill>
                  <a:srgbClr val="E4E1F1"/>
                </a:solidFill>
                <a:latin typeface="Consolas"/>
              </a:rPr>
              <a:t>          readings["booked"] &gt;= readings["not cancelled"] &gt;= readings["delivered"])</a:t>
            </a:r>
          </a:p>
        </p:txBody>
      </p:sp>
      <p:sp>
        <p:nvSpPr>
          <p:cNvPr id="14" name="TextBox 13"/>
          <p:cNvSpPr txBox="1"/>
          <p:nvPr/>
        </p:nvSpPr>
        <p:spPr>
          <a:xfrm>
            <a:off x="530352" y="358851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checks pass, so the totals are the file's own and no reading is larger than the one it narrows.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sends Rs 5,44,810 on 30 orders as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all 30 orders are sent as sales?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"Sales this quarter: Rs 5,44,810 on 30 orders."</a:t>
            </a:r>
          </a:p>
        </p:txBody>
      </p:sp>
      <p:pic>
        <p:nvPicPr>
          <p:cNvPr id="12" name="mermaid diagram" descr="8e7a2e3875ebc0c7.png"/>
          <p:cNvPicPr>
            <a:picLocks noChangeAspect="1"/>
          </p:cNvPicPr>
          <p:nvPr/>
        </p:nvPicPr>
        <p:blipFill>
          <a:blip r:embed="rId5"/>
          <a:stretch>
            <a:fillRect/>
          </a:stretch>
        </p:blipFill>
        <p:spPr>
          <a:xfrm>
            <a:off x="2009622" y="2929128"/>
            <a:ext cx="8172450" cy="1128712"/>
          </a:xfrm>
          <a:prstGeom prst="rect">
            <a:avLst/>
          </a:prstGeom>
        </p:spPr>
      </p:pic>
      <p:sp>
        <p:nvSpPr>
          <p:cNvPr id="13" name="TextBox 12"/>
          <p:cNvSpPr txBox="1"/>
          <p:nvPr/>
        </p:nvSpPr>
        <p:spPr>
          <a:xfrm>
            <a:off x="530352" y="4204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and the draft treats every order placed as a sale Meera's plan has to grow from.</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6" name="Oval 1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8" name="Oval 17"/>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2" name="Oval 2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count by status shows 4 cancelled, all in store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orders inside the total that were never sold?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cancelled order never left the shelf and never paid Kalpa a rupee, so it is demand that never arrived. Counting orders by channel and status before adding any amount shows where the 4 sit.</a:t>
            </a:r>
          </a:p>
        </p:txBody>
      </p:sp>
      <p:graphicFrame>
        <p:nvGraphicFramePr>
          <p:cNvPr id="12" name="Table 11"/>
          <p:cNvGraphicFramePr>
            <a:graphicFrameLocks noGrp="1"/>
          </p:cNvGraphicFramePr>
          <p:nvPr/>
        </p:nvGraphicFramePr>
        <p:xfrm>
          <a:off x="530352" y="2929128"/>
          <a:ext cx="11130990" cy="1341120"/>
        </p:xfrm>
        <a:graphic>
          <a:graphicData uri="http://schemas.openxmlformats.org/drawingml/2006/table">
            <a:tbl>
              <a:tblPr firstRow="0" bandRow="0">
                <a:tableStyleId>{2D5ABB26-0587-4C30-8999-92F81FD0307C}</a:tableStyleId>
              </a:tblPr>
              <a:tblGrid>
                <a:gridCol w="914400"/>
                <a:gridCol w="3507329"/>
                <a:gridCol w="3201932"/>
                <a:gridCol w="3507329"/>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Returned</a:t>
                      </a:r>
                    </a:p>
                  </a:txBody>
                  <a:tcPr marL="101600" marR="101600" marT="38100" marB="38100" anchor="ctr">
                    <a:solidFill>
                      <a:srgbClr val="1A0F5C"/>
                    </a:solidFill>
                  </a:tcPr>
                </a:tc>
                <a:tc>
                  <a:txBody>
                    <a:bodyPr/>
                    <a:lstStyle/>
                    <a:p>
                      <a:r>
                        <a:rPr sz="1250" b="1" i="0">
                          <a:solidFill>
                            <a:srgbClr val="FFFFFF"/>
                          </a:solidFill>
                          <a:latin typeface="Calibri"/>
                        </a:rPr>
                        <a:t>Cancelled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writes the definition beside each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Meera?</a:t>
            </a:r>
          </a:p>
        </p:txBody>
      </p:sp>
      <p:pic>
        <p:nvPicPr>
          <p:cNvPr id="9" name="mermaid diagram" descr="aa245a0e07afef66.png"/>
          <p:cNvPicPr>
            <a:picLocks noChangeAspect="1"/>
          </p:cNvPicPr>
          <p:nvPr/>
        </p:nvPicPr>
        <p:blipFill>
          <a:blip r:embed="rId5"/>
          <a:stretch>
            <a:fillRect/>
          </a:stretch>
        </p:blipFill>
        <p:spPr>
          <a:xfrm>
            <a:off x="530352" y="1956816"/>
            <a:ext cx="11130991" cy="676959"/>
          </a:xfrm>
          <a:prstGeom prst="rect">
            <a:avLst/>
          </a:prstGeom>
        </p:spPr>
      </p:pic>
      <p:sp>
        <p:nvSpPr>
          <p:cNvPr id="10" name="TextBox 9"/>
          <p:cNvSpPr txBox="1"/>
          <p:nvPr/>
        </p:nvSpPr>
        <p:spPr>
          <a:xfrm>
            <a:off x="530352" y="27800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named total reads: "Sales this quarter, net of cancellations, were Rs 5,35,760 on 26 orders; Rs 9,050 on 4 store orders was cancelled."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Sums by status land on the same three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sums by status reach the same totals as the one loop?</a:t>
            </a:r>
          </a:p>
        </p:txBody>
      </p:sp>
      <p:pic>
        <p:nvPicPr>
          <p:cNvPr id="9" name="mermaid diagram" descr="c42fa1d27a339b86.png"/>
          <p:cNvPicPr>
            <a:picLocks noChangeAspect="1"/>
          </p:cNvPicPr>
          <p:nvPr/>
        </p:nvPicPr>
        <p:blipFill>
          <a:blip r:embed="rId6"/>
          <a:stretch>
            <a:fillRect/>
          </a:stretch>
        </p:blipFill>
        <p:spPr>
          <a:xfrm>
            <a:off x="530352" y="3025519"/>
            <a:ext cx="4786326" cy="1831088"/>
          </a:xfrm>
          <a:prstGeom prst="rect">
            <a:avLst/>
          </a:prstGeom>
        </p:spPr>
      </p:pic>
      <p:sp>
        <p:nvSpPr>
          <p:cNvPr id="10" name="Rounded Rectangle 9"/>
          <p:cNvSpPr/>
          <p:nvPr/>
        </p:nvSpPr>
        <p:spPr>
          <a:xfrm>
            <a:off x="5761917" y="1956816"/>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by_status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s = order["status"]</a:t>
            </a:r>
          </a:p>
          <a:p>
            <a:pPr>
              <a:spcAft>
                <a:spcPts val="200"/>
              </a:spcAft>
            </a:pPr>
            <a:r>
              <a:rPr sz="1400" b="0" i="0">
                <a:solidFill>
                  <a:srgbClr val="E4E1F1"/>
                </a:solidFill>
                <a:latin typeface="Consolas"/>
              </a:rPr>
              <a:t>    by_status[s] = by_status.get(s, 0)</a:t>
            </a:r>
          </a:p>
          <a:p>
            <a:pPr>
              <a:spcAft>
                <a:spcPts val="200"/>
              </a:spcAft>
            </a:pPr>
            <a:r>
              <a:rPr sz="1400" b="0" i="0">
                <a:solidFill>
                  <a:srgbClr val="E4E1F1"/>
                </a:solidFill>
                <a:latin typeface="Consolas"/>
              </a:rPr>
              <a:t>    by_status[s] += int(order["amount"])</a:t>
            </a:r>
          </a:p>
        </p:txBody>
      </p:sp>
      <p:sp>
        <p:nvSpPr>
          <p:cNvPr id="15" name="Rounded Rectangle 14"/>
          <p:cNvSpPr/>
          <p:nvPr/>
        </p:nvSpPr>
        <p:spPr>
          <a:xfrm>
            <a:off x="5761917" y="3840988"/>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43027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4412488"/>
            <a:ext cx="237744" cy="237744"/>
          </a:xfrm>
          <a:prstGeom prst="rect">
            <a:avLst/>
          </a:prstGeom>
        </p:spPr>
      </p:pic>
      <p:sp>
        <p:nvSpPr>
          <p:cNvPr id="18" name="TextBox 17"/>
          <p:cNvSpPr txBox="1"/>
          <p:nvPr/>
        </p:nvSpPr>
        <p:spPr>
          <a:xfrm>
            <a:off x="6630597" y="3987291"/>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4206748"/>
            <a:ext cx="4756425" cy="941832"/>
          </a:xfrm>
          <a:prstGeom prst="rect">
            <a:avLst/>
          </a:prstGeom>
          <a:noFill/>
        </p:spPr>
        <p:txBody>
          <a:bodyPr wrap="square" anchor="t" lIns="0" rIns="0" tIns="0" bIns="0">
            <a:spAutoFit/>
          </a:bodyPr>
          <a:lstStyle/>
          <a:p>
            <a:r>
              <a:rPr sz="1500" b="0" i="0">
                <a:solidFill>
                  <a:srgbClr val="1A1440"/>
                </a:solidFill>
                <a:latin typeface="Calibri"/>
              </a:rPr>
              <a:t>The two routes must agree to the rupee, and grouping by status is the route to keep when a new status may appear, since it needs no new if.</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total goes to Meera named; booked heads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file's totals should Meera call sales, and what does each one count?</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Who needs one number called sales?</a:t>
            </a:r>
            <a:r>
              <a:rPr sz="1100" b="0" i="0">
                <a:solidFill>
                  <a:srgbClr val="1A1440"/>
                </a:solidFill>
                <a:latin typeface="Calibri"/>
              </a:rPr>
              <a:t> Meera needs it for the plan's base, and Anand needs it to match his books.</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way fits a file of 30 orders?</a:t>
            </a:r>
            <a:r>
              <a:rPr sz="1100" b="0" i="0">
                <a:solidFill>
                  <a:srgbClr val="1A1440"/>
                </a:solidFill>
                <a:latin typeface="Calibri"/>
              </a:rPr>
              <a:t> One pass that sums by status, with a bridge between the totals, fits it.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Which reading of sales comes out largest?</a:t>
            </a:r>
            <a:r>
              <a:rPr sz="1100" b="0" i="0">
                <a:solidFill>
                  <a:srgbClr val="1A1440"/>
                </a:solidFill>
                <a:latin typeface="Calibri"/>
              </a:rPr>
              <a:t> Booked is Rs 5,44,810, then not cancelled Rs 5,35,760, then delivered Rs 5,20,790.</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What if all 30 orders go out as sales?</a:t>
            </a:r>
            <a:r>
              <a:rPr sz="1100" b="0" i="0">
                <a:solidFill>
                  <a:srgbClr val="1A1440"/>
                </a:solidFill>
                <a:latin typeface="Calibri"/>
              </a:rPr>
              <a:t> The total counts 4 cancelled store orders, Rs 9,050 that was never sold.</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sums by status reach the same totals?</a:t>
            </a:r>
            <a:r>
              <a:rPr sz="1100" b="0" i="0">
                <a:solidFill>
                  <a:srgbClr val="1A1440"/>
                </a:solidFill>
                <a:latin typeface="Calibri"/>
              </a:rPr>
              <a:t> They reach all three to the rupee.</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Which number goes on the tree's root?</a:t>
            </a:r>
            <a:r>
              <a:rPr sz="1100" b="0" i="0">
                <a:solidFill>
                  <a:srgbClr val="1A1440"/>
                </a:solidFill>
                <a:latin typeface="Calibri"/>
              </a:rPr>
              <a:t> Booked sales of Rs 5,44,810 on 30 orders go there, named, since chapters 2 to 6 build on them.</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"You found Rs 9,050 that was never a sale by counting before adding. Which definition Meera plans on is her call; your job is to make sure she can see which one she is reading."</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[F] What counts as "sales": booked, net of cancellations, or delivered, and which do you give a CEO?</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35" name="Oval 3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7" name="Oval 3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9" name="Oval 3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each branch</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sales split into customers, orders per customer and order value, each a fraction on one definition?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marketing need each branch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branch of sales as a number,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must see which branch of sales is short, and the marketing lead, whose payback case values every new order: a branch built from two definitions multiplies to revenue nobody booked.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fractions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branches, and why as fractions?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tree</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tree can this file fill?</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Order value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average order value?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reports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booked rupees are divided by delivered orders?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mean</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Does the mean of the 30 amounts give the same AOV?</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is missing</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branches does the file still lack?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branch helps Meera only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branches, and why must each one be a fraction?</a:t>
            </a:r>
          </a:p>
        </p:txBody>
      </p:sp>
      <p:pic>
        <p:nvPicPr>
          <p:cNvPr id="9" name="mermaid diagram" descr="131653132a11897d.png"/>
          <p:cNvPicPr>
            <a:picLocks noChangeAspect="1"/>
          </p:cNvPicPr>
          <p:nvPr/>
        </p:nvPicPr>
        <p:blipFill>
          <a:blip r:embed="rId5"/>
          <a:stretch>
            <a:fillRect/>
          </a:stretch>
        </p:blipFill>
        <p:spPr>
          <a:xfrm>
            <a:off x="680885" y="1956816"/>
            <a:ext cx="10829925" cy="871537"/>
          </a:xfrm>
          <a:prstGeom prst="rect">
            <a:avLst/>
          </a:prstGeom>
        </p:spPr>
      </p:pic>
      <p:graphicFrame>
        <p:nvGraphicFramePr>
          <p:cNvPr id="10" name="Table 9"/>
          <p:cNvGraphicFramePr>
            <a:graphicFrameLocks noGrp="1"/>
          </p:cNvGraphicFramePr>
          <p:nvPr/>
        </p:nvGraphicFramePr>
        <p:xfrm>
          <a:off x="530352" y="2974657"/>
          <a:ext cx="11130991" cy="1479296"/>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AOV, revenue over orders, is the first branch this file can measure.</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for the tree, and marketing values each new order with its AOV.</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tree built from two definitions multiplies to revenue nobody booked.</a:t>
                      </a:r>
                    </a:p>
                  </a:txBody>
                  <a:tcPr marL="101600" marR="101600" marT="38100" marB="38100" anchor="ctr">
                    <a:solidFill>
                      <a:srgbClr val="F4F2FA"/>
                    </a:solidFill>
                  </a:tcPr>
                </a:tc>
              </a:tr>
              <a:tr h="369824">
                <a:tc>
                  <a:txBody>
                    <a:bodyPr/>
                    <a:lstStyle/>
                    <a:p>
                      <a:r>
                        <a:rPr sz="1400" b="0" i="0">
                          <a:solidFill>
                            <a:srgbClr val="1A1440"/>
                          </a:solidFill>
                          <a:latin typeface="Calibri"/>
                        </a:rPr>
                        <a:t>What chapter 1 found</a:t>
                      </a:r>
                    </a:p>
                  </a:txBody>
                  <a:tcPr marL="101600" marR="101600" marT="38100" marB="38100" anchor="ctr">
                    <a:solidFill>
                      <a:srgbClr val="FFFFFF"/>
                    </a:solidFill>
                  </a:tcPr>
                </a:tc>
                <a:tc>
                  <a:txBody>
                    <a:bodyPr/>
                    <a:lstStyle/>
                    <a:p>
                      <a:r>
                        <a:rPr sz="1400" b="0" i="0">
                          <a:solidFill>
                            <a:srgbClr val="1A1440"/>
                          </a:solidFill>
                          <a:latin typeface="Calibri"/>
                        </a:rPr>
                        <a:t>Booked sales is Rs 5,44,810 on 30 orders.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77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Jio reports its revenue as a tree of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company report its revenue as branches?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533 million</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JIO SUBSCRIBERS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215.6</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USER</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month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1.6%</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MONTHLY CHURN</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subscribers who leave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telecom's revenue is subscribers times revenue per user, with churn as its leak, and investors multiply those branches the way Kalpa's tree does.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file fills customers x frequency x AOV</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can this file fill?</a:t>
            </a:r>
          </a:p>
        </p:txBody>
      </p:sp>
      <p:graphicFrame>
        <p:nvGraphicFramePr>
          <p:cNvPr id="9" name="Table 8"/>
          <p:cNvGraphicFramePr>
            <a:graphicFrameLocks noGrp="1"/>
          </p:cNvGraphicFramePr>
          <p:nvPr/>
        </p:nvGraphicFramePr>
        <p:xfrm>
          <a:off x="530352" y="1956816"/>
          <a:ext cx="11130989" cy="2090928"/>
        </p:xfrm>
        <a:graphic>
          <a:graphicData uri="http://schemas.openxmlformats.org/drawingml/2006/table">
            <a:tbl>
              <a:tblPr firstRow="0" bandRow="0">
                <a:tableStyleId>{2D5ABB26-0587-4C30-8999-92F81FD0307C}</a:tableStyleId>
              </a:tblPr>
              <a:tblGrid>
                <a:gridCol w="4268205"/>
                <a:gridCol w="1978340"/>
                <a:gridCol w="1281039"/>
                <a:gridCol w="360340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Fields it needs</a:t>
                      </a:r>
                    </a:p>
                  </a:txBody>
                  <a:tcPr marL="101600" marR="101600" marT="38100" marB="38100" anchor="ctr">
                    <a:solidFill>
                      <a:srgbClr val="1A0F5C"/>
                    </a:solidFill>
                  </a:tcPr>
                </a:tc>
                <a:tc>
                  <a:txBody>
                    <a:bodyPr/>
                    <a:lstStyle/>
                    <a:p>
                      <a:r>
                        <a:rPr sz="1250" b="1" i="0">
                          <a:solidFill>
                            <a:srgbClr val="FFFFFF"/>
                          </a:solidFill>
                          <a:latin typeface="Calibri"/>
                        </a:rPr>
                        <a:t>In this file?</a:t>
                      </a:r>
                    </a:p>
                  </a:txBody>
                  <a:tcPr marL="101600" marR="101600" marT="38100" marB="38100" anchor="ctr">
                    <a:solidFill>
                      <a:srgbClr val="1A0F5C"/>
                    </a:solidFill>
                  </a:tcPr>
                </a:tc>
                <a:tc>
                  <a:txBody>
                    <a:bodyPr/>
                    <a:lstStyle/>
                    <a:p>
                      <a:r>
                        <a:rPr sz="1250" b="1" i="0">
                          <a:solidFill>
                            <a:srgbClr val="FFFFFF"/>
                          </a:solidFill>
                          <a:latin typeface="Calibri"/>
                        </a:rPr>
                        <a:t>What it tells Meera</a:t>
                      </a:r>
                    </a:p>
                  </a:txBody>
                  <a:tcPr marL="101600" marR="101600" marT="38100" marB="38100" anchor="ctr">
                    <a:solidFill>
                      <a:srgbClr val="1A0F5C"/>
                    </a:solidFill>
                  </a:tcPr>
                </a:tc>
              </a:tr>
              <a:tr h="335280">
                <a:tc>
                  <a:txBody>
                    <a:bodyPr/>
                    <a:lstStyle/>
                    <a:p>
                      <a:r>
                        <a:rPr sz="1200" b="0" i="0">
                          <a:solidFill>
                            <a:srgbClr val="1A1440"/>
                          </a:solidFill>
                          <a:latin typeface="Calibri"/>
                        </a:rPr>
                        <a:t>A. Orders x AOV</a:t>
                      </a:r>
                    </a:p>
                  </a:txBody>
                  <a:tcPr marL="101600" marR="101600" marT="38100" marB="38100" anchor="ctr">
                    <a:solidFill>
                      <a:srgbClr val="FFFFFF"/>
                    </a:solidFill>
                  </a:tcPr>
                </a:tc>
                <a:tc>
                  <a:txBody>
                    <a:bodyPr/>
                    <a:lstStyle/>
                    <a:p>
                      <a:r>
                        <a:rPr sz="1200" b="0" i="0">
                          <a:solidFill>
                            <a:srgbClr val="1A1440"/>
                          </a:solidFill>
                          <a:latin typeface="Calibri"/>
                        </a:rPr>
                        <a:t>amount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It sizes orders and hides who buys.</a:t>
                      </a:r>
                    </a:p>
                  </a:txBody>
                  <a:tcPr marL="101600" marR="101600" marT="38100" marB="38100" anchor="ctr">
                    <a:solidFill>
                      <a:srgbClr val="FFFFFF"/>
                    </a:solidFill>
                  </a:tcPr>
                </a:tc>
              </a:tr>
              <a:tr h="542544">
                <a:tc>
                  <a:txBody>
                    <a:bodyPr/>
                    <a:lstStyle/>
                    <a:p>
                      <a:r>
                        <a:rPr sz="1200" b="0" i="0">
                          <a:solidFill>
                            <a:srgbClr val="1A1440"/>
                          </a:solidFill>
                          <a:latin typeface="Calibri"/>
                        </a:rPr>
                        <a:t>B. Customers x orders per customer x AOV</a:t>
                      </a:r>
                    </a:p>
                  </a:txBody>
                  <a:tcPr marL="101600" marR="101600" marT="38100" marB="38100" anchor="ctr">
                    <a:solidFill>
                      <a:srgbClr val="F4F2FA"/>
                    </a:solidFill>
                  </a:tcPr>
                </a:tc>
                <a:tc>
                  <a:txBody>
                    <a:bodyPr/>
                    <a:lstStyle/>
                    <a:p>
                      <a:r>
                        <a:rPr sz="1200" b="0" i="0">
                          <a:solidFill>
                            <a:srgbClr val="1A1440"/>
                          </a:solidFill>
                          <a:latin typeface="Calibri"/>
                        </a:rPr>
                        <a:t>amount, customer id</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It shows who buys, how often and for how much.</a:t>
                      </a:r>
                    </a:p>
                  </a:txBody>
                  <a:tcPr marL="101600" marR="101600" marT="38100" marB="38100" anchor="ctr">
                    <a:solidFill>
                      <a:srgbClr val="F4F2FA"/>
                    </a:solidFill>
                  </a:tcPr>
                </a:tc>
              </a:tr>
              <a:tr h="542544">
                <a:tc>
                  <a:txBody>
                    <a:bodyPr/>
                    <a:lstStyle/>
                    <a:p>
                      <a:r>
                        <a:rPr sz="1200" b="0" i="0">
                          <a:solidFill>
                            <a:srgbClr val="1A1440"/>
                          </a:solidFill>
                          <a:latin typeface="Calibri"/>
                        </a:rPr>
                        <a:t>C. B, with AOV split into items x price, less discounts</a:t>
                      </a:r>
                    </a:p>
                  </a:txBody>
                  <a:tcPr marL="101600" marR="101600" marT="38100" marB="38100" anchor="ctr">
                    <a:solidFill>
                      <a:srgbClr val="FFFFFF"/>
                    </a:solidFill>
                  </a:tcPr>
                </a:tc>
                <a:tc>
                  <a:txBody>
                    <a:bodyPr/>
                    <a:lstStyle/>
                    <a:p>
                      <a:r>
                        <a:rPr sz="1200" b="0" i="0">
                          <a:solidFill>
                            <a:srgbClr val="1A1440"/>
                          </a:solidFill>
                          <a:latin typeface="Calibri"/>
                        </a:rPr>
                        <a:t>items, prices, discounts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It would show which part of the basket moved.</a:t>
                      </a:r>
                    </a:p>
                  </a:txBody>
                  <a:tcPr marL="101600" marR="101600" marT="38100" marB="38100" anchor="ctr">
                    <a:solidFill>
                      <a:srgbClr val="FFFFFF"/>
                    </a:solidFill>
                  </a:tcPr>
                </a:tc>
              </a:tr>
              <a:tr h="335280">
                <a:tc>
                  <a:txBody>
                    <a:bodyPr/>
                    <a:lstStyle/>
                    <a:p>
                      <a:r>
                        <a:rPr sz="1200" b="0" i="0">
                          <a:solidFill>
                            <a:srgbClr val="1A1440"/>
                          </a:solidFill>
                          <a:latin typeface="Calibri"/>
                        </a:rPr>
                        <a:t>D. A funnel from visits to orders</a:t>
                      </a:r>
                    </a:p>
                  </a:txBody>
                  <a:tcPr marL="101600" marR="101600" marT="38100" marB="38100" anchor="ctr">
                    <a:solidFill>
                      <a:srgbClr val="F4F2FA"/>
                    </a:solidFill>
                  </a:tcPr>
                </a:tc>
                <a:tc>
                  <a:txBody>
                    <a:bodyPr/>
                    <a:lstStyle/>
                    <a:p>
                      <a:r>
                        <a:rPr sz="1200" b="0" i="0">
                          <a:solidFill>
                            <a:srgbClr val="1A1440"/>
                          </a:solidFill>
                          <a:latin typeface="Calibri"/>
                        </a:rPr>
                        <a:t>sessions or footfall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It would show where shoppers drop out.</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45736"/>
            <a:ext cx="237744" cy="237744"/>
          </a:xfrm>
          <a:prstGeom prst="rect">
            <a:avLst/>
          </a:prstGeom>
        </p:spPr>
      </p:pic>
      <p:sp>
        <p:nvSpPr>
          <p:cNvPr id="13" name="TextBox 12"/>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it is the deepest tree this file fills, and it puts marketing's branch beside the two it competes with. Order lines with items and prices would move the call to C.</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77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branches can be measured and three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branch divide, and which can this file measure?</a:t>
            </a:r>
          </a:p>
        </p:txBody>
      </p:sp>
      <p:pic>
        <p:nvPicPr>
          <p:cNvPr id="9" name="mermaid diagram" descr="c5716d8d1675486d.png"/>
          <p:cNvPicPr>
            <a:picLocks noChangeAspect="1"/>
          </p:cNvPicPr>
          <p:nvPr/>
        </p:nvPicPr>
        <p:blipFill>
          <a:blip r:embed="rId5"/>
          <a:stretch>
            <a:fillRect/>
          </a:stretch>
        </p:blipFill>
        <p:spPr>
          <a:xfrm>
            <a:off x="1923897" y="1956816"/>
            <a:ext cx="8343900" cy="2657475"/>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is booked revenue over the orders it came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first branch become a number?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len(ORDERS)</a:t>
            </a:r>
          </a:p>
          <a:p>
            <a:pPr>
              <a:spcAft>
                <a:spcPts val="200"/>
              </a:spcAft>
            </a:pPr>
            <a:r>
              <a:rPr sz="1400" b="0" i="0">
                <a:solidFill>
                  <a:srgbClr val="E4E1F1"/>
                </a:solidFill>
                <a:latin typeface="Consolas"/>
              </a:rPr>
              <a:t>revenue = sum(order["amount"] for order in ORDERS)</a:t>
            </a:r>
          </a:p>
          <a:p>
            <a:pPr>
              <a:spcAft>
                <a:spcPts val="200"/>
              </a:spcAft>
            </a:pPr>
            <a:r>
              <a:rPr sz="1400" b="0" i="0">
                <a:solidFill>
                  <a:srgbClr val="E4E1F1"/>
                </a:solidFill>
                <a:latin typeface="Consolas"/>
              </a:rPr>
              <a:t>aov = revenue / orders</a:t>
            </a:r>
          </a:p>
        </p:txBody>
      </p:sp>
      <p:sp>
        <p:nvSpPr>
          <p:cNvPr id="14" name="TextBox 13"/>
          <p:cNvSpPr txBox="1"/>
          <p:nvPr/>
        </p:nvSpPr>
        <p:spPr>
          <a:xfrm>
            <a:off x="530352" y="333603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1's int() fix is applied once as the orders load, so every amount here is a whole number, and both halves of the fraction count the same 30 booked orders.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77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orders times the AOV give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splits into orders x AOV, so what do the two multiply back to?</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Exactly booked revenue, because the average was made from that total.</a:t>
            </a:r>
          </a:p>
          <a:p>
            <a:pPr>
              <a:spcAft>
                <a:spcPts val="800"/>
              </a:spcAft>
            </a:pPr>
            <a:r>
              <a:rPr sz="1600" b="0" i="0">
                <a:solidFill>
                  <a:srgbClr val="1A1440"/>
                </a:solidFill>
                <a:latin typeface="Calibri"/>
              </a:rPr>
              <a:t>b) More than booked revenue, because repeat customers count twice.</a:t>
            </a:r>
          </a:p>
          <a:p>
            <a:pPr>
              <a:spcAft>
                <a:spcPts val="800"/>
              </a:spcAft>
            </a:pPr>
            <a:r>
              <a:rPr sz="1600" b="0" i="0">
                <a:solidFill>
                  <a:srgbClr val="1A1440"/>
                </a:solidFill>
                <a:latin typeface="Calibri"/>
              </a:rPr>
              <a:t>c) Less than booked revenue, because the average rounds down.</a:t>
            </a:r>
          </a:p>
          <a:p>
            <a:pPr>
              <a:spcAft>
                <a:spcPts val="800"/>
              </a:spcAft>
            </a:pPr>
            <a:r>
              <a:rPr sz="1600" b="0" i="0">
                <a:solidFill>
                  <a:srgbClr val="1A1440"/>
                </a:solidFill>
                <a:latin typeface="Calibri"/>
              </a:rPr>
              <a:t>d) Nothing useful until prices per item are known.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orders x AOV lands on booked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average order value on the booked definition?</a:t>
            </a:r>
          </a:p>
        </p:txBody>
      </p:sp>
      <p:pic>
        <p:nvPicPr>
          <p:cNvPr id="9" name="mermaid diagram" descr="883c1091c42f5714.png"/>
          <p:cNvPicPr>
            <a:picLocks noChangeAspect="1"/>
          </p:cNvPicPr>
          <p:nvPr/>
        </p:nvPicPr>
        <p:blipFill>
          <a:blip r:embed="rId5"/>
          <a:stretch>
            <a:fillRect/>
          </a:stretch>
        </p:blipFill>
        <p:spPr>
          <a:xfrm>
            <a:off x="2759716" y="1956816"/>
            <a:ext cx="6672262" cy="1128712"/>
          </a:xfrm>
          <a:prstGeom prst="rect">
            <a:avLst/>
          </a:prstGeom>
        </p:spPr>
      </p:pic>
      <p:sp>
        <p:nvSpPr>
          <p:cNvPr id="10" name="TextBox 9"/>
          <p:cNvSpPr txBox="1"/>
          <p:nvPr/>
        </p:nvSpPr>
        <p:spPr>
          <a:xfrm>
            <a:off x="530352" y="3231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AOV is Rs 5,44,810 over 30 orders, about Rs 18,160, and 30 times the unrounded AOV is Rs 5,44,810 exactly. Since the product always lands on revenue, a wrong branch can hide in the split while the total looks right.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tree lands; 3 of 6 branches are absent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identity hold, and how many branches does the file lack?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kit.check("orders x AOV lands on booked revenue", round(orders * aov) == revenue)</a:t>
            </a:r>
          </a:p>
          <a:p>
            <a:pPr>
              <a:spcAft>
                <a:spcPts val="200"/>
              </a:spcAft>
            </a:pPr>
            <a:r>
              <a:rPr sz="1400" b="0" i="0">
                <a:solidFill>
                  <a:srgbClr val="E4E1F1"/>
                </a:solidFill>
                <a:latin typeface="Consolas"/>
              </a:rPr>
              <a:t>kit.check("booked AOV is Rs 18,160", round(aov) == 18160)</a:t>
            </a:r>
          </a:p>
          <a:p>
            <a:pPr>
              <a:spcAft>
                <a:spcPts val="200"/>
              </a:spcAft>
            </a:pPr>
            <a:r>
              <a:rPr sz="1400" b="0" i="0">
                <a:solidFill>
                  <a:srgbClr val="E4E1F1"/>
                </a:solidFill>
                <a:latin typeface="Consolas"/>
              </a:rPr>
              <a:t>missing = [b for b in ("items", "price", "discount") if b not in ORDERS[0]]</a:t>
            </a:r>
          </a:p>
          <a:p>
            <a:pPr>
              <a:spcAft>
                <a:spcPts val="200"/>
              </a:spcAft>
            </a:pPr>
            <a:r>
              <a:rPr sz="1400" b="0" i="0">
                <a:solidFill>
                  <a:srgbClr val="E4E1F1"/>
                </a:solidFill>
                <a:latin typeface="Consolas"/>
              </a:rPr>
              <a:t>kit.check("three branches of six are not in this file", len(missing) == 3)</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pass: the product lands on Rs 5,44,810, the AOV rounds to Rs 18,160, and items, price and discounts are not fields in the file.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AOV do booked rupees over delivered orders give?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reports booked revenue and the operations dashboard counts delivered orders; what if each feeds one half?</a:t>
            </a:r>
          </a:p>
        </p:txBody>
      </p:sp>
      <p:pic>
        <p:nvPicPr>
          <p:cNvPr id="9" name="mermaid diagram" descr="658da5adfb02450a.png"/>
          <p:cNvPicPr>
            <a:picLocks noChangeAspect="1"/>
          </p:cNvPicPr>
          <p:nvPr/>
        </p:nvPicPr>
        <p:blipFill>
          <a:blip r:embed="rId5"/>
          <a:stretch>
            <a:fillRect/>
          </a:stretch>
        </p:blipFill>
        <p:spPr>
          <a:xfrm>
            <a:off x="3931291" y="1956816"/>
            <a:ext cx="4329112" cy="1800225"/>
          </a:xfrm>
          <a:prstGeom prst="rect">
            <a:avLst/>
          </a:prstGeom>
        </p:spPr>
      </p:pic>
      <p:sp>
        <p:nvSpPr>
          <p:cNvPr id="10" name="TextBox 9"/>
          <p:cNvSpPr txBox="1"/>
          <p:nvPr/>
        </p:nvSpPr>
        <p:spPr>
          <a:xfrm>
            <a:off x="530352" y="3903345"/>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Rs 18,160</a:t>
            </a:r>
          </a:p>
          <a:p>
            <a:pPr>
              <a:spcAft>
                <a:spcPts val="800"/>
              </a:spcAft>
            </a:pPr>
            <a:r>
              <a:rPr sz="1600" b="0" i="0">
                <a:solidFill>
                  <a:srgbClr val="1A1440"/>
                </a:solidFill>
                <a:latin typeface="Calibri"/>
              </a:rPr>
              <a:t>b) Rs 24,800</a:t>
            </a:r>
          </a:p>
          <a:p>
            <a:pPr>
              <a:spcAft>
                <a:spcPts val="800"/>
              </a:spcAft>
            </a:pPr>
            <a:r>
              <a:rPr sz="1600" b="0" i="0">
                <a:solidFill>
                  <a:srgbClr val="1A1440"/>
                </a:solidFill>
                <a:latin typeface="Calibri"/>
              </a:rPr>
              <a:t>c) Rs 25,943</a:t>
            </a:r>
          </a:p>
          <a:p>
            <a:pPr>
              <a:spcAft>
                <a:spcPts val="800"/>
              </a:spcAft>
            </a:pPr>
            <a:r>
              <a:rPr sz="1600" b="0" i="0">
                <a:solidFill>
                  <a:srgbClr val="1A1440"/>
                </a:solidFill>
                <a:latin typeface="Calibri"/>
              </a:rPr>
              <a:t>d) Rs 23,687</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Rs 25,943, which matches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booked rupees are divided by delivered orders?</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note to marketing reads: "Our average order is Rs 25,943."</a:t>
            </a:r>
          </a:p>
        </p:txBody>
      </p:sp>
      <p:sp>
        <p:nvSpPr>
          <p:cNvPr id="12" name="TextBox 11"/>
          <p:cNvSpPr txBox="1"/>
          <p:nvPr/>
        </p:nvSpPr>
        <p:spPr>
          <a:xfrm>
            <a:off x="53035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25,943</a:t>
            </a:r>
          </a:p>
        </p:txBody>
      </p:sp>
      <p:sp>
        <p:nvSpPr>
          <p:cNvPr id="13" name="TextBox 12"/>
          <p:cNvSpPr txBox="1"/>
          <p:nvPr/>
        </p:nvSpPr>
        <p:spPr>
          <a:xfrm>
            <a:off x="53035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MIXED AOV</a:t>
            </a:r>
          </a:p>
        </p:txBody>
      </p:sp>
      <p:sp>
        <p:nvSpPr>
          <p:cNvPr id="14" name="TextBox 13"/>
          <p:cNvSpPr txBox="1"/>
          <p:nvPr/>
        </p:nvSpPr>
        <p:spPr>
          <a:xfrm>
            <a:off x="53035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7,78,300</a:t>
            </a:r>
          </a:p>
        </p:txBody>
      </p:sp>
      <p:sp>
        <p:nvSpPr>
          <p:cNvPr id="17" name="TextBox 16"/>
          <p:cNvSpPr txBox="1"/>
          <p:nvPr/>
        </p:nvSpPr>
        <p:spPr>
          <a:xfrm>
            <a:off x="433212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MULTIPLIED BACK</a:t>
            </a:r>
          </a:p>
        </p:txBody>
      </p:sp>
      <p:sp>
        <p:nvSpPr>
          <p:cNvPr id="18" name="TextBox 17"/>
          <p:cNvSpPr txBox="1"/>
          <p:nvPr/>
        </p:nvSpPr>
        <p:spPr>
          <a:xfrm>
            <a:off x="433212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on the 30 booked orders</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43%</a:t>
            </a:r>
          </a:p>
        </p:txBody>
      </p:sp>
      <p:sp>
        <p:nvSpPr>
          <p:cNvPr id="21" name="TextBox 20"/>
          <p:cNvSpPr txBox="1"/>
          <p:nvPr/>
        </p:nvSpPr>
        <p:spPr>
          <a:xfrm>
            <a:off x="813389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ABOVE BOOKED</a:t>
            </a:r>
          </a:p>
        </p:txBody>
      </p:sp>
      <p:sp>
        <p:nvSpPr>
          <p:cNvPr id="22" name="TextBox 21"/>
          <p:cNvSpPr txBox="1"/>
          <p:nvPr/>
        </p:nvSpPr>
        <p:spPr>
          <a:xfrm>
            <a:off x="813389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nobody booked</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8" name="Oval 27"/>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30" name="Oval 2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2" name="Oval 3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x the orders summed must give revenue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a fraction built from two definitions?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numerator keeps the rupees of the 9 cancelled and returned orders while the denominator has dropped those orders, so every order looks Rs 7,783 larger than a booked order averages.</a:t>
            </a:r>
          </a:p>
        </p:txBody>
      </p:sp>
      <p:graphicFrame>
        <p:nvGraphicFramePr>
          <p:cNvPr id="12" name="Table 11"/>
          <p:cNvGraphicFramePr>
            <a:graphicFrameLocks noGrp="1"/>
          </p:cNvGraphicFramePr>
          <p:nvPr/>
        </p:nvGraphicFramePr>
        <p:xfrm>
          <a:off x="530352" y="2929128"/>
          <a:ext cx="11130991" cy="1341120"/>
        </p:xfrm>
        <a:graphic>
          <a:graphicData uri="http://schemas.openxmlformats.org/drawingml/2006/table">
            <a:tbl>
              <a:tblPr firstRow="0" bandRow="0">
                <a:tableStyleId>{2D5ABB26-0587-4C30-8999-92F81FD0307C}</a:tableStyleId>
              </a:tblPr>
              <a:tblGrid>
                <a:gridCol w="2315429"/>
                <a:gridCol w="1147132"/>
                <a:gridCol w="4087346"/>
                <a:gridCol w="3581084"/>
              </a:tblGrid>
              <a:tr h="335280">
                <a:tc>
                  <a:txBody>
                    <a:bodyPr/>
                    <a:lstStyle/>
                    <a:p>
                      <a:r>
                        <a:rPr sz="1250" b="1" i="0">
                          <a:solidFill>
                            <a:srgbClr val="FFFFFF"/>
                          </a:solidFill>
                          <a:latin typeface="Calibri"/>
                        </a:rPr>
                        <a:t>Fraction</a:t>
                      </a:r>
                    </a:p>
                  </a:txBody>
                  <a:tcPr marL="101600" marR="101600" marT="38100" marB="38100" anchor="ctr">
                    <a:solidFill>
                      <a:srgbClr val="1A0F5C"/>
                    </a:solidFill>
                  </a:tcPr>
                </a:tc>
                <a:tc>
                  <a:txBody>
                    <a:bodyPr/>
                    <a:lstStyle/>
                    <a:p>
                      <a:r>
                        <a:rPr sz="1250" b="1" i="0">
                          <a:solidFill>
                            <a:srgbClr val="FFFFFF"/>
                          </a:solidFill>
                          <a:latin typeface="Calibri"/>
                        </a:rPr>
                        <a:t>AOV</a:t>
                      </a:r>
                    </a:p>
                  </a:txBody>
                  <a:tcPr marL="101600" marR="101600" marT="38100" marB="38100" anchor="ctr">
                    <a:solidFill>
                      <a:srgbClr val="1A0F5C"/>
                    </a:solidFill>
                  </a:tcPr>
                </a:tc>
                <a:tc>
                  <a:txBody>
                    <a:bodyPr/>
                    <a:lstStyle/>
                    <a:p>
                      <a:r>
                        <a:rPr sz="1250" b="1" i="0">
                          <a:solidFill>
                            <a:srgbClr val="FFFFFF"/>
                          </a:solidFill>
                          <a:latin typeface="Calibri"/>
                        </a:rPr>
                        <a:t>Times the orders the revenue covers</a:t>
                      </a:r>
                    </a:p>
                  </a:txBody>
                  <a:tcPr marL="101600" marR="101600" marT="38100" marB="38100" anchor="ctr">
                    <a:solidFill>
                      <a:srgbClr val="1A0F5C"/>
                    </a:solidFill>
                  </a:tcPr>
                </a:tc>
                <a:tc>
                  <a:txBody>
                    <a:bodyPr/>
                    <a:lstStyle/>
                    <a:p>
                      <a:r>
                        <a:rPr sz="1250" b="1" i="0">
                          <a:solidFill>
                            <a:srgbClr val="FFFFFF"/>
                          </a:solidFill>
                          <a:latin typeface="Calibri"/>
                        </a:rPr>
                        <a:t>Does that revenue come back?</a:t>
                      </a:r>
                    </a:p>
                  </a:txBody>
                  <a:tcPr marL="101600" marR="101600" marT="38100" marB="38100" anchor="ctr">
                    <a:solidFill>
                      <a:srgbClr val="1A0F5C"/>
                    </a:solidFill>
                  </a:tcPr>
                </a:tc>
              </a:tr>
              <a:tr h="335280">
                <a:tc>
                  <a:txBody>
                    <a:bodyPr/>
                    <a:lstStyle/>
                    <a:p>
                      <a:r>
                        <a:rPr sz="1200" b="0" i="0">
                          <a:solidFill>
                            <a:srgbClr val="1A1440"/>
                          </a:solidFill>
                          <a:latin typeface="Calibri"/>
                        </a:rPr>
                        <a:t>Booked / booked</a:t>
                      </a:r>
                    </a:p>
                  </a:txBody>
                  <a:tcPr marL="101600" marR="101600" marT="38100" marB="38100" anchor="ctr">
                    <a:solidFill>
                      <a:srgbClr val="FFFFFF"/>
                    </a:solidFill>
                  </a:tcPr>
                </a:tc>
                <a:tc>
                  <a:txBody>
                    <a:bodyPr/>
                    <a:lstStyle/>
                    <a:p>
                      <a:r>
                        <a:rPr sz="1200" b="0" i="0">
                          <a:solidFill>
                            <a:srgbClr val="1A1440"/>
                          </a:solidFill>
                          <a:latin typeface="Calibri"/>
                        </a:rPr>
                        <a:t>Rs 18,160</a:t>
                      </a:r>
                    </a:p>
                  </a:txBody>
                  <a:tcPr marL="101600" marR="101600" marT="38100" marB="38100" anchor="ctr">
                    <a:solidFill>
                      <a:srgbClr val="FFFFFF"/>
                    </a:solidFill>
                  </a:tcPr>
                </a:tc>
                <a:tc>
                  <a:txBody>
                    <a:bodyPr/>
                    <a:lstStyle/>
                    <a:p>
                      <a:r>
                        <a:rPr sz="1200" b="0" i="0">
                          <a:solidFill>
                            <a:srgbClr val="1A1440"/>
                          </a:solidFill>
                          <a:latin typeface="Calibri"/>
                        </a:rPr>
                        <a:t>30 orders give Rs 5,44,810.</a:t>
                      </a:r>
                    </a:p>
                  </a:txBody>
                  <a:tcPr marL="101600" marR="101600" marT="38100" marB="38100" anchor="ctr">
                    <a:solidFill>
                      <a:srgbClr val="FFFFFF"/>
                    </a:solidFill>
                  </a:tcPr>
                </a:tc>
                <a:tc>
                  <a:txBody>
                    <a:bodyPr/>
                    <a:lstStyle/>
                    <a:p>
                      <a:r>
                        <a:rPr sz="1200" b="0" i="0">
                          <a:solidFill>
                            <a:srgbClr val="1A1440"/>
                          </a:solidFill>
                          <a:latin typeface="Calibri"/>
                        </a:rPr>
                        <a:t>Yes, booked revenue comes back.</a:t>
                      </a:r>
                    </a:p>
                  </a:txBody>
                  <a:tcPr marL="101600" marR="101600" marT="38100" marB="38100" anchor="ctr">
                    <a:solidFill>
                      <a:srgbClr val="FFFFFF"/>
                    </a:solidFill>
                  </a:tcPr>
                </a:tc>
              </a:tr>
              <a:tr h="335280">
                <a:tc>
                  <a:txBody>
                    <a:bodyPr/>
                    <a:lstStyle/>
                    <a:p>
                      <a:r>
                        <a:rPr sz="1200" b="0" i="0">
                          <a:solidFill>
                            <a:srgbClr val="1A1440"/>
                          </a:solidFill>
                          <a:latin typeface="Calibri"/>
                        </a:rPr>
                        <a:t>Delivered / delivered</a:t>
                      </a:r>
                    </a:p>
                  </a:txBody>
                  <a:tcPr marL="101600" marR="101600" marT="38100" marB="38100" anchor="ctr">
                    <a:solidFill>
                      <a:srgbClr val="F4F2FA"/>
                    </a:solidFill>
                  </a:tcPr>
                </a:tc>
                <a:tc>
                  <a:txBody>
                    <a:bodyPr/>
                    <a:lstStyle/>
                    <a:p>
                      <a:r>
                        <a:rPr sz="1200" b="0" i="0">
                          <a:solidFill>
                            <a:srgbClr val="1A1440"/>
                          </a:solidFill>
                          <a:latin typeface="Calibri"/>
                        </a:rPr>
                        <a:t>Rs 24,800</a:t>
                      </a:r>
                    </a:p>
                  </a:txBody>
                  <a:tcPr marL="101600" marR="101600" marT="38100" marB="38100" anchor="ctr">
                    <a:solidFill>
                      <a:srgbClr val="F4F2FA"/>
                    </a:solidFill>
                  </a:tcPr>
                </a:tc>
                <a:tc>
                  <a:txBody>
                    <a:bodyPr/>
                    <a:lstStyle/>
                    <a:p>
                      <a:r>
                        <a:rPr sz="1200" b="0" i="0">
                          <a:solidFill>
                            <a:srgbClr val="1A1440"/>
                          </a:solidFill>
                          <a:latin typeface="Calibri"/>
                        </a:rPr>
                        <a:t>21 orders give Rs 5,20,790.</a:t>
                      </a:r>
                    </a:p>
                  </a:txBody>
                  <a:tcPr marL="101600" marR="101600" marT="38100" marB="38100" anchor="ctr">
                    <a:solidFill>
                      <a:srgbClr val="F4F2FA"/>
                    </a:solidFill>
                  </a:tcPr>
                </a:tc>
                <a:tc>
                  <a:txBody>
                    <a:bodyPr/>
                    <a:lstStyle/>
                    <a:p>
                      <a:r>
                        <a:rPr sz="1200" b="0" i="0">
                          <a:solidFill>
                            <a:srgbClr val="1A1440"/>
                          </a:solidFill>
                          <a:latin typeface="Calibri"/>
                        </a:rPr>
                        <a:t>Yes, delivered revenue comes back.</a:t>
                      </a:r>
                    </a:p>
                  </a:txBody>
                  <a:tcPr marL="101600" marR="101600" marT="38100" marB="38100" anchor="ctr">
                    <a:solidFill>
                      <a:srgbClr val="F4F2FA"/>
                    </a:solidFill>
                  </a:tcPr>
                </a:tc>
              </a:tr>
              <a:tr h="335280">
                <a:tc>
                  <a:txBody>
                    <a:bodyPr/>
                    <a:lstStyle/>
                    <a:p>
                      <a:r>
                        <a:rPr sz="1200" b="0" i="0">
                          <a:solidFill>
                            <a:srgbClr val="1A1440"/>
                          </a:solidFill>
                          <a:latin typeface="Calibri"/>
                        </a:rPr>
                        <a:t>Booked / delivered</a:t>
                      </a:r>
                    </a:p>
                  </a:txBody>
                  <a:tcPr marL="101600" marR="101600" marT="38100" marB="38100" anchor="ctr">
                    <a:solidFill>
                      <a:srgbClr val="FFFFFF"/>
                    </a:solidFill>
                  </a:tcPr>
                </a:tc>
                <a:tc>
                  <a:txBody>
                    <a:bodyPr/>
                    <a:lstStyle/>
                    <a:p>
                      <a:r>
                        <a:rPr sz="1200" b="0" i="0">
                          <a:solidFill>
                            <a:srgbClr val="1A1440"/>
                          </a:solidFill>
                          <a:latin typeface="Calibri"/>
                        </a:rPr>
                        <a:t>Rs 25,943</a:t>
                      </a:r>
                    </a:p>
                  </a:txBody>
                  <a:tcPr marL="101600" marR="101600" marT="38100" marB="38100" anchor="ctr">
                    <a:solidFill>
                      <a:srgbClr val="FFFFFF"/>
                    </a:solidFill>
                  </a:tcPr>
                </a:tc>
                <a:tc>
                  <a:txBody>
                    <a:bodyPr/>
                    <a:lstStyle/>
                    <a:p>
                      <a:r>
                        <a:rPr sz="1200" b="0" i="0">
                          <a:solidFill>
                            <a:srgbClr val="1A1440"/>
                          </a:solidFill>
                          <a:latin typeface="Calibri"/>
                        </a:rPr>
                        <a:t>30 orders give Rs 7,78,300.</a:t>
                      </a:r>
                    </a:p>
                  </a:txBody>
                  <a:tcPr marL="101600" marR="101600" marT="38100" marB="38100" anchor="ctr">
                    <a:solidFill>
                      <a:srgbClr val="FFFFFF"/>
                    </a:solidFill>
                  </a:tcPr>
                </a:tc>
                <a:tc>
                  <a:txBody>
                    <a:bodyPr/>
                    <a:lstStyle/>
                    <a:p>
                      <a:r>
                        <a:rPr sz="1200" b="0" i="0">
                          <a:solidFill>
                            <a:srgbClr val="1A1440"/>
                          </a:solidFill>
                          <a:latin typeface="Calibri"/>
                        </a:rPr>
                        <a:t>No, it lands Rs 2,33,490 over.</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definition per fraction: Rs 18,160 or Rs 24,800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marketing?</a:t>
            </a:r>
          </a:p>
        </p:txBody>
      </p:sp>
      <p:pic>
        <p:nvPicPr>
          <p:cNvPr id="9" name="mermaid diagram" descr="0ca5985763784b1b.png"/>
          <p:cNvPicPr>
            <a:picLocks noChangeAspect="1"/>
          </p:cNvPicPr>
          <p:nvPr/>
        </p:nvPicPr>
        <p:blipFill>
          <a:blip r:embed="rId6"/>
          <a:stretch>
            <a:fillRect/>
          </a:stretch>
        </p:blipFill>
        <p:spPr>
          <a:xfrm>
            <a:off x="3481235" y="1956816"/>
            <a:ext cx="5229225" cy="2714625"/>
          </a:xfrm>
          <a:prstGeom prst="rect">
            <a:avLst/>
          </a:prstGeom>
        </p:spPr>
      </p:pic>
      <p:sp>
        <p:nvSpPr>
          <p:cNvPr id="10" name="Rounded Rectangle 9"/>
          <p:cNvSpPr/>
          <p:nvPr/>
        </p:nvSpPr>
        <p:spPr>
          <a:xfrm>
            <a:off x="530352" y="481774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2043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130165"/>
            <a:ext cx="237744" cy="237744"/>
          </a:xfrm>
          <a:prstGeom prst="rect">
            <a:avLst/>
          </a:prstGeom>
        </p:spPr>
      </p:pic>
      <p:sp>
        <p:nvSpPr>
          <p:cNvPr id="13" name="TextBox 12"/>
          <p:cNvSpPr txBox="1"/>
          <p:nvPr/>
        </p:nvSpPr>
        <p:spPr>
          <a:xfrm>
            <a:off x="1399031" y="496404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183505"/>
            <a:ext cx="9987991" cy="423672"/>
          </a:xfrm>
          <a:prstGeom prst="rect">
            <a:avLst/>
          </a:prstGeom>
          <a:noFill/>
        </p:spPr>
        <p:txBody>
          <a:bodyPr wrap="square" anchor="t" lIns="0" rIns="0" tIns="0" bIns="0">
            <a:spAutoFit/>
          </a:bodyPr>
          <a:lstStyle/>
          <a:p>
            <a:r>
              <a:rPr sz="1500" b="0" i="0">
                <a:solidFill>
                  <a:srgbClr val="1A1440"/>
                </a:solidFill>
                <a:latin typeface="Calibri"/>
              </a:rPr>
              <a:t>Each fraction takes one definition, so ask each report what it counts before you divide.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30 amounts is the same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amounts agree with revenue over orders?</a:t>
            </a:r>
          </a:p>
        </p:txBody>
      </p:sp>
      <p:pic>
        <p:nvPicPr>
          <p:cNvPr id="9" name="mermaid diagram" descr="ecae6286bf104aa7.png"/>
          <p:cNvPicPr>
            <a:picLocks noChangeAspect="1"/>
          </p:cNvPicPr>
          <p:nvPr/>
        </p:nvPicPr>
        <p:blipFill>
          <a:blip r:embed="rId6"/>
          <a:stretch>
            <a:fillRect/>
          </a:stretch>
        </p:blipFill>
        <p:spPr>
          <a:xfrm>
            <a:off x="530352" y="3067039"/>
            <a:ext cx="4786326" cy="1748049"/>
          </a:xfrm>
          <a:prstGeom prst="rect">
            <a:avLst/>
          </a:prstGeom>
        </p:spPr>
      </p:pic>
      <p:sp>
        <p:nvSpPr>
          <p:cNvPr id="10" name="Rounded Rectangle 9"/>
          <p:cNvSpPr/>
          <p:nvPr/>
        </p:nvSpPr>
        <p:spPr>
          <a:xfrm>
            <a:off x="5761917" y="1956816"/>
            <a:ext cx="5899425"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amounts = [order["amount"] for order in ORDERS]</a:t>
            </a:r>
          </a:p>
          <a:p>
            <a:pPr>
              <a:spcAft>
                <a:spcPts val="200"/>
              </a:spcAft>
            </a:pPr>
            <a:r>
              <a:rPr sz="1400" b="0" i="0">
                <a:solidFill>
                  <a:srgbClr val="E4E1F1"/>
                </a:solidFill>
                <a:latin typeface="Consolas"/>
              </a:rPr>
              <a:t>mean_route = sum(amounts) / len(amounts)</a:t>
            </a:r>
          </a:p>
          <a:p>
            <a:pPr>
              <a:spcAft>
                <a:spcPts val="200"/>
              </a:spcAft>
            </a:pPr>
            <a:r>
              <a:rPr sz="1400" b="0" i="0">
                <a:solidFill>
                  <a:srgbClr val="E4E1F1"/>
                </a:solidFill>
                <a:latin typeface="Consolas"/>
              </a:rPr>
              <a:t>library_route = statistics.fmean(amounts)</a:t>
            </a:r>
          </a:p>
        </p:txBody>
      </p:sp>
      <p:sp>
        <p:nvSpPr>
          <p:cNvPr id="15" name="Rounded Rectangle 14"/>
          <p:cNvSpPr/>
          <p:nvPr/>
        </p:nvSpPr>
        <p:spPr>
          <a:xfrm>
            <a:off x="5761917" y="333603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37978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3907536"/>
            <a:ext cx="237744" cy="237744"/>
          </a:xfrm>
          <a:prstGeom prst="rect">
            <a:avLst/>
          </a:prstGeom>
        </p:spPr>
      </p:pic>
      <p:sp>
        <p:nvSpPr>
          <p:cNvPr id="18" name="TextBox 17"/>
          <p:cNvSpPr txBox="1"/>
          <p:nvPr/>
        </p:nvSpPr>
        <p:spPr>
          <a:xfrm>
            <a:off x="6630597" y="348234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3701795"/>
            <a:ext cx="4756425" cy="941832"/>
          </a:xfrm>
          <a:prstGeom prst="rect">
            <a:avLst/>
          </a:prstGeom>
          <a:noFill/>
        </p:spPr>
        <p:txBody>
          <a:bodyPr wrap="square" anchor="t" lIns="0" rIns="0" tIns="0" bIns="0">
            <a:spAutoFit/>
          </a:bodyPr>
          <a:lstStyle/>
          <a:p>
            <a:r>
              <a:rPr sz="1500" b="0" i="0">
                <a:solidFill>
                  <a:srgbClr val="1A1440"/>
                </a:solidFill>
                <a:latin typeface="Calibri"/>
              </a:rPr>
              <a:t>Use the totals when a report holds them and the rows when you hold the rows; chapter 4 asks whether the mean is the right middle at all.</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branch is a fraction; AOV is Rs 18,160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sales split into customers, orders per customer and order value, each a fraction on one definition?</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Why must each branch be a fraction?</a:t>
            </a:r>
            <a:r>
              <a:rPr sz="1100" b="0" i="0">
                <a:solidFill>
                  <a:srgbClr val="1A1440"/>
                </a:solidFill>
                <a:latin typeface="Calibri"/>
              </a:rPr>
              <a:t> Each is a numerator over a denominator, so the branches multiply back to revenue.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tree can this file fill?</a:t>
            </a:r>
            <a:r>
              <a:rPr sz="1100" b="0" i="0">
                <a:solidFill>
                  <a:srgbClr val="1A1440"/>
                </a:solidFill>
                <a:latin typeface="Calibri"/>
              </a:rPr>
              <a:t> Customers x orders per customer x AOV is the deepest tree it fills.</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What is the average order value?</a:t>
            </a:r>
            <a:r>
              <a:rPr sz="1100" b="0" i="0">
                <a:solidFill>
                  <a:srgbClr val="1A1440"/>
                </a:solidFill>
                <a:latin typeface="Calibri"/>
              </a:rPr>
              <a:t> It is Rs 18,160, booked revenue over 30 orders.</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What do booked rupees over delivered orders give?</a:t>
            </a:r>
            <a:r>
              <a:rPr sz="1100" b="0" i="0">
                <a:solidFill>
                  <a:srgbClr val="1A1440"/>
                </a:solidFill>
                <a:latin typeface="Calibri"/>
              </a:rPr>
              <a:t> They give Rs 25,943, which matches no definition and claims Rs 7,78,300.</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Does the mean of the 30 amounts give the same AOV?</a:t>
            </a:r>
            <a:r>
              <a:rPr sz="1100" b="0" i="0">
                <a:solidFill>
                  <a:srgbClr val="1A1440"/>
                </a:solidFill>
                <a:latin typeface="Calibri"/>
              </a:rPr>
              <a:t> It does: Rs 18,160.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Which branches does the file still lack?</a:t>
            </a:r>
            <a:r>
              <a:rPr sz="1100" b="0" i="0">
                <a:solidFill>
                  <a:srgbClr val="1A1440"/>
                </a:solidFill>
                <a:latin typeface="Calibri"/>
              </a:rPr>
              <a:t> It lacks items, price and discounts, so order value cannot be split yet.</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"You gave me each branch as a numerator over a denominator and told me which three this file cannot fill, so I know which ones I can plan on. When two reports feed one fraction, ask each what it counts before you divide."</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[S] How would you increase sales for an online retailer?</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5" name="Oval 3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37" name="Oval 3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9" name="Oval 3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 customers come back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customers does Kalpa have, and how many came back for a second order?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77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budget turns on whether customers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before she signs Rs 12 crore to buy customers, and the marketing lead and the head of Retail-Plus, who own the two customer branches: if nobody comes back, acquisition is the only branch, and if customers return, frequency can grow without buying anyone new.</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rides on it</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customer count, and what rides on it?</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Rows and people</a:t>
            </a:r>
          </a:p>
        </p:txBody>
      </p:sp>
      <p:sp>
        <p:nvSpPr>
          <p:cNvPr id="22" name="TextBox 21"/>
          <p:cNvSpPr txBox="1"/>
          <p:nvPr/>
        </p:nvSpPr>
        <p:spPr>
          <a:xfrm>
            <a:off x="258058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do we count customers when a row is an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came back</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How many customers came back?</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Every row a customer</a:t>
            </a:r>
          </a:p>
        </p:txBody>
      </p:sp>
      <p:sp>
        <p:nvSpPr>
          <p:cNvPr id="32" name="TextBox 31"/>
          <p:cNvSpPr txBox="1"/>
          <p:nvPr/>
        </p:nvSpPr>
        <p:spPr>
          <a:xfrm>
            <a:off x="6351879"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every row is counted as a customer?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The mean of counts</a:t>
            </a:r>
          </a:p>
        </p:txBody>
      </p:sp>
      <p:sp>
        <p:nvSpPr>
          <p:cNvPr id="37" name="TextBox 36"/>
          <p:cNvSpPr txBox="1"/>
          <p:nvPr/>
        </p:nvSpPr>
        <p:spPr>
          <a:xfrm>
            <a:off x="8237524"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Does the mean of the per-customer counts give the same rate?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On the tree</a:t>
            </a:r>
          </a:p>
        </p:txBody>
      </p:sp>
      <p:sp>
        <p:nvSpPr>
          <p:cNvPr id="42" name="TextBox 41"/>
          <p:cNvSpPr txBox="1"/>
          <p:nvPr/>
        </p:nvSpPr>
        <p:spPr>
          <a:xfrm>
            <a:off x="10123170" y="4516882"/>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count goes on the tree's customer branch, and on which definition?</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77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If nobody comes back, acquisition is the only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what rides on it?</a:t>
            </a:r>
          </a:p>
        </p:txBody>
      </p:sp>
      <p:pic>
        <p:nvPicPr>
          <p:cNvPr id="9" name="mermaid diagram" descr="9336f4eee0adf275.png"/>
          <p:cNvPicPr>
            <a:picLocks noChangeAspect="1"/>
          </p:cNvPicPr>
          <p:nvPr/>
        </p:nvPicPr>
        <p:blipFill>
          <a:blip r:embed="rId6"/>
          <a:stretch>
            <a:fillRect/>
          </a:stretch>
        </p:blipFill>
        <p:spPr>
          <a:xfrm>
            <a:off x="530352" y="3161894"/>
            <a:ext cx="4786326" cy="1558338"/>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5" name="Table 14"/>
          <p:cNvGraphicFramePr>
            <a:graphicFrameLocks noGrp="1"/>
          </p:cNvGraphicFramePr>
          <p:nvPr/>
        </p:nvGraphicFramePr>
        <p:xfrm>
          <a:off x="5761917" y="2983992"/>
          <a:ext cx="5899424" cy="2318512"/>
        </p:xfrm>
        <a:graphic>
          <a:graphicData uri="http://schemas.openxmlformats.org/drawingml/2006/table">
            <a:tbl>
              <a:tblPr firstRow="0" bandRow="0">
                <a:tableStyleId>{2D5ABB26-0587-4C30-8999-92F81FD0307C}</a:tableStyleId>
              </a:tblPr>
              <a:tblGrid>
                <a:gridCol w="2717827"/>
                <a:gridCol w="3181597"/>
              </a:tblGrid>
              <a:tr h="853440">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Customers are counted, and orders per customer is orders over customers in the window.</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with the marketing lead and the head of Retail-Plus.</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"Nobody comes back" makes Rs 12 crore look like the only way to grow.</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77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counts 396 million registered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customers does a real retailer count?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396 million</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REGISTERED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Reliance Retail, 30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20,169</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date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registered customer is a denominator of its own: divide a quarter's orders by it and you get a smaller metric than orders per customer who ordered.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77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counts customers and repeats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we count customers when a row is an order?</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528514"/>
                <a:gridCol w="1257348"/>
                <a:gridCol w="4435263"/>
                <a:gridCol w="2909864"/>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Passes</a:t>
                      </a:r>
                    </a:p>
                  </a:txBody>
                  <a:tcPr marL="101600" marR="101600" marT="38100" marB="38100" anchor="ctr">
                    <a:solidFill>
                      <a:srgbClr val="1A0F5C"/>
                    </a:solidFill>
                  </a:tcPr>
                </a:tc>
                <a:tc>
                  <a:txBody>
                    <a:bodyPr/>
                    <a:lstStyle/>
                    <a:p>
                      <a:r>
                        <a:rPr sz="1250" b="1" i="0">
                          <a:solidFill>
                            <a:srgbClr val="FFFFFF"/>
                          </a:solidFill>
                          <a:latin typeface="Calibri"/>
                        </a:rPr>
                        <a:t>What it answers</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542544">
                <a:tc>
                  <a:txBody>
                    <a:bodyPr/>
                    <a:lstStyle/>
                    <a:p>
                      <a:r>
                        <a:rPr sz="1200" b="0" i="0">
                          <a:solidFill>
                            <a:srgbClr val="1A1440"/>
                          </a:solidFill>
                          <a:latin typeface="Calibri"/>
                        </a:rPr>
                        <a:t>A. len(ORDERS), the rows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It says how many orders there are.</a:t>
                      </a:r>
                    </a:p>
                  </a:txBody>
                  <a:tcPr marL="101600" marR="101600" marT="38100" marB="38100" anchor="ctr">
                    <a:solidFill>
                      <a:srgbClr val="FFFFFF"/>
                    </a:solidFill>
                  </a:tcPr>
                </a:tc>
                <a:tc>
                  <a:txBody>
                    <a:bodyPr/>
                    <a:lstStyle/>
                    <a:p>
                      <a:r>
                        <a:rPr sz="1200" b="0" i="0">
                          <a:solidFill>
                            <a:srgbClr val="1A1440"/>
                          </a:solidFill>
                          <a:latin typeface="Calibri"/>
                        </a:rPr>
                        <a:t>It counts a repeat customer once per order.</a:t>
                      </a:r>
                    </a:p>
                  </a:txBody>
                  <a:tcPr marL="101600" marR="101600" marT="38100" marB="38100" anchor="ctr">
                    <a:solidFill>
                      <a:srgbClr val="FFFFFF"/>
                    </a:solidFill>
                  </a:tcPr>
                </a:tc>
              </a:tr>
              <a:tr h="542544">
                <a:tc>
                  <a:txBody>
                    <a:bodyPr/>
                    <a:lstStyle/>
                    <a:p>
                      <a:r>
                        <a:rPr sz="1200" b="0" i="0">
                          <a:solidFill>
                            <a:srgbClr val="1A1440"/>
                          </a:solidFill>
                          <a:latin typeface="Calibri"/>
                        </a:rPr>
                        <a:t>B. len(set(ids)), distinct ids</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says nothing about who came back.</a:t>
                      </a:r>
                    </a:p>
                  </a:txBody>
                  <a:tcPr marL="101600" marR="101600" marT="38100" marB="38100" anchor="ctr">
                    <a:solidFill>
                      <a:srgbClr val="F4F2FA"/>
                    </a:solidFill>
                  </a:tcPr>
                </a:tc>
              </a:tr>
              <a:tr h="542544">
                <a:tc>
                  <a:txBody>
                    <a:bodyPr/>
                    <a:lstStyle/>
                    <a:p>
                      <a:r>
                        <a:rPr sz="1200" b="0" i="0">
                          <a:solidFill>
                            <a:srgbClr val="1A1440"/>
                          </a:solidFill>
                          <a:latin typeface="Calibri"/>
                        </a:rPr>
                        <a:t>C. A dictionary of orders per id</a:t>
                      </a:r>
                    </a:p>
                  </a:txBody>
                  <a:tcPr marL="101600" marR="101600" marT="38100" marB="38100" anchor="ctr">
                    <a:solidFill>
                      <a:srgbClr val="FFFFFF"/>
                    </a:solidFill>
                  </a:tcPr>
                </a:tc>
                <a:tc>
                  <a:txBody>
                    <a:bodyPr/>
                    <a:lstStyle/>
                    <a:p>
                      <a:r>
                        <a:rPr sz="1200" b="0" i="0">
                          <a:solidFill>
                            <a:srgbClr val="1A1440"/>
                          </a:solidFill>
                          <a:latin typeface="Calibri"/>
                        </a:rPr>
                        <a:t>one</a:t>
                      </a:r>
                    </a:p>
                  </a:txBody>
                  <a:tcPr marL="101600" marR="101600" marT="38100" marB="38100" anchor="ctr">
                    <a:solidFill>
                      <a:srgbClr val="FFFFFF"/>
                    </a:solidFill>
                  </a:tcPr>
                </a:tc>
                <a:tc>
                  <a:txBody>
                    <a:bodyPr/>
                    <a:lstStyle/>
                    <a:p>
                      <a:r>
                        <a:rPr sz="1200" b="0" i="0">
                          <a:solidFill>
                            <a:srgbClr val="1A1440"/>
                          </a:solidFill>
                          <a:latin typeface="Calibri"/>
                        </a:rPr>
                        <a:t>It says how many customers, how many orders each and who came back.</a:t>
                      </a:r>
                    </a:p>
                  </a:txBody>
                  <a:tcPr marL="101600" marR="101600" marT="38100" marB="38100" anchor="ctr">
                    <a:solidFill>
                      <a:srgbClr val="FFFFFF"/>
                    </a:solidFill>
                  </a:tcPr>
                </a:tc>
                <a:tc>
                  <a:txBody>
                    <a:bodyPr/>
                    <a:lstStyle/>
                    <a:p>
                      <a:r>
                        <a:rPr sz="1200" b="0" i="0">
                          <a:solidFill>
                            <a:srgbClr val="1A1440"/>
                          </a:solidFill>
                          <a:latin typeface="Calibri"/>
                        </a:rPr>
                        <a:t>It has none on this file.</a:t>
                      </a:r>
                    </a:p>
                  </a:txBody>
                  <a:tcPr marL="101600" marR="101600" marT="38100" marB="38100" anchor="ctr">
                    <a:solidFill>
                      <a:srgbClr val="FFFFFF"/>
                    </a:solidFill>
                  </a:tcPr>
                </a:tc>
              </a:tr>
              <a:tr h="542544">
                <a:tc>
                  <a:txBody>
                    <a:bodyPr/>
                    <a:lstStyle/>
                    <a:p>
                      <a:r>
                        <a:rPr sz="1200" b="0" i="0">
                          <a:solidFill>
                            <a:srgbClr val="1A1440"/>
                          </a:solidFill>
                          <a:latin typeface="Calibri"/>
                        </a:rPr>
                        <a:t>D. Sort the ids and count the changes</a:t>
                      </a:r>
                    </a:p>
                  </a:txBody>
                  <a:tcPr marL="101600" marR="101600" marT="38100" marB="38100" anchor="ctr">
                    <a:solidFill>
                      <a:srgbClr val="F4F2FA"/>
                    </a:solidFill>
                  </a:tcPr>
                </a:tc>
                <a:tc>
                  <a:txBody>
                    <a:bodyPr/>
                    <a:lstStyle/>
                    <a:p>
                      <a:r>
                        <a:rPr sz="1200" b="0" i="0">
                          <a:solidFill>
                            <a:srgbClr val="1A1440"/>
                          </a:solidFill>
                          <a:latin typeface="Calibri"/>
                        </a:rPr>
                        <a:t>a sort and a pass</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is easy to miscount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505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160264"/>
            <a:ext cx="237744" cy="237744"/>
          </a:xfrm>
          <a:prstGeom prst="rect">
            <a:avLst/>
          </a:prstGeom>
        </p:spPr>
      </p:pic>
      <p:sp>
        <p:nvSpPr>
          <p:cNvPr id="13" name="TextBox 12"/>
          <p:cNvSpPr txBox="1"/>
          <p:nvPr/>
        </p:nvSpPr>
        <p:spPr>
          <a:xfrm>
            <a:off x="1399031" y="48646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84064"/>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since one pass fills both customer branches and names the repeat buyers. At millions of rows the count becomes one COUNT(DISTINCT customer_id) in the warehouse, which Week 2 teaches.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77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row is an order, and one person can place several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one customer leave several rows in the file?</a:t>
            </a:r>
          </a:p>
        </p:txBody>
      </p:sp>
      <p:pic>
        <p:nvPicPr>
          <p:cNvPr id="9" name="mermaid diagram" descr="bbdb7f56108e4e07.png"/>
          <p:cNvPicPr>
            <a:picLocks noChangeAspect="1"/>
          </p:cNvPicPr>
          <p:nvPr/>
        </p:nvPicPr>
        <p:blipFill>
          <a:blip r:embed="rId5"/>
          <a:stretch>
            <a:fillRect/>
          </a:stretch>
        </p:blipFill>
        <p:spPr>
          <a:xfrm>
            <a:off x="2566835" y="1956816"/>
            <a:ext cx="7058025" cy="1957387"/>
          </a:xfrm>
          <a:prstGeom prst="rect">
            <a:avLst/>
          </a:prstGeom>
        </p:spPr>
      </p:pic>
      <p:sp>
        <p:nvSpPr>
          <p:cNvPr id="10" name="TextBox 9"/>
          <p:cNvSpPr txBox="1"/>
          <p:nvPr/>
        </p:nvSpPr>
        <p:spPr>
          <a:xfrm>
            <a:off x="530352" y="40605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three invented rows, customer A ordered twice, so three orders come from two people and orders per customer is 1.5.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77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keyed by customer id counts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count each customer's orders?</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counts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cid = order["customer_id"]</a:t>
            </a:r>
          </a:p>
          <a:p>
            <a:pPr>
              <a:spcAft>
                <a:spcPts val="200"/>
              </a:spcAft>
            </a:pPr>
            <a:r>
              <a:rPr sz="1400" b="0" i="0">
                <a:solidFill>
                  <a:srgbClr val="E4E1F1"/>
                </a:solidFill>
                <a:latin typeface="Consolas"/>
              </a:rPr>
              <a:t>    counts[cid] = counts.get(cid, 0) + 1</a:t>
            </a:r>
          </a:p>
          <a:p>
            <a:pPr>
              <a:spcAft>
                <a:spcPts val="200"/>
              </a:spcAft>
            </a:pPr>
            <a:r>
              <a:rPr sz="1400" b="0" i="0">
                <a:solidFill>
                  <a:srgbClr val="E4E1F1"/>
                </a:solidFill>
                <a:latin typeface="Consolas"/>
              </a:rPr>
              <a:t>customers = len(counts)</a:t>
            </a:r>
          </a:p>
          <a:p>
            <a:pPr>
              <a:spcAft>
                <a:spcPts val="200"/>
              </a:spcAft>
            </a:pPr>
            <a:r>
              <a:rPr sz="1400" b="0" i="0">
                <a:solidFill>
                  <a:srgbClr val="E4E1F1"/>
                </a:solidFill>
                <a:latin typeface="Consolas"/>
              </a:rPr>
              <a:t>once = sum(1 for n in counts.values() if n == 1)</a:t>
            </a:r>
          </a:p>
        </p:txBody>
      </p:sp>
      <p:sp>
        <p:nvSpPr>
          <p:cNvPr id="14" name="TextBox 13"/>
          <p:cNvSpPr txBox="1"/>
          <p:nvPr/>
        </p:nvSpPr>
        <p:spPr>
          <a:xfrm>
            <a:off x="530352" y="409346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is the key and the count of that customer's orders is the value, so counts.get(cid, 0) starts each new customer at zero.</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77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customers bought more than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dictionary holds each customer's order count, so how many counts are above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None, since orders per customer is close to 1.</a:t>
            </a:r>
          </a:p>
          <a:p>
            <a:pPr>
              <a:spcAft>
                <a:spcPts val="800"/>
              </a:spcAft>
            </a:pPr>
            <a:r>
              <a:rPr sz="1600" b="0" i="0">
                <a:solidFill>
                  <a:srgbClr val="1A1440"/>
                </a:solidFill>
                <a:latin typeface="Calibri"/>
              </a:rPr>
              <a:t>b) 7, the gap between 30 orders and 23 customers.</a:t>
            </a:r>
          </a:p>
          <a:p>
            <a:pPr>
              <a:spcAft>
                <a:spcPts val="800"/>
              </a:spcAft>
            </a:pPr>
            <a:r>
              <a:rPr sz="1600" b="0" i="0">
                <a:solidFill>
                  <a:srgbClr val="1A1440"/>
                </a:solidFill>
                <a:latin typeface="Calibri"/>
              </a:rPr>
              <a:t>c) 16, the customers who are not new.</a:t>
            </a:r>
          </a:p>
          <a:p>
            <a:pPr>
              <a:spcAft>
                <a:spcPts val="800"/>
              </a:spcAft>
            </a:pPr>
            <a:r>
              <a:rPr sz="1600" b="0" i="0">
                <a:solidFill>
                  <a:srgbClr val="1A1440"/>
                </a:solidFill>
                <a:latin typeface="Calibri"/>
              </a:rPr>
              <a:t>d) 23, since the rate is above 1.</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7 of Kalpa's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a:t>
            </a:r>
          </a:p>
        </p:txBody>
      </p:sp>
      <p:pic>
        <p:nvPicPr>
          <p:cNvPr id="9" name="mermaid diagram" descr="0513d2d60404643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23 customers placed 30 orders, 1.30 each; 16 bought once and 7 came back. Orders less customers equals the repeat buyers here only because nobody bought three times.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counts add to 30 and the tree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counts add back to 30, and does the tree multiply back to revenue?</a:t>
            </a:r>
          </a:p>
        </p:txBody>
      </p:sp>
      <p:pic>
        <p:nvPicPr>
          <p:cNvPr id="9" name="mermaid diagram" descr="a9c30769a56ef4b3.png"/>
          <p:cNvPicPr>
            <a:picLocks noChangeAspect="1"/>
          </p:cNvPicPr>
          <p:nvPr/>
        </p:nvPicPr>
        <p:blipFill>
          <a:blip r:embed="rId5"/>
          <a:stretch>
            <a:fillRect/>
          </a:stretch>
        </p:blipFill>
        <p:spPr>
          <a:xfrm>
            <a:off x="2416816" y="1956816"/>
            <a:ext cx="7358062" cy="1771650"/>
          </a:xfrm>
          <a:prstGeom prst="rect">
            <a:avLst/>
          </a:prstGeom>
        </p:spPr>
      </p:pic>
      <p:sp>
        <p:nvSpPr>
          <p:cNvPr id="10" name="TextBox 9"/>
          <p:cNvSpPr txBox="1"/>
          <p:nvPr/>
        </p:nvSpPr>
        <p:spPr>
          <a:xfrm>
            <a:off x="530352" y="387477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23 counts add back to 30 orders, and 23 x (30 / 23) x (Rs 5,44,810 / 30) lands exactly on Rs 5,44,810.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counts 30 customers at 1.00 order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every row is counted as a customer?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"30 customers placed 30 orders: 1.00 each, so nobody comes back."</a:t>
            </a:r>
          </a:p>
        </p:txBody>
      </p:sp>
      <p:pic>
        <p:nvPicPr>
          <p:cNvPr id="12" name="mermaid diagram" descr="0fb4e704348bccca.png"/>
          <p:cNvPicPr>
            <a:picLocks noChangeAspect="1"/>
          </p:cNvPicPr>
          <p:nvPr/>
        </p:nvPicPr>
        <p:blipFill>
          <a:blip r:embed="rId5"/>
          <a:stretch>
            <a:fillRect/>
          </a:stretch>
        </p:blipFill>
        <p:spPr>
          <a:xfrm>
            <a:off x="1881035" y="2929128"/>
            <a:ext cx="8429625" cy="112871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 column holds 30 rows and 23 distinct ids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tells rows apart from customers?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division is correct and its denominator is wrong: a row is an order, and one customer can place several.</a:t>
            </a:r>
          </a:p>
        </p:txBody>
      </p:sp>
      <p:sp>
        <p:nvSpPr>
          <p:cNvPr id="12" name="Rounded Rectangle 11"/>
          <p:cNvSpPr/>
          <p:nvPr/>
        </p:nvSpPr>
        <p:spPr>
          <a:xfrm>
            <a:off x="530352" y="2929128"/>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[order["customer_id"] for order in ORDERS]</a:t>
            </a:r>
          </a:p>
          <a:p>
            <a:pPr>
              <a:spcAft>
                <a:spcPts val="200"/>
              </a:spcAft>
            </a:pPr>
            <a:r>
              <a:rPr sz="1400" b="0" i="0">
                <a:solidFill>
                  <a:srgbClr val="E4E1F1"/>
                </a:solidFill>
                <a:latin typeface="Consolas"/>
              </a:rPr>
              <a:t>len(ids), len(set(ids))        # (30, 23)</a:t>
            </a:r>
          </a:p>
        </p:txBody>
      </p:sp>
      <p:sp>
        <p:nvSpPr>
          <p:cNvPr id="17" name="TextBox 16"/>
          <p:cNvSpPr txBox="1"/>
          <p:nvPr/>
        </p:nvSpPr>
        <p:spPr>
          <a:xfrm>
            <a:off x="530352" y="405587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column counted as a list gives 30 and counted as a set gives 23, so 7 of the 30 orders came from people who had already bought.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Fixed: 30 / 23 = 1.30 orders,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dividing by distinct customers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distinct ids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30 / 23</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16 bought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Dividing the 30 orders by 23 distinct customers gives 1.30 orders each, and the counts per id show the 7 who came back, which takes "nobody comes back" out of the case for the Rs 12 crore.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23 counts is the same 1.30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counts agree with orders over customers?</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second_route = sum(counts.values()) / len(counts)   # 1.30, the same rate</a:t>
            </a:r>
          </a:p>
        </p:txBody>
      </p:sp>
      <p:sp>
        <p:nvSpPr>
          <p:cNvPr id="14" name="Rounded Rectangle 13"/>
          <p:cNvSpPr/>
          <p:nvPr/>
        </p:nvSpPr>
        <p:spPr>
          <a:xfrm>
            <a:off x="530352" y="283108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292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402584"/>
            <a:ext cx="237744" cy="237744"/>
          </a:xfrm>
          <a:prstGeom prst="rect">
            <a:avLst/>
          </a:prstGeom>
        </p:spPr>
      </p:pic>
      <p:sp>
        <p:nvSpPr>
          <p:cNvPr id="17" name="TextBox 16"/>
          <p:cNvSpPr txBox="1"/>
          <p:nvPr/>
        </p:nvSpPr>
        <p:spPr>
          <a:xfrm>
            <a:off x="1399031" y="29773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196844"/>
            <a:ext cx="9987991" cy="941832"/>
          </a:xfrm>
          <a:prstGeom prst="rect">
            <a:avLst/>
          </a:prstGeom>
          <a:noFill/>
        </p:spPr>
        <p:txBody>
          <a:bodyPr wrap="square" anchor="t" lIns="0" rIns="0" tIns="0" bIns="0">
            <a:spAutoFit/>
          </a:bodyPr>
          <a:lstStyle/>
          <a:p>
            <a:r>
              <a:rPr sz="1500" b="0" i="0">
                <a:solidFill>
                  <a:srgbClr val="1A1440"/>
                </a:solidFill>
                <a:latin typeface="Calibri"/>
              </a:rPr>
              <a:t>The ratio needs two counts, which a report holds; the counts need the rows and also show the spread, 16 customers at one order and 7 at two, which the ratio hides. Use the counts whenever someone will ask how many came back.</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1" name="Oval 20"/>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3" name="Oval 22"/>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5" name="Oval 24"/>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7" name="Oval 26"/>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has 23 customers,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 for a second order?</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What rides on the customer count?</a:t>
            </a:r>
            <a:r>
              <a:rPr sz="1100" b="0" i="0">
                <a:solidFill>
                  <a:srgbClr val="1A1440"/>
                </a:solidFill>
                <a:latin typeface="Calibri"/>
              </a:rPr>
              <a:t> It decides whether acquisition is the only branch before Meera signs Rs 12 crore.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How do we count customers when a row is an order?</a:t>
            </a:r>
            <a:r>
              <a:rPr sz="1100" b="0" i="0">
                <a:solidFill>
                  <a:srgbClr val="1A1440"/>
                </a:solidFill>
                <a:latin typeface="Calibri"/>
              </a:rPr>
              <a:t> We count distinct customer ids, since one customer can place several orders.</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How many customers came back?</a:t>
            </a:r>
            <a:r>
              <a:rPr sz="1100" b="0" i="0">
                <a:solidFill>
                  <a:srgbClr val="1A1440"/>
                </a:solidFill>
                <a:latin typeface="Calibri"/>
              </a:rPr>
              <a:t> 7 of 23 customers came back and 16 bought once, so they average 1.30 orders each.</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What if every row is counted as a customer?</a:t>
            </a:r>
            <a:r>
              <a:rPr sz="1100" b="0" i="0">
                <a:solidFill>
                  <a:srgbClr val="1A1440"/>
                </a:solidFill>
                <a:latin typeface="Calibri"/>
              </a:rPr>
              <a:t> The draft's 30 at 1.00 each says nobody comes back, and the ids say 7 did.</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Does the mean of the per-customer counts give the same rate?</a:t>
            </a:r>
            <a:r>
              <a:rPr sz="1100" b="0" i="0">
                <a:solidFill>
                  <a:srgbClr val="1A1440"/>
                </a:solidFill>
                <a:latin typeface="Calibri"/>
              </a:rPr>
              <a:t> It does: the 23 counts average 1.30.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Which count goes on the tree's customer branch?</a:t>
            </a:r>
            <a:r>
              <a:rPr sz="1100" b="0" i="0">
                <a:solidFill>
                  <a:srgbClr val="1A1440"/>
                </a:solidFill>
                <a:latin typeface="Calibri"/>
              </a:rPr>
              <a:t> It takes 23 customers at 1.30 orders each, on booked orders from 1 July to 26 September.</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"Your first 30 was a count of rows, divided as if it were people. A count of people comes from their ids, and every rate you send upstairs names its denominator."</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[F] Your extract shows 30 orders and 30 customers; what do you check before saying nobody comes back?</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5" name="Oval 3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7" name="Oval 3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39" name="Oval 3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typical order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a typical Kalpa order look like, stated so that one large order cannot move it?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61 / 77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and Anand both need a typical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whose payback case values every new customer by the order they will place, Meera, who signs the budget on that payback, and Anand, who has warned against averages: an order valued too high makes Rs 12 crore look cheap.</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it prices</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a typical order, and what does it price?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middle</a:t>
            </a:r>
          </a:p>
        </p:txBody>
      </p:sp>
      <p:sp>
        <p:nvSpPr>
          <p:cNvPr id="22" name="TextBox 21"/>
          <p:cNvSpPr txBox="1"/>
          <p:nvPr/>
        </p:nvSpPr>
        <p:spPr>
          <a:xfrm>
            <a:off x="2580589" y="4516882"/>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middle value, the mean or the median, survives one large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median</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median order?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Mean as typical</a:t>
            </a:r>
          </a:p>
        </p:txBody>
      </p:sp>
      <p:sp>
        <p:nvSpPr>
          <p:cNvPr id="32" name="TextBox 31"/>
          <p:cNvSpPr txBox="1"/>
          <p:nvPr/>
        </p:nvSpPr>
        <p:spPr>
          <a:xfrm>
            <a:off x="635187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when the mean is sold as typical?</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library</a:t>
            </a:r>
          </a:p>
        </p:txBody>
      </p:sp>
      <p:sp>
        <p:nvSpPr>
          <p:cNvPr id="37" name="TextBox 36"/>
          <p:cNvSpPr txBox="1"/>
          <p:nvPr/>
        </p:nvSpPr>
        <p:spPr>
          <a:xfrm>
            <a:off x="823752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Does Python's own median function give the same middle?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payback</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goes into the payback case?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77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first order's value decides the payback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what does it price?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"What does a typical order look like?"</a:t>
            </a:r>
          </a:p>
        </p:txBody>
      </p:sp>
      <p:sp>
        <p:nvSpPr>
          <p:cNvPr id="14" name="Rounded Rectangle 13"/>
          <p:cNvSpPr/>
          <p:nvPr/>
        </p:nvSpPr>
        <p:spPr>
          <a:xfrm>
            <a:off x="530352" y="298399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a:t>
            </a:r>
          </a:p>
        </p:txBody>
      </p:sp>
      <p:graphicFrame>
        <p:nvGraphicFramePr>
          <p:cNvPr id="16" name="Table 15"/>
          <p:cNvGraphicFramePr>
            <a:graphicFrameLocks noGrp="1"/>
          </p:cNvGraphicFramePr>
          <p:nvPr/>
        </p:nvGraphicFramePr>
        <p:xfrm>
          <a:off x="530352" y="387197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typical order is what marketing's payback credits to every new customer.</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and the marketing lead ask, and Anand has already warned against averages.</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first order valued too high makes the payback look short and Rs 12 crore look cheap.</a:t>
                      </a:r>
                    </a:p>
                  </a:txBody>
                  <a:tcPr marL="101600" marR="101600" marT="38100" marB="38100" anchor="ctr">
                    <a:solidFill>
                      <a:srgbClr val="F4F2FA"/>
                    </a:solidFill>
                  </a:tcPr>
                </a:tc>
              </a:tr>
            </a:tbl>
          </a:graphicData>
        </a:graphic>
      </p:graphicFrame>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1" name="Oval 20"/>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3" name="Oval 22"/>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5" name="Oval 24"/>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reports a mean order value, right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real company report as its order value?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518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BLINKIT NET AOV</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2,443</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DARK 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MediaNama on Eternal's results, 24 July 2026. A reported AOV is a mean, the right number for totals across millions of similar baskets and the wrong one for one shopper's basket when a few very large orders share the file.</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77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median barely moves when one large order joins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middle value, the mean or the median, survives one large order?</a:t>
            </a:r>
          </a:p>
        </p:txBody>
      </p:sp>
      <p:graphicFrame>
        <p:nvGraphicFramePr>
          <p:cNvPr id="9" name="Table 8"/>
          <p:cNvGraphicFramePr>
            <a:graphicFrameLocks noGrp="1"/>
          </p:cNvGraphicFramePr>
          <p:nvPr/>
        </p:nvGraphicFramePr>
        <p:xfrm>
          <a:off x="530352" y="1682496"/>
          <a:ext cx="11130989" cy="2332736"/>
        </p:xfrm>
        <a:graphic>
          <a:graphicData uri="http://schemas.openxmlformats.org/drawingml/2006/table">
            <a:tbl>
              <a:tblPr firstRow="0" bandRow="0">
                <a:tableStyleId>{2D5ABB26-0587-4C30-8999-92F81FD0307C}</a:tableStyleId>
              </a:tblPr>
              <a:tblGrid>
                <a:gridCol w="4085983"/>
                <a:gridCol w="3259546"/>
                <a:gridCol w="378546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Moves when one large order joins</a:t>
                      </a:r>
                    </a:p>
                  </a:txBody>
                  <a:tcPr marL="101600" marR="101600" marT="38100" marB="38100" anchor="ctr">
                    <a:solidFill>
                      <a:srgbClr val="1A0F5C"/>
                    </a:solidFill>
                  </a:tcPr>
                </a:tc>
                <a:tc>
                  <a:txBody>
                    <a:bodyPr/>
                    <a:lstStyle/>
                    <a:p>
                      <a:r>
                        <a:rPr sz="1450" b="1" i="0">
                          <a:solidFill>
                            <a:srgbClr val="FFFFFF"/>
                          </a:solidFill>
                          <a:latin typeface="Calibri"/>
                        </a:rPr>
                        <a:t>Right call when</a:t>
                      </a:r>
                    </a:p>
                  </a:txBody>
                  <a:tcPr marL="101600" marR="101600" marT="38100" marB="38100" anchor="ctr">
                    <a:solidFill>
                      <a:srgbClr val="1A0F5C"/>
                    </a:solidFill>
                  </a:tcPr>
                </a:tc>
              </a:tr>
              <a:tr h="369824">
                <a:tc>
                  <a:txBody>
                    <a:bodyPr/>
                    <a:lstStyle/>
                    <a:p>
                      <a:r>
                        <a:rPr sz="1400" b="0" i="0">
                          <a:solidFill>
                            <a:srgbClr val="1A1440"/>
                          </a:solidFill>
                          <a:latin typeface="Calibri"/>
                        </a:rPr>
                        <a:t>A. The mean, total over count</a:t>
                      </a:r>
                    </a:p>
                  </a:txBody>
                  <a:tcPr marL="101600" marR="101600" marT="38100" marB="38100" anchor="ctr">
                    <a:solidFill>
                      <a:srgbClr val="FFFFFF"/>
                    </a:solidFill>
                  </a:tcPr>
                </a:tc>
                <a:tc>
                  <a:txBody>
                    <a:bodyPr/>
                    <a:lstStyle/>
                    <a:p>
                      <a:r>
                        <a:rPr sz="1400" b="0" i="0">
                          <a:solidFill>
                            <a:srgbClr val="1A1440"/>
                          </a:solidFill>
                          <a:latin typeface="Calibri"/>
                        </a:rPr>
                        <a:t>It moves by Rs 14,623.</a:t>
                      </a:r>
                    </a:p>
                  </a:txBody>
                  <a:tcPr marL="101600" marR="101600" marT="38100" marB="38100" anchor="ctr">
                    <a:solidFill>
                      <a:srgbClr val="FFFFFF"/>
                    </a:solidFill>
                  </a:tcPr>
                </a:tc>
                <a:tc>
                  <a:txBody>
                    <a:bodyPr/>
                    <a:lstStyle/>
                    <a:p>
                      <a:r>
                        <a:rPr sz="1400" b="0" i="0">
                          <a:solidFill>
                            <a:srgbClr val="1A1440"/>
                          </a:solidFill>
                          <a:latin typeface="Calibri"/>
                        </a:rPr>
                        <a:t>Totals must multiply back.</a:t>
                      </a:r>
                    </a:p>
                  </a:txBody>
                  <a:tcPr marL="101600" marR="101600" marT="38100" marB="38100" anchor="ctr">
                    <a:solidFill>
                      <a:srgbClr val="FFFFFF"/>
                    </a:solidFill>
                  </a:tcPr>
                </a:tc>
              </a:tr>
              <a:tr h="611632">
                <a:tc>
                  <a:txBody>
                    <a:bodyPr/>
                    <a:lstStyle/>
                    <a:p>
                      <a:r>
                        <a:rPr sz="1400" b="0" i="0">
                          <a:solidFill>
                            <a:srgbClr val="1A1440"/>
                          </a:solidFill>
                          <a:latin typeface="Calibri"/>
                        </a:rPr>
                        <a:t>B. The median, the middle of the sorted amounts</a:t>
                      </a:r>
                    </a:p>
                  </a:txBody>
                  <a:tcPr marL="101600" marR="101600" marT="38100" marB="38100" anchor="ctr">
                    <a:solidFill>
                      <a:srgbClr val="F4F2FA"/>
                    </a:solidFill>
                  </a:tcPr>
                </a:tc>
                <a:tc>
                  <a:txBody>
                    <a:bodyPr/>
                    <a:lstStyle/>
                    <a:p>
                      <a:r>
                        <a:rPr sz="1400" b="0" i="0">
                          <a:solidFill>
                            <a:srgbClr val="1A1440"/>
                          </a:solidFill>
                          <a:latin typeface="Calibri"/>
                        </a:rPr>
                        <a:t>It moves by Rs 50, one place in the sort.</a:t>
                      </a:r>
                    </a:p>
                  </a:txBody>
                  <a:tcPr marL="101600" marR="101600" marT="38100" marB="38100" anchor="ctr">
                    <a:solidFill>
                      <a:srgbClr val="F4F2FA"/>
                    </a:solidFill>
                  </a:tcPr>
                </a:tc>
                <a:tc>
                  <a:txBody>
                    <a:bodyPr/>
                    <a:lstStyle/>
                    <a:p>
                      <a:r>
                        <a:rPr sz="1400" b="0" i="0">
                          <a:solidFill>
                            <a:srgbClr val="1A1440"/>
                          </a:solidFill>
                          <a:latin typeface="Calibri"/>
                        </a:rPr>
                        <a:t>The question is what a typical order looks like.</a:t>
                      </a:r>
                    </a:p>
                  </a:txBody>
                  <a:tcPr marL="101600" marR="101600" marT="38100" marB="38100" anchor="ctr">
                    <a:solidFill>
                      <a:srgbClr val="F4F2FA"/>
                    </a:solidFill>
                  </a:tcPr>
                </a:tc>
              </a:tr>
              <a:tr h="611632">
                <a:tc>
                  <a:txBody>
                    <a:bodyPr/>
                    <a:lstStyle/>
                    <a:p>
                      <a:r>
                        <a:rPr sz="1400" b="0" i="0">
                          <a:solidFill>
                            <a:srgbClr val="1A1440"/>
                          </a:solidFill>
                          <a:latin typeface="Calibri"/>
                        </a:rPr>
                        <a:t>C. A trimmed mean, dropping the top and bottom order</a:t>
                      </a:r>
                    </a:p>
                  </a:txBody>
                  <a:tcPr marL="101600" marR="101600" marT="38100" marB="38100" anchor="ctr">
                    <a:solidFill>
                      <a:srgbClr val="FFFFFF"/>
                    </a:solidFill>
                  </a:tcPr>
                </a:tc>
                <a:tc>
                  <a:txBody>
                    <a:bodyPr/>
                    <a:lstStyle/>
                    <a:p>
                      <a:r>
                        <a:rPr sz="1400" b="0" i="0">
                          <a:solidFill>
                            <a:srgbClr val="1A1440"/>
                          </a:solidFill>
                          <a:latin typeface="Calibri"/>
                        </a:rPr>
                        <a:t>It moves by Rs 83, and it needs a rule.</a:t>
                      </a:r>
                    </a:p>
                  </a:txBody>
                  <a:tcPr marL="101600" marR="101600" marT="38100" marB="38100" anchor="ctr">
                    <a:solidFill>
                      <a:srgbClr val="FFFFFF"/>
                    </a:solidFill>
                  </a:tcPr>
                </a:tc>
                <a:tc>
                  <a:txBody>
                    <a:bodyPr/>
                    <a:lstStyle/>
                    <a:p>
                      <a:r>
                        <a:rPr sz="1400" b="0" i="0">
                          <a:solidFill>
                            <a:srgbClr val="1A1440"/>
                          </a:solidFill>
                          <a:latin typeface="Calibri"/>
                        </a:rPr>
                        <a:t>A stated rule says how many to drop.</a:t>
                      </a:r>
                    </a:p>
                  </a:txBody>
                  <a:tcPr marL="101600" marR="101600" marT="38100" marB="38100" anchor="ctr">
                    <a:solidFill>
                      <a:srgbClr val="FFFFFF"/>
                    </a:solidFill>
                  </a:tcPr>
                </a:tc>
              </a:tr>
              <a:tr h="369824">
                <a:tc>
                  <a:txBody>
                    <a:bodyPr/>
                    <a:lstStyle/>
                    <a:p>
                      <a:r>
                        <a:rPr sz="1400" b="0" i="0">
                          <a:solidFill>
                            <a:srgbClr val="1A1440"/>
                          </a:solidFill>
                          <a:latin typeface="Calibri"/>
                        </a:rPr>
                        <a:t>D. A mean per customer type</a:t>
                      </a:r>
                    </a:p>
                  </a:txBody>
                  <a:tcPr marL="101600" marR="101600" marT="38100" marB="38100" anchor="ctr">
                    <a:solidFill>
                      <a:srgbClr val="F4F2FA"/>
                    </a:solidFill>
                  </a:tcPr>
                </a:tc>
                <a:tc>
                  <a:txBody>
                    <a:bodyPr/>
                    <a:lstStyle/>
                    <a:p>
                      <a:r>
                        <a:rPr sz="1400" b="0" i="0">
                          <a:solidFill>
                            <a:srgbClr val="1A1440"/>
                          </a:solidFill>
                          <a:latin typeface="Calibri"/>
                        </a:rPr>
                        <a:t>It does not move within a type.</a:t>
                      </a:r>
                    </a:p>
                  </a:txBody>
                  <a:tcPr marL="101600" marR="101600" marT="38100" marB="38100" anchor="ctr">
                    <a:solidFill>
                      <a:srgbClr val="F4F2FA"/>
                    </a:solidFill>
                  </a:tcPr>
                </a:tc>
                <a:tc>
                  <a:txBody>
                    <a:bodyPr/>
                    <a:lstStyle/>
                    <a:p>
                      <a:r>
                        <a:rPr sz="1400" b="0" i="0">
                          <a:solidFill>
                            <a:srgbClr val="1A1440"/>
                          </a:solidFill>
                          <a:latin typeface="Calibri"/>
                        </a:rPr>
                        <a:t>Each type gets its own plan.</a:t>
                      </a:r>
                    </a:p>
                  </a:txBody>
                  <a:tcPr marL="101600" marR="101600" marT="38100" marB="38100" anchor="ctr">
                    <a:solidFill>
                      <a:srgbClr val="F4F2FA"/>
                    </a:solidFill>
                  </a:tcPr>
                </a:tc>
              </a:tr>
            </a:tbl>
          </a:graphicData>
        </a:graphic>
      </p:graphicFrame>
      <p:sp>
        <p:nvSpPr>
          <p:cNvPr id="10" name="TextBox 9"/>
          <p:cNvSpPr txBox="1"/>
          <p:nvPr/>
        </p:nvSpPr>
        <p:spPr>
          <a:xfrm>
            <a:off x="530352" y="42712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Sized on six invented orders: five of Rs 1,900 to Rs 2,600, then one of Rs 90,000.</a:t>
            </a:r>
          </a:p>
        </p:txBody>
      </p:sp>
      <p:sp>
        <p:nvSpPr>
          <p:cNvPr id="11" name="Rounded Rectangle 10"/>
          <p:cNvSpPr/>
          <p:nvPr/>
        </p:nvSpPr>
        <p:spPr>
          <a:xfrm>
            <a:off x="530352" y="489508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273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4"/>
          <a:stretch>
            <a:fillRect/>
          </a:stretch>
        </p:blipFill>
        <p:spPr>
          <a:xfrm>
            <a:off x="868680" y="5337047"/>
            <a:ext cx="237744" cy="237744"/>
          </a:xfrm>
          <a:prstGeom prst="rect">
            <a:avLst/>
          </a:prstGeom>
        </p:spPr>
      </p:pic>
      <p:sp>
        <p:nvSpPr>
          <p:cNvPr id="14" name="TextBox 13"/>
          <p:cNvSpPr txBox="1"/>
          <p:nvPr/>
        </p:nvSpPr>
        <p:spPr>
          <a:xfrm>
            <a:off x="1399031" y="504139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5260848"/>
            <a:ext cx="9987991" cy="682752"/>
          </a:xfrm>
          <a:prstGeom prst="rect">
            <a:avLst/>
          </a:prstGeom>
          <a:noFill/>
        </p:spPr>
        <p:txBody>
          <a:bodyPr wrap="square" anchor="t" lIns="0" rIns="0" tIns="0" bIns="0">
            <a:spAutoFit/>
          </a:bodyPr>
          <a:lstStyle/>
          <a:p>
            <a:r>
              <a:rPr sz="1500" b="0" i="0">
                <a:solidFill>
                  <a:srgbClr val="1A1440"/>
                </a:solidFill>
                <a:latin typeface="Calibri"/>
              </a:rPr>
              <a:t>B for the typical order, with A beside it for totals; D answers better if marketing prices the payback per customer type.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77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large order drags the mean and nudges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large order do to each middle?</a:t>
            </a:r>
          </a:p>
        </p:txBody>
      </p:sp>
      <p:pic>
        <p:nvPicPr>
          <p:cNvPr id="9" name="mermaid diagram" descr="1aca0451d0806b80.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 five invented orders of Rs 1,900 to Rs 2,600 the mean is Rs 2,260 and the median Rs 2,300. Add one invented order of Rs 90,000 and the mean jumps to Rs 16,883, since it shares that order's rupees across every order, while the median, which only asks which order sits in the middle, moves to Rs 2,350.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Sort the 30 amounts and average the 15th and 16th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middle of 30 orders found?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 sorted(amounts)</a:t>
            </a:r>
          </a:p>
          <a:p>
            <a:pPr>
              <a:spcAft>
                <a:spcPts val="200"/>
              </a:spcAft>
            </a:pPr>
            <a:r>
              <a:rPr sz="1400" b="0" i="0">
                <a:solidFill>
                  <a:srgbClr val="E4E1F1"/>
                </a:solidFill>
                <a:latin typeface="Consolas"/>
              </a:rPr>
              <a:t>median = (ranked[14] + ranked[15]) / 2     # the 15th and 16th in size order</a:t>
            </a:r>
          </a:p>
        </p:txBody>
      </p:sp>
      <p:sp>
        <p:nvSpPr>
          <p:cNvPr id="14" name="TextBox 13"/>
          <p:cNvSpPr txBox="1"/>
          <p:nvPr/>
        </p:nvSpPr>
        <p:spPr>
          <a:xfrm>
            <a:off x="530352" y="30835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an even count there are two middle orders and the median is halfway between them; Python counts from 0, so the 15th order is ranked[14].</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the median of Kalpa's 30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mean is Rs 18,160, so where do you expect the middle order to sit?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Rs 2,200.</a:t>
            </a:r>
          </a:p>
          <a:p>
            <a:pPr>
              <a:spcAft>
                <a:spcPts val="800"/>
              </a:spcAft>
            </a:pPr>
            <a:r>
              <a:rPr sz="1600" b="0" i="0">
                <a:solidFill>
                  <a:srgbClr val="1A1440"/>
                </a:solidFill>
                <a:latin typeface="Calibri"/>
              </a:rPr>
              <a:t>b) Rs 18,160, the same as the mean.</a:t>
            </a:r>
          </a:p>
          <a:p>
            <a:pPr>
              <a:spcAft>
                <a:spcPts val="800"/>
              </a:spcAft>
            </a:pPr>
            <a:r>
              <a:rPr sz="1600" b="0" i="0">
                <a:solidFill>
                  <a:srgbClr val="1A1440"/>
                </a:solidFill>
                <a:latin typeface="Calibri"/>
              </a:rPr>
              <a:t>c) Rs 9,080, half the mean.</a:t>
            </a:r>
          </a:p>
          <a:p>
            <a:pPr>
              <a:spcAft>
                <a:spcPts val="800"/>
              </a:spcAft>
            </a:pPr>
            <a:r>
              <a:rPr sz="1600" b="0" i="0">
                <a:solidFill>
                  <a:srgbClr val="1A1440"/>
                </a:solidFill>
                <a:latin typeface="Calibri"/>
              </a:rPr>
              <a:t>d) Rs 2,300, the 16th order in size order.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the median order is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median order, and how far is it from the mean?</a:t>
            </a:r>
          </a:p>
        </p:txBody>
      </p:sp>
      <p:pic>
        <p:nvPicPr>
          <p:cNvPr id="9" name="mermaid diagram" descr="ec86f9ad2cd6bf4f.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15th and 16th orders in size order are Rs 2,110 and Rs 2,300, so the median is Rs 2,205, about one eighth of the Rs 18,160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mean is 8.2 times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median check out, and how far apart are the two middles?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halfway between Rs 2,110 and Rs 2,300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chapter 2's AOV</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OVER MEDIAN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two middles far apart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When the mean is several times the median, sort the file before quoting either.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Where does a trimmed mean of the 30 land?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the smallest and the largest order and average the other 28: where do you expect it?</a:t>
            </a:r>
          </a:p>
        </p:txBody>
      </p:sp>
      <p:sp>
        <p:nvSpPr>
          <p:cNvPr id="10" name="TextBox 9"/>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Near the mean of Rs 18,160.</a:t>
            </a:r>
          </a:p>
          <a:p>
            <a:pPr>
              <a:spcAft>
                <a:spcPts val="800"/>
              </a:spcAft>
            </a:pPr>
            <a:r>
              <a:rPr sz="1600" b="0" i="0">
                <a:solidFill>
                  <a:srgbClr val="1A1440"/>
                </a:solidFill>
                <a:latin typeface="Calibri"/>
              </a:rPr>
              <a:t>b) Halfway between the mean and the median.</a:t>
            </a:r>
          </a:p>
          <a:p>
            <a:pPr>
              <a:spcAft>
                <a:spcPts val="800"/>
              </a:spcAft>
            </a:pPr>
            <a:r>
              <a:rPr sz="1600" b="0" i="0">
                <a:solidFill>
                  <a:srgbClr val="1A1440"/>
                </a:solidFill>
                <a:latin typeface="Calibri"/>
              </a:rPr>
              <a:t>c) Within about Rs 100 of the median.</a:t>
            </a:r>
          </a:p>
          <a:p>
            <a:pPr>
              <a:spcAft>
                <a:spcPts val="800"/>
              </a:spcAft>
            </a:pPr>
            <a:r>
              <a:rPr sz="1600" b="0" i="0">
                <a:solidFill>
                  <a:srgbClr val="1A1440"/>
                </a:solidFill>
                <a:latin typeface="Calibri"/>
              </a:rPr>
              <a:t>d) Below every order in the file.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D65  ·  71 / 77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c, the trimmed mean is Rs 2,300</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trimming one order from each end give on this file?</a:t>
            </a:r>
          </a:p>
        </p:txBody>
      </p:sp>
      <p:pic>
        <p:nvPicPr>
          <p:cNvPr id="10" name="mermaid diagram" descr="664338b7c368dc50.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Trimming one order from each end lands at Rs 2,300, beside the median of Rs 2,205. A trim needs a rule for how many orders to drop and the median needs none, so the median stays the call.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6" name="Oval 1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0" name="Oval 19"/>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D66  ·  72 /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a typical order is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the mean is sold as the typical order?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Marketing's slide reads: "A typical Kalpa order is Rs 18,160, and so is each new customer's first order."</a:t>
            </a:r>
          </a:p>
        </p:txBody>
      </p:sp>
      <p:pic>
        <p:nvPicPr>
          <p:cNvPr id="12" name="mermaid diagram" descr="0a1e82be29be9b84.png"/>
          <p:cNvPicPr>
            <a:picLocks noChangeAspect="1"/>
          </p:cNvPicPr>
          <p:nvPr/>
        </p:nvPicPr>
        <p:blipFill>
          <a:blip r:embed="rId5"/>
          <a:stretch>
            <a:fillRect/>
          </a:stretch>
        </p:blipFill>
        <p:spPr>
          <a:xfrm>
            <a:off x="2352522" y="2929128"/>
            <a:ext cx="7486650" cy="112871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1 of the 30 orders sits above the mean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whether Kalpa's orders look like the mean?</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typical order is one most orders look like, and only 1 of the 30 orders is larger than Rs 18,160, so a payback priced on the mean values each new customer's order about eight times too high.</a:t>
            </a:r>
          </a:p>
        </p:txBody>
      </p:sp>
      <p:sp>
        <p:nvSpPr>
          <p:cNvPr id="12" name="Rounded Rectangle 11"/>
          <p:cNvSpPr/>
          <p:nvPr/>
        </p:nvSpPr>
        <p:spPr>
          <a:xfrm>
            <a:off x="530352" y="2929128"/>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above = sum(1 for a in amounts if a &gt; mean)     # 1</a:t>
            </a:r>
          </a:p>
        </p:txBody>
      </p:sp>
      <p:pic>
        <p:nvPicPr>
          <p:cNvPr id="17" name="mermaid diagram" descr="4b899eb9ab55c4e3.png"/>
          <p:cNvPicPr>
            <a:picLocks noChangeAspect="1"/>
          </p:cNvPicPr>
          <p:nvPr/>
        </p:nvPicPr>
        <p:blipFill>
          <a:blip r:embed="rId5"/>
          <a:stretch>
            <a:fillRect/>
          </a:stretch>
        </p:blipFill>
        <p:spPr>
          <a:xfrm>
            <a:off x="4017016" y="3803396"/>
            <a:ext cx="4157662" cy="1800225"/>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Send the median as typical and the mean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numbers Meera sees?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TYPICAL ORDER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median, booked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for totals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OVERSTATED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first order priced at the mean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Report the median for the typical order and the mean for the total, and say how far apart the two are.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library's median agrees on both definitions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statistics.median agree with the hand-written middle?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statistics.median(amounts)     # 2205.0, the same as the sorted middle</a:t>
            </a:r>
          </a:p>
        </p:txBody>
      </p:sp>
      <p:graphicFrame>
        <p:nvGraphicFramePr>
          <p:cNvPr id="14" name="Table 13"/>
          <p:cNvGraphicFramePr>
            <a:graphicFrameLocks noGrp="1"/>
          </p:cNvGraphicFramePr>
          <p:nvPr/>
        </p:nvGraphicFramePr>
        <p:xfrm>
          <a:off x="530352" y="2831084"/>
          <a:ext cx="11130990" cy="1005840"/>
        </p:xfrm>
        <a:graphic>
          <a:graphicData uri="http://schemas.openxmlformats.org/drawingml/2006/table">
            <a:tbl>
              <a:tblPr firstRow="0" bandRow="0">
                <a:tableStyleId>{2D5ABB26-0587-4C30-8999-92F81FD0307C}</a:tableStyleId>
              </a:tblPr>
              <a:tblGrid>
                <a:gridCol w="2934501"/>
                <a:gridCol w="914400"/>
                <a:gridCol w="3224556"/>
                <a:gridCol w="405753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Sorted middle</a:t>
                      </a:r>
                    </a:p>
                  </a:txBody>
                  <a:tcPr marL="101600" marR="101600" marT="38100" marB="38100" anchor="ctr">
                    <a:solidFill>
                      <a:srgbClr val="1A0F5C"/>
                    </a:solidFill>
                  </a:tcPr>
                </a:tc>
                <a:tc>
                  <a:txBody>
                    <a:bodyPr/>
                    <a:lstStyle/>
                    <a:p>
                      <a:r>
                        <a:rPr sz="1250" b="1" i="0">
                          <a:solidFill>
                            <a:srgbClr val="FFFFFF"/>
                          </a:solidFill>
                          <a:latin typeface="Calibri"/>
                        </a:rPr>
                        <a:t>statistics.median</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r>
              <a:tr h="335280">
                <a:tc>
                  <a:txBody>
                    <a:bodyPr/>
                    <a:lstStyle/>
                    <a:p>
                      <a:r>
                        <a:rPr sz="1200" b="0" i="0">
                          <a:solidFill>
                            <a:srgbClr val="1A1440"/>
                          </a:solidFill>
                          <a:latin typeface="Calibri"/>
                        </a:rPr>
                        <a:t>Not cancelled</a:t>
                      </a:r>
                    </a:p>
                  </a:txBody>
                  <a:tcPr marL="101600" marR="101600" marT="38100" marB="38100" anchor="ctr">
                    <a:solidFill>
                      <a:srgbClr val="F4F2FA"/>
                    </a:solidFill>
                  </a:tcPr>
                </a:tc>
                <a:tc>
                  <a:txBody>
                    <a:bodyPr/>
                    <a:lstStyle/>
                    <a:p>
                      <a:r>
                        <a:rPr sz="1200" b="0" i="0">
                          <a:solidFill>
                            <a:srgbClr val="1A1440"/>
                          </a:solidFill>
                          <a:latin typeface="Calibri"/>
                        </a:rPr>
                        <a:t>26</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r>
            </a:tbl>
          </a:graphicData>
        </a:graphic>
      </p:graphicFrame>
      <p:sp>
        <p:nvSpPr>
          <p:cNvPr id="15" name="Rounded Rectangle 14"/>
          <p:cNvSpPr/>
          <p:nvPr/>
        </p:nvSpPr>
        <p:spPr>
          <a:xfrm>
            <a:off x="530352" y="40929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4251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4"/>
          <a:stretch>
            <a:fillRect/>
          </a:stretch>
        </p:blipFill>
        <p:spPr>
          <a:xfrm>
            <a:off x="868680" y="4534916"/>
            <a:ext cx="237744" cy="237744"/>
          </a:xfrm>
          <a:prstGeom prst="rect">
            <a:avLst/>
          </a:prstGeom>
        </p:spPr>
      </p:pic>
      <p:sp>
        <p:nvSpPr>
          <p:cNvPr id="18" name="TextBox 17"/>
          <p:cNvSpPr txBox="1"/>
          <p:nvPr/>
        </p:nvSpPr>
        <p:spPr>
          <a:xfrm>
            <a:off x="1399031" y="42392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4458716"/>
            <a:ext cx="9987991" cy="682752"/>
          </a:xfrm>
          <a:prstGeom prst="rect">
            <a:avLst/>
          </a:prstGeom>
          <a:noFill/>
        </p:spPr>
        <p:txBody>
          <a:bodyPr wrap="square" anchor="t" lIns="0" rIns="0" tIns="0" bIns="0">
            <a:spAutoFit/>
          </a:bodyPr>
          <a:lstStyle/>
          <a:p>
            <a:r>
              <a:rPr sz="1500" b="0" i="0">
                <a:solidFill>
                  <a:srgbClr val="1A1440"/>
                </a:solidFill>
                <a:latin typeface="Calibri"/>
              </a:rPr>
              <a:t>Write the middle once by hand so the even-count rule is yours, then use the library, and in Week 2 PERCENTILE_CONT(0.5) in SQL and median in pandas.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typical Kalpa order is Rs 2,205,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typical Kalpa order look like, stated so that one large order cannot move it?</a:t>
            </a:r>
          </a:p>
        </p:txBody>
      </p:sp>
      <p:sp>
        <p:nvSpPr>
          <p:cNvPr id="9" name="TextBox 8"/>
          <p:cNvSpPr txBox="1"/>
          <p:nvPr/>
        </p:nvSpPr>
        <p:spPr>
          <a:xfrm>
            <a:off x="530352" y="1825752"/>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862328"/>
            <a:ext cx="10564063" cy="299720"/>
          </a:xfrm>
          <a:prstGeom prst="rect">
            <a:avLst/>
          </a:prstGeom>
          <a:noFill/>
        </p:spPr>
        <p:txBody>
          <a:bodyPr wrap="square" anchor="t" lIns="0" rIns="0" tIns="0" bIns="0">
            <a:spAutoFit/>
          </a:bodyPr>
          <a:lstStyle/>
          <a:p>
            <a:r>
              <a:rPr sz="1100" b="1" i="0">
                <a:solidFill>
                  <a:srgbClr val="1A1440"/>
                </a:solidFill>
                <a:latin typeface="Calibri"/>
              </a:rPr>
              <a:t>What does a typical order price?</a:t>
            </a:r>
            <a:r>
              <a:rPr sz="1100" b="0" i="0">
                <a:solidFill>
                  <a:srgbClr val="1A1440"/>
                </a:solidFill>
                <a:latin typeface="Calibri"/>
              </a:rPr>
              <a:t> It prices each new customer's first order in marketing's payback.</a:t>
            </a:r>
          </a:p>
        </p:txBody>
      </p:sp>
      <p:sp>
        <p:nvSpPr>
          <p:cNvPr id="11" name="TextBox 10"/>
          <p:cNvSpPr txBox="1"/>
          <p:nvPr/>
        </p:nvSpPr>
        <p:spPr>
          <a:xfrm>
            <a:off x="530352" y="2198624"/>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235200"/>
            <a:ext cx="10564063" cy="299720"/>
          </a:xfrm>
          <a:prstGeom prst="rect">
            <a:avLst/>
          </a:prstGeom>
          <a:noFill/>
        </p:spPr>
        <p:txBody>
          <a:bodyPr wrap="square" anchor="t" lIns="0" rIns="0" tIns="0" bIns="0">
            <a:spAutoFit/>
          </a:bodyPr>
          <a:lstStyle/>
          <a:p>
            <a:r>
              <a:rPr sz="1100" b="1" i="0">
                <a:solidFill>
                  <a:srgbClr val="1A1440"/>
                </a:solidFill>
                <a:latin typeface="Calibri"/>
              </a:rPr>
              <a:t>Which middle value survives one large order?</a:t>
            </a:r>
            <a:r>
              <a:rPr sz="1100" b="0" i="0">
                <a:solidFill>
                  <a:srgbClr val="1A1440"/>
                </a:solidFill>
                <a:latin typeface="Calibri"/>
              </a:rPr>
              <a:t> The median does, since it moves one place when a large order joins.</a:t>
            </a:r>
          </a:p>
        </p:txBody>
      </p:sp>
      <p:sp>
        <p:nvSpPr>
          <p:cNvPr id="13" name="TextBox 12"/>
          <p:cNvSpPr txBox="1"/>
          <p:nvPr/>
        </p:nvSpPr>
        <p:spPr>
          <a:xfrm>
            <a:off x="530352" y="2571496"/>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608072"/>
            <a:ext cx="10564063" cy="299720"/>
          </a:xfrm>
          <a:prstGeom prst="rect">
            <a:avLst/>
          </a:prstGeom>
          <a:noFill/>
        </p:spPr>
        <p:txBody>
          <a:bodyPr wrap="square" anchor="t" lIns="0" rIns="0" tIns="0" bIns="0">
            <a:spAutoFit/>
          </a:bodyPr>
          <a:lstStyle/>
          <a:p>
            <a:r>
              <a:rPr sz="1100" b="1" i="0">
                <a:solidFill>
                  <a:srgbClr val="1A1440"/>
                </a:solidFill>
                <a:latin typeface="Calibri"/>
              </a:rPr>
              <a:t>What is the median order?</a:t>
            </a:r>
            <a:r>
              <a:rPr sz="1100" b="0" i="0">
                <a:solidFill>
                  <a:srgbClr val="1A1440"/>
                </a:solidFill>
                <a:latin typeface="Calibri"/>
              </a:rPr>
              <a:t> It is Rs 2,205, halfway between Rs 2,110 and Rs 2,300.</a:t>
            </a:r>
          </a:p>
        </p:txBody>
      </p:sp>
      <p:sp>
        <p:nvSpPr>
          <p:cNvPr id="15" name="TextBox 14"/>
          <p:cNvSpPr txBox="1"/>
          <p:nvPr/>
        </p:nvSpPr>
        <p:spPr>
          <a:xfrm>
            <a:off x="530352" y="2944368"/>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980944"/>
            <a:ext cx="10564063" cy="299720"/>
          </a:xfrm>
          <a:prstGeom prst="rect">
            <a:avLst/>
          </a:prstGeom>
          <a:noFill/>
        </p:spPr>
        <p:txBody>
          <a:bodyPr wrap="square" anchor="t" lIns="0" rIns="0" tIns="0" bIns="0">
            <a:spAutoFit/>
          </a:bodyPr>
          <a:lstStyle/>
          <a:p>
            <a:r>
              <a:rPr sz="1100" b="1" i="0">
                <a:solidFill>
                  <a:srgbClr val="1A1440"/>
                </a:solidFill>
                <a:latin typeface="Calibri"/>
              </a:rPr>
              <a:t>What goes wrong when the mean is sold as typical?</a:t>
            </a:r>
            <a:r>
              <a:rPr sz="1100" b="0" i="0">
                <a:solidFill>
                  <a:srgbClr val="1A1440"/>
                </a:solidFill>
                <a:latin typeface="Calibri"/>
              </a:rPr>
              <a:t> Only 1 of the 30 orders sits above the Rs 18,160 mean.</a:t>
            </a:r>
          </a:p>
        </p:txBody>
      </p:sp>
      <p:sp>
        <p:nvSpPr>
          <p:cNvPr id="17" name="TextBox 16"/>
          <p:cNvSpPr txBox="1"/>
          <p:nvPr/>
        </p:nvSpPr>
        <p:spPr>
          <a:xfrm>
            <a:off x="530352" y="3317240"/>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353816"/>
            <a:ext cx="10564063" cy="299720"/>
          </a:xfrm>
          <a:prstGeom prst="rect">
            <a:avLst/>
          </a:prstGeom>
          <a:noFill/>
        </p:spPr>
        <p:txBody>
          <a:bodyPr wrap="square" anchor="t" lIns="0" rIns="0" tIns="0" bIns="0">
            <a:spAutoFit/>
          </a:bodyPr>
          <a:lstStyle/>
          <a:p>
            <a:r>
              <a:rPr sz="1100" b="1" i="0">
                <a:solidFill>
                  <a:srgbClr val="1A1440"/>
                </a:solidFill>
                <a:latin typeface="Calibri"/>
              </a:rPr>
              <a:t>Does Python's own median function give the same middle?</a:t>
            </a:r>
            <a:r>
              <a:rPr sz="1100" b="0" i="0">
                <a:solidFill>
                  <a:srgbClr val="1A1440"/>
                </a:solidFill>
                <a:latin typeface="Calibri"/>
              </a:rPr>
              <a:t> It gives Rs 2,205, and Rs 2,100 on the not-cancelled orders.</a:t>
            </a:r>
          </a:p>
        </p:txBody>
      </p:sp>
      <p:sp>
        <p:nvSpPr>
          <p:cNvPr id="19" name="TextBox 18"/>
          <p:cNvSpPr txBox="1"/>
          <p:nvPr/>
        </p:nvSpPr>
        <p:spPr>
          <a:xfrm>
            <a:off x="530352" y="3690112"/>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726688"/>
            <a:ext cx="10564063" cy="299720"/>
          </a:xfrm>
          <a:prstGeom prst="rect">
            <a:avLst/>
          </a:prstGeom>
          <a:noFill/>
        </p:spPr>
        <p:txBody>
          <a:bodyPr wrap="square" anchor="t" lIns="0" rIns="0" tIns="0" bIns="0">
            <a:spAutoFit/>
          </a:bodyPr>
          <a:lstStyle/>
          <a:p>
            <a:r>
              <a:rPr sz="1100" b="1" i="0">
                <a:solidFill>
                  <a:srgbClr val="1A1440"/>
                </a:solidFill>
                <a:latin typeface="Calibri"/>
              </a:rPr>
              <a:t>What goes into the payback case?</a:t>
            </a:r>
            <a:r>
              <a:rPr sz="1100" b="0" i="0">
                <a:solidFill>
                  <a:srgbClr val="1A1440"/>
                </a:solidFill>
                <a:latin typeface="Calibri"/>
              </a:rPr>
              <a:t> A mean from the customers the spend targets goes in, with the median quoted as the typical order.</a:t>
            </a:r>
          </a:p>
        </p:txBody>
      </p:sp>
      <p:sp>
        <p:nvSpPr>
          <p:cNvPr id="21" name="Rounded Rectangle 20"/>
          <p:cNvSpPr/>
          <p:nvPr/>
        </p:nvSpPr>
        <p:spPr>
          <a:xfrm>
            <a:off x="530352" y="4209288"/>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3921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501896"/>
            <a:ext cx="237744" cy="237744"/>
          </a:xfrm>
          <a:prstGeom prst="rect">
            <a:avLst/>
          </a:prstGeom>
        </p:spPr>
      </p:pic>
      <p:sp>
        <p:nvSpPr>
          <p:cNvPr id="24" name="TextBox 23"/>
          <p:cNvSpPr txBox="1"/>
          <p:nvPr/>
        </p:nvSpPr>
        <p:spPr>
          <a:xfrm>
            <a:off x="1399031" y="43555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575048"/>
            <a:ext cx="9987991" cy="384048"/>
          </a:xfrm>
          <a:prstGeom prst="rect">
            <a:avLst/>
          </a:prstGeom>
          <a:noFill/>
        </p:spPr>
        <p:txBody>
          <a:bodyPr wrap="square" anchor="t" lIns="0" rIns="0" tIns="0" bIns="0">
            <a:spAutoFit/>
          </a:bodyPr>
          <a:lstStyle/>
          <a:p>
            <a:r>
              <a:rPr sz="1100" b="0" i="0">
                <a:solidFill>
                  <a:srgbClr val="1A1440"/>
                </a:solidFill>
                <a:latin typeface="Calibri"/>
              </a:rPr>
              <a:t>"Anand said no averages, and now you know why. Put the median in the sentence and say the mean is about eight times higher."</a:t>
            </a:r>
          </a:p>
        </p:txBody>
      </p:sp>
      <p:sp>
        <p:nvSpPr>
          <p:cNvPr id="26" name="Rounded Rectangle 25"/>
          <p:cNvSpPr/>
          <p:nvPr/>
        </p:nvSpPr>
        <p:spPr>
          <a:xfrm>
            <a:off x="530352" y="519684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797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89448"/>
            <a:ext cx="237744" cy="237744"/>
          </a:xfrm>
          <a:prstGeom prst="rect">
            <a:avLst/>
          </a:prstGeom>
        </p:spPr>
      </p:pic>
      <p:sp>
        <p:nvSpPr>
          <p:cNvPr id="29" name="TextBox 28"/>
          <p:cNvSpPr txBox="1"/>
          <p:nvPr/>
        </p:nvSpPr>
        <p:spPr>
          <a:xfrm>
            <a:off x="1399031" y="53431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62600"/>
            <a:ext cx="9987991" cy="384048"/>
          </a:xfrm>
          <a:prstGeom prst="rect">
            <a:avLst/>
          </a:prstGeom>
          <a:noFill/>
        </p:spPr>
        <p:txBody>
          <a:bodyPr wrap="square" anchor="t" lIns="0" rIns="0" tIns="0" bIns="0">
            <a:spAutoFit/>
          </a:bodyPr>
          <a:lstStyle/>
          <a:p>
            <a:r>
              <a:rPr sz="1100" b="0" i="0">
                <a:solidFill>
                  <a:srgbClr val="1A1440"/>
                </a:solidFill>
                <a:latin typeface="Calibri"/>
              </a:rPr>
              <a:t>[S] Mean or median for order value, and why?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5" name="Oval 3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7" name="Oval 3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9" name="Oval 3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