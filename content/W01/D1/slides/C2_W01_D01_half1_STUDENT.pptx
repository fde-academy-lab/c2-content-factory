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Meera's words aloud and leave them on screen while the room settles.</a:t>
            </a:r>
          </a:p>
          <a:p>
            <a:r>
              <a:t>Say the week's arc once: today, what sales is made of; Tuesday, which branch moved; Wednesday,</a:t>
            </a:r>
          </a:p>
          <a:p>
            <a:r>
              <a:t>whether the numbers can be trusted; Thursday, whether the gap is real and what goes to Meera;</a:t>
            </a:r>
          </a:p>
          <a:p>
            <a:r>
              <a:t>Friday, the week rebuilt without an assistant. Do not repeat it later.</a:t>
            </a:r>
          </a:p>
          <a:p>
            <a:r>
              <a:t>Transition: the next 19 minutes are the ask and the thinking, with no tool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This chapter runs 20 minutes including the cover. No laptop opens in it. The tree drawn</a:t>
            </a:r>
          </a:p>
          <a:p>
            <a:r>
              <a:t>here stays on the whiteboard all day, and every number the rounds produce is written onto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Kalpa is fictional and the whole programme is set inside it; say that once.</a:t>
            </a:r>
          </a:p>
          <a:p>
            <a:r>
              <a:t>The frame matters: the learners are the newest engineers in a Global Capability Centre, and a</a:t>
            </a:r>
          </a:p>
          <a:p>
            <a:r>
              <a:t>CEO's question has landed on their board.</a:t>
            </a:r>
          </a:p>
          <a:p>
            <a:r>
              <a:t>Ask: which of the four numbers worries Meera most? Most say the 4 percent. The sharper answer is</a:t>
            </a:r>
          </a:p>
          <a:p>
            <a:r>
              <a:t>the Rs 12 crore, because it is about to be spent on an assumption nobody has checked.</a:t>
            </a:r>
          </a:p>
          <a:p>
            <a:r>
              <a:t>Transition: here is what Meera actually wrote.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Meera's message, then Anand's line. The table is the separation of one</a:t>
            </a:r>
          </a:p>
          <a:p>
            <a:r>
              <a:t>message into four questions, each with a day and a block. Anand's warning is a prediction about</a:t>
            </a:r>
          </a:p>
          <a:p>
            <a:r>
              <a:t>the data; do not explain it now, because round 3 tests it on the file.</a:t>
            </a:r>
          </a:p>
          <a:p>
            <a:r>
              <a:t>Watch for: learners who try to answer all four at once. Two belong to the morning.</a:t>
            </a:r>
          </a:p>
          <a:p>
            <a:r>
              <a:t>Transition: to answer "what is sales made of", draw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Draw this on the whiteboard with the room, one branch at a time, left to right.</a:t>
            </a:r>
          </a:p>
          <a:p>
            <a:r>
              <a:t>Check the multiplication with units: customers times orders per customer gives orders; orders</a:t>
            </a:r>
          </a:p>
          <a:p>
            <a:r>
              <a:t>times revenue per order gives rupees. The denominators cancel, which is why the three branches</a:t>
            </a:r>
          </a:p>
          <a:p>
            <a:r>
              <a:t>multiply back to revenue exactly.</a:t>
            </a:r>
          </a:p>
          <a:p>
            <a:r>
              <a:t>Ask: what is the denominator of orders per customer? Customers, counted as distinct people. Hold</a:t>
            </a:r>
          </a:p>
          <a:p>
            <a:r>
              <a:t>on to that; round 2 turns on it.</a:t>
            </a:r>
          </a:p>
          <a:p>
            <a:r>
              <a:t>This is the profitability framework that case interviews test, drawn on day one.</a:t>
            </a:r>
          </a:p>
          <a:p>
            <a:r>
              <a:t>Transition: every branch moves revenue, and each one sends a different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five bills. The branches are not interchangeable even though their</a:t>
            </a:r>
          </a:p>
          <a:p>
            <a:r>
              <a:t>arithmetic effect is the same size.</a:t>
            </a:r>
          </a:p>
          <a:p>
            <a:r>
              <a:t>Ask: which of these bills does marketing's Rs 12 crore pay? The first one.</a:t>
            </a:r>
          </a:p>
          <a:p>
            <a:r>
              <a:t>Transition: put the budget on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the day's tension. Marketing is not wrong to want customers; it may be</a:t>
            </a:r>
          </a:p>
          <a:p>
            <a:r>
              <a:t>paying for the branch that is fine. The two dashed boxes are what the morning measures.</a:t>
            </a:r>
          </a:p>
          <a:p>
            <a:r>
              <a:t>The interview question comes back in the afternoon drill; for now, ask the room what they would</a:t>
            </a:r>
          </a:p>
          <a:p>
            <a:r>
              <a:t>want to see first. Listen for "how often customers come back" and write it on the board.</a:t>
            </a:r>
          </a:p>
          <a:p>
            <a:r>
              <a:t>Transition: the morning climbs to that answer in five rungs.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each rung once. Each round ends with a number written on the tree, and</a:t>
            </a:r>
          </a:p>
          <a:p>
            <a:r>
              <a:t>each round has a wrong number that looks right. Tell the room that the wrong numbers are the</a:t>
            </a:r>
          </a:p>
          <a:p>
            <a:r>
              <a:t>point: an analyst is paid to catch them before a CEO acts on them.</a:t>
            </a:r>
          </a:p>
          <a:p>
            <a:r>
              <a:t>Transition: round 1, what "sales"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1 runs 50 minutes: the question and its picture (5), the demonstration (15), the</a:t>
            </a:r>
          </a:p>
          <a:p>
            <a:r>
              <a:t>trap (10), the harder variant (15) and Kavya's review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slide. Collect</a:t>
            </a:r>
          </a:p>
          <a:p>
            <a:r>
              <a:t>answers on the board. Most rooms name booked revenue first; somebody usually says "what we</a:t>
            </a:r>
          </a:p>
          <a:p>
            <a:r>
              <a:t>actually delivered". Both are right answers to different questions.</a:t>
            </a:r>
          </a:p>
          <a:p>
            <a:r>
              <a:t>Transition: here is how the readings relate.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chain on the board under the tree. The dashed box is as useful as the</a:t>
            </a:r>
          </a:p>
          <a:p>
            <a:r>
              <a:t>others: an engineer who can say what the data cannot answer is worth more than one who guesses.</a:t>
            </a:r>
          </a:p>
          <a:p>
            <a:r>
              <a:t>Transition: open the Codespace and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first two minutes open the Codespace from Week 0 and run the setup cell of</a:t>
            </a:r>
          </a:p>
          <a:p>
            <a:r>
              <a:t>the round 1 notebook; the support TA circulates. A kernel run out of order is met when it</a:t>
            </a:r>
          </a:p>
          <a:p>
            <a:r>
              <a:t>happens: restart and Run All, two minutes, and move on.</a:t>
            </a:r>
          </a:p>
          <a:p>
            <a:r>
              <a:t>Then show ORDERS[0] on the projector. Ask which key answers "who bought". Some learners say</a:t>
            </a:r>
          </a:p>
          <a:p>
            <a:r>
              <a:t>order_id; it counts orders, and customer_id counts people.</a:t>
            </a:r>
          </a:p>
          <a:p>
            <a:r>
              <a:t>Transition: loop over all 30 and count by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Type it live. Name the three moves of an accumulator: start before the loop,</a:t>
            </a:r>
          </a:p>
          <a:p>
            <a:r>
              <a:t>update inside it, read after it. Check aloud that 21 plus 5 plus 4 is 30.</a:t>
            </a:r>
          </a:p>
          <a:p>
            <a:r>
              <a:t>Watch for: a counter started inside the loop, which resets every order.</a:t>
            </a:r>
          </a:p>
          <a:p>
            <a:r>
              <a:t>Transition: the same loop with a running rupee total gives the four readings.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Run the trainer's cell for the three totals; it converts each amount to a</a:t>
            </a:r>
          </a:p>
          <a:p>
            <a:r>
              <a:t>number as it adds, and round 2 shows why that conversion is there. Read the three totals aloud</a:t>
            </a:r>
          </a:p>
          <a:p>
            <a:r>
              <a:t>with their order counts, which is the fourth reading.</a:t>
            </a:r>
          </a:p>
          <a:p>
            <a:r>
              <a:t>Ask: which of these would you put in front of Meera? Take two answers and leave them open.</a:t>
            </a:r>
          </a:p>
          <a:p>
            <a:r>
              <a:t>Transition: here is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a hurried analyst would, confidently. Ask the room what is wrong</a:t>
            </a:r>
          </a:p>
          <a:p>
            <a:r>
              <a:t>with it before the next slide. Someone usually says "it includes cancelled orders". Ask what</a:t>
            </a:r>
          </a:p>
          <a:p>
            <a:r>
              <a:t>decision it would mislead: the store channel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check is the count by status before any sum: 21 delivered, 5 returned, 4</a:t>
            </a:r>
          </a:p>
          <a:p>
            <a:r>
              <a:t>cancelled, and then the same count per channel. Point at the store row. Point at the web row too</a:t>
            </a:r>
          </a:p>
          <a:p>
            <a:r>
              <a:t>and say nothing yet; the second case this afternoon comes back to it.</a:t>
            </a:r>
          </a:p>
          <a:p>
            <a:r>
              <a:t>Transition: the fix is one sentence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rule aloud; it is crux line 1 and comes back on the cheat sheet word for</a:t>
            </a:r>
          </a:p>
          <a:p>
            <a:r>
              <a:t>word. For the growth plan, the honest baseline is not cancelled or delivered, stated as such.</a:t>
            </a:r>
          </a:p>
          <a:p>
            <a:r>
              <a:t>Transition: the harder variant, run by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Pairs work on paper against the tree on the board; the round 1 notebook's last</a:t>
            </a:r>
          </a:p>
          <a:p>
            <a:r>
              <a:t>level has the same task for those who finish early. Walk the room.</a:t>
            </a:r>
          </a:p>
          <a:p>
            <a:r>
              <a:t>Listen for the app redesign: pairs who place it without asking what it changes are the pairs to</a:t>
            </a:r>
          </a:p>
          <a:p>
            <a:r>
              <a:t>visit. Collect two placements for it on the board before the answer.</a:t>
            </a:r>
          </a:p>
          <a:p>
            <a:r>
              <a:t>For the discount, most pairs pick a or b. Do not correct yet.</a:t>
            </a:r>
          </a:p>
          <a:p>
            <a:r>
              <a:t>Transition: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redesign is the teaching row: an initiative is placed by the behaviour it</a:t>
            </a:r>
          </a:p>
          <a:p>
            <a:r>
              <a:t>changes. A shorter checkout lifts conversion, so customers; a reorder button lifts frequency.</a:t>
            </a:r>
          </a:p>
          <a:p>
            <a:r>
              <a:t>Work the discount on the board: price times 0.85, quantity times 1.10, revenue times 0.935.</a:t>
            </a:r>
          </a:p>
          <a:p>
            <a:r>
              <a:t>Adding the percentages gives minus 5, which is option b and is wrong for the same reason two 10</a:t>
            </a:r>
          </a:p>
          <a:p>
            <a:r>
              <a:t>percent lifts are not 20 percent; that returns this afternoon.</a:t>
            </a:r>
          </a:p>
          <a:p>
            <a:r>
              <a:t>Transition: Kavya's review of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is what a senior checks</a:t>
            </a:r>
          </a:p>
          <a:p>
            <a:r>
              <a:t>before work leaves the team, and she closes every round. Write the two totals on the root of the</a:t>
            </a:r>
          </a:p>
          <a:p>
            <a:r>
              <a:t>board tree.</a:t>
            </a:r>
          </a:p>
          <a:p>
            <a:r>
              <a:t>Transition: one interview question from this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one learner to answer aloud in under a minute. Listen for three moves: name</a:t>
            </a:r>
          </a:p>
          <a:p>
            <a:r>
              <a:t>the readings, say what each answers, and choose one for the decision at hand while stating the</a:t>
            </a:r>
          </a:p>
          <a:p>
            <a:r>
              <a:t>others. The full answer is in the study notes and the day sheet.</a:t>
            </a:r>
          </a:p>
          <a:p>
            <a:r>
              <a:t>The row's anchor [F], turning "grow revenue 15 percent" into questions data can answer, is</a:t>
            </a:r>
          </a:p>
          <a:p>
            <a:r>
              <a:t>drilled this afternoon.</a:t>
            </a:r>
          </a:p>
          <a:p>
            <a:r>
              <a:t>Transition: round 2, count the leaves.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2 runs 50 minutes: the question and its picture (5), the demonstration with the</a:t>
            </a:r>
          </a:p>
          <a:p>
            <a:r>
              <a:t>TypeError met in two minutes (15), the trap (10), the harder variant (15) and Kavya's review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If it is exactly 1, acquisition really is the only branch. Keep that thought for the trap.</a:t>
            </a:r>
          </a:p>
          <a:p>
            <a:r>
              <a:t>Transition: what a row is, and what a customer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with letters, never with real ids. Ask the room to say</a:t>
            </a:r>
          </a:p>
          <a:p>
            <a:r>
              <a:t>what three rows over three customers would mean, and what three rows over two would mean.</a:t>
            </a:r>
          </a:p>
          <a:p>
            <a:r>
              <a:t>Transition: to the notebook, orders and revenue in one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Every learner types and runs this in the round 2 notebook. Ask for a prediction</a:t>
            </a:r>
          </a:p>
          <a:p>
            <a:r>
              <a:t>first: 30 and Rs 5,44,810. Let them run it. It stops part way.</a:t>
            </a:r>
          </a:p>
          <a:p>
            <a:r>
              <a:t>Transition: two minutes on what stopped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 more. Read the last line of the trace bottom up: the kind of error, the</a:t>
            </a:r>
          </a:p>
          <a:p>
            <a:r>
              <a:t>operation, the two types. Every learner runs print(order) on their own screen and finds the</a:t>
            </a:r>
          </a:p>
          <a:p>
            <a:r>
              <a:t>record themselves; do not read it out. Apply int() and rerun: 30 orders, Rs 5,44,810.</a:t>
            </a:r>
          </a:p>
          <a:p>
            <a:r>
              <a:t>Say once that int() is a patch for today and Wednesday asks the question of the whole file.</a:t>
            </a:r>
          </a:p>
          <a:p>
            <a:r>
              <a:t>Transition: revenue per order, from the two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Divide on the projector. Write Rs 18,160 on the board tree in pencil, with a</a:t>
            </a:r>
          </a:p>
          <a:p>
            <a:r>
              <a:t>question mark beside it; Anand's warning is about exactly this number.</a:t>
            </a:r>
          </a:p>
          <a:p>
            <a:r>
              <a:t>Transition: the last leaf,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Type it live and run it. Ask what len(ids) counts. The honest answer is "ids</a:t>
            </a:r>
          </a:p>
          <a:p>
            <a:r>
              <a:t>collected", and the tempting answer is "customers". Do not settle it; the next slide does it the</a:t>
            </a:r>
          </a:p>
          <a:p>
            <a:r>
              <a:t>hurried way.</a:t>
            </a:r>
          </a:p>
          <a:p>
            <a:r>
              <a:t>Transition: the number that would go to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confidently, then ask what decision it supports. The room sees that this</a:t>
            </a:r>
          </a:p>
          <a:p>
            <a:r>
              <a:t>one wrong count turns into a yes to Rs 12 crore. That is why it is a trap and why it is worth</a:t>
            </a:r>
          </a:p>
          <a:p>
            <a:r>
              <a:t>ten minutes.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check is len(rows) against len(set(ids)). A set drops repeats, which is</a:t>
            </a:r>
          </a:p>
          <a:p>
            <a:r>
              <a:t>the one thing a list will not do. Ask: does 7 repeated rows mean 7 repeat customers? Here, yes,</a:t>
            </a:r>
          </a:p>
          <a:p>
            <a:r>
              <a:t>because each of them bought exactly twice; the dictionary of counts on the next slides proves it.</a:t>
            </a:r>
          </a:p>
          <a:p>
            <a:r>
              <a:t>Transition: the fix and what it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the identity on the projector: 23 times 30 over 23 times 5,44,810 over 30</a:t>
            </a:r>
          </a:p>
          <a:p>
            <a:r>
              <a:t>is 5,44,810. The tree closes. The decision changed: nobody-comes-back is false, and frequency is</a:t>
            </a:r>
          </a:p>
          <a:p>
            <a:r>
              <a:t>a branch worth opening.</a:t>
            </a:r>
          </a:p>
          <a:p>
            <a:r>
              <a:t>Crux line 2: count customers by their id, never by the rows.</a:t>
            </a:r>
          </a:p>
          <a:p>
            <a:r>
              <a:t>Transition: the harder variant.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0 live minutes. For the confident half, and the round 2 notebook's level 3 runs it.</a:t>
            </a:r>
          </a:p>
          <a:p>
            <a:r>
              <a:t>The list comprehension on the fifth line is optional; a loop with an if does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The room runs it in the round 2 notebook's last level. Most predict a, because</a:t>
            </a:r>
          </a:p>
          <a:p>
            <a:r>
              <a:t>"the same customers" feels right. Watch for pairs who filter the orders and forget to rebuild</a:t>
            </a:r>
          </a:p>
          <a:p>
            <a:r>
              <a:t>the set from the filtered rows.</a:t>
            </a:r>
          </a:p>
          <a:p>
            <a:r>
              <a:t>Transition: the answers, for all three definitions.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Point out that customers fell less than orders: some customers only had a</a:t>
            </a:r>
          </a:p>
          <a:p>
            <a:r>
              <a:t>cancelled or returned order. The definition choice from round 1 reaches every leaf.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Update the board tree with 23 and 1.30. Circle Rs 18,160 in red.</a:t>
            </a:r>
          </a:p>
          <a:p>
            <a:r>
              <a:t>Transition: the interview question for this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one answer to the first question aloud. The row's anchor [SV], a list</a:t>
            </a:r>
          </a:p>
          <a:p>
            <a:r>
              <a:t>against a dictionary, belongs here too: a list keeps every row, a dictionary looks up by key, and</a:t>
            </a:r>
          </a:p>
          <a:p>
            <a:r>
              <a:t>a set keeps each key once. The full answers are in the study notes.</a:t>
            </a:r>
          </a:p>
          <a:p>
            <a:r>
              <a:t>Transition: the break, then round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The 10-minute break runs before this chapter; restart here with Anand's line on screen.</a:t>
            </a:r>
          </a:p>
          <a:p>
            <a:r>
              <a:t>Round 3 runs 50 minutes: the question and its picture (5), the demonstration (15), the trap and</a:t>
            </a:r>
          </a:p>
          <a:p>
            <a:r>
              <a:t>the reveal (10), the harder variant (15) and Kavya's review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again. Ask: is Rs 18,160 what a Kalpa customer spends on one</a:t>
            </a:r>
          </a:p>
          <a:p>
            <a:r>
              <a:t>order? Take a show of hands for yes, no and cannot tell. Most say yes or cannot tell.</a:t>
            </a:r>
          </a:p>
          <a:p>
            <a:r>
              <a:t>Transition: two ways to say "typical".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fork on the board. The decision question in the diamond is the whole</a:t>
            </a:r>
          </a:p>
          <a:p>
            <a:r>
              <a:t>round: the choice between mean and median is made by looking at the data, never by habit.</a:t>
            </a:r>
          </a:p>
          <a:p>
            <a:r>
              <a:t>Transition: the mean on Kalpa's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Run it in the round 3 notebook. Point out that the mean is round 2's revenue</a:t>
            </a:r>
          </a:p>
          <a:p>
            <a:r>
              <a:t>per order under another name; the same number, reached twice.</a:t>
            </a:r>
          </a:p>
          <a:p>
            <a:r>
              <a:t>Transition: how an average can be moved, on orders we invent.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Say clearly that these five orders are invented for the mechanism. Sort them on</a:t>
            </a:r>
          </a:p>
          <a:p>
            <a:r>
              <a:t>the board and point at the middle. Mean and median sit Rs 40 apart, so either would do here.</a:t>
            </a:r>
          </a:p>
          <a:p>
            <a:r>
              <a:t>Transition: add one large invented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Still invented. Mean of six: 1,01,300 over 6 is 16,883. Median of six: the</a:t>
            </a:r>
          </a:p>
          <a:p>
            <a:r>
              <a:t>average of 2,300 and 2,400 is 2,350. Ask: which of the two now describes what a customer</a:t>
            </a:r>
          </a:p>
          <a:p>
            <a:r>
              <a:t>usually spends? The median.</a:t>
            </a:r>
          </a:p>
          <a:p>
            <a:r>
              <a:t>Transition: back to Kalpa, and the number marketing would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it the way a marketing deck would. Ask what decision it drives: the</a:t>
            </a:r>
          </a:p>
          <a:p>
            <a:r>
              <a:t>payback on acquisition, since a bigger first order pays back the Rs 12 crore faster.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first check is a count, and it needs no sorting. One order above the mean</a:t>
            </a:r>
          </a:p>
          <a:p>
            <a:r>
              <a:t>out of thirty is the signature from the invented example.</a:t>
            </a:r>
          </a:p>
          <a:p>
            <a:r>
              <a:t>Transition: sort and read the top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 learner types these lines into the empty your-turn cell of the round 3</a:t>
            </a:r>
          </a:p>
          <a:p>
            <a:r>
              <a:t>notebook and runs it. Do not read the output aloud or point at a row; the discovery is theirs.</a:t>
            </a:r>
          </a:p>
          <a:p>
            <a:r>
              <a:t>Ask two learners to say in words what they see at the top, without the number. Then ask whose</a:t>
            </a:r>
          </a:p>
          <a:p>
            <a:r>
              <a:t>warning it confirms: Anand's.</a:t>
            </a:r>
          </a:p>
          <a:p>
            <a:r>
              <a:t>Transition: the median, and what it does to the acquisition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reveal. Run statistics.median or the middle of the sorted list: Rs 2,205,</a:t>
            </a:r>
          </a:p>
          <a:p>
            <a:r>
              <a:t>the average of the 15th and 16th amounts. Say the consequence in business terms: marketing's</a:t>
            </a:r>
          </a:p>
          <a:p>
            <a:r>
              <a:t>payback arithmetic was about eight times too kind. This is crux line 3.</a:t>
            </a:r>
          </a:p>
          <a:p>
            <a:r>
              <a:t>Transition: the harder variant.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The room runs it in the round 3 notebook's last level. Watch for pairs who</a:t>
            </a:r>
          </a:p>
          <a:p>
            <a:r>
              <a:t>filter the orders and then take the median of the unfiltered list.</a:t>
            </a:r>
          </a:p>
          <a:p>
            <a:r>
              <a:t>Most pairs pick a. Ask them what a returned order is worth to Kalpa after it comes back.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Put the three values on the board tree beside revenue per order. Point out that</a:t>
            </a:r>
          </a:p>
          <a:p>
            <a:r>
              <a:t>booked and delivered medians differ by Rs 145, while mean and median differ by about Rs 16,000:</a:t>
            </a:r>
          </a:p>
          <a:p>
            <a:r>
              <a:t>the definition matters, and the choice of typical matters far more.</a:t>
            </a:r>
          </a:p>
          <a:p>
            <a:r>
              <a:t>Transition: Kavya's review of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tree aloud as one sentence: 23 customers, 1.30 orders each, a typical</a:t>
            </a:r>
          </a:p>
          <a:p>
            <a:r>
              <a:t>order of Rs 2,205. Do not give the recommendation; the escalated case this afternoon is where the</a:t>
            </a:r>
          </a:p>
          <a:p>
            <a:r>
              <a:t>room writes it.</a:t>
            </a:r>
          </a:p>
          <a:p>
            <a:r>
              <a:t>Transition: the last interview question of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aloud. Listen for the rule, the numbers and the business</a:t>
            </a:r>
          </a:p>
          <a:p>
            <a:r>
              <a:t>consequence in the same breath. The full answers are in the study notes.</a:t>
            </a:r>
          </a:p>
          <a:p>
            <a:r>
              <a:t>Close the morning: the afternoon opens on Meera's question with all three rounds in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22.png"/><Relationship Id="rId6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9.png"/><Relationship Id="rId6" Type="http://schemas.openxmlformats.org/officeDocument/2006/relationships/image" Target="../media/image3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2.png"/><Relationship Id="rId6" Type="http://schemas.openxmlformats.org/officeDocument/2006/relationships/image" Target="../media/image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120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5254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31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6367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088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931" y="5248656"/>
            <a:ext cx="17207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 and 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CEO wants to know what sales is made of before she signs Rs 12 crore, and the thinking is drawn before any tool opens.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what sales 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318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morning at Kalpa's GCC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 reaches the data and AI team before anyone opens a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is headquartered in Singapore and runs five business units, of which Retail is the largest client of the GCC.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_c62a884f66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Retail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Retail sells consumer goods through its app, its website and its stores across India and South-East Asia.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GCC data and AI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You join the newest team at Kalpa's Global Capability Centre in Bengaluru as trainee engineers.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year, as 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 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A GROWTH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board's deadline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new customers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and the thinking</a:t>
            </a:r>
          </a:p>
        </p:txBody>
      </p:sp>
      <p:sp>
        <p:nvSpPr>
          <p:cNvPr id="45" name="Oval 4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47" name="Oval 46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49" name="Oval 48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asks three questions, and Finance adds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carries several questions, and the first job is to separate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5257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545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6423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173984"/>
            <a:ext cx="45720" cy="7061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73984"/>
            <a:ext cx="10820095" cy="70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9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4026408"/>
          <a:ext cx="11130989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83400"/>
                <a:gridCol w="5605326"/>
                <a:gridCol w="284226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 for the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When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is split into multiplied branches, each counted from the orders.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This morning, rounds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is grouped by segment and by channel on the same file.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This afternoon, 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branch to open first is named, with the evidence for it.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This afternoon, proved on Tuesday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 is stated in a way one order cannot move.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This morning, round 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9" name="Oval 18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1" name="Oval 20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3" name="Oval 22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is a tree, and every branch is a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multiplies out of three branches, and each has a numerator and a denominator.</a:t>
            </a:r>
          </a:p>
        </p:txBody>
      </p:sp>
      <p:pic>
        <p:nvPicPr>
          <p:cNvPr id="9" name="mermaid diagram" descr="c56837485a6fad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1010" y="1672875"/>
            <a:ext cx="8829675" cy="31861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Revenue equals customers, times orders per customer, times average order value, and average order value is items per order times price per item, less discounts.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branch sends a different bill to move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10 percent lift on any branch lifts revenue about 10 percent; what differs is the cost.</a:t>
            </a:r>
          </a:p>
        </p:txBody>
      </p:sp>
      <p:pic>
        <p:nvPicPr>
          <p:cNvPr id="9" name="mermaid diagram" descr="bc418780ce5927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571" y="1664208"/>
            <a:ext cx="58985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 CEO chooses between branches on cost and risk, which is why the analyst's first job is to say which branch is short before anyone chooses how to move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Marketing's Rs 12 crore is a bet on one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budget lands on customers before anyone has measured which branch is short.</a:t>
            </a:r>
          </a:p>
        </p:txBody>
      </p:sp>
      <p:pic>
        <p:nvPicPr>
          <p:cNvPr id="9" name="mermaid diagram" descr="34b4a4ca498740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4078" y="1949767"/>
            <a:ext cx="5443537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069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429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526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5700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7645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Marketing wants budget for acquisition; what would you check before agreeing it is the right branch, and how would you say no?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day climbs five rungs, each a harder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rung is answered with a number, and the number raises the next question.</a:t>
            </a:r>
          </a:p>
        </p:txBody>
      </p:sp>
      <p:pic>
        <p:nvPicPr>
          <p:cNvPr id="9" name="mermaid diagram" descr="6a5ca6920915cc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666" y="1956816"/>
            <a:ext cx="975836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Rungs 1 and 2 are round 1, rung 3 is round 2, rung 4 is round 3, and rung 5 is this afternoon's escalated case.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what sales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what sales 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318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1 asks which total is "sales"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quarter's extract, three statuses, and a CEO who wants one number.</a:t>
            </a:r>
          </a:p>
        </p:txBody>
      </p:sp>
      <p:pic>
        <p:nvPicPr>
          <p:cNvPr id="9" name="mermaid diagram" descr="30978cdeef8d17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355981"/>
            <a:ext cx="4786326" cy="31701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245" y="22692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1917" y="2983992"/>
            <a:ext cx="5899425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 holds 30 orders from the app, the website and the stores, 10 from each, and every order carries a status of delivered, returned or cancelled.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8" name="Oval 1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20" name="Oval 19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2" name="Oval 21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counts everything, and each honest step down removes what never became a sale.</a:t>
            </a:r>
          </a:p>
        </p:txBody>
      </p:sp>
      <p:pic>
        <p:nvPicPr>
          <p:cNvPr id="9" name="mermaid diagram" descr="61e83dbcefea78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9921" y="1664208"/>
            <a:ext cx="22518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Each reading answers a different question, and the note to Meera names which one it uses before it states a number.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order is a dictionary of named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is a list of 30 dictionaries, and a question asks for a field by its name.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{"order_id": "KR-01001", "customer_id": "C-0101", "segment": "Retail-Core",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"channel": "app", "order_date": "2026-07-21", "amount": 2300, "status": "delivered"}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083560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7529"/>
                <a:gridCol w="1486413"/>
                <a:gridCol w="789704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Key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C-0101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This field says who bought, which is how customers are counted.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This field says where they bought, which the second case groups by.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This field says for how much, which is how revenue is summed.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This field says whether the order stayed sold.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loop with an if counts orders by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pass over the list, one counter per status, and the three counts add back to 30.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477008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207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delivered = returned = cancelled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delivered += 1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elif order["status"] == "returned":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returned += 1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else: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cancelled +=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598415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53334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5346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reached a customer and stayed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787135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598415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53334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RETURNED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55346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sent back after delivery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787135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598415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53334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55346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left the shelf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787135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30" name="Oval 29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2" name="Oval 31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readings give three rupee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Booked, not cancelled and delivered differ by Rs 24,020 across 9 orders.</a:t>
            </a:r>
          </a:p>
        </p:txBody>
      </p:sp>
      <p:pic>
        <p:nvPicPr>
          <p:cNvPr id="9" name="mermaid diagram" descr="f03c7d65cb2e7e7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Booked is Rs 5,44,810 on 30 orders, not cancelled is Rs 5,35,760 on 26 and delivered is Rs 5,20,790 on 21.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is the one that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"Sales for the quarter were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the file 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COUNTED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 of them were cancelled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growth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number is correct arithmetic, and the growth plan built on it would count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7" name="Oval 2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29" name="Oval 2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1" name="Oval 3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summing, per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All 4 cancelled orders are store orders, so store's count is overstated by 4 in 10.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3193418"/>
                <a:gridCol w="2915354"/>
                <a:gridCol w="319341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Why it is wrong.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cancelled order never became a sale, and because every cancellation sits in one channel, the error lands on store and on nobody else.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7" name="Oval 16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9" name="Oval 18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 is the definition written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reading is correct once it says what it includes.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56374"/>
                <a:gridCol w="914400"/>
                <a:gridCol w="1446475"/>
                <a:gridCol w="711374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 sentence to Meera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Every order placed in the window, including 4 cancelled.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5,35,760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we set out to fulfil, with Rs 9,050 on 4 orders taken out.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that reached a customer and were not sent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Name the definition before the number: booked, not cancelled, or delivered.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place five initiatives and price a discount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discount, a new store, a loyalty card, a price rise and an app redesign, each on one branch.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rcent_3c2cac0687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15 percent discount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discount runs on everything for a month.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_c62a884f66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new 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store opens in a city where the app already sells.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adge-check_d6a2269684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loyalty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card earns points on every order.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trending-up_0f9f078814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price rise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Prices rise five percent on the top sellers.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martphone_4533b8fac6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 app redesign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app gets a new checkout and home screen.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433527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76656" y="446328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445414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In pairs, ten minutes: place each initiative on the branch it moves and write what moving it costs. Then the discount: it lifts quantity 10 percent at 15 percent off, so did revenue a) rise 10 percent, b) fall 5 percent, c) fall 6.5 percent, or d) stay flat?</a:t>
            </a:r>
          </a:p>
        </p:txBody>
      </p:sp>
      <p:sp>
        <p:nvSpPr>
          <p:cNvPr id="42" name="Oval 4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44" name="Oval 4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46" name="Oval 45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48" name="Oval 47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four place cleanly, and the discount loses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redesign depends on the behaviour it changes, and the discount multiplies to 0.935.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60419"/>
                <a:gridCol w="3323687"/>
                <a:gridCol w="554688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Initiative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Branch it moves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moving it costs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15 percent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Discounts, hoping for more items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Margin is traded for quantity.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new store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Rent is paid, and it may only move app buyers.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loyalty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Points are paid to people who may have returned anyway.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rise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price-sensitive buyers leave first.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app redesign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Customers, frequency or basket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build is paid before the behaviour is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discount is c: 0.85 times 1.10 is 0.935, so revenue falls 6.5 percent, because branches multiply.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three branches are still empty.</a:t>
            </a:r>
          </a:p>
        </p:txBody>
      </p:sp>
      <p:pic>
        <p:nvPicPr>
          <p:cNvPr id="9" name="mermaid diagram" descr="388c23b0292cf5e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2610" y="1949767"/>
            <a:ext cx="6086475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069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429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526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5700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7645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gave me a number and told me what it counts. Now tell me what it is made of: how many customers, how often they buy and what one order is worth."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asks which sales you give a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definition question separates a report writer from an analyst.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5,35,760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NOT CANCELLED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26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5,20,790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21 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what sales is</a:t>
            </a:r>
          </a:p>
        </p:txBody>
      </p:sp>
      <p:sp>
        <p:nvSpPr>
          <p:cNvPr id="30" name="Oval 29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2" name="Oval 31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count the leaves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Customers, how often they buy and what one order is worth, counted from 30 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what sales 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318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2 counts the three branches from the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Customers, orders per customer and revenue per order are three counts and two divisions.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8399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6555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IN THE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8567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 July to 26 September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1727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298399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6555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8567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root, with its definition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1727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298399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65556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85673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branch marketing wants to buy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17271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4470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acquisition case rests on the customers branch, so the count of customers is the first leaf to get right.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9" name="Oval 28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31" name="Oval 30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3" name="Oval 32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row is an order, and a customer can own many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Customers are counted by their id, and several rows can point at the same id.</a:t>
            </a:r>
          </a:p>
        </p:txBody>
      </p:sp>
      <p:pic>
        <p:nvPicPr>
          <p:cNvPr id="9" name="mermaid diagram" descr="d1b72fd4c27e8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6835" y="1956816"/>
            <a:ext cx="7058025" cy="195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06050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rows count orders, the distinct ids count customers, and orders per customer is the first over the second.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Orders and revenue are counted in one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accumulators start at zero, and each order adds one to the count and its amount to the total.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972055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569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orders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revenue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orders += 1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revenue += order["amount"]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print(orders, revenue)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093463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loop is the accumulator from round 1 with a second running total beside the first.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TypeError stops the sum: read the last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amount is stored as text, and int() is today's fix.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95910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95910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" y="295910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3160268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revenue += int(order["amount"])     # today's fix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print(order)                        # the record the loop stopped 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957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2" y="4290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978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99031" y="4104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323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running total is a number and one amount arrived as text, so Python will not add them; print the loop variable to find which record it was.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6" name="Oval 2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8" name="Oval 27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0" name="Oval 29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per order is Rs 18,160 on booked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third branch is revenue divided by orders, with both from the same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once int() is applied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Revenue per order is the branch the identity needs, and round 3 asks whether it describes a typical order.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4" name="Oval 2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6" name="Oval 25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8" name="Oval 27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customer ids come out of the rows as a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Collecting one id per row gives a list as long as the file.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ids = []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ids.append(order["customer_id"])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print(len(ids))                     #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list keeps every id in the order the rows arrive, repeats included.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so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Customers counted as rows make orders per customer exactly 1.00.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orders, so orders per customer is 1.00 and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COUNTED AS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len(ids)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9291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6642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8653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9291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6642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BUDGET IT SUPPORTS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8653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looks like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41178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If nobody comes back, frequency is dead and acquisition is the only branch left, which is the case marketing made.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7" name="Oval 2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9" name="Oval 2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1" name="Oval 3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customers, not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Comparing the length of the rows with the length of the set exposes the repeats.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print(len(ORDERS))                  # 30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print(len(set(ids)))                # 23 distinct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86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980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order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08356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8186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DISTINCT CUSTOMER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01980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len(set(ids))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08356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8186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THAT REPEAT AN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01980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minus 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0352" y="454660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6656" y="467461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66547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Why it is wrong.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row is an order, and a set keeps each id once, so 7 of the 30 rows belong to customers already counted.</a:t>
            </a:r>
          </a:p>
        </p:txBody>
      </p:sp>
      <p:sp>
        <p:nvSpPr>
          <p:cNvPr id="29" name="Oval 2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31" name="Oval 30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33" name="Oval 32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5" name="Oval 34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23 customers bought 1.30 times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customers came back, so frequency is a live branch and acquisition is not the only one.</a:t>
            </a:r>
          </a:p>
        </p:txBody>
      </p:sp>
      <p:pic>
        <p:nvPicPr>
          <p:cNvPr id="9" name="mermaid diagram" descr="8122ddf31b7fd9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Customers are 23, orders per customer is 1.30 and 7 customers bought twice, which is 30 percent of customers; 23 x 1.30 x Rs 18,160 multiplies back to Rs 5,44,810.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of counts finds the repeat 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id becomes a key, and its value counts the orders that id placed.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1972055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286000"/>
            <a:ext cx="10673791" cy="1569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repeaters = [cid for cid in counts if counts[cid] &gt; 1]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print(len(counts), len(repeaters))  # 23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09346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dictionary answers "how many for each id" in one pass, which a set cannot, since a set only knows whether an id was seen.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8" name="Oval 1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0" name="Oval 19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2" name="Oval 21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D28  ·  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count the leaves on delivered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three branches on the 21 orders that reached a customer and stayed.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39396"/>
                <a:gridCol w="3154196"/>
                <a:gridCol w="29373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In pairs, ten minutes: rerun the leaves with an if on status. Before you run, predict orders per customer on delivered orders: a) 1.30, since the definition changes nothing; b) 1.11; c) 1.00; d) 1.45.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5" name="Oval 14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7" name="Oval 16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9" name="Oval 18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every leaf moves with the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Delivered orders give 21 orders, 19 customers and 1.11 orders each.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35634"/>
                <a:gridCol w="2300391"/>
                <a:gridCol w="2894574"/>
                <a:gridCol w="230039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5,35,760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b: frequency falls from 1.30 to 1.11 because cancelled and returned orders fall away, and a leaf reported without its definition can be off by that much.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2 fills two branches and doubts the third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Customers and frequency are counted, and revenue per order carries Anand's warning.</a:t>
            </a:r>
          </a:p>
        </p:txBody>
      </p:sp>
      <p:pic>
        <p:nvPicPr>
          <p:cNvPr id="9" name="mermaid diagram" descr="52c6ee7c205fa20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910" y="1820227"/>
            <a:ext cx="5857875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6811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429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526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8274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0469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"Twenty-three customers, and seven came back. That is a frequency story as much as an acquisition one. Before you tell Meera what an order is worth, check whether Rs 18,160 is an order anyone actually placed."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tests the count before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questions, one on the business check and one on the Python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over 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 [SV] How do you count distinct customers in Python, and why does a set give the answer a list does not?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8" name="Oval 27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30" name="Oval 29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2" name="Oval 31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One order can move an average a long way, and the honest typical order is the one it cannot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191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what sales 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6430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318" y="5074920"/>
            <a:ext cx="190537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3 asks what a typical order looks like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Marketing will value a new customer's first order at whatever number this round sends.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like, and which 'typical' is honest?"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87197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60705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80822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round 2's third branch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06069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3007" y="387197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3007" y="460705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BEHIND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3007" y="480822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booked, 1 July to 26 September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3007" y="506069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6" name="Oval 25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8" name="Oval 27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30" name="Oval 29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typicals: the mean and the median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 spends every rupee, and the median reads the middle of the sorted list.</a:t>
            </a:r>
          </a:p>
        </p:txBody>
      </p:sp>
      <p:pic>
        <p:nvPicPr>
          <p:cNvPr id="9" name="mermaid diagram" descr="b8d6c47acd8a32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853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08844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rupee pulls on the mean, while one order cannot drag the median far, so the choice between them is made by looking at the data.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mean of 30 booked orders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Sum the amounts, divide by the count, and the mean equals revenue per order.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total +=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 = total / len(ORDERS)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print(mean)                         # 18160.333...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4098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57606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77723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booked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02970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84098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457606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77723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rounded to the rupee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502970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4" name="Oval 2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6" name="Oval 25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8" name="Oval 27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median is the middle of the sorted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invented orders show the mechanism before the real file is sorted.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067876"/>
                <a:gridCol w="406311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Invented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1,900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Sorted, the middle of five is the third, so the median is Rs 2,300 and the mean is Rs 2,260; with an even count, the median is the average of the two middle amounts.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invented Rs 90,000 order drags the mean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 jumps from Rs 2,260 to Rs 16,883, and the median moves by Rs 50.</a:t>
            </a:r>
          </a:p>
        </p:txBody>
      </p:sp>
      <p:pic>
        <p:nvPicPr>
          <p:cNvPr id="9" name="mermaid diagram" descr="5bf904e802d929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0511" y="1664208"/>
            <a:ext cx="8170672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Five of the six invented orders now sit below the mean, which describes none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sold as typical, prices every new customer's first order.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"Our typical order is Rs 18,160, so each new customer's first order is worth Rs 18,160."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SOLD AS THE TYPICAL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mean of 30 booked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CASE IT PROPS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payback per new customer looks fast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2" name="Oval 2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4" name="Oval 23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6" name="Oval 25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the orders above the mean: 1 of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typical value with 29 of 30 orders below it describes almost none of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above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int(order["amount"]) &gt; mean: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above += 1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print(above)                        #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96900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95986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Why it is wrong.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29 of the 30 orders sit below Rs 18,160, so the mean is being dragged by the orders at the top of the list.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9" name="Oval 18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1" name="Oval 20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3" name="Oval 22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Sort the amounts in your empty cell, and read the 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sort is yours to run, and what sits at the top is yours to name.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amounts = []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amounts.append(int(order["amount"]))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amounts.sort()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print(amounts[-3:])                 # run this in the empty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409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last three amounts in the sorted list are the largest orders in the file; compare them with the rest before reading the median.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typical order is the median,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first order is worth about Rs 2,205, so payback needs about eight times as many orders.</a:t>
            </a:r>
          </a:p>
        </p:txBody>
      </p:sp>
      <p:pic>
        <p:nvPicPr>
          <p:cNvPr id="9" name="mermaid diagram" descr="d3b31b5d78a98d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2399" y="1664208"/>
            <a:ext cx="6406895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when one order can move the mean, and say why: a first order is worth about Rs 2,205, so acquisition pays back on about eight times as many orders.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median prices a first order?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median moves with the definition of sales, just as the leaves did.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MEDIAN, 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MEDIAN,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21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In pairs, ten minutes: compute the median on delivered orders and choose the one for the acquisition case: a) booked, because it has more orders; b) delivered, because it is what a customer kept; c) the mean, because Finance adds rupees; d) whichever is higher.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2" name="Oval 21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4" name="Oval 23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6" name="Oval 25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price the first order on delivered, Rs 2,060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delivered median is lower again, and that is the honest price of a first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24652"/>
                <a:gridCol w="4425150"/>
                <a:gridCol w="248118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Typical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 behind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Median,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2,205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Median,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2,060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b: a first order that is returned or cancelled pays nothing back, so the acquisition case prices a new customer on the delivered median of Rs 2,060 and says so.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3" name="Oval 12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5" name="Oval 14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Twenty-three customers, 1.30 orders each and a typical order of Rs 2,205.</a:t>
            </a:r>
          </a:p>
        </p:txBody>
      </p:sp>
      <p:pic>
        <p:nvPicPr>
          <p:cNvPr id="9" name="mermaid diagram" descr="4fbdd5fb42dc5e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910" y="1821180"/>
            <a:ext cx="5857875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392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715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8124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855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3050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"Now the tree has honest numbers on every branch. This afternoon, tell Meera which branch she should open first, and why the others wait."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17" name="Oval 16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19" name="Oval 18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asks mean or median,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answer is a decision rule, stated with the numbers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 of 30 orders above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 [S] The mean order is Rs 18,160 and the median Rs 2,205; what do you tell the business about its orders?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and the thinking</a:t>
            </a:r>
          </a:p>
        </p:txBody>
      </p:sp>
      <p:sp>
        <p:nvSpPr>
          <p:cNvPr id="24" name="Oval 23"/>
          <p:cNvSpPr/>
          <p:nvPr/>
        </p:nvSpPr>
        <p:spPr>
          <a:xfrm>
            <a:off x="2109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97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what sales is</a:t>
            </a:r>
          </a:p>
        </p:txBody>
      </p:sp>
      <p:sp>
        <p:nvSpPr>
          <p:cNvPr id="26" name="Oval 25"/>
          <p:cNvSpPr/>
          <p:nvPr/>
        </p:nvSpPr>
        <p:spPr>
          <a:xfrm>
            <a:off x="359759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7320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count the leaves</a:t>
            </a:r>
          </a:p>
        </p:txBody>
      </p:sp>
      <p:sp>
        <p:nvSpPr>
          <p:cNvPr id="28" name="Oval 27"/>
          <p:cNvSpPr/>
          <p:nvPr/>
        </p:nvSpPr>
        <p:spPr>
          <a:xfrm>
            <a:off x="52232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295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