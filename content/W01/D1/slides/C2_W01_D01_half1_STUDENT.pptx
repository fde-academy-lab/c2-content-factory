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Read Meera's question aloud and leave it on screen while the room settles.</a:t>
            </a:r>
          </a:p>
          <a:p>
            <a:r>
              <a:t>This question opens Week 1 and never fully closes: every module answers a harder version of it.</a:t>
            </a:r>
          </a:p>
          <a:p>
            <a:r>
              <a:t>Say the arc once: today, what sales is made of; Tuesday, which branch moved; Wednesday, whether</a:t>
            </a:r>
          </a:p>
          <a:p>
            <a:r>
              <a:t>the numbers can be trusted; Thursday, whether the gap is real and what goes to Meera; Friday, the</a:t>
            </a:r>
          </a:p>
          <a:p>
            <a:r>
              <a:t>week rebuilt without an assistant. Then move on and do not repeat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one runs about 15 minutes. Its job is translation: a business ask becomes a</a:t>
            </a:r>
          </a:p>
          <a:p>
            <a:r>
              <a:t>question data can answer. No Python in this chapter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Kalpa is fictional and the whole programme is set inside it; say that once.</a:t>
            </a:r>
          </a:p>
          <a:p>
            <a:r>
              <a:t>The frame matters: you are not students answering a worksheet, you are the newest engineers in a</a:t>
            </a:r>
          </a:p>
          <a:p>
            <a:r>
              <a:t>Global Capability Centre, and a CEO's question has landed on your board. Ask the room: which of the</a:t>
            </a:r>
          </a:p>
          <a:p>
            <a:r>
              <a:t>four numbers worries the CEO most? Most say the 4 percent. The sharper answer is the Rs 12 crore,</a:t>
            </a:r>
          </a:p>
          <a:p>
            <a:r>
              <a:t>because it is about to be spent on an assumption nobody has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Read Meera's message aloud, then Anand's line. Point out that a client message</a:t>
            </a:r>
          </a:p>
          <a:p>
            <a:r>
              <a:t>usually carries several questions, and that the engineer's first job is to separate them and say</a:t>
            </a:r>
          </a:p>
          <a:p>
            <a:r>
              <a:t>when each gets answered. This table is that separation. Anand's warning is a prediction about the</a:t>
            </a:r>
          </a:p>
          <a:p>
            <a:r>
              <a:t>data; do not explain it yet, because half two proves it with the file.</a:t>
            </a:r>
          </a:p>
          <a:p>
            <a:r>
              <a:t>Trap: learners try to answer all four questions today. Only two belong to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Give the room one minute in pairs, then take a show of letters. Expect a split</a:t>
            </a:r>
          </a:p>
          <a:p>
            <a:r>
              <a:t>between a and b. Do not resolve it here; the next slide does.</a:t>
            </a:r>
          </a:p>
          <a:p>
            <a:r>
              <a:t>The trap is thinking one of these numbers is right and the others are wrong. All four readings are</a:t>
            </a:r>
          </a:p>
          <a:p>
            <a:r>
              <a:t>correct arithmetic; they answer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c. Option d sounds rigorous and is a way of never answering: you can</a:t>
            </a:r>
          </a:p>
          <a:p>
            <a:r>
              <a:t>state a number now and say what it leaves out.</a:t>
            </a:r>
          </a:p>
          <a:p>
            <a:r>
              <a:t>Kavya Nair is the senior analyst on the team; her review is what a senior checks before work</a:t>
            </a:r>
          </a:p>
          <a:p>
            <a:r>
              <a:t>leaves the team. She will appear at the close of every chapter this week.</a:t>
            </a:r>
          </a:p>
          <a:p>
            <a:r>
              <a:t>Do not reconcile the readings against Finance's books today; that is Wednesday's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Walk the five moves left to right with Meera's words in each. The model answer to</a:t>
            </a:r>
          </a:p>
          <a:p>
            <a:r>
              <a:t>the interview question is these five moves said aloud in under a minute: restate the goal, break</a:t>
            </a:r>
          </a:p>
          <a:p>
            <a:r>
              <a:t>revenue into its drivers, name the data each driver needs, say how you would measure the gap per</a:t>
            </a:r>
          </a:p>
          <a:p>
            <a:r>
              <a:t>driver, and say what decision each result would change. The answer is in the day sheet.</a:t>
            </a:r>
          </a:p>
          <a:p>
            <a:r>
              <a:t>Transition: move 4 needs a picture of revenue, which is chapter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two runs about 40 minutes, including the 15-minute placement drill. This is the</a:t>
            </a:r>
          </a:p>
          <a:p>
            <a:r>
              <a:t>chapter never to cut: the tree is the teaching, and Python arrives later as the calculator.</a:t>
            </a:r>
          </a:p>
          <a:p>
            <a:r>
              <a:t>Draw the tree on the whiteboard as the slides build it, so the room has it in front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Draw this on the board first, with the room. Ask: if revenue fell, which of the two</a:t>
            </a:r>
          </a:p>
          <a:p>
            <a:r>
              <a:t>could have caused it? Both. That is why marketing's claim, that we need more customers, is only one</a:t>
            </a:r>
          </a:p>
          <a:p>
            <a:r>
              <a:t>of two hypotheses before any data is looked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Extend the board drawing one level at a time, left to right. Revenue per</a:t>
            </a:r>
          </a:p>
          <a:p>
            <a:r>
              <a:t>customer on the last slide was after discounts; this slide pulls the discounts out first, so that</a:t>
            </a:r>
          </a:p>
          <a:p>
            <a:r>
              <a:t>every leaf on the right is a count or a price. Check the multiplication with units: customers</a:t>
            </a:r>
          </a:p>
          <a:p>
            <a:r>
              <a:t>times orders per customer gives orders; times items per order gives items; times price per item</a:t>
            </a:r>
          </a:p>
          <a:p>
            <a:r>
              <a:t>gives rupees. Then discounts come off. This tree is the profitability framework case interviews</a:t>
            </a:r>
          </a:p>
          <a:p>
            <a:r>
              <a:t>test, and the room is drawing it on day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Fill the table on the board with the room. The three rows marked not in this file</a:t>
            </a:r>
          </a:p>
          <a:p>
            <a:r>
              <a:t>are the most useful rows on the slide: an engineer who can say what the data cannot answer is more</a:t>
            </a:r>
          </a:p>
          <a:p>
            <a:r>
              <a:t>valuable than one who fills the gap with a guess. Half two turns those three rows into one line to</a:t>
            </a:r>
          </a:p>
          <a:p>
            <a:r>
              <a:t>Meera asking for the missing fields.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The point of this slide is that the branches are not interchangeable even though</a:t>
            </a:r>
          </a:p>
          <a:p>
            <a:r>
              <a:t>their arithmetic effect is the same. A CEO chooses between them on cost and risk, which is why the</a:t>
            </a:r>
          </a:p>
          <a:p>
            <a:r>
              <a:t>analyst's job is to say which branch is short before anyone chooses how to move it.</a:t>
            </a:r>
          </a:p>
          <a:p>
            <a:r>
              <a:t>Ask: which of these five does marketing's Rs 12 crore buy?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depth for the confident half. Show it live only if the room is ahead. The discount</a:t>
            </a:r>
          </a:p>
          <a:p>
            <a:r>
              <a:t>case returns in the Kahoot, so a learner who reads this slide has that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This is the day's central tension. Marketing is not wrong to want customers; it may</a:t>
            </a:r>
          </a:p>
          <a:p>
            <a:r>
              <a:t>be spending on the branch that is fine. The interview question [D] lives here: what would you check</a:t>
            </a:r>
          </a:p>
          <a:p>
            <a:r>
              <a:t>before agreeing, and how would you say no? Model answer in the day sheet: agree the goal, show the</a:t>
            </a:r>
          </a:p>
          <a:p>
            <a:r>
              <a:t>tree, name the branch the budget moves, ask for the two-quarter comparison, and propose the check</a:t>
            </a:r>
          </a:p>
          <a:p>
            <a:r>
              <a:t>before the spend, never a flat refusal.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the 15-minute mid-session drill, including the debrief on the next slide. Walk the room.</a:t>
            </a:r>
          </a:p>
          <a:p>
            <a:r>
              <a:t>Listen for the app redesign: pairs who place it without asking what it changes are the pairs to</a:t>
            </a:r>
          </a:p>
          <a:p>
            <a:r>
              <a:t>visit. Collect two placements for the redesign on the board before revealing the answer; they</a:t>
            </a:r>
          </a:p>
          <a:p>
            <a:r>
              <a:t>will differ, and that difference is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The redesign is the teaching row: an initiative is placed by the behaviour it</a:t>
            </a:r>
          </a:p>
          <a:p>
            <a:r>
              <a:t>changes, not by what it is called. A new checkout that removes a step lifts conversion, so</a:t>
            </a:r>
          </a:p>
          <a:p>
            <a:r>
              <a:t>customers; a home screen that shows reorder buttons lifts frequency. Ask one pair to defend its</a:t>
            </a:r>
          </a:p>
          <a:p>
            <a:r>
              <a:t>placement in one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photograph slide. Read the four rules; they come back in the half-two</a:t>
            </a:r>
          </a:p>
          <a:p>
            <a:r>
              <a:t>close, on the cheat sheet and in Saturday's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three runs about 25 minutes, most of it hands on the keyboard. If time is short,</a:t>
            </a:r>
          </a:p>
          <a:p>
            <a:r>
              <a:t>this is the chapter to compress: cut the recovery drill to five minutes, never the tree.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Everyone opens the Codespace from Week 0 now; the support TA circulates. The last</a:t>
            </a:r>
          </a:p>
          <a:p>
            <a:r>
              <a:t>card is the one that matters for the next three slides: the kernel is a running process with a</a:t>
            </a:r>
          </a:p>
          <a:p>
            <a:r>
              <a:t>memory, and the page is only a view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Demonstrate on the projector: restart the kernel, click cell 3, run it. Do not</a:t>
            </a:r>
          </a:p>
          <a:p>
            <a:r>
              <a:t>say what will happen; the next slide asks the room to predict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Take letters, then run it. Most rooms split between a, because the page shows the</a:t>
            </a:r>
          </a:p>
          <a:p>
            <a:r>
              <a:t>data loaded above, and c. Point at the brackets: an empty bracket means that cell has not run</a:t>
            </a:r>
          </a:p>
          <a:p>
            <a:r>
              <a:t>since the kernel started.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c, and the exact text is on the slide. Then do the recovery drill</a:t>
            </a:r>
          </a:p>
          <a:p>
            <a:r>
              <a:t>once with the room: restart, Run All, confirm the count prints 30.</a:t>
            </a:r>
          </a:p>
          <a:p>
            <a:r>
              <a:t>The opposite failure is worse and silent: a notebook that only works because a deleted cell ran</a:t>
            </a:r>
          </a:p>
          <a:p>
            <a:r>
              <a:t>earlier. Restart and Run All is the only test that catches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execution counter, the number in brackets beside each cell, is the quickest</a:t>
            </a:r>
          </a:p>
          <a:p>
            <a:r>
              <a:t>check: a clean run reads 1, 2, 3 down the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Chapter four runs about 30 minutes, the first half of the counting block. The rest of the</a:t>
            </a:r>
          </a:p>
          <a:p>
            <a:r>
              <a:t>counting opens half two. Keep the tree on the board: every count here is a leaf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This is Week 0's library record with new fields; say so, and the room relaxes.</a:t>
            </a:r>
          </a:p>
          <a:p>
            <a:r>
              <a:t>Ask which key answers "who bought". The trap: some learners think order_id counts customers.</a:t>
            </a:r>
          </a:p>
          <a:p>
            <a:r>
              <a:t>It counts orders; customer_id counts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Trace one path with a finger: the list, position 0, the key amount, the value</a:t>
            </a:r>
          </a:p>
          <a:p>
            <a:r>
              <a:t>2300. Model answer to the interview question: a list when order and position matter or when you</a:t>
            </a:r>
          </a:p>
          <a:p>
            <a:r>
              <a:t>will loop over everything; a dictionary when you look things up by a name. Records are</a:t>
            </a:r>
          </a:p>
          <a:p>
            <a:r>
              <a:t>dictionaries inside a list because you loop over the orders and look up fields inside each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librarian's loop from Week 0 is the same three moves. Ask where each line</a:t>
            </a:r>
          </a:p>
          <a:p>
            <a:r>
              <a:t>sits: the start outside the loop, the update inside, the finish after. Two classic bugs to name:</a:t>
            </a:r>
          </a:p>
          <a:p>
            <a:r>
              <a:t>the start inside the loop, which resets every time, and the print inside the loop, which prints</a:t>
            </a:r>
          </a:p>
          <a:p>
            <a:r>
              <a:t>thirty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Take letters, then have every learner run it themselves; the discovery is theirs,</a:t>
            </a:r>
          </a:p>
          <a:p>
            <a:r>
              <a:t>not the projector's. Do not advance until most of the room has the error on their own screen.</a:t>
            </a:r>
          </a:p>
          <a:p>
            <a:r>
              <a:t>Option a is what the room expects, b misreads where the print sits, and d misreads the</a:t>
            </a:r>
          </a:p>
          <a:p>
            <a:r>
              <a:t>accumulator.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c. Have every learner run the three prints and say aloud what they</a:t>
            </a:r>
          </a:p>
          <a:p>
            <a:r>
              <a:t>found; the record and the total are theirs to find, so do not read either out first. The</a:t>
            </a:r>
          </a:p>
          <a:p>
            <a:r>
              <a:t>teaching point is that a failed loop leaves its evidence behind in the loop variable.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the exact text Jupyter prints. Read it bottom up with the room: kind,</a:t>
            </a:r>
          </a:p>
          <a:p>
            <a:r>
              <a:t>operation, the two sides, then the arrow. This habit is Week 1's most reused skill; every day from</a:t>
            </a:r>
          </a:p>
          <a:p>
            <a:r>
              <a:t>here has a planted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int() converts text that looks like a whole number into a number. Say plainly</a:t>
            </a:r>
          </a:p>
          <a:p>
            <a:r>
              <a:t>that this is a patch for today; Wednesday asks the question of the whole file. The honest sentence</a:t>
            </a:r>
          </a:p>
          <a:p>
            <a:r>
              <a:t>to Meera is: the total is Rs 5,44,810, and one amount arrived in the wrong type, which we are</a:t>
            </a:r>
          </a:p>
          <a:p>
            <a:r>
              <a:t>checking.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SELF-STUDY, depth for the confident half. Worth showing live only if a learner asks whether int()</a:t>
            </a:r>
          </a:p>
          <a:p>
            <a:r>
              <a:t>always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minutes, then the break. Ask two learners to say the tree aloud without the slide. After</a:t>
            </a:r>
          </a:p>
          <a:p>
            <a:r>
              <a:t>the break: customers, orders per customer, the three leaves the file cannot give, and the</a:t>
            </a:r>
          </a:p>
          <a:p>
            <a:r>
              <a:t>average Anand warned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23.png"/><Relationship Id="rId9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0.xml"/><Relationship Id="rId5" Type="http://schemas.openxmlformats.org/officeDocument/2006/relationships/image" Target="../media/image3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32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6.xml"/><Relationship Id="rId5" Type="http://schemas.openxmlformats.org/officeDocument/2006/relationships/image" Target="../media/image10.png"/><Relationship Id="rId6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7.xml"/><Relationship Id="rId5" Type="http://schemas.openxmlformats.org/officeDocument/2006/relationships/image" Target="../media/image3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290677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MONDAY  ·  HALF 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The question before the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3502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“Where does our growth actually come from, and where is it leaking?”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04088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Meera Raghavan, CEO,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596931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ask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565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9699" y="5248656"/>
            <a:ext cx="656082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tree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66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2709" y="5248656"/>
            <a:ext cx="951833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workbench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7423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1471" y="5248656"/>
            <a:ext cx="1070133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first count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question before the budget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33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CEO asks what sales are made of before she signs Rs 12 crore, and the ask lands on your team.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83948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0735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workbench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16031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first 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question before the 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Monday morning at Kalpa's GCC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ask reaches the data and AI team before anyone opens a tool.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building-2_fd73f96751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GROUP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Kalpa Group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Headquartered in Singapore, with five business units: Retail, Financial Services, Logistics, Health and Connect.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tore_c62a884f66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CLIENT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Kalpa Retail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Sells consumer goods through its app, its website and its stores across India and South-East Asia.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users_113eb2dd32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GCC data and AI team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newest team at Kalpa's Global Capability Centre in Bengaluru, serving all five units. You join it as trainee engineers.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294124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4933950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 GROWTH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5135118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last year, as reported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" y="5482844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1679" y="4294124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15%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1679" y="4933950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THE PLAN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1679" y="5135118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what the board expected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1679" y="5482844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33007" y="4294124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1 month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4933950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TO A GROWTH PLAN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3007" y="5135118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the board's deadline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33007" y="5482844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4335" y="4294124"/>
            <a:ext cx="2577007" cy="603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5B3FD6"/>
                </a:solidFill>
                <a:latin typeface="Georgia"/>
              </a:rPr>
              <a:t>Rs 12 cr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84335" y="4933950"/>
            <a:ext cx="257700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MARKETING'S ASK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84335" y="5135118"/>
            <a:ext cx="2577007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to acquire new customers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84335" y="5482844"/>
            <a:ext cx="2577007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45" name="Oval 4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</a:t>
            </a:r>
          </a:p>
        </p:txBody>
      </p:sp>
      <p:sp>
        <p:nvSpPr>
          <p:cNvPr id="47" name="Oval 4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49" name="Oval 48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first count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Meera wrote, and what Finance added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questions in one message, and a warning about averages.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29384"/>
            <a:ext cx="11130991" cy="112166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8952" y="226161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message-square_028dbd132a0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371344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99031" y="207568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CLIENT ASKS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1" y="229514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FFFFFF"/>
                </a:solidFill>
                <a:latin typeface="Calibri"/>
              </a:rPr>
              <a:t>"Before I sign anything, I want to understand our own sales. What is 'sales' made of? Where does revenue come from, by customer type and channel? Is acquisition even the branch that is short?"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215640"/>
            <a:ext cx="45720" cy="741680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215640"/>
            <a:ext cx="10820095" cy="74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"No averages. One business customer can move an average."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6B6690"/>
                </a:solidFill>
                <a:latin typeface="Calibri"/>
              </a:rPr>
              <a:t>Anand Iyer, finance controller, Kalpa Retail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" y="4103624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785931"/>
                <a:gridCol w="5373557"/>
                <a:gridCol w="1971501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she asked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What it becomes for the team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Answered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is sales made of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revenue tree, with every branch counted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By customer type and channel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Revenue grouped by segment and channel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Tuesday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Is acquisition the short branch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Which branch moved between two quarters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Tuesday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 averages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typical order that one record cannot move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Today, half two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</a:t>
            </a:r>
          </a:p>
        </p:txBody>
      </p:sp>
      <p:sp>
        <p:nvSpPr>
          <p:cNvPr id="21" name="Oval 20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23" name="Oval 22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first 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which total is "sales"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Thirty orders from 1 July to 26 September, three statuses, and more than one honest total.</a:t>
            </a:r>
          </a:p>
        </p:txBody>
      </p:sp>
      <p:pic>
        <p:nvPicPr>
          <p:cNvPr id="9" name="mermaid diagram" descr="553008e3ccb70c9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6495" y="1682496"/>
            <a:ext cx="3054038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761917" y="1956816"/>
            <a:ext cx="5899425" cy="1874519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08221" y="2084832"/>
            <a:ext cx="45720" cy="1618487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9389" y="2075688"/>
            <a:ext cx="5332497" cy="16916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Meera asks for "sales" in the note she will read on Thursday. Which total goes in, and what do you write beside it? Answer as a letter: a) Rs 5,44,810, the biggest; b) Rs 5,20,790, the most conservative; c) any one of them, with its definition written beside it; d) none until the discounts are known.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19" name="Oval 18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first count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total you define, with its 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 reading is correct arithmetic; the error is a number without its definition.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22897"/>
                <a:gridCol w="2245007"/>
                <a:gridCol w="676308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It answers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Booked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5,44,810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much demand reached us, before anything fell away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 cancelled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5,35,760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much we set out to fulfil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5,20,790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much reached a customer and stayed there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After discounts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 in this file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How much we actually kept, which Finance will ask for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06196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39420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0392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20827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42772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Name the definition before the number, every time: "Revenue, all booked orders, 1 July to 26 September: Rs 5,44,810." Today's counts use every booked order, as the file arrives, and the note says so.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</a:t>
            </a:r>
          </a:p>
        </p:txBody>
      </p:sp>
      <p:sp>
        <p:nvSpPr>
          <p:cNvPr id="19" name="Oval 18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21" name="Oval 20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first 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From a business ask to a question data can 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five moves an engineer makes before opening a tool, run on Meera's ask.</a:t>
            </a:r>
          </a:p>
        </p:txBody>
      </p:sp>
      <p:sp>
        <p:nvSpPr>
          <p:cNvPr id="9" name="Rectangle 8"/>
          <p:cNvSpPr/>
          <p:nvPr/>
        </p:nvSpPr>
        <p:spPr>
          <a:xfrm>
            <a:off x="1570299" y="2523744"/>
            <a:ext cx="9051096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MOVE 1</a:t>
            </a:r>
          </a:p>
        </p:txBody>
      </p:sp>
      <p:sp>
        <p:nvSpPr>
          <p:cNvPr id="11" name="Oval 10"/>
          <p:cNvSpPr/>
          <p:nvPr/>
        </p:nvSpPr>
        <p:spPr>
          <a:xfrm>
            <a:off x="146971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Business words: what is sales made of, and is acquisition the short branch.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3126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MOVE 2</a:t>
            </a:r>
          </a:p>
        </p:txBody>
      </p:sp>
      <p:sp>
        <p:nvSpPr>
          <p:cNvPr id="16" name="Oval 15"/>
          <p:cNvSpPr/>
          <p:nvPr/>
        </p:nvSpPr>
        <p:spPr>
          <a:xfrm>
            <a:off x="373248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93126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57718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57718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Which multiplied parts make up revenue, and which part is short.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900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MOVE 3</a:t>
            </a:r>
          </a:p>
        </p:txBody>
      </p:sp>
      <p:sp>
        <p:nvSpPr>
          <p:cNvPr id="21" name="Oval 20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55900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20492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0492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One row per order: who bought, when, through which channel, for how much.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8674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MOVE 4</a:t>
            </a:r>
          </a:p>
        </p:txBody>
      </p:sp>
      <p:sp>
        <p:nvSpPr>
          <p:cNvPr id="26" name="Oval 25"/>
          <p:cNvSpPr/>
          <p:nvPr/>
        </p:nvSpPr>
        <p:spPr>
          <a:xfrm>
            <a:off x="825803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8674" y="2843784"/>
            <a:ext cx="2079894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83266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method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83266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Break revenue into branches and count each branch from the rows.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81448" y="1956816"/>
            <a:ext cx="2079894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MOVE 5</a:t>
            </a:r>
          </a:p>
        </p:txBody>
      </p:sp>
      <p:sp>
        <p:nvSpPr>
          <p:cNvPr id="31" name="Oval 30"/>
          <p:cNvSpPr/>
          <p:nvPr/>
        </p:nvSpPr>
        <p:spPr>
          <a:xfrm>
            <a:off x="10520812" y="2432304"/>
            <a:ext cx="201168" cy="201168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581448" y="2843784"/>
            <a:ext cx="2079894" cy="124968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46040" y="2990088"/>
            <a:ext cx="175071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answer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6040" y="3277870"/>
            <a:ext cx="175071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FC9EE"/>
                </a:solidFill>
                <a:latin typeface="Calibri"/>
              </a:rPr>
              <a:t>A number per branch, each with its definition, and the branch to open first.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0352" y="4276344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58952" y="447903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mic_caee7398c8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88764"/>
            <a:ext cx="237744" cy="23774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399031" y="442264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99031" y="4642104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[F] A business says "grow revenue 15 percent". How do you turn that into questions data can answer?</a:t>
            </a:r>
          </a:p>
        </p:txBody>
      </p:sp>
      <p:sp>
        <p:nvSpPr>
          <p:cNvPr id="40" name="Oval 3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ask</a:t>
            </a:r>
          </a:p>
        </p:txBody>
      </p:sp>
      <p:sp>
        <p:nvSpPr>
          <p:cNvPr id="42" name="Oval 4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</a:t>
            </a:r>
          </a:p>
        </p:txBody>
      </p:sp>
      <p:sp>
        <p:nvSpPr>
          <p:cNvPr id="44" name="Oval 43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46" name="Oval 45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first count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tree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Revenue is a product of four counts less what we give back, and every initiative lands on one branch.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83948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tree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0735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workbench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16031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first 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question before the 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8 / 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Revenue, broken once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Before any deeper split, revenue is how many customers times what each one brings.</a:t>
            </a:r>
          </a:p>
        </p:txBody>
      </p:sp>
      <p:pic>
        <p:nvPicPr>
          <p:cNvPr id="9" name="mermaid diagram" descr="1d5e2522e9bcbed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9810" y="1956816"/>
            <a:ext cx="5172075" cy="2043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14623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Every branch below this point is one of these two, broken again. A growth plan that cannot say which of the two it moves is not yet a plan.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</a:t>
            </a:r>
          </a:p>
        </p:txBody>
      </p:sp>
      <p:sp>
        <p:nvSpPr>
          <p:cNvPr id="15" name="Oval 14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17" name="Oval 16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first count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9 / 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Revenue, all the way down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counts multiply, and discounts come off the top, so every leaf is a count or a price.</a:t>
            </a:r>
          </a:p>
        </p:txBody>
      </p:sp>
      <p:pic>
        <p:nvPicPr>
          <p:cNvPr id="9" name="mermaid diagram" descr="c1af27eccc606ee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99315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09627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22428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1514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formula.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Revenue equals customers, times orders per customer, times items per order, times price per item, less discounts.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5" name="Oval 1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</a:t>
            </a:r>
          </a:p>
        </p:txBody>
      </p:sp>
      <p:sp>
        <p:nvSpPr>
          <p:cNvPr id="17" name="Oval 1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19" name="Oval 18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first count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Every branch is a metric with a denominator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rate without its denominator cannot be checked, compared or defended.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0116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495224"/>
                <a:gridCol w="3067980"/>
                <a:gridCol w="3067980"/>
                <a:gridCol w="2499806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Branch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Numerator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Denominator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From today's file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Distinct customer ids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None, it is a 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Distinct customers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30 over 23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Items per order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Items sold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 in this file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Price per item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Revenue before discounts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Items sold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 in this file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Rupees given back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Revenue before discounts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Not in this file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" y="4224528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4556760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666488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4370832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4590288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denominator out loud. Orders per customer is 30 over 23, never 23 over 30, and a share of discounts is over revenue before discounts, never after.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</a:t>
            </a:r>
          </a:p>
        </p:txBody>
      </p:sp>
      <p:sp>
        <p:nvSpPr>
          <p:cNvPr id="19" name="Oval 18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21" name="Oval 20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first 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branches, five different bills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10 percent lift on any branch lifts revenue about 10 percent; what differs is what it costs.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users_11340fce0a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CUSTOMERS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Acquisition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Paid in marketing spend. The risk is new customers who buy once and never return.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3126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4294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repeat_e3d62ee72e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4022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94294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ORDERS PER CUSTOMER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4294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Retention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4294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Paid in loyalty and service. The risk is rewarding people who would have come back anyway.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5900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57068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hopping-cart_3d6cc98c6b4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6796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57068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ITEMS PER 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068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Basket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068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Paid in merchandising and bundles. The risk is filling baskets with low-margin lines.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8674" y="1956816"/>
            <a:ext cx="2079894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19842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tag_ef63078c278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9570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519842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PRICE PER ITEM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9842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Price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9842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Paid in lost volume. The risk is a rise that drives the price-sensitive away.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81448" y="1956816"/>
            <a:ext cx="2079894" cy="23444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82616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percent_4445dfa1034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2344" y="2267712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782616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DISCOUNTS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2616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Margin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2616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Paid in margin for quantity. The risk is volume that grows by less than the cut.</a:t>
            </a:r>
          </a:p>
        </p:txBody>
      </p:sp>
      <p:sp>
        <p:nvSpPr>
          <p:cNvPr id="39" name="Oval 3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41" name="Oval 40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</a:t>
            </a:r>
          </a:p>
        </p:txBody>
      </p:sp>
      <p:sp>
        <p:nvSpPr>
          <p:cNvPr id="43" name="Oval 42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45" name="Oval 44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first count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Two small lifts compound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multiplied tree turns two 10 percent lifts into 21 percent, where adding them says 20.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x 1.10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PER CUSTOMER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10 percent lift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x 1.10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ITEMS PER ORDER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10 percent lift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x 1.21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21 percent, since 1.10 times 1.10 is 1.21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0352" y="34198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36225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732276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37856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same multiplication works against you when a discount buys less volume than it gives away.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44703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x 1.10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518210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ITEMS SOLD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0352" y="538327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10 percent more volume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" y="563575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32122" y="444703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x 0.85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32122" y="518210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PRICE AFTER DISCOUNT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32122" y="538327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15 percent given back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32122" y="563575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3892" y="4447032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x 0.935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3892" y="5182108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REVENUE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3892" y="5383276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a fall of 6.5 percent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33892" y="5635752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41" name="Oval 40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</a:t>
            </a:r>
          </a:p>
        </p:txBody>
      </p:sp>
      <p:sp>
        <p:nvSpPr>
          <p:cNvPr id="43" name="Oval 42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45" name="Oval 44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first count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D10  ·  13 / 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Where the Rs 12 crore lands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Marketing's budget is a bet on one leaf out of five, placed before anyone checked which is short.</a:t>
            </a:r>
          </a:p>
        </p:txBody>
      </p:sp>
      <p:pic>
        <p:nvPicPr>
          <p:cNvPr id="9" name="mermaid diagram" descr="38850cf3f738bc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0515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154673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Before anyone agrees to the budget, the team asks one question: of the gap between 4 and 15 percent, how much came from fewer customers and how much from each customer buying less? Tuesday's file answers it.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</a:t>
            </a:r>
          </a:p>
        </p:txBody>
      </p:sp>
      <p:sp>
        <p:nvSpPr>
          <p:cNvPr id="15" name="Oval 14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17" name="Oval 16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first count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14 / 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place five initiatives on the 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discount, a new store, a loyalty card, a price rise and an app redesign, each on one branch.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079894" cy="21955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ercent_3c2cac06876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INITIATIVE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1677558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15 percent discount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534664"/>
            <a:ext cx="1677558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On everything, for a month.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3126" y="1956816"/>
            <a:ext cx="2079894" cy="21955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4294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store_c62a884f66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4022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94294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INITIATIVE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4294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new store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4294" y="3303524"/>
            <a:ext cx="1677558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In a city where the app already sells.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5900" y="1956816"/>
            <a:ext cx="2079894" cy="21955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57068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badge-check_d6a22696841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6796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57068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INITIATIVE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068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loyalty card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068" y="3303524"/>
            <a:ext cx="1677558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Points on every order.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8674" y="1956816"/>
            <a:ext cx="2079894" cy="21955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19842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trending-up_0f9f0788148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9570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519842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INITIATIVE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9842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price rise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9842" y="3303524"/>
            <a:ext cx="1677558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Five percent on the top sellers.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81448" y="1956816"/>
            <a:ext cx="2079894" cy="219557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82616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smartphone_4533b8fac61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2344" y="2267712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782616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INITIATIVE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2616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An app redesign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2616" y="3303524"/>
            <a:ext cx="1677558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new checkout and home screen.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0352" y="433527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76656" y="446328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7824" y="445414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In pairs, ten minutes: place each initiative on the branch it moves, and write in one line what moving that branch costs.</a:t>
            </a:r>
          </a:p>
        </p:txBody>
      </p:sp>
      <p:sp>
        <p:nvSpPr>
          <p:cNvPr id="42" name="Oval 4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44" name="Oval 4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</a:t>
            </a:r>
          </a:p>
        </p:txBody>
      </p:sp>
      <p:sp>
        <p:nvSpPr>
          <p:cNvPr id="46" name="Oval 45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48" name="Oval 47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first count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15 / 33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five initiatives, placed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land cleanly; the fifth depends on which behaviour it changes, and that is the lesson.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3048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89643"/>
                <a:gridCol w="3995904"/>
                <a:gridCol w="1683220"/>
                <a:gridCol w="3862223"/>
              </a:tblGrid>
              <a:tr h="542544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Initiative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branch it moves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What moving it costs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catch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15 percent discount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Discounts, hoping for more items and orders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Margin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Volume must rise by more than the cut, or revenue falls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new store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Customers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Rent and fit-out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may move app customers into the store and add nobody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loyalty card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Orders per customer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Points and their cost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pays people who would have come back anyway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 price rise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Price per item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Volume at risk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price-sensitive leave first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An app redesign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Depends on what it changes: sign-ups, frequency or basket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The build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Name the behaviour before placing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2" name="Oval 1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</a:t>
            </a:r>
          </a:p>
        </p:txBody>
      </p:sp>
      <p:sp>
        <p:nvSpPr>
          <p:cNvPr id="14" name="Oval 13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16" name="Oval 15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first count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16 / 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rules for any growth 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rules from the tree, in the order they are used.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07259" y="2084832"/>
            <a:ext cx="73152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0" i="0">
                <a:solidFill>
                  <a:srgbClr val="CFC9EE"/>
                </a:solidFill>
                <a:latin typeface="Georgia"/>
              </a:rPr>
              <a:t>01</a:t>
            </a:r>
          </a:p>
        </p:txBody>
      </p:sp>
      <p:sp>
        <p:nvSpPr>
          <p:cNvPr id="11" name="Oval 10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git-branch_2cd118b75e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BEFORE ANY 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Draw the tree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Write every branch as a numerator over a denominator.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8819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5727" y="2084832"/>
            <a:ext cx="73152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0" i="0">
                <a:solidFill>
                  <a:srgbClr val="CFC9EE"/>
                </a:solidFill>
                <a:latin typeface="Georgia"/>
              </a:rPr>
              <a:t>02</a:t>
            </a:r>
          </a:p>
        </p:txBody>
      </p:sp>
      <p:sp>
        <p:nvSpPr>
          <p:cNvPr id="18" name="Oval 17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map-pin_d669bc82d62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FOR EACH INITIATIVE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Place it on a branch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By the behaviour it changes, never by its name.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7287" y="1956816"/>
            <a:ext cx="2645587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64195" y="2084832"/>
            <a:ext cx="73152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0" i="0">
                <a:solidFill>
                  <a:srgbClr val="CFC9EE"/>
                </a:solidFill>
                <a:latin typeface="Georgia"/>
              </a:rPr>
              <a:t>03</a:t>
            </a:r>
          </a:p>
        </p:txBody>
      </p:sp>
      <p:sp>
        <p:nvSpPr>
          <p:cNvPr id="25" name="Oval 24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6" name="Picture 25" descr="receipt_e40a408ddf4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BEFORE YOU RECOMMEND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Price the move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What it costs, and what could make it backfire.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15755" y="1956816"/>
            <a:ext cx="2645587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92663" y="2084832"/>
            <a:ext cx="73152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0" i="0">
                <a:solidFill>
                  <a:srgbClr val="5B3FD6"/>
                </a:solidFill>
                <a:latin typeface="Georgia"/>
              </a:rPr>
              <a:t>04</a:t>
            </a:r>
          </a:p>
        </p:txBody>
      </p:sp>
      <p:sp>
        <p:nvSpPr>
          <p:cNvPr id="32" name="Oval 31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search_4cf7730e8cb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BEFORE ANYONE FUNDS 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Ask which branch moved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6923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Compare two periods branch by branch, then choose.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0352" y="410413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58952" y="430682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9" name="Picture 38" descr="search-check_6571e64a041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416552"/>
            <a:ext cx="237744" cy="23774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399031" y="42504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99031" y="446989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growth plan that cannot point at one branch of the tree is a wish. Point first, then spend.</a:t>
            </a:r>
          </a:p>
        </p:txBody>
      </p:sp>
      <p:sp>
        <p:nvSpPr>
          <p:cNvPr id="42" name="Oval 4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44" name="Oval 4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tree</a:t>
            </a:r>
          </a:p>
        </p:txBody>
      </p:sp>
      <p:sp>
        <p:nvSpPr>
          <p:cNvPr id="46" name="Oval 45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48" name="Oval 47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first count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S14  ·  17 / 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workbench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One editor, one notebook, one kernel, and the habit that keeps a notebook honest.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83948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0735" y="5074920"/>
            <a:ext cx="113556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workbench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16031" y="5074920"/>
            <a:ext cx="125399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first 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question before the 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18 / 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Where the work happens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Everything runs in the browser, in one editor, from your own GitHub account.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loud_c550446612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MACHINE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GitHub Codespaces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computer in the cloud that runs your editor, so every laptop in the room behaves the same.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ode_963a38c8fdc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EDITOR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VS 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Where you open the notebook, the data file and the terminal.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notebook-pen_5620508e40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DOCUMENT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notebook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Cells of code and text, run one at a time, each keeping its output.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15442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cpu_d66ed84354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ENGINE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The kernel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Python process that runs your cells and remembers every variable they create.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5" name="Oval 34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</a:t>
            </a:r>
          </a:p>
        </p:txBody>
      </p:sp>
      <p:sp>
        <p:nvSpPr>
          <p:cNvPr id="37" name="Oval 36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workbench</a:t>
            </a:r>
          </a:p>
        </p:txBody>
      </p:sp>
      <p:sp>
        <p:nvSpPr>
          <p:cNvPr id="39" name="Oval 38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first count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S15  ·  19 / 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kernel remembers what you ran, not what you see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Cells run in the order you click them, and the kernel keeps whatever each run left behind.</a:t>
            </a:r>
          </a:p>
        </p:txBody>
      </p:sp>
      <p:pic>
        <p:nvPicPr>
          <p:cNvPr id="9" name="mermaid diagram" descr="98e6eafdec3268b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2466" y="1903063"/>
            <a:ext cx="8386762" cy="31575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20690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page shows cells in order. The kernel only knows the cells you actually ran, in the order you ran them, since it last restarted.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3" name="Oval 1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</a:t>
            </a:r>
          </a:p>
        </p:txBody>
      </p:sp>
      <p:sp>
        <p:nvSpPr>
          <p:cNvPr id="15" name="Oval 14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workbench</a:t>
            </a:r>
          </a:p>
        </p:txBody>
      </p:sp>
      <p:sp>
        <p:nvSpPr>
          <p:cNvPr id="17" name="Oval 16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first count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S16  ·  20 / 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cell 3 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fresh kernel, and the third cell run before the first two.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In [ ]:   ORDERS = kit.load_records("C2_W01_D01_orders_STUDENT.py")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In [ ]:   count = len(ORDERS)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In [1]:   print(len(ORDERS))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336036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464052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454907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brackets show the order cells ran in, and only cell 3 shows a number. Predict its output before it runs: a) 30; b) 0; c) an error naming ORDERS; d) nothing at all.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</a:t>
            </a:r>
          </a:p>
        </p:txBody>
      </p:sp>
      <p:sp>
        <p:nvSpPr>
          <p:cNvPr id="21" name="Oval 20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workbench</a:t>
            </a:r>
          </a:p>
        </p:txBody>
      </p:sp>
      <p:sp>
        <p:nvSpPr>
          <p:cNvPr id="23" name="Oval 22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first 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S17  ·  21 / 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an error, because the kernel never met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name does not exist until the cell that makes it has run.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NameError: name 'ORDERS' is not defined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283108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16331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273044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297738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19684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kernel has not run the cell that defines ORDERS, so the name does not exist yet. The page above the cell is not the kernel's memory.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4080763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117339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Restart the kernel, so nothing from earlier runs survives.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522724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559300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Run All, so every cell runs once, top to bottom.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4964684"/>
            <a:ext cx="502920" cy="3337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5B3FD6"/>
                </a:solidFill>
                <a:latin typeface="Georgia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001260"/>
            <a:ext cx="10564063" cy="368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If a cell fails, fix it and Run All again from the top.</a:t>
            </a:r>
          </a:p>
        </p:txBody>
      </p:sp>
      <p:sp>
        <p:nvSpPr>
          <p:cNvPr id="25" name="Oval 2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7" name="Oval 2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</a:t>
            </a:r>
          </a:p>
        </p:txBody>
      </p:sp>
      <p:sp>
        <p:nvSpPr>
          <p:cNvPr id="29" name="Oval 28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workbench</a:t>
            </a:r>
          </a:p>
        </p:txBody>
      </p:sp>
      <p:sp>
        <p:nvSpPr>
          <p:cNvPr id="31" name="Oval 30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first 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22 / 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rule that keeps a notebook honest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notebook is only true if it runs from a fresh kernel, top to bottom.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rotate-ccw_e10a00c755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BEFORE YOU SHARE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Restart and Run 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If it fails from the top, it is broken, however good it looked a minute ago.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list-ordered_6bff7db210f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WHILE YOU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Top to bottom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Write cells in the order they must run, and never lean on a cell you deleted.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eye_6af225eae8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WHEN YOU 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numbers on the left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bracket beside a cell shows the order it ran in; gaps and jumps are a warning.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0352" y="410413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8952" y="430682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list-checks_bd88901d2a3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441655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399031" y="42504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99031" y="446989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Restart and Run All before every commit, every share and every answer you give Meera.</a:t>
            </a:r>
          </a:p>
        </p:txBody>
      </p:sp>
      <p:sp>
        <p:nvSpPr>
          <p:cNvPr id="32" name="Oval 3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4" name="Oval 33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</a:t>
            </a:r>
          </a:p>
        </p:txBody>
      </p:sp>
      <p:sp>
        <p:nvSpPr>
          <p:cNvPr id="36" name="Oval 35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workbench</a:t>
            </a:r>
          </a:p>
        </p:txBody>
      </p:sp>
      <p:sp>
        <p:nvSpPr>
          <p:cNvPr id="38" name="Oval 37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first count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S19  ·  23 / 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first 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record is a dictionary, the file is a list of them, and one loop counts what the tree asks for.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78027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ask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1519" y="5074920"/>
            <a:ext cx="83948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tree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70735" y="5074920"/>
            <a:ext cx="113556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workbench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16031" y="5074920"/>
            <a:ext cx="125399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first 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1. The question before the budget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24 / 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One order is a dictionary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Each order arrives as named fields, so a question can ask for a field by its name.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962152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559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{"order_id": "KR-01001", "customer_id": "C-0101", "segment": "Retail-Core",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"channel": "app", "order_date": "2026-07-21", "amount": 2300, "status": "delivered"}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" y="3083560"/>
          <a:ext cx="11130989" cy="18491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36617"/>
                <a:gridCol w="1732306"/>
                <a:gridCol w="7362066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Key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question it answers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customer_id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C-0101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Who bought, which is how customers are counted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app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Where they bought, which Tuesday groups by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2300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For how much, which is how revenue is summed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Whether it stayed sold, which chapter one used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</a:t>
            </a:r>
          </a:p>
        </p:txBody>
      </p:sp>
      <p:sp>
        <p:nvSpPr>
          <p:cNvPr id="19" name="Oval 18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21" name="Oval 20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first 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S20  ·  25 / 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file is a list of thirty of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A list keeps the orders in order, and a dictionary names the fields inside each one.</a:t>
            </a:r>
          </a:p>
        </p:txBody>
      </p:sp>
      <p:pic>
        <p:nvPicPr>
          <p:cNvPr id="9" name="mermaid diagram" descr="9ef2adfdf16968f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5397" y="1680972"/>
            <a:ext cx="7200900" cy="34290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5172456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37514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mic_caee7398c8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48487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3187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IN THE INTERVIEW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538216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[SV] A list against a dictionary: when do you reach for each?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</a:t>
            </a:r>
          </a:p>
        </p:txBody>
      </p:sp>
      <p:sp>
        <p:nvSpPr>
          <p:cNvPr id="19" name="Oval 18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21" name="Oval 20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first 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S21  ·  26 / 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Counting is an accumulator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Start a total before the loop, update it once per record, and read it after the loop ends.</a:t>
            </a:r>
          </a:p>
        </p:txBody>
      </p:sp>
      <p:pic>
        <p:nvPicPr>
          <p:cNvPr id="9" name="mermaid diagram" descr="e5edde89c7ec6be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3991" y="1956816"/>
            <a:ext cx="6843712" cy="11287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231832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3359848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3359848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4128" y="3359848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3561016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count = 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count = count + 1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print(count)           # 30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7" name="Oval 16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</a:t>
            </a:r>
          </a:p>
        </p:txBody>
      </p:sp>
      <p:sp>
        <p:nvSpPr>
          <p:cNvPr id="19" name="Oval 18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21" name="Oval 20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first count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S22  ·  27 / 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does the revenue loop 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three moves, summing amounts instead of counting orders.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revenue = 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revenue += order["amount"]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print(revenue)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3716528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707384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Predict before it runs: a) 544810; b) thirty lines, one running total per order; c) an error part way through the list; d) 0, because revenue starts at zero.</a:t>
            </a:r>
          </a:p>
        </p:txBody>
      </p:sp>
      <p:sp>
        <p:nvSpPr>
          <p:cNvPr id="17" name="Oval 1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9" name="Oval 18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</a:t>
            </a:r>
          </a:p>
        </p:txBody>
      </p:sp>
      <p:sp>
        <p:nvSpPr>
          <p:cNvPr id="21" name="Oval 20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23" name="Oval 22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first 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S23  ·  28 / 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an error, part way through the 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running total is a number, one amount is text, and Python will not add the two.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TypeError: unsupported operand type(s) for +=: 'int' and 'str'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83108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Two names survive the crash: revenue holds the total the loop reached, and order holds the record it stopped on. Print both before you change a line.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3731260"/>
            <a:ext cx="11130991" cy="1214627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3859276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859276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" y="3859276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4060444"/>
            <a:ext cx="10673791" cy="8122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print(revenue)                  # the total the loop reached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print(order)                    # the record it stopped on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print(type(order["amount"]))    # the type, which is the whole story</a:t>
            </a:r>
          </a:p>
        </p:txBody>
      </p:sp>
      <p:sp>
        <p:nvSpPr>
          <p:cNvPr id="20" name="Oval 1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2" name="Oval 2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</a:t>
            </a:r>
          </a:p>
        </p:txBody>
      </p:sp>
      <p:sp>
        <p:nvSpPr>
          <p:cNvPr id="24" name="Oval 23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26" name="Oval 25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first count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S24  ·  29 / 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Reading a trace from its last line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last line names the problem; the lines above it say where it happened.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21510"/>
            <a:ext cx="11130991" cy="2477008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49526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49526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49526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50694"/>
            <a:ext cx="10673791" cy="20746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TypeError                                 Traceback (most recent call last)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Cell In[2], line 3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1 revenue = 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2 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A9A3D2"/>
                </a:solidFill>
                <a:latin typeface="Consolas"/>
              </a:rPr>
              <a:t>----&gt; 3     revenue += order["amount"]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4 print(revenue)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TypeError: unsupported operand type(s) for +=: 'int' and 'str'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4563109"/>
            <a:ext cx="2645587" cy="13975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07259" y="4691125"/>
            <a:ext cx="73152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0" i="0">
                <a:solidFill>
                  <a:srgbClr val="CFC9EE"/>
                </a:solidFill>
                <a:latin typeface="Georgia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19" y="4764277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READ 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19" y="5002021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TypeError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19" y="5342889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kind of problem: an operation met a type it cannot use.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58819" y="4563109"/>
            <a:ext cx="2645587" cy="13975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5727" y="4691125"/>
            <a:ext cx="73152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0" i="0">
                <a:solidFill>
                  <a:srgbClr val="CFC9EE"/>
                </a:solidFill>
                <a:latin typeface="Georg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9987" y="4764277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59987" y="5002021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+=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59987" y="5342889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The operation that failed: adding to the running total.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7287" y="4563109"/>
            <a:ext cx="2645587" cy="13975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64195" y="4691125"/>
            <a:ext cx="73152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0" i="0">
                <a:solidFill>
                  <a:srgbClr val="CFC9EE"/>
                </a:solidFill>
                <a:latin typeface="Georgi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4764277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8455" y="5002021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'int' and 'str'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8455" y="5342889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What was on each side: a number, and text.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15755" y="4563109"/>
            <a:ext cx="2645587" cy="13975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792663" y="4691125"/>
            <a:ext cx="731520" cy="432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0" i="0">
                <a:solidFill>
                  <a:srgbClr val="CFC9EE"/>
                </a:solidFill>
                <a:latin typeface="Georgi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4764277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LAST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5002021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arrow at line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16923" y="5342889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Where it gave up; the lines around it are context.</a:t>
            </a:r>
          </a:p>
        </p:txBody>
      </p:sp>
      <p:sp>
        <p:nvSpPr>
          <p:cNvPr id="34" name="Oval 33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36" name="Oval 35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</a:t>
            </a:r>
          </a:p>
        </p:txBody>
      </p:sp>
      <p:sp>
        <p:nvSpPr>
          <p:cNvPr id="38" name="Oval 37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40" name="Oval 39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first count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S25  ·  30 / 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 for today, and what it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int() makes the total add up; it does not say why an amount arrived as text.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467104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0647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revenue = 0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for order in ORDERS: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revenue += int(order["amount"])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print(revenue)         # 544810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0352" y="358851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8952" y="392074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030472"/>
            <a:ext cx="237744" cy="2377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99031" y="373481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1" y="395427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total is right and the question is still open: why did one amount arrive as text, and are there others in a bigger file? Tell Meera what you patched, in the same note as the number.</a:t>
            </a:r>
          </a:p>
        </p:txBody>
      </p:sp>
      <p:sp>
        <p:nvSpPr>
          <p:cNvPr id="19" name="Oval 18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1" name="Oval 20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</a:t>
            </a:r>
          </a:p>
        </p:txBody>
      </p:sp>
      <p:sp>
        <p:nvSpPr>
          <p:cNvPr id="23" name="Oval 22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25" name="Oval 24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first count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S26  ·  31 / 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int() is a patch, and here is where it breaks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same fix fails the moment the text carries an Indian comma.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2286000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int("1,20,000")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0352" y="2831084"/>
            <a:ext cx="11130991" cy="709676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2959100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2959100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" y="2959100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" y="3160268"/>
            <a:ext cx="10673791" cy="3073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ValueError: invalid literal for int() with base 10: '1,20,000'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" y="3705352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conversion that works on today's value is not a cleaning strategy. Cleaning means deciding, per field, what counts as a valid value and what happens to the rows that are not, which is Wednesday's work.</a:t>
            </a:r>
          </a:p>
        </p:txBody>
      </p:sp>
      <p:sp>
        <p:nvSpPr>
          <p:cNvPr id="21" name="Oval 2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23" name="Oval 22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</a:t>
            </a:r>
          </a:p>
        </p:txBody>
      </p:sp>
      <p:sp>
        <p:nvSpPr>
          <p:cNvPr id="25" name="Oval 24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27" name="Oval 26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first count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D27  ·  32 / 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1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What half one leaves on your desk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Four things you can now do, each used again this afternoon.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574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65495"/>
                <a:gridCol w="556549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You can now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evidence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Separate a client message into questions, and say when each is answered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Meera's four questions, two of them today's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69824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Name a total with its definition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Rs 5,44,810 booked, Rs 5,20,790 delivered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Draw the revenue tree, every branch a numerator over a denominator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tree on the board, three leaves not in the file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Run a notebook honestly, and count with an accumulator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Restart and Run All; 30 orders; Rs 5,44,810 once int() is applied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59636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ask</a:t>
            </a:r>
          </a:p>
        </p:txBody>
      </p:sp>
      <p:sp>
        <p:nvSpPr>
          <p:cNvPr id="12" name="Oval 11"/>
          <p:cNvSpPr/>
          <p:nvPr/>
        </p:nvSpPr>
        <p:spPr>
          <a:xfrm>
            <a:off x="1327880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37608" y="6437376"/>
            <a:ext cx="64236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tree</a:t>
            </a:r>
          </a:p>
        </p:txBody>
      </p:sp>
      <p:sp>
        <p:nvSpPr>
          <p:cNvPr id="14" name="Oval 13"/>
          <p:cNvSpPr/>
          <p:nvPr/>
        </p:nvSpPr>
        <p:spPr>
          <a:xfrm>
            <a:off x="217141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1142" y="6437376"/>
            <a:ext cx="87239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workbench</a:t>
            </a:r>
          </a:p>
        </p:txBody>
      </p:sp>
      <p:sp>
        <p:nvSpPr>
          <p:cNvPr id="16" name="Oval 15"/>
          <p:cNvSpPr/>
          <p:nvPr/>
        </p:nvSpPr>
        <p:spPr>
          <a:xfrm>
            <a:off x="324497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705" y="6437376"/>
            <a:ext cx="964406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first count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S28  ·  33 / 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