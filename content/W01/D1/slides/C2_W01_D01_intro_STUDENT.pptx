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You have just watched a notebook answer a question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30144"/>
            <a:ext cx="10820095" cy="1820672"/>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notebook on this screen answered one question: "Of these thirty Kalpa Retail orders, how much did we actually collect?"</a:t>
            </a:r>
          </a:p>
          <a:p>
            <a:pPr>
              <a:spcAft>
                <a:spcPts val="900"/>
              </a:spcAft>
            </a:pPr>
            <a:r>
              <a:rPr sz="2000" b="0">
                <a:solidFill>
                  <a:srgbClr val="1C1C1A"/>
                </a:solidFill>
                <a:latin typeface="Calibri"/>
              </a:rPr>
              <a:t>It came back with 13 delivered orders, Rs 25,720.</a:t>
            </a:r>
          </a:p>
          <a:p>
            <a:pPr>
              <a:spcAft>
                <a:spcPts val="900"/>
              </a:spcAft>
            </a:pPr>
            <a:r>
              <a:rPr sz="2000" b="0">
                <a:solidFill>
                  <a:srgbClr val="1C1C1A"/>
                </a:solidFill>
                <a:latin typeface="Calibri"/>
              </a:rPr>
              <a:t>Nobody has told you who Kalpa is. That is the first thing to fix.</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Where we are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685800" y="2874264"/>
            <a:ext cx="353354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the company</a:t>
            </a:r>
          </a:p>
        </p:txBody>
      </p:sp>
      <p:sp>
        <p:nvSpPr>
          <p:cNvPr id="7" name="Rounded Rectangle 6"/>
          <p:cNvSpPr/>
          <p:nvPr/>
        </p:nvSpPr>
        <p:spPr>
          <a:xfrm>
            <a:off x="4329074" y="2874264"/>
            <a:ext cx="353354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the journey</a:t>
            </a:r>
          </a:p>
        </p:txBody>
      </p:sp>
      <p:sp>
        <p:nvSpPr>
          <p:cNvPr id="8" name="Rounded Rectangle 7"/>
          <p:cNvSpPr/>
          <p:nvPr/>
        </p:nvSpPr>
        <p:spPr>
          <a:xfrm>
            <a:off x="7972348" y="2874264"/>
            <a:ext cx="353354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the room</a:t>
            </a:r>
          </a:p>
        </p:txBody>
      </p:sp>
      <p:sp>
        <p:nvSpPr>
          <p:cNvPr id="9" name="TextBox 8"/>
          <p:cNvSpPr txBox="1"/>
          <p:nvPr/>
        </p:nvSpPr>
        <p:spPr>
          <a:xfrm>
            <a:off x="685800" y="3550920"/>
            <a:ext cx="10820095"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Three things stand between you and the code: the company every example lives inside, the journey you are twenty weeks into starting, and how this room actually runs.</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2" name="TextBox 11"/>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1: THE COMPANY</a:t>
            </a:r>
          </a:p>
        </p:txBody>
      </p:sp>
      <p:sp>
        <p:nvSpPr>
          <p:cNvPr id="4" name="Rounded Rectangle 3"/>
          <p:cNvSpPr/>
          <p:nvPr/>
        </p:nvSpPr>
        <p:spPr>
          <a:xfrm>
            <a:off x="685800" y="4754880"/>
            <a:ext cx="353354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the company</a:t>
            </a:r>
          </a:p>
        </p:txBody>
      </p:sp>
      <p:sp>
        <p:nvSpPr>
          <p:cNvPr id="5" name="Rounded Rectangle 4"/>
          <p:cNvSpPr/>
          <p:nvPr/>
        </p:nvSpPr>
        <p:spPr>
          <a:xfrm>
            <a:off x="4329074"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journey</a:t>
            </a:r>
          </a:p>
        </p:txBody>
      </p:sp>
      <p:sp>
        <p:nvSpPr>
          <p:cNvPr id="6" name="Rounded Rectangle 5"/>
          <p:cNvSpPr/>
          <p:nvPr/>
        </p:nvSpPr>
        <p:spPr>
          <a:xfrm>
            <a:off x="7972348"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room</a:t>
            </a:r>
          </a:p>
        </p:txBody>
      </p:sp>
      <p:sp>
        <p:nvSpPr>
          <p:cNvPr id="7" name="Rectangle 6"/>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Kalpa Group</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1820672"/>
          </a:xfrm>
          <a:prstGeom prst="rect">
            <a:avLst/>
          </a:prstGeom>
          <a:noFill/>
        </p:spPr>
        <p:txBody>
          <a:bodyPr wrap="square" anchor="t" lIns="0" rIns="0" tIns="0" bIns="0">
            <a:spAutoFit/>
          </a:bodyPr>
          <a:lstStyle/>
          <a:p>
            <a:pPr>
              <a:spcAft>
                <a:spcPts val="900"/>
              </a:spcAft>
            </a:pPr>
            <a:r>
              <a:rPr sz="2000" b="0">
                <a:solidFill>
                  <a:srgbClr val="1C1C1A"/>
                </a:solidFill>
                <a:latin typeface="Calibri"/>
              </a:rPr>
              <a:t>Kalpa Group is a diversified global conglomerate with five business units across five industries, and it is headquartered in Singapore.</a:t>
            </a:r>
          </a:p>
          <a:p>
            <a:pPr>
              <a:spcAft>
                <a:spcPts val="900"/>
              </a:spcAft>
            </a:pPr>
            <a:r>
              <a:rPr sz="2000" b="0">
                <a:solidFill>
                  <a:srgbClr val="1C1C1A"/>
                </a:solidFill>
                <a:latin typeface="Calibri"/>
              </a:rPr>
              <a:t>Its largest engineering and data centre sits in Bengaluru.</a:t>
            </a:r>
          </a:p>
          <a:p>
            <a:pPr>
              <a:spcAft>
                <a:spcPts val="900"/>
              </a:spcAft>
            </a:pPr>
            <a:r>
              <a:rPr sz="2000" b="0">
                <a:solidFill>
                  <a:srgbClr val="1C1C1A"/>
                </a:solidFill>
                <a:latin typeface="Calibri"/>
              </a:rPr>
              <a:t>Every example you meet for the next twenty weeks happens inside this company.</a:t>
            </a:r>
          </a:p>
        </p:txBody>
      </p:sp>
      <p:pic>
        <p:nvPicPr>
          <p:cNvPr id="7" name="Picture 6" descr="2c4303c6ba942721.png"/>
          <p:cNvPicPr>
            <a:picLocks noChangeAspect="1"/>
          </p:cNvPicPr>
          <p:nvPr/>
        </p:nvPicPr>
        <p:blipFill>
          <a:blip r:embed="rId2"/>
          <a:stretch>
            <a:fillRect/>
          </a:stretch>
        </p:blipFill>
        <p:spPr>
          <a:xfrm>
            <a:off x="3952332" y="3675887"/>
            <a:ext cx="4287030" cy="2377440"/>
          </a:xfrm>
          <a:prstGeom prst="rect">
            <a:avLst/>
          </a:prstGeom>
        </p:spPr>
      </p:pic>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Where you sit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lIns="0" rIns="0" tIns="0" bIns="0">
            <a:spAutoFit/>
          </a:bodyPr>
          <a:lstStyle/>
          <a:p>
            <a:pPr>
              <a:spcAft>
                <a:spcPts val="900"/>
              </a:spcAft>
            </a:pPr>
            <a:r>
              <a:rPr sz="2000" b="0">
                <a:solidFill>
                  <a:srgbClr val="1C1C1A"/>
                </a:solidFill>
                <a:latin typeface="Calibri"/>
              </a:rPr>
              <a:t>You sit in the Data and AI team inside Kalpa's Bengaluru global capability centre, and that centre serves all five business units.</a:t>
            </a:r>
          </a:p>
          <a:p>
            <a:pPr>
              <a:spcAft>
                <a:spcPts val="900"/>
              </a:spcAft>
            </a:pPr>
            <a:r>
              <a:rPr sz="2000" b="0">
                <a:solidFill>
                  <a:srgbClr val="1C1C1A"/>
                </a:solidFill>
                <a:latin typeface="Calibri"/>
              </a:rPr>
              <a:t>Each business unit owns its own operations. The Bengaluru centre owns the data, the models and the AI systems that every unit runs on.</a:t>
            </a:r>
          </a:p>
          <a:p>
            <a:pPr>
              <a:spcAft>
                <a:spcPts val="900"/>
              </a:spcAft>
            </a:pPr>
            <a:r>
              <a:rPr sz="2000" b="0">
                <a:solidFill>
                  <a:srgbClr val="1C1C1A"/>
                </a:solidFill>
                <a:latin typeface="Calibri"/>
              </a:rPr>
              <a:t>This cohort is that team's newest member, and it started work this morning.</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mental map</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c81ee94f0b0bdcfe.png"/>
          <p:cNvPicPr>
            <a:picLocks noChangeAspect="1"/>
          </p:cNvPicPr>
          <p:nvPr/>
        </p:nvPicPr>
        <p:blipFill>
          <a:blip r:embed="rId2"/>
          <a:stretch>
            <a:fillRect/>
          </a:stretch>
        </p:blipFill>
        <p:spPr>
          <a:xfrm>
            <a:off x="685800" y="2338945"/>
            <a:ext cx="4652640" cy="3003068"/>
          </a:xfrm>
          <a:prstGeom prst="rect">
            <a:avLst/>
          </a:prstGeom>
        </p:spPr>
      </p:pic>
      <p:sp>
        <p:nvSpPr>
          <p:cNvPr id="7" name="TextBox 6"/>
          <p:cNvSpPr txBox="1"/>
          <p:nvPr/>
        </p:nvSpPr>
        <p:spPr>
          <a:xfrm>
            <a:off x="5771244" y="1627632"/>
            <a:ext cx="5734650" cy="513080"/>
          </a:xfrm>
          <a:prstGeom prst="rect">
            <a:avLst/>
          </a:prstGeom>
          <a:noFill/>
        </p:spPr>
        <p:txBody>
          <a:bodyPr wrap="square" anchor="t" lIns="0" rIns="0" tIns="0" bIns="0">
            <a:spAutoFit/>
          </a:bodyPr>
          <a:lstStyle/>
          <a:p>
            <a:pPr>
              <a:spcAft>
                <a:spcPts val="800"/>
              </a:spcAft>
            </a:pPr>
            <a:r>
              <a:rPr sz="1700" b="0">
                <a:solidFill>
                  <a:srgbClr val="1C1C1A"/>
                </a:solidFill>
                <a:latin typeface="Calibri"/>
              </a:rPr>
              <a:t>Five territories under one group.</a:t>
            </a:r>
          </a:p>
        </p:txBody>
      </p:sp>
      <p:sp>
        <p:nvSpPr>
          <p:cNvPr id="8" name="TextBox 7"/>
          <p:cNvSpPr txBox="1"/>
          <p:nvPr/>
        </p:nvSpPr>
        <p:spPr>
          <a:xfrm>
            <a:off x="5771244" y="2268728"/>
            <a:ext cx="5734650" cy="3594608"/>
          </a:xfrm>
          <a:prstGeom prst="rect">
            <a:avLst/>
          </a:prstGeom>
          <a:noFill/>
        </p:spPr>
        <p:txBody>
          <a:bodyPr wrap="square" anchor="t" lIns="0" rIns="0" tIns="0" bIns="0">
            <a:spAutoFit/>
          </a:bodyPr>
          <a:lstStyle/>
          <a:p>
            <a:pPr>
              <a:spcAft>
                <a:spcPts val="800"/>
              </a:spcAft>
            </a:pPr>
            <a:r>
              <a:rPr sz="1700" b="0">
                <a:solidFill>
                  <a:srgbClr val="1C1C1A"/>
                </a:solidFill>
                <a:latin typeface="Calibri"/>
              </a:rPr>
              <a:t>Kalpa Retail sells consumer goods online and in store across India and South-East Asia.</a:t>
            </a:r>
          </a:p>
          <a:p>
            <a:pPr>
              <a:spcAft>
                <a:spcPts val="800"/>
              </a:spcAft>
            </a:pPr>
            <a:r>
              <a:rPr sz="1700" b="0">
                <a:solidFill>
                  <a:srgbClr val="1C1C1A"/>
                </a:solidFill>
                <a:latin typeface="Calibri"/>
              </a:rPr>
              <a:t>Kalpa Financial Services sells payments and consumer lending.</a:t>
            </a:r>
          </a:p>
          <a:p>
            <a:pPr>
              <a:spcAft>
                <a:spcPts val="800"/>
              </a:spcAft>
            </a:pPr>
            <a:r>
              <a:rPr sz="1700" b="0">
                <a:solidFill>
                  <a:srgbClr val="1C1C1A"/>
                </a:solidFill>
                <a:latin typeface="Calibri"/>
              </a:rPr>
              <a:t>Kalpa Logistics runs last-mile delivery and warehousing for every other unit.</a:t>
            </a:r>
          </a:p>
          <a:p>
            <a:pPr>
              <a:spcAft>
                <a:spcPts val="800"/>
              </a:spcAft>
            </a:pPr>
            <a:r>
              <a:rPr sz="1700" b="0">
                <a:solidFill>
                  <a:srgbClr val="1C1C1A"/>
                </a:solidFill>
                <a:latin typeface="Calibri"/>
              </a:rPr>
              <a:t>Kalpa Health runs diagnostic labs and clinic operations.</a:t>
            </a:r>
          </a:p>
          <a:p>
            <a:pPr>
              <a:spcAft>
                <a:spcPts val="800"/>
              </a:spcAft>
            </a:pPr>
            <a:r>
              <a:rPr sz="1700" b="0">
                <a:solidFill>
                  <a:srgbClr val="1C1C1A"/>
                </a:solidFill>
                <a:latin typeface="Calibri"/>
              </a:rPr>
              <a:t>Kalpa Connect sells mobile, broadband and subscription services.</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1" name="TextBox 10"/>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Which territory you live in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584704"/>
            <a:ext cx="10820095" cy="2511552"/>
          </a:xfrm>
          <a:prstGeom prst="rect">
            <a:avLst/>
          </a:prstGeom>
          <a:noFill/>
        </p:spPr>
        <p:txBody>
          <a:bodyPr wrap="square" anchor="t" lIns="0" rIns="0" tIns="0" bIns="0">
            <a:spAutoFit/>
          </a:bodyPr>
          <a:lstStyle/>
          <a:p>
            <a:pPr>
              <a:spcAft>
                <a:spcPts val="900"/>
              </a:spcAft>
            </a:pPr>
            <a:r>
              <a:rPr sz="2000" b="0">
                <a:solidFill>
                  <a:srgbClr val="1C1C1A"/>
                </a:solidFill>
                <a:latin typeface="Calibri"/>
              </a:rPr>
              <a:t>Teaching lives in Kalpa Retail and stays there. Every demo, every exercise and every take-home on a teaching day works Kalpa Retail records.</a:t>
            </a:r>
          </a:p>
          <a:p>
            <a:pPr>
              <a:spcAft>
                <a:spcPts val="900"/>
              </a:spcAft>
            </a:pPr>
            <a:r>
              <a:rPr sz="2000" b="0">
                <a:solidFill>
                  <a:srgbClr val="1C1C1A"/>
                </a:solidFill>
                <a:latin typeface="Calibri"/>
              </a:rPr>
              <a:t>Build weeks tour the other four units, one sub-problem per unit, so you meet fraud, delivery times, no-shows and churn inside the same company.</a:t>
            </a:r>
          </a:p>
          <a:p>
            <a:pPr>
              <a:spcAft>
                <a:spcPts val="900"/>
              </a:spcAft>
            </a:pPr>
            <a:r>
              <a:rPr sz="2000" b="0">
                <a:solidFill>
                  <a:srgbClr val="1C1C1A"/>
                </a:solidFill>
                <a:latin typeface="Calibri"/>
              </a:rPr>
              <a:t>The domain never changes on a teaching day, because you cannot absorb a new idea and a new business at the same time.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S6a</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Question: why one company for twenty weeks?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lIns="0" rIns="0" tIns="0" bIns="0">
            <a:spAutoFit/>
          </a:bodyPr>
          <a:lstStyle/>
          <a:p>
            <a:pPr>
              <a:spcAft>
                <a:spcPts val="900"/>
              </a:spcAft>
            </a:pPr>
            <a:r>
              <a:rPr sz="2000" b="0">
                <a:solidFill>
                  <a:srgbClr val="1C1C1A"/>
                </a:solidFill>
                <a:latin typeface="Calibri"/>
              </a:rPr>
              <a:t>Commit to one before the next slide.</a:t>
            </a:r>
          </a:p>
          <a:p>
            <a:pPr>
              <a:spcAft>
                <a:spcPts val="900"/>
              </a:spcAft>
            </a:pPr>
            <a:r>
              <a:rPr sz="2000" b="0">
                <a:solidFill>
                  <a:srgbClr val="1C1C1A"/>
                </a:solidFill>
                <a:latin typeface="Calibri"/>
              </a:rPr>
              <a:t>a) It is cheaper to write examples for one company</a:t>
            </a:r>
          </a:p>
          <a:p>
            <a:pPr>
              <a:spcAft>
                <a:spcPts val="900"/>
              </a:spcAft>
            </a:pPr>
            <a:r>
              <a:rPr sz="2000" b="0">
                <a:solidFill>
                  <a:srgbClr val="1C1C1A"/>
                </a:solidFill>
                <a:latin typeface="Calibri"/>
              </a:rPr>
              <a:t>b) It keeps the domain fixed so each new tool lands on records you already know</a:t>
            </a:r>
          </a:p>
          <a:p>
            <a:pPr>
              <a:spcAft>
                <a:spcPts val="900"/>
              </a:spcAft>
            </a:pPr>
            <a:r>
              <a:rPr sz="2000" b="0">
                <a:solidFill>
                  <a:srgbClr val="1C1C1A"/>
                </a:solidFill>
                <a:latin typeface="Calibri"/>
              </a:rPr>
              <a:t>c) Real companies refuse permission for their data</a:t>
            </a:r>
          </a:p>
          <a:p>
            <a:pPr>
              <a:spcAft>
                <a:spcPts val="900"/>
              </a:spcAft>
            </a:pPr>
            <a:r>
              <a:rPr sz="2000" b="0">
                <a:solidFill>
                  <a:srgbClr val="1C1C1A"/>
                </a:solidFill>
                <a:latin typeface="Calibri"/>
              </a:rPr>
              <a:t>d) The exam is set on this company</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S6b</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Answer: the domain stays still, the tool moves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850899"/>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850899"/>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41832" y="1719072"/>
            <a:ext cx="10362895" cy="704595"/>
          </a:xfrm>
          <a:prstGeom prst="rect">
            <a:avLst/>
          </a:prstGeom>
          <a:noFill/>
        </p:spPr>
        <p:txBody>
          <a:bodyPr wrap="square" anchor="ctr" lIns="0" rIns="0" tIns="0" bIns="0">
            <a:spAutoFit/>
          </a:bodyPr>
          <a:lstStyle/>
          <a:p>
            <a:r>
              <a:rPr sz="1700" b="1">
                <a:solidFill>
                  <a:srgbClr val="2B4A7D"/>
                </a:solidFill>
                <a:latin typeface="Calibri"/>
              </a:rPr>
              <a:t>The claim. </a:t>
            </a:r>
            <a:r>
              <a:rPr sz="1700" b="0">
                <a:solidFill>
                  <a:srgbClr val="1C1C1A"/>
                </a:solidFill>
                <a:latin typeface="Calibri"/>
              </a:rPr>
              <a:t>Learners at this level cannot absorb a new concept and a new domain in the same session, so the domain is held still and the toolset moves.</a:t>
            </a:r>
          </a:p>
        </p:txBody>
      </p:sp>
      <p:graphicFrame>
        <p:nvGraphicFramePr>
          <p:cNvPr id="9" name="Table 8"/>
          <p:cNvGraphicFramePr>
            <a:graphicFrameLocks noGrp="1"/>
          </p:cNvGraphicFramePr>
          <p:nvPr/>
        </p:nvGraphicFramePr>
        <p:xfrm>
          <a:off x="685800" y="2643124"/>
          <a:ext cx="10820094" cy="1634744"/>
        </p:xfrm>
        <a:graphic>
          <a:graphicData uri="http://schemas.openxmlformats.org/drawingml/2006/table">
            <a:tbl>
              <a:tblPr firstRow="0" bandRow="0">
                <a:tableStyleId>{2D5ABB26-0587-4C30-8999-92F81FD0307C}</a:tableStyleId>
              </a:tblPr>
              <a:tblGrid>
                <a:gridCol w="2749166"/>
                <a:gridCol w="8070928"/>
              </a:tblGrid>
              <a:tr h="352552">
                <a:tc>
                  <a:txBody>
                    <a:bodyPr/>
                    <a:lstStyle/>
                    <a:p>
                      <a:r>
                        <a:rPr sz="1400" b="1">
                          <a:solidFill>
                            <a:srgbClr val="FFFFFF"/>
                          </a:solidFill>
                          <a:latin typeface="Calibri"/>
                        </a:rPr>
                        <a:t>Option</a:t>
                      </a:r>
                    </a:p>
                  </a:txBody>
                  <a:tcPr marL="101600" marR="101600" marT="38100" marB="38100" anchor="ctr">
                    <a:solidFill>
                      <a:srgbClr val="2B4A7D"/>
                    </a:solidFill>
                  </a:tcPr>
                </a:tc>
                <a:tc>
                  <a:txBody>
                    <a:bodyPr/>
                    <a:lstStyle/>
                    <a:p>
                      <a:r>
                        <a:rPr sz="1400" b="1">
                          <a:solidFill>
                            <a:srgbClr val="FFFFFF"/>
                          </a:solidFill>
                          <a:latin typeface="Calibri"/>
                        </a:rPr>
                        <a:t>Why it does not hold</a:t>
                      </a:r>
                    </a:p>
                  </a:txBody>
                  <a:tcPr marL="101600" marR="101600" marT="38100" marB="38100" anchor="ctr">
                    <a:solidFill>
                      <a:srgbClr val="2B4A7D"/>
                    </a:solidFill>
                  </a:tcPr>
                </a:tc>
              </a:tr>
              <a:tr h="577088">
                <a:tc>
                  <a:txBody>
                    <a:bodyPr/>
                    <a:lstStyle/>
                    <a:p>
                      <a:r>
                        <a:rPr sz="1300" b="0">
                          <a:solidFill>
                            <a:srgbClr val="1C1C1A"/>
                          </a:solidFill>
                          <a:latin typeface="Calibri"/>
                        </a:rPr>
                        <a:t>a) Cheaper to write</a:t>
                      </a:r>
                    </a:p>
                  </a:txBody>
                  <a:tcPr marL="101600" marR="101600" marT="38100" marB="38100" anchor="ctr">
                    <a:solidFill>
                      <a:srgbClr val="FFFFFF"/>
                    </a:solidFill>
                  </a:tcPr>
                </a:tc>
                <a:tc>
                  <a:txBody>
                    <a:bodyPr/>
                    <a:lstStyle/>
                    <a:p>
                      <a:r>
                        <a:rPr sz="1300" b="0">
                          <a:solidFill>
                            <a:srgbClr val="1C1C1A"/>
                          </a:solidFill>
                          <a:latin typeface="Calibri"/>
                        </a:rPr>
                        <a:t>True and beside the point. The reason is what it does to the learner rather than to the author.</a:t>
                      </a:r>
                    </a:p>
                  </a:txBody>
                  <a:tcPr marL="101600" marR="101600" marT="38100" marB="38100" anchor="ctr">
                    <a:solidFill>
                      <a:srgbClr val="FFFFFF"/>
                    </a:solidFill>
                  </a:tcPr>
                </a:tc>
              </a:tr>
              <a:tr h="352552">
                <a:tc>
                  <a:txBody>
                    <a:bodyPr/>
                    <a:lstStyle/>
                    <a:p>
                      <a:r>
                        <a:rPr sz="1300" b="0">
                          <a:solidFill>
                            <a:srgbClr val="1C1C1A"/>
                          </a:solidFill>
                          <a:latin typeface="Calibri"/>
                        </a:rPr>
                        <a:t>c) Permission</a:t>
                      </a:r>
                    </a:p>
                  </a:txBody>
                  <a:tcPr marL="101600" marR="101600" marT="38100" marB="38100" anchor="ctr">
                    <a:solidFill>
                      <a:srgbClr val="F7F7F5"/>
                    </a:solidFill>
                  </a:tcPr>
                </a:tc>
                <a:tc>
                  <a:txBody>
                    <a:bodyPr/>
                    <a:lstStyle/>
                    <a:p>
                      <a:r>
                        <a:rPr sz="1300" b="0">
                          <a:solidFill>
                            <a:srgbClr val="1C1C1A"/>
                          </a:solidFill>
                          <a:latin typeface="Calibri"/>
                        </a:rPr>
                        <a:t>Kalpa is fictional, so permission was never the constraint.</a:t>
                      </a:r>
                    </a:p>
                  </a:txBody>
                  <a:tcPr marL="101600" marR="101600" marT="38100" marB="38100" anchor="ctr">
                    <a:solidFill>
                      <a:srgbClr val="F7F7F5"/>
                    </a:solidFill>
                  </a:tcPr>
                </a:tc>
              </a:tr>
              <a:tr h="352552">
                <a:tc>
                  <a:txBody>
                    <a:bodyPr/>
                    <a:lstStyle/>
                    <a:p>
                      <a:r>
                        <a:rPr sz="1300" b="0">
                          <a:solidFill>
                            <a:srgbClr val="1C1C1A"/>
                          </a:solidFill>
                          <a:latin typeface="Calibri"/>
                        </a:rPr>
                        <a:t>d) The exam</a:t>
                      </a:r>
                    </a:p>
                  </a:txBody>
                  <a:tcPr marL="101600" marR="101600" marT="38100" marB="38100" anchor="ctr">
                    <a:solidFill>
                      <a:srgbClr val="FFFFFF"/>
                    </a:solidFill>
                  </a:tcPr>
                </a:tc>
                <a:tc>
                  <a:txBody>
                    <a:bodyPr/>
                    <a:lstStyle/>
                    <a:p>
                      <a:r>
                        <a:rPr sz="1300" b="0">
                          <a:solidFill>
                            <a:srgbClr val="1C1C1A"/>
                          </a:solidFill>
                          <a:latin typeface="Calibri"/>
                        </a:rPr>
                        <a:t>Nothing about assessment is stated here, and the reason would not change if it were.</a:t>
                      </a:r>
                    </a:p>
                  </a:txBody>
                  <a:tcPr marL="101600" marR="101600" marT="38100" marB="38100" anchor="ctr">
                    <a:solidFill>
                      <a:srgbClr val="FFFFFF"/>
                    </a:solidFill>
                  </a:tcPr>
                </a:tc>
              </a:tr>
            </a:tbl>
          </a:graphicData>
        </a:graphic>
      </p:graphicFrame>
      <p:sp>
        <p:nvSpPr>
          <p:cNvPr id="10" name="Rectangle 9"/>
          <p:cNvSpPr/>
          <p:nvPr/>
        </p:nvSpPr>
        <p:spPr>
          <a:xfrm>
            <a:off x="685800" y="4533900"/>
            <a:ext cx="10820095" cy="1157477"/>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4533900"/>
            <a:ext cx="50292" cy="1157477"/>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625340"/>
            <a:ext cx="10362895" cy="1011173"/>
          </a:xfrm>
          <a:prstGeom prst="rect">
            <a:avLst/>
          </a:prstGeom>
          <a:noFill/>
        </p:spPr>
        <p:txBody>
          <a:bodyPr wrap="square" anchor="ctr" lIns="0" rIns="0" tIns="0" bIns="0">
            <a:spAutoFit/>
          </a:bodyPr>
          <a:lstStyle/>
          <a:p>
            <a:r>
              <a:rPr sz="1700" b="1">
                <a:solidFill>
                  <a:srgbClr val="2B4A7D"/>
                </a:solidFill>
                <a:latin typeface="Calibri"/>
              </a:rPr>
              <a:t>The mental model. </a:t>
            </a:r>
            <a:r>
              <a:rPr sz="1700" b="0">
                <a:solidFill>
                  <a:srgbClr val="1C1C1A"/>
                </a:solidFill>
                <a:latin typeface="Calibri"/>
              </a:rPr>
              <a:t>Switching from one retailer to a ride-hailing firm to a food-delivery app between examples resets the learner every time. The same thirty orders, re-expressed as the toolset grows, means every new tool arrives with the answer already known.</a:t>
            </a:r>
          </a:p>
        </p:txBody>
      </p:sp>
      <p:sp>
        <p:nvSpPr>
          <p:cNvPr id="13" name="Rectangle 12"/>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5" name="TextBox 14"/>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S7</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entity picture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e50df6227d1ecfbb.png"/>
          <p:cNvPicPr>
            <a:picLocks noChangeAspect="1"/>
          </p:cNvPicPr>
          <p:nvPr/>
        </p:nvPicPr>
        <p:blipFill>
          <a:blip r:embed="rId2"/>
          <a:stretch>
            <a:fillRect/>
          </a:stretch>
        </p:blipFill>
        <p:spPr>
          <a:xfrm>
            <a:off x="2178961" y="1627632"/>
            <a:ext cx="7833772" cy="3805935"/>
          </a:xfrm>
          <a:prstGeom prst="rect">
            <a:avLst/>
          </a:prstGeom>
        </p:spPr>
      </p:pic>
      <p:sp>
        <p:nvSpPr>
          <p:cNvPr id="7" name="TextBox 6"/>
          <p:cNvSpPr txBox="1"/>
          <p:nvPr/>
        </p:nvSpPr>
        <p:spPr>
          <a:xfrm>
            <a:off x="685800" y="5543296"/>
            <a:ext cx="10820095" cy="510032"/>
          </a:xfrm>
          <a:prstGeom prst="rect">
            <a:avLst/>
          </a:prstGeom>
          <a:noFill/>
        </p:spPr>
        <p:txBody>
          <a:bodyPr wrap="square" anchor="t" lIns="0" rIns="0" tIns="0" bIns="0">
            <a:spAutoFit/>
          </a:bodyPr>
          <a:lstStyle/>
          <a:p>
            <a:r>
              <a:rPr sz="2000" b="0">
                <a:solidFill>
                  <a:srgbClr val="1C1C1A"/>
                </a:solidFill>
                <a:latin typeface="Calibri"/>
              </a:rPr>
              <a:t>These are the tables of Kalpa Retail. Today you meet one of them, as a list.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S8</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What each table holds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901952"/>
            <a:ext cx="10820095" cy="3877056"/>
          </a:xfrm>
          <a:prstGeom prst="rect">
            <a:avLst/>
          </a:prstGeom>
          <a:noFill/>
        </p:spPr>
        <p:txBody>
          <a:bodyPr wrap="square" anchor="t" lIns="0" rIns="0" tIns="0" bIns="0">
            <a:spAutoFit/>
          </a:bodyPr>
          <a:lstStyle/>
          <a:p>
            <a:pPr>
              <a:spcAft>
                <a:spcPts val="900"/>
              </a:spcAft>
            </a:pPr>
            <a:r>
              <a:rPr sz="2000" b="0">
                <a:solidFill>
                  <a:srgbClr val="1C1C1A"/>
                </a:solidFill>
                <a:latin typeface="Calibri"/>
              </a:rPr>
              <a:t>CUSTOMERS holds one row per person who buys from Kalpa Retail, with the segment they sit in and the city they buy from.</a:t>
            </a:r>
          </a:p>
          <a:p>
            <a:pPr>
              <a:spcAft>
                <a:spcPts val="900"/>
              </a:spcAft>
            </a:pPr>
            <a:r>
              <a:rPr sz="2000" b="0">
                <a:solidFill>
                  <a:srgbClr val="1C1C1A"/>
                </a:solidFill>
                <a:latin typeface="Calibri"/>
              </a:rPr>
              <a:t>ORDERS holds one row per order, with its date, its amount in Rs and its status.</a:t>
            </a:r>
          </a:p>
          <a:p>
            <a:pPr>
              <a:spcAft>
                <a:spcPts val="900"/>
              </a:spcAft>
            </a:pPr>
            <a:r>
              <a:rPr sz="2000" b="0">
                <a:solidFill>
                  <a:srgbClr val="1C1C1A"/>
                </a:solidFill>
                <a:latin typeface="Calibri"/>
              </a:rPr>
              <a:t>ORDER_ITEMS holds one row per product inside an order, with the quantity ordered.</a:t>
            </a:r>
          </a:p>
          <a:p>
            <a:pPr>
              <a:spcAft>
                <a:spcPts val="900"/>
              </a:spcAft>
            </a:pPr>
            <a:r>
              <a:rPr sz="2000" b="0">
                <a:solidFill>
                  <a:srgbClr val="1C1C1A"/>
                </a:solidFill>
                <a:latin typeface="Calibri"/>
              </a:rPr>
              <a:t>PAYMENTS holds one row per payment that settles an order, with the amount actually paid.</a:t>
            </a:r>
          </a:p>
          <a:p>
            <a:pPr>
              <a:spcAft>
                <a:spcPts val="900"/>
              </a:spcAft>
            </a:pPr>
            <a:r>
              <a:rPr sz="2000" b="0">
                <a:solidFill>
                  <a:srgbClr val="1C1C1A"/>
                </a:solidFill>
                <a:latin typeface="Calibri"/>
              </a:rPr>
              <a:t>PRODUCTS holds one row per product, with its category and its list price.</a:t>
            </a:r>
          </a:p>
          <a:p>
            <a:pPr>
              <a:spcAft>
                <a:spcPts val="900"/>
              </a:spcAft>
            </a:pPr>
            <a:r>
              <a:rPr sz="2000" b="0">
                <a:solidFill>
                  <a:srgbClr val="1C1C1A"/>
                </a:solidFill>
                <a:latin typeface="Calibri"/>
              </a:rPr>
              <a:t>EVENTS holds one row per thing a customer did, such as a visit, a search or a checkout, with the moment it happened.</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S9</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The same records, five shapes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1844040"/>
          </a:xfrm>
          <a:prstGeom prst="rect">
            <a:avLst/>
          </a:prstGeom>
          <a:noFill/>
        </p:spPr>
        <p:txBody>
          <a:bodyPr wrap="square" anchor="t" lIns="0" rIns="0" tIns="0" bIns="0">
            <a:spAutoFit/>
          </a:bodyPr>
          <a:lstStyle/>
          <a:p>
            <a:pPr>
              <a:spcAft>
                <a:spcPts val="700"/>
              </a:spcAft>
            </a:pPr>
            <a:r>
              <a:rPr sz="1500" b="0">
                <a:solidFill>
                  <a:srgbClr val="1C1C1A"/>
                </a:solidFill>
                <a:latin typeface="Calibri"/>
              </a:rPr>
              <a:t>The thirty orders in front of you are a Python list today.</a:t>
            </a:r>
          </a:p>
          <a:p>
            <a:pPr>
              <a:spcAft>
                <a:spcPts val="700"/>
              </a:spcAft>
            </a:pPr>
            <a:r>
              <a:rPr sz="1500" b="0">
                <a:solidFill>
                  <a:srgbClr val="1C1C1A"/>
                </a:solidFill>
                <a:latin typeface="Calibri"/>
              </a:rPr>
              <a:t>The same records become a table in Postgres in Week 2, and a DataFrame in pandas in the same week.</a:t>
            </a:r>
          </a:p>
          <a:p>
            <a:pPr>
              <a:spcAft>
                <a:spcPts val="700"/>
              </a:spcAft>
            </a:pPr>
            <a:r>
              <a:rPr sz="1500" b="0">
                <a:solidFill>
                  <a:srgbClr val="1C1C1A"/>
                </a:solidFill>
                <a:latin typeface="Calibri"/>
              </a:rPr>
              <a:t>They become a feature table when the modelling weeks arrive, and a document corpus when retrieval arrives in Weeks 11 and 12.</a:t>
            </a:r>
          </a:p>
          <a:p>
            <a:pPr>
              <a:spcAft>
                <a:spcPts val="700"/>
              </a:spcAft>
            </a:pPr>
            <a:r>
              <a:rPr sz="1500" b="0">
                <a:solidFill>
                  <a:srgbClr val="1C1C1A"/>
                </a:solidFill>
                <a:latin typeface="Calibri"/>
              </a:rPr>
              <a:t>The tool changes every few weeks. The company is the one thing that does not.</a:t>
            </a:r>
          </a:p>
        </p:txBody>
      </p:sp>
      <p:pic>
        <p:nvPicPr>
          <p:cNvPr id="7" name="Picture 6" descr="940afbea73682148.png"/>
          <p:cNvPicPr>
            <a:picLocks noChangeAspect="1"/>
          </p:cNvPicPr>
          <p:nvPr/>
        </p:nvPicPr>
        <p:blipFill>
          <a:blip r:embed="rId2"/>
          <a:stretch>
            <a:fillRect/>
          </a:stretch>
        </p:blipFill>
        <p:spPr>
          <a:xfrm>
            <a:off x="685800" y="4503938"/>
            <a:ext cx="10820095" cy="721339"/>
          </a:xfrm>
          <a:prstGeom prst="rect">
            <a:avLst/>
          </a:prstGeom>
        </p:spPr>
      </p:pic>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S10</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Draw it back</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584704"/>
            <a:ext cx="10820095" cy="2511552"/>
          </a:xfrm>
          <a:prstGeom prst="rect">
            <a:avLst/>
          </a:prstGeom>
          <a:noFill/>
        </p:spPr>
        <p:txBody>
          <a:bodyPr wrap="square" anchor="t" lIns="0" rIns="0" tIns="0" bIns="0">
            <a:spAutoFit/>
          </a:bodyPr>
          <a:lstStyle/>
          <a:p>
            <a:pPr>
              <a:spcAft>
                <a:spcPts val="900"/>
              </a:spcAft>
            </a:pPr>
            <a:r>
              <a:rPr sz="2000" b="0">
                <a:solidFill>
                  <a:srgbClr val="1C1C1A"/>
                </a:solidFill>
                <a:latin typeface="Calibri"/>
              </a:rPr>
              <a:t>Close the laptop and take a sheet of paper.</a:t>
            </a:r>
          </a:p>
          <a:p>
            <a:pPr>
              <a:spcAft>
                <a:spcPts val="900"/>
              </a:spcAft>
            </a:pPr>
            <a:r>
              <a:rPr sz="2000" b="0">
                <a:solidFill>
                  <a:srgbClr val="1C1C1A"/>
                </a:solidFill>
                <a:latin typeface="Calibri"/>
              </a:rPr>
              <a:t>In 3 minutes, draw Kalpa from memory: five boxes for the five units, then the six tables of Kalpa Retail with the lines that join them.</a:t>
            </a:r>
          </a:p>
          <a:p>
            <a:pPr>
              <a:spcAft>
                <a:spcPts val="900"/>
              </a:spcAft>
            </a:pPr>
            <a:r>
              <a:rPr sz="2000" b="0">
                <a:solidFill>
                  <a:srgbClr val="1C1C1A"/>
                </a:solidFill>
                <a:latin typeface="Calibri"/>
              </a:rPr>
              <a:t>Compare with the person next to you and fix whichever box either of you missed. By the end of this week you should be able to draw this from memory, because every example for the rest of the programme lands inside it.</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One disclaimer, said once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85008"/>
            <a:ext cx="10820095" cy="1710944"/>
          </a:xfrm>
          <a:prstGeom prst="rect">
            <a:avLst/>
          </a:prstGeom>
          <a:noFill/>
        </p:spPr>
        <p:txBody>
          <a:bodyPr wrap="square" anchor="t" lIns="0" rIns="0" tIns="0" bIns="0">
            <a:spAutoFit/>
          </a:bodyPr>
          <a:lstStyle/>
          <a:p>
            <a:pPr>
              <a:spcAft>
                <a:spcPts val="900"/>
              </a:spcAft>
            </a:pPr>
            <a:r>
              <a:rPr sz="2000" b="0">
                <a:solidFill>
                  <a:srgbClr val="1C1C1A"/>
                </a:solidFill>
                <a:latin typeface="Calibri"/>
              </a:rPr>
              <a:t>Kalpa Group is fictional. Any resemblance to a real company is coincidental.</a:t>
            </a:r>
          </a:p>
          <a:p>
            <a:pPr>
              <a:spcAft>
                <a:spcPts val="900"/>
              </a:spcAft>
            </a:pPr>
            <a:r>
              <a:rPr sz="2000" b="0">
                <a:solidFill>
                  <a:srgbClr val="1C1C1A"/>
                </a:solidFill>
                <a:latin typeface="Calibri"/>
              </a:rPr>
              <a:t>The problems are real, the data behaves the way real data behaves, and the company is a teaching device that lets you grow inside one business instead of re-orienting to a new one every session.</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2: THE JOURNEY</a:t>
            </a:r>
          </a:p>
        </p:txBody>
      </p:sp>
      <p:sp>
        <p:nvSpPr>
          <p:cNvPr id="4" name="Rounded Rectangle 3"/>
          <p:cNvSpPr/>
          <p:nvPr/>
        </p:nvSpPr>
        <p:spPr>
          <a:xfrm>
            <a:off x="685800"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company</a:t>
            </a:r>
          </a:p>
        </p:txBody>
      </p:sp>
      <p:sp>
        <p:nvSpPr>
          <p:cNvPr id="5" name="Rounded Rectangle 4"/>
          <p:cNvSpPr/>
          <p:nvPr/>
        </p:nvSpPr>
        <p:spPr>
          <a:xfrm>
            <a:off x="4329074" y="4754880"/>
            <a:ext cx="353354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the journey</a:t>
            </a:r>
          </a:p>
        </p:txBody>
      </p:sp>
      <p:sp>
        <p:nvSpPr>
          <p:cNvPr id="6" name="Rounded Rectangle 5"/>
          <p:cNvSpPr/>
          <p:nvPr/>
        </p:nvSpPr>
        <p:spPr>
          <a:xfrm>
            <a:off x="7972348"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room</a:t>
            </a:r>
          </a:p>
        </p:txBody>
      </p:sp>
      <p:sp>
        <p:nvSpPr>
          <p:cNvPr id="7" name="Rectangle 6"/>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The programme in five phases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564896"/>
          </a:xfrm>
          <a:prstGeom prst="rect">
            <a:avLst/>
          </a:prstGeom>
          <a:noFill/>
        </p:spPr>
        <p:txBody>
          <a:bodyPr wrap="square" anchor="t" lIns="0" rIns="0" tIns="0" bIns="0">
            <a:spAutoFit/>
          </a:bodyPr>
          <a:lstStyle/>
          <a:p>
            <a:pPr>
              <a:spcAft>
                <a:spcPts val="900"/>
              </a:spcAft>
            </a:pPr>
            <a:r>
              <a:rPr sz="2000" b="0">
                <a:solidFill>
                  <a:srgbClr val="1C1C1A"/>
                </a:solidFill>
                <a:latin typeface="Calibri"/>
              </a:rPr>
              <a:t>Each phase is a promise about what you can do when it closes.</a:t>
            </a:r>
          </a:p>
        </p:txBody>
      </p:sp>
      <p:graphicFrame>
        <p:nvGraphicFramePr>
          <p:cNvPr id="7" name="Table 6"/>
          <p:cNvGraphicFramePr>
            <a:graphicFrameLocks noGrp="1"/>
          </p:cNvGraphicFramePr>
          <p:nvPr/>
        </p:nvGraphicFramePr>
        <p:xfrm>
          <a:off x="685800" y="2320544"/>
          <a:ext cx="10820093" cy="2377440"/>
        </p:xfrm>
        <a:graphic>
          <a:graphicData uri="http://schemas.openxmlformats.org/drawingml/2006/table">
            <a:tbl>
              <a:tblPr firstRow="0" bandRow="0">
                <a:tableStyleId>{2D5ABB26-0587-4C30-8999-92F81FD0307C}</a:tableStyleId>
              </a:tblPr>
              <a:tblGrid>
                <a:gridCol w="1343028"/>
                <a:gridCol w="1488597"/>
                <a:gridCol w="7988468"/>
              </a:tblGrid>
              <a:tr h="310896">
                <a:tc>
                  <a:txBody>
                    <a:bodyPr/>
                    <a:lstStyle/>
                    <a:p>
                      <a:r>
                        <a:rPr sz="1000" b="1">
                          <a:solidFill>
                            <a:srgbClr val="FFFFFF"/>
                          </a:solidFill>
                          <a:latin typeface="Calibri"/>
                        </a:rPr>
                        <a:t>Phase</a:t>
                      </a:r>
                    </a:p>
                  </a:txBody>
                  <a:tcPr marL="101600" marR="101600" marT="38100" marB="38100" anchor="ctr">
                    <a:solidFill>
                      <a:srgbClr val="2B4A7D"/>
                    </a:solidFill>
                  </a:tcPr>
                </a:tc>
                <a:tc>
                  <a:txBody>
                    <a:bodyPr/>
                    <a:lstStyle/>
                    <a:p>
                      <a:r>
                        <a:rPr sz="1000" b="1">
                          <a:solidFill>
                            <a:srgbClr val="FFFFFF"/>
                          </a:solidFill>
                          <a:latin typeface="Calibri"/>
                        </a:rPr>
                        <a:t>Weeks</a:t>
                      </a:r>
                    </a:p>
                  </a:txBody>
                  <a:tcPr marL="101600" marR="101600" marT="38100" marB="38100" anchor="ctr">
                    <a:solidFill>
                      <a:srgbClr val="2B4A7D"/>
                    </a:solidFill>
                  </a:tcPr>
                </a:tc>
                <a:tc>
                  <a:txBody>
                    <a:bodyPr/>
                    <a:lstStyle/>
                    <a:p>
                      <a:r>
                        <a:rPr sz="1000" b="1">
                          <a:solidFill>
                            <a:srgbClr val="FFFFFF"/>
                          </a:solidFill>
                          <a:latin typeface="Calibri"/>
                        </a:rPr>
                        <a:t>What you can do when it closes</a:t>
                      </a:r>
                    </a:p>
                  </a:txBody>
                  <a:tcPr marL="101600" marR="101600" marT="38100" marB="38100" anchor="ctr">
                    <a:solidFill>
                      <a:srgbClr val="2B4A7D"/>
                    </a:solidFill>
                  </a:tcPr>
                </a:tc>
              </a:tr>
              <a:tr h="438912">
                <a:tc>
                  <a:txBody>
                    <a:bodyPr/>
                    <a:lstStyle/>
                    <a:p>
                      <a:r>
                        <a:rPr sz="900" b="0">
                          <a:solidFill>
                            <a:srgbClr val="1C1C1A"/>
                          </a:solidFill>
                          <a:latin typeface="Calibri"/>
                        </a:rPr>
                        <a:t>Genesis</a:t>
                      </a:r>
                    </a:p>
                  </a:txBody>
                  <a:tcPr marL="101600" marR="101600" marT="38100" marB="38100" anchor="ctr">
                    <a:solidFill>
                      <a:srgbClr val="FFFFFF"/>
                    </a:solidFill>
                  </a:tcPr>
                </a:tc>
                <a:tc>
                  <a:txBody>
                    <a:bodyPr/>
                    <a:lstStyle/>
                    <a:p>
                      <a:r>
                        <a:rPr sz="900" b="0">
                          <a:solidFill>
                            <a:srgbClr val="1C1C1A"/>
                          </a:solidFill>
                          <a:latin typeface="Calibri"/>
                        </a:rPr>
                        <a:t>1 to 4</a:t>
                      </a:r>
                    </a:p>
                  </a:txBody>
                  <a:tcPr marL="101600" marR="101600" marT="38100" marB="38100" anchor="ctr">
                    <a:solidFill>
                      <a:srgbClr val="FFFFFF"/>
                    </a:solidFill>
                  </a:tcPr>
                </a:tc>
                <a:tc>
                  <a:txBody>
                    <a:bodyPr/>
                    <a:lstStyle/>
                    <a:p>
                      <a:r>
                        <a:rPr sz="900" b="0">
                          <a:solidFill>
                            <a:srgbClr val="1C1C1A"/>
                          </a:solidFill>
                          <a:latin typeface="Calibri"/>
                        </a:rPr>
                        <a:t>You can take a file nobody prepared, clean it, query it in SQL, reshape it in pandas, and turn it into the metrics a business decision rests on.</a:t>
                      </a:r>
                    </a:p>
                  </a:txBody>
                  <a:tcPr marL="101600" marR="101600" marT="38100" marB="38100" anchor="ctr">
                    <a:solidFill>
                      <a:srgbClr val="FFFFFF"/>
                    </a:solidFill>
                  </a:tcPr>
                </a:tc>
              </a:tr>
              <a:tr h="438912">
                <a:tc>
                  <a:txBody>
                    <a:bodyPr/>
                    <a:lstStyle/>
                    <a:p>
                      <a:r>
                        <a:rPr sz="900" b="0">
                          <a:solidFill>
                            <a:srgbClr val="1C1C1A"/>
                          </a:solidFill>
                          <a:latin typeface="Calibri"/>
                        </a:rPr>
                        <a:t>Forge</a:t>
                      </a:r>
                    </a:p>
                  </a:txBody>
                  <a:tcPr marL="101600" marR="101600" marT="38100" marB="38100" anchor="ctr">
                    <a:solidFill>
                      <a:srgbClr val="F7F7F5"/>
                    </a:solidFill>
                  </a:tcPr>
                </a:tc>
                <a:tc>
                  <a:txBody>
                    <a:bodyPr/>
                    <a:lstStyle/>
                    <a:p>
                      <a:r>
                        <a:rPr sz="900" b="0">
                          <a:solidFill>
                            <a:srgbClr val="1C1C1A"/>
                          </a:solidFill>
                          <a:latin typeface="Calibri"/>
                        </a:rPr>
                        <a:t>5 to 8</a:t>
                      </a:r>
                    </a:p>
                  </a:txBody>
                  <a:tcPr marL="101600" marR="101600" marT="38100" marB="38100" anchor="ctr">
                    <a:solidFill>
                      <a:srgbClr val="F7F7F5"/>
                    </a:solidFill>
                  </a:tcPr>
                </a:tc>
                <a:tc>
                  <a:txBody>
                    <a:bodyPr/>
                    <a:lstStyle/>
                    <a:p>
                      <a:r>
                        <a:rPr sz="900" b="0">
                          <a:solidFill>
                            <a:srgbClr val="1C1C1A"/>
                          </a:solidFill>
                          <a:latin typeface="Calibri"/>
                        </a:rPr>
                        <a:t>You can frame a problem as a model, train it, say honestly how well it works and where it fails, and explain what a language model does when it produces the next token.</a:t>
                      </a:r>
                    </a:p>
                  </a:txBody>
                  <a:tcPr marL="101600" marR="101600" marT="38100" marB="38100" anchor="ctr">
                    <a:solidFill>
                      <a:srgbClr val="F7F7F5"/>
                    </a:solidFill>
                  </a:tcPr>
                </a:tc>
              </a:tr>
              <a:tr h="438912">
                <a:tc>
                  <a:txBody>
                    <a:bodyPr/>
                    <a:lstStyle/>
                    <a:p>
                      <a:r>
                        <a:rPr sz="900" b="0">
                          <a:solidFill>
                            <a:srgbClr val="1C1C1A"/>
                          </a:solidFill>
                          <a:latin typeface="Calibri"/>
                        </a:rPr>
                        <a:t>Ascent</a:t>
                      </a:r>
                    </a:p>
                  </a:txBody>
                  <a:tcPr marL="101600" marR="101600" marT="38100" marB="38100" anchor="ctr">
                    <a:solidFill>
                      <a:srgbClr val="FFFFFF"/>
                    </a:solidFill>
                  </a:tcPr>
                </a:tc>
                <a:tc>
                  <a:txBody>
                    <a:bodyPr/>
                    <a:lstStyle/>
                    <a:p>
                      <a:r>
                        <a:rPr sz="900" b="0">
                          <a:solidFill>
                            <a:srgbClr val="1C1C1A"/>
                          </a:solidFill>
                          <a:latin typeface="Calibri"/>
                        </a:rPr>
                        <a:t>9 to 12</a:t>
                      </a:r>
                    </a:p>
                  </a:txBody>
                  <a:tcPr marL="101600" marR="101600" marT="38100" marB="38100" anchor="ctr">
                    <a:solidFill>
                      <a:srgbClr val="FFFFFF"/>
                    </a:solidFill>
                  </a:tcPr>
                </a:tc>
                <a:tc>
                  <a:txBody>
                    <a:bodyPr/>
                    <a:lstStyle/>
                    <a:p>
                      <a:r>
                        <a:rPr sz="900" b="0">
                          <a:solidFill>
                            <a:srgbClr val="1C1C1A"/>
                          </a:solidFill>
                          <a:latin typeface="Calibri"/>
                        </a:rPr>
                        <a:t>You can build with a generative model and ship a retrieval assistant that answers from Kalpa's own documents and refuses when the documents do not answer.</a:t>
                      </a:r>
                    </a:p>
                  </a:txBody>
                  <a:tcPr marL="101600" marR="101600" marT="38100" marB="38100" anchor="ctr">
                    <a:solidFill>
                      <a:srgbClr val="FFFFFF"/>
                    </a:solidFill>
                  </a:tcPr>
                </a:tc>
              </a:tr>
              <a:tr h="438912">
                <a:tc>
                  <a:txBody>
                    <a:bodyPr/>
                    <a:lstStyle/>
                    <a:p>
                      <a:r>
                        <a:rPr sz="900" b="0">
                          <a:solidFill>
                            <a:srgbClr val="1C1C1A"/>
                          </a:solidFill>
                          <a:latin typeface="Calibri"/>
                        </a:rPr>
                        <a:t>Build</a:t>
                      </a:r>
                    </a:p>
                  </a:txBody>
                  <a:tcPr marL="101600" marR="101600" marT="38100" marB="38100" anchor="ctr">
                    <a:solidFill>
                      <a:srgbClr val="F7F7F5"/>
                    </a:solidFill>
                  </a:tcPr>
                </a:tc>
                <a:tc>
                  <a:txBody>
                    <a:bodyPr/>
                    <a:lstStyle/>
                    <a:p>
                      <a:r>
                        <a:rPr sz="900" b="0">
                          <a:solidFill>
                            <a:srgbClr val="1C1C1A"/>
                          </a:solidFill>
                          <a:latin typeface="Calibri"/>
                        </a:rPr>
                        <a:t>13 to 16</a:t>
                      </a:r>
                    </a:p>
                  </a:txBody>
                  <a:tcPr marL="101600" marR="101600" marT="38100" marB="38100" anchor="ctr">
                    <a:solidFill>
                      <a:srgbClr val="F7F7F5"/>
                    </a:solidFill>
                  </a:tcPr>
                </a:tc>
                <a:tc>
                  <a:txBody>
                    <a:bodyPr/>
                    <a:lstStyle/>
                    <a:p>
                      <a:r>
                        <a:rPr sz="900" b="0">
                          <a:solidFill>
                            <a:srgbClr val="1C1C1A"/>
                          </a:solidFill>
                          <a:latin typeface="Calibri"/>
                        </a:rPr>
                        <a:t>You can build an agentic system that uses tools, and run it under production conditions where cost, latency and failure are measured.</a:t>
                      </a:r>
                    </a:p>
                  </a:txBody>
                  <a:tcPr marL="101600" marR="101600" marT="38100" marB="38100" anchor="ctr">
                    <a:solidFill>
                      <a:srgbClr val="F7F7F5"/>
                    </a:solidFill>
                  </a:tcPr>
                </a:tc>
              </a:tr>
              <a:tr h="310896">
                <a:tc>
                  <a:txBody>
                    <a:bodyPr/>
                    <a:lstStyle/>
                    <a:p>
                      <a:r>
                        <a:rPr sz="900" b="0">
                          <a:solidFill>
                            <a:srgbClr val="1C1C1A"/>
                          </a:solidFill>
                          <a:latin typeface="Calibri"/>
                        </a:rPr>
                        <a:t>Launch</a:t>
                      </a:r>
                    </a:p>
                  </a:txBody>
                  <a:tcPr marL="101600" marR="101600" marT="38100" marB="38100" anchor="ctr">
                    <a:solidFill>
                      <a:srgbClr val="FFFFFF"/>
                    </a:solidFill>
                  </a:tcPr>
                </a:tc>
                <a:tc>
                  <a:txBody>
                    <a:bodyPr/>
                    <a:lstStyle/>
                    <a:p>
                      <a:r>
                        <a:rPr sz="900" b="0">
                          <a:solidFill>
                            <a:srgbClr val="1C1C1A"/>
                          </a:solidFill>
                          <a:latin typeface="Calibri"/>
                        </a:rPr>
                        <a:t>17 to 20</a:t>
                      </a:r>
                    </a:p>
                  </a:txBody>
                  <a:tcPr marL="101600" marR="101600" marT="38100" marB="38100" anchor="ctr">
                    <a:solidFill>
                      <a:srgbClr val="FFFFFF"/>
                    </a:solidFill>
                  </a:tcPr>
                </a:tc>
                <a:tc>
                  <a:txBody>
                    <a:bodyPr/>
                    <a:lstStyle/>
                    <a:p>
                      <a:r>
                        <a:rPr sz="900" b="0">
                          <a:solidFill>
                            <a:srgbClr val="1C1C1A"/>
                          </a:solidFill>
                          <a:latin typeface="Calibri"/>
                        </a:rPr>
                        <a:t>You can carry one problem from a brief to a working system and defend it in front of a panel.</a:t>
                      </a:r>
                    </a:p>
                  </a:txBody>
                  <a:tcPr marL="101600" marR="101600" marT="38100" marB="38100" anchor="ctr">
                    <a:solidFill>
                      <a:srgbClr val="FFFFFF"/>
                    </a:solidFill>
                  </a:tcPr>
                </a:tc>
              </a:tr>
            </a:tbl>
          </a:graphicData>
        </a:graphic>
      </p:graphicFrame>
      <p:pic>
        <p:nvPicPr>
          <p:cNvPr id="8" name="Picture 7" descr="c8f54436a0cc9703.png"/>
          <p:cNvPicPr>
            <a:picLocks noChangeAspect="1"/>
          </p:cNvPicPr>
          <p:nvPr/>
        </p:nvPicPr>
        <p:blipFill>
          <a:blip r:embed="rId2"/>
          <a:stretch>
            <a:fillRect/>
          </a:stretch>
        </p:blipFill>
        <p:spPr>
          <a:xfrm>
            <a:off x="685800" y="5063966"/>
            <a:ext cx="10820095" cy="879411"/>
          </a:xfrm>
          <a:prstGeom prst="rect">
            <a:avLst/>
          </a:prstGeom>
        </p:spPr>
      </p:pic>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1" name="TextBox 10"/>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The weeks that run differently</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1907032"/>
          </a:xfrm>
          <a:prstGeom prst="rect">
            <a:avLst/>
          </a:prstGeom>
          <a:noFill/>
        </p:spPr>
        <p:txBody>
          <a:bodyPr wrap="square" anchor="t" lIns="0" rIns="0" tIns="0" bIns="0">
            <a:spAutoFit/>
          </a:bodyPr>
          <a:lstStyle/>
          <a:p>
            <a:pPr>
              <a:spcAft>
                <a:spcPts val="800"/>
              </a:spcAft>
            </a:pPr>
            <a:r>
              <a:rPr sz="1700" b="0">
                <a:solidFill>
                  <a:srgbClr val="1C1C1A"/>
                </a:solidFill>
                <a:latin typeface="Calibri"/>
              </a:rPr>
              <a:t>Build weeks fall at Weeks 3, 6, 9, 12 and 15. Weeks 17 to 20 are the capstone weeks. Every other week teaches.</a:t>
            </a:r>
          </a:p>
          <a:p>
            <a:pPr>
              <a:spcAft>
                <a:spcPts val="800"/>
              </a:spcAft>
            </a:pPr>
            <a:r>
              <a:rPr sz="1700" b="0">
                <a:solidFill>
                  <a:srgbClr val="1C1C1A"/>
                </a:solidFill>
                <a:latin typeface="Calibri"/>
              </a:rPr>
              <a:t>The three major exams fall in Weeks 5, 10 and 15. Each one runs across its week as a continuous activity.</a:t>
            </a:r>
          </a:p>
          <a:p>
            <a:pPr>
              <a:spcAft>
                <a:spcPts val="800"/>
              </a:spcAft>
            </a:pPr>
            <a:r>
              <a:rPr sz="1700" b="0">
                <a:solidFill>
                  <a:srgbClr val="1C1C1A"/>
                </a:solidFill>
                <a:latin typeface="Calibri"/>
              </a:rPr>
              <a:t>That is the whole of what is fixed about them today. The rest arrives with the week.</a:t>
            </a:r>
          </a:p>
        </p:txBody>
      </p:sp>
      <p:pic>
        <p:nvPicPr>
          <p:cNvPr id="7" name="Picture 6" descr="24899d3ce088ff77.png"/>
          <p:cNvPicPr>
            <a:picLocks noChangeAspect="1"/>
          </p:cNvPicPr>
          <p:nvPr/>
        </p:nvPicPr>
        <p:blipFill>
          <a:blip r:embed="rId2"/>
          <a:stretch>
            <a:fillRect/>
          </a:stretch>
        </p:blipFill>
        <p:spPr>
          <a:xfrm>
            <a:off x="685800" y="4110000"/>
            <a:ext cx="10820095" cy="1509214"/>
          </a:xfrm>
          <a:prstGeom prst="rect">
            <a:avLst/>
          </a:prstGeom>
        </p:spPr>
      </p:pic>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S14</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This week, day by day</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2344928"/>
          </a:xfrm>
          <a:prstGeom prst="rect">
            <a:avLst/>
          </a:prstGeom>
          <a:noFill/>
        </p:spPr>
        <p:txBody>
          <a:bodyPr wrap="square" anchor="t" lIns="0" rIns="0" tIns="0" bIns="0">
            <a:spAutoFit/>
          </a:bodyPr>
          <a:lstStyle/>
          <a:p>
            <a:pPr>
              <a:spcAft>
                <a:spcPts val="600"/>
              </a:spcAft>
            </a:pPr>
            <a:r>
              <a:rPr sz="1300" b="0">
                <a:solidFill>
                  <a:srgbClr val="1C1C1A"/>
                </a:solidFill>
                <a:latin typeface="Calibri"/>
              </a:rPr>
              <a:t>Monday, today: you can open the Codespace, run and recover a notebook, and answer a counting question on records nobody explained to you.</a:t>
            </a:r>
          </a:p>
          <a:p>
            <a:pPr>
              <a:spcAft>
                <a:spcPts val="600"/>
              </a:spcAft>
            </a:pPr>
            <a:r>
              <a:rPr sz="1300" b="0">
                <a:solidFill>
                  <a:srgbClr val="1C1C1A"/>
                </a:solidFill>
                <a:latin typeface="Calibri"/>
              </a:rPr>
              <a:t>Tuesday: you can package a rule into a function, survive a bad record by name, log why you rejected it, and move data across the file boundary.</a:t>
            </a:r>
          </a:p>
          <a:p>
            <a:pPr>
              <a:spcAft>
                <a:spcPts val="600"/>
              </a:spcAft>
            </a:pPr>
            <a:r>
              <a:rPr sz="1300" b="0">
                <a:solidFill>
                  <a:srgbClr val="1C1C1A"/>
                </a:solidFill>
                <a:latin typeface="Calibri"/>
              </a:rPr>
              <a:t>Wednesday: you can profile a dataset before you touch it, clean it with a reason written behind every decision, and prove that input equals clean plus rejected.</a:t>
            </a:r>
          </a:p>
          <a:p>
            <a:pPr>
              <a:spcAft>
                <a:spcPts val="600"/>
              </a:spcAft>
            </a:pPr>
            <a:r>
              <a:rPr sz="1300" b="0">
                <a:solidFill>
                  <a:srgbClr val="1C1C1A"/>
                </a:solidFill>
                <a:latin typeface="Calibri"/>
              </a:rPr>
              <a:t>Thursday: you can say what is typical without misleading anyone, and hand over a segment summary that carries its denominators.</a:t>
            </a:r>
          </a:p>
        </p:txBody>
      </p:sp>
      <p:pic>
        <p:nvPicPr>
          <p:cNvPr id="7" name="Picture 6" descr="dfe99488c12c4e20.png"/>
          <p:cNvPicPr>
            <a:picLocks noChangeAspect="1"/>
          </p:cNvPicPr>
          <p:nvPr/>
        </p:nvPicPr>
        <p:blipFill>
          <a:blip r:embed="rId2"/>
          <a:stretch>
            <a:fillRect/>
          </a:stretch>
        </p:blipFill>
        <p:spPr>
          <a:xfrm>
            <a:off x="685800" y="4624574"/>
            <a:ext cx="10820095" cy="937267"/>
          </a:xfrm>
          <a:prstGeom prst="rect">
            <a:avLst/>
          </a:prstGeom>
        </p:spPr>
      </p:pic>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S15</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Friday and Saturday this week</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85008"/>
            <a:ext cx="10820095" cy="1710944"/>
          </a:xfrm>
          <a:prstGeom prst="rect">
            <a:avLst/>
          </a:prstGeom>
          <a:noFill/>
        </p:spPr>
        <p:txBody>
          <a:bodyPr wrap="square" anchor="t" lIns="0" rIns="0" tIns="0" bIns="0">
            <a:spAutoFit/>
          </a:bodyPr>
          <a:lstStyle/>
          <a:p>
            <a:pPr>
              <a:spcAft>
                <a:spcPts val="900"/>
              </a:spcAft>
            </a:pPr>
            <a:r>
              <a:rPr sz="2000" b="0">
                <a:solidFill>
                  <a:srgbClr val="1C1C1A"/>
                </a:solidFill>
                <a:latin typeface="Calibri"/>
              </a:rPr>
              <a:t>Friday 2 October is Gandhi Jayanti. The institute is closed and there is no session, so teaching for Week 1 ends on Thursday.</a:t>
            </a:r>
          </a:p>
          <a:p>
            <a:pPr>
              <a:spcAft>
                <a:spcPts val="900"/>
              </a:spcAft>
            </a:pPr>
            <a:r>
              <a:rPr sz="2000" b="0">
                <a:solidFill>
                  <a:srgbClr val="1C1C1A"/>
                </a:solidFill>
                <a:latin typeface="Calibri"/>
              </a:rPr>
              <a:t>Saturday is the recap paper built from this week's own interview question set, then the discussion of every answer as an interview answer.</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Saturday promise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57728"/>
            <a:ext cx="10820095" cy="1365504"/>
          </a:xfrm>
          <a:prstGeom prst="rect">
            <a:avLst/>
          </a:prstGeom>
          <a:noFill/>
        </p:spPr>
        <p:txBody>
          <a:bodyPr wrap="square" anchor="t" lIns="0" rIns="0" tIns="0" bIns="0">
            <a:spAutoFit/>
          </a:bodyPr>
          <a:lstStyle/>
          <a:p>
            <a:pPr>
              <a:spcAft>
                <a:spcPts val="900"/>
              </a:spcAft>
            </a:pPr>
            <a:r>
              <a:rPr sz="2000" b="0">
                <a:solidFill>
                  <a:srgbClr val="1C1C1A"/>
                </a:solidFill>
                <a:latin typeface="Calibri"/>
              </a:rPr>
              <a:t>By Saturday you can take a file nobody prepared to a defensible answer.</a:t>
            </a:r>
          </a:p>
          <a:p>
            <a:pPr>
              <a:spcAft>
                <a:spcPts val="900"/>
              </a:spcAft>
            </a:pPr>
            <a:r>
              <a:rPr sz="2000" b="0">
                <a:solidFill>
                  <a:srgbClr val="1C1C1A"/>
                </a:solidFill>
                <a:latin typeface="Calibri"/>
              </a:rPr>
              <a:t>Four days build that sentence, one step each: read it, clean it, profile it, describe it.</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S17</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Today, as four promises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4112768"/>
          </a:xfrm>
          <a:prstGeom prst="rect">
            <a:avLst/>
          </a:prstGeom>
          <a:noFill/>
        </p:spPr>
        <p:txBody>
          <a:bodyPr wrap="square" anchor="t" lIns="0" rIns="0" tIns="0" bIns="0">
            <a:spAutoFit/>
          </a:bodyPr>
          <a:lstStyle/>
          <a:p>
            <a:pPr>
              <a:spcAft>
                <a:spcPts val="900"/>
              </a:spcAft>
            </a:pPr>
            <a:r>
              <a:rPr sz="2000" b="0">
                <a:solidFill>
                  <a:srgbClr val="1C1C1A"/>
                </a:solidFill>
                <a:latin typeface="Calibri"/>
              </a:rPr>
              <a:t>You understand that the kernel holds what you gave it, that a value's type decides what an operator means, and that a dataset is a list of named records.</a:t>
            </a:r>
          </a:p>
          <a:p>
            <a:pPr>
              <a:spcAft>
                <a:spcPts val="900"/>
              </a:spcAft>
            </a:pPr>
            <a:r>
              <a:rPr sz="2000" b="0">
                <a:solidFill>
                  <a:srgbClr val="1C1C1A"/>
                </a:solidFill>
                <a:latin typeface="Calibri"/>
              </a:rPr>
              <a:t>You can launch the Codespace, run and recover the notebook, and answer counting and totalling questions with a loop, a condition and an accumulator.</a:t>
            </a:r>
          </a:p>
          <a:p>
            <a:pPr>
              <a:spcAft>
                <a:spcPts val="900"/>
              </a:spcAft>
            </a:pPr>
            <a:r>
              <a:rPr sz="2000" b="0">
                <a:solidFill>
                  <a:srgbClr val="1C1C1A"/>
                </a:solidFill>
                <a:latin typeface="Calibri"/>
              </a:rPr>
              <a:t>You can handle a NameError from cells run out of order, a TypeError when a text amount meets a number, and a missing key through .get() with a default you chose.</a:t>
            </a:r>
          </a:p>
          <a:p>
            <a:pPr>
              <a:spcAft>
                <a:spcPts val="900"/>
              </a:spcAft>
            </a:pPr>
            <a:r>
              <a:rPr sz="2000" b="0">
                <a:solidFill>
                  <a:srgbClr val="1C1C1A"/>
                </a:solidFill>
                <a:latin typeface="Calibri"/>
              </a:rPr>
              <a:t>You can defend what a kernel restart resets, and say why refusing a cross-type comparison is safer than a spreadsheet quietly guessing.</a:t>
            </a:r>
          </a:p>
          <a:p>
            <a:pPr>
              <a:spcAft>
                <a:spcPts val="900"/>
              </a:spcAft>
            </a:pPr>
            <a:r>
              <a:rPr sz="2000" b="0">
                <a:solidFill>
                  <a:srgbClr val="1C1C1A"/>
                </a:solidFill>
                <a:latin typeface="Calibri"/>
              </a:rPr>
              <a:t>The line to carry out of today: you can take thirty records nobody explained to you and come back with a number, and you can say what would break it.</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S17a</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Applied to Kalpa: what today's four promises are about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184400"/>
            <a:ext cx="10820095" cy="3312160"/>
          </a:xfrm>
          <a:prstGeom prst="rect">
            <a:avLst/>
          </a:prstGeom>
          <a:noFill/>
        </p:spPr>
        <p:txBody>
          <a:bodyPr wrap="square" anchor="t" lIns="0" rIns="0" tIns="0" bIns="0">
            <a:spAutoFit/>
          </a:bodyPr>
          <a:lstStyle/>
          <a:p>
            <a:pPr>
              <a:spcAft>
                <a:spcPts val="900"/>
              </a:spcAft>
            </a:pPr>
            <a:r>
              <a:rPr sz="2000" b="0">
                <a:solidFill>
                  <a:srgbClr val="1C1C1A"/>
                </a:solidFill>
                <a:latin typeface="Calibri"/>
              </a:rPr>
              <a:t>By the close you can launch the Codespace and recover a notebook whose kernel you have broken on purpose.</a:t>
            </a:r>
          </a:p>
          <a:p>
            <a:pPr>
              <a:spcAft>
                <a:spcPts val="900"/>
              </a:spcAft>
            </a:pPr>
            <a:r>
              <a:rPr sz="2000" b="0">
                <a:solidFill>
                  <a:srgbClr val="1C1C1A"/>
                </a:solidFill>
                <a:latin typeface="Calibri"/>
              </a:rPr>
              <a:t>You can read a Kalpa Retail order out of a list of dictionaries, by name rather than by position.</a:t>
            </a:r>
          </a:p>
          <a:p>
            <a:pPr>
              <a:spcAft>
                <a:spcPts val="900"/>
              </a:spcAft>
            </a:pPr>
            <a:r>
              <a:rPr sz="2000" b="0">
                <a:solidFill>
                  <a:srgbClr val="1C1C1A"/>
                </a:solidFill>
                <a:latin typeface="Calibri"/>
              </a:rPr>
              <a:t>You can answer a counting question about those thirty orders with a loop, a condition and two accumulators.</a:t>
            </a:r>
          </a:p>
          <a:p>
            <a:pPr>
              <a:spcAft>
                <a:spcPts val="900"/>
              </a:spcAft>
            </a:pPr>
            <a:r>
              <a:rPr sz="2000" b="0">
                <a:solidFill>
                  <a:srgbClr val="1C1C1A"/>
                </a:solidFill>
                <a:latin typeface="Calibri"/>
              </a:rPr>
              <a:t>You can say what a kernel restart erases, and why a refused comparison is safer than a spreadsheet quietly guessing.</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3: THE ROOM</a:t>
            </a:r>
          </a:p>
        </p:txBody>
      </p:sp>
      <p:sp>
        <p:nvSpPr>
          <p:cNvPr id="4" name="Rounded Rectangle 3"/>
          <p:cNvSpPr/>
          <p:nvPr/>
        </p:nvSpPr>
        <p:spPr>
          <a:xfrm>
            <a:off x="685800"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company</a:t>
            </a:r>
          </a:p>
        </p:txBody>
      </p:sp>
      <p:sp>
        <p:nvSpPr>
          <p:cNvPr id="5" name="Rounded Rectangle 4"/>
          <p:cNvSpPr/>
          <p:nvPr/>
        </p:nvSpPr>
        <p:spPr>
          <a:xfrm>
            <a:off x="4329074" y="4754880"/>
            <a:ext cx="353354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the journey</a:t>
            </a:r>
          </a:p>
        </p:txBody>
      </p:sp>
      <p:sp>
        <p:nvSpPr>
          <p:cNvPr id="6" name="Rounded Rectangle 5"/>
          <p:cNvSpPr/>
          <p:nvPr/>
        </p:nvSpPr>
        <p:spPr>
          <a:xfrm>
            <a:off x="7972348" y="4754880"/>
            <a:ext cx="353354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the room</a:t>
            </a:r>
          </a:p>
        </p:txBody>
      </p:sp>
      <p:sp>
        <p:nvSpPr>
          <p:cNvPr id="7" name="Rectangle 6"/>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S18</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How a teaching day runs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457200" cy="351536"/>
          </a:xfrm>
          <a:prstGeom prst="rect">
            <a:avLst/>
          </a:prstGeom>
          <a:noFill/>
        </p:spPr>
        <p:txBody>
          <a:bodyPr wrap="square" anchor="t" lIns="0" rIns="0" tIns="0" bIns="0">
            <a:spAutoFit/>
          </a:bodyPr>
          <a:lstStyle/>
          <a:p>
            <a:r>
              <a:rPr sz="1400" b="1">
                <a:solidFill>
                  <a:srgbClr val="2B4A7D"/>
                </a:solidFill>
                <a:latin typeface="Calibri"/>
              </a:rPr>
              <a:t>1</a:t>
            </a:r>
          </a:p>
        </p:txBody>
      </p:sp>
      <p:sp>
        <p:nvSpPr>
          <p:cNvPr id="7" name="TextBox 6"/>
          <p:cNvSpPr txBox="1"/>
          <p:nvPr/>
        </p:nvSpPr>
        <p:spPr>
          <a:xfrm>
            <a:off x="1143000" y="1627632"/>
            <a:ext cx="10362895" cy="351536"/>
          </a:xfrm>
          <a:prstGeom prst="rect">
            <a:avLst/>
          </a:prstGeom>
          <a:noFill/>
        </p:spPr>
        <p:txBody>
          <a:bodyPr wrap="square" anchor="t" lIns="0" rIns="0" tIns="0" bIns="0">
            <a:spAutoFit/>
          </a:bodyPr>
          <a:lstStyle/>
          <a:p>
            <a:r>
              <a:rPr sz="1400" b="0">
                <a:solidFill>
                  <a:srgbClr val="1C1C1A"/>
                </a:solidFill>
                <a:latin typeface="Calibri"/>
              </a:rPr>
              <a:t>Scenario setting: the day opens on a question somebody at Kalpa actually needs answered.</a:t>
            </a:r>
          </a:p>
        </p:txBody>
      </p:sp>
      <p:sp>
        <p:nvSpPr>
          <p:cNvPr id="8" name="TextBox 7"/>
          <p:cNvSpPr txBox="1"/>
          <p:nvPr/>
        </p:nvSpPr>
        <p:spPr>
          <a:xfrm>
            <a:off x="685800" y="2034032"/>
            <a:ext cx="457200" cy="351536"/>
          </a:xfrm>
          <a:prstGeom prst="rect">
            <a:avLst/>
          </a:prstGeom>
          <a:noFill/>
        </p:spPr>
        <p:txBody>
          <a:bodyPr wrap="square" anchor="t" lIns="0" rIns="0" tIns="0" bIns="0">
            <a:spAutoFit/>
          </a:bodyPr>
          <a:lstStyle/>
          <a:p>
            <a:r>
              <a:rPr sz="1400" b="1">
                <a:solidFill>
                  <a:srgbClr val="2B4A7D"/>
                </a:solidFill>
                <a:latin typeface="Calibri"/>
              </a:rPr>
              <a:t>2</a:t>
            </a:r>
          </a:p>
        </p:txBody>
      </p:sp>
      <p:sp>
        <p:nvSpPr>
          <p:cNvPr id="9" name="TextBox 8"/>
          <p:cNvSpPr txBox="1"/>
          <p:nvPr/>
        </p:nvSpPr>
        <p:spPr>
          <a:xfrm>
            <a:off x="1143000" y="2034032"/>
            <a:ext cx="10362895" cy="351536"/>
          </a:xfrm>
          <a:prstGeom prst="rect">
            <a:avLst/>
          </a:prstGeom>
          <a:noFill/>
        </p:spPr>
        <p:txBody>
          <a:bodyPr wrap="square" anchor="t" lIns="0" rIns="0" tIns="0" bIns="0">
            <a:spAutoFit/>
          </a:bodyPr>
          <a:lstStyle/>
          <a:p>
            <a:r>
              <a:rPr sz="1400" b="0">
                <a:solidFill>
                  <a:srgbClr val="1C1C1A"/>
                </a:solidFill>
                <a:latin typeface="Calibri"/>
              </a:rPr>
              <a:t>The trainer demo: a working thing runs on screen with its output visible before anything is explained.</a:t>
            </a:r>
          </a:p>
        </p:txBody>
      </p:sp>
      <p:sp>
        <p:nvSpPr>
          <p:cNvPr id="10" name="TextBox 9"/>
          <p:cNvSpPr txBox="1"/>
          <p:nvPr/>
        </p:nvSpPr>
        <p:spPr>
          <a:xfrm>
            <a:off x="685800" y="2440432"/>
            <a:ext cx="457200" cy="351536"/>
          </a:xfrm>
          <a:prstGeom prst="rect">
            <a:avLst/>
          </a:prstGeom>
          <a:noFill/>
        </p:spPr>
        <p:txBody>
          <a:bodyPr wrap="square" anchor="t" lIns="0" rIns="0" tIns="0" bIns="0">
            <a:spAutoFit/>
          </a:bodyPr>
          <a:lstStyle/>
          <a:p>
            <a:r>
              <a:rPr sz="1400" b="1">
                <a:solidFill>
                  <a:srgbClr val="2B4A7D"/>
                </a:solidFill>
                <a:latin typeface="Calibri"/>
              </a:rPr>
              <a:t>3</a:t>
            </a:r>
          </a:p>
        </p:txBody>
      </p:sp>
      <p:sp>
        <p:nvSpPr>
          <p:cNvPr id="11" name="TextBox 10"/>
          <p:cNvSpPr txBox="1"/>
          <p:nvPr/>
        </p:nvSpPr>
        <p:spPr>
          <a:xfrm>
            <a:off x="1143000" y="2440432"/>
            <a:ext cx="10362895" cy="351536"/>
          </a:xfrm>
          <a:prstGeom prst="rect">
            <a:avLst/>
          </a:prstGeom>
          <a:noFill/>
        </p:spPr>
        <p:txBody>
          <a:bodyPr wrap="square" anchor="t" lIns="0" rIns="0" tIns="0" bIns="0">
            <a:spAutoFit/>
          </a:bodyPr>
          <a:lstStyle/>
          <a:p>
            <a:r>
              <a:rPr sz="1400" b="0">
                <a:solidFill>
                  <a:srgbClr val="1C1C1A"/>
                </a:solidFill>
                <a:latin typeface="Calibri"/>
              </a:rPr>
              <a:t>The guided exercise: the trainer builds it step by step and the room mirrors it on their own Codespace.</a:t>
            </a:r>
          </a:p>
        </p:txBody>
      </p:sp>
      <p:sp>
        <p:nvSpPr>
          <p:cNvPr id="12" name="TextBox 11"/>
          <p:cNvSpPr txBox="1"/>
          <p:nvPr/>
        </p:nvSpPr>
        <p:spPr>
          <a:xfrm>
            <a:off x="685800" y="2846832"/>
            <a:ext cx="457200" cy="593344"/>
          </a:xfrm>
          <a:prstGeom prst="rect">
            <a:avLst/>
          </a:prstGeom>
          <a:noFill/>
        </p:spPr>
        <p:txBody>
          <a:bodyPr wrap="square" anchor="t" lIns="0" rIns="0" tIns="0" bIns="0">
            <a:spAutoFit/>
          </a:bodyPr>
          <a:lstStyle/>
          <a:p>
            <a:r>
              <a:rPr sz="1400" b="1">
                <a:solidFill>
                  <a:srgbClr val="2B4A7D"/>
                </a:solidFill>
                <a:latin typeface="Calibri"/>
              </a:rPr>
              <a:t>4</a:t>
            </a:r>
          </a:p>
        </p:txBody>
      </p:sp>
      <p:sp>
        <p:nvSpPr>
          <p:cNvPr id="13" name="TextBox 12"/>
          <p:cNvSpPr txBox="1"/>
          <p:nvPr/>
        </p:nvSpPr>
        <p:spPr>
          <a:xfrm>
            <a:off x="1143000" y="2846832"/>
            <a:ext cx="10362895" cy="593344"/>
          </a:xfrm>
          <a:prstGeom prst="rect">
            <a:avLst/>
          </a:prstGeom>
          <a:noFill/>
        </p:spPr>
        <p:txBody>
          <a:bodyPr wrap="square" anchor="t" lIns="0" rIns="0" tIns="0" bIns="0">
            <a:spAutoFit/>
          </a:bodyPr>
          <a:lstStyle/>
          <a:p>
            <a:r>
              <a:rPr sz="1400" b="0">
                <a:solidFill>
                  <a:srgbClr val="1C1C1A"/>
                </a:solidFill>
                <a:latin typeface="Calibri"/>
              </a:rPr>
              <a:t>The unguided exercise: you attempt it in session with no hints, and the solution is released at the close of the session.</a:t>
            </a:r>
          </a:p>
        </p:txBody>
      </p:sp>
      <p:sp>
        <p:nvSpPr>
          <p:cNvPr id="14" name="TextBox 13"/>
          <p:cNvSpPr txBox="1"/>
          <p:nvPr/>
        </p:nvSpPr>
        <p:spPr>
          <a:xfrm>
            <a:off x="685800" y="3495040"/>
            <a:ext cx="457200" cy="351536"/>
          </a:xfrm>
          <a:prstGeom prst="rect">
            <a:avLst/>
          </a:prstGeom>
          <a:noFill/>
        </p:spPr>
        <p:txBody>
          <a:bodyPr wrap="square" anchor="t" lIns="0" rIns="0" tIns="0" bIns="0">
            <a:spAutoFit/>
          </a:bodyPr>
          <a:lstStyle/>
          <a:p>
            <a:r>
              <a:rPr sz="1400" b="1">
                <a:solidFill>
                  <a:srgbClr val="2B4A7D"/>
                </a:solidFill>
                <a:latin typeface="Calibri"/>
              </a:rPr>
              <a:t>5</a:t>
            </a:r>
          </a:p>
        </p:txBody>
      </p:sp>
      <p:sp>
        <p:nvSpPr>
          <p:cNvPr id="15" name="TextBox 14"/>
          <p:cNvSpPr txBox="1"/>
          <p:nvPr/>
        </p:nvSpPr>
        <p:spPr>
          <a:xfrm>
            <a:off x="1143000" y="3495040"/>
            <a:ext cx="10362895" cy="351536"/>
          </a:xfrm>
          <a:prstGeom prst="rect">
            <a:avLst/>
          </a:prstGeom>
          <a:noFill/>
        </p:spPr>
        <p:txBody>
          <a:bodyPr wrap="square" anchor="t" lIns="0" rIns="0" tIns="0" bIns="0">
            <a:spAutoFit/>
          </a:bodyPr>
          <a:lstStyle/>
          <a:p>
            <a:r>
              <a:rPr sz="1400" b="0">
                <a:solidFill>
                  <a:srgbClr val="1C1C1A"/>
                </a:solidFill>
                <a:latin typeface="Calibri"/>
              </a:rPr>
              <a:t>The Kahoot traps round, which is ungraded and is read as a signal of attention and retention.</a:t>
            </a:r>
          </a:p>
        </p:txBody>
      </p:sp>
      <p:sp>
        <p:nvSpPr>
          <p:cNvPr id="16" name="TextBox 15"/>
          <p:cNvSpPr txBox="1"/>
          <p:nvPr/>
        </p:nvSpPr>
        <p:spPr>
          <a:xfrm>
            <a:off x="685800" y="3901440"/>
            <a:ext cx="457200" cy="351536"/>
          </a:xfrm>
          <a:prstGeom prst="rect">
            <a:avLst/>
          </a:prstGeom>
          <a:noFill/>
        </p:spPr>
        <p:txBody>
          <a:bodyPr wrap="square" anchor="t" lIns="0" rIns="0" tIns="0" bIns="0">
            <a:spAutoFit/>
          </a:bodyPr>
          <a:lstStyle/>
          <a:p>
            <a:r>
              <a:rPr sz="1400" b="1">
                <a:solidFill>
                  <a:srgbClr val="2B4A7D"/>
                </a:solidFill>
                <a:latin typeface="Calibri"/>
              </a:rPr>
              <a:t>6</a:t>
            </a:r>
          </a:p>
        </p:txBody>
      </p:sp>
      <p:sp>
        <p:nvSpPr>
          <p:cNvPr id="17" name="TextBox 16"/>
          <p:cNvSpPr txBox="1"/>
          <p:nvPr/>
        </p:nvSpPr>
        <p:spPr>
          <a:xfrm>
            <a:off x="1143000" y="3901440"/>
            <a:ext cx="10362895" cy="351536"/>
          </a:xfrm>
          <a:prstGeom prst="rect">
            <a:avLst/>
          </a:prstGeom>
          <a:noFill/>
        </p:spPr>
        <p:txBody>
          <a:bodyPr wrap="square" anchor="t" lIns="0" rIns="0" tIns="0" bIns="0">
            <a:spAutoFit/>
          </a:bodyPr>
          <a:lstStyle/>
          <a:p>
            <a:r>
              <a:rPr sz="1400" b="0">
                <a:solidFill>
                  <a:srgbClr val="1C1C1A"/>
                </a:solidFill>
                <a:latin typeface="Calibri"/>
              </a:rPr>
              <a:t>A short platform check on Neo.</a:t>
            </a:r>
          </a:p>
        </p:txBody>
      </p:sp>
      <p:sp>
        <p:nvSpPr>
          <p:cNvPr id="18" name="TextBox 17"/>
          <p:cNvSpPr txBox="1"/>
          <p:nvPr/>
        </p:nvSpPr>
        <p:spPr>
          <a:xfrm>
            <a:off x="685800" y="4307840"/>
            <a:ext cx="457200" cy="351536"/>
          </a:xfrm>
          <a:prstGeom prst="rect">
            <a:avLst/>
          </a:prstGeom>
          <a:noFill/>
        </p:spPr>
        <p:txBody>
          <a:bodyPr wrap="square" anchor="t" lIns="0" rIns="0" tIns="0" bIns="0">
            <a:spAutoFit/>
          </a:bodyPr>
          <a:lstStyle/>
          <a:p>
            <a:r>
              <a:rPr sz="1400" b="1">
                <a:solidFill>
                  <a:srgbClr val="2B4A7D"/>
                </a:solidFill>
                <a:latin typeface="Calibri"/>
              </a:rPr>
              <a:t>7</a:t>
            </a:r>
          </a:p>
        </p:txBody>
      </p:sp>
      <p:sp>
        <p:nvSpPr>
          <p:cNvPr id="19" name="TextBox 18"/>
          <p:cNvSpPr txBox="1"/>
          <p:nvPr/>
        </p:nvSpPr>
        <p:spPr>
          <a:xfrm>
            <a:off x="1143000" y="4307840"/>
            <a:ext cx="10362895" cy="351536"/>
          </a:xfrm>
          <a:prstGeom prst="rect">
            <a:avLst/>
          </a:prstGeom>
          <a:noFill/>
        </p:spPr>
        <p:txBody>
          <a:bodyPr wrap="square" anchor="t" lIns="0" rIns="0" tIns="0" bIns="0">
            <a:spAutoFit/>
          </a:bodyPr>
          <a:lstStyle/>
          <a:p>
            <a:r>
              <a:rPr sz="1400" b="0">
                <a:solidFill>
                  <a:srgbClr val="1C1C1A"/>
                </a:solidFill>
                <a:latin typeface="Calibri"/>
              </a:rPr>
              <a:t>Close-out, which names tomorrow.</a:t>
            </a:r>
          </a:p>
        </p:txBody>
      </p:sp>
      <p:pic>
        <p:nvPicPr>
          <p:cNvPr id="20" name="Picture 19" descr="a6053ab5d44d430d.png"/>
          <p:cNvPicPr>
            <a:picLocks noChangeAspect="1"/>
          </p:cNvPicPr>
          <p:nvPr/>
        </p:nvPicPr>
        <p:blipFill>
          <a:blip r:embed="rId2"/>
          <a:stretch>
            <a:fillRect/>
          </a:stretch>
        </p:blipFill>
        <p:spPr>
          <a:xfrm>
            <a:off x="685800" y="5030548"/>
            <a:ext cx="10820095" cy="856839"/>
          </a:xfrm>
          <a:prstGeom prst="rect">
            <a:avLst/>
          </a:prstGeom>
        </p:spPr>
      </p:pic>
      <p:sp>
        <p:nvSpPr>
          <p:cNvPr id="21" name="Rectangle 2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23" name="TextBox 22"/>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S19</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How Saturday runs on a teaching week</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1627632"/>
            <a:ext cx="10820095" cy="1797304"/>
          </a:xfrm>
          <a:prstGeom prst="rect">
            <a:avLst/>
          </a:prstGeom>
          <a:noFill/>
        </p:spPr>
        <p:txBody>
          <a:bodyPr wrap="square" anchor="t" lIns="0" rIns="0" tIns="0" bIns="0">
            <a:spAutoFit/>
          </a:bodyPr>
          <a:lstStyle/>
          <a:p>
            <a:pPr>
              <a:spcAft>
                <a:spcPts val="800"/>
              </a:spcAft>
            </a:pPr>
            <a:r>
              <a:rPr sz="1700" b="0">
                <a:solidFill>
                  <a:srgbClr val="1C1C1A"/>
                </a:solidFill>
                <a:latin typeface="Calibri"/>
              </a:rPr>
              <a:t>Saturday opens with a pen-and-paper recap paper drawn from the week's own interview question set. It runs for about two hours, it is AI-free by format, and it is ungraded.</a:t>
            </a:r>
          </a:p>
          <a:p>
            <a:pPr>
              <a:spcAft>
                <a:spcPts val="800"/>
              </a:spcAft>
            </a:pPr>
            <a:r>
              <a:rPr sz="1700" b="0">
                <a:solidFill>
                  <a:srgbClr val="1C1C1A"/>
                </a:solidFill>
                <a:latin typeface="Calibri"/>
              </a:rPr>
              <a:t>After a break, the Academic TA leads the solution discussion. Papers are swapped so you cross-evaluate a peer's answers, every answer is treated as an interview answer, and call-outs land at random.</a:t>
            </a:r>
          </a:p>
        </p:txBody>
      </p:sp>
      <p:pic>
        <p:nvPicPr>
          <p:cNvPr id="7" name="Picture 6" descr="9940e22c4448d484.png"/>
          <p:cNvPicPr>
            <a:picLocks noChangeAspect="1"/>
          </p:cNvPicPr>
          <p:nvPr/>
        </p:nvPicPr>
        <p:blipFill>
          <a:blip r:embed="rId2"/>
          <a:stretch>
            <a:fillRect/>
          </a:stretch>
        </p:blipFill>
        <p:spPr>
          <a:xfrm>
            <a:off x="685800" y="4393160"/>
            <a:ext cx="10820095" cy="942894"/>
          </a:xfrm>
          <a:prstGeom prst="rect">
            <a:avLst/>
          </a:prstGeom>
        </p:spPr>
      </p:pic>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S20</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How a build week differs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584704"/>
            <a:ext cx="10820095" cy="2511552"/>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Programme Head opens a build week by introducing the mini projects.</a:t>
            </a:r>
          </a:p>
          <a:p>
            <a:pPr>
              <a:spcAft>
                <a:spcPts val="900"/>
              </a:spcAft>
            </a:pPr>
            <a:r>
              <a:rPr sz="2000" b="0">
                <a:solidFill>
                  <a:srgbClr val="1C1C1A"/>
                </a:solidFill>
                <a:latin typeface="Calibri"/>
              </a:rPr>
              <a:t>You work in groups of four. Each build week carries five sub-problems, one drawn from each Kalpa unit, and three groups take each sub-problem, so the panel hears three views of the same business problem back to back.</a:t>
            </a:r>
          </a:p>
          <a:p>
            <a:pPr>
              <a:spcAft>
                <a:spcPts val="900"/>
              </a:spcAft>
            </a:pPr>
            <a:r>
              <a:rPr sz="2000" b="0">
                <a:solidFill>
                  <a:srgbClr val="1C1C1A"/>
                </a:solidFill>
                <a:latin typeface="Calibri"/>
              </a:rPr>
              <a:t>The industry expert attends on Friday and Saturday. A build week runs no weekly recap paper, and a major exam can still fall inside a build week.</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platforms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1627632"/>
          <a:ext cx="10820094" cy="1554480"/>
        </p:xfrm>
        <a:graphic>
          <a:graphicData uri="http://schemas.openxmlformats.org/drawingml/2006/table">
            <a:tbl>
              <a:tblPr firstRow="0" bandRow="0">
                <a:tableStyleId>{2D5ABB26-0587-4C30-8999-92F81FD0307C}</a:tableStyleId>
              </a:tblPr>
              <a:tblGrid>
                <a:gridCol w="1699551"/>
                <a:gridCol w="9120543"/>
              </a:tblGrid>
              <a:tr h="310896">
                <a:tc>
                  <a:txBody>
                    <a:bodyPr/>
                    <a:lstStyle/>
                    <a:p>
                      <a:r>
                        <a:rPr sz="1000" b="1">
                          <a:solidFill>
                            <a:srgbClr val="FFFFFF"/>
                          </a:solidFill>
                          <a:latin typeface="Calibri"/>
                        </a:rPr>
                        <a:t>Platform</a:t>
                      </a:r>
                    </a:p>
                  </a:txBody>
                  <a:tcPr marL="101600" marR="101600" marT="38100" marB="38100" anchor="ctr">
                    <a:solidFill>
                      <a:srgbClr val="2B4A7D"/>
                    </a:solidFill>
                  </a:tcPr>
                </a:tc>
                <a:tc>
                  <a:txBody>
                    <a:bodyPr/>
                    <a:lstStyle/>
                    <a:p>
                      <a:r>
                        <a:rPr sz="1000" b="1">
                          <a:solidFill>
                            <a:srgbClr val="FFFFFF"/>
                          </a:solidFill>
                          <a:latin typeface="Calibri"/>
                        </a:rPr>
                        <a:t>What it is for</a:t>
                      </a:r>
                    </a:p>
                  </a:txBody>
                  <a:tcPr marL="101600" marR="101600" marT="38100" marB="38100" anchor="ctr">
                    <a:solidFill>
                      <a:srgbClr val="2B4A7D"/>
                    </a:solidFill>
                  </a:tcPr>
                </a:tc>
              </a:tr>
              <a:tr h="310896">
                <a:tc>
                  <a:txBody>
                    <a:bodyPr/>
                    <a:lstStyle/>
                    <a:p>
                      <a:r>
                        <a:rPr sz="900" b="0">
                          <a:solidFill>
                            <a:srgbClr val="1C1C1A"/>
                          </a:solidFill>
                          <a:latin typeface="Calibri"/>
                        </a:rPr>
                        <a:t>Neo</a:t>
                      </a:r>
                    </a:p>
                  </a:txBody>
                  <a:tcPr marL="101600" marR="101600" marT="38100" marB="38100" anchor="ctr">
                    <a:solidFill>
                      <a:srgbClr val="FFFFFF"/>
                    </a:solidFill>
                  </a:tcPr>
                </a:tc>
                <a:tc>
                  <a:txBody>
                    <a:bodyPr/>
                    <a:lstStyle/>
                    <a:p>
                      <a:r>
                        <a:rPr sz="900" b="0">
                          <a:solidFill>
                            <a:srgbClr val="1C1C1A"/>
                          </a:solidFill>
                          <a:latin typeface="Calibri"/>
                        </a:rPr>
                        <a:t>Neo carries all the tests and the exams, and the daily platform check runs there.</a:t>
                      </a:r>
                    </a:p>
                  </a:txBody>
                  <a:tcPr marL="101600" marR="101600" marT="38100" marB="38100" anchor="ctr">
                    <a:solidFill>
                      <a:srgbClr val="FFFFFF"/>
                    </a:solidFill>
                  </a:tcPr>
                </a:tc>
              </a:tr>
              <a:tr h="310896">
                <a:tc>
                  <a:txBody>
                    <a:bodyPr/>
                    <a:lstStyle/>
                    <a:p>
                      <a:r>
                        <a:rPr sz="900" b="0">
                          <a:solidFill>
                            <a:srgbClr val="1C1C1A"/>
                          </a:solidFill>
                          <a:latin typeface="Calibri"/>
                        </a:rPr>
                        <a:t>CodeChef</a:t>
                      </a:r>
                    </a:p>
                  </a:txBody>
                  <a:tcPr marL="101600" marR="101600" marT="38100" marB="38100" anchor="ctr">
                    <a:solidFill>
                      <a:srgbClr val="F7F7F5"/>
                    </a:solidFill>
                  </a:tcPr>
                </a:tc>
                <a:tc>
                  <a:txBody>
                    <a:bodyPr/>
                    <a:lstStyle/>
                    <a:p>
                      <a:r>
                        <a:rPr sz="900" b="0">
                          <a:solidFill>
                            <a:srgbClr val="1C1C1A"/>
                          </a:solidFill>
                          <a:latin typeface="Calibri"/>
                        </a:rPr>
                        <a:t>CodeChef carries the daily competitive coding practice, which carries no assessment.</a:t>
                      </a:r>
                    </a:p>
                  </a:txBody>
                  <a:tcPr marL="101600" marR="101600" marT="38100" marB="38100" anchor="ctr">
                    <a:solidFill>
                      <a:srgbClr val="F7F7F5"/>
                    </a:solidFill>
                  </a:tcPr>
                </a:tc>
              </a:tr>
              <a:tr h="310896">
                <a:tc>
                  <a:txBody>
                    <a:bodyPr/>
                    <a:lstStyle/>
                    <a:p>
                      <a:r>
                        <a:rPr sz="900" b="0">
                          <a:solidFill>
                            <a:srgbClr val="1C1C1A"/>
                          </a:solidFill>
                          <a:latin typeface="Calibri"/>
                        </a:rPr>
                        <a:t>GitHub</a:t>
                      </a:r>
                    </a:p>
                  </a:txBody>
                  <a:tcPr marL="101600" marR="101600" marT="38100" marB="38100" anchor="ctr">
                    <a:solidFill>
                      <a:srgbClr val="FFFFFF"/>
                    </a:solidFill>
                  </a:tcPr>
                </a:tc>
                <a:tc>
                  <a:txBody>
                    <a:bodyPr/>
                    <a:lstStyle/>
                    <a:p>
                      <a:r>
                        <a:rPr sz="900" b="0">
                          <a:solidFill>
                            <a:srgbClr val="1C1C1A"/>
                          </a:solidFill>
                          <a:latin typeface="Calibri"/>
                        </a:rPr>
                        <a:t>GitHub carries your exercises, your projects and your portfolio.</a:t>
                      </a:r>
                    </a:p>
                  </a:txBody>
                  <a:tcPr marL="101600" marR="101600" marT="38100" marB="38100" anchor="ctr">
                    <a:solidFill>
                      <a:srgbClr val="FFFFFF"/>
                    </a:solidFill>
                  </a:tcPr>
                </a:tc>
              </a:tr>
              <a:tr h="310896">
                <a:tc>
                  <a:txBody>
                    <a:bodyPr/>
                    <a:lstStyle/>
                    <a:p>
                      <a:r>
                        <a:rPr sz="900" b="0">
                          <a:solidFill>
                            <a:srgbClr val="1C1C1A"/>
                          </a:solidFill>
                          <a:latin typeface="Calibri"/>
                        </a:rPr>
                        <a:t>LMS</a:t>
                      </a:r>
                    </a:p>
                  </a:txBody>
                  <a:tcPr marL="101600" marR="101600" marT="38100" marB="38100" anchor="ctr">
                    <a:solidFill>
                      <a:srgbClr val="F7F7F5"/>
                    </a:solidFill>
                  </a:tcPr>
                </a:tc>
                <a:tc>
                  <a:txBody>
                    <a:bodyPr/>
                    <a:lstStyle/>
                    <a:p>
                      <a:r>
                        <a:rPr sz="900" b="0">
                          <a:solidFill>
                            <a:srgbClr val="1C1C1A"/>
                          </a:solidFill>
                          <a:latin typeface="Calibri"/>
                        </a:rPr>
                        <a:t>The LMS carries the content and your submissions.</a:t>
                      </a:r>
                    </a:p>
                  </a:txBody>
                  <a:tcPr marL="101600" marR="101600" marT="38100" marB="38100" anchor="ctr">
                    <a:solidFill>
                      <a:srgbClr val="F7F7F5"/>
                    </a:solidFill>
                  </a:tcPr>
                </a:tc>
              </a:tr>
            </a:tbl>
          </a:graphicData>
        </a:graphic>
      </p:graphicFrame>
      <p:sp>
        <p:nvSpPr>
          <p:cNvPr id="7" name="TextBox 6"/>
          <p:cNvSpPr txBox="1"/>
          <p:nvPr/>
        </p:nvSpPr>
        <p:spPr>
          <a:xfrm>
            <a:off x="685800" y="3438144"/>
            <a:ext cx="10820095" cy="56489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This cohort does not use Slack.</a:t>
            </a:r>
          </a:p>
        </p:txBody>
      </p:sp>
      <p:pic>
        <p:nvPicPr>
          <p:cNvPr id="8" name="Picture 7" descr="d619ad4bf15c2aa6.png"/>
          <p:cNvPicPr>
            <a:picLocks noChangeAspect="1"/>
          </p:cNvPicPr>
          <p:nvPr/>
        </p:nvPicPr>
        <p:blipFill>
          <a:blip r:embed="rId2"/>
          <a:stretch>
            <a:fillRect/>
          </a:stretch>
        </p:blipFill>
        <p:spPr>
          <a:xfrm>
            <a:off x="1867233" y="4133087"/>
            <a:ext cx="8457227" cy="1920240"/>
          </a:xfrm>
          <a:prstGeom prst="rect">
            <a:avLst/>
          </a:prstGeom>
        </p:spPr>
      </p:pic>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11" name="TextBox 10"/>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environment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lIns="0" rIns="0" tIns="0" bIns="0">
            <a:spAutoFit/>
          </a:bodyPr>
          <a:lstStyle/>
          <a:p>
            <a:pPr>
              <a:spcAft>
                <a:spcPts val="900"/>
              </a:spcAft>
            </a:pPr>
            <a:r>
              <a:rPr sz="2000" b="0">
                <a:solidFill>
                  <a:srgbClr val="1C1C1A"/>
                </a:solidFill>
                <a:latin typeface="Calibri"/>
              </a:rPr>
              <a:t>You work in VS Code with GitHub Codespaces, so nothing is installed on your laptop and every learner runs the same machine.</a:t>
            </a:r>
          </a:p>
          <a:p>
            <a:pPr>
              <a:spcAft>
                <a:spcPts val="900"/>
              </a:spcAft>
            </a:pPr>
            <a:r>
              <a:rPr sz="2000" b="0">
                <a:solidFill>
                  <a:srgbClr val="1C1C1A"/>
                </a:solidFill>
                <a:latin typeface="Calibri"/>
              </a:rPr>
              <a:t>Python work lives in .ipynb notebooks. SQL work lives in .sql files run against Postgres.</a:t>
            </a:r>
          </a:p>
          <a:p>
            <a:pPr>
              <a:spcAft>
                <a:spcPts val="900"/>
              </a:spcAft>
            </a:pPr>
            <a:r>
              <a:rPr sz="2000" b="0">
                <a:solidFill>
                  <a:srgbClr val="1C1C1A"/>
                </a:solidFill>
                <a:latin typeface="Calibri"/>
              </a:rPr>
              <a:t>The Codespace you opened this morning is the environment for the whole programme.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What runs AI-free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three major exams, the mock interviews, the project presentations and the business case discussions all run AI-free and proctored.</a:t>
            </a:r>
          </a:p>
          <a:p>
            <a:pPr>
              <a:spcAft>
                <a:spcPts val="900"/>
              </a:spcAft>
            </a:pPr>
            <a:r>
              <a:rPr sz="2000" b="0">
                <a:solidFill>
                  <a:srgbClr val="1C1C1A"/>
                </a:solidFill>
                <a:latin typeface="Calibri"/>
              </a:rPr>
              <a:t>The Saturday recap paper is AI-free because it is written on paper.</a:t>
            </a:r>
          </a:p>
          <a:p>
            <a:pPr>
              <a:spcAft>
                <a:spcPts val="900"/>
              </a:spcAft>
            </a:pPr>
            <a:r>
              <a:rPr sz="2000" b="0">
                <a:solidFill>
                  <a:srgbClr val="1C1C1A"/>
                </a:solidFill>
                <a:latin typeface="Calibri"/>
              </a:rPr>
              <a:t>Individual labs are marked AI-free on the day they run, and tomorrow's read-clean-write lab is one of them.</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S24</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Before tomorrow</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184400"/>
            <a:ext cx="10820095" cy="3312160"/>
          </a:xfrm>
          <a:prstGeom prst="rect">
            <a:avLst/>
          </a:prstGeom>
          <a:noFill/>
        </p:spPr>
        <p:txBody>
          <a:bodyPr wrap="square" anchor="t" lIns="0" rIns="0" tIns="0" bIns="0">
            <a:spAutoFit/>
          </a:bodyPr>
          <a:lstStyle/>
          <a:p>
            <a:pPr>
              <a:spcAft>
                <a:spcPts val="900"/>
              </a:spcAft>
            </a:pPr>
            <a:r>
              <a:rPr sz="2000" b="0">
                <a:solidFill>
                  <a:srgbClr val="1C1C1A"/>
                </a:solidFill>
                <a:latin typeface="Calibri"/>
              </a:rPr>
              <a:t>Finish the take-home, takehome/C2_W01_D01_brief_STUDENT.md. It extends today's counter into two buckets and asks you to explain the planted text amount in your own words.</a:t>
            </a:r>
          </a:p>
          <a:p>
            <a:pPr>
              <a:spcAft>
                <a:spcPts val="900"/>
              </a:spcAft>
            </a:pPr>
            <a:r>
              <a:rPr sz="2000" b="0">
                <a:solidFill>
                  <a:srgbClr val="1C1C1A"/>
                </a:solidFill>
                <a:latin typeface="Calibri"/>
              </a:rPr>
              <a:t>Read the pre-read, preread/C2_W01_D01_preread_STUDENT.md, and fill its gap sheet tonight. Tomorrow's first hour will feel like revision.</a:t>
            </a:r>
          </a:p>
          <a:p>
            <a:pPr>
              <a:spcAft>
                <a:spcPts val="900"/>
              </a:spcAft>
            </a:pPr>
            <a:r>
              <a:rPr sz="2000" b="0">
                <a:solidFill>
                  <a:srgbClr val="1C1C1A"/>
                </a:solidFill>
                <a:latin typeface="Calibri"/>
              </a:rPr>
              <a:t>Watch the dictionaries video on the student reference list: Corey Schafer, Dictionaries: https://www.youtube.com/watch?v=daefaLgNkw0 (verified 09 September 2026)</a:t>
            </a:r>
          </a:p>
          <a:p>
            <a:pPr>
              <a:spcAft>
                <a:spcPts val="900"/>
              </a:spcAft>
            </a:pPr>
            <a:r>
              <a:rPr sz="2000" b="0">
                <a:solidFill>
                  <a:srgbClr val="1C1C1A"/>
                </a:solidFill>
                <a:latin typeface="Calibri"/>
              </a:rPr>
              <a:t>Nothing to install tonight. The Codespace is already the environment.</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1, Day 1. Introduction: the company, the journey, the room</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