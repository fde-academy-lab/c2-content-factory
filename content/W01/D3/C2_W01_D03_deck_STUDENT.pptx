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Profile before you touch</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Yesterday somebody told you which orders were dirty.</a:t>
            </a:r>
          </a:p>
          <a:p>
            <a:pPr>
              <a:spcAft>
                <a:spcPts val="1000"/>
              </a:spcAft>
            </a:pPr>
            <a:r>
              <a:rPr sz="2100" b="0">
                <a:solidFill>
                  <a:srgbClr val="1C1C1A"/>
                </a:solidFill>
                <a:latin typeface="Calibri"/>
              </a:rPr>
              <a:t>Today nobody tells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profiles, one question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Two printouts of the same Kalpa Retail order book. Which of these would you trust?</a:t>
            </a:r>
          </a:p>
        </p:txBody>
      </p:sp>
      <p:sp>
        <p:nvSpPr>
          <p:cNvPr id="5" name="TextBox 4"/>
          <p:cNvSpPr txBox="1"/>
          <p:nvPr/>
        </p:nvSpPr>
        <p:spPr>
          <a:xfrm>
            <a:off x="777240" y="2646045"/>
            <a:ext cx="10607040" cy="1162050"/>
          </a:xfrm>
          <a:prstGeom prst="rect">
            <a:avLst/>
          </a:prstGeom>
          <a:noFill/>
        </p:spPr>
        <p:txBody>
          <a:bodyPr wrap="square">
            <a:spAutoFit/>
          </a:bodyPr>
          <a:lstStyle/>
          <a:p>
            <a:pPr>
              <a:spcAft>
                <a:spcPts val="400"/>
              </a:spcAft>
            </a:pPr>
            <a:r>
              <a:rPr sz="1700" b="0">
                <a:solidFill>
                  <a:srgbClr val="2B4A7D"/>
                </a:solidFill>
                <a:latin typeface="Consolas"/>
              </a:rPr>
              <a:t>                 A                              B</a:t>
            </a:r>
          </a:p>
          <a:p>
            <a:pPr>
              <a:spcAft>
                <a:spcPts val="400"/>
              </a:spcAft>
            </a:pPr>
            <a:r>
              <a:rPr sz="1700" b="0">
                <a:solidFill>
                  <a:srgbClr val="2B4A7D"/>
                </a:solidFill>
                <a:latin typeface="Consolas"/>
              </a:rPr>
              <a:t>amount    present 48/50  converts 44/50   present 50/50  converts 50/50</a:t>
            </a:r>
          </a:p>
          <a:p>
            <a:pPr>
              <a:spcAft>
                <a:spcPts val="400"/>
              </a:spcAft>
            </a:pPr>
            <a:r>
              <a:rPr sz="1700" b="0">
                <a:solidFill>
                  <a:srgbClr val="2B4A7D"/>
                </a:solidFill>
                <a:latin typeface="Consolas"/>
              </a:rPr>
              <a:t>          distinct 46                     distinct 42</a:t>
            </a:r>
          </a:p>
          <a:p>
            <a:pPr>
              <a:spcAft>
                <a:spcPts val="400"/>
              </a:spcAft>
            </a:pPr>
            <a:r>
              <a:rPr sz="1700" b="0">
                <a:solidFill>
                  <a:srgbClr val="2B4A7D"/>
                </a:solidFill>
                <a:latin typeface="Consolas"/>
              </a:rPr>
              <a:t>discount  present 11/50                   present 50/50</a:t>
            </a:r>
          </a:p>
        </p:txBody>
      </p:sp>
      <p:sp>
        <p:nvSpPr>
          <p:cNvPr id="6" name="TextBox 5"/>
          <p:cNvSpPr txBox="1"/>
          <p:nvPr/>
        </p:nvSpPr>
        <p:spPr>
          <a:xfrm>
            <a:off x="777240" y="3945255"/>
            <a:ext cx="10607040" cy="542925"/>
          </a:xfrm>
          <a:prstGeom prst="rect">
            <a:avLst/>
          </a:prstGeom>
          <a:noFill/>
        </p:spPr>
        <p:txBody>
          <a:bodyPr wrap="square">
            <a:spAutoFit/>
          </a:bodyPr>
          <a:lstStyle/>
          <a:p>
            <a:pPr>
              <a:spcAft>
                <a:spcPts val="1000"/>
              </a:spcAft>
            </a:pPr>
            <a:r>
              <a:rPr sz="2100" b="0">
                <a:solidFill>
                  <a:srgbClr val="1C1C1A"/>
                </a:solidFill>
                <a:latin typeface="Calibri"/>
              </a:rPr>
              <a:t>Take thirty seconds. Then say which, and why.</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answer</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1000"/>
              </a:spcAft>
            </a:pPr>
            <a:r>
              <a:rPr sz="2100" b="0">
                <a:solidFill>
                  <a:srgbClr val="1C1C1A"/>
                </a:solidFill>
                <a:latin typeface="Calibri"/>
              </a:rPr>
              <a:t>A.</a:t>
            </a:r>
          </a:p>
          <a:p>
            <a:pPr>
              <a:spcAft>
                <a:spcPts val="1000"/>
              </a:spcAft>
            </a:pPr>
            <a:r>
              <a:rPr sz="2100" b="0">
                <a:solidFill>
                  <a:srgbClr val="1C1C1A"/>
                </a:solidFill>
                <a:latin typeface="Calibri"/>
              </a:rPr>
              <a:t>B is A after somebody replaced every failure with a stated default of zero.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B cost</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Every count in B moved the way you want counts to move, and the dataset got worse.</a:t>
            </a:r>
          </a:p>
          <a:p>
            <a:pPr>
              <a:spcAft>
                <a:spcPts val="1000"/>
              </a:spcAft>
            </a:pPr>
            <a:r>
              <a:rPr sz="2100" b="0">
                <a:solidFill>
                  <a:srgbClr val="1C1C1A"/>
                </a:solidFill>
                <a:latin typeface="Calibri"/>
              </a:rPr>
              <a:t>Thirty nine orders in B carry a discount that nobody ever recorded.</a:t>
            </a:r>
          </a:p>
          <a:p>
            <a:pPr>
              <a:spcAft>
                <a:spcPts val="1000"/>
              </a:spcAft>
            </a:pPr>
            <a:r>
              <a:rPr sz="2100" b="0">
                <a:solidFill>
                  <a:srgbClr val="1C1C1A"/>
                </a:solidFill>
                <a:latin typeface="Calibri"/>
              </a:rPr>
              <a:t>Six amounts that could not be read are now the number zero, and nothing on the page says which six.</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number that tells you</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distinct is the only count that fell, from 46 to 42.</a:t>
            </a:r>
          </a:p>
          <a:p>
            <a:pPr>
              <a:spcAft>
                <a:spcPts val="1000"/>
              </a:spcAft>
            </a:pPr>
            <a:r>
              <a:rPr sz="2100" b="0">
                <a:solidFill>
                  <a:srgbClr val="1C1C1A"/>
                </a:solidFill>
                <a:latin typeface="Calibri"/>
              </a:rPr>
              <a:t>Five different broken values collapsed into one. Counts that only ever rise are counts that cannot warn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distinct is the count that catches a silent fix</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Every other count moves the wrong way when somebody quietly fills a gap.</a:t>
            </a:r>
          </a:p>
        </p:txBody>
      </p:sp>
      <p:graphicFrame>
        <p:nvGraphicFramePr>
          <p:cNvPr id="6" name="Table 5"/>
          <p:cNvGraphicFramePr>
            <a:graphicFrameLocks noGrp="1"/>
          </p:cNvGraphicFramePr>
          <p:nvPr/>
        </p:nvGraphicFramePr>
        <p:xfrm>
          <a:off x="777240" y="2646045"/>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Count</a:t>
                      </a:r>
                    </a:p>
                  </a:txBody>
                  <a:tcPr marT="25400" marB="25400"/>
                </a:tc>
                <a:tc>
                  <a:txBody>
                    <a:bodyPr/>
                    <a:lstStyle/>
                    <a:p>
                      <a:r>
                        <a:rPr sz="1300" b="1">
                          <a:solidFill>
                            <a:srgbClr val="2B4A7D"/>
                          </a:solidFill>
                          <a:latin typeface="Calibri"/>
                        </a:rPr>
                        <a:t>After a silent fill</a:t>
                      </a:r>
                    </a:p>
                  </a:txBody>
                  <a:tcPr marT="25400" marB="25400"/>
                </a:tc>
                <a:tc>
                  <a:txBody>
                    <a:bodyPr/>
                    <a:lstStyle/>
                    <a:p>
                      <a:r>
                        <a:rPr sz="1300" b="1">
                          <a:solidFill>
                            <a:srgbClr val="2B4A7D"/>
                          </a:solidFill>
                          <a:latin typeface="Calibri"/>
                        </a:rPr>
                        <a:t>What that looks like to a reader</a:t>
                      </a:r>
                    </a:p>
                  </a:txBody>
                  <a:tcPr marT="25400" marB="25400"/>
                </a:tc>
              </a:tr>
              <a:tr h="384048">
                <a:tc>
                  <a:txBody>
                    <a:bodyPr/>
                    <a:lstStyle/>
                    <a:p>
                      <a:r>
                        <a:rPr sz="1400" b="0">
                          <a:solidFill>
                            <a:srgbClr val="1C1C1A"/>
                          </a:solidFill>
                          <a:latin typeface="Calibri"/>
                        </a:rPr>
                        <a:t>present</a:t>
                      </a:r>
                    </a:p>
                  </a:txBody>
                  <a:tcPr marT="25400" marB="25400"/>
                </a:tc>
                <a:tc>
                  <a:txBody>
                    <a:bodyPr/>
                    <a:lstStyle/>
                    <a:p>
                      <a:r>
                        <a:rPr sz="1400" b="0">
                          <a:solidFill>
                            <a:srgbClr val="1C1C1A"/>
                          </a:solidFill>
                          <a:latin typeface="Calibri"/>
                        </a:rPr>
                        <a:t>Rises to 50 of 50</a:t>
                      </a:r>
                    </a:p>
                  </a:txBody>
                  <a:tcPr marT="25400" marB="25400"/>
                </a:tc>
                <a:tc>
                  <a:txBody>
                    <a:bodyPr/>
                    <a:lstStyle/>
                    <a:p>
                      <a:r>
                        <a:rPr sz="1400" b="0">
                          <a:solidFill>
                            <a:srgbClr val="1C1C1A"/>
                          </a:solidFill>
                          <a:latin typeface="Calibri"/>
                        </a:rPr>
                        <a:t>The field looks complete</a:t>
                      </a:r>
                    </a:p>
                  </a:txBody>
                  <a:tcPr marT="25400" marB="25400"/>
                </a:tc>
              </a:tr>
              <a:tr h="384048">
                <a:tc>
                  <a:txBody>
                    <a:bodyPr/>
                    <a:lstStyle/>
                    <a:p>
                      <a:r>
                        <a:rPr sz="1400" b="0">
                          <a:solidFill>
                            <a:srgbClr val="1C1C1A"/>
                          </a:solidFill>
                          <a:latin typeface="Calibri"/>
                        </a:rPr>
                        <a:t>converts</a:t>
                      </a:r>
                    </a:p>
                  </a:txBody>
                  <a:tcPr marT="25400" marB="25400"/>
                </a:tc>
                <a:tc>
                  <a:txBody>
                    <a:bodyPr/>
                    <a:lstStyle/>
                    <a:p>
                      <a:r>
                        <a:rPr sz="1400" b="0">
                          <a:solidFill>
                            <a:srgbClr val="1C1C1A"/>
                          </a:solidFill>
                          <a:latin typeface="Calibri"/>
                        </a:rPr>
                        <a:t>Rises to 50 of 50</a:t>
                      </a:r>
                    </a:p>
                  </a:txBody>
                  <a:tcPr marT="25400" marB="25400"/>
                </a:tc>
                <a:tc>
                  <a:txBody>
                    <a:bodyPr/>
                    <a:lstStyle/>
                    <a:p>
                      <a:r>
                        <a:rPr sz="1400" b="0">
                          <a:solidFill>
                            <a:srgbClr val="1C1C1A"/>
                          </a:solidFill>
                          <a:latin typeface="Calibri"/>
                        </a:rPr>
                        <a:t>The field looks clean</a:t>
                      </a:r>
                    </a:p>
                  </a:txBody>
                  <a:tcPr marT="25400" marB="25400"/>
                </a:tc>
              </a:tr>
              <a:tr h="384048">
                <a:tc>
                  <a:txBody>
                    <a:bodyPr/>
                    <a:lstStyle/>
                    <a:p>
                      <a:r>
                        <a:rPr sz="1400" b="0">
                          <a:solidFill>
                            <a:srgbClr val="1C1C1A"/>
                          </a:solidFill>
                          <a:latin typeface="Calibri"/>
                        </a:rPr>
                        <a:t>distinct</a:t>
                      </a:r>
                    </a:p>
                  </a:txBody>
                  <a:tcPr marT="25400" marB="25400"/>
                </a:tc>
                <a:tc>
                  <a:txBody>
                    <a:bodyPr/>
                    <a:lstStyle/>
                    <a:p>
                      <a:r>
                        <a:rPr sz="1400" b="0">
                          <a:solidFill>
                            <a:srgbClr val="1C1C1A"/>
                          </a:solidFill>
                          <a:latin typeface="Calibri"/>
                        </a:rPr>
                        <a:t>Falls, because many different broken values became one value</a:t>
                      </a:r>
                    </a:p>
                  </a:txBody>
                  <a:tcPr marT="25400" marB="25400"/>
                </a:tc>
                <a:tc>
                  <a:txBody>
                    <a:bodyPr/>
                    <a:lstStyle/>
                    <a:p>
                      <a:r>
                        <a:rPr sz="1400" b="0">
                          <a:solidFill>
                            <a:srgbClr val="1C1C1A"/>
                          </a:solidFill>
                          <a:latin typeface="Calibri"/>
                        </a:rPr>
                        <a:t>The only signal in the room, and it is easy to miss</a:t>
                      </a:r>
                    </a:p>
                  </a:txBody>
                  <a:tcPr marT="25400" marB="25400"/>
                </a:tc>
              </a:tr>
            </a:tbl>
          </a:graphicData>
        </a:graphic>
      </p:graphicFrame>
      <p:sp>
        <p:nvSpPr>
          <p:cNvPr id="7" name="TextBox 6"/>
          <p:cNvSpPr txBox="1"/>
          <p:nvPr/>
        </p:nvSpPr>
        <p:spPr>
          <a:xfrm>
            <a:off x="777240" y="4365117"/>
            <a:ext cx="10607040" cy="790575"/>
          </a:xfrm>
          <a:prstGeom prst="rect">
            <a:avLst/>
          </a:prstGeom>
          <a:noFill/>
        </p:spPr>
        <p:txBody>
          <a:bodyPr wrap="square">
            <a:spAutoFit/>
          </a:bodyPr>
          <a:lstStyle/>
          <a:p>
            <a:pPr>
              <a:spcAft>
                <a:spcPts val="1000"/>
              </a:spcAft>
            </a:pPr>
            <a:r>
              <a:rPr sz="2100" b="0">
                <a:solidFill>
                  <a:srgbClr val="1C1C1A"/>
                </a:solidFill>
                <a:latin typeface="Calibri"/>
              </a:rPr>
              <a:t>The direction is the whole point. A metric that only improves when somebody damages the data is a metric that cannot protect you, so the one that falls is the one to read first.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we are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1">
                <a:solidFill>
                  <a:srgbClr val="1C1C1A"/>
                </a:solidFill>
                <a:latin typeface="Calibri"/>
              </a:rPr>
              <a:t>[profile the columns]</a:t>
            </a:r>
            <a:r>
              <a:rPr sz="2100" b="0">
                <a:solidFill>
                  <a:srgbClr val="1C1C1A"/>
                </a:solidFill>
                <a:latin typeface="Calibri"/>
              </a:rPr>
              <a:t> &gt; [decide per field] &gt; [find the hidden rows] &gt; [investigate the extremes] &gt; [ship with the log]</a:t>
            </a:r>
          </a:p>
          <a:p>
            <a:pPr>
              <a:spcAft>
                <a:spcPts val="1000"/>
              </a:spcAft>
            </a:pPr>
            <a:r>
              <a:rPr sz="2100" b="0">
                <a:solidFill>
                  <a:srgbClr val="1C1C1A"/>
                </a:solidFill>
                <a:latin typeface="Calibri"/>
              </a:rPr>
              <a:t>Profiling is what you do before you have permission to change anything.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in one picture</a:t>
            </a:r>
          </a:p>
        </p:txBody>
      </p:sp>
      <p:pic>
        <p:nvPicPr>
          <p:cNvPr id="4" name="Picture 3" descr="ebd8838ee2f56898.png"/>
          <p:cNvPicPr>
            <a:picLocks noChangeAspect="1"/>
          </p:cNvPicPr>
          <p:nvPr/>
        </p:nvPicPr>
        <p:blipFill>
          <a:blip r:embed="rId2"/>
          <a:stretch>
            <a:fillRect/>
          </a:stretch>
        </p:blipFill>
        <p:spPr>
          <a:xfrm>
            <a:off x="777240" y="1965960"/>
            <a:ext cx="10607040" cy="778861"/>
          </a:xfrm>
          <a:prstGeom prst="rect">
            <a:avLst/>
          </a:prstGeom>
        </p:spPr>
      </p:pic>
      <p:sp>
        <p:nvSpPr>
          <p:cNvPr id="5" name="TextBox 4"/>
          <p:cNvSpPr txBox="1"/>
          <p:nvPr/>
        </p:nvSpPr>
        <p:spPr>
          <a:xfrm>
            <a:off x="777240" y="2881981"/>
            <a:ext cx="10607040" cy="542925"/>
          </a:xfrm>
          <a:prstGeom prst="rect">
            <a:avLst/>
          </a:prstGeom>
          <a:noFill/>
        </p:spPr>
        <p:txBody>
          <a:bodyPr wrap="square">
            <a:spAutoFit/>
          </a:bodyPr>
          <a:lstStyle/>
          <a:p>
            <a:pPr>
              <a:spcAft>
                <a:spcPts val="1000"/>
              </a:spcAft>
            </a:pPr>
            <a:r>
              <a:rPr sz="2100" b="0">
                <a:solidFill>
                  <a:srgbClr val="1C1C1A"/>
                </a:solidFill>
                <a:latin typeface="Calibri"/>
              </a:rPr>
              <a:t>Half one is the first two stops. Half two is the rest.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1: THE PROFILER</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1">
                <a:solidFill>
                  <a:srgbClr val="FFFFFF"/>
                </a:solidFill>
                <a:latin typeface="Calibri"/>
              </a:rPr>
              <a:t>[profile the columns]</a:t>
            </a:r>
            <a:r>
              <a:rPr sz="2100" b="0">
                <a:solidFill>
                  <a:srgbClr val="FFFFFF"/>
                </a:solidFill>
                <a:latin typeface="Calibri"/>
              </a:rPr>
              <a:t> &gt; [decide per field] &gt; [find the hidden rows]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Monday's counter, grown up</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Monday you counted how many orders had a value. That counter is today's profiler with two more questions attached.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counts, per field</a:t>
            </a:r>
          </a:p>
        </p:txBody>
      </p:sp>
      <p:sp>
        <p:nvSpPr>
          <p:cNvPr id="4" name="TextBox 3"/>
          <p:cNvSpPr txBox="1"/>
          <p:nvPr/>
        </p:nvSpPr>
        <p:spPr>
          <a:xfrm>
            <a:off x="777240" y="1965960"/>
            <a:ext cx="10607040" cy="914400"/>
          </a:xfrm>
          <a:prstGeom prst="rect">
            <a:avLst/>
          </a:prstGeom>
          <a:noFill/>
        </p:spPr>
        <p:txBody>
          <a:bodyPr wrap="square">
            <a:spAutoFit/>
          </a:bodyPr>
          <a:lstStyle/>
          <a:p>
            <a:pPr>
              <a:spcAft>
                <a:spcPts val="400"/>
              </a:spcAft>
            </a:pPr>
            <a:r>
              <a:rPr sz="1700" b="0">
                <a:solidFill>
                  <a:srgbClr val="2B4A7D"/>
                </a:solidFill>
                <a:latin typeface="Consolas"/>
              </a:rPr>
              <a:t>present     how many have anything at all</a:t>
            </a:r>
          </a:p>
          <a:p>
            <a:pPr>
              <a:spcAft>
                <a:spcPts val="400"/>
              </a:spcAft>
            </a:pPr>
            <a:r>
              <a:rPr sz="1700" b="0">
                <a:solidFill>
                  <a:srgbClr val="2B4A7D"/>
                </a:solidFill>
                <a:latin typeface="Consolas"/>
              </a:rPr>
              <a:t>converts    how many become the type you need</a:t>
            </a:r>
          </a:p>
          <a:p>
            <a:pPr>
              <a:spcAft>
                <a:spcPts val="400"/>
              </a:spcAft>
            </a:pPr>
            <a:r>
              <a:rPr sz="1700" b="0">
                <a:solidFill>
                  <a:srgbClr val="2B4A7D"/>
                </a:solidFill>
                <a:latin typeface="Consolas"/>
              </a:rPr>
              <a:t>distinct    how many different values there are</a:t>
            </a:r>
          </a:p>
        </p:txBody>
      </p:sp>
      <p:sp>
        <p:nvSpPr>
          <p:cNvPr id="5" name="TextBox 4"/>
          <p:cNvSpPr txBox="1"/>
          <p:nvPr/>
        </p:nvSpPr>
        <p:spPr>
          <a:xfrm>
            <a:off x="777240" y="3017520"/>
            <a:ext cx="10607040" cy="542925"/>
          </a:xfrm>
          <a:prstGeom prst="rect">
            <a:avLst/>
          </a:prstGeom>
          <a:noFill/>
        </p:spPr>
        <p:txBody>
          <a:bodyPr wrap="square">
            <a:spAutoFit/>
          </a:bodyPr>
          <a:lstStyle/>
          <a:p>
            <a:pPr>
              <a:spcAft>
                <a:spcPts val="1000"/>
              </a:spcAft>
            </a:pPr>
            <a:r>
              <a:rPr sz="2100" b="0">
                <a:solidFill>
                  <a:srgbClr val="1C1C1A"/>
                </a:solidFill>
                <a:latin typeface="Calibri"/>
              </a:rPr>
              <a:t>Three numbers per column. That is the whole tool.</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profiler is actually doing</a:t>
            </a:r>
          </a:p>
        </p:txBody>
      </p:sp>
      <p:pic>
        <p:nvPicPr>
          <p:cNvPr id="4" name="Picture 3" descr="9adf75fae511658e.png"/>
          <p:cNvPicPr>
            <a:picLocks noChangeAspect="1"/>
          </p:cNvPicPr>
          <p:nvPr/>
        </p:nvPicPr>
        <p:blipFill>
          <a:blip r:embed="rId2"/>
          <a:stretch>
            <a:fillRect/>
          </a:stretch>
        </p:blipFill>
        <p:spPr>
          <a:xfrm>
            <a:off x="4472657" y="1965960"/>
            <a:ext cx="3216204" cy="4023360"/>
          </a:xfrm>
          <a:prstGeom prst="rect">
            <a:avLst/>
          </a:prstGeom>
        </p:spPr>
      </p:pic>
      <p:sp>
        <p:nvSpPr>
          <p:cNvPr id="5" name="TextBox 4"/>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Two nested loops and a set. You wrote the outer one on Monday.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each one catches</a:t>
            </a:r>
          </a:p>
        </p:txBody>
      </p:sp>
      <p:graphicFrame>
        <p:nvGraphicFramePr>
          <p:cNvPr id="4" name="Table 3"/>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Count</a:t>
                      </a:r>
                    </a:p>
                  </a:txBody>
                  <a:tcPr marT="25400" marB="25400"/>
                </a:tc>
                <a:tc>
                  <a:txBody>
                    <a:bodyPr/>
                    <a:lstStyle/>
                    <a:p>
                      <a:r>
                        <a:rPr sz="1300" b="1">
                          <a:solidFill>
                            <a:srgbClr val="2B4A7D"/>
                          </a:solidFill>
                          <a:latin typeface="Calibri"/>
                        </a:rPr>
                        <a:t>The question it answers</a:t>
                      </a:r>
                    </a:p>
                  </a:txBody>
                  <a:tcPr marT="25400" marB="25400"/>
                </a:tc>
              </a:tr>
              <a:tr h="384048">
                <a:tc>
                  <a:txBody>
                    <a:bodyPr/>
                    <a:lstStyle/>
                    <a:p>
                      <a:r>
                        <a:rPr sz="1400" b="0">
                          <a:solidFill>
                            <a:srgbClr val="1C1C1A"/>
                          </a:solidFill>
                          <a:latin typeface="Calibri"/>
                        </a:rPr>
                        <a:t>present</a:t>
                      </a:r>
                    </a:p>
                  </a:txBody>
                  <a:tcPr marT="25400" marB="25400"/>
                </a:tc>
                <a:tc>
                  <a:txBody>
                    <a:bodyPr/>
                    <a:lstStyle/>
                    <a:p>
                      <a:r>
                        <a:rPr sz="1400" b="0">
                          <a:solidFill>
                            <a:srgbClr val="1C1C1A"/>
                          </a:solidFill>
                          <a:latin typeface="Calibri"/>
                        </a:rPr>
                        <a:t>Is this field being filled in?</a:t>
                      </a:r>
                    </a:p>
                  </a:txBody>
                  <a:tcPr marT="25400" marB="25400"/>
                </a:tc>
              </a:tr>
              <a:tr h="384048">
                <a:tc>
                  <a:txBody>
                    <a:bodyPr/>
                    <a:lstStyle/>
                    <a:p>
                      <a:r>
                        <a:rPr sz="1400" b="0">
                          <a:solidFill>
                            <a:srgbClr val="1C1C1A"/>
                          </a:solidFill>
                          <a:latin typeface="Calibri"/>
                        </a:rPr>
                        <a:t>converts</a:t>
                      </a:r>
                    </a:p>
                  </a:txBody>
                  <a:tcPr marT="25400" marB="25400"/>
                </a:tc>
                <a:tc>
                  <a:txBody>
                    <a:bodyPr/>
                    <a:lstStyle/>
                    <a:p>
                      <a:r>
                        <a:rPr sz="1400" b="0">
                          <a:solidFill>
                            <a:srgbClr val="1C1C1A"/>
                          </a:solidFill>
                          <a:latin typeface="Calibri"/>
                        </a:rPr>
                        <a:t>Is what is filled in usable?</a:t>
                      </a:r>
                    </a:p>
                  </a:txBody>
                  <a:tcPr marT="25400" marB="25400"/>
                </a:tc>
              </a:tr>
              <a:tr h="384048">
                <a:tc>
                  <a:txBody>
                    <a:bodyPr/>
                    <a:lstStyle/>
                    <a:p>
                      <a:r>
                        <a:rPr sz="1400" b="0">
                          <a:solidFill>
                            <a:srgbClr val="1C1C1A"/>
                          </a:solidFill>
                          <a:latin typeface="Calibri"/>
                        </a:rPr>
                        <a:t>distinct</a:t>
                      </a:r>
                    </a:p>
                  </a:txBody>
                  <a:tcPr marT="25400" marB="25400"/>
                </a:tc>
                <a:tc>
                  <a:txBody>
                    <a:bodyPr/>
                    <a:lstStyle/>
                    <a:p>
                      <a:r>
                        <a:rPr sz="1400" b="0">
                          <a:solidFill>
                            <a:srgbClr val="1C1C1A"/>
                          </a:solidFill>
                          <a:latin typeface="Calibri"/>
                        </a:rPr>
                        <a:t>Is this a category, a free text box, or an id?</a:t>
                      </a:r>
                    </a:p>
                  </a:txBody>
                  <a:tcPr marT="25400" marB="25400"/>
                </a:tc>
              </a:tr>
            </a:tbl>
          </a:graphicData>
        </a:graphic>
      </p:graphicFrame>
      <p:sp>
        <p:nvSpPr>
          <p:cNvPr id="5" name="TextBox 4"/>
          <p:cNvSpPr txBox="1"/>
          <p:nvPr/>
        </p:nvSpPr>
        <p:spPr>
          <a:xfrm>
            <a:off x="777240" y="3685032"/>
            <a:ext cx="10607040" cy="542925"/>
          </a:xfrm>
          <a:prstGeom prst="rect">
            <a:avLst/>
          </a:prstGeom>
          <a:noFill/>
        </p:spPr>
        <p:txBody>
          <a:bodyPr wrap="square">
            <a:spAutoFit/>
          </a:bodyPr>
          <a:lstStyle/>
          <a:p>
            <a:pPr>
              <a:spcAft>
                <a:spcPts val="1000"/>
              </a:spcAft>
            </a:pPr>
            <a:r>
              <a:rPr sz="2100" b="0">
                <a:solidFill>
                  <a:srgbClr val="1C1C1A"/>
                </a:solidFill>
                <a:latin typeface="Calibri"/>
              </a:rPr>
              <a:t>present minus converts is the number of values that look fine and are not.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 counts as rates, so columns can be compared</a:t>
            </a:r>
          </a:p>
        </p:txBody>
      </p:sp>
      <p:sp>
        <p:nvSpPr>
          <p:cNvPr id="5" name="TextBox 4"/>
          <p:cNvSpPr txBox="1"/>
          <p:nvPr/>
        </p:nvSpPr>
        <p:spPr>
          <a:xfrm>
            <a:off x="777240" y="1965960"/>
            <a:ext cx="10607040" cy="3390900"/>
          </a:xfrm>
          <a:prstGeom prst="rect">
            <a:avLst/>
          </a:prstGeom>
          <a:noFill/>
        </p:spPr>
        <p:txBody>
          <a:bodyPr wrap="square">
            <a:spAutoFit/>
          </a:bodyPr>
          <a:lstStyle/>
          <a:p>
            <a:pPr>
              <a:spcAft>
                <a:spcPts val="1000"/>
              </a:spcAft>
            </a:pPr>
            <a:r>
              <a:rPr sz="2100" b="0">
                <a:solidFill>
                  <a:srgbClr val="1C1C1A"/>
                </a:solidFill>
                <a:latin typeface="Calibri"/>
              </a:rPr>
              <a:t>Counts tell you about one column. Rates let you rank every column in the file by where the work is.</a:t>
            </a:r>
          </a:p>
          <a:p>
            <a:pPr>
              <a:spcAft>
                <a:spcPts val="1000"/>
              </a:spcAft>
            </a:pPr>
            <a:r>
              <a:rPr sz="2100" b="0">
                <a:solidFill>
                  <a:srgbClr val="1C1C1A"/>
                </a:solidFill>
                <a:latin typeface="Calibri"/>
              </a:rPr>
              <a:t>$$\text{presence rate} = \frac{\text{present}}{n} \qquad \text{convertibility rate} = \frac{\text{converts}}{n}$$</a:t>
            </a:r>
          </a:p>
          <a:p>
            <a:pPr>
              <a:spcAft>
                <a:spcPts val="1000"/>
              </a:spcAft>
            </a:pPr>
            <a:r>
              <a:rPr sz="2100" b="0">
                <a:solidFill>
                  <a:srgbClr val="1C1C1A"/>
                </a:solidFill>
                <a:latin typeface="Calibri"/>
              </a:rPr>
              <a:t>$$\text{the trap rate} = \frac{\text{present} - \text{converts}}{n}$$</a:t>
            </a:r>
          </a:p>
          <a:p>
            <a:pPr>
              <a:spcAft>
                <a:spcPts val="1000"/>
              </a:spcAft>
            </a:pPr>
            <a:r>
              <a:rPr sz="2100" b="0">
                <a:solidFill>
                  <a:srgbClr val="1C1C1A"/>
                </a:solidFill>
                <a:latin typeface="Calibri"/>
              </a:rPr>
              <a:t>For amount in today's file, with $n = 50$:</a:t>
            </a:r>
          </a:p>
          <a:p>
            <a:pPr>
              <a:spcAft>
                <a:spcPts val="1000"/>
              </a:spcAft>
            </a:pPr>
            <a:r>
              <a:rPr sz="2100" b="0">
                <a:solidFill>
                  <a:srgbClr val="1C1C1A"/>
                </a:solidFill>
                <a:latin typeface="Calibri"/>
              </a:rPr>
              <a:t>$$\frac{48}{50} = 96\% \text{ present} \qquad \frac{44}{50} = 88\% \text{ converts} \qquad \frac{48 - 44}{50} = 8\% \text{ present and unusable}$$</a:t>
            </a:r>
          </a:p>
          <a:p>
            <a:pPr>
              <a:spcAft>
                <a:spcPts val="1000"/>
              </a:spcAft>
            </a:pPr>
            <a:r>
              <a:rPr sz="2100" b="0">
                <a:solidFill>
                  <a:srgbClr val="1C1C1A"/>
                </a:solidFill>
                <a:latin typeface="Calibri"/>
              </a:rPr>
              <a:t>That last 8 percent is the dangerous group. Those rows are not empty, so a presence check passes them, and they are not numbers, so anything downstream that adds them up fails or lies.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file, profiled</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This is the printout the profiler gives you on today's fifty orders.</a:t>
            </a:r>
          </a:p>
        </p:txBody>
      </p:sp>
      <p:graphicFrame>
        <p:nvGraphicFramePr>
          <p:cNvPr id="6" name="Table 5"/>
          <p:cNvGraphicFramePr>
            <a:graphicFrameLocks noGrp="1"/>
          </p:cNvGraphicFramePr>
          <p:nvPr/>
        </p:nvGraphicFramePr>
        <p:xfrm>
          <a:off x="777240" y="2646045"/>
          <a:ext cx="10607040" cy="3072384"/>
        </p:xfrm>
        <a:graphic>
          <a:graphicData uri="http://schemas.openxmlformats.org/drawingml/2006/table">
            <a:tbl>
              <a:tblPr firstRow="1" bandRow="1">
                <a:tableStyleId>{5C22544A-7EE6-4342-B048-85BDC9FD1C3A}</a:tableStyleId>
              </a:tblPr>
              <a:tblGrid>
                <a:gridCol w="2121408"/>
                <a:gridCol w="2121408"/>
                <a:gridCol w="2121408"/>
                <a:gridCol w="2121408"/>
                <a:gridCol w="2121408"/>
              </a:tblGrid>
              <a:tr h="384048">
                <a:tc>
                  <a:txBody>
                    <a:bodyPr/>
                    <a:lstStyle/>
                    <a:p>
                      <a:r>
                        <a:rPr sz="1300" b="1">
                          <a:solidFill>
                            <a:srgbClr val="2B4A7D"/>
                          </a:solidFill>
                          <a:latin typeface="Calibri"/>
                        </a:rPr>
                        <a:t>Field</a:t>
                      </a:r>
                    </a:p>
                  </a:txBody>
                  <a:tcPr marT="25400" marB="25400"/>
                </a:tc>
                <a:tc>
                  <a:txBody>
                    <a:bodyPr/>
                    <a:lstStyle/>
                    <a:p>
                      <a:r>
                        <a:rPr sz="1300" b="1">
                          <a:solidFill>
                            <a:srgbClr val="2B4A7D"/>
                          </a:solidFill>
                          <a:latin typeface="Calibri"/>
                        </a:rPr>
                        <a:t>present</a:t>
                      </a:r>
                    </a:p>
                  </a:txBody>
                  <a:tcPr marT="25400" marB="25400"/>
                </a:tc>
                <a:tc>
                  <a:txBody>
                    <a:bodyPr/>
                    <a:lstStyle/>
                    <a:p>
                      <a:r>
                        <a:rPr sz="1300" b="1">
                          <a:solidFill>
                            <a:srgbClr val="2B4A7D"/>
                          </a:solidFill>
                          <a:latin typeface="Calibri"/>
                        </a:rPr>
                        <a:t>converts to int</a:t>
                      </a:r>
                    </a:p>
                  </a:txBody>
                  <a:tcPr marT="25400" marB="25400"/>
                </a:tc>
                <a:tc>
                  <a:txBody>
                    <a:bodyPr/>
                    <a:lstStyle/>
                    <a:p>
                      <a:r>
                        <a:rPr sz="1300" b="1">
                          <a:solidFill>
                            <a:srgbClr val="2B4A7D"/>
                          </a:solidFill>
                          <a:latin typeface="Calibri"/>
                        </a:rPr>
                        <a:t>distinct</a:t>
                      </a:r>
                    </a:p>
                  </a:txBody>
                  <a:tcPr marT="25400" marB="25400"/>
                </a:tc>
                <a:tc>
                  <a:txBody>
                    <a:bodyPr/>
                    <a:lstStyle/>
                    <a:p>
                      <a:r>
                        <a:rPr sz="1300" b="1">
                          <a:solidFill>
                            <a:srgbClr val="2B4A7D"/>
                          </a:solidFill>
                          <a:latin typeface="Calibri"/>
                        </a:rPr>
                        <a:t>What it tells you</a:t>
                      </a:r>
                    </a:p>
                  </a:txBody>
                  <a:tcPr marT="25400" marB="25400"/>
                </a:tc>
              </a:tr>
              <a:tr h="384048">
                <a:tc>
                  <a:txBody>
                    <a:bodyPr/>
                    <a:lstStyle/>
                    <a:p>
                      <a:r>
                        <a:rPr sz="1400" b="0">
                          <a:solidFill>
                            <a:srgbClr val="1C1C1A"/>
                          </a:solidFill>
                          <a:latin typeface="Calibri"/>
                        </a:rPr>
                        <a:t>order_id</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49</a:t>
                      </a:r>
                    </a:p>
                  </a:txBody>
                  <a:tcPr marT="25400" marB="25400"/>
                </a:tc>
                <a:tc>
                  <a:txBody>
                    <a:bodyPr/>
                    <a:lstStyle/>
                    <a:p>
                      <a:r>
                        <a:rPr sz="1400" b="0">
                          <a:solidFill>
                            <a:srgbClr val="1C1C1A"/>
                          </a:solidFill>
                          <a:latin typeface="Calibri"/>
                        </a:rPr>
                        <a:t>An identifier, and 49 distinct across 50 rows is a problem you meet in half two.</a:t>
                      </a:r>
                    </a:p>
                  </a:txBody>
                  <a:tcPr marT="25400" marB="25400"/>
                </a:tc>
              </a:tr>
              <a:tr h="384048">
                <a:tc>
                  <a:txBody>
                    <a:bodyPr/>
                    <a:lstStyle/>
                    <a:p>
                      <a:r>
                        <a:rPr sz="1400" b="0">
                          <a:solidFill>
                            <a:srgbClr val="1C1C1A"/>
                          </a:solidFill>
                          <a:latin typeface="Calibri"/>
                        </a:rPr>
                        <a:t>customer_id</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47</a:t>
                      </a:r>
                    </a:p>
                  </a:txBody>
                  <a:tcPr marT="25400" marB="25400"/>
                </a:tc>
                <a:tc>
                  <a:txBody>
                    <a:bodyPr/>
                    <a:lstStyle/>
                    <a:p>
                      <a:r>
                        <a:rPr sz="1400" b="0">
                          <a:solidFill>
                            <a:srgbClr val="1C1C1A"/>
                          </a:solidFill>
                          <a:latin typeface="Calibri"/>
                        </a:rPr>
                        <a:t>An identifier. Some customers ordered more than once, which is expected.</a:t>
                      </a:r>
                    </a:p>
                  </a:txBody>
                  <a:tcPr marT="25400" marB="25400"/>
                </a:tc>
              </a:tr>
              <a:tr h="384048">
                <a:tc>
                  <a:txBody>
                    <a:bodyPr/>
                    <a:lstStyle/>
                    <a:p>
                      <a:r>
                        <a:rPr sz="1400" b="0">
                          <a:solidFill>
                            <a:srgbClr val="1C1C1A"/>
                          </a:solidFill>
                          <a:latin typeface="Calibri"/>
                        </a:rPr>
                        <a:t>segment</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4</a:t>
                      </a:r>
                    </a:p>
                  </a:txBody>
                  <a:tcPr marT="25400" marB="25400"/>
                </a:tc>
                <a:tc>
                  <a:txBody>
                    <a:bodyPr/>
                    <a:lstStyle/>
                    <a:p>
                      <a:r>
                        <a:rPr sz="1400" b="0">
                          <a:solidFill>
                            <a:srgbClr val="1C1C1A"/>
                          </a:solidFill>
                          <a:latin typeface="Calibri"/>
                        </a:rPr>
                        <a:t>A category with four values, so it can be grouped and counted safely.</a:t>
                      </a:r>
                    </a:p>
                  </a:txBody>
                  <a:tcPr marT="25400" marB="25400"/>
                </a:tc>
              </a:tr>
              <a:tr h="384048">
                <a:tc>
                  <a:txBody>
                    <a:bodyPr/>
                    <a:lstStyle/>
                    <a:p>
                      <a:r>
                        <a:rPr sz="1400" b="0">
                          <a:solidFill>
                            <a:srgbClr val="1C1C1A"/>
                          </a:solidFill>
                          <a:latin typeface="Calibri"/>
                        </a:rPr>
                        <a:t>amount</a:t>
                      </a:r>
                    </a:p>
                  </a:txBody>
                  <a:tcPr marT="25400" marB="25400"/>
                </a:tc>
                <a:tc>
                  <a:txBody>
                    <a:bodyPr/>
                    <a:lstStyle/>
                    <a:p>
                      <a:r>
                        <a:rPr sz="1400" b="0">
                          <a:solidFill>
                            <a:srgbClr val="1C1C1A"/>
                          </a:solidFill>
                          <a:latin typeface="Calibri"/>
                        </a:rPr>
                        <a:t>48 of 50</a:t>
                      </a:r>
                    </a:p>
                  </a:txBody>
                  <a:tcPr marT="25400" marB="25400"/>
                </a:tc>
                <a:tc>
                  <a:txBody>
                    <a:bodyPr/>
                    <a:lstStyle/>
                    <a:p>
                      <a:r>
                        <a:rPr sz="1400" b="0">
                          <a:solidFill>
                            <a:srgbClr val="1C1C1A"/>
                          </a:solidFill>
                          <a:latin typeface="Calibri"/>
                        </a:rPr>
                        <a:t>44</a:t>
                      </a:r>
                    </a:p>
                  </a:txBody>
                  <a:tcPr marT="25400" marB="25400"/>
                </a:tc>
                <a:tc>
                  <a:txBody>
                    <a:bodyPr/>
                    <a:lstStyle/>
                    <a:p>
                      <a:r>
                        <a:rPr sz="1400" b="0">
                          <a:solidFill>
                            <a:srgbClr val="1C1C1A"/>
                          </a:solidFill>
                          <a:latin typeface="Calibri"/>
                        </a:rPr>
                        <a:t>46</a:t>
                      </a:r>
                    </a:p>
                  </a:txBody>
                  <a:tcPr marT="25400" marB="25400"/>
                </a:tc>
                <a:tc>
                  <a:txBody>
                    <a:bodyPr/>
                    <a:lstStyle/>
                    <a:p>
                      <a:r>
                        <a:rPr sz="1400" b="0">
                          <a:solidFill>
                            <a:srgbClr val="1C1C1A"/>
                          </a:solidFill>
                          <a:latin typeface="Calibri"/>
                        </a:rPr>
                        <a:t>A measure. Two absent and four present but unusable.</a:t>
                      </a:r>
                    </a:p>
                  </a:txBody>
                  <a:tcPr marT="25400" marB="25400"/>
                </a:tc>
              </a:tr>
              <a:tr h="384048">
                <a:tc>
                  <a:txBody>
                    <a:bodyPr/>
                    <a:lstStyle/>
                    <a:p>
                      <a:r>
                        <a:rPr sz="1400" b="0">
                          <a:solidFill>
                            <a:srgbClr val="1C1C1A"/>
                          </a:solidFill>
                          <a:latin typeface="Calibri"/>
                        </a:rPr>
                        <a:t>status</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3</a:t>
                      </a:r>
                    </a:p>
                  </a:txBody>
                  <a:tcPr marT="25400" marB="25400"/>
                </a:tc>
                <a:tc>
                  <a:txBody>
                    <a:bodyPr/>
                    <a:lstStyle/>
                    <a:p>
                      <a:r>
                        <a:rPr sz="1400" b="0">
                          <a:solidFill>
                            <a:srgbClr val="1C1C1A"/>
                          </a:solidFill>
                          <a:latin typeface="Calibri"/>
                        </a:rPr>
                        <a:t>A category with three values.</a:t>
                      </a:r>
                    </a:p>
                  </a:txBody>
                  <a:tcPr marT="25400" marB="25400"/>
                </a:tc>
              </a:tr>
              <a:tr h="384048">
                <a:tc>
                  <a:txBody>
                    <a:bodyPr/>
                    <a:lstStyle/>
                    <a:p>
                      <a:r>
                        <a:rPr sz="1400" b="0">
                          <a:solidFill>
                            <a:srgbClr val="1C1C1A"/>
                          </a:solidFill>
                          <a:latin typeface="Calibri"/>
                        </a:rPr>
                        <a:t>order_date</a:t>
                      </a:r>
                    </a:p>
                  </a:txBody>
                  <a:tcPr marT="25400" marB="25400"/>
                </a:tc>
                <a:tc>
                  <a:txBody>
                    <a:bodyPr/>
                    <a:lstStyle/>
                    <a:p>
                      <a:r>
                        <a:rPr sz="1400" b="0">
                          <a:solidFill>
                            <a:srgbClr val="1C1C1A"/>
                          </a:solidFill>
                          <a:latin typeface="Calibri"/>
                        </a:rPr>
                        <a:t>50 of 50</a:t>
                      </a:r>
                    </a:p>
                  </a:txBody>
                  <a:tcPr marT="25400" marB="25400"/>
                </a:tc>
                <a:tc>
                  <a:txBody>
                    <a:bodyPr/>
                    <a:lstStyle/>
                    <a:p>
                      <a:r>
                        <a:rPr sz="1400" b="0">
                          <a:solidFill>
                            <a:srgbClr val="1C1C1A"/>
                          </a:solidFill>
                          <a:latin typeface="Calibri"/>
                        </a:rPr>
                        <a:t>0</a:t>
                      </a:r>
                    </a:p>
                  </a:txBody>
                  <a:tcPr marT="25400" marB="25400"/>
                </a:tc>
                <a:tc>
                  <a:txBody>
                    <a:bodyPr/>
                    <a:lstStyle/>
                    <a:p>
                      <a:r>
                        <a:rPr sz="1400" b="0">
                          <a:solidFill>
                            <a:srgbClr val="1C1C1A"/>
                          </a:solidFill>
                          <a:latin typeface="Calibri"/>
                        </a:rPr>
                        <a:t>20</a:t>
                      </a:r>
                    </a:p>
                  </a:txBody>
                  <a:tcPr marT="25400" marB="25400"/>
                </a:tc>
                <a:tc>
                  <a:txBody>
                    <a:bodyPr/>
                    <a:lstStyle/>
                    <a:p>
                      <a:r>
                        <a:rPr sz="1400" b="0">
                          <a:solidFill>
                            <a:srgbClr val="1C1C1A"/>
                          </a:solidFill>
                          <a:latin typeface="Calibri"/>
                        </a:rPr>
                        <a:t>Twenty different dates across fifty orders.</a:t>
                      </a:r>
                    </a:p>
                  </a:txBody>
                  <a:tcPr marT="25400" marB="25400"/>
                </a:tc>
              </a:tr>
              <a:tr h="384048">
                <a:tc>
                  <a:txBody>
                    <a:bodyPr/>
                    <a:lstStyle/>
                    <a:p>
                      <a:r>
                        <a:rPr sz="1400" b="0">
                          <a:solidFill>
                            <a:srgbClr val="1C1C1A"/>
                          </a:solidFill>
                          <a:latin typeface="Calibri"/>
                        </a:rPr>
                        <a:t>discount</a:t>
                      </a:r>
                    </a:p>
                  </a:txBody>
                  <a:tcPr marT="25400" marB="25400"/>
                </a:tc>
                <a:tc>
                  <a:txBody>
                    <a:bodyPr/>
                    <a:lstStyle/>
                    <a:p>
                      <a:r>
                        <a:rPr sz="1400" b="0">
                          <a:solidFill>
                            <a:srgbClr val="1C1C1A"/>
                          </a:solidFill>
                          <a:latin typeface="Calibri"/>
                        </a:rPr>
                        <a:t>11 of 50</a:t>
                      </a:r>
                    </a:p>
                  </a:txBody>
                  <a:tcPr marT="25400" marB="25400"/>
                </a:tc>
                <a:tc>
                  <a:txBody>
                    <a:bodyPr/>
                    <a:lstStyle/>
                    <a:p>
                      <a:r>
                        <a:rPr sz="1400" b="0">
                          <a:solidFill>
                            <a:srgbClr val="1C1C1A"/>
                          </a:solidFill>
                          <a:latin typeface="Calibri"/>
                        </a:rPr>
                        <a:t>11</a:t>
                      </a:r>
                    </a:p>
                  </a:txBody>
                  <a:tcPr marT="25400" marB="25400"/>
                </a:tc>
                <a:tc>
                  <a:txBody>
                    <a:bodyPr/>
                    <a:lstStyle/>
                    <a:p>
                      <a:r>
                        <a:rPr sz="1400" b="0">
                          <a:solidFill>
                            <a:srgbClr val="1C1C1A"/>
                          </a:solidFill>
                          <a:latin typeface="Calibri"/>
                        </a:rPr>
                        <a:t>9</a:t>
                      </a:r>
                    </a:p>
                  </a:txBody>
                  <a:tcPr marT="25400" marB="25400"/>
                </a:tc>
                <a:tc>
                  <a:txBody>
                    <a:bodyPr/>
                    <a:lstStyle/>
                    <a:p>
                      <a:r>
                        <a:rPr sz="1400" b="0">
                          <a:solidFill>
                            <a:srgbClr val="1C1C1A"/>
                          </a:solidFill>
                          <a:latin typeface="Calibri"/>
                        </a:rPr>
                        <a:t>Optional. Everything present converts, so the gap here is absence rather than mess.</a:t>
                      </a:r>
                    </a:p>
                  </a:txBody>
                  <a:tcPr marT="25400" marB="25400"/>
                </a:tc>
              </a:tr>
            </a:tbl>
          </a:graphicData>
        </a:graphic>
      </p:graphicFrame>
      <p:sp>
        <p:nvSpPr>
          <p:cNvPr id="7" name="TextBox 6"/>
          <p:cNvSpPr txBox="1"/>
          <p:nvPr/>
        </p:nvSpPr>
        <p:spPr>
          <a:xfrm>
            <a:off x="777240" y="5901309"/>
            <a:ext cx="10607040" cy="790575"/>
          </a:xfrm>
          <a:prstGeom prst="rect">
            <a:avLst/>
          </a:prstGeom>
          <a:noFill/>
        </p:spPr>
        <p:txBody>
          <a:bodyPr wrap="square">
            <a:spAutoFit/>
          </a:bodyPr>
          <a:lstStyle/>
          <a:p>
            <a:pPr>
              <a:spcAft>
                <a:spcPts val="1000"/>
              </a:spcAft>
            </a:pPr>
            <a:r>
              <a:rPr sz="2100" b="0">
                <a:solidFill>
                  <a:srgbClr val="1C1C1A"/>
                </a:solidFill>
                <a:latin typeface="Calibri"/>
              </a:rPr>
              <a:t>The two fields that need a decision are amount and discount, and the profile named them before you touched anything.</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Read a real column</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amount    present 48/50   converts 44/50   distinct 46</a:t>
            </a:r>
          </a:p>
        </p:txBody>
      </p:sp>
      <p:sp>
        <p:nvSpPr>
          <p:cNvPr id="5" name="TextBox 4"/>
          <p:cNvSpPr txBox="1"/>
          <p:nvPr/>
        </p:nvSpPr>
        <p:spPr>
          <a:xfrm>
            <a:off x="777240" y="2606040"/>
            <a:ext cx="10607040" cy="1162050"/>
          </a:xfrm>
          <a:prstGeom prst="rect">
            <a:avLst/>
          </a:prstGeom>
          <a:noFill/>
        </p:spPr>
        <p:txBody>
          <a:bodyPr wrap="square">
            <a:spAutoFit/>
          </a:bodyPr>
          <a:lstStyle/>
          <a:p>
            <a:pPr>
              <a:spcAft>
                <a:spcPts val="1000"/>
              </a:spcAft>
            </a:pPr>
            <a:r>
              <a:rPr sz="2100" b="0">
                <a:solidFill>
                  <a:srgbClr val="1C1C1A"/>
                </a:solidFill>
                <a:latin typeface="Calibri"/>
              </a:rPr>
              <a:t>Two orders have no amount. Four more have something that will not become a number. Forty six different values, so this is not a category.</a:t>
            </a:r>
          </a:p>
          <a:p>
            <a:pPr>
              <a:spcAft>
                <a:spcPts val="1000"/>
              </a:spcAft>
            </a:pPr>
            <a:r>
              <a:rPr sz="2100" b="0">
                <a:solidFill>
                  <a:srgbClr val="1C1C1A"/>
                </a:solidFill>
                <a:latin typeface="Calibri"/>
              </a:rPr>
              <a:t>You have not touched the data and you already know where the work is.</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six failures, named, and who fixes each</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count tells you how many. A list tells you what to do about them.</a:t>
            </a:r>
          </a:p>
        </p:txBody>
      </p:sp>
      <p:graphicFrame>
        <p:nvGraphicFramePr>
          <p:cNvPr id="6" name="Table 5"/>
          <p:cNvGraphicFramePr>
            <a:graphicFrameLocks noGrp="1"/>
          </p:cNvGraphicFramePr>
          <p:nvPr/>
        </p:nvGraphicFramePr>
        <p:xfrm>
          <a:off x="777240" y="2646045"/>
          <a:ext cx="10607040" cy="2688336"/>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Order</a:t>
                      </a:r>
                    </a:p>
                  </a:txBody>
                  <a:tcPr marT="25400" marB="25400"/>
                </a:tc>
                <a:tc>
                  <a:txBody>
                    <a:bodyPr/>
                    <a:lstStyle/>
                    <a:p>
                      <a:r>
                        <a:rPr sz="1300" b="1">
                          <a:solidFill>
                            <a:srgbClr val="2B4A7D"/>
                          </a:solidFill>
                          <a:latin typeface="Calibri"/>
                        </a:rPr>
                        <a:t>The value that arrived</a:t>
                      </a:r>
                    </a:p>
                  </a:txBody>
                  <a:tcPr marT="25400" marB="25400"/>
                </a:tc>
                <a:tc>
                  <a:txBody>
                    <a:bodyPr/>
                    <a:lstStyle/>
                    <a:p>
                      <a:r>
                        <a:rPr sz="1300" b="1">
                          <a:solidFill>
                            <a:srgbClr val="2B4A7D"/>
                          </a:solidFill>
                          <a:latin typeface="Calibri"/>
                        </a:rPr>
                        <a:t>What it actually is</a:t>
                      </a:r>
                    </a:p>
                  </a:txBody>
                  <a:tcPr marT="25400" marB="25400"/>
                </a:tc>
                <a:tc>
                  <a:txBody>
                    <a:bodyPr/>
                    <a:lstStyle/>
                    <a:p>
                      <a:r>
                        <a:rPr sz="1300" b="1">
                          <a:solidFill>
                            <a:srgbClr val="2B4A7D"/>
                          </a:solidFill>
                          <a:latin typeface="Calibri"/>
                        </a:rPr>
                        <a:t>Who fixes it</a:t>
                      </a:r>
                    </a:p>
                  </a:txBody>
                  <a:tcPr marT="25400" marB="25400"/>
                </a:tc>
              </a:tr>
              <a:tr h="384048">
                <a:tc>
                  <a:txBody>
                    <a:bodyPr/>
                    <a:lstStyle/>
                    <a:p>
                      <a:r>
                        <a:rPr sz="1400" b="0">
                          <a:solidFill>
                            <a:srgbClr val="1C1C1A"/>
                          </a:solidFill>
                          <a:latin typeface="Calibri"/>
                        </a:rPr>
                        <a:t>KR4210</a:t>
                      </a:r>
                    </a:p>
                  </a:txBody>
                  <a:tcPr marT="25400" marB="25400"/>
                </a:tc>
                <a:tc>
                  <a:txBody>
                    <a:bodyPr/>
                    <a:lstStyle/>
                    <a:p>
                      <a:r>
                        <a:rPr sz="1400" b="0">
                          <a:solidFill>
                            <a:srgbClr val="1C1C1A"/>
                          </a:solidFill>
                          <a:latin typeface="Calibri"/>
                        </a:rPr>
                        <a:t>twelve</a:t>
                      </a:r>
                    </a:p>
                  </a:txBody>
                  <a:tcPr marT="25400" marB="25400"/>
                </a:tc>
                <a:tc>
                  <a:txBody>
                    <a:bodyPr/>
                    <a:lstStyle/>
                    <a:p>
                      <a:r>
                        <a:rPr sz="1400" b="0">
                          <a:solidFill>
                            <a:srgbClr val="1C1C1A"/>
                          </a:solidFill>
                          <a:latin typeface="Calibri"/>
                        </a:rPr>
                        <a:t>A word where a number belongs, probably typed by a person</a:t>
                      </a:r>
                    </a:p>
                  </a:txBody>
                  <a:tcPr marT="25400" marB="25400"/>
                </a:tc>
                <a:tc>
                  <a:txBody>
                    <a:bodyPr/>
                    <a:lstStyle/>
                    <a:p>
                      <a:r>
                        <a:rPr sz="1400" b="0">
                          <a:solidFill>
                            <a:srgbClr val="1C1C1A"/>
                          </a:solidFill>
                          <a:latin typeface="Calibri"/>
                        </a:rPr>
                        <a:t>Whoever owns data entry upstream</a:t>
                      </a:r>
                    </a:p>
                  </a:txBody>
                  <a:tcPr marT="25400" marB="25400"/>
                </a:tc>
              </a:tr>
              <a:tr h="384048">
                <a:tc>
                  <a:txBody>
                    <a:bodyPr/>
                    <a:lstStyle/>
                    <a:p>
                      <a:r>
                        <a:rPr sz="1400" b="0">
                          <a:solidFill>
                            <a:srgbClr val="1C1C1A"/>
                          </a:solidFill>
                          <a:latin typeface="Calibri"/>
                        </a:rPr>
                        <a:t>KR4214</a:t>
                      </a:r>
                    </a:p>
                  </a:txBody>
                  <a:tcPr marT="25400" marB="25400"/>
                </a:tc>
                <a:tc>
                  <a:txBody>
                    <a:bodyPr/>
                    <a:lstStyle/>
                    <a:p>
                      <a:r>
                        <a:rPr sz="1400" b="0">
                          <a:solidFill>
                            <a:srgbClr val="1C1C1A"/>
                          </a:solidFill>
                          <a:latin typeface="Calibri"/>
                        </a:rPr>
                        <a:t>empty</a:t>
                      </a:r>
                    </a:p>
                  </a:txBody>
                  <a:tcPr marT="25400" marB="25400"/>
                </a:tc>
                <a:tc>
                  <a:txBody>
                    <a:bodyPr/>
                    <a:lstStyle/>
                    <a:p>
                      <a:r>
                        <a:rPr sz="1400" b="0">
                          <a:solidFill>
                            <a:srgbClr val="1C1C1A"/>
                          </a:solidFill>
                          <a:latin typeface="Calibri"/>
                        </a:rPr>
                        <a:t>The value is absent in the CSV, and the JSON still carries 2840 one level down</a:t>
                      </a:r>
                    </a:p>
                  </a:txBody>
                  <a:tcPr marT="25400" marB="25400"/>
                </a:tc>
                <a:tc>
                  <a:txBody>
                    <a:bodyPr/>
                    <a:lstStyle/>
                    <a:p>
                      <a:r>
                        <a:rPr sz="1400" b="0">
                          <a:solidFill>
                            <a:srgbClr val="1C1C1A"/>
                          </a:solidFill>
                          <a:latin typeface="Calibri"/>
                        </a:rPr>
                        <a:t>Recoverable by you, from the other file</a:t>
                      </a:r>
                    </a:p>
                  </a:txBody>
                  <a:tcPr marT="25400" marB="25400"/>
                </a:tc>
              </a:tr>
              <a:tr h="384048">
                <a:tc>
                  <a:txBody>
                    <a:bodyPr/>
                    <a:lstStyle/>
                    <a:p>
                      <a:r>
                        <a:rPr sz="1400" b="0">
                          <a:solidFill>
                            <a:srgbClr val="1C1C1A"/>
                          </a:solidFill>
                          <a:latin typeface="Calibri"/>
                        </a:rPr>
                        <a:t>KR4237</a:t>
                      </a:r>
                    </a:p>
                  </a:txBody>
                  <a:tcPr marT="25400" marB="25400"/>
                </a:tc>
                <a:tc>
                  <a:txBody>
                    <a:bodyPr/>
                    <a:lstStyle/>
                    <a:p>
                      <a:r>
                        <a:rPr sz="1400" b="0">
                          <a:solidFill>
                            <a:srgbClr val="1C1C1A"/>
                          </a:solidFill>
                          <a:latin typeface="Calibri"/>
                        </a:rPr>
                        <a:t>empty</a:t>
                      </a:r>
                    </a:p>
                  </a:txBody>
                  <a:tcPr marT="25400" marB="25400"/>
                </a:tc>
                <a:tc>
                  <a:txBody>
                    <a:bodyPr/>
                    <a:lstStyle/>
                    <a:p>
                      <a:r>
                        <a:rPr sz="1400" b="0">
                          <a:solidFill>
                            <a:srgbClr val="1C1C1A"/>
                          </a:solidFill>
                          <a:latin typeface="Calibri"/>
                        </a:rPr>
                        <a:t>Absent in both files, so genuinely lost</a:t>
                      </a:r>
                    </a:p>
                  </a:txBody>
                  <a:tcPr marT="25400" marB="25400"/>
                </a:tc>
                <a:tc>
                  <a:txBody>
                    <a:bodyPr/>
                    <a:lstStyle/>
                    <a:p>
                      <a:r>
                        <a:rPr sz="1400" b="0">
                          <a:solidFill>
                            <a:srgbClr val="1C1C1A"/>
                          </a:solidFill>
                          <a:latin typeface="Calibri"/>
                        </a:rPr>
                        <a:t>Nobody. It is rejected and reported.</a:t>
                      </a:r>
                    </a:p>
                  </a:txBody>
                  <a:tcPr marT="25400" marB="25400"/>
                </a:tc>
              </a:tr>
              <a:tr h="384048">
                <a:tc>
                  <a:txBody>
                    <a:bodyPr/>
                    <a:lstStyle/>
                    <a:p>
                      <a:r>
                        <a:rPr sz="1400" b="0">
                          <a:solidFill>
                            <a:srgbClr val="1C1C1A"/>
                          </a:solidFill>
                          <a:latin typeface="Calibri"/>
                        </a:rPr>
                        <a:t>KR4231</a:t>
                      </a:r>
                    </a:p>
                  </a:txBody>
                  <a:tcPr marT="25400" marB="25400"/>
                </a:tc>
                <a:tc>
                  <a:txBody>
                    <a:bodyPr/>
                    <a:lstStyle/>
                    <a:p>
                      <a:r>
                        <a:rPr sz="1400" b="0">
                          <a:solidFill>
                            <a:srgbClr val="1C1C1A"/>
                          </a:solidFill>
                          <a:latin typeface="Calibri"/>
                        </a:rPr>
                        <a:t>12,400</a:t>
                      </a:r>
                    </a:p>
                  </a:txBody>
                  <a:tcPr marT="25400" marB="25400"/>
                </a:tc>
                <a:tc>
                  <a:txBody>
                    <a:bodyPr/>
                    <a:lstStyle/>
                    <a:p>
                      <a:r>
                        <a:rPr sz="1400" b="0">
                          <a:solidFill>
                            <a:srgbClr val="1C1C1A"/>
                          </a:solidFill>
                          <a:latin typeface="Calibri"/>
                        </a:rPr>
                        <a:t>A number with a thousands separator, so a formatting convention leaked into the data</a:t>
                      </a:r>
                    </a:p>
                  </a:txBody>
                  <a:tcPr marT="25400" marB="25400"/>
                </a:tc>
                <a:tc>
                  <a:txBody>
                    <a:bodyPr/>
                    <a:lstStyle/>
                    <a:p>
                      <a:r>
                        <a:rPr sz="1400" b="0">
                          <a:solidFill>
                            <a:srgbClr val="1C1C1A"/>
                          </a:solidFill>
                          <a:latin typeface="Calibri"/>
                        </a:rPr>
                        <a:t>A parsing rule you can write</a:t>
                      </a:r>
                    </a:p>
                  </a:txBody>
                  <a:tcPr marT="25400" marB="25400"/>
                </a:tc>
              </a:tr>
              <a:tr h="384048">
                <a:tc>
                  <a:txBody>
                    <a:bodyPr/>
                    <a:lstStyle/>
                    <a:p>
                      <a:r>
                        <a:rPr sz="1400" b="0">
                          <a:solidFill>
                            <a:srgbClr val="1C1C1A"/>
                          </a:solidFill>
                          <a:latin typeface="Calibri"/>
                        </a:rPr>
                        <a:t>KR4235</a:t>
                      </a:r>
                    </a:p>
                  </a:txBody>
                  <a:tcPr marT="25400" marB="25400"/>
                </a:tc>
                <a:tc>
                  <a:txBody>
                    <a:bodyPr/>
                    <a:lstStyle/>
                    <a:p>
                      <a:r>
                        <a:rPr sz="1400" b="0">
                          <a:solidFill>
                            <a:srgbClr val="1C1C1A"/>
                          </a:solidFill>
                          <a:latin typeface="Calibri"/>
                        </a:rPr>
                        <a:t>24 500</a:t>
                      </a:r>
                    </a:p>
                  </a:txBody>
                  <a:tcPr marT="25400" marB="25400"/>
                </a:tc>
                <a:tc>
                  <a:txBody>
                    <a:bodyPr/>
                    <a:lstStyle/>
                    <a:p>
                      <a:r>
                        <a:rPr sz="1400" b="0">
                          <a:solidFill>
                            <a:srgbClr val="1C1C1A"/>
                          </a:solidFill>
                          <a:latin typeface="Calibri"/>
                        </a:rPr>
                        <a:t>A number with a space inside it, from a locale that groups that way</a:t>
                      </a:r>
                    </a:p>
                  </a:txBody>
                  <a:tcPr marT="25400" marB="25400"/>
                </a:tc>
                <a:tc>
                  <a:txBody>
                    <a:bodyPr/>
                    <a:lstStyle/>
                    <a:p>
                      <a:r>
                        <a:rPr sz="1400" b="0">
                          <a:solidFill>
                            <a:srgbClr val="1C1C1A"/>
                          </a:solidFill>
                          <a:latin typeface="Calibri"/>
                        </a:rPr>
                        <a:t>The same parsing rule</a:t>
                      </a:r>
                    </a:p>
                  </a:txBody>
                  <a:tcPr marT="25400" marB="25400"/>
                </a:tc>
              </a:tr>
              <a:tr h="384048">
                <a:tc>
                  <a:txBody>
                    <a:bodyPr/>
                    <a:lstStyle/>
                    <a:p>
                      <a:r>
                        <a:rPr sz="1400" b="0">
                          <a:solidFill>
                            <a:srgbClr val="1C1C1A"/>
                          </a:solidFill>
                          <a:latin typeface="Calibri"/>
                        </a:rPr>
                        <a:t>KR4240</a:t>
                      </a:r>
                    </a:p>
                  </a:txBody>
                  <a:tcPr marT="25400" marB="25400"/>
                </a:tc>
                <a:tc>
                  <a:txBody>
                    <a:bodyPr/>
                    <a:lstStyle/>
                    <a:p>
                      <a:r>
                        <a:rPr sz="1400" b="0">
                          <a:solidFill>
                            <a:srgbClr val="1C1C1A"/>
                          </a:solidFill>
                          <a:latin typeface="Calibri"/>
                        </a:rPr>
                        <a:t>Rs 8000</a:t>
                      </a:r>
                    </a:p>
                  </a:txBody>
                  <a:tcPr marT="25400" marB="25400"/>
                </a:tc>
                <a:tc>
                  <a:txBody>
                    <a:bodyPr/>
                    <a:lstStyle/>
                    <a:p>
                      <a:r>
                        <a:rPr sz="1400" b="0">
                          <a:solidFill>
                            <a:srgbClr val="1C1C1A"/>
                          </a:solidFill>
                          <a:latin typeface="Calibri"/>
                        </a:rPr>
                        <a:t>A number with its unit attached</a:t>
                      </a:r>
                    </a:p>
                  </a:txBody>
                  <a:tcPr marT="25400" marB="25400"/>
                </a:tc>
                <a:tc>
                  <a:txBody>
                    <a:bodyPr/>
                    <a:lstStyle/>
                    <a:p>
                      <a:r>
                        <a:rPr sz="1400" b="0">
                          <a:solidFill>
                            <a:srgbClr val="1C1C1A"/>
                          </a:solidFill>
                          <a:latin typeface="Calibri"/>
                        </a:rPr>
                        <a:t>The same parsing rule</a:t>
                      </a:r>
                    </a:p>
                  </a:txBody>
                  <a:tcPr marT="25400" marB="25400"/>
                </a:tc>
              </a:tr>
            </a:tbl>
          </a:graphicData>
        </a:graphic>
      </p:graphicFrame>
      <p:sp>
        <p:nvSpPr>
          <p:cNvPr id="7" name="TextBox 6"/>
          <p:cNvSpPr txBox="1"/>
          <p:nvPr/>
        </p:nvSpPr>
        <p:spPr>
          <a:xfrm>
            <a:off x="777240" y="5517261"/>
            <a:ext cx="10607040" cy="790575"/>
          </a:xfrm>
          <a:prstGeom prst="rect">
            <a:avLst/>
          </a:prstGeom>
          <a:noFill/>
        </p:spPr>
        <p:txBody>
          <a:bodyPr wrap="square">
            <a:spAutoFit/>
          </a:bodyPr>
          <a:lstStyle/>
          <a:p>
            <a:pPr>
              <a:spcAft>
                <a:spcPts val="1000"/>
              </a:spcAft>
            </a:pPr>
            <a:r>
              <a:rPr sz="2100" b="0">
                <a:solidFill>
                  <a:srgbClr val="1C1C1A"/>
                </a:solidFill>
                <a:latin typeface="Calibri"/>
              </a:rPr>
              <a:t>Three different problems hide inside one count of six. Three go to a person, one is recoverable, and three are a parsing decision you own. That distinction never appears in the number 6.</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distinct tells you about a field's job</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count of distinct values against the row count tells you what kind of field you are holding, before anybody explains the schema.</a:t>
            </a:r>
          </a:p>
        </p:txBody>
      </p:sp>
      <p:pic>
        <p:nvPicPr>
          <p:cNvPr id="6" name="Picture 5" descr="a38c640b1bee24b4.png"/>
          <p:cNvPicPr>
            <a:picLocks noChangeAspect="1"/>
          </p:cNvPicPr>
          <p:nvPr/>
        </p:nvPicPr>
        <p:blipFill>
          <a:blip r:embed="rId2"/>
          <a:stretch>
            <a:fillRect/>
          </a:stretch>
        </p:blipFill>
        <p:spPr>
          <a:xfrm>
            <a:off x="2596237" y="2893695"/>
            <a:ext cx="6969045" cy="3095625"/>
          </a:xfrm>
          <a:prstGeom prst="rect">
            <a:avLst/>
          </a:prstGeom>
        </p:spPr>
      </p:pic>
      <p:sp>
        <p:nvSpPr>
          <p:cNvPr id="7" name="TextBox 6"/>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A field with four distinct values across fifty rows is something you can put on an axis. A field with forty six is not.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1</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Profile every field before changing any of them.</a:t>
            </a:r>
          </a:p>
          <a:p>
            <a:pPr>
              <a:spcAft>
                <a:spcPts val="1000"/>
              </a:spcAft>
            </a:pPr>
            <a:r>
              <a:rPr sz="2100" b="0">
                <a:solidFill>
                  <a:srgbClr val="1C1C1A"/>
                </a:solidFill>
                <a:latin typeface="Calibri"/>
              </a:rPr>
              <a:t>2. Three counts: present, converts, distinct.</a:t>
            </a:r>
          </a:p>
          <a:p>
            <a:pPr>
              <a:spcAft>
                <a:spcPts val="1000"/>
              </a:spcAft>
            </a:pPr>
            <a:r>
              <a:rPr sz="2100" b="0">
                <a:solidFill>
                  <a:srgbClr val="1C1C1A"/>
                </a:solidFill>
                <a:latin typeface="Calibri"/>
              </a:rPr>
              <a:t>3. The gap between present and converts is your work list.</a:t>
            </a:r>
          </a:p>
          <a:p>
            <a:pPr>
              <a:spcAft>
                <a:spcPts val="1000"/>
              </a:spcAft>
            </a:pPr>
            <a:r>
              <a:rPr sz="2100" b="0">
                <a:solidFill>
                  <a:srgbClr val="1C1C1A"/>
                </a:solidFill>
                <a:latin typeface="Calibri"/>
              </a:rPr>
              <a:t>4. A count that only rises cannot warn you.</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2: DECIDING PER FIELD</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a:t>
            </a:r>
            <a:r>
              <a:rPr sz="2100" b="1">
                <a:solidFill>
                  <a:srgbClr val="FFFFFF"/>
                </a:solidFill>
                <a:latin typeface="Calibri"/>
              </a:rPr>
              <a:t>[decide per field]</a:t>
            </a:r>
            <a:r>
              <a:rPr sz="2100" b="0">
                <a:solidFill>
                  <a:srgbClr val="FFFFFF"/>
                </a:solidFill>
                <a:latin typeface="Calibri"/>
              </a:rPr>
              <a:t> &gt; [find the hidden rows]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missing value is a decision</a:t>
            </a:r>
          </a:p>
        </p:txBody>
      </p:sp>
      <p:sp>
        <p:nvSpPr>
          <p:cNvPr id="4" name="TextBox 3"/>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Not a defect to be removed. A decision, with three defensible answers and one written reason.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decision, drawn</a:t>
            </a:r>
          </a:p>
        </p:txBody>
      </p:sp>
      <p:pic>
        <p:nvPicPr>
          <p:cNvPr id="4" name="Picture 3" descr="12b06767be9891ad.png"/>
          <p:cNvPicPr>
            <a:picLocks noChangeAspect="1"/>
          </p:cNvPicPr>
          <p:nvPr/>
        </p:nvPicPr>
        <p:blipFill>
          <a:blip r:embed="rId2"/>
          <a:stretch>
            <a:fillRect/>
          </a:stretch>
        </p:blipFill>
        <p:spPr>
          <a:xfrm>
            <a:off x="4763313" y="1965960"/>
            <a:ext cx="2634892"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Three branches, and the box at the bottom is the price of the middle one. It is a price worth paying sometimes, and never worth paying by accident.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three</a:t>
            </a:r>
          </a:p>
        </p:txBody>
      </p:sp>
      <p:graphicFrame>
        <p:nvGraphicFramePr>
          <p:cNvPr id="4" name="Table 3"/>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Choice</a:t>
                      </a:r>
                    </a:p>
                  </a:txBody>
                  <a:tcPr marT="25400" marB="25400"/>
                </a:tc>
                <a:tc>
                  <a:txBody>
                    <a:bodyPr/>
                    <a:lstStyle/>
                    <a:p>
                      <a:r>
                        <a:rPr sz="1300" b="1">
                          <a:solidFill>
                            <a:srgbClr val="2B4A7D"/>
                          </a:solidFill>
                          <a:latin typeface="Calibri"/>
                        </a:rPr>
                        <a:t>Use it when</a:t>
                      </a:r>
                    </a:p>
                  </a:txBody>
                  <a:tcPr marT="25400" marB="25400"/>
                </a:tc>
                <a:tc>
                  <a:txBody>
                    <a:bodyPr/>
                    <a:lstStyle/>
                    <a:p>
                      <a:r>
                        <a:rPr sz="1300" b="1">
                          <a:solidFill>
                            <a:srgbClr val="2B4A7D"/>
                          </a:solidFill>
                          <a:latin typeface="Calibri"/>
                        </a:rPr>
                        <a:t>It costs you</a:t>
                      </a:r>
                    </a:p>
                  </a:txBody>
                  <a:tcPr marT="25400" marB="25400"/>
                </a:tc>
              </a:tr>
              <a:tr h="384048">
                <a:tc>
                  <a:txBody>
                    <a:bodyPr/>
                    <a:lstStyle/>
                    <a:p>
                      <a:r>
                        <a:rPr sz="1400" b="0">
                          <a:solidFill>
                            <a:srgbClr val="1C1C1A"/>
                          </a:solidFill>
                          <a:latin typeface="Calibri"/>
                        </a:rPr>
                        <a:t>Drop the record</a:t>
                      </a:r>
                    </a:p>
                  </a:txBody>
                  <a:tcPr marT="25400" marB="25400"/>
                </a:tc>
                <a:tc>
                  <a:txBody>
                    <a:bodyPr/>
                    <a:lstStyle/>
                    <a:p>
                      <a:r>
                        <a:rPr sz="1400" b="0">
                          <a:solidFill>
                            <a:srgbClr val="1C1C1A"/>
                          </a:solidFill>
                          <a:latin typeface="Calibri"/>
                        </a:rPr>
                        <a:t>The field is required and the record is unusable without it</a:t>
                      </a:r>
                    </a:p>
                  </a:txBody>
                  <a:tcPr marT="25400" marB="25400"/>
                </a:tc>
                <a:tc>
                  <a:txBody>
                    <a:bodyPr/>
                    <a:lstStyle/>
                    <a:p>
                      <a:r>
                        <a:rPr sz="1400" b="0">
                          <a:solidFill>
                            <a:srgbClr val="1C1C1A"/>
                          </a:solidFill>
                          <a:latin typeface="Calibri"/>
                        </a:rPr>
                        <a:t>Every other field on that record</a:t>
                      </a:r>
                    </a:p>
                  </a:txBody>
                  <a:tcPr marT="25400" marB="25400"/>
                </a:tc>
              </a:tr>
              <a:tr h="384048">
                <a:tc>
                  <a:txBody>
                    <a:bodyPr/>
                    <a:lstStyle/>
                    <a:p>
                      <a:r>
                        <a:rPr sz="1400" b="0">
                          <a:solidFill>
                            <a:srgbClr val="1C1C1A"/>
                          </a:solidFill>
                          <a:latin typeface="Calibri"/>
                        </a:rPr>
                        <a:t>Use a stated default</a:t>
                      </a:r>
                    </a:p>
                  </a:txBody>
                  <a:tcPr marT="25400" marB="25400"/>
                </a:tc>
                <a:tc>
                  <a:txBody>
                    <a:bodyPr/>
                    <a:lstStyle/>
                    <a:p>
                      <a:r>
                        <a:rPr sz="1400" b="0">
                          <a:solidFill>
                            <a:srgbClr val="1C1C1A"/>
                          </a:solidFill>
                          <a:latin typeface="Calibri"/>
                        </a:rPr>
                        <a:t>Absence genuinely means something, and you can say what</a:t>
                      </a:r>
                    </a:p>
                  </a:txBody>
                  <a:tcPr marT="25400" marB="25400"/>
                </a:tc>
                <a:tc>
                  <a:txBody>
                    <a:bodyPr/>
                    <a:lstStyle/>
                    <a:p>
                      <a:r>
                        <a:rPr sz="1400" b="0">
                          <a:solidFill>
                            <a:srgbClr val="1C1C1A"/>
                          </a:solidFill>
                          <a:latin typeface="Calibri"/>
                        </a:rPr>
                        <a:t>The ability to tell absent from present-and-equal-to-the-default</a:t>
                      </a:r>
                    </a:p>
                  </a:txBody>
                  <a:tcPr marT="25400" marB="25400"/>
                </a:tc>
              </a:tr>
              <a:tr h="384048">
                <a:tc>
                  <a:txBody>
                    <a:bodyPr/>
                    <a:lstStyle/>
                    <a:p>
                      <a:r>
                        <a:rPr sz="1400" b="0">
                          <a:solidFill>
                            <a:srgbClr val="1C1C1A"/>
                          </a:solidFill>
                          <a:latin typeface="Calibri"/>
                        </a:rPr>
                        <a:t>Keep and flag</a:t>
                      </a:r>
                    </a:p>
                  </a:txBody>
                  <a:tcPr marT="25400" marB="25400"/>
                </a:tc>
                <a:tc>
                  <a:txBody>
                    <a:bodyPr/>
                    <a:lstStyle/>
                    <a:p>
                      <a:r>
                        <a:rPr sz="1400" b="0">
                          <a:solidFill>
                            <a:srgbClr val="1C1C1A"/>
                          </a:solidFill>
                          <a:latin typeface="Calibri"/>
                        </a:rPr>
                        <a:t>You need the record and the gap must travel with it</a:t>
                      </a:r>
                    </a:p>
                  </a:txBody>
                  <a:tcPr marT="25400" marB="25400"/>
                </a:tc>
                <a:tc>
                  <a:txBody>
                    <a:bodyPr/>
                    <a:lstStyle/>
                    <a:p>
                      <a:r>
                        <a:rPr sz="1400" b="0">
                          <a:solidFill>
                            <a:srgbClr val="1C1C1A"/>
                          </a:solidFill>
                          <a:latin typeface="Calibri"/>
                        </a:rPr>
                        <a:t>Every downstream reader has to handle the flag</a:t>
                      </a:r>
                    </a:p>
                  </a:txBody>
                  <a:tcPr marT="25400" marB="25400"/>
                </a:tc>
              </a:tr>
            </a:tbl>
          </a:graphicData>
        </a:graphic>
      </p:graphicFrame>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Applied to two real columns</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amount is required. Two orders have none, so they are set aside with a reason.</a:t>
            </a:r>
          </a:p>
          <a:p>
            <a:pPr>
              <a:spcAft>
                <a:spcPts val="1000"/>
              </a:spcAft>
            </a:pPr>
            <a:r>
              <a:rPr sz="2100" b="0">
                <a:solidFill>
                  <a:srgbClr val="1C1C1A"/>
                </a:solidFill>
                <a:latin typeface="Calibri"/>
              </a:rPr>
              <a:t>discount is optional and absent on 39 of 50. Absence there means no discount was applied, which is a fact rather than a gap.</a:t>
            </a:r>
          </a:p>
          <a:p>
            <a:pPr>
              <a:spcAft>
                <a:spcPts val="1000"/>
              </a:spcAft>
            </a:pPr>
            <a:r>
              <a:rPr sz="2100" b="0">
                <a:solidFill>
                  <a:srgbClr val="1C1C1A"/>
                </a:solidFill>
                <a:latin typeface="Calibri"/>
              </a:rPr>
              <a:t>Same dataset, same day, opposite decisions, and both are written down.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same two columns, and what each choice would cost in numbers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Suppose you took the easy option on both and filled every gap with zero.</a:t>
            </a:r>
          </a:p>
        </p:txBody>
      </p:sp>
      <p:graphicFrame>
        <p:nvGraphicFramePr>
          <p:cNvPr id="6" name="Table 5"/>
          <p:cNvGraphicFramePr>
            <a:graphicFrameLocks noGrp="1"/>
          </p:cNvGraphicFramePr>
          <p:nvPr/>
        </p:nvGraphicFramePr>
        <p:xfrm>
          <a:off x="777240" y="2646045"/>
          <a:ext cx="10607040" cy="1152144"/>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Column</a:t>
                      </a:r>
                    </a:p>
                  </a:txBody>
                  <a:tcPr marT="25400" marB="25400"/>
                </a:tc>
                <a:tc>
                  <a:txBody>
                    <a:bodyPr/>
                    <a:lstStyle/>
                    <a:p>
                      <a:r>
                        <a:rPr sz="1300" b="1">
                          <a:solidFill>
                            <a:srgbClr val="2B4A7D"/>
                          </a:solidFill>
                          <a:latin typeface="Calibri"/>
                        </a:rPr>
                        <a:t>Rows affected</a:t>
                      </a:r>
                    </a:p>
                  </a:txBody>
                  <a:tcPr marT="25400" marB="25400"/>
                </a:tc>
                <a:tc>
                  <a:txBody>
                    <a:bodyPr/>
                    <a:lstStyle/>
                    <a:p>
                      <a:r>
                        <a:rPr sz="1300" b="1">
                          <a:solidFill>
                            <a:srgbClr val="2B4A7D"/>
                          </a:solidFill>
                          <a:latin typeface="Calibri"/>
                        </a:rPr>
                        <a:t>What the number becomes</a:t>
                      </a:r>
                    </a:p>
                  </a:txBody>
                  <a:tcPr marT="25400" marB="25400"/>
                </a:tc>
                <a:tc>
                  <a:txBody>
                    <a:bodyPr/>
                    <a:lstStyle/>
                    <a:p>
                      <a:r>
                        <a:rPr sz="1300" b="1">
                          <a:solidFill>
                            <a:srgbClr val="2B4A7D"/>
                          </a:solidFill>
                          <a:latin typeface="Calibri"/>
                        </a:rPr>
                        <a:t>What you can no longer answer</a:t>
                      </a:r>
                    </a:p>
                  </a:txBody>
                  <a:tcPr marT="25400" marB="25400"/>
                </a:tc>
              </a:tr>
              <a:tr h="384048">
                <a:tc>
                  <a:txBody>
                    <a:bodyPr/>
                    <a:lstStyle/>
                    <a:p>
                      <a:r>
                        <a:rPr sz="1400" b="0">
                          <a:solidFill>
                            <a:srgbClr val="1C1C1A"/>
                          </a:solidFill>
                          <a:latin typeface="Calibri"/>
                        </a:rPr>
                        <a:t>amount</a:t>
                      </a:r>
                    </a:p>
                  </a:txBody>
                  <a:tcPr marT="25400" marB="25400"/>
                </a:tc>
                <a:tc>
                  <a:txBody>
                    <a:bodyPr/>
                    <a:lstStyle/>
                    <a:p>
                      <a:r>
                        <a:rPr sz="1400" b="0">
                          <a:solidFill>
                            <a:srgbClr val="1C1C1A"/>
                          </a:solidFill>
                          <a:latin typeface="Calibri"/>
                        </a:rPr>
                        <a:t>6 of 50</a:t>
                      </a:r>
                    </a:p>
                  </a:txBody>
                  <a:tcPr marT="25400" marB="25400"/>
                </a:tc>
                <a:tc>
                  <a:txBody>
                    <a:bodyPr/>
                    <a:lstStyle/>
                    <a:p>
                      <a:r>
                        <a:rPr sz="1400" b="0">
                          <a:solidFill>
                            <a:srgbClr val="1C1C1A"/>
                          </a:solidFill>
                          <a:latin typeface="Calibri"/>
                        </a:rPr>
                        <a:t>Six orders worth Rs 0, so the order count rises to 50 and the total does not move</a:t>
                      </a:r>
                    </a:p>
                  </a:txBody>
                  <a:tcPr marT="25400" marB="25400"/>
                </a:tc>
                <a:tc>
                  <a:txBody>
                    <a:bodyPr/>
                    <a:lstStyle/>
                    <a:p>
                      <a:r>
                        <a:rPr sz="1400" b="0">
                          <a:solidFill>
                            <a:srgbClr val="1C1C1A"/>
                          </a:solidFill>
                          <a:latin typeface="Calibri"/>
                        </a:rPr>
                        <a:t>How many orders you actually have a value for, which is the denominator of every average you will compute tomorrow</a:t>
                      </a:r>
                    </a:p>
                  </a:txBody>
                  <a:tcPr marT="25400" marB="25400"/>
                </a:tc>
              </a:tr>
              <a:tr h="384048">
                <a:tc>
                  <a:txBody>
                    <a:bodyPr/>
                    <a:lstStyle/>
                    <a:p>
                      <a:r>
                        <a:rPr sz="1400" b="0">
                          <a:solidFill>
                            <a:srgbClr val="1C1C1A"/>
                          </a:solidFill>
                          <a:latin typeface="Calibri"/>
                        </a:rPr>
                        <a:t>discount</a:t>
                      </a:r>
                    </a:p>
                  </a:txBody>
                  <a:tcPr marT="25400" marB="25400"/>
                </a:tc>
                <a:tc>
                  <a:txBody>
                    <a:bodyPr/>
                    <a:lstStyle/>
                    <a:p>
                      <a:r>
                        <a:rPr sz="1400" b="0">
                          <a:solidFill>
                            <a:srgbClr val="1C1C1A"/>
                          </a:solidFill>
                          <a:latin typeface="Calibri"/>
                        </a:rPr>
                        <a:t>39 of 50</a:t>
                      </a:r>
                    </a:p>
                  </a:txBody>
                  <a:tcPr marT="25400" marB="25400"/>
                </a:tc>
                <a:tc>
                  <a:txBody>
                    <a:bodyPr/>
                    <a:lstStyle/>
                    <a:p>
                      <a:r>
                        <a:rPr sz="1400" b="0">
                          <a:solidFill>
                            <a:srgbClr val="1C1C1A"/>
                          </a:solidFill>
                          <a:latin typeface="Calibri"/>
                        </a:rPr>
                        <a:t>Thirty nine orders carrying a discount that was never recorded</a:t>
                      </a:r>
                    </a:p>
                  </a:txBody>
                  <a:tcPr marT="25400" marB="25400"/>
                </a:tc>
                <a:tc>
                  <a:txBody>
                    <a:bodyPr/>
                    <a:lstStyle/>
                    <a:p>
                      <a:r>
                        <a:rPr sz="1400" b="0">
                          <a:solidFill>
                            <a:srgbClr val="1C1C1A"/>
                          </a:solidFill>
                          <a:latin typeface="Calibri"/>
                        </a:rPr>
                        <a:t>Whether a discount of zero was a decision or an absence, which is the question a pricing analyst will ask first</a:t>
                      </a:r>
                    </a:p>
                  </a:txBody>
                  <a:tcPr marT="25400" marB="25400"/>
                </a:tc>
              </a:tr>
            </a:tbl>
          </a:graphicData>
        </a:graphic>
      </p:graphicFrame>
      <p:sp>
        <p:nvSpPr>
          <p:cNvPr id="7" name="TextBox 6"/>
          <p:cNvSpPr txBox="1"/>
          <p:nvPr/>
        </p:nvSpPr>
        <p:spPr>
          <a:xfrm>
            <a:off x="777240" y="3981069"/>
            <a:ext cx="10607040" cy="542925"/>
          </a:xfrm>
          <a:prstGeom prst="rect">
            <a:avLst/>
          </a:prstGeom>
          <a:noFill/>
        </p:spPr>
        <p:txBody>
          <a:bodyPr wrap="square">
            <a:spAutoFit/>
          </a:bodyPr>
          <a:lstStyle/>
          <a:p>
            <a:pPr>
              <a:spcAft>
                <a:spcPts val="1000"/>
              </a:spcAft>
            </a:pPr>
            <a:r>
              <a:rPr sz="2100" b="0">
                <a:solidFill>
                  <a:srgbClr val="1C1C1A"/>
                </a:solidFill>
                <a:latin typeface="Calibri"/>
              </a:rPr>
              <a:t>Neither fill corrupts a single existing value. Both destroy a question you will be asked.</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one that looks harmless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Filling discount with zero is defensible.</a:t>
            </a:r>
          </a:p>
          <a:p>
            <a:pPr>
              <a:spcAft>
                <a:spcPts val="1000"/>
              </a:spcAft>
            </a:pPr>
            <a:r>
              <a:rPr sz="2100" b="0">
                <a:solidFill>
                  <a:srgbClr val="1C1C1A"/>
                </a:solidFill>
                <a:latin typeface="Calibri"/>
              </a:rPr>
              <a:t>It also means you can never again tell an order that had no discount from an order whose discount was zero. That is a decision you are allowed to make once you have said it out loud.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Coercion at dataset scale</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Yesterday's clean_record already handles one bad value correctly. Point it at fifty and it keeps working, because you wrote it to reject rather than to guess.</a:t>
            </a:r>
          </a:p>
          <a:p>
            <a:pPr>
              <a:spcAft>
                <a:spcPts val="1000"/>
              </a:spcAft>
            </a:pPr>
            <a:r>
              <a:rPr sz="2100" b="0">
                <a:solidFill>
                  <a:srgbClr val="1C1C1A"/>
                </a:solidFill>
                <a:latin typeface="Calibri"/>
              </a:rPr>
              <a:t>Nothing in it changes today. That was the promise.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coerce-everything pass, and what it hides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A single line turns every failure into a number and nothing on screen changes colour.</a:t>
            </a:r>
          </a:p>
        </p:txBody>
      </p:sp>
      <p:sp>
        <p:nvSpPr>
          <p:cNvPr id="6" name="TextBox 5"/>
          <p:cNvSpPr txBox="1"/>
          <p:nvPr/>
        </p:nvSpPr>
        <p:spPr>
          <a:xfrm>
            <a:off x="777240" y="2646045"/>
            <a:ext cx="10607040" cy="2152650"/>
          </a:xfrm>
          <a:prstGeom prst="rect">
            <a:avLst/>
          </a:prstGeom>
          <a:noFill/>
        </p:spPr>
        <p:txBody>
          <a:bodyPr wrap="square">
            <a:spAutoFit/>
          </a:bodyPr>
          <a:lstStyle/>
          <a:p>
            <a:pPr>
              <a:spcAft>
                <a:spcPts val="400"/>
              </a:spcAft>
            </a:pPr>
            <a:r>
              <a:rPr sz="1700" b="0">
                <a:solidFill>
                  <a:srgbClr val="2B4A7D"/>
                </a:solidFill>
                <a:latin typeface="Consolas"/>
              </a:rPr>
              <a:t>amounts = []</a:t>
            </a:r>
          </a:p>
          <a:p>
            <a:pPr>
              <a:spcAft>
                <a:spcPts val="400"/>
              </a:spcAft>
            </a:pPr>
            <a:r>
              <a:rPr sz="1700" b="0">
                <a:solidFill>
                  <a:srgbClr val="2B4A7D"/>
                </a:solidFill>
                <a:latin typeface="Consolas"/>
              </a:rPr>
              <a:t>for r in rows:</a:t>
            </a:r>
          </a:p>
          <a:p>
            <a:pPr>
              <a:spcAft>
                <a:spcPts val="400"/>
              </a:spcAft>
            </a:pPr>
            <a:r>
              <a:rPr sz="1700" b="0">
                <a:solidFill>
                  <a:srgbClr val="2B4A7D"/>
                </a:solidFill>
                <a:latin typeface="Consolas"/>
              </a:rPr>
              <a:t>    try:</a:t>
            </a:r>
          </a:p>
          <a:p>
            <a:pPr>
              <a:spcAft>
                <a:spcPts val="400"/>
              </a:spcAft>
            </a:pPr>
            <a:r>
              <a:rPr sz="1700" b="0">
                <a:solidFill>
                  <a:srgbClr val="2B4A7D"/>
                </a:solidFill>
                <a:latin typeface="Consolas"/>
              </a:rPr>
              <a:t>        amounts.append(int(r["amount"]))</a:t>
            </a:r>
          </a:p>
          <a:p>
            <a:pPr>
              <a:spcAft>
                <a:spcPts val="400"/>
              </a:spcAft>
            </a:pPr>
            <a:r>
              <a:rPr sz="1700" b="0">
                <a:solidFill>
                  <a:srgbClr val="2B4A7D"/>
                </a:solidFill>
                <a:latin typeface="Consolas"/>
              </a:rPr>
              <a:t>    except ValueError:</a:t>
            </a:r>
          </a:p>
          <a:p>
            <a:pPr>
              <a:spcAft>
                <a:spcPts val="400"/>
              </a:spcAft>
            </a:pPr>
            <a:r>
              <a:rPr sz="1700" b="0">
                <a:solidFill>
                  <a:srgbClr val="2B4A7D"/>
                </a:solidFill>
                <a:latin typeface="Consolas"/>
              </a:rPr>
              <a:t>        amounts.append(0)</a:t>
            </a:r>
          </a:p>
          <a:p>
            <a:pPr>
              <a:spcAft>
                <a:spcPts val="400"/>
              </a:spcAft>
            </a:pPr>
          </a:p>
          <a:p>
            <a:pPr>
              <a:spcAft>
                <a:spcPts val="400"/>
              </a:spcAft>
            </a:pPr>
            <a:r>
              <a:rPr sz="1700" b="0">
                <a:solidFill>
                  <a:srgbClr val="2B4A7D"/>
                </a:solidFill>
                <a:latin typeface="Consolas"/>
              </a:rPr>
              <a:t>print(len(amounts), sum(amounts))</a:t>
            </a:r>
          </a:p>
        </p:txBody>
      </p:sp>
      <p:sp>
        <p:nvSpPr>
          <p:cNvPr id="7" name="TextBox 6"/>
          <p:cNvSpPr txBox="1"/>
          <p:nvPr/>
        </p:nvSpPr>
        <p:spPr>
          <a:xfrm>
            <a:off x="777240" y="4935855"/>
            <a:ext cx="10607040" cy="502920"/>
          </a:xfrm>
          <a:prstGeom prst="rect">
            <a:avLst/>
          </a:prstGeom>
          <a:noFill/>
        </p:spPr>
        <p:txBody>
          <a:bodyPr wrap="square">
            <a:spAutoFit/>
          </a:bodyPr>
          <a:lstStyle/>
          <a:p>
            <a:pPr>
              <a:spcAft>
                <a:spcPts val="400"/>
              </a:spcAft>
            </a:pPr>
            <a:r>
              <a:rPr sz="1700" b="0">
                <a:solidFill>
                  <a:srgbClr val="2B4A7D"/>
                </a:solidFill>
                <a:latin typeface="Consolas"/>
              </a:rPr>
              <a:t>50 561145</a:t>
            </a:r>
          </a:p>
        </p:txBody>
      </p:sp>
      <p:sp>
        <p:nvSpPr>
          <p:cNvPr id="8" name="TextBox 7"/>
          <p:cNvSpPr txBox="1"/>
          <p:nvPr/>
        </p:nvSpPr>
        <p:spPr>
          <a:xfrm>
            <a:off x="777240" y="5575935"/>
            <a:ext cx="10607040" cy="1409700"/>
          </a:xfrm>
          <a:prstGeom prst="rect">
            <a:avLst/>
          </a:prstGeom>
          <a:noFill/>
        </p:spPr>
        <p:txBody>
          <a:bodyPr wrap="square">
            <a:spAutoFit/>
          </a:bodyPr>
          <a:lstStyle/>
          <a:p>
            <a:pPr>
              <a:spcAft>
                <a:spcPts val="1000"/>
              </a:spcAft>
            </a:pPr>
            <a:r>
              <a:rPr sz="2100" b="0">
                <a:solidFill>
                  <a:srgbClr val="1C1C1A"/>
                </a:solidFill>
                <a:latin typeface="Calibri"/>
              </a:rPr>
              <a:t>Fifty amounts, and the total is exactly the same as the honest one, because the six failures each became zero. The count is now a lie and the total is now unauditable, since nothing records which six moved.</a:t>
            </a:r>
          </a:p>
          <a:p>
            <a:pPr>
              <a:spcAft>
                <a:spcPts val="1000"/>
              </a:spcAft>
            </a:pPr>
            <a:r>
              <a:rPr sz="2100" b="0">
                <a:solidFill>
                  <a:srgbClr val="1C1C1A"/>
                </a:solidFill>
                <a:latin typeface="Calibri"/>
              </a:rPr>
              <a:t>The honest version differs by one list:</a:t>
            </a:r>
          </a:p>
        </p:txBody>
      </p:sp>
      <p:sp>
        <p:nvSpPr>
          <p:cNvPr id="9" name="TextBox 8"/>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From the field</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HGNC, 2020. About 27 human genes were formally renamed because spreadsheets silently coerced names like SEPT1 into dates.</a:t>
            </a:r>
          </a:p>
          <a:p>
            <a:pPr>
              <a:spcAft>
                <a:spcPts val="1000"/>
              </a:spcAft>
            </a:pPr>
            <a:r>
              <a:rPr sz="2100" b="0">
                <a:solidFill>
                  <a:srgbClr val="1C1C1A"/>
                </a:solidFill>
                <a:latin typeface="Calibri"/>
              </a:rPr>
              <a:t>A 2016 audit had found gene-name errors in roughly a fifth of genetics papers with spreadsheet supplements.</a:t>
            </a:r>
          </a:p>
          <a:p>
            <a:pPr>
              <a:spcAft>
                <a:spcPts val="1000"/>
              </a:spcAft>
            </a:pPr>
            <a:r>
              <a:rPr sz="2100" b="0">
                <a:solidFill>
                  <a:srgbClr val="1C1C1A"/>
                </a:solidFill>
                <a:latin typeface="Calibri"/>
              </a:rPr>
              <a:t>Nobody chose to corrupt anything. A default was applied quietly, at scale, for years.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gene name case, the mechanism</a:t>
            </a:r>
          </a:p>
        </p:txBody>
      </p:sp>
      <p:pic>
        <p:nvPicPr>
          <p:cNvPr id="5" name="Picture 4" descr="e706d65d2a3badaf.png"/>
          <p:cNvPicPr>
            <a:picLocks noChangeAspect="1"/>
          </p:cNvPicPr>
          <p:nvPr/>
        </p:nvPicPr>
        <p:blipFill>
          <a:blip r:embed="rId2"/>
          <a:stretch>
            <a:fillRect/>
          </a:stretch>
        </p:blipFill>
        <p:spPr>
          <a:xfrm>
            <a:off x="5430615" y="1965960"/>
            <a:ext cx="1300289" cy="4023360"/>
          </a:xfrm>
          <a:prstGeom prst="rect">
            <a:avLst/>
          </a:prstGeom>
        </p:spPr>
      </p:pic>
      <p:sp>
        <p:nvSpPr>
          <p:cNvPr id="6" name="TextBox 5"/>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Not one person made a decision here. A default did, silently, at the moment of paste.</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gene name case, what it cost and how it was fixed</a:t>
            </a:r>
          </a:p>
        </p:txBody>
      </p:sp>
      <p:graphicFrame>
        <p:nvGraphicFramePr>
          <p:cNvPr id="5" name="Table 4"/>
          <p:cNvGraphicFramePr>
            <a:graphicFrameLocks noGrp="1"/>
          </p:cNvGraphicFramePr>
          <p:nvPr/>
        </p:nvGraphicFramePr>
        <p:xfrm>
          <a:off x="777240" y="1965960"/>
          <a:ext cx="10607040" cy="2304288"/>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Fact</a:t>
                      </a:r>
                    </a:p>
                  </a:txBody>
                  <a:tcPr marT="25400" marB="25400"/>
                </a:tc>
                <a:tc>
                  <a:txBody>
                    <a:bodyPr/>
                    <a:lstStyle/>
                    <a:p>
                      <a:r>
                        <a:rPr sz="1300" b="1">
                          <a:solidFill>
                            <a:srgbClr val="2B4A7D"/>
                          </a:solidFill>
                          <a:latin typeface="Calibri"/>
                        </a:rPr>
                        <a:t>Figure</a:t>
                      </a:r>
                    </a:p>
                  </a:txBody>
                  <a:tcPr marT="25400" marB="25400"/>
                </a:tc>
              </a:tr>
              <a:tr h="384048">
                <a:tc>
                  <a:txBody>
                    <a:bodyPr/>
                    <a:lstStyle/>
                    <a:p>
                      <a:r>
                        <a:rPr sz="1400" b="0">
                          <a:solidFill>
                            <a:srgbClr val="1C1C1A"/>
                          </a:solidFill>
                          <a:latin typeface="Calibri"/>
                        </a:rPr>
                        <a:t>Genes formally renamed</a:t>
                      </a:r>
                    </a:p>
                  </a:txBody>
                  <a:tcPr marT="25400" marB="25400"/>
                </a:tc>
                <a:tc>
                  <a:txBody>
                    <a:bodyPr/>
                    <a:lstStyle/>
                    <a:p>
                      <a:r>
                        <a:rPr sz="1400" b="0">
                          <a:solidFill>
                            <a:srgbClr val="1C1C1A"/>
                          </a:solidFill>
                          <a:latin typeface="Calibri"/>
                        </a:rPr>
                        <a:t>About 27</a:t>
                      </a:r>
                    </a:p>
                  </a:txBody>
                  <a:tcPr marT="25400" marB="25400"/>
                </a:tc>
              </a:tr>
              <a:tr h="384048">
                <a:tc>
                  <a:txBody>
                    <a:bodyPr/>
                    <a:lstStyle/>
                    <a:p>
                      <a:r>
                        <a:rPr sz="1400" b="0">
                          <a:solidFill>
                            <a:srgbClr val="1C1C1A"/>
                          </a:solidFill>
                          <a:latin typeface="Calibri"/>
                        </a:rPr>
                        <a:t>Examples</a:t>
                      </a:r>
                    </a:p>
                  </a:txBody>
                  <a:tcPr marT="25400" marB="25400"/>
                </a:tc>
                <a:tc>
                  <a:txBody>
                    <a:bodyPr/>
                    <a:lstStyle/>
                    <a:p>
                      <a:r>
                        <a:rPr sz="1400" b="0">
                          <a:solidFill>
                            <a:srgbClr val="1C1C1A"/>
                          </a:solidFill>
                          <a:latin typeface="Calibri"/>
                        </a:rPr>
                        <a:t>SEPT1 became SEPTIN1, and MARCH1 became MARCHF1</a:t>
                      </a:r>
                    </a:p>
                  </a:txBody>
                  <a:tcPr marT="25400" marB="25400"/>
                </a:tc>
              </a:tr>
              <a:tr h="384048">
                <a:tc>
                  <a:txBody>
                    <a:bodyPr/>
                    <a:lstStyle/>
                    <a:p>
                      <a:r>
                        <a:rPr sz="1400" b="0">
                          <a:solidFill>
                            <a:srgbClr val="1C1C1A"/>
                          </a:solidFill>
                          <a:latin typeface="Calibri"/>
                        </a:rPr>
                        <a:t>The 2016 audit</a:t>
                      </a:r>
                    </a:p>
                  </a:txBody>
                  <a:tcPr marT="25400" marB="25400"/>
                </a:tc>
                <a:tc>
                  <a:txBody>
                    <a:bodyPr/>
                    <a:lstStyle/>
                    <a:p>
                      <a:r>
                        <a:rPr sz="1400" b="0">
                          <a:solidFill>
                            <a:srgbClr val="1C1C1A"/>
                          </a:solidFill>
                          <a:latin typeface="Calibri"/>
                        </a:rPr>
                        <a:t>Roughly a fifth of papers with spreadsheet gene lists carried the corruption</a:t>
                      </a:r>
                    </a:p>
                  </a:txBody>
                  <a:tcPr marT="25400" marB="25400"/>
                </a:tc>
              </a:tr>
              <a:tr h="384048">
                <a:tc>
                  <a:txBody>
                    <a:bodyPr/>
                    <a:lstStyle/>
                    <a:p>
                      <a:r>
                        <a:rPr sz="1400" b="0">
                          <a:solidFill>
                            <a:srgbClr val="1C1C1A"/>
                          </a:solidFill>
                          <a:latin typeface="Calibri"/>
                        </a:rPr>
                        <a:t>The follow-up, 2021</a:t>
                      </a:r>
                    </a:p>
                  </a:txBody>
                  <a:tcPr marT="25400" marB="25400"/>
                </a:tc>
                <a:tc>
                  <a:txBody>
                    <a:bodyPr/>
                    <a:lstStyle/>
                    <a:p>
                      <a:r>
                        <a:rPr sz="1400" b="0">
                          <a:solidFill>
                            <a:srgbClr val="1C1C1A"/>
                          </a:solidFill>
                          <a:latin typeface="Calibri"/>
                        </a:rPr>
                        <a:t>The rate had not improved</a:t>
                      </a:r>
                    </a:p>
                  </a:txBody>
                  <a:tcPr marT="25400" marB="25400"/>
                </a:tc>
              </a:tr>
              <a:tr h="384048">
                <a:tc>
                  <a:txBody>
                    <a:bodyPr/>
                    <a:lstStyle/>
                    <a:p>
                      <a:r>
                        <a:rPr sz="1400" b="0">
                          <a:solidFill>
                            <a:srgbClr val="1C1C1A"/>
                          </a:solidFill>
                          <a:latin typeface="Calibri"/>
                        </a:rPr>
                        <a:t>Who moved in the end</a:t>
                      </a:r>
                    </a:p>
                  </a:txBody>
                  <a:tcPr marT="25400" marB="25400"/>
                </a:tc>
                <a:tc>
                  <a:txBody>
                    <a:bodyPr/>
                    <a:lstStyle/>
                    <a:p>
                      <a:r>
                        <a:rPr sz="1400" b="0">
                          <a:solidFill>
                            <a:srgbClr val="1C1C1A"/>
                          </a:solidFill>
                          <a:latin typeface="Calibri"/>
                        </a:rPr>
                        <a:t>The naming committee changed the names of the genes, because the spreadsheet would not change its behaviour</a:t>
                      </a:r>
                    </a:p>
                  </a:txBody>
                  <a:tcPr marT="25400" marB="25400"/>
                </a:tc>
              </a:tr>
            </a:tbl>
          </a:graphicData>
        </a:graphic>
      </p:graphicFrame>
      <p:sp>
        <p:nvSpPr>
          <p:cNvPr id="6" name="TextBox 5"/>
          <p:cNvSpPr txBox="1"/>
          <p:nvPr/>
        </p:nvSpPr>
        <p:spPr>
          <a:xfrm>
            <a:off x="777240" y="4453128"/>
            <a:ext cx="10607040" cy="1285875"/>
          </a:xfrm>
          <a:prstGeom prst="rect">
            <a:avLst/>
          </a:prstGeom>
          <a:noFill/>
        </p:spPr>
        <p:txBody>
          <a:bodyPr wrap="square">
            <a:spAutoFit/>
          </a:bodyPr>
          <a:lstStyle/>
          <a:p>
            <a:pPr>
              <a:spcAft>
                <a:spcPts val="1000"/>
              </a:spcAft>
            </a:pPr>
            <a:r>
              <a:rPr sz="2100" b="0">
                <a:solidFill>
                  <a:srgbClr val="1C1C1A"/>
                </a:solidFill>
                <a:latin typeface="Calibri"/>
              </a:rPr>
              <a:t>Sources, verified 09 September 2026: the naming guidelines in Nature Genetics volume 52, pages 754 to 758, published 03 August 2020, https://www.nature.com/articles/s41588-020-0669-3 and the 2021 follow-up in PLOS Computational Biology, https://journals.plos.org/ploscompbiol/article?id=10.1371/journal.pcbi.1008984</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that case belongs in a Python session</a:t>
            </a:r>
          </a:p>
        </p:txBody>
      </p:sp>
      <p:sp>
        <p:nvSpPr>
          <p:cNvPr id="5" name="TextBox 4"/>
          <p:cNvSpPr txBox="1"/>
          <p:nvPr/>
        </p:nvSpPr>
        <p:spPr>
          <a:xfrm>
            <a:off x="777240" y="1965960"/>
            <a:ext cx="10607040" cy="2276475"/>
          </a:xfrm>
          <a:prstGeom prst="rect">
            <a:avLst/>
          </a:prstGeom>
          <a:noFill/>
        </p:spPr>
        <p:txBody>
          <a:bodyPr wrap="square">
            <a:spAutoFit/>
          </a:bodyPr>
          <a:lstStyle/>
          <a:p>
            <a:pPr>
              <a:spcAft>
                <a:spcPts val="1000"/>
              </a:spcAft>
            </a:pPr>
            <a:r>
              <a:rPr sz="2100" b="0">
                <a:solidFill>
                  <a:srgbClr val="1C1C1A"/>
                </a:solidFill>
                <a:latin typeface="Calibri"/>
              </a:rPr>
              <a:t>The lesson is not about spreadsheets. It is about defaults applied by software at the moment data crosses a boundary, with no record that anything happened.</a:t>
            </a:r>
          </a:p>
          <a:p>
            <a:pPr>
              <a:spcAft>
                <a:spcPts val="1000"/>
              </a:spcAft>
            </a:pPr>
            <a:r>
              <a:rPr sz="2100" b="0">
                <a:solidFill>
                  <a:srgbClr val="1C1C1A"/>
                </a:solidFill>
                <a:latin typeface="Calibri"/>
              </a:rPr>
              <a:t>Your except ValueError: amounts.append(0) is the same event. It is quiet, it is well meant, it is applied uniformly, and afterwards nothing in the file says which values it touched.</a:t>
            </a:r>
          </a:p>
          <a:p>
            <a:pPr>
              <a:spcAft>
                <a:spcPts val="1000"/>
              </a:spcAft>
            </a:pPr>
            <a:r>
              <a:rPr sz="2100" b="0">
                <a:solidFill>
                  <a:srgbClr val="1C1C1A"/>
                </a:solidFill>
                <a:latin typeface="Calibri"/>
              </a:rPr>
              <a:t>The committee's response is the one worth copying. When the silent conversion could not be stopped, they changed the data so the conversion had nothing to catch. Your version of that is to reject rather than to coerce, and to carry the rejects file alongside the clean 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2</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Missing is a decision, never a reflex.</a:t>
            </a:r>
          </a:p>
          <a:p>
            <a:pPr>
              <a:spcAft>
                <a:spcPts val="1000"/>
              </a:spcAft>
            </a:pPr>
            <a:r>
              <a:rPr sz="2100" b="0">
                <a:solidFill>
                  <a:srgbClr val="1C1C1A"/>
                </a:solidFill>
                <a:latin typeface="Calibri"/>
              </a:rPr>
              <a:t>2. Drop, default, or keep and flag, each with a written reason.</a:t>
            </a:r>
          </a:p>
          <a:p>
            <a:pPr>
              <a:spcAft>
                <a:spcPts val="1000"/>
              </a:spcAft>
            </a:pPr>
            <a:r>
              <a:rPr sz="2100" b="0">
                <a:solidFill>
                  <a:srgbClr val="1C1C1A"/>
                </a:solidFill>
                <a:latin typeface="Calibri"/>
              </a:rPr>
              <a:t>3. A default you did not state is data you invented.</a:t>
            </a:r>
          </a:p>
          <a:p>
            <a:pPr>
              <a:spcAft>
                <a:spcPts val="1000"/>
              </a:spcAft>
            </a:pPr>
            <a:r>
              <a:rPr sz="2100" b="0">
                <a:solidFill>
                  <a:srgbClr val="1C1C1A"/>
                </a:solidFill>
                <a:latin typeface="Calibri"/>
              </a:rPr>
              <a:t>4. Yesterday's function is today's tool, unchanged.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3: THE ROWS THAT HIDE</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a:t>
            </a:r>
            <a:r>
              <a:rPr sz="2100" b="1">
                <a:solidFill>
                  <a:srgbClr val="FFFFFF"/>
                </a:solidFill>
                <a:latin typeface="Calibri"/>
              </a:rPr>
              <a:t>[find the hidden rows]</a:t>
            </a:r>
            <a:r>
              <a:rPr sz="2100" b="0">
                <a:solidFill>
                  <a:srgbClr val="FFFFFF"/>
                </a:solidFill>
                <a:latin typeface="Calibri"/>
              </a:rPr>
              <a:t> &gt; [investigate the extremes]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check that finds nothing</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duplicate rows by whole-record comparison: 0</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Clean dataset. Move on.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Except</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distinct order_ids: 49 across 50 rows</a:t>
            </a:r>
          </a:p>
        </p:txBody>
      </p:sp>
      <p:sp>
        <p:nvSpPr>
          <p:cNvPr id="5" name="TextBox 4"/>
          <p:cNvSpPr txBox="1"/>
          <p:nvPr/>
        </p:nvSpPr>
        <p:spPr>
          <a:xfrm>
            <a:off x="777240" y="2606040"/>
            <a:ext cx="10607040" cy="790575"/>
          </a:xfrm>
          <a:prstGeom prst="rect">
            <a:avLst/>
          </a:prstGeom>
          <a:noFill/>
        </p:spPr>
        <p:txBody>
          <a:bodyPr wrap="square">
            <a:spAutoFit/>
          </a:bodyPr>
          <a:lstStyle/>
          <a:p>
            <a:pPr>
              <a:spcAft>
                <a:spcPts val="1000"/>
              </a:spcAft>
            </a:pPr>
            <a:r>
              <a:rPr sz="2100" b="0">
                <a:solidFill>
                  <a:srgbClr val="1C1C1A"/>
                </a:solidFill>
                <a:latin typeface="Calibri"/>
              </a:rPr>
              <a:t>Nothing raised. Nothing was highlighted. Two numbers on two different lines disagree, and only you can notice.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Why the first check missed it</a:t>
            </a:r>
          </a:p>
        </p:txBody>
      </p:sp>
      <p:pic>
        <p:nvPicPr>
          <p:cNvPr id="4" name="Picture 3" descr="8d8a77c8d858b0e0.png"/>
          <p:cNvPicPr>
            <a:picLocks noChangeAspect="1"/>
          </p:cNvPicPr>
          <p:nvPr/>
        </p:nvPicPr>
        <p:blipFill>
          <a:blip r:embed="rId2"/>
          <a:stretch>
            <a:fillRect/>
          </a:stretch>
        </p:blipFill>
        <p:spPr>
          <a:xfrm>
            <a:off x="4759269" y="1965960"/>
            <a:ext cx="2642980"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A whole-record check answers "are these the same bytes". The question you actually had was "are these the same order", and nothing in the file knows which fields decide that.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pair</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KR4201  C1022  Retail-Core  1865  returned  2026-08-03</a:t>
            </a:r>
          </a:p>
          <a:p>
            <a:pPr>
              <a:spcAft>
                <a:spcPts val="400"/>
              </a:spcAft>
            </a:pPr>
            <a:r>
              <a:rPr sz="1700" b="0">
                <a:solidFill>
                  <a:srgbClr val="2B4A7D"/>
                </a:solidFill>
                <a:latin typeface="Consolas"/>
              </a:rPr>
              <a:t>KR4201  C1022  Retail-Core  1865  returned  2026-09-14</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Same order id. Same customer. Same amount. Same status. Six weeks apart.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what is it</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The same order, exported twice, with the second export stamping the wrong date?</a:t>
            </a:r>
          </a:p>
          <a:p>
            <a:pPr>
              <a:spcAft>
                <a:spcPts val="1000"/>
              </a:spcAft>
            </a:pPr>
            <a:r>
              <a:rPr sz="2100" b="0">
                <a:solidFill>
                  <a:srgbClr val="1C1C1A"/>
                </a:solidFill>
                <a:latin typeface="Calibri"/>
              </a:rPr>
              <a:t>Or a real repeat order that reused an id it should not have?</a:t>
            </a:r>
          </a:p>
          <a:p>
            <a:pPr>
              <a:spcAft>
                <a:spcPts val="1000"/>
              </a:spcAft>
            </a:pPr>
            <a:r>
              <a:rPr sz="2100" b="0">
                <a:solidFill>
                  <a:srgbClr val="1C1C1A"/>
                </a:solidFill>
                <a:latin typeface="Calibri"/>
              </a:rPr>
              <a:t>The data cannot tell you. It never could.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two readings, and what each one costs if you are wrong</a:t>
            </a:r>
          </a:p>
        </p:txBody>
      </p:sp>
      <p:graphicFrame>
        <p:nvGraphicFramePr>
          <p:cNvPr id="5" name="Table 4"/>
          <p:cNvGraphicFramePr>
            <a:graphicFrameLocks noGrp="1"/>
          </p:cNvGraphicFramePr>
          <p:nvPr/>
        </p:nvGraphicFramePr>
        <p:xfrm>
          <a:off x="777240" y="1965960"/>
          <a:ext cx="10607040" cy="1152144"/>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If you decide</a:t>
                      </a:r>
                    </a:p>
                  </a:txBody>
                  <a:tcPr marT="25400" marB="25400"/>
                </a:tc>
                <a:tc>
                  <a:txBody>
                    <a:bodyPr/>
                    <a:lstStyle/>
                    <a:p>
                      <a:r>
                        <a:rPr sz="1300" b="1">
                          <a:solidFill>
                            <a:srgbClr val="2B4A7D"/>
                          </a:solidFill>
                          <a:latin typeface="Calibri"/>
                        </a:rPr>
                        <a:t>And you are right</a:t>
                      </a:r>
                    </a:p>
                  </a:txBody>
                  <a:tcPr marT="25400" marB="25400"/>
                </a:tc>
                <a:tc>
                  <a:txBody>
                    <a:bodyPr/>
                    <a:lstStyle/>
                    <a:p>
                      <a:r>
                        <a:rPr sz="1300" b="1">
                          <a:solidFill>
                            <a:srgbClr val="2B4A7D"/>
                          </a:solidFill>
                          <a:latin typeface="Calibri"/>
                        </a:rPr>
                        <a:t>And you are wrong</a:t>
                      </a:r>
                    </a:p>
                  </a:txBody>
                  <a:tcPr marT="25400" marB="25400"/>
                </a:tc>
              </a:tr>
              <a:tr h="384048">
                <a:tc>
                  <a:txBody>
                    <a:bodyPr/>
                    <a:lstStyle/>
                    <a:p>
                      <a:r>
                        <a:rPr sz="1400" b="0">
                          <a:solidFill>
                            <a:srgbClr val="1C1C1A"/>
                          </a:solidFill>
                          <a:latin typeface="Calibri"/>
                        </a:rPr>
                        <a:t>They are one order, so drop one</a:t>
                      </a:r>
                    </a:p>
                  </a:txBody>
                  <a:tcPr marT="25400" marB="25400"/>
                </a:tc>
                <a:tc>
                  <a:txBody>
                    <a:bodyPr/>
                    <a:lstStyle/>
                    <a:p>
                      <a:r>
                        <a:rPr sz="1400" b="0">
                          <a:solidFill>
                            <a:srgbClr val="1C1C1A"/>
                          </a:solidFill>
                          <a:latin typeface="Calibri"/>
                        </a:rPr>
                        <a:t>Your count of 50 becomes 49 and the total loses Rs 1,865, both correctly</a:t>
                      </a:r>
                    </a:p>
                  </a:txBody>
                  <a:tcPr marT="25400" marB="25400"/>
                </a:tc>
                <a:tc>
                  <a:txBody>
                    <a:bodyPr/>
                    <a:lstStyle/>
                    <a:p>
                      <a:r>
                        <a:rPr sz="1400" b="0">
                          <a:solidFill>
                            <a:srgbClr val="1C1C1A"/>
                          </a:solidFill>
                          <a:latin typeface="Calibri"/>
                        </a:rPr>
                        <a:t>You have deleted a real order and no downstream reader will ever know a row is missing</a:t>
                      </a:r>
                    </a:p>
                  </a:txBody>
                  <a:tcPr marT="25400" marB="25400"/>
                </a:tc>
              </a:tr>
              <a:tr h="384048">
                <a:tc>
                  <a:txBody>
                    <a:bodyPr/>
                    <a:lstStyle/>
                    <a:p>
                      <a:r>
                        <a:rPr sz="1400" b="0">
                          <a:solidFill>
                            <a:srgbClr val="1C1C1A"/>
                          </a:solidFill>
                          <a:latin typeface="Calibri"/>
                        </a:rPr>
                        <a:t>They are two orders, so keep both</a:t>
                      </a:r>
                    </a:p>
                  </a:txBody>
                  <a:tcPr marT="25400" marB="25400"/>
                </a:tc>
                <a:tc>
                  <a:txBody>
                    <a:bodyPr/>
                    <a:lstStyle/>
                    <a:p>
                      <a:r>
                        <a:rPr sz="1400" b="0">
                          <a:solidFill>
                            <a:srgbClr val="1C1C1A"/>
                          </a:solidFill>
                          <a:latin typeface="Calibri"/>
                        </a:rPr>
                        <a:t>Your figures include a genuine repeat purchase</a:t>
                      </a:r>
                    </a:p>
                  </a:txBody>
                  <a:tcPr marT="25400" marB="25400"/>
                </a:tc>
                <a:tc>
                  <a:txBody>
                    <a:bodyPr/>
                    <a:lstStyle/>
                    <a:p>
                      <a:r>
                        <a:rPr sz="1400" b="0">
                          <a:solidFill>
                            <a:srgbClr val="1C1C1A"/>
                          </a:solidFill>
                          <a:latin typeface="Calibri"/>
                        </a:rPr>
                        <a:t>You are double counting one order, and every total, average and customer-level figure carries it</a:t>
                      </a:r>
                    </a:p>
                  </a:txBody>
                  <a:tcPr marT="25400" marB="25400"/>
                </a:tc>
              </a:tr>
            </a:tbl>
          </a:graphicData>
        </a:graphic>
      </p:graphicFrame>
      <p:sp>
        <p:nvSpPr>
          <p:cNvPr id="6" name="TextBox 5"/>
          <p:cNvSpPr txBox="1"/>
          <p:nvPr/>
        </p:nvSpPr>
        <p:spPr>
          <a:xfrm>
            <a:off x="777240" y="3300984"/>
            <a:ext cx="10607040" cy="790575"/>
          </a:xfrm>
          <a:prstGeom prst="rect">
            <a:avLst/>
          </a:prstGeom>
          <a:noFill/>
        </p:spPr>
        <p:txBody>
          <a:bodyPr wrap="square">
            <a:spAutoFit/>
          </a:bodyPr>
          <a:lstStyle/>
          <a:p>
            <a:pPr>
              <a:spcAft>
                <a:spcPts val="1000"/>
              </a:spcAft>
            </a:pPr>
            <a:r>
              <a:rPr sz="2100" b="0">
                <a:solidFill>
                  <a:srgbClr val="1C1C1A"/>
                </a:solidFill>
                <a:latin typeface="Calibri"/>
              </a:rPr>
              <a:t>Neither error announces itself. That asymmetry is the reason this decision leaves your desk and goes to whoever owns the order book.</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 identity rule is something you state</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"Two rows are the same order when they share an order_id and an order_date."</a:t>
            </a:r>
          </a:p>
          <a:p>
            <a:pPr>
              <a:spcAft>
                <a:spcPts val="1000"/>
              </a:spcAft>
            </a:pPr>
            <a:r>
              <a:rPr sz="2100" b="0">
                <a:solidFill>
                  <a:srgbClr val="1C1C1A"/>
                </a:solidFill>
                <a:latin typeface="Calibri"/>
              </a:rPr>
              <a:t>That is a rule. It can be applied by someone else, argued with, and written into a decisions log.</a:t>
            </a:r>
          </a:p>
          <a:p>
            <a:pPr>
              <a:spcAft>
                <a:spcPts val="1000"/>
              </a:spcAft>
            </a:pPr>
            <a:r>
              <a:rPr sz="2100" b="0">
                <a:solidFill>
                  <a:srgbClr val="1C1C1A"/>
                </a:solidFill>
                <a:latin typeface="Calibri"/>
              </a:rPr>
              <a:t>"They look like duplicates" is not a rule.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duplicate ladder, from cheapest to most useful</a:t>
            </a:r>
          </a:p>
        </p:txBody>
      </p:sp>
      <p:pic>
        <p:nvPicPr>
          <p:cNvPr id="4" name="Picture 3" descr="856da47142828e0e.png"/>
          <p:cNvPicPr>
            <a:picLocks noChangeAspect="1"/>
          </p:cNvPicPr>
          <p:nvPr/>
        </p:nvPicPr>
        <p:blipFill>
          <a:blip r:embed="rId2"/>
          <a:stretch>
            <a:fillRect/>
          </a:stretch>
        </p:blipFill>
        <p:spPr>
          <a:xfrm>
            <a:off x="3679352" y="1965960"/>
            <a:ext cx="4802814" cy="4023360"/>
          </a:xfrm>
          <a:prstGeom prst="rect">
            <a:avLst/>
          </a:prstGeom>
        </p:spPr>
      </p:pic>
      <p:sp>
        <p:nvSpPr>
          <p:cNvPr id="5" name="TextBox 4"/>
          <p:cNvSpPr txBox="1"/>
          <p:nvPr/>
        </p:nvSpPr>
        <p:spPr>
          <a:xfrm>
            <a:off x="777240" y="6126480"/>
            <a:ext cx="10607040" cy="790575"/>
          </a:xfrm>
          <a:prstGeom prst="rect">
            <a:avLst/>
          </a:prstGeom>
          <a:noFill/>
        </p:spPr>
        <p:txBody>
          <a:bodyPr wrap="square">
            <a:spAutoFit/>
          </a:bodyPr>
          <a:lstStyle/>
          <a:p>
            <a:pPr>
              <a:spcAft>
                <a:spcPts val="1000"/>
              </a:spcAft>
            </a:pPr>
            <a:r>
              <a:rPr sz="2100" b="0">
                <a:solidFill>
                  <a:srgbClr val="1C1C1A"/>
                </a:solidFill>
                <a:latin typeface="Calibri"/>
              </a:rPr>
              <a:t>Today you climb to the third rung and stop. The fourth is a whole discipline and it is not Week 1.</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Writing the two checks so they disagree in public</a:t>
            </a:r>
          </a:p>
        </p:txBody>
      </p:sp>
      <p:sp>
        <p:nvSpPr>
          <p:cNvPr id="5" name="TextBox 4"/>
          <p:cNvSpPr txBox="1"/>
          <p:nvPr/>
        </p:nvSpPr>
        <p:spPr>
          <a:xfrm>
            <a:off x="777240" y="1965960"/>
            <a:ext cx="10607040" cy="1162050"/>
          </a:xfrm>
          <a:prstGeom prst="rect">
            <a:avLst/>
          </a:prstGeom>
          <a:noFill/>
        </p:spPr>
        <p:txBody>
          <a:bodyPr wrap="square">
            <a:spAutoFit/>
          </a:bodyPr>
          <a:lstStyle/>
          <a:p>
            <a:pPr>
              <a:spcAft>
                <a:spcPts val="400"/>
              </a:spcAft>
            </a:pPr>
            <a:r>
              <a:rPr sz="1700" b="0">
                <a:solidFill>
                  <a:srgbClr val="2B4A7D"/>
                </a:solidFill>
                <a:latin typeface="Consolas"/>
              </a:rPr>
              <a:t>whole = len(rows) - len({tuple(sorted(r.items())) for r in rows})</a:t>
            </a:r>
          </a:p>
          <a:p>
            <a:pPr>
              <a:spcAft>
                <a:spcPts val="400"/>
              </a:spcAft>
            </a:pPr>
            <a:r>
              <a:rPr sz="1700" b="0">
                <a:solidFill>
                  <a:srgbClr val="2B4A7D"/>
                </a:solidFill>
                <a:latin typeface="Consolas"/>
              </a:rPr>
              <a:t>by_id = len(rows) - len({r["order_id"] for r in rows})</a:t>
            </a:r>
          </a:p>
          <a:p>
            <a:pPr>
              <a:spcAft>
                <a:spcPts val="400"/>
              </a:spcAft>
            </a:pPr>
            <a:r>
              <a:rPr sz="1700" b="0">
                <a:solidFill>
                  <a:srgbClr val="2B4A7D"/>
                </a:solidFill>
                <a:latin typeface="Consolas"/>
              </a:rPr>
              <a:t>print("whole-record duplicates:", whole)</a:t>
            </a:r>
          </a:p>
          <a:p>
            <a:pPr>
              <a:spcAft>
                <a:spcPts val="400"/>
              </a:spcAft>
            </a:pPr>
            <a:r>
              <a:rPr sz="1700" b="0">
                <a:solidFill>
                  <a:srgbClr val="2B4A7D"/>
                </a:solidFill>
                <a:latin typeface="Consolas"/>
              </a:rPr>
              <a:t>print("rows sharing an order_id:", by_id)</a:t>
            </a:r>
          </a:p>
        </p:txBody>
      </p:sp>
      <p:sp>
        <p:nvSpPr>
          <p:cNvPr id="6" name="TextBox 5"/>
          <p:cNvSpPr txBox="1"/>
          <p:nvPr/>
        </p:nvSpPr>
        <p:spPr>
          <a:xfrm>
            <a:off x="777240" y="3265169"/>
            <a:ext cx="10607040" cy="666750"/>
          </a:xfrm>
          <a:prstGeom prst="rect">
            <a:avLst/>
          </a:prstGeom>
          <a:noFill/>
        </p:spPr>
        <p:txBody>
          <a:bodyPr wrap="square">
            <a:spAutoFit/>
          </a:bodyPr>
          <a:lstStyle/>
          <a:p>
            <a:pPr>
              <a:spcAft>
                <a:spcPts val="400"/>
              </a:spcAft>
            </a:pPr>
            <a:r>
              <a:rPr sz="1700" b="0">
                <a:solidFill>
                  <a:srgbClr val="2B4A7D"/>
                </a:solidFill>
                <a:latin typeface="Consolas"/>
              </a:rPr>
              <a:t>whole-record duplicates: 0</a:t>
            </a:r>
          </a:p>
          <a:p>
            <a:pPr>
              <a:spcAft>
                <a:spcPts val="400"/>
              </a:spcAft>
            </a:pPr>
            <a:r>
              <a:rPr sz="1700" b="0">
                <a:solidFill>
                  <a:srgbClr val="2B4A7D"/>
                </a:solidFill>
                <a:latin typeface="Consolas"/>
              </a:rPr>
              <a:t>rows sharing an order_id: 1</a:t>
            </a:r>
          </a:p>
        </p:txBody>
      </p:sp>
      <p:sp>
        <p:nvSpPr>
          <p:cNvPr id="7" name="TextBox 6"/>
          <p:cNvSpPr txBox="1"/>
          <p:nvPr/>
        </p:nvSpPr>
        <p:spPr>
          <a:xfrm>
            <a:off x="777240" y="4069079"/>
            <a:ext cx="10607040" cy="790575"/>
          </a:xfrm>
          <a:prstGeom prst="rect">
            <a:avLst/>
          </a:prstGeom>
          <a:noFill/>
        </p:spPr>
        <p:txBody>
          <a:bodyPr wrap="square">
            <a:spAutoFit/>
          </a:bodyPr>
          <a:lstStyle/>
          <a:p>
            <a:pPr>
              <a:spcAft>
                <a:spcPts val="1000"/>
              </a:spcAft>
            </a:pPr>
            <a:r>
              <a:rPr sz="2100" b="0">
                <a:solidFill>
                  <a:srgbClr val="1C1C1A"/>
                </a:solidFill>
                <a:latin typeface="Calibri"/>
              </a:rPr>
              <a:t>Two lines, printed together, on purpose. A single check that returns zero reads as an all clear. Two checks that disagree read as a question, and the question is the finding.</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And who decides</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Not you, on your own, on a Wednesday.</a:t>
            </a:r>
          </a:p>
          <a:p>
            <a:pPr>
              <a:spcAft>
                <a:spcPts val="1000"/>
              </a:spcAft>
            </a:pPr>
            <a:r>
              <a:rPr sz="2100" b="0">
                <a:solidFill>
                  <a:srgbClr val="1C1C1A"/>
                </a:solidFill>
                <a:latin typeface="Calibri"/>
              </a:rPr>
              <a:t>You take the pair to whoever owns the order book, with both rows on screen and your proposed rule underneath. That conversation is the job.</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you actually send, and why it fits in six lines</a:t>
            </a:r>
          </a:p>
        </p:txBody>
      </p:sp>
      <p:sp>
        <p:nvSpPr>
          <p:cNvPr id="5" name="TextBox 4"/>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message that gets an answer is short, carries the evidence, and proposes a rule so the reply can be a yes.</a:t>
            </a:r>
          </a:p>
        </p:txBody>
      </p:sp>
      <p:sp>
        <p:nvSpPr>
          <p:cNvPr id="6" name="TextBox 5"/>
          <p:cNvSpPr txBox="1"/>
          <p:nvPr/>
        </p:nvSpPr>
        <p:spPr>
          <a:xfrm>
            <a:off x="777240" y="2893695"/>
            <a:ext cx="10607040" cy="2152650"/>
          </a:xfrm>
          <a:prstGeom prst="rect">
            <a:avLst/>
          </a:prstGeom>
          <a:noFill/>
        </p:spPr>
        <p:txBody>
          <a:bodyPr wrap="square">
            <a:spAutoFit/>
          </a:bodyPr>
          <a:lstStyle/>
          <a:p>
            <a:pPr>
              <a:spcAft>
                <a:spcPts val="400"/>
              </a:spcAft>
            </a:pPr>
            <a:r>
              <a:rPr sz="1700" b="0">
                <a:solidFill>
                  <a:srgbClr val="2B4A7D"/>
                </a:solidFill>
                <a:latin typeface="Consolas"/>
              </a:rPr>
              <a:t>Two rows in the 50 order extract share order_id KR4201.</a:t>
            </a:r>
          </a:p>
          <a:p>
            <a:pPr>
              <a:spcAft>
                <a:spcPts val="400"/>
              </a:spcAft>
            </a:pPr>
            <a:r>
              <a:rPr sz="1700" b="0">
                <a:solidFill>
                  <a:srgbClr val="2B4A7D"/>
                </a:solidFill>
                <a:latin typeface="Consolas"/>
              </a:rPr>
              <a:t>They match on customer, amount and status, and differ only on order_date</a:t>
            </a:r>
          </a:p>
          <a:p>
            <a:pPr>
              <a:spcAft>
                <a:spcPts val="400"/>
              </a:spcAft>
            </a:pPr>
            <a:r>
              <a:rPr sz="1700" b="0">
                <a:solidFill>
                  <a:srgbClr val="2B4A7D"/>
                </a:solidFill>
                <a:latin typeface="Consolas"/>
              </a:rPr>
              <a:t>(2026-08-03 and 2026-09-14).</a:t>
            </a:r>
          </a:p>
          <a:p>
            <a:pPr>
              <a:spcAft>
                <a:spcPts val="400"/>
              </a:spcAft>
            </a:pPr>
          </a:p>
          <a:p>
            <a:pPr>
              <a:spcAft>
                <a:spcPts val="400"/>
              </a:spcAft>
            </a:pPr>
            <a:r>
              <a:rPr sz="1700" b="0">
                <a:solidFill>
                  <a:srgbClr val="2B4A7D"/>
                </a:solidFill>
                <a:latin typeface="Consolas"/>
              </a:rPr>
              <a:t>Proposed rule: two rows are the same order when order_id and order_date match,</a:t>
            </a:r>
          </a:p>
          <a:p>
            <a:pPr>
              <a:spcAft>
                <a:spcPts val="400"/>
              </a:spcAft>
            </a:pPr>
            <a:r>
              <a:rPr sz="1700" b="0">
                <a:solidFill>
                  <a:srgbClr val="2B4A7D"/>
                </a:solidFill>
                <a:latin typeface="Consolas"/>
              </a:rPr>
              <a:t>so these are two orders and both are kept.</a:t>
            </a:r>
          </a:p>
          <a:p>
            <a:pPr>
              <a:spcAft>
                <a:spcPts val="400"/>
              </a:spcAft>
            </a:pPr>
          </a:p>
          <a:p>
            <a:pPr>
              <a:spcAft>
                <a:spcPts val="400"/>
              </a:spcAft>
            </a:pPr>
            <a:r>
              <a:rPr sz="1700" b="0">
                <a:solidFill>
                  <a:srgbClr val="2B4A7D"/>
                </a:solidFill>
                <a:latin typeface="Consolas"/>
              </a:rPr>
              <a:t>If that is wrong, which field decides?</a:t>
            </a:r>
          </a:p>
        </p:txBody>
      </p:sp>
      <p:sp>
        <p:nvSpPr>
          <p:cNvPr id="7" name="TextBox 6"/>
          <p:cNvSpPr txBox="1"/>
          <p:nvPr/>
        </p:nvSpPr>
        <p:spPr>
          <a:xfrm>
            <a:off x="777240" y="5183504"/>
            <a:ext cx="10607040" cy="790575"/>
          </a:xfrm>
          <a:prstGeom prst="rect">
            <a:avLst/>
          </a:prstGeom>
          <a:noFill/>
        </p:spPr>
        <p:txBody>
          <a:bodyPr wrap="square">
            <a:spAutoFit/>
          </a:bodyPr>
          <a:lstStyle/>
          <a:p>
            <a:pPr>
              <a:spcAft>
                <a:spcPts val="1000"/>
              </a:spcAft>
            </a:pPr>
            <a:r>
              <a:rPr sz="2100" b="0">
                <a:solidFill>
                  <a:srgbClr val="1C1C1A"/>
                </a:solidFill>
                <a:latin typeface="Calibri"/>
              </a:rPr>
              <a:t>The last line is the one that works. It asks for a rule rather than a verdict, so the answer covers every future pair as well as this one.</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3</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A whole-record check finds only exact copies.</a:t>
            </a:r>
          </a:p>
          <a:p>
            <a:pPr>
              <a:spcAft>
                <a:spcPts val="1000"/>
              </a:spcAft>
            </a:pPr>
            <a:r>
              <a:rPr sz="2100" b="0">
                <a:solidFill>
                  <a:srgbClr val="1C1C1A"/>
                </a:solidFill>
                <a:latin typeface="Calibri"/>
              </a:rPr>
              <a:t>2. Compare the id count against the row count, every time.</a:t>
            </a:r>
          </a:p>
          <a:p>
            <a:pPr>
              <a:spcAft>
                <a:spcPts val="1000"/>
              </a:spcAft>
            </a:pPr>
            <a:r>
              <a:rPr sz="2100" b="0">
                <a:solidFill>
                  <a:srgbClr val="1C1C1A"/>
                </a:solidFill>
                <a:latin typeface="Calibri"/>
              </a:rPr>
              <a:t>3. Write the identity rule down before you delete anything.</a:t>
            </a:r>
          </a:p>
          <a:p>
            <a:pPr>
              <a:spcAft>
                <a:spcPts val="1000"/>
              </a:spcAft>
            </a:pPr>
            <a:r>
              <a:rPr sz="2100" b="0">
                <a:solidFill>
                  <a:srgbClr val="1C1C1A"/>
                </a:solidFill>
                <a:latin typeface="Calibri"/>
              </a:rPr>
              <a:t>4. Who owns the record decides what counts as the same record.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4: THE EXTREMES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a:t>
            </a:r>
            <a:r>
              <a:rPr sz="2100" b="1">
                <a:solidFill>
                  <a:srgbClr val="FFFFFF"/>
                </a:solidFill>
                <a:latin typeface="Calibri"/>
              </a:rPr>
              <a:t>[investigate the extremes]</a:t>
            </a:r>
            <a:r>
              <a:rPr sz="2100" b="0">
                <a:solidFill>
                  <a:srgbClr val="FFFFFF"/>
                </a:solidFill>
                <a:latin typeface="Calibri"/>
              </a:rPr>
              <a:t> &gt; [ship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Sort the column and look at the end</a:t>
            </a:r>
          </a:p>
        </p:txBody>
      </p:sp>
      <p:sp>
        <p:nvSpPr>
          <p:cNvPr id="4" name="TextBox 3"/>
          <p:cNvSpPr txBox="1"/>
          <p:nvPr/>
        </p:nvSpPr>
        <p:spPr>
          <a:xfrm>
            <a:off x="777240" y="1965960"/>
            <a:ext cx="10607040" cy="502920"/>
          </a:xfrm>
          <a:prstGeom prst="rect">
            <a:avLst/>
          </a:prstGeom>
          <a:noFill/>
        </p:spPr>
        <p:txBody>
          <a:bodyPr wrap="square">
            <a:spAutoFit/>
          </a:bodyPr>
          <a:lstStyle/>
          <a:p>
            <a:pPr>
              <a:spcAft>
                <a:spcPts val="400"/>
              </a:spcAft>
            </a:pPr>
            <a:r>
              <a:rPr sz="1700" b="0">
                <a:solidFill>
                  <a:srgbClr val="2B4A7D"/>
                </a:solidFill>
                <a:latin typeface="Consolas"/>
              </a:rPr>
              <a:t>... 2895, 2895, 2930, 2990, 2995, 480000</a:t>
            </a:r>
          </a:p>
        </p:txBody>
      </p:sp>
      <p:sp>
        <p:nvSpPr>
          <p:cNvPr id="5" name="TextBox 4"/>
          <p:cNvSpPr txBox="1"/>
          <p:nvPr/>
        </p:nvSpPr>
        <p:spPr>
          <a:xfrm>
            <a:off x="777240" y="2606040"/>
            <a:ext cx="10607040" cy="542925"/>
          </a:xfrm>
          <a:prstGeom prst="rect">
            <a:avLst/>
          </a:prstGeom>
          <a:noFill/>
        </p:spPr>
        <p:txBody>
          <a:bodyPr wrap="square">
            <a:spAutoFit/>
          </a:bodyPr>
          <a:lstStyle/>
          <a:p>
            <a:pPr>
              <a:spcAft>
                <a:spcPts val="1000"/>
              </a:spcAft>
            </a:pPr>
            <a:r>
              <a:rPr sz="2100" b="0">
                <a:solidFill>
                  <a:srgbClr val="1C1C1A"/>
                </a:solidFill>
                <a:latin typeface="Calibri"/>
              </a:rPr>
              <a:t>Five ordinary orders and then one that is 160 times the one before it.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it does to the total</a:t>
            </a:r>
          </a:p>
        </p:txBody>
      </p:sp>
      <p:sp>
        <p:nvSpPr>
          <p:cNvPr id="4" name="TextBox 3"/>
          <p:cNvSpPr txBox="1"/>
          <p:nvPr/>
        </p:nvSpPr>
        <p:spPr>
          <a:xfrm>
            <a:off x="777240" y="1965960"/>
            <a:ext cx="10607040" cy="1285875"/>
          </a:xfrm>
          <a:prstGeom prst="rect">
            <a:avLst/>
          </a:prstGeom>
          <a:noFill/>
        </p:spPr>
        <p:txBody>
          <a:bodyPr wrap="square">
            <a:spAutoFit/>
          </a:bodyPr>
          <a:lstStyle/>
          <a:p>
            <a:pPr>
              <a:spcAft>
                <a:spcPts val="1000"/>
              </a:spcAft>
            </a:pPr>
            <a:r>
              <a:rPr sz="2100" b="0">
                <a:solidFill>
                  <a:srgbClr val="1C1C1A"/>
                </a:solidFill>
                <a:latin typeface="Calibri"/>
              </a:rPr>
              <a:t>The order book totals Rs 561,145 across 44 usable orders.</a:t>
            </a:r>
          </a:p>
          <a:p>
            <a:pPr>
              <a:spcAft>
                <a:spcPts val="1000"/>
              </a:spcAft>
            </a:pPr>
            <a:r>
              <a:rPr sz="2100" b="0">
                <a:solidFill>
                  <a:srgbClr val="1C1C1A"/>
                </a:solidFill>
                <a:latin typeface="Calibri"/>
              </a:rPr>
              <a:t>That one order is Rs 480,000 of it, which is 85.5 percent.</a:t>
            </a:r>
          </a:p>
          <a:p>
            <a:pPr>
              <a:spcAft>
                <a:spcPts val="1000"/>
              </a:spcAft>
            </a:pPr>
            <a:r>
              <a:rPr sz="2100" b="0">
                <a:solidFill>
                  <a:srgbClr val="1C1C1A"/>
                </a:solidFill>
                <a:latin typeface="Calibri"/>
              </a:rPr>
              <a:t>Remove it and the total is Rs 81,145.</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it does to every number you might report</a:t>
            </a:r>
          </a:p>
        </p:txBody>
      </p:sp>
      <p:graphicFrame>
        <p:nvGraphicFramePr>
          <p:cNvPr id="5" name="Table 4"/>
          <p:cNvGraphicFramePr>
            <a:graphicFrameLocks noGrp="1"/>
          </p:cNvGraphicFramePr>
          <p:nvPr/>
        </p:nvGraphicFramePr>
        <p:xfrm>
          <a:off x="777240" y="1965960"/>
          <a:ext cx="10607040" cy="1920240"/>
        </p:xfrm>
        <a:graphic>
          <a:graphicData uri="http://schemas.openxmlformats.org/drawingml/2006/table">
            <a:tbl>
              <a:tblPr firstRow="1" bandRow="1">
                <a:tableStyleId>{5C22544A-7EE6-4342-B048-85BDC9FD1C3A}</a:tableStyleId>
              </a:tblPr>
              <a:tblGrid>
                <a:gridCol w="2651760"/>
                <a:gridCol w="2651760"/>
                <a:gridCol w="2651760"/>
                <a:gridCol w="2651760"/>
              </a:tblGrid>
              <a:tr h="384048">
                <a:tc>
                  <a:txBody>
                    <a:bodyPr/>
                    <a:lstStyle/>
                    <a:p>
                      <a:r>
                        <a:rPr sz="1300" b="1">
                          <a:solidFill>
                            <a:srgbClr val="2B4A7D"/>
                          </a:solidFill>
                          <a:latin typeface="Calibri"/>
                        </a:rPr>
                        <a:t>Figure</a:t>
                      </a:r>
                    </a:p>
                  </a:txBody>
                  <a:tcPr marT="25400" marB="25400"/>
                </a:tc>
                <a:tc>
                  <a:txBody>
                    <a:bodyPr/>
                    <a:lstStyle/>
                    <a:p>
                      <a:r>
                        <a:rPr sz="1300" b="1">
                          <a:solidFill>
                            <a:srgbClr val="2B4A7D"/>
                          </a:solidFill>
                          <a:latin typeface="Calibri"/>
                        </a:rPr>
                        <a:t>With the order</a:t>
                      </a:r>
                    </a:p>
                  </a:txBody>
                  <a:tcPr marT="25400" marB="25400"/>
                </a:tc>
                <a:tc>
                  <a:txBody>
                    <a:bodyPr/>
                    <a:lstStyle/>
                    <a:p>
                      <a:r>
                        <a:rPr sz="1300" b="1">
                          <a:solidFill>
                            <a:srgbClr val="2B4A7D"/>
                          </a:solidFill>
                          <a:latin typeface="Calibri"/>
                        </a:rPr>
                        <a:t>Without it</a:t>
                      </a:r>
                    </a:p>
                  </a:txBody>
                  <a:tcPr marT="25400" marB="25400"/>
                </a:tc>
                <a:tc>
                  <a:txBody>
                    <a:bodyPr/>
                    <a:lstStyle/>
                    <a:p>
                      <a:r>
                        <a:rPr sz="1300" b="1">
                          <a:solidFill>
                            <a:srgbClr val="2B4A7D"/>
                          </a:solidFill>
                          <a:latin typeface="Calibri"/>
                        </a:rPr>
                        <a:t>What moved</a:t>
                      </a:r>
                    </a:p>
                  </a:txBody>
                  <a:tcPr marT="25400" marB="25400"/>
                </a:tc>
              </a:tr>
              <a:tr h="384048">
                <a:tc>
                  <a:txBody>
                    <a:bodyPr/>
                    <a:lstStyle/>
                    <a:p>
                      <a:r>
                        <a:rPr sz="1400" b="0">
                          <a:solidFill>
                            <a:srgbClr val="1C1C1A"/>
                          </a:solidFill>
                          <a:latin typeface="Calibri"/>
                        </a:rPr>
                        <a:t>Total</a:t>
                      </a:r>
                    </a:p>
                  </a:txBody>
                  <a:tcPr marT="25400" marB="25400"/>
                </a:tc>
                <a:tc>
                  <a:txBody>
                    <a:bodyPr/>
                    <a:lstStyle/>
                    <a:p>
                      <a:r>
                        <a:rPr sz="1400" b="0">
                          <a:solidFill>
                            <a:srgbClr val="1C1C1A"/>
                          </a:solidFill>
                          <a:latin typeface="Calibri"/>
                        </a:rPr>
                        <a:t>Rs 561,145</a:t>
                      </a:r>
                    </a:p>
                  </a:txBody>
                  <a:tcPr marT="25400" marB="25400"/>
                </a:tc>
                <a:tc>
                  <a:txBody>
                    <a:bodyPr/>
                    <a:lstStyle/>
                    <a:p>
                      <a:r>
                        <a:rPr sz="1400" b="0">
                          <a:solidFill>
                            <a:srgbClr val="1C1C1A"/>
                          </a:solidFill>
                          <a:latin typeface="Calibri"/>
                        </a:rPr>
                        <a:t>Rs 81,145</a:t>
                      </a:r>
                    </a:p>
                  </a:txBody>
                  <a:tcPr marT="25400" marB="25400"/>
                </a:tc>
                <a:tc>
                  <a:txBody>
                    <a:bodyPr/>
                    <a:lstStyle/>
                    <a:p>
                      <a:r>
                        <a:rPr sz="1400" b="0">
                          <a:solidFill>
                            <a:srgbClr val="1C1C1A"/>
                          </a:solidFill>
                          <a:latin typeface="Calibri"/>
                        </a:rPr>
                        <a:t>The total is almost entirely one order</a:t>
                      </a:r>
                    </a:p>
                  </a:txBody>
                  <a:tcPr marT="25400" marB="25400"/>
                </a:tc>
              </a:tr>
              <a:tr h="384048">
                <a:tc>
                  <a:txBody>
                    <a:bodyPr/>
                    <a:lstStyle/>
                    <a:p>
                      <a:r>
                        <a:rPr sz="1400" b="0">
                          <a:solidFill>
                            <a:srgbClr val="1C1C1A"/>
                          </a:solidFill>
                          <a:latin typeface="Calibri"/>
                        </a:rPr>
                        <a:t>Mean order value</a:t>
                      </a:r>
                    </a:p>
                  </a:txBody>
                  <a:tcPr marT="25400" marB="25400"/>
                </a:tc>
                <a:tc>
                  <a:txBody>
                    <a:bodyPr/>
                    <a:lstStyle/>
                    <a:p>
                      <a:r>
                        <a:rPr sz="1400" b="0">
                          <a:solidFill>
                            <a:srgbClr val="1C1C1A"/>
                          </a:solidFill>
                          <a:latin typeface="Calibri"/>
                        </a:rPr>
                        <a:t>Rs 12,753.30</a:t>
                      </a:r>
                    </a:p>
                  </a:txBody>
                  <a:tcPr marT="25400" marB="25400"/>
                </a:tc>
                <a:tc>
                  <a:txBody>
                    <a:bodyPr/>
                    <a:lstStyle/>
                    <a:p>
                      <a:r>
                        <a:rPr sz="1400" b="0">
                          <a:solidFill>
                            <a:srgbClr val="1C1C1A"/>
                          </a:solidFill>
                          <a:latin typeface="Calibri"/>
                        </a:rPr>
                        <a:t>Rs 1,887.09</a:t>
                      </a:r>
                    </a:p>
                  </a:txBody>
                  <a:tcPr marT="25400" marB="25400"/>
                </a:tc>
                <a:tc>
                  <a:txBody>
                    <a:bodyPr/>
                    <a:lstStyle/>
                    <a:p>
                      <a:r>
                        <a:rPr sz="1400" b="0">
                          <a:solidFill>
                            <a:srgbClr val="1C1C1A"/>
                          </a:solidFill>
                          <a:latin typeface="Calibri"/>
                        </a:rPr>
                        <a:t>The mean is nearly seven times too high</a:t>
                      </a:r>
                    </a:p>
                  </a:txBody>
                  <a:tcPr marT="25400" marB="25400"/>
                </a:tc>
              </a:tr>
              <a:tr h="384048">
                <a:tc>
                  <a:txBody>
                    <a:bodyPr/>
                    <a:lstStyle/>
                    <a:p>
                      <a:r>
                        <a:rPr sz="1400" b="0">
                          <a:solidFill>
                            <a:srgbClr val="1C1C1A"/>
                          </a:solidFill>
                          <a:latin typeface="Calibri"/>
                        </a:rPr>
                        <a:t>Median order value</a:t>
                      </a:r>
                    </a:p>
                  </a:txBody>
                  <a:tcPr marT="25400" marB="25400"/>
                </a:tc>
                <a:tc>
                  <a:txBody>
                    <a:bodyPr/>
                    <a:lstStyle/>
                    <a:p>
                      <a:r>
                        <a:rPr sz="1400" b="0">
                          <a:solidFill>
                            <a:srgbClr val="1C1C1A"/>
                          </a:solidFill>
                          <a:latin typeface="Calibri"/>
                        </a:rPr>
                        <a:t>Rs 1,910</a:t>
                      </a:r>
                    </a:p>
                  </a:txBody>
                  <a:tcPr marT="25400" marB="25400"/>
                </a:tc>
                <a:tc>
                  <a:txBody>
                    <a:bodyPr/>
                    <a:lstStyle/>
                    <a:p>
                      <a:r>
                        <a:rPr sz="1400" b="0">
                          <a:solidFill>
                            <a:srgbClr val="1C1C1A"/>
                          </a:solidFill>
                          <a:latin typeface="Calibri"/>
                        </a:rPr>
                        <a:t>Rs 1,865</a:t>
                      </a:r>
                    </a:p>
                  </a:txBody>
                  <a:tcPr marT="25400" marB="25400"/>
                </a:tc>
                <a:tc>
                  <a:txBody>
                    <a:bodyPr/>
                    <a:lstStyle/>
                    <a:p>
                      <a:r>
                        <a:rPr sz="1400" b="0">
                          <a:solidFill>
                            <a:srgbClr val="1C1C1A"/>
                          </a:solidFill>
                          <a:latin typeface="Calibri"/>
                        </a:rPr>
                        <a:t>The median barely notices</a:t>
                      </a:r>
                    </a:p>
                  </a:txBody>
                  <a:tcPr marT="25400" marB="25400"/>
                </a:tc>
              </a:tr>
              <a:tr h="384048">
                <a:tc>
                  <a:txBody>
                    <a:bodyPr/>
                    <a:lstStyle/>
                    <a:p>
                      <a:r>
                        <a:rPr sz="1400" b="0">
                          <a:solidFill>
                            <a:srgbClr val="1C1C1A"/>
                          </a:solidFill>
                          <a:latin typeface="Calibri"/>
                        </a:rPr>
                        <a:t>Usable orders</a:t>
                      </a:r>
                    </a:p>
                  </a:txBody>
                  <a:tcPr marT="25400" marB="25400"/>
                </a:tc>
                <a:tc>
                  <a:txBody>
                    <a:bodyPr/>
                    <a:lstStyle/>
                    <a:p>
                      <a:r>
                        <a:rPr sz="1400" b="0">
                          <a:solidFill>
                            <a:srgbClr val="1C1C1A"/>
                          </a:solidFill>
                          <a:latin typeface="Calibri"/>
                        </a:rPr>
                        <a:t>44</a:t>
                      </a:r>
                    </a:p>
                  </a:txBody>
                  <a:tcPr marT="25400" marB="25400"/>
                </a:tc>
                <a:tc>
                  <a:txBody>
                    <a:bodyPr/>
                    <a:lstStyle/>
                    <a:p>
                      <a:r>
                        <a:rPr sz="1400" b="0">
                          <a:solidFill>
                            <a:srgbClr val="1C1C1A"/>
                          </a:solidFill>
                          <a:latin typeface="Calibri"/>
                        </a:rPr>
                        <a:t>43</a:t>
                      </a:r>
                    </a:p>
                  </a:txBody>
                  <a:tcPr marT="25400" marB="25400"/>
                </a:tc>
                <a:tc>
                  <a:txBody>
                    <a:bodyPr/>
                    <a:lstStyle/>
                    <a:p>
                      <a:r>
                        <a:rPr sz="1400" b="0">
                          <a:solidFill>
                            <a:srgbClr val="1C1C1A"/>
                          </a:solidFill>
                          <a:latin typeface="Calibri"/>
                        </a:rPr>
                        <a:t>One row</a:t>
                      </a:r>
                    </a:p>
                  </a:txBody>
                  <a:tcPr marT="25400" marB="25400"/>
                </a:tc>
              </a:tr>
            </a:tbl>
          </a:graphicData>
        </a:graphic>
      </p:graphicFrame>
      <p:sp>
        <p:nvSpPr>
          <p:cNvPr id="6" name="TextBox 5"/>
          <p:cNvSpPr txBox="1"/>
          <p:nvPr/>
        </p:nvSpPr>
        <p:spPr>
          <a:xfrm>
            <a:off x="777240" y="4069080"/>
            <a:ext cx="10607040" cy="790575"/>
          </a:xfrm>
          <a:prstGeom prst="rect">
            <a:avLst/>
          </a:prstGeom>
          <a:noFill/>
        </p:spPr>
        <p:txBody>
          <a:bodyPr wrap="square">
            <a:spAutoFit/>
          </a:bodyPr>
          <a:lstStyle/>
          <a:p>
            <a:pPr>
              <a:spcAft>
                <a:spcPts val="1000"/>
              </a:spcAft>
            </a:pPr>
            <a:r>
              <a:rPr sz="2100" b="0">
                <a:solidFill>
                  <a:srgbClr val="1C1C1A"/>
                </a:solidFill>
                <a:latin typeface="Calibri"/>
              </a:rPr>
              <a:t>One row moved the mean by a factor of seven and the median by Rs 45. That contrast is tomorrow's entire lesson and you have already met it.</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instinct, and why it is wrong</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The instinct is to delete it. It is ruining every number.</a:t>
            </a:r>
          </a:p>
          <a:p>
            <a:pPr>
              <a:spcAft>
                <a:spcPts val="1000"/>
              </a:spcAft>
            </a:pPr>
            <a:r>
              <a:rPr sz="2100" b="0">
                <a:solidFill>
                  <a:srgbClr val="1C1C1A"/>
                </a:solidFill>
                <a:latin typeface="Calibri"/>
              </a:rPr>
              <a:t>An outlier is a finding before it is a row. Rs 480,000 in a business where a typical order is Rs 800 to Rs 3,000 is either the most interesting customer in the file or a data entry error, and those need opposite responses.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outlier decision, drawn</a:t>
            </a:r>
          </a:p>
        </p:txBody>
      </p:sp>
      <p:pic>
        <p:nvPicPr>
          <p:cNvPr id="4" name="Picture 3" descr="feecb0a8d65aec4e.png"/>
          <p:cNvPicPr>
            <a:picLocks noChangeAspect="1"/>
          </p:cNvPicPr>
          <p:nvPr/>
        </p:nvPicPr>
        <p:blipFill>
          <a:blip r:embed="rId2"/>
          <a:stretch>
            <a:fillRect/>
          </a:stretch>
        </p:blipFill>
        <p:spPr>
          <a:xfrm>
            <a:off x="4642377" y="1965960"/>
            <a:ext cx="2876764" cy="4023360"/>
          </a:xfrm>
          <a:prstGeom prst="rect">
            <a:avLst/>
          </a:prstGeom>
        </p:spPr>
      </p:pic>
      <p:sp>
        <p:nvSpPr>
          <p:cNvPr id="5" name="TextBox 4"/>
          <p:cNvSpPr txBox="1"/>
          <p:nvPr/>
        </p:nvSpPr>
        <p:spPr>
          <a:xfrm>
            <a:off x="777240" y="6126480"/>
            <a:ext cx="10607040" cy="542925"/>
          </a:xfrm>
          <a:prstGeom prst="rect">
            <a:avLst/>
          </a:prstGeom>
          <a:noFill/>
        </p:spPr>
        <p:txBody>
          <a:bodyPr wrap="square">
            <a:spAutoFit/>
          </a:bodyPr>
          <a:lstStyle/>
          <a:p>
            <a:pPr>
              <a:spcAft>
                <a:spcPts val="1000"/>
              </a:spcAft>
            </a:pPr>
            <a:r>
              <a:rPr sz="2100" b="0">
                <a:solidFill>
                  <a:srgbClr val="1C1C1A"/>
                </a:solidFill>
                <a:latin typeface="Calibri"/>
              </a:rPr>
              <a:t>At no point does the tree reach a box that says delete. That is deliberate.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A fence, done properly</a:t>
            </a:r>
          </a:p>
        </p:txBody>
      </p:sp>
      <p:sp>
        <p:nvSpPr>
          <p:cNvPr id="4" name="TextBox 3"/>
          <p:cNvSpPr txBox="1"/>
          <p:nvPr/>
        </p:nvSpPr>
        <p:spPr>
          <a:xfrm>
            <a:off x="777240" y="1965960"/>
            <a:ext cx="10607040" cy="2028825"/>
          </a:xfrm>
          <a:prstGeom prst="rect">
            <a:avLst/>
          </a:prstGeom>
          <a:noFill/>
        </p:spPr>
        <p:txBody>
          <a:bodyPr wrap="square">
            <a:spAutoFit/>
          </a:bodyPr>
          <a:lstStyle/>
          <a:p>
            <a:pPr>
              <a:spcAft>
                <a:spcPts val="1000"/>
              </a:spcAft>
            </a:pPr>
            <a:r>
              <a:rPr sz="2100" b="0">
                <a:solidFill>
                  <a:srgbClr val="1C1C1A"/>
                </a:solidFill>
                <a:latin typeface="Calibri"/>
              </a:rPr>
              <a:t>A fence is arithmetic that flags a value for a human to look at. It is not a filter.</a:t>
            </a:r>
          </a:p>
          <a:p>
            <a:pPr>
              <a:spcAft>
                <a:spcPts val="1000"/>
              </a:spcAft>
            </a:pPr>
            <a:r>
              <a:rPr sz="2100" b="0">
                <a:solidFill>
                  <a:srgbClr val="1C1C1A"/>
                </a:solidFill>
                <a:latin typeface="Calibri"/>
              </a:rPr>
              <a:t>$$\text{IQR} = Q_3 - Q_1 \qquad \text{upper fence} = Q_3 + 1.5 \times \text{IQR}$$</a:t>
            </a:r>
          </a:p>
          <a:p>
            <a:pPr>
              <a:spcAft>
                <a:spcPts val="1000"/>
              </a:spcAft>
            </a:pPr>
            <a:r>
              <a:rPr sz="2100" b="0">
                <a:solidFill>
                  <a:srgbClr val="1C1C1A"/>
                </a:solidFill>
                <a:latin typeface="Calibri"/>
              </a:rPr>
              <a:t>On today's 44 usable amounts:</a:t>
            </a:r>
          </a:p>
          <a:p>
            <a:pPr>
              <a:spcAft>
                <a:spcPts val="1000"/>
              </a:spcAft>
            </a:pPr>
            <a:r>
              <a:rPr sz="2100" b="0">
                <a:solidFill>
                  <a:srgbClr val="1C1C1A"/>
                </a:solidFill>
                <a:latin typeface="Calibri"/>
              </a:rPr>
              <a:t>$$Q_1 = 1302.5 \qquad Q_3 = 2666.25 \qquad \text{IQR} = 1363.75$$</a:t>
            </a:r>
          </a:p>
          <a:p>
            <a:pPr>
              <a:spcAft>
                <a:spcPts val="1000"/>
              </a:spcAft>
            </a:pPr>
            <a:r>
              <a:rPr sz="2100" b="0">
                <a:solidFill>
                  <a:srgbClr val="1C1C1A"/>
                </a:solidFill>
                <a:latin typeface="Calibri"/>
              </a:rPr>
              <a:t>$$\text{upper fence} = 2666.25 + 1.5 \times 1363.75 = 4711.875$$</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the fence catches here</a:t>
            </a:r>
          </a:p>
        </p:txBody>
      </p:sp>
      <p:sp>
        <p:nvSpPr>
          <p:cNvPr id="4" name="TextBox 3"/>
          <p:cNvSpPr txBox="1"/>
          <p:nvPr/>
        </p:nvSpPr>
        <p:spPr>
          <a:xfrm>
            <a:off x="777240" y="1965960"/>
            <a:ext cx="10607040" cy="1781175"/>
          </a:xfrm>
          <a:prstGeom prst="rect">
            <a:avLst/>
          </a:prstGeom>
          <a:noFill/>
        </p:spPr>
        <p:txBody>
          <a:bodyPr wrap="square">
            <a:spAutoFit/>
          </a:bodyPr>
          <a:lstStyle/>
          <a:p>
            <a:pPr>
              <a:spcAft>
                <a:spcPts val="1000"/>
              </a:spcAft>
            </a:pPr>
            <a:r>
              <a:rPr sz="2100" b="0">
                <a:solidFill>
                  <a:srgbClr val="1C1C1A"/>
                </a:solidFill>
                <a:latin typeface="Calibri"/>
              </a:rPr>
              <a:t>Exactly one value sits above Rs 4,711.88, and it is the Rs 480,000 order.</a:t>
            </a:r>
          </a:p>
          <a:p>
            <a:pPr>
              <a:spcAft>
                <a:spcPts val="1000"/>
              </a:spcAft>
            </a:pPr>
            <a:r>
              <a:rPr sz="2100" b="0">
                <a:solidFill>
                  <a:srgbClr val="1C1C1A"/>
                </a:solidFill>
                <a:latin typeface="Calibri"/>
              </a:rPr>
              <a:t>Nothing sits below the lower fence, which comes out negative, so it could not flag anything even if a negative amount existed.</a:t>
            </a:r>
          </a:p>
          <a:p>
            <a:pPr>
              <a:spcAft>
                <a:spcPts val="1000"/>
              </a:spcAft>
            </a:pPr>
            <a:r>
              <a:rPr sz="2100" b="0">
                <a:solidFill>
                  <a:srgbClr val="1C1C1A"/>
                </a:solidFill>
                <a:latin typeface="Calibri"/>
              </a:rPr>
              <a:t>The fence found the row you had already spotted by sorting. That agreement is what tells you the fence is calibrated for this column rather than borrowed from somewhere else.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Where the 1.5 comes from, and why you should say so out loud</a:t>
            </a:r>
          </a:p>
        </p:txBody>
      </p:sp>
      <p:sp>
        <p:nvSpPr>
          <p:cNvPr id="5" name="TextBox 4"/>
          <p:cNvSpPr txBox="1"/>
          <p:nvPr/>
        </p:nvSpPr>
        <p:spPr>
          <a:xfrm>
            <a:off x="777240" y="1965960"/>
            <a:ext cx="10607040" cy="3638550"/>
          </a:xfrm>
          <a:prstGeom prst="rect">
            <a:avLst/>
          </a:prstGeom>
          <a:noFill/>
        </p:spPr>
        <p:txBody>
          <a:bodyPr wrap="square">
            <a:spAutoFit/>
          </a:bodyPr>
          <a:lstStyle/>
          <a:p>
            <a:pPr>
              <a:spcAft>
                <a:spcPts val="1000"/>
              </a:spcAft>
            </a:pPr>
            <a:r>
              <a:rPr sz="2100" b="0">
                <a:solidFill>
                  <a:srgbClr val="1C1C1A"/>
                </a:solidFill>
                <a:latin typeface="Calibri"/>
              </a:rPr>
              <a:t>The 1.5 is a convention, not a law. It comes from the box plot as it was popularised in exploratory data analysis, chosen so that on a normal distribution roughly 0.7 percent of values fall outside the fence.</a:t>
            </a:r>
          </a:p>
          <a:p>
            <a:pPr>
              <a:spcAft>
                <a:spcPts val="1000"/>
              </a:spcAft>
            </a:pPr>
            <a:r>
              <a:rPr sz="2100" b="0">
                <a:solidFill>
                  <a:srgbClr val="1C1C1A"/>
                </a:solidFill>
                <a:latin typeface="Calibri"/>
              </a:rPr>
              <a:t>Two consequences you should be able to state:</a:t>
            </a:r>
          </a:p>
          <a:p>
            <a:pPr>
              <a:spcAft>
                <a:spcPts val="1000"/>
              </a:spcAft>
            </a:pPr>
            <a:r>
              <a:rPr sz="2100" b="0">
                <a:solidFill>
                  <a:srgbClr val="1C1C1A"/>
                </a:solidFill>
                <a:latin typeface="Calibri"/>
              </a:rPr>
              <a:t>The first is that order amounts are not normally distributed. Money is skewed to the right in almost every business, because there is a floor at zero and no ceiling. So a fence tuned for a normal distribution will flag ordinary large orders in a healthy business, and you should expect to look at the flags rather than trust them.</a:t>
            </a:r>
          </a:p>
          <a:p>
            <a:pPr>
              <a:spcAft>
                <a:spcPts val="1000"/>
              </a:spcAft>
            </a:pPr>
            <a:r>
              <a:rPr sz="2100" b="0">
                <a:solidFill>
                  <a:srgbClr val="1C1C1A"/>
                </a:solidFill>
                <a:latin typeface="Calibri"/>
              </a:rPr>
              <a:t>The second is that changing 1.5 changes what you find, so the multiplier is part of your written decision. A fence at 3.0 instead of 1.5 gives an upper bound of Rs 6,757.50 here and still catches only the same one order, which is worth knowing before somebody accuses the number of being arbitrary.</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Three ways to flag an extreme, and when each is honest</a:t>
            </a:r>
          </a:p>
        </p:txBody>
      </p:sp>
      <p:graphicFrame>
        <p:nvGraphicFramePr>
          <p:cNvPr id="5" name="Table 4"/>
          <p:cNvGraphicFramePr>
            <a:graphicFrameLocks noGrp="1"/>
          </p:cNvGraphicFramePr>
          <p:nvPr/>
        </p:nvGraphicFramePr>
        <p:xfrm>
          <a:off x="777240" y="1965960"/>
          <a:ext cx="10607040" cy="1536192"/>
        </p:xfrm>
        <a:graphic>
          <a:graphicData uri="http://schemas.openxmlformats.org/drawingml/2006/table">
            <a:tbl>
              <a:tblPr firstRow="1" bandRow="1">
                <a:tableStyleId>{5C22544A-7EE6-4342-B048-85BDC9FD1C3A}</a:tableStyleId>
              </a:tblPr>
              <a:tblGrid>
                <a:gridCol w="3535680"/>
                <a:gridCol w="3535680"/>
                <a:gridCol w="3535680"/>
              </a:tblGrid>
              <a:tr h="384048">
                <a:tc>
                  <a:txBody>
                    <a:bodyPr/>
                    <a:lstStyle/>
                    <a:p>
                      <a:r>
                        <a:rPr sz="1300" b="1">
                          <a:solidFill>
                            <a:srgbClr val="2B4A7D"/>
                          </a:solidFill>
                          <a:latin typeface="Calibri"/>
                        </a:rPr>
                        <a:t>Method</a:t>
                      </a:r>
                    </a:p>
                  </a:txBody>
                  <a:tcPr marT="25400" marB="25400"/>
                </a:tc>
                <a:tc>
                  <a:txBody>
                    <a:bodyPr/>
                    <a:lstStyle/>
                    <a:p>
                      <a:r>
                        <a:rPr sz="1300" b="1">
                          <a:solidFill>
                            <a:srgbClr val="2B4A7D"/>
                          </a:solidFill>
                          <a:latin typeface="Calibri"/>
                        </a:rPr>
                        <a:t>How it works</a:t>
                      </a:r>
                    </a:p>
                  </a:txBody>
                  <a:tcPr marT="25400" marB="25400"/>
                </a:tc>
                <a:tc>
                  <a:txBody>
                    <a:bodyPr/>
                    <a:lstStyle/>
                    <a:p>
                      <a:r>
                        <a:rPr sz="1300" b="1">
                          <a:solidFill>
                            <a:srgbClr val="2B4A7D"/>
                          </a:solidFill>
                          <a:latin typeface="Calibri"/>
                        </a:rPr>
                        <a:t>When it is the right tool</a:t>
                      </a:r>
                    </a:p>
                  </a:txBody>
                  <a:tcPr marT="25400" marB="25400"/>
                </a:tc>
              </a:tr>
              <a:tr h="384048">
                <a:tc>
                  <a:txBody>
                    <a:bodyPr/>
                    <a:lstStyle/>
                    <a:p>
                      <a:r>
                        <a:rPr sz="1400" b="0">
                          <a:solidFill>
                            <a:srgbClr val="1C1C1A"/>
                          </a:solidFill>
                          <a:latin typeface="Calibri"/>
                        </a:rPr>
                        <a:t>Sort and read the tail</a:t>
                      </a:r>
                    </a:p>
                  </a:txBody>
                  <a:tcPr marT="25400" marB="25400"/>
                </a:tc>
                <a:tc>
                  <a:txBody>
                    <a:bodyPr/>
                    <a:lstStyle/>
                    <a:p>
                      <a:r>
                        <a:rPr sz="1400" b="0">
                          <a:solidFill>
                            <a:srgbClr val="1C1C1A"/>
                          </a:solidFill>
                          <a:latin typeface="Calibri"/>
                        </a:rPr>
                        <a:t>You look at the largest and smallest values yourself</a:t>
                      </a:r>
                    </a:p>
                  </a:txBody>
                  <a:tcPr marT="25400" marB="25400"/>
                </a:tc>
                <a:tc>
                  <a:txBody>
                    <a:bodyPr/>
                    <a:lstStyle/>
                    <a:p>
                      <a:r>
                        <a:rPr sz="1400" b="0">
                          <a:solidFill>
                            <a:srgbClr val="1C1C1A"/>
                          </a:solidFill>
                          <a:latin typeface="Calibri"/>
                        </a:rPr>
                        <a:t>Always do this first. It costs nothing and it is the only method that shows you the actual values</a:t>
                      </a:r>
                    </a:p>
                  </a:txBody>
                  <a:tcPr marT="25400" marB="25400"/>
                </a:tc>
              </a:tr>
              <a:tr h="384048">
                <a:tc>
                  <a:txBody>
                    <a:bodyPr/>
                    <a:lstStyle/>
                    <a:p>
                      <a:r>
                        <a:rPr sz="1400" b="0">
                          <a:solidFill>
                            <a:srgbClr val="1C1C1A"/>
                          </a:solidFill>
                          <a:latin typeface="Calibri"/>
                        </a:rPr>
                        <a:t>The IQR fence</a:t>
                      </a:r>
                    </a:p>
                  </a:txBody>
                  <a:tcPr marT="25400" marB="25400"/>
                </a:tc>
                <a:tc>
                  <a:txBody>
                    <a:bodyPr/>
                    <a:lstStyle/>
                    <a:p>
                      <a:r>
                        <a:rPr sz="1400" b="0">
                          <a:solidFill>
                            <a:srgbClr val="1C1C1A"/>
                          </a:solidFill>
                          <a:latin typeface="Calibri"/>
                        </a:rPr>
                        <a:t>Flag anything beyond 1.5 times the interquartile range from the quartiles</a:t>
                      </a:r>
                    </a:p>
                  </a:txBody>
                  <a:tcPr marT="25400" marB="25400"/>
                </a:tc>
                <a:tc>
                  <a:txBody>
                    <a:bodyPr/>
                    <a:lstStyle/>
                    <a:p>
                      <a:r>
                        <a:rPr sz="1400" b="0">
                          <a:solidFill>
                            <a:srgbClr val="1C1C1A"/>
                          </a:solidFill>
                          <a:latin typeface="Calibri"/>
                        </a:rPr>
                        <a:t>When you need a rule somebody else can reproduce, and the column is not wildly skewed</a:t>
                      </a:r>
                    </a:p>
                  </a:txBody>
                  <a:tcPr marT="25400" marB="25400"/>
                </a:tc>
              </a:tr>
              <a:tr h="384048">
                <a:tc>
                  <a:txBody>
                    <a:bodyPr/>
                    <a:lstStyle/>
                    <a:p>
                      <a:r>
                        <a:rPr sz="1400" b="0">
                          <a:solidFill>
                            <a:srgbClr val="1C1C1A"/>
                          </a:solidFill>
                          <a:latin typeface="Calibri"/>
                        </a:rPr>
                        <a:t>A business rule</a:t>
                      </a:r>
                    </a:p>
                  </a:txBody>
                  <a:tcPr marT="25400" marB="25400"/>
                </a:tc>
                <a:tc>
                  <a:txBody>
                    <a:bodyPr/>
                    <a:lstStyle/>
                    <a:p>
                      <a:r>
                        <a:rPr sz="1400" b="0">
                          <a:solidFill>
                            <a:srgbClr val="1C1C1A"/>
                          </a:solidFill>
                          <a:latin typeface="Calibri"/>
                        </a:rPr>
                        <a:t>Flag anything above an amount the business says is implausible</a:t>
                      </a:r>
                    </a:p>
                  </a:txBody>
                  <a:tcPr marT="25400" marB="25400"/>
                </a:tc>
                <a:tc>
                  <a:txBody>
                    <a:bodyPr/>
                    <a:lstStyle/>
                    <a:p>
                      <a:r>
                        <a:rPr sz="1400" b="0">
                          <a:solidFill>
                            <a:srgbClr val="1C1C1A"/>
                          </a:solidFill>
                          <a:latin typeface="Calibri"/>
                        </a:rPr>
                        <a:t>When somebody who owns the domain will give you the number, which is better than any statistic</a:t>
                      </a:r>
                    </a:p>
                  </a:txBody>
                  <a:tcPr marT="25400" marB="25400"/>
                </a:tc>
              </a:tr>
            </a:tbl>
          </a:graphicData>
        </a:graphic>
      </p:graphicFrame>
      <p:sp>
        <p:nvSpPr>
          <p:cNvPr id="6" name="TextBox 5"/>
          <p:cNvSpPr txBox="1"/>
          <p:nvPr/>
        </p:nvSpPr>
        <p:spPr>
          <a:xfrm>
            <a:off x="777240" y="3685032"/>
            <a:ext cx="10607040" cy="790575"/>
          </a:xfrm>
          <a:prstGeom prst="rect">
            <a:avLst/>
          </a:prstGeom>
          <a:noFill/>
        </p:spPr>
        <p:txBody>
          <a:bodyPr wrap="square">
            <a:spAutoFit/>
          </a:bodyPr>
          <a:lstStyle/>
          <a:p>
            <a:pPr>
              <a:spcAft>
                <a:spcPts val="1000"/>
              </a:spcAft>
            </a:pPr>
            <a:r>
              <a:rPr sz="2100" b="0">
                <a:solidFill>
                  <a:srgbClr val="1C1C1A"/>
                </a:solidFill>
                <a:latin typeface="Calibri"/>
              </a:rPr>
              <a:t>The third one beats the other two whenever you can get it. Ask for it before you reach for arithmetic.</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So you investigate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Order KR4232 converts cleanly. It has a customer, a date, a status and a segment like every other order.</a:t>
            </a:r>
          </a:p>
          <a:p>
            <a:pPr>
              <a:spcAft>
                <a:spcPts val="1000"/>
              </a:spcAft>
            </a:pPr>
            <a:r>
              <a:rPr sz="2100" b="0">
                <a:solidFill>
                  <a:srgbClr val="1C1C1A"/>
                </a:solidFill>
                <a:latin typeface="Calibri"/>
              </a:rPr>
              <a:t>Nothing about it is malformed. It is simply large, so it survives cleaning and goes to Thursday as a question rather than a deletion.</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investigating it actually means</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You have four questions and the file answers two of them.</a:t>
            </a:r>
          </a:p>
        </p:txBody>
      </p:sp>
      <p:graphicFrame>
        <p:nvGraphicFramePr>
          <p:cNvPr id="6" name="Table 5"/>
          <p:cNvGraphicFramePr>
            <a:graphicFrameLocks noGrp="1"/>
          </p:cNvGraphicFramePr>
          <p:nvPr/>
        </p:nvGraphicFramePr>
        <p:xfrm>
          <a:off x="777240" y="2646045"/>
          <a:ext cx="10607040" cy="1920240"/>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Question</a:t>
                      </a:r>
                    </a:p>
                  </a:txBody>
                  <a:tcPr marT="25400" marB="25400"/>
                </a:tc>
                <a:tc>
                  <a:txBody>
                    <a:bodyPr/>
                    <a:lstStyle/>
                    <a:p>
                      <a:r>
                        <a:rPr sz="1300" b="1">
                          <a:solidFill>
                            <a:srgbClr val="2B4A7D"/>
                          </a:solidFill>
                          <a:latin typeface="Calibri"/>
                        </a:rPr>
                        <a:t>Where the answer is</a:t>
                      </a:r>
                    </a:p>
                  </a:txBody>
                  <a:tcPr marT="25400" marB="25400"/>
                </a:tc>
              </a:tr>
              <a:tr h="384048">
                <a:tc>
                  <a:txBody>
                    <a:bodyPr/>
                    <a:lstStyle/>
                    <a:p>
                      <a:r>
                        <a:rPr sz="1400" b="0">
                          <a:solidFill>
                            <a:srgbClr val="1C1C1A"/>
                          </a:solidFill>
                          <a:latin typeface="Calibri"/>
                        </a:rPr>
                        <a:t>Is the value well formed?</a:t>
                      </a:r>
                    </a:p>
                  </a:txBody>
                  <a:tcPr marT="25400" marB="25400"/>
                </a:tc>
                <a:tc>
                  <a:txBody>
                    <a:bodyPr/>
                    <a:lstStyle/>
                    <a:p>
                      <a:r>
                        <a:rPr sz="1400" b="0">
                          <a:solidFill>
                            <a:srgbClr val="1C1C1A"/>
                          </a:solidFill>
                          <a:latin typeface="Calibri"/>
                        </a:rPr>
                        <a:t>In the file. It converts, so yes.</a:t>
                      </a:r>
                    </a:p>
                  </a:txBody>
                  <a:tcPr marT="25400" marB="25400"/>
                </a:tc>
              </a:tr>
              <a:tr h="384048">
                <a:tc>
                  <a:txBody>
                    <a:bodyPr/>
                    <a:lstStyle/>
                    <a:p>
                      <a:r>
                        <a:rPr sz="1400" b="0">
                          <a:solidFill>
                            <a:srgbClr val="1C1C1A"/>
                          </a:solidFill>
                          <a:latin typeface="Calibri"/>
                        </a:rPr>
                        <a:t>Is the rest of the record consistent?</a:t>
                      </a:r>
                    </a:p>
                  </a:txBody>
                  <a:tcPr marT="25400" marB="25400"/>
                </a:tc>
                <a:tc>
                  <a:txBody>
                    <a:bodyPr/>
                    <a:lstStyle/>
                    <a:p>
                      <a:r>
                        <a:rPr sz="1400" b="0">
                          <a:solidFill>
                            <a:srgbClr val="1C1C1A"/>
                          </a:solidFill>
                          <a:latin typeface="Calibri"/>
                        </a:rPr>
                        <a:t>In the file. Customer C1749, Retail-Core, delivered, 19 August 2026, and nothing is missing.</a:t>
                      </a:r>
                    </a:p>
                  </a:txBody>
                  <a:tcPr marT="25400" marB="25400"/>
                </a:tc>
              </a:tr>
              <a:tr h="384048">
                <a:tc>
                  <a:txBody>
                    <a:bodyPr/>
                    <a:lstStyle/>
                    <a:p>
                      <a:r>
                        <a:rPr sz="1400" b="0">
                          <a:solidFill>
                            <a:srgbClr val="1C1C1A"/>
                          </a:solidFill>
                          <a:latin typeface="Calibri"/>
                        </a:rPr>
                        <a:t>Has this customer ordered like this before?</a:t>
                      </a:r>
                    </a:p>
                  </a:txBody>
                  <a:tcPr marT="25400" marB="25400"/>
                </a:tc>
                <a:tc>
                  <a:txBody>
                    <a:bodyPr/>
                    <a:lstStyle/>
                    <a:p>
                      <a:r>
                        <a:rPr sz="1400" b="0">
                          <a:solidFill>
                            <a:srgbClr val="1C1C1A"/>
                          </a:solidFill>
                          <a:latin typeface="Calibri"/>
                        </a:rPr>
                        <a:t>Not in this extract. It needs the wider order book.</a:t>
                      </a:r>
                    </a:p>
                  </a:txBody>
                  <a:tcPr marT="25400" marB="25400"/>
                </a:tc>
              </a:tr>
              <a:tr h="384048">
                <a:tc>
                  <a:txBody>
                    <a:bodyPr/>
                    <a:lstStyle/>
                    <a:p>
                      <a:r>
                        <a:rPr sz="1400" b="0">
                          <a:solidFill>
                            <a:srgbClr val="1C1C1A"/>
                          </a:solidFill>
                          <a:latin typeface="Calibri"/>
                        </a:rPr>
                        <a:t>Is an order of this size possible in this business?</a:t>
                      </a:r>
                    </a:p>
                  </a:txBody>
                  <a:tcPr marT="25400" marB="25400"/>
                </a:tc>
                <a:tc>
                  <a:txBody>
                    <a:bodyPr/>
                    <a:lstStyle/>
                    <a:p>
                      <a:r>
                        <a:rPr sz="1400" b="0">
                          <a:solidFill>
                            <a:srgbClr val="1C1C1A"/>
                          </a:solidFill>
                          <a:latin typeface="Calibri"/>
                        </a:rPr>
                        <a:t>Not in any file. It needs a person who knows the business.</a:t>
                      </a:r>
                    </a:p>
                  </a:txBody>
                  <a:tcPr marT="25400" marB="25400"/>
                </a:tc>
              </a:tr>
            </a:tbl>
          </a:graphicData>
        </a:graphic>
      </p:graphicFrame>
      <p:sp>
        <p:nvSpPr>
          <p:cNvPr id="7" name="TextBox 6"/>
          <p:cNvSpPr txBox="1"/>
          <p:nvPr/>
        </p:nvSpPr>
        <p:spPr>
          <a:xfrm>
            <a:off x="777240" y="4749165"/>
            <a:ext cx="10607040" cy="790575"/>
          </a:xfrm>
          <a:prstGeom prst="rect">
            <a:avLst/>
          </a:prstGeom>
          <a:noFill/>
        </p:spPr>
        <p:txBody>
          <a:bodyPr wrap="square">
            <a:spAutoFit/>
          </a:bodyPr>
          <a:lstStyle/>
          <a:p>
            <a:pPr>
              <a:spcAft>
                <a:spcPts val="1000"/>
              </a:spcAft>
            </a:pPr>
            <a:r>
              <a:rPr sz="2100" b="0">
                <a:solidFill>
                  <a:srgbClr val="1C1C1A"/>
                </a:solidFill>
                <a:latin typeface="Calibri"/>
              </a:rPr>
              <a:t>Two of four leave your desk. That is normal, and saying so is the difference between an analyst and someone who guesses confidently.</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Step card, section 4</a:t>
            </a:r>
          </a:p>
        </p:txBody>
      </p:sp>
      <p:sp>
        <p:nvSpPr>
          <p:cNvPr id="4" name="TextBox 3"/>
          <p:cNvSpPr txBox="1"/>
          <p:nvPr/>
        </p:nvSpPr>
        <p:spPr>
          <a:xfrm>
            <a:off x="777240" y="1965960"/>
            <a:ext cx="10607040" cy="1657350"/>
          </a:xfrm>
          <a:prstGeom prst="rect">
            <a:avLst/>
          </a:prstGeom>
          <a:noFill/>
        </p:spPr>
        <p:txBody>
          <a:bodyPr wrap="square">
            <a:spAutoFit/>
          </a:bodyPr>
          <a:lstStyle/>
          <a:p>
            <a:pPr>
              <a:spcAft>
                <a:spcPts val="1000"/>
              </a:spcAft>
            </a:pPr>
            <a:r>
              <a:rPr sz="2100" b="0">
                <a:solidFill>
                  <a:srgbClr val="1C1C1A"/>
                </a:solidFill>
                <a:latin typeface="Calibri"/>
              </a:rPr>
              <a:t>1. Sort the column and read the tail.</a:t>
            </a:r>
          </a:p>
          <a:p>
            <a:pPr>
              <a:spcAft>
                <a:spcPts val="1000"/>
              </a:spcAft>
            </a:pPr>
            <a:r>
              <a:rPr sz="2100" b="0">
                <a:solidFill>
                  <a:srgbClr val="1C1C1A"/>
                </a:solidFill>
                <a:latin typeface="Calibri"/>
              </a:rPr>
              <a:t>2. An outlier is a finding to investigate.</a:t>
            </a:r>
          </a:p>
          <a:p>
            <a:pPr>
              <a:spcAft>
                <a:spcPts val="1000"/>
              </a:spcAft>
            </a:pPr>
            <a:r>
              <a:rPr sz="2100" b="0">
                <a:solidFill>
                  <a:srgbClr val="1C1C1A"/>
                </a:solidFill>
                <a:latin typeface="Calibri"/>
              </a:rPr>
              <a:t>3. Convertible and extreme means real until someone says otherwise.</a:t>
            </a:r>
          </a:p>
          <a:p>
            <a:pPr>
              <a:spcAft>
                <a:spcPts val="1000"/>
              </a:spcAft>
            </a:pPr>
            <a:r>
              <a:rPr sz="2100" b="0">
                <a:solidFill>
                  <a:srgbClr val="1C1C1A"/>
                </a:solidFill>
                <a:latin typeface="Calibri"/>
              </a:rPr>
              <a:t>4. Record what you kept and why, alongside what you dropped.</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5: WHAT SHIPS</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[investigate the extremes] &gt; </a:t>
            </a:r>
            <a:r>
              <a:rPr sz="2100" b="1">
                <a:solidFill>
                  <a:srgbClr val="FFFFFF"/>
                </a:solidFill>
                <a:latin typeface="Calibri"/>
              </a:rPr>
              <a:t>[ship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Two artifacts, not one</a:t>
            </a:r>
          </a:p>
        </p:txBody>
      </p:sp>
      <p:sp>
        <p:nvSpPr>
          <p:cNvPr id="4" name="TextBox 3"/>
          <p:cNvSpPr txBox="1"/>
          <p:nvPr/>
        </p:nvSpPr>
        <p:spPr>
          <a:xfrm>
            <a:off x="777240" y="1965960"/>
            <a:ext cx="10607040" cy="666750"/>
          </a:xfrm>
          <a:prstGeom prst="rect">
            <a:avLst/>
          </a:prstGeom>
          <a:noFill/>
        </p:spPr>
        <p:txBody>
          <a:bodyPr wrap="square">
            <a:spAutoFit/>
          </a:bodyPr>
          <a:lstStyle/>
          <a:p>
            <a:pPr>
              <a:spcAft>
                <a:spcPts val="400"/>
              </a:spcAft>
            </a:pPr>
            <a:r>
              <a:rPr sz="1700" b="0">
                <a:solidFill>
                  <a:srgbClr val="2B4A7D"/>
                </a:solidFill>
                <a:latin typeface="Consolas"/>
              </a:rPr>
              <a:t>the profiled dataset     the orders you would compute on</a:t>
            </a:r>
          </a:p>
          <a:p>
            <a:pPr>
              <a:spcAft>
                <a:spcPts val="400"/>
              </a:spcAft>
            </a:pPr>
            <a:r>
              <a:rPr sz="1700" b="0">
                <a:solidFill>
                  <a:srgbClr val="2B4A7D"/>
                </a:solidFill>
                <a:latin typeface="Consolas"/>
              </a:rPr>
              <a:t>the decisions log        every change, and why you made it</a:t>
            </a:r>
          </a:p>
        </p:txBody>
      </p:sp>
      <p:sp>
        <p:nvSpPr>
          <p:cNvPr id="5" name="TextBox 4"/>
          <p:cNvSpPr txBox="1"/>
          <p:nvPr/>
        </p:nvSpPr>
        <p:spPr>
          <a:xfrm>
            <a:off x="777240" y="2769870"/>
            <a:ext cx="10607040" cy="542925"/>
          </a:xfrm>
          <a:prstGeom prst="rect">
            <a:avLst/>
          </a:prstGeom>
          <a:noFill/>
        </p:spPr>
        <p:txBody>
          <a:bodyPr wrap="square">
            <a:spAutoFit/>
          </a:bodyPr>
          <a:lstStyle/>
          <a:p>
            <a:pPr>
              <a:spcAft>
                <a:spcPts val="1000"/>
              </a:spcAft>
            </a:pPr>
            <a:r>
              <a:rPr sz="2100" b="0">
                <a:solidFill>
                  <a:srgbClr val="1C1C1A"/>
                </a:solidFill>
                <a:latin typeface="Calibri"/>
              </a:rPr>
              <a:t>The first without the second is an opinion.</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a log line looks like</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400"/>
              </a:spcAft>
            </a:pPr>
            <a:r>
              <a:rPr sz="1700" b="0">
                <a:solidFill>
                  <a:srgbClr val="2B4A7D"/>
                </a:solidFill>
                <a:latin typeface="Consolas"/>
              </a:rPr>
              <a:t>amount, 2 orders absent      -&gt; rejected, amount is required, ids in rejects file</a:t>
            </a:r>
          </a:p>
          <a:p>
            <a:pPr>
              <a:spcAft>
                <a:spcPts val="400"/>
              </a:spcAft>
            </a:pPr>
            <a:r>
              <a:rPr sz="1700" b="0">
                <a:solidFill>
                  <a:srgbClr val="2B4A7D"/>
                </a:solidFill>
                <a:latin typeface="Consolas"/>
              </a:rPr>
              <a:t>amount, 4 orders unusable    -&gt; rejected, value present but not a number, ids listed</a:t>
            </a:r>
          </a:p>
          <a:p>
            <a:pPr>
              <a:spcAft>
                <a:spcPts val="400"/>
              </a:spcAft>
            </a:pPr>
            <a:r>
              <a:rPr sz="1700" b="0">
                <a:solidFill>
                  <a:srgbClr val="2B4A7D"/>
                </a:solidFill>
                <a:latin typeface="Consolas"/>
              </a:rPr>
              <a:t>discount, 39 orders absent   -&gt; kept absent, absence means no discount applied</a:t>
            </a:r>
          </a:p>
          <a:p>
            <a:pPr>
              <a:spcAft>
                <a:spcPts val="400"/>
              </a:spcAft>
            </a:pPr>
            <a:r>
              <a:rPr sz="1700" b="0">
                <a:solidFill>
                  <a:srgbClr val="2B4A7D"/>
                </a:solidFill>
                <a:latin typeface="Consolas"/>
              </a:rPr>
              <a:t>KR4201, duplicate order_id   -&gt; both kept and flagged, identity rule pending owner</a:t>
            </a:r>
          </a:p>
          <a:p>
            <a:pPr>
              <a:spcAft>
                <a:spcPts val="400"/>
              </a:spcAft>
            </a:pPr>
            <a:r>
              <a:rPr sz="1700" b="0">
                <a:solidFill>
                  <a:srgbClr val="2B4A7D"/>
                </a:solidFill>
                <a:latin typeface="Consolas"/>
              </a:rPr>
              <a:t>KR4232, 480000               -&gt; kept, converts cleanly, raised with the owner</a:t>
            </a:r>
          </a:p>
        </p:txBody>
      </p:sp>
      <p:sp>
        <p:nvSpPr>
          <p:cNvPr id="5" name="TextBox 4"/>
          <p:cNvSpPr txBox="1"/>
          <p:nvPr/>
        </p:nvSpPr>
        <p:spPr>
          <a:xfrm>
            <a:off x="777240" y="3512820"/>
            <a:ext cx="10607040" cy="542925"/>
          </a:xfrm>
          <a:prstGeom prst="rect">
            <a:avLst/>
          </a:prstGeom>
          <a:noFill/>
        </p:spPr>
        <p:txBody>
          <a:bodyPr wrap="square">
            <a:spAutoFit/>
          </a:bodyPr>
          <a:lstStyle/>
          <a:p>
            <a:pPr>
              <a:spcAft>
                <a:spcPts val="1000"/>
              </a:spcAft>
            </a:pPr>
            <a:r>
              <a:rPr sz="2100" b="0">
                <a:solidFill>
                  <a:srgbClr val="1C1C1A"/>
                </a:solidFill>
                <a:latin typeface="Calibri"/>
              </a:rPr>
              <a:t>Five lines. A reviewer who was not in the room can follow every one.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fields a decisions log line needs</a:t>
            </a:r>
          </a:p>
        </p:txBody>
      </p:sp>
      <p:graphicFrame>
        <p:nvGraphicFramePr>
          <p:cNvPr id="5" name="Table 4"/>
          <p:cNvGraphicFramePr>
            <a:graphicFrameLocks noGrp="1"/>
          </p:cNvGraphicFramePr>
          <p:nvPr/>
        </p:nvGraphicFramePr>
        <p:xfrm>
          <a:off x="777240" y="1965960"/>
          <a:ext cx="10607040" cy="2304288"/>
        </p:xfrm>
        <a:graphic>
          <a:graphicData uri="http://schemas.openxmlformats.org/drawingml/2006/table">
            <a:tbl>
              <a:tblPr firstRow="1" bandRow="1">
                <a:tableStyleId>{5C22544A-7EE6-4342-B048-85BDC9FD1C3A}</a:tableStyleId>
              </a:tblPr>
              <a:tblGrid>
                <a:gridCol w="5303520"/>
                <a:gridCol w="5303520"/>
              </a:tblGrid>
              <a:tr h="384048">
                <a:tc>
                  <a:txBody>
                    <a:bodyPr/>
                    <a:lstStyle/>
                    <a:p>
                      <a:r>
                        <a:rPr sz="1300" b="1">
                          <a:solidFill>
                            <a:srgbClr val="2B4A7D"/>
                          </a:solidFill>
                          <a:latin typeface="Calibri"/>
                        </a:rPr>
                        <a:t>Field</a:t>
                      </a:r>
                    </a:p>
                  </a:txBody>
                  <a:tcPr marT="25400" marB="25400"/>
                </a:tc>
                <a:tc>
                  <a:txBody>
                    <a:bodyPr/>
                    <a:lstStyle/>
                    <a:p>
                      <a:r>
                        <a:rPr sz="1300" b="1">
                          <a:solidFill>
                            <a:srgbClr val="2B4A7D"/>
                          </a:solidFill>
                          <a:latin typeface="Calibri"/>
                        </a:rPr>
                        <a:t>Why it is there</a:t>
                      </a:r>
                    </a:p>
                  </a:txBody>
                  <a:tcPr marT="25400" marB="25400"/>
                </a:tc>
              </a:tr>
              <a:tr h="384048">
                <a:tc>
                  <a:txBody>
                    <a:bodyPr/>
                    <a:lstStyle/>
                    <a:p>
                      <a:r>
                        <a:rPr sz="1400" b="0">
                          <a:solidFill>
                            <a:srgbClr val="1C1C1A"/>
                          </a:solidFill>
                          <a:latin typeface="Calibri"/>
                        </a:rPr>
                        <a:t>What was affected</a:t>
                      </a:r>
                    </a:p>
                  </a:txBody>
                  <a:tcPr marT="25400" marB="25400"/>
                </a:tc>
                <a:tc>
                  <a:txBody>
                    <a:bodyPr/>
                    <a:lstStyle/>
                    <a:p>
                      <a:r>
                        <a:rPr sz="1400" b="0">
                          <a:solidFill>
                            <a:srgbClr val="1C1C1A"/>
                          </a:solidFill>
                          <a:latin typeface="Calibri"/>
                        </a:rPr>
                        <a:t>The field name, or the record id when the decision is about one row.</a:t>
                      </a:r>
                    </a:p>
                  </a:txBody>
                  <a:tcPr marT="25400" marB="25400"/>
                </a:tc>
              </a:tr>
              <a:tr h="384048">
                <a:tc>
                  <a:txBody>
                    <a:bodyPr/>
                    <a:lstStyle/>
                    <a:p>
                      <a:r>
                        <a:rPr sz="1400" b="0">
                          <a:solidFill>
                            <a:srgbClr val="1C1C1A"/>
                          </a:solidFill>
                          <a:latin typeface="Calibri"/>
                        </a:rPr>
                        <a:t>How many</a:t>
                      </a:r>
                    </a:p>
                  </a:txBody>
                  <a:tcPr marT="25400" marB="25400"/>
                </a:tc>
                <a:tc>
                  <a:txBody>
                    <a:bodyPr/>
                    <a:lstStyle/>
                    <a:p>
                      <a:r>
                        <a:rPr sz="1400" b="0">
                          <a:solidFill>
                            <a:srgbClr val="1C1C1A"/>
                          </a:solidFill>
                          <a:latin typeface="Calibri"/>
                        </a:rPr>
                        <a:t>The count, so a reader can judge whether the decision was large or small without opening the data.</a:t>
                      </a:r>
                    </a:p>
                  </a:txBody>
                  <a:tcPr marT="25400" marB="25400"/>
                </a:tc>
              </a:tr>
              <a:tr h="384048">
                <a:tc>
                  <a:txBody>
                    <a:bodyPr/>
                    <a:lstStyle/>
                    <a:p>
                      <a:r>
                        <a:rPr sz="1400" b="0">
                          <a:solidFill>
                            <a:srgbClr val="1C1C1A"/>
                          </a:solidFill>
                          <a:latin typeface="Calibri"/>
                        </a:rPr>
                        <a:t>What you did</a:t>
                      </a:r>
                    </a:p>
                  </a:txBody>
                  <a:tcPr marT="25400" marB="25400"/>
                </a:tc>
                <a:tc>
                  <a:txBody>
                    <a:bodyPr/>
                    <a:lstStyle/>
                    <a:p>
                      <a:r>
                        <a:rPr sz="1400" b="0">
                          <a:solidFill>
                            <a:srgbClr val="1C1C1A"/>
                          </a:solidFill>
                          <a:latin typeface="Calibri"/>
                        </a:rPr>
                        <a:t>Dropped, defaulted, kept and flagged, or raised. One of a small set of words, so the log can be scanned.</a:t>
                      </a:r>
                    </a:p>
                  </a:txBody>
                  <a:tcPr marT="25400" marB="25400"/>
                </a:tc>
              </a:tr>
              <a:tr h="384048">
                <a:tc>
                  <a:txBody>
                    <a:bodyPr/>
                    <a:lstStyle/>
                    <a:p>
                      <a:r>
                        <a:rPr sz="1400" b="0">
                          <a:solidFill>
                            <a:srgbClr val="1C1C1A"/>
                          </a:solidFill>
                          <a:latin typeface="Calibri"/>
                        </a:rPr>
                        <a:t>Why</a:t>
                      </a:r>
                    </a:p>
                  </a:txBody>
                  <a:tcPr marT="25400" marB="25400"/>
                </a:tc>
                <a:tc>
                  <a:txBody>
                    <a:bodyPr/>
                    <a:lstStyle/>
                    <a:p>
                      <a:r>
                        <a:rPr sz="1400" b="0">
                          <a:solidFill>
                            <a:srgbClr val="1C1C1A"/>
                          </a:solidFill>
                          <a:latin typeface="Calibri"/>
                        </a:rPr>
                        <a:t>The sentence that makes it defensible. This is the only field that cannot be generated.</a:t>
                      </a:r>
                    </a:p>
                  </a:txBody>
                  <a:tcPr marT="25400" marB="25400"/>
                </a:tc>
              </a:tr>
              <a:tr h="384048">
                <a:tc>
                  <a:txBody>
                    <a:bodyPr/>
                    <a:lstStyle/>
                    <a:p>
                      <a:r>
                        <a:rPr sz="1400" b="0">
                          <a:solidFill>
                            <a:srgbClr val="1C1C1A"/>
                          </a:solidFill>
                          <a:latin typeface="Calibri"/>
                        </a:rPr>
                        <a:t>Where the evidence went</a:t>
                      </a:r>
                    </a:p>
                  </a:txBody>
                  <a:tcPr marT="25400" marB="25400"/>
                </a:tc>
                <a:tc>
                  <a:txBody>
                    <a:bodyPr/>
                    <a:lstStyle/>
                    <a:p>
                      <a:r>
                        <a:rPr sz="1400" b="0">
                          <a:solidFill>
                            <a:srgbClr val="1C1C1A"/>
                          </a:solidFill>
                          <a:latin typeface="Calibri"/>
                        </a:rPr>
                        <a:t>The rejects file, the flag column, or the name of the person it was raised with.</a:t>
                      </a:r>
                    </a:p>
                  </a:txBody>
                  <a:tcPr marT="25400" marB="25400"/>
                </a:tc>
              </a:tr>
            </a:tbl>
          </a:graphicData>
        </a:graphic>
      </p:graphicFrame>
      <p:sp>
        <p:nvSpPr>
          <p:cNvPr id="6" name="TextBox 5"/>
          <p:cNvSpPr txBox="1"/>
          <p:nvPr/>
        </p:nvSpPr>
        <p:spPr>
          <a:xfrm>
            <a:off x="777240" y="4453128"/>
            <a:ext cx="10607040" cy="790575"/>
          </a:xfrm>
          <a:prstGeom prst="rect">
            <a:avLst/>
          </a:prstGeom>
          <a:noFill/>
        </p:spPr>
        <p:txBody>
          <a:bodyPr wrap="square">
            <a:spAutoFit/>
          </a:bodyPr>
          <a:lstStyle/>
          <a:p>
            <a:pPr>
              <a:spcAft>
                <a:spcPts val="1000"/>
              </a:spcAft>
            </a:pPr>
            <a:r>
              <a:rPr sz="2100" b="0">
                <a:solidFill>
                  <a:srgbClr val="1C1C1A"/>
                </a:solidFill>
                <a:latin typeface="Calibri"/>
              </a:rPr>
              <a:t>A log whose entries all read "cleaned" is a log nobody can use. The value is in the fourth column.</a:t>
            </a:r>
          </a:p>
        </p:txBody>
      </p:sp>
      <p:sp>
        <p:nvSpPr>
          <p:cNvPr id="7" name="TextBox 6"/>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 one level up</a:t>
            </a:r>
          </a:p>
        </p:txBody>
      </p:sp>
      <p:sp>
        <p:nvSpPr>
          <p:cNvPr id="4" name="TextBox 3"/>
          <p:cNvSpPr txBox="1"/>
          <p:nvPr/>
        </p:nvSpPr>
        <p:spPr>
          <a:xfrm>
            <a:off x="777240" y="1965960"/>
            <a:ext cx="10607040" cy="1162050"/>
          </a:xfrm>
          <a:prstGeom prst="rect">
            <a:avLst/>
          </a:prstGeom>
          <a:noFill/>
        </p:spPr>
        <p:txBody>
          <a:bodyPr wrap="square">
            <a:spAutoFit/>
          </a:bodyPr>
          <a:lstStyle/>
          <a:p>
            <a:pPr>
              <a:spcAft>
                <a:spcPts val="1000"/>
              </a:spcAft>
            </a:pPr>
            <a:r>
              <a:rPr sz="2100" b="0">
                <a:solidFill>
                  <a:srgbClr val="1C1C1A"/>
                </a:solidFill>
                <a:latin typeface="Calibri"/>
              </a:rPr>
              <a:t>Yesterday it was input equals clean plus rejected.</a:t>
            </a:r>
          </a:p>
          <a:p>
            <a:pPr>
              <a:spcAft>
                <a:spcPts val="1000"/>
              </a:spcAft>
            </a:pPr>
            <a:r>
              <a:rPr sz="2100" b="0">
                <a:solidFill>
                  <a:srgbClr val="1C1C1A"/>
                </a:solidFill>
                <a:latin typeface="Calibri"/>
              </a:rPr>
              <a:t>Today it also has to survive drops, defaults and any dedupe you applied. Same check, more ways to fail it.</a:t>
            </a:r>
          </a:p>
        </p:txBody>
      </p:sp>
      <p:sp>
        <p:nvSpPr>
          <p:cNvPr id="5" name="TextBox 4"/>
          <p:cNvSpPr txBox="1"/>
          <p:nvPr/>
        </p:nvSpPr>
        <p:spPr>
          <a:xfrm>
            <a:off x="777240" y="3265169"/>
            <a:ext cx="10607040" cy="502920"/>
          </a:xfrm>
          <a:prstGeom prst="rect">
            <a:avLst/>
          </a:prstGeom>
          <a:noFill/>
        </p:spPr>
        <p:txBody>
          <a:bodyPr wrap="square">
            <a:spAutoFit/>
          </a:bodyPr>
          <a:lstStyle/>
          <a:p>
            <a:pPr>
              <a:spcAft>
                <a:spcPts val="400"/>
              </a:spcAft>
            </a:pPr>
            <a:r>
              <a:rPr sz="1700" b="0">
                <a:solidFill>
                  <a:srgbClr val="2B4A7D"/>
                </a:solidFill>
                <a:latin typeface="Consolas"/>
              </a:rPr>
              <a:t>50 in = clean + rejected + anything you removed on purpose</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reconciliation as an identity, with today's numbers</a:t>
            </a:r>
          </a:p>
        </p:txBody>
      </p:sp>
      <p:sp>
        <p:nvSpPr>
          <p:cNvPr id="5" name="TextBox 4"/>
          <p:cNvSpPr txBox="1"/>
          <p:nvPr/>
        </p:nvSpPr>
        <p:spPr>
          <a:xfrm>
            <a:off x="777240" y="1965960"/>
            <a:ext cx="10607040" cy="2152650"/>
          </a:xfrm>
          <a:prstGeom prst="rect">
            <a:avLst/>
          </a:prstGeom>
          <a:noFill/>
        </p:spPr>
        <p:txBody>
          <a:bodyPr wrap="square">
            <a:spAutoFit/>
          </a:bodyPr>
          <a:lstStyle/>
          <a:p>
            <a:pPr>
              <a:spcAft>
                <a:spcPts val="1000"/>
              </a:spcAft>
            </a:pPr>
            <a:r>
              <a:rPr sz="2100" b="0">
                <a:solidFill>
                  <a:srgbClr val="1C1C1A"/>
                </a:solidFill>
                <a:latin typeface="Calibri"/>
              </a:rPr>
              <a:t>$$n_{\text{in}} = n_{\text{clean}} + n_{\text{rejected}} + n_{\text{removed on purpose}}$$</a:t>
            </a:r>
          </a:p>
          <a:p>
            <a:pPr>
              <a:spcAft>
                <a:spcPts val="1000"/>
              </a:spcAft>
            </a:pPr>
            <a:r>
              <a:rPr sz="2100" b="0">
                <a:solidFill>
                  <a:srgbClr val="1C1C1A"/>
                </a:solidFill>
                <a:latin typeface="Calibri"/>
              </a:rPr>
              <a:t>Today, with both duplicate rows kept pending the owner's rule:</a:t>
            </a:r>
          </a:p>
          <a:p>
            <a:pPr>
              <a:spcAft>
                <a:spcPts val="1000"/>
              </a:spcAft>
            </a:pPr>
            <a:r>
              <a:rPr sz="2100" b="0">
                <a:solidFill>
                  <a:srgbClr val="1C1C1A"/>
                </a:solidFill>
                <a:latin typeface="Calibri"/>
              </a:rPr>
              <a:t>$$50 = 44 + 6 + 0$$</a:t>
            </a:r>
          </a:p>
          <a:p>
            <a:pPr>
              <a:spcAft>
                <a:spcPts val="1000"/>
              </a:spcAft>
            </a:pPr>
            <a:r>
              <a:rPr sz="2100" b="0">
                <a:solidFill>
                  <a:srgbClr val="1C1C1A"/>
                </a:solidFill>
                <a:latin typeface="Calibri"/>
              </a:rPr>
              <a:t>The third term is the one that grows as a project matures, and it is the one people forget to print. Every row you remove for a reason belongs in it, and a row removed for no stated reason belongs nowhere, which is the point.</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The whole day, as one runnable check</a:t>
            </a:r>
          </a:p>
        </p:txBody>
      </p:sp>
      <p:sp>
        <p:nvSpPr>
          <p:cNvPr id="5" name="TextBox 4"/>
          <p:cNvSpPr txBox="1"/>
          <p:nvPr/>
        </p:nvSpPr>
        <p:spPr>
          <a:xfrm>
            <a:off x="777240" y="1965960"/>
            <a:ext cx="10607040" cy="1905000"/>
          </a:xfrm>
          <a:prstGeom prst="rect">
            <a:avLst/>
          </a:prstGeom>
          <a:noFill/>
        </p:spPr>
        <p:txBody>
          <a:bodyPr wrap="square">
            <a:spAutoFit/>
          </a:bodyPr>
          <a:lstStyle/>
          <a:p>
            <a:pPr>
              <a:spcAft>
                <a:spcPts val="400"/>
              </a:spcAft>
            </a:pPr>
            <a:r>
              <a:rPr sz="1700" b="0">
                <a:solidFill>
                  <a:srgbClr val="2B4A7D"/>
                </a:solidFill>
                <a:latin typeface="Consolas"/>
              </a:rPr>
              <a:t>print("rows in        ", len(rows))</a:t>
            </a:r>
          </a:p>
          <a:p>
            <a:pPr>
              <a:spcAft>
                <a:spcPts val="400"/>
              </a:spcAft>
            </a:pPr>
            <a:r>
              <a:rPr sz="1700" b="0">
                <a:solidFill>
                  <a:srgbClr val="2B4A7D"/>
                </a:solidFill>
                <a:latin typeface="Consolas"/>
              </a:rPr>
              <a:t>print("clean          ", len(clean))</a:t>
            </a:r>
          </a:p>
          <a:p>
            <a:pPr>
              <a:spcAft>
                <a:spcPts val="400"/>
              </a:spcAft>
            </a:pPr>
            <a:r>
              <a:rPr sz="1700" b="0">
                <a:solidFill>
                  <a:srgbClr val="2B4A7D"/>
                </a:solidFill>
                <a:latin typeface="Consolas"/>
              </a:rPr>
              <a:t>print("rejected       ", len(rejects))</a:t>
            </a:r>
          </a:p>
          <a:p>
            <a:pPr>
              <a:spcAft>
                <a:spcPts val="400"/>
              </a:spcAft>
            </a:pPr>
            <a:r>
              <a:rPr sz="1700" b="0">
                <a:solidFill>
                  <a:srgbClr val="2B4A7D"/>
                </a:solidFill>
                <a:latin typeface="Consolas"/>
              </a:rPr>
              <a:t>print("removed        ", len(removed))</a:t>
            </a:r>
          </a:p>
          <a:p>
            <a:pPr>
              <a:spcAft>
                <a:spcPts val="400"/>
              </a:spcAft>
            </a:pPr>
            <a:r>
              <a:rPr sz="1700" b="0">
                <a:solidFill>
                  <a:srgbClr val="2B4A7D"/>
                </a:solidFill>
                <a:latin typeface="Consolas"/>
              </a:rPr>
              <a:t>assert len(rows) == len(clean) + len(rejects) + len(removed)</a:t>
            </a:r>
          </a:p>
          <a:p>
            <a:pPr>
              <a:spcAft>
                <a:spcPts val="400"/>
              </a:spcAft>
            </a:pPr>
            <a:r>
              <a:rPr sz="1700" b="0">
                <a:solidFill>
                  <a:srgbClr val="2B4A7D"/>
                </a:solidFill>
                <a:latin typeface="Consolas"/>
              </a:rPr>
              <a:t>print("distinct ids   ", len({r["order_id"] for r in rows}))</a:t>
            </a:r>
          </a:p>
          <a:p>
            <a:pPr>
              <a:spcAft>
                <a:spcPts val="400"/>
              </a:spcAft>
            </a:pPr>
            <a:r>
              <a:rPr sz="1700" b="0">
                <a:solidFill>
                  <a:srgbClr val="2B4A7D"/>
                </a:solidFill>
                <a:latin typeface="Consolas"/>
              </a:rPr>
              <a:t>print("flagged extremes", len(flagged))</a:t>
            </a:r>
          </a:p>
        </p:txBody>
      </p:sp>
      <p:sp>
        <p:nvSpPr>
          <p:cNvPr id="6" name="TextBox 5"/>
          <p:cNvSpPr txBox="1"/>
          <p:nvPr/>
        </p:nvSpPr>
        <p:spPr>
          <a:xfrm>
            <a:off x="777240" y="4008119"/>
            <a:ext cx="10607040" cy="1657350"/>
          </a:xfrm>
          <a:prstGeom prst="rect">
            <a:avLst/>
          </a:prstGeom>
          <a:noFill/>
        </p:spPr>
        <p:txBody>
          <a:bodyPr wrap="square">
            <a:spAutoFit/>
          </a:bodyPr>
          <a:lstStyle/>
          <a:p>
            <a:pPr>
              <a:spcAft>
                <a:spcPts val="400"/>
              </a:spcAft>
            </a:pPr>
            <a:r>
              <a:rPr sz="1700" b="0">
                <a:solidFill>
                  <a:srgbClr val="2B4A7D"/>
                </a:solidFill>
                <a:latin typeface="Consolas"/>
              </a:rPr>
              <a:t>rows in         50</a:t>
            </a:r>
          </a:p>
          <a:p>
            <a:pPr>
              <a:spcAft>
                <a:spcPts val="400"/>
              </a:spcAft>
            </a:pPr>
            <a:r>
              <a:rPr sz="1700" b="0">
                <a:solidFill>
                  <a:srgbClr val="2B4A7D"/>
                </a:solidFill>
                <a:latin typeface="Consolas"/>
              </a:rPr>
              <a:t>clean           44</a:t>
            </a:r>
          </a:p>
          <a:p>
            <a:pPr>
              <a:spcAft>
                <a:spcPts val="400"/>
              </a:spcAft>
            </a:pPr>
            <a:r>
              <a:rPr sz="1700" b="0">
                <a:solidFill>
                  <a:srgbClr val="2B4A7D"/>
                </a:solidFill>
                <a:latin typeface="Consolas"/>
              </a:rPr>
              <a:t>rejected        6</a:t>
            </a:r>
          </a:p>
          <a:p>
            <a:pPr>
              <a:spcAft>
                <a:spcPts val="400"/>
              </a:spcAft>
            </a:pPr>
            <a:r>
              <a:rPr sz="1700" b="0">
                <a:solidFill>
                  <a:srgbClr val="2B4A7D"/>
                </a:solidFill>
                <a:latin typeface="Consolas"/>
              </a:rPr>
              <a:t>removed         0</a:t>
            </a:r>
          </a:p>
          <a:p>
            <a:pPr>
              <a:spcAft>
                <a:spcPts val="400"/>
              </a:spcAft>
            </a:pPr>
            <a:r>
              <a:rPr sz="1700" b="0">
                <a:solidFill>
                  <a:srgbClr val="2B4A7D"/>
                </a:solidFill>
                <a:latin typeface="Consolas"/>
              </a:rPr>
              <a:t>distinct ids    49</a:t>
            </a:r>
          </a:p>
          <a:p>
            <a:pPr>
              <a:spcAft>
                <a:spcPts val="400"/>
              </a:spcAft>
            </a:pPr>
            <a:r>
              <a:rPr sz="1700" b="0">
                <a:solidFill>
                  <a:srgbClr val="2B4A7D"/>
                </a:solidFill>
                <a:latin typeface="Consolas"/>
              </a:rPr>
              <a:t>flagged extremes 1</a:t>
            </a:r>
          </a:p>
        </p:txBody>
      </p:sp>
      <p:sp>
        <p:nvSpPr>
          <p:cNvPr id="7" name="TextBox 6"/>
          <p:cNvSpPr txBox="1"/>
          <p:nvPr/>
        </p:nvSpPr>
        <p:spPr>
          <a:xfrm>
            <a:off x="777240" y="5802630"/>
            <a:ext cx="10607040" cy="790575"/>
          </a:xfrm>
          <a:prstGeom prst="rect">
            <a:avLst/>
          </a:prstGeom>
          <a:noFill/>
        </p:spPr>
        <p:txBody>
          <a:bodyPr wrap="square">
            <a:spAutoFit/>
          </a:bodyPr>
          <a:lstStyle/>
          <a:p>
            <a:pPr>
              <a:spcAft>
                <a:spcPts val="1000"/>
              </a:spcAft>
            </a:pPr>
            <a:r>
              <a:rPr sz="2100" b="0">
                <a:solidFill>
                  <a:srgbClr val="1C1C1A"/>
                </a:solidFill>
                <a:latin typeface="Calibri"/>
              </a:rPr>
              <a:t>Seven lines. The assertion catches the arithmetic, and the last two lines carry the two findings that no arithmetic would have caught.</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pPr algn="ctr"/>
            <a:r>
              <a:rPr sz="3600" b="1">
                <a:solidFill>
                  <a:srgbClr val="FFFFFF"/>
                </a:solidFill>
                <a:latin typeface="Calibri"/>
              </a:rPr>
              <a:t>SECTION 6: THE INTERVIEW BLOCK</a:t>
            </a:r>
          </a:p>
        </p:txBody>
      </p:sp>
      <p:sp>
        <p:nvSpPr>
          <p:cNvPr id="4" name="TextBox 3"/>
          <p:cNvSpPr txBox="1"/>
          <p:nvPr/>
        </p:nvSpPr>
        <p:spPr>
          <a:xfrm>
            <a:off x="777240" y="1965960"/>
            <a:ext cx="10607040" cy="790575"/>
          </a:xfrm>
          <a:prstGeom prst="rect">
            <a:avLst/>
          </a:prstGeom>
          <a:noFill/>
        </p:spPr>
        <p:txBody>
          <a:bodyPr wrap="square">
            <a:spAutoFit/>
          </a:bodyPr>
          <a:lstStyle/>
          <a:p>
            <a:pPr algn="ctr">
              <a:spcAft>
                <a:spcPts val="1000"/>
              </a:spcAft>
            </a:pPr>
            <a:r>
              <a:rPr sz="2100" b="0">
                <a:solidFill>
                  <a:srgbClr val="FFFFFF"/>
                </a:solidFill>
                <a:latin typeface="Calibri"/>
              </a:rPr>
              <a:t>[profile the columns] &gt; [decide per field] &gt; [find the hidden rows] &gt; [investigate the extremes] &gt; </a:t>
            </a:r>
            <a:r>
              <a:rPr sz="2100" b="1">
                <a:solidFill>
                  <a:srgbClr val="FFFFFF"/>
                </a:solidFill>
                <a:latin typeface="Calibri"/>
              </a:rPr>
              <a:t>[ship with the log]</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1038225"/>
          </a:xfrm>
          <a:prstGeom prst="rect">
            <a:avLst/>
          </a:prstGeom>
          <a:noFill/>
        </p:spPr>
        <p:txBody>
          <a:bodyPr wrap="square">
            <a:spAutoFit/>
          </a:bodyPr>
          <a:lstStyle/>
          <a:p>
            <a:pPr>
              <a:spcAft>
                <a:spcPts val="1000"/>
              </a:spcAft>
            </a:pPr>
            <a:r>
              <a:rPr sz="2100" b="0">
                <a:solidFill>
                  <a:srgbClr val="1C1C1A"/>
                </a:solidFill>
                <a:latin typeface="Calibri"/>
              </a:rPr>
              <a:t>The first two questions below are on this week's own question set and will be on Saturday's paper.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What this section is</a:t>
            </a:r>
          </a:p>
        </p:txBody>
      </p:sp>
      <p:sp>
        <p:nvSpPr>
          <p:cNvPr id="4" name="TextBox 3"/>
          <p:cNvSpPr txBox="1"/>
          <p:nvPr/>
        </p:nvSpPr>
        <p:spPr>
          <a:xfrm>
            <a:off x="777240" y="1965960"/>
            <a:ext cx="10607040" cy="790575"/>
          </a:xfrm>
          <a:prstGeom prst="rect">
            <a:avLst/>
          </a:prstGeom>
          <a:noFill/>
        </p:spPr>
        <p:txBody>
          <a:bodyPr wrap="square">
            <a:spAutoFit/>
          </a:bodyPr>
          <a:lstStyle/>
          <a:p>
            <a:pPr>
              <a:spcAft>
                <a:spcPts val="1000"/>
              </a:spcAft>
            </a:pPr>
            <a:r>
              <a:rPr sz="2100" b="0">
                <a:solidFill>
                  <a:srgbClr val="1C1C1A"/>
                </a:solidFill>
                <a:latin typeface="Calibri"/>
              </a:rPr>
              <a:t>The first question below is on this week's own question set and will be on Saturday's paper. The rest are asked often enough at this level that this programme puts them in front of you now.</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your cleaning run reported zero rejects on a file you know is dirty</a:t>
            </a:r>
          </a:p>
        </p:txBody>
      </p:sp>
      <p:sp>
        <p:nvSpPr>
          <p:cNvPr id="4" name="TextBox 3"/>
          <p:cNvSpPr txBox="1"/>
          <p:nvPr/>
        </p:nvSpPr>
        <p:spPr>
          <a:xfrm>
            <a:off x="777240" y="1965960"/>
            <a:ext cx="10607040" cy="3638550"/>
          </a:xfrm>
          <a:prstGeom prst="rect">
            <a:avLst/>
          </a:prstGeom>
          <a:noFill/>
        </p:spPr>
        <p:txBody>
          <a:bodyPr wrap="square">
            <a:spAutoFit/>
          </a:bodyPr>
          <a:lstStyle/>
          <a:p>
            <a:pPr>
              <a:spcAft>
                <a:spcPts val="1000"/>
              </a:spcAft>
            </a:pPr>
            <a:r>
              <a:rPr sz="2100" b="0">
                <a:solidFill>
                  <a:srgbClr val="1C1C1A"/>
                </a:solidFill>
                <a:latin typeface="Calibri"/>
              </a:rPr>
              <a:t>This is on the week's question set, and it is tagged as a differentiator, which means most candidates give a vague answer.</a:t>
            </a:r>
          </a:p>
          <a:p>
            <a:pPr>
              <a:spcAft>
                <a:spcPts val="1000"/>
              </a:spcAft>
            </a:pPr>
            <a:r>
              <a:rPr sz="2100" b="1">
                <a:solidFill>
                  <a:srgbClr val="1C1C1A"/>
                </a:solidFill>
                <a:latin typeface="Calibri"/>
              </a:rPr>
              <a:t>What it is really testing.</a:t>
            </a:r>
            <a:r>
              <a:rPr sz="2100" b="0">
                <a:solidFill>
                  <a:srgbClr val="1C1C1A"/>
                </a:solidFill>
                <a:latin typeface="Calibri"/>
              </a:rPr>
              <a:t> Whether you can debug a result that looks good, which is much harder than debugging a crash.</a:t>
            </a:r>
          </a:p>
          <a:p>
            <a:pPr>
              <a:spcAft>
                <a:spcPts val="1000"/>
              </a:spcAft>
            </a:pPr>
            <a:r>
              <a:rPr sz="2100" b="1">
                <a:solidFill>
                  <a:srgbClr val="1C1C1A"/>
                </a:solidFill>
                <a:latin typeface="Calibri"/>
              </a:rPr>
              <a:t>The answer, in three beats.</a:t>
            </a:r>
            <a:r>
              <a:rPr sz="2100" b="0">
                <a:solidFill>
                  <a:srgbClr val="1C1C1A"/>
                </a:solidFill>
                <a:latin typeface="Calibri"/>
              </a:rPr>
              <a:t> First I check whether anything could have been rejected at all: a bare except with a pass, or a coerce-everything branch that turns failures into zero, reports zero rejects by construction. Second I check the counts reconcile, because input equals clean plus rejected only tells me something when I compute all three and compare. Third I check that the dirt I am looking for is the dirt the code tests for, since a value can be present, convertible and still wrong.</a:t>
            </a:r>
          </a:p>
          <a:p>
            <a:pPr>
              <a:spcAft>
                <a:spcPts val="1000"/>
              </a:spcAft>
            </a:pPr>
            <a:r>
              <a:rPr sz="2100" b="1">
                <a:solidFill>
                  <a:srgbClr val="1C1C1A"/>
                </a:solidFill>
                <a:latin typeface="Calibri"/>
              </a:rPr>
              <a:t>The follow-up.</a:t>
            </a:r>
            <a:r>
              <a:rPr sz="2100" b="0">
                <a:solidFill>
                  <a:srgbClr val="1C1C1A"/>
                </a:solidFill>
                <a:latin typeface="Calibri"/>
              </a:rPr>
              <a:t> "Give me an example of the third one." A negative order amount. It converts perfectly and it is not a valid order, so a presence check and a type check both pass it.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the version that separates you from the room</a:t>
            </a:r>
          </a:p>
        </p:txBody>
      </p:sp>
      <p:sp>
        <p:nvSpPr>
          <p:cNvPr id="5" name="TextBox 4"/>
          <p:cNvSpPr txBox="1"/>
          <p:nvPr/>
        </p:nvSpPr>
        <p:spPr>
          <a:xfrm>
            <a:off x="777240" y="1965960"/>
            <a:ext cx="10607040" cy="2276475"/>
          </a:xfrm>
          <a:prstGeom prst="rect">
            <a:avLst/>
          </a:prstGeom>
          <a:noFill/>
        </p:spPr>
        <p:txBody>
          <a:bodyPr wrap="square">
            <a:spAutoFit/>
          </a:bodyPr>
          <a:lstStyle/>
          <a:p>
            <a:pPr>
              <a:spcAft>
                <a:spcPts val="1000"/>
              </a:spcAft>
            </a:pPr>
            <a:r>
              <a:rPr sz="2100" b="0">
                <a:solidFill>
                  <a:srgbClr val="1C1C1A"/>
                </a:solidFill>
                <a:latin typeface="Calibri"/>
              </a:rPr>
              <a:t>Add the direction-of-movement argument, because almost nobody does.</a:t>
            </a:r>
          </a:p>
          <a:p>
            <a:pPr>
              <a:spcAft>
                <a:spcPts val="1000"/>
              </a:spcAft>
            </a:pPr>
            <a:r>
              <a:rPr sz="2100" b="0">
                <a:solidFill>
                  <a:srgbClr val="1C1C1A"/>
                </a:solidFill>
                <a:latin typeface="Calibri"/>
              </a:rPr>
              <a:t>Say that you look at which counts moved and in which direction. A fix that improves every count at once is suspicious, because real cleaning trades one count against another: rejecting bad rows lowers your usable count, and recovering values raises it while lowering your reject count. A run where present, converts and the reject count all improved together did not clean the data, it filled it.</a:t>
            </a:r>
          </a:p>
          <a:p>
            <a:pPr>
              <a:spcAft>
                <a:spcPts val="1000"/>
              </a:spcAft>
            </a:pPr>
            <a:r>
              <a:rPr sz="2100" b="0">
                <a:solidFill>
                  <a:srgbClr val="1C1C1A"/>
                </a:solidFill>
                <a:latin typeface="Calibri"/>
              </a:rPr>
              <a:t>Then name distinct, and say it is the only count that falls when values are silently collapsed.</a:t>
            </a:r>
          </a:p>
        </p:txBody>
      </p:sp>
      <p:sp>
        <p:nvSpPr>
          <p:cNvPr id="6" name="TextBox 5"/>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what is data profiling and why do it before cleaning</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Profiling is measuring a dataset before changing it, so that every later change can be justified against a number. At minimum I compute, per field, how many values are present, how many convert to the type I need, and how many distinct values there are. Doing it first matters because after you clean, you have no baseline left, so you cannot say what you changed or prove you did not lose anything.</a:t>
            </a:r>
          </a:p>
          <a:p>
            <a:pPr>
              <a:spcAft>
                <a:spcPts val="1000"/>
              </a:spcAft>
            </a:pPr>
            <a:r>
              <a:rPr sz="2100" b="1">
                <a:solidFill>
                  <a:srgbClr val="1C1C1A"/>
                </a:solidFill>
                <a:latin typeface="Calibri"/>
              </a:rPr>
              <a:t>The follow-up.</a:t>
            </a:r>
            <a:r>
              <a:rPr sz="2100" b="0">
                <a:solidFill>
                  <a:srgbClr val="1C1C1A"/>
                </a:solidFill>
                <a:latin typeface="Calibri"/>
              </a:rPr>
              <a:t> "What would you add for a bigger dataset?" The minimum and maximum for numeric fields, the most frequent values for categorical ones, and a sample of the values that failed conversion, since the count alone does not tell me whether six failures are one problem or three.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a column is 40 percent empty, what do you do</a:t>
            </a:r>
          </a:p>
        </p:txBody>
      </p:sp>
      <p:sp>
        <p:nvSpPr>
          <p:cNvPr id="4" name="TextBox 3"/>
          <p:cNvSpPr txBox="1"/>
          <p:nvPr/>
        </p:nvSpPr>
        <p:spPr>
          <a:xfrm>
            <a:off x="777240" y="1965960"/>
            <a:ext cx="10607040" cy="24003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I do not do anything to the column until I know what absence means there, because the same 40 percent can be three different situations. If the field is required for the question, those rows are unusable and go to rejects with a reason. If absence carries meaning, such as no discount having been applied, then absence is the fact and filling it destroys it. If I genuinely need a value and absence is meaningless, I use a stated default and I write down what I stated, knowing I have given up the ability to tell absent from default.</a:t>
            </a:r>
          </a:p>
          <a:p>
            <a:pPr>
              <a:spcAft>
                <a:spcPts val="1000"/>
              </a:spcAft>
            </a:pPr>
            <a:r>
              <a:rPr sz="2100" b="1">
                <a:solidFill>
                  <a:srgbClr val="1C1C1A"/>
                </a:solidFill>
                <a:latin typeface="Calibri"/>
              </a:rPr>
              <a:t>The follow-up.</a:t>
            </a:r>
            <a:r>
              <a:rPr sz="2100" b="0">
                <a:solidFill>
                  <a:srgbClr val="1C1C1A"/>
                </a:solidFill>
                <a:latin typeface="Calibri"/>
              </a:rPr>
              <a:t> "Which of those is today's discount column?" The second one. It is absent on 39 of 50 orders and that absence means no discount was applied, so it stays absent.</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1: how do you find duplicates in a dataset</a:t>
            </a:r>
          </a:p>
        </p:txBody>
      </p:sp>
      <p:sp>
        <p:nvSpPr>
          <p:cNvPr id="4" name="TextBox 3"/>
          <p:cNvSpPr txBox="1"/>
          <p:nvPr/>
        </p:nvSpPr>
        <p:spPr>
          <a:xfrm>
            <a:off x="777240" y="1965960"/>
            <a:ext cx="10607040" cy="3267075"/>
          </a:xfrm>
          <a:prstGeom prst="rect">
            <a:avLst/>
          </a:prstGeom>
          <a:noFill/>
        </p:spPr>
        <p:txBody>
          <a:bodyPr wrap="square">
            <a:spAutoFit/>
          </a:bodyPr>
          <a:lstStyle/>
          <a:p>
            <a:pPr>
              <a:spcAft>
                <a:spcPts val="1000"/>
              </a:spcAft>
            </a:pPr>
            <a:r>
              <a:rPr sz="2100" b="1">
                <a:solidFill>
                  <a:srgbClr val="1C1C1A"/>
                </a:solidFill>
                <a:latin typeface="Calibri"/>
              </a:rPr>
              <a:t>What it is really testing.</a:t>
            </a:r>
            <a:r>
              <a:rPr sz="2100" b="0">
                <a:solidFill>
                  <a:srgbClr val="1C1C1A"/>
                </a:solidFill>
                <a:latin typeface="Calibri"/>
              </a:rPr>
              <a:t> Whether you know that duplicate is a business definition rather than a technical one.</a:t>
            </a:r>
          </a:p>
          <a:p>
            <a:pPr>
              <a:spcAft>
                <a:spcPts val="1000"/>
              </a:spcAft>
            </a:pPr>
            <a:r>
              <a:rPr sz="2100" b="1">
                <a:solidFill>
                  <a:srgbClr val="1C1C1A"/>
                </a:solidFill>
                <a:latin typeface="Calibri"/>
              </a:rPr>
              <a:t>The answer, in three beats.</a:t>
            </a:r>
            <a:r>
              <a:rPr sz="2100" b="0">
                <a:solidFill>
                  <a:srgbClr val="1C1C1A"/>
                </a:solidFill>
                <a:latin typeface="Calibri"/>
              </a:rPr>
              <a:t> I start with the cheap checks and print them together: the whole-record comparison, and the count of distinct identifiers against the row count. When those two disagree, I have rows claiming to be the same thing while differing somewhere. Then I stop coding and write the identity rule, which names the fields that decide whether two rows are the same real thing. In today's file the whole-record check found nothing and the identifier count found one pair, so the finding was in the disagreement rather than in either number.</a:t>
            </a:r>
          </a:p>
          <a:p>
            <a:pPr>
              <a:spcAft>
                <a:spcPts val="1000"/>
              </a:spcAft>
            </a:pPr>
            <a:r>
              <a:rPr sz="2100" b="1">
                <a:solidFill>
                  <a:srgbClr val="1C1C1A"/>
                </a:solidFill>
                <a:latin typeface="Calibri"/>
              </a:rPr>
              <a:t>The follow-up.</a:t>
            </a:r>
            <a:r>
              <a:rPr sz="2100" b="0">
                <a:solidFill>
                  <a:srgbClr val="1C1C1A"/>
                </a:solidFill>
                <a:latin typeface="Calibri"/>
              </a:rPr>
              <a:t> "Which one do you delete?" Neither, until the person who owns the data has agreed the rule, because deleting a real order and double counting one are both silent errors and they cost opposite things.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how do you handle outliers</a:t>
            </a:r>
          </a:p>
        </p:txBody>
      </p:sp>
      <p:sp>
        <p:nvSpPr>
          <p:cNvPr id="4" name="TextBox 3"/>
          <p:cNvSpPr txBox="1"/>
          <p:nvPr/>
        </p:nvSpPr>
        <p:spPr>
          <a:xfrm>
            <a:off x="777240" y="1965960"/>
            <a:ext cx="10607040" cy="3019425"/>
          </a:xfrm>
          <a:prstGeom prst="rect">
            <a:avLst/>
          </a:prstGeom>
          <a:noFill/>
        </p:spPr>
        <p:txBody>
          <a:bodyPr wrap="square">
            <a:spAutoFit/>
          </a:bodyPr>
          <a:lstStyle/>
          <a:p>
            <a:pPr>
              <a:spcAft>
                <a:spcPts val="1000"/>
              </a:spcAft>
            </a:pPr>
            <a:r>
              <a:rPr sz="2100" b="1">
                <a:solidFill>
                  <a:srgbClr val="1C1C1A"/>
                </a:solidFill>
                <a:latin typeface="Calibri"/>
              </a:rPr>
              <a:t>What it is really testing.</a:t>
            </a:r>
            <a:r>
              <a:rPr sz="2100" b="0">
                <a:solidFill>
                  <a:srgbClr val="1C1C1A"/>
                </a:solidFill>
                <a:latin typeface="Calibri"/>
              </a:rPr>
              <a:t> Whether you reach for a deletion or a question.</a:t>
            </a:r>
          </a:p>
          <a:p>
            <a:pPr>
              <a:spcAft>
                <a:spcPts val="1000"/>
              </a:spcAft>
            </a:pPr>
            <a:r>
              <a:rPr sz="2100" b="1">
                <a:solidFill>
                  <a:srgbClr val="1C1C1A"/>
                </a:solidFill>
                <a:latin typeface="Calibri"/>
              </a:rPr>
              <a:t>The answer, in three beats.</a:t>
            </a:r>
            <a:r>
              <a:rPr sz="2100" b="0">
                <a:solidFill>
                  <a:srgbClr val="1C1C1A"/>
                </a:solidFill>
                <a:latin typeface="Calibri"/>
              </a:rPr>
              <a:t> First I check whether it is even an outlier: a value that fails to convert is a parsing problem wearing an outlier costume. Then I check whether the rest of the record is consistent, because a malformed record and a large one need different responses. If it converts cleanly and the record is complete, it is real until somebody who owns the data says otherwise, so I keep it, flag it, and carry the flag downstream.</a:t>
            </a:r>
          </a:p>
          <a:p>
            <a:pPr>
              <a:spcAft>
                <a:spcPts val="1000"/>
              </a:spcAft>
            </a:pPr>
            <a:r>
              <a:rPr sz="2100" b="1">
                <a:solidFill>
                  <a:srgbClr val="1C1C1A"/>
                </a:solidFill>
                <a:latin typeface="Calibri"/>
              </a:rPr>
              <a:t>The follow-up.</a:t>
            </a:r>
            <a:r>
              <a:rPr sz="2100" b="0">
                <a:solidFill>
                  <a:srgbClr val="1C1C1A"/>
                </a:solidFill>
                <a:latin typeface="Calibri"/>
              </a:rPr>
              <a:t> "How do you decide what counts as extreme?" I sort and read the tail first, because that is the only method that shows me actual values. Then a fence if I need a rule somebody can reproduce, and I say the multiplier out loud because it is a convention rather than a law. Best of all is a threshold from somebody who knows the business.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195560" y="384048"/>
            <a:ext cx="1188720" cy="310896"/>
          </a:xfrm>
          <a:prstGeom prst="roundRect">
            <a:avLst/>
          </a:prstGeom>
          <a:solidFill>
            <a:srgbClr val="2B4A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100" b="1">
                <a:solidFill>
                  <a:srgbClr val="FFFFFF"/>
                </a:solidFill>
                <a:latin typeface="Calibri"/>
              </a:rPr>
              <a:t>DEPTH</a:t>
            </a:r>
          </a:p>
        </p:txBody>
      </p:sp>
      <p:sp>
        <p:nvSpPr>
          <p:cNvPr id="4" name="TextBox 3"/>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2, the numbers that make it land</a:t>
            </a:r>
          </a:p>
        </p:txBody>
      </p:sp>
      <p:sp>
        <p:nvSpPr>
          <p:cNvPr id="5" name="TextBox 4"/>
          <p:cNvSpPr txBox="1"/>
          <p:nvPr/>
        </p:nvSpPr>
        <p:spPr>
          <a:xfrm>
            <a:off x="777240" y="1965960"/>
            <a:ext cx="10607040" cy="542925"/>
          </a:xfrm>
          <a:prstGeom prst="rect">
            <a:avLst/>
          </a:prstGeom>
          <a:noFill/>
        </p:spPr>
        <p:txBody>
          <a:bodyPr wrap="square">
            <a:spAutoFit/>
          </a:bodyPr>
          <a:lstStyle/>
          <a:p>
            <a:pPr>
              <a:spcAft>
                <a:spcPts val="1000"/>
              </a:spcAft>
            </a:pPr>
            <a:r>
              <a:rPr sz="2100" b="0">
                <a:solidFill>
                  <a:srgbClr val="1C1C1A"/>
                </a:solidFill>
                <a:latin typeface="Calibri"/>
              </a:rPr>
              <a:t>Bring the contrast, not the principle.</a:t>
            </a:r>
          </a:p>
        </p:txBody>
      </p:sp>
      <p:sp>
        <p:nvSpPr>
          <p:cNvPr id="6" name="TextBox 5"/>
          <p:cNvSpPr txBox="1"/>
          <p:nvPr/>
        </p:nvSpPr>
        <p:spPr>
          <a:xfrm>
            <a:off x="777240" y="2646045"/>
            <a:ext cx="10607040" cy="666750"/>
          </a:xfrm>
          <a:prstGeom prst="rect">
            <a:avLst/>
          </a:prstGeom>
          <a:noFill/>
        </p:spPr>
        <p:txBody>
          <a:bodyPr wrap="square">
            <a:spAutoFit/>
          </a:bodyPr>
          <a:lstStyle/>
          <a:p>
            <a:pPr>
              <a:spcAft>
                <a:spcPts val="400"/>
              </a:spcAft>
            </a:pPr>
            <a:r>
              <a:rPr sz="1700" b="0">
                <a:solidFill>
                  <a:srgbClr val="2B4A7D"/>
                </a:solidFill>
                <a:latin typeface="Consolas"/>
              </a:rPr>
              <a:t>with the Rs 480,000 order:     mean Rs 12,753.30    median Rs 1,910</a:t>
            </a:r>
          </a:p>
          <a:p>
            <a:pPr>
              <a:spcAft>
                <a:spcPts val="400"/>
              </a:spcAft>
            </a:pPr>
            <a:r>
              <a:rPr sz="1700" b="0">
                <a:solidFill>
                  <a:srgbClr val="2B4A7D"/>
                </a:solidFill>
                <a:latin typeface="Consolas"/>
              </a:rPr>
              <a:t>without it:                    mean Rs  1,887.09    median Rs 1,865</a:t>
            </a:r>
          </a:p>
        </p:txBody>
      </p:sp>
      <p:sp>
        <p:nvSpPr>
          <p:cNvPr id="7" name="TextBox 6"/>
          <p:cNvSpPr txBox="1"/>
          <p:nvPr/>
        </p:nvSpPr>
        <p:spPr>
          <a:xfrm>
            <a:off x="777240" y="3449954"/>
            <a:ext cx="10607040" cy="1038225"/>
          </a:xfrm>
          <a:prstGeom prst="rect">
            <a:avLst/>
          </a:prstGeom>
          <a:noFill/>
        </p:spPr>
        <p:txBody>
          <a:bodyPr wrap="square">
            <a:spAutoFit/>
          </a:bodyPr>
          <a:lstStyle/>
          <a:p>
            <a:pPr>
              <a:spcAft>
                <a:spcPts val="1000"/>
              </a:spcAft>
            </a:pPr>
            <a:r>
              <a:rPr sz="2100" b="0">
                <a:solidFill>
                  <a:srgbClr val="1C1C1A"/>
                </a:solidFill>
                <a:latin typeface="Calibri"/>
              </a:rPr>
              <a:t>One row moved the mean by nearly seven times and the median by Rs 45. Say those four numbers and you have made the case for investigating rather than deleting, and for reporting a median on a money column, in one breath.</a:t>
            </a:r>
          </a:p>
        </p:txBody>
      </p:sp>
      <p:sp>
        <p:nvSpPr>
          <p:cNvPr id="8" name="TextBox 7"/>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3: what is a decisions log and why does it matter</a:t>
            </a:r>
          </a:p>
        </p:txBody>
      </p:sp>
      <p:sp>
        <p:nvSpPr>
          <p:cNvPr id="4" name="TextBox 3"/>
          <p:cNvSpPr txBox="1"/>
          <p:nvPr/>
        </p:nvSpPr>
        <p:spPr>
          <a:xfrm>
            <a:off x="777240" y="1965960"/>
            <a:ext cx="10607040" cy="2771775"/>
          </a:xfrm>
          <a:prstGeom prst="rect">
            <a:avLst/>
          </a:prstGeom>
          <a:noFill/>
        </p:spPr>
        <p:txBody>
          <a:bodyPr wrap="square">
            <a:spAutoFit/>
          </a:bodyPr>
          <a:lstStyle/>
          <a:p>
            <a:pPr>
              <a:spcAft>
                <a:spcPts val="1000"/>
              </a:spcAft>
            </a:pPr>
            <a:r>
              <a:rPr sz="2100" b="0">
                <a:solidFill>
                  <a:srgbClr val="1C1C1A"/>
                </a:solidFill>
                <a:latin typeface="Calibri"/>
              </a:rPr>
              <a:t>This programme's own calibration, and it is the question that separates a person who cleaned data from a person who can hand the work over.</a:t>
            </a:r>
          </a:p>
          <a:p>
            <a:pPr>
              <a:spcAft>
                <a:spcPts val="1000"/>
              </a:spcAft>
            </a:pPr>
            <a:r>
              <a:rPr sz="2100" b="1">
                <a:solidFill>
                  <a:srgbClr val="1C1C1A"/>
                </a:solidFill>
                <a:latin typeface="Calibri"/>
              </a:rPr>
              <a:t>The answer.</a:t>
            </a:r>
            <a:r>
              <a:rPr sz="2100" b="0">
                <a:solidFill>
                  <a:srgbClr val="1C1C1A"/>
                </a:solidFill>
                <a:latin typeface="Calibri"/>
              </a:rPr>
              <a:t> It is a record of every change made to a dataset, with the count affected and the reason. It matters because cleaning destroys the evidence of what the data used to be, so the log is the only thing that lets a reviewer reproduce or challenge my judgement. Without it, the cleaned file is my opinion of the data rather than a defensible version of it.</a:t>
            </a:r>
          </a:p>
          <a:p>
            <a:pPr>
              <a:spcAft>
                <a:spcPts val="1000"/>
              </a:spcAft>
            </a:pPr>
            <a:r>
              <a:rPr sz="2100" b="1">
                <a:solidFill>
                  <a:srgbClr val="1C1C1A"/>
                </a:solidFill>
                <a:latin typeface="Calibri"/>
              </a:rPr>
              <a:t>The follow-up.</a:t>
            </a:r>
            <a:r>
              <a:rPr sz="2100" b="0">
                <a:solidFill>
                  <a:srgbClr val="1C1C1A"/>
                </a:solidFill>
                <a:latin typeface="Calibri"/>
              </a:rPr>
              <a:t> "What goes in a line?" What was affected, how many rows, what I did, why, and where the evidence went. The why is the only column that cannot be generated automatically, and it is the whole value.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Question 4: what does it mean to reconcile a load</a:t>
            </a:r>
          </a:p>
        </p:txBody>
      </p:sp>
      <p:sp>
        <p:nvSpPr>
          <p:cNvPr id="4" name="TextBox 3"/>
          <p:cNvSpPr txBox="1"/>
          <p:nvPr/>
        </p:nvSpPr>
        <p:spPr>
          <a:xfrm>
            <a:off x="777240" y="1965960"/>
            <a:ext cx="10607040" cy="1905000"/>
          </a:xfrm>
          <a:prstGeom prst="rect">
            <a:avLst/>
          </a:prstGeom>
          <a:noFill/>
        </p:spPr>
        <p:txBody>
          <a:bodyPr wrap="square">
            <a:spAutoFit/>
          </a:bodyPr>
          <a:lstStyle/>
          <a:p>
            <a:pPr>
              <a:spcAft>
                <a:spcPts val="1000"/>
              </a:spcAft>
            </a:pPr>
            <a:r>
              <a:rPr sz="2100" b="1">
                <a:solidFill>
                  <a:srgbClr val="1C1C1A"/>
                </a:solidFill>
                <a:latin typeface="Calibri"/>
              </a:rPr>
              <a:t>The answer.</a:t>
            </a:r>
            <a:r>
              <a:rPr sz="2100" b="0">
                <a:solidFill>
                  <a:srgbClr val="1C1C1A"/>
                </a:solidFill>
                <a:latin typeface="Calibri"/>
              </a:rPr>
              <a:t> It means proving that every row that arrived is accounted for. Input equals clean plus rejected plus anything removed on purpose, computed rather than assumed, and written as an assertion so it fails loudly. Today that reads fifty equals forty four plus six plus zero.</a:t>
            </a:r>
          </a:p>
          <a:p>
            <a:pPr>
              <a:spcAft>
                <a:spcPts val="1000"/>
              </a:spcAft>
            </a:pPr>
            <a:r>
              <a:rPr sz="2100" b="1">
                <a:solidFill>
                  <a:srgbClr val="1C1C1A"/>
                </a:solidFill>
                <a:latin typeface="Calibri"/>
              </a:rPr>
              <a:t>The follow-up.</a:t>
            </a:r>
            <a:r>
              <a:rPr sz="2100" b="0">
                <a:solidFill>
                  <a:srgbClr val="1C1C1A"/>
                </a:solidFill>
                <a:latin typeface="Calibri"/>
              </a:rPr>
              <a:t> "What if it does not balance?" Then I stop and do not publish the number, because something was dropped and I do not yet know what. A total that does not reconcile is not a number, it is a guess with decimal places.</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Crux</a:t>
            </a:r>
          </a:p>
        </p:txBody>
      </p:sp>
      <p:sp>
        <p:nvSpPr>
          <p:cNvPr id="4" name="TextBox 3"/>
          <p:cNvSpPr txBox="1"/>
          <p:nvPr/>
        </p:nvSpPr>
        <p:spPr>
          <a:xfrm>
            <a:off x="777240" y="1965960"/>
            <a:ext cx="10607040" cy="1533525"/>
          </a:xfrm>
          <a:prstGeom prst="rect">
            <a:avLst/>
          </a:prstGeom>
          <a:noFill/>
        </p:spPr>
        <p:txBody>
          <a:bodyPr wrap="square">
            <a:spAutoFit/>
          </a:bodyPr>
          <a:lstStyle/>
          <a:p>
            <a:pPr>
              <a:spcAft>
                <a:spcPts val="1000"/>
              </a:spcAft>
            </a:pPr>
            <a:r>
              <a:rPr sz="2100" b="0">
                <a:solidFill>
                  <a:srgbClr val="1C1C1A"/>
                </a:solidFill>
                <a:latin typeface="Calibri"/>
              </a:rPr>
              <a:t>Profiling is what you do before you have permission to change anything.</a:t>
            </a:r>
          </a:p>
          <a:p>
            <a:pPr>
              <a:spcAft>
                <a:spcPts val="1000"/>
              </a:spcAft>
            </a:pPr>
            <a:r>
              <a:rPr sz="2100" b="0">
                <a:solidFill>
                  <a:srgbClr val="1C1C1A"/>
                </a:solidFill>
                <a:latin typeface="Calibri"/>
              </a:rPr>
              <a:t>Every cleaning act is a decision, and a decision nobody wrote down did not happen.</a:t>
            </a:r>
          </a:p>
          <a:p>
            <a:pPr>
              <a:spcAft>
                <a:spcPts val="1000"/>
              </a:spcAft>
            </a:pPr>
            <a:r>
              <a:rPr sz="2100" b="0">
                <a:solidFill>
                  <a:srgbClr val="1C1C1A"/>
                </a:solidFill>
                <a:latin typeface="Calibri"/>
              </a:rPr>
              <a:t>An outlier is a finding to investigate before it is a row to delete, and two checks that disagree are worth more than one check that says zero.</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640080"/>
            <a:ext cx="10607040" cy="1188720"/>
          </a:xfrm>
          <a:prstGeom prst="rect">
            <a:avLst/>
          </a:prstGeom>
          <a:noFill/>
        </p:spPr>
        <p:txBody>
          <a:bodyPr wrap="square">
            <a:spAutoFit/>
          </a:bodyPr>
          <a:lstStyle/>
          <a:p>
            <a:r>
              <a:rPr sz="3200" b="1">
                <a:solidFill>
                  <a:srgbClr val="1C1C1A"/>
                </a:solidFill>
                <a:latin typeface="Calibri"/>
              </a:rPr>
              <a:t>Tomorrow</a:t>
            </a:r>
          </a:p>
        </p:txBody>
      </p:sp>
      <p:sp>
        <p:nvSpPr>
          <p:cNvPr id="4" name="TextBox 3"/>
          <p:cNvSpPr txBox="1"/>
          <p:nvPr/>
        </p:nvSpPr>
        <p:spPr>
          <a:xfrm>
            <a:off x="777240" y="1965960"/>
            <a:ext cx="10607040" cy="1409700"/>
          </a:xfrm>
          <a:prstGeom prst="rect">
            <a:avLst/>
          </a:prstGeom>
          <a:noFill/>
        </p:spPr>
        <p:txBody>
          <a:bodyPr wrap="square">
            <a:spAutoFit/>
          </a:bodyPr>
          <a:lstStyle/>
          <a:p>
            <a:pPr>
              <a:spcAft>
                <a:spcPts val="1000"/>
              </a:spcAft>
            </a:pPr>
            <a:r>
              <a:rPr sz="2100" b="0">
                <a:solidFill>
                  <a:srgbClr val="1C1C1A"/>
                </a:solidFill>
                <a:latin typeface="Calibri"/>
              </a:rPr>
              <a:t>You have a dataset you can defend and a whale you decided to keep.</a:t>
            </a:r>
          </a:p>
          <a:p>
            <a:pPr>
              <a:spcAft>
                <a:spcPts val="1000"/>
              </a:spcAft>
            </a:pPr>
            <a:r>
              <a:rPr sz="2100" b="0">
                <a:solidFill>
                  <a:srgbClr val="1C1C1A"/>
                </a:solidFill>
                <a:latin typeface="Calibri"/>
              </a:rPr>
              <a:t>Tomorrow you compute the average order value and find out what that whale does to it. You have already seen the answer on slide D14, and tomorrow you learn what to say to the person who asked for an average.</a:t>
            </a:r>
          </a:p>
        </p:txBody>
      </p:sp>
      <p:sp>
        <p:nvSpPr>
          <p:cNvPr id="5" name="TextBox 4"/>
          <p:cNvSpPr txBox="1"/>
          <p:nvPr/>
        </p:nvSpPr>
        <p:spPr>
          <a:xfrm>
            <a:off x="777240" y="6309360"/>
            <a:ext cx="10607040" cy="365760"/>
          </a:xfrm>
          <a:prstGeom prst="rect">
            <a:avLst/>
          </a:prstGeom>
          <a:noFill/>
        </p:spPr>
        <p:txBody>
          <a:bodyPr wrap="none">
            <a:spAutoFit/>
          </a:bodyPr>
          <a:lstStyle/>
          <a:p>
            <a:r>
              <a:rPr sz="1000">
                <a:solidFill>
                  <a:srgbClr val="5F6360"/>
                </a:solidFill>
                <a:latin typeface="Calibri"/>
              </a:rPr>
              <a:t>Week 1 Day 3: profile before you touch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