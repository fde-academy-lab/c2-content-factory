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reply aloud and leave it on screen. Tuesday's finding went to the</a:t>
            </a:r>
          </a:p>
          <a:p>
            <a:r>
              <a:t>leadership group last night, and this is the first reply. The day is one question climbed in five</a:t>
            </a:r>
          </a:p>
          <a:p>
            <a:r>
              <a:t>rungs: which Q1 figure is right, and can we prove it to an analyst who ties out to the rupee.</a:t>
            </a:r>
          </a:p>
          <a:p>
            <a:r>
              <a:t>Say the shape once: three rounds this block, the full pass alone after lunch, then the auditor.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no Python. The job of this chapter is to list every way an export could</a:t>
            </a:r>
          </a:p>
          <a:p>
            <a:r>
              <a:t>produce either figure before anybody opens the file, so the room knows what it is looking for.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Kalpa is fictional; the reply is the kind every analyst gets in the first month.</a:t>
            </a:r>
          </a:p>
          <a:p>
            <a:r>
              <a:t>Ask: whose number do you trust before looking at anything? Most say Finance. The honest answer is</a:t>
            </a:r>
          </a:p>
          <a:p>
            <a:r>
              <a:t>neither yet: both are computed correctly from something, and the job is to find what.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reconciliation has several readers. Separate the four questions now and say</a:t>
            </a:r>
          </a:p>
          <a:p>
            <a:r>
              <a:t>when each gets answered: the first three by the end of this block, the auditor after lunch.</a:t>
            </a:r>
          </a:p>
          <a:p>
            <a:r>
              <a:t>Watch for: learners who want to start coding. Hold them; the next slide is the thinking.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Collect a way per branch from the room before the answer slide. Expect</a:t>
            </a:r>
          </a:p>
          <a:p>
            <a:r>
              <a:t>duplicates from a migration, a text amount read as something else, returns counted as sales,</a:t>
            </a:r>
          </a:p>
          <a:p>
            <a:r>
              <a:t>and a date window that differs. The point is the list, not the letter.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for cost rather than likelihood. Say that the ERP note about a</a:t>
            </a:r>
          </a:p>
          <a:p>
            <a:r>
              <a:t>stitched CSV makes branch a more likely too, but the reason to go first is that it is cheap.</a:t>
            </a:r>
          </a:p>
          <a:p>
            <a:r>
              <a:t>Transition: every one of these checks needs the file profiled first.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on the board with the room and leave it up all day. The decisions log</a:t>
            </a:r>
          </a:p>
          <a:p>
            <a:r>
              <a:t>is the dotted arrow: it is written as you go, never reconstructed at the end.</a:t>
            </a:r>
          </a:p>
          <a:p>
            <a:r>
              <a:t>Say: Tuesday skipped the first box, and today we find out what that cost.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Round 1 is rung 1, round 2 is rungs 2 and 3, round 3 is rungs 4 and 5. The</a:t>
            </a:r>
          </a:p>
          <a:p>
            <a:r>
              <a:t>escalated case after lunch runs all five alone on the same file.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the question and its picture (5), the demonstration (15), the trap (10),</a:t>
            </a:r>
          </a:p>
          <a:p>
            <a:r>
              <a:t>the room's harder variant (15), Kavya's review (5). Notebook 01_profile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three counts per field are the whole of profiling at this level. Ask what</a:t>
            </a:r>
          </a:p>
          <a:p>
            <a:r>
              <a:t>"distinct" tells you about order_id that "present" cannot. Someone will say: whether ids repeat.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notebook 01, section 1. Type open("orders.csv") first and let it fail: two</a:t>
            </a:r>
          </a:p>
          <a:p>
            <a:r>
              <a:t>minutes on the last line, which names the path Python looked in. The exports live in ../data/.</a:t>
            </a:r>
          </a:p>
          <a:p>
            <a:r>
              <a:t>Then run the real read. Ask: what does "900" &lt; "1200" give? False, because text compares by</a:t>
            </a:r>
          </a:p>
          <a:p>
            <a:r>
              <a:t>character. That is why conversion is a decision.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notebook 01, section 2. Read the table row by row. The discount gap is Tuesday's</a:t>
            </a:r>
          </a:p>
          <a:p>
            <a:r>
              <a:t>optional field and is expected. The other three are today's. Do not explain any of them yet.</a:t>
            </a:r>
          </a:p>
          <a:p>
            <a:r>
              <a:t>When the room runs int() over the amounts, the loop stops with a ValueError: two minutes, read</a:t>
            </a:r>
          </a:p>
          <a:p>
            <a:r>
              <a:t>the last line aloud, write the value down, and move on. That is an error, not the lesson.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same counts as a picture. Presence alone hides the two biggest</a:t>
            </a:r>
          </a:p>
          <a:p>
            <a:r>
              <a:t>problems, which is why a profile carries three counts, not 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Option a is the common slip, reading the gap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Option c is ruled out by the profile: order_id is present on</a:t>
            </a:r>
          </a:p>
          <a:p>
            <a:r>
              <a:t>all 201. Option d waits for something the count already told us. Transition: before rupees,</a:t>
            </a:r>
          </a:p>
          <a:p>
            <a:r>
              <a:t>the amounts have to convert, and there is a tempting way to make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notebook 01, section 3. Run it and let the room enjoy it: the loop finishes,</a:t>
            </a:r>
          </a:p>
          <a:p>
            <a:r>
              <a:t>the profile is perfect, and Q1 matches the dashboard. Ask: who would you now tell that Finance is</a:t>
            </a:r>
          </a:p>
          <a:p>
            <a:r>
              <a:t>wrong? Then turn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decision it would have misled: a note telling Anand that every amount</a:t>
            </a:r>
          </a:p>
          <a:p>
            <a:r>
              <a:t>converts and his books are behind. His analyst ties out to the rupee and finds a Rs 0 order in a</a:t>
            </a:r>
          </a:p>
          <a:p>
            <a:r>
              <a:t>file you called clean. The check is a question about the business, not about Python.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Show the rejects log as a count, then have every learner print it in the empty</a:t>
            </a:r>
          </a:p>
          <a:p>
            <a:r>
              <a:t>your-turn cell and open the CSV at the line it names. Ask: what would you need to know to give</a:t>
            </a:r>
          </a:p>
          <a:p>
            <a:r>
              <a:t>that order its real amount? Leave the question open; round 2 answers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notebook 01, section 4. Pairs. The feed yields 119 complete records, all of</a:t>
            </a:r>
          </a:p>
          <a:p>
            <a:r>
              <a:t>them orders the CSV holds. The vendor copy reads 40 rows, 39 amounts convert, and three</a:t>
            </a:r>
          </a:p>
          <a:p>
            <a:r>
              <a:t>distinct segments where two were expected. Let pairs find why in the empty cell; do not say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interview answer in one breath: arithmetic, comparison and sorting break or</a:t>
            </a:r>
          </a:p>
          <a:p>
            <a:r>
              <a:t>silently lie on text; convert once at the boundary in one function that returns the value or</a:t>
            </a:r>
          </a:p>
          <a:p>
            <a:r>
              <a:t>the reason; count and log the failures; never default a failure without writing it down.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Notebook 02_duplicates is the demonstration. The trap in this round is</a:t>
            </a:r>
          </a:p>
          <a:p>
            <a:r>
              <a:t>the one most analysts meet in their first month.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notebook 02, section 1. Q1 holds 114 rows for 100 orders and Q2 holds 87 for</a:t>
            </a:r>
          </a:p>
          <a:p>
            <a:r>
              <a:t>86. Ask: what does that tell you about where Anand's Rs 20 lakh sits? In Q1, the migration's</a:t>
            </a:r>
          </a:p>
          <a:p>
            <a:r>
              <a:t>quarter. A lead, not a proof, until the rows are removed.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dedupe runs clean and reports zero. The decision it would mislead: telling</a:t>
            </a:r>
          </a:p>
          <a:p>
            <a:r>
              <a:t>Anand there are no duplicates and his books are Rs 20 lakh short, which sends Finance hunting for</a:t>
            </a:r>
          </a:p>
          <a:p>
            <a:r>
              <a:t>revenue that was never earned. Ask: which line of round 1 contradicts this result?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records on this slide are invented. The file line is where a row sat, not</a:t>
            </a:r>
          </a:p>
          <a:p>
            <a:r>
              <a:t>what the order is. The same failure appears with a load timestamp or a surrogate key in any</a:t>
            </a:r>
          </a:p>
          <a:p>
            <a:r>
              <a:t>warehouse. Say that once; it comes back in Week 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four keys. The third is the dangerous one in retail: a loyal customer</a:t>
            </a:r>
          </a:p>
          <a:p>
            <a:r>
              <a:t>places two orders on the same day. The rule is written in the decisions log before it is run.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These records are invented. Take letters, then ask the same question for INV-13,</a:t>
            </a:r>
          </a:p>
          <a:p>
            <a:r>
              <a:t>where both copies are valid and disagree on the date.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answer is b. For INV-13, no rule inside the file can say which date is true:</a:t>
            </a:r>
          </a:p>
          <a:p>
            <a:r>
              <a:t>keep the first extract, log the disagreement, and write the question for the ERP team. Then have</a:t>
            </a:r>
          </a:p>
          <a:p>
            <a:r>
              <a:t>every learner run the rule on the real file and print, in the your-turn cell, the rows whose</a:t>
            </a:r>
          </a:p>
          <a:p>
            <a:r>
              <a:t>reason says the copies differ.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unreadable amount from round 1 turns out to be a copy whose twin carries the</a:t>
            </a:r>
          </a:p>
          <a:p>
            <a:r>
              <a:t>value, so no revenue left with it. Ask: is this the proof Anand asked for? Not yet: it is a</a:t>
            </a:r>
          </a:p>
          <a:p>
            <a:r>
              <a:t>total. The proof is the bridge in round 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notebook 02, section 4. Two Business rows carry about 98 percent of the</a:t>
            </a:r>
          </a:p>
          <a:p>
            <a:r>
              <a:t>rupees; most of the rows sit in Retail-Plus in Q1. That split decides two conversations: Anand's</a:t>
            </a:r>
          </a:p>
          <a:p>
            <a:r>
              <a:t>gap is two corporate orders counted twice, and Tuesday's Retail-Plus finding was measured on</a:t>
            </a:r>
          </a:p>
          <a:p>
            <a:r>
              <a:t>inflated Q1 counts. Round 3 recomputes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One-breath answer: start with the identity rule the business gives you, count</a:t>
            </a:r>
          </a:p>
          <a:p>
            <a:r>
              <a:t>rows against distinct keys, keep one row per key by a stated preference, log every row set</a:t>
            </a:r>
          </a:p>
          <a:p>
            <a:r>
              <a:t>aside, and weigh them in money as well as rows. Then the 10-minute break.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after the break. Notebook 03_bridge is the demonstration. Two traps in</a:t>
            </a:r>
          </a:p>
          <a:p>
            <a:r>
              <a:t>this round, and the second is the one that costs trust.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round's order: one missing value, one large value, the proof, the</a:t>
            </a:r>
          </a:p>
          <a:p>
            <a:r>
              <a:t>recompute. Revenue here is booked value, every order whatever its status, which is how both the</a:t>
            </a:r>
          </a:p>
          <a:p>
            <a:r>
              <a:t>dashboard and the books count a quarter, and how Monday defined booked revenue.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03, section 1.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Imputation beyond a stated default is out of scope today;</a:t>
            </a:r>
          </a:p>
          <a:p>
            <a:r>
              <a:t>the three-way decision is the whole of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notebook 03, section 2. The upper line keeps every order; the lower removes the</a:t>
            </a:r>
          </a:p>
          <a:p>
            <a:r>
              <a:t>largest. The decision it would mislead: Marketing funds a rescue for a 17 percent collapse that</a:t>
            </a:r>
          </a:p>
          <a:p>
            <a:r>
              <a:t>never happened, and Finance, whose books hold that order, rejects the whole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Kalpa sells in bulk to corporate buyers; the smallest Business order in the</a:t>
            </a:r>
          </a:p>
          <a:p>
            <a:r>
              <a:t>file is above Rs 2 lakh. Have the room sort Q2 and find the order themselves. Kavya's line: an</a:t>
            </a:r>
          </a:p>
          <a:p>
            <a:r>
              <a:t>outlier is a question about a record, never a reason to delete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notebook 03, section 3. This is the pass most people would write, in the order</a:t>
            </a:r>
          </a:p>
          <a:p>
            <a:r>
              <a:t>that feels natural. Ask: is this reconciled? Most of the room says yes.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decision it misleads: a note that says "reconciled with Finance", and an</a:t>
            </a:r>
          </a:p>
          <a:p>
            <a:r>
              <a:t>analyst who finds a booked order missing from it and stops trusting every other line in the log.</a:t>
            </a:r>
          </a:p>
          <a:p>
            <a:r>
              <a:t>Rounded to the crore, the mistake is invisible, which is what makes it dangerous.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Order matters: converting first lets the identity rule see which copy</a:t>
            </a:r>
          </a:p>
          <a:p>
            <a:r>
              <a:t>validates. What changed against the hurried pass: one Retail-Plus order and its Rs 1,790 are</a:t>
            </a:r>
          </a:p>
          <a:p>
            <a:r>
              <a:t>back, and both reconciliations hold.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notebook draws this as a bridge with kit.bridge; the slide shows the running</a:t>
            </a:r>
          </a:p>
          <a:p>
            <a:r>
              <a:t>total after each move. The unreadable amount needs no move: it was never in the exported total,</a:t>
            </a:r>
          </a:p>
          <a:p>
            <a:r>
              <a:t>and its twin, which was, stayed. This is the page Anand's analyst checks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03, section 4. Pairs compute it before the answer slide.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answer is b. Say the honest sentence: the finding stands and is smaller than</a:t>
            </a:r>
          </a:p>
          <a:p>
            <a:r>
              <a:t>we first reported. Report the smaller numbers first. A finding that shrank and was reported</a:t>
            </a:r>
          </a:p>
          <a:p>
            <a:r>
              <a:t>honestly is worth more to Marketing than one that was never checked. Thursday asks whether a</a:t>
            </a:r>
          </a:p>
          <a:p>
            <a:r>
              <a:t>35 percent fall on 22 members is real or noise.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it aloud and count the words with the room. It leads with which figure is</a:t>
            </a:r>
          </a:p>
          <a:p>
            <a:r>
              <a:t>right, then the proof, then the flags, then what changed downstream.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One-breath answer: assume both numbers are honest arithmetic on different</a:t>
            </a:r>
          </a:p>
          <a:p>
            <a:r>
              <a:t>inputs, get Finance's figure to the rupee with its definition, profile the source, build a bridge</a:t>
            </a:r>
          </a:p>
          <a:p>
            <a:r>
              <a:t>with one move per cause backed by rows, reconcile in rows and rupees, then say which is right,</a:t>
            </a:r>
          </a:p>
          <a:p>
            <a:r>
              <a:t>fix the source and recompute what was reported. Transition to lunch: after it, the full pass alone.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Finance teams reconcile control totals in counts and in money for exactly</a:t>
            </a:r>
          </a:p>
          <a:p>
            <a:r>
              <a:t>this reason. The second row is a thought experiment, not something in today's file.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 Id="rId6"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7.png"/><Relationship Id="rId6"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7.png"/><Relationship Id="rId6"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0.png"/><Relationship Id="rId6"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2.xml"/><Relationship Id="rId6" Type="http://schemas.openxmlformats.org/officeDocument/2006/relationships/image" Target="../media/image3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10.png"/><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 Id="rId5"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3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 Id="rId5"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3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10.png"/><Relationship Id="rId6" Type="http://schemas.openxmlformats.org/officeDocument/2006/relationships/image" Target="../media/image21.png"/><Relationship Id="rId7" Type="http://schemas.openxmlformats.org/officeDocument/2006/relationships/image" Target="../media/image4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ONE</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Q1 figure is right?</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“Your dashboard says Q1 was Rs 2.1 crore. Our books say 1.9. Until your numbers match ours, Finance will not act on a drop measured from an ERP export.”</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replying to all on Tuesday's finding</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596931" cy="185166"/>
          </a:xfrm>
          <a:prstGeom prst="rect">
            <a:avLst/>
          </a:prstGeom>
          <a:noFill/>
        </p:spPr>
        <p:txBody>
          <a:bodyPr wrap="square" anchor="t" lIns="0" rIns="0" tIns="0" bIns="0">
            <a:spAutoFit/>
          </a:bodyPr>
          <a:lstStyle/>
          <a:p>
            <a:pPr algn="l"/>
            <a:r>
              <a:rPr sz="900" b="0" i="0">
                <a:solidFill>
                  <a:srgbClr val="FFFFFF"/>
                </a:solidFill>
                <a:latin typeface="Calibri"/>
              </a:rPr>
              <a:t>The ask</a:t>
            </a:r>
          </a:p>
        </p:txBody>
      </p:sp>
      <p:sp>
        <p:nvSpPr>
          <p:cNvPr id="13" name="TextBox 12"/>
          <p:cNvSpPr txBox="1"/>
          <p:nvPr/>
        </p:nvSpPr>
        <p:spPr>
          <a:xfrm>
            <a:off x="178565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169699"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Round 1, the profile</a:t>
            </a:r>
          </a:p>
        </p:txBody>
      </p:sp>
      <p:sp>
        <p:nvSpPr>
          <p:cNvPr id="15" name="TextBox 14"/>
          <p:cNvSpPr txBox="1"/>
          <p:nvPr/>
        </p:nvSpPr>
        <p:spPr>
          <a:xfrm>
            <a:off x="371846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102512"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Round 2, the copies</a:t>
            </a:r>
          </a:p>
        </p:txBody>
      </p:sp>
      <p:sp>
        <p:nvSpPr>
          <p:cNvPr id="17" name="TextBox 16"/>
          <p:cNvSpPr txBox="1"/>
          <p:nvPr/>
        </p:nvSpPr>
        <p:spPr>
          <a:xfrm>
            <a:off x="559212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5976175"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Round 3, the proof</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ask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Finance will not act until two numbers agree, and the reconciliation lands on your desk.</a:t>
            </a:r>
          </a:p>
        </p:txBody>
      </p:sp>
      <p:sp>
        <p:nvSpPr>
          <p:cNvPr id="10" name="Rounded Rectangle 9"/>
          <p:cNvSpPr/>
          <p:nvPr/>
        </p:nvSpPr>
        <p:spPr>
          <a:xfrm>
            <a:off x="731519" y="5074920"/>
            <a:ext cx="78027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ask</a:t>
            </a:r>
          </a:p>
        </p:txBody>
      </p:sp>
      <p:sp>
        <p:nvSpPr>
          <p:cNvPr id="11" name="Rounded Rectangle 10"/>
          <p:cNvSpPr/>
          <p:nvPr/>
        </p:nvSpPr>
        <p:spPr>
          <a:xfrm>
            <a:off x="162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the profile</a:t>
            </a:r>
          </a:p>
        </p:txBody>
      </p:sp>
      <p:sp>
        <p:nvSpPr>
          <p:cNvPr id="12" name="Rounded Rectangle 11"/>
          <p:cNvSpPr/>
          <p:nvPr/>
        </p:nvSpPr>
        <p:spPr>
          <a:xfrm>
            <a:off x="328132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the copies</a:t>
            </a:r>
          </a:p>
        </p:txBody>
      </p:sp>
      <p:sp>
        <p:nvSpPr>
          <p:cNvPr id="13" name="Rounded Rectangle 12"/>
          <p:cNvSpPr/>
          <p:nvPr/>
        </p:nvSpPr>
        <p:spPr>
          <a:xfrm>
            <a:off x="4881918"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the proof</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Wednesday morning, one reply to 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Tuesday's finding reached the leadership group, and Finance answered first.</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FINANCE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Anand Iyer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finance controller. His books say Q1 was Rs 1.9 crore, and his analyst audits every number that reaches him.</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atabase_0f9c2895db5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ERP TEAM</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raw exports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An orders CSV and the app's JSON feed, with a note that the CSV was stitched from two extracts during the Q1 migration.</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gaphone_df6318bcf2f9.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Impatient: if the drop is a data problem, a month is lost arguing about it.</a:t>
            </a:r>
          </a:p>
        </p:txBody>
      </p:sp>
      <p:sp>
        <p:nvSpPr>
          <p:cNvPr id="27" name="TextBox 26"/>
          <p:cNvSpPr txBox="1"/>
          <p:nvPr/>
        </p:nvSpPr>
        <p:spPr>
          <a:xfrm>
            <a:off x="530352" y="4294124"/>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 cr</a:t>
            </a:r>
          </a:p>
        </p:txBody>
      </p:sp>
      <p:sp>
        <p:nvSpPr>
          <p:cNvPr id="28" name="TextBox 27"/>
          <p:cNvSpPr txBox="1"/>
          <p:nvPr/>
        </p:nvSpPr>
        <p:spPr>
          <a:xfrm>
            <a:off x="530352" y="502920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DASHBOARD'S Q1</a:t>
            </a:r>
          </a:p>
        </p:txBody>
      </p:sp>
      <p:sp>
        <p:nvSpPr>
          <p:cNvPr id="29" name="TextBox 28"/>
          <p:cNvSpPr txBox="1"/>
          <p:nvPr/>
        </p:nvSpPr>
        <p:spPr>
          <a:xfrm>
            <a:off x="530352" y="5230368"/>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ERP export</a:t>
            </a:r>
          </a:p>
        </p:txBody>
      </p:sp>
      <p:sp>
        <p:nvSpPr>
          <p:cNvPr id="30" name="Rectangle 29"/>
          <p:cNvSpPr/>
          <p:nvPr/>
        </p:nvSpPr>
        <p:spPr>
          <a:xfrm>
            <a:off x="530352" y="548284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332122" y="4294124"/>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 cr</a:t>
            </a:r>
          </a:p>
        </p:txBody>
      </p:sp>
      <p:sp>
        <p:nvSpPr>
          <p:cNvPr id="32" name="TextBox 31"/>
          <p:cNvSpPr txBox="1"/>
          <p:nvPr/>
        </p:nvSpPr>
        <p:spPr>
          <a:xfrm>
            <a:off x="4332122" y="502920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BOOKS' Q1</a:t>
            </a:r>
          </a:p>
        </p:txBody>
      </p:sp>
      <p:sp>
        <p:nvSpPr>
          <p:cNvPr id="33" name="TextBox 32"/>
          <p:cNvSpPr txBox="1"/>
          <p:nvPr/>
        </p:nvSpPr>
        <p:spPr>
          <a:xfrm>
            <a:off x="4332122" y="5230368"/>
            <a:ext cx="3527450" cy="193421"/>
          </a:xfrm>
          <a:prstGeom prst="rect">
            <a:avLst/>
          </a:prstGeom>
          <a:noFill/>
        </p:spPr>
        <p:txBody>
          <a:bodyPr wrap="square" anchor="t" lIns="0" rIns="0" tIns="0" bIns="0">
            <a:spAutoFit/>
          </a:bodyPr>
          <a:lstStyle/>
          <a:p>
            <a:pPr algn="l"/>
            <a:r>
              <a:rPr sz="950" b="0" i="0">
                <a:solidFill>
                  <a:srgbClr val="6B6690"/>
                </a:solidFill>
                <a:latin typeface="Calibri"/>
              </a:rPr>
              <a:t>what Finance booked</a:t>
            </a:r>
          </a:p>
        </p:txBody>
      </p:sp>
      <p:sp>
        <p:nvSpPr>
          <p:cNvPr id="34" name="Rectangle 33"/>
          <p:cNvSpPr/>
          <p:nvPr/>
        </p:nvSpPr>
        <p:spPr>
          <a:xfrm>
            <a:off x="4332122" y="548284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133892" y="4294124"/>
            <a:ext cx="3527450" cy="698500"/>
          </a:xfrm>
          <a:prstGeom prst="rect">
            <a:avLst/>
          </a:prstGeom>
          <a:noFill/>
        </p:spPr>
        <p:txBody>
          <a:bodyPr wrap="square" anchor="t" lIns="0" rIns="0" tIns="0" bIns="0">
            <a:spAutoFit/>
          </a:bodyPr>
          <a:lstStyle/>
          <a:p>
            <a:pPr algn="l"/>
            <a:r>
              <a:rPr sz="4400" b="0" i="0">
                <a:solidFill>
                  <a:srgbClr val="5B3FD6"/>
                </a:solidFill>
                <a:latin typeface="Georgia"/>
              </a:rPr>
              <a:t>Rs 20 lakh</a:t>
            </a:r>
          </a:p>
        </p:txBody>
      </p:sp>
      <p:sp>
        <p:nvSpPr>
          <p:cNvPr id="36" name="TextBox 35"/>
          <p:cNvSpPr txBox="1"/>
          <p:nvPr/>
        </p:nvSpPr>
        <p:spPr>
          <a:xfrm>
            <a:off x="8133892" y="502920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37" name="TextBox 36"/>
          <p:cNvSpPr txBox="1"/>
          <p:nvPr/>
        </p:nvSpPr>
        <p:spPr>
          <a:xfrm>
            <a:off x="8133892" y="5230368"/>
            <a:ext cx="3527450" cy="193421"/>
          </a:xfrm>
          <a:prstGeom prst="rect">
            <a:avLst/>
          </a:prstGeom>
          <a:noFill/>
        </p:spPr>
        <p:txBody>
          <a:bodyPr wrap="square" anchor="t" lIns="0" rIns="0" tIns="0" bIns="0">
            <a:spAutoFit/>
          </a:bodyPr>
          <a:lstStyle/>
          <a:p>
            <a:pPr algn="l"/>
            <a:r>
              <a:rPr sz="950" b="0" i="0">
                <a:solidFill>
                  <a:srgbClr val="6B6690"/>
                </a:solidFill>
                <a:latin typeface="Calibri"/>
              </a:rPr>
              <a:t>about 10 percent of Q1</a:t>
            </a:r>
          </a:p>
        </p:txBody>
      </p:sp>
      <p:sp>
        <p:nvSpPr>
          <p:cNvPr id="38" name="Rectangle 37"/>
          <p:cNvSpPr/>
          <p:nvPr/>
        </p:nvSpPr>
        <p:spPr>
          <a:xfrm>
            <a:off x="8133892" y="548284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41" name="Oval 40"/>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43" name="Oval 42"/>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45" name="Oval 44"/>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45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Anand will ask, and what the others will ask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people, three questions, one reconciliation that has to answer all of them.</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how do you know? Can my analyst follow every decision you made?"</a:t>
            </a:r>
          </a:p>
        </p:txBody>
      </p:sp>
      <p:graphicFrame>
        <p:nvGraphicFramePr>
          <p:cNvPr id="14" name="Table 13"/>
          <p:cNvGraphicFramePr>
            <a:graphicFrameLocks noGrp="1"/>
          </p:cNvGraphicFramePr>
          <p:nvPr/>
        </p:nvGraphicFramePr>
        <p:xfrm>
          <a:off x="530352" y="2983992"/>
          <a:ext cx="11130990" cy="1849120"/>
        </p:xfrm>
        <a:graphic>
          <a:graphicData uri="http://schemas.openxmlformats.org/drawingml/2006/table">
            <a:tbl>
              <a:tblPr firstRow="0" bandRow="0">
                <a:tableStyleId>{2D5ABB26-0587-4C30-8999-92F81FD0307C}</a:tableStyleId>
              </a:tblPr>
              <a:tblGrid>
                <a:gridCol w="1472877"/>
                <a:gridCol w="4553960"/>
                <a:gridCol w="5104153"/>
              </a:tblGrid>
              <a:tr h="369824">
                <a:tc>
                  <a:txBody>
                    <a:bodyPr/>
                    <a:lstStyle/>
                    <a:p>
                      <a:r>
                        <a:rPr sz="1450" b="1" i="0">
                          <a:solidFill>
                            <a:srgbClr val="FFFFFF"/>
                          </a:solidFill>
                          <a:latin typeface="Calibri"/>
                        </a:rPr>
                        <a:t>Who</a:t>
                      </a:r>
                    </a:p>
                  </a:txBody>
                  <a:tcPr marL="101600" marR="101600" marT="38100" marB="38100" anchor="ctr">
                    <a:solidFill>
                      <a:srgbClr val="1A0F5C"/>
                    </a:solidFill>
                  </a:tcPr>
                </a:tc>
                <a:tc>
                  <a:txBody>
                    <a:bodyPr/>
                    <a:lstStyle/>
                    <a:p>
                      <a:r>
                        <a:rPr sz="1450" b="1" i="0">
                          <a:solidFill>
                            <a:srgbClr val="FFFFFF"/>
                          </a:solidFill>
                          <a:latin typeface="Calibri"/>
                        </a:rPr>
                        <a:t>Their question</a:t>
                      </a:r>
                    </a:p>
                  </a:txBody>
                  <a:tcPr marL="101600" marR="101600" marT="38100" marB="38100" anchor="ctr">
                    <a:solidFill>
                      <a:srgbClr val="1A0F5C"/>
                    </a:solidFill>
                  </a:tcPr>
                </a:tc>
                <a:tc>
                  <a:txBody>
                    <a:bodyPr/>
                    <a:lstStyle/>
                    <a:p>
                      <a:r>
                        <a:rPr sz="1450" b="1" i="0">
                          <a:solidFill>
                            <a:srgbClr val="FFFFFF"/>
                          </a:solidFill>
                          <a:latin typeface="Calibri"/>
                        </a:rPr>
                        <a:t>What answers it</a:t>
                      </a:r>
                    </a:p>
                  </a:txBody>
                  <a:tcPr marL="101600" marR="101600" marT="38100" marB="38100" anchor="ctr">
                    <a:solidFill>
                      <a:srgbClr val="1A0F5C"/>
                    </a:solidFill>
                  </a:tcPr>
                </a:tc>
              </a:tr>
              <a:tr h="369824">
                <a:tc>
                  <a:txBody>
                    <a:bodyPr/>
                    <a:lstStyle/>
                    <a:p>
                      <a:r>
                        <a:rPr sz="1400" b="0" i="0">
                          <a:solidFill>
                            <a:srgbClr val="1A1440"/>
                          </a:solidFill>
                          <a:latin typeface="Calibri"/>
                        </a:rPr>
                        <a:t>Anand</a:t>
                      </a:r>
                    </a:p>
                  </a:txBody>
                  <a:tcPr marL="101600" marR="101600" marT="38100" marB="38100" anchor="ctr">
                    <a:solidFill>
                      <a:srgbClr val="FFFFFF"/>
                    </a:solidFill>
                  </a:tcPr>
                </a:tc>
                <a:tc>
                  <a:txBody>
                    <a:bodyPr/>
                    <a:lstStyle/>
                    <a:p>
                      <a:r>
                        <a:rPr sz="1400" b="0" i="0">
                          <a:solidFill>
                            <a:srgbClr val="1A1440"/>
                          </a:solidFill>
                          <a:latin typeface="Calibri"/>
                        </a:rPr>
                        <a:t>Which Q1 figure is right, and the proof</a:t>
                      </a:r>
                    </a:p>
                  </a:txBody>
                  <a:tcPr marL="101600" marR="101600" marT="38100" marB="38100" anchor="ctr">
                    <a:solidFill>
                      <a:srgbClr val="FFFFFF"/>
                    </a:solidFill>
                  </a:tcPr>
                </a:tc>
                <a:tc>
                  <a:txBody>
                    <a:bodyPr/>
                    <a:lstStyle/>
                    <a:p>
                      <a:r>
                        <a:rPr sz="1400" b="0" i="0">
                          <a:solidFill>
                            <a:srgbClr val="1A1440"/>
                          </a:solidFill>
                          <a:latin typeface="Calibri"/>
                        </a:rPr>
                        <a:t>A bridge from 2.1 to 1.9, move by move</a:t>
                      </a:r>
                    </a:p>
                  </a:txBody>
                  <a:tcPr marL="101600" marR="101600" marT="38100" marB="38100" anchor="ctr">
                    <a:solidFill>
                      <a:srgbClr val="FFFFFF"/>
                    </a:solidFill>
                  </a:tcPr>
                </a:tc>
              </a:tr>
              <a:tr h="369824">
                <a:tc>
                  <a:txBody>
                    <a:bodyPr/>
                    <a:lstStyle/>
                    <a:p>
                      <a:r>
                        <a:rPr sz="1400" b="0" i="0">
                          <a:solidFill>
                            <a:srgbClr val="1A1440"/>
                          </a:solidFill>
                          <a:latin typeface="Calibri"/>
                        </a:rPr>
                        <a:t>His analyst</a:t>
                      </a:r>
                    </a:p>
                  </a:txBody>
                  <a:tcPr marL="101600" marR="101600" marT="38100" marB="38100" anchor="ctr">
                    <a:solidFill>
                      <a:srgbClr val="F4F2FA"/>
                    </a:solidFill>
                  </a:tcPr>
                </a:tc>
                <a:tc>
                  <a:txBody>
                    <a:bodyPr/>
                    <a:lstStyle/>
                    <a:p>
                      <a:r>
                        <a:rPr sz="1400" b="0" i="0">
                          <a:solidFill>
                            <a:srgbClr val="1A1440"/>
                          </a:solidFill>
                          <a:latin typeface="Calibri"/>
                        </a:rPr>
                        <a:t>Can every row you removed be followed</a:t>
                      </a:r>
                    </a:p>
                  </a:txBody>
                  <a:tcPr marL="101600" marR="101600" marT="38100" marB="38100" anchor="ctr">
                    <a:solidFill>
                      <a:srgbClr val="F4F2FA"/>
                    </a:solidFill>
                  </a:tcPr>
                </a:tc>
                <a:tc>
                  <a:txBody>
                    <a:bodyPr/>
                    <a:lstStyle/>
                    <a:p>
                      <a:r>
                        <a:rPr sz="1400" b="0" i="0">
                          <a:solidFill>
                            <a:srgbClr val="1A1440"/>
                          </a:solidFill>
                          <a:latin typeface="Calibri"/>
                        </a:rPr>
                        <a:t>A rejects log and a decisions log</a:t>
                      </a:r>
                    </a:p>
                  </a:txBody>
                  <a:tcPr marL="101600" marR="101600" marT="38100" marB="38100" anchor="ctr">
                    <a:solidFill>
                      <a:srgbClr val="F4F2FA"/>
                    </a:solidFill>
                  </a:tcPr>
                </a:tc>
              </a:tr>
              <a:tr h="369824">
                <a:tc>
                  <a:txBody>
                    <a:bodyPr/>
                    <a:lstStyle/>
                    <a:p>
                      <a:r>
                        <a:rPr sz="1400" b="0" i="0">
                          <a:solidFill>
                            <a:srgbClr val="1A1440"/>
                          </a:solidFill>
                          <a:latin typeface="Calibri"/>
                        </a:rPr>
                        <a:t>Marketing</a:t>
                      </a:r>
                    </a:p>
                  </a:txBody>
                  <a:tcPr marL="101600" marR="101600" marT="38100" marB="38100" anchor="ctr">
                    <a:solidFill>
                      <a:srgbClr val="FFFFFF"/>
                    </a:solidFill>
                  </a:tcPr>
                </a:tc>
                <a:tc>
                  <a:txBody>
                    <a:bodyPr/>
                    <a:lstStyle/>
                    <a:p>
                      <a:r>
                        <a:rPr sz="1400" b="0" i="0">
                          <a:solidFill>
                            <a:srgbClr val="1A1440"/>
                          </a:solidFill>
                          <a:latin typeface="Calibri"/>
                        </a:rPr>
                        <a:t>Does Tuesday's finding survive</a:t>
                      </a:r>
                    </a:p>
                  </a:txBody>
                  <a:tcPr marL="101600" marR="101600" marT="38100" marB="38100" anchor="ctr">
                    <a:solidFill>
                      <a:srgbClr val="FFFFFF"/>
                    </a:solidFill>
                  </a:tcPr>
                </a:tc>
                <a:tc>
                  <a:txBody>
                    <a:bodyPr/>
                    <a:lstStyle/>
                    <a:p>
                      <a:r>
                        <a:rPr sz="1400" b="0" i="0">
                          <a:solidFill>
                            <a:srgbClr val="1A1440"/>
                          </a:solidFill>
                          <a:latin typeface="Calibri"/>
                        </a:rPr>
                        <a:t>Tuesday recomputed on the clean file</a:t>
                      </a:r>
                    </a:p>
                  </a:txBody>
                  <a:tcPr marL="101600" marR="101600" marT="38100" marB="38100" anchor="ctr">
                    <a:solidFill>
                      <a:srgbClr val="FFFFFF"/>
                    </a:solidFill>
                  </a:tcPr>
                </a:tc>
              </a:tr>
              <a:tr h="369824">
                <a:tc>
                  <a:txBody>
                    <a:bodyPr/>
                    <a:lstStyle/>
                    <a:p>
                      <a:r>
                        <a:rPr sz="1400" b="0" i="0">
                          <a:solidFill>
                            <a:srgbClr val="1A1440"/>
                          </a:solidFill>
                          <a:latin typeface="Calibri"/>
                        </a:rPr>
                        <a:t>An auditor</a:t>
                      </a:r>
                    </a:p>
                  </a:txBody>
                  <a:tcPr marL="101600" marR="101600" marT="38100" marB="38100" anchor="ctr">
                    <a:solidFill>
                      <a:srgbClr val="F4F2FA"/>
                    </a:solidFill>
                  </a:tcPr>
                </a:tc>
                <a:tc>
                  <a:txBody>
                    <a:bodyPr/>
                    <a:lstStyle/>
                    <a:p>
                      <a:r>
                        <a:rPr sz="1400" b="0" i="0">
                          <a:solidFill>
                            <a:srgbClr val="1A1440"/>
                          </a:solidFill>
                          <a:latin typeface="Calibri"/>
                        </a:rPr>
                        <a:t>Why did you drop any row</a:t>
                      </a:r>
                    </a:p>
                  </a:txBody>
                  <a:tcPr marL="101600" marR="101600" marT="38100" marB="38100" anchor="ctr">
                    <a:solidFill>
                      <a:srgbClr val="F4F2FA"/>
                    </a:solidFill>
                  </a:tcPr>
                </a:tc>
                <a:tc>
                  <a:txBody>
                    <a:bodyPr/>
                    <a:lstStyle/>
                    <a:p>
                      <a:r>
                        <a:rPr sz="1400" b="0" i="0">
                          <a:solidFill>
                            <a:srgbClr val="1A1440"/>
                          </a:solidFill>
                          <a:latin typeface="Calibri"/>
                        </a:rPr>
                        <a:t>Counts that reconcile, with a reason per row</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21" name="Oval 20"/>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45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could make an export read high?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file opens, list every way 2.1 and 1.9 could both be honest arithmetic.</a:t>
            </a:r>
          </a:p>
        </p:txBody>
      </p:sp>
      <p:pic>
        <p:nvPicPr>
          <p:cNvPr id="9" name="mermaid diagram" descr="e8f1e83ee4d53d57.png"/>
          <p:cNvPicPr>
            <a:picLocks noChangeAspect="1"/>
          </p:cNvPicPr>
          <p:nvPr/>
        </p:nvPicPr>
        <p:blipFill>
          <a:blip r:embed="rId5"/>
          <a:stretch>
            <a:fillRect/>
          </a:stretch>
        </p:blipFill>
        <p:spPr>
          <a:xfrm>
            <a:off x="1012032" y="1682496"/>
            <a:ext cx="3822965" cy="4517136"/>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In pairs, three minutes: under each branch, write one way an ERP export could produce it. Which branch would you check first, as a letter? a) more rows than orders; b) bigger values than booked; c) a different definition; d) rows missing from the books.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17" name="Oval 16"/>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19" name="Oval 18"/>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rows first, because a count is cheapest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is possible; the cheapest check goes first, and a count is the cheapest.</a:t>
            </a:r>
          </a:p>
        </p:txBody>
      </p:sp>
      <p:pic>
        <p:nvPicPr>
          <p:cNvPr id="9" name="mermaid diagram" descr="938ae26deb73c00c.png"/>
          <p:cNvPicPr>
            <a:picLocks noChangeAspect="1"/>
          </p:cNvPicPr>
          <p:nvPr/>
        </p:nvPicPr>
        <p:blipFill>
          <a:blip r:embed="rId6"/>
          <a:stretch>
            <a:fillRect/>
          </a:stretch>
        </p:blipFill>
        <p:spPr>
          <a:xfrm>
            <a:off x="1273023" y="1682496"/>
            <a:ext cx="3300984" cy="4517136"/>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Rank the checks by cost. Counting rows against distinct orders takes one line and rules a whole branch in or out; start there, and keep the other three on the list.</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21" name="Oval 20"/>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thinking: profile, decide, reconcile, recompute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moves, drawn on the board before any tool opens.</a:t>
            </a:r>
          </a:p>
        </p:txBody>
      </p:sp>
      <p:pic>
        <p:nvPicPr>
          <p:cNvPr id="9" name="mermaid diagram" descr="6f829077e7b70fef.png"/>
          <p:cNvPicPr>
            <a:picLocks noChangeAspect="1"/>
          </p:cNvPicPr>
          <p:nvPr/>
        </p:nvPicPr>
        <p:blipFill>
          <a:blip r:embed="rId5"/>
          <a:stretch>
            <a:fillRect/>
          </a:stretch>
        </p:blipFill>
        <p:spPr>
          <a:xfrm>
            <a:off x="780897" y="1956816"/>
            <a:ext cx="10629900"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cleaning act is a decision with a written reason. The reconciliation proves the clean file is the same data: input equals clean plus rejected, in rows and in rupees.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15" name="Oval 1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17" name="Oval 16"/>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45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rungs, each a harder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morning climbs three of them in rounds; the afternoon runs all five alone.</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profile</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What did the ERP send: records, complete, convertible, distinct.</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copies</a:t>
            </a:r>
          </a:p>
        </p:txBody>
      </p:sp>
      <p:sp>
        <p:nvSpPr>
          <p:cNvPr id="19" name="TextBox 18"/>
          <p:cNvSpPr txBox="1"/>
          <p:nvPr/>
        </p:nvSpPr>
        <p:spPr>
          <a:xfrm>
            <a:off x="2957718"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Do some orders appear more than once, and where.</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identity rule</a:t>
            </a:r>
          </a:p>
        </p:txBody>
      </p:sp>
      <p:sp>
        <p:nvSpPr>
          <p:cNvPr id="24" name="TextBox 23"/>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makes two rows one order, and which copy stays.</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Missing and malformed</a:t>
            </a:r>
          </a:p>
        </p:txBody>
      </p:sp>
      <p:sp>
        <p:nvSpPr>
          <p:cNvPr id="29" name="TextBox 28"/>
          <p:cNvSpPr txBox="1"/>
          <p:nvPr/>
        </p:nvSpPr>
        <p:spPr>
          <a:xfrm>
            <a:off x="7483266" y="3492500"/>
            <a:ext cx="1750710" cy="366776"/>
          </a:xfrm>
          <a:prstGeom prst="rect">
            <a:avLst/>
          </a:prstGeom>
          <a:noFill/>
        </p:spPr>
        <p:txBody>
          <a:bodyPr wrap="square" anchor="t" lIns="0" rIns="0" tIns="0" bIns="0">
            <a:spAutoFit/>
          </a:bodyPr>
          <a:lstStyle/>
          <a:p>
            <a:pPr algn="l"/>
            <a:r>
              <a:rPr sz="1000" b="0" i="0">
                <a:solidFill>
                  <a:srgbClr val="6B6690"/>
                </a:solidFill>
                <a:latin typeface="Calibri"/>
              </a:rPr>
              <a:t>Keep, drop or flag each defect, with a reason.</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The bridge</a:t>
            </a:r>
          </a:p>
        </p:txBody>
      </p:sp>
      <p:sp>
        <p:nvSpPr>
          <p:cNvPr id="34" name="TextBox 33"/>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CFC9EE"/>
                </a:solidFill>
                <a:latin typeface="Calibri"/>
              </a:rPr>
              <a:t>From 2.1 to 1.9 in rupees, and Tuesday recomputed.</a:t>
            </a:r>
          </a:p>
        </p:txBody>
      </p:sp>
      <p:sp>
        <p:nvSpPr>
          <p:cNvPr id="35" name="Oval 3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37" name="Oval 3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39" name="Oval 3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41" name="Oval 40"/>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1, the profile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Count what arrived before totalling anything, and let no failure turn into a number.</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1, the profile</a:t>
            </a:r>
          </a:p>
        </p:txBody>
      </p:sp>
      <p:sp>
        <p:nvSpPr>
          <p:cNvPr id="12" name="Rounded Rectangle 11"/>
          <p:cNvSpPr/>
          <p:nvPr/>
        </p:nvSpPr>
        <p:spPr>
          <a:xfrm>
            <a:off x="328132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the copies</a:t>
            </a:r>
          </a:p>
        </p:txBody>
      </p:sp>
      <p:sp>
        <p:nvSpPr>
          <p:cNvPr id="13" name="Rounded Rectangle 12"/>
          <p:cNvSpPr/>
          <p:nvPr/>
        </p:nvSpPr>
        <p:spPr>
          <a:xfrm>
            <a:off x="4881918"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the proof</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First, count what the ERP actually sent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profile asks three questions of every field before any total.</a:t>
            </a:r>
          </a:p>
        </p:txBody>
      </p:sp>
      <p:pic>
        <p:nvPicPr>
          <p:cNvPr id="9" name="mermaid diagram" descr="a77f91abd62a6147.png"/>
          <p:cNvPicPr>
            <a:picLocks noChangeAspect="1"/>
          </p:cNvPicPr>
          <p:nvPr/>
        </p:nvPicPr>
        <p:blipFill>
          <a:blip r:embed="rId6"/>
          <a:stretch>
            <a:fillRect/>
          </a:stretch>
        </p:blipFill>
        <p:spPr>
          <a:xfrm>
            <a:off x="3042628" y="1664208"/>
            <a:ext cx="6106439" cy="3462528"/>
          </a:xfrm>
          <a:prstGeom prst="rect">
            <a:avLst/>
          </a:prstGeom>
        </p:spPr>
      </p:pic>
      <p:sp>
        <p:nvSpPr>
          <p:cNvPr id="10" name="Rounded Rectangle 9"/>
          <p:cNvSpPr/>
          <p:nvPr/>
        </p:nvSpPr>
        <p:spPr>
          <a:xfrm>
            <a:off x="530352" y="51724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3751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5484876"/>
            <a:ext cx="237744" cy="237744"/>
          </a:xfrm>
          <a:prstGeom prst="rect">
            <a:avLst/>
          </a:prstGeom>
        </p:spPr>
      </p:pic>
      <p:sp>
        <p:nvSpPr>
          <p:cNvPr id="13" name="TextBox 12"/>
          <p:cNvSpPr txBox="1"/>
          <p:nvPr/>
        </p:nvSpPr>
        <p:spPr>
          <a:xfrm>
            <a:off x="1399031" y="53187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5538216"/>
            <a:ext cx="9987991" cy="423672"/>
          </a:xfrm>
          <a:prstGeom prst="rect">
            <a:avLst/>
          </a:prstGeom>
          <a:noFill/>
        </p:spPr>
        <p:txBody>
          <a:bodyPr wrap="square" anchor="t" lIns="0" rIns="0" tIns="0" bIns="0">
            <a:spAutoFit/>
          </a:bodyPr>
          <a:lstStyle/>
          <a:p>
            <a:r>
              <a:rPr sz="1500" b="0" i="0">
                <a:solidFill>
                  <a:srgbClr val="FFFFFF"/>
                </a:solidFill>
                <a:latin typeface="Calibri"/>
              </a:rPr>
              <a:t>"How many records did you receive, and how many can you use?"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Round 1, the profile</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21" name="Oval 20"/>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45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Everything read from a file is text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first amount arrives as the text '2200', and nothing converts it for you.</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open(DATA / "C2_W01_D03_orders_STUDENT.csv", newline="") as f:</a:t>
            </a:r>
          </a:p>
          <a:p>
            <a:pPr>
              <a:spcAft>
                <a:spcPts val="200"/>
              </a:spcAft>
            </a:pPr>
            <a:r>
              <a:rPr sz="1400" b="0" i="0">
                <a:solidFill>
                  <a:srgbClr val="E4E1F1"/>
                </a:solidFill>
                <a:latin typeface="Consolas"/>
              </a:rPr>
              <a:t>    raw = list(csv.DictReader(f))</a:t>
            </a:r>
          </a:p>
          <a:p>
            <a:pPr>
              <a:spcAft>
                <a:spcPts val="200"/>
              </a:spcAft>
            </a:pPr>
            <a:r>
              <a:rPr sz="1400" b="0" i="0">
                <a:solidFill>
                  <a:srgbClr val="E4E1F1"/>
                </a:solidFill>
                <a:latin typeface="Consolas"/>
              </a:rPr>
              <a:t>len(raw)                  # 201</a:t>
            </a:r>
          </a:p>
          <a:p>
            <a:pPr>
              <a:spcAft>
                <a:spcPts val="200"/>
              </a:spcAft>
            </a:pPr>
            <a:r>
              <a:rPr sz="1400" b="0" i="0">
                <a:solidFill>
                  <a:srgbClr val="E4E1F1"/>
                </a:solidFill>
                <a:latin typeface="Consolas"/>
              </a:rPr>
              <a:t>raw[0]["amount"]          # '2200', a str</a:t>
            </a:r>
          </a:p>
        </p:txBody>
      </p:sp>
      <p:sp>
        <p:nvSpPr>
          <p:cNvPr id="14" name="TextBox 13"/>
          <p:cNvSpPr txBox="1"/>
          <p:nvPr/>
        </p:nvSpPr>
        <p:spPr>
          <a:xfrm>
            <a:off x="53035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201</a:t>
            </a:r>
          </a:p>
        </p:txBody>
      </p:sp>
      <p:sp>
        <p:nvSpPr>
          <p:cNvPr id="15" name="TextBox 14"/>
          <p:cNvSpPr txBox="1"/>
          <p:nvPr/>
        </p:nvSpPr>
        <p:spPr>
          <a:xfrm>
            <a:off x="53035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READ</a:t>
            </a:r>
          </a:p>
        </p:txBody>
      </p:sp>
      <p:sp>
        <p:nvSpPr>
          <p:cNvPr id="16" name="TextBox 15"/>
          <p:cNvSpPr txBox="1"/>
          <p:nvPr/>
        </p:nvSpPr>
        <p:spPr>
          <a:xfrm>
            <a:off x="53035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the orders CSV</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str</a:t>
            </a:r>
          </a:p>
        </p:txBody>
      </p:sp>
      <p:sp>
        <p:nvSpPr>
          <p:cNvPr id="19" name="TextBox 18"/>
          <p:cNvSpPr txBox="1"/>
          <p:nvPr/>
        </p:nvSpPr>
        <p:spPr>
          <a:xfrm>
            <a:off x="433212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EVERY VALUE</a:t>
            </a:r>
          </a:p>
        </p:txBody>
      </p:sp>
      <p:sp>
        <p:nvSpPr>
          <p:cNvPr id="20" name="TextBox 19"/>
          <p:cNvSpPr txBox="1"/>
          <p:nvPr/>
        </p:nvSpPr>
        <p:spPr>
          <a:xfrm>
            <a:off x="433212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until converted on purpose</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2 min</a:t>
            </a:r>
          </a:p>
        </p:txBody>
      </p:sp>
      <p:sp>
        <p:nvSpPr>
          <p:cNvPr id="23" name="TextBox 22"/>
          <p:cNvSpPr txBox="1"/>
          <p:nvPr/>
        </p:nvSpPr>
        <p:spPr>
          <a:xfrm>
            <a:off x="813389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FILENOTFOUNDERROR</a:t>
            </a:r>
          </a:p>
        </p:txBody>
      </p:sp>
      <p:sp>
        <p:nvSpPr>
          <p:cNvPr id="24" name="TextBox 23"/>
          <p:cNvSpPr txBox="1"/>
          <p:nvPr/>
        </p:nvSpPr>
        <p:spPr>
          <a:xfrm>
            <a:off x="813389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the wrong folder, read the last line</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Round 1, the profile</a:t>
            </a:r>
          </a:p>
        </p:txBody>
      </p:sp>
      <p:sp>
        <p:nvSpPr>
          <p:cNvPr id="30" name="Oval 29"/>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32" name="Oval 31"/>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45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profile, field by field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counts per field; three of them already disagree with the row count.</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3465882"/>
                <a:gridCol w="914400"/>
                <a:gridCol w="3797820"/>
                <a:gridCol w="2952888"/>
              </a:tblGrid>
              <a:tr h="335280">
                <a:tc>
                  <a:txBody>
                    <a:bodyPr/>
                    <a:lstStyle/>
                    <a:p>
                      <a:r>
                        <a:rPr sz="1250" b="1" i="0">
                          <a:solidFill>
                            <a:srgbClr val="FFFFFF"/>
                          </a:solidFill>
                          <a:latin typeface="Calibri"/>
                        </a:rPr>
                        <a:t>Field</a:t>
                      </a:r>
                    </a:p>
                  </a:txBody>
                  <a:tcPr marL="101600" marR="101600" marT="38100" marB="38100" anchor="ctr">
                    <a:solidFill>
                      <a:srgbClr val="1A0F5C"/>
                    </a:solidFill>
                  </a:tcPr>
                </a:tc>
                <a:tc>
                  <a:txBody>
                    <a:bodyPr/>
                    <a:lstStyle/>
                    <a:p>
                      <a:r>
                        <a:rPr sz="1250" b="1" i="0">
                          <a:solidFill>
                            <a:srgbClr val="FFFFFF"/>
                          </a:solidFill>
                          <a:latin typeface="Calibri"/>
                        </a:rPr>
                        <a:t>Present</a:t>
                      </a:r>
                    </a:p>
                  </a:txBody>
                  <a:tcPr marL="101600" marR="101600" marT="38100" marB="38100" anchor="ctr">
                    <a:solidFill>
                      <a:srgbClr val="1A0F5C"/>
                    </a:solidFill>
                  </a:tcPr>
                </a:tc>
                <a:tc>
                  <a:txBody>
                    <a:bodyPr/>
                    <a:lstStyle/>
                    <a:p>
                      <a:r>
                        <a:rPr sz="1250" b="1" i="0">
                          <a:solidFill>
                            <a:srgbClr val="FFFFFF"/>
                          </a:solidFill>
                          <a:latin typeface="Calibri"/>
                        </a:rPr>
                        <a:t>Convertible</a:t>
                      </a:r>
                    </a:p>
                  </a:txBody>
                  <a:tcPr marL="101600" marR="101600" marT="38100" marB="38100" anchor="ctr">
                    <a:solidFill>
                      <a:srgbClr val="1A0F5C"/>
                    </a:solidFill>
                  </a:tcPr>
                </a:tc>
                <a:tc>
                  <a:txBody>
                    <a:bodyPr/>
                    <a:lstStyle/>
                    <a:p>
                      <a:r>
                        <a:rPr sz="1250" b="1" i="0">
                          <a:solidFill>
                            <a:srgbClr val="FFFFFF"/>
                          </a:solidFill>
                          <a:latin typeface="Calibri"/>
                        </a:rPr>
                        <a:t>Distinct</a:t>
                      </a:r>
                    </a:p>
                  </a:txBody>
                  <a:tcPr marL="101600" marR="101600" marT="38100" marB="38100" anchor="ctr">
                    <a:solidFill>
                      <a:srgbClr val="1A0F5C"/>
                    </a:solidFill>
                  </a:tcPr>
                </a:tc>
              </a:tr>
              <a:tr h="335280">
                <a:tc>
                  <a:txBody>
                    <a:bodyPr/>
                    <a:lstStyle/>
                    <a:p>
                      <a:r>
                        <a:rPr sz="1200" b="0" i="0">
                          <a:solidFill>
                            <a:srgbClr val="1A1440"/>
                          </a:solidFill>
                          <a:latin typeface="Calibri"/>
                        </a:rPr>
                        <a:t>order_id</a:t>
                      </a:r>
                    </a:p>
                  </a:txBody>
                  <a:tcPr marL="101600" marR="101600" marT="38100" marB="38100" anchor="ctr">
                    <a:solidFill>
                      <a:srgbClr val="FFFFFF"/>
                    </a:solidFill>
                  </a:tcPr>
                </a:tc>
                <a:tc>
                  <a:txBody>
                    <a:bodyPr/>
                    <a:lstStyle/>
                    <a:p>
                      <a:r>
                        <a:rPr sz="1200" b="0" i="0">
                          <a:solidFill>
                            <a:srgbClr val="1A1440"/>
                          </a:solidFill>
                          <a:latin typeface="Calibri"/>
                        </a:rPr>
                        <a:t>201</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186</a:t>
                      </a:r>
                    </a:p>
                  </a:txBody>
                  <a:tcPr marL="101600" marR="101600" marT="38100" marB="38100" anchor="ctr">
                    <a:solidFill>
                      <a:srgbClr val="FFFFFF"/>
                    </a:solidFill>
                  </a:tcPr>
                </a:tc>
              </a:tr>
              <a:tr h="335280">
                <a:tc>
                  <a:txBody>
                    <a:bodyPr/>
                    <a:lstStyle/>
                    <a:p>
                      <a:r>
                        <a:rPr sz="1200" b="0" i="0">
                          <a:solidFill>
                            <a:srgbClr val="1A1440"/>
                          </a:solidFill>
                          <a:latin typeface="Calibri"/>
                        </a:rPr>
                        <a:t>customer_id</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text</a:t>
                      </a:r>
                    </a:p>
                  </a:txBody>
                  <a:tcPr marL="101600" marR="101600" marT="38100" marB="38100" anchor="ctr">
                    <a:solidFill>
                      <a:srgbClr val="F4F2FA"/>
                    </a:solidFill>
                  </a:tcPr>
                </a:tc>
                <a:tc>
                  <a:txBody>
                    <a:bodyPr/>
                    <a:lstStyle/>
                    <a:p>
                      <a:r>
                        <a:rPr sz="1200" b="0" i="0">
                          <a:solidFill>
                            <a:srgbClr val="1A1440"/>
                          </a:solidFill>
                          <a:latin typeface="Calibri"/>
                        </a:rPr>
                        <a:t>69</a:t>
                      </a:r>
                    </a:p>
                  </a:txBody>
                  <a:tcPr marL="101600" marR="101600" marT="38100" marB="38100" anchor="ctr">
                    <a:solidFill>
                      <a:srgbClr val="F4F2FA"/>
                    </a:solidFill>
                  </a:tcPr>
                </a:tc>
              </a:tr>
              <a:tr h="335280">
                <a:tc>
                  <a:txBody>
                    <a:bodyPr/>
                    <a:lstStyle/>
                    <a:p>
                      <a:r>
                        <a:rPr sz="1200" b="0" i="0">
                          <a:solidFill>
                            <a:srgbClr val="1A1440"/>
                          </a:solidFill>
                          <a:latin typeface="Calibri"/>
                        </a:rPr>
                        <a:t>amount</a:t>
                      </a:r>
                    </a:p>
                  </a:txBody>
                  <a:tcPr marL="101600" marR="101600" marT="38100" marB="38100" anchor="ctr">
                    <a:solidFill>
                      <a:srgbClr val="FFFFFF"/>
                    </a:solidFill>
                  </a:tcPr>
                </a:tc>
                <a:tc>
                  <a:txBody>
                    <a:bodyPr/>
                    <a:lstStyle/>
                    <a:p>
                      <a:r>
                        <a:rPr sz="1200" b="0" i="0">
                          <a:solidFill>
                            <a:srgbClr val="1A1440"/>
                          </a:solidFill>
                          <a:latin typeface="Calibri"/>
                        </a:rPr>
                        <a:t>201</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161</a:t>
                      </a:r>
                    </a:p>
                  </a:txBody>
                  <a:tcPr marL="101600" marR="101600" marT="38100" marB="38100" anchor="ctr">
                    <a:solidFill>
                      <a:srgbClr val="FFFFFF"/>
                    </a:solidFill>
                  </a:tcPr>
                </a:tc>
              </a:tr>
              <a:tr h="335280">
                <a:tc>
                  <a:txBody>
                    <a:bodyPr/>
                    <a:lstStyle/>
                    <a:p>
                      <a:r>
                        <a:rPr sz="1200" b="0" i="0">
                          <a:solidFill>
                            <a:srgbClr val="1A1440"/>
                          </a:solidFill>
                          <a:latin typeface="Calibri"/>
                        </a:rPr>
                        <a:t>status</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c>
                  <a:txBody>
                    <a:bodyPr/>
                    <a:lstStyle/>
                    <a:p>
                      <a:r>
                        <a:rPr sz="1200" b="0" i="0">
                          <a:solidFill>
                            <a:srgbClr val="1A1440"/>
                          </a:solidFill>
                          <a:latin typeface="Calibri"/>
                        </a:rPr>
                        <a:t>text</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r>
              <a:tr h="335280">
                <a:tc>
                  <a:txBody>
                    <a:bodyPr/>
                    <a:lstStyle/>
                    <a:p>
                      <a:r>
                        <a:rPr sz="1200" b="0" i="0">
                          <a:solidFill>
                            <a:srgbClr val="1A1440"/>
                          </a:solidFill>
                          <a:latin typeface="Calibri"/>
                        </a:rPr>
                        <a:t>discount</a:t>
                      </a:r>
                    </a:p>
                  </a:txBody>
                  <a:tcPr marL="101600" marR="101600" marT="38100" marB="38100" anchor="ctr">
                    <a:solidFill>
                      <a:srgbClr val="FFFFFF"/>
                    </a:solidFill>
                  </a:tcPr>
                </a:tc>
                <a:tc>
                  <a:txBody>
                    <a:bodyPr/>
                    <a:lstStyle/>
                    <a:p>
                      <a:r>
                        <a:rPr sz="1200" b="0" i="0">
                          <a:solidFill>
                            <a:srgbClr val="1A1440"/>
                          </a:solidFill>
                          <a:latin typeface="Calibri"/>
                        </a:rPr>
                        <a:t>143</a:t>
                      </a:r>
                    </a:p>
                  </a:txBody>
                  <a:tcPr marL="101600" marR="101600" marT="38100" marB="38100" anchor="ctr">
                    <a:solidFill>
                      <a:srgbClr val="FFFFFF"/>
                    </a:solidFill>
                  </a:tcPr>
                </a:tc>
                <a:tc>
                  <a:txBody>
                    <a:bodyPr/>
                    <a:lstStyle/>
                    <a:p>
                      <a:r>
                        <a:rPr sz="1200" b="0" i="0">
                          <a:solidFill>
                            <a:srgbClr val="1A1440"/>
                          </a:solidFill>
                          <a:latin typeface="Calibri"/>
                        </a:rPr>
                        <a:t>143</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567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666488"/>
            <a:ext cx="237744" cy="237744"/>
          </a:xfrm>
          <a:prstGeom prst="rect">
            <a:avLst/>
          </a:prstGeom>
        </p:spPr>
      </p:pic>
      <p:sp>
        <p:nvSpPr>
          <p:cNvPr id="13" name="TextBox 12"/>
          <p:cNvSpPr txBox="1"/>
          <p:nvPr/>
        </p:nvSpPr>
        <p:spPr>
          <a:xfrm>
            <a:off x="1399031" y="43708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590288"/>
            <a:ext cx="9987991" cy="682752"/>
          </a:xfrm>
          <a:prstGeom prst="rect">
            <a:avLst/>
          </a:prstGeom>
          <a:noFill/>
        </p:spPr>
        <p:txBody>
          <a:bodyPr wrap="square" anchor="t" lIns="0" rIns="0" tIns="0" bIns="0">
            <a:spAutoFit/>
          </a:bodyPr>
          <a:lstStyle/>
          <a:p>
            <a:r>
              <a:rPr sz="1500" b="0" i="0">
                <a:solidFill>
                  <a:srgbClr val="1A1440"/>
                </a:solidFill>
                <a:latin typeface="Calibri"/>
              </a:rPr>
              <a:t>Three counts do not fit 201: order ids distinct on 186, amounts convertible on 200, status present on 200. Each is a question for a later rung.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Round 1, the profile</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21" name="Oval 20"/>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45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Values present per field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fields fall short of 201, and only one of them was expected.</a:t>
            </a:r>
          </a:p>
        </p:txBody>
      </p:sp>
      <p:pic>
        <p:nvPicPr>
          <p:cNvPr id="9" name="mermaid diagram" descr="f6ec74a3145e6e57.png"/>
          <p:cNvPicPr>
            <a:picLocks noChangeAspect="1"/>
          </p:cNvPicPr>
          <p:nvPr/>
        </p:nvPicPr>
        <p:blipFill>
          <a:blip r:embed="rId5"/>
          <a:stretch>
            <a:fillRect/>
          </a:stretch>
        </p:blipFill>
        <p:spPr>
          <a:xfrm>
            <a:off x="1578711" y="1682496"/>
            <a:ext cx="9034272"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2" name="Oval 11"/>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Round 1, the profile</a:t>
            </a:r>
          </a:p>
        </p:txBody>
      </p:sp>
      <p:sp>
        <p:nvSpPr>
          <p:cNvPr id="14" name="Oval 13"/>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16" name="Oval 15"/>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45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201 rows, 186 order ids. So what?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count against another, before any total is computed.</a:t>
            </a:r>
          </a:p>
        </p:txBody>
      </p:sp>
      <p:pic>
        <p:nvPicPr>
          <p:cNvPr id="9" name="mermaid diagram" descr="1792e577d8dbe5c6.png"/>
          <p:cNvPicPr>
            <a:picLocks noChangeAspect="1"/>
          </p:cNvPicPr>
          <p:nvPr/>
        </p:nvPicPr>
        <p:blipFill>
          <a:blip r:embed="rId5"/>
          <a:stretch>
            <a:fillRect/>
          </a:stretch>
        </p:blipFill>
        <p:spPr>
          <a:xfrm>
            <a:off x="1931041" y="1909096"/>
            <a:ext cx="8329612" cy="2843212"/>
          </a:xfrm>
          <a:prstGeom prst="rect">
            <a:avLst/>
          </a:prstGeom>
        </p:spPr>
      </p:pic>
      <p:sp>
        <p:nvSpPr>
          <p:cNvPr id="10" name="Rounded Rectangle 9"/>
          <p:cNvSpPr/>
          <p:nvPr/>
        </p:nvSpPr>
        <p:spPr>
          <a:xfrm>
            <a:off x="530352" y="489861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2662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1748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 201 rows and 186 distinct order ids tell you, as a letter? a) 15 orders are missing from the file; b) some orders appear on more than one row; c) 15 rows have no order id; d) nothing until the amounts are converted.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Round 1, the profile</a:t>
            </a:r>
          </a:p>
        </p:txBody>
      </p:sp>
      <p:sp>
        <p:nvSpPr>
          <p:cNvPr id="17" name="Oval 16"/>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19" name="Oval 18"/>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45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some orders sit on more than one row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Fifteen rows beyond one per order: a lead for Anand's gap, not yet a proof.</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201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line after the header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186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distinct order ids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EXTRA ROWS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beyond one per order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gap between rows and keys is where a reconciliation starts. Write it down now; round 2 finds out what it carries in rupees.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Round 1, the profile</a:t>
            </a:r>
          </a:p>
        </p:txBody>
      </p:sp>
      <p:sp>
        <p:nvSpPr>
          <p:cNvPr id="30" name="Oval 29"/>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32" name="Oval 31"/>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45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failures become zero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ValueError stops the pass, so a helper turns anything unreadable into 0.</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to_int(value):</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int(value)</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"so the loop does not crash"</a:t>
            </a:r>
          </a:p>
        </p:txBody>
      </p:sp>
      <p:sp>
        <p:nvSpPr>
          <p:cNvPr id="14" name="TextBox 13"/>
          <p:cNvSpPr txBox="1"/>
          <p:nvPr/>
        </p:nvSpPr>
        <p:spPr>
          <a:xfrm>
            <a:off x="530352" y="3840988"/>
            <a:ext cx="3527450" cy="508000"/>
          </a:xfrm>
          <a:prstGeom prst="rect">
            <a:avLst/>
          </a:prstGeom>
          <a:noFill/>
        </p:spPr>
        <p:txBody>
          <a:bodyPr wrap="square" anchor="t" lIns="0" rIns="0" tIns="0" bIns="0">
            <a:spAutoFit/>
          </a:bodyPr>
          <a:lstStyle/>
          <a:p>
            <a:pPr algn="l"/>
            <a:r>
              <a:rPr sz="3200" b="0" i="0">
                <a:solidFill>
                  <a:srgbClr val="5B3FD6"/>
                </a:solidFill>
                <a:latin typeface="Georgia"/>
              </a:rPr>
              <a:t>201 of 201</a:t>
            </a:r>
          </a:p>
        </p:txBody>
      </p:sp>
      <p:sp>
        <p:nvSpPr>
          <p:cNvPr id="15" name="TextBox 14"/>
          <p:cNvSpPr txBox="1"/>
          <p:nvPr/>
        </p:nvSpPr>
        <p:spPr>
          <a:xfrm>
            <a:off x="530352" y="43855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 CONVERT</a:t>
            </a:r>
          </a:p>
        </p:txBody>
      </p:sp>
      <p:sp>
        <p:nvSpPr>
          <p:cNvPr id="16" name="TextBox 15"/>
          <p:cNvSpPr txBox="1"/>
          <p:nvPr/>
        </p:nvSpPr>
        <p:spPr>
          <a:xfrm>
            <a:off x="530352" y="4586732"/>
            <a:ext cx="3527450" cy="193421"/>
          </a:xfrm>
          <a:prstGeom prst="rect">
            <a:avLst/>
          </a:prstGeom>
          <a:noFill/>
        </p:spPr>
        <p:txBody>
          <a:bodyPr wrap="square" anchor="t" lIns="0" rIns="0" tIns="0" bIns="0">
            <a:spAutoFit/>
          </a:bodyPr>
          <a:lstStyle/>
          <a:p>
            <a:pPr algn="l"/>
            <a:r>
              <a:rPr sz="950" b="0" i="0">
                <a:solidFill>
                  <a:srgbClr val="6B6690"/>
                </a:solidFill>
                <a:latin typeface="Calibri"/>
              </a:rPr>
              <a:t>as the coerced profile reports it</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508000"/>
          </a:xfrm>
          <a:prstGeom prst="rect">
            <a:avLst/>
          </a:prstGeom>
          <a:noFill/>
        </p:spPr>
        <p:txBody>
          <a:bodyPr wrap="square" anchor="t" lIns="0" rIns="0" tIns="0" bIns="0">
            <a:spAutoFit/>
          </a:bodyPr>
          <a:lstStyle/>
          <a:p>
            <a:pPr algn="l"/>
            <a:r>
              <a:rPr sz="3200" b="0" i="0">
                <a:solidFill>
                  <a:srgbClr val="5B3FD6"/>
                </a:solidFill>
                <a:latin typeface="Georgia"/>
              </a:rPr>
              <a:t>Rs 2,09,98,210</a:t>
            </a:r>
          </a:p>
        </p:txBody>
      </p:sp>
      <p:sp>
        <p:nvSpPr>
          <p:cNvPr id="19" name="TextBox 18"/>
          <p:cNvSpPr txBox="1"/>
          <p:nvPr/>
        </p:nvSpPr>
        <p:spPr>
          <a:xfrm>
            <a:off x="4332122" y="43855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REVENUE</a:t>
            </a:r>
          </a:p>
        </p:txBody>
      </p:sp>
      <p:sp>
        <p:nvSpPr>
          <p:cNvPr id="20" name="TextBox 19"/>
          <p:cNvSpPr txBox="1"/>
          <p:nvPr/>
        </p:nvSpPr>
        <p:spPr>
          <a:xfrm>
            <a:off x="4332122" y="4586732"/>
            <a:ext cx="3527450" cy="193421"/>
          </a:xfrm>
          <a:prstGeom prst="rect">
            <a:avLst/>
          </a:prstGeom>
          <a:noFill/>
        </p:spPr>
        <p:txBody>
          <a:bodyPr wrap="square" anchor="t" lIns="0" rIns="0" tIns="0" bIns="0">
            <a:spAutoFit/>
          </a:bodyPr>
          <a:lstStyle/>
          <a:p>
            <a:pPr algn="l"/>
            <a:r>
              <a:rPr sz="950" b="0" i="0">
                <a:solidFill>
                  <a:srgbClr val="6B6690"/>
                </a:solidFill>
                <a:latin typeface="Calibri"/>
              </a:rPr>
              <a:t>reads as the dashboard's 2.1 crore</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508000"/>
          </a:xfrm>
          <a:prstGeom prst="rect">
            <a:avLst/>
          </a:prstGeom>
          <a:noFill/>
        </p:spPr>
        <p:txBody>
          <a:bodyPr wrap="square" anchor="t" lIns="0" rIns="0" tIns="0" bIns="0">
            <a:spAutoFit/>
          </a:bodyPr>
          <a:lstStyle/>
          <a:p>
            <a:pPr algn="l"/>
            <a:r>
              <a:rPr sz="3200" b="0" i="0">
                <a:solidFill>
                  <a:srgbClr val="5B3FD6"/>
                </a:solidFill>
                <a:latin typeface="Georgia"/>
              </a:rPr>
              <a:t>0</a:t>
            </a:r>
          </a:p>
        </p:txBody>
      </p:sp>
      <p:sp>
        <p:nvSpPr>
          <p:cNvPr id="23" name="TextBox 22"/>
          <p:cNvSpPr txBox="1"/>
          <p:nvPr/>
        </p:nvSpPr>
        <p:spPr>
          <a:xfrm>
            <a:off x="8133892" y="43855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FAILURES LOGGED</a:t>
            </a:r>
          </a:p>
        </p:txBody>
      </p:sp>
      <p:sp>
        <p:nvSpPr>
          <p:cNvPr id="24" name="TextBox 23"/>
          <p:cNvSpPr txBox="1"/>
          <p:nvPr/>
        </p:nvSpPr>
        <p:spPr>
          <a:xfrm>
            <a:off x="8133892" y="4586732"/>
            <a:ext cx="3527450" cy="193421"/>
          </a:xfrm>
          <a:prstGeom prst="rect">
            <a:avLst/>
          </a:prstGeom>
          <a:noFill/>
        </p:spPr>
        <p:txBody>
          <a:bodyPr wrap="square" anchor="t" lIns="0" rIns="0" tIns="0" bIns="0">
            <a:spAutoFit/>
          </a:bodyPr>
          <a:lstStyle/>
          <a:p>
            <a:pPr algn="l"/>
            <a:r>
              <a:rPr sz="950" b="0" i="0">
                <a:solidFill>
                  <a:srgbClr val="6B6690"/>
                </a:solidFill>
                <a:latin typeface="Calibri"/>
              </a:rPr>
              <a:t>nothing anywhere says so</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Round 1, the profile</a:t>
            </a:r>
          </a:p>
        </p:txBody>
      </p:sp>
      <p:sp>
        <p:nvSpPr>
          <p:cNvPr id="30" name="Oval 29"/>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32" name="Oval 31"/>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45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zero is a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coerced file now holds an order worth nothing, and the evidence is gone.</a:t>
            </a:r>
          </a:p>
        </p:txBody>
      </p:sp>
      <p:pic>
        <p:nvPicPr>
          <p:cNvPr id="9" name="mermaid diagram" descr="4535bc539a23e820.png"/>
          <p:cNvPicPr>
            <a:picLocks noChangeAspect="1"/>
          </p:cNvPicPr>
          <p:nvPr/>
        </p:nvPicPr>
        <p:blipFill>
          <a:blip r:embed="rId5"/>
          <a:stretch>
            <a:fillRect/>
          </a:stretch>
        </p:blipFill>
        <p:spPr>
          <a:xfrm>
            <a:off x="780897" y="1878139"/>
            <a:ext cx="10629900" cy="3171825"/>
          </a:xfrm>
          <a:prstGeom prst="rect">
            <a:avLst/>
          </a:prstGeom>
        </p:spPr>
      </p:pic>
      <p:sp>
        <p:nvSpPr>
          <p:cNvPr id="10" name="Rounded Rectangle 9"/>
          <p:cNvSpPr/>
          <p:nvPr/>
        </p:nvSpPr>
        <p:spPr>
          <a:xfrm>
            <a:off x="530352" y="51962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242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1514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Ask the result a business question: can a Kalpa order be worth nothing? The coerced file holds one order at Rs 0, and the smallest real amount in the export is Rs 400.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Round 1, the profile</a:t>
            </a:r>
          </a:p>
        </p:txBody>
      </p:sp>
      <p:sp>
        <p:nvSpPr>
          <p:cNvPr id="17" name="Oval 16"/>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19" name="Oval 18"/>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convert on purpose, and log the failure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conversion returns the number or the reason, and the row is set aside where anyone can read it.</a:t>
            </a:r>
          </a:p>
        </p:txBody>
      </p:sp>
      <p:pic>
        <p:nvPicPr>
          <p:cNvPr id="9" name="mermaid diagram" descr="2f529bb97650b086.png"/>
          <p:cNvPicPr>
            <a:picLocks noChangeAspect="1"/>
          </p:cNvPicPr>
          <p:nvPr/>
        </p:nvPicPr>
        <p:blipFill>
          <a:blip r:embed="rId5"/>
          <a:stretch>
            <a:fillRect/>
          </a:stretch>
        </p:blipFill>
        <p:spPr>
          <a:xfrm>
            <a:off x="2152497" y="1937671"/>
            <a:ext cx="7886700" cy="2786062"/>
          </a:xfrm>
          <a:prstGeom prst="rect">
            <a:avLst/>
          </a:prstGeom>
        </p:spPr>
      </p:pic>
      <p:sp>
        <p:nvSpPr>
          <p:cNvPr id="10" name="Rounded Rectangle 9"/>
          <p:cNvSpPr/>
          <p:nvPr/>
        </p:nvSpPr>
        <p:spPr>
          <a:xfrm>
            <a:off x="530352" y="4870037"/>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9805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88909"/>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rupees did not move: Q1 over the amounts that convert is still Rs 2,09,98,210. One order moved from "sold for Rs 0" to "amount unreadable, set aside on the line the log names", and the profile now reports one failure instead of none.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Round 1, the profile</a:t>
            </a:r>
          </a:p>
        </p:txBody>
      </p:sp>
      <p:sp>
        <p:nvSpPr>
          <p:cNvPr id="17" name="Oval 16"/>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19" name="Oval 18"/>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room's variant: two more files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second source is worth having only once it is profiled too.</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json_bf922a6465c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APP'S FEED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JSON feed</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json.load stops with a JSONDecodeError that names a line and a column. Read it for two minutes, open the file there, then recover the complete records one at a time.</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es_f9bdfbec25d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VENDOR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 short copy of the CSV</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Profile it with the same function before using a row. Which counts do not fit 39 orders in two segments?</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e4d6117bdfb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COMPARISON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Two formats, one question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CSV writes a missing value as an empty string; JSON leaves the key out. Does your profile count both the same way?</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9" name="Oval 28"/>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Round 1, the profile</a:t>
            </a:r>
          </a:p>
        </p:txBody>
      </p:sp>
      <p:sp>
        <p:nvSpPr>
          <p:cNvPr id="31" name="Oval 30"/>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33" name="Oval 32"/>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profile comes first, and a failure is counted next to the successes.</a:t>
            </a:r>
          </a:p>
        </p:txBody>
      </p:sp>
      <p:sp>
        <p:nvSpPr>
          <p:cNvPr id="9" name="Rounded Rectangle 8"/>
          <p:cNvSpPr/>
          <p:nvPr/>
        </p:nvSpPr>
        <p:spPr>
          <a:xfrm>
            <a:off x="530352" y="180213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194843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167890"/>
            <a:ext cx="9987991" cy="682752"/>
          </a:xfrm>
          <a:prstGeom prst="rect">
            <a:avLst/>
          </a:prstGeom>
          <a:noFill/>
        </p:spPr>
        <p:txBody>
          <a:bodyPr wrap="square" anchor="t" lIns="0" rIns="0" tIns="0" bIns="0">
            <a:spAutoFit/>
          </a:bodyPr>
          <a:lstStyle/>
          <a:p>
            <a:r>
              <a:rPr sz="1500" b="0" i="0">
                <a:solidFill>
                  <a:srgbClr val="1A1440"/>
                </a:solidFill>
                <a:latin typeface="Calibri"/>
              </a:rPr>
              <a:t>A conversion that never fails is a conversion that lies. Show me the count of failures next to the count of successes, and the log that names each one.</a:t>
            </a:r>
          </a:p>
        </p:txBody>
      </p:sp>
      <p:sp>
        <p:nvSpPr>
          <p:cNvPr id="14" name="Rounded Rectangle 13"/>
          <p:cNvSpPr/>
          <p:nvPr/>
        </p:nvSpPr>
        <p:spPr>
          <a:xfrm>
            <a:off x="530352" y="308838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29107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400806"/>
            <a:ext cx="237744" cy="237744"/>
          </a:xfrm>
          <a:prstGeom prst="rect">
            <a:avLst/>
          </a:prstGeom>
        </p:spPr>
      </p:pic>
      <p:sp>
        <p:nvSpPr>
          <p:cNvPr id="17" name="TextBox 16"/>
          <p:cNvSpPr txBox="1"/>
          <p:nvPr/>
        </p:nvSpPr>
        <p:spPr>
          <a:xfrm>
            <a:off x="1399031" y="323469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454146"/>
            <a:ext cx="9987991" cy="423672"/>
          </a:xfrm>
          <a:prstGeom prst="rect">
            <a:avLst/>
          </a:prstGeom>
          <a:noFill/>
        </p:spPr>
        <p:txBody>
          <a:bodyPr wrap="square" anchor="t" lIns="0" rIns="0" tIns="0" bIns="0">
            <a:spAutoFit/>
          </a:bodyPr>
          <a:lstStyle/>
          <a:p>
            <a:r>
              <a:rPr sz="1500" b="0" i="0">
                <a:solidFill>
                  <a:srgbClr val="1A1440"/>
                </a:solidFill>
                <a:latin typeface="Calibri"/>
              </a:rPr>
              <a:t>[F] Everything read from a CSV is a string; what breaks and where do you convert?</a:t>
            </a:r>
          </a:p>
        </p:txBody>
      </p:sp>
      <p:sp>
        <p:nvSpPr>
          <p:cNvPr id="19" name="Rounded Rectangle 18"/>
          <p:cNvSpPr/>
          <p:nvPr/>
        </p:nvSpPr>
        <p:spPr>
          <a:xfrm>
            <a:off x="530352" y="411556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31673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426458"/>
            <a:ext cx="237744" cy="237744"/>
          </a:xfrm>
          <a:prstGeom prst="rect">
            <a:avLst/>
          </a:prstGeom>
        </p:spPr>
      </p:pic>
      <p:sp>
        <p:nvSpPr>
          <p:cNvPr id="22" name="TextBox 21"/>
          <p:cNvSpPr txBox="1"/>
          <p:nvPr/>
        </p:nvSpPr>
        <p:spPr>
          <a:xfrm>
            <a:off x="731519" y="488365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ROUND 1</a:t>
            </a:r>
          </a:p>
        </p:txBody>
      </p:sp>
      <p:sp>
        <p:nvSpPr>
          <p:cNvPr id="23" name="TextBox 22"/>
          <p:cNvSpPr txBox="1"/>
          <p:nvPr/>
        </p:nvSpPr>
        <p:spPr>
          <a:xfrm>
            <a:off x="731519" y="512140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462269"/>
            <a:ext cx="5071719" cy="399796"/>
          </a:xfrm>
          <a:prstGeom prst="rect">
            <a:avLst/>
          </a:prstGeom>
          <a:noFill/>
        </p:spPr>
        <p:txBody>
          <a:bodyPr wrap="square" anchor="t" lIns="0" rIns="0" tIns="0" bIns="0">
            <a:spAutoFit/>
          </a:bodyPr>
          <a:lstStyle/>
          <a:p>
            <a:pPr algn="l"/>
            <a:r>
              <a:rPr sz="1100" b="0" i="0">
                <a:solidFill>
                  <a:srgbClr val="6B6690"/>
                </a:solidFill>
                <a:latin typeface="Calibri"/>
              </a:rPr>
              <a:t>201 rows, 186 orders, 200 amounts that convert and 1 in the rejects log.</a:t>
            </a:r>
          </a:p>
        </p:txBody>
      </p:sp>
      <p:sp>
        <p:nvSpPr>
          <p:cNvPr id="25" name="Rounded Rectangle 24"/>
          <p:cNvSpPr/>
          <p:nvPr/>
        </p:nvSpPr>
        <p:spPr>
          <a:xfrm>
            <a:off x="6187287" y="411556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31673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426458"/>
            <a:ext cx="237744" cy="237744"/>
          </a:xfrm>
          <a:prstGeom prst="rect">
            <a:avLst/>
          </a:prstGeom>
        </p:spPr>
      </p:pic>
      <p:sp>
        <p:nvSpPr>
          <p:cNvPr id="28" name="TextBox 27"/>
          <p:cNvSpPr txBox="1"/>
          <p:nvPr/>
        </p:nvSpPr>
        <p:spPr>
          <a:xfrm>
            <a:off x="6388455" y="488365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ROUND 2</a:t>
            </a:r>
          </a:p>
        </p:txBody>
      </p:sp>
      <p:sp>
        <p:nvSpPr>
          <p:cNvPr id="29" name="TextBox 28"/>
          <p:cNvSpPr txBox="1"/>
          <p:nvPr/>
        </p:nvSpPr>
        <p:spPr>
          <a:xfrm>
            <a:off x="6388455" y="5121402"/>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462269"/>
            <a:ext cx="5071719" cy="218186"/>
          </a:xfrm>
          <a:prstGeom prst="rect">
            <a:avLst/>
          </a:prstGeom>
          <a:noFill/>
        </p:spPr>
        <p:txBody>
          <a:bodyPr wrap="square" anchor="t" lIns="0" rIns="0" tIns="0" bIns="0">
            <a:spAutoFit/>
          </a:bodyPr>
          <a:lstStyle/>
          <a:p>
            <a:pPr algn="l"/>
            <a:r>
              <a:rPr sz="1100" b="0" i="0">
                <a:solidFill>
                  <a:srgbClr val="CFC9EE"/>
                </a:solidFill>
                <a:latin typeface="Calibri"/>
              </a:rPr>
              <a:t>Why 15 rows beyond one per order, and what they carry in rupees.</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3" name="Oval 3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Round 1, the profile</a:t>
            </a:r>
          </a:p>
        </p:txBody>
      </p:sp>
      <p:sp>
        <p:nvSpPr>
          <p:cNvPr id="35" name="Oval 3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37" name="Oval 36"/>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45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2, the copies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Say what makes two rows one order before counting any duplicates.</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the profile</a:t>
            </a:r>
          </a:p>
        </p:txBody>
      </p:sp>
      <p:sp>
        <p:nvSpPr>
          <p:cNvPr id="12" name="Rounded Rectangle 11"/>
          <p:cNvSpPr/>
          <p:nvPr/>
        </p:nvSpPr>
        <p:spPr>
          <a:xfrm>
            <a:off x="3281327"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2, the copies</a:t>
            </a:r>
          </a:p>
        </p:txBody>
      </p:sp>
      <p:sp>
        <p:nvSpPr>
          <p:cNvPr id="13" name="Rounded Rectangle 12"/>
          <p:cNvSpPr/>
          <p:nvPr/>
        </p:nvSpPr>
        <p:spPr>
          <a:xfrm>
            <a:off x="4881918"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the proof</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45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extra rows sit in the migration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migration copied rows, the quarter it touched carries the extra rupees.</a:t>
            </a:r>
          </a:p>
        </p:txBody>
      </p:sp>
      <p:pic>
        <p:nvPicPr>
          <p:cNvPr id="9" name="mermaid diagram" descr="77ea9da626fa72da.png"/>
          <p:cNvPicPr>
            <a:picLocks noChangeAspect="1"/>
          </p:cNvPicPr>
          <p:nvPr/>
        </p:nvPicPr>
        <p:blipFill>
          <a:blip r:embed="rId6"/>
          <a:stretch>
            <a:fillRect/>
          </a:stretch>
        </p:blipFill>
        <p:spPr>
          <a:xfrm>
            <a:off x="2633319" y="1664208"/>
            <a:ext cx="6925056" cy="3462528"/>
          </a:xfrm>
          <a:prstGeom prst="rect">
            <a:avLst/>
          </a:prstGeom>
        </p:spPr>
      </p:pic>
      <p:sp>
        <p:nvSpPr>
          <p:cNvPr id="10" name="Rounded Rectangle 9"/>
          <p:cNvSpPr/>
          <p:nvPr/>
        </p:nvSpPr>
        <p:spPr>
          <a:xfrm>
            <a:off x="530352" y="51724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3751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5484876"/>
            <a:ext cx="237744" cy="237744"/>
          </a:xfrm>
          <a:prstGeom prst="rect">
            <a:avLst/>
          </a:prstGeom>
        </p:spPr>
      </p:pic>
      <p:sp>
        <p:nvSpPr>
          <p:cNvPr id="13" name="TextBox 12"/>
          <p:cNvSpPr txBox="1"/>
          <p:nvPr/>
        </p:nvSpPr>
        <p:spPr>
          <a:xfrm>
            <a:off x="1399031" y="53187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5538216"/>
            <a:ext cx="9987991" cy="423672"/>
          </a:xfrm>
          <a:prstGeom prst="rect">
            <a:avLst/>
          </a:prstGeom>
          <a:noFill/>
        </p:spPr>
        <p:txBody>
          <a:bodyPr wrap="square" anchor="t" lIns="0" rIns="0" tIns="0" bIns="0">
            <a:spAutoFit/>
          </a:bodyPr>
          <a:lstStyle/>
          <a:p>
            <a:r>
              <a:rPr sz="1500" b="0" i="0">
                <a:solidFill>
                  <a:srgbClr val="FFFFFF"/>
                </a:solidFill>
                <a:latin typeface="Calibri"/>
              </a:rPr>
              <a:t>"Which Q1 figure is right? My analyst will want to see every row you removed."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19" name="Oval 18"/>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Round 2, the copies</a:t>
            </a:r>
          </a:p>
        </p:txBody>
      </p:sp>
      <p:sp>
        <p:nvSpPr>
          <p:cNvPr id="21" name="Oval 20"/>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45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zero duplicates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rows carry their file line for the rejects log, and a whole-record dedupe finds nothing.</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seen, kept = set(), []</a:t>
            </a:r>
          </a:p>
          <a:p>
            <a:pPr>
              <a:spcAft>
                <a:spcPts val="200"/>
              </a:spcAft>
            </a:pPr>
            <a:r>
              <a:rPr sz="1400" b="0" i="0">
                <a:solidFill>
                  <a:srgbClr val="E4E1F1"/>
                </a:solidFill>
                <a:latin typeface="Consolas"/>
              </a:rPr>
              <a:t>for r in accepted:                       # each r carries r["line"]</a:t>
            </a:r>
          </a:p>
          <a:p>
            <a:pPr>
              <a:spcAft>
                <a:spcPts val="200"/>
              </a:spcAft>
            </a:pPr>
            <a:r>
              <a:rPr sz="1400" b="0" i="0">
                <a:solidFill>
                  <a:srgbClr val="E4E1F1"/>
                </a:solidFill>
                <a:latin typeface="Consolas"/>
              </a:rPr>
              <a:t>    key = tuple(sorted(r.items()))       # the whole record</a:t>
            </a:r>
          </a:p>
          <a:p>
            <a:pPr>
              <a:spcAft>
                <a:spcPts val="200"/>
              </a:spcAft>
            </a:pPr>
            <a:r>
              <a:rPr sz="1400" b="0" i="0">
                <a:solidFill>
                  <a:srgbClr val="E4E1F1"/>
                </a:solidFill>
                <a:latin typeface="Consolas"/>
              </a:rPr>
              <a:t>    if key not in seen:</a:t>
            </a:r>
          </a:p>
          <a:p>
            <a:pPr>
              <a:spcAft>
                <a:spcPts val="200"/>
              </a:spcAft>
            </a:pPr>
            <a:r>
              <a:rPr sz="1400" b="0" i="0">
                <a:solidFill>
                  <a:srgbClr val="E4E1F1"/>
                </a:solidFill>
                <a:latin typeface="Consolas"/>
              </a:rPr>
              <a:t>        seen.add(key); kept.append(r)</a:t>
            </a:r>
          </a:p>
          <a:p>
            <a:pPr>
              <a:spcAft>
                <a:spcPts val="200"/>
              </a:spcAft>
            </a:pPr>
            <a:r>
              <a:rPr sz="1400" b="0" i="0">
                <a:solidFill>
                  <a:srgbClr val="E4E1F1"/>
                </a:solidFill>
                <a:latin typeface="Consolas"/>
              </a:rPr>
              <a:t>len(accepted) - len(kept)                # 0</a:t>
            </a:r>
          </a:p>
        </p:txBody>
      </p:sp>
      <p:sp>
        <p:nvSpPr>
          <p:cNvPr id="14" name="TextBox 13"/>
          <p:cNvSpPr txBox="1"/>
          <p:nvPr/>
        </p:nvSpPr>
        <p:spPr>
          <a:xfrm>
            <a:off x="530352" y="4093463"/>
            <a:ext cx="3527450" cy="508000"/>
          </a:xfrm>
          <a:prstGeom prst="rect">
            <a:avLst/>
          </a:prstGeom>
          <a:noFill/>
        </p:spPr>
        <p:txBody>
          <a:bodyPr wrap="square" anchor="t" lIns="0" rIns="0" tIns="0" bIns="0">
            <a:spAutoFit/>
          </a:bodyPr>
          <a:lstStyle/>
          <a:p>
            <a:pPr algn="l"/>
            <a:r>
              <a:rPr sz="3200" b="0" i="0">
                <a:solidFill>
                  <a:srgbClr val="5B3FD6"/>
                </a:solidFill>
                <a:latin typeface="Georgia"/>
              </a:rPr>
              <a:t>0</a:t>
            </a:r>
          </a:p>
        </p:txBody>
      </p:sp>
      <p:sp>
        <p:nvSpPr>
          <p:cNvPr id="15" name="TextBox 14"/>
          <p:cNvSpPr txBox="1"/>
          <p:nvPr/>
        </p:nvSpPr>
        <p:spPr>
          <a:xfrm>
            <a:off x="530352" y="4638039"/>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DUPLICATES FOUND</a:t>
            </a:r>
          </a:p>
        </p:txBody>
      </p:sp>
      <p:sp>
        <p:nvSpPr>
          <p:cNvPr id="16" name="TextBox 15"/>
          <p:cNvSpPr txBox="1"/>
          <p:nvPr/>
        </p:nvSpPr>
        <p:spPr>
          <a:xfrm>
            <a:off x="530352" y="4839207"/>
            <a:ext cx="3527450" cy="193421"/>
          </a:xfrm>
          <a:prstGeom prst="rect">
            <a:avLst/>
          </a:prstGeom>
          <a:noFill/>
        </p:spPr>
        <p:txBody>
          <a:bodyPr wrap="square" anchor="t" lIns="0" rIns="0" tIns="0" bIns="0">
            <a:spAutoFit/>
          </a:bodyPr>
          <a:lstStyle/>
          <a:p>
            <a:pPr algn="l"/>
            <a:r>
              <a:rPr sz="950" b="0" i="0">
                <a:solidFill>
                  <a:srgbClr val="6B6690"/>
                </a:solidFill>
                <a:latin typeface="Calibri"/>
              </a:rPr>
              <a:t>the whole-record dedupe</a:t>
            </a:r>
          </a:p>
        </p:txBody>
      </p:sp>
      <p:sp>
        <p:nvSpPr>
          <p:cNvPr id="17" name="Rectangle 16"/>
          <p:cNvSpPr/>
          <p:nvPr/>
        </p:nvSpPr>
        <p:spPr>
          <a:xfrm>
            <a:off x="530352" y="5282183"/>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4093463"/>
            <a:ext cx="3527450" cy="508000"/>
          </a:xfrm>
          <a:prstGeom prst="rect">
            <a:avLst/>
          </a:prstGeom>
          <a:noFill/>
        </p:spPr>
        <p:txBody>
          <a:bodyPr wrap="square" anchor="t" lIns="0" rIns="0" tIns="0" bIns="0">
            <a:spAutoFit/>
          </a:bodyPr>
          <a:lstStyle/>
          <a:p>
            <a:pPr algn="l"/>
            <a:r>
              <a:rPr sz="3200" b="0" i="0">
                <a:solidFill>
                  <a:srgbClr val="5B3FD6"/>
                </a:solidFill>
                <a:latin typeface="Georgia"/>
              </a:rPr>
              <a:t>Rs 2,09,98,210</a:t>
            </a:r>
          </a:p>
        </p:txBody>
      </p:sp>
      <p:sp>
        <p:nvSpPr>
          <p:cNvPr id="19" name="TextBox 18"/>
          <p:cNvSpPr txBox="1"/>
          <p:nvPr/>
        </p:nvSpPr>
        <p:spPr>
          <a:xfrm>
            <a:off x="4332122" y="4638039"/>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20" name="TextBox 19"/>
          <p:cNvSpPr txBox="1"/>
          <p:nvPr/>
        </p:nvSpPr>
        <p:spPr>
          <a:xfrm>
            <a:off x="4332122" y="4839207"/>
            <a:ext cx="3527450" cy="193421"/>
          </a:xfrm>
          <a:prstGeom prst="rect">
            <a:avLst/>
          </a:prstGeom>
          <a:noFill/>
        </p:spPr>
        <p:txBody>
          <a:bodyPr wrap="square" anchor="t" lIns="0" rIns="0" tIns="0" bIns="0">
            <a:spAutoFit/>
          </a:bodyPr>
          <a:lstStyle/>
          <a:p>
            <a:pPr algn="l"/>
            <a:r>
              <a:rPr sz="950" b="0" i="0">
                <a:solidFill>
                  <a:srgbClr val="6B6690"/>
                </a:solidFill>
                <a:latin typeface="Calibri"/>
              </a:rPr>
              <a:t>unchanged</a:t>
            </a:r>
          </a:p>
        </p:txBody>
      </p:sp>
      <p:sp>
        <p:nvSpPr>
          <p:cNvPr id="21" name="Rectangle 20"/>
          <p:cNvSpPr/>
          <p:nvPr/>
        </p:nvSpPr>
        <p:spPr>
          <a:xfrm>
            <a:off x="4332122" y="5282183"/>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4093463"/>
            <a:ext cx="3527450" cy="508000"/>
          </a:xfrm>
          <a:prstGeom prst="rect">
            <a:avLst/>
          </a:prstGeom>
          <a:noFill/>
        </p:spPr>
        <p:txBody>
          <a:bodyPr wrap="square" anchor="t" lIns="0" rIns="0" tIns="0" bIns="0">
            <a:spAutoFit/>
          </a:bodyPr>
          <a:lstStyle/>
          <a:p>
            <a:pPr algn="l"/>
            <a:r>
              <a:rPr sz="3200" b="0" i="0">
                <a:solidFill>
                  <a:srgbClr val="5B3FD6"/>
                </a:solidFill>
                <a:latin typeface="Georgia"/>
              </a:rPr>
              <a:t>Rs 20 lakh</a:t>
            </a:r>
          </a:p>
        </p:txBody>
      </p:sp>
      <p:sp>
        <p:nvSpPr>
          <p:cNvPr id="23" name="TextBox 22"/>
          <p:cNvSpPr txBox="1"/>
          <p:nvPr/>
        </p:nvSpPr>
        <p:spPr>
          <a:xfrm>
            <a:off x="8133892" y="4638039"/>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SENT BACK TO FINANCE</a:t>
            </a:r>
          </a:p>
        </p:txBody>
      </p:sp>
      <p:sp>
        <p:nvSpPr>
          <p:cNvPr id="24" name="TextBox 23"/>
          <p:cNvSpPr txBox="1"/>
          <p:nvPr/>
        </p:nvSpPr>
        <p:spPr>
          <a:xfrm>
            <a:off x="8133892" y="4839207"/>
            <a:ext cx="3527450" cy="193421"/>
          </a:xfrm>
          <a:prstGeom prst="rect">
            <a:avLst/>
          </a:prstGeom>
          <a:noFill/>
        </p:spPr>
        <p:txBody>
          <a:bodyPr wrap="square" anchor="t" lIns="0" rIns="0" tIns="0" bIns="0">
            <a:spAutoFit/>
          </a:bodyPr>
          <a:lstStyle/>
          <a:p>
            <a:pPr algn="l"/>
            <a:r>
              <a:rPr sz="950" b="0" i="0">
                <a:solidFill>
                  <a:srgbClr val="6B6690"/>
                </a:solidFill>
                <a:latin typeface="Calibri"/>
              </a:rPr>
              <a:t>as their problem</a:t>
            </a:r>
          </a:p>
        </p:txBody>
      </p:sp>
      <p:sp>
        <p:nvSpPr>
          <p:cNvPr id="25" name="Rectangle 24"/>
          <p:cNvSpPr/>
          <p:nvPr/>
        </p:nvSpPr>
        <p:spPr>
          <a:xfrm>
            <a:off x="8133892" y="5282183"/>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30" name="Oval 29"/>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83321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Round 2, the copies</a:t>
            </a:r>
          </a:p>
        </p:txBody>
      </p:sp>
      <p:sp>
        <p:nvSpPr>
          <p:cNvPr id="32" name="Oval 31"/>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45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line makes every row unique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copies of one order sit on different lines, so a whole-record key can never match.</a:t>
            </a:r>
          </a:p>
        </p:txBody>
      </p:sp>
      <p:pic>
        <p:nvPicPr>
          <p:cNvPr id="9" name="mermaid diagram" descr="5ee2dc862b3f8960.png"/>
          <p:cNvPicPr>
            <a:picLocks noChangeAspect="1"/>
          </p:cNvPicPr>
          <p:nvPr/>
        </p:nvPicPr>
        <p:blipFill>
          <a:blip r:embed="rId5"/>
          <a:stretch>
            <a:fillRect/>
          </a:stretch>
        </p:blipFill>
        <p:spPr>
          <a:xfrm>
            <a:off x="2152497" y="1682496"/>
            <a:ext cx="7886700" cy="3429000"/>
          </a:xfrm>
          <a:prstGeom prst="rect">
            <a:avLst/>
          </a:prstGeom>
        </p:spPr>
      </p:pic>
      <p:sp>
        <p:nvSpPr>
          <p:cNvPr id="10" name="Rounded Rectangle 9"/>
          <p:cNvSpPr/>
          <p:nvPr/>
        </p:nvSpPr>
        <p:spPr>
          <a:xfrm>
            <a:off x="530352" y="52578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858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7667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201 rows and 186 distinct order ids cannot both hold in a file with zero duplicates. The count from round 1 contradicts the dedupe, so the dedupe compared the wrong thing.</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17" name="Oval 16"/>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Round 2, the copies</a:t>
            </a:r>
          </a:p>
        </p:txBody>
      </p:sp>
      <p:sp>
        <p:nvSpPr>
          <p:cNvPr id="19" name="Oval 18"/>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45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identity rule: say what makes two rows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ERP issues one order_id per order, so order_id is the identity.</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062899"/>
                <a:gridCol w="3710330"/>
                <a:gridCol w="4357761"/>
              </a:tblGrid>
              <a:tr h="369824">
                <a:tc>
                  <a:txBody>
                    <a:bodyPr/>
                    <a:lstStyle/>
                    <a:p>
                      <a:r>
                        <a:rPr sz="1450" b="1" i="0">
                          <a:solidFill>
                            <a:srgbClr val="FFFFFF"/>
                          </a:solidFill>
                          <a:latin typeface="Calibri"/>
                        </a:rPr>
                        <a:t>Candidate key</a:t>
                      </a:r>
                    </a:p>
                  </a:txBody>
                  <a:tcPr marL="101600" marR="101600" marT="38100" marB="38100" anchor="ctr">
                    <a:solidFill>
                      <a:srgbClr val="1A0F5C"/>
                    </a:solidFill>
                  </a:tcPr>
                </a:tc>
                <a:tc>
                  <a:txBody>
                    <a:bodyPr/>
                    <a:lstStyle/>
                    <a:p>
                      <a:r>
                        <a:rPr sz="1450" b="1" i="0">
                          <a:solidFill>
                            <a:srgbClr val="FFFFFF"/>
                          </a:solidFill>
                          <a:latin typeface="Calibri"/>
                        </a:rPr>
                        <a:t>What it would say</a:t>
                      </a:r>
                    </a:p>
                  </a:txBody>
                  <a:tcPr marL="101600" marR="101600" marT="38100" marB="38100" anchor="ctr">
                    <a:solidFill>
                      <a:srgbClr val="1A0F5C"/>
                    </a:solidFill>
                  </a:tcPr>
                </a:tc>
                <a:tc>
                  <a:txBody>
                    <a:bodyPr/>
                    <a:lstStyle/>
                    <a:p>
                      <a:r>
                        <a:rPr sz="1450" b="1" i="0">
                          <a:solidFill>
                            <a:srgbClr val="FFFFFF"/>
                          </a:solidFill>
                          <a:latin typeface="Calibri"/>
                        </a:rPr>
                        <a:t>Verdict</a:t>
                      </a:r>
                    </a:p>
                  </a:txBody>
                  <a:tcPr marL="101600" marR="101600" marT="38100" marB="38100" anchor="ctr">
                    <a:solidFill>
                      <a:srgbClr val="1A0F5C"/>
                    </a:solidFill>
                  </a:tcPr>
                </a:tc>
              </a:tr>
              <a:tr h="369824">
                <a:tc>
                  <a:txBody>
                    <a:bodyPr/>
                    <a:lstStyle/>
                    <a:p>
                      <a:r>
                        <a:rPr sz="1400" b="0" i="0">
                          <a:solidFill>
                            <a:srgbClr val="1A1440"/>
                          </a:solidFill>
                          <a:latin typeface="Calibri"/>
                        </a:rPr>
                        <a:t>Every field, line included</a:t>
                      </a:r>
                    </a:p>
                  </a:txBody>
                  <a:tcPr marL="101600" marR="101600" marT="38100" marB="38100" anchor="ctr">
                    <a:solidFill>
                      <a:srgbClr val="FFFFFF"/>
                    </a:solidFill>
                  </a:tcPr>
                </a:tc>
                <a:tc>
                  <a:txBody>
                    <a:bodyPr/>
                    <a:lstStyle/>
                    <a:p>
                      <a:r>
                        <a:rPr sz="1400" b="0" i="0">
                          <a:solidFill>
                            <a:srgbClr val="1A1440"/>
                          </a:solidFill>
                          <a:latin typeface="Calibri"/>
                        </a:rPr>
                        <a:t>Nothing is ever a duplicate</a:t>
                      </a:r>
                    </a:p>
                  </a:txBody>
                  <a:tcPr marL="101600" marR="101600" marT="38100" marB="38100" anchor="ctr">
                    <a:solidFill>
                      <a:srgbClr val="FFFFFF"/>
                    </a:solidFill>
                  </a:tcPr>
                </a:tc>
                <a:tc>
                  <a:txBody>
                    <a:bodyPr/>
                    <a:lstStyle/>
                    <a:p>
                      <a:r>
                        <a:rPr sz="1400" b="0" i="0">
                          <a:solidFill>
                            <a:srgbClr val="1A1440"/>
                          </a:solidFill>
                          <a:latin typeface="Calibri"/>
                        </a:rPr>
                        <a:t>Wrong: bookkeeping is not identity</a:t>
                      </a:r>
                    </a:p>
                  </a:txBody>
                  <a:tcPr marL="101600" marR="101600" marT="38100" marB="38100" anchor="ctr">
                    <a:solidFill>
                      <a:srgbClr val="FFFFFF"/>
                    </a:solidFill>
                  </a:tcPr>
                </a:tc>
              </a:tr>
              <a:tr h="369824">
                <a:tc>
                  <a:txBody>
                    <a:bodyPr/>
                    <a:lstStyle/>
                    <a:p>
                      <a:r>
                        <a:rPr sz="1400" b="0" i="0">
                          <a:solidFill>
                            <a:srgbClr val="1A1440"/>
                          </a:solidFill>
                          <a:latin typeface="Calibri"/>
                        </a:rPr>
                        <a:t>Every field, line excluded</a:t>
                      </a:r>
                    </a:p>
                  </a:txBody>
                  <a:tcPr marL="101600" marR="101600" marT="38100" marB="38100" anchor="ctr">
                    <a:solidFill>
                      <a:srgbClr val="F4F2FA"/>
                    </a:solidFill>
                  </a:tcPr>
                </a:tc>
                <a:tc>
                  <a:txBody>
                    <a:bodyPr/>
                    <a:lstStyle/>
                    <a:p>
                      <a:r>
                        <a:rPr sz="1400" b="0" i="0">
                          <a:solidFill>
                            <a:srgbClr val="1A1440"/>
                          </a:solidFill>
                          <a:latin typeface="Calibri"/>
                        </a:rPr>
                        <a:t>Only exact copies match</a:t>
                      </a:r>
                    </a:p>
                  </a:txBody>
                  <a:tcPr marL="101600" marR="101600" marT="38100" marB="38100" anchor="ctr">
                    <a:solidFill>
                      <a:srgbClr val="F4F2FA"/>
                    </a:solidFill>
                  </a:tcPr>
                </a:tc>
                <a:tc>
                  <a:txBody>
                    <a:bodyPr/>
                    <a:lstStyle/>
                    <a:p>
                      <a:r>
                        <a:rPr sz="1400" b="0" i="0">
                          <a:solidFill>
                            <a:srgbClr val="1A1440"/>
                          </a:solidFill>
                          <a:latin typeface="Calibri"/>
                        </a:rPr>
                        <a:t>Misses copies that differ in one field</a:t>
                      </a:r>
                    </a:p>
                  </a:txBody>
                  <a:tcPr marL="101600" marR="101600" marT="38100" marB="38100" anchor="ctr">
                    <a:solidFill>
                      <a:srgbClr val="F4F2FA"/>
                    </a:solidFill>
                  </a:tcPr>
                </a:tc>
              </a:tr>
              <a:tr h="369824">
                <a:tc>
                  <a:txBody>
                    <a:bodyPr/>
                    <a:lstStyle/>
                    <a:p>
                      <a:r>
                        <a:rPr sz="1400" b="0" i="0">
                          <a:solidFill>
                            <a:srgbClr val="1A1440"/>
                          </a:solidFill>
                          <a:latin typeface="Calibri"/>
                        </a:rPr>
                        <a:t>customer_id and date</a:t>
                      </a:r>
                    </a:p>
                  </a:txBody>
                  <a:tcPr marL="101600" marR="101600" marT="38100" marB="38100" anchor="ctr">
                    <a:solidFill>
                      <a:srgbClr val="FFFFFF"/>
                    </a:solidFill>
                  </a:tcPr>
                </a:tc>
                <a:tc>
                  <a:txBody>
                    <a:bodyPr/>
                    <a:lstStyle/>
                    <a:p>
                      <a:r>
                        <a:rPr sz="1400" b="0" i="0">
                          <a:solidFill>
                            <a:srgbClr val="1A1440"/>
                          </a:solidFill>
                          <a:latin typeface="Calibri"/>
                        </a:rPr>
                        <a:t>Two real orders on one day merge</a:t>
                      </a:r>
                    </a:p>
                  </a:txBody>
                  <a:tcPr marL="101600" marR="101600" marT="38100" marB="38100" anchor="ctr">
                    <a:solidFill>
                      <a:srgbClr val="FFFFFF"/>
                    </a:solidFill>
                  </a:tcPr>
                </a:tc>
                <a:tc>
                  <a:txBody>
                    <a:bodyPr/>
                    <a:lstStyle/>
                    <a:p>
                      <a:r>
                        <a:rPr sz="1400" b="0" i="0">
                          <a:solidFill>
                            <a:srgbClr val="1A1440"/>
                          </a:solidFill>
                          <a:latin typeface="Calibri"/>
                        </a:rPr>
                        <a:t>Wrong: loses revenue</a:t>
                      </a:r>
                    </a:p>
                  </a:txBody>
                  <a:tcPr marL="101600" marR="101600" marT="38100" marB="38100" anchor="ctr">
                    <a:solidFill>
                      <a:srgbClr val="FFFFFF"/>
                    </a:solidFill>
                  </a:tcPr>
                </a:tc>
              </a:tr>
              <a:tr h="369824">
                <a:tc>
                  <a:txBody>
                    <a:bodyPr/>
                    <a:lstStyle/>
                    <a:p>
                      <a:r>
                        <a:rPr sz="1400" b="0" i="0">
                          <a:solidFill>
                            <a:srgbClr val="1A1440"/>
                          </a:solidFill>
                          <a:latin typeface="Calibri"/>
                        </a:rPr>
                        <a:t>order_id</a:t>
                      </a:r>
                    </a:p>
                  </a:txBody>
                  <a:tcPr marL="101600" marR="101600" marT="38100" marB="38100" anchor="ctr">
                    <a:solidFill>
                      <a:srgbClr val="F4F2FA"/>
                    </a:solidFill>
                  </a:tcPr>
                </a:tc>
                <a:tc>
                  <a:txBody>
                    <a:bodyPr/>
                    <a:lstStyle/>
                    <a:p>
                      <a:r>
                        <a:rPr sz="1400" b="0" i="0">
                          <a:solidFill>
                            <a:srgbClr val="1A1440"/>
                          </a:solidFill>
                          <a:latin typeface="Calibri"/>
                        </a:rPr>
                        <a:t>One row per order the ERP issued</a:t>
                      </a:r>
                    </a:p>
                  </a:txBody>
                  <a:tcPr marL="101600" marR="101600" marT="38100" marB="38100" anchor="ctr">
                    <a:solidFill>
                      <a:srgbClr val="F4F2FA"/>
                    </a:solidFill>
                  </a:tcPr>
                </a:tc>
                <a:tc>
                  <a:txBody>
                    <a:bodyPr/>
                    <a:lstStyle/>
                    <a:p>
                      <a:r>
                        <a:rPr sz="1400" b="0" i="0">
                          <a:solidFill>
                            <a:srgbClr val="1A1440"/>
                          </a:solidFill>
                          <a:latin typeface="Calibri"/>
                        </a:rPr>
                        <a:t>The identity rule</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5428335" cy="698500"/>
          </a:xfrm>
          <a:prstGeom prst="rect">
            <a:avLst/>
          </a:prstGeom>
          <a:noFill/>
        </p:spPr>
        <p:txBody>
          <a:bodyPr wrap="square" anchor="t" lIns="0" rIns="0" tIns="0" bIns="0">
            <a:spAutoFit/>
          </a:bodyPr>
          <a:lstStyle/>
          <a:p>
            <a:pPr algn="l"/>
            <a:r>
              <a:rPr sz="4400" b="0" i="0">
                <a:solidFill>
                  <a:srgbClr val="5B3FD6"/>
                </a:solidFill>
                <a:latin typeface="Georgia"/>
              </a:rPr>
              <a:t>186</a:t>
            </a:r>
          </a:p>
        </p:txBody>
      </p:sp>
      <p:sp>
        <p:nvSpPr>
          <p:cNvPr id="11" name="TextBox 10"/>
          <p:cNvSpPr txBox="1"/>
          <p:nvPr/>
        </p:nvSpPr>
        <p:spPr>
          <a:xfrm>
            <a:off x="530352" y="479704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ORDERS KEPT</a:t>
            </a:r>
          </a:p>
        </p:txBody>
      </p:sp>
      <p:sp>
        <p:nvSpPr>
          <p:cNvPr id="12" name="TextBox 11"/>
          <p:cNvSpPr txBox="1"/>
          <p:nvPr/>
        </p:nvSpPr>
        <p:spPr>
          <a:xfrm>
            <a:off x="530352" y="4998212"/>
            <a:ext cx="5428335" cy="193421"/>
          </a:xfrm>
          <a:prstGeom prst="rect">
            <a:avLst/>
          </a:prstGeom>
          <a:noFill/>
        </p:spPr>
        <p:txBody>
          <a:bodyPr wrap="square" anchor="t" lIns="0" rIns="0" tIns="0" bIns="0">
            <a:spAutoFit/>
          </a:bodyPr>
          <a:lstStyle/>
          <a:p>
            <a:pPr algn="l"/>
            <a:r>
              <a:rPr sz="950" b="0" i="0">
                <a:solidFill>
                  <a:srgbClr val="6B6690"/>
                </a:solidFill>
                <a:latin typeface="Calibri"/>
              </a:rPr>
              <a:t>one row per order_id</a:t>
            </a:r>
          </a:p>
        </p:txBody>
      </p:sp>
      <p:sp>
        <p:nvSpPr>
          <p:cNvPr id="13" name="Rectangle 12"/>
          <p:cNvSpPr/>
          <p:nvPr/>
        </p:nvSpPr>
        <p:spPr>
          <a:xfrm>
            <a:off x="530352" y="525068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233007" y="4061968"/>
            <a:ext cx="5428335"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5" name="TextBox 14"/>
          <p:cNvSpPr txBox="1"/>
          <p:nvPr/>
        </p:nvSpPr>
        <p:spPr>
          <a:xfrm>
            <a:off x="6233007" y="479704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 SET ASIDE</a:t>
            </a:r>
          </a:p>
        </p:txBody>
      </p:sp>
      <p:sp>
        <p:nvSpPr>
          <p:cNvPr id="16" name="TextBox 15"/>
          <p:cNvSpPr txBox="1"/>
          <p:nvPr/>
        </p:nvSpPr>
        <p:spPr>
          <a:xfrm>
            <a:off x="6233007" y="4998212"/>
            <a:ext cx="5428335" cy="193421"/>
          </a:xfrm>
          <a:prstGeom prst="rect">
            <a:avLst/>
          </a:prstGeom>
          <a:noFill/>
        </p:spPr>
        <p:txBody>
          <a:bodyPr wrap="square" anchor="t" lIns="0" rIns="0" tIns="0" bIns="0">
            <a:spAutoFit/>
          </a:bodyPr>
          <a:lstStyle/>
          <a:p>
            <a:pPr algn="l"/>
            <a:r>
              <a:rPr sz="950" b="0" i="0">
                <a:solidFill>
                  <a:srgbClr val="6B6690"/>
                </a:solidFill>
                <a:latin typeface="Calibri"/>
              </a:rPr>
              <a:t>each with a reason</a:t>
            </a:r>
          </a:p>
        </p:txBody>
      </p:sp>
      <p:sp>
        <p:nvSpPr>
          <p:cNvPr id="17" name="Rectangle 16"/>
          <p:cNvSpPr/>
          <p:nvPr/>
        </p:nvSpPr>
        <p:spPr>
          <a:xfrm>
            <a:off x="6233007" y="525068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0" name="Oval 19"/>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22" name="Oval 21"/>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83321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Round 2, the copies</a:t>
            </a:r>
          </a:p>
        </p:txBody>
      </p:sp>
      <p:sp>
        <p:nvSpPr>
          <p:cNvPr id="24" name="Oval 23"/>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45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copy of a pair stays?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invented pairs, each sharing an order id.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914400"/>
                <a:gridCol w="5455974"/>
                <a:gridCol w="4760616"/>
              </a:tblGrid>
              <a:tr h="369824">
                <a:tc>
                  <a:txBody>
                    <a:bodyPr/>
                    <a:lstStyle/>
                    <a:p>
                      <a:r>
                        <a:rPr sz="1450" b="1" i="0">
                          <a:solidFill>
                            <a:srgbClr val="FFFFFF"/>
                          </a:solidFill>
                          <a:latin typeface="Calibri"/>
                        </a:rPr>
                        <a:t>Pair</a:t>
                      </a:r>
                    </a:p>
                  </a:txBody>
                  <a:tcPr marL="101600" marR="101600" marT="38100" marB="38100" anchor="ctr">
                    <a:solidFill>
                      <a:srgbClr val="1A0F5C"/>
                    </a:solidFill>
                  </a:tcPr>
                </a:tc>
                <a:tc>
                  <a:txBody>
                    <a:bodyPr/>
                    <a:lstStyle/>
                    <a:p>
                      <a:r>
                        <a:rPr sz="1450" b="1" i="0">
                          <a:solidFill>
                            <a:srgbClr val="FFFFFF"/>
                          </a:solidFill>
                          <a:latin typeface="Calibri"/>
                        </a:rPr>
                        <a:t>Copy one</a:t>
                      </a:r>
                    </a:p>
                  </a:txBody>
                  <a:tcPr marL="101600" marR="101600" marT="38100" marB="38100" anchor="ctr">
                    <a:solidFill>
                      <a:srgbClr val="1A0F5C"/>
                    </a:solidFill>
                  </a:tcPr>
                </a:tc>
                <a:tc>
                  <a:txBody>
                    <a:bodyPr/>
                    <a:lstStyle/>
                    <a:p>
                      <a:r>
                        <a:rPr sz="1450" b="1" i="0">
                          <a:solidFill>
                            <a:srgbClr val="FFFFFF"/>
                          </a:solidFill>
                          <a:latin typeface="Calibri"/>
                        </a:rPr>
                        <a:t>Copy two</a:t>
                      </a:r>
                    </a:p>
                  </a:txBody>
                  <a:tcPr marL="101600" marR="101600" marT="38100" marB="38100" anchor="ctr">
                    <a:solidFill>
                      <a:srgbClr val="1A0F5C"/>
                    </a:solidFill>
                  </a:tcPr>
                </a:tc>
              </a:tr>
              <a:tr h="369824">
                <a:tc>
                  <a:txBody>
                    <a:bodyPr/>
                    <a:lstStyle/>
                    <a:p>
                      <a:r>
                        <a:rPr sz="1400" b="0" i="0">
                          <a:solidFill>
                            <a:srgbClr val="1A1440"/>
                          </a:solidFill>
                          <a:latin typeface="Calibri"/>
                        </a:rPr>
                        <a:t>INV-11</a:t>
                      </a:r>
                    </a:p>
                  </a:txBody>
                  <a:tcPr marL="101600" marR="101600" marT="38100" marB="38100" anchor="ctr">
                    <a:solidFill>
                      <a:srgbClr val="FFFFFF"/>
                    </a:solidFill>
                  </a:tcPr>
                </a:tc>
                <a:tc>
                  <a:txBody>
                    <a:bodyPr/>
                    <a:lstStyle/>
                    <a:p>
                      <a:r>
                        <a:rPr sz="1400" b="0" i="0">
                          <a:solidFill>
                            <a:srgbClr val="1A1440"/>
                          </a:solidFill>
                          <a:latin typeface="Calibri"/>
                        </a:rPr>
                        <a:t>Rs 1,800, 02 May, line 12</a:t>
                      </a:r>
                    </a:p>
                  </a:txBody>
                  <a:tcPr marL="101600" marR="101600" marT="38100" marB="38100" anchor="ctr">
                    <a:solidFill>
                      <a:srgbClr val="FFFFFF"/>
                    </a:solidFill>
                  </a:tcPr>
                </a:tc>
                <a:tc>
                  <a:txBody>
                    <a:bodyPr/>
                    <a:lstStyle/>
                    <a:p>
                      <a:r>
                        <a:rPr sz="1400" b="0" i="0">
                          <a:solidFill>
                            <a:srgbClr val="1A1440"/>
                          </a:solidFill>
                          <a:latin typeface="Calibri"/>
                        </a:rPr>
                        <a:t>Rs 1,800, 02 May, line 90</a:t>
                      </a:r>
                    </a:p>
                  </a:txBody>
                  <a:tcPr marL="101600" marR="101600" marT="38100" marB="38100" anchor="ctr">
                    <a:solidFill>
                      <a:srgbClr val="FFFFFF"/>
                    </a:solidFill>
                  </a:tcPr>
                </a:tc>
              </a:tr>
              <a:tr h="369824">
                <a:tc>
                  <a:txBody>
                    <a:bodyPr/>
                    <a:lstStyle/>
                    <a:p>
                      <a:r>
                        <a:rPr sz="1400" b="0" i="0">
                          <a:solidFill>
                            <a:srgbClr val="1A1440"/>
                          </a:solidFill>
                          <a:latin typeface="Calibri"/>
                        </a:rPr>
                        <a:t>INV-12</a:t>
                      </a:r>
                    </a:p>
                  </a:txBody>
                  <a:tcPr marL="101600" marR="101600" marT="38100" marB="38100" anchor="ctr">
                    <a:solidFill>
                      <a:srgbClr val="F4F2FA"/>
                    </a:solidFill>
                  </a:tcPr>
                </a:tc>
                <a:tc>
                  <a:txBody>
                    <a:bodyPr/>
                    <a:lstStyle/>
                    <a:p>
                      <a:r>
                        <a:rPr sz="1400" b="0" i="0">
                          <a:solidFill>
                            <a:srgbClr val="1A1440"/>
                          </a:solidFill>
                          <a:latin typeface="Calibri"/>
                        </a:rPr>
                        <a:t>amount "n/a", 14 May, line 20</a:t>
                      </a:r>
                    </a:p>
                  </a:txBody>
                  <a:tcPr marL="101600" marR="101600" marT="38100" marB="38100" anchor="ctr">
                    <a:solidFill>
                      <a:srgbClr val="F4F2FA"/>
                    </a:solidFill>
                  </a:tcPr>
                </a:tc>
                <a:tc>
                  <a:txBody>
                    <a:bodyPr/>
                    <a:lstStyle/>
                    <a:p>
                      <a:r>
                        <a:rPr sz="1400" b="0" i="0">
                          <a:solidFill>
                            <a:srgbClr val="1A1440"/>
                          </a:solidFill>
                          <a:latin typeface="Calibri"/>
                        </a:rPr>
                        <a:t>Rs 2,600, 14 May, line 95</a:t>
                      </a:r>
                    </a:p>
                  </a:txBody>
                  <a:tcPr marL="101600" marR="101600" marT="38100" marB="38100" anchor="ctr">
                    <a:solidFill>
                      <a:srgbClr val="F4F2FA"/>
                    </a:solidFill>
                  </a:tcPr>
                </a:tc>
              </a:tr>
              <a:tr h="369824">
                <a:tc>
                  <a:txBody>
                    <a:bodyPr/>
                    <a:lstStyle/>
                    <a:p>
                      <a:r>
                        <a:rPr sz="1400" b="0" i="0">
                          <a:solidFill>
                            <a:srgbClr val="1A1440"/>
                          </a:solidFill>
                          <a:latin typeface="Calibri"/>
                        </a:rPr>
                        <a:t>INV-13</a:t>
                      </a:r>
                    </a:p>
                  </a:txBody>
                  <a:tcPr marL="101600" marR="101600" marT="38100" marB="38100" anchor="ctr">
                    <a:solidFill>
                      <a:srgbClr val="FFFFFF"/>
                    </a:solidFill>
                  </a:tcPr>
                </a:tc>
                <a:tc>
                  <a:txBody>
                    <a:bodyPr/>
                    <a:lstStyle/>
                    <a:p>
                      <a:r>
                        <a:rPr sz="1400" b="0" i="0">
                          <a:solidFill>
                            <a:srgbClr val="1A1440"/>
                          </a:solidFill>
                          <a:latin typeface="Calibri"/>
                        </a:rPr>
                        <a:t>Rs 3,100, 21 Aug, line 40</a:t>
                      </a:r>
                    </a:p>
                  </a:txBody>
                  <a:tcPr marL="101600" marR="101600" marT="38100" marB="38100" anchor="ctr">
                    <a:solidFill>
                      <a:srgbClr val="FFFFFF"/>
                    </a:solidFill>
                  </a:tcPr>
                </a:tc>
                <a:tc>
                  <a:txBody>
                    <a:bodyPr/>
                    <a:lstStyle/>
                    <a:p>
                      <a:r>
                        <a:rPr sz="1400" b="0" i="0">
                          <a:solidFill>
                            <a:srgbClr val="1A1440"/>
                          </a:solidFill>
                          <a:latin typeface="Calibri"/>
                        </a:rPr>
                        <a:t>Rs 3,100, 30 Jul, line 99</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For INV-12, which copy stays, as a letter? a) the first, since the first extract is the original; b) the one whose amount converts; c) both, until Finance decides; d) neither, since the pair disagrees.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17" name="Oval 16"/>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Round 2, the copies</a:t>
            </a:r>
          </a:p>
        </p:txBody>
      </p:sp>
      <p:sp>
        <p:nvSpPr>
          <p:cNvPr id="19" name="Oval 18"/>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45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copy that validates, and a logged doubt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Keeping the first copy would keep the one that cannot be summed.</a:t>
            </a:r>
          </a:p>
        </p:txBody>
      </p:sp>
      <p:pic>
        <p:nvPicPr>
          <p:cNvPr id="9" name="mermaid diagram" descr="d66939448c56cea5.png"/>
          <p:cNvPicPr>
            <a:picLocks noChangeAspect="1"/>
          </p:cNvPicPr>
          <p:nvPr/>
        </p:nvPicPr>
        <p:blipFill>
          <a:blip r:embed="rId6"/>
          <a:stretch>
            <a:fillRect/>
          </a:stretch>
        </p:blipFill>
        <p:spPr>
          <a:xfrm>
            <a:off x="2251710" y="1664208"/>
            <a:ext cx="7688275"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A rule you can say in one sentence, a preference for the copy that validates, and a reason on every row set aside. A doubt the file cannot settle goes to the people who own the source.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19" name="Oval 18"/>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Round 2, the copies</a:t>
            </a:r>
          </a:p>
        </p:txBody>
      </p:sp>
      <p:sp>
        <p:nvSpPr>
          <p:cNvPr id="21" name="Oval 20"/>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45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changed: Q1 lands on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row per order takes Q1 from the dashboard's figure to Finance's.</a:t>
            </a:r>
          </a:p>
        </p:txBody>
      </p:sp>
      <p:sp>
        <p:nvSpPr>
          <p:cNvPr id="9" name="TextBox 8"/>
          <p:cNvSpPr txBox="1"/>
          <p:nvPr/>
        </p:nvSpPr>
        <p:spPr>
          <a:xfrm>
            <a:off x="530352" y="168249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2,09,98,210</a:t>
            </a:r>
          </a:p>
        </p:txBody>
      </p:sp>
      <p:sp>
        <p:nvSpPr>
          <p:cNvPr id="10" name="TextBox 9"/>
          <p:cNvSpPr txBox="1"/>
          <p:nvPr/>
        </p:nvSpPr>
        <p:spPr>
          <a:xfrm>
            <a:off x="530352" y="222707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EXPORTED</a:t>
            </a:r>
          </a:p>
        </p:txBody>
      </p:sp>
      <p:sp>
        <p:nvSpPr>
          <p:cNvPr id="11" name="TextBox 10"/>
          <p:cNvSpPr txBox="1"/>
          <p:nvPr/>
        </p:nvSpPr>
        <p:spPr>
          <a:xfrm>
            <a:off x="530352" y="2428240"/>
            <a:ext cx="3527450" cy="193421"/>
          </a:xfrm>
          <a:prstGeom prst="rect">
            <a:avLst/>
          </a:prstGeom>
          <a:noFill/>
        </p:spPr>
        <p:txBody>
          <a:bodyPr wrap="square" anchor="t" lIns="0" rIns="0" tIns="0" bIns="0">
            <a:spAutoFit/>
          </a:bodyPr>
          <a:lstStyle/>
          <a:p>
            <a:pPr algn="l"/>
            <a:r>
              <a:rPr sz="950" b="0" i="0">
                <a:solidFill>
                  <a:srgbClr val="6B6690"/>
                </a:solidFill>
                <a:latin typeface="Calibri"/>
              </a:rPr>
              <a:t>amounts that convert</a:t>
            </a:r>
          </a:p>
        </p:txBody>
      </p:sp>
      <p:sp>
        <p:nvSpPr>
          <p:cNvPr id="12" name="Rectangle 11"/>
          <p:cNvSpPr/>
          <p:nvPr/>
        </p:nvSpPr>
        <p:spPr>
          <a:xfrm>
            <a:off x="530352" y="287121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68249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4" name="TextBox 13"/>
          <p:cNvSpPr txBox="1"/>
          <p:nvPr/>
        </p:nvSpPr>
        <p:spPr>
          <a:xfrm>
            <a:off x="4332122" y="222707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ONE ROW PER ORDER</a:t>
            </a:r>
          </a:p>
        </p:txBody>
      </p:sp>
      <p:sp>
        <p:nvSpPr>
          <p:cNvPr id="15" name="TextBox 14"/>
          <p:cNvSpPr txBox="1"/>
          <p:nvPr/>
        </p:nvSpPr>
        <p:spPr>
          <a:xfrm>
            <a:off x="4332122" y="2428240"/>
            <a:ext cx="3527450" cy="193421"/>
          </a:xfrm>
          <a:prstGeom prst="rect">
            <a:avLst/>
          </a:prstGeom>
          <a:noFill/>
        </p:spPr>
        <p:txBody>
          <a:bodyPr wrap="square" anchor="t" lIns="0" rIns="0" tIns="0" bIns="0">
            <a:spAutoFit/>
          </a:bodyPr>
          <a:lstStyle/>
          <a:p>
            <a:pPr algn="l"/>
            <a:r>
              <a:rPr sz="950" b="0" i="0">
                <a:solidFill>
                  <a:srgbClr val="6B6690"/>
                </a:solidFill>
                <a:latin typeface="Calibri"/>
              </a:rPr>
              <a:t>Anand's 1.9 crore</a:t>
            </a:r>
          </a:p>
        </p:txBody>
      </p:sp>
      <p:sp>
        <p:nvSpPr>
          <p:cNvPr id="16" name="Rectangle 15"/>
          <p:cNvSpPr/>
          <p:nvPr/>
        </p:nvSpPr>
        <p:spPr>
          <a:xfrm>
            <a:off x="4332122" y="287121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682496"/>
            <a:ext cx="3527450" cy="508000"/>
          </a:xfrm>
          <a:prstGeom prst="rect">
            <a:avLst/>
          </a:prstGeom>
          <a:noFill/>
        </p:spPr>
        <p:txBody>
          <a:bodyPr wrap="square" anchor="t" lIns="0" rIns="0" tIns="0" bIns="0">
            <a:spAutoFit/>
          </a:bodyPr>
          <a:lstStyle/>
          <a:p>
            <a:pPr algn="l"/>
            <a:r>
              <a:rPr sz="3200" b="0" i="0">
                <a:solidFill>
                  <a:srgbClr val="5B3FD6"/>
                </a:solidFill>
                <a:latin typeface="Georgia"/>
              </a:rPr>
              <a:t>14 of 15</a:t>
            </a:r>
          </a:p>
        </p:txBody>
      </p:sp>
      <p:sp>
        <p:nvSpPr>
          <p:cNvPr id="18" name="TextBox 17"/>
          <p:cNvSpPr txBox="1"/>
          <p:nvPr/>
        </p:nvSpPr>
        <p:spPr>
          <a:xfrm>
            <a:off x="8133892" y="222707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SET ASIDE IN Q1</a:t>
            </a:r>
          </a:p>
        </p:txBody>
      </p:sp>
      <p:sp>
        <p:nvSpPr>
          <p:cNvPr id="19" name="TextBox 18"/>
          <p:cNvSpPr txBox="1"/>
          <p:nvPr/>
        </p:nvSpPr>
        <p:spPr>
          <a:xfrm>
            <a:off x="8133892" y="242824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migration's quarter</a:t>
            </a:r>
          </a:p>
        </p:txBody>
      </p:sp>
      <p:sp>
        <p:nvSpPr>
          <p:cNvPr id="20" name="Rectangle 19"/>
          <p:cNvSpPr/>
          <p:nvPr/>
        </p:nvSpPr>
        <p:spPr>
          <a:xfrm>
            <a:off x="8133892" y="287121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mermaid diagram" descr="ad96b1f5c98be8ad.png"/>
          <p:cNvPicPr>
            <a:picLocks noChangeAspect="1"/>
          </p:cNvPicPr>
          <p:nvPr/>
        </p:nvPicPr>
        <p:blipFill>
          <a:blip r:embed="rId5"/>
          <a:stretch>
            <a:fillRect/>
          </a:stretch>
        </p:blipFill>
        <p:spPr>
          <a:xfrm>
            <a:off x="3041751" y="3145536"/>
            <a:ext cx="6108192" cy="3054096"/>
          </a:xfrm>
          <a:prstGeom prst="rect">
            <a:avLst/>
          </a:prstGeom>
        </p:spPr>
      </p:pic>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4" name="Oval 23"/>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26" name="Oval 25"/>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83321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Round 2, the copies</a:t>
            </a:r>
          </a:p>
        </p:txBody>
      </p:sp>
      <p:sp>
        <p:nvSpPr>
          <p:cNvPr id="28" name="Oval 27"/>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45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room's variant: count the rows, weigh the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Fifteen rows sound like one problem; the rupees say it is two.</a:t>
            </a:r>
          </a:p>
        </p:txBody>
      </p:sp>
      <p:pic>
        <p:nvPicPr>
          <p:cNvPr id="9" name="mermaid diagram" descr="22aba67dab940b94.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for pairs. </a:t>
            </a:r>
            <a:r>
              <a:rPr sz="1500" b="0" i="0">
                <a:solidFill>
                  <a:srgbClr val="1A1440"/>
                </a:solidFill>
                <a:latin typeface="Calibri"/>
              </a:rPr>
              <a:t>Of the Rs 19,98,210 removed from Q1, what share did the Business rows carry, given they are 2 of the 14 rows? Compute it in the notebook, then say which conversation each group of rows belongs to.</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17" name="Oval 16"/>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Round 2, the copies</a:t>
            </a:r>
          </a:p>
        </p:txBody>
      </p:sp>
      <p:sp>
        <p:nvSpPr>
          <p:cNvPr id="19" name="Oval 18"/>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45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 identity rule first, a reason per row, and the rupees each group carried.</a:t>
            </a:r>
          </a:p>
        </p:txBody>
      </p:sp>
      <p:sp>
        <p:nvSpPr>
          <p:cNvPr id="9" name="Rounded Rectangle 8"/>
          <p:cNvSpPr/>
          <p:nvPr/>
        </p:nvSpPr>
        <p:spPr>
          <a:xfrm>
            <a:off x="530352" y="180213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194843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167890"/>
            <a:ext cx="9987991" cy="682752"/>
          </a:xfrm>
          <a:prstGeom prst="rect">
            <a:avLst/>
          </a:prstGeom>
          <a:noFill/>
        </p:spPr>
        <p:txBody>
          <a:bodyPr wrap="square" anchor="t" lIns="0" rIns="0" tIns="0" bIns="0">
            <a:spAutoFit/>
          </a:bodyPr>
          <a:lstStyle/>
          <a:p>
            <a:r>
              <a:rPr sz="1500" b="0" i="0">
                <a:solidFill>
                  <a:srgbClr val="1A1440"/>
                </a:solidFill>
                <a:latin typeface="Calibri"/>
              </a:rPr>
              <a:t>Tell me what makes two rows the same order before you tell me how many duplicates there are. A count of duplicates without an identity rule is a count of nothing.</a:t>
            </a:r>
          </a:p>
        </p:txBody>
      </p:sp>
      <p:sp>
        <p:nvSpPr>
          <p:cNvPr id="14" name="Rounded Rectangle 13"/>
          <p:cNvSpPr/>
          <p:nvPr/>
        </p:nvSpPr>
        <p:spPr>
          <a:xfrm>
            <a:off x="530352" y="308838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29107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400806"/>
            <a:ext cx="237744" cy="237744"/>
          </a:xfrm>
          <a:prstGeom prst="rect">
            <a:avLst/>
          </a:prstGeom>
        </p:spPr>
      </p:pic>
      <p:sp>
        <p:nvSpPr>
          <p:cNvPr id="17" name="TextBox 16"/>
          <p:cNvSpPr txBox="1"/>
          <p:nvPr/>
        </p:nvSpPr>
        <p:spPr>
          <a:xfrm>
            <a:off x="1399031" y="323469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454146"/>
            <a:ext cx="9987991" cy="423672"/>
          </a:xfrm>
          <a:prstGeom prst="rect">
            <a:avLst/>
          </a:prstGeom>
          <a:noFill/>
        </p:spPr>
        <p:txBody>
          <a:bodyPr wrap="square" anchor="t" lIns="0" rIns="0" tIns="0" bIns="0">
            <a:spAutoFit/>
          </a:bodyPr>
          <a:lstStyle/>
          <a:p>
            <a:r>
              <a:rPr sz="1500" b="0" i="0">
                <a:solidFill>
                  <a:srgbClr val="1A1440"/>
                </a:solidFill>
                <a:latin typeface="Calibri"/>
              </a:rPr>
              <a:t>[F] How do you find duplicates, and what makes two records the same?</a:t>
            </a:r>
          </a:p>
        </p:txBody>
      </p:sp>
      <p:sp>
        <p:nvSpPr>
          <p:cNvPr id="19" name="Rounded Rectangle 18"/>
          <p:cNvSpPr/>
          <p:nvPr/>
        </p:nvSpPr>
        <p:spPr>
          <a:xfrm>
            <a:off x="530352" y="411556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31673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426458"/>
            <a:ext cx="237744" cy="237744"/>
          </a:xfrm>
          <a:prstGeom prst="rect">
            <a:avLst/>
          </a:prstGeom>
        </p:spPr>
      </p:pic>
      <p:sp>
        <p:nvSpPr>
          <p:cNvPr id="22" name="TextBox 21"/>
          <p:cNvSpPr txBox="1"/>
          <p:nvPr/>
        </p:nvSpPr>
        <p:spPr>
          <a:xfrm>
            <a:off x="731519" y="488365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ROUND 2</a:t>
            </a:r>
          </a:p>
        </p:txBody>
      </p:sp>
      <p:sp>
        <p:nvSpPr>
          <p:cNvPr id="23" name="TextBox 22"/>
          <p:cNvSpPr txBox="1"/>
          <p:nvPr/>
        </p:nvSpPr>
        <p:spPr>
          <a:xfrm>
            <a:off x="731519" y="512140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462269"/>
            <a:ext cx="5071719" cy="399796"/>
          </a:xfrm>
          <a:prstGeom prst="rect">
            <a:avLst/>
          </a:prstGeom>
          <a:noFill/>
        </p:spPr>
        <p:txBody>
          <a:bodyPr wrap="square" anchor="t" lIns="0" rIns="0" tIns="0" bIns="0">
            <a:spAutoFit/>
          </a:bodyPr>
          <a:lstStyle/>
          <a:p>
            <a:pPr algn="l"/>
            <a:r>
              <a:rPr sz="1100" b="0" i="0">
                <a:solidFill>
                  <a:srgbClr val="6B6690"/>
                </a:solidFill>
                <a:latin typeface="Calibri"/>
              </a:rPr>
              <a:t>186 orders by order_id, 15 rows set aside with reasons, Q1 at Rs 1,90,00,000.</a:t>
            </a:r>
          </a:p>
        </p:txBody>
      </p:sp>
      <p:sp>
        <p:nvSpPr>
          <p:cNvPr id="25" name="Rounded Rectangle 24"/>
          <p:cNvSpPr/>
          <p:nvPr/>
        </p:nvSpPr>
        <p:spPr>
          <a:xfrm>
            <a:off x="6187287" y="411556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31673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426458"/>
            <a:ext cx="237744" cy="237744"/>
          </a:xfrm>
          <a:prstGeom prst="rect">
            <a:avLst/>
          </a:prstGeom>
        </p:spPr>
      </p:pic>
      <p:sp>
        <p:nvSpPr>
          <p:cNvPr id="28" name="TextBox 27"/>
          <p:cNvSpPr txBox="1"/>
          <p:nvPr/>
        </p:nvSpPr>
        <p:spPr>
          <a:xfrm>
            <a:off x="6388455" y="488365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ROUND 3</a:t>
            </a:r>
          </a:p>
        </p:txBody>
      </p:sp>
      <p:sp>
        <p:nvSpPr>
          <p:cNvPr id="29" name="TextBox 28"/>
          <p:cNvSpPr txBox="1"/>
          <p:nvPr/>
        </p:nvSpPr>
        <p:spPr>
          <a:xfrm>
            <a:off x="6388455" y="5121402"/>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462269"/>
            <a:ext cx="5071719" cy="399796"/>
          </a:xfrm>
          <a:prstGeom prst="rect">
            <a:avLst/>
          </a:prstGeom>
          <a:noFill/>
        </p:spPr>
        <p:txBody>
          <a:bodyPr wrap="square" anchor="t" lIns="0" rIns="0" tIns="0" bIns="0">
            <a:spAutoFit/>
          </a:bodyPr>
          <a:lstStyle/>
          <a:p>
            <a:pPr algn="l"/>
            <a:r>
              <a:rPr sz="1100" b="0" i="0">
                <a:solidFill>
                  <a:srgbClr val="CFC9EE"/>
                </a:solidFill>
                <a:latin typeface="Calibri"/>
              </a:rPr>
              <a:t>Two decisions left, the proof in rupees, and what this does to Tuesday.</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3" name="Oval 3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35" name="Oval 34"/>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83321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Round 2, the copies</a:t>
            </a:r>
          </a:p>
        </p:txBody>
      </p:sp>
      <p:sp>
        <p:nvSpPr>
          <p:cNvPr id="37" name="Oval 36"/>
          <p:cNvSpPr/>
          <p:nvPr/>
        </p:nvSpPr>
        <p:spPr>
          <a:xfrm>
            <a:off x="4073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18280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Round 3, the proof</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45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3, the proof</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Keep what is real, reconcile twice, and say what changed downstream.</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the profile</a:t>
            </a:r>
          </a:p>
        </p:txBody>
      </p:sp>
      <p:sp>
        <p:nvSpPr>
          <p:cNvPr id="12" name="Rounded Rectangle 11"/>
          <p:cNvSpPr/>
          <p:nvPr/>
        </p:nvSpPr>
        <p:spPr>
          <a:xfrm>
            <a:off x="328132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the copies</a:t>
            </a:r>
          </a:p>
        </p:txBody>
      </p:sp>
      <p:sp>
        <p:nvSpPr>
          <p:cNvPr id="13" name="Rounded Rectangle 12"/>
          <p:cNvSpPr/>
          <p:nvPr/>
        </p:nvSpPr>
        <p:spPr>
          <a:xfrm>
            <a:off x="4881918"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3, the proof</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45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proof Anand asked for,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decisions are still open, and the proof has to satisfy an analyst who ties out to the rupee.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"Which figure is right, how do you know, and can my analyst follow every decision? And tell Marketing whether Tuesday's finding survives."</a:t>
            </a:r>
          </a:p>
        </p:txBody>
      </p:sp>
      <p:pic>
        <p:nvPicPr>
          <p:cNvPr id="14" name="mermaid diagram" descr="0a847537cfa2081b.png"/>
          <p:cNvPicPr>
            <a:picLocks noChangeAspect="1"/>
          </p:cNvPicPr>
          <p:nvPr/>
        </p:nvPicPr>
        <p:blipFill>
          <a:blip r:embed="rId6"/>
          <a:stretch>
            <a:fillRect/>
          </a:stretch>
        </p:blipFill>
        <p:spPr>
          <a:xfrm>
            <a:off x="780897" y="3243072"/>
            <a:ext cx="10629900" cy="254317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21" name="Oval 20"/>
          <p:cNvSpPr/>
          <p:nvPr/>
        </p:nvSpPr>
        <p:spPr>
          <a:xfrm>
            <a:off x="4073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8280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Round 3, the proof</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32 / 45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one order has no status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decisions are available, and each moves a different number.</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3694924"/>
                <a:gridCol w="3529862"/>
                <a:gridCol w="3906203"/>
              </a:tblGrid>
              <a:tr h="369824">
                <a:tc>
                  <a:txBody>
                    <a:bodyPr/>
                    <a:lstStyle/>
                    <a:p>
                      <a:r>
                        <a:rPr sz="1450" b="1" i="0">
                          <a:solidFill>
                            <a:srgbClr val="FFFFFF"/>
                          </a:solidFill>
                          <a:latin typeface="Calibri"/>
                        </a:rPr>
                        <a:t>Decision</a:t>
                      </a:r>
                    </a:p>
                  </a:txBody>
                  <a:tcPr marL="101600" marR="101600" marT="38100" marB="38100" anchor="ctr">
                    <a:solidFill>
                      <a:srgbClr val="1A0F5C"/>
                    </a:solidFill>
                  </a:tcPr>
                </a:tc>
                <a:tc>
                  <a:txBody>
                    <a:bodyPr/>
                    <a:lstStyle/>
                    <a:p>
                      <a:r>
                        <a:rPr sz="1450" b="1" i="0">
                          <a:solidFill>
                            <a:srgbClr val="FFFFFF"/>
                          </a:solidFill>
                          <a:latin typeface="Calibri"/>
                        </a:rPr>
                        <a:t>Q2 revenue</a:t>
                      </a:r>
                    </a:p>
                  </a:txBody>
                  <a:tcPr marL="101600" marR="101600" marT="38100" marB="38100" anchor="ctr">
                    <a:solidFill>
                      <a:srgbClr val="1A0F5C"/>
                    </a:solidFill>
                  </a:tcPr>
                </a:tc>
                <a:tc>
                  <a:txBody>
                    <a:bodyPr/>
                    <a:lstStyle/>
                    <a:p>
                      <a:r>
                        <a:rPr sz="1450" b="1" i="0">
                          <a:solidFill>
                            <a:srgbClr val="FFFFFF"/>
                          </a:solidFill>
                          <a:latin typeface="Calibri"/>
                        </a:rPr>
                        <a:t>Q2 delivered orders</a:t>
                      </a:r>
                    </a:p>
                  </a:txBody>
                  <a:tcPr marL="101600" marR="101600" marT="38100" marB="38100" anchor="ctr">
                    <a:solidFill>
                      <a:srgbClr val="1A0F5C"/>
                    </a:solidFill>
                  </a:tcPr>
                </a:tc>
              </a:tr>
              <a:tr h="369824">
                <a:tc>
                  <a:txBody>
                    <a:bodyPr/>
                    <a:lstStyle/>
                    <a:p>
                      <a:r>
                        <a:rPr sz="1400" b="0" i="0">
                          <a:solidFill>
                            <a:srgbClr val="1A1440"/>
                          </a:solidFill>
                          <a:latin typeface="Calibri"/>
                        </a:rPr>
                        <a:t>Drop the order</a:t>
                      </a:r>
                    </a:p>
                  </a:txBody>
                  <a:tcPr marL="101600" marR="101600" marT="38100" marB="38100" anchor="ctr">
                    <a:solidFill>
                      <a:srgbClr val="FFFFFF"/>
                    </a:solidFill>
                  </a:tcPr>
                </a:tc>
                <a:tc>
                  <a:txBody>
                    <a:bodyPr/>
                    <a:lstStyle/>
                    <a:p>
                      <a:r>
                        <a:rPr sz="1400" b="0" i="0">
                          <a:solidFill>
                            <a:srgbClr val="1A1440"/>
                          </a:solidFill>
                          <a:latin typeface="Calibri"/>
                        </a:rPr>
                        <a:t>falls by its amount</a:t>
                      </a:r>
                    </a:p>
                  </a:txBody>
                  <a:tcPr marL="101600" marR="101600" marT="38100" marB="38100" anchor="ctr">
                    <a:solidFill>
                      <a:srgbClr val="FFFFFF"/>
                    </a:solidFill>
                  </a:tcPr>
                </a:tc>
                <a:tc>
                  <a:txBody>
                    <a:bodyPr/>
                    <a:lstStyle/>
                    <a:p>
                      <a:r>
                        <a:rPr sz="1400" b="0" i="0">
                          <a:solidFill>
                            <a:srgbClr val="1A1440"/>
                          </a:solidFill>
                          <a:latin typeface="Calibri"/>
                        </a:rPr>
                        <a:t>unchanged</a:t>
                      </a:r>
                    </a:p>
                  </a:txBody>
                  <a:tcPr marL="101600" marR="101600" marT="38100" marB="38100" anchor="ctr">
                    <a:solidFill>
                      <a:srgbClr val="FFFFFF"/>
                    </a:solidFill>
                  </a:tcPr>
                </a:tc>
              </a:tr>
              <a:tr h="369824">
                <a:tc>
                  <a:txBody>
                    <a:bodyPr/>
                    <a:lstStyle/>
                    <a:p>
                      <a:r>
                        <a:rPr sz="1400" b="0" i="0">
                          <a:solidFill>
                            <a:srgbClr val="1A1440"/>
                          </a:solidFill>
                          <a:latin typeface="Calibri"/>
                        </a:rPr>
                        <a:t>Default to delivered</a:t>
                      </a:r>
                    </a:p>
                  </a:txBody>
                  <a:tcPr marL="101600" marR="101600" marT="38100" marB="38100" anchor="ctr">
                    <a:solidFill>
                      <a:srgbClr val="F4F2FA"/>
                    </a:solidFill>
                  </a:tcPr>
                </a:tc>
                <a:tc>
                  <a:txBody>
                    <a:bodyPr/>
                    <a:lstStyle/>
                    <a:p>
                      <a:r>
                        <a:rPr sz="1400" b="0" i="0">
                          <a:solidFill>
                            <a:srgbClr val="1A1440"/>
                          </a:solidFill>
                          <a:latin typeface="Calibri"/>
                        </a:rPr>
                        <a:t>unchanged</a:t>
                      </a:r>
                    </a:p>
                  </a:txBody>
                  <a:tcPr marL="101600" marR="101600" marT="38100" marB="38100" anchor="ctr">
                    <a:solidFill>
                      <a:srgbClr val="F4F2FA"/>
                    </a:solidFill>
                  </a:tcPr>
                </a:tc>
                <a:tc>
                  <a:txBody>
                    <a:bodyPr/>
                    <a:lstStyle/>
                    <a:p>
                      <a:r>
                        <a:rPr sz="1400" b="0" i="0">
                          <a:solidFill>
                            <a:srgbClr val="1A1440"/>
                          </a:solidFill>
                          <a:latin typeface="Calibri"/>
                        </a:rPr>
                        <a:t>one more</a:t>
                      </a:r>
                    </a:p>
                  </a:txBody>
                  <a:tcPr marL="101600" marR="101600" marT="38100" marB="38100" anchor="ctr">
                    <a:solidFill>
                      <a:srgbClr val="F4F2FA"/>
                    </a:solidFill>
                  </a:tcPr>
                </a:tc>
              </a:tr>
              <a:tr h="369824">
                <a:tc>
                  <a:txBody>
                    <a:bodyPr/>
                    <a:lstStyle/>
                    <a:p>
                      <a:r>
                        <a:rPr sz="1400" b="0" i="0">
                          <a:solidFill>
                            <a:srgbClr val="1A1440"/>
                          </a:solidFill>
                          <a:latin typeface="Calibri"/>
                        </a:rPr>
                        <a:t>Keep and flag</a:t>
                      </a:r>
                    </a:p>
                  </a:txBody>
                  <a:tcPr marL="101600" marR="101600" marT="38100" marB="38100" anchor="ctr">
                    <a:solidFill>
                      <a:srgbClr val="FFFFFF"/>
                    </a:solidFill>
                  </a:tcPr>
                </a:tc>
                <a:tc>
                  <a:txBody>
                    <a:bodyPr/>
                    <a:lstStyle/>
                    <a:p>
                      <a:r>
                        <a:rPr sz="1400" b="0" i="0">
                          <a:solidFill>
                            <a:srgbClr val="1A1440"/>
                          </a:solidFill>
                          <a:latin typeface="Calibri"/>
                        </a:rPr>
                        <a:t>unchanged</a:t>
                      </a:r>
                    </a:p>
                  </a:txBody>
                  <a:tcPr marL="101600" marR="101600" marT="38100" marB="38100" anchor="ctr">
                    <a:solidFill>
                      <a:srgbClr val="FFFFFF"/>
                    </a:solidFill>
                  </a:tcPr>
                </a:tc>
                <a:tc>
                  <a:txBody>
                    <a:bodyPr/>
                    <a:lstStyle/>
                    <a:p>
                      <a:r>
                        <a:rPr sz="1400" b="0" i="0">
                          <a:solidFill>
                            <a:srgbClr val="1A1440"/>
                          </a:solidFill>
                          <a:latin typeface="Calibri"/>
                        </a:rPr>
                        <a:t>unchanged</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decision leaves both numbers honest, as a letter? a) drop the order; b) default the status to delivered; c) keep the order and flag the status as unknown; d) default the status to cancelled.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17" name="Oval 16"/>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19" name="Oval 18"/>
          <p:cNvSpPr/>
          <p:nvPr/>
        </p:nvSpPr>
        <p:spPr>
          <a:xfrm>
            <a:off x="4073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8280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Round 3, the proof</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33 / 45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keep and flag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Revenue stays whole, and the order stays out of every count that needs its fate.</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ash-2_5b6f5b34c6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DROP</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order never happened</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Removes a booked order Finance has in its books.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encil_56f1d29da18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DEFAULT</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 fact nobody recorded</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Adds a delivery, or a cancellation, that the data cannot support.</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flag_e1b9353c65a1.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KEEP AND FLAG</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It happened; its fate is unknown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Q2 stays at Rs 1,87,00,000, and one line in the log says which order, which field and why.</a:t>
            </a:r>
          </a:p>
        </p:txBody>
      </p:sp>
      <p:sp>
        <p:nvSpPr>
          <p:cNvPr id="27" name="Rounded Rectangle 26"/>
          <p:cNvSpPr/>
          <p:nvPr/>
        </p:nvSpPr>
        <p:spPr>
          <a:xfrm>
            <a:off x="530352" y="42941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6263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earch-check_6571e64a041f.png"/>
          <p:cNvPicPr>
            <a:picLocks noChangeAspect="1"/>
          </p:cNvPicPr>
          <p:nvPr/>
        </p:nvPicPr>
        <p:blipFill>
          <a:blip r:embed="rId7"/>
          <a:stretch>
            <a:fillRect/>
          </a:stretch>
        </p:blipFill>
        <p:spPr>
          <a:xfrm>
            <a:off x="868680" y="4736084"/>
            <a:ext cx="237744" cy="237744"/>
          </a:xfrm>
          <a:prstGeom prst="rect">
            <a:avLst/>
          </a:prstGeom>
        </p:spPr>
      </p:pic>
      <p:sp>
        <p:nvSpPr>
          <p:cNvPr id="30" name="TextBox 29"/>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1" name="TextBox 30"/>
          <p:cNvSpPr txBox="1"/>
          <p:nvPr/>
        </p:nvSpPr>
        <p:spPr>
          <a:xfrm>
            <a:off x="1399031" y="4659884"/>
            <a:ext cx="9987991" cy="682752"/>
          </a:xfrm>
          <a:prstGeom prst="rect">
            <a:avLst/>
          </a:prstGeom>
          <a:noFill/>
        </p:spPr>
        <p:txBody>
          <a:bodyPr wrap="square" anchor="t" lIns="0" rIns="0" tIns="0" bIns="0">
            <a:spAutoFit/>
          </a:bodyPr>
          <a:lstStyle/>
          <a:p>
            <a:r>
              <a:rPr sz="1500" b="0" i="0">
                <a:solidFill>
                  <a:srgbClr val="1A1440"/>
                </a:solidFill>
                <a:latin typeface="Calibri"/>
              </a:rPr>
              <a:t>Every cleaning act is drop, default, or keep and flag, and every one gets a line in the log with its reason.</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4" name="Oval 33"/>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36" name="Oval 35"/>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38" name="Oval 37"/>
          <p:cNvSpPr/>
          <p:nvPr/>
        </p:nvSpPr>
        <p:spPr>
          <a:xfrm>
            <a:off x="4073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18280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Round 3, the proof</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45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bulk order removed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Q2 order sits 1.66 times above the next, and a hurried fence takes it out.</a:t>
            </a:r>
          </a:p>
        </p:txBody>
      </p:sp>
      <p:sp>
        <p:nvSpPr>
          <p:cNvPr id="9" name="TextBox 8"/>
          <p:cNvSpPr txBox="1"/>
          <p:nvPr/>
        </p:nvSpPr>
        <p:spPr>
          <a:xfrm>
            <a:off x="530352" y="168249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1,57,54,540</a:t>
            </a:r>
          </a:p>
        </p:txBody>
      </p:sp>
      <p:sp>
        <p:nvSpPr>
          <p:cNvPr id="10" name="TextBox 9"/>
          <p:cNvSpPr txBox="1"/>
          <p:nvPr/>
        </p:nvSpPr>
        <p:spPr>
          <a:xfrm>
            <a:off x="530352" y="222707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WITHOUT IT</a:t>
            </a:r>
          </a:p>
        </p:txBody>
      </p:sp>
      <p:sp>
        <p:nvSpPr>
          <p:cNvPr id="11" name="TextBox 10"/>
          <p:cNvSpPr txBox="1"/>
          <p:nvPr/>
        </p:nvSpPr>
        <p:spPr>
          <a:xfrm>
            <a:off x="530352" y="2428240"/>
            <a:ext cx="3527450" cy="193421"/>
          </a:xfrm>
          <a:prstGeom prst="rect">
            <a:avLst/>
          </a:prstGeom>
          <a:noFill/>
        </p:spPr>
        <p:txBody>
          <a:bodyPr wrap="square" anchor="t" lIns="0" rIns="0" tIns="0" bIns="0">
            <a:spAutoFit/>
          </a:bodyPr>
          <a:lstStyle/>
          <a:p>
            <a:pPr algn="l"/>
            <a:r>
              <a:rPr sz="950" b="0" i="0">
                <a:solidFill>
                  <a:srgbClr val="6B6690"/>
                </a:solidFill>
                <a:latin typeface="Calibri"/>
              </a:rPr>
              <a:t>the hurried figure</a:t>
            </a:r>
          </a:p>
        </p:txBody>
      </p:sp>
      <p:sp>
        <p:nvSpPr>
          <p:cNvPr id="12" name="Rectangle 11"/>
          <p:cNvSpPr/>
          <p:nvPr/>
        </p:nvSpPr>
        <p:spPr>
          <a:xfrm>
            <a:off x="530352" y="287121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682496"/>
            <a:ext cx="3527450" cy="508000"/>
          </a:xfrm>
          <a:prstGeom prst="rect">
            <a:avLst/>
          </a:prstGeom>
          <a:noFill/>
        </p:spPr>
        <p:txBody>
          <a:bodyPr wrap="square" anchor="t" lIns="0" rIns="0" tIns="0" bIns="0">
            <a:spAutoFit/>
          </a:bodyPr>
          <a:lstStyle/>
          <a:p>
            <a:pPr algn="l"/>
            <a:r>
              <a:rPr sz="3200" b="0" i="0">
                <a:solidFill>
                  <a:srgbClr val="5B3FD6"/>
                </a:solidFill>
                <a:latin typeface="Georgia"/>
              </a:rPr>
              <a:t>17.1%</a:t>
            </a:r>
          </a:p>
        </p:txBody>
      </p:sp>
      <p:sp>
        <p:nvSpPr>
          <p:cNvPr id="14" name="TextBox 13"/>
          <p:cNvSpPr txBox="1"/>
          <p:nvPr/>
        </p:nvSpPr>
        <p:spPr>
          <a:xfrm>
            <a:off x="4332122" y="222707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DROP</a:t>
            </a:r>
          </a:p>
        </p:txBody>
      </p:sp>
      <p:sp>
        <p:nvSpPr>
          <p:cNvPr id="15" name="TextBox 14"/>
          <p:cNvSpPr txBox="1"/>
          <p:nvPr/>
        </p:nvSpPr>
        <p:spPr>
          <a:xfrm>
            <a:off x="4332122" y="2428240"/>
            <a:ext cx="3527450" cy="193421"/>
          </a:xfrm>
          <a:prstGeom prst="rect">
            <a:avLst/>
          </a:prstGeom>
          <a:noFill/>
        </p:spPr>
        <p:txBody>
          <a:bodyPr wrap="square" anchor="t" lIns="0" rIns="0" tIns="0" bIns="0">
            <a:spAutoFit/>
          </a:bodyPr>
          <a:lstStyle/>
          <a:p>
            <a:pPr algn="l"/>
            <a:r>
              <a:rPr sz="950" b="0" i="0">
                <a:solidFill>
                  <a:srgbClr val="6B6690"/>
                </a:solidFill>
                <a:latin typeface="Calibri"/>
              </a:rPr>
              <a:t>Q1 1.90 crore to Q2 1.58</a:t>
            </a:r>
          </a:p>
        </p:txBody>
      </p:sp>
      <p:sp>
        <p:nvSpPr>
          <p:cNvPr id="16" name="Rectangle 15"/>
          <p:cNvSpPr/>
          <p:nvPr/>
        </p:nvSpPr>
        <p:spPr>
          <a:xfrm>
            <a:off x="4332122" y="287121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682496"/>
            <a:ext cx="3527450" cy="508000"/>
          </a:xfrm>
          <a:prstGeom prst="rect">
            <a:avLst/>
          </a:prstGeom>
          <a:noFill/>
        </p:spPr>
        <p:txBody>
          <a:bodyPr wrap="square" anchor="t" lIns="0" rIns="0" tIns="0" bIns="0">
            <a:spAutoFit/>
          </a:bodyPr>
          <a:lstStyle/>
          <a:p>
            <a:pPr algn="l"/>
            <a:r>
              <a:rPr sz="3200" b="0" i="0">
                <a:solidFill>
                  <a:srgbClr val="5B3FD6"/>
                </a:solidFill>
                <a:latin typeface="Georgia"/>
              </a:rPr>
              <a:t>1.6%</a:t>
            </a:r>
          </a:p>
        </p:txBody>
      </p:sp>
      <p:sp>
        <p:nvSpPr>
          <p:cNvPr id="18" name="TextBox 17"/>
          <p:cNvSpPr txBox="1"/>
          <p:nvPr/>
        </p:nvSpPr>
        <p:spPr>
          <a:xfrm>
            <a:off x="8133892" y="222707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DROP WITH IT KEPT</a:t>
            </a:r>
          </a:p>
        </p:txBody>
      </p:sp>
      <p:sp>
        <p:nvSpPr>
          <p:cNvPr id="19" name="TextBox 18"/>
          <p:cNvSpPr txBox="1"/>
          <p:nvPr/>
        </p:nvSpPr>
        <p:spPr>
          <a:xfrm>
            <a:off x="8133892" y="2428240"/>
            <a:ext cx="3527450" cy="193421"/>
          </a:xfrm>
          <a:prstGeom prst="rect">
            <a:avLst/>
          </a:prstGeom>
          <a:noFill/>
        </p:spPr>
        <p:txBody>
          <a:bodyPr wrap="square" anchor="t" lIns="0" rIns="0" tIns="0" bIns="0">
            <a:spAutoFit/>
          </a:bodyPr>
          <a:lstStyle/>
          <a:p>
            <a:pPr algn="l"/>
            <a:r>
              <a:rPr sz="950" b="0" i="0">
                <a:solidFill>
                  <a:srgbClr val="6B6690"/>
                </a:solidFill>
                <a:latin typeface="Calibri"/>
              </a:rPr>
              <a:t>Q1 1.90 crore to Q2 1.87</a:t>
            </a:r>
          </a:p>
        </p:txBody>
      </p:sp>
      <p:sp>
        <p:nvSpPr>
          <p:cNvPr id="20" name="Rectangle 19"/>
          <p:cNvSpPr/>
          <p:nvPr/>
        </p:nvSpPr>
        <p:spPr>
          <a:xfrm>
            <a:off x="8133892" y="287121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mermaid diagram" descr="6a0e8e06268b393c.png"/>
          <p:cNvPicPr>
            <a:picLocks noChangeAspect="1"/>
          </p:cNvPicPr>
          <p:nvPr/>
        </p:nvPicPr>
        <p:blipFill>
          <a:blip r:embed="rId5"/>
          <a:stretch>
            <a:fillRect/>
          </a:stretch>
        </p:blipFill>
        <p:spPr>
          <a:xfrm>
            <a:off x="3041751" y="3145536"/>
            <a:ext cx="6108192" cy="3054096"/>
          </a:xfrm>
          <a:prstGeom prst="rect">
            <a:avLst/>
          </a:prstGeom>
        </p:spPr>
      </p:pic>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4" name="Oval 23"/>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26" name="Oval 25"/>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28" name="Oval 27"/>
          <p:cNvSpPr/>
          <p:nvPr/>
        </p:nvSpPr>
        <p:spPr>
          <a:xfrm>
            <a:off x="4073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18280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Round 3, the proof</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35 / 45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large is not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Check the record, not its size: a valid id, a known buyer, every field converting.</a:t>
            </a:r>
          </a:p>
        </p:txBody>
      </p:sp>
      <p:pic>
        <p:nvPicPr>
          <p:cNvPr id="9" name="mermaid diagram" descr="e12cb202dc686f9f.png"/>
          <p:cNvPicPr>
            <a:picLocks noChangeAspect="1"/>
          </p:cNvPicPr>
          <p:nvPr/>
        </p:nvPicPr>
        <p:blipFill>
          <a:blip r:embed="rId5"/>
          <a:stretch>
            <a:fillRect/>
          </a:stretch>
        </p:blipFill>
        <p:spPr>
          <a:xfrm>
            <a:off x="530352" y="2276254"/>
            <a:ext cx="4786326" cy="3329618"/>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Q2 goes back from Rs 1,57,54,540 to Rs 1,87,00,000, and the drop from 17.1 percent to 1.6 percent. The note shows the quarter with and without the order, so nobody has to trust a removal they cannot see.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17" name="Oval 16"/>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19" name="Oval 18"/>
          <p:cNvSpPr/>
          <p:nvPr/>
        </p:nvSpPr>
        <p:spPr>
          <a:xfrm>
            <a:off x="4073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8280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Round 3, the proof</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36 / 45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counts that reconcile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Remove duplicate ids first, keep the first copy, then convert: the rows tie out perfectly.</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first_copy = keep_first_by_order_id(raw)          # 186 rows</a:t>
            </a:r>
          </a:p>
          <a:p>
            <a:pPr>
              <a:spcAft>
                <a:spcPts val="200"/>
              </a:spcAft>
            </a:pPr>
            <a:r>
              <a:rPr sz="1400" b="0" i="0">
                <a:solidFill>
                  <a:srgbClr val="E4E1F1"/>
                </a:solidFill>
                <a:latin typeface="Consolas"/>
              </a:rPr>
              <a:t>clean = [r for r in first_copy if converts(r)]    # 185 rows</a:t>
            </a:r>
          </a:p>
          <a:p>
            <a:pPr>
              <a:spcAft>
                <a:spcPts val="200"/>
              </a:spcAft>
            </a:pPr>
            <a:r>
              <a:rPr sz="1400" b="0" i="0">
                <a:solidFill>
                  <a:srgbClr val="E4E1F1"/>
                </a:solidFill>
                <a:latin typeface="Consolas"/>
              </a:rPr>
              <a:t>len(raw) == len(clean) + 16                       # True</a:t>
            </a:r>
          </a:p>
        </p:txBody>
      </p:sp>
      <p:sp>
        <p:nvSpPr>
          <p:cNvPr id="14" name="TextBox 13"/>
          <p:cNvSpPr txBox="1"/>
          <p:nvPr/>
        </p:nvSpPr>
        <p:spPr>
          <a:xfrm>
            <a:off x="530352" y="3336036"/>
            <a:ext cx="3527450" cy="508000"/>
          </a:xfrm>
          <a:prstGeom prst="rect">
            <a:avLst/>
          </a:prstGeom>
          <a:noFill/>
        </p:spPr>
        <p:txBody>
          <a:bodyPr wrap="square" anchor="t" lIns="0" rIns="0" tIns="0" bIns="0">
            <a:spAutoFit/>
          </a:bodyPr>
          <a:lstStyle/>
          <a:p>
            <a:pPr algn="l"/>
            <a:r>
              <a:rPr sz="3200" b="0" i="0">
                <a:solidFill>
                  <a:srgbClr val="5B3FD6"/>
                </a:solidFill>
                <a:latin typeface="Georgia"/>
              </a:rPr>
              <a:t>201 = 185 + 16</a:t>
            </a:r>
          </a:p>
        </p:txBody>
      </p:sp>
      <p:sp>
        <p:nvSpPr>
          <p:cNvPr id="15" name="TextBox 14"/>
          <p:cNvSpPr txBox="1"/>
          <p:nvPr/>
        </p:nvSpPr>
        <p:spPr>
          <a:xfrm>
            <a:off x="530352" y="38806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RECONCILE</a:t>
            </a:r>
          </a:p>
        </p:txBody>
      </p:sp>
      <p:sp>
        <p:nvSpPr>
          <p:cNvPr id="16" name="TextBox 15"/>
          <p:cNvSpPr txBox="1"/>
          <p:nvPr/>
        </p:nvSpPr>
        <p:spPr>
          <a:xfrm>
            <a:off x="530352" y="4081780"/>
            <a:ext cx="3527450" cy="193421"/>
          </a:xfrm>
          <a:prstGeom prst="rect">
            <a:avLst/>
          </a:prstGeom>
          <a:noFill/>
        </p:spPr>
        <p:txBody>
          <a:bodyPr wrap="square" anchor="t" lIns="0" rIns="0" tIns="0" bIns="0">
            <a:spAutoFit/>
          </a:bodyPr>
          <a:lstStyle/>
          <a:p>
            <a:pPr algn="l"/>
            <a:r>
              <a:rPr sz="950" b="0" i="0">
                <a:solidFill>
                  <a:srgbClr val="6B6690"/>
                </a:solidFill>
                <a:latin typeface="Calibri"/>
              </a:rPr>
              <a:t>input equals clean plus rejected</a:t>
            </a:r>
          </a:p>
        </p:txBody>
      </p:sp>
      <p:sp>
        <p:nvSpPr>
          <p:cNvPr id="17" name="Rectangle 16"/>
          <p:cNvSpPr/>
          <p:nvPr/>
        </p:nvSpPr>
        <p:spPr>
          <a:xfrm>
            <a:off x="53035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33603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1,89,98,210</a:t>
            </a:r>
          </a:p>
        </p:txBody>
      </p:sp>
      <p:sp>
        <p:nvSpPr>
          <p:cNvPr id="19" name="TextBox 18"/>
          <p:cNvSpPr txBox="1"/>
          <p:nvPr/>
        </p:nvSpPr>
        <p:spPr>
          <a:xfrm>
            <a:off x="4332122" y="38806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20" name="TextBox 19"/>
          <p:cNvSpPr txBox="1"/>
          <p:nvPr/>
        </p:nvSpPr>
        <p:spPr>
          <a:xfrm>
            <a:off x="4332122" y="4081780"/>
            <a:ext cx="3527450" cy="193421"/>
          </a:xfrm>
          <a:prstGeom prst="rect">
            <a:avLst/>
          </a:prstGeom>
          <a:noFill/>
        </p:spPr>
        <p:txBody>
          <a:bodyPr wrap="square" anchor="t" lIns="0" rIns="0" tIns="0" bIns="0">
            <a:spAutoFit/>
          </a:bodyPr>
          <a:lstStyle/>
          <a:p>
            <a:pPr algn="l"/>
            <a:r>
              <a:rPr sz="950" b="0" i="0">
                <a:solidFill>
                  <a:srgbClr val="6B6690"/>
                </a:solidFill>
                <a:latin typeface="Calibri"/>
              </a:rPr>
              <a:t>rounds to Finance's 1.9 crore</a:t>
            </a:r>
          </a:p>
        </p:txBody>
      </p:sp>
      <p:sp>
        <p:nvSpPr>
          <p:cNvPr id="21" name="Rectangle 20"/>
          <p:cNvSpPr/>
          <p:nvPr/>
        </p:nvSpPr>
        <p:spPr>
          <a:xfrm>
            <a:off x="433212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336036"/>
            <a:ext cx="3527450" cy="508000"/>
          </a:xfrm>
          <a:prstGeom prst="rect">
            <a:avLst/>
          </a:prstGeom>
          <a:noFill/>
        </p:spPr>
        <p:txBody>
          <a:bodyPr wrap="square" anchor="t" lIns="0" rIns="0" tIns="0" bIns="0">
            <a:spAutoFit/>
          </a:bodyPr>
          <a:lstStyle/>
          <a:p>
            <a:pPr algn="l"/>
            <a:r>
              <a:rPr sz="3200" b="0" i="0">
                <a:solidFill>
                  <a:srgbClr val="5B3FD6"/>
                </a:solidFill>
                <a:latin typeface="Georgia"/>
              </a:rPr>
              <a:t>ship it</a:t>
            </a:r>
          </a:p>
        </p:txBody>
      </p:sp>
      <p:sp>
        <p:nvSpPr>
          <p:cNvPr id="23" name="TextBox 22"/>
          <p:cNvSpPr txBox="1"/>
          <p:nvPr/>
        </p:nvSpPr>
        <p:spPr>
          <a:xfrm>
            <a:off x="8133892" y="38806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HURRIED VERDICT</a:t>
            </a:r>
          </a:p>
        </p:txBody>
      </p:sp>
      <p:sp>
        <p:nvSpPr>
          <p:cNvPr id="24" name="TextBox 23"/>
          <p:cNvSpPr txBox="1"/>
          <p:nvPr/>
        </p:nvSpPr>
        <p:spPr>
          <a:xfrm>
            <a:off x="8133892" y="4081780"/>
            <a:ext cx="3527450" cy="193421"/>
          </a:xfrm>
          <a:prstGeom prst="rect">
            <a:avLst/>
          </a:prstGeom>
          <a:noFill/>
        </p:spPr>
        <p:txBody>
          <a:bodyPr wrap="square" anchor="t" lIns="0" rIns="0" tIns="0" bIns="0">
            <a:spAutoFit/>
          </a:bodyPr>
          <a:lstStyle/>
          <a:p>
            <a:pPr algn="l"/>
            <a:r>
              <a:rPr sz="950" b="0" i="0">
                <a:solidFill>
                  <a:srgbClr val="6B6690"/>
                </a:solidFill>
                <a:latin typeface="Calibri"/>
              </a:rPr>
              <a:t>"reconciled"</a:t>
            </a:r>
          </a:p>
        </p:txBody>
      </p:sp>
      <p:sp>
        <p:nvSpPr>
          <p:cNvPr id="25" name="Rectangle 24"/>
          <p:cNvSpPr/>
          <p:nvPr/>
        </p:nvSpPr>
        <p:spPr>
          <a:xfrm>
            <a:off x="813389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30" name="Oval 29"/>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32" name="Oval 31"/>
          <p:cNvSpPr/>
          <p:nvPr/>
        </p:nvSpPr>
        <p:spPr>
          <a:xfrm>
            <a:off x="4073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18280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Round 3, the proof</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37 / 45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Rs 1,790 short of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Keeping the first copy kept the unreadable one and set aside the twin that carried the value.</a:t>
            </a:r>
          </a:p>
        </p:txBody>
      </p:sp>
      <p:pic>
        <p:nvPicPr>
          <p:cNvPr id="9" name="mermaid diagram" descr="df06e6bff851d563.png"/>
          <p:cNvPicPr>
            <a:picLocks noChangeAspect="1"/>
          </p:cNvPicPr>
          <p:nvPr/>
        </p:nvPicPr>
        <p:blipFill>
          <a:blip r:embed="rId5"/>
          <a:stretch>
            <a:fillRect/>
          </a:stretch>
        </p:blipFill>
        <p:spPr>
          <a:xfrm>
            <a:off x="819759" y="1664208"/>
            <a:ext cx="10552176"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 second reconciliation, in rupees, against the books to the rupee: Rs 1,90,00,000 less Rs 1,89,98,210 is Rs 1,790. A count reconciliation proves no row vanished; it cannot prove the right rows stayed.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17" name="Oval 16"/>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19" name="Oval 18"/>
          <p:cNvSpPr/>
          <p:nvPr/>
        </p:nvSpPr>
        <p:spPr>
          <a:xfrm>
            <a:off x="4073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8280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Round 3, the proof</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45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convert first, then reconcile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Rows in equal rows kept plus set aside; rupees in less rupees set aside equal the books.</a:t>
            </a:r>
          </a:p>
        </p:txBody>
      </p:sp>
      <p:graphicFrame>
        <p:nvGraphicFramePr>
          <p:cNvPr id="9" name="Table 8"/>
          <p:cNvGraphicFramePr>
            <a:graphicFrameLocks noGrp="1"/>
          </p:cNvGraphicFramePr>
          <p:nvPr/>
        </p:nvGraphicFramePr>
        <p:xfrm>
          <a:off x="530352" y="1956816"/>
          <a:ext cx="11130988" cy="1005840"/>
        </p:xfrm>
        <a:graphic>
          <a:graphicData uri="http://schemas.openxmlformats.org/drawingml/2006/table">
            <a:tbl>
              <a:tblPr firstRow="0" bandRow="0">
                <a:tableStyleId>{2D5ABB26-0587-4C30-8999-92F81FD0307C}</a:tableStyleId>
              </a:tblPr>
              <a:tblGrid>
                <a:gridCol w="2405496"/>
                <a:gridCol w="2149355"/>
                <a:gridCol w="2149355"/>
                <a:gridCol w="1893215"/>
                <a:gridCol w="2533567"/>
              </a:tblGrid>
              <a:tr h="335280">
                <a:tc>
                  <a:txBody>
                    <a:bodyPr/>
                    <a:lstStyle/>
                    <a:p>
                      <a:r>
                        <a:rPr sz="1250" b="1" i="0">
                          <a:solidFill>
                            <a:srgbClr val="FFFFFF"/>
                          </a:solidFill>
                          <a:latin typeface="Calibri"/>
                        </a:rPr>
                        <a:t>Reconciliation</a:t>
                      </a:r>
                    </a:p>
                  </a:txBody>
                  <a:tcPr marL="101600" marR="101600" marT="38100" marB="38100" anchor="ctr">
                    <a:solidFill>
                      <a:srgbClr val="1A0F5C"/>
                    </a:solidFill>
                  </a:tcPr>
                </a:tc>
                <a:tc>
                  <a:txBody>
                    <a:bodyPr/>
                    <a:lstStyle/>
                    <a:p>
                      <a:r>
                        <a:rPr sz="1250" b="1" i="0">
                          <a:solidFill>
                            <a:srgbClr val="FFFFFF"/>
                          </a:solidFill>
                          <a:latin typeface="Calibri"/>
                        </a:rPr>
                        <a:t>In</a:t>
                      </a:r>
                    </a:p>
                  </a:txBody>
                  <a:tcPr marL="101600" marR="101600" marT="38100" marB="38100" anchor="ctr">
                    <a:solidFill>
                      <a:srgbClr val="1A0F5C"/>
                    </a:solidFill>
                  </a:tcPr>
                </a:tc>
                <a:tc>
                  <a:txBody>
                    <a:bodyPr/>
                    <a:lstStyle/>
                    <a:p>
                      <a:r>
                        <a:rPr sz="1250" b="1" i="0">
                          <a:solidFill>
                            <a:srgbClr val="FFFFFF"/>
                          </a:solidFill>
                          <a:latin typeface="Calibri"/>
                        </a:rPr>
                        <a:t>Kept</a:t>
                      </a:r>
                    </a:p>
                  </a:txBody>
                  <a:tcPr marL="101600" marR="101600" marT="38100" marB="38100" anchor="ctr">
                    <a:solidFill>
                      <a:srgbClr val="1A0F5C"/>
                    </a:solidFill>
                  </a:tcPr>
                </a:tc>
                <a:tc>
                  <a:txBody>
                    <a:bodyPr/>
                    <a:lstStyle/>
                    <a:p>
                      <a:r>
                        <a:rPr sz="1250" b="1" i="0">
                          <a:solidFill>
                            <a:srgbClr val="FFFFFF"/>
                          </a:solidFill>
                          <a:latin typeface="Calibri"/>
                        </a:rPr>
                        <a:t>Set aside</a:t>
                      </a:r>
                    </a:p>
                  </a:txBody>
                  <a:tcPr marL="101600" marR="101600" marT="38100" marB="38100" anchor="ctr">
                    <a:solidFill>
                      <a:srgbClr val="1A0F5C"/>
                    </a:solidFill>
                  </a:tcPr>
                </a:tc>
                <a:tc>
                  <a:txBody>
                    <a:bodyPr/>
                    <a:lstStyle/>
                    <a:p>
                      <a:r>
                        <a:rPr sz="1250" b="1" i="0">
                          <a:solidFill>
                            <a:srgbClr val="FFFFFF"/>
                          </a:solidFill>
                          <a:latin typeface="Calibri"/>
                        </a:rPr>
                        <a:t>Holds</a:t>
                      </a:r>
                    </a:p>
                  </a:txBody>
                  <a:tcPr marL="101600" marR="101600" marT="38100" marB="38100" anchor="ctr">
                    <a:solidFill>
                      <a:srgbClr val="1A0F5C"/>
                    </a:solidFill>
                  </a:tcPr>
                </a:tc>
              </a:tr>
              <a:tr h="335280">
                <a:tc>
                  <a:txBody>
                    <a:bodyPr/>
                    <a:lstStyle/>
                    <a:p>
                      <a:r>
                        <a:rPr sz="1200" b="0" i="0">
                          <a:solidFill>
                            <a:srgbClr val="1A1440"/>
                          </a:solidFill>
                          <a:latin typeface="Calibri"/>
                        </a:rPr>
                        <a:t>Rows, whole file</a:t>
                      </a:r>
                    </a:p>
                  </a:txBody>
                  <a:tcPr marL="101600" marR="101600" marT="38100" marB="38100" anchor="ctr">
                    <a:solidFill>
                      <a:srgbClr val="FFFFFF"/>
                    </a:solidFill>
                  </a:tcPr>
                </a:tc>
                <a:tc>
                  <a:txBody>
                    <a:bodyPr/>
                    <a:lstStyle/>
                    <a:p>
                      <a:r>
                        <a:rPr sz="1200" b="0" i="0">
                          <a:solidFill>
                            <a:srgbClr val="1A1440"/>
                          </a:solidFill>
                          <a:latin typeface="Calibri"/>
                        </a:rPr>
                        <a:t>201</a:t>
                      </a:r>
                    </a:p>
                  </a:txBody>
                  <a:tcPr marL="101600" marR="101600" marT="38100" marB="38100" anchor="ctr">
                    <a:solidFill>
                      <a:srgbClr val="FFFFFF"/>
                    </a:solidFill>
                  </a:tcPr>
                </a:tc>
                <a:tc>
                  <a:txBody>
                    <a:bodyPr/>
                    <a:lstStyle/>
                    <a:p>
                      <a:r>
                        <a:rPr sz="1200" b="0" i="0">
                          <a:solidFill>
                            <a:srgbClr val="1A1440"/>
                          </a:solidFill>
                          <a:latin typeface="Calibri"/>
                        </a:rPr>
                        <a:t>186</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Rupees, Q1</a:t>
                      </a:r>
                    </a:p>
                  </a:txBody>
                  <a:tcPr marL="101600" marR="101600" marT="38100" marB="38100" anchor="ctr">
                    <a:solidFill>
                      <a:srgbClr val="F4F2FA"/>
                    </a:solidFill>
                  </a:tcPr>
                </a:tc>
                <a:tc>
                  <a:txBody>
                    <a:bodyPr/>
                    <a:lstStyle/>
                    <a:p>
                      <a:r>
                        <a:rPr sz="1200" b="0" i="0">
                          <a:solidFill>
                            <a:srgbClr val="1A1440"/>
                          </a:solidFill>
                          <a:latin typeface="Calibri"/>
                        </a:rPr>
                        <a:t>Rs 2,09,98,210</a:t>
                      </a:r>
                    </a:p>
                  </a:txBody>
                  <a:tcPr marL="101600" marR="101600" marT="38100" marB="38100" anchor="ctr">
                    <a:solidFill>
                      <a:srgbClr val="F4F2FA"/>
                    </a:solidFill>
                  </a:tcPr>
                </a:tc>
                <a:tc>
                  <a:txBody>
                    <a:bodyPr/>
                    <a:lstStyle/>
                    <a:p>
                      <a:r>
                        <a:rPr sz="1200" b="0" i="0">
                          <a:solidFill>
                            <a:srgbClr val="1A1440"/>
                          </a:solidFill>
                          <a:latin typeface="Calibri"/>
                        </a:rPr>
                        <a:t>Rs 1,90,00,000</a:t>
                      </a:r>
                    </a:p>
                  </a:txBody>
                  <a:tcPr marL="101600" marR="101600" marT="38100" marB="38100" anchor="ctr">
                    <a:solidFill>
                      <a:srgbClr val="F4F2FA"/>
                    </a:solidFill>
                  </a:tcPr>
                </a:tc>
                <a:tc>
                  <a:txBody>
                    <a:bodyPr/>
                    <a:lstStyle/>
                    <a:p>
                      <a:r>
                        <a:rPr sz="1200" b="0" i="0">
                          <a:solidFill>
                            <a:srgbClr val="1A1440"/>
                          </a:solidFill>
                          <a:latin typeface="Calibri"/>
                        </a:rPr>
                        <a:t>Rs 19,98,210</a:t>
                      </a:r>
                    </a:p>
                  </a:txBody>
                  <a:tcPr marL="101600" marR="101600" marT="38100" marB="38100" anchor="ctr">
                    <a:solidFill>
                      <a:srgbClr val="F4F2FA"/>
                    </a:solidFill>
                  </a:tcPr>
                </a:tc>
                <a:tc>
                  <a:txBody>
                    <a:bodyPr/>
                    <a:lstStyle/>
                    <a:p>
                      <a:r>
                        <a:rPr sz="1200" b="0" i="0">
                          <a:solidFill>
                            <a:srgbClr val="1A1440"/>
                          </a:solidFill>
                          <a:latin typeface="Calibri"/>
                        </a:rPr>
                        <a:t>Yes, to the rupee</a:t>
                      </a:r>
                    </a:p>
                  </a:txBody>
                  <a:tcPr marL="101600" marR="101600" marT="38100" marB="38100" anchor="ctr">
                    <a:solidFill>
                      <a:srgbClr val="F4F2FA"/>
                    </a:solidFill>
                  </a:tcPr>
                </a:tc>
              </a:tr>
            </a:tbl>
          </a:graphicData>
        </a:graphic>
      </p:graphicFrame>
      <p:pic>
        <p:nvPicPr>
          <p:cNvPr id="10" name="mermaid diagram" descr="e74724c20e346c96.png"/>
          <p:cNvPicPr>
            <a:picLocks noChangeAspect="1"/>
          </p:cNvPicPr>
          <p:nvPr/>
        </p:nvPicPr>
        <p:blipFill>
          <a:blip r:embed="rId5"/>
          <a:stretch>
            <a:fillRect/>
          </a:stretch>
        </p:blipFill>
        <p:spPr>
          <a:xfrm>
            <a:off x="780897" y="3218688"/>
            <a:ext cx="10629900" cy="1600200"/>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15" name="Oval 1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17" name="Oval 16"/>
          <p:cNvSpPr/>
          <p:nvPr/>
        </p:nvSpPr>
        <p:spPr>
          <a:xfrm>
            <a:off x="4073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8280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Round 3, the proof</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45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from 2.1 to 1.9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moves take the exported Q1 to the books, and each move is backed by the rows that carry it.</a:t>
            </a:r>
          </a:p>
        </p:txBody>
      </p:sp>
      <p:pic>
        <p:nvPicPr>
          <p:cNvPr id="9" name="mermaid diagram" descr="6810aeaa79365247.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moves. </a:t>
            </a:r>
            <a:r>
              <a:rPr sz="1500" b="0" i="0">
                <a:solidFill>
                  <a:srgbClr val="1A1440"/>
                </a:solidFill>
                <a:latin typeface="Calibri"/>
              </a:rPr>
              <a:t>Rs 2,09,98,210 as exported, less Rs 19,67,560 in copies of two corporate orders, less Rs 30,650 in copies of consumer orders, lands on Rs 1,90,00,000, the books to the rupee.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17" name="Oval 16"/>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19" name="Oval 18"/>
          <p:cNvSpPr/>
          <p:nvPr/>
        </p:nvSpPr>
        <p:spPr>
          <a:xfrm>
            <a:off x="4073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8280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Round 3, the proof</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40 / 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Tuesday's finding survive?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Tuesday reported an 11 percent fall and a 49 percent drop in Retail-Plus frequency.</a:t>
            </a:r>
          </a:p>
        </p:txBody>
      </p:sp>
      <p:graphicFrame>
        <p:nvGraphicFramePr>
          <p:cNvPr id="9" name="Table 8"/>
          <p:cNvGraphicFramePr>
            <a:graphicFrameLocks noGrp="1"/>
          </p:cNvGraphicFramePr>
          <p:nvPr/>
        </p:nvGraphicFramePr>
        <p:xfrm>
          <a:off x="530352" y="1956816"/>
          <a:ext cx="11130991" cy="1109472"/>
        </p:xfrm>
        <a:graphic>
          <a:graphicData uri="http://schemas.openxmlformats.org/drawingml/2006/table">
            <a:tbl>
              <a:tblPr firstRow="0" bandRow="0">
                <a:tableStyleId>{2D5ABB26-0587-4C30-8999-92F81FD0307C}</a:tableStyleId>
              </a:tblPr>
              <a:tblGrid>
                <a:gridCol w="5022066"/>
                <a:gridCol w="3559902"/>
                <a:gridCol w="2549023"/>
              </a:tblGrid>
              <a:tr h="369824">
                <a:tc>
                  <a:txBody>
                    <a:bodyPr/>
                    <a:lstStyle/>
                    <a:p>
                      <a:r>
                        <a:rPr sz="1450" b="1" i="0">
                          <a:solidFill>
                            <a:srgbClr val="FFFFFF"/>
                          </a:solidFill>
                          <a:latin typeface="Calibri"/>
                        </a:rPr>
                        <a:t>Measure</a:t>
                      </a:r>
                    </a:p>
                  </a:txBody>
                  <a:tcPr marL="101600" marR="101600" marT="38100" marB="38100" anchor="ctr">
                    <a:solidFill>
                      <a:srgbClr val="1A0F5C"/>
                    </a:solidFill>
                  </a:tcPr>
                </a:tc>
                <a:tc>
                  <a:txBody>
                    <a:bodyPr/>
                    <a:lstStyle/>
                    <a:p>
                      <a:r>
                        <a:rPr sz="1450" b="1" i="0">
                          <a:solidFill>
                            <a:srgbClr val="FFFFFF"/>
                          </a:solidFill>
                          <a:latin typeface="Calibri"/>
                        </a:rPr>
                        <a:t>As Tuesday reported</a:t>
                      </a:r>
                    </a:p>
                  </a:txBody>
                  <a:tcPr marL="101600" marR="101600" marT="38100" marB="38100" anchor="ctr">
                    <a:solidFill>
                      <a:srgbClr val="1A0F5C"/>
                    </a:solidFill>
                  </a:tcPr>
                </a:tc>
                <a:tc>
                  <a:txBody>
                    <a:bodyPr/>
                    <a:lstStyle/>
                    <a:p>
                      <a:r>
                        <a:rPr sz="1450" b="1" i="0">
                          <a:solidFill>
                            <a:srgbClr val="FFFFFF"/>
                          </a:solidFill>
                          <a:latin typeface="Calibri"/>
                        </a:rPr>
                        <a:t>On clean data</a:t>
                      </a:r>
                    </a:p>
                  </a:txBody>
                  <a:tcPr marL="101600" marR="101600" marT="38100" marB="38100" anchor="ctr">
                    <a:solidFill>
                      <a:srgbClr val="1A0F5C"/>
                    </a:solidFill>
                  </a:tcPr>
                </a:tc>
              </a:tr>
              <a:tr h="369824">
                <a:tc>
                  <a:txBody>
                    <a:bodyPr/>
                    <a:lstStyle/>
                    <a:p>
                      <a:r>
                        <a:rPr sz="1400" b="0" i="0">
                          <a:solidFill>
                            <a:srgbClr val="1A1440"/>
                          </a:solidFill>
                          <a:latin typeface="Calibri"/>
                        </a:rPr>
                        <a:t>Revenue, Q1 to Q2</a:t>
                      </a:r>
                    </a:p>
                  </a:txBody>
                  <a:tcPr marL="101600" marR="101600" marT="38100" marB="38100" anchor="ctr">
                    <a:solidFill>
                      <a:srgbClr val="FFFFFF"/>
                    </a:solidFill>
                  </a:tcPr>
                </a:tc>
                <a:tc>
                  <a:txBody>
                    <a:bodyPr/>
                    <a:lstStyle/>
                    <a:p>
                      <a:r>
                        <a:rPr sz="1400" b="0" i="0">
                          <a:solidFill>
                            <a:srgbClr val="1A1440"/>
                          </a:solidFill>
                          <a:latin typeface="Calibri"/>
                        </a:rPr>
                        <a:t>-11.0%</a:t>
                      </a:r>
                    </a:p>
                  </a:txBody>
                  <a:tcPr marL="101600" marR="101600" marT="38100" marB="38100" anchor="ctr">
                    <a:solidFill>
                      <a:srgbClr val="FFFFFF"/>
                    </a:solidFill>
                  </a:tcPr>
                </a:tc>
                <a:tc>
                  <a:txBody>
                    <a:bodyPr/>
                    <a:lstStyle/>
                    <a:p>
                      <a:r>
                        <a:rPr sz="1400" b="0" i="0">
                          <a:solidFill>
                            <a:srgbClr val="1A1440"/>
                          </a:solidFill>
                          <a:latin typeface="Calibri"/>
                        </a:rPr>
                        <a:t>?</a:t>
                      </a:r>
                    </a:p>
                  </a:txBody>
                  <a:tcPr marL="101600" marR="101600" marT="38100" marB="38100" anchor="ctr">
                    <a:solidFill>
                      <a:srgbClr val="FFFFFF"/>
                    </a:solidFill>
                  </a:tcPr>
                </a:tc>
              </a:tr>
              <a:tr h="369824">
                <a:tc>
                  <a:txBody>
                    <a:bodyPr/>
                    <a:lstStyle/>
                    <a:p>
                      <a:r>
                        <a:rPr sz="1400" b="0" i="0">
                          <a:solidFill>
                            <a:srgbClr val="1A1440"/>
                          </a:solidFill>
                          <a:latin typeface="Calibri"/>
                        </a:rPr>
                        <a:t>Retail-Plus orders per customer</a:t>
                      </a:r>
                    </a:p>
                  </a:txBody>
                  <a:tcPr marL="101600" marR="101600" marT="38100" marB="38100" anchor="ctr">
                    <a:solidFill>
                      <a:srgbClr val="F4F2FA"/>
                    </a:solidFill>
                  </a:tcPr>
                </a:tc>
                <a:tc>
                  <a:txBody>
                    <a:bodyPr/>
                    <a:lstStyle/>
                    <a:p>
                      <a:r>
                        <a:rPr sz="1400" b="0" i="0">
                          <a:solidFill>
                            <a:srgbClr val="1A1440"/>
                          </a:solidFill>
                          <a:latin typeface="Calibri"/>
                        </a:rPr>
                        <a:t>2.32 to 1.18, -49.0%</a:t>
                      </a:r>
                    </a:p>
                  </a:txBody>
                  <a:tcPr marL="101600" marR="101600" marT="38100" marB="38100" anchor="ctr">
                    <a:solidFill>
                      <a:srgbClr val="F4F2FA"/>
                    </a:solidFill>
                  </a:tcPr>
                </a:tc>
                <a:tc>
                  <a:txBody>
                    <a:bodyPr/>
                    <a:lstStyle/>
                    <a:p>
                      <a:r>
                        <a:rPr sz="1400" b="0" i="0">
                          <a:solidFill>
                            <a:srgbClr val="1A1440"/>
                          </a:solidFill>
                          <a:latin typeface="Calibri"/>
                        </a:rPr>
                        <a:t>?</a:t>
                      </a:r>
                    </a:p>
                  </a:txBody>
                  <a:tcPr marL="101600" marR="101600" marT="38100" marB="38100" anchor="ctr">
                    <a:solidFill>
                      <a:srgbClr val="F4F2FA"/>
                    </a:solidFill>
                  </a:tcPr>
                </a:tc>
              </a:tr>
            </a:tbl>
          </a:graphicData>
        </a:graphic>
      </p:graphicFrame>
      <p:sp>
        <p:nvSpPr>
          <p:cNvPr id="10" name="Rounded Rectangle 9"/>
          <p:cNvSpPr/>
          <p:nvPr/>
        </p:nvSpPr>
        <p:spPr>
          <a:xfrm>
            <a:off x="530352" y="33223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4503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4411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clean data, what happens to the Retail-Plus finding, as a letter? a) it disappears, since the copies caused it; b) it survives, smaller; c) it grows, since clean data sharpens it; d) it moves to Retail-Core.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17" name="Oval 16"/>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19" name="Oval 18"/>
          <p:cNvSpPr/>
          <p:nvPr/>
        </p:nvSpPr>
        <p:spPr>
          <a:xfrm>
            <a:off x="4073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8280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Round 3, the proof</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41 / 45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survives, smaller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Most of the copies sat in Retail-Plus in Q1, so the fall was overstated rather than invented.</a:t>
            </a:r>
          </a:p>
        </p:txBody>
      </p:sp>
      <p:pic>
        <p:nvPicPr>
          <p:cNvPr id="9" name="mermaid diagram" descr="f4c050cd3e189336.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Revenue falls 1.6 percent from Q1 to Q2, not 11.0; Retail-Plus orders per customer fall from 1.82 to 1.18, 35.0 percent, not 49.0.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17" name="Oval 16"/>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19" name="Oval 18"/>
          <p:cNvSpPr/>
          <p:nvPr/>
        </p:nvSpPr>
        <p:spPr>
          <a:xfrm>
            <a:off x="4073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8280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Round 3, the proof</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42 / 45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note to Finance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Numbers first, under 120 words, and the finding that shrank.</a:t>
            </a:r>
          </a:p>
        </p:txBody>
      </p:sp>
      <p:sp>
        <p:nvSpPr>
          <p:cNvPr id="9" name="Rounded Rectangle 8"/>
          <p:cNvSpPr/>
          <p:nvPr/>
        </p:nvSpPr>
        <p:spPr>
          <a:xfrm>
            <a:off x="530352" y="1956816"/>
            <a:ext cx="45720" cy="21640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2164079"/>
          </a:xfrm>
          <a:prstGeom prst="rect">
            <a:avLst/>
          </a:prstGeom>
          <a:noFill/>
        </p:spPr>
        <p:txBody>
          <a:bodyPr wrap="square" anchor="t" lIns="0" rIns="0" tIns="0" bIns="0">
            <a:spAutoFit/>
          </a:bodyPr>
          <a:lstStyle/>
          <a:p>
            <a:r>
              <a:rPr sz="1600" b="0" i="1">
                <a:solidFill>
                  <a:srgbClr val="1A0F5C"/>
                </a:solidFill>
                <a:latin typeface="Georgia"/>
              </a:rPr>
              <a:t>"Anand, your 1.9 crore is right. The ERP export counted fifteen rows twice, fourteen of them in Q1; copies of two corporate orders carry Rs 19,67,560 of the Rs 19,98,210 difference. Rows and rupees both reconcile to your books exactly, and every row set aside is in the attached log. We kept and flagged one Q2 order with no status and the largest Q2 order, a real Business account. On clean data the drop is 1.6 percent, not 11, and the Retail-Plus frequency fall is 35 percent, not 49."</a:t>
            </a:r>
          </a:p>
          <a:p>
            <a:pPr>
              <a:spcBef>
                <a:spcPts val="400"/>
              </a:spcBef>
            </a:pPr>
            <a:r>
              <a:rPr sz="1000" b="0" i="0">
                <a:solidFill>
                  <a:srgbClr val="6B6690"/>
                </a:solidFill>
                <a:latin typeface="Calibri"/>
              </a:rPr>
              <a:t>The GCC data and AI team</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15" name="Oval 1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17" name="Oval 16"/>
          <p:cNvSpPr/>
          <p:nvPr/>
        </p:nvSpPr>
        <p:spPr>
          <a:xfrm>
            <a:off x="4073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8280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Round 3, the proof</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45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reconciliations, a reason for every act, and the smaller number reported first.</a:t>
            </a:r>
          </a:p>
        </p:txBody>
      </p:sp>
      <p:sp>
        <p:nvSpPr>
          <p:cNvPr id="9" name="Rounded Rectangle 8"/>
          <p:cNvSpPr/>
          <p:nvPr/>
        </p:nvSpPr>
        <p:spPr>
          <a:xfrm>
            <a:off x="530352" y="19568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5"/>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1A1440"/>
                </a:solidFill>
                <a:latin typeface="Calibri"/>
              </a:rPr>
              <a:t>Two reconciliations, not one: the rows and the rupees. Input equals clean plus rejected, in both. Then tell me what changed in Tuesday's story, including if it got smaller.</a:t>
            </a:r>
          </a:p>
        </p:txBody>
      </p:sp>
      <p:sp>
        <p:nvSpPr>
          <p:cNvPr id="14" name="Rounded Rectangle 13"/>
          <p:cNvSpPr/>
          <p:nvPr/>
        </p:nvSpPr>
        <p:spPr>
          <a:xfrm>
            <a:off x="530352" y="324307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445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6"/>
          <a:stretch>
            <a:fillRect/>
          </a:stretch>
        </p:blipFill>
        <p:spPr>
          <a:xfrm>
            <a:off x="868680" y="3555492"/>
            <a:ext cx="237744" cy="237744"/>
          </a:xfrm>
          <a:prstGeom prst="rect">
            <a:avLst/>
          </a:prstGeom>
        </p:spPr>
      </p:pic>
      <p:sp>
        <p:nvSpPr>
          <p:cNvPr id="17" name="TextBox 16"/>
          <p:cNvSpPr txBox="1"/>
          <p:nvPr/>
        </p:nvSpPr>
        <p:spPr>
          <a:xfrm>
            <a:off x="1399031" y="3389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608832"/>
            <a:ext cx="9987991" cy="423672"/>
          </a:xfrm>
          <a:prstGeom prst="rect">
            <a:avLst/>
          </a:prstGeom>
          <a:noFill/>
        </p:spPr>
        <p:txBody>
          <a:bodyPr wrap="square" anchor="t" lIns="0" rIns="0" tIns="0" bIns="0">
            <a:spAutoFit/>
          </a:bodyPr>
          <a:lstStyle/>
          <a:p>
            <a:r>
              <a:rPr sz="1500" b="0" i="0">
                <a:solidFill>
                  <a:srgbClr val="1A1440"/>
                </a:solidFill>
                <a:latin typeface="Calibri"/>
              </a:rPr>
              <a:t>[S] Finance and your dashboard disagree; what do you do?</a:t>
            </a:r>
          </a:p>
        </p:txBody>
      </p:sp>
      <p:pic>
        <p:nvPicPr>
          <p:cNvPr id="19" name="mermaid diagram" descr="a81eae810ea13713.png"/>
          <p:cNvPicPr>
            <a:picLocks noChangeAspect="1"/>
          </p:cNvPicPr>
          <p:nvPr/>
        </p:nvPicPr>
        <p:blipFill>
          <a:blip r:embed="rId7"/>
          <a:stretch>
            <a:fillRect/>
          </a:stretch>
        </p:blipFill>
        <p:spPr>
          <a:xfrm>
            <a:off x="530352" y="4270248"/>
            <a:ext cx="11130991" cy="937047"/>
          </a:xfrm>
          <a:prstGeom prst="rect">
            <a:avLst/>
          </a:prstGeom>
        </p:spPr>
      </p:pic>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2" name="Oval 2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24" name="Oval 23"/>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26" name="Oval 25"/>
          <p:cNvSpPr/>
          <p:nvPr/>
        </p:nvSpPr>
        <p:spPr>
          <a:xfrm>
            <a:off x="4073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18280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Round 3, the proof</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45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why reconcile in both units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reconciliation catches what the other cannot.</a:t>
            </a:r>
          </a:p>
        </p:txBody>
      </p:sp>
      <p:graphicFrame>
        <p:nvGraphicFramePr>
          <p:cNvPr id="10" name="Table 9"/>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4027869"/>
                <a:gridCol w="1524415"/>
                <a:gridCol w="1715972"/>
                <a:gridCol w="3862733"/>
              </a:tblGrid>
              <a:tr h="335280">
                <a:tc>
                  <a:txBody>
                    <a:bodyPr/>
                    <a:lstStyle/>
                    <a:p>
                      <a:r>
                        <a:rPr sz="1250" b="1" i="0">
                          <a:solidFill>
                            <a:srgbClr val="FFFFFF"/>
                          </a:solidFill>
                          <a:latin typeface="Calibri"/>
                        </a:rPr>
                        <a:t>Pass</a:t>
                      </a:r>
                    </a:p>
                  </a:txBody>
                  <a:tcPr marL="101600" marR="101600" marT="38100" marB="38100" anchor="ctr">
                    <a:solidFill>
                      <a:srgbClr val="1A0F5C"/>
                    </a:solidFill>
                  </a:tcPr>
                </a:tc>
                <a:tc>
                  <a:txBody>
                    <a:bodyPr/>
                    <a:lstStyle/>
                    <a:p>
                      <a:r>
                        <a:rPr sz="1250" b="1" i="0">
                          <a:solidFill>
                            <a:srgbClr val="FFFFFF"/>
                          </a:solidFill>
                          <a:latin typeface="Calibri"/>
                        </a:rPr>
                        <a:t>Rows reconcile</a:t>
                      </a:r>
                    </a:p>
                  </a:txBody>
                  <a:tcPr marL="101600" marR="101600" marT="38100" marB="38100" anchor="ctr">
                    <a:solidFill>
                      <a:srgbClr val="1A0F5C"/>
                    </a:solidFill>
                  </a:tcPr>
                </a:tc>
                <a:tc>
                  <a:txBody>
                    <a:bodyPr/>
                    <a:lstStyle/>
                    <a:p>
                      <a:r>
                        <a:rPr sz="1250" b="1" i="0">
                          <a:solidFill>
                            <a:srgbClr val="FFFFFF"/>
                          </a:solidFill>
                          <a:latin typeface="Calibri"/>
                        </a:rPr>
                        <a:t>Rupees reconcile</a:t>
                      </a:r>
                    </a:p>
                  </a:txBody>
                  <a:tcPr marL="101600" marR="101600" marT="38100" marB="38100" anchor="ctr">
                    <a:solidFill>
                      <a:srgbClr val="1A0F5C"/>
                    </a:solidFill>
                  </a:tcPr>
                </a:tc>
                <a:tc>
                  <a:txBody>
                    <a:bodyPr/>
                    <a:lstStyle/>
                    <a:p>
                      <a:r>
                        <a:rPr sz="1250" b="1" i="0">
                          <a:solidFill>
                            <a:srgbClr val="FFFFFF"/>
                          </a:solidFill>
                          <a:latin typeface="Calibri"/>
                        </a:rPr>
                        <a:t>What it hides</a:t>
                      </a:r>
                    </a:p>
                  </a:txBody>
                  <a:tcPr marL="101600" marR="101600" marT="38100" marB="38100" anchor="ctr">
                    <a:solidFill>
                      <a:srgbClr val="1A0F5C"/>
                    </a:solidFill>
                  </a:tcPr>
                </a:tc>
              </a:tr>
              <a:tr h="335280">
                <a:tc>
                  <a:txBody>
                    <a:bodyPr/>
                    <a:lstStyle/>
                    <a:p>
                      <a:r>
                        <a:rPr sz="1200" b="0" i="0">
                          <a:solidFill>
                            <a:srgbClr val="1A1440"/>
                          </a:solidFill>
                          <a:latin typeface="Calibri"/>
                        </a:rPr>
                        <a:t>Keep the first copy, then convert</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No, Rs 1,790 short</a:t>
                      </a:r>
                    </a:p>
                  </a:txBody>
                  <a:tcPr marL="101600" marR="101600" marT="38100" marB="38100" anchor="ctr">
                    <a:solidFill>
                      <a:srgbClr val="FFFFFF"/>
                    </a:solidFill>
                  </a:tcPr>
                </a:tc>
                <a:tc>
                  <a:txBody>
                    <a:bodyPr/>
                    <a:lstStyle/>
                    <a:p>
                      <a:r>
                        <a:rPr sz="1200" b="0" i="0">
                          <a:solidFill>
                            <a:srgbClr val="1A1440"/>
                          </a:solidFill>
                          <a:latin typeface="Calibri"/>
                        </a:rPr>
                        <a:t>A booked order swapped for an unreadable one</a:t>
                      </a:r>
                    </a:p>
                  </a:txBody>
                  <a:tcPr marL="101600" marR="101600" marT="38100" marB="38100" anchor="ctr">
                    <a:solidFill>
                      <a:srgbClr val="FFFFFF"/>
                    </a:solidFill>
                  </a:tcPr>
                </a:tc>
              </a:tr>
              <a:tr h="335280">
                <a:tc>
                  <a:txBody>
                    <a:bodyPr/>
                    <a:lstStyle/>
                    <a:p>
                      <a:r>
                        <a:rPr sz="1200" b="0" i="0">
                          <a:solidFill>
                            <a:srgbClr val="1A1440"/>
                          </a:solidFill>
                          <a:latin typeface="Calibri"/>
                        </a:rPr>
                        <a:t>Swap one kept order for another of equal value</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The wrong order in the clean file</a:t>
                      </a:r>
                    </a:p>
                  </a:txBody>
                  <a:tcPr marL="101600" marR="101600" marT="38100" marB="38100" anchor="ctr">
                    <a:solidFill>
                      <a:srgbClr val="F4F2FA"/>
                    </a:solidFill>
                  </a:tcPr>
                </a:tc>
              </a:tr>
              <a:tr h="335280">
                <a:tc>
                  <a:txBody>
                    <a:bodyPr/>
                    <a:lstStyle/>
                    <a:p>
                      <a:r>
                        <a:rPr sz="1200" b="0" i="0">
                          <a:solidFill>
                            <a:srgbClr val="1A1440"/>
                          </a:solidFill>
                          <a:latin typeface="Calibri"/>
                        </a:rPr>
                        <a:t>Convert, prefer the valid copy</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Nothing the two checks can see</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Round 1, the profile</a:t>
            </a:r>
          </a:p>
        </p:txBody>
      </p:sp>
      <p:sp>
        <p:nvSpPr>
          <p:cNvPr id="15" name="Oval 1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Round 2, the copies</a:t>
            </a:r>
          </a:p>
        </p:txBody>
      </p:sp>
      <p:sp>
        <p:nvSpPr>
          <p:cNvPr id="17" name="Oval 16"/>
          <p:cNvSpPr/>
          <p:nvPr/>
        </p:nvSpPr>
        <p:spPr>
          <a:xfrm>
            <a:off x="4073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8280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Round 3, the proof</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D40  ·  45 / 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