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day is one question climbed in six</a:t>
            </a:r>
          </a:p>
          <a:p>
            <a:r>
              <a:t>chapters: which Q1 figure is right, and can we prove it to an analyst who ties out to the rupee.</a:t>
            </a:r>
          </a:p>
          <a:p>
            <a:r>
              <a:t>Five chapters this block, the sixth after lunch, then the full pass alone and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whatever its status, the</a:t>
            </a:r>
          </a:p>
          <a:p>
            <a:r>
              <a:t>definition Monday set in the retail dossier. Ask: whose number do you trust before looking at</a:t>
            </a:r>
          </a:p>
          <a:p>
            <a:r>
              <a:t>anything? Most say Finance. The honest answer is neither yet: both are computed correctly from</a:t>
            </a:r>
          </a:p>
          <a:p>
            <a:r>
              <a:t>something, and the job is to find what.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a:t>
            </a:r>
          </a:p>
          <a:p>
            <a:r>
              <a:t>the analyst's and the auditor's after lunch. Watch for learners who want to start coding; hold</a:t>
            </a:r>
          </a:p>
          <a:p>
            <a:r>
              <a:t>them, the next slide is the thinking.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Pairs, three minutes: one way per branch that an ERP export could produce it.</a:t>
            </a:r>
          </a:p>
          <a:p>
            <a:r>
              <a:t>Expect copies from a migration, a text amount read wrongly, returns counted as sales, a window</a:t>
            </a:r>
          </a:p>
          <a:p>
            <a:r>
              <a:t>that differs.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for cost more than likelihood, though the ERP note about a</a:t>
            </a:r>
          </a:p>
          <a:p>
            <a:r>
              <a:t>stitched CSV makes it likelier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chapter runs the same way: the need, the options sized, the build, the trap,</a:t>
            </a:r>
          </a:p>
          <a:p>
            <a:r>
              <a:t>a second route, Kavya's review. Notebook numbers match chapter numbers.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of a wrong answer here is the largest of the day, because every later</a:t>
            </a:r>
          </a:p>
          <a:p>
            <a:r>
              <a:t>chapter is built on this count. If the note says the dashboard is right and it is not, the analyst</a:t>
            </a:r>
          </a:p>
          <a:p>
            <a:r>
              <a:t>finds it and discounts every later number the team sends.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a:t>
            </a:r>
          </a:p>
          <a:p>
            <a:r>
              <a:t>the US. Say "about" and name the source aloud; the 30 percent is a secondary summary.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minutes for b and c are an illustrative half-second a cell and half a minute a</a:t>
            </a:r>
          </a:p>
          <a:p>
            <a:r>
              <a:t>row. The 80 percent is exact: 1 minus C(186,20)/C(201,20), since 15 of 201 rows are repeats. The</a:t>
            </a:r>
          </a:p>
          <a:p>
            <a:r>
              <a:t>chance of the sample meeting the one unreadable amount is 10 percent.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"distinct" says about order_id that "present" cannot: whether ids</a:t>
            </a:r>
          </a:p>
          <a:p>
            <a:r>
              <a:t>repeat. Then open notebook 01. When open("orders.csv") fails with FileNotFoundError, two minutes</a:t>
            </a:r>
          </a:p>
          <a:p>
            <a:r>
              <a:t>on the last line, which names the folder Python looked in; the exports live in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Do not explain the other three yet; name the chapter that</a:t>
            </a:r>
          </a:p>
          <a:p>
            <a:r>
              <a:t>answers each: order_id in chapters 2 and 3, amount and status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Run it and ask what the analyst would tie out tonight.</a:t>
            </a:r>
          </a:p>
          <a:p>
            <a:r>
              <a:t>Three small orders. The decision it misleads: an audit that passes on the part of the file</a:t>
            </a:r>
          </a:p>
          <a:p>
            <a:r>
              <a:t>that carries the least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is a business question, which is the habit to build.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has the room run int() over every amount and meet the</a:t>
            </a:r>
          </a:p>
          <a:p>
            <a:r>
              <a:t>ValueError: two minutes, read the last line, write the value down. Then convert() runs clean.</a:t>
            </a:r>
          </a:p>
          <a:p>
            <a:r>
              <a:t>Chapter 5 comes back to the Rs 29 lakh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JSONDecodeError is met in an empty cell: two minutes, open the file at the</a:t>
            </a:r>
          </a:p>
          <a:p>
            <a:r>
              <a:t>line and column it names. A CSV writes a missing value as an empty string and JSON leaves the key</a:t>
            </a:r>
          </a:p>
          <a:p>
            <a:r>
              <a:t>out; profile() uses .get(field, "") so both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arithmetic, comparison and sorting break or silently lie on text;</a:t>
            </a:r>
          </a:p>
          <a:p>
            <a:r>
              <a:t>convert once at the boundary in one function that returns the value or the reason; log failures.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Q1 holds 114 rows for 100 orders, Q2 87 for 86. The extra rows sit in the quarter</a:t>
            </a:r>
          </a:p>
          <a:p>
            <a:r>
              <a:t>the migration touched. Cost of a wrong answer: keep Rs 20 lakh that was never earned, or delete</a:t>
            </a:r>
          </a:p>
          <a:p>
            <a:r>
              <a:t>real orders from the books.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fuzzy key costs 20,100 pair comparisons here against 201 lookups for a key,</a:t>
            </a:r>
          </a:p>
          <a:p>
            <a:r>
              <a:t>and about 2 lakh crore pairs on a file of 2 crore rows. Point at d: same count as c, different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Most say a, since the function ran without error.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five invented records in notebook 02: the whole record with the line</a:t>
            </a:r>
          </a:p>
          <a:p>
            <a:r>
              <a:t>finds 0, without it finds 2. The decision it misleads: Finance sent hunting for revenue that</a:t>
            </a:r>
          </a:p>
          <a:p>
            <a:r>
              <a:t>was never earned.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not read the ids aloud. Ask what the second line numbers have in common:</a:t>
            </a:r>
          </a:p>
          <a:p>
            <a:r>
              <a:t>they sit together at the end of the file, where the second extract was appended.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decision it misleads: a reviewer comparing counts signs off a pass that</a:t>
            </a:r>
          </a:p>
          <a:p>
            <a:r>
              <a:t>removes a real Q2 order. Always compare the rows, never only their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routes in notebook 02 assert 15.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Then the 10-minute break before chapter 3 if the clock says so; the day</a:t>
            </a:r>
          </a:p>
          <a:p>
            <a:r>
              <a:t>sheet places it before chapter 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Anand's analyst is the reader. Every choice is visible to her in the log.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 65, and</a:t>
            </a:r>
          </a:p>
          <a:p>
            <a:r>
              <a:t>Notification 10/2023-Central Tax. The portal hashes the same fields into the invoice reference</a:t>
            </a:r>
          </a:p>
          <a:p>
            <a:r>
              <a:t>number, and a repeat is refused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Thirteen of the fifteen escalations would carry no question at 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Invented pairs INV-11 to INV-13 in notebook 03. For the disagreeing pair no rule</a:t>
            </a:r>
          </a:p>
          <a:p>
            <a:r>
              <a:t>inside the file can say which date is true; the rule turns the date into a written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prints the two log rows whose reason says more than "second</a:t>
            </a:r>
          </a:p>
          <a:p>
            <a:r>
              <a:t>copy". Each learner writes the question they would send the ERP team.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3. Ask who would ship this. Most hands go up: Q1 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pairs this pass misses cost Q1 nothing: one copy's amount cannot be read,</a:t>
            </a:r>
          </a:p>
          <a:p>
            <a:r>
              <a:t>so it adds nothing to the sum. The decision it misleads: a Q2 order count one too high in</a:t>
            </a:r>
          </a:p>
          <a:p>
            <a:r>
              <a:t>Retail-Plus, the segment Tuesday's finding is about.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Rows: 2, 11 and 1 of 14. Rupees: Rs 19,67,560, Rs 27,760 and Rs 2,890. Two</a:t>
            </a:r>
          </a:p>
          <a:p>
            <a:r>
              <a:t>conversations follow: Anand's gap, and Tuesday's finding, which chapter 5 recomputes.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asserts the same 186 ids and amounts by both routes.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choice keeps revenue whole, invents a fact or deletes 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Counts beyond "hundreds</a:t>
            </a:r>
          </a:p>
          <a:p>
            <a:r>
              <a:t>of items" were not verified and stay 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amount options: coerce to zero misses the books by Rs 1,790 and leaves a Rs 0</a:t>
            </a:r>
          </a:p>
          <a:p>
            <a:r>
              <a:t>order; reject leaves the order's rupees out until repaired; reading a word as a number is a guess;</a:t>
            </a:r>
          </a:p>
          <a:p>
            <a:r>
              <a:t>a twin from the other extract repairs it exactly. Walk them from the notebook's second 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Tuesday's trap coming back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section 3. Let the room enjoy it: the loop finishes, the profile is</a:t>
            </a:r>
          </a:p>
          <a:p>
            <a:r>
              <a:t>perfect, and Q1 rounds to the books. Ask who they would now tell the file is clean.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note calling the file clean with an order at Rs 0 in</a:t>
            </a:r>
          </a:p>
          <a:p>
            <a:r>
              <a:t>it, which the analyst finds on her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invented pair INV-21 too: reading "fourteen" as 14 misses a Rs 1,400</a:t>
            </a:r>
          </a:p>
          <a:p>
            <a:r>
              <a:t>order by Rs 1,386. A word is never an amount.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defect that slipped past the log would show as a count that disagrees.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rescue campaign for Retail-Plus is waiting on the second number.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Tesco interim results</a:t>
            </a:r>
          </a:p>
          <a:p>
            <a:r>
              <a:t>statement, 23 October 2014, which splits £263m into £118m for the first half, about £70m for</a:t>
            </a:r>
          </a:p>
          <a:p>
            <a:r>
              <a:t>2013/14 and about £75m before.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feed carries the same unreadable amount and holds only 19 of Q2's 86 orders.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Predict first: how many moves? Two. Draw the bridge on the board beside the</a:t>
            </a:r>
          </a:p>
          <a:p>
            <a:r>
              <a:t>notebook's chart; the raised axis keeps the Rs 30,650 move visible.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Thursday asks whether -35 percent on 22 members is real or chance.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05, section 3. The decision it misleads: Marketing funds a rescue for a</a:t>
            </a:r>
          </a:p>
          <a:p>
            <a:r>
              <a:t>fall that never happened, and Finance rejects the reconciliation because its books hold the order.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fix: keep it, flag it, show Q2 both ways. Q2 back to Rs 1,87,00,000, the drop</a:t>
            </a:r>
          </a:p>
          <a:p>
            <a:r>
              <a:t>back to 1.6 percent.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Bottom up is the check anyone can run; top down is the proof, since only the</a:t>
            </a:r>
          </a:p>
          <a:p>
            <a:r>
              <a:t>bridge says what each rupee was. The full note in notebook 05 is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 Id="rId6"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7.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8.png"/><Relationship Id="rId6"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8.png"/><Relationship Id="rId6"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8.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the ERP actually sent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The rows that repeat</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copy that stays</a:t>
            </a:r>
          </a:p>
        </p:txBody>
      </p:sp>
      <p:sp>
        <p:nvSpPr>
          <p:cNvPr id="17" name="TextBox 16"/>
          <p:cNvSpPr txBox="1"/>
          <p:nvPr/>
        </p:nvSpPr>
        <p:spPr>
          <a:xfrm>
            <a:off x="67159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What is missing or malformed</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The bridge to the books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morning, one reply to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finding reached the leadership group, and Finance answered first.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Q1 was Rs 1.9 crore, and his analyst audits every number that reaches him.</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orders CSV and the app's JSON feed, with a note that the CSV was stitched from two extracts during the Q1 migration.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1" name="Oval 40"/>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5" name="Oval 4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7" name="Oval 46"/>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four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reconciliation has to answer all of them.</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1565749"/>
                <a:gridCol w="4841109"/>
                <a:gridCol w="4724132"/>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369824">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two control totals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make an export read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file opens, list every way 2.1 and 1.9 could both be honest arithmetic.</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possible; the cheapest check goes first.</a:t>
            </a:r>
          </a:p>
        </p:txBody>
      </p:sp>
      <p:pic>
        <p:nvPicPr>
          <p:cNvPr id="9" name="mermaid diagram" descr="cbacbf6e9d989b7a.png"/>
          <p:cNvPicPr>
            <a:picLocks noChangeAspect="1"/>
          </p:cNvPicPr>
          <p:nvPr/>
        </p:nvPicPr>
        <p:blipFill>
          <a:blip r:embed="rId6"/>
          <a:stretch>
            <a:fillRect/>
          </a:stretch>
        </p:blipFill>
        <p:spPr>
          <a:xfrm>
            <a:off x="1273023" y="1682496"/>
            <a:ext cx="3300984"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Rank the checks by cost. Rows against distinct orders takes one line and rules a whole branch in or out; start there and keep the other three on the list.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thinking: profile, decide, reconcile, recompute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moves, drawn on the board before any tool opens, and a log written as you go.</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 harder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this morning, the sixth after lunch, each with its own notebook.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the ERP actually sent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profile: present, convertible, distinct.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rows that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copy that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identity rule and its preference.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missing or malformed</a:t>
            </a:r>
          </a:p>
        </p:txBody>
      </p:sp>
      <p:sp>
        <p:nvSpPr>
          <p:cNvPr id="29" name="TextBox 28"/>
          <p:cNvSpPr txBox="1"/>
          <p:nvPr/>
        </p:nvSpPr>
        <p:spPr>
          <a:xfrm>
            <a:off x="6351879"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Drop, default or flag; coerce, reject or repair.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bridge to the books</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bridge, and Tuesday recomputed.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The log the analyst audits</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Logs a stranger can replay.</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2" name="Oval 4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ERP actually sent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Count what arrived before totalling anything.</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total needs a file you have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metric is Q1 revenue to the rupee, and every later number stands on this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value, every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trusted data nobody had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133 stores opened in 2013 and all closed in January 2015.</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CLOSED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Data typed into a new system under deadline was used before anyone counted what was complete and correct. Kalpa's ERP export was stitched during a migration too.</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learn what arrived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201 rows, 10 fields.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811105"/>
                <a:gridCol w="2584244"/>
                <a:gridCol w="2130522"/>
                <a:gridCol w="360511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80% chance to meet a repeat</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d, then sample only where the profile points. What would switch it: a file with no field that names an order.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three questions of every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convertible, distinct: what each field can be trusted for.</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read from a CSV is text, and the profile counts it field by field.</a:t>
            </a:r>
          </a:p>
        </p:txBody>
      </p:sp>
      <p:pic>
        <p:nvPicPr>
          <p:cNvPr id="9" name="mermaid diagram" descr="318a2c7e313559da.png"/>
          <p:cNvPicPr>
            <a:picLocks noChangeAspect="1"/>
          </p:cNvPicPr>
          <p:nvPr/>
        </p:nvPicPr>
        <p:blipFill>
          <a:blip r:embed="rId5"/>
          <a:stretch>
            <a:fillRect/>
          </a:stretch>
        </p:blipFill>
        <p:spPr>
          <a:xfrm>
            <a:off x="3302641" y="1956816"/>
            <a:ext cx="55864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201, as a letter? a) amount; b) discount; c) order_id; d) none, an ERP export is complete.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counts do not fit 201, and each is a question for a later chapter.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Order ids distinct on 186, amounts convertible on 200, status present on 200. Discount is Tuesday's optional field.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top three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audits the largest orders first, and the hurried sort sends three.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sample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4" name="Oval 2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'970' beats '2945460' because 9 comes after 2.</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Business sells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once, then sort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three move from Rs 9,53,940 to Rs 62,11,460 of the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29,45,460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62,11,460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200 + 1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converted, and one in the rejects log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same convert() that fixes the sort logs the one amount that fails, and Q1 over the amounts that convert reads Rs 2,09,98,210: the dashboard's 2.1 crore is honest arithmetic on this file.</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a second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Counter over ids and the rejects log reach the profile's counts by other code.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a Counter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the rejects log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JSON FEED RECORDS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complete, then the file is cut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Counter when one field matters, since it keeps how often each id appears. The JSON feed is a witness to compare against, never a replacement.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profile comes first, and a failure is counted next to the successes.</a:t>
            </a:r>
          </a:p>
        </p:txBody>
      </p:sp>
      <p:sp>
        <p:nvSpPr>
          <p:cNvPr id="9" name="Rounded Rectangle 8"/>
          <p:cNvSpPr/>
          <p:nvPr/>
        </p:nvSpPr>
        <p:spPr>
          <a:xfrm>
            <a:off x="530352" y="18971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93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39086"/>
            <a:ext cx="237744" cy="237744"/>
          </a:xfrm>
          <a:prstGeom prst="rect">
            <a:avLst/>
          </a:prstGeom>
        </p:spPr>
      </p:pic>
      <p:sp>
        <p:nvSpPr>
          <p:cNvPr id="12" name="TextBox 11"/>
          <p:cNvSpPr txBox="1"/>
          <p:nvPr/>
        </p:nvSpPr>
        <p:spPr>
          <a:xfrm>
            <a:off x="1399031" y="20434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62886"/>
            <a:ext cx="9987991" cy="682752"/>
          </a:xfrm>
          <a:prstGeom prst="rect">
            <a:avLst/>
          </a:prstGeom>
          <a:noFill/>
        </p:spPr>
        <p:txBody>
          <a:bodyPr wrap="square" anchor="t" lIns="0" rIns="0" tIns="0" bIns="0">
            <a:spAutoFit/>
          </a:bodyPr>
          <a:lstStyle/>
          <a:p>
            <a:r>
              <a:rPr sz="1500" b="0" i="0">
                <a:solidFill>
                  <a:srgbClr val="1A1440"/>
                </a:solidFill>
                <a:latin typeface="Calibri"/>
              </a:rPr>
              <a:t>Before you total anything, tell me how many records you received, how many are complete, how many convert and how many are distinct.</a:t>
            </a:r>
          </a:p>
        </p:txBody>
      </p:sp>
      <p:sp>
        <p:nvSpPr>
          <p:cNvPr id="14" name="Rounded Rectangle 13"/>
          <p:cNvSpPr/>
          <p:nvPr/>
        </p:nvSpPr>
        <p:spPr>
          <a:xfrm>
            <a:off x="530352" y="318338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3860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95802"/>
            <a:ext cx="237744" cy="237744"/>
          </a:xfrm>
          <a:prstGeom prst="rect">
            <a:avLst/>
          </a:prstGeom>
        </p:spPr>
      </p:pic>
      <p:sp>
        <p:nvSpPr>
          <p:cNvPr id="17" name="TextBox 16"/>
          <p:cNvSpPr txBox="1"/>
          <p:nvPr/>
        </p:nvSpPr>
        <p:spPr>
          <a:xfrm>
            <a:off x="1399031" y="332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549142"/>
            <a:ext cx="9987991" cy="423672"/>
          </a:xfrm>
          <a:prstGeom prst="rect">
            <a:avLst/>
          </a:prstGeom>
          <a:noFill/>
        </p:spPr>
        <p:txBody>
          <a:bodyPr wrap="square" anchor="t" lIns="0" rIns="0" tIns="0" bIns="0">
            <a:spAutoFit/>
          </a:bodyPr>
          <a:lstStyle/>
          <a:p>
            <a:r>
              <a:rPr sz="1500" b="0" i="0">
                <a:solidFill>
                  <a:srgbClr val="1A1440"/>
                </a:solidFill>
                <a:latin typeface="Calibri"/>
              </a:rPr>
              <a:t>[F] Everything read from a CSV is a string; what breaks and where do you convert?</a:t>
            </a:r>
          </a:p>
        </p:txBody>
      </p:sp>
      <p:sp>
        <p:nvSpPr>
          <p:cNvPr id="19" name="Rounded Rectangle 18"/>
          <p:cNvSpPr/>
          <p:nvPr/>
        </p:nvSpPr>
        <p:spPr>
          <a:xfrm>
            <a:off x="530352" y="421055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41172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521454"/>
            <a:ext cx="237744" cy="237744"/>
          </a:xfrm>
          <a:prstGeom prst="rect">
            <a:avLst/>
          </a:prstGeom>
        </p:spPr>
      </p:pic>
      <p:sp>
        <p:nvSpPr>
          <p:cNvPr id="22" name="TextBox 21"/>
          <p:cNvSpPr txBox="1"/>
          <p:nvPr/>
        </p:nvSpPr>
        <p:spPr>
          <a:xfrm>
            <a:off x="731519" y="497865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23" name="TextBox 22"/>
          <p:cNvSpPr txBox="1"/>
          <p:nvPr/>
        </p:nvSpPr>
        <p:spPr>
          <a:xfrm>
            <a:off x="731519" y="521639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557265"/>
            <a:ext cx="5071719" cy="218186"/>
          </a:xfrm>
          <a:prstGeom prst="rect">
            <a:avLst/>
          </a:prstGeom>
          <a:noFill/>
        </p:spPr>
        <p:txBody>
          <a:bodyPr wrap="square" anchor="t" lIns="0" rIns="0" tIns="0" bIns="0">
            <a:spAutoFit/>
          </a:bodyPr>
          <a:lstStyle/>
          <a:p>
            <a:pPr algn="l"/>
            <a:r>
              <a:rPr sz="1100" b="0" i="0">
                <a:solidFill>
                  <a:srgbClr val="6B6690"/>
                </a:solidFill>
                <a:latin typeface="Calibri"/>
              </a:rPr>
              <a:t>201 rows, 186 order ids, 200 amounts that convert, 1 logged.</a:t>
            </a:r>
          </a:p>
        </p:txBody>
      </p:sp>
      <p:sp>
        <p:nvSpPr>
          <p:cNvPr id="25" name="Rounded Rectangle 24"/>
          <p:cNvSpPr/>
          <p:nvPr/>
        </p:nvSpPr>
        <p:spPr>
          <a:xfrm>
            <a:off x="6187287" y="421055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41172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521454"/>
            <a:ext cx="237744" cy="237744"/>
          </a:xfrm>
          <a:prstGeom prst="rect">
            <a:avLst/>
          </a:prstGeom>
        </p:spPr>
      </p:pic>
      <p:sp>
        <p:nvSpPr>
          <p:cNvPr id="28" name="TextBox 27"/>
          <p:cNvSpPr txBox="1"/>
          <p:nvPr/>
        </p:nvSpPr>
        <p:spPr>
          <a:xfrm>
            <a:off x="6388455" y="497865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2</a:t>
            </a:r>
          </a:p>
        </p:txBody>
      </p:sp>
      <p:sp>
        <p:nvSpPr>
          <p:cNvPr id="29" name="TextBox 28"/>
          <p:cNvSpPr txBox="1"/>
          <p:nvPr/>
        </p:nvSpPr>
        <p:spPr>
          <a:xfrm>
            <a:off x="6388455" y="521639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557265"/>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rows repeat, and what makes two rows one order.</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rows that repeat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Say what makes two rows one order before counting a single duplicate.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186 orders on 201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migration exported orders twice, Q1 revenue and every per-customer rate are inflated.</a:t>
            </a:r>
          </a:p>
        </p:txBody>
      </p:sp>
      <p:pic>
        <p:nvPicPr>
          <p:cNvPr id="9" name="mermaid diagram" descr="5a0b2958d20b09e8.png"/>
          <p:cNvPicPr>
            <a:picLocks noChangeAspect="1"/>
          </p:cNvPicPr>
          <p:nvPr/>
        </p:nvPicPr>
        <p:blipFill>
          <a:blip r:embed="rId6"/>
          <a:stretch>
            <a:fillRect/>
          </a:stretch>
        </p:blipFill>
        <p:spPr>
          <a:xfrm>
            <a:off x="2633319" y="1664208"/>
            <a:ext cx="6925056" cy="3462528"/>
          </a:xfrm>
          <a:prstGeom prst="rect">
            <a:avLst/>
          </a:prstGeom>
        </p:spPr>
      </p:pic>
      <p:sp>
        <p:nvSpPr>
          <p:cNvPr id="10" name="Rounded Rectangle 9"/>
          <p:cNvSpPr/>
          <p:nvPr/>
        </p:nvSpPr>
        <p:spPr>
          <a:xfrm>
            <a:off x="530352" y="51724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51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484876"/>
            <a:ext cx="237744" cy="237744"/>
          </a:xfrm>
          <a:prstGeom prst="rect">
            <a:avLst/>
          </a:prstGeom>
        </p:spPr>
      </p:pic>
      <p:sp>
        <p:nvSpPr>
          <p:cNvPr id="13" name="TextBox 12"/>
          <p:cNvSpPr txBox="1"/>
          <p:nvPr/>
        </p:nvSpPr>
        <p:spPr>
          <a:xfrm>
            <a:off x="1399031" y="53187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55382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processing fault, the same purchase recorded twice, about 7,800 stores.</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on the ERP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file, four rules for what makes two rows one order.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80991"/>
                <a:gridCol w="1820427"/>
                <a:gridCol w="1883267"/>
                <a:gridCol w="1946108"/>
                <a:gridCol w="2700196"/>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Q2 after</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1,87,03,710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Rs 1,87,03,710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d) Customer and amount</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Rs 1,69,29,000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the ERP issues one id per order. What would switch it: two systems issuing their own ids, and then the key is the system plus the id.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dedupe reports zero. Believe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Chapter 1 taught the rejects log to carry each row's file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do with a dedupe that finds zero, as a letter? a) report no duplicates; b) count distinct ids against rows first; c) rerun it; d) sort the file and look.</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201 rows and 186 ids cannot both be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plausible wrong number is zero duplicates and Q1 unchanged at Rs 2,09,98,210.</a:t>
            </a:r>
          </a:p>
        </p:txBody>
      </p:sp>
      <p:pic>
        <p:nvPicPr>
          <p:cNvPr id="9" name="mermaid diagram" descr="89237ac7ca74b24a.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The file line is where a row sat, never what the order is. Leave it in the key and no two rows can match.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exactly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Grouped by order_id: 14 pairs in Q1, one in Q2, none three times.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with two lines. The room lists them in the empty cell and reads the second line numbers.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harder variant: the same count, other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fuzzy key flags 15 and the order id flags 15; they share 14.</a:t>
            </a:r>
          </a:p>
        </p:txBody>
      </p:sp>
      <p:pic>
        <p:nvPicPr>
          <p:cNvPr id="9" name="mermaid diagram" descr="b1b800cf63a4a3db.png"/>
          <p:cNvPicPr>
            <a:picLocks noChangeAspect="1"/>
          </p:cNvPicPr>
          <p:nvPr/>
        </p:nvPicPr>
        <p:blipFill>
          <a:blip r:embed="rId6"/>
          <a:stretch>
            <a:fillRect/>
          </a:stretch>
        </p:blipFill>
        <p:spPr>
          <a:xfrm>
            <a:off x="3524097" y="1906905"/>
            <a:ext cx="5143500" cy="2800350"/>
          </a:xfrm>
          <a:prstGeom prst="rect">
            <a:avLst/>
          </a:prstGeom>
        </p:spPr>
      </p:pic>
      <p:sp>
        <p:nvSpPr>
          <p:cNvPr id="10" name="Rounded Rectangle 9"/>
          <p:cNvSpPr/>
          <p:nvPr/>
        </p:nvSpPr>
        <p:spPr>
          <a:xfrm>
            <a:off x="530352" y="485355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8579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95519"/>
            <a:ext cx="237744" cy="237744"/>
          </a:xfrm>
          <a:prstGeom prst="rect">
            <a:avLst/>
          </a:prstGeom>
        </p:spPr>
      </p:pic>
      <p:sp>
        <p:nvSpPr>
          <p:cNvPr id="13" name="TextBox 12"/>
          <p:cNvSpPr txBox="1"/>
          <p:nvPr/>
        </p:nvSpPr>
        <p:spPr>
          <a:xfrm>
            <a:off x="1399031" y="499986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19319"/>
            <a:ext cx="9987991" cy="682752"/>
          </a:xfrm>
          <a:prstGeom prst="rect">
            <a:avLst/>
          </a:prstGeom>
          <a:noFill/>
        </p:spPr>
        <p:txBody>
          <a:bodyPr wrap="square" anchor="t" lIns="0" rIns="0" tIns="0" bIns="0">
            <a:spAutoFit/>
          </a:bodyPr>
          <a:lstStyle/>
          <a:p>
            <a:r>
              <a:rPr sz="1500" b="0" i="0">
                <a:solidFill>
                  <a:srgbClr val="1A1440"/>
                </a:solidFill>
                <a:latin typeface="Calibri"/>
              </a:rPr>
              <a:t>A count that matches is not a match. A Business customer spent the same Rs 17,71,000 again next quarter, and the fuzzy key calls it a copy.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rows less ids, per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Arithmetic gives how many; only the groups give which.</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LESS DISTINCT IDS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FROM THE GROUPS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sum of size less one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arithmetic is the one-line check to run first on any file; the groups are the pass, because only they can feed a log.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of duplicates without an identity rule is a count of nothing.</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Tell me what makes two rows the same order before you tell me how many duplicates there are.</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duplicates, and what makes two records the same?</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The order_id is the identity; 15 orders appear twice, 14 in Q1.</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3</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copy of each pair stays, and what that does to Q1.</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copy that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 thirteen pairs it does not matter; for two it moves Q1 and a date.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analyst ties out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choice that loses one order's amount turns the reconciliation into a finding against the team.</a:t>
            </a:r>
          </a:p>
        </p:txBody>
      </p:sp>
      <p:pic>
        <p:nvPicPr>
          <p:cNvPr id="9" name="mermaid diagram" descr="bc75a001c20296aa.png"/>
          <p:cNvPicPr>
            <a:picLocks noChangeAspect="1"/>
          </p:cNvPicPr>
          <p:nvPr/>
        </p:nvPicPr>
        <p:blipFill>
          <a:blip r:embed="rId6"/>
          <a:stretch>
            <a:fillRect/>
          </a:stretch>
        </p:blipFill>
        <p:spPr>
          <a:xfrm>
            <a:off x="2152497" y="1956816"/>
            <a:ext cx="7886700" cy="2786062"/>
          </a:xfrm>
          <a:prstGeom prst="rect">
            <a:avLst/>
          </a:prstGeom>
        </p:spPr>
      </p:pic>
      <p:sp>
        <p:nvSpPr>
          <p:cNvPr id="10" name="Rounded Rectangle 9"/>
          <p:cNvSpPr/>
          <p:nvPr/>
        </p:nvSpPr>
        <p:spPr>
          <a:xfrm>
            <a:off x="530352" y="488918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918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201602"/>
            <a:ext cx="237744" cy="237744"/>
          </a:xfrm>
          <a:prstGeom prst="rect">
            <a:avLst/>
          </a:prstGeom>
        </p:spPr>
      </p:pic>
      <p:sp>
        <p:nvSpPr>
          <p:cNvPr id="13" name="TextBox 12"/>
          <p:cNvSpPr txBox="1"/>
          <p:nvPr/>
        </p:nvSpPr>
        <p:spPr>
          <a:xfrm>
            <a:off x="1399031" y="503548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525494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invoice is one invoice per supplier GSTIN, number, type and year.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TURNOVER THRESHOLD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Without a written rule for what makes two records one, every team chooses its own survivor. Kalpa's Business segment sells to companies and meets this rule on every invoice.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survivor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the ERP file: Q1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drawn before the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kinds of pair, each with its survivor, on invented records.</a:t>
            </a:r>
          </a:p>
        </p:txBody>
      </p:sp>
      <p:pic>
        <p:nvPicPr>
          <p:cNvPr id="9" name="mermaid diagram" descr="ecd1de7b3cb8537e.png"/>
          <p:cNvPicPr>
            <a:picLocks noChangeAspect="1"/>
          </p:cNvPicPr>
          <p:nvPr/>
        </p:nvPicPr>
        <p:blipFill>
          <a:blip r:embed="rId5"/>
          <a:stretch>
            <a:fillRect/>
          </a:stretch>
        </p:blipFill>
        <p:spPr>
          <a:xfrm>
            <a:off x="2152497" y="1956816"/>
            <a:ext cx="7886700" cy="30432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186 orders kept, 15 rows set aside, each with a reason.</a:t>
            </a:r>
          </a:p>
        </p:txBody>
      </p:sp>
      <p:pic>
        <p:nvPicPr>
          <p:cNvPr id="9" name="mermaid diagram" descr="da6577c236efd39d.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moves to Rs 1,87,00,000, and no revenue left with the unreadable copy.</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amount chapter 1 could not read was one copy of a pair whose twin carries the value. The answer is c.</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record less the line lands Q1 on the books to the rupee.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tie in rupees proves no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188 rows for 186 orders: one Q2 order counted twice, one unreadable row kept.</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against rupees: 98 percent in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Rs 19,98,210 set aside in Q1, two Business rows carry Rs 19,67,560.</a:t>
            </a:r>
          </a:p>
        </p:txBody>
      </p:sp>
      <p:pic>
        <p:nvPicPr>
          <p:cNvPr id="9" name="mermaid diagram" descr="f15abf467b747be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 Bars are rows, the line is rupees.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keyed by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dictionary keeps one value per key, so it is an identity rule in one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by_id = {r["order_id"]: r for r in raw if convert(r["amount"])[0] is not None}</a:t>
            </a:r>
          </a:p>
          <a:p>
            <a:pPr>
              <a:spcAft>
                <a:spcPts val="200"/>
              </a:spcAft>
            </a:pPr>
            <a:r>
              <a:rPr sz="1400" b="0" i="0">
                <a:solidFill>
                  <a:srgbClr val="E4E1F1"/>
                </a:solidFill>
                <a:latin typeface="Consolas"/>
              </a:rPr>
              <a:t>len(by_id)     # 186, the same orders at the same amounts</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1" name="Oval 20"/>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preference for the copy that validates, and a reason on every row set aside.</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When Q1 ties to the books, check the rows before you celebrate.</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[F] Two copies of an order disagree; which do you keep, and what did the choice cost?</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218186"/>
          </a:xfrm>
          <a:prstGeom prst="rect">
            <a:avLst/>
          </a:prstGeom>
          <a:noFill/>
        </p:spPr>
        <p:txBody>
          <a:bodyPr wrap="square" anchor="t" lIns="0" rIns="0" tIns="0" bIns="0">
            <a:spAutoFit/>
          </a:bodyPr>
          <a:lstStyle/>
          <a:p>
            <a:pPr algn="l"/>
            <a:r>
              <a:rPr sz="1100" b="0" i="0">
                <a:solidFill>
                  <a:srgbClr val="6B6690"/>
                </a:solidFill>
                <a:latin typeface="Calibri"/>
              </a:rPr>
              <a:t>186 orders, 15 rows set aside, Q1 on the books.</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4</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399796"/>
          </a:xfrm>
          <a:prstGeom prst="rect">
            <a:avLst/>
          </a:prstGeom>
          <a:noFill/>
        </p:spPr>
        <p:txBody>
          <a:bodyPr wrap="square" anchor="t" lIns="0" rIns="0" tIns="0" bIns="0">
            <a:spAutoFit/>
          </a:bodyPr>
          <a:lstStyle/>
          <a:p>
            <a:pPr algn="l"/>
            <a:r>
              <a:rPr sz="1100" b="0" i="0">
                <a:solidFill>
                  <a:srgbClr val="CFC9EE"/>
                </a:solidFill>
                <a:latin typeface="Calibri"/>
              </a:rPr>
              <a:t>One order has no status, 55 no discount, and the next export will carry an unreadable amount with no twin.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missing or malformed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defect is a decision with a written claim beside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two decisions the log must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Operations reads the delivered share weekly; Finance reads every rupee.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9" name="Oval 2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3" name="Oval 32"/>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5" name="Oval 3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UK sold stock at 1p for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repricing tool's error set hundreds of items to a penny on 12 December 2014.</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a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value that falls to a default is still treated as real by everything downstream. A coerced zero in a report does the same.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decisions, each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missing status on Q2, and the unreadable amount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942613"/>
                <a:gridCol w="2985678"/>
                <a:gridCol w="2288298"/>
                <a:gridCol w="914400"/>
              </a:tblGrid>
              <a:tr h="335280">
                <a:tc>
                  <a:txBody>
                    <a:bodyPr/>
                    <a:lstStyle/>
                    <a:p>
                      <a:r>
                        <a:rPr sz="1250" b="1" i="0">
                          <a:solidFill>
                            <a:srgbClr val="FFFFFF"/>
                          </a:solidFill>
                          <a:latin typeface="Calibri"/>
                        </a:rPr>
                        <a:t>Missing status</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Share</a:t>
                      </a:r>
                    </a:p>
                  </a:txBody>
                  <a:tcPr marL="101600" marR="101600" marT="38100" marB="38100" anchor="ctr">
                    <a:solidFill>
                      <a:srgbClr val="1A0F5C"/>
                    </a:solidFill>
                  </a:tcPr>
                </a:tc>
              </a:tr>
              <a:tr h="335280">
                <a:tc>
                  <a:txBody>
                    <a:bodyPr/>
                    <a:lstStyle/>
                    <a:p>
                      <a:r>
                        <a:rPr sz="1200" b="0" i="0">
                          <a:solidFill>
                            <a:srgbClr val="1A1440"/>
                          </a:solidFill>
                          <a:latin typeface="Calibri"/>
                        </a:rPr>
                        <a:t>a) Drop</a:t>
                      </a:r>
                    </a:p>
                  </a:txBody>
                  <a:tcPr marL="101600" marR="101600" marT="38100" marB="38100" anchor="ctr">
                    <a:solidFill>
                      <a:srgbClr val="FFFFFF"/>
                    </a:solidFill>
                  </a:tcPr>
                </a:tc>
                <a:tc>
                  <a:txBody>
                    <a:bodyPr/>
                    <a:lstStyle/>
                    <a:p>
                      <a:r>
                        <a:rPr sz="1200" b="0" i="0">
                          <a:solidFill>
                            <a:srgbClr val="1A1440"/>
                          </a:solidFill>
                          <a:latin typeface="Calibri"/>
                        </a:rPr>
                        <a:t>Rs 1,86,98,150</a:t>
                      </a:r>
                    </a:p>
                  </a:txBody>
                  <a:tcPr marL="101600" marR="101600" marT="38100" marB="38100" anchor="ctr">
                    <a:solidFill>
                      <a:srgbClr val="FFFFFF"/>
                    </a:solidFill>
                  </a:tcPr>
                </a:tc>
                <a:tc>
                  <a:txBody>
                    <a:bodyPr/>
                    <a:lstStyle/>
                    <a:p>
                      <a:r>
                        <a:rPr sz="1200" b="0" i="0">
                          <a:solidFill>
                            <a:srgbClr val="1A1440"/>
                          </a:solidFill>
                          <a:latin typeface="Calibri"/>
                        </a:rPr>
                        <a:t>57 of 85</a:t>
                      </a:r>
                    </a:p>
                  </a:txBody>
                  <a:tcPr marL="101600" marR="101600" marT="38100" marB="38100" anchor="ctr">
                    <a:solidFill>
                      <a:srgbClr val="FFFFFF"/>
                    </a:solidFill>
                  </a:tcPr>
                </a:tc>
                <a:tc>
                  <a:txBody>
                    <a:bodyPr/>
                    <a:lstStyle/>
                    <a:p>
                      <a:r>
                        <a:rPr sz="1200" b="0" i="0">
                          <a:solidFill>
                            <a:srgbClr val="1A1440"/>
                          </a:solidFill>
                          <a:latin typeface="Calibri"/>
                        </a:rPr>
                        <a:t>67.1%</a:t>
                      </a:r>
                    </a:p>
                  </a:txBody>
                  <a:tcPr marL="101600" marR="101600" marT="38100" marB="38100" anchor="ctr">
                    <a:solidFill>
                      <a:srgbClr val="FFFFFF"/>
                    </a:solidFill>
                  </a:tcPr>
                </a:tc>
              </a:tr>
              <a:tr h="335280">
                <a:tc>
                  <a:txBody>
                    <a:bodyPr/>
                    <a:lstStyle/>
                    <a:p>
                      <a:r>
                        <a:rPr sz="1200" b="0" i="0">
                          <a:solidFill>
                            <a:srgbClr val="1A1440"/>
                          </a:solidFill>
                          <a:latin typeface="Calibri"/>
                        </a:rPr>
                        <a:t>b) Default delivered</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58 of 86</a:t>
                      </a:r>
                    </a:p>
                  </a:txBody>
                  <a:tcPr marL="101600" marR="101600" marT="38100" marB="38100" anchor="ctr">
                    <a:solidFill>
                      <a:srgbClr val="F4F2FA"/>
                    </a:solidFill>
                  </a:tcPr>
                </a:tc>
                <a:tc>
                  <a:txBody>
                    <a:bodyPr/>
                    <a:lstStyle/>
                    <a:p>
                      <a:r>
                        <a:rPr sz="1200" b="0" i="0">
                          <a:solidFill>
                            <a:srgbClr val="1A1440"/>
                          </a:solidFill>
                          <a:latin typeface="Calibri"/>
                        </a:rPr>
                        <a:t>67.4%</a:t>
                      </a:r>
                    </a:p>
                  </a:txBody>
                  <a:tcPr marL="101600" marR="101600" marT="38100" marB="38100" anchor="ctr">
                    <a:solidFill>
                      <a:srgbClr val="F4F2FA"/>
                    </a:solidFill>
                  </a:tcPr>
                </a:tc>
              </a:tr>
              <a:tr h="335280">
                <a:tc>
                  <a:txBody>
                    <a:bodyPr/>
                    <a:lstStyle/>
                    <a:p>
                      <a:r>
                        <a:rPr sz="1200" b="0" i="0">
                          <a:solidFill>
                            <a:srgbClr val="1A1440"/>
                          </a:solidFill>
                          <a:latin typeface="Calibri"/>
                        </a:rPr>
                        <a:t>c) Impute from last order</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58 of 86</a:t>
                      </a:r>
                    </a:p>
                  </a:txBody>
                  <a:tcPr marL="101600" marR="101600" marT="38100" marB="38100" anchor="ctr">
                    <a:solidFill>
                      <a:srgbClr val="FFFFFF"/>
                    </a:solidFill>
                  </a:tcPr>
                </a:tc>
                <a:tc>
                  <a:txBody>
                    <a:bodyPr/>
                    <a:lstStyle/>
                    <a:p>
                      <a:r>
                        <a:rPr sz="1200" b="0" i="0">
                          <a:solidFill>
                            <a:srgbClr val="1A1440"/>
                          </a:solidFill>
                          <a:latin typeface="Calibri"/>
                        </a:rPr>
                        <a:t>67.4%</a:t>
                      </a:r>
                    </a:p>
                  </a:txBody>
                  <a:tcPr marL="101600" marR="101600" marT="38100" marB="38100" anchor="ctr">
                    <a:solidFill>
                      <a:srgbClr val="FFFFFF"/>
                    </a:solidFill>
                  </a:tcPr>
                </a:tc>
              </a:tr>
              <a:tr h="335280">
                <a:tc>
                  <a:txBody>
                    <a:bodyPr/>
                    <a:lstStyle/>
                    <a:p>
                      <a:r>
                        <a:rPr sz="1200" b="0" i="0">
                          <a:solidFill>
                            <a:srgbClr val="1A1440"/>
                          </a:solidFill>
                          <a:latin typeface="Calibri"/>
                        </a:rPr>
                        <a:t>d) Keep and flag</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57 of 86</a:t>
                      </a:r>
                    </a:p>
                  </a:txBody>
                  <a:tcPr marL="101600" marR="101600" marT="38100" marB="38100" anchor="ctr">
                    <a:solidFill>
                      <a:srgbClr val="F4F2FA"/>
                    </a:solidFill>
                  </a:tcPr>
                </a:tc>
                <a:tc>
                  <a:txBody>
                    <a:bodyPr/>
                    <a:lstStyle/>
                    <a:p>
                      <a:r>
                        <a:rPr sz="1200" b="0" i="0">
                          <a:solidFill>
                            <a:srgbClr val="1A1440"/>
                          </a:solidFill>
                          <a:latin typeface="Calibri"/>
                        </a:rPr>
                        <a:t>66.3%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Status: d. Amount: reject to the log, and repair only from an independent copy. What would switch them: a delivery system to ask, or a second export cut from the same extract.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55 of 186 kept orders carry no discount; revenue does not need the field.</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b) a few rupees apart; c) about a quarter lower with zeros; d) higher with zeros.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any discount figure is quoted over the orders that carry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the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helper turns anything unreadable into 0, and the first copy wins.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201 of 201</a:t>
            </a:r>
          </a:p>
        </p:txBody>
      </p:sp>
      <p:sp>
        <p:nvSpPr>
          <p:cNvPr id="15" name="TextBox 14"/>
          <p:cNvSpPr txBox="1"/>
          <p:nvPr/>
        </p:nvSpPr>
        <p:spPr>
          <a:xfrm>
            <a:off x="53035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9" name="TextBox 18"/>
          <p:cNvSpPr txBox="1"/>
          <p:nvPr/>
        </p:nvSpPr>
        <p:spPr>
          <a:xfrm>
            <a:off x="433212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23" name="TextBox 22"/>
          <p:cNvSpPr txBox="1"/>
          <p:nvPr/>
        </p:nvSpPr>
        <p:spPr>
          <a:xfrm>
            <a:off x="813389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AFTER THE DEDUPE</a:t>
            </a:r>
          </a:p>
        </p:txBody>
      </p:sp>
      <p:sp>
        <p:nvSpPr>
          <p:cNvPr id="24" name="TextBox 23"/>
          <p:cNvSpPr txBox="1"/>
          <p:nvPr/>
        </p:nvSpPr>
        <p:spPr>
          <a:xfrm>
            <a:off x="813389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to 1.9 crore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is a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the unreadable copy is worth Rs 0 it passes as valid, and the rule keeps it.</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reject, then repair only from a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JSON feed repeats the defect; the second extract carried the value.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copy of the defect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reject and the rule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0 order leaves the clean file, the twin with the value stays, and the profile reports the one failure the export really had.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against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Aggregate counts and row logs must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the log shows them. Profile the clean file at the end of every pass.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default, or keep and flag: each is a claim about the business.</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Write the claim beside the decision. And never fill money.</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How do you handle missing data?</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Status flagged, discount kept unknown, the unreadable amount rejected and repaired from its twin.</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5</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The proof for Anand, and whether Tuesday survives.</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bridge to the books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From 2.1 to 1.9 move by move, then Tuesday recomputed on the clean file.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proof Finance can follow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wants the proof; Marketing wants to know if the Retail-Plus fall is real.</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 bridged its gap from £250m to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2014 a retailer's own figure was wrong, and the investigation split it by period.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Supplier income booked early made the reported figure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prove which figure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this export.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What would switch it: a bridge that does not close, and then the gap itself is the finding, perhaps in Finance's books.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2.1 to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backed by logged rows, land on the books.</a:t>
            </a:r>
          </a:p>
        </p:txBody>
      </p:sp>
      <p:pic>
        <p:nvPicPr>
          <p:cNvPr id="9" name="mermaid diagram" descr="50e2125378948408.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unreadable amount needs no move: it was never in the exported total, and its twin stayed. The notebook draws it with kit.bridge, the axis raised to Rs 1.88 crore.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customer fell 49 percent on the dirty export.</a:t>
            </a:r>
          </a:p>
        </p:txBody>
      </p:sp>
      <p:pic>
        <p:nvPicPr>
          <p:cNvPr id="9" name="mermaid diagram" descr="3f7eafcf8b2ef7d1.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-35.0 percent, 1.82 to 1.18, and the revenue drop shrinks from 11.0 to 1.6 percent.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678137"/>
                <a:gridCol w="3316107"/>
                <a:gridCol w="3136745"/>
              </a:tblGrid>
              <a:tr h="369824">
                <a:tc>
                  <a:txBody>
                    <a:bodyPr/>
                    <a:lstStyle/>
                    <a:p>
                      <a:r>
                        <a:rPr sz="1450" b="1" i="0">
                          <a:solidFill>
                            <a:srgbClr val="FFFFFF"/>
                          </a:solidFill>
                          <a:latin typeface="Calibri"/>
                        </a:rPr>
                        <a:t>Number</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Revenue, Q1 to Q2</a:t>
                      </a:r>
                    </a:p>
                  </a:txBody>
                  <a:tcPr marL="101600" marR="101600" marT="38100" marB="38100" anchor="ctr">
                    <a:solidFill>
                      <a:srgbClr val="FFFFFF"/>
                    </a:solidFill>
                  </a:tcPr>
                </a:tc>
                <a:tc>
                  <a:txBody>
                    <a:bodyPr/>
                    <a:lstStyle/>
                    <a:p>
                      <a:r>
                        <a:rPr sz="1400" b="0" i="0">
                          <a:solidFill>
                            <a:srgbClr val="1A1440"/>
                          </a:solidFill>
                          <a:latin typeface="Calibri"/>
                        </a:rPr>
                        <a:t>-11.0%</a:t>
                      </a:r>
                    </a:p>
                  </a:txBody>
                  <a:tcPr marL="101600" marR="101600" marT="38100" marB="38100" anchor="ctr">
                    <a:solidFill>
                      <a:srgbClr val="FFFFFF"/>
                    </a:solidFill>
                  </a:tcPr>
                </a:tc>
                <a:tc>
                  <a:txBody>
                    <a:bodyPr/>
                    <a:lstStyle/>
                    <a:p>
                      <a:r>
                        <a:rPr sz="1400" b="0" i="0">
                          <a:solidFill>
                            <a:srgbClr val="1A1440"/>
                          </a:solidFill>
                          <a:latin typeface="Calibri"/>
                        </a:rPr>
                        <a:t>-1.6%</a:t>
                      </a:r>
                    </a:p>
                  </a:txBody>
                  <a:tcPr marL="101600" marR="101600" marT="38100" marB="38100" anchor="ctr">
                    <a:solidFill>
                      <a:srgbClr val="FFFFFF"/>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4F2FA"/>
                    </a:solidFill>
                  </a:tcPr>
                </a:tc>
                <a:tc>
                  <a:txBody>
                    <a:bodyPr/>
                    <a:lstStyle/>
                    <a:p>
                      <a:r>
                        <a:rPr sz="1400" b="0" i="0">
                          <a:solidFill>
                            <a:srgbClr val="1A1440"/>
                          </a:solidFill>
                          <a:latin typeface="Calibri"/>
                        </a:rPr>
                        <a:t>2.32 to 1.18, -49.0%</a:t>
                      </a:r>
                    </a:p>
                  </a:txBody>
                  <a:tcPr marL="101600" marR="101600" marT="38100" marB="38100" anchor="ctr">
                    <a:solidFill>
                      <a:srgbClr val="F4F2FA"/>
                    </a:solidFill>
                  </a:tcPr>
                </a:tc>
                <a:tc>
                  <a:txBody>
                    <a:bodyPr/>
                    <a:lstStyle/>
                    <a:p>
                      <a:r>
                        <a:rPr sz="1400" b="0" i="0">
                          <a:solidFill>
                            <a:srgbClr val="1A1440"/>
                          </a:solidFill>
                          <a:latin typeface="Calibri"/>
                        </a:rPr>
                        <a:t>1.82 to 1.18, -35.0%</a:t>
                      </a:r>
                    </a:p>
                  </a:txBody>
                  <a:tcPr marL="101600" marR="101600" marT="38100" marB="38100" anchor="ctr">
                    <a:solidFill>
                      <a:srgbClr val="F4F2FA"/>
                    </a:solidFill>
                  </a:tcPr>
                </a:tc>
              </a:tr>
              <a:tr h="369824">
                <a:tc>
                  <a:txBody>
                    <a:bodyPr/>
                    <a:lstStyle/>
                    <a:p>
                      <a:r>
                        <a:rPr sz="1400" b="0" i="0">
                          <a:solidFill>
                            <a:srgbClr val="1A1440"/>
                          </a:solidFill>
                          <a:latin typeface="Calibri"/>
                        </a:rPr>
                        <a:t>Retail-Core orders per customer</a:t>
                      </a:r>
                    </a:p>
                  </a:txBody>
                  <a:tcPr marL="101600" marR="101600" marT="38100" marB="38100" anchor="ctr">
                    <a:solidFill>
                      <a:srgbClr val="FFFFFF"/>
                    </a:solidFill>
                  </a:tcPr>
                </a:tc>
                <a:tc>
                  <a:txBody>
                    <a:bodyPr/>
                    <a:lstStyle/>
                    <a:p>
                      <a:r>
                        <a:rPr sz="1400" b="0" i="0">
                          <a:solidFill>
                            <a:srgbClr val="1A1440"/>
                          </a:solidFill>
                          <a:latin typeface="Calibri"/>
                        </a:rPr>
                        <a:t>-5.3%</a:t>
                      </a:r>
                    </a:p>
                  </a:txBody>
                  <a:tcPr marL="101600" marR="101600" marT="38100" marB="38100" anchor="ctr">
                    <a:solidFill>
                      <a:srgbClr val="FFFFFF"/>
                    </a:solidFill>
                  </a:tcPr>
                </a:tc>
                <a:tc>
                  <a:txBody>
                    <a:bodyPr/>
                    <a:lstStyle/>
                    <a:p>
                      <a:r>
                        <a:rPr sz="1400" b="0" i="0">
                          <a:solidFill>
                            <a:srgbClr val="1A1440"/>
                          </a:solidFill>
                          <a:latin typeface="Calibri"/>
                        </a:rPr>
                        <a:t>-2.7%</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Most copies sat in Retail-Plus in Q1, so Tuesday's Q1 rate was inflated. The smaller number goes first in the note.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outlier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Q2's largest order is 1.66 times the next, so a hurried analyst removes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large is not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order in lakhs is the business doing what it does.</a:t>
            </a:r>
          </a:p>
        </p:txBody>
      </p:sp>
      <p:pic>
        <p:nvPicPr>
          <p:cNvPr id="9" name="mermaid diagram" descr="e56018d12ff250c4.png"/>
          <p:cNvPicPr>
            <a:picLocks noChangeAspect="1"/>
          </p:cNvPicPr>
          <p:nvPr/>
        </p:nvPicPr>
        <p:blipFill>
          <a:blip r:embed="rId5"/>
          <a:stretch>
            <a:fillRect/>
          </a:stretch>
        </p:blipFill>
        <p:spPr>
          <a:xfrm>
            <a:off x="2994249" y="1664208"/>
            <a:ext cx="6203196"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the record is wrong, never whether it is big. A fence over the whole quarter flags all 17 Business orders, since it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the note to Finance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Bottom up, the kept orders sum to the same Q1 the bridge reached top down.</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rows twice, fourteen of them in Q1; copies of two corporate orders carry Rs 19,67,560 of the Rs 19,98,210 difference. Rows and rupees reconcile to your books. On clean data the drop is 1.6 percent, not 11, and the Retail-Plus fall is 35 percent, not 49. It survives, smaller."</a:t>
            </a:r>
          </a:p>
          <a:p>
            <a:pPr>
              <a:spcBef>
                <a:spcPts val="400"/>
              </a:spcBef>
            </a:pPr>
            <a:r>
              <a:rPr sz="1000" b="0" i="0">
                <a:solidFill>
                  <a:srgbClr val="6B6690"/>
                </a:solidFill>
                <a:latin typeface="Calibri"/>
              </a:rPr>
              <a:t>The GCC data and AI team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reconciliations, the bridge drawn, and what changed said first.</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Tell me what changed in Tuesday's story, including when it got smaller.</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Finance and your dashboard disagree; what do you do?</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Finance's 1.9 crore is right, the bridge closes, Retail-Plus -35.0 percent.</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After lunch</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Can Anand's analyst audit and replay every decision?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