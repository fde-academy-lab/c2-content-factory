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ERP is the enterprise resource</a:t>
            </a:r>
          </a:p>
          <a:p>
            <a:r>
              <a:t>planning system Finance books orders in. The day asks one question and climbs it in six chapters:</a:t>
            </a:r>
          </a:p>
          <a:p>
            <a:r>
              <a:t>which Q1 figure is right, and how do we prove it to an analyst who ties out, matching every figure</a:t>
            </a:r>
          </a:p>
          <a:p>
            <a:r>
              <a:t>to the books line by line? Five chapters this block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Leave the question up while you set the scene. Then the reply to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at the price charged, whatever</a:t>
            </a:r>
          </a:p>
          <a:p>
            <a:r>
              <a:t>its status, which is how both of Anand's figures count it. A migration is the move of the order data</a:t>
            </a:r>
          </a:p>
          <a:p>
            <a:r>
              <a:t>from one system to another, and an extract is one pull of rows out of the ERP. Ask: whose number do</a:t>
            </a:r>
          </a:p>
          <a:p>
            <a:r>
              <a:t>you trust before looking at anything? Most say Finance. The honest answer is neither yet: both are</a:t>
            </a:r>
          </a:p>
          <a:p>
            <a:r>
              <a:t>computed correctly from something, and the job is to find what. Then the four readers.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 the</a:t>
            </a:r>
          </a:p>
          <a:p>
            <a:r>
              <a:t>analyst's and the auditor's after lunch. Watch for learners who want to start coding and hold them,</a:t>
            </a:r>
          </a:p>
          <a:p>
            <a:r>
              <a:t>since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 that</a:t>
            </a:r>
          </a:p>
          <a:p>
            <a:r>
              <a:t>differs. The point is the list; the letter comes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chosen for cost more than likelihood, though the ERP note about a</a:t>
            </a:r>
          </a:p>
          <a:p>
            <a:r>
              <a:t>stitched CSV makes it likelier too. Then the four moves of the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of a wrong answer here is the largest of the day, because every later</a:t>
            </a:r>
          </a:p>
          <a:p>
            <a:r>
              <a:t>chapter is built on this count. If the note says the dashboard is right and it is not, the analyst</a:t>
            </a:r>
          </a:p>
          <a:p>
            <a:r>
              <a:t>finds it and discounts every later number the team sends. Then a retailer that skipped this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 the</a:t>
            </a:r>
          </a:p>
          <a:p>
            <a:r>
              <a:t>US. Say "about" and name the source aloud, since the 30 percent is a secondary summary. Then the</a:t>
            </a:r>
          </a:p>
          <a:p>
            <a:r>
              <a:t>options.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minutes for b and c are an illustrative half-second a cell and half a minute a</a:t>
            </a:r>
          </a:p>
          <a:p>
            <a:r>
              <a:t>row. A sample reads the rows it draws and says nothing about the rest; on a file of crores of rows</a:t>
            </a:r>
          </a:p>
          <a:p>
            <a:r>
              <a:t>due in an hour, even the profile can be too slow, and then the key and the money fields go first.</a:t>
            </a:r>
          </a:p>
          <a:p>
            <a:r>
              <a:t>Then the picture of a profile.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what "distinct" says about order_id that "present" cannot: whether ids repeat.</a:t>
            </a:r>
          </a:p>
          <a:p>
            <a:r>
              <a:t>Then open notebook 01. When open("orders.csv") fails with FileNotFoundError, give it two minutes on</a:t>
            </a:r>
          </a:p>
          <a:p>
            <a:r>
              <a:t>the last line, which names the folder Python looked in; the exports live in ../data/. Then predict.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Point at the second line: every</a:t>
            </a:r>
          </a:p>
          <a:p>
            <a:r>
              <a:t>value a CSV gives back is text, so every sum, sort and comparison depends on a conversion somebody</a:t>
            </a:r>
          </a:p>
          <a:p>
            <a:r>
              <a:t>chose.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Do not explain the other three yet; name the chapter that answers</a:t>
            </a:r>
          </a:p>
          <a:p>
            <a:r>
              <a:t>each: order_id in chapters 2 and 3, amount and status in chapter 4. Then the sort an audit starts</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01, section 3. Anand's analyst audits the largest orders first, since one</a:t>
            </a:r>
          </a:p>
          <a:p>
            <a:r>
              <a:t>of them can carry more money than a hundred small ones. Run it and ask what she would tie out</a:t>
            </a:r>
          </a:p>
          <a:p>
            <a:r>
              <a:t>tonight: three small orders. The decision it misleads is an audit that passes on the part of the</a:t>
            </a:r>
          </a:p>
          <a:p>
            <a:r>
              <a:t>file that carries the least money. Then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a business question, which is the habit to build: a number that</a:t>
            </a:r>
          </a:p>
          <a:p>
            <a:r>
              <a:t>contradicts what the business does is wrong before any code is read.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Convert before any sort, max or comparison on an amount. The same conversion that</a:t>
            </a:r>
          </a:p>
          <a:p>
            <a:r>
              <a:t>fixes the sort also has to say what it does with an amount that will not convert, which is the next</a:t>
            </a:r>
          </a:p>
          <a:p>
            <a:r>
              <a:t>question. Then predict Q1.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First the your-turn cell: the room runs int() over every amount and meets the</a:t>
            </a:r>
          </a:p>
          <a:p>
            <a:r>
              <a:t>ValueError. Two minutes: read the last line, write the value down, and move on; it is an error met</a:t>
            </a:r>
          </a:p>
          <a:p>
            <a:r>
              <a:t>on the way, and the lesson is this cell.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dashboard's 2.1 crore is honest arithmetic on this file, so</a:t>
            </a:r>
          </a:p>
          <a:p>
            <a:r>
              <a:t>both of Anand's figures are honest: the question is what the extra rows are. Then the app's feed.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the first thing to cut if the chapter runs long. json.load stops with a</a:t>
            </a:r>
          </a:p>
          <a:p>
            <a:r>
              <a:t>JSONDecodeError, met in an empty cell: two minutes, open the file at the line and column the last</a:t>
            </a:r>
          </a:p>
          <a:p>
            <a:r>
              <a:t>line names. The notebook reads the feed one complete record at a time: 119 records, all of them</a:t>
            </a:r>
          </a:p>
          <a:p>
            <a:r>
              <a:t>orders the CSV holds, before the cut. Then a second route to the profile's counts.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convert() or in a set cannot move either count, which is what makes it a</a:t>
            </a:r>
          </a:p>
          <a:p>
            <a:r>
              <a:t>second route.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arithmetic, comparison and sorting break or silently</a:t>
            </a:r>
          </a:p>
          <a:p>
            <a:r>
              <a:t>lie on text; convert once at the boundary in one function that returns the value or the reason, and</a:t>
            </a:r>
          </a:p>
          <a:p>
            <a:r>
              <a:t>log the failures. The answer raises chapter 2's question: 201 rows for 186 orders, so which rows</a:t>
            </a:r>
          </a:p>
          <a:p>
            <a:r>
              <a:t>repeat? 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a wrong answer costs.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runs both ways: keep Rs 20 lakh that was never earned, or delete real</a:t>
            </a:r>
          </a:p>
          <a:p>
            <a:r>
              <a:t>orders from the books. Then a company that counted one purchase twice.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 Then the four</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fuzzy match, same customer and same amount dated within 60 days, has no key to</a:t>
            </a:r>
          </a:p>
          <a:p>
            <a:r>
              <a:t>group on, so it costs 20,100 pair comparisons here against 201 lookups for a key, and about 200 lakh</a:t>
            </a:r>
          </a:p>
          <a:p>
            <a:r>
              <a:t>crore pairs on a file of 2 crore rows. Point at d: the same count as c, and other rows. Then the</a:t>
            </a:r>
          </a:p>
          <a:p>
            <a:r>
              <a:t>rule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one new idea. A duplicate only exists relative to a rule, so</a:t>
            </a:r>
          </a:p>
          <a:p>
            <a:r>
              <a:t>the count comes after the rule. Then predict where the extra rows sit.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That is a lead, and the next step is to remove the copies, which is</a:t>
            </a:r>
          </a:p>
          <a:p>
            <a:r>
              <a:t>where a hurried analyst reaches for the default tool. Then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section 3. Chapter 1's rejects log cited a file line, so every record</a:t>
            </a:r>
          </a:p>
          <a:p>
            <a:r>
              <a:t>now carries one. Ask what they would do with a dedupe that finds zero; most would report it, since</a:t>
            </a:r>
          </a:p>
          <a:p>
            <a:r>
              <a:t>the function ran without error. The note would tell Anand his books are Rs 20 lakh short. Then why.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five are in notebook 02, labelled invented. The decision it misleads:</a:t>
            </a:r>
          </a:p>
          <a:p>
            <a:r>
              <a:t>Finance sent hunting for revenue that was never earned.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Do not read the ids aloud. The your-turn cell prints both lines of each order; ask</a:t>
            </a:r>
          </a:p>
          <a:p>
            <a:r>
              <a:t>what the second line numbers have in common and what that says about the migration, and let the room</a:t>
            </a:r>
          </a:p>
          <a:p>
            <a:r>
              <a:t>say it. Then a rule that flags as many rows.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reviewer comparing counts signs off a pass that removes</a:t>
            </a:r>
          </a:p>
          <a:p>
            <a:r>
              <a:t>a real Q2 order, since equal counts can hide different rows. Then a count that needs no dictionary.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routes assert 15 and agree quarter by quarter. With no id on three rows, each</a:t>
            </a:r>
          </a:p>
          <a:p>
            <a:r>
              <a:t>pair sharing an id is one extra row.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 answer raises chapter 3's question: of each pair, which copy stays?</a:t>
            </a:r>
          </a:p>
          <a:p>
            <a:r>
              <a:t>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the analyst loses to the wrong copy.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Thirteen of the fifteen pairs are identical, and either row may stay. Anand's</a:t>
            </a:r>
          </a:p>
          <a:p>
            <a:r>
              <a:t>analyst is the reader, and every choice is visible to her in the log. Then a system that wrote the</a:t>
            </a:r>
          </a:p>
          <a:p>
            <a:r>
              <a:t>rule into law.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questions 9, 17 and</a:t>
            </a:r>
          </a:p>
          <a:p>
            <a:r>
              <a:t>65, and Notification 10/2023-Central Tax. The portal hashes the same fields into the invoice</a:t>
            </a:r>
          </a:p>
          <a:p>
            <a:r>
              <a:t>reference number, and a repeat is refused at the door. The rule covers invoices to registered</a:t>
            </a:r>
          </a:p>
          <a:p>
            <a:r>
              <a:t>businesses from sellers above Rs 5 crore of aggregate turnover, and some sectors, such as banks and</a:t>
            </a:r>
          </a:p>
          <a:p>
            <a:r>
              <a:t>insurers, are exempt. Then the four ways to choose.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of the fifteen escalations would carry no question at all. Then three</a:t>
            </a:r>
          </a:p>
          <a:p>
            <a:r>
              <a:t>kinds of pair on invented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pairs are invented, one of each kind. Pair A is easy and pair B has one</a:t>
            </a:r>
          </a:p>
          <a:p>
            <a:r>
              <a:t>answer that can be summed. Letters in chat for pair C. Then the rule.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Keeping the first copy of pair B would keep a row that cannot be</a:t>
            </a:r>
          </a:p>
          <a:p>
            <a:r>
              <a:t>summed, which is why the rule prefers the copy that validates. Then the rule on the ERP file.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your-turn cell prints the two log rows whose reason says more than "second</a:t>
            </a:r>
          </a:p>
          <a:p>
            <a:r>
              <a:t>copy". Each learner says what the reasons show, where the amount chapter 1 could not read went and</a:t>
            </a:r>
          </a:p>
          <a:p>
            <a:r>
              <a:t>which field a pair disagrees on, then writes the question they would send the ERP team. Then a pass</a:t>
            </a:r>
          </a:p>
          <a:p>
            <a:r>
              <a:t>that ties Q1 by another route.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section 4. This pass drops the file line and dedupes on the rest of</a:t>
            </a:r>
          </a:p>
          <a:p>
            <a:r>
              <a:t>the record. Ask who would ship it. Most hands go up, since Q1 ties.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two pairs this pass misses cost Q1 nothing: one copy's amount cannot be read,</a:t>
            </a:r>
          </a:p>
          <a:p>
            <a:r>
              <a:t>so it adds nothing to the sum. The decision it misleads: a Q2 order count one too high in</a:t>
            </a:r>
          </a:p>
          <a:p>
            <a:r>
              <a:t>Retail-Plus, the segment Tuesday's finding is about.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weigh the rows the rule set aside.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Rows: 2, 11 and 1 of 14. Rupees: Rs 19,67,560, Rs 27,760 and Rs 2,890 of</a:t>
            </a:r>
          </a:p>
          <a:p>
            <a:r>
              <a:t>Rs 19,98,210. Two conversations follow: Anand's gap, and Tuesday's finding, which chapter 5</a:t>
            </a:r>
          </a:p>
          <a:p>
            <a:r>
              <a:t>recomputes.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 Then the chapter's</a:t>
            </a:r>
          </a:p>
          <a:p>
            <a:r>
              <a:t>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raises chapter 4's question: the kept orders still carry a missing</a:t>
            </a:r>
          </a:p>
          <a:p>
            <a:r>
              <a:t>status, missing discounts, and next time an unreadable amount with no twin. Then the 10-minute</a:t>
            </a:r>
          </a:p>
          <a:p>
            <a:r>
              <a:t>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values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choice keeps revenue whole, invents a fact or deletes one, and the analyst</a:t>
            </a:r>
          </a:p>
          <a:p>
            <a:r>
              <a:t>reads every choice in the log. Then a business that sold on a value nobody questioned.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the tool was Repricer</a:t>
            </a:r>
          </a:p>
          <a:p>
            <a:r>
              <a:t>Express, and the orders were placed on Amazon's Marketplace, where third-party sellers trade. Counts</a:t>
            </a:r>
          </a:p>
          <a:p>
            <a:r>
              <a:t>beyond "hundreds of items" were not verified and stay out.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Impute means filling a value from other records, here the customer's last order,</a:t>
            </a:r>
          </a:p>
          <a:p>
            <a:r>
              <a:t>which was delivered. The amount options: coerce to zero misses the books by Rs 1,790 and leaves a</a:t>
            </a:r>
          </a:p>
          <a:p>
            <a:r>
              <a:t>Rs 0 order; reject leaves the order's rupees out until repaired; reading a word as a number is a</a:t>
            </a:r>
          </a:p>
          <a:p>
            <a:r>
              <a:t>guess; a twin from the other extract repairs it exactly. Then the claims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of the four claims invent or delete a fact. Then predict which keeps both</a:t>
            </a:r>
          </a:p>
          <a:p>
            <a:r>
              <a:t>numbers honest.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Then the discount, Tuesday's trap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55 of 186 kept orders carry no discount; revenue does not need the field. This is</a:t>
            </a:r>
          </a:p>
          <a:p>
            <a:r>
              <a:t>Tuesday's trap coming back in a new place.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4. Let the room enjoy it: the loop finishes, the profile is</a:t>
            </a:r>
          </a:p>
          <a:p>
            <a:r>
              <a:t>perfect, and every order id appears once. Ask who they would now tell the file is clean. Then why.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Once the unreadable copy is worth Rs 0 it passes as valid, the identity rule can</a:t>
            </a:r>
          </a:p>
          <a:p>
            <a:r>
              <a:t>no longer tell it from its twin, and the first copy wins. The decision it misleads: a note calling</a:t>
            </a:r>
          </a:p>
          <a:p>
            <a:r>
              <a:t>the file clean with an order at Rs 0 in it, which the analyst finds on her first tie-out. Then the</a:t>
            </a:r>
          </a:p>
          <a:p>
            <a:r>
              <a:t>fix.</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profile of the export still reports its one failure, which is the truth about</a:t>
            </a:r>
          </a:p>
          <a:p>
            <a:r>
              <a:t>the export; the empty rejects log is the truth about the clean file. Then where a repair may come</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invented pair INV-21 shows the other tempting repair: reading "fourteen" as 14</a:t>
            </a:r>
          </a:p>
          <a:p>
            <a:r>
              <a:t>misses a Rs 1,400 order by Rs 1,386. Repair comes only from a source that could not have copied the</a:t>
            </a:r>
          </a:p>
          <a:p>
            <a:r>
              <a:t>error, and the log names it.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counts come from different code: the profile of the clean file against the</a:t>
            </a:r>
          </a:p>
          <a:p>
            <a:r>
              <a:t>flags, rejects and discount logs the decisions wrote.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 The answer raises chapter 5's question: the</a:t>
            </a:r>
          </a:p>
          <a:p>
            <a:r>
              <a:t>clean file is decided, so can we prove the 1.9 to Anand?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who is waiting.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rescue campaign for Retail-Plus, Kalpa's paid membership tier, is waiting on the</a:t>
            </a:r>
          </a:p>
          <a:p>
            <a:r>
              <a:t>second number. Then a retailer whose own figure was wrong.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which quotes Tesco on the</a:t>
            </a:r>
          </a:p>
          <a:p>
            <a:r>
              <a:t>accelerated recognition of commercial income, payments from suppliers booked in the wrong period;</a:t>
            </a:r>
          </a:p>
          <a:p>
            <a:r>
              <a:t>Tesco interim results statement, 23 October 2014, which splits GBP 263m into GBP 118m for the first</a:t>
            </a:r>
          </a:p>
          <a:p>
            <a:r>
              <a:t>half, about GBP 70m for 2013/14 and about GBP 75m before. Then the four proofs.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bridge walks one total to another, one move per cause, each backed by logged</a:t>
            </a:r>
          </a:p>
          <a:p>
            <a:r>
              <a:t>rows. The feed is neither independent nor complete: it was cut from the same extract, carries the</a:t>
            </a:r>
          </a:p>
          <a:p>
            <a:r>
              <a:t>same unreadable amount and holds only 19 of Q2's 86 orders. Then predict the moves.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set-aside log holds the 15 rows the identity rule set aside, 14 of them in Q1,</a:t>
            </a:r>
          </a:p>
          <a:p>
            <a:r>
              <a:t>each with its segment. Take letters in chat, then show the bridge.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bridge on the board beside the notebook's chart; the raised axis keeps the</a:t>
            </a:r>
          </a:p>
          <a:p>
            <a:r>
              <a:t>Rs 30,650 move visible. Then Monday's tree, to test Tuesday's finding.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dashed boxes are Tuesday's reading, before any cleaning. The copies were Q1</a:t>
            </a:r>
          </a:p>
          <a:p>
            <a:r>
              <a:t>rows, so at least one branch has to move. Then predict what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recomputed tree.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tree down: customers never moved, frequency carries the correction and now</a:t>
            </a:r>
          </a:p>
          <a:p>
            <a:r>
              <a:t>falls by about 14 percent where Tuesday read 25, and revenue per order moves a little. Retail-Core</a:t>
            </a:r>
          </a:p>
          <a:p>
            <a:r>
              <a:t>moves from -5.3 to -2.7 percent if asked. Thursday asks whether -35 percent is real or chance. Then</a:t>
            </a:r>
          </a:p>
          <a:p>
            <a:r>
              <a:t>the largest Q2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4. The decision it misleads: Marketing funds a rescue for a</a:t>
            </a:r>
          </a:p>
          <a:p>
            <a:r>
              <a:t>fall that never happened, and Finance rejects the reconciliation because its books hold the order.</a:t>
            </a:r>
          </a:p>
          <a:p>
            <a:r>
              <a:t>Then why.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Business segment sells in bulk to corporate buyers, every order in lakhs,</a:t>
            </a:r>
          </a:p>
          <a:p>
            <a:r>
              <a:t>so a Business order at Rs 29 lakh is the business doing what it does.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and flag is a decision in the log, with its reason: a real Business account,</a:t>
            </a:r>
          </a:p>
          <a:p>
            <a:r>
              <a:t>shown both ways. Then the note.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figure is right, so that leads, then the proof, then what</a:t>
            </a:r>
          </a:p>
          <a:p>
            <a:r>
              <a:t>changed, the smaller numbers first. The full note in notebook 05 also names the two flags and stays</a:t>
            </a:r>
          </a:p>
          <a:p>
            <a:r>
              <a:t>under 120 words. Then a second route to Q1.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 The answer</a:t>
            </a:r>
          </a:p>
          <a:p>
            <a:r>
              <a:t>raises chapter 6's question, after lunch: can Anand's analyst audit every decision and rebuild the</a:t>
            </a:r>
          </a:p>
          <a:p>
            <a:r>
              <a:t>clean file from the log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8.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9.png"/><Relationship Id="rId6"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8.png"/><Relationship Id="rId6"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9.png"/><Relationship Id="rId6"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image" Target="../media/image8.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19.png"/><Relationship Id="rId6"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19.png"/><Relationship Id="rId6" Type="http://schemas.openxmlformats.org/officeDocument/2006/relationships/image" Target="../media/image3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3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3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did the ERP send?</a:t>
            </a:r>
          </a:p>
        </p:txBody>
      </p:sp>
      <p:sp>
        <p:nvSpPr>
          <p:cNvPr id="13" name="TextBox 12"/>
          <p:cNvSpPr txBox="1"/>
          <p:nvPr/>
        </p:nvSpPr>
        <p:spPr>
          <a:xfrm>
            <a:off x="26729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rows repeat?</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71466"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Which copy stays?</a:t>
            </a:r>
          </a:p>
        </p:txBody>
      </p:sp>
      <p:sp>
        <p:nvSpPr>
          <p:cNvPr id="17" name="TextBox 16"/>
          <p:cNvSpPr txBox="1"/>
          <p:nvPr/>
        </p:nvSpPr>
        <p:spPr>
          <a:xfrm>
            <a:off x="62427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626828"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Drop, fill or flag?</a:t>
            </a:r>
          </a:p>
        </p:txBody>
      </p:sp>
      <p:sp>
        <p:nvSpPr>
          <p:cNvPr id="19" name="TextBox 18"/>
          <p:cNvSpPr txBox="1"/>
          <p:nvPr/>
        </p:nvSpPr>
        <p:spPr>
          <a:xfrm>
            <a:off x="81164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500491"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we prove the 1.9?</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the books' Rs 1.9 crore, and how do we know?</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the ERP send?</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Rs 2.1 crore follow from it?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Q1 land on the books?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Drop, fill or flag?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 value missing or unreadable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Can we prove the 1.9?</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Tuesday survive?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analyst replay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decision, from the log</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4" name="Oval 4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6" name="Oval 4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8" name="Oval 4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Finance's books sit Rs 20 lakh below the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how far apart are the two figures?</a:t>
            </a:r>
          </a:p>
        </p:txBody>
      </p:sp>
      <p:sp>
        <p:nvSpPr>
          <p:cNvPr id="9" name="Rounded Rectangle 8"/>
          <p:cNvSpPr/>
          <p:nvPr/>
        </p:nvSpPr>
        <p:spPr>
          <a:xfrm>
            <a:off x="530352" y="1956816"/>
            <a:ext cx="3588410"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Rs 1.9 crore, and his analyst ties out every number: she matches it to the books, line by line.</a:t>
            </a:r>
          </a:p>
        </p:txBody>
      </p:sp>
      <p:sp>
        <p:nvSpPr>
          <p:cNvPr id="15" name="Rounded Rectangle 14"/>
          <p:cNvSpPr/>
          <p:nvPr/>
        </p:nvSpPr>
        <p:spPr>
          <a:xfrm>
            <a:off x="430164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944626"/>
          </a:xfrm>
          <a:prstGeom prst="rect">
            <a:avLst/>
          </a:prstGeom>
          <a:noFill/>
        </p:spPr>
        <p:txBody>
          <a:bodyPr wrap="square" anchor="t" lIns="0" rIns="0" tIns="0" bIns="0">
            <a:spAutoFit/>
          </a:bodyPr>
          <a:lstStyle/>
          <a:p>
            <a:pPr algn="l"/>
            <a:r>
              <a:rPr sz="1100" b="0" i="0">
                <a:solidFill>
                  <a:srgbClr val="6B6690"/>
                </a:solidFill>
                <a:latin typeface="Calibri"/>
              </a:rPr>
              <a:t>The ERP is the enterprise resource planning system Finance books orders in. Its team sent a CSV stitched from two extracts, two pulls of rows, during Q1's migration to a new system, and the app's JSON feed.</a:t>
            </a:r>
          </a:p>
        </p:txBody>
      </p:sp>
      <p:sp>
        <p:nvSpPr>
          <p:cNvPr id="21" name="Rounded Rectangle 20"/>
          <p:cNvSpPr/>
          <p:nvPr/>
        </p:nvSpPr>
        <p:spPr>
          <a:xfrm>
            <a:off x="807293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1" name="Oval 4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3" name="Oval 42"/>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5" name="Oval 44"/>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7" name="Oval 46"/>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need four answers from one reconciliation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reconciliation, and what does each need from it?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would you check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between two honest figures come from?</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between two honest figures come from?</a:t>
            </a:r>
          </a:p>
        </p:txBody>
      </p:sp>
      <p:pic>
        <p:nvPicPr>
          <p:cNvPr id="9" name="mermaid diagram" descr="cbacbf6e9d989b7a.png"/>
          <p:cNvPicPr>
            <a:picLocks noChangeAspect="1"/>
          </p:cNvPicPr>
          <p:nvPr/>
        </p:nvPicPr>
        <p:blipFill>
          <a:blip r:embed="rId5"/>
          <a:stretch>
            <a:fillRect/>
          </a:stretch>
        </p:blipFill>
        <p:spPr>
          <a:xfrm>
            <a:off x="1273023" y="1682496"/>
            <a:ext cx="3300984"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so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decide, reconcile, recompute, with a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four moves turn two figures into one we can prove?</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7" name="Oval 1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9" name="Oval 1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did the ERP send?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ERP actually send, and does the dashboard's Rs 2.1 crore follow from it?</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decides whether Finance acts on Tuesday's drop at all, and his analyst ties out every figure tonight. A wrong count here costs the most of the day, since every later number stands on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learn what arrived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Field by field, three counts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is largest?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sort an audit starts from</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2.1 crore follow?</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Q1 over what converts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can the feed tell?</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app's copy of the orders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methods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same counts, other code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needs Q1 to the rupee before Finance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before he acts, and what does a wrong count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Canada's new system ran on bad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retailer paid for data nobody counted before trusting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Target Canada launched in March 2013 on a new system loaded in a hurry. Data loaded during a system change is the kind that needs counting before anyone trusts it, and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every field: 2,010 values in under a second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learn what arrived, and what would each way cost on 201 rows?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04802"/>
                <a:gridCol w="2302660"/>
                <a:gridCol w="1898376"/>
                <a:gridCol w="442515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the 20 it reads, nothing of the other 181</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profile too slow for the deadline; then profile order_id and amount first.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every field three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profile ask of each field before any total?</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6" name="Oval 1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8" name="Oval 1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 of 201?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raw = read_orders()        # 201 rows, each value as the file wrote it</a:t>
            </a:r>
          </a:p>
          <a:p>
            <a:pPr>
              <a:spcAft>
                <a:spcPts val="200"/>
              </a:spcAft>
            </a:pPr>
            <a:r>
              <a:rPr sz="1400" b="0" i="0">
                <a:solidFill>
                  <a:srgbClr val="E4E1F1"/>
                </a:solidFill>
                <a:latin typeface="Consolas"/>
              </a:rPr>
              <a:t>raw[0]["amount"]           # '2200': text, until converted on purpose</a:t>
            </a:r>
          </a:p>
          <a:p>
            <a:pPr>
              <a:spcAft>
                <a:spcPts val="200"/>
              </a:spcAft>
            </a:pPr>
            <a:r>
              <a:rPr sz="1400" b="0" i="0">
                <a:solidFill>
                  <a:srgbClr val="E4E1F1"/>
                </a:solidFill>
                <a:latin typeface="Consolas"/>
              </a:rPr>
              <a:t>prof = profile(raw)        # present, convertible, distinct per field</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the 201 rows, as a letter? a) amount; b) discount; c) order_id; d) none, since an ERP export is complete.</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Three counts do not fit 201 rows: order ids distinct on 186, amounts convertible on 200, status present on 200. Discount on 143 is Tuesday's optional field and expected.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Rs 970 on 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does a hurried sort put on top?</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three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text sort put Rs 970 above Rs 29 lakh?</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Kalpa's Business segment sells to companies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converted, Rs 29,45,460 tops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is the largest?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29,45,460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62,11,460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Converted once, at the door, the sort puts the quarter's money first, and the analyst's audit starts on the orders that carry it. Chapter 5 comes back to the Rs 29 lakh order.</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Q1 over the amounts that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accepted, rejects = [], []</a:t>
            </a:r>
          </a:p>
          <a:p>
            <a:pPr>
              <a:spcAft>
                <a:spcPts val="200"/>
              </a:spcAft>
            </a:pPr>
            <a:r>
              <a:rPr sz="1400" b="0" i="0">
                <a:solidFill>
                  <a:srgbClr val="E4E1F1"/>
                </a:solidFill>
                <a:latin typeface="Consolas"/>
              </a:rPr>
              <a:t>for r in raw:</a:t>
            </a:r>
          </a:p>
          <a:p>
            <a:pPr>
              <a:spcAft>
                <a:spcPts val="200"/>
              </a:spcAft>
            </a:pPr>
            <a:r>
              <a:rPr sz="1400" b="0" i="0">
                <a:solidFill>
                  <a:srgbClr val="E4E1F1"/>
                </a:solidFill>
                <a:latin typeface="Consolas"/>
              </a:rPr>
              <a:t>    value, reason = convert(r["amount"])     # rupees, or why it failed</a:t>
            </a:r>
          </a:p>
          <a:p>
            <a:pPr>
              <a:spcAft>
                <a:spcPts val="200"/>
              </a:spcAft>
            </a:pPr>
            <a:r>
              <a:rPr sz="1400" b="0" i="0">
                <a:solidFill>
                  <a:srgbClr val="E4E1F1"/>
                </a:solidFill>
                <a:latin typeface="Consolas"/>
              </a:rPr>
              <a:t>    if value is None:</a:t>
            </a:r>
          </a:p>
          <a:p>
            <a:pPr>
              <a:spcAft>
                <a:spcPts val="200"/>
              </a:spcAft>
            </a:pPr>
            <a:r>
              <a:rPr sz="1400" b="0" i="0">
                <a:solidFill>
                  <a:srgbClr val="E4E1F1"/>
                </a:solidFill>
                <a:latin typeface="Consolas"/>
              </a:rPr>
              <a:t>        rejects.append({"line": r["line"], "reason": reason})</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accepted.append(dict(r, amount=value))</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over the amounts that convert, as a letter? a) Rs 1,90,00,000, the books; b) Rs 2,09,98,210; c) zero, since one failure stops the total; d) somewhere between the two figures.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2,09,98,210, the dashboard's 2.1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pic>
        <p:nvPicPr>
          <p:cNvPr id="9" name="mermaid diagram" descr="f04cd1fa0f99d12b.png"/>
          <p:cNvPicPr>
            <a:picLocks noChangeAspect="1"/>
          </p:cNvPicPr>
          <p:nvPr/>
        </p:nvPicPr>
        <p:blipFill>
          <a:blip r:embed="rId5"/>
          <a:stretch>
            <a:fillRect/>
          </a:stretch>
        </p:blipFill>
        <p:spPr>
          <a:xfrm>
            <a:off x="2152497" y="1809083"/>
            <a:ext cx="7886700" cy="3043237"/>
          </a:xfrm>
          <a:prstGeom prst="rect">
            <a:avLst/>
          </a:prstGeom>
        </p:spPr>
      </p:pic>
      <p:sp>
        <p:nvSpPr>
          <p:cNvPr id="10" name="Rounded Rectangle 9"/>
          <p:cNvSpPr/>
          <p:nvPr/>
        </p:nvSpPr>
        <p:spPr>
          <a:xfrm>
            <a:off x="530352" y="4998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26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1749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Accepted plus rejected is every row, 200 + 1 = 201. The gap to the books, Rs 19,98,210, is a hundred times any one Retail order, so one unreadable amount cannot explain it; the 15 rows beyond one per order can.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JSON feed shows what the extract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the app's JSON feed tell us about the CSV?</a:t>
            </a:r>
          </a:p>
        </p:txBody>
      </p:sp>
      <p:pic>
        <p:nvPicPr>
          <p:cNvPr id="9" name="mermaid diagram" descr="6dc91f9ee8331d6e.png"/>
          <p:cNvPicPr>
            <a:picLocks noChangeAspect="1"/>
          </p:cNvPicPr>
          <p:nvPr/>
        </p:nvPicPr>
        <p:blipFill>
          <a:blip r:embed="rId6"/>
          <a:stretch>
            <a:fillRect/>
          </a:stretch>
        </p:blipFill>
        <p:spPr>
          <a:xfrm>
            <a:off x="530352" y="2427995"/>
            <a:ext cx="4786326" cy="3026137"/>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Two copies of one extract agree on its mistakes too, so the feed witnesses what the extract held, never whether a value is right. A CSV writes a missing value as an empty string and JSON leaves the key out, so the profile reads both the same way.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sorted ids and a pattern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other methods reach the same counts?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sorted(r["order_id"] for r in raw)</a:t>
            </a:r>
          </a:p>
          <a:p>
            <a:pPr>
              <a:spcAft>
                <a:spcPts val="200"/>
              </a:spcAft>
            </a:pPr>
            <a:r>
              <a:rPr sz="1400" b="0" i="0">
                <a:solidFill>
                  <a:srgbClr val="E4E1F1"/>
                </a:solidFill>
                <a:latin typeface="Consolas"/>
              </a:rPr>
              <a:t>1 + sum(1 for a, b in zip(ids, ids[1:]) if a != b)                # 186</a:t>
            </a:r>
          </a:p>
          <a:p>
            <a:pPr>
              <a:spcAft>
                <a:spcPts val="200"/>
              </a:spcAft>
            </a:pPr>
            <a:r>
              <a:rPr sz="1400" b="0" i="0">
                <a:solidFill>
                  <a:srgbClr val="E4E1F1"/>
                </a:solidFill>
                <a:latin typeface="Consolas"/>
              </a:rPr>
              <a:t>sum(1 for r in raw if not re.fullmatch(r"[0-9]+", r["amount"]))   # 1</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the sorted ids</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a digit pattern</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7990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9270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91794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sort and the pattern when the profile's own code is in doubt, since they share none of it.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201 rows for 186 orders, and 2.1 is honest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did the ERP send, and does the dashboard's Rs 2.1 crore follow from it?</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739151"/>
                <a:gridCol w="7391839"/>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Profile every field: 2,010 values in under a second</a:t>
                      </a:r>
                    </a:p>
                  </a:txBody>
                  <a:tcPr marL="101600" marR="101600" marT="38100" marB="38100" anchor="ctr">
                    <a:solidFill>
                      <a:srgbClr val="FFFFFF"/>
                    </a:solidFill>
                  </a:tcPr>
                </a:tc>
              </a:tr>
              <a:tr h="310896">
                <a:tc>
                  <a:txBody>
                    <a:bodyPr/>
                    <a:lstStyle/>
                    <a:p>
                      <a:r>
                        <a:rPr sz="900" b="0" i="0">
                          <a:solidFill>
                            <a:srgbClr val="1A1440"/>
                          </a:solidFill>
                          <a:latin typeface="Calibri"/>
                        </a:rPr>
                        <a:t>2. What does the file hold?</a:t>
                      </a:r>
                    </a:p>
                  </a:txBody>
                  <a:tcPr marL="101600" marR="101600" marT="38100" marB="38100" anchor="ctr">
                    <a:solidFill>
                      <a:srgbClr val="F4F2FA"/>
                    </a:solidFill>
                  </a:tcPr>
                </a:tc>
                <a:tc>
                  <a:txBody>
                    <a:bodyPr/>
                    <a:lstStyle/>
                    <a:p>
                      <a:r>
                        <a:rPr sz="900" b="0" i="0">
                          <a:solidFill>
                            <a:srgbClr val="1A1440"/>
                          </a:solidFill>
                          <a:latin typeface="Calibri"/>
                        </a:rPr>
                        <a:t>Text; 186 ids, 200 amounts that convert, status on 200</a:t>
                      </a:r>
                    </a:p>
                  </a:txBody>
                  <a:tcPr marL="101600" marR="101600" marT="38100" marB="38100" anchor="ctr">
                    <a:solidFill>
                      <a:srgbClr val="F4F2FA"/>
                    </a:solidFill>
                  </a:tcPr>
                </a:tc>
              </a:tr>
              <a:tr h="310896">
                <a:tc>
                  <a:txBody>
                    <a:bodyPr/>
                    <a:lstStyle/>
                    <a:p>
                      <a:r>
                        <a:rPr sz="900" b="0" i="0">
                          <a:solidFill>
                            <a:srgbClr val="1A1440"/>
                          </a:solidFill>
                          <a:latin typeface="Calibri"/>
                        </a:rPr>
                        <a:t>3. Which order is largest?</a:t>
                      </a:r>
                    </a:p>
                  </a:txBody>
                  <a:tcPr marL="101600" marR="101600" marT="38100" marB="38100" anchor="ctr">
                    <a:solidFill>
                      <a:srgbClr val="FFFFFF"/>
                    </a:solidFill>
                  </a:tcPr>
                </a:tc>
                <a:tc>
                  <a:txBody>
                    <a:bodyPr/>
                    <a:lstStyle/>
                    <a:p>
                      <a:r>
                        <a:rPr sz="900" b="0" i="0">
                          <a:solidFill>
                            <a:srgbClr val="1A1440"/>
                          </a:solidFill>
                          <a:latin typeface="Calibri"/>
                        </a:rPr>
                        <a:t>Rs 29,45,460 as a number, where text said Rs 970</a:t>
                      </a:r>
                    </a:p>
                  </a:txBody>
                  <a:tcPr marL="101600" marR="101600" marT="38100" marB="38100" anchor="ctr">
                    <a:solidFill>
                      <a:srgbClr val="FFFFFF"/>
                    </a:solidFill>
                  </a:tcPr>
                </a:tc>
              </a:tr>
              <a:tr h="310896">
                <a:tc>
                  <a:txBody>
                    <a:bodyPr/>
                    <a:lstStyle/>
                    <a:p>
                      <a:r>
                        <a:rPr sz="900" b="0" i="0">
                          <a:solidFill>
                            <a:srgbClr val="1A1440"/>
                          </a:solidFill>
                          <a:latin typeface="Calibri"/>
                        </a:rPr>
                        <a:t>4. Does 2.1 crore follow?</a:t>
                      </a:r>
                    </a:p>
                  </a:txBody>
                  <a:tcPr marL="101600" marR="101600" marT="38100" marB="38100" anchor="ctr">
                    <a:solidFill>
                      <a:srgbClr val="F4F2FA"/>
                    </a:solidFill>
                  </a:tcPr>
                </a:tc>
                <a:tc>
                  <a:txBody>
                    <a:bodyPr/>
                    <a:lstStyle/>
                    <a:p>
                      <a:r>
                        <a:rPr sz="900" b="0" i="0">
                          <a:solidFill>
                            <a:srgbClr val="1A1440"/>
                          </a:solidFill>
                          <a:latin typeface="Calibri"/>
                        </a:rPr>
                        <a:t>Yes: Rs 2,09,98,210 over the 200 that convert</a:t>
                      </a:r>
                    </a:p>
                  </a:txBody>
                  <a:tcPr marL="101600" marR="101600" marT="38100" marB="38100" anchor="ctr">
                    <a:solidFill>
                      <a:srgbClr val="F4F2FA"/>
                    </a:solidFill>
                  </a:tcPr>
                </a:tc>
              </a:tr>
              <a:tr h="310896">
                <a:tc>
                  <a:txBody>
                    <a:bodyPr/>
                    <a:lstStyle/>
                    <a:p>
                      <a:r>
                        <a:rPr sz="900" b="0" i="0">
                          <a:solidFill>
                            <a:srgbClr val="1A1440"/>
                          </a:solidFill>
                          <a:latin typeface="Calibri"/>
                        </a:rPr>
                        <a:t>5. What can the feed tell?</a:t>
                      </a:r>
                    </a:p>
                  </a:txBody>
                  <a:tcPr marL="101600" marR="101600" marT="38100" marB="38100" anchor="ctr">
                    <a:solidFill>
                      <a:srgbClr val="FFFFFF"/>
                    </a:solidFill>
                  </a:tcPr>
                </a:tc>
                <a:tc>
                  <a:txBody>
                    <a:bodyPr/>
                    <a:lstStyle/>
                    <a:p>
                      <a:r>
                        <a:rPr sz="900" b="0" i="0">
                          <a:solidFill>
                            <a:srgbClr val="1A1440"/>
                          </a:solidFill>
                          <a:latin typeface="Calibri"/>
                        </a:rPr>
                        <a:t>What the extract held: 119 records, never a value's truth</a:t>
                      </a:r>
                    </a:p>
                  </a:txBody>
                  <a:tcPr marL="101600" marR="101600" marT="38100" marB="38100" anchor="ctr">
                    <a:solidFill>
                      <a:srgbClr val="FFFFFF"/>
                    </a:solidFill>
                  </a:tcPr>
                </a:tc>
              </a:tr>
              <a:tr h="310896">
                <a:tc>
                  <a:txBody>
                    <a:bodyPr/>
                    <a:lstStyle/>
                    <a:p>
                      <a:r>
                        <a:rPr sz="900" b="0" i="0">
                          <a:solidFill>
                            <a:srgbClr val="1A1440"/>
                          </a:solidFill>
                          <a:latin typeface="Calibri"/>
                        </a:rPr>
                        <a:t>6. Do other methods agree?</a:t>
                      </a:r>
                    </a:p>
                  </a:txBody>
                  <a:tcPr marL="101600" marR="101600" marT="38100" marB="38100" anchor="ctr">
                    <a:solidFill>
                      <a:srgbClr val="F4F2FA"/>
                    </a:solidFill>
                  </a:tcPr>
                </a:tc>
                <a:tc>
                  <a:txBody>
                    <a:bodyPr/>
                    <a:lstStyle/>
                    <a:p>
                      <a:r>
                        <a:rPr sz="900" b="0" i="0">
                          <a:solidFill>
                            <a:srgbClr val="1A1440"/>
                          </a:solidFill>
                          <a:latin typeface="Calibri"/>
                        </a:rPr>
                        <a:t>Yes: 186 ids and one failure, by other code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Kavya Nair, the senior analyst who checks every number before it leaves the team: "Before you total anything, tell me how many records you received, how many are complete, how many convert and how many are distinct."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Everything read from a CSV is a string; what breaks and where do you convert?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rows repeat?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file holds 201 rows for 186 orders: which rows did the export count twice, and what makes two rows one order?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needs to know whether his books are short or the export is high. A wrong answer keeps Rs 20 lakh that was never earned or deletes real orders from his books, and every rate Tuesday reported moves with the same rows.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decides?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keys for one order</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are the extra rows?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Rows against ids, by quarter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dedupe find none?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default tool, today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orders twice?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Grouped by the order id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count, same rows?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rule that flags as many</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pairwise count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row against the rest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copy left in adds rupees nobody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answer about repeated rows cost Anand?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 for 186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1's profile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ABOVE THE BOOKS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as exported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the rate of Retail-Plus, Kalpa's paid membership tier;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1" name="Oval 3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3" name="Oval 3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5" name="Oval 3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about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counted one purchase twice?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the order_id flags the right 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decide that two rows are one order, and what does each flag here?</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16555"/>
                <a:gridCol w="1638703"/>
                <a:gridCol w="1751838"/>
                <a:gridCol w="2430649"/>
                <a:gridCol w="1493243"/>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c>
                  <a:txBody>
                    <a:bodyPr/>
                    <a:lstStyle/>
                    <a:p>
                      <a:r>
                        <a:rPr sz="1250" b="1" i="0">
                          <a:solidFill>
                            <a:srgbClr val="FFFFFF"/>
                          </a:solidFill>
                          <a:latin typeface="Calibri"/>
                        </a:rPr>
                        <a:t>Work</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201 lookups</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c>
                  <a:txBody>
                    <a:bodyPr/>
                    <a:lstStyle/>
                    <a:p>
                      <a:r>
                        <a:rPr sz="1200" b="0" i="0">
                          <a:solidFill>
                            <a:srgbClr val="1A1440"/>
                          </a:solidFill>
                          <a:latin typeface="Calibri"/>
                        </a:rPr>
                        <a:t>20,100 pairs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identity rule says what one order 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to be written down before a single duplicate is counted?</a:t>
            </a:r>
          </a:p>
        </p:txBody>
      </p:sp>
      <p:pic>
        <p:nvPicPr>
          <p:cNvPr id="9" name="mermaid diagram" descr="686a35de4c7803c6.png"/>
          <p:cNvPicPr>
            <a:picLocks noChangeAspect="1"/>
          </p:cNvPicPr>
          <p:nvPr/>
        </p:nvPicPr>
        <p:blipFill>
          <a:blip r:embed="rId6"/>
          <a:stretch>
            <a:fillRect/>
          </a:stretch>
        </p:blipFill>
        <p:spPr>
          <a:xfrm>
            <a:off x="1372815" y="1664208"/>
            <a:ext cx="9446064"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identity rule is what the business says makes two records one thing. For an order it is the id the ERP issues, and it is written down before anything is counted.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in which quarter do the extra rows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q in ("Q1", "Q2"):</a:t>
            </a:r>
          </a:p>
          <a:p>
            <a:pPr>
              <a:spcAft>
                <a:spcPts val="200"/>
              </a:spcAft>
            </a:pPr>
            <a:r>
              <a:rPr sz="1400" b="0" i="0">
                <a:solidFill>
                  <a:srgbClr val="E4E1F1"/>
                </a:solidFill>
                <a:latin typeface="Consolas"/>
              </a:rPr>
              <a:t>    rows_q = [r for r in raw if r["quarter"] == q]</a:t>
            </a:r>
          </a:p>
          <a:p>
            <a:pPr>
              <a:spcAft>
                <a:spcPts val="200"/>
              </a:spcAft>
            </a:pPr>
            <a:r>
              <a:rPr sz="1400" b="0" i="0">
                <a:solidFill>
                  <a:srgbClr val="E4E1F1"/>
                </a:solidFill>
                <a:latin typeface="Consolas"/>
              </a:rPr>
              <a:t>    print(q, len(rows_q), len({r["order_id"] for r in rows_q}))</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 rows and distinct ids part company, as a letter? a) evenly across the two quarters; b) mostly in Q1, the quarter of the migration; c) mostly in Q2; d) nowhere, since the ids were counted over both quarters.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Q1 holds 114 rows for 100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14 + 1 = 15 rows beyond one per order, the same 15 that 201 rows less 186 ids gives. The extra rows sit where the dashboard and the books disagree.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default dedupe report on today's records?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file line makes rows unique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dedupe of every field find nothing?</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201 rows and 186 ids cannot both be true of a file with no repeats. The file line records where a row sat and says nothing about which order it is; on five invented records with two orders twice, every field with the line finds 0 repeats and every field without it finds 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appear twice under the order id?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none on three. Where the second lines sit is the room's to find.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fuzzy match shares 14 and removes a real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rule that flags as many rows flag the same rows?</a:t>
            </a:r>
          </a:p>
        </p:txBody>
      </p:sp>
      <p:pic>
        <p:nvPicPr>
          <p:cNvPr id="9" name="mermaid diagram" descr="80ef4342175846a3.png"/>
          <p:cNvPicPr>
            <a:picLocks noChangeAspect="1"/>
          </p:cNvPicPr>
          <p:nvPr/>
        </p:nvPicPr>
        <p:blipFill>
          <a:blip r:embed="rId6"/>
          <a:stretch>
            <a:fillRect/>
          </a:stretch>
        </p:blipFill>
        <p:spPr>
          <a:xfrm>
            <a:off x="3524097" y="1863090"/>
            <a:ext cx="5143500" cy="2628900"/>
          </a:xfrm>
          <a:prstGeom prst="rect">
            <a:avLst/>
          </a:prstGeom>
        </p:spPr>
      </p:pic>
      <p:sp>
        <p:nvSpPr>
          <p:cNvPr id="10" name="Rounded Rectangle 9"/>
          <p:cNvSpPr/>
          <p:nvPr/>
        </p:nvSpPr>
        <p:spPr>
          <a:xfrm>
            <a:off x="530352" y="463829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000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09794"/>
            <a:ext cx="237744" cy="237744"/>
          </a:xfrm>
          <a:prstGeom prst="rect">
            <a:avLst/>
          </a:prstGeom>
        </p:spPr>
      </p:pic>
      <p:sp>
        <p:nvSpPr>
          <p:cNvPr id="13" name="TextBox 12"/>
          <p:cNvSpPr txBox="1"/>
          <p:nvPr/>
        </p:nvSpPr>
        <p:spPr>
          <a:xfrm>
            <a:off x="1399031" y="478459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04054"/>
            <a:ext cx="9987991" cy="941832"/>
          </a:xfrm>
          <a:prstGeom prst="rect">
            <a:avLst/>
          </a:prstGeom>
          <a:noFill/>
        </p:spPr>
        <p:txBody>
          <a:bodyPr wrap="square" anchor="t" lIns="0" rIns="0" tIns="0" bIns="0">
            <a:spAutoFit/>
          </a:bodyPr>
          <a:lstStyle/>
          <a:p>
            <a:r>
              <a:rPr sz="1500" b="0" i="0">
                <a:solidFill>
                  <a:srgbClr val="1A1440"/>
                </a:solidFill>
                <a:latin typeface="Calibri"/>
              </a:rPr>
              <a:t>Fifteen against fifteen hides a difference in the rows: a Business customer spent the same Rs 17,71,000 again within 60 days, and the fuzzy match calls the second order a copy while it misses a pair whose amounts differ.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pairwise, 14 + 1 pairs share an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dictionary agree with the groups?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sum(1 for i, a in enumerate(raw) for b in raw[i + 1:]</a:t>
            </a:r>
          </a:p>
          <a:p>
            <a:pPr>
              <a:spcAft>
                <a:spcPts val="200"/>
              </a:spcAft>
            </a:pPr>
            <a:r>
              <a:rPr sz="1400" b="0" i="0">
                <a:solidFill>
                  <a:srgbClr val="E4E1F1"/>
                </a:solidFill>
                <a:latin typeface="Consolas"/>
              </a:rPr>
              <a:t>            if a["order_id"] == b["order_id"])       # 15</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PAIRS SHARING AN ID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 compared pairwise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20,100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COMPARISONS</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201 lookups for the groups</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pairwise count checks the grouping code on a small file. Its cost grows with the square of the rows, so on anything large the groups are the pass, and only they say which rows.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order_id is the rule: 15 orders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rows repeat, and what makes two rows one order?</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06115"/>
                <a:gridCol w="692487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rule decides?</a:t>
                      </a:r>
                    </a:p>
                  </a:txBody>
                  <a:tcPr marL="101600" marR="101600" marT="38100" marB="38100" anchor="ctr">
                    <a:solidFill>
                      <a:srgbClr val="FFFFFF"/>
                    </a:solidFill>
                  </a:tcPr>
                </a:tc>
                <a:tc>
                  <a:txBody>
                    <a:bodyPr/>
                    <a:lstStyle/>
                    <a:p>
                      <a:r>
                        <a:rPr sz="1100" b="0" i="0">
                          <a:solidFill>
                            <a:srgbClr val="1A1440"/>
                          </a:solidFill>
                          <a:latin typeface="Calibri"/>
                        </a:rPr>
                        <a:t>The order_id: 15 rows, where the whole record finds 0</a:t>
                      </a:r>
                    </a:p>
                  </a:txBody>
                  <a:tcPr marL="101600" marR="101600" marT="38100" marB="38100" anchor="ctr">
                    <a:solidFill>
                      <a:srgbClr val="FFFFFF"/>
                    </a:solidFill>
                  </a:tcPr>
                </a:tc>
              </a:tr>
              <a:tr h="318008">
                <a:tc>
                  <a:txBody>
                    <a:bodyPr/>
                    <a:lstStyle/>
                    <a:p>
                      <a:r>
                        <a:rPr sz="1100" b="0" i="0">
                          <a:solidFill>
                            <a:srgbClr val="1A1440"/>
                          </a:solidFill>
                          <a:latin typeface="Calibri"/>
                        </a:rPr>
                        <a:t>2. Where are the extra rows?</a:t>
                      </a:r>
                    </a:p>
                  </a:txBody>
                  <a:tcPr marL="101600" marR="101600" marT="38100" marB="38100" anchor="ctr">
                    <a:solidFill>
                      <a:srgbClr val="F4F2FA"/>
                    </a:solidFill>
                  </a:tcPr>
                </a:tc>
                <a:tc>
                  <a:txBody>
                    <a:bodyPr/>
                    <a:lstStyle/>
                    <a:p>
                      <a:r>
                        <a:rPr sz="1100" b="0" i="0">
                          <a:solidFill>
                            <a:srgbClr val="1A1440"/>
                          </a:solidFill>
                          <a:latin typeface="Calibri"/>
                        </a:rPr>
                        <a:t>Q1, 114 rows for 100 orders; Q2 87 for 86</a:t>
                      </a:r>
                    </a:p>
                  </a:txBody>
                  <a:tcPr marL="101600" marR="101600" marT="38100" marB="38100" anchor="ctr">
                    <a:solidFill>
                      <a:srgbClr val="F4F2FA"/>
                    </a:solidFill>
                  </a:tcPr>
                </a:tc>
              </a:tr>
              <a:tr h="318008">
                <a:tc>
                  <a:txBody>
                    <a:bodyPr/>
                    <a:lstStyle/>
                    <a:p>
                      <a:r>
                        <a:rPr sz="1100" b="0" i="0">
                          <a:solidFill>
                            <a:srgbClr val="1A1440"/>
                          </a:solidFill>
                          <a:latin typeface="Calibri"/>
                        </a:rPr>
                        <a:t>3. Why does dedupe find none?</a:t>
                      </a:r>
                    </a:p>
                  </a:txBody>
                  <a:tcPr marL="101600" marR="101600" marT="38100" marB="38100" anchor="ctr">
                    <a:solidFill>
                      <a:srgbClr val="FFFFFF"/>
                    </a:solidFill>
                  </a:tcPr>
                </a:tc>
                <a:tc>
                  <a:txBody>
                    <a:bodyPr/>
                    <a:lstStyle/>
                    <a:p>
                      <a:r>
                        <a:rPr sz="1100" b="0" i="0">
                          <a:solidFill>
                            <a:srgbClr val="1A1440"/>
                          </a:solidFill>
                          <a:latin typeface="Calibri"/>
                        </a:rPr>
                        <a:t>The file line makes every row unique: 0 found</a:t>
                      </a:r>
                    </a:p>
                  </a:txBody>
                  <a:tcPr marL="101600" marR="101600" marT="38100" marB="38100" anchor="ctr">
                    <a:solidFill>
                      <a:srgbClr val="FFFFFF"/>
                    </a:solidFill>
                  </a:tcPr>
                </a:tc>
              </a:tr>
              <a:tr h="318008">
                <a:tc>
                  <a:txBody>
                    <a:bodyPr/>
                    <a:lstStyle/>
                    <a:p>
                      <a:r>
                        <a:rPr sz="1100" b="0" i="0">
                          <a:solidFill>
                            <a:srgbClr val="1A1440"/>
                          </a:solidFill>
                          <a:latin typeface="Calibri"/>
                        </a:rPr>
                        <a:t>4. How many orders twice?</a:t>
                      </a:r>
                    </a:p>
                  </a:txBody>
                  <a:tcPr marL="101600" marR="101600" marT="38100" marB="38100" anchor="ctr">
                    <a:solidFill>
                      <a:srgbClr val="F4F2FA"/>
                    </a:solidFill>
                  </a:tcPr>
                </a:tc>
                <a:tc>
                  <a:txBody>
                    <a:bodyPr/>
                    <a:lstStyle/>
                    <a:p>
                      <a:r>
                        <a:rPr sz="1100" b="0" i="0">
                          <a:solidFill>
                            <a:srgbClr val="1A1440"/>
                          </a:solidFill>
                          <a:latin typeface="Calibri"/>
                        </a:rPr>
                        <a:t>15, 14 in Q1 and 1 in Q2</a:t>
                      </a:r>
                    </a:p>
                  </a:txBody>
                  <a:tcPr marL="101600" marR="101600" marT="38100" marB="38100" anchor="ctr">
                    <a:solidFill>
                      <a:srgbClr val="F4F2FA"/>
                    </a:solidFill>
                  </a:tcPr>
                </a:tc>
              </a:tr>
              <a:tr h="318008">
                <a:tc>
                  <a:txBody>
                    <a:bodyPr/>
                    <a:lstStyle/>
                    <a:p>
                      <a:r>
                        <a:rPr sz="1100" b="0" i="0">
                          <a:solidFill>
                            <a:srgbClr val="1A1440"/>
                          </a:solidFill>
                          <a:latin typeface="Calibri"/>
                        </a:rPr>
                        <a:t>5. Same count, same rows?</a:t>
                      </a:r>
                    </a:p>
                  </a:txBody>
                  <a:tcPr marL="101600" marR="101600" marT="38100" marB="38100" anchor="ctr">
                    <a:solidFill>
                      <a:srgbClr val="FFFFFF"/>
                    </a:solidFill>
                  </a:tcPr>
                </a:tc>
                <a:tc>
                  <a:txBody>
                    <a:bodyPr/>
                    <a:lstStyle/>
                    <a:p>
                      <a:r>
                        <a:rPr sz="1100" b="0" i="0">
                          <a:solidFill>
                            <a:srgbClr val="1A1440"/>
                          </a:solidFill>
                          <a:latin typeface="Calibri"/>
                        </a:rPr>
                        <a:t>No: 14 shared, and a real Rs 17,71,000 order removed</a:t>
                      </a:r>
                    </a:p>
                  </a:txBody>
                  <a:tcPr marL="101600" marR="101600" marT="38100" marB="38100" anchor="ctr">
                    <a:solidFill>
                      <a:srgbClr val="FFFFFF"/>
                    </a:solidFill>
                  </a:tcPr>
                </a:tc>
              </a:tr>
              <a:tr h="318008">
                <a:tc>
                  <a:txBody>
                    <a:bodyPr/>
                    <a:lstStyle/>
                    <a:p>
                      <a:r>
                        <a:rPr sz="1100" b="0" i="0">
                          <a:solidFill>
                            <a:srgbClr val="1A1440"/>
                          </a:solidFill>
                          <a:latin typeface="Calibri"/>
                        </a:rPr>
                        <a:t>6. Does a pairwise count agree?</a:t>
                      </a:r>
                    </a:p>
                  </a:txBody>
                  <a:tcPr marL="101600" marR="101600" marT="38100" marB="38100" anchor="ctr">
                    <a:solidFill>
                      <a:srgbClr val="F4F2FA"/>
                    </a:solidFill>
                  </a:tcPr>
                </a:tc>
                <a:tc>
                  <a:txBody>
                    <a:bodyPr/>
                    <a:lstStyle/>
                    <a:p>
                      <a:r>
                        <a:rPr sz="1100" b="0" i="0">
                          <a:solidFill>
                            <a:srgbClr val="1A1440"/>
                          </a:solidFill>
                          <a:latin typeface="Calibri"/>
                        </a:rPr>
                        <a:t>Yes: 14 + 1 pairs in 20,100 comparisons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makes two rows the same order before you tell me how many duplicates there are."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find duplicates, and what makes two records the same?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copy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When an order appears twice, which copy stays, and does Q1 then land on the books?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Anand's analyst: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ties out to the rupee, so a choice of copy that loses one order's amount turns the reconciliation into a finding against the team.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could stay?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choices, against the books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stays if copies differ?</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Three pairs, invented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Q1 after the rule?</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on the ERP file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If Q1 ties, is it right?</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A pass on the books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carry the rupees?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Rows against rupees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dict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One line of code, no log</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wrong copy costs the analyst's tie-out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lose if the wrong copy of a pair stays?</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system had to decide what makes two records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SELLER'S TURNOVER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invoices to businesses, 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The rule binds the invoices a seller like Kalpa writes to the companies in its Business segment.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lands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of a pair could stay, and what does each choice do to Q1?</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copy of pair C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417717"/>
                <a:gridCol w="4045825"/>
                <a:gridCol w="3667447"/>
              </a:tblGrid>
              <a:tr h="369824">
                <a:tc>
                  <a:txBody>
                    <a:bodyPr/>
                    <a:lstStyle/>
                    <a:p>
                      <a:r>
                        <a:rPr sz="1450" b="1" i="0">
                          <a:solidFill>
                            <a:srgbClr val="FFFFFF"/>
                          </a:solidFill>
                          <a:latin typeface="Calibri"/>
                        </a:rPr>
                        <a:t>Pair, invented</a:t>
                      </a:r>
                    </a:p>
                  </a:txBody>
                  <a:tcPr marL="101600" marR="101600" marT="38100" marB="38100" anchor="ctr">
                    <a:solidFill>
                      <a:srgbClr val="1A0F5C"/>
                    </a:solidFill>
                  </a:tcPr>
                </a:tc>
                <a:tc>
                  <a:txBody>
                    <a:bodyPr/>
                    <a:lstStyle/>
                    <a:p>
                      <a:r>
                        <a:rPr sz="1450" b="1" i="0">
                          <a:solidFill>
                            <a:srgbClr val="FFFFFF"/>
                          </a:solidFill>
                          <a:latin typeface="Calibri"/>
                        </a:rPr>
                        <a:t>First copy</a:t>
                      </a:r>
                    </a:p>
                  </a:txBody>
                  <a:tcPr marL="101600" marR="101600" marT="38100" marB="38100" anchor="ctr">
                    <a:solidFill>
                      <a:srgbClr val="1A0F5C"/>
                    </a:solidFill>
                  </a:tcPr>
                </a:tc>
                <a:tc>
                  <a:txBody>
                    <a:bodyPr/>
                    <a:lstStyle/>
                    <a:p>
                      <a:r>
                        <a:rPr sz="1450" b="1" i="0">
                          <a:solidFill>
                            <a:srgbClr val="FFFFFF"/>
                          </a:solidFill>
                          <a:latin typeface="Calibri"/>
                        </a:rPr>
                        <a:t>Second copy</a:t>
                      </a:r>
                    </a:p>
                  </a:txBody>
                  <a:tcPr marL="101600" marR="101600" marT="38100" marB="38100" anchor="ctr">
                    <a:solidFill>
                      <a:srgbClr val="1A0F5C"/>
                    </a:solidFill>
                  </a:tcPr>
                </a:tc>
              </a:tr>
              <a:tr h="369824">
                <a:tc>
                  <a:txBody>
                    <a:bodyPr/>
                    <a:lstStyle/>
                    <a:p>
                      <a:r>
                        <a:rPr sz="1400" b="0" i="0">
                          <a:solidFill>
                            <a:srgbClr val="1A1440"/>
                          </a:solidFill>
                          <a:latin typeface="Calibri"/>
                        </a:rPr>
                        <a:t>A, INV-11</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r>
              <a:tr h="369824">
                <a:tc>
                  <a:txBody>
                    <a:bodyPr/>
                    <a:lstStyle/>
                    <a:p>
                      <a:r>
                        <a:rPr sz="1400" b="0" i="0">
                          <a:solidFill>
                            <a:srgbClr val="1A1440"/>
                          </a:solidFill>
                          <a:latin typeface="Calibri"/>
                        </a:rPr>
                        <a:t>B, INV-12</a:t>
                      </a:r>
                    </a:p>
                  </a:txBody>
                  <a:tcPr marL="101600" marR="101600" marT="38100" marB="38100" anchor="ctr">
                    <a:solidFill>
                      <a:srgbClr val="F4F2FA"/>
                    </a:solidFill>
                  </a:tcPr>
                </a:tc>
                <a:tc>
                  <a:txBody>
                    <a:bodyPr/>
                    <a:lstStyle/>
                    <a:p>
                      <a:r>
                        <a:rPr sz="1400" b="0" i="0">
                          <a:solidFill>
                            <a:srgbClr val="1A1440"/>
                          </a:solidFill>
                          <a:latin typeface="Calibri"/>
                        </a:rPr>
                        <a:t>amount "n/a"</a:t>
                      </a:r>
                    </a:p>
                  </a:txBody>
                  <a:tcPr marL="101600" marR="101600" marT="38100" marB="38100" anchor="ctr">
                    <a:solidFill>
                      <a:srgbClr val="F4F2FA"/>
                    </a:solidFill>
                  </a:tcPr>
                </a:tc>
                <a:tc>
                  <a:txBody>
                    <a:bodyPr/>
                    <a:lstStyle/>
                    <a:p>
                      <a:r>
                        <a:rPr sz="1400" b="0" i="0">
                          <a:solidFill>
                            <a:srgbClr val="1A1440"/>
                          </a:solidFill>
                          <a:latin typeface="Calibri"/>
                        </a:rPr>
                        <a:t>Rs 2,600</a:t>
                      </a:r>
                    </a:p>
                  </a:txBody>
                  <a:tcPr marL="101600" marR="101600" marT="38100" marB="38100" anchor="ctr">
                    <a:solidFill>
                      <a:srgbClr val="F4F2FA"/>
                    </a:solidFill>
                  </a:tcPr>
                </a:tc>
              </a:tr>
              <a:tr h="369824">
                <a:tc>
                  <a:txBody>
                    <a:bodyPr/>
                    <a:lstStyle/>
                    <a:p>
                      <a:r>
                        <a:rPr sz="1400" b="0" i="0">
                          <a:solidFill>
                            <a:srgbClr val="1A1440"/>
                          </a:solidFill>
                          <a:latin typeface="Calibri"/>
                        </a:rPr>
                        <a:t>C, INV-13</a:t>
                      </a:r>
                    </a:p>
                  </a:txBody>
                  <a:tcPr marL="101600" marR="101600" marT="38100" marB="38100" anchor="ctr">
                    <a:solidFill>
                      <a:srgbClr val="FFFFFF"/>
                    </a:solidFill>
                  </a:tcPr>
                </a:tc>
                <a:tc>
                  <a:txBody>
                    <a:bodyPr/>
                    <a:lstStyle/>
                    <a:p>
                      <a:r>
                        <a:rPr sz="1400" b="0" i="0">
                          <a:solidFill>
                            <a:srgbClr val="1A1440"/>
                          </a:solidFill>
                          <a:latin typeface="Calibri"/>
                        </a:rPr>
                        <a:t>Rs 3,100, 21 August</a:t>
                      </a:r>
                    </a:p>
                  </a:txBody>
                  <a:tcPr marL="101600" marR="101600" marT="38100" marB="38100" anchor="ctr">
                    <a:solidFill>
                      <a:srgbClr val="FFFFFF"/>
                    </a:solidFill>
                  </a:tcPr>
                </a:tc>
                <a:tc>
                  <a:txBody>
                    <a:bodyPr/>
                    <a:lstStyle/>
                    <a:p>
                      <a:r>
                        <a:rPr sz="1400" b="0" i="0">
                          <a:solidFill>
                            <a:srgbClr val="1A1440"/>
                          </a:solidFill>
                          <a:latin typeface="Calibri"/>
                        </a:rPr>
                        <a:t>Rs 3,100, 30 July</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Pair C's copies are both valid and disagree on the date. Which copy stays, as a letter? a) the first, logged, with the date asked of the ERP team; b) the later date; c) neither; d) both.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first, logged, with a question for the ERP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pic>
        <p:nvPicPr>
          <p:cNvPr id="9" name="mermaid diagram" descr="ecd1de7b3cb8537e.png"/>
          <p:cNvPicPr>
            <a:picLocks noChangeAspect="1"/>
          </p:cNvPicPr>
          <p:nvPr/>
        </p:nvPicPr>
        <p:blipFill>
          <a:blip r:embed="rId6"/>
          <a:stretch>
            <a:fillRect/>
          </a:stretch>
        </p:blipFill>
        <p:spPr>
          <a:xfrm>
            <a:off x="2152497" y="1682496"/>
            <a:ext cx="7886700" cy="3043237"/>
          </a:xfrm>
          <a:prstGeom prst="rect">
            <a:avLst/>
          </a:prstGeom>
        </p:spPr>
      </p:pic>
      <p:sp>
        <p:nvSpPr>
          <p:cNvPr id="10" name="Rounded Rectangle 9"/>
          <p:cNvSpPr/>
          <p:nvPr/>
        </p:nvSpPr>
        <p:spPr>
          <a:xfrm>
            <a:off x="530352" y="487203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0426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13997"/>
            <a:ext cx="237744" cy="237744"/>
          </a:xfrm>
          <a:prstGeom prst="rect">
            <a:avLst/>
          </a:prstGeom>
        </p:spPr>
      </p:pic>
      <p:sp>
        <p:nvSpPr>
          <p:cNvPr id="13" name="TextBox 12"/>
          <p:cNvSpPr txBox="1"/>
          <p:nvPr/>
        </p:nvSpPr>
        <p:spPr>
          <a:xfrm>
            <a:off x="1399031" y="501834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37797"/>
            <a:ext cx="9987991" cy="682752"/>
          </a:xfrm>
          <a:prstGeom prst="rect">
            <a:avLst/>
          </a:prstGeom>
          <a:noFill/>
        </p:spPr>
        <p:txBody>
          <a:bodyPr wrap="square" anchor="t" lIns="0" rIns="0" tIns="0" bIns="0">
            <a:spAutoFit/>
          </a:bodyPr>
          <a:lstStyle/>
          <a:p>
            <a:r>
              <a:rPr sz="1500" b="0" i="0">
                <a:solidFill>
                  <a:srgbClr val="1A1440"/>
                </a:solidFill>
                <a:latin typeface="Calibri"/>
              </a:rPr>
              <a:t>No rule inside the file can say which date is true, so the rule keeps the first extract's row and turns the date into a written question. For pair B, the copy that can be summed stays.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pic>
        <p:nvPicPr>
          <p:cNvPr id="9" name="mermaid diagram" descr="5e5a05ff3ec8c28b.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Two of the 15 rows set aside carry a longer reason than "second copy of the order", and those two are where the rule made a choice.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Q1 ties to the books, is the pass right?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188 rows for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Q1 tie while the rows are wrong?</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 A tie in rupees on one quarter proves that quarter's rupees and nothing about its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keeps 186, and Q2 drops Rs 3,710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identity rule change against that pass?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for 186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identity rule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Rs 3,710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 TO THE ERP TEAM</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date that disagrees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One Q2 order stops being counted twice, the unreadable row leaves the clean file with its reason, and one date goes to the ERP team as a written question.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Business rows carry 98.5 percent of the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carry the rupees set aside?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 in Q1.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keeps the same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dictionary keyed by id keep the same orders?</a:t>
            </a:r>
          </a:p>
        </p:txBody>
      </p:sp>
      <p:sp>
        <p:nvSpPr>
          <p:cNvPr id="9" name="Rounded Rectangle 8"/>
          <p:cNvSpPr/>
          <p:nvPr/>
        </p:nvSpPr>
        <p:spPr>
          <a:xfrm>
            <a:off x="530352" y="1682496"/>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valid = [r for r in raw if convert(r["amount"])[0] is not None]</a:t>
            </a:r>
          </a:p>
          <a:p>
            <a:pPr>
              <a:spcAft>
                <a:spcPts val="200"/>
              </a:spcAft>
            </a:pPr>
            <a:r>
              <a:rPr sz="1400" b="0" i="0">
                <a:solidFill>
                  <a:srgbClr val="E4E1F1"/>
                </a:solidFill>
                <a:latin typeface="Consolas"/>
              </a:rPr>
              <a:t>by_id = {r["order_id"]: r for r in valid}</a:t>
            </a:r>
          </a:p>
          <a:p>
            <a:pPr>
              <a:spcAft>
                <a:spcPts val="200"/>
              </a:spcAft>
            </a:pPr>
            <a:r>
              <a:rPr sz="1400" b="0" i="0">
                <a:solidFill>
                  <a:srgbClr val="E4E1F1"/>
                </a:solidFill>
                <a:latin typeface="Consolas"/>
              </a:rPr>
              <a:t>len(by_id)                 # 186</a:t>
            </a:r>
          </a:p>
        </p:txBody>
      </p:sp>
      <p:pic>
        <p:nvPicPr>
          <p:cNvPr id="14" name="mermaid diagram" descr="f7711d6ddb38b4f2.png"/>
          <p:cNvPicPr>
            <a:picLocks noChangeAspect="1"/>
          </p:cNvPicPr>
          <p:nvPr/>
        </p:nvPicPr>
        <p:blipFill>
          <a:blip r:embed="rId5"/>
          <a:stretch>
            <a:fillRect/>
          </a:stretch>
        </p:blipFill>
        <p:spPr>
          <a:xfrm>
            <a:off x="6370167" y="1682496"/>
            <a:ext cx="5291175" cy="2041703"/>
          </a:xfrm>
          <a:prstGeom prst="rect">
            <a:avLst/>
          </a:prstGeom>
        </p:spPr>
      </p:pic>
      <p:sp>
        <p:nvSpPr>
          <p:cNvPr id="15" name="Rounded Rectangle 14"/>
          <p:cNvSpPr/>
          <p:nvPr/>
        </p:nvSpPr>
        <p:spPr>
          <a:xfrm>
            <a:off x="6370167" y="3870503"/>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399851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3989375"/>
            <a:ext cx="4724247" cy="11582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4" name="Oval 23"/>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6" name="Oval 25"/>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stays: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copy stays, and does Q1 then land on the books?</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329695"/>
                <a:gridCol w="680129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copy could stay?</a:t>
                      </a:r>
                    </a:p>
                  </a:txBody>
                  <a:tcPr marL="101600" marR="101600" marT="38100" marB="38100" anchor="ctr">
                    <a:solidFill>
                      <a:srgbClr val="FFFFFF"/>
                    </a:solidFill>
                  </a:tcPr>
                </a:tc>
                <a:tc>
                  <a:txBody>
                    <a:bodyPr/>
                    <a:lstStyle/>
                    <a:p>
                      <a:r>
                        <a:rPr sz="1100" b="0" i="0">
                          <a:solidFill>
                            <a:srgbClr val="1A1440"/>
                          </a:solidFill>
                          <a:latin typeface="Calibri"/>
                        </a:rPr>
                        <a:t>The copy that validates; first misses by Rs 1,790</a:t>
                      </a:r>
                    </a:p>
                  </a:txBody>
                  <a:tcPr marL="101600" marR="101600" marT="38100" marB="38100" anchor="ctr">
                    <a:solidFill>
                      <a:srgbClr val="FFFFFF"/>
                    </a:solidFill>
                  </a:tcPr>
                </a:tc>
              </a:tr>
              <a:tr h="318008">
                <a:tc>
                  <a:txBody>
                    <a:bodyPr/>
                    <a:lstStyle/>
                    <a:p>
                      <a:r>
                        <a:rPr sz="1100" b="0" i="0">
                          <a:solidFill>
                            <a:srgbClr val="1A1440"/>
                          </a:solidFill>
                          <a:latin typeface="Calibri"/>
                        </a:rPr>
                        <a:t>2. Which stays if copies differ?</a:t>
                      </a:r>
                    </a:p>
                  </a:txBody>
                  <a:tcPr marL="101600" marR="101600" marT="38100" marB="38100" anchor="ctr">
                    <a:solidFill>
                      <a:srgbClr val="F4F2FA"/>
                    </a:solidFill>
                  </a:tcPr>
                </a:tc>
                <a:tc>
                  <a:txBody>
                    <a:bodyPr/>
                    <a:lstStyle/>
                    <a:p>
                      <a:r>
                        <a:rPr sz="1100" b="0" i="0">
                          <a:solidFill>
                            <a:srgbClr val="1A1440"/>
                          </a:solidFill>
                          <a:latin typeface="Calibri"/>
                        </a:rPr>
                        <a:t>The one that converts; if both do, the first, logged</a:t>
                      </a:r>
                    </a:p>
                  </a:txBody>
                  <a:tcPr marL="101600" marR="101600" marT="38100" marB="38100" anchor="ctr">
                    <a:solidFill>
                      <a:srgbClr val="F4F2FA"/>
                    </a:solidFill>
                  </a:tcPr>
                </a:tc>
              </a:tr>
              <a:tr h="318008">
                <a:tc>
                  <a:txBody>
                    <a:bodyPr/>
                    <a:lstStyle/>
                    <a:p>
                      <a:r>
                        <a:rPr sz="1100" b="0" i="0">
                          <a:solidFill>
                            <a:srgbClr val="1A1440"/>
                          </a:solidFill>
                          <a:latin typeface="Calibri"/>
                        </a:rPr>
                        <a:t>3. What is Q1 after the rule?</a:t>
                      </a:r>
                    </a:p>
                  </a:txBody>
                  <a:tcPr marL="101600" marR="101600" marT="38100" marB="38100" anchor="ctr">
                    <a:solidFill>
                      <a:srgbClr val="FFFFFF"/>
                    </a:solidFill>
                  </a:tcPr>
                </a:tc>
                <a:tc>
                  <a:txBody>
                    <a:bodyPr/>
                    <a:lstStyle/>
                    <a:p>
                      <a:r>
                        <a:rPr sz="1100" b="0" i="0">
                          <a:solidFill>
                            <a:srgbClr val="1A1440"/>
                          </a:solidFill>
                          <a:latin typeface="Calibri"/>
                        </a:rPr>
                        <a:t>Rs 1,90,00,000, the books: 186 kept, 15 set aside</a:t>
                      </a:r>
                    </a:p>
                  </a:txBody>
                  <a:tcPr marL="101600" marR="101600" marT="38100" marB="38100" anchor="ctr">
                    <a:solidFill>
                      <a:srgbClr val="FFFFFF"/>
                    </a:solidFill>
                  </a:tcPr>
                </a:tc>
              </a:tr>
              <a:tr h="318008">
                <a:tc>
                  <a:txBody>
                    <a:bodyPr/>
                    <a:lstStyle/>
                    <a:p>
                      <a:r>
                        <a:rPr sz="1100" b="0" i="0">
                          <a:solidFill>
                            <a:srgbClr val="1A1440"/>
                          </a:solidFill>
                          <a:latin typeface="Calibri"/>
                        </a:rPr>
                        <a:t>4. If Q1 ties, is it right?</a:t>
                      </a:r>
                    </a:p>
                  </a:txBody>
                  <a:tcPr marL="101600" marR="101600" marT="38100" marB="38100" anchor="ctr">
                    <a:solidFill>
                      <a:srgbClr val="F4F2FA"/>
                    </a:solidFill>
                  </a:tcPr>
                </a:tc>
                <a:tc>
                  <a:txBody>
                    <a:bodyPr/>
                    <a:lstStyle/>
                    <a:p>
                      <a:r>
                        <a:rPr sz="1100" b="0" i="0">
                          <a:solidFill>
                            <a:srgbClr val="1A1440"/>
                          </a:solidFill>
                          <a:latin typeface="Calibri"/>
                        </a:rPr>
                        <a:t>Not alone: 188 rows for 186 orders, Q2 Rs 3,710 high</a:t>
                      </a:r>
                    </a:p>
                  </a:txBody>
                  <a:tcPr marL="101600" marR="101600" marT="38100" marB="38100" anchor="ctr">
                    <a:solidFill>
                      <a:srgbClr val="F4F2FA"/>
                    </a:solidFill>
                  </a:tcPr>
                </a:tc>
              </a:tr>
              <a:tr h="318008">
                <a:tc>
                  <a:txBody>
                    <a:bodyPr/>
                    <a:lstStyle/>
                    <a:p>
                      <a:r>
                        <a:rPr sz="1100" b="0" i="0">
                          <a:solidFill>
                            <a:srgbClr val="1A1440"/>
                          </a:solidFill>
                          <a:latin typeface="Calibri"/>
                        </a:rPr>
                        <a:t>5. Which rows carry the rupees?</a:t>
                      </a:r>
                    </a:p>
                  </a:txBody>
                  <a:tcPr marL="101600" marR="101600" marT="38100" marB="38100" anchor="ctr">
                    <a:solidFill>
                      <a:srgbClr val="FFFFFF"/>
                    </a:solidFill>
                  </a:tcPr>
                </a:tc>
                <a:tc>
                  <a:txBody>
                    <a:bodyPr/>
                    <a:lstStyle/>
                    <a:p>
                      <a:r>
                        <a:rPr sz="1100" b="0" i="0">
                          <a:solidFill>
                            <a:srgbClr val="1A1440"/>
                          </a:solidFill>
                          <a:latin typeface="Calibri"/>
                        </a:rPr>
                        <a:t>Two Business rows, Rs 19,67,560, 98.5 percent</a:t>
                      </a:r>
                    </a:p>
                  </a:txBody>
                  <a:tcPr marL="101600" marR="101600" marT="38100" marB="38100" anchor="ctr">
                    <a:solidFill>
                      <a:srgbClr val="FFFFFF"/>
                    </a:solidFill>
                  </a:tcPr>
                </a:tc>
              </a:tr>
              <a:tr h="318008">
                <a:tc>
                  <a:txBody>
                    <a:bodyPr/>
                    <a:lstStyle/>
                    <a:p>
                      <a:r>
                        <a:rPr sz="1100" b="0" i="0">
                          <a:solidFill>
                            <a:srgbClr val="1A1440"/>
                          </a:solidFill>
                          <a:latin typeface="Calibri"/>
                        </a:rPr>
                        <a:t>6. Does a dict agree?</a:t>
                      </a:r>
                    </a:p>
                  </a:txBody>
                  <a:tcPr marL="101600" marR="101600" marT="38100" marB="38100" anchor="ctr">
                    <a:solidFill>
                      <a:srgbClr val="F4F2FA"/>
                    </a:solidFill>
                  </a:tcPr>
                </a:tc>
                <a:tc>
                  <a:txBody>
                    <a:bodyPr/>
                    <a:lstStyle/>
                    <a:p>
                      <a:r>
                        <a:rPr sz="1100" b="0" i="0">
                          <a:solidFill>
                            <a:srgbClr val="1A1440"/>
                          </a:solidFill>
                          <a:latin typeface="Calibri"/>
                        </a:rPr>
                        <a:t>Yes: the same 186 orders, and no log</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Q1 ties to the books, check the rows before you celebrate."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Design. Two copies of an order disagree: first copy, last copy or the copy that validates?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Drop, fill or flag?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should the pass do with a value that is missing or cannot be read, so that no decision invents or deletes a fact?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Operations and Finance: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Operations reads the delivered share every week and Finance reads every rupee. A default invents a delivery nobody recorded, a zero invents an order sold for nothing, and a drop deletes a booked 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could the pass do?</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choice,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order with no status?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Revenue and deliveries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a blank discount zero?</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average, two ways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failures become 0?</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So the loop keeps running</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can a repair come from?</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source for the value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profile and logs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Defect by defect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status, 55 discounts and a policy for bad amounts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values are still missing or unreadable in the 186 kept orders?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and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6" name="Oval 3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8" name="Oval 37"/>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40" name="Oval 3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Sellers' stock went for 1p on Amazon UK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business sold on a value nobody questioned?</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sellers'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A repricing tool used by third-party sellers priced hundreds of items at a penny on 12 December 2014, and a wrong value that nothing questioned sold the sellers' real stock. A coerced zero in a report is treated as real in the same way.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the status; reject the amount, repair from a copy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the pass do with a missing status or an unreadable amount, and what does each choice claim?</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298192"/>
        </p:xfrm>
        <a:graphic>
          <a:graphicData uri="http://schemas.openxmlformats.org/drawingml/2006/table">
            <a:tbl>
              <a:tblPr firstRow="0" bandRow="0">
                <a:tableStyleId>{2D5ABB26-0587-4C30-8999-92F81FD0307C}</a:tableStyleId>
              </a:tblPr>
              <a:tblGrid>
                <a:gridCol w="1608552"/>
                <a:gridCol w="1704851"/>
                <a:gridCol w="1977771"/>
              </a:tblGrid>
              <a:tr h="542544">
                <a:tc>
                  <a:txBody>
                    <a:bodyPr/>
                    <a:lstStyle/>
                    <a:p>
                      <a:r>
                        <a:rPr sz="1250" b="1" i="0">
                          <a:solidFill>
                            <a:srgbClr val="FFFFFF"/>
                          </a:solidFill>
                          <a:latin typeface="Calibri"/>
                        </a:rPr>
                        <a:t>Unreadable amount</a:t>
                      </a:r>
                    </a:p>
                  </a:txBody>
                  <a:tcPr marL="101600" marR="101600" marT="38100" marB="38100" anchor="ctr">
                    <a:solidFill>
                      <a:srgbClr val="1A0F5C"/>
                    </a:solidFill>
                  </a:tcPr>
                </a:tc>
                <a:tc>
                  <a:txBody>
                    <a:bodyPr/>
                    <a:lstStyle/>
                    <a:p>
                      <a:r>
                        <a:rPr sz="1250" b="1" i="0">
                          <a:solidFill>
                            <a:srgbClr val="FFFFFF"/>
                          </a:solidFill>
                          <a:latin typeface="Calibri"/>
                        </a:rPr>
                        <a:t>Q1 against the books</a:t>
                      </a:r>
                    </a:p>
                  </a:txBody>
                  <a:tcPr marL="101600" marR="101600" marT="38100" marB="38100" anchor="ctr">
                    <a:solidFill>
                      <a:srgbClr val="1A0F5C"/>
                    </a:solidFill>
                  </a:tcPr>
                </a:tc>
                <a:tc>
                  <a:txBody>
                    <a:bodyPr/>
                    <a:lstStyle/>
                    <a:p>
                      <a:r>
                        <a:rPr sz="1250" b="1" i="0">
                          <a:solidFill>
                            <a:srgbClr val="FFFFFF"/>
                          </a:solidFill>
                          <a:latin typeface="Calibri"/>
                        </a:rPr>
                        <a:t>What it leaves</a:t>
                      </a:r>
                    </a:p>
                  </a:txBody>
                  <a:tcPr marL="101600" marR="101600" marT="38100" marB="38100" anchor="ctr">
                    <a:solidFill>
                      <a:srgbClr val="1A0F5C"/>
                    </a:solidFill>
                  </a:tcPr>
                </a:tc>
              </a:tr>
              <a:tr h="335280">
                <a:tc>
                  <a:txBody>
                    <a:bodyPr/>
                    <a:lstStyle/>
                    <a:p>
                      <a:r>
                        <a:rPr sz="1200" b="0" i="0">
                          <a:solidFill>
                            <a:srgbClr val="1A1440"/>
                          </a:solidFill>
                          <a:latin typeface="Calibri"/>
                        </a:rPr>
                        <a:t>a) Coerce to zero</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an order at Rs 0</a:t>
                      </a:r>
                    </a:p>
                  </a:txBody>
                  <a:tcPr marL="101600" marR="101600" marT="38100" marB="38100" anchor="ctr">
                    <a:solidFill>
                      <a:srgbClr val="FFFFFF"/>
                    </a:solidFill>
                  </a:tcPr>
                </a:tc>
              </a:tr>
              <a:tr h="542544">
                <a:tc>
                  <a:txBody>
                    <a:bodyPr/>
                    <a:lstStyle/>
                    <a:p>
                      <a:r>
                        <a:rPr sz="1200" b="0" i="0">
                          <a:solidFill>
                            <a:srgbClr val="1A1440"/>
                          </a:solidFill>
                          <a:latin typeface="Calibri"/>
                        </a:rPr>
                        <a:t>b) Reject to the log</a:t>
                      </a:r>
                    </a:p>
                  </a:txBody>
                  <a:tcPr marL="101600" marR="101600" marT="38100" marB="38100" anchor="ctr">
                    <a:solidFill>
                      <a:srgbClr val="F4F2FA"/>
                    </a:solidFill>
                  </a:tcPr>
                </a:tc>
                <a:tc>
                  <a:txBody>
                    <a:bodyPr/>
                    <a:lstStyle/>
                    <a:p>
                      <a:r>
                        <a:rPr sz="1200" b="0" i="0">
                          <a:solidFill>
                            <a:srgbClr val="1A1440"/>
                          </a:solidFill>
                          <a:latin typeface="Calibri"/>
                        </a:rPr>
                        <a:t>Rs 0 here</a:t>
                      </a:r>
                    </a:p>
                  </a:txBody>
                  <a:tcPr marL="101600" marR="101600" marT="38100" marB="38100" anchor="ctr">
                    <a:solidFill>
                      <a:srgbClr val="F4F2FA"/>
                    </a:solidFill>
                  </a:tcPr>
                </a:tc>
                <a:tc>
                  <a:txBody>
                    <a:bodyPr/>
                    <a:lstStyle/>
                    <a:p>
                      <a:r>
                        <a:rPr sz="1200" b="0" i="0">
                          <a:solidFill>
                            <a:srgbClr val="1A1440"/>
                          </a:solidFill>
                          <a:latin typeface="Calibri"/>
                        </a:rPr>
                        <a:t>the order out until repaired</a:t>
                      </a:r>
                    </a:p>
                  </a:txBody>
                  <a:tcPr marL="101600" marR="101600" marT="38100" marB="38100" anchor="ctr">
                    <a:solidFill>
                      <a:srgbClr val="F4F2FA"/>
                    </a:solidFill>
                  </a:tcPr>
                </a:tc>
              </a:tr>
              <a:tr h="335280">
                <a:tc>
                  <a:txBody>
                    <a:bodyPr/>
                    <a:lstStyle/>
                    <a:p>
                      <a:r>
                        <a:rPr sz="1200" b="0" i="0">
                          <a:solidFill>
                            <a:srgbClr val="1A1440"/>
                          </a:solidFill>
                          <a:latin typeface="Calibri"/>
                        </a:rPr>
                        <a:t>c) Read the word</a:t>
                      </a:r>
                    </a:p>
                  </a:txBody>
                  <a:tcPr marL="101600" marR="101600" marT="38100" marB="38100" anchor="ctr">
                    <a:solidFill>
                      <a:srgbClr val="FFFFFF"/>
                    </a:solidFill>
                  </a:tcPr>
                </a:tc>
                <a:tc>
                  <a:txBody>
                    <a:bodyPr/>
                    <a:lstStyle/>
                    <a:p>
                      <a:r>
                        <a:rPr sz="1200" b="0" i="0">
                          <a:solidFill>
                            <a:srgbClr val="1A1440"/>
                          </a:solidFill>
                          <a:latin typeface="Calibri"/>
                        </a:rPr>
                        <a:t>a guess</a:t>
                      </a:r>
                    </a:p>
                  </a:txBody>
                  <a:tcPr marL="101600" marR="101600" marT="38100" marB="38100" anchor="ctr">
                    <a:solidFill>
                      <a:srgbClr val="FFFFFF"/>
                    </a:solidFill>
                  </a:tcPr>
                </a:tc>
                <a:tc>
                  <a:txBody>
                    <a:bodyPr/>
                    <a:lstStyle/>
                    <a:p>
                      <a:r>
                        <a:rPr sz="1200" b="0" i="0">
                          <a:solidFill>
                            <a:srgbClr val="1A1440"/>
                          </a:solidFill>
                          <a:latin typeface="Calibri"/>
                        </a:rPr>
                        <a:t>Rs 14 for "fourteen"</a:t>
                      </a:r>
                    </a:p>
                  </a:txBody>
                  <a:tcPr marL="101600" marR="101600" marT="38100" marB="38100" anchor="ctr">
                    <a:solidFill>
                      <a:srgbClr val="FFFFFF"/>
                    </a:solidFill>
                  </a:tcPr>
                </a:tc>
              </a:tr>
              <a:tr h="542544">
                <a:tc>
                  <a:txBody>
                    <a:bodyPr/>
                    <a:lstStyle/>
                    <a:p>
                      <a:r>
                        <a:rPr sz="1200" b="0" i="0">
                          <a:solidFill>
                            <a:srgbClr val="1A1440"/>
                          </a:solidFill>
                          <a:latin typeface="Calibri"/>
                        </a:rPr>
                        <a:t>d) Repair from a copy</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236720"/>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36473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355592"/>
            <a:ext cx="4724247" cy="14249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turns the flag into a lookup; an independent copy turns the reject into a repair.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0" name="Oval 1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2" name="Oval 2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decision is a claim about the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choice say about the order with no status?</a:t>
            </a:r>
          </a:p>
        </p:txBody>
      </p:sp>
      <p:pic>
        <p:nvPicPr>
          <p:cNvPr id="9" name="mermaid diagram" descr="7c96bddd4ec89d35.png"/>
          <p:cNvPicPr>
            <a:picLocks noChangeAspect="1"/>
          </p:cNvPicPr>
          <p:nvPr/>
        </p:nvPicPr>
        <p:blipFill>
          <a:blip r:embed="rId6"/>
          <a:stretch>
            <a:fillRect/>
          </a:stretch>
        </p:blipFill>
        <p:spPr>
          <a:xfrm>
            <a:off x="1150259" y="1682496"/>
            <a:ext cx="3546511"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Revenue is booked value whatever the status, so the order stays in revenue; only the flag says what is known about its delivery.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choice keeps both numbers honest?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clean if r["quarter"] == "Q2"]</a:t>
            </a:r>
          </a:p>
          <a:p>
            <a:pPr>
              <a:spcAft>
                <a:spcPts val="200"/>
              </a:spcAft>
            </a:pPr>
            <a:r>
              <a:rPr sz="1400" b="0" i="0">
                <a:solidFill>
                  <a:srgbClr val="E4E1F1"/>
                </a:solidFill>
                <a:latin typeface="Consolas"/>
              </a:rPr>
              <a:t>no_status = [r for r in q2 if not r["status"]]      # one kept order</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decision keeps Q2 revenue and the delivered share both honest, as a letter? a) drop the order; b) default it to delivered; c) impute it from the customer's last order; d) keep it and flag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and flag, 57 of 86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 stays in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57 of 86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DELIVERED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66.3 percent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 IN THE FLAGS LOG</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fate unknown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default and this imputation each lift delivered to 58 of 86, 67.4 percent, a delivery nobody recorded; dropping takes a booked order out of Q2 revenue.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any discount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if every failure is turned into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201 of 201</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186 orders</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CLEAN FILE</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order id, all numbers</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claims a sale for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clean-looking profile hide a loss?</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then conversion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pass keep the unreadable copy out of revenue?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rule, then conversion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AFTER THE RULE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twin carried the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FAILURE IN THE EXPORT'S PROFILE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truth about the export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identity rule keeps the copy whose amount converts, so the unreadable copy goes to the set-aside log with its twin named, and conversion after it rejects nothing. The Rs 0 order never exists.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Repair only from a source that cannot share the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an unreadable amount be repaired from?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text as the CSV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1,386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READING "FOURTEEN"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 invented Rs 1,400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feed was cut from the same extract, so it witnesses what the extract held, never whether a value is right, and it can confirm and never repair. The CSV's second extract carried the value, and the identity rule already used 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agrees with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profile and the logs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and the log shows them. Profile the clean file at the end of every pass, and a defect that slipped past the log shows as a count that disagrees.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keep unknown, reject: no fact invented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does the pass do with a missing or unreadable value?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35644"/>
                <a:gridCol w="6895346"/>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What could the pass do?</a:t>
                      </a:r>
                    </a:p>
                  </a:txBody>
                  <a:tcPr marL="101600" marR="101600" marT="38100" marB="38100" anchor="ctr">
                    <a:solidFill>
                      <a:srgbClr val="FFFFFF"/>
                    </a:solidFill>
                  </a:tcPr>
                </a:tc>
                <a:tc>
                  <a:txBody>
                    <a:bodyPr/>
                    <a:lstStyle/>
                    <a:p>
                      <a:r>
                        <a:rPr sz="1100" b="0" i="0">
                          <a:solidFill>
                            <a:srgbClr val="1A1440"/>
                          </a:solidFill>
                          <a:latin typeface="Calibri"/>
                        </a:rPr>
                        <a:t>Flag the status; reject the amount, repair from a copy</a:t>
                      </a:r>
                    </a:p>
                  </a:txBody>
                  <a:tcPr marL="101600" marR="101600" marT="38100" marB="38100" anchor="ctr">
                    <a:solidFill>
                      <a:srgbClr val="FFFFFF"/>
                    </a:solidFill>
                  </a:tcPr>
                </a:tc>
              </a:tr>
              <a:tr h="318008">
                <a:tc>
                  <a:txBody>
                    <a:bodyPr/>
                    <a:lstStyle/>
                    <a:p>
                      <a:r>
                        <a:rPr sz="1100" b="0" i="0">
                          <a:solidFill>
                            <a:srgbClr val="1A1440"/>
                          </a:solidFill>
                          <a:latin typeface="Calibri"/>
                        </a:rPr>
                        <a:t>2. The order with no status?</a:t>
                      </a:r>
                    </a:p>
                  </a:txBody>
                  <a:tcPr marL="101600" marR="101600" marT="38100" marB="38100" anchor="ctr">
                    <a:solidFill>
                      <a:srgbClr val="F4F2FA"/>
                    </a:solidFill>
                  </a:tcPr>
                </a:tc>
                <a:tc>
                  <a:txBody>
                    <a:bodyPr/>
                    <a:lstStyle/>
                    <a:p>
                      <a:r>
                        <a:rPr sz="1100" b="0" i="0">
                          <a:solidFill>
                            <a:srgbClr val="1A1440"/>
                          </a:solidFill>
                          <a:latin typeface="Calibri"/>
                        </a:rPr>
                        <a:t>Kept and flagged: 57 of 86 delivered, 66.3 percent</a:t>
                      </a:r>
                    </a:p>
                  </a:txBody>
                  <a:tcPr marL="101600" marR="101600" marT="38100" marB="38100" anchor="ctr">
                    <a:solidFill>
                      <a:srgbClr val="F4F2FA"/>
                    </a:solidFill>
                  </a:tcPr>
                </a:tc>
              </a:tr>
              <a:tr h="318008">
                <a:tc>
                  <a:txBody>
                    <a:bodyPr/>
                    <a:lstStyle/>
                    <a:p>
                      <a:r>
                        <a:rPr sz="1100" b="0" i="0">
                          <a:solidFill>
                            <a:srgbClr val="1A1440"/>
                          </a:solidFill>
                          <a:latin typeface="Calibri"/>
                        </a:rPr>
                        <a:t>3. Is a blank discount zero?</a:t>
                      </a:r>
                    </a:p>
                  </a:txBody>
                  <a:tcPr marL="101600" marR="101600" marT="38100" marB="38100" anchor="ctr">
                    <a:solidFill>
                      <a:srgbClr val="FFFFFF"/>
                    </a:solidFill>
                  </a:tcPr>
                </a:tc>
                <a:tc>
                  <a:txBody>
                    <a:bodyPr/>
                    <a:lstStyle/>
                    <a:p>
                      <a:r>
                        <a:rPr sz="1100" b="0" i="0">
                          <a:solidFill>
                            <a:srgbClr val="1A1440"/>
                          </a:solidFill>
                          <a:latin typeface="Calibri"/>
                        </a:rPr>
                        <a:t>No: about Rs 67 over 131 orders, never Rs 47</a:t>
                      </a:r>
                    </a:p>
                  </a:txBody>
                  <a:tcPr marL="101600" marR="101600" marT="38100" marB="38100" anchor="ctr">
                    <a:solidFill>
                      <a:srgbClr val="FFFFFF"/>
                    </a:solidFill>
                  </a:tcPr>
                </a:tc>
              </a:tr>
              <a:tr h="318008">
                <a:tc>
                  <a:txBody>
                    <a:bodyPr/>
                    <a:lstStyle/>
                    <a:p>
                      <a:r>
                        <a:rPr sz="1100" b="0" i="0">
                          <a:solidFill>
                            <a:srgbClr val="1A1440"/>
                          </a:solidFill>
                          <a:latin typeface="Calibri"/>
                        </a:rPr>
                        <a:t>4. What if failures become 0?</a:t>
                      </a:r>
                    </a:p>
                  </a:txBody>
                  <a:tcPr marL="101600" marR="101600" marT="38100" marB="38100" anchor="ctr">
                    <a:solidFill>
                      <a:srgbClr val="F4F2FA"/>
                    </a:solidFill>
                  </a:tcPr>
                </a:tc>
                <a:tc>
                  <a:txBody>
                    <a:bodyPr/>
                    <a:lstStyle/>
                    <a:p>
                      <a:r>
                        <a:rPr sz="1100" b="0" i="0">
                          <a:solidFill>
                            <a:srgbClr val="1A1440"/>
                          </a:solidFill>
                          <a:latin typeface="Calibri"/>
                        </a:rPr>
                        <a:t>201 of 201 convert, an order at Rs 0, Rs 1,790 short</a:t>
                      </a:r>
                    </a:p>
                  </a:txBody>
                  <a:tcPr marL="101600" marR="101600" marT="38100" marB="38100" anchor="ctr">
                    <a:solidFill>
                      <a:srgbClr val="F4F2FA"/>
                    </a:solidFill>
                  </a:tcPr>
                </a:tc>
              </a:tr>
              <a:tr h="318008">
                <a:tc>
                  <a:txBody>
                    <a:bodyPr/>
                    <a:lstStyle/>
                    <a:p>
                      <a:r>
                        <a:rPr sz="1100" b="0" i="0">
                          <a:solidFill>
                            <a:srgbClr val="1A1440"/>
                          </a:solidFill>
                          <a:latin typeface="Calibri"/>
                        </a:rPr>
                        <a:t>5. Where can a repair come from?</a:t>
                      </a:r>
                    </a:p>
                  </a:txBody>
                  <a:tcPr marL="101600" marR="101600" marT="38100" marB="38100" anchor="ctr">
                    <a:solidFill>
                      <a:srgbClr val="FFFFFF"/>
                    </a:solidFill>
                  </a:tcPr>
                </a:tc>
                <a:tc>
                  <a:txBody>
                    <a:bodyPr/>
                    <a:lstStyle/>
                    <a:p>
                      <a:r>
                        <a:rPr sz="1100" b="0" i="0">
                          <a:solidFill>
                            <a:srgbClr val="1A1440"/>
                          </a:solidFill>
                          <a:latin typeface="Calibri"/>
                        </a:rPr>
                        <a:t>Only a source that cannot share the error</a:t>
                      </a:r>
                    </a:p>
                  </a:txBody>
                  <a:tcPr marL="101600" marR="101600" marT="38100" marB="38100" anchor="ctr">
                    <a:solidFill>
                      <a:srgbClr val="FFFFFF"/>
                    </a:solidFill>
                  </a:tcPr>
                </a:tc>
              </a:tr>
              <a:tr h="318008">
                <a:tc>
                  <a:txBody>
                    <a:bodyPr/>
                    <a:lstStyle/>
                    <a:p>
                      <a:r>
                        <a:rPr sz="1100" b="0" i="0">
                          <a:solidFill>
                            <a:srgbClr val="1A1440"/>
                          </a:solidFill>
                          <a:latin typeface="Calibri"/>
                        </a:rPr>
                        <a:t>6. Do profile and logs agree?</a:t>
                      </a:r>
                    </a:p>
                  </a:txBody>
                  <a:tcPr marL="101600" marR="101600" marT="38100" marB="38100" anchor="ctr">
                    <a:solidFill>
                      <a:srgbClr val="F4F2FA"/>
                    </a:solidFill>
                  </a:tcPr>
                </a:tc>
                <a:tc>
                  <a:txBody>
                    <a:bodyPr/>
                    <a:lstStyle/>
                    <a:p>
                      <a:r>
                        <a:rPr sz="1100" b="0" i="0">
                          <a:solidFill>
                            <a:srgbClr val="1A1440"/>
                          </a:solidFill>
                          <a:latin typeface="Calibri"/>
                        </a:rPr>
                        <a:t>Yes: 1 status, 0 amounts, 55 discounts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"Drop, default, or keep and flag: each is a claim about the business. Write the claim beside the decision, and never fill in money."</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How do you handle missing data?</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 prove the 1.9?</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we prove to Anand, one cause at a time, that his Rs 1.9 crore is right, and does Tuesday's finding survive the clean file?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69 / 84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and Marketing: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a proof his analyst can follow, and Marketing's rescue campaign for Retail-Plus waits on whether Tuesday's finding survives. A proof Finance cannot follow costs his trust, and a finding nobody recomputes sends Marketing after a fall smaller than reported.</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could we prove it?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proofs,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moves close it?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cause per move</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Tuesday survive?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tree and the segment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Should the bulk order go?</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1.66 times the next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Under 120 words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bottom-up sum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kept orders, added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the proof; Marketing wants Tuesday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waiting on this chapter, and for what?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Tesco's gap grew from GBP 250m to GBP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retailer had to explain its own figure, cause by cause?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Supplier income, the money suppliers pay the retailer, was booked before the activity it paid for took place, and the reported figure was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by cause closes to the rupee and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prove which figure is right, and what does each proof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second source independent of the export and complete for the quarter; a rebuild from it proves the figure, and the bridge checks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moves does the bridge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q1_aside = [e for e in set_aside if e["quarter"] == "Q1"]</a:t>
            </a:r>
          </a:p>
          <a:p>
            <a:pPr>
              <a:spcAft>
                <a:spcPts val="200"/>
              </a:spcAft>
            </a:pPr>
            <a:r>
              <a:rPr sz="1400" b="0" i="0">
                <a:solidFill>
                  <a:srgbClr val="E4E1F1"/>
                </a:solidFill>
                <a:latin typeface="Consolas"/>
              </a:rPr>
              <a:t>rupees = lambda e: convert(e["amount"])[0] or 0      # 0 where unreadable</a:t>
            </a:r>
          </a:p>
          <a:p>
            <a:pPr>
              <a:spcAft>
                <a:spcPts val="200"/>
              </a:spcAft>
            </a:pPr>
            <a:r>
              <a:rPr sz="1400" b="0" i="0">
                <a:solidFill>
                  <a:srgbClr val="E4E1F1"/>
                </a:solidFill>
                <a:latin typeface="Consolas"/>
              </a:rPr>
              <a:t>corporate = -sum(rupees(e) for e in q1_aside if e["segment"] == "Business")</a:t>
            </a:r>
          </a:p>
          <a:p>
            <a:pPr>
              <a:spcAft>
                <a:spcPts val="200"/>
              </a:spcAft>
            </a:pPr>
            <a:r>
              <a:rPr sz="1400" b="0" i="0">
                <a:solidFill>
                  <a:srgbClr val="E4E1F1"/>
                </a:solidFill>
                <a:latin typeface="Consolas"/>
              </a:rPr>
              <a:t>consumer = -sum(rupees(e) for e in q1_aside if e["segment"] != "Business")</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moves land the bridge on the books, as a letter? a) one, the copies; b) two, the corporate copies and the consumer copies; c) three, adding the unreadable amount; d) none, since 2.1 rounds close enough.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moves walk Rs 2.1 crore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unreadable amount needs no move: it was never in the exported total, and its twin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splits revenue into three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Tuesday read the Q1 to Q2 change?</a:t>
            </a:r>
          </a:p>
        </p:txBody>
      </p:sp>
      <p:pic>
        <p:nvPicPr>
          <p:cNvPr id="9" name="mermaid diagram" descr="ceb85458682f9af1.png"/>
          <p:cNvPicPr>
            <a:picLocks noChangeAspect="1"/>
          </p:cNvPicPr>
          <p:nvPr/>
        </p:nvPicPr>
        <p:blipFill>
          <a:blip r:embed="rId6"/>
          <a:stretch>
            <a:fillRect/>
          </a:stretch>
        </p:blipFill>
        <p:spPr>
          <a:xfrm>
            <a:off x="2562606" y="1664208"/>
            <a:ext cx="7066483"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Revenue is customers times orders per customer times revenue per order, so each branch is read as Q2's multiple of Q1, and the three multiply back to revenue's: 1.000 x 0.754 x 1.180 = 0.890. Tuesday read these on the export as delivered.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pic>
        <p:nvPicPr>
          <p:cNvPr id="9" name="mermaid diagram" descr="ab61590a03f1090b.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in orders per customer,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 at -35.0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491409"/>
                <a:gridCol w="2474893"/>
                <a:gridCol w="5164688"/>
              </a:tblGrid>
              <a:tr h="369824">
                <a:tc>
                  <a:txBody>
                    <a:bodyPr/>
                    <a:lstStyle/>
                    <a:p>
                      <a:r>
                        <a:rPr sz="1450" b="1" i="0">
                          <a:solidFill>
                            <a:srgbClr val="FFFFFF"/>
                          </a:solidFill>
                          <a:latin typeface="Calibri"/>
                        </a:rPr>
                        <a:t>Q2 against Q1</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Customers</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1.65 to 1.25, x0.754</a:t>
                      </a:r>
                    </a:p>
                  </a:txBody>
                  <a:tcPr marL="101600" marR="101600" marT="38100" marB="38100" anchor="ctr">
                    <a:solidFill>
                      <a:srgbClr val="F4F2FA"/>
                    </a:solidFill>
                  </a:tcPr>
                </a:tc>
                <a:tc>
                  <a:txBody>
                    <a:bodyPr/>
                    <a:lstStyle/>
                    <a:p>
                      <a:r>
                        <a:rPr sz="1400" b="0" i="0">
                          <a:solidFill>
                            <a:srgbClr val="1A1440"/>
                          </a:solidFill>
                          <a:latin typeface="Calibri"/>
                        </a:rPr>
                        <a:t>1.449 to 1.246, x0.860</a:t>
                      </a:r>
                    </a:p>
                  </a:txBody>
                  <a:tcPr marL="101600" marR="101600" marT="38100" marB="38100" anchor="ctr">
                    <a:solidFill>
                      <a:srgbClr val="F4F2FA"/>
                    </a:solidFill>
                  </a:tcPr>
                </a:tc>
              </a:tr>
              <a:tr h="369824">
                <a:tc>
                  <a:txBody>
                    <a:bodyPr/>
                    <a:lstStyle/>
                    <a:p>
                      <a:r>
                        <a:rPr sz="1400" b="0" i="0">
                          <a:solidFill>
                            <a:srgbClr val="1A1440"/>
                          </a:solidFill>
                          <a:latin typeface="Calibri"/>
                        </a:rPr>
                        <a:t>Revenue per order</a:t>
                      </a:r>
                    </a:p>
                  </a:txBody>
                  <a:tcPr marL="101600" marR="101600" marT="38100" marB="38100" anchor="ctr">
                    <a:solidFill>
                      <a:srgbClr val="FFFFFF"/>
                    </a:solidFill>
                  </a:tcPr>
                </a:tc>
                <a:tc>
                  <a:txBody>
                    <a:bodyPr/>
                    <a:lstStyle/>
                    <a:p>
                      <a:r>
                        <a:rPr sz="1400" b="0" i="0">
                          <a:solidFill>
                            <a:srgbClr val="1A1440"/>
                          </a:solidFill>
                          <a:latin typeface="Calibri"/>
                        </a:rPr>
                        <a:t>x1.180</a:t>
                      </a:r>
                    </a:p>
                  </a:txBody>
                  <a:tcPr marL="101600" marR="101600" marT="38100" marB="38100" anchor="ctr">
                    <a:solidFill>
                      <a:srgbClr val="FFFFFF"/>
                    </a:solidFill>
                  </a:tcPr>
                </a:tc>
                <a:tc>
                  <a:txBody>
                    <a:bodyPr/>
                    <a:lstStyle/>
                    <a:p>
                      <a:r>
                        <a:rPr sz="1400" b="0" i="0">
                          <a:solidFill>
                            <a:srgbClr val="1A1440"/>
                          </a:solidFill>
                          <a:latin typeface="Calibri"/>
                        </a:rPr>
                        <a:t>Rs 1,90,000 to Rs 2,17,442, x1.144</a:t>
                      </a:r>
                    </a:p>
                  </a:txBody>
                  <a:tcPr marL="101600" marR="101600" marT="38100" marB="38100" anchor="ctr">
                    <a:solidFill>
                      <a:srgbClr val="FFFFFF"/>
                    </a:solidFill>
                  </a:tcPr>
                </a:tc>
              </a:tr>
              <a:tr h="369824">
                <a:tc>
                  <a:txBody>
                    <a:bodyPr/>
                    <a:lstStyle/>
                    <a:p>
                      <a:r>
                        <a:rPr sz="1400" b="0" i="0">
                          <a:solidFill>
                            <a:srgbClr val="1A1440"/>
                          </a:solidFill>
                          <a:latin typeface="Calibri"/>
                        </a:rPr>
                        <a:t>Revenue</a:t>
                      </a:r>
                    </a:p>
                  </a:txBody>
                  <a:tcPr marL="101600" marR="101600" marT="38100" marB="38100" anchor="ctr">
                    <a:solidFill>
                      <a:srgbClr val="F4F2FA"/>
                    </a:solidFill>
                  </a:tcPr>
                </a:tc>
                <a:tc>
                  <a:txBody>
                    <a:bodyPr/>
                    <a:lstStyle/>
                    <a:p>
                      <a:r>
                        <a:rPr sz="1400" b="0" i="0">
                          <a:solidFill>
                            <a:srgbClr val="1A1440"/>
                          </a:solidFill>
                          <a:latin typeface="Calibri"/>
                        </a:rPr>
                        <a:t>x0.890, -11.0%</a:t>
                      </a:r>
                    </a:p>
                  </a:txBody>
                  <a:tcPr marL="101600" marR="101600" marT="38100" marB="38100" anchor="ctr">
                    <a:solidFill>
                      <a:srgbClr val="F4F2FA"/>
                    </a:solidFill>
                  </a:tcPr>
                </a:tc>
                <a:tc>
                  <a:txBody>
                    <a:bodyPr/>
                    <a:lstStyle/>
                    <a:p>
                      <a:r>
                        <a:rPr sz="1400" b="0" i="0">
                          <a:solidFill>
                            <a:srgbClr val="1A1440"/>
                          </a:solidFill>
                          <a:latin typeface="Calibri"/>
                        </a:rPr>
                        <a:t>Rs 1,90,00,000 to Rs 1,87,00,000, x0.984, -1.6%</a:t>
                      </a:r>
                    </a:p>
                  </a:txBody>
                  <a:tcPr marL="101600" marR="101600" marT="38100" marB="38100" anchor="ctr">
                    <a:solidFill>
                      <a:srgbClr val="F4F2FA"/>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FFFFF"/>
                    </a:solidFill>
                  </a:tcPr>
                </a:tc>
                <a:tc>
                  <a:txBody>
                    <a:bodyPr/>
                    <a:lstStyle/>
                    <a:p>
                      <a:r>
                        <a:rPr sz="1400" b="0" i="0">
                          <a:solidFill>
                            <a:srgbClr val="1A1440"/>
                          </a:solidFill>
                          <a:latin typeface="Calibri"/>
                        </a:rPr>
                        <a:t>2.32 to 1.18, -49.0%</a:t>
                      </a:r>
                    </a:p>
                  </a:txBody>
                  <a:tcPr marL="101600" marR="101600" marT="38100" marB="38100" anchor="ctr">
                    <a:solidFill>
                      <a:srgbClr val="FFFFFF"/>
                    </a:solidFill>
                  </a:tcPr>
                </a:tc>
                <a:tc>
                  <a:txBody>
                    <a:bodyPr/>
                    <a:lstStyle/>
                    <a:p>
                      <a:r>
                        <a:rPr sz="1400" b="0" i="0">
                          <a:solidFill>
                            <a:srgbClr val="1A1440"/>
                          </a:solidFill>
                          <a:latin typeface="Calibri"/>
                        </a:rPr>
                        <a:t>1.82 to 1.18, -35.0%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copies were Q1 orders, most of them Retail-Plus, so Tuesday's Q1 frequency was inflated; the three branches multiply back to revenue, 1.000 x 0.860 x 1.144 = 0.984.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bulk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largest Q2 order come out?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 about a record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Rs 29 lakh order not an error?</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anything about the record is wrong; its size alone proves nothing. A fence, a cut-off above which values get called outliers,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keep it, flag it, show Q2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show for Q2?</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printed beside, labelled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Q2 goes back to Rs 1,87,00,000 and the drop to 1.6 percent. The figure without the order sits beside it for anyone planning from it, labelled.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leads with the answer: the 1.9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to Anand say first?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It survives, smaller."</a:t>
            </a:r>
          </a:p>
          <a:p>
            <a:pPr>
              <a:spcBef>
                <a:spcPts val="400"/>
              </a:spcBef>
            </a:pPr>
            <a:r>
              <a:rPr sz="1000" b="0" i="0">
                <a:solidFill>
                  <a:srgbClr val="6B6690"/>
                </a:solidFill>
                <a:latin typeface="Calibri"/>
              </a:rPr>
              <a:t>The GCC data and AI team</a:t>
            </a:r>
          </a:p>
        </p:txBody>
      </p:sp>
      <p:pic>
        <p:nvPicPr>
          <p:cNvPr id="11" name="mermaid diagram" descr="83c4a5aebcc59828.png"/>
          <p:cNvPicPr>
            <a:picLocks noChangeAspect="1"/>
          </p:cNvPicPr>
          <p:nvPr/>
        </p:nvPicPr>
        <p:blipFill>
          <a:blip r:embed="rId5"/>
          <a:stretch>
            <a:fillRect/>
          </a:stretch>
        </p:blipFill>
        <p:spPr>
          <a:xfrm>
            <a:off x="2152497" y="3698240"/>
            <a:ext cx="7886700" cy="1600200"/>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8" name="Oval 1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0" name="Oval 19"/>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bottom up, Q1 is Rs 1,90,00,000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bottom-up sum reach the same Q1?</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bottom_up = sum(r["amount"] for r in clean if r["quarter"] == "Q1")</a:t>
            </a:r>
          </a:p>
          <a:p>
            <a:pPr>
              <a:spcAft>
                <a:spcPts val="200"/>
              </a:spcAft>
            </a:pPr>
            <a:r>
              <a:rPr sz="1400" b="0" i="0">
                <a:solidFill>
                  <a:srgbClr val="E4E1F1"/>
                </a:solidFill>
                <a:latin typeface="Consolas"/>
              </a:rPr>
              <a:t>bottom_up == exported_q1 + corporate + consumer == BOOKS_Q1     # True</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1,90,00,000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1.82 and 1.18</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RETAIL-PLUS RATE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again with a dictionary</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Bottom up is the check anyone can run; top down is the proof, since only the bridge says what each rupee of the gap was.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1.9 is proved, and Tuesday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can we prove the 1.9, and does Tuesday's finding survive?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175245"/>
                <a:gridCol w="695574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could we prove it?</a:t>
                      </a:r>
                    </a:p>
                  </a:txBody>
                  <a:tcPr marL="101600" marR="101600" marT="38100" marB="38100" anchor="ctr">
                    <a:solidFill>
                      <a:srgbClr val="FFFFFF"/>
                    </a:solidFill>
                  </a:tcPr>
                </a:tc>
                <a:tc>
                  <a:txBody>
                    <a:bodyPr/>
                    <a:lstStyle/>
                    <a:p>
                      <a:r>
                        <a:rPr sz="1100" b="0" i="0">
                          <a:solidFill>
                            <a:srgbClr val="1A1440"/>
                          </a:solidFill>
                          <a:latin typeface="Calibri"/>
                        </a:rPr>
                        <a:t>A bridge by cause: 15 logged rows, to the rupee</a:t>
                      </a:r>
                    </a:p>
                  </a:txBody>
                  <a:tcPr marL="101600" marR="101600" marT="38100" marB="38100" anchor="ctr">
                    <a:solidFill>
                      <a:srgbClr val="FFFFFF"/>
                    </a:solidFill>
                  </a:tcPr>
                </a:tc>
              </a:tr>
              <a:tr h="318008">
                <a:tc>
                  <a:txBody>
                    <a:bodyPr/>
                    <a:lstStyle/>
                    <a:p>
                      <a:r>
                        <a:rPr sz="1100" b="0" i="0">
                          <a:solidFill>
                            <a:srgbClr val="1A1440"/>
                          </a:solidFill>
                          <a:latin typeface="Calibri"/>
                        </a:rPr>
                        <a:t>2. Which moves close it?</a:t>
                      </a:r>
                    </a:p>
                  </a:txBody>
                  <a:tcPr marL="101600" marR="101600" marT="38100" marB="38100" anchor="ctr">
                    <a:solidFill>
                      <a:srgbClr val="F4F2FA"/>
                    </a:solidFill>
                  </a:tcPr>
                </a:tc>
                <a:tc>
                  <a:txBody>
                    <a:bodyPr/>
                    <a:lstStyle/>
                    <a:p>
                      <a:r>
                        <a:rPr sz="1100" b="0" i="0">
                          <a:solidFill>
                            <a:srgbClr val="1A1440"/>
                          </a:solidFill>
                          <a:latin typeface="Calibri"/>
                        </a:rPr>
                        <a:t>Two: -Rs 19,67,560 corporate, -Rs 30,650 consumer</a:t>
                      </a:r>
                    </a:p>
                  </a:txBody>
                  <a:tcPr marL="101600" marR="101600" marT="38100" marB="38100" anchor="ctr">
                    <a:solidFill>
                      <a:srgbClr val="F4F2FA"/>
                    </a:solidFill>
                  </a:tcPr>
                </a:tc>
              </a:tr>
              <a:tr h="318008">
                <a:tc>
                  <a:txBody>
                    <a:bodyPr/>
                    <a:lstStyle/>
                    <a:p>
                      <a:r>
                        <a:rPr sz="1100" b="0" i="0">
                          <a:solidFill>
                            <a:srgbClr val="1A1440"/>
                          </a:solidFill>
                          <a:latin typeface="Calibri"/>
                        </a:rPr>
                        <a:t>3. Does Tuesday survive?</a:t>
                      </a:r>
                    </a:p>
                  </a:txBody>
                  <a:tcPr marL="101600" marR="101600" marT="38100" marB="38100" anchor="ctr">
                    <a:solidFill>
                      <a:srgbClr val="FFFFFF"/>
                    </a:solidFill>
                  </a:tcPr>
                </a:tc>
                <a:tc>
                  <a:txBody>
                    <a:bodyPr/>
                    <a:lstStyle/>
                    <a:p>
                      <a:r>
                        <a:rPr sz="1100" b="0" i="0">
                          <a:solidFill>
                            <a:srgbClr val="1A1440"/>
                          </a:solidFill>
                          <a:latin typeface="Calibri"/>
                        </a:rPr>
                        <a:t>Yes, smaller: revenue -1.6%, Retail-Plus -35.0%</a:t>
                      </a:r>
                    </a:p>
                  </a:txBody>
                  <a:tcPr marL="101600" marR="101600" marT="38100" marB="38100" anchor="ctr">
                    <a:solidFill>
                      <a:srgbClr val="FFFFFF"/>
                    </a:solidFill>
                  </a:tcPr>
                </a:tc>
              </a:tr>
              <a:tr h="318008">
                <a:tc>
                  <a:txBody>
                    <a:bodyPr/>
                    <a:lstStyle/>
                    <a:p>
                      <a:r>
                        <a:rPr sz="1100" b="0" i="0">
                          <a:solidFill>
                            <a:srgbClr val="1A1440"/>
                          </a:solidFill>
                          <a:latin typeface="Calibri"/>
                        </a:rPr>
                        <a:t>4. Should the bulk order go?</a:t>
                      </a:r>
                    </a:p>
                  </a:txBody>
                  <a:tcPr marL="101600" marR="101600" marT="38100" marB="38100" anchor="ctr">
                    <a:solidFill>
                      <a:srgbClr val="F4F2FA"/>
                    </a:solidFill>
                  </a:tcPr>
                </a:tc>
                <a:tc>
                  <a:txBody>
                    <a:bodyPr/>
                    <a:lstStyle/>
                    <a:p>
                      <a:r>
                        <a:rPr sz="1100" b="0" i="0">
                          <a:solidFill>
                            <a:srgbClr val="1A1440"/>
                          </a:solidFill>
                          <a:latin typeface="Calibri"/>
                        </a:rPr>
                        <a:t>No: kept, flagged, Q2 shown both ways</a:t>
                      </a:r>
                    </a:p>
                  </a:txBody>
                  <a:tcPr marL="101600" marR="101600" marT="38100" marB="38100" anchor="ctr">
                    <a:solidFill>
                      <a:srgbClr val="F4F2FA"/>
                    </a:solidFill>
                  </a:tcPr>
                </a:tc>
              </a:tr>
              <a:tr h="318008">
                <a:tc>
                  <a:txBody>
                    <a:bodyPr/>
                    <a:lstStyle/>
                    <a:p>
                      <a:r>
                        <a:rPr sz="1100" b="0" i="0">
                          <a:solidFill>
                            <a:srgbClr val="1A1440"/>
                          </a:solidFill>
                          <a:latin typeface="Calibri"/>
                        </a:rPr>
                        <a:t>5. What does the note say?</a:t>
                      </a:r>
                    </a:p>
                  </a:txBody>
                  <a:tcPr marL="101600" marR="101600" marT="38100" marB="38100" anchor="ctr">
                    <a:solidFill>
                      <a:srgbClr val="FFFFFF"/>
                    </a:solidFill>
                  </a:tcPr>
                </a:tc>
                <a:tc>
                  <a:txBody>
                    <a:bodyPr/>
                    <a:lstStyle/>
                    <a:p>
                      <a:r>
                        <a:rPr sz="1100" b="0" i="0">
                          <a:solidFill>
                            <a:srgbClr val="1A1440"/>
                          </a:solidFill>
                          <a:latin typeface="Calibri"/>
                        </a:rPr>
                        <a:t>That 1.9 is right, then the proof, then what changed</a:t>
                      </a:r>
                    </a:p>
                  </a:txBody>
                  <a:tcPr marL="101600" marR="101600" marT="38100" marB="38100" anchor="ctr">
                    <a:solidFill>
                      <a:srgbClr val="FFFFFF"/>
                    </a:solidFill>
                  </a:tcPr>
                </a:tc>
              </a:tr>
              <a:tr h="318008">
                <a:tc>
                  <a:txBody>
                    <a:bodyPr/>
                    <a:lstStyle/>
                    <a:p>
                      <a:r>
                        <a:rPr sz="1100" b="0" i="0">
                          <a:solidFill>
                            <a:srgbClr val="1A1440"/>
                          </a:solidFill>
                          <a:latin typeface="Calibri"/>
                        </a:rPr>
                        <a:t>6. Does a bottom-up sum agree?</a:t>
                      </a:r>
                    </a:p>
                  </a:txBody>
                  <a:tcPr marL="101600" marR="101600" marT="38100" marB="38100" anchor="ctr">
                    <a:solidFill>
                      <a:srgbClr val="F4F2FA"/>
                    </a:solidFill>
                  </a:tcPr>
                </a:tc>
                <a:tc>
                  <a:txBody>
                    <a:bodyPr/>
                    <a:lstStyle/>
                    <a:p>
                      <a:r>
                        <a:rPr sz="1100" b="0" i="0">
                          <a:solidFill>
                            <a:srgbClr val="1A1440"/>
                          </a:solidFill>
                          <a:latin typeface="Calibri"/>
                        </a:rPr>
                        <a:t>Yes: Rs 1,90,00,000</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changed in Tuesday's story, including when it got smaller."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Finance and your dashboard disagree; what do you do?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