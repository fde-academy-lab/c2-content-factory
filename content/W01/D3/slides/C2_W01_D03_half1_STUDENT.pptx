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day is one question climbed in six</a:t>
            </a:r>
          </a:p>
          <a:p>
            <a:r>
              <a:t>chapters: which Q1 figure is right, and can we prove it to an analyst who ties out to the rupee.</a:t>
            </a:r>
          </a:p>
          <a:p>
            <a:r>
              <a:t>Five chapters this block, the sixth after lunch, then the full pass alone and the auditor.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whatever its status, the</a:t>
            </a:r>
          </a:p>
          <a:p>
            <a:r>
              <a:t>definition Monday set in the retail dossier. Ask: whose number do you trust before looking at</a:t>
            </a:r>
          </a:p>
          <a:p>
            <a:r>
              <a:t>anything? Most say Finance. The honest answer is neither yet: both are computed correctly from</a:t>
            </a:r>
          </a:p>
          <a:p>
            <a:r>
              <a:t>something, and the job is to find what.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a:t>
            </a:r>
          </a:p>
          <a:p>
            <a:r>
              <a:t>the analyst's and the auditor's after lunch. Watch for learners who want to start coding; hold</a:t>
            </a:r>
          </a:p>
          <a:p>
            <a:r>
              <a:t>them, the next slide is the thinking.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a:t>
            </a:r>
          </a:p>
          <a:p>
            <a:r>
              <a:t>that differs. The point is the list; the letter comes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for cost more than likelihood, though the ERP note about a</a:t>
            </a:r>
          </a:p>
          <a:p>
            <a:r>
              <a:t>stitched CSV makes it likelier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chapter runs the same way: the need, the options sized, the build, the trap,</a:t>
            </a:r>
          </a:p>
          <a:p>
            <a:r>
              <a:t>a second route, Kavya's review. Notebook numbers match chapter numbers.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cost of a wrong answer here is the largest of the day, because every later</a:t>
            </a:r>
          </a:p>
          <a:p>
            <a:r>
              <a:t>chapter is built on this count. If the note says the dashboard is right and it is not, the analyst</a:t>
            </a:r>
          </a:p>
          <a:p>
            <a:r>
              <a:t>finds it and discounts every later number the team sends.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30 percent figure, against 98 to 99 percent in</a:t>
            </a:r>
          </a:p>
          <a:p>
            <a:r>
              <a:t>the US. Say "about" and name the source aloud; the 30 percent is a secondary summary.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minutes for b and c are an illustrative half-second a cell and half a minute a</a:t>
            </a:r>
          </a:p>
          <a:p>
            <a:r>
              <a:t>row. The 13 percent is exact by inclusion and exclusion over the 15 pairs: a repeat is seen only</a:t>
            </a:r>
          </a:p>
          <a:p>
            <a:r>
              <a:t>when both copies are drawn, since one copy alone ties to the books like any order. The</a:t>
            </a:r>
          </a:p>
          <a:p>
            <a:r>
              <a:t>chance of the sample meeting the one unreadable amount is 10 percent.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what "distinct" says about order_id that "present" cannot: whether ids</a:t>
            </a:r>
          </a:p>
          <a:p>
            <a:r>
              <a:t>repeat. Then open notebook 01. When open("orders.csv") fails with FileNotFoundError, two minutes</a:t>
            </a:r>
          </a:p>
          <a:p>
            <a:r>
              <a:t>on the last line, which names the folder Python looked in; the exports live in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b. Do not explain the other three yet; name the chapter that</a:t>
            </a:r>
          </a:p>
          <a:p>
            <a:r>
              <a:t>answers each: order_id in chapters 2 and 3, amount and status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01, section 3. Run it and ask what the analyst would tie out tonight.</a:t>
            </a:r>
          </a:p>
          <a:p>
            <a:r>
              <a:t>Three small orders. The decision it misleads: an audit that passes on the part of the file</a:t>
            </a:r>
          </a:p>
          <a:p>
            <a:r>
              <a:t>that carries the least money.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check is a business question, which is the habit to build.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has the room run int() over every amount and meet the</a:t>
            </a:r>
          </a:p>
          <a:p>
            <a:r>
              <a:t>ValueError: two minutes, read the last line, write the value down. Then convert() runs clean.</a:t>
            </a:r>
          </a:p>
          <a:p>
            <a:r>
              <a:t>Chapter 5 comes back to the Rs 29 lakh order.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JSONDecodeError is met in an empty cell: two minutes, open the file at the</a:t>
            </a:r>
          </a:p>
          <a:p>
            <a:r>
              <a:t>line and column it names. A CSV writes a missing value as an empty string and JSON leaves the key</a:t>
            </a:r>
          </a:p>
          <a:p>
            <a:r>
              <a:t>out; profile() uses .get(field, "") so both count the same.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arithmetic, comparison and sorting break or silently lie on text;</a:t>
            </a:r>
          </a:p>
          <a:p>
            <a:r>
              <a:t>convert once at the boundary in one function that returns the value or the reason; log failures.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Q1 holds 114 rows for 100 orders, Q2 87 for 86. The extra rows sit in the quarter</a:t>
            </a:r>
          </a:p>
          <a:p>
            <a:r>
              <a:t>the migration touched. Cost of a wrong answer: keep Rs 20 lakh that was never earned, or delete</a:t>
            </a:r>
          </a:p>
          <a:p>
            <a:r>
              <a:t>real orders from the books.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fuzzy match, same customer and amount dated within 60 days, has no key to group on, so it costs 20,100 pair comparisons here against 201 lookups for a key,</a:t>
            </a:r>
          </a:p>
          <a:p>
            <a:r>
              <a:t>and about 200 lakh crore pairs on a file of 2 crore rows. Point at d: same count as c, different rows.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Ask what they would do with a dedupe that finds zero; most would report it, since</a:t>
            </a:r>
          </a:p>
          <a:p>
            <a:r>
              <a:t>the function ran without error.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Show the five invented records in notebook 02: the whole record with the line</a:t>
            </a:r>
          </a:p>
          <a:p>
            <a:r>
              <a:t>finds 0, without it finds 2. The decision it misleads: Finance sent hunting for revenue that</a:t>
            </a:r>
          </a:p>
          <a:p>
            <a:r>
              <a:t>was never earned.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Do not read the ids aloud. Ask what the second line numbers have in common:</a:t>
            </a:r>
          </a:p>
          <a:p>
            <a:r>
              <a:t>they sit together at the end of the file, where the second extract was appended.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decision it misleads: a reviewer comparing counts signs off a pass that</a:t>
            </a:r>
          </a:p>
          <a:p>
            <a:r>
              <a:t>removes a real Q2 order. Always compare the rows, never only their number.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routes in notebook 02 assert 15.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Anand's analyst is the reader. Every choice is visible to her in the log.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 65, and</a:t>
            </a:r>
          </a:p>
          <a:p>
            <a:r>
              <a:t>Notification 10/2023-Central Tax. The portal hashes the same fields into the invoice reference</a:t>
            </a:r>
          </a:p>
          <a:p>
            <a:r>
              <a:t>number, and a repeat is refused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Thirteen of the fifteen escalations would carry no question at all.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Invented pairs INV-11 to INV-13 in notebook 03. For the disagreeing pair no rule</a:t>
            </a:r>
          </a:p>
          <a:p>
            <a:r>
              <a:t>inside the file can say which date is true; the rule turns the date into a written question.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prints the two log rows whose reason says more than "second</a:t>
            </a:r>
          </a:p>
          <a:p>
            <a:r>
              <a:t>copy". Each learner writes the question they would send the ERP team.</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03, section 3. Ask who would ship this. Most hands go up: Q1 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pairs this pass misses cost Q1 nothing: one copy's amount cannot be read,</a:t>
            </a:r>
          </a:p>
          <a:p>
            <a:r>
              <a:t>so it adds nothing to the sum. The decision it misleads: a Q2 order count one too high in</a:t>
            </a:r>
          </a:p>
          <a:p>
            <a:r>
              <a:t>Retail-Plus, the segment Tuesday's finding is about.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Rows: 2, 11 and 1 of 14. Rupees: Rs 19,67,560, Rs 27,760 and Rs 2,890. Two</a:t>
            </a:r>
          </a:p>
          <a:p>
            <a:r>
              <a:t>conversations follow: Anand's gap, and Tuesday's finding, which chapter 5 recomputes.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Each choice keeps revenue whole, invents a fact or deletes one.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Counts beyond "hundreds</a:t>
            </a:r>
          </a:p>
          <a:p>
            <a:r>
              <a:t>of items" were not verified and stay out.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amount options: coerce to zero misses the books by Rs 1,790 and leaves a Rs 0</a:t>
            </a:r>
          </a:p>
          <a:p>
            <a:r>
              <a:t>order; reject leaves the order's rupees out until repaired; reading a word as a number is a guess;</a:t>
            </a:r>
          </a:p>
          <a:p>
            <a:r>
              <a:t>a twin from the other extract repairs it exactly. Walk them from the notebook's second table.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Tuesday's trap coming back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day's second spine trap.</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04, section 3. Let the room enjoy it: the loop finishes, the profile is</a:t>
            </a:r>
          </a:p>
          <a:p>
            <a:r>
              <a:t>perfect, and Q1 rounds to the books. Ask who they would now tell the file is clean.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note calling the file clean with an order at Rs 0 in</a:t>
            </a:r>
          </a:p>
          <a:p>
            <a:r>
              <a:t>it, which the analyst finds on her first tie-out.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the invented pair INV-21 too: reading "fourteen" as 14 misses a Rs 1,400</a:t>
            </a:r>
          </a:p>
          <a:p>
            <a:r>
              <a:t>order by Rs 1,386. A word is never an amount.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defect that slipped past the log would show as a count that disagrees.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rescue campaign for Retail-Plus is waiting on the second number.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Tesco interim results</a:t>
            </a:r>
          </a:p>
          <a:p>
            <a:r>
              <a:t>statement, 23 October 2014, which splits GBP 263m into GBP 118m for the first half, about GBP 70m</a:t>
            </a:r>
          </a:p>
          <a:p>
            <a:r>
              <a:t>for 2013/14 and about GBP 75m before.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feed carries the same unreadable amount and holds only 19 of Q2's 86 orders.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Predict first: how many moves? Two. Draw the bridge on the board beside the</a:t>
            </a:r>
          </a:p>
          <a:p>
            <a:r>
              <a:t>notebook's chart; the raised axis keeps the Rs 30,650 move visible.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Thursday asks whether -35 percent on 22 members is real or chance.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05, section 3. The decision it misleads: Marketing funds a rescue for a</a:t>
            </a:r>
          </a:p>
          <a:p>
            <a:r>
              <a:t>fall that never happened, and Finance rejects the reconciliation because its books hold the order.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fix: keep it, flag it, show Q2 both ways. Q2 back to Rs 1,87,00,000, the drop</a:t>
            </a:r>
          </a:p>
          <a:p>
            <a:r>
              <a:t>back to 1.6 percent.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Bottom up is the check anyone can run; top down is the proof, since only the</a:t>
            </a:r>
          </a:p>
          <a:p>
            <a:r>
              <a:t>bridge says what each rupee was. The full note in notebook 05 is under 120 words.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8.png"/><Relationship Id="rId6" Type="http://schemas.openxmlformats.org/officeDocument/2006/relationships/image" Target="../media/image2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 Id="rId5" Type="http://schemas.openxmlformats.org/officeDocument/2006/relationships/image" Target="../media/image2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6.png"/><Relationship Id="rId6" Type="http://schemas.openxmlformats.org/officeDocument/2006/relationships/image" Target="../media/image8.png"/><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 Id="rId5" Type="http://schemas.openxmlformats.org/officeDocument/2006/relationships/image" Target="../media/image30.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3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notesSlide" Target="../notesSlides/notesSlide6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What the ERP actually sent</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The rows that repeat</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226367"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copy that stays</a:t>
            </a:r>
          </a:p>
        </p:txBody>
      </p:sp>
      <p:sp>
        <p:nvSpPr>
          <p:cNvPr id="17" name="TextBox 16"/>
          <p:cNvSpPr txBox="1"/>
          <p:nvPr/>
        </p:nvSpPr>
        <p:spPr>
          <a:xfrm>
            <a:off x="671598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248656"/>
            <a:ext cx="1839087" cy="185166"/>
          </a:xfrm>
          <a:prstGeom prst="rect">
            <a:avLst/>
          </a:prstGeom>
          <a:noFill/>
        </p:spPr>
        <p:txBody>
          <a:bodyPr wrap="square" anchor="t" lIns="0" rIns="0" tIns="0" bIns="0">
            <a:spAutoFit/>
          </a:bodyPr>
          <a:lstStyle/>
          <a:p>
            <a:pPr algn="l"/>
            <a:r>
              <a:rPr sz="900" b="0" i="0">
                <a:solidFill>
                  <a:srgbClr val="FFFFFF"/>
                </a:solidFill>
                <a:latin typeface="Calibri"/>
              </a:rPr>
              <a:t>What is missing or malformed</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543335" cy="185166"/>
          </a:xfrm>
          <a:prstGeom prst="rect">
            <a:avLst/>
          </a:prstGeom>
          <a:noFill/>
        </p:spPr>
        <p:txBody>
          <a:bodyPr wrap="square" anchor="t" lIns="0" rIns="0" tIns="0" bIns="0">
            <a:spAutoFit/>
          </a:bodyPr>
          <a:lstStyle/>
          <a:p>
            <a:pPr algn="l"/>
            <a:r>
              <a:rPr sz="900" b="0" i="0">
                <a:solidFill>
                  <a:srgbClr val="FFFFFF"/>
                </a:solidFill>
                <a:latin typeface="Calibri"/>
              </a:rPr>
              <a:t>The bridge to the books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63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Wednesday morning, one reply to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Tuesday's finding reached the leadership group, and Finance answered first.</a:t>
            </a:r>
          </a:p>
        </p:txBody>
      </p:sp>
      <p:sp>
        <p:nvSpPr>
          <p:cNvPr id="9" name="Rounded Rectangle 8"/>
          <p:cNvSpPr/>
          <p:nvPr/>
        </p:nvSpPr>
        <p:spPr>
          <a:xfrm>
            <a:off x="53035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Q1 was Rs 1.9 crore, and his analyst audits every number that reaches him.</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orders CSV and the app's JSON feed, with a note that the CSV was stitched from two extracts during the Q1 migration.</a:t>
            </a:r>
          </a:p>
        </p:txBody>
      </p:sp>
      <p:sp>
        <p:nvSpPr>
          <p:cNvPr id="21" name="Rounded Rectangle 20"/>
          <p:cNvSpPr/>
          <p:nvPr/>
        </p:nvSpPr>
        <p:spPr>
          <a:xfrm>
            <a:off x="807293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Impatient: if the drop is a data problem, a month is lost arguing about it.</a:t>
            </a:r>
          </a:p>
        </p:txBody>
      </p:sp>
      <p:sp>
        <p:nvSpPr>
          <p:cNvPr id="27" name="TextBox 26"/>
          <p:cNvSpPr txBox="1"/>
          <p:nvPr/>
        </p:nvSpPr>
        <p:spPr>
          <a:xfrm>
            <a:off x="53035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294124"/>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02920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230368"/>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48284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1" name="Oval 40"/>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3" name="Oval 4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5" name="Oval 4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7" name="Oval 46"/>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63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four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reconciliation has to answer all of them.</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63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could make an export read high?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file opens, list every way 2.1 and 1.9 could both be honest arithmetic.</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63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branch is possible; the cheapest check goes first.</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63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thinking: profile, decide, reconcile, recompute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moves, drawn on the board before any tool opens, and a log written as you go.</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chapters, each a harder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this morning, the sixth after lunch, each with its own notebook.</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the ERP actually sent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profile: present, convertible, distinct.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rows that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copy that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identity rule and its preference.</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missing or malformed</a:t>
            </a:r>
          </a:p>
        </p:txBody>
      </p:sp>
      <p:sp>
        <p:nvSpPr>
          <p:cNvPr id="29" name="TextBox 28"/>
          <p:cNvSpPr txBox="1"/>
          <p:nvPr/>
        </p:nvSpPr>
        <p:spPr>
          <a:xfrm>
            <a:off x="6351879"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Drop, default or flag; coerce, reject or repair.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The bridge to the books</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bridge, and Tuesday recomputed.</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The log the analyst audits</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Logs a stranger can replay.</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42" name="Oval 4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63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the ERP actually sent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Count what arrived before totalling anything.</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total needs a file you have profiled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Anand's metric is Q1 revenue to the rupee, and every later number stands on this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63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Canada's new system ran on bad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It launched in March 2013, and in January 2015 announced it would close all 133 stores.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Data loaded in a hurry during a system change is the kind that needs counting before anyone trusts it.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learn what arrived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option sized on this file: 201 rows, 10 fields.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51131"/>
                <a:gridCol w="2345251"/>
                <a:gridCol w="1933489"/>
                <a:gridCol w="4301118"/>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13% chance to see both copies of a pair</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file with no field that names an order.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63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three questions of every field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Present, convertible, distinct: what each field can be trusted for.</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63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Everything read from a CSV is text, and the profile counts it field by field.</a:t>
            </a:r>
          </a:p>
        </p:txBody>
      </p:sp>
      <p:pic>
        <p:nvPicPr>
          <p:cNvPr id="9" name="mermaid diagram" descr="318a2c7e313559da.png"/>
          <p:cNvPicPr>
            <a:picLocks noChangeAspect="1"/>
          </p:cNvPicPr>
          <p:nvPr/>
        </p:nvPicPr>
        <p:blipFill>
          <a:blip r:embed="rId5"/>
          <a:stretch>
            <a:fillRect/>
          </a:stretch>
        </p:blipFill>
        <p:spPr>
          <a:xfrm>
            <a:off x="3302641" y="1956816"/>
            <a:ext cx="55864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201, as a letter? a) amount; b) discount; c) order_id; d) none, an ERP export is complete.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63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counts do not fit 201, and each is a question for a later chapter.</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21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4"/>
          <a:stretch>
            <a:fillRect/>
          </a:stretch>
        </p:blipFill>
        <p:spPr>
          <a:xfrm>
            <a:off x="868680" y="433120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4255008"/>
            <a:ext cx="9987991" cy="682752"/>
          </a:xfrm>
          <a:prstGeom prst="rect">
            <a:avLst/>
          </a:prstGeom>
          <a:noFill/>
        </p:spPr>
        <p:txBody>
          <a:bodyPr wrap="square" anchor="t" lIns="0" rIns="0" tIns="0" bIns="0">
            <a:spAutoFit/>
          </a:bodyPr>
          <a:lstStyle/>
          <a:p>
            <a:r>
              <a:rPr sz="1500" b="0" i="0">
                <a:solidFill>
                  <a:srgbClr val="1A1440"/>
                </a:solidFill>
                <a:latin typeface="Calibri"/>
              </a:rPr>
              <a:t>Order ids distinct on 186, amounts convertible on 200, status present on 200. Discount is Tuesday's optional field.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63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top three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audits the largest orders first, and the hurried sort sends three.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sample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4" name="Oval 2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63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'970' beats '2945460' because 9 comes after 2.</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Business sells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63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 once, then sort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top three move from Rs 9,53,940 to Rs 62,11,460 of the quarter.</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29,45,460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62,11,460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200 + 1</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converted, and one in the rejects log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same convert() that fixes the sort logs the one amount that fails, and Q1 over the amounts that convert reads Rs 2,09,98,210: the dashboard's 2.1 crore is honest arithmetic on this file.</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63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a second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Counter over ids and the rejects log reach the profile's counts by other code.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a Counter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profile and the rejects log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119</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JSON FEED RECORDS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complete, then the file is cut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for a first look; the Counter when one field matters, since it keeps how often each id appears. The JSON feed is a witness to compare against, never a replacement.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63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profile comes first, and a failure is counted next to the successes.</a:t>
            </a:r>
          </a:p>
        </p:txBody>
      </p:sp>
      <p:sp>
        <p:nvSpPr>
          <p:cNvPr id="9" name="Rounded Rectangle 8"/>
          <p:cNvSpPr/>
          <p:nvPr/>
        </p:nvSpPr>
        <p:spPr>
          <a:xfrm>
            <a:off x="530352" y="189712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2935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339086"/>
            <a:ext cx="237744" cy="237744"/>
          </a:xfrm>
          <a:prstGeom prst="rect">
            <a:avLst/>
          </a:prstGeom>
        </p:spPr>
      </p:pic>
      <p:sp>
        <p:nvSpPr>
          <p:cNvPr id="12" name="TextBox 11"/>
          <p:cNvSpPr txBox="1"/>
          <p:nvPr/>
        </p:nvSpPr>
        <p:spPr>
          <a:xfrm>
            <a:off x="1399031" y="20434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62886"/>
            <a:ext cx="9987991" cy="682752"/>
          </a:xfrm>
          <a:prstGeom prst="rect">
            <a:avLst/>
          </a:prstGeom>
          <a:noFill/>
        </p:spPr>
        <p:txBody>
          <a:bodyPr wrap="square" anchor="t" lIns="0" rIns="0" tIns="0" bIns="0">
            <a:spAutoFit/>
          </a:bodyPr>
          <a:lstStyle/>
          <a:p>
            <a:r>
              <a:rPr sz="1500" b="0" i="0">
                <a:solidFill>
                  <a:srgbClr val="1A1440"/>
                </a:solidFill>
                <a:latin typeface="Calibri"/>
              </a:rPr>
              <a:t>Before you total anything, tell me how many records you received, how many are complete, how many convert and how many are distinct.</a:t>
            </a:r>
          </a:p>
        </p:txBody>
      </p:sp>
      <p:sp>
        <p:nvSpPr>
          <p:cNvPr id="14" name="Rounded Rectangle 13"/>
          <p:cNvSpPr/>
          <p:nvPr/>
        </p:nvSpPr>
        <p:spPr>
          <a:xfrm>
            <a:off x="530352" y="318338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38607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495802"/>
            <a:ext cx="237744" cy="237744"/>
          </a:xfrm>
          <a:prstGeom prst="rect">
            <a:avLst/>
          </a:prstGeom>
        </p:spPr>
      </p:pic>
      <p:sp>
        <p:nvSpPr>
          <p:cNvPr id="17" name="TextBox 16"/>
          <p:cNvSpPr txBox="1"/>
          <p:nvPr/>
        </p:nvSpPr>
        <p:spPr>
          <a:xfrm>
            <a:off x="1399031" y="332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549142"/>
            <a:ext cx="9987991" cy="423672"/>
          </a:xfrm>
          <a:prstGeom prst="rect">
            <a:avLst/>
          </a:prstGeom>
          <a:noFill/>
        </p:spPr>
        <p:txBody>
          <a:bodyPr wrap="square" anchor="t" lIns="0" rIns="0" tIns="0" bIns="0">
            <a:spAutoFit/>
          </a:bodyPr>
          <a:lstStyle/>
          <a:p>
            <a:r>
              <a:rPr sz="1500" b="0" i="0">
                <a:solidFill>
                  <a:srgbClr val="1A1440"/>
                </a:solidFill>
                <a:latin typeface="Calibri"/>
              </a:rPr>
              <a:t>[F] Everything read from a CSV is a string; what breaks and where do you convert?</a:t>
            </a:r>
          </a:p>
        </p:txBody>
      </p:sp>
      <p:sp>
        <p:nvSpPr>
          <p:cNvPr id="19" name="Rounded Rectangle 18"/>
          <p:cNvSpPr/>
          <p:nvPr/>
        </p:nvSpPr>
        <p:spPr>
          <a:xfrm>
            <a:off x="530352" y="421055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41172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521454"/>
            <a:ext cx="237744" cy="237744"/>
          </a:xfrm>
          <a:prstGeom prst="rect">
            <a:avLst/>
          </a:prstGeom>
        </p:spPr>
      </p:pic>
      <p:sp>
        <p:nvSpPr>
          <p:cNvPr id="22" name="TextBox 21"/>
          <p:cNvSpPr txBox="1"/>
          <p:nvPr/>
        </p:nvSpPr>
        <p:spPr>
          <a:xfrm>
            <a:off x="731519" y="497865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1</a:t>
            </a:r>
          </a:p>
        </p:txBody>
      </p:sp>
      <p:sp>
        <p:nvSpPr>
          <p:cNvPr id="23" name="TextBox 22"/>
          <p:cNvSpPr txBox="1"/>
          <p:nvPr/>
        </p:nvSpPr>
        <p:spPr>
          <a:xfrm>
            <a:off x="731519" y="521639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557265"/>
            <a:ext cx="5071719" cy="218186"/>
          </a:xfrm>
          <a:prstGeom prst="rect">
            <a:avLst/>
          </a:prstGeom>
          <a:noFill/>
        </p:spPr>
        <p:txBody>
          <a:bodyPr wrap="square" anchor="t" lIns="0" rIns="0" tIns="0" bIns="0">
            <a:spAutoFit/>
          </a:bodyPr>
          <a:lstStyle/>
          <a:p>
            <a:pPr algn="l"/>
            <a:r>
              <a:rPr sz="1100" b="0" i="0">
                <a:solidFill>
                  <a:srgbClr val="6B6690"/>
                </a:solidFill>
                <a:latin typeface="Calibri"/>
              </a:rPr>
              <a:t>201 rows, 186 order ids, 200 amounts that convert, 1 logged.</a:t>
            </a:r>
          </a:p>
        </p:txBody>
      </p:sp>
      <p:sp>
        <p:nvSpPr>
          <p:cNvPr id="25" name="Rounded Rectangle 24"/>
          <p:cNvSpPr/>
          <p:nvPr/>
        </p:nvSpPr>
        <p:spPr>
          <a:xfrm>
            <a:off x="6187287" y="421055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41172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521454"/>
            <a:ext cx="237744" cy="237744"/>
          </a:xfrm>
          <a:prstGeom prst="rect">
            <a:avLst/>
          </a:prstGeom>
        </p:spPr>
      </p:pic>
      <p:sp>
        <p:nvSpPr>
          <p:cNvPr id="28" name="TextBox 27"/>
          <p:cNvSpPr txBox="1"/>
          <p:nvPr/>
        </p:nvSpPr>
        <p:spPr>
          <a:xfrm>
            <a:off x="6388455" y="497865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2</a:t>
            </a:r>
          </a:p>
        </p:txBody>
      </p:sp>
      <p:sp>
        <p:nvSpPr>
          <p:cNvPr id="29" name="TextBox 28"/>
          <p:cNvSpPr txBox="1"/>
          <p:nvPr/>
        </p:nvSpPr>
        <p:spPr>
          <a:xfrm>
            <a:off x="6388455" y="521639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557265"/>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rows repeat, and what makes two rows one order.</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63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rows that repeat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Say what makes two rows one order before counting a single duplicate.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63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186 orders on 201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migration exported orders twice, Q1 revenue and every per-customer rate are inflated.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a Retail-Plus rate;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9" name="Oval 28"/>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1" name="Oval 30"/>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5" name="Oval 3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63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processing fault, the same purchase recorded twice, about 7,800 stores.</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63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on the ERP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file, four rules for what makes two rows one order.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48520"/>
                <a:gridCol w="1609491"/>
                <a:gridCol w="1665050"/>
                <a:gridCol w="1720609"/>
                <a:gridCol w="2387319"/>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Q2 after</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1,87,03,710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Rs 1,87,03,710</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1,87,00,000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Rs 1,69,29,000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record now carries its file line, and the default dedupe compares every field.</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4" name="Oval 23"/>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6" name="Oval 2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0" name="Oval 2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63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201 rows, 186 ids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Both cannot be true of a file with no repeats.</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The file line is where a row sat, never what the order is; leave it in the key and no two rows can match.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63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exactly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Grouped by order_id: 14 pairs in Q1, one in Q2, none three times.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the second lines sit together at the end of the file.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63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harder variant: the same count, other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fuzzy match flags 15 and the order id flags 15; they share 14.</a:t>
            </a:r>
          </a:p>
        </p:txBody>
      </p:sp>
      <p:pic>
        <p:nvPicPr>
          <p:cNvPr id="9" name="mermaid diagram" descr="80ef4342175846a3.png"/>
          <p:cNvPicPr>
            <a:picLocks noChangeAspect="1"/>
          </p:cNvPicPr>
          <p:nvPr/>
        </p:nvPicPr>
        <p:blipFill>
          <a:blip r:embed="rId6"/>
          <a:stretch>
            <a:fillRect/>
          </a:stretch>
        </p:blipFill>
        <p:spPr>
          <a:xfrm>
            <a:off x="3524097" y="1956816"/>
            <a:ext cx="5143500" cy="2628900"/>
          </a:xfrm>
          <a:prstGeom prst="rect">
            <a:avLst/>
          </a:prstGeom>
        </p:spPr>
      </p:pic>
      <p:sp>
        <p:nvSpPr>
          <p:cNvPr id="10" name="Rounded Rectangle 9"/>
          <p:cNvSpPr/>
          <p:nvPr/>
        </p:nvSpPr>
        <p:spPr>
          <a:xfrm>
            <a:off x="530352" y="4732020"/>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06425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173980"/>
            <a:ext cx="237744" cy="237744"/>
          </a:xfrm>
          <a:prstGeom prst="rect">
            <a:avLst/>
          </a:prstGeom>
        </p:spPr>
      </p:pic>
      <p:sp>
        <p:nvSpPr>
          <p:cNvPr id="13" name="TextBox 12"/>
          <p:cNvSpPr txBox="1"/>
          <p:nvPr/>
        </p:nvSpPr>
        <p:spPr>
          <a:xfrm>
            <a:off x="1399031" y="487832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97780"/>
            <a:ext cx="9987991" cy="682752"/>
          </a:xfrm>
          <a:prstGeom prst="rect">
            <a:avLst/>
          </a:prstGeom>
          <a:noFill/>
        </p:spPr>
        <p:txBody>
          <a:bodyPr wrap="square" anchor="t" lIns="0" rIns="0" tIns="0" bIns="0">
            <a:spAutoFit/>
          </a:bodyPr>
          <a:lstStyle/>
          <a:p>
            <a:r>
              <a:rPr sz="1500" b="0" i="0">
                <a:solidFill>
                  <a:srgbClr val="1A1440"/>
                </a:solidFill>
                <a:latin typeface="Calibri"/>
              </a:rPr>
              <a:t>A count that matches is not a match. A Business customer spent the same Rs 17,71,000 again within 60 days, and the fuzzy match calls it a copy.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7" name="Oval 16"/>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rows less ids, per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Arithmetic gives how many; only the groups give which.</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LESS DISTINCT IDS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FROM THE GROUPS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sum of size less one</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arithmetic is the one-line check to run first on any file; the groups are the pass, because only they can feed a log.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63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count of duplicates without an identity rule is a count of nothing.</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Tell me what makes two rows the same order before you tell me how many duplicates there are.</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[F] How do you find duplicates, and what makes two records the same?</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2</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The order_id is the identity; 15 orders appear twice, 14 in Q1.</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3</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Which copy of each pair stays, and what that does to Q1.</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63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copy that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For thirteen pairs it does not matter; for two it moves Q1 and a date.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63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the analyst ties out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choice that loses one order's amount turns the reconciliation into a finding against the team.</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4" name="Oval 2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31 / 63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One invoice per supplier's GST registration, invoice number, type and year.</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TURNOVER THRESHOLD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Kalpa's Business segment sells to companies and meets this rule on every invoice.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32 / 63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survivor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the ERP file: Q1 against the books.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33 / 63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rule, drawn before the file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kinds of pair, each with its survivor, on invented records.</a:t>
            </a:r>
          </a:p>
        </p:txBody>
      </p:sp>
      <p:pic>
        <p:nvPicPr>
          <p:cNvPr id="9" name="mermaid diagram" descr="ecd1de7b3cb8537e.png"/>
          <p:cNvPicPr>
            <a:picLocks noChangeAspect="1"/>
          </p:cNvPicPr>
          <p:nvPr/>
        </p:nvPicPr>
        <p:blipFill>
          <a:blip r:embed="rId5"/>
          <a:stretch>
            <a:fillRect/>
          </a:stretch>
        </p:blipFill>
        <p:spPr>
          <a:xfrm>
            <a:off x="2152497" y="1956816"/>
            <a:ext cx="7886700" cy="3043237"/>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4" name="Oval 13"/>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6" name="Oval 1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63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186 orders kept, 15 rows set aside, each with a reason.</a:t>
            </a:r>
          </a:p>
        </p:txBody>
      </p:sp>
      <p:pic>
        <p:nvPicPr>
          <p:cNvPr id="9" name="mermaid diagram" descr="da6577c236efd39d.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63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 moves to Rs 1,87,00,000, and no revenue left with the unreadable copy.</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amount chapter 1 could not read was one copy of a pair whose twin carries the value. The answer is c.</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63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whole record less the line lands Q1 on the books to the rupee.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63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tie in rupees proves no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188 rows for 186 orders: one Q2 order counted twice, one unreadable row kept.</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63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against rupees: 98 percent in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Rs 19,98,210 set aside in Q1, two Business rows carry Rs 19,67,560.</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63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keyed by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dictionary keeps one value per key, so it is an identity rule in one line.</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by_id = {r["order_id"]: r for r in raw if convert(r["amount"])[0] is not None}</a:t>
            </a:r>
          </a:p>
          <a:p>
            <a:pPr>
              <a:spcAft>
                <a:spcPts val="200"/>
              </a:spcAft>
            </a:pPr>
            <a:r>
              <a:rPr sz="1400" b="0" i="0">
                <a:solidFill>
                  <a:srgbClr val="E4E1F1"/>
                </a:solidFill>
                <a:latin typeface="Consolas"/>
              </a:rPr>
              <a:t>len(by_id)     # 186, the same orders at the same amounts</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9" name="Oval 18"/>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1" name="Oval 20"/>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23" name="Oval 2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5" name="Oval 24"/>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63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3</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preference for the copy that validates, and a reason on every row set aside.</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When Q1 ties to the books, check the rows before you celebrate.</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[F] Two copies of an order disagree; which do you keep, and what did the choice cost?</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3</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218186"/>
          </a:xfrm>
          <a:prstGeom prst="rect">
            <a:avLst/>
          </a:prstGeom>
          <a:noFill/>
        </p:spPr>
        <p:txBody>
          <a:bodyPr wrap="square" anchor="t" lIns="0" rIns="0" tIns="0" bIns="0">
            <a:spAutoFit/>
          </a:bodyPr>
          <a:lstStyle/>
          <a:p>
            <a:pPr algn="l"/>
            <a:r>
              <a:rPr sz="1100" b="0" i="0">
                <a:solidFill>
                  <a:srgbClr val="6B6690"/>
                </a:solidFill>
                <a:latin typeface="Calibri"/>
              </a:rPr>
              <a:t>186 orders, 15 rows set aside, Q1 on the books.</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4</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399796"/>
          </a:xfrm>
          <a:prstGeom prst="rect">
            <a:avLst/>
          </a:prstGeom>
          <a:noFill/>
        </p:spPr>
        <p:txBody>
          <a:bodyPr wrap="square" anchor="t" lIns="0" rIns="0" tIns="0" bIns="0">
            <a:spAutoFit/>
          </a:bodyPr>
          <a:lstStyle/>
          <a:p>
            <a:pPr algn="l"/>
            <a:r>
              <a:rPr sz="1100" b="0" i="0">
                <a:solidFill>
                  <a:srgbClr val="CFC9EE"/>
                </a:solidFill>
                <a:latin typeface="Calibri"/>
              </a:rPr>
              <a:t>One order has no status, 55 no discount, and the next export will carry an unreadable amount with no twin.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63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missing or malformed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defect is a decision with a written claim beside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two decisions the log must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Operations reads the delivered share weekly; Finance reads every rupee.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4" name="Oval 3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8" name="Oval 3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40" name="Oval 3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Amazon UK sold stock at 1p for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repricing tool's error set hundreds of items to a penny on 12 December 2014.</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a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A wrong value that nothing questioned sold real stock. A coerced zero in a report is treated as real in the same way.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63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decisions, each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missing status on Q2, and the unreadable amount against the books.</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6" name="Oval 1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8" name="Oval 1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0" name="Oval 1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2" name="Oval 2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63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55 of 186 kept orders carry no discount; revenue does not need the field.</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63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any discount figure is quoted over the orders that carry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the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63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helper turns anything unreadable into 0, and the first copy wins.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201 of 201</a:t>
            </a:r>
          </a:p>
        </p:txBody>
      </p:sp>
      <p:sp>
        <p:nvSpPr>
          <p:cNvPr id="15" name="TextBox 14"/>
          <p:cNvSpPr txBox="1"/>
          <p:nvPr/>
        </p:nvSpPr>
        <p:spPr>
          <a:xfrm>
            <a:off x="53035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0</a:t>
            </a:r>
          </a:p>
        </p:txBody>
      </p:sp>
      <p:sp>
        <p:nvSpPr>
          <p:cNvPr id="19" name="TextBox 18"/>
          <p:cNvSpPr txBox="1"/>
          <p:nvPr/>
        </p:nvSpPr>
        <p:spPr>
          <a:xfrm>
            <a:off x="433212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23" name="TextBox 22"/>
          <p:cNvSpPr txBox="1"/>
          <p:nvPr/>
        </p:nvSpPr>
        <p:spPr>
          <a:xfrm>
            <a:off x="8133892" y="43855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AFTER THE DEDUPE</a:t>
            </a:r>
          </a:p>
        </p:txBody>
      </p:sp>
      <p:sp>
        <p:nvSpPr>
          <p:cNvPr id="24" name="TextBox 23"/>
          <p:cNvSpPr txBox="1"/>
          <p:nvPr/>
        </p:nvSpPr>
        <p:spPr>
          <a:xfrm>
            <a:off x="8133892" y="4586732"/>
            <a:ext cx="3527450" cy="193421"/>
          </a:xfrm>
          <a:prstGeom prst="rect">
            <a:avLst/>
          </a:prstGeom>
          <a:noFill/>
        </p:spPr>
        <p:txBody>
          <a:bodyPr wrap="square" anchor="t" lIns="0" rIns="0" tIns="0" bIns="0">
            <a:spAutoFit/>
          </a:bodyPr>
          <a:lstStyle/>
          <a:p>
            <a:pPr algn="l"/>
            <a:r>
              <a:rPr sz="950" b="0" i="0">
                <a:solidFill>
                  <a:srgbClr val="6B6690"/>
                </a:solidFill>
                <a:latin typeface="Calibri"/>
              </a:rPr>
              <a:t>rounds to 1.9 crore</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63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is a claim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the unreadable copy is worth Rs 0 it passes as valid, and the rule keeps it.</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63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reject, then repair only from a witness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JSON feed repeats the defect; the second extract carried the value.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copy of the defect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after reject and the rule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0 order leaves the clean file, the twin with the value stays, and the profile reports the one failure the export really had.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0" name="Oval 2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63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against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Aggregate counts and row logs must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the log shows them. Profile the clean file at the end of every pass.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63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Drop, default, or keep and flag: each is a claim about the business.</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Write the claim beside the decision. And never fill money.</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How do you handle missing data?</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4</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Status flagged, discount kept unknown, the unreadable amount rejected and repaired from its twin.</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5</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Open</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The proof for Anand, and whether Tuesday survives.</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1" i="0">
                <a:solidFill>
                  <a:srgbClr val="5B3FD6"/>
                </a:solidFill>
                <a:latin typeface="Calibri"/>
              </a:rPr>
              <a:t>What is missing or malformed</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63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bridge to the books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From 2.1 to 1.9 move by move, then Tuesday recomputed on the clean file.</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the ERP actually sent</a:t>
            </a:r>
          </a:p>
        </p:txBody>
      </p:sp>
      <p:sp>
        <p:nvSpPr>
          <p:cNvPr id="11" name="Rounded Rectangle 10"/>
          <p:cNvSpPr/>
          <p:nvPr/>
        </p:nvSpPr>
        <p:spPr>
          <a:xfrm>
            <a:off x="274662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rows that repeat</a:t>
            </a:r>
          </a:p>
        </p:txBody>
      </p:sp>
      <p:sp>
        <p:nvSpPr>
          <p:cNvPr id="12" name="Rounded Rectangle 11"/>
          <p:cNvSpPr/>
          <p:nvPr/>
        </p:nvSpPr>
        <p:spPr>
          <a:xfrm>
            <a:off x="440643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copy that stays</a:t>
            </a:r>
          </a:p>
        </p:txBody>
      </p:sp>
      <p:sp>
        <p:nvSpPr>
          <p:cNvPr id="13" name="Rounded Rectangle 12"/>
          <p:cNvSpPr/>
          <p:nvPr/>
        </p:nvSpPr>
        <p:spPr>
          <a:xfrm>
            <a:off x="6007022" y="5074920"/>
            <a:ext cx="202380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missing or malformed</a:t>
            </a:r>
          </a:p>
        </p:txBody>
      </p:sp>
      <p:sp>
        <p:nvSpPr>
          <p:cNvPr id="14" name="Rounded Rectangle 13"/>
          <p:cNvSpPr/>
          <p:nvPr/>
        </p:nvSpPr>
        <p:spPr>
          <a:xfrm>
            <a:off x="8140557"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bridge to the books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63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a proof Finance can follow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Anand wants the proof; Marketing wants to know if the Retail-Plus fall is real.</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63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Tesco's gap grew from GBP 250m to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In 2014 a retailer's own figure was wrong, and the investigation split it by period.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Supplier income booked early made the reported figure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4" name="Oval 33"/>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63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prove which figure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Sized on this export.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bridge that does not close, and then the gap itself is the finding, perhaps in Finance's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63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bridge from 2.1 to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moves, each backed by logged rows, land on the books.</a:t>
            </a:r>
          </a:p>
        </p:txBody>
      </p:sp>
      <p:pic>
        <p:nvPicPr>
          <p:cNvPr id="9" name="mermaid diagram" descr="50e2125378948408.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unreadable amount needs no move: it was never in the exported total, and its twin stayed.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63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per customer fell 49 percent on the dirty export.</a:t>
            </a:r>
          </a:p>
        </p:txBody>
      </p:sp>
      <p:pic>
        <p:nvPicPr>
          <p:cNvPr id="9" name="mermaid diagram" descr="3f7eafcf8b2ef7d1.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63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-35.0 percent, 1.82 to 1.18, and the revenue drop shrinks from 11.0 to 1.6 percent.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678137"/>
                <a:gridCol w="3316107"/>
                <a:gridCol w="3136745"/>
              </a:tblGrid>
              <a:tr h="369824">
                <a:tc>
                  <a:txBody>
                    <a:bodyPr/>
                    <a:lstStyle/>
                    <a:p>
                      <a:r>
                        <a:rPr sz="1450" b="1" i="0">
                          <a:solidFill>
                            <a:srgbClr val="FFFFFF"/>
                          </a:solidFill>
                          <a:latin typeface="Calibri"/>
                        </a:rPr>
                        <a:t>Number</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Revenue, Q1 to Q2</a:t>
                      </a:r>
                    </a:p>
                  </a:txBody>
                  <a:tcPr marL="101600" marR="101600" marT="38100" marB="38100" anchor="ctr">
                    <a:solidFill>
                      <a:srgbClr val="FFFFFF"/>
                    </a:solidFill>
                  </a:tcPr>
                </a:tc>
                <a:tc>
                  <a:txBody>
                    <a:bodyPr/>
                    <a:lstStyle/>
                    <a:p>
                      <a:r>
                        <a:rPr sz="1400" b="0" i="0">
                          <a:solidFill>
                            <a:srgbClr val="1A1440"/>
                          </a:solidFill>
                          <a:latin typeface="Calibri"/>
                        </a:rPr>
                        <a:t>-11.0%</a:t>
                      </a:r>
                    </a:p>
                  </a:txBody>
                  <a:tcPr marL="101600" marR="101600" marT="38100" marB="38100" anchor="ctr">
                    <a:solidFill>
                      <a:srgbClr val="FFFFFF"/>
                    </a:solidFill>
                  </a:tcPr>
                </a:tc>
                <a:tc>
                  <a:txBody>
                    <a:bodyPr/>
                    <a:lstStyle/>
                    <a:p>
                      <a:r>
                        <a:rPr sz="1400" b="0" i="0">
                          <a:solidFill>
                            <a:srgbClr val="1A1440"/>
                          </a:solidFill>
                          <a:latin typeface="Calibri"/>
                        </a:rPr>
                        <a:t>-1.6%</a:t>
                      </a:r>
                    </a:p>
                  </a:txBody>
                  <a:tcPr marL="101600" marR="101600" marT="38100" marB="38100" anchor="ctr">
                    <a:solidFill>
                      <a:srgbClr val="FFFFFF"/>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4F2FA"/>
                    </a:solidFill>
                  </a:tcPr>
                </a:tc>
                <a:tc>
                  <a:txBody>
                    <a:bodyPr/>
                    <a:lstStyle/>
                    <a:p>
                      <a:r>
                        <a:rPr sz="1400" b="0" i="0">
                          <a:solidFill>
                            <a:srgbClr val="1A1440"/>
                          </a:solidFill>
                          <a:latin typeface="Calibri"/>
                        </a:rPr>
                        <a:t>2.32 to 1.18, -49.0%</a:t>
                      </a:r>
                    </a:p>
                  </a:txBody>
                  <a:tcPr marL="101600" marR="101600" marT="38100" marB="38100" anchor="ctr">
                    <a:solidFill>
                      <a:srgbClr val="F4F2FA"/>
                    </a:solidFill>
                  </a:tcPr>
                </a:tc>
                <a:tc>
                  <a:txBody>
                    <a:bodyPr/>
                    <a:lstStyle/>
                    <a:p>
                      <a:r>
                        <a:rPr sz="1400" b="0" i="0">
                          <a:solidFill>
                            <a:srgbClr val="1A1440"/>
                          </a:solidFill>
                          <a:latin typeface="Calibri"/>
                        </a:rPr>
                        <a:t>1.82 to 1.18, -35.0%</a:t>
                      </a:r>
                    </a:p>
                  </a:txBody>
                  <a:tcPr marL="101600" marR="101600" marT="38100" marB="38100" anchor="ctr">
                    <a:solidFill>
                      <a:srgbClr val="F4F2FA"/>
                    </a:solidFill>
                  </a:tcPr>
                </a:tc>
              </a:tr>
              <a:tr h="369824">
                <a:tc>
                  <a:txBody>
                    <a:bodyPr/>
                    <a:lstStyle/>
                    <a:p>
                      <a:r>
                        <a:rPr sz="1400" b="0" i="0">
                          <a:solidFill>
                            <a:srgbClr val="1A1440"/>
                          </a:solidFill>
                          <a:latin typeface="Calibri"/>
                        </a:rPr>
                        <a:t>Retail-Core orders per customer</a:t>
                      </a:r>
                    </a:p>
                  </a:txBody>
                  <a:tcPr marL="101600" marR="101600" marT="38100" marB="38100" anchor="ctr">
                    <a:solidFill>
                      <a:srgbClr val="FFFFFF"/>
                    </a:solidFill>
                  </a:tcPr>
                </a:tc>
                <a:tc>
                  <a:txBody>
                    <a:bodyPr/>
                    <a:lstStyle/>
                    <a:p>
                      <a:r>
                        <a:rPr sz="1400" b="0" i="0">
                          <a:solidFill>
                            <a:srgbClr val="1A1440"/>
                          </a:solidFill>
                          <a:latin typeface="Calibri"/>
                        </a:rPr>
                        <a:t>-5.3%</a:t>
                      </a:r>
                    </a:p>
                  </a:txBody>
                  <a:tcPr marL="101600" marR="101600" marT="38100" marB="38100" anchor="ctr">
                    <a:solidFill>
                      <a:srgbClr val="FFFFFF"/>
                    </a:solidFill>
                  </a:tcPr>
                </a:tc>
                <a:tc>
                  <a:txBody>
                    <a:bodyPr/>
                    <a:lstStyle/>
                    <a:p>
                      <a:r>
                        <a:rPr sz="1400" b="0" i="0">
                          <a:solidFill>
                            <a:srgbClr val="1A1440"/>
                          </a:solidFill>
                          <a:latin typeface="Calibri"/>
                        </a:rPr>
                        <a:t>-2.7%</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Most copies sat in Retail-Plus in Q1, so Tuesday's Q1 rate was inflated. The smaller number goes first in the note.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63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outlier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Q2's largest order is 1.66 times the next, so a hurried analyst removes it.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5" name="Oval 2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9" name="Oval 2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63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Business order in lakhs is the business doing what it does.</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the record is wrong, never whether it is big. A fence is a cut-off above which values get called outliers; one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21" name="Oval 2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63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second route,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Keep and flag the bulk order, check the total bottom up, then write to Anand.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It survives, smaller."</a:t>
            </a:r>
          </a:p>
          <a:p>
            <a:pPr>
              <a:spcBef>
                <a:spcPts val="400"/>
              </a:spcBef>
            </a:pPr>
            <a:r>
              <a:rPr sz="1000" b="0" i="0">
                <a:solidFill>
                  <a:srgbClr val="6B6690"/>
                </a:solidFill>
                <a:latin typeface="Calibri"/>
              </a:rPr>
              <a:t>The GCC data and AI team</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25" name="Oval 2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27" name="Oval 2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1" name="Oval 30"/>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63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Two reconciliations, the bridge drawn, and what changed said first.</a:t>
            </a:r>
          </a:p>
        </p:txBody>
      </p:sp>
      <p:sp>
        <p:nvSpPr>
          <p:cNvPr id="9" name="Rounded Rectangle 8"/>
          <p:cNvSpPr/>
          <p:nvPr/>
        </p:nvSpPr>
        <p:spPr>
          <a:xfrm>
            <a:off x="530352" y="1931670"/>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4361"/>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44090"/>
            <a:ext cx="237744" cy="237744"/>
          </a:xfrm>
          <a:prstGeom prst="rect">
            <a:avLst/>
          </a:prstGeom>
        </p:spPr>
      </p:pic>
      <p:sp>
        <p:nvSpPr>
          <p:cNvPr id="12" name="TextBox 11"/>
          <p:cNvSpPr txBox="1"/>
          <p:nvPr/>
        </p:nvSpPr>
        <p:spPr>
          <a:xfrm>
            <a:off x="1399031" y="207797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297430"/>
            <a:ext cx="9987991" cy="423672"/>
          </a:xfrm>
          <a:prstGeom prst="rect">
            <a:avLst/>
          </a:prstGeom>
          <a:noFill/>
        </p:spPr>
        <p:txBody>
          <a:bodyPr wrap="square" anchor="t" lIns="0" rIns="0" tIns="0" bIns="0">
            <a:spAutoFit/>
          </a:bodyPr>
          <a:lstStyle/>
          <a:p>
            <a:r>
              <a:rPr sz="1500" b="0" i="0">
                <a:solidFill>
                  <a:srgbClr val="1A1440"/>
                </a:solidFill>
                <a:latin typeface="Calibri"/>
              </a:rPr>
              <a:t>Tell me what changed in Tuesday's story, including when it got smaller.</a:t>
            </a:r>
          </a:p>
        </p:txBody>
      </p:sp>
      <p:sp>
        <p:nvSpPr>
          <p:cNvPr id="14" name="Rounded Rectangle 13"/>
          <p:cNvSpPr/>
          <p:nvPr/>
        </p:nvSpPr>
        <p:spPr>
          <a:xfrm>
            <a:off x="530352" y="295884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6153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71266"/>
            <a:ext cx="237744" cy="237744"/>
          </a:xfrm>
          <a:prstGeom prst="rect">
            <a:avLst/>
          </a:prstGeom>
        </p:spPr>
      </p:pic>
      <p:sp>
        <p:nvSpPr>
          <p:cNvPr id="17" name="TextBox 16"/>
          <p:cNvSpPr txBox="1"/>
          <p:nvPr/>
        </p:nvSpPr>
        <p:spPr>
          <a:xfrm>
            <a:off x="1399031" y="310515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24606"/>
            <a:ext cx="9987991" cy="423672"/>
          </a:xfrm>
          <a:prstGeom prst="rect">
            <a:avLst/>
          </a:prstGeom>
          <a:noFill/>
        </p:spPr>
        <p:txBody>
          <a:bodyPr wrap="square" anchor="t" lIns="0" rIns="0" tIns="0" bIns="0">
            <a:spAutoFit/>
          </a:bodyPr>
          <a:lstStyle/>
          <a:p>
            <a:r>
              <a:rPr sz="1500" b="0" i="0">
                <a:solidFill>
                  <a:srgbClr val="1A1440"/>
                </a:solidFill>
                <a:latin typeface="Calibri"/>
              </a:rPr>
              <a:t>[S] Finance and your dashboard disagree; what do you do?</a:t>
            </a:r>
          </a:p>
        </p:txBody>
      </p:sp>
      <p:sp>
        <p:nvSpPr>
          <p:cNvPr id="19" name="Rounded Rectangle 18"/>
          <p:cNvSpPr/>
          <p:nvPr/>
        </p:nvSpPr>
        <p:spPr>
          <a:xfrm>
            <a:off x="530352" y="3986022"/>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18719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296918"/>
            <a:ext cx="237744" cy="237744"/>
          </a:xfrm>
          <a:prstGeom prst="rect">
            <a:avLst/>
          </a:prstGeom>
        </p:spPr>
      </p:pic>
      <p:sp>
        <p:nvSpPr>
          <p:cNvPr id="22" name="TextBox 21"/>
          <p:cNvSpPr txBox="1"/>
          <p:nvPr/>
        </p:nvSpPr>
        <p:spPr>
          <a:xfrm>
            <a:off x="731519" y="4754118"/>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5</a:t>
            </a:r>
          </a:p>
        </p:txBody>
      </p:sp>
      <p:sp>
        <p:nvSpPr>
          <p:cNvPr id="23" name="TextBox 22"/>
          <p:cNvSpPr txBox="1"/>
          <p:nvPr/>
        </p:nvSpPr>
        <p:spPr>
          <a:xfrm>
            <a:off x="731519" y="4991862"/>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32730"/>
            <a:ext cx="5071719" cy="399796"/>
          </a:xfrm>
          <a:prstGeom prst="rect">
            <a:avLst/>
          </a:prstGeom>
          <a:noFill/>
        </p:spPr>
        <p:txBody>
          <a:bodyPr wrap="square" anchor="t" lIns="0" rIns="0" tIns="0" bIns="0">
            <a:spAutoFit/>
          </a:bodyPr>
          <a:lstStyle/>
          <a:p>
            <a:pPr algn="l"/>
            <a:r>
              <a:rPr sz="1100" b="0" i="0">
                <a:solidFill>
                  <a:srgbClr val="6B6690"/>
                </a:solidFill>
                <a:latin typeface="Calibri"/>
              </a:rPr>
              <a:t>Finance's 1.9 crore is right, the bridge closes, Retail-Plus -35.0 percent.</a:t>
            </a:r>
          </a:p>
        </p:txBody>
      </p:sp>
      <p:sp>
        <p:nvSpPr>
          <p:cNvPr id="25" name="Rounded Rectangle 24"/>
          <p:cNvSpPr/>
          <p:nvPr/>
        </p:nvSpPr>
        <p:spPr>
          <a:xfrm>
            <a:off x="6187287" y="3986022"/>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18719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296918"/>
            <a:ext cx="237744" cy="237744"/>
          </a:xfrm>
          <a:prstGeom prst="rect">
            <a:avLst/>
          </a:prstGeom>
        </p:spPr>
      </p:pic>
      <p:sp>
        <p:nvSpPr>
          <p:cNvPr id="28" name="TextBox 27"/>
          <p:cNvSpPr txBox="1"/>
          <p:nvPr/>
        </p:nvSpPr>
        <p:spPr>
          <a:xfrm>
            <a:off x="6388455" y="4754118"/>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CHAPTER 6</a:t>
            </a:r>
          </a:p>
        </p:txBody>
      </p:sp>
      <p:sp>
        <p:nvSpPr>
          <p:cNvPr id="29" name="TextBox 28"/>
          <p:cNvSpPr txBox="1"/>
          <p:nvPr/>
        </p:nvSpPr>
        <p:spPr>
          <a:xfrm>
            <a:off x="6388455" y="4991862"/>
            <a:ext cx="5071719" cy="267716"/>
          </a:xfrm>
          <a:prstGeom prst="rect">
            <a:avLst/>
          </a:prstGeom>
          <a:noFill/>
        </p:spPr>
        <p:txBody>
          <a:bodyPr wrap="square" anchor="t" lIns="0" rIns="0" tIns="0" bIns="0">
            <a:spAutoFit/>
          </a:bodyPr>
          <a:lstStyle/>
          <a:p>
            <a:pPr algn="l"/>
            <a:r>
              <a:rPr sz="1400" b="1" i="0">
                <a:solidFill>
                  <a:srgbClr val="FFFFFF"/>
                </a:solidFill>
                <a:latin typeface="Calibri"/>
              </a:rPr>
              <a:t>After lunch</a:t>
            </a:r>
          </a:p>
        </p:txBody>
      </p:sp>
      <p:sp>
        <p:nvSpPr>
          <p:cNvPr id="30" name="TextBox 29"/>
          <p:cNvSpPr txBox="1"/>
          <p:nvPr/>
        </p:nvSpPr>
        <p:spPr>
          <a:xfrm>
            <a:off x="6388455" y="5332730"/>
            <a:ext cx="5071719" cy="218186"/>
          </a:xfrm>
          <a:prstGeom prst="rect">
            <a:avLst/>
          </a:prstGeom>
          <a:noFill/>
        </p:spPr>
        <p:txBody>
          <a:bodyPr wrap="square" anchor="t" lIns="0" rIns="0" tIns="0" bIns="0">
            <a:spAutoFit/>
          </a:bodyPr>
          <a:lstStyle/>
          <a:p>
            <a:pPr algn="l"/>
            <a:r>
              <a:rPr sz="1100" b="0" i="0">
                <a:solidFill>
                  <a:srgbClr val="CFC9EE"/>
                </a:solidFill>
                <a:latin typeface="Calibri"/>
              </a:rPr>
              <a:t>Can Anand's analyst audit and replay every decision?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What the ERP actually sent</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The rows that repeat</a:t>
            </a:r>
          </a:p>
        </p:txBody>
      </p:sp>
      <p:sp>
        <p:nvSpPr>
          <p:cNvPr id="35" name="Oval 3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07320"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copy that stays</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562480" cy="152146"/>
          </a:xfrm>
          <a:prstGeom prst="rect">
            <a:avLst/>
          </a:prstGeom>
          <a:noFill/>
        </p:spPr>
        <p:txBody>
          <a:bodyPr wrap="square" anchor="t" lIns="0" rIns="0" tIns="0" bIns="0">
            <a:spAutoFit/>
          </a:bodyPr>
          <a:lstStyle/>
          <a:p>
            <a:pPr algn="l"/>
            <a:r>
              <a:rPr sz="700" b="0" i="0">
                <a:solidFill>
                  <a:srgbClr val="6B6690"/>
                </a:solidFill>
                <a:latin typeface="Calibri"/>
              </a:rPr>
              <a:t>What is missing or malformed</a:t>
            </a:r>
          </a:p>
        </p:txBody>
      </p:sp>
      <p:sp>
        <p:nvSpPr>
          <p:cNvPr id="39" name="Oval 38"/>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The bridge to the books</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63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