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reply aloud and leave it on screen. Tuesday's finding went to the</a:t>
            </a:r>
          </a:p>
          <a:p>
            <a:r>
              <a:t>leadership group last night, and this is the first reply. The day is one question climbed in six</a:t>
            </a:r>
          </a:p>
          <a:p>
            <a:r>
              <a:t>chapters: which Q1 figure is right, and can we prove it to an analyst who ties out to the rupee.</a:t>
            </a:r>
          </a:p>
          <a:p>
            <a:r>
              <a:t>Five chapters this block, the sixth after lunch, then the full pass alone and the auditor.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here is booked value in rupees, every order whatever its status, the</a:t>
            </a:r>
          </a:p>
          <a:p>
            <a:r>
              <a:t>definition Monday set in the retail dossier. Ask: whose number do you trust before looking at</a:t>
            </a:r>
          </a:p>
          <a:p>
            <a:r>
              <a:t>anything? Most say Finance. The honest answer is neither yet: both are computed correctly from</a:t>
            </a:r>
          </a:p>
          <a:p>
            <a:r>
              <a:t>something, and the job is to find what.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Anand's and Marketing's by the end of this block,</a:t>
            </a:r>
          </a:p>
          <a:p>
            <a:r>
              <a:t>the analyst's and the auditor's after lunch. Watch for learners who want to start coding; hold</a:t>
            </a:r>
          </a:p>
          <a:p>
            <a:r>
              <a:t>them, the next slide is the thinking.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Pairs, three minutes: one way per branch that an ERP export could produce it.</a:t>
            </a:r>
          </a:p>
          <a:p>
            <a:r>
              <a:t>Expect copies from a migration, a text amount read wrongly, returns counted as sales, a window</a:t>
            </a:r>
          </a:p>
          <a:p>
            <a:r>
              <a:t>that differs. The point is the list; the letter comes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for cost more than likelihood, though the ERP note about a</a:t>
            </a:r>
          </a:p>
          <a:p>
            <a:r>
              <a:t>stitched CSV makes it likelier too.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with the room and leave it up all day. The dotted arrow is the log,</a:t>
            </a:r>
          </a:p>
          <a:p>
            <a:r>
              <a:t>written as you go and never reconstructed at the end. Tuesday skipped the first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chapter runs the same way: the need, the options sized, the build, the trap,</a:t>
            </a:r>
          </a:p>
          <a:p>
            <a:r>
              <a:t>a second route, Kavya's review. Notebook numbers match chapter numbers.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C2_W01_D03_01_profile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cost of a wrong answer here is the largest of the day, because every later</a:t>
            </a:r>
          </a:p>
          <a:p>
            <a:r>
              <a:t>chapter is built on this count. If the note says the dashboard is right and it is not, the analyst</a:t>
            </a:r>
          </a:p>
          <a:p>
            <a:r>
              <a:t>finds it and discounts every later number the team sends.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CBC News, 15 January 2015; Salsify's summary of Joe</a:t>
            </a:r>
          </a:p>
          <a:p>
            <a:r>
              <a:t>Castaldo's Canadian Business investigation for the 30 percent figure, against 98 to 99 percent in</a:t>
            </a:r>
          </a:p>
          <a:p>
            <a:r>
              <a:t>the US. Say "about" and name the source aloud; the 30 percent is a secondary summary.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minutes for b and c are an illustrative half-second a cell and half a minute a</a:t>
            </a:r>
          </a:p>
          <a:p>
            <a:r>
              <a:t>row. The 80 percent is exact: 1 minus C(186,20)/C(201,20), since 15 of 201 rows are repeats. The</a:t>
            </a:r>
          </a:p>
          <a:p>
            <a:r>
              <a:t>chance of the sample meeting the one unreadable amount is 10 percent.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what "distinct" says about order_id that "present" cannot: whether ids</a:t>
            </a:r>
          </a:p>
          <a:p>
            <a:r>
              <a:t>repeat. Then open notebook 01. When open("orders.csv") fails with FileNotFoundError, two minutes</a:t>
            </a:r>
          </a:p>
          <a:p>
            <a:r>
              <a:t>on the last line, which names the folder Python looked in; the exports live in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Do not explain the other three yet; name the chapter that</a:t>
            </a:r>
          </a:p>
          <a:p>
            <a:r>
              <a:t>answers each: order_id in chapters 2 and 3, amount and status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01, section 3. Run it and ask what the analyst would tie out tonight.</a:t>
            </a:r>
          </a:p>
          <a:p>
            <a:r>
              <a:t>Three small orders. The decision it misleads: an audit that passes on the part of the file</a:t>
            </a:r>
          </a:p>
          <a:p>
            <a:r>
              <a:t>that carries the least money.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is a business question, which is the habit to build.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has the room run int() over every amount and meet the</a:t>
            </a:r>
          </a:p>
          <a:p>
            <a:r>
              <a:t>ValueError: two minutes, read the last line, write the value down. Then convert() runs clean.</a:t>
            </a:r>
          </a:p>
          <a:p>
            <a:r>
              <a:t>Chapter 5 comes back to the Rs 29 lakh order.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JSONDecodeError is met in an empty cell: two minutes, open the file at the</a:t>
            </a:r>
          </a:p>
          <a:p>
            <a:r>
              <a:t>line and column it names. A CSV writes a missing value as an empty string and JSON leaves the key</a:t>
            </a:r>
          </a:p>
          <a:p>
            <a:r>
              <a:t>out; profile() uses .get(field, "") so both count the same.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arithmetic, comparison and sorting break or silently lie on text;</a:t>
            </a:r>
          </a:p>
          <a:p>
            <a:r>
              <a:t>convert once at the boundary in one function that returns the value or the reason; log failures.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C2_W01_D03_02_duplicates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Q1 holds 114 rows for 100 orders, Q2 87 for 86. The extra rows sit in the quarter</a:t>
            </a:r>
          </a:p>
          <a:p>
            <a:r>
              <a:t>the migration touched. Cost of a wrong answer: keep Rs 20 lakh that was never earned, or delete</a:t>
            </a:r>
          </a:p>
          <a:p>
            <a:r>
              <a:t>real orders from the books.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NBC News and AP, 10 June 2009, checked 30 Sep 2026. It is a duplicated</a:t>
            </a:r>
          </a:p>
          <a:p>
            <a:r>
              <a:t>charge, the customer's side of the same mistake Kalpa's export makes in its revenue.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fuzzy key costs 20,100 pair comparisons here against 201 lookups for a key,</a:t>
            </a:r>
          </a:p>
          <a:p>
            <a:r>
              <a:t>and about 2 lakh crore pairs on a file of 2 crore rows. Point at d: same count as c, different rows.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Most say a, since the function ran without error.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the five invented records in notebook 02: the whole record with the line</a:t>
            </a:r>
          </a:p>
          <a:p>
            <a:r>
              <a:t>finds 0, without it finds 2. The decision it misleads: Finance sent hunting for revenue that</a:t>
            </a:r>
          </a:p>
          <a:p>
            <a:r>
              <a:t>was never earned.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not read the ids aloud. Ask what the second line numbers have in common:</a:t>
            </a:r>
          </a:p>
          <a:p>
            <a:r>
              <a:t>they sit together at the end of the file, where the second extract was appended.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decision it misleads: a reviewer comparing counts signs off a pass that</a:t>
            </a:r>
          </a:p>
          <a:p>
            <a:r>
              <a:t>removes a real Q2 order. Always compare the rows, never only their number.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Both routes in notebook 02 assert 15.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the business's identity rule first, rows against distinct keys, and</a:t>
            </a:r>
          </a:p>
          <a:p>
            <a:r>
              <a:t>weigh the copies in money.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C2_W01_D03_03_identity_rule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Anand's analyst is the reader. Every choice is visible to her in the log.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GSTN e-invoice FAQ version 1.4, question 65, and</a:t>
            </a:r>
          </a:p>
          <a:p>
            <a:r>
              <a:t>Notification 10/2023-Central Tax. The portal hashes the same fields into the invoice reference</a:t>
            </a:r>
          </a:p>
          <a:p>
            <a:r>
              <a:t>number, and a repeat is refused at the door.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Thirteen of the fifteen escalations would carry no question at 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Invented pairs INV-11 to INV-13 in notebook 03. For the disagreeing pair no rule</a:t>
            </a:r>
          </a:p>
          <a:p>
            <a:r>
              <a:t>inside the file can say which date is true; the rule turns the date into a written question.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prints the two log rows whose reason says more than "second</a:t>
            </a:r>
          </a:p>
          <a:p>
            <a:r>
              <a:t>copy". Each learner writes the question they would send the ERP team.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03, section 3. Ask who would ship this. Most hands go up: Q1 ties.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two pairs this pass misses cost Q1 nothing: one copy's amount cannot be read,</a:t>
            </a:r>
          </a:p>
          <a:p>
            <a:r>
              <a:t>so it adds nothing to the sum. The decision it misleads: a Q2 order count one too high in</a:t>
            </a:r>
          </a:p>
          <a:p>
            <a:r>
              <a:t>Retail-Plus, the segment Tuesday's finding is about.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Rows: 2, 11 and 1 of 14. Rupees: Rs 19,67,560, Rs 27,760 and Rs 2,890. Two</a:t>
            </a:r>
          </a:p>
          <a:p>
            <a:r>
              <a:t>conversations follow: Anand's gap, and Tuesday's finding, which chapter 5 recomputes.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03 asserts the same 186 ids and amounts by both routes.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C2_W01_D03_04_missing_malformed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choice keeps revenue whole, invents a fact or deletes one.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BBC News, 15 December 2014, checked 30 Sep 2026. Counts beyond "hundreds</a:t>
            </a:r>
          </a:p>
          <a:p>
            <a:r>
              <a:t>of items" were not verified and stay 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amount options: coerce to zero misses the books by Rs 1,790 and leaves a Rs 0</a:t>
            </a:r>
          </a:p>
          <a:p>
            <a:r>
              <a:t>order; reject leaves the order's rupees out until repaired; reading a word as a number is a guess;</a:t>
            </a:r>
          </a:p>
          <a:p>
            <a:r>
              <a:t>a twin from the other extract repairs it exactly. Walk them from the notebook's second table.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Tuesday's trap coming back in a new place.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day's second spine trap.</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04, section 3. Let the room enjoy it: the loop finishes, the profile is</a:t>
            </a:r>
          </a:p>
          <a:p>
            <a:r>
              <a:t>perfect, and Q1 rounds to the books. Ask who they would now tell the file is clean.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decision it misleads: a note calling the file clean with an order at Rs 0 in</a:t>
            </a:r>
          </a:p>
          <a:p>
            <a:r>
              <a:t>it, which the analyst finds on her first tie-out.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invented pair INV-21 too: reading "fourteen" as 14 misses a Rs 1,400</a:t>
            </a:r>
          </a:p>
          <a:p>
            <a:r>
              <a:t>order by Rs 1,386. A word is never an amount.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defect that slipped past the log would show as a count that disagrees.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measure per field, ask what the absence means, then drop, default or</a:t>
            </a:r>
          </a:p>
          <a:p>
            <a:r>
              <a:t>keep and flag with a reason, sized on what each moves.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C2_W01_D03_05_bridge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rescue campaign for Retail-Plus is waiting on the second number.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22 September 2014; Tesco interim results</a:t>
            </a:r>
          </a:p>
          <a:p>
            <a:r>
              <a:t>statement, 23 October 2014, which splits £263m into £118m for the first half, about £70m for</a:t>
            </a:r>
          </a:p>
          <a:p>
            <a:r>
              <a:t>2013/14 and about £75m before.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feed carries the same unreadable amount and holds only 19 of Q2's 86 orders.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Predict first: how many moves? Two. Draw the bridge on the board beside the</a:t>
            </a:r>
          </a:p>
          <a:p>
            <a:r>
              <a:t>notebook's chart; the raised axis keeps the Rs 30,650 move visible.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Thursday asks whether -35 percent on 22 members is real or chance.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05, section 3. The decision it misleads: Marketing funds a rescue for a</a:t>
            </a:r>
          </a:p>
          <a:p>
            <a:r>
              <a:t>fall that never happened, and Finance rejects the reconciliation because its books hold the order.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fix: keep it, flag it, show Q2 both ways. Q2 back to Rs 1,87,00,000, the drop</a:t>
            </a:r>
          </a:p>
          <a:p>
            <a:r>
              <a:t>back to 1.6 percent.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Bottom up is the check anyone can run; top down is the proof, since only the</a:t>
            </a:r>
          </a:p>
          <a:p>
            <a:r>
              <a:t>bridge says what each rupee was. The full note in notebook 05 is under 120 words.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both are correct arithmetic on different inputs; bridge one move per</a:t>
            </a:r>
          </a:p>
          <a:p>
            <a:r>
              <a:t>cause, reconcile rows and rupees, say which is right and recompute what was reported.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10.png"/><Relationship Id="rId6"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7.png"/><Relationship Id="rId6"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8.png"/><Relationship Id="rId6"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8.png"/><Relationship Id="rId6"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8.png"/><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3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 Id="rId5" Type="http://schemas.openxmlformats.org/officeDocument/2006/relationships/image" Target="../media/image3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Q1 figure is right?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“Your dashboard says Q1 was Rs 2.1 crore. Our books say 1.9. Until your numbers match ours, Finance will not act on a drop measured from an ERP export.”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all on Tuesday's finding</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What the ERP actually sent</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93554"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The rows that repeat</a:t>
            </a:r>
          </a:p>
        </p:txBody>
      </p:sp>
      <p:sp>
        <p:nvSpPr>
          <p:cNvPr id="15" name="TextBox 14"/>
          <p:cNvSpPr txBox="1"/>
          <p:nvPr/>
        </p:nvSpPr>
        <p:spPr>
          <a:xfrm>
            <a:off x="48423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26367"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copy that stays</a:t>
            </a:r>
          </a:p>
        </p:txBody>
      </p:sp>
      <p:sp>
        <p:nvSpPr>
          <p:cNvPr id="17" name="TextBox 16"/>
          <p:cNvSpPr txBox="1"/>
          <p:nvPr/>
        </p:nvSpPr>
        <p:spPr>
          <a:xfrm>
            <a:off x="671598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00030"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What is missing or malformed</a:t>
            </a:r>
          </a:p>
        </p:txBody>
      </p:sp>
      <p:sp>
        <p:nvSpPr>
          <p:cNvPr id="19" name="TextBox 18"/>
          <p:cNvSpPr txBox="1"/>
          <p:nvPr/>
        </p:nvSpPr>
        <p:spPr>
          <a:xfrm>
            <a:off x="912199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06045"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The bridge to the books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morning, one reply to 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Tuesday's finding reached the leadership group, and Finance answered first.</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Anand Iyer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finance controller. His books say Q1 was Rs 1.9 crore, and his analyst audits every number that reaches him.</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ERP TEAM</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raw exports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An orders CSV and the app's JSON feed, with a note that the CSV was stitched from two extracts during the Q1 migration.</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df6318bcf2f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Impatient: if the drop is a data problem, a month is lost arguing about it.</a:t>
            </a:r>
          </a:p>
        </p:txBody>
      </p:sp>
      <p:sp>
        <p:nvSpPr>
          <p:cNvPr id="27" name="TextBox 26"/>
          <p:cNvSpPr txBox="1"/>
          <p:nvPr/>
        </p:nvSpPr>
        <p:spPr>
          <a:xfrm>
            <a:off x="53035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28" name="TextBox 27"/>
          <p:cNvSpPr txBox="1"/>
          <p:nvPr/>
        </p:nvSpPr>
        <p:spPr>
          <a:xfrm>
            <a:off x="53035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DASHBOARD'S Q1</a:t>
            </a:r>
          </a:p>
        </p:txBody>
      </p:sp>
      <p:sp>
        <p:nvSpPr>
          <p:cNvPr id="29" name="TextBox 28"/>
          <p:cNvSpPr txBox="1"/>
          <p:nvPr/>
        </p:nvSpPr>
        <p:spPr>
          <a:xfrm>
            <a:off x="53035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ERP export</a:t>
            </a:r>
          </a:p>
        </p:txBody>
      </p:sp>
      <p:sp>
        <p:nvSpPr>
          <p:cNvPr id="30" name="Rectangle 29"/>
          <p:cNvSpPr/>
          <p:nvPr/>
        </p:nvSpPr>
        <p:spPr>
          <a:xfrm>
            <a:off x="53035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3212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32" name="TextBox 31"/>
          <p:cNvSpPr txBox="1"/>
          <p:nvPr/>
        </p:nvSpPr>
        <p:spPr>
          <a:xfrm>
            <a:off x="433212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BOOKS' Q1</a:t>
            </a:r>
          </a:p>
        </p:txBody>
      </p:sp>
      <p:sp>
        <p:nvSpPr>
          <p:cNvPr id="33" name="TextBox 32"/>
          <p:cNvSpPr txBox="1"/>
          <p:nvPr/>
        </p:nvSpPr>
        <p:spPr>
          <a:xfrm>
            <a:off x="433212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what Finance booked</a:t>
            </a:r>
          </a:p>
        </p:txBody>
      </p:sp>
      <p:sp>
        <p:nvSpPr>
          <p:cNvPr id="34" name="Rectangle 33"/>
          <p:cNvSpPr/>
          <p:nvPr/>
        </p:nvSpPr>
        <p:spPr>
          <a:xfrm>
            <a:off x="433212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3389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20 lakh</a:t>
            </a:r>
          </a:p>
        </p:txBody>
      </p:sp>
      <p:sp>
        <p:nvSpPr>
          <p:cNvPr id="36" name="TextBox 35"/>
          <p:cNvSpPr txBox="1"/>
          <p:nvPr/>
        </p:nvSpPr>
        <p:spPr>
          <a:xfrm>
            <a:off x="813389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37" name="TextBox 36"/>
          <p:cNvSpPr txBox="1"/>
          <p:nvPr/>
        </p:nvSpPr>
        <p:spPr>
          <a:xfrm>
            <a:off x="813389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10 percent of Q1</a:t>
            </a:r>
          </a:p>
        </p:txBody>
      </p:sp>
      <p:sp>
        <p:nvSpPr>
          <p:cNvPr id="38" name="Rectangle 37"/>
          <p:cNvSpPr/>
          <p:nvPr/>
        </p:nvSpPr>
        <p:spPr>
          <a:xfrm>
            <a:off x="813389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41" name="Oval 40"/>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43" name="Oval 4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45" name="Oval 44"/>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47" name="Oval 46"/>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readers, four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reconciliation has to answer all of them.</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how do you know? Can my analyst follow every decision you made?"</a:t>
            </a:r>
          </a:p>
        </p:txBody>
      </p:sp>
      <p:graphicFrame>
        <p:nvGraphicFramePr>
          <p:cNvPr id="14" name="Table 13"/>
          <p:cNvGraphicFramePr>
            <a:graphicFrameLocks noGrp="1"/>
          </p:cNvGraphicFramePr>
          <p:nvPr/>
        </p:nvGraphicFramePr>
        <p:xfrm>
          <a:off x="530352" y="2983992"/>
          <a:ext cx="11130990" cy="1849120"/>
        </p:xfrm>
        <a:graphic>
          <a:graphicData uri="http://schemas.openxmlformats.org/drawingml/2006/table">
            <a:tbl>
              <a:tblPr firstRow="0" bandRow="0">
                <a:tableStyleId>{2D5ABB26-0587-4C30-8999-92F81FD0307C}</a:tableStyleId>
              </a:tblPr>
              <a:tblGrid>
                <a:gridCol w="1565749"/>
                <a:gridCol w="4841109"/>
                <a:gridCol w="4724132"/>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Their question</a:t>
                      </a:r>
                    </a:p>
                  </a:txBody>
                  <a:tcPr marL="101600" marR="101600" marT="38100" marB="38100" anchor="ctr">
                    <a:solidFill>
                      <a:srgbClr val="1A0F5C"/>
                    </a:solidFill>
                  </a:tcPr>
                </a:tc>
                <a:tc>
                  <a:txBody>
                    <a:bodyPr/>
                    <a:lstStyle/>
                    <a:p>
                      <a:r>
                        <a:rPr sz="1450" b="1" i="0">
                          <a:solidFill>
                            <a:srgbClr val="FFFFFF"/>
                          </a:solidFill>
                          <a:latin typeface="Calibri"/>
                        </a:rPr>
                        <a:t>What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Anand</a:t>
                      </a:r>
                    </a:p>
                  </a:txBody>
                  <a:tcPr marL="101600" marR="101600" marT="38100" marB="38100" anchor="ctr">
                    <a:solidFill>
                      <a:srgbClr val="FFFFFF"/>
                    </a:solidFill>
                  </a:tcPr>
                </a:tc>
                <a:tc>
                  <a:txBody>
                    <a:bodyPr/>
                    <a:lstStyle/>
                    <a:p>
                      <a:r>
                        <a:rPr sz="1400" b="0" i="0">
                          <a:solidFill>
                            <a:srgbClr val="1A1440"/>
                          </a:solidFill>
                          <a:latin typeface="Calibri"/>
                        </a:rPr>
                        <a:t>Which Q1 figure is right, and the proof</a:t>
                      </a:r>
                    </a:p>
                  </a:txBody>
                  <a:tcPr marL="101600" marR="101600" marT="38100" marB="38100" anchor="ctr">
                    <a:solidFill>
                      <a:srgbClr val="FFFFFF"/>
                    </a:solidFill>
                  </a:tcPr>
                </a:tc>
                <a:tc>
                  <a:txBody>
                    <a:bodyPr/>
                    <a:lstStyle/>
                    <a:p>
                      <a:r>
                        <a:rPr sz="1400" b="0" i="0">
                          <a:solidFill>
                            <a:srgbClr val="1A1440"/>
                          </a:solidFill>
                          <a:latin typeface="Calibri"/>
                        </a:rPr>
                        <a:t>A bridge from 2.1 to 1.9, move by move</a:t>
                      </a:r>
                    </a:p>
                  </a:txBody>
                  <a:tcPr marL="101600" marR="101600" marT="38100" marB="38100" anchor="ctr">
                    <a:solidFill>
                      <a:srgbClr val="FFFFFF"/>
                    </a:solidFill>
                  </a:tcPr>
                </a:tc>
              </a:tr>
              <a:tr h="369824">
                <a:tc>
                  <a:txBody>
                    <a:bodyPr/>
                    <a:lstStyle/>
                    <a:p>
                      <a:r>
                        <a:rPr sz="1400" b="0" i="0">
                          <a:solidFill>
                            <a:srgbClr val="1A1440"/>
                          </a:solidFill>
                          <a:latin typeface="Calibri"/>
                        </a:rPr>
                        <a:t>His analyst</a:t>
                      </a:r>
                    </a:p>
                  </a:txBody>
                  <a:tcPr marL="101600" marR="101600" marT="38100" marB="38100" anchor="ctr">
                    <a:solidFill>
                      <a:srgbClr val="F4F2FA"/>
                    </a:solidFill>
                  </a:tcPr>
                </a:tc>
                <a:tc>
                  <a:txBody>
                    <a:bodyPr/>
                    <a:lstStyle/>
                    <a:p>
                      <a:r>
                        <a:rPr sz="1400" b="0" i="0">
                          <a:solidFill>
                            <a:srgbClr val="1A1440"/>
                          </a:solidFill>
                          <a:latin typeface="Calibri"/>
                        </a:rPr>
                        <a:t>Can every row you removed be followed</a:t>
                      </a:r>
                    </a:p>
                  </a:txBody>
                  <a:tcPr marL="101600" marR="101600" marT="38100" marB="38100" anchor="ctr">
                    <a:solidFill>
                      <a:srgbClr val="F4F2FA"/>
                    </a:solidFill>
                  </a:tcPr>
                </a:tc>
                <a:tc>
                  <a:txBody>
                    <a:bodyPr/>
                    <a:lstStyle/>
                    <a:p>
                      <a:r>
                        <a:rPr sz="1400" b="0" i="0">
                          <a:solidFill>
                            <a:srgbClr val="1A1440"/>
                          </a:solidFill>
                          <a:latin typeface="Calibri"/>
                        </a:rPr>
                        <a:t>The logs and two control totals</a:t>
                      </a:r>
                    </a:p>
                  </a:txBody>
                  <a:tcPr marL="101600" marR="101600" marT="38100" marB="38100" anchor="ctr">
                    <a:solidFill>
                      <a:srgbClr val="F4F2FA"/>
                    </a:solidFill>
                  </a:tcPr>
                </a:tc>
              </a:tr>
              <a:tr h="369824">
                <a:tc>
                  <a:txBody>
                    <a:bodyPr/>
                    <a:lstStyle/>
                    <a:p>
                      <a:r>
                        <a:rPr sz="1400" b="0" i="0">
                          <a:solidFill>
                            <a:srgbClr val="1A1440"/>
                          </a:solidFill>
                          <a:latin typeface="Calibri"/>
                        </a:rPr>
                        <a:t>Marketing</a:t>
                      </a:r>
                    </a:p>
                  </a:txBody>
                  <a:tcPr marL="101600" marR="101600" marT="38100" marB="38100" anchor="ctr">
                    <a:solidFill>
                      <a:srgbClr val="FFFFFF"/>
                    </a:solidFill>
                  </a:tcPr>
                </a:tc>
                <a:tc>
                  <a:txBody>
                    <a:bodyPr/>
                    <a:lstStyle/>
                    <a:p>
                      <a:r>
                        <a:rPr sz="1400" b="0" i="0">
                          <a:solidFill>
                            <a:srgbClr val="1A1440"/>
                          </a:solidFill>
                          <a:latin typeface="Calibri"/>
                        </a:rPr>
                        <a:t>Does Tuesday's finding survive</a:t>
                      </a:r>
                    </a:p>
                  </a:txBody>
                  <a:tcPr marL="101600" marR="101600" marT="38100" marB="38100" anchor="ctr">
                    <a:solidFill>
                      <a:srgbClr val="FFFFFF"/>
                    </a:solidFill>
                  </a:tcPr>
                </a:tc>
                <a:tc>
                  <a:txBody>
                    <a:bodyPr/>
                    <a:lstStyle/>
                    <a:p>
                      <a:r>
                        <a:rPr sz="1400" b="0" i="0">
                          <a:solidFill>
                            <a:srgbClr val="1A1440"/>
                          </a:solidFill>
                          <a:latin typeface="Calibri"/>
                        </a:rPr>
                        <a:t>Tuesday recomputed on the clean file</a:t>
                      </a:r>
                    </a:p>
                  </a:txBody>
                  <a:tcPr marL="101600" marR="101600" marT="38100" marB="38100" anchor="ctr">
                    <a:solidFill>
                      <a:srgbClr val="FFFFFF"/>
                    </a:solidFill>
                  </a:tcPr>
                </a:tc>
              </a:tr>
              <a:tr h="369824">
                <a:tc>
                  <a:txBody>
                    <a:bodyPr/>
                    <a:lstStyle/>
                    <a:p>
                      <a:r>
                        <a:rPr sz="1400" b="0" i="0">
                          <a:solidFill>
                            <a:srgbClr val="1A1440"/>
                          </a:solidFill>
                          <a:latin typeface="Calibri"/>
                        </a:rPr>
                        <a:t>An auditor</a:t>
                      </a:r>
                    </a:p>
                  </a:txBody>
                  <a:tcPr marL="101600" marR="101600" marT="38100" marB="38100" anchor="ctr">
                    <a:solidFill>
                      <a:srgbClr val="F4F2FA"/>
                    </a:solidFill>
                  </a:tcPr>
                </a:tc>
                <a:tc>
                  <a:txBody>
                    <a:bodyPr/>
                    <a:lstStyle/>
                    <a:p>
                      <a:r>
                        <a:rPr sz="1400" b="0" i="0">
                          <a:solidFill>
                            <a:srgbClr val="1A1440"/>
                          </a:solidFill>
                          <a:latin typeface="Calibri"/>
                        </a:rPr>
                        <a:t>Why did you drop any row</a:t>
                      </a:r>
                    </a:p>
                  </a:txBody>
                  <a:tcPr marL="101600" marR="101600" marT="38100" marB="38100" anchor="ctr">
                    <a:solidFill>
                      <a:srgbClr val="F4F2FA"/>
                    </a:solidFill>
                  </a:tcPr>
                </a:tc>
                <a:tc>
                  <a:txBody>
                    <a:bodyPr/>
                    <a:lstStyle/>
                    <a:p>
                      <a:r>
                        <a:rPr sz="1400" b="0" i="0">
                          <a:solidFill>
                            <a:srgbClr val="1A1440"/>
                          </a:solidFill>
                          <a:latin typeface="Calibri"/>
                        </a:rPr>
                        <a:t>Rows that tie, with a reason per row</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make an export read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file opens, list every way 2.1 and 1.9 could both be honest arithmetic.</a:t>
            </a:r>
          </a:p>
        </p:txBody>
      </p:sp>
      <p:pic>
        <p:nvPicPr>
          <p:cNvPr id="9" name="mermaid diagram" descr="18bdfe7739cc3c14.png"/>
          <p:cNvPicPr>
            <a:picLocks noChangeAspect="1"/>
          </p:cNvPicPr>
          <p:nvPr/>
        </p:nvPicPr>
        <p:blipFill>
          <a:blip r:embed="rId5"/>
          <a:stretch>
            <a:fillRect/>
          </a:stretch>
        </p:blipFill>
        <p:spPr>
          <a:xfrm>
            <a:off x="1012032" y="1682496"/>
            <a:ext cx="3822965"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would you check first, as a letter? a) more rows than orders; b) bigger values than booked; c) another definition; d) rows missing from the books.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rows first, because a count is cheapest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is possible; the cheapest check goes first.</a:t>
            </a:r>
          </a:p>
        </p:txBody>
      </p:sp>
      <p:pic>
        <p:nvPicPr>
          <p:cNvPr id="9" name="mermaid diagram" descr="cbacbf6e9d989b7a.png"/>
          <p:cNvPicPr>
            <a:picLocks noChangeAspect="1"/>
          </p:cNvPicPr>
          <p:nvPr/>
        </p:nvPicPr>
        <p:blipFill>
          <a:blip r:embed="rId6"/>
          <a:stretch>
            <a:fillRect/>
          </a:stretch>
        </p:blipFill>
        <p:spPr>
          <a:xfrm>
            <a:off x="1273023" y="1682496"/>
            <a:ext cx="3300984" cy="4517136"/>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Rank the checks by cost. Rows against distinct orders takes one line and rules a whole branch in or out; start there and keep the other three on the list.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thinking: profile, decide, reconcile, recompute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moves, drawn on the board before any tool opens, and a log written as you go.</a:t>
            </a:r>
          </a:p>
        </p:txBody>
      </p:sp>
      <p:pic>
        <p:nvPicPr>
          <p:cNvPr id="9" name="mermaid diagram" descr="e4dc3ca5af3c86f2.png"/>
          <p:cNvPicPr>
            <a:picLocks noChangeAspect="1"/>
          </p:cNvPicPr>
          <p:nvPr/>
        </p:nvPicPr>
        <p:blipFill>
          <a:blip r:embed="rId5"/>
          <a:stretch>
            <a:fillRect/>
          </a:stretch>
        </p:blipFill>
        <p:spPr>
          <a:xfrm>
            <a:off x="780897" y="1956816"/>
            <a:ext cx="106299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cleaning act is a decision with a written reason. The reconciliation proves the clean file is the same data: input equals clean plus set aside, in rows and in rupees.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9" name="Oval 1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 harder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this morning, the sixth after lunch, each with its own notebook.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the ERP actually sent</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profile: present, convertible, distinct.</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rows that repeat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makes two rows one order.</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copy that stays</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identity rule and its preference.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missing or malformed</a:t>
            </a:r>
          </a:p>
        </p:txBody>
      </p:sp>
      <p:sp>
        <p:nvSpPr>
          <p:cNvPr id="29" name="TextBox 28"/>
          <p:cNvSpPr txBox="1"/>
          <p:nvPr/>
        </p:nvSpPr>
        <p:spPr>
          <a:xfrm>
            <a:off x="6351879"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Drop, default or flag; coerce, reject or repair.</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bridge to the books</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bridge, and Tuesday recomputed.</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The log the analyst audits</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Logs a stranger can replay.</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42" name="Oval 4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44" name="Oval 4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46" name="Oval 4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48" name="Oval 4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the ERP actually sent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Count what arrived before totalling anything.</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total needs a file you have profiled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Anand's metric is Q1 revenue to the rupee, and every later number stands on this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revenue</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value, every status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 month</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 waits, Finance distrusts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"How many records did you receive, and how many can you use?"</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 trusted data nobody had profiled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133 stores opened in 2013 and all closed in January 2015.</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 CLOSED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January 2015, CBC News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bn</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FIRST-YEAR LOSS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PRODUCT DATA ACCURATE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Salsify, citing Canadian Business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Data typed into a new system under deadline was used before anyone counted what was complete and correct. Kalpa's ERP export was stitched during a migration too.</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learn what arrived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option sized on this file: 201 rows, 10 fields.</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811105"/>
                <a:gridCol w="2584244"/>
                <a:gridCol w="2130522"/>
                <a:gridCol w="360511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What it catches</a:t>
                      </a:r>
                    </a:p>
                  </a:txBody>
                  <a:tcPr marL="101600" marR="101600" marT="38100" marB="38100" anchor="ctr">
                    <a:solidFill>
                      <a:srgbClr val="1A0F5C"/>
                    </a:solidFill>
                  </a:tcPr>
                </a:tc>
              </a:tr>
              <a:tr h="335280">
                <a:tc>
                  <a:txBody>
                    <a:bodyPr/>
                    <a:lstStyle/>
                    <a:p>
                      <a:r>
                        <a:rPr sz="1200" b="0" i="0">
                          <a:solidFill>
                            <a:srgbClr val="1A1440"/>
                          </a:solidFill>
                          <a:latin typeface="Calibri"/>
                        </a:rPr>
                        <a:t>a) Total and compare</a:t>
                      </a:r>
                    </a:p>
                  </a:txBody>
                  <a:tcPr marL="101600" marR="101600" marT="38100" marB="38100" anchor="ctr">
                    <a:solidFill>
                      <a:srgbClr val="FFFFFF"/>
                    </a:solidFill>
                  </a:tcPr>
                </a:tc>
                <a:tc>
                  <a:txBody>
                    <a:bodyPr/>
                    <a:lstStyle/>
                    <a:p>
                      <a:r>
                        <a:rPr sz="1200" b="0" i="0">
                          <a:solidFill>
                            <a:srgbClr val="1A1440"/>
                          </a:solidFill>
                          <a:latin typeface="Calibri"/>
                        </a:rPr>
                        <a:t>201 amounts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stops on an unreadable amount</a:t>
                      </a:r>
                    </a:p>
                  </a:txBody>
                  <a:tcPr marL="101600" marR="101600" marT="38100" marB="38100" anchor="ctr">
                    <a:solidFill>
                      <a:srgbClr val="FFFFFF"/>
                    </a:solidFill>
                  </a:tcPr>
                </a:tc>
              </a:tr>
              <a:tr h="335280">
                <a:tc>
                  <a:txBody>
                    <a:bodyPr/>
                    <a:lstStyle/>
                    <a:p>
                      <a:r>
                        <a:rPr sz="1200" b="0" i="0">
                          <a:solidFill>
                            <a:srgbClr val="1A1440"/>
                          </a:solidFill>
                          <a:latin typeface="Calibri"/>
                        </a:rPr>
                        <a:t>b) Scroll it</a:t>
                      </a:r>
                    </a:p>
                  </a:txBody>
                  <a:tcPr marL="101600" marR="101600" marT="38100" marB="38100" anchor="ctr">
                    <a:solidFill>
                      <a:srgbClr val="F4F2FA"/>
                    </a:solidFill>
                  </a:tcPr>
                </a:tc>
                <a:tc>
                  <a:txBody>
                    <a:bodyPr/>
                    <a:lstStyle/>
                    <a:p>
                      <a:r>
                        <a:rPr sz="1200" b="0" i="0">
                          <a:solidFill>
                            <a:srgbClr val="1A1440"/>
                          </a:solidFill>
                          <a:latin typeface="Calibri"/>
                        </a:rPr>
                        <a:t>2,010 cells by eye</a:t>
                      </a:r>
                    </a:p>
                  </a:txBody>
                  <a:tcPr marL="101600" marR="101600" marT="38100" marB="38100" anchor="ctr">
                    <a:solidFill>
                      <a:srgbClr val="F4F2FA"/>
                    </a:solidFill>
                  </a:tcPr>
                </a:tc>
                <a:tc>
                  <a:txBody>
                    <a:bodyPr/>
                    <a:lstStyle/>
                    <a:p>
                      <a:r>
                        <a:rPr sz="1200" b="0" i="0">
                          <a:solidFill>
                            <a:srgbClr val="1A1440"/>
                          </a:solidFill>
                          <a:latin typeface="Calibri"/>
                        </a:rPr>
                        <a:t>about 17 minutes</a:t>
                      </a:r>
                    </a:p>
                  </a:txBody>
                  <a:tcPr marL="101600" marR="101600" marT="38100" marB="38100" anchor="ctr">
                    <a:solidFill>
                      <a:srgbClr val="F4F2FA"/>
                    </a:solidFill>
                  </a:tcPr>
                </a:tc>
                <a:tc>
                  <a:txBody>
                    <a:bodyPr/>
                    <a:lstStyle/>
                    <a:p>
                      <a:r>
                        <a:rPr sz="1200" b="0" i="0">
                          <a:solidFill>
                            <a:srgbClr val="1A1440"/>
                          </a:solidFill>
                          <a:latin typeface="Calibri"/>
                        </a:rPr>
                        <a:t>misses repeats far apart</a:t>
                      </a:r>
                    </a:p>
                  </a:txBody>
                  <a:tcPr marL="101600" marR="101600" marT="38100" marB="38100" anchor="ctr">
                    <a:solidFill>
                      <a:srgbClr val="F4F2FA"/>
                    </a:solidFill>
                  </a:tcPr>
                </a:tc>
              </a:tr>
              <a:tr h="335280">
                <a:tc>
                  <a:txBody>
                    <a:bodyPr/>
                    <a:lstStyle/>
                    <a:p>
                      <a:r>
                        <a:rPr sz="1200" b="0" i="0">
                          <a:solidFill>
                            <a:srgbClr val="1A1440"/>
                          </a:solidFill>
                          <a:latin typeface="Calibri"/>
                        </a:rPr>
                        <a:t>c) Sample 20 rows</a:t>
                      </a:r>
                    </a:p>
                  </a:txBody>
                  <a:tcPr marL="101600" marR="101600" marT="38100" marB="38100" anchor="ctr">
                    <a:solidFill>
                      <a:srgbClr val="FFFFFF"/>
                    </a:solidFill>
                  </a:tcPr>
                </a:tc>
                <a:tc>
                  <a:txBody>
                    <a:bodyPr/>
                    <a:lstStyle/>
                    <a:p>
                      <a:r>
                        <a:rPr sz="1200" b="0" i="0">
                          <a:solidFill>
                            <a:srgbClr val="1A1440"/>
                          </a:solidFill>
                          <a:latin typeface="Calibri"/>
                        </a:rPr>
                        <a:t>20 rows</a:t>
                      </a:r>
                    </a:p>
                  </a:txBody>
                  <a:tcPr marL="101600" marR="101600" marT="38100" marB="38100" anchor="ctr">
                    <a:solidFill>
                      <a:srgbClr val="FFFFFF"/>
                    </a:solidFill>
                  </a:tcPr>
                </a:tc>
                <a:tc>
                  <a:txBody>
                    <a:bodyPr/>
                    <a:lstStyle/>
                    <a:p>
                      <a:r>
                        <a:rPr sz="1200" b="0" i="0">
                          <a:solidFill>
                            <a:srgbClr val="1A1440"/>
                          </a:solidFill>
                          <a:latin typeface="Calibri"/>
                        </a:rPr>
                        <a:t>about 10 minutes</a:t>
                      </a:r>
                    </a:p>
                  </a:txBody>
                  <a:tcPr marL="101600" marR="101600" marT="38100" marB="38100" anchor="ctr">
                    <a:solidFill>
                      <a:srgbClr val="FFFFFF"/>
                    </a:solidFill>
                  </a:tcPr>
                </a:tc>
                <a:tc>
                  <a:txBody>
                    <a:bodyPr/>
                    <a:lstStyle/>
                    <a:p>
                      <a:r>
                        <a:rPr sz="1200" b="0" i="0">
                          <a:solidFill>
                            <a:srgbClr val="1A1440"/>
                          </a:solidFill>
                          <a:latin typeface="Calibri"/>
                        </a:rPr>
                        <a:t>80% chance to meet a repeat</a:t>
                      </a:r>
                    </a:p>
                  </a:txBody>
                  <a:tcPr marL="101600" marR="101600" marT="38100" marB="38100" anchor="ctr">
                    <a:solidFill>
                      <a:srgbClr val="FFFFFF"/>
                    </a:solidFill>
                  </a:tcPr>
                </a:tc>
              </a:tr>
              <a:tr h="335280">
                <a:tc>
                  <a:txBody>
                    <a:bodyPr/>
                    <a:lstStyle/>
                    <a:p>
                      <a:r>
                        <a:rPr sz="1200" b="0" i="0">
                          <a:solidFill>
                            <a:srgbClr val="1A1440"/>
                          </a:solidFill>
                          <a:latin typeface="Calibri"/>
                        </a:rPr>
                        <a:t>d) Profile every field</a:t>
                      </a:r>
                    </a:p>
                  </a:txBody>
                  <a:tcPr marL="101600" marR="101600" marT="38100" marB="38100" anchor="ctr">
                    <a:solidFill>
                      <a:srgbClr val="F4F2FA"/>
                    </a:solidFill>
                  </a:tcPr>
                </a:tc>
                <a:tc>
                  <a:txBody>
                    <a:bodyPr/>
                    <a:lstStyle/>
                    <a:p>
                      <a:r>
                        <a:rPr sz="1200" b="0" i="0">
                          <a:solidFill>
                            <a:srgbClr val="1A1440"/>
                          </a:solidFill>
                          <a:latin typeface="Calibri"/>
                        </a:rPr>
                        <a:t>2,010 values by code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every count that does not fit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d, then sample only where the profile points. What would switch it: a file with no field that names an order.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profile asks three questions of every field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convertible, distinct: what each field can be trusted for.</a:t>
            </a:r>
          </a:p>
        </p:txBody>
      </p:sp>
      <p:pic>
        <p:nvPicPr>
          <p:cNvPr id="9" name="mermaid diagram" descr="d86f17222c8081aa.png"/>
          <p:cNvPicPr>
            <a:picLocks noChangeAspect="1"/>
          </p:cNvPicPr>
          <p:nvPr/>
        </p:nvPicPr>
        <p:blipFill>
          <a:blip r:embed="rId5"/>
          <a:stretch>
            <a:fillRect/>
          </a:stretch>
        </p:blipFill>
        <p:spPr>
          <a:xfrm>
            <a:off x="2152497" y="1682496"/>
            <a:ext cx="7886700" cy="447198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6" name="Oval 1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field falls furthest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Everything read from a CSV is text, and the profile counts it field by field.</a:t>
            </a:r>
          </a:p>
        </p:txBody>
      </p:sp>
      <p:pic>
        <p:nvPicPr>
          <p:cNvPr id="9" name="mermaid diagram" descr="318a2c7e313559da.png"/>
          <p:cNvPicPr>
            <a:picLocks noChangeAspect="1"/>
          </p:cNvPicPr>
          <p:nvPr/>
        </p:nvPicPr>
        <p:blipFill>
          <a:blip r:embed="rId5"/>
          <a:stretch>
            <a:fillRect/>
          </a:stretch>
        </p:blipFill>
        <p:spPr>
          <a:xfrm>
            <a:off x="3302641" y="1956816"/>
            <a:ext cx="55864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field shows the biggest gap between present and 201, as a letter? a) amount; b) discount; c) order_id; d) none, an ERP export is complete.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discount, and three smaller gaps matter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counts do not fit 201, and each is a question for a later chapter.</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5233235"/>
                <a:gridCol w="4068955"/>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Present</a:t>
                      </a:r>
                    </a:p>
                  </a:txBody>
                  <a:tcPr marL="101600" marR="101600" marT="38100" marB="38100" anchor="ctr">
                    <a:solidFill>
                      <a:srgbClr val="1A0F5C"/>
                    </a:solidFill>
                  </a:tcPr>
                </a:tc>
                <a:tc>
                  <a:txBody>
                    <a:bodyPr/>
                    <a:lstStyle/>
                    <a:p>
                      <a:r>
                        <a:rPr sz="1250" b="1" i="0">
                          <a:solidFill>
                            <a:srgbClr val="FFFFFF"/>
                          </a:solidFill>
                          <a:latin typeface="Calibri"/>
                        </a:rPr>
                        <a:t>Convertible</a:t>
                      </a:r>
                    </a:p>
                  </a:txBody>
                  <a:tcPr marL="101600" marR="101600" marT="38100" marB="38100" anchor="ctr">
                    <a:solidFill>
                      <a:srgbClr val="1A0F5C"/>
                    </a:solidFill>
                  </a:tcPr>
                </a:tc>
                <a:tc>
                  <a:txBody>
                    <a:bodyPr/>
                    <a:lstStyle/>
                    <a:p>
                      <a:r>
                        <a:rPr sz="1250" b="1" i="0">
                          <a:solidFill>
                            <a:srgbClr val="FFFFFF"/>
                          </a:solidFill>
                          <a:latin typeface="Calibri"/>
                        </a:rPr>
                        <a:t>Distinct</a:t>
                      </a:r>
                    </a:p>
                  </a:txBody>
                  <a:tcPr marL="101600" marR="101600" marT="38100" marB="38100" anchor="ctr">
                    <a:solidFill>
                      <a:srgbClr val="1A0F5C"/>
                    </a:solidFill>
                  </a:tcPr>
                </a:tc>
              </a:tr>
              <a:tr h="335280">
                <a:tc>
                  <a:txBody>
                    <a:bodyPr/>
                    <a:lstStyle/>
                    <a:p>
                      <a:r>
                        <a:rPr sz="1200" b="0" i="0">
                          <a:solidFill>
                            <a:srgbClr val="1A1440"/>
                          </a:solidFill>
                          <a:latin typeface="Calibri"/>
                        </a:rPr>
                        <a:t>order_id</a:t>
                      </a:r>
                    </a:p>
                  </a:txBody>
                  <a:tcPr marL="101600" marR="101600" marT="38100" marB="38100" anchor="ctr">
                    <a:solidFill>
                      <a:srgbClr val="FFFFFF"/>
                    </a:solidFill>
                  </a:tcPr>
                </a:tc>
                <a:tc>
                  <a:txBody>
                    <a:bodyPr/>
                    <a:lstStyle/>
                    <a:p>
                      <a:r>
                        <a:rPr sz="1200" b="0" i="0">
                          <a:solidFill>
                            <a:srgbClr val="1A1440"/>
                          </a:solidFill>
                          <a:latin typeface="Calibri"/>
                        </a:rPr>
                        <a:t>201</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186</a:t>
                      </a:r>
                    </a:p>
                  </a:txBody>
                  <a:tcPr marL="101600" marR="101600" marT="38100" marB="38100" anchor="ctr">
                    <a:solidFill>
                      <a:srgbClr val="FFFFFF"/>
                    </a:solidFill>
                  </a:tcPr>
                </a:tc>
              </a:tr>
              <a:tr h="335280">
                <a:tc>
                  <a:txBody>
                    <a:bodyPr/>
                    <a:lstStyle/>
                    <a:p>
                      <a:r>
                        <a:rPr sz="1200" b="0" i="0">
                          <a:solidFill>
                            <a:srgbClr val="1A1440"/>
                          </a:solidFill>
                          <a:latin typeface="Calibri"/>
                        </a:rPr>
                        <a:t>amount</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161</a:t>
                      </a:r>
                    </a:p>
                  </a:txBody>
                  <a:tcPr marL="101600" marR="101600" marT="38100" marB="38100" anchor="ctr">
                    <a:solidFill>
                      <a:srgbClr val="F4F2FA"/>
                    </a:solidFill>
                  </a:tcPr>
                </a:tc>
              </a:tr>
              <a:tr h="335280">
                <a:tc>
                  <a:txBody>
                    <a:bodyPr/>
                    <a:lstStyle/>
                    <a:p>
                      <a:r>
                        <a:rPr sz="1200" b="0" i="0">
                          <a:solidFill>
                            <a:srgbClr val="1A1440"/>
                          </a:solidFill>
                          <a:latin typeface="Calibri"/>
                        </a:rPr>
                        <a:t>status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discount</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Order ids distinct on 186, amounts convertible on 200, status present on 200. Discount is Tuesday's optional field.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top three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audits the largest orders first, and the hurried sort sends three.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q2 = [r for r in raw if r["quarter"] == "Q2"]</a:t>
            </a:r>
          </a:p>
          <a:p>
            <a:pPr>
              <a:spcAft>
                <a:spcPts val="200"/>
              </a:spcAft>
            </a:pPr>
            <a:r>
              <a:rPr sz="1400" b="0" i="0">
                <a:solidFill>
                  <a:srgbClr val="E4E1F1"/>
                </a:solidFill>
                <a:latin typeface="Consolas"/>
              </a:rPr>
              <a:t>top = sorted(q2, key=lambda r: r["amount"], reverse=True)[:3]</a:t>
            </a:r>
          </a:p>
          <a:p>
            <a:pPr>
              <a:spcAft>
                <a:spcPts val="200"/>
              </a:spcAft>
            </a:pPr>
            <a:r>
              <a:rPr sz="1400" b="0" i="0">
                <a:solidFill>
                  <a:srgbClr val="E4E1F1"/>
                </a:solidFill>
                <a:latin typeface="Consolas"/>
              </a:rPr>
              <a:t>[r["amount"] for r in top]      # ['970', '970', '952000']</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970</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as the hurried sort reports it</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 ABOVE RS 10 LAKH</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sample sent</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4" name="Oval 2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0" name="Oval 2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text sorts by spelling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'970' beats '2945460' because 9 comes after 2.</a:t>
            </a:r>
          </a:p>
        </p:txBody>
      </p:sp>
      <p:pic>
        <p:nvPicPr>
          <p:cNvPr id="9" name="mermaid diagram" descr="2371914d6144f056.png"/>
          <p:cNvPicPr>
            <a:picLocks noChangeAspect="1"/>
          </p:cNvPicPr>
          <p:nvPr/>
        </p:nvPicPr>
        <p:blipFill>
          <a:blip r:embed="rId5"/>
          <a:stretch>
            <a:fillRect/>
          </a:stretch>
        </p:blipFill>
        <p:spPr>
          <a:xfrm>
            <a:off x="1931041" y="1956816"/>
            <a:ext cx="83296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the largest Q2 order be smaller than every Business order, when Business sells in lakhs? The smallest Business order is Rs 2,03,060.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convert once, then sort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top three move from Rs 9,53,940 to Rs 62,11,460 of the quarter.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29,45,460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sorted as a number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62,11,460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TOP THREE</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Rs 9,53,940 as text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200 + 1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converted, and one in the rejects log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same convert() that fixes the sort logs the one amount that fails, and Q1 over the amounts that convert reads Rs 2,09,98,210: the dashboard's 2.1 crore is honest arithmetic on this file.</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a second witness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Counter over ids and the rejects log reach the profile's counts by other code.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186 = 186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profile and a Counter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 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THAT FAIL</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profile and the rejects log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JSON FEED RECORDS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complete, then the file is cut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for a first look; the Counter when one field matters, since it keeps how often each id appears. The JSON feed is a witness to compare against, never a replacement.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profile comes first, and a failure is counted next to the successes.</a:t>
            </a:r>
          </a:p>
        </p:txBody>
      </p:sp>
      <p:sp>
        <p:nvSpPr>
          <p:cNvPr id="9" name="Rounded Rectangle 8"/>
          <p:cNvSpPr/>
          <p:nvPr/>
        </p:nvSpPr>
        <p:spPr>
          <a:xfrm>
            <a:off x="530352" y="189712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2935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39086"/>
            <a:ext cx="237744" cy="237744"/>
          </a:xfrm>
          <a:prstGeom prst="rect">
            <a:avLst/>
          </a:prstGeom>
        </p:spPr>
      </p:pic>
      <p:sp>
        <p:nvSpPr>
          <p:cNvPr id="12" name="TextBox 11"/>
          <p:cNvSpPr txBox="1"/>
          <p:nvPr/>
        </p:nvSpPr>
        <p:spPr>
          <a:xfrm>
            <a:off x="1399031" y="204343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62886"/>
            <a:ext cx="9987991" cy="682752"/>
          </a:xfrm>
          <a:prstGeom prst="rect">
            <a:avLst/>
          </a:prstGeom>
          <a:noFill/>
        </p:spPr>
        <p:txBody>
          <a:bodyPr wrap="square" anchor="t" lIns="0" rIns="0" tIns="0" bIns="0">
            <a:spAutoFit/>
          </a:bodyPr>
          <a:lstStyle/>
          <a:p>
            <a:r>
              <a:rPr sz="1500" b="0" i="0">
                <a:solidFill>
                  <a:srgbClr val="1A1440"/>
                </a:solidFill>
                <a:latin typeface="Calibri"/>
              </a:rPr>
              <a:t>Before you total anything, tell me how many records you received, how many are complete, how many convert and how many are distinct.</a:t>
            </a:r>
          </a:p>
        </p:txBody>
      </p:sp>
      <p:sp>
        <p:nvSpPr>
          <p:cNvPr id="14" name="Rounded Rectangle 13"/>
          <p:cNvSpPr/>
          <p:nvPr/>
        </p:nvSpPr>
        <p:spPr>
          <a:xfrm>
            <a:off x="530352" y="318338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38607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495802"/>
            <a:ext cx="237744" cy="237744"/>
          </a:xfrm>
          <a:prstGeom prst="rect">
            <a:avLst/>
          </a:prstGeom>
        </p:spPr>
      </p:pic>
      <p:sp>
        <p:nvSpPr>
          <p:cNvPr id="17" name="TextBox 16"/>
          <p:cNvSpPr txBox="1"/>
          <p:nvPr/>
        </p:nvSpPr>
        <p:spPr>
          <a:xfrm>
            <a:off x="1399031" y="332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549142"/>
            <a:ext cx="9987991" cy="423672"/>
          </a:xfrm>
          <a:prstGeom prst="rect">
            <a:avLst/>
          </a:prstGeom>
          <a:noFill/>
        </p:spPr>
        <p:txBody>
          <a:bodyPr wrap="square" anchor="t" lIns="0" rIns="0" tIns="0" bIns="0">
            <a:spAutoFit/>
          </a:bodyPr>
          <a:lstStyle/>
          <a:p>
            <a:r>
              <a:rPr sz="1500" b="0" i="0">
                <a:solidFill>
                  <a:srgbClr val="1A1440"/>
                </a:solidFill>
                <a:latin typeface="Calibri"/>
              </a:rPr>
              <a:t>[F] Everything read from a CSV is a string; what breaks and where do you convert?</a:t>
            </a:r>
          </a:p>
        </p:txBody>
      </p:sp>
      <p:sp>
        <p:nvSpPr>
          <p:cNvPr id="19" name="Rounded Rectangle 18"/>
          <p:cNvSpPr/>
          <p:nvPr/>
        </p:nvSpPr>
        <p:spPr>
          <a:xfrm>
            <a:off x="530352" y="421055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41172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521454"/>
            <a:ext cx="237744" cy="237744"/>
          </a:xfrm>
          <a:prstGeom prst="rect">
            <a:avLst/>
          </a:prstGeom>
        </p:spPr>
      </p:pic>
      <p:sp>
        <p:nvSpPr>
          <p:cNvPr id="22" name="TextBox 21"/>
          <p:cNvSpPr txBox="1"/>
          <p:nvPr/>
        </p:nvSpPr>
        <p:spPr>
          <a:xfrm>
            <a:off x="731519" y="497865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23" name="TextBox 22"/>
          <p:cNvSpPr txBox="1"/>
          <p:nvPr/>
        </p:nvSpPr>
        <p:spPr>
          <a:xfrm>
            <a:off x="731519" y="521639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557265"/>
            <a:ext cx="5071719" cy="218186"/>
          </a:xfrm>
          <a:prstGeom prst="rect">
            <a:avLst/>
          </a:prstGeom>
          <a:noFill/>
        </p:spPr>
        <p:txBody>
          <a:bodyPr wrap="square" anchor="t" lIns="0" rIns="0" tIns="0" bIns="0">
            <a:spAutoFit/>
          </a:bodyPr>
          <a:lstStyle/>
          <a:p>
            <a:pPr algn="l"/>
            <a:r>
              <a:rPr sz="1100" b="0" i="0">
                <a:solidFill>
                  <a:srgbClr val="6B6690"/>
                </a:solidFill>
                <a:latin typeface="Calibri"/>
              </a:rPr>
              <a:t>201 rows, 186 order ids, 200 amounts that convert, 1 logged.</a:t>
            </a:r>
          </a:p>
        </p:txBody>
      </p:sp>
      <p:sp>
        <p:nvSpPr>
          <p:cNvPr id="25" name="Rounded Rectangle 24"/>
          <p:cNvSpPr/>
          <p:nvPr/>
        </p:nvSpPr>
        <p:spPr>
          <a:xfrm>
            <a:off x="6187287" y="421055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41172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521454"/>
            <a:ext cx="237744" cy="237744"/>
          </a:xfrm>
          <a:prstGeom prst="rect">
            <a:avLst/>
          </a:prstGeom>
        </p:spPr>
      </p:pic>
      <p:sp>
        <p:nvSpPr>
          <p:cNvPr id="28" name="TextBox 27"/>
          <p:cNvSpPr txBox="1"/>
          <p:nvPr/>
        </p:nvSpPr>
        <p:spPr>
          <a:xfrm>
            <a:off x="6388455" y="497865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2</a:t>
            </a:r>
          </a:p>
        </p:txBody>
      </p:sp>
      <p:sp>
        <p:nvSpPr>
          <p:cNvPr id="29" name="TextBox 28"/>
          <p:cNvSpPr txBox="1"/>
          <p:nvPr/>
        </p:nvSpPr>
        <p:spPr>
          <a:xfrm>
            <a:off x="6388455" y="5216398"/>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557265"/>
            <a:ext cx="5071719" cy="218186"/>
          </a:xfrm>
          <a:prstGeom prst="rect">
            <a:avLst/>
          </a:prstGeom>
          <a:noFill/>
        </p:spPr>
        <p:txBody>
          <a:bodyPr wrap="square" anchor="t" lIns="0" rIns="0" tIns="0" bIns="0">
            <a:spAutoFit/>
          </a:bodyPr>
          <a:lstStyle/>
          <a:p>
            <a:pPr algn="l"/>
            <a:r>
              <a:rPr sz="1100" b="0" i="0">
                <a:solidFill>
                  <a:srgbClr val="CFC9EE"/>
                </a:solidFill>
                <a:latin typeface="Calibri"/>
              </a:rPr>
              <a:t>Which rows repeat, and what makes two rows one order.</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rows that repeat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Say what makes two rows one order before counting a single duplicate.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186 orders on 201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migration exported orders twice, Q1 revenue and every per-customer rate are inflated.</a:t>
            </a:r>
          </a:p>
        </p:txBody>
      </p:sp>
      <p:pic>
        <p:nvPicPr>
          <p:cNvPr id="9" name="mermaid diagram" descr="5a0b2958d20b09e8.png"/>
          <p:cNvPicPr>
            <a:picLocks noChangeAspect="1"/>
          </p:cNvPicPr>
          <p:nvPr/>
        </p:nvPicPr>
        <p:blipFill>
          <a:blip r:embed="rId6"/>
          <a:stretch>
            <a:fillRect/>
          </a:stretch>
        </p:blipFill>
        <p:spPr>
          <a:xfrm>
            <a:off x="2633319" y="1664208"/>
            <a:ext cx="6925056" cy="3462528"/>
          </a:xfrm>
          <a:prstGeom prst="rect">
            <a:avLst/>
          </a:prstGeom>
        </p:spPr>
      </p:pic>
      <p:sp>
        <p:nvSpPr>
          <p:cNvPr id="10" name="Rounded Rectangle 9"/>
          <p:cNvSpPr/>
          <p:nvPr/>
        </p:nvSpPr>
        <p:spPr>
          <a:xfrm>
            <a:off x="530352" y="51724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3751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5484876"/>
            <a:ext cx="237744" cy="237744"/>
          </a:xfrm>
          <a:prstGeom prst="rect">
            <a:avLst/>
          </a:prstGeom>
        </p:spPr>
      </p:pic>
      <p:sp>
        <p:nvSpPr>
          <p:cNvPr id="13" name="TextBox 12"/>
          <p:cNvSpPr txBox="1"/>
          <p:nvPr/>
        </p:nvSpPr>
        <p:spPr>
          <a:xfrm>
            <a:off x="1399031" y="53187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5538216"/>
            <a:ext cx="9987991" cy="423672"/>
          </a:xfrm>
          <a:prstGeom prst="rect">
            <a:avLst/>
          </a:prstGeom>
          <a:noFill/>
        </p:spPr>
        <p:txBody>
          <a:bodyPr wrap="square" anchor="t" lIns="0" rIns="0" tIns="0" bIns="0">
            <a:spAutoFit/>
          </a:bodyPr>
          <a:lstStyle/>
          <a:p>
            <a:r>
              <a:rPr sz="1500" b="0" i="0">
                <a:solidFill>
                  <a:srgbClr val="FFFFFF"/>
                </a:solidFill>
                <a:latin typeface="Calibri"/>
              </a:rPr>
              <a:t>"Which rows did the export count twice, and how do you know they are copies?"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billed a million customers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processing fault, the same purchase recorded twice, about 7,800 stores.</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22 to 23 May</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2009</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fault ran two days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~7,800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company-owned, US and Canada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 million</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REPAID</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NBC News and AP</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 repeated record looks like a second purchase until someone asks what makes two records one.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keys, sized on the ERP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file, four rules for what makes two rows one order.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780991"/>
                <a:gridCol w="1820427"/>
                <a:gridCol w="1883267"/>
                <a:gridCol w="1946108"/>
                <a:gridCol w="2700196"/>
              </a:tblGrid>
              <a:tr h="335280">
                <a:tc>
                  <a:txBody>
                    <a:bodyPr/>
                    <a:lstStyle/>
                    <a:p>
                      <a:r>
                        <a:rPr sz="1250" b="1" i="0">
                          <a:solidFill>
                            <a:srgbClr val="FFFFFF"/>
                          </a:solidFill>
                          <a:latin typeface="Calibri"/>
                        </a:rPr>
                        <a:t>Key</a:t>
                      </a:r>
                    </a:p>
                  </a:txBody>
                  <a:tcPr marL="101600" marR="101600" marT="38100" marB="38100" anchor="ctr">
                    <a:solidFill>
                      <a:srgbClr val="1A0F5C"/>
                    </a:solidFill>
                  </a:tcPr>
                </a:tc>
                <a:tc>
                  <a:txBody>
                    <a:bodyPr/>
                    <a:lstStyle/>
                    <a:p>
                      <a:r>
                        <a:rPr sz="1250" b="1" i="0">
                          <a:solidFill>
                            <a:srgbClr val="FFFFFF"/>
                          </a:solidFill>
                          <a:latin typeface="Calibri"/>
                        </a:rPr>
                        <a:t>Rows flagged</a:t>
                      </a:r>
                    </a:p>
                  </a:txBody>
                  <a:tcPr marL="101600" marR="101600" marT="38100" marB="38100" anchor="ctr">
                    <a:solidFill>
                      <a:srgbClr val="1A0F5C"/>
                    </a:solidFill>
                  </a:tcPr>
                </a:tc>
                <a:tc>
                  <a:txBody>
                    <a:bodyPr/>
                    <a:lstStyle/>
                    <a:p>
                      <a:r>
                        <a:rPr sz="1250" b="1" i="0">
                          <a:solidFill>
                            <a:srgbClr val="FFFFFF"/>
                          </a:solidFill>
                          <a:latin typeface="Calibri"/>
                        </a:rPr>
                        <a:t>Q2 after</a:t>
                      </a:r>
                    </a:p>
                  </a:txBody>
                  <a:tcPr marL="101600" marR="101600" marT="38100" marB="38100" anchor="ctr">
                    <a:solidFill>
                      <a:srgbClr val="1A0F5C"/>
                    </a:solidFill>
                  </a:tcPr>
                </a:tc>
                <a:tc>
                  <a:txBody>
                    <a:bodyPr/>
                    <a:lstStyle/>
                    <a:p>
                      <a:r>
                        <a:rPr sz="1250" b="1" i="0">
                          <a:solidFill>
                            <a:srgbClr val="FFFFFF"/>
                          </a:solidFill>
                          <a:latin typeface="Calibri"/>
                        </a:rPr>
                        <a:t>Copies missed</a:t>
                      </a:r>
                    </a:p>
                  </a:txBody>
                  <a:tcPr marL="101600" marR="101600" marT="38100" marB="38100" anchor="ctr">
                    <a:solidFill>
                      <a:srgbClr val="1A0F5C"/>
                    </a:solidFill>
                  </a:tcPr>
                </a:tc>
                <a:tc>
                  <a:txBody>
                    <a:bodyPr/>
                    <a:lstStyle/>
                    <a:p>
                      <a:r>
                        <a:rPr sz="1250" b="1" i="0">
                          <a:solidFill>
                            <a:srgbClr val="FFFFFF"/>
                          </a:solidFill>
                          <a:latin typeface="Calibri"/>
                        </a:rPr>
                        <a:t>Real rupees removed</a:t>
                      </a:r>
                    </a:p>
                  </a:txBody>
                  <a:tcPr marL="101600" marR="101600" marT="38100" marB="38100" anchor="ctr">
                    <a:solidFill>
                      <a:srgbClr val="1A0F5C"/>
                    </a:solidFill>
                  </a:tcPr>
                </a:tc>
              </a:tr>
              <a:tr h="335280">
                <a:tc>
                  <a:txBody>
                    <a:bodyPr/>
                    <a:lstStyle/>
                    <a:p>
                      <a:r>
                        <a:rPr sz="1200" b="0" i="0">
                          <a:solidFill>
                            <a:srgbClr val="1A1440"/>
                          </a:solidFill>
                          <a:latin typeface="Calibri"/>
                        </a:rPr>
                        <a:t>a) Whole record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1,87,03,710</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b) Record less line</a:t>
                      </a:r>
                    </a:p>
                  </a:txBody>
                  <a:tcPr marL="101600" marR="101600" marT="38100" marB="38100" anchor="ctr">
                    <a:solidFill>
                      <a:srgbClr val="F4F2FA"/>
                    </a:solidFill>
                  </a:tcPr>
                </a:tc>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Rs 1,87,03,710</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r>
              <a:tr h="335280">
                <a:tc>
                  <a:txBody>
                    <a:bodyPr/>
                    <a:lstStyle/>
                    <a:p>
                      <a:r>
                        <a:rPr sz="1200" b="0" i="0">
                          <a:solidFill>
                            <a:srgbClr val="1A1440"/>
                          </a:solidFill>
                          <a:latin typeface="Calibri"/>
                        </a:rPr>
                        <a:t>c) order_id</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d) Customer and amount</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Rs 1,69,29,000</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Rs 17,71,000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 because the ERP issues one id per order. What would switch it: two systems issuing their own ids, and then the key is the system plus the id.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dedupe reports zero. Believe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Chapter 1 taught the rejects log to carry each row's file line.</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kept = whole_record_dedupe(raw)   # every field compared</a:t>
            </a:r>
          </a:p>
          <a:p>
            <a:pPr>
              <a:spcAft>
                <a:spcPts val="200"/>
              </a:spcAft>
            </a:pPr>
            <a:r>
              <a:rPr sz="1400" b="0" i="0">
                <a:solidFill>
                  <a:srgbClr val="E4E1F1"/>
                </a:solidFill>
                <a:latin typeface="Consolas"/>
              </a:rPr>
              <a:t>len(raw) - len(kept)              # 0</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do with a dedupe that finds zero, as a letter? a) report no duplicates; b) count distinct ids against rows first; c) rerun it; d) sort the file and look.</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9" name="Oval 18"/>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3" name="Oval 2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5" name="Oval 2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63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201 rows and 186 ids cannot both be true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plausible wrong number is zero duplicates and Q1 unchanged at Rs 2,09,98,210.</a:t>
            </a:r>
          </a:p>
        </p:txBody>
      </p:sp>
      <p:pic>
        <p:nvPicPr>
          <p:cNvPr id="9" name="mermaid diagram" descr="89237ac7ca74b24a.png"/>
          <p:cNvPicPr>
            <a:picLocks noChangeAspect="1"/>
          </p:cNvPicPr>
          <p:nvPr/>
        </p:nvPicPr>
        <p:blipFill>
          <a:blip r:embed="rId6"/>
          <a:stretch>
            <a:fillRect/>
          </a:stretch>
        </p:blipFill>
        <p:spPr>
          <a:xfrm>
            <a:off x="780897" y="1956816"/>
            <a:ext cx="10629900"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The file line is where a row sat, never what the order is. Leave it in the key and no two rows can match. The answer is b.</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15 orders appear exactly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Grouped by order_id: 14 pairs in Q1, one in Q2, none three times.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ONCE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TWICE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too many each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BY QUARTER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 count of nothing became a list of 15 orders, each with two lines. The room lists them in the empty cell and reads the second line numbers.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harder variant: the same count, other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fuzzy key flags 15 and the order id flags 15; they share 14.</a:t>
            </a:r>
          </a:p>
        </p:txBody>
      </p:sp>
      <p:pic>
        <p:nvPicPr>
          <p:cNvPr id="9" name="mermaid diagram" descr="b1b800cf63a4a3db.png"/>
          <p:cNvPicPr>
            <a:picLocks noChangeAspect="1"/>
          </p:cNvPicPr>
          <p:nvPr/>
        </p:nvPicPr>
        <p:blipFill>
          <a:blip r:embed="rId6"/>
          <a:stretch>
            <a:fillRect/>
          </a:stretch>
        </p:blipFill>
        <p:spPr>
          <a:xfrm>
            <a:off x="3524097" y="1906905"/>
            <a:ext cx="5143500" cy="2800350"/>
          </a:xfrm>
          <a:prstGeom prst="rect">
            <a:avLst/>
          </a:prstGeom>
        </p:spPr>
      </p:pic>
      <p:sp>
        <p:nvSpPr>
          <p:cNvPr id="10" name="Rounded Rectangle 9"/>
          <p:cNvSpPr/>
          <p:nvPr/>
        </p:nvSpPr>
        <p:spPr>
          <a:xfrm>
            <a:off x="530352" y="485355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8579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295519"/>
            <a:ext cx="237744" cy="237744"/>
          </a:xfrm>
          <a:prstGeom prst="rect">
            <a:avLst/>
          </a:prstGeom>
        </p:spPr>
      </p:pic>
      <p:sp>
        <p:nvSpPr>
          <p:cNvPr id="13" name="TextBox 12"/>
          <p:cNvSpPr txBox="1"/>
          <p:nvPr/>
        </p:nvSpPr>
        <p:spPr>
          <a:xfrm>
            <a:off x="1399031" y="4999863"/>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219319"/>
            <a:ext cx="9987991" cy="682752"/>
          </a:xfrm>
          <a:prstGeom prst="rect">
            <a:avLst/>
          </a:prstGeom>
          <a:noFill/>
        </p:spPr>
        <p:txBody>
          <a:bodyPr wrap="square" anchor="t" lIns="0" rIns="0" tIns="0" bIns="0">
            <a:spAutoFit/>
          </a:bodyPr>
          <a:lstStyle/>
          <a:p>
            <a:r>
              <a:rPr sz="1500" b="0" i="0">
                <a:solidFill>
                  <a:srgbClr val="1A1440"/>
                </a:solidFill>
                <a:latin typeface="Calibri"/>
              </a:rPr>
              <a:t>A count that matches is not a match. A Business customer spent the same Rs 17,71,000 again next quarter, and the fuzzy key calls it a copy.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rows less ids, per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Arithmetic gives how many; only the groups give which.</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LESS DISTINCT IDS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FROM THE GROUPS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sum of size less one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arithmetic is the one-line check to run first on any file; the groups are the pass, because only they can feed a log.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2" name="Oval 2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 of duplicates without an identity rule is a count of nothing.</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Tell me what makes two rows the same order before you tell me how many duplicates there are.</a:t>
            </a:r>
          </a:p>
        </p:txBody>
      </p:sp>
      <p:sp>
        <p:nvSpPr>
          <p:cNvPr id="14" name="Rounded Rectangle 13"/>
          <p:cNvSpPr/>
          <p:nvPr/>
        </p:nvSpPr>
        <p:spPr>
          <a:xfrm>
            <a:off x="530352" y="29839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866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96412"/>
            <a:ext cx="237744" cy="237744"/>
          </a:xfrm>
          <a:prstGeom prst="rect">
            <a:avLst/>
          </a:prstGeom>
        </p:spPr>
      </p:pic>
      <p:sp>
        <p:nvSpPr>
          <p:cNvPr id="17" name="TextBox 16"/>
          <p:cNvSpPr txBox="1"/>
          <p:nvPr/>
        </p:nvSpPr>
        <p:spPr>
          <a:xfrm>
            <a:off x="1399031" y="31302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49752"/>
            <a:ext cx="9987991" cy="423672"/>
          </a:xfrm>
          <a:prstGeom prst="rect">
            <a:avLst/>
          </a:prstGeom>
          <a:noFill/>
        </p:spPr>
        <p:txBody>
          <a:bodyPr wrap="square" anchor="t" lIns="0" rIns="0" tIns="0" bIns="0">
            <a:spAutoFit/>
          </a:bodyPr>
          <a:lstStyle/>
          <a:p>
            <a:r>
              <a:rPr sz="1500" b="0" i="0">
                <a:solidFill>
                  <a:srgbClr val="1A1440"/>
                </a:solidFill>
                <a:latin typeface="Calibri"/>
              </a:rPr>
              <a:t>[F] How do you find duplicates, and what makes two records the same?</a:t>
            </a:r>
          </a:p>
        </p:txBody>
      </p:sp>
      <p:sp>
        <p:nvSpPr>
          <p:cNvPr id="19" name="Rounded Rectangle 18"/>
          <p:cNvSpPr/>
          <p:nvPr/>
        </p:nvSpPr>
        <p:spPr>
          <a:xfrm>
            <a:off x="530352" y="401116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21233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322064"/>
            <a:ext cx="237744" cy="237744"/>
          </a:xfrm>
          <a:prstGeom prst="rect">
            <a:avLst/>
          </a:prstGeom>
        </p:spPr>
      </p:pic>
      <p:sp>
        <p:nvSpPr>
          <p:cNvPr id="22" name="TextBox 21"/>
          <p:cNvSpPr txBox="1"/>
          <p:nvPr/>
        </p:nvSpPr>
        <p:spPr>
          <a:xfrm>
            <a:off x="731519" y="477926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23" name="TextBox 22"/>
          <p:cNvSpPr txBox="1"/>
          <p:nvPr/>
        </p:nvSpPr>
        <p:spPr>
          <a:xfrm>
            <a:off x="731519" y="501700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57876"/>
            <a:ext cx="5071719" cy="218186"/>
          </a:xfrm>
          <a:prstGeom prst="rect">
            <a:avLst/>
          </a:prstGeom>
          <a:noFill/>
        </p:spPr>
        <p:txBody>
          <a:bodyPr wrap="square" anchor="t" lIns="0" rIns="0" tIns="0" bIns="0">
            <a:spAutoFit/>
          </a:bodyPr>
          <a:lstStyle/>
          <a:p>
            <a:pPr algn="l"/>
            <a:r>
              <a:rPr sz="1100" b="0" i="0">
                <a:solidFill>
                  <a:srgbClr val="6B6690"/>
                </a:solidFill>
                <a:latin typeface="Calibri"/>
              </a:rPr>
              <a:t>The order_id is the identity; 15 orders appear twice, 14 in Q1.</a:t>
            </a:r>
          </a:p>
        </p:txBody>
      </p:sp>
      <p:sp>
        <p:nvSpPr>
          <p:cNvPr id="25" name="Rounded Rectangle 24"/>
          <p:cNvSpPr/>
          <p:nvPr/>
        </p:nvSpPr>
        <p:spPr>
          <a:xfrm>
            <a:off x="6187287" y="401116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2123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322064"/>
            <a:ext cx="237744" cy="237744"/>
          </a:xfrm>
          <a:prstGeom prst="rect">
            <a:avLst/>
          </a:prstGeom>
        </p:spPr>
      </p:pic>
      <p:sp>
        <p:nvSpPr>
          <p:cNvPr id="28" name="TextBox 27"/>
          <p:cNvSpPr txBox="1"/>
          <p:nvPr/>
        </p:nvSpPr>
        <p:spPr>
          <a:xfrm>
            <a:off x="6388455" y="477926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3</a:t>
            </a:r>
          </a:p>
        </p:txBody>
      </p:sp>
      <p:sp>
        <p:nvSpPr>
          <p:cNvPr id="29" name="TextBox 28"/>
          <p:cNvSpPr txBox="1"/>
          <p:nvPr/>
        </p:nvSpPr>
        <p:spPr>
          <a:xfrm>
            <a:off x="6388455" y="5017008"/>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57876"/>
            <a:ext cx="5071719" cy="218186"/>
          </a:xfrm>
          <a:prstGeom prst="rect">
            <a:avLst/>
          </a:prstGeom>
          <a:noFill/>
        </p:spPr>
        <p:txBody>
          <a:bodyPr wrap="square" anchor="t" lIns="0" rIns="0" tIns="0" bIns="0">
            <a:spAutoFit/>
          </a:bodyPr>
          <a:lstStyle/>
          <a:p>
            <a:pPr algn="l"/>
            <a:r>
              <a:rPr sz="1100" b="0" i="0">
                <a:solidFill>
                  <a:srgbClr val="CFC9EE"/>
                </a:solidFill>
                <a:latin typeface="Calibri"/>
              </a:rPr>
              <a:t>Which copy of each pair stays, and what that does to Q1.</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copy that stays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For thirteen pairs it does not matter; for two it moves Q1 and a date.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63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analyst ties out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choice that loses one order's amount turns the reconciliation into a finding against the team.</a:t>
            </a:r>
          </a:p>
        </p:txBody>
      </p:sp>
      <p:pic>
        <p:nvPicPr>
          <p:cNvPr id="9" name="mermaid diagram" descr="bc75a001c20296aa.png"/>
          <p:cNvPicPr>
            <a:picLocks noChangeAspect="1"/>
          </p:cNvPicPr>
          <p:nvPr/>
        </p:nvPicPr>
        <p:blipFill>
          <a:blip r:embed="rId6"/>
          <a:stretch>
            <a:fillRect/>
          </a:stretch>
        </p:blipFill>
        <p:spPr>
          <a:xfrm>
            <a:off x="2152497" y="1956816"/>
            <a:ext cx="7886700" cy="2786062"/>
          </a:xfrm>
          <a:prstGeom prst="rect">
            <a:avLst/>
          </a:prstGeom>
        </p:spPr>
      </p:pic>
      <p:sp>
        <p:nvSpPr>
          <p:cNvPr id="10" name="Rounded Rectangle 9"/>
          <p:cNvSpPr/>
          <p:nvPr/>
        </p:nvSpPr>
        <p:spPr>
          <a:xfrm>
            <a:off x="530352" y="488918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9187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5201602"/>
            <a:ext cx="237744" cy="237744"/>
          </a:xfrm>
          <a:prstGeom prst="rect">
            <a:avLst/>
          </a:prstGeom>
        </p:spPr>
      </p:pic>
      <p:sp>
        <p:nvSpPr>
          <p:cNvPr id="13" name="TextBox 12"/>
          <p:cNvSpPr txBox="1"/>
          <p:nvPr/>
        </p:nvSpPr>
        <p:spPr>
          <a:xfrm>
            <a:off x="1399031" y="503548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5254942"/>
            <a:ext cx="9987991" cy="423672"/>
          </a:xfrm>
          <a:prstGeom prst="rect">
            <a:avLst/>
          </a:prstGeom>
          <a:noFill/>
        </p:spPr>
        <p:txBody>
          <a:bodyPr wrap="square" anchor="t" lIns="0" rIns="0" tIns="0" bIns="0">
            <a:spAutoFit/>
          </a:bodyPr>
          <a:lstStyle/>
          <a:p>
            <a:r>
              <a:rPr sz="1500" b="0" i="0">
                <a:solidFill>
                  <a:srgbClr val="FFFFFF"/>
                </a:solidFill>
                <a:latin typeface="Calibri"/>
              </a:rPr>
              <a:t>"When two copies disagree, which one did you keep, and why that one?"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63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India's GST portal writes the identity rule into law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business invoice is one invoice per supplier GSTIN, number, type and year.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fields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IDENTITY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GSTIN, number, type, year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rejected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SECOND COPY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GSTN e-invoice FAQ</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 crore</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TURNOVER THRESHOLD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since 1 August 2023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Without a written rule for what makes two records one, every team chooses its own survivor. Kalpa's Business segment sells to companies and meets this rule on every invoice.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survivor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on the ERP file: Q1 against the books.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02118"/>
                <a:gridCol w="1983712"/>
                <a:gridCol w="2579442"/>
                <a:gridCol w="316571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Against the books</a:t>
                      </a:r>
                    </a:p>
                  </a:txBody>
                  <a:tcPr marL="101600" marR="101600" marT="38100" marB="38100" anchor="ctr">
                    <a:solidFill>
                      <a:srgbClr val="1A0F5C"/>
                    </a:solidFill>
                  </a:tcPr>
                </a:tc>
                <a:tc>
                  <a:txBody>
                    <a:bodyPr/>
                    <a:lstStyle/>
                    <a:p>
                      <a:r>
                        <a:rPr sz="1250" b="1" i="0">
                          <a:solidFill>
                            <a:srgbClr val="FFFFFF"/>
                          </a:solidFill>
                          <a:latin typeface="Calibri"/>
                        </a:rPr>
                        <a:t>Unreadable kept</a:t>
                      </a:r>
                    </a:p>
                  </a:txBody>
                  <a:tcPr marL="101600" marR="101600" marT="38100" marB="38100" anchor="ctr">
                    <a:solidFill>
                      <a:srgbClr val="1A0F5C"/>
                    </a:solidFill>
                  </a:tcPr>
                </a:tc>
              </a:tr>
              <a:tr h="335280">
                <a:tc>
                  <a:txBody>
                    <a:bodyPr/>
                    <a:lstStyle/>
                    <a:p>
                      <a:r>
                        <a:rPr sz="1200" b="0" i="0">
                          <a:solidFill>
                            <a:srgbClr val="1A1440"/>
                          </a:solidFill>
                          <a:latin typeface="Calibri"/>
                        </a:rPr>
                        <a:t>a) First in the file</a:t>
                      </a:r>
                    </a:p>
                  </a:txBody>
                  <a:tcPr marL="101600" marR="101600" marT="38100" marB="38100" anchor="ctr">
                    <a:solidFill>
                      <a:srgbClr val="FFFFFF"/>
                    </a:solidFill>
                  </a:tcPr>
                </a:tc>
                <a:tc>
                  <a:txBody>
                    <a:bodyPr/>
                    <a:lstStyle/>
                    <a:p>
                      <a:r>
                        <a:rPr sz="1200" b="0" i="0">
                          <a:solidFill>
                            <a:srgbClr val="1A1440"/>
                          </a:solidFill>
                          <a:latin typeface="Calibri"/>
                        </a:rPr>
                        <a:t>Rs 1,89,98,210</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 Last in the file</a:t>
                      </a:r>
                    </a:p>
                  </a:txBody>
                  <a:tcPr marL="101600" marR="101600" marT="38100" marB="38100" anchor="ctr">
                    <a:solidFill>
                      <a:srgbClr val="F4F2FA"/>
                    </a:solidFill>
                  </a:tcPr>
                </a:tc>
                <a:tc>
                  <a:txBody>
                    <a:bodyPr/>
                    <a:lstStyle/>
                    <a:p>
                      <a:r>
                        <a:rPr sz="1200" b="0" i="0">
                          <a:solidFill>
                            <a:srgbClr val="1A1440"/>
                          </a:solidFill>
                          <a:latin typeface="Calibri"/>
                        </a:rPr>
                        <a:t>Rs 1,90,00,000</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c) The copy that validates</a:t>
                      </a:r>
                    </a:p>
                  </a:txBody>
                  <a:tcPr marL="101600" marR="101600" marT="38100" marB="38100" anchor="ctr">
                    <a:solidFill>
                      <a:srgbClr val="FFFFFF"/>
                    </a:solidFill>
                  </a:tcPr>
                </a:tc>
                <a:tc>
                  <a:txBody>
                    <a:bodyPr/>
                    <a:lstStyle/>
                    <a:p>
                      <a:r>
                        <a:rPr sz="1200" b="0" i="0">
                          <a:solidFill>
                            <a:srgbClr val="1A1440"/>
                          </a:solidFill>
                          <a:latin typeface="Calibri"/>
                        </a:rPr>
                        <a:t>Rs 1,90,00,000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d) Escalate all 15</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0, after days of waiting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 and escalate only the pair whose valid copies disagree. Last lands here by file order, which is luck. What would switch it: the ERP team saying the second extract was a corrected re-run.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 drawn before the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kinds of pair, each with its survivor, on invented records.</a:t>
            </a:r>
          </a:p>
        </p:txBody>
      </p:sp>
      <p:pic>
        <p:nvPicPr>
          <p:cNvPr id="9" name="mermaid diagram" descr="ecd1de7b3cb8537e.png"/>
          <p:cNvPicPr>
            <a:picLocks noChangeAspect="1"/>
          </p:cNvPicPr>
          <p:nvPr/>
        </p:nvPicPr>
        <p:blipFill>
          <a:blip r:embed="rId5"/>
          <a:stretch>
            <a:fillRect/>
          </a:stretch>
        </p:blipFill>
        <p:spPr>
          <a:xfrm>
            <a:off x="2152497" y="1956816"/>
            <a:ext cx="7886700" cy="3043237"/>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6" name="Oval 1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after the rule, what is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186 orders kept, 15 rows set aside, each with a reason.</a:t>
            </a:r>
          </a:p>
        </p:txBody>
      </p:sp>
      <p:pic>
        <p:nvPicPr>
          <p:cNvPr id="9" name="mermaid diagram" descr="da6577c236efd39d.png"/>
          <p:cNvPicPr>
            <a:picLocks noChangeAspect="1"/>
          </p:cNvPicPr>
          <p:nvPr/>
        </p:nvPicPr>
        <p:blipFill>
          <a:blip r:embed="rId5"/>
          <a:stretch>
            <a:fillRect/>
          </a:stretch>
        </p:blipFill>
        <p:spPr>
          <a:xfrm>
            <a:off x="2181072" y="1956816"/>
            <a:ext cx="7829550" cy="2328862"/>
          </a:xfrm>
          <a:prstGeom prst="rect">
            <a:avLst/>
          </a:prstGeom>
        </p:spPr>
      </p:pic>
      <p:sp>
        <p:nvSpPr>
          <p:cNvPr id="10" name="Rounded Rectangle 9"/>
          <p:cNvSpPr/>
          <p:nvPr/>
        </p:nvSpPr>
        <p:spPr>
          <a:xfrm>
            <a:off x="530352" y="44319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9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8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after the identity rule, as a letter? a) Rs 2,09,98,210; b) Rs 1,89,98,210; c) Rs 1,90,00,000; d) Rs 2,00,00,000.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1,90,00,000, the books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moves to Rs 1,87,00,000, and no revenue left with the unreadable copy.</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per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186 + 15</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and set aside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amount chapter 1 could not read was one copy of a pair whose twin carries the value. The answer is c.</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Q1 ties, so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whole record less the line lands Q1 on the books to the rupee.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equal to the books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188</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REPORTED</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clean file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1,87,03,710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sent on to Marketing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5" name="Oval 2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9" name="Oval 2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tie in rupees proves no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188 rows for 186 orders: one Q2 order counted twice, one unreadable row kept.</a:t>
            </a:r>
          </a:p>
        </p:txBody>
      </p:sp>
      <p:pic>
        <p:nvPicPr>
          <p:cNvPr id="9" name="mermaid diagram" descr="3f0da5438c63ade0.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Rows kept against distinct ids, the check chapter 2 taught.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Rows against rupees: 98 percent in two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Rs 19,98,210 set aside in Q1, two Business rows carry Rs 19,67,560.</a:t>
            </a:r>
          </a:p>
        </p:txBody>
      </p:sp>
      <p:pic>
        <p:nvPicPr>
          <p:cNvPr id="9" name="mermaid diagram" descr="f15abf467b747bed.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Anand's gap is two corporate orders counted twice; Tuesday's rate was measured on eleven extra Retail-Plus rows. Bars are rows, the line is rupees.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dict keyed by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dictionary keeps one value per key, so it is an identity rule in one line.</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by_id = {r["order_id"]: r for r in raw if convert(r["amount"])[0] is not None}</a:t>
            </a:r>
          </a:p>
          <a:p>
            <a:pPr>
              <a:spcAft>
                <a:spcPts val="200"/>
              </a:spcAft>
            </a:pPr>
            <a:r>
              <a:rPr sz="1400" b="0" i="0">
                <a:solidFill>
                  <a:srgbClr val="E4E1F1"/>
                </a:solidFill>
                <a:latin typeface="Consolas"/>
              </a:rPr>
              <a:t>len(by_id)     # 186, the same orders at the same amounts</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dict is the fast check that the totals are right. It keeps the last copy silently and logs nothing, so it is never the pass.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9" name="Oval 18"/>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1" name="Oval 20"/>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3" name="Oval 2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5" name="Oval 2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preference for the copy that validates, and a reason on every row set aside.</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When Q1 ties to the books, check the rows before you celebrate.</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[F] Two copies of an order disagree; which do you keep, and what did the choice cost?</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218186"/>
          </a:xfrm>
          <a:prstGeom prst="rect">
            <a:avLst/>
          </a:prstGeom>
          <a:noFill/>
        </p:spPr>
        <p:txBody>
          <a:bodyPr wrap="square" anchor="t" lIns="0" rIns="0" tIns="0" bIns="0">
            <a:spAutoFit/>
          </a:bodyPr>
          <a:lstStyle/>
          <a:p>
            <a:pPr algn="l"/>
            <a:r>
              <a:rPr sz="1100" b="0" i="0">
                <a:solidFill>
                  <a:srgbClr val="6B6690"/>
                </a:solidFill>
                <a:latin typeface="Calibri"/>
              </a:rPr>
              <a:t>186 orders, 15 rows set aside, Q1 on the books.</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4</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32730"/>
            <a:ext cx="5071719" cy="399796"/>
          </a:xfrm>
          <a:prstGeom prst="rect">
            <a:avLst/>
          </a:prstGeom>
          <a:noFill/>
        </p:spPr>
        <p:txBody>
          <a:bodyPr wrap="square" anchor="t" lIns="0" rIns="0" tIns="0" bIns="0">
            <a:spAutoFit/>
          </a:bodyPr>
          <a:lstStyle/>
          <a:p>
            <a:pPr algn="l"/>
            <a:r>
              <a:rPr sz="1100" b="0" i="0">
                <a:solidFill>
                  <a:srgbClr val="CFC9EE"/>
                </a:solidFill>
                <a:latin typeface="Calibri"/>
              </a:rPr>
              <a:t>One order has no status, 55 no discount, and the next export will carry an unreadable amount with no twin.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missing or malformed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defect is a decision with a written claim beside it.</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two decisions the log must carry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Operations reads the delivered share weekly; Finance reads every rupee.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dashed_69bc91c0def8.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order, no status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counts it; the delivered share needs its fate.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dashed_69bc91c0def8.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55 orders, no discount</a:t>
            </a:r>
          </a:p>
        </p:txBody>
      </p:sp>
      <p:sp>
        <p:nvSpPr>
          <p:cNvPr id="20" name="TextBox 19"/>
          <p:cNvSpPr txBox="1"/>
          <p:nvPr/>
        </p:nvSpPr>
        <p:spPr>
          <a:xfrm>
            <a:off x="4502810" y="3303524"/>
            <a:ext cx="3186074" cy="218186"/>
          </a:xfrm>
          <a:prstGeom prst="rect">
            <a:avLst/>
          </a:prstGeom>
          <a:noFill/>
        </p:spPr>
        <p:txBody>
          <a:bodyPr wrap="square" anchor="t" lIns="0" rIns="0" tIns="0" bIns="0">
            <a:spAutoFit/>
          </a:bodyPr>
          <a:lstStyle/>
          <a:p>
            <a:pPr algn="l"/>
            <a:r>
              <a:rPr sz="1100" b="0" i="0">
                <a:solidFill>
                  <a:srgbClr val="6B6690"/>
                </a:solidFill>
                <a:latin typeface="Calibri"/>
              </a:rPr>
              <a:t>Tuesday read the gap as zero.</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5"/>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MALFORMED VALUE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 amount that will not convert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The next export will carry one with no twin.</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9" name="Oval 28"/>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1" name="Oval 3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3" name="Oval 32"/>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5" name="Oval 3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UK sold stock at 1p for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repricing tool's error set hundreds of items to a penny on 12 December 2014.</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1p</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PRICE</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set by a repricing tool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about an hour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WINDOW</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Friday evening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most</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CANCELLED</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once Amazon spotted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value that falls to a default is still treated as real by everything downstream. A coerced zero in a report does the same.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decisions, each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missing status on Q2, and the unreadable amount against the books.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942613"/>
                <a:gridCol w="2985678"/>
                <a:gridCol w="2288298"/>
                <a:gridCol w="914400"/>
              </a:tblGrid>
              <a:tr h="335280">
                <a:tc>
                  <a:txBody>
                    <a:bodyPr/>
                    <a:lstStyle/>
                    <a:p>
                      <a:r>
                        <a:rPr sz="1250" b="1" i="0">
                          <a:solidFill>
                            <a:srgbClr val="FFFFFF"/>
                          </a:solidFill>
                          <a:latin typeface="Calibri"/>
                        </a:rPr>
                        <a:t>Missing status</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c>
                  <a:txBody>
                    <a:bodyPr/>
                    <a:lstStyle/>
                    <a:p>
                      <a:r>
                        <a:rPr sz="1250" b="1" i="0">
                          <a:solidFill>
                            <a:srgbClr val="FFFFFF"/>
                          </a:solidFill>
                          <a:latin typeface="Calibri"/>
                        </a:rPr>
                        <a:t>Delivered</a:t>
                      </a:r>
                    </a:p>
                  </a:txBody>
                  <a:tcPr marL="101600" marR="101600" marT="38100" marB="38100" anchor="ctr">
                    <a:solidFill>
                      <a:srgbClr val="1A0F5C"/>
                    </a:solidFill>
                  </a:tcPr>
                </a:tc>
                <a:tc>
                  <a:txBody>
                    <a:bodyPr/>
                    <a:lstStyle/>
                    <a:p>
                      <a:r>
                        <a:rPr sz="1250" b="1" i="0">
                          <a:solidFill>
                            <a:srgbClr val="FFFFFF"/>
                          </a:solidFill>
                          <a:latin typeface="Calibri"/>
                        </a:rPr>
                        <a:t>Share</a:t>
                      </a:r>
                    </a:p>
                  </a:txBody>
                  <a:tcPr marL="101600" marR="101600" marT="38100" marB="38100" anchor="ctr">
                    <a:solidFill>
                      <a:srgbClr val="1A0F5C"/>
                    </a:solidFill>
                  </a:tcPr>
                </a:tc>
              </a:tr>
              <a:tr h="335280">
                <a:tc>
                  <a:txBody>
                    <a:bodyPr/>
                    <a:lstStyle/>
                    <a:p>
                      <a:r>
                        <a:rPr sz="1200" b="0" i="0">
                          <a:solidFill>
                            <a:srgbClr val="1A1440"/>
                          </a:solidFill>
                          <a:latin typeface="Calibri"/>
                        </a:rPr>
                        <a:t>a) Drop</a:t>
                      </a:r>
                    </a:p>
                  </a:txBody>
                  <a:tcPr marL="101600" marR="101600" marT="38100" marB="38100" anchor="ctr">
                    <a:solidFill>
                      <a:srgbClr val="FFFFFF"/>
                    </a:solidFill>
                  </a:tcPr>
                </a:tc>
                <a:tc>
                  <a:txBody>
                    <a:bodyPr/>
                    <a:lstStyle/>
                    <a:p>
                      <a:r>
                        <a:rPr sz="1200" b="0" i="0">
                          <a:solidFill>
                            <a:srgbClr val="1A1440"/>
                          </a:solidFill>
                          <a:latin typeface="Calibri"/>
                        </a:rPr>
                        <a:t>Rs 1,86,98,150</a:t>
                      </a:r>
                    </a:p>
                  </a:txBody>
                  <a:tcPr marL="101600" marR="101600" marT="38100" marB="38100" anchor="ctr">
                    <a:solidFill>
                      <a:srgbClr val="FFFFFF"/>
                    </a:solidFill>
                  </a:tcPr>
                </a:tc>
                <a:tc>
                  <a:txBody>
                    <a:bodyPr/>
                    <a:lstStyle/>
                    <a:p>
                      <a:r>
                        <a:rPr sz="1200" b="0" i="0">
                          <a:solidFill>
                            <a:srgbClr val="1A1440"/>
                          </a:solidFill>
                          <a:latin typeface="Calibri"/>
                        </a:rPr>
                        <a:t>57 of 85</a:t>
                      </a:r>
                    </a:p>
                  </a:txBody>
                  <a:tcPr marL="101600" marR="101600" marT="38100" marB="38100" anchor="ctr">
                    <a:solidFill>
                      <a:srgbClr val="FFFFFF"/>
                    </a:solidFill>
                  </a:tcPr>
                </a:tc>
                <a:tc>
                  <a:txBody>
                    <a:bodyPr/>
                    <a:lstStyle/>
                    <a:p>
                      <a:r>
                        <a:rPr sz="1200" b="0" i="0">
                          <a:solidFill>
                            <a:srgbClr val="1A1440"/>
                          </a:solidFill>
                          <a:latin typeface="Calibri"/>
                        </a:rPr>
                        <a:t>67.1%</a:t>
                      </a:r>
                    </a:p>
                  </a:txBody>
                  <a:tcPr marL="101600" marR="101600" marT="38100" marB="38100" anchor="ctr">
                    <a:solidFill>
                      <a:srgbClr val="FFFFFF"/>
                    </a:solidFill>
                  </a:tcPr>
                </a:tc>
              </a:tr>
              <a:tr h="335280">
                <a:tc>
                  <a:txBody>
                    <a:bodyPr/>
                    <a:lstStyle/>
                    <a:p>
                      <a:r>
                        <a:rPr sz="1200" b="0" i="0">
                          <a:solidFill>
                            <a:srgbClr val="1A1440"/>
                          </a:solidFill>
                          <a:latin typeface="Calibri"/>
                        </a:rPr>
                        <a:t>b) Default delivered</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58 of 86</a:t>
                      </a:r>
                    </a:p>
                  </a:txBody>
                  <a:tcPr marL="101600" marR="101600" marT="38100" marB="38100" anchor="ctr">
                    <a:solidFill>
                      <a:srgbClr val="F4F2FA"/>
                    </a:solidFill>
                  </a:tcPr>
                </a:tc>
                <a:tc>
                  <a:txBody>
                    <a:bodyPr/>
                    <a:lstStyle/>
                    <a:p>
                      <a:r>
                        <a:rPr sz="1200" b="0" i="0">
                          <a:solidFill>
                            <a:srgbClr val="1A1440"/>
                          </a:solidFill>
                          <a:latin typeface="Calibri"/>
                        </a:rPr>
                        <a:t>67.4%</a:t>
                      </a:r>
                    </a:p>
                  </a:txBody>
                  <a:tcPr marL="101600" marR="101600" marT="38100" marB="38100" anchor="ctr">
                    <a:solidFill>
                      <a:srgbClr val="F4F2FA"/>
                    </a:solidFill>
                  </a:tcPr>
                </a:tc>
              </a:tr>
              <a:tr h="335280">
                <a:tc>
                  <a:txBody>
                    <a:bodyPr/>
                    <a:lstStyle/>
                    <a:p>
                      <a:r>
                        <a:rPr sz="1200" b="0" i="0">
                          <a:solidFill>
                            <a:srgbClr val="1A1440"/>
                          </a:solidFill>
                          <a:latin typeface="Calibri"/>
                        </a:rPr>
                        <a:t>c) Impute from last order</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58 of 86</a:t>
                      </a:r>
                    </a:p>
                  </a:txBody>
                  <a:tcPr marL="101600" marR="101600" marT="38100" marB="38100" anchor="ctr">
                    <a:solidFill>
                      <a:srgbClr val="FFFFFF"/>
                    </a:solidFill>
                  </a:tcPr>
                </a:tc>
                <a:tc>
                  <a:txBody>
                    <a:bodyPr/>
                    <a:lstStyle/>
                    <a:p>
                      <a:r>
                        <a:rPr sz="1200" b="0" i="0">
                          <a:solidFill>
                            <a:srgbClr val="1A1440"/>
                          </a:solidFill>
                          <a:latin typeface="Calibri"/>
                        </a:rPr>
                        <a:t>67.4%</a:t>
                      </a:r>
                    </a:p>
                  </a:txBody>
                  <a:tcPr marL="101600" marR="101600" marT="38100" marB="38100" anchor="ctr">
                    <a:solidFill>
                      <a:srgbClr val="FFFFFF"/>
                    </a:solidFill>
                  </a:tcPr>
                </a:tc>
              </a:tr>
              <a:tr h="335280">
                <a:tc>
                  <a:txBody>
                    <a:bodyPr/>
                    <a:lstStyle/>
                    <a:p>
                      <a:r>
                        <a:rPr sz="1200" b="0" i="0">
                          <a:solidFill>
                            <a:srgbClr val="1A1440"/>
                          </a:solidFill>
                          <a:latin typeface="Calibri"/>
                        </a:rPr>
                        <a:t>d) Keep and flag</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57 of 86</a:t>
                      </a:r>
                    </a:p>
                  </a:txBody>
                  <a:tcPr marL="101600" marR="101600" marT="38100" marB="38100" anchor="ctr">
                    <a:solidFill>
                      <a:srgbClr val="F4F2FA"/>
                    </a:solidFill>
                  </a:tcPr>
                </a:tc>
                <a:tc>
                  <a:txBody>
                    <a:bodyPr/>
                    <a:lstStyle/>
                    <a:p>
                      <a:r>
                        <a:rPr sz="1200" b="0" i="0">
                          <a:solidFill>
                            <a:srgbClr val="1A1440"/>
                          </a:solidFill>
                          <a:latin typeface="Calibri"/>
                        </a:rPr>
                        <a:t>66.3%</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Status: d. Amount: reject to the log, and repair only from an independent copy. What would switch them: a delivery system to ask, or a second export cut from the same extract.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should the missing discount be?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55 of 186 kept orders carry no discount; revenue does not need the field.</a:t>
            </a:r>
          </a:p>
        </p:txBody>
      </p:sp>
      <p:pic>
        <p:nvPicPr>
          <p:cNvPr id="9" name="mermaid diagram" descr="1baee8357466756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average discount with blanks read as zero, against the average over orders that carry one, as a letter? a) the same; b) a few rupees apart; c) about a quarter lower with zeros; d) higher with zeros.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zeros pull it from Rs 67 to Rs 47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Keep and flag: any discount figure is quoted over the orders that carry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 ORDERS THAT CARRY ONE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131 orders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BLANKS READ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186 orders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FLAGGED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beside every figure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The field stays blank, the count goes beside the figure, and revenue is untouched.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failures become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helper turns anything unreadable into 0, and the first copy wins.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to_int(value):</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int(value)</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"so the loop does not crash"</a:t>
            </a:r>
          </a:p>
        </p:txBody>
      </p:sp>
      <p:sp>
        <p:nvSpPr>
          <p:cNvPr id="14" name="TextBox 13"/>
          <p:cNvSpPr txBox="1"/>
          <p:nvPr/>
        </p:nvSpPr>
        <p:spPr>
          <a:xfrm>
            <a:off x="53035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201 of 201</a:t>
            </a:r>
          </a:p>
        </p:txBody>
      </p:sp>
      <p:sp>
        <p:nvSpPr>
          <p:cNvPr id="15" name="TextBox 14"/>
          <p:cNvSpPr txBox="1"/>
          <p:nvPr/>
        </p:nvSpPr>
        <p:spPr>
          <a:xfrm>
            <a:off x="53035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CONVERT</a:t>
            </a:r>
          </a:p>
        </p:txBody>
      </p:sp>
      <p:sp>
        <p:nvSpPr>
          <p:cNvPr id="16" name="TextBox 15"/>
          <p:cNvSpPr txBox="1"/>
          <p:nvPr/>
        </p:nvSpPr>
        <p:spPr>
          <a:xfrm>
            <a:off x="53035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coerced profile</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0</a:t>
            </a:r>
          </a:p>
        </p:txBody>
      </p:sp>
      <p:sp>
        <p:nvSpPr>
          <p:cNvPr id="19" name="TextBox 18"/>
          <p:cNvSpPr txBox="1"/>
          <p:nvPr/>
        </p:nvSpPr>
        <p:spPr>
          <a:xfrm>
            <a:off x="433212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THE REJECTS LOG</a:t>
            </a:r>
          </a:p>
        </p:txBody>
      </p:sp>
      <p:sp>
        <p:nvSpPr>
          <p:cNvPr id="20" name="TextBox 19"/>
          <p:cNvSpPr txBox="1"/>
          <p:nvPr/>
        </p:nvSpPr>
        <p:spPr>
          <a:xfrm>
            <a:off x="433212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to explain</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1,89,98,210</a:t>
            </a:r>
          </a:p>
        </p:txBody>
      </p:sp>
      <p:sp>
        <p:nvSpPr>
          <p:cNvPr id="23" name="TextBox 22"/>
          <p:cNvSpPr txBox="1"/>
          <p:nvPr/>
        </p:nvSpPr>
        <p:spPr>
          <a:xfrm>
            <a:off x="813389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AFTER THE DEDUPE</a:t>
            </a:r>
          </a:p>
        </p:txBody>
      </p:sp>
      <p:sp>
        <p:nvSpPr>
          <p:cNvPr id="24" name="TextBox 23"/>
          <p:cNvSpPr txBox="1"/>
          <p:nvPr/>
        </p:nvSpPr>
        <p:spPr>
          <a:xfrm>
            <a:off x="813389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rounds to 1.9 crore</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zero is a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the unreadable copy is worth Rs 0 it passes as valid, and the rule keeps it.</a:t>
            </a:r>
          </a:p>
        </p:txBody>
      </p:sp>
      <p:pic>
        <p:nvPicPr>
          <p:cNvPr id="9" name="mermaid diagram" descr="604ca694d73212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a Kalpa order be worth nothing? The smallest real order in the export is Rs 680, and the failure count fell from one to zero while nothing was fixed.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reject, then repair only from a witness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JSON feed repeats the defect; the second extract carried the value.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118 of 119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FEED AMOUNTS AGREE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with the clean file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UNREADABLE IN THE FEED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copy of the defect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AGAINST THE BOOKS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after reject and the rule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Rs 0 order leaves the clean file, the twin with the value stays, and the profile reports the one failure the export really had.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profile against the logs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Aggregate counts and row logs must agree on every defect.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749069"/>
                <a:gridCol w="3602536"/>
                <a:gridCol w="2779384"/>
              </a:tblGrid>
              <a:tr h="369824">
                <a:tc>
                  <a:txBody>
                    <a:bodyPr/>
                    <a:lstStyle/>
                    <a:p>
                      <a:r>
                        <a:rPr sz="1450" b="1" i="0">
                          <a:solidFill>
                            <a:srgbClr val="FFFFFF"/>
                          </a:solidFill>
                          <a:latin typeface="Calibri"/>
                        </a:rPr>
                        <a:t>Defect</a:t>
                      </a:r>
                    </a:p>
                  </a:txBody>
                  <a:tcPr marL="101600" marR="101600" marT="38100" marB="38100" anchor="ctr">
                    <a:solidFill>
                      <a:srgbClr val="1A0F5C"/>
                    </a:solidFill>
                  </a:tcPr>
                </a:tc>
                <a:tc>
                  <a:txBody>
                    <a:bodyPr/>
                    <a:lstStyle/>
                    <a:p>
                      <a:r>
                        <a:rPr sz="1450" b="1" i="0">
                          <a:solidFill>
                            <a:srgbClr val="FFFFFF"/>
                          </a:solidFill>
                          <a:latin typeface="Calibri"/>
                        </a:rPr>
                        <a:t>The profile</a:t>
                      </a:r>
                    </a:p>
                  </a:txBody>
                  <a:tcPr marL="101600" marR="101600" marT="38100" marB="38100" anchor="ctr">
                    <a:solidFill>
                      <a:srgbClr val="1A0F5C"/>
                    </a:solidFill>
                  </a:tcPr>
                </a:tc>
                <a:tc>
                  <a:txBody>
                    <a:bodyPr/>
                    <a:lstStyle/>
                    <a:p>
                      <a:r>
                        <a:rPr sz="1450" b="1" i="0">
                          <a:solidFill>
                            <a:srgbClr val="FFFFFF"/>
                          </a:solidFill>
                          <a:latin typeface="Calibri"/>
                        </a:rPr>
                        <a:t>The logs</a:t>
                      </a:r>
                    </a:p>
                  </a:txBody>
                  <a:tcPr marL="101600" marR="101600" marT="38100" marB="38100" anchor="ctr">
                    <a:solidFill>
                      <a:srgbClr val="1A0F5C"/>
                    </a:solidFill>
                  </a:tcPr>
                </a:tc>
              </a:tr>
              <a:tr h="369824">
                <a:tc>
                  <a:txBody>
                    <a:bodyPr/>
                    <a:lstStyle/>
                    <a:p>
                      <a:r>
                        <a:rPr sz="1400" b="0" i="0">
                          <a:solidFill>
                            <a:srgbClr val="1A1440"/>
                          </a:solidFill>
                          <a:latin typeface="Calibri"/>
                        </a:rPr>
                        <a:t>Status missing</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Amount that fails</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r h="369824">
                <a:tc>
                  <a:txBody>
                    <a:bodyPr/>
                    <a:lstStyle/>
                    <a:p>
                      <a:r>
                        <a:rPr sz="1400" b="0" i="0">
                          <a:solidFill>
                            <a:srgbClr val="1A1440"/>
                          </a:solidFill>
                          <a:latin typeface="Calibri"/>
                        </a:rPr>
                        <a:t>Discount missing</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finds defects; the log shows them. Profile the clean file at the end of every pass.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63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Drop, default, or keep and flag: each is a claim about the business.</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Write the claim beside the decision. And never fill money.</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[S] How do you handle missing data?</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399796"/>
          </a:xfrm>
          <a:prstGeom prst="rect">
            <a:avLst/>
          </a:prstGeom>
          <a:noFill/>
        </p:spPr>
        <p:txBody>
          <a:bodyPr wrap="square" anchor="t" lIns="0" rIns="0" tIns="0" bIns="0">
            <a:spAutoFit/>
          </a:bodyPr>
          <a:lstStyle/>
          <a:p>
            <a:pPr algn="l"/>
            <a:r>
              <a:rPr sz="1100" b="0" i="0">
                <a:solidFill>
                  <a:srgbClr val="6B6690"/>
                </a:solidFill>
                <a:latin typeface="Calibri"/>
              </a:rPr>
              <a:t>Status flagged, discount kept unknown, the unreadable amount rejected and repaired from its twin.</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5</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32730"/>
            <a:ext cx="5071719" cy="218186"/>
          </a:xfrm>
          <a:prstGeom prst="rect">
            <a:avLst/>
          </a:prstGeom>
          <a:noFill/>
        </p:spPr>
        <p:txBody>
          <a:bodyPr wrap="square" anchor="t" lIns="0" rIns="0" tIns="0" bIns="0">
            <a:spAutoFit/>
          </a:bodyPr>
          <a:lstStyle/>
          <a:p>
            <a:pPr algn="l"/>
            <a:r>
              <a:rPr sz="1100" b="0" i="0">
                <a:solidFill>
                  <a:srgbClr val="CFC9EE"/>
                </a:solidFill>
                <a:latin typeface="Calibri"/>
              </a:rPr>
              <a:t>The proof for Anand, and whether Tuesday survives.</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63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bridge to the books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From 2.1 to 1.9 move by move, then Tuesday recomputed on the clean file.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63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proof Finance can follow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wants the proof; Marketing wants to know if the Retail-Plus fall is real.</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19,98,210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 TO EXPLAIN</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RETAIL-PLUS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REVENUE DROP</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does the Retail-Plus fall still stand?"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63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Tesco bridged its gap from £250m to £263m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2014 a retailer's own figure was wrong, and the investigation split it by period.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£250m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ESTIMATE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22 September 2014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£263m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INVESTIGATION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23 October 2014</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£118m</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HALF ALONE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rest in earlier years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Supplier income booked early made the reported figure wrong. The fix was a bridge: how much, from which period, for what cause.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prove which figure is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on this export.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111216"/>
                <a:gridCol w="2388217"/>
                <a:gridCol w="3112601"/>
                <a:gridCol w="151895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behind it</a:t>
                      </a:r>
                    </a:p>
                  </a:txBody>
                  <a:tcPr marL="101600" marR="101600" marT="38100" marB="38100" anchor="ctr">
                    <a:solidFill>
                      <a:srgbClr val="1A0F5C"/>
                    </a:solidFill>
                  </a:tcPr>
                </a:tc>
                <a:tc>
                  <a:txBody>
                    <a:bodyPr/>
                    <a:lstStyle/>
                    <a:p>
                      <a:r>
                        <a:rPr sz="1250" b="1" i="0">
                          <a:solidFill>
                            <a:srgbClr val="FFFFFF"/>
                          </a:solidFill>
                          <a:latin typeface="Calibri"/>
                        </a:rPr>
                        <a:t>Closes to the books</a:t>
                      </a:r>
                    </a:p>
                  </a:txBody>
                  <a:tcPr marL="101600" marR="101600" marT="38100" marB="38100" anchor="ctr">
                    <a:solidFill>
                      <a:srgbClr val="1A0F5C"/>
                    </a:solidFill>
                  </a:tcPr>
                </a:tc>
                <a:tc>
                  <a:txBody>
                    <a:bodyPr/>
                    <a:lstStyle/>
                    <a:p>
                      <a:r>
                        <a:rPr sz="1250" b="1" i="0">
                          <a:solidFill>
                            <a:srgbClr val="FFFFFF"/>
                          </a:solidFill>
                          <a:latin typeface="Calibri"/>
                        </a:rPr>
                        <a:t>Says why</a:t>
                      </a:r>
                    </a:p>
                  </a:txBody>
                  <a:tcPr marL="101600" marR="101600" marT="38100" marB="38100" anchor="ctr">
                    <a:solidFill>
                      <a:srgbClr val="1A0F5C"/>
                    </a:solidFill>
                  </a:tcPr>
                </a:tc>
              </a:tr>
              <a:tr h="335280">
                <a:tc>
                  <a:txBody>
                    <a:bodyPr/>
                    <a:lstStyle/>
                    <a:p>
                      <a:r>
                        <a:rPr sz="1200" b="0" i="0">
                          <a:solidFill>
                            <a:srgbClr val="1A1440"/>
                          </a:solidFill>
                          <a:latin typeface="Calibri"/>
                        </a:rPr>
                        <a:t>a) Take the books' figure</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Difference of the totals</a:t>
                      </a:r>
                    </a:p>
                  </a:txBody>
                  <a:tcPr marL="101600" marR="101600" marT="38100" marB="38100" anchor="ctr">
                    <a:solidFill>
                      <a:srgbClr val="F4F2FA"/>
                    </a:solidFill>
                  </a:tcPr>
                </a:tc>
                <a:tc>
                  <a:txBody>
                    <a:bodyPr/>
                    <a:lstStyle/>
                    <a:p>
                      <a:r>
                        <a:rPr sz="1200" b="0" i="0">
                          <a:solidFill>
                            <a:srgbClr val="1A1440"/>
                          </a:solidFill>
                          <a:latin typeface="Calibri"/>
                        </a:rPr>
                        <a:t>2 totals</a:t>
                      </a:r>
                    </a:p>
                  </a:txBody>
                  <a:tcPr marL="101600" marR="101600" marT="38100" marB="38100" anchor="ctr">
                    <a:solidFill>
                      <a:srgbClr val="F4F2FA"/>
                    </a:solidFill>
                  </a:tcPr>
                </a:tc>
                <a:tc>
                  <a:txBody>
                    <a:bodyPr/>
                    <a:lstStyle/>
                    <a:p>
                      <a:r>
                        <a:rPr sz="1200" b="0" i="0">
                          <a:solidFill>
                            <a:srgbClr val="1A1440"/>
                          </a:solidFill>
                          <a:latin typeface="Calibri"/>
                        </a:rPr>
                        <a:t>as a total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A bridge by cause</a:t>
                      </a:r>
                    </a:p>
                  </a:txBody>
                  <a:tcPr marL="101600" marR="101600" marT="38100" marB="38100" anchor="ctr">
                    <a:solidFill>
                      <a:srgbClr val="FFFFFF"/>
                    </a:solidFill>
                  </a:tcPr>
                </a:tc>
                <a:tc>
                  <a:txBody>
                    <a:bodyPr/>
                    <a:lstStyle/>
                    <a:p>
                      <a:r>
                        <a:rPr sz="1200" b="0" i="0">
                          <a:solidFill>
                            <a:srgbClr val="1A1440"/>
                          </a:solidFill>
                          <a:latin typeface="Calibri"/>
                        </a:rPr>
                        <a:t>15 logged rows</a:t>
                      </a:r>
                    </a:p>
                  </a:txBody>
                  <a:tcPr marL="101600" marR="101600" marT="38100" marB="38100" anchor="ctr">
                    <a:solidFill>
                      <a:srgbClr val="FFFFFF"/>
                    </a:solidFill>
                  </a:tcPr>
                </a:tc>
                <a:tc>
                  <a:txBody>
                    <a:bodyPr/>
                    <a:lstStyle/>
                    <a:p>
                      <a:r>
                        <a:rPr sz="1200" b="0" i="0">
                          <a:solidFill>
                            <a:srgbClr val="1A1440"/>
                          </a:solidFill>
                          <a:latin typeface="Calibri"/>
                        </a:rPr>
                        <a:t>to the rupee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Rebuild from the JSON feed</a:t>
                      </a:r>
                    </a:p>
                  </a:txBody>
                  <a:tcPr marL="101600" marR="101600" marT="38100" marB="38100" anchor="ctr">
                    <a:solidFill>
                      <a:srgbClr val="F4F2FA"/>
                    </a:solidFill>
                  </a:tcPr>
                </a:tc>
                <a:tc>
                  <a:txBody>
                    <a:bodyPr/>
                    <a:lstStyle/>
                    <a:p>
                      <a:r>
                        <a:rPr sz="1200" b="0" i="0">
                          <a:solidFill>
                            <a:srgbClr val="1A1440"/>
                          </a:solidFill>
                          <a:latin typeface="Calibri"/>
                        </a:rPr>
                        <a:t>119 records</a:t>
                      </a:r>
                    </a:p>
                  </a:txBody>
                  <a:tcPr marL="101600" marR="101600" marT="38100" marB="38100" anchor="ctr">
                    <a:solidFill>
                      <a:srgbClr val="F4F2FA"/>
                    </a:solidFill>
                  </a:tcPr>
                </a:tc>
                <a:tc>
                  <a:txBody>
                    <a:bodyPr/>
                    <a:lstStyle/>
                    <a:p>
                      <a:r>
                        <a:rPr sz="1200" b="0" i="0">
                          <a:solidFill>
                            <a:srgbClr val="1A1440"/>
                          </a:solidFill>
                          <a:latin typeface="Calibri"/>
                        </a:rPr>
                        <a:t>-Rs 1,790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 What would switch it: a bridge that does not close, and then the gap itself is the finding, perhaps in Finance's books.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2.1 to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moves, each backed by logged rows, land on the books.</a:t>
            </a:r>
          </a:p>
        </p:txBody>
      </p:sp>
      <p:pic>
        <p:nvPicPr>
          <p:cNvPr id="9" name="mermaid diagram" descr="50e2125378948408.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unreadable amount needs no move: it was never in the exported total, and its twin stayed. The notebook draws it with kit.bridge, the axis raised to Rs 1.88 crore.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Tuesday's finding survive?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per customer fell 49 percent on the dirty export.</a:t>
            </a:r>
          </a:p>
        </p:txBody>
      </p:sp>
      <p:pic>
        <p:nvPicPr>
          <p:cNvPr id="9" name="mermaid diagram" descr="3f7eafcf8b2ef7d1.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clean data, the Retail-Plus fall, as a letter? a) disappears; b) survives, smaller; c) grows; d) moves to Retail-Core.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survives, smaller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-35.0 percent, 1.82 to 1.18, and the revenue drop shrinks from 11.0 to 1.6 percent.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678137"/>
                <a:gridCol w="3316107"/>
                <a:gridCol w="3136745"/>
              </a:tblGrid>
              <a:tr h="369824">
                <a:tc>
                  <a:txBody>
                    <a:bodyPr/>
                    <a:lstStyle/>
                    <a:p>
                      <a:r>
                        <a:rPr sz="1450" b="1" i="0">
                          <a:solidFill>
                            <a:srgbClr val="FFFFFF"/>
                          </a:solidFill>
                          <a:latin typeface="Calibri"/>
                        </a:rPr>
                        <a:t>Number</a:t>
                      </a:r>
                    </a:p>
                  </a:txBody>
                  <a:tcPr marL="101600" marR="101600" marT="38100" marB="38100" anchor="ctr">
                    <a:solidFill>
                      <a:srgbClr val="1A0F5C"/>
                    </a:solidFill>
                  </a:tcPr>
                </a:tc>
                <a:tc>
                  <a:txBody>
                    <a:bodyPr/>
                    <a:lstStyle/>
                    <a:p>
                      <a:r>
                        <a:rPr sz="1450" b="1" i="0">
                          <a:solidFill>
                            <a:srgbClr val="FFFFFF"/>
                          </a:solidFill>
                          <a:latin typeface="Calibri"/>
                        </a:rPr>
                        <a:t>As Tuesday reported</a:t>
                      </a:r>
                    </a:p>
                  </a:txBody>
                  <a:tcPr marL="101600" marR="101600" marT="38100" marB="38100" anchor="ctr">
                    <a:solidFill>
                      <a:srgbClr val="1A0F5C"/>
                    </a:solidFill>
                  </a:tcPr>
                </a:tc>
                <a:tc>
                  <a:txBody>
                    <a:bodyPr/>
                    <a:lstStyle/>
                    <a:p>
                      <a:r>
                        <a:rPr sz="1450" b="1" i="0">
                          <a:solidFill>
                            <a:srgbClr val="FFFFFF"/>
                          </a:solidFill>
                          <a:latin typeface="Calibri"/>
                        </a:rPr>
                        <a:t>On clean data</a:t>
                      </a:r>
                    </a:p>
                  </a:txBody>
                  <a:tcPr marL="101600" marR="101600" marT="38100" marB="38100" anchor="ctr">
                    <a:solidFill>
                      <a:srgbClr val="1A0F5C"/>
                    </a:solidFill>
                  </a:tcPr>
                </a:tc>
              </a:tr>
              <a:tr h="369824">
                <a:tc>
                  <a:txBody>
                    <a:bodyPr/>
                    <a:lstStyle/>
                    <a:p>
                      <a:r>
                        <a:rPr sz="1400" b="0" i="0">
                          <a:solidFill>
                            <a:srgbClr val="1A1440"/>
                          </a:solidFill>
                          <a:latin typeface="Calibri"/>
                        </a:rPr>
                        <a:t>Revenue, Q1 to Q2</a:t>
                      </a:r>
                    </a:p>
                  </a:txBody>
                  <a:tcPr marL="101600" marR="101600" marT="38100" marB="38100" anchor="ctr">
                    <a:solidFill>
                      <a:srgbClr val="FFFFFF"/>
                    </a:solidFill>
                  </a:tcPr>
                </a:tc>
                <a:tc>
                  <a:txBody>
                    <a:bodyPr/>
                    <a:lstStyle/>
                    <a:p>
                      <a:r>
                        <a:rPr sz="1400" b="0" i="0">
                          <a:solidFill>
                            <a:srgbClr val="1A1440"/>
                          </a:solidFill>
                          <a:latin typeface="Calibri"/>
                        </a:rPr>
                        <a:t>-11.0%</a:t>
                      </a:r>
                    </a:p>
                  </a:txBody>
                  <a:tcPr marL="101600" marR="101600" marT="38100" marB="38100" anchor="ctr">
                    <a:solidFill>
                      <a:srgbClr val="FFFFFF"/>
                    </a:solidFill>
                  </a:tcPr>
                </a:tc>
                <a:tc>
                  <a:txBody>
                    <a:bodyPr/>
                    <a:lstStyle/>
                    <a:p>
                      <a:r>
                        <a:rPr sz="1400" b="0" i="0">
                          <a:solidFill>
                            <a:srgbClr val="1A1440"/>
                          </a:solidFill>
                          <a:latin typeface="Calibri"/>
                        </a:rPr>
                        <a:t>-1.6%</a:t>
                      </a:r>
                    </a:p>
                  </a:txBody>
                  <a:tcPr marL="101600" marR="101600" marT="38100" marB="38100" anchor="ctr">
                    <a:solidFill>
                      <a:srgbClr val="FFFFFF"/>
                    </a:solidFill>
                  </a:tcPr>
                </a:tc>
              </a:tr>
              <a:tr h="369824">
                <a:tc>
                  <a:txBody>
                    <a:bodyPr/>
                    <a:lstStyle/>
                    <a:p>
                      <a:r>
                        <a:rPr sz="1400" b="0" i="0">
                          <a:solidFill>
                            <a:srgbClr val="1A1440"/>
                          </a:solidFill>
                          <a:latin typeface="Calibri"/>
                        </a:rPr>
                        <a:t>Retail-Plus orders per customer</a:t>
                      </a:r>
                    </a:p>
                  </a:txBody>
                  <a:tcPr marL="101600" marR="101600" marT="38100" marB="38100" anchor="ctr">
                    <a:solidFill>
                      <a:srgbClr val="F4F2FA"/>
                    </a:solidFill>
                  </a:tcPr>
                </a:tc>
                <a:tc>
                  <a:txBody>
                    <a:bodyPr/>
                    <a:lstStyle/>
                    <a:p>
                      <a:r>
                        <a:rPr sz="1400" b="0" i="0">
                          <a:solidFill>
                            <a:srgbClr val="1A1440"/>
                          </a:solidFill>
                          <a:latin typeface="Calibri"/>
                        </a:rPr>
                        <a:t>2.32 to 1.18, -49.0%</a:t>
                      </a:r>
                    </a:p>
                  </a:txBody>
                  <a:tcPr marL="101600" marR="101600" marT="38100" marB="38100" anchor="ctr">
                    <a:solidFill>
                      <a:srgbClr val="F4F2FA"/>
                    </a:solidFill>
                  </a:tcPr>
                </a:tc>
                <a:tc>
                  <a:txBody>
                    <a:bodyPr/>
                    <a:lstStyle/>
                    <a:p>
                      <a:r>
                        <a:rPr sz="1400" b="0" i="0">
                          <a:solidFill>
                            <a:srgbClr val="1A1440"/>
                          </a:solidFill>
                          <a:latin typeface="Calibri"/>
                        </a:rPr>
                        <a:t>1.82 to 1.18, -35.0%</a:t>
                      </a:r>
                    </a:p>
                  </a:txBody>
                  <a:tcPr marL="101600" marR="101600" marT="38100" marB="38100" anchor="ctr">
                    <a:solidFill>
                      <a:srgbClr val="F4F2FA"/>
                    </a:solidFill>
                  </a:tcPr>
                </a:tc>
              </a:tr>
              <a:tr h="369824">
                <a:tc>
                  <a:txBody>
                    <a:bodyPr/>
                    <a:lstStyle/>
                    <a:p>
                      <a:r>
                        <a:rPr sz="1400" b="0" i="0">
                          <a:solidFill>
                            <a:srgbClr val="1A1440"/>
                          </a:solidFill>
                          <a:latin typeface="Calibri"/>
                        </a:rPr>
                        <a:t>Retail-Core orders per customer</a:t>
                      </a:r>
                    </a:p>
                  </a:txBody>
                  <a:tcPr marL="101600" marR="101600" marT="38100" marB="38100" anchor="ctr">
                    <a:solidFill>
                      <a:srgbClr val="FFFFFF"/>
                    </a:solidFill>
                  </a:tcPr>
                </a:tc>
                <a:tc>
                  <a:txBody>
                    <a:bodyPr/>
                    <a:lstStyle/>
                    <a:p>
                      <a:r>
                        <a:rPr sz="1400" b="0" i="0">
                          <a:solidFill>
                            <a:srgbClr val="1A1440"/>
                          </a:solidFill>
                          <a:latin typeface="Calibri"/>
                        </a:rPr>
                        <a:t>-5.3%</a:t>
                      </a:r>
                    </a:p>
                  </a:txBody>
                  <a:tcPr marL="101600" marR="101600" marT="38100" marB="38100" anchor="ctr">
                    <a:solidFill>
                      <a:srgbClr val="FFFFFF"/>
                    </a:solidFill>
                  </a:tcPr>
                </a:tc>
                <a:tc>
                  <a:txBody>
                    <a:bodyPr/>
                    <a:lstStyle/>
                    <a:p>
                      <a:r>
                        <a:rPr sz="1400" b="0" i="0">
                          <a:solidFill>
                            <a:srgbClr val="1A1440"/>
                          </a:solidFill>
                          <a:latin typeface="Calibri"/>
                        </a:rPr>
                        <a:t>-2.7%</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b. Most copies sat in Retail-Plus in Q1, so Tuesday's Q1 rate was inflated. The smaller number goes first in the note.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remove the outlier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Q2's largest order is 1.66 times the next, so a hurried analyst removes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hurried figure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-17.1%</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1.90 crore to 1.58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1.66x</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NEXT LARGEST</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why it looked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5" name="Oval 2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9" name="Oval 2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large is not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Business order in lakhs is the business doing what it does.</a:t>
            </a:r>
          </a:p>
        </p:txBody>
      </p:sp>
      <p:pic>
        <p:nvPicPr>
          <p:cNvPr id="9" name="mermaid diagram" descr="e56018d12ff250c4.png"/>
          <p:cNvPicPr>
            <a:picLocks noChangeAspect="1"/>
          </p:cNvPicPr>
          <p:nvPr/>
        </p:nvPicPr>
        <p:blipFill>
          <a:blip r:embed="rId5"/>
          <a:stretch>
            <a:fillRect/>
          </a:stretch>
        </p:blipFill>
        <p:spPr>
          <a:xfrm>
            <a:off x="2994249" y="1664208"/>
            <a:ext cx="6203196"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Ask whether the record is wrong, never whether it is big. A fence over the whole quarter flags all 17 Business orders, since it mixes a Rs 2,000 basket with a corporate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63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the note to Finance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Bottom up, the kept orders sum to the same Q1 the bridge reached top down.</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"Anand, your 1.9 crore is right. The ERP export counted fifteen rows twice, fourteen of them in Q1; copies of two corporate orders carry Rs 19,67,560 of the Rs 19,98,210 difference. Rows and rupees reconcile to your books. On clean data the drop is 1.6 percent, not 11, and the Retail-Plus fall is 35 percent, not 49. It survives, smaller."</a:t>
            </a:r>
          </a:p>
          <a:p>
            <a:pPr>
              <a:spcBef>
                <a:spcPts val="400"/>
              </a:spcBef>
            </a:pPr>
            <a:r>
              <a:rPr sz="1000" b="0" i="0">
                <a:solidFill>
                  <a:srgbClr val="6B6690"/>
                </a:solidFill>
                <a:latin typeface="Calibri"/>
              </a:rPr>
              <a:t>The GCC data and AI team</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9" name="Oval 1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reconciliations, the bridge drawn, and what changed said first.</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Tell me what changed in Tuesday's story, including when it got smaller.</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[S] Finance and your dashboard disagree; what do you do?</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399796"/>
          </a:xfrm>
          <a:prstGeom prst="rect">
            <a:avLst/>
          </a:prstGeom>
          <a:noFill/>
        </p:spPr>
        <p:txBody>
          <a:bodyPr wrap="square" anchor="t" lIns="0" rIns="0" tIns="0" bIns="0">
            <a:spAutoFit/>
          </a:bodyPr>
          <a:lstStyle/>
          <a:p>
            <a:pPr algn="l"/>
            <a:r>
              <a:rPr sz="1100" b="0" i="0">
                <a:solidFill>
                  <a:srgbClr val="6B6690"/>
                </a:solidFill>
                <a:latin typeface="Calibri"/>
              </a:rPr>
              <a:t>Finance's 1.9 crore is right, the bridge closes, Retail-Plus -35.0 percent.</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After lunch</a:t>
            </a:r>
          </a:p>
        </p:txBody>
      </p:sp>
      <p:sp>
        <p:nvSpPr>
          <p:cNvPr id="30" name="TextBox 29"/>
          <p:cNvSpPr txBox="1"/>
          <p:nvPr/>
        </p:nvSpPr>
        <p:spPr>
          <a:xfrm>
            <a:off x="6388455" y="5332730"/>
            <a:ext cx="5071719" cy="218186"/>
          </a:xfrm>
          <a:prstGeom prst="rect">
            <a:avLst/>
          </a:prstGeom>
          <a:noFill/>
        </p:spPr>
        <p:txBody>
          <a:bodyPr wrap="square" anchor="t" lIns="0" rIns="0" tIns="0" bIns="0">
            <a:spAutoFit/>
          </a:bodyPr>
          <a:lstStyle/>
          <a:p>
            <a:pPr algn="l"/>
            <a:r>
              <a:rPr sz="1100" b="0" i="0">
                <a:solidFill>
                  <a:srgbClr val="CFC9EE"/>
                </a:solidFill>
                <a:latin typeface="Calibri"/>
              </a:rPr>
              <a:t>Can Anand's analyst audit and replay every decision?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