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one minute. Read Anand's reply aloud and leave it on screen. Tuesday's finding went to the</a:t>
            </a:r>
          </a:p>
          <a:p>
            <a:r>
              <a:t>leadership group last night, and this is the first reply. The ERP is the enterprise resource</a:t>
            </a:r>
          </a:p>
          <a:p>
            <a:r>
              <a:t>planning system Finance books orders in. The day asks one question and climbs it in six chapters:</a:t>
            </a:r>
          </a:p>
          <a:p>
            <a:r>
              <a:t>which Q1 figure is right, and how do we prove it to an analyst who ties out, matching every figure</a:t>
            </a:r>
          </a:p>
          <a:p>
            <a:r>
              <a:t>to the books line by line? Five chapters this block and the sixth after lunch. Then the ladder.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day's question, then the six chapter questions in order: each is the</a:t>
            </a:r>
          </a:p>
          <a:p>
            <a:r>
              <a:t>question the answer before it raises, and each chapter closes on its own answer with a number.</a:t>
            </a:r>
          </a:p>
          <a:p>
            <a:r>
              <a:t>Chapter 6 runs after lunch. Leave the question up while you set the scene. Then the reply to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Revenue here is booked value in rupees: every order at the price charged, whatever</a:t>
            </a:r>
          </a:p>
          <a:p>
            <a:r>
              <a:t>its status, which is how both of Anand's figures count it. A migration is the move of the order data</a:t>
            </a:r>
          </a:p>
          <a:p>
            <a:r>
              <a:t>from one system to another, and an extract is one pull of rows out of the ERP. Ask: whose number do</a:t>
            </a:r>
          </a:p>
          <a:p>
            <a:r>
              <a:t>you trust before looking at anything? Most say Finance. The honest answer is neither yet: both are</a:t>
            </a:r>
          </a:p>
          <a:p>
            <a:r>
              <a:t>computed correctly from something, and the job is to find what. Then the four readers.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Say when each gets answered: Anand's and Marketing's by the end of this block, the</a:t>
            </a:r>
          </a:p>
          <a:p>
            <a:r>
              <a:t>analyst's and the auditor's after lunch. Watch for learners who want to start coding and hold them,</a:t>
            </a:r>
          </a:p>
          <a:p>
            <a:r>
              <a:t>since the thinking comes first. Then the question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Pairs, three minutes: one way per branch that an ERP export could produce it.</a:t>
            </a:r>
          </a:p>
          <a:p>
            <a:r>
              <a:t>Expect copies from a migration, a text amount read wrongly, returns counted as sales, a window that</a:t>
            </a:r>
          </a:p>
          <a:p>
            <a:r>
              <a:t>differs. The point is the list; the letter comes next.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answer is a, chosen for cost more than likelihood, though the ERP note about a</a:t>
            </a:r>
          </a:p>
          <a:p>
            <a:r>
              <a:t>stitched CSV makes it likelier too. Then the four moves of the day.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Draw this with the room and leave it up all day. The dotted arrow is the log,</a:t>
            </a:r>
          </a:p>
          <a:p>
            <a:r>
              <a:t>written as you go and never reconstructed at the end. Tuesday skipped the first box. Then chapter 1.</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C2_W01_D03_01_profile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Each gets its answer before the next is asked, and the</a:t>
            </a:r>
          </a:p>
          <a:p>
            <a:r>
              <a:t>chapter's last slide answers all six in a line each beside the review of Kavya Nair, the senior</a:t>
            </a:r>
          </a:p>
          <a:p>
            <a:r>
              <a:t>analyst who checks every number before it leaves the team. Then the need.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If the note says the dashboard is right and it is not, the analyst finds it and</a:t>
            </a:r>
          </a:p>
          <a:p>
            <a:r>
              <a:t>discounts every later number the team sends, and Marketing's campaign waits a month on a finding</a:t>
            </a:r>
          </a:p>
          <a:p>
            <a:r>
              <a:t>Finance will not accept. Then a retailer that skipped this step.</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CBC News, 15 January 2015; Salsify's summary of Joe</a:t>
            </a:r>
          </a:p>
          <a:p>
            <a:r>
              <a:t>Castaldo's Canadian Business investigation for the hand-typed products and the 30 percent figure,</a:t>
            </a:r>
          </a:p>
          <a:p>
            <a:r>
              <a:t>against 98 to 99 percent in the US. Say "about" and name the source aloud, since the 30 percent is a</a:t>
            </a:r>
          </a:p>
          <a:p>
            <a:r>
              <a:t>secondary summary.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minutes for b and c are an illustrative half-second a cell and half a minute a</a:t>
            </a:r>
          </a:p>
          <a:p>
            <a:r>
              <a:t>row. A sample reads the rows it draws and says nothing about the rest; on a file of crores of rows</a:t>
            </a:r>
          </a:p>
          <a:p>
            <a:r>
              <a:t>due in an hour, even the profile can be too slow, and then the key and the money fields go first.</a:t>
            </a:r>
          </a:p>
          <a:p>
            <a:r>
              <a:t>Then the picture of a profile.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Ask what "distinct" says about order_id that "present" cannot: whether ids repeat.</a:t>
            </a:r>
          </a:p>
          <a:p>
            <a:r>
              <a:t>Then open notebook 01. When open("orders.csv") fails with FileNotFoundError, give it two minutes on</a:t>
            </a:r>
          </a:p>
          <a:p>
            <a:r>
              <a:t>the last line, which names the folder Python looked in; the exports live in ../data/. Then predict.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before the notebook cell runs. Point at the second line: every</a:t>
            </a:r>
          </a:p>
          <a:p>
            <a:r>
              <a:t>value a CSV gives back is text, so every sum, sort and comparison depends on a conversion somebody</a:t>
            </a:r>
          </a:p>
          <a:p>
            <a:r>
              <a:t>chose.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Do not explain the other three yet; name the chapter that answers</a:t>
            </a:r>
          </a:p>
          <a:p>
            <a:r>
              <a:t>each: order_id in chapters 2 and 3, amount and status in chapter 4. Then the sort an audit starts</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01, section 3. Anand's analyst audits the largest orders first, since one</a:t>
            </a:r>
          </a:p>
          <a:p>
            <a:r>
              <a:t>of them can carry more money than a hundred small ones. Run it and ask what she would tie out</a:t>
            </a:r>
          </a:p>
          <a:p>
            <a:r>
              <a:t>tonight: three small orders. The decision it misleads is an audit that passes on the part of the</a:t>
            </a:r>
          </a:p>
          <a:p>
            <a:r>
              <a:t>file that carries the least money. Then why.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check is a business question, which is the habit to build: a number that</a:t>
            </a:r>
          </a:p>
          <a:p>
            <a:r>
              <a:t>contradicts what the business does is wrong before any code is read.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Convert before any sort, max or comparison on an amount. The same conversion that</a:t>
            </a:r>
          </a:p>
          <a:p>
            <a:r>
              <a:t>fixes the sort also has to say what it does with an amount that will not convert, which is the next</a:t>
            </a:r>
          </a:p>
          <a:p>
            <a:r>
              <a:t>question. Then predict Q1.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First the your-turn cell: the room runs int() over every amount and meets the</a:t>
            </a:r>
          </a:p>
          <a:p>
            <a:r>
              <a:t>ValueError. Two minutes: read the last line, write the value down, and move on; it is an error met</a:t>
            </a:r>
          </a:p>
          <a:p>
            <a:r>
              <a:t>on the way, and the lesson is this cell.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The dashboard's 2.1 crore is honest arithmetic on this file, so</a:t>
            </a:r>
          </a:p>
          <a:p>
            <a:r>
              <a:t>both of Anand's figures are honest: the question is what the extra rows are. Then the app's feed.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and the first thing to cut if the chapter runs long. json.load stops with a</a:t>
            </a:r>
          </a:p>
          <a:p>
            <a:r>
              <a:t>JSONDecodeError, met in an empty cell: two minutes, open the file at the line and column the last</a:t>
            </a:r>
          </a:p>
          <a:p>
            <a:r>
              <a:t>line names. The notebook reads the feed one complete record at a time: 119 records, all of them</a:t>
            </a:r>
          </a:p>
          <a:p>
            <a:r>
              <a:t>orders the CSV holds, before the cut. Then a second route to the profile's counts.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slip in convert() or in a set cannot move either count, which is what makes it a</a:t>
            </a:r>
          </a:p>
          <a:p>
            <a:r>
              <a:t>second route.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tag says how often screens ask it: [S] a staple asked everywhere, [F] frequent</a:t>
            </a:r>
          </a:p>
          <a:p>
            <a:r>
              <a:t>at global capability centres and product companies, [D] a differentiator. One breath for the</a:t>
            </a:r>
          </a:p>
          <a:p>
            <a:r>
              <a:t>interview: arithmetic, comparison and sorting break or silently lie on text; convert once at the</a:t>
            </a:r>
          </a:p>
          <a:p>
            <a:r>
              <a:t>boundary in one function that returns the value or the reason, and log the failures. The answer</a:t>
            </a:r>
          </a:p>
          <a:p>
            <a:r>
              <a:t>raises chapter 2's question: 201 rows for 186 orders, so which rows repeat? Then chapter 2.</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C2_W01_D03_02_duplicates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a dedupe is the step that removes repeated rows. Then what a</a:t>
            </a:r>
          </a:p>
          <a:p>
            <a:r>
              <a:t>wrong answer costs.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cost runs both ways: keep Rs 20 lakh that was never earned, or delete real</a:t>
            </a:r>
          </a:p>
          <a:p>
            <a:r>
              <a:t>orders from the books. Then a company that counted one purchase twice.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NBC News and AP, 10 June 2009, checked 30 Sep 2026. It is a duplicated</a:t>
            </a:r>
          </a:p>
          <a:p>
            <a:r>
              <a:t>charge, the customer's side of the same mistake Kalpa's export makes in its revenue. Then the four</a:t>
            </a:r>
          </a:p>
          <a:p>
            <a:r>
              <a:t>rules.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fuzzy match, same customer and same amount dated within 60 days, has no key to</a:t>
            </a:r>
          </a:p>
          <a:p>
            <a:r>
              <a:t>group on, so it costs 20,100 pair comparisons here against 201 lookups for a key, and about 200 lakh</a:t>
            </a:r>
          </a:p>
          <a:p>
            <a:r>
              <a:t>crore pairs on a file of 2 crore rows. Point at d: the same count as c, and other rows. Then the</a:t>
            </a:r>
          </a:p>
          <a:p>
            <a:r>
              <a:t>rule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This is the chapter's one new idea. A duplicate only exists relative to a rule, so</a:t>
            </a:r>
          </a:p>
          <a:p>
            <a:r>
              <a:t>the count comes after the rule. Then predict where the extra rows sit.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b. That is a lead, and the next step is to remove the copies, which is</a:t>
            </a:r>
          </a:p>
          <a:p>
            <a:r>
              <a:t>where a hurried analyst reaches for the default tool. Then the plausible wrong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02, section 3. Chapter 1's rejects log cited a file line, so every record</a:t>
            </a:r>
          </a:p>
          <a:p>
            <a:r>
              <a:t>now carries one. Ask what they would do with a dedupe that finds zero; most would report it, since</a:t>
            </a:r>
          </a:p>
          <a:p>
            <a:r>
              <a:t>the function ran without error. The note would tell Anand his books are Rs 20 lakh short. Then why.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invented five are in notebook 02, labelled invented. The decision it misleads:</a:t>
            </a:r>
          </a:p>
          <a:p>
            <a:r>
              <a:t>Finance sent hunting for revenue that was never earned.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Do not read the ids aloud. The your-turn cell prints both lines of each order; ask</a:t>
            </a:r>
          </a:p>
          <a:p>
            <a:r>
              <a:t>what the second line numbers have in common and what that says about the migration, and let the room</a:t>
            </a:r>
          </a:p>
          <a:p>
            <a:r>
              <a:t>say it. Then a rule that flags as many rows.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decision it misleads: a reviewer comparing counts signs off a pass that removes</a:t>
            </a:r>
          </a:p>
          <a:p>
            <a:r>
              <a:t>a real Q2 order, since equal counts can hide different rows. Then a count that needs no dictionary.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Both routes assert 15 and agree quarter by quarter. With no id on three rows, each</a:t>
            </a:r>
          </a:p>
          <a:p>
            <a:r>
              <a:t>pair sharing an id is one extra row.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the business's identity rule first, rows against distinct keys, and</a:t>
            </a:r>
          </a:p>
          <a:p>
            <a:r>
              <a:t>weigh the copies in money. The answer raises chapter 3's question: of each pair, which copy stays?</a:t>
            </a:r>
          </a:p>
          <a:p>
            <a:r>
              <a:t>Then chapter 3.</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C2_W01_D03_03_identity_rule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what the analyst loses to the wrong copy.</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Thirteen of the fifteen pairs are identical, and either row may stay. Anand's</a:t>
            </a:r>
          </a:p>
          <a:p>
            <a:r>
              <a:t>analyst is the reader, and every choice is visible to her in the log. Then a system that wrote the</a:t>
            </a:r>
          </a:p>
          <a:p>
            <a:r>
              <a:t>rule into law.</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GSTN e-invoice FAQ version 1.4, questions 9, 17 and</a:t>
            </a:r>
          </a:p>
          <a:p>
            <a:r>
              <a:t>65, and Notification 10/2023-Central Tax. The portal hashes the same fields into the invoice</a:t>
            </a:r>
          </a:p>
          <a:p>
            <a:r>
              <a:t>reference number, and a repeat is refused at the door. The rule covers invoices to registered</a:t>
            </a:r>
          </a:p>
          <a:p>
            <a:r>
              <a:t>businesses from sellers above Rs 5 crore of aggregate turnover, and some sectors, such as banks and</a:t>
            </a:r>
          </a:p>
          <a:p>
            <a:r>
              <a:t>insurers, are exempt. Then the four ways to choose.</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Thirteen of the fifteen escalations would carry no question at all. Then three</a:t>
            </a:r>
          </a:p>
          <a:p>
            <a:r>
              <a:t>kinds of pair on invented records.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pairs are invented, one of each kind. Pair A is easy and pair B has one</a:t>
            </a:r>
          </a:p>
          <a:p>
            <a:r>
              <a:t>answer that can be summed. Letters in chat for pair C. Then the rule.</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a. Keeping the first copy of pair B would keep a row that cannot be</a:t>
            </a:r>
          </a:p>
          <a:p>
            <a:r>
              <a:t>summed, which is why the rule prefers the copy that validates. Then the rule on the ERP file.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your-turn cell prints the two log rows whose reason says more than "second</a:t>
            </a:r>
          </a:p>
          <a:p>
            <a:r>
              <a:t>copy". Each learner says what the reasons show, where the amount chapter 1 could not read went and</a:t>
            </a:r>
          </a:p>
          <a:p>
            <a:r>
              <a:t>which field a pair disagrees on, then writes the question they would send the ERP team. Then a pass</a:t>
            </a:r>
          </a:p>
          <a:p>
            <a:r>
              <a:t>that ties Q1 by another route.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section 4. This pass drops the file line and dedupes on the rest of</a:t>
            </a:r>
          </a:p>
          <a:p>
            <a:r>
              <a:t>the record. Ask who would ship it. Most hands go up, since Q1 ties. Then why.</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two pairs this pass misses cost Q1 nothing: one copy's amount cannot be read,</a:t>
            </a:r>
          </a:p>
          <a:p>
            <a:r>
              <a:t>so it adds nothing to the sum, and the other pair sits in Q2. The decision it misleads: a Q2 order</a:t>
            </a:r>
          </a:p>
          <a:p>
            <a:r>
              <a:t>count one too high in Retail-Plus, the segment Tuesday's finding is about.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weigh the rows the rule set aside.</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Rows: 2, 11 and 1 of 14. Rupees: Rs 19,67,560, Rs 27,760 and Rs 2,890 of</a:t>
            </a:r>
          </a:p>
          <a:p>
            <a:r>
              <a:t>Rs 19,98,210. Two conversations follow: Anand's gap, and Tuesday's finding, which chapter 5</a:t>
            </a:r>
          </a:p>
          <a:p>
            <a:r>
              <a:t>recomputes.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03 asserts the same 186 ids and amounts by both routes. Then the chapter's</a:t>
            </a:r>
          </a:p>
          <a:p>
            <a:r>
              <a:t>answers.</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raises chapter 4's question: the kept orders still carry a missing</a:t>
            </a:r>
          </a:p>
          <a:p>
            <a:r>
              <a:t>status, missing discounts, and next time an unreadable amount with no twin, no other copy of the</a:t>
            </a:r>
          </a:p>
          <a:p>
            <a:r>
              <a:t>same order. Then the 10-minute break.</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C2_W01_D03_04_missing_malformed is the demonstration, and its six</a:t>
            </a:r>
          </a:p>
          <a:p>
            <a:r>
              <a:t>numbered 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the values still open.</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Each choice keeps revenue whole, invents a fact or deletes one, and the analyst</a:t>
            </a:r>
          </a:p>
          <a:p>
            <a:r>
              <a:t>reads every choice in the log. Then a business that sold on a value nobody questioned.</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 BBC News, 15 December 2014, checked 30 Sep 2026: the tool was Repricer</a:t>
            </a:r>
          </a:p>
          <a:p>
            <a:r>
              <a:t>Express, and the orders were placed on Amazon's Marketplace, where third-party sellers trade. Counts</a:t>
            </a:r>
          </a:p>
          <a:p>
            <a:r>
              <a:t>beyond "hundreds of items" were not verified and stay out. Then the options.</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Impute means filling a value from other records, here the customer's last order,</a:t>
            </a:r>
          </a:p>
          <a:p>
            <a:r>
              <a:t>which was delivered. The amount options: coerce to zero misses the books by Rs 1,790 and leaves a</a:t>
            </a:r>
          </a:p>
          <a:p>
            <a:r>
              <a:t>Rs 0 order; reject leaves the order's rupees out until repaired; reading a word as a number is a</a:t>
            </a:r>
          </a:p>
          <a:p>
            <a:r>
              <a:t>guess; a twin from the other extract repairs it exactly. Then the claims drawn as a picture.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Three of the four claims invent or delete a fact. Then predict which keeps both</a:t>
            </a:r>
          </a:p>
          <a:p>
            <a:r>
              <a:t>numbers honest.</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answer is d. Then the discount, Tuesday's trap in a new place.</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55 of 186 kept orders carry no discount; revenue does not need the field. This is</a:t>
            </a:r>
          </a:p>
          <a:p>
            <a:r>
              <a:t>Tuesday's trap coming back in a new place. Then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Then the day's second trap.</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04, section 4. Let the room enjoy it: the loop finishes, the profile is</a:t>
            </a:r>
          </a:p>
          <a:p>
            <a:r>
              <a:t>perfect, and every order id appears once. Ask who they would now tell the file is clean. Then why.</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Once the unreadable copy is worth Rs 0 it passes as valid, the identity rule can</a:t>
            </a:r>
          </a:p>
          <a:p>
            <a:r>
              <a:t>no longer tell it from its twin, and the first copy wins. The decision it misleads: a note calling</a:t>
            </a:r>
          </a:p>
          <a:p>
            <a:r>
              <a:t>the file clean with an order at Rs 0 in it, which the analyst finds on her first tie-out. Then the</a:t>
            </a:r>
          </a:p>
          <a:p>
            <a:r>
              <a:t>fix.</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profile of the export still reports its one failure, which is the truth about</a:t>
            </a:r>
          </a:p>
          <a:p>
            <a:r>
              <a:t>the export; the empty rejects log is the truth about the clean file. Then where a repair may come</a:t>
            </a:r>
          </a:p>
          <a:p>
            <a:r>
              <a:t>from.</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invented pair INV-21 shows the other tempting repair: reading "fourteen" as 14</a:t>
            </a:r>
          </a:p>
          <a:p>
            <a:r>
              <a:t>misses a Rs 1,400 order by Rs 1,386. Repair comes only from a source that could not have copied the</a:t>
            </a:r>
          </a:p>
          <a:p>
            <a:r>
              <a:t>error, and the log names it. Then a second route.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counts come from different code: the profile of the clean file against the</a:t>
            </a:r>
          </a:p>
          <a:p>
            <a:r>
              <a:t>flags, rejects and discount logs the decisions wrote.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measure per field, ask what the absence means, then drop, default or</a:t>
            </a:r>
          </a:p>
          <a:p>
            <a:r>
              <a:t>keep and flag with a reason, sized on what each moves. The answer raises chapter 5's question: the</a:t>
            </a:r>
          </a:p>
          <a:p>
            <a:r>
              <a:t>clean file is decided, so can we prove the 1.9 to Anand? Then chapter 5.</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Thirty minutes. Notebook C2_W01_D03_05_bridge is the demonstration, and its six numbered</a:t>
            </a:r>
          </a:p>
          <a:p>
            <a:r>
              <a:t>sections are the six questions on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six questions. Then who is waiting.</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 rescue campaign for Retail-Plus, Kalpa's paid membership tier, is waiting on the</a:t>
            </a:r>
          </a:p>
          <a:p>
            <a:r>
              <a:t>second number. Then a retailer whose own figure was wrong.</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Sources checked 30 Sep 2026: BBC News, 22 September 2014, which quotes Tesco on the</a:t>
            </a:r>
          </a:p>
          <a:p>
            <a:r>
              <a:t>accelerated recognition of commercial income, payments from suppliers booked in the wrong period;</a:t>
            </a:r>
          </a:p>
          <a:p>
            <a:r>
              <a:t>Tesco interim results statement, 23 October 2014, which splits GBP 263m into GBP 118m for the first</a:t>
            </a:r>
          </a:p>
          <a:p>
            <a:r>
              <a:t>half, about GBP 70m for 2013/14 and about GBP 75m before. Then the four proofs.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A bridge walks one total to another, one move per cause, each backed by logged</a:t>
            </a:r>
          </a:p>
          <a:p>
            <a:r>
              <a:t>rows. The feed is neither independent nor complete: it was cut from the same extract, carries the</a:t>
            </a:r>
          </a:p>
          <a:p>
            <a:r>
              <a:t>same unreadable amount and holds only 19 of Q2's 86 orders. Then predict the moves.</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set-aside log holds the 15 rows the identity rule set aside, 14 of them in Q1,</a:t>
            </a:r>
          </a:p>
          <a:p>
            <a:r>
              <a:t>each with its segment. Take letters in chat, then show the bridge.</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Draw the bridge on the board beside the notebook's chart; the raised axis keeps the</a:t>
            </a:r>
          </a:p>
          <a:p>
            <a:r>
              <a:t>Rs 30,650 move visible. Then Monday's tree, to test Tuesday's finding.</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dashed boxes are Tuesday's reading, before any cleaning. The copies were Q1</a:t>
            </a:r>
          </a:p>
          <a:p>
            <a:r>
              <a:t>rows, so at least one branch has to move. Then predict what survives.</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in chat. Then the recomputed tree.</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tree down: customers never moved, frequency carries the correction and now</a:t>
            </a:r>
          </a:p>
          <a:p>
            <a:r>
              <a:t>falls by about 14 percent where Tuesday read 25, and revenue per order moves a little. Retail-Core</a:t>
            </a:r>
          </a:p>
          <a:p>
            <a:r>
              <a:t>moves from -5.3 to -2.7 percent if asked. Thursday asks whether -35 percent is real or chance. Then</a:t>
            </a:r>
          </a:p>
          <a:p>
            <a:r>
              <a:t>the largest Q2 order.</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notebook 05, section 4. The decision it misleads: Marketing funds a rescue for a</a:t>
            </a:r>
          </a:p>
          <a:p>
            <a:r>
              <a:t>fall that never happened, and Finance rejects the reconciliation because its books hold the order.</a:t>
            </a:r>
          </a:p>
          <a:p>
            <a:r>
              <a:t>Then why.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Kalpa's Business segment sells in bulk to corporate buyers, every order in lakhs,</a:t>
            </a:r>
          </a:p>
          <a:p>
            <a:r>
              <a:t>so a Business order at Rs 29 lakh is the business doing what it does. Then the fix.</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Keep and flag is a decision in the log, with its reason: a real Business account,</a:t>
            </a:r>
          </a:p>
          <a:p>
            <a:r>
              <a:t>shown both ways. Then the note.</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Anand asked which figure is right, so that leads, then the proof, then what</a:t>
            </a:r>
          </a:p>
          <a:p>
            <a:r>
              <a:t>changed, the smaller numbers first. The full note in notebook 05 also names the two flags and stays</a:t>
            </a:r>
          </a:p>
          <a:p>
            <a:r>
              <a:t>under 120 words. Then a second route to Q1.</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Then the chapter's answers.</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One breath: both are correct arithmetic on different inputs; bridge one move per</a:t>
            </a:r>
          </a:p>
          <a:p>
            <a:r>
              <a:t>cause, reconcile rows and rupees, say which is right and recompute what was reported. The answer</a:t>
            </a:r>
          </a:p>
          <a:p>
            <a:r>
              <a:t>raises chapter 6's question, after lunch: can Anand's analyst audit every decision and rebuild the</a:t>
            </a:r>
          </a:p>
          <a:p>
            <a:r>
              <a:t>clean file from the log alone?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xml"/><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xml"/><Relationship Id="rId5"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 Id="rId5" Type="http://schemas.openxmlformats.org/officeDocument/2006/relationships/image" Target="../media/image1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3.xml"/><Relationship Id="rId5" Type="http://schemas.openxmlformats.org/officeDocument/2006/relationships/image" Target="../media/image1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7.xm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 Id="rId5" Type="http://schemas.openxmlformats.org/officeDocument/2006/relationships/image" Target="../media/image1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8.png"/><Relationship Id="rId6" Type="http://schemas.openxmlformats.org/officeDocument/2006/relationships/image" Target="../media/image1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9.xml"/><Relationship Id="rId5" Type="http://schemas.openxmlformats.org/officeDocument/2006/relationships/image" Target="../media/image19.png"/><Relationship Id="rId6" Type="http://schemas.openxmlformats.org/officeDocument/2006/relationships/image" Target="../media/image2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 Id="rId5" Type="http://schemas.openxmlformats.org/officeDocument/2006/relationships/image" Target="../media/image8.png"/><Relationship Id="rId6" Type="http://schemas.openxmlformats.org/officeDocument/2006/relationships/image" Target="../media/image22.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0.xml"/><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23.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4.xml"/><Relationship Id="rId5" Type="http://schemas.openxmlformats.org/officeDocument/2006/relationships/image" Target="../media/image19.png"/><Relationship Id="rId6" Type="http://schemas.openxmlformats.org/officeDocument/2006/relationships/image" Target="../media/image2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5.xml"/><Relationship Id="rId5" Type="http://schemas.openxmlformats.org/officeDocument/2006/relationships/image" Target="../media/image25.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8.xml"/><Relationship Id="rId5" Type="http://schemas.openxmlformats.org/officeDocument/2006/relationships/image" Target="../media/image2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1.xml"/><Relationship Id="rId5" Type="http://schemas.openxmlformats.org/officeDocument/2006/relationships/image" Target="../media/image27.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image" Target="../media/image28.png"/><Relationship Id="rId6" Type="http://schemas.openxmlformats.org/officeDocument/2006/relationships/image" Target="../media/image8.png"/><Relationship Id="rId7"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8.xml"/><Relationship Id="rId5" Type="http://schemas.openxmlformats.org/officeDocument/2006/relationships/image" Target="../media/image19.png"/><Relationship Id="rId6" Type="http://schemas.openxmlformats.org/officeDocument/2006/relationships/image" Target="../media/image3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1.xml"/><Relationship Id="rId5" Type="http://schemas.openxmlformats.org/officeDocument/2006/relationships/image" Target="../media/image3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4.xml"/><Relationship Id="rId5" Type="http://schemas.openxmlformats.org/officeDocument/2006/relationships/image" Target="../media/image32.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7.png"/><Relationship Id="rId5"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5.xml"/><Relationship Id="rId5" Type="http://schemas.openxmlformats.org/officeDocument/2006/relationships/image" Target="../media/image3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6.xml"/><Relationship Id="rId5" Type="http://schemas.openxmlformats.org/officeDocument/2006/relationships/image" Target="../media/image19.png"/><Relationship Id="rId6" Type="http://schemas.openxmlformats.org/officeDocument/2006/relationships/image" Target="../media/image3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7.xml"/><Relationship Id="rId5" Type="http://schemas.openxmlformats.org/officeDocument/2006/relationships/image" Target="../media/image35.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0.xml"/><Relationship Id="rId5" Type="http://schemas.openxmlformats.org/officeDocument/2006/relationships/image" Target="../media/image36.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2.xml"/><Relationship Id="rId5" Type="http://schemas.openxmlformats.org/officeDocument/2006/relationships/image" Target="../media/image37.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7.png"/><Relationship Id="rId6" Type="http://schemas.openxmlformats.org/officeDocument/2006/relationships/notesSlide" Target="../notesSlides/notesSlide8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574025"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1  ·  WEDNESDAY  ·  HALF ONE</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Which Q1 figure is right?</a:t>
            </a:r>
          </a:p>
        </p:txBody>
      </p:sp>
      <p:sp>
        <p:nvSpPr>
          <p:cNvPr id="9" name="TextBox 8"/>
          <p:cNvSpPr txBox="1"/>
          <p:nvPr/>
        </p:nvSpPr>
        <p:spPr>
          <a:xfrm>
            <a:off x="621792" y="3635756"/>
            <a:ext cx="10033711" cy="977645"/>
          </a:xfrm>
          <a:prstGeom prst="rect">
            <a:avLst/>
          </a:prstGeom>
          <a:noFill/>
        </p:spPr>
        <p:txBody>
          <a:bodyPr wrap="square" anchor="t" lIns="0" rIns="0" tIns="0" bIns="0">
            <a:spAutoFit/>
          </a:bodyPr>
          <a:lstStyle/>
          <a:p>
            <a:pPr algn="l"/>
            <a:r>
              <a:rPr sz="1900" b="0" i="1">
                <a:solidFill>
                  <a:srgbClr val="D9A7FF"/>
                </a:solidFill>
                <a:latin typeface="Georgia"/>
              </a:rPr>
              <a:t>“Your dashboard says Q1 was Rs 2.1 crore. Our books say 1.9. Until your numbers match ours, Finance will not act on a drop measured from an ERP export.”</a:t>
            </a:r>
          </a:p>
        </p:txBody>
      </p:sp>
      <p:sp>
        <p:nvSpPr>
          <p:cNvPr id="10" name="TextBox 9"/>
          <p:cNvSpPr txBox="1"/>
          <p:nvPr/>
        </p:nvSpPr>
        <p:spPr>
          <a:xfrm>
            <a:off x="621792" y="4668266"/>
            <a:ext cx="10033711" cy="218186"/>
          </a:xfrm>
          <a:prstGeom prst="rect">
            <a:avLst/>
          </a:prstGeom>
          <a:noFill/>
        </p:spPr>
        <p:txBody>
          <a:bodyPr wrap="square" anchor="t" lIns="0" rIns="0" tIns="0" bIns="0">
            <a:spAutoFit/>
          </a:bodyPr>
          <a:lstStyle/>
          <a:p>
            <a:pPr algn="l"/>
            <a:r>
              <a:rPr sz="1100" b="0" i="0">
                <a:solidFill>
                  <a:srgbClr val="CFC9EE"/>
                </a:solidFill>
                <a:latin typeface="Calibri"/>
              </a:rPr>
              <a:t>Anand Iyer, finance controller, Kalpa Retail, replying to all on Tuesday's finding</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484185" cy="185166"/>
          </a:xfrm>
          <a:prstGeom prst="rect">
            <a:avLst/>
          </a:prstGeom>
          <a:noFill/>
        </p:spPr>
        <p:txBody>
          <a:bodyPr wrap="square" anchor="t" lIns="0" rIns="0" tIns="0" bIns="0">
            <a:spAutoFit/>
          </a:bodyPr>
          <a:lstStyle/>
          <a:p>
            <a:pPr algn="l"/>
            <a:r>
              <a:rPr sz="900" b="0" i="0">
                <a:solidFill>
                  <a:srgbClr val="FFFFFF"/>
                </a:solidFill>
                <a:latin typeface="Calibri"/>
              </a:rPr>
              <a:t>What did the ERP send?</a:t>
            </a:r>
          </a:p>
        </p:txBody>
      </p:sp>
      <p:sp>
        <p:nvSpPr>
          <p:cNvPr id="13" name="TextBox 12"/>
          <p:cNvSpPr txBox="1"/>
          <p:nvPr/>
        </p:nvSpPr>
        <p:spPr>
          <a:xfrm>
            <a:off x="2672905"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056953" y="5248656"/>
            <a:ext cx="1247584" cy="185166"/>
          </a:xfrm>
          <a:prstGeom prst="rect">
            <a:avLst/>
          </a:prstGeom>
          <a:noFill/>
        </p:spPr>
        <p:txBody>
          <a:bodyPr wrap="square" anchor="t" lIns="0" rIns="0" tIns="0" bIns="0">
            <a:spAutoFit/>
          </a:bodyPr>
          <a:lstStyle/>
          <a:p>
            <a:pPr algn="l"/>
            <a:r>
              <a:rPr sz="900" b="0" i="0">
                <a:solidFill>
                  <a:srgbClr val="FFFFFF"/>
                </a:solidFill>
                <a:latin typeface="Calibri"/>
              </a:rPr>
              <a:t>Which rows repeat?</a:t>
            </a:r>
          </a:p>
        </p:txBody>
      </p:sp>
      <p:sp>
        <p:nvSpPr>
          <p:cNvPr id="15" name="TextBox 14"/>
          <p:cNvSpPr txBox="1"/>
          <p:nvPr/>
        </p:nvSpPr>
        <p:spPr>
          <a:xfrm>
            <a:off x="4487418"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4871466" y="5248656"/>
            <a:ext cx="1188434" cy="185166"/>
          </a:xfrm>
          <a:prstGeom prst="rect">
            <a:avLst/>
          </a:prstGeom>
          <a:noFill/>
        </p:spPr>
        <p:txBody>
          <a:bodyPr wrap="square" anchor="t" lIns="0" rIns="0" tIns="0" bIns="0">
            <a:spAutoFit/>
          </a:bodyPr>
          <a:lstStyle/>
          <a:p>
            <a:pPr algn="l"/>
            <a:r>
              <a:rPr sz="900" b="0" i="0">
                <a:solidFill>
                  <a:srgbClr val="FFFFFF"/>
                </a:solidFill>
                <a:latin typeface="Calibri"/>
              </a:rPr>
              <a:t>Which copy stays?</a:t>
            </a:r>
          </a:p>
        </p:txBody>
      </p:sp>
      <p:sp>
        <p:nvSpPr>
          <p:cNvPr id="17" name="TextBox 16"/>
          <p:cNvSpPr txBox="1"/>
          <p:nvPr/>
        </p:nvSpPr>
        <p:spPr>
          <a:xfrm>
            <a:off x="6242780"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6626828" y="5248656"/>
            <a:ext cx="1306734" cy="185166"/>
          </a:xfrm>
          <a:prstGeom prst="rect">
            <a:avLst/>
          </a:prstGeom>
          <a:noFill/>
        </p:spPr>
        <p:txBody>
          <a:bodyPr wrap="square" anchor="t" lIns="0" rIns="0" tIns="0" bIns="0">
            <a:spAutoFit/>
          </a:bodyPr>
          <a:lstStyle/>
          <a:p>
            <a:pPr algn="l"/>
            <a:r>
              <a:rPr sz="900" b="0" i="0">
                <a:solidFill>
                  <a:srgbClr val="FFFFFF"/>
                </a:solidFill>
                <a:latin typeface="Calibri"/>
              </a:rPr>
              <a:t>Drop, fill or flag?</a:t>
            </a:r>
          </a:p>
        </p:txBody>
      </p:sp>
      <p:sp>
        <p:nvSpPr>
          <p:cNvPr id="19" name="TextBox 18"/>
          <p:cNvSpPr txBox="1"/>
          <p:nvPr/>
        </p:nvSpPr>
        <p:spPr>
          <a:xfrm>
            <a:off x="8116443"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8500491" y="5248656"/>
            <a:ext cx="1425035" cy="185166"/>
          </a:xfrm>
          <a:prstGeom prst="rect">
            <a:avLst/>
          </a:prstGeom>
          <a:noFill/>
        </p:spPr>
        <p:txBody>
          <a:bodyPr wrap="square" anchor="t" lIns="0" rIns="0" tIns="0" bIns="0">
            <a:spAutoFit/>
          </a:bodyPr>
          <a:lstStyle/>
          <a:p>
            <a:pPr algn="l"/>
            <a:r>
              <a:rPr sz="900" b="0" i="0">
                <a:solidFill>
                  <a:srgbClr val="FFFFFF"/>
                </a:solidFill>
                <a:latin typeface="Calibri"/>
              </a:rPr>
              <a:t>Can we prove the 1.9?</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84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questions take us from the export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Q1 figure is right, the dashboard's Rs 2.1 crore or the books' Rs 1.9 crore, and how do we know?</a:t>
            </a:r>
          </a:p>
        </p:txBody>
      </p:sp>
      <p:sp>
        <p:nvSpPr>
          <p:cNvPr id="9" name="Rectangle 8"/>
          <p:cNvSpPr/>
          <p:nvPr/>
        </p:nvSpPr>
        <p:spPr>
          <a:xfrm>
            <a:off x="1381734" y="2523744"/>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1</a:t>
            </a:r>
          </a:p>
        </p:txBody>
      </p:sp>
      <p:sp>
        <p:nvSpPr>
          <p:cNvPr id="11" name="Oval 10"/>
          <p:cNvSpPr/>
          <p:nvPr/>
        </p:nvSpPr>
        <p:spPr>
          <a:xfrm>
            <a:off x="1281150"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did the ERP send?</a:t>
            </a:r>
          </a:p>
        </p:txBody>
      </p:sp>
      <p:sp>
        <p:nvSpPr>
          <p:cNvPr id="14" name="TextBox 13"/>
          <p:cNvSpPr txBox="1"/>
          <p:nvPr/>
        </p:nvSpPr>
        <p:spPr>
          <a:xfrm>
            <a:off x="69494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Rs 2.1 crore follow from it?</a:t>
            </a:r>
          </a:p>
        </p:txBody>
      </p:sp>
      <p:sp>
        <p:nvSpPr>
          <p:cNvPr id="15" name="TextBox 14"/>
          <p:cNvSpPr txBox="1"/>
          <p:nvPr/>
        </p:nvSpPr>
        <p:spPr>
          <a:xfrm>
            <a:off x="241599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2</a:t>
            </a:r>
          </a:p>
        </p:txBody>
      </p:sp>
      <p:sp>
        <p:nvSpPr>
          <p:cNvPr id="16" name="Oval 15"/>
          <p:cNvSpPr/>
          <p:nvPr/>
        </p:nvSpPr>
        <p:spPr>
          <a:xfrm>
            <a:off x="316679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41599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58058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repeat?</a:t>
            </a:r>
          </a:p>
        </p:txBody>
      </p:sp>
      <p:sp>
        <p:nvSpPr>
          <p:cNvPr id="19" name="TextBox 18"/>
          <p:cNvSpPr txBox="1"/>
          <p:nvPr/>
        </p:nvSpPr>
        <p:spPr>
          <a:xfrm>
            <a:off x="258058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What makes two rows one order?</a:t>
            </a:r>
          </a:p>
        </p:txBody>
      </p:sp>
      <p:sp>
        <p:nvSpPr>
          <p:cNvPr id="20" name="TextBox 19"/>
          <p:cNvSpPr txBox="1"/>
          <p:nvPr/>
        </p:nvSpPr>
        <p:spPr>
          <a:xfrm>
            <a:off x="430164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3</a:t>
            </a:r>
          </a:p>
        </p:txBody>
      </p:sp>
      <p:sp>
        <p:nvSpPr>
          <p:cNvPr id="21" name="Oval 20"/>
          <p:cNvSpPr/>
          <p:nvPr/>
        </p:nvSpPr>
        <p:spPr>
          <a:xfrm>
            <a:off x="505244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430164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446623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stays?</a:t>
            </a:r>
          </a:p>
        </p:txBody>
      </p:sp>
      <p:sp>
        <p:nvSpPr>
          <p:cNvPr id="24" name="TextBox 23"/>
          <p:cNvSpPr txBox="1"/>
          <p:nvPr/>
        </p:nvSpPr>
        <p:spPr>
          <a:xfrm>
            <a:off x="446623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Q1 land on the books?</a:t>
            </a:r>
          </a:p>
        </p:txBody>
      </p:sp>
      <p:sp>
        <p:nvSpPr>
          <p:cNvPr id="25" name="TextBox 24"/>
          <p:cNvSpPr txBox="1"/>
          <p:nvPr/>
        </p:nvSpPr>
        <p:spPr>
          <a:xfrm>
            <a:off x="6187287"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4</a:t>
            </a:r>
          </a:p>
        </p:txBody>
      </p:sp>
      <p:sp>
        <p:nvSpPr>
          <p:cNvPr id="26" name="Oval 25"/>
          <p:cNvSpPr/>
          <p:nvPr/>
        </p:nvSpPr>
        <p:spPr>
          <a:xfrm>
            <a:off x="6938086"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6187287"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351879"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Drop, fill or flag?</a:t>
            </a:r>
          </a:p>
        </p:txBody>
      </p:sp>
      <p:sp>
        <p:nvSpPr>
          <p:cNvPr id="29" name="TextBox 28"/>
          <p:cNvSpPr txBox="1"/>
          <p:nvPr/>
        </p:nvSpPr>
        <p:spPr>
          <a:xfrm>
            <a:off x="6351879"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 value missing or unreadable</a:t>
            </a:r>
          </a:p>
        </p:txBody>
      </p:sp>
      <p:sp>
        <p:nvSpPr>
          <p:cNvPr id="30" name="TextBox 29"/>
          <p:cNvSpPr txBox="1"/>
          <p:nvPr/>
        </p:nvSpPr>
        <p:spPr>
          <a:xfrm>
            <a:off x="8072932"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5</a:t>
            </a:r>
          </a:p>
        </p:txBody>
      </p:sp>
      <p:sp>
        <p:nvSpPr>
          <p:cNvPr id="31" name="Oval 30"/>
          <p:cNvSpPr/>
          <p:nvPr/>
        </p:nvSpPr>
        <p:spPr>
          <a:xfrm>
            <a:off x="882373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8072932" y="2843784"/>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8237524" y="2990088"/>
            <a:ext cx="1373581" cy="465836"/>
          </a:xfrm>
          <a:prstGeom prst="rect">
            <a:avLst/>
          </a:prstGeom>
          <a:noFill/>
        </p:spPr>
        <p:txBody>
          <a:bodyPr wrap="square" anchor="t" lIns="0" rIns="0" tIns="0" bIns="0">
            <a:spAutoFit/>
          </a:bodyPr>
          <a:lstStyle/>
          <a:p>
            <a:pPr algn="l"/>
            <a:r>
              <a:rPr sz="1300" b="1" i="0">
                <a:solidFill>
                  <a:srgbClr val="1A0F5C"/>
                </a:solidFill>
                <a:latin typeface="Calibri"/>
              </a:rPr>
              <a:t>Can we prove the 1.9?</a:t>
            </a:r>
          </a:p>
        </p:txBody>
      </p:sp>
      <p:sp>
        <p:nvSpPr>
          <p:cNvPr id="34" name="TextBox 33"/>
          <p:cNvSpPr txBox="1"/>
          <p:nvPr/>
        </p:nvSpPr>
        <p:spPr>
          <a:xfrm>
            <a:off x="8237524" y="3492500"/>
            <a:ext cx="1373581" cy="366776"/>
          </a:xfrm>
          <a:prstGeom prst="rect">
            <a:avLst/>
          </a:prstGeom>
          <a:noFill/>
        </p:spPr>
        <p:txBody>
          <a:bodyPr wrap="square" anchor="t" lIns="0" rIns="0" tIns="0" bIns="0">
            <a:spAutoFit/>
          </a:bodyPr>
          <a:lstStyle/>
          <a:p>
            <a:pPr algn="l"/>
            <a:r>
              <a:rPr sz="1000" b="0" i="0">
                <a:solidFill>
                  <a:srgbClr val="6B6690"/>
                </a:solidFill>
                <a:latin typeface="Calibri"/>
              </a:rPr>
              <a:t>And does Tuesday survive?</a:t>
            </a:r>
          </a:p>
        </p:txBody>
      </p:sp>
      <p:sp>
        <p:nvSpPr>
          <p:cNvPr id="35" name="TextBox 34"/>
          <p:cNvSpPr txBox="1"/>
          <p:nvPr/>
        </p:nvSpPr>
        <p:spPr>
          <a:xfrm>
            <a:off x="9958578" y="1956816"/>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CHAPTER 6</a:t>
            </a:r>
          </a:p>
        </p:txBody>
      </p:sp>
      <p:sp>
        <p:nvSpPr>
          <p:cNvPr id="36" name="Oval 35"/>
          <p:cNvSpPr/>
          <p:nvPr/>
        </p:nvSpPr>
        <p:spPr>
          <a:xfrm>
            <a:off x="10709376" y="2432304"/>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Rounded Rectangle 36"/>
          <p:cNvSpPr/>
          <p:nvPr/>
        </p:nvSpPr>
        <p:spPr>
          <a:xfrm>
            <a:off x="9958578" y="2843784"/>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10123170" y="2990088"/>
            <a:ext cx="1373581" cy="465836"/>
          </a:xfrm>
          <a:prstGeom prst="rect">
            <a:avLst/>
          </a:prstGeom>
          <a:noFill/>
        </p:spPr>
        <p:txBody>
          <a:bodyPr wrap="square" anchor="t" lIns="0" rIns="0" tIns="0" bIns="0">
            <a:spAutoFit/>
          </a:bodyPr>
          <a:lstStyle/>
          <a:p>
            <a:pPr algn="l"/>
            <a:r>
              <a:rPr sz="1300" b="1" i="0">
                <a:solidFill>
                  <a:srgbClr val="FFFFFF"/>
                </a:solidFill>
                <a:latin typeface="Calibri"/>
              </a:rPr>
              <a:t>Can the analyst replay it?</a:t>
            </a:r>
          </a:p>
        </p:txBody>
      </p:sp>
      <p:sp>
        <p:nvSpPr>
          <p:cNvPr id="39" name="TextBox 38"/>
          <p:cNvSpPr txBox="1"/>
          <p:nvPr/>
        </p:nvSpPr>
        <p:spPr>
          <a:xfrm>
            <a:off x="10123170" y="3492500"/>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decision, from the log</a:t>
            </a:r>
          </a:p>
        </p:txBody>
      </p:sp>
      <p:sp>
        <p:nvSpPr>
          <p:cNvPr id="40" name="Oval 3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2" name="Oval 4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4" name="Oval 4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TextBox 4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6" name="Oval 4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7" name="TextBox 4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8" name="Oval 4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0" name="TextBox 4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84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Finance's books sit Rs 20 lakh below the dashboard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asking, and how far apart are the two figures?</a:t>
            </a:r>
          </a:p>
        </p:txBody>
      </p:sp>
      <p:sp>
        <p:nvSpPr>
          <p:cNvPr id="9" name="Rounded Rectangle 8"/>
          <p:cNvSpPr/>
          <p:nvPr/>
        </p:nvSpPr>
        <p:spPr>
          <a:xfrm>
            <a:off x="530352" y="1956816"/>
            <a:ext cx="3588410" cy="2534412"/>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landmark_74597fd10b4b.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FINANCE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Anand Iyer</a:t>
            </a:r>
          </a:p>
        </p:txBody>
      </p:sp>
      <p:sp>
        <p:nvSpPr>
          <p:cNvPr id="14" name="TextBox 13"/>
          <p:cNvSpPr txBox="1"/>
          <p:nvPr/>
        </p:nvSpPr>
        <p:spPr>
          <a:xfrm>
            <a:off x="731519" y="3303524"/>
            <a:ext cx="3186074" cy="763016"/>
          </a:xfrm>
          <a:prstGeom prst="rect">
            <a:avLst/>
          </a:prstGeom>
          <a:noFill/>
        </p:spPr>
        <p:txBody>
          <a:bodyPr wrap="square" anchor="t" lIns="0" rIns="0" tIns="0" bIns="0">
            <a:spAutoFit/>
          </a:bodyPr>
          <a:lstStyle/>
          <a:p>
            <a:pPr algn="l"/>
            <a:r>
              <a:rPr sz="1100" b="0" i="0">
                <a:solidFill>
                  <a:srgbClr val="CFC9EE"/>
                </a:solidFill>
                <a:latin typeface="Calibri"/>
              </a:rPr>
              <a:t>The finance controller. His books say Rs 1.9 crore, and his analyst ties out every number: she matches it to the books, line by line.</a:t>
            </a:r>
          </a:p>
        </p:txBody>
      </p:sp>
      <p:sp>
        <p:nvSpPr>
          <p:cNvPr id="15" name="Rounded Rectangle 14"/>
          <p:cNvSpPr/>
          <p:nvPr/>
        </p:nvSpPr>
        <p:spPr>
          <a:xfrm>
            <a:off x="430164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database_0f9c2895db54.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ERP TEAM</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raw exports</a:t>
            </a:r>
          </a:p>
        </p:txBody>
      </p:sp>
      <p:sp>
        <p:nvSpPr>
          <p:cNvPr id="20" name="TextBox 19"/>
          <p:cNvSpPr txBox="1"/>
          <p:nvPr/>
        </p:nvSpPr>
        <p:spPr>
          <a:xfrm>
            <a:off x="4502810" y="3303524"/>
            <a:ext cx="3186074" cy="944626"/>
          </a:xfrm>
          <a:prstGeom prst="rect">
            <a:avLst/>
          </a:prstGeom>
          <a:noFill/>
        </p:spPr>
        <p:txBody>
          <a:bodyPr wrap="square" anchor="t" lIns="0" rIns="0" tIns="0" bIns="0">
            <a:spAutoFit/>
          </a:bodyPr>
          <a:lstStyle/>
          <a:p>
            <a:pPr algn="l"/>
            <a:r>
              <a:rPr sz="1100" b="0" i="0">
                <a:solidFill>
                  <a:srgbClr val="6B6690"/>
                </a:solidFill>
                <a:latin typeface="Calibri"/>
              </a:rPr>
              <a:t>The ERP is the enterprise resource planning system Finance books orders in. Its team sent a CSV stitched from two extracts, two pulls of rows, during Q1's migration to a new system, and the app's JSON feed.</a:t>
            </a:r>
          </a:p>
        </p:txBody>
      </p:sp>
      <p:sp>
        <p:nvSpPr>
          <p:cNvPr id="21" name="Rounded Rectangle 20"/>
          <p:cNvSpPr/>
          <p:nvPr/>
        </p:nvSpPr>
        <p:spPr>
          <a:xfrm>
            <a:off x="8072932" y="1956816"/>
            <a:ext cx="3588410" cy="2534412"/>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gaphone_df6318bcf2f9.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The marketing lead</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Marketing is impatient: if the drop is a data problem, a month is lost arguing about it.</a:t>
            </a:r>
          </a:p>
        </p:txBody>
      </p:sp>
      <p:sp>
        <p:nvSpPr>
          <p:cNvPr id="27" name="TextBox 26"/>
          <p:cNvSpPr txBox="1"/>
          <p:nvPr/>
        </p:nvSpPr>
        <p:spPr>
          <a:xfrm>
            <a:off x="53035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2.1 cr</a:t>
            </a:r>
          </a:p>
        </p:txBody>
      </p:sp>
      <p:sp>
        <p:nvSpPr>
          <p:cNvPr id="28" name="TextBox 27"/>
          <p:cNvSpPr txBox="1"/>
          <p:nvPr/>
        </p:nvSpPr>
        <p:spPr>
          <a:xfrm>
            <a:off x="53035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DASHBOARD'S Q1</a:t>
            </a:r>
          </a:p>
        </p:txBody>
      </p:sp>
      <p:sp>
        <p:nvSpPr>
          <p:cNvPr id="29" name="TextBox 28"/>
          <p:cNvSpPr txBox="1"/>
          <p:nvPr/>
        </p:nvSpPr>
        <p:spPr>
          <a:xfrm>
            <a:off x="53035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from the ERP export</a:t>
            </a:r>
          </a:p>
        </p:txBody>
      </p:sp>
      <p:sp>
        <p:nvSpPr>
          <p:cNvPr id="30" name="Rectangle 29"/>
          <p:cNvSpPr/>
          <p:nvPr/>
        </p:nvSpPr>
        <p:spPr>
          <a:xfrm>
            <a:off x="53035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33212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1.9 cr</a:t>
            </a:r>
          </a:p>
        </p:txBody>
      </p:sp>
      <p:sp>
        <p:nvSpPr>
          <p:cNvPr id="32" name="TextBox 31"/>
          <p:cNvSpPr txBox="1"/>
          <p:nvPr/>
        </p:nvSpPr>
        <p:spPr>
          <a:xfrm>
            <a:off x="433212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BOOKS' Q1</a:t>
            </a:r>
          </a:p>
        </p:txBody>
      </p:sp>
      <p:sp>
        <p:nvSpPr>
          <p:cNvPr id="33" name="TextBox 32"/>
          <p:cNvSpPr txBox="1"/>
          <p:nvPr/>
        </p:nvSpPr>
        <p:spPr>
          <a:xfrm>
            <a:off x="433212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what Finance booked</a:t>
            </a:r>
          </a:p>
        </p:txBody>
      </p:sp>
      <p:sp>
        <p:nvSpPr>
          <p:cNvPr id="34" name="Rectangle 33"/>
          <p:cNvSpPr/>
          <p:nvPr/>
        </p:nvSpPr>
        <p:spPr>
          <a:xfrm>
            <a:off x="433212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8133892" y="4674108"/>
            <a:ext cx="3527450" cy="698500"/>
          </a:xfrm>
          <a:prstGeom prst="rect">
            <a:avLst/>
          </a:prstGeom>
          <a:noFill/>
        </p:spPr>
        <p:txBody>
          <a:bodyPr wrap="square" anchor="t" lIns="0" rIns="0" tIns="0" bIns="0">
            <a:spAutoFit/>
          </a:bodyPr>
          <a:lstStyle/>
          <a:p>
            <a:pPr algn="l"/>
            <a:r>
              <a:rPr sz="4400" b="0" i="0">
                <a:solidFill>
                  <a:srgbClr val="5B3FD6"/>
                </a:solidFill>
                <a:latin typeface="Georgia"/>
              </a:rPr>
              <a:t>Rs 20 lakh</a:t>
            </a:r>
          </a:p>
        </p:txBody>
      </p:sp>
      <p:sp>
        <p:nvSpPr>
          <p:cNvPr id="36" name="TextBox 35"/>
          <p:cNvSpPr txBox="1"/>
          <p:nvPr/>
        </p:nvSpPr>
        <p:spPr>
          <a:xfrm>
            <a:off x="8133892" y="540918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a:t>
            </a:r>
          </a:p>
        </p:txBody>
      </p:sp>
      <p:sp>
        <p:nvSpPr>
          <p:cNvPr id="37" name="TextBox 36"/>
          <p:cNvSpPr txBox="1"/>
          <p:nvPr/>
        </p:nvSpPr>
        <p:spPr>
          <a:xfrm>
            <a:off x="8133892" y="5610352"/>
            <a:ext cx="3527450" cy="193421"/>
          </a:xfrm>
          <a:prstGeom prst="rect">
            <a:avLst/>
          </a:prstGeom>
          <a:noFill/>
        </p:spPr>
        <p:txBody>
          <a:bodyPr wrap="square" anchor="t" lIns="0" rIns="0" tIns="0" bIns="0">
            <a:spAutoFit/>
          </a:bodyPr>
          <a:lstStyle/>
          <a:p>
            <a:pPr algn="l"/>
            <a:r>
              <a:rPr sz="950" b="0" i="0">
                <a:solidFill>
                  <a:srgbClr val="6B6690"/>
                </a:solidFill>
                <a:latin typeface="Calibri"/>
              </a:rPr>
              <a:t>about 10 percent of Q1</a:t>
            </a:r>
          </a:p>
        </p:txBody>
      </p:sp>
      <p:sp>
        <p:nvSpPr>
          <p:cNvPr id="38" name="Rectangle 37"/>
          <p:cNvSpPr/>
          <p:nvPr/>
        </p:nvSpPr>
        <p:spPr>
          <a:xfrm>
            <a:off x="8133892" y="586282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1" name="Oval 40"/>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3" name="Oval 42"/>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5" name="Oval 44"/>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47" name="Oval 46"/>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9" name="TextBox 4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84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readers need four answers from one reconciliation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reads the reconciliation, and what does each need from it?</a:t>
            </a:r>
          </a:p>
        </p:txBody>
      </p:sp>
      <p:sp>
        <p:nvSpPr>
          <p:cNvPr id="9" name="Rounded Rectangle 8"/>
          <p:cNvSpPr/>
          <p:nvPr/>
        </p:nvSpPr>
        <p:spPr>
          <a:xfrm>
            <a:off x="530352" y="195681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58952" y="2159507"/>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message-square_028dbd132a0a.png"/>
          <p:cNvPicPr>
            <a:picLocks noChangeAspect="1"/>
          </p:cNvPicPr>
          <p:nvPr/>
        </p:nvPicPr>
        <p:blipFill>
          <a:blip r:embed="rId4"/>
          <a:stretch>
            <a:fillRect/>
          </a:stretch>
        </p:blipFill>
        <p:spPr>
          <a:xfrm>
            <a:off x="868680" y="2269236"/>
            <a:ext cx="237744" cy="237744"/>
          </a:xfrm>
          <a:prstGeom prst="rect">
            <a:avLst/>
          </a:prstGeom>
        </p:spPr>
      </p:pic>
      <p:sp>
        <p:nvSpPr>
          <p:cNvPr id="12" name="TextBox 11"/>
          <p:cNvSpPr txBox="1"/>
          <p:nvPr/>
        </p:nvSpPr>
        <p:spPr>
          <a:xfrm>
            <a:off x="1399031" y="210312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3" name="TextBox 12"/>
          <p:cNvSpPr txBox="1"/>
          <p:nvPr/>
        </p:nvSpPr>
        <p:spPr>
          <a:xfrm>
            <a:off x="1399031" y="232257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how do you know? Can my analyst follow every decision you made?"</a:t>
            </a:r>
          </a:p>
        </p:txBody>
      </p:sp>
      <p:graphicFrame>
        <p:nvGraphicFramePr>
          <p:cNvPr id="14" name="Table 13"/>
          <p:cNvGraphicFramePr>
            <a:graphicFrameLocks noGrp="1"/>
          </p:cNvGraphicFramePr>
          <p:nvPr/>
        </p:nvGraphicFramePr>
        <p:xfrm>
          <a:off x="530352" y="2983992"/>
          <a:ext cx="11130990" cy="2090928"/>
        </p:xfrm>
        <a:graphic>
          <a:graphicData uri="http://schemas.openxmlformats.org/drawingml/2006/table">
            <a:tbl>
              <a:tblPr firstRow="0" bandRow="0">
                <a:tableStyleId>{2D5ABB26-0587-4C30-8999-92F81FD0307C}</a:tableStyleId>
              </a:tblPr>
              <a:tblGrid>
                <a:gridCol w="1292669"/>
                <a:gridCol w="3996777"/>
                <a:gridCol w="5841544"/>
              </a:tblGrid>
              <a:tr h="369824">
                <a:tc>
                  <a:txBody>
                    <a:bodyPr/>
                    <a:lstStyle/>
                    <a:p>
                      <a:r>
                        <a:rPr sz="1450" b="1" i="0">
                          <a:solidFill>
                            <a:srgbClr val="FFFFFF"/>
                          </a:solidFill>
                          <a:latin typeface="Calibri"/>
                        </a:rPr>
                        <a:t>Who</a:t>
                      </a:r>
                    </a:p>
                  </a:txBody>
                  <a:tcPr marL="101600" marR="101600" marT="38100" marB="38100" anchor="ctr">
                    <a:solidFill>
                      <a:srgbClr val="1A0F5C"/>
                    </a:solidFill>
                  </a:tcPr>
                </a:tc>
                <a:tc>
                  <a:txBody>
                    <a:bodyPr/>
                    <a:lstStyle/>
                    <a:p>
                      <a:r>
                        <a:rPr sz="1450" b="1" i="0">
                          <a:solidFill>
                            <a:srgbClr val="FFFFFF"/>
                          </a:solidFill>
                          <a:latin typeface="Calibri"/>
                        </a:rPr>
                        <a:t>Their question</a:t>
                      </a:r>
                    </a:p>
                  </a:txBody>
                  <a:tcPr marL="101600" marR="101600" marT="38100" marB="38100" anchor="ctr">
                    <a:solidFill>
                      <a:srgbClr val="1A0F5C"/>
                    </a:solidFill>
                  </a:tcPr>
                </a:tc>
                <a:tc>
                  <a:txBody>
                    <a:bodyPr/>
                    <a:lstStyle/>
                    <a:p>
                      <a:r>
                        <a:rPr sz="1450" b="1" i="0">
                          <a:solidFill>
                            <a:srgbClr val="FFFFFF"/>
                          </a:solidFill>
                          <a:latin typeface="Calibri"/>
                        </a:rPr>
                        <a:t>What answers it</a:t>
                      </a:r>
                    </a:p>
                  </a:txBody>
                  <a:tcPr marL="101600" marR="101600" marT="38100" marB="38100" anchor="ctr">
                    <a:solidFill>
                      <a:srgbClr val="1A0F5C"/>
                    </a:solidFill>
                  </a:tcPr>
                </a:tc>
              </a:tr>
              <a:tr h="369824">
                <a:tc>
                  <a:txBody>
                    <a:bodyPr/>
                    <a:lstStyle/>
                    <a:p>
                      <a:r>
                        <a:rPr sz="1400" b="0" i="0">
                          <a:solidFill>
                            <a:srgbClr val="1A1440"/>
                          </a:solidFill>
                          <a:latin typeface="Calibri"/>
                        </a:rPr>
                        <a:t>Anand</a:t>
                      </a:r>
                    </a:p>
                  </a:txBody>
                  <a:tcPr marL="101600" marR="101600" marT="38100" marB="38100" anchor="ctr">
                    <a:solidFill>
                      <a:srgbClr val="FFFFFF"/>
                    </a:solidFill>
                  </a:tcPr>
                </a:tc>
                <a:tc>
                  <a:txBody>
                    <a:bodyPr/>
                    <a:lstStyle/>
                    <a:p>
                      <a:r>
                        <a:rPr sz="1400" b="0" i="0">
                          <a:solidFill>
                            <a:srgbClr val="1A1440"/>
                          </a:solidFill>
                          <a:latin typeface="Calibri"/>
                        </a:rPr>
                        <a:t>Which Q1 figure is right, and the proof</a:t>
                      </a:r>
                    </a:p>
                  </a:txBody>
                  <a:tcPr marL="101600" marR="101600" marT="38100" marB="38100" anchor="ctr">
                    <a:solidFill>
                      <a:srgbClr val="FFFFFF"/>
                    </a:solidFill>
                  </a:tcPr>
                </a:tc>
                <a:tc>
                  <a:txBody>
                    <a:bodyPr/>
                    <a:lstStyle/>
                    <a:p>
                      <a:r>
                        <a:rPr sz="1400" b="0" i="0">
                          <a:solidFill>
                            <a:srgbClr val="1A1440"/>
                          </a:solidFill>
                          <a:latin typeface="Calibri"/>
                        </a:rPr>
                        <a:t>A bridge from 2.1 to 1.9, move by move</a:t>
                      </a:r>
                    </a:p>
                  </a:txBody>
                  <a:tcPr marL="101600" marR="101600" marT="38100" marB="38100" anchor="ctr">
                    <a:solidFill>
                      <a:srgbClr val="FFFFFF"/>
                    </a:solidFill>
                  </a:tcPr>
                </a:tc>
              </a:tr>
              <a:tr h="611632">
                <a:tc>
                  <a:txBody>
                    <a:bodyPr/>
                    <a:lstStyle/>
                    <a:p>
                      <a:r>
                        <a:rPr sz="1400" b="0" i="0">
                          <a:solidFill>
                            <a:srgbClr val="1A1440"/>
                          </a:solidFill>
                          <a:latin typeface="Calibri"/>
                        </a:rPr>
                        <a:t>His analyst</a:t>
                      </a:r>
                    </a:p>
                  </a:txBody>
                  <a:tcPr marL="101600" marR="101600" marT="38100" marB="38100" anchor="ctr">
                    <a:solidFill>
                      <a:srgbClr val="F4F2FA"/>
                    </a:solidFill>
                  </a:tcPr>
                </a:tc>
                <a:tc>
                  <a:txBody>
                    <a:bodyPr/>
                    <a:lstStyle/>
                    <a:p>
                      <a:r>
                        <a:rPr sz="1400" b="0" i="0">
                          <a:solidFill>
                            <a:srgbClr val="1A1440"/>
                          </a:solidFill>
                          <a:latin typeface="Calibri"/>
                        </a:rPr>
                        <a:t>Can every row you removed be followed</a:t>
                      </a:r>
                    </a:p>
                  </a:txBody>
                  <a:tcPr marL="101600" marR="101600" marT="38100" marB="38100" anchor="ctr">
                    <a:solidFill>
                      <a:srgbClr val="F4F2FA"/>
                    </a:solidFill>
                  </a:tcPr>
                </a:tc>
                <a:tc>
                  <a:txBody>
                    <a:bodyPr/>
                    <a:lstStyle/>
                    <a:p>
                      <a:r>
                        <a:rPr sz="1400" b="0" i="0">
                          <a:solidFill>
                            <a:srgbClr val="1A1440"/>
                          </a:solidFill>
                          <a:latin typeface="Calibri"/>
                        </a:rPr>
                        <a:t>The logs, and control totals: rows and rupees counted at both ends</a:t>
                      </a:r>
                    </a:p>
                  </a:txBody>
                  <a:tcPr marL="101600" marR="101600" marT="38100" marB="38100" anchor="ctr">
                    <a:solidFill>
                      <a:srgbClr val="F4F2FA"/>
                    </a:solidFill>
                  </a:tcPr>
                </a:tc>
              </a:tr>
              <a:tr h="369824">
                <a:tc>
                  <a:txBody>
                    <a:bodyPr/>
                    <a:lstStyle/>
                    <a:p>
                      <a:r>
                        <a:rPr sz="1400" b="0" i="0">
                          <a:solidFill>
                            <a:srgbClr val="1A1440"/>
                          </a:solidFill>
                          <a:latin typeface="Calibri"/>
                        </a:rPr>
                        <a:t>Marketing</a:t>
                      </a:r>
                    </a:p>
                  </a:txBody>
                  <a:tcPr marL="101600" marR="101600" marT="38100" marB="38100" anchor="ctr">
                    <a:solidFill>
                      <a:srgbClr val="FFFFFF"/>
                    </a:solidFill>
                  </a:tcPr>
                </a:tc>
                <a:tc>
                  <a:txBody>
                    <a:bodyPr/>
                    <a:lstStyle/>
                    <a:p>
                      <a:r>
                        <a:rPr sz="1400" b="0" i="0">
                          <a:solidFill>
                            <a:srgbClr val="1A1440"/>
                          </a:solidFill>
                          <a:latin typeface="Calibri"/>
                        </a:rPr>
                        <a:t>Does Tuesday's finding survive</a:t>
                      </a:r>
                    </a:p>
                  </a:txBody>
                  <a:tcPr marL="101600" marR="101600" marT="38100" marB="38100" anchor="ctr">
                    <a:solidFill>
                      <a:srgbClr val="FFFFFF"/>
                    </a:solidFill>
                  </a:tcPr>
                </a:tc>
                <a:tc>
                  <a:txBody>
                    <a:bodyPr/>
                    <a:lstStyle/>
                    <a:p>
                      <a:r>
                        <a:rPr sz="1400" b="0" i="0">
                          <a:solidFill>
                            <a:srgbClr val="1A1440"/>
                          </a:solidFill>
                          <a:latin typeface="Calibri"/>
                        </a:rPr>
                        <a:t>Tuesday recomputed on the clean file</a:t>
                      </a:r>
                    </a:p>
                  </a:txBody>
                  <a:tcPr marL="101600" marR="101600" marT="38100" marB="38100" anchor="ctr">
                    <a:solidFill>
                      <a:srgbClr val="FFFFFF"/>
                    </a:solidFill>
                  </a:tcPr>
                </a:tc>
              </a:tr>
              <a:tr h="369824">
                <a:tc>
                  <a:txBody>
                    <a:bodyPr/>
                    <a:lstStyle/>
                    <a:p>
                      <a:r>
                        <a:rPr sz="1400" b="0" i="0">
                          <a:solidFill>
                            <a:srgbClr val="1A1440"/>
                          </a:solidFill>
                          <a:latin typeface="Calibri"/>
                        </a:rPr>
                        <a:t>An auditor</a:t>
                      </a:r>
                    </a:p>
                  </a:txBody>
                  <a:tcPr marL="101600" marR="101600" marT="38100" marB="38100" anchor="ctr">
                    <a:solidFill>
                      <a:srgbClr val="F4F2FA"/>
                    </a:solidFill>
                  </a:tcPr>
                </a:tc>
                <a:tc>
                  <a:txBody>
                    <a:bodyPr/>
                    <a:lstStyle/>
                    <a:p>
                      <a:r>
                        <a:rPr sz="1400" b="0" i="0">
                          <a:solidFill>
                            <a:srgbClr val="1A1440"/>
                          </a:solidFill>
                          <a:latin typeface="Calibri"/>
                        </a:rPr>
                        <a:t>Why did you drop any row</a:t>
                      </a:r>
                    </a:p>
                  </a:txBody>
                  <a:tcPr marL="101600" marR="101600" marT="38100" marB="38100" anchor="ctr">
                    <a:solidFill>
                      <a:srgbClr val="F4F2FA"/>
                    </a:solidFill>
                  </a:tcPr>
                </a:tc>
                <a:tc>
                  <a:txBody>
                    <a:bodyPr/>
                    <a:lstStyle/>
                    <a:p>
                      <a:r>
                        <a:rPr sz="1400" b="0" i="0">
                          <a:solidFill>
                            <a:srgbClr val="1A1440"/>
                          </a:solidFill>
                          <a:latin typeface="Calibri"/>
                        </a:rPr>
                        <a:t>Rows that tie, with a reason per row</a:t>
                      </a:r>
                    </a:p>
                  </a:txBody>
                  <a:tcPr marL="101600" marR="101600" marT="38100" marB="38100" anchor="ctr">
                    <a:solidFill>
                      <a:srgbClr val="F4F2FA"/>
                    </a:solidFill>
                  </a:tcPr>
                </a:tc>
              </a:tr>
            </a:tbl>
          </a:graphicData>
        </a:graphic>
      </p:graphicFrame>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84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branch would you check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come from, and which branch do we check first?</a:t>
            </a:r>
          </a:p>
        </p:txBody>
      </p:sp>
      <p:pic>
        <p:nvPicPr>
          <p:cNvPr id="9" name="mermaid diagram" descr="18bdfe7739cc3c14.png"/>
          <p:cNvPicPr>
            <a:picLocks noChangeAspect="1"/>
          </p:cNvPicPr>
          <p:nvPr/>
        </p:nvPicPr>
        <p:blipFill>
          <a:blip r:embed="rId5"/>
          <a:stretch>
            <a:fillRect/>
          </a:stretch>
        </p:blipFill>
        <p:spPr>
          <a:xfrm>
            <a:off x="1012032" y="1682496"/>
            <a:ext cx="3822965"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branch would you check first, as a letter? a) more rows than orders; b) bigger values than booked; c) another definition; d) rows missing from the books.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5 / 84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rows first, because a count is cheapest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could Rs 20 lakh come from, and which branch do we check first?</a:t>
            </a:r>
          </a:p>
        </p:txBody>
      </p:sp>
      <p:pic>
        <p:nvPicPr>
          <p:cNvPr id="9" name="mermaid diagram" descr="cbacbf6e9d989b7a.png"/>
          <p:cNvPicPr>
            <a:picLocks noChangeAspect="1"/>
          </p:cNvPicPr>
          <p:nvPr/>
        </p:nvPicPr>
        <p:blipFill>
          <a:blip r:embed="rId5"/>
          <a:stretch>
            <a:fillRect/>
          </a:stretch>
        </p:blipFill>
        <p:spPr>
          <a:xfrm>
            <a:off x="1273023" y="1682496"/>
            <a:ext cx="3300984" cy="4517136"/>
          </a:xfrm>
          <a:prstGeom prst="rect">
            <a:avLst/>
          </a:prstGeom>
        </p:spPr>
      </p:pic>
      <p:sp>
        <p:nvSpPr>
          <p:cNvPr id="10" name="Rounded Rectangle 9"/>
          <p:cNvSpPr/>
          <p:nvPr/>
        </p:nvSpPr>
        <p:spPr>
          <a:xfrm>
            <a:off x="5761917" y="1956816"/>
            <a:ext cx="589942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11582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Rank the checks by cost. Rows against distinct orders takes one line and rules a whole branch in or out, so start there and keep the other three on the list.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6 / 84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decide, reconcile, recompute, with a log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four moves turn two figures into one we can prove?</a:t>
            </a:r>
          </a:p>
        </p:txBody>
      </p:sp>
      <p:pic>
        <p:nvPicPr>
          <p:cNvPr id="9" name="mermaid diagram" descr="e4dc3ca5af3c86f2.png"/>
          <p:cNvPicPr>
            <a:picLocks noChangeAspect="1"/>
          </p:cNvPicPr>
          <p:nvPr/>
        </p:nvPicPr>
        <p:blipFill>
          <a:blip r:embed="rId5"/>
          <a:stretch>
            <a:fillRect/>
          </a:stretch>
        </p:blipFill>
        <p:spPr>
          <a:xfrm>
            <a:off x="780897" y="1956816"/>
            <a:ext cx="10629900" cy="3043237"/>
          </a:xfrm>
          <a:prstGeom prst="rect">
            <a:avLst/>
          </a:prstGeom>
        </p:spPr>
      </p:pic>
      <p:sp>
        <p:nvSpPr>
          <p:cNvPr id="10" name="TextBox 9"/>
          <p:cNvSpPr txBox="1"/>
          <p:nvPr/>
        </p:nvSpPr>
        <p:spPr>
          <a:xfrm>
            <a:off x="530352" y="5146357"/>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Every cleaning act is a decision with a written reason. The reconciliation proves the clean file is the same data: input equals clean plus set aside, in rows and in rupees.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3" name="Oval 1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5" name="Oval 1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7" name="Oval 1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9" name="Oval 1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84</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did the ERP send?</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did the ERP send, and does the dashboard's Rs 2.1 crore follow from it?</a:t>
            </a:r>
          </a:p>
        </p:txBody>
      </p:sp>
      <p:sp>
        <p:nvSpPr>
          <p:cNvPr id="10" name="Rounded Rectangle 9"/>
          <p:cNvSpPr/>
          <p:nvPr/>
        </p:nvSpPr>
        <p:spPr>
          <a:xfrm>
            <a:off x="731519" y="5074920"/>
            <a:ext cx="166851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8 / 84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Iyer decides whether Finance acts on Tuesday's drop at all, and his analyst ties out every figure tonight. A wrong count here costs the most of the day, since every later number stands on it.</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way, at what cost?</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ways to learn what arrived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file hold?</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Field by field, three counts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order is largest?</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sort an audit starts from</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2.1 crore follow?</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Q1 over what converts</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can the feed tell?</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app's copy of the orders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other methods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same counts, other code</a:t>
            </a:r>
          </a:p>
        </p:txBody>
      </p:sp>
      <p:sp>
        <p:nvSpPr>
          <p:cNvPr id="43" name="Oval 4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84</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Q1 to the rupee before Finance acts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Anand need before he acts, and what does a wrong count cost?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Q1 revenue</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METRIC</a:t>
            </a:r>
          </a:p>
        </p:txBody>
      </p:sp>
      <p:sp>
        <p:nvSpPr>
          <p:cNvPr id="11" name="TextBox 10"/>
          <p:cNvSpPr txBox="1"/>
          <p:nvPr/>
        </p:nvSpPr>
        <p:spPr>
          <a:xfrm>
            <a:off x="530352" y="2893060"/>
            <a:ext cx="3527450" cy="350266"/>
          </a:xfrm>
          <a:prstGeom prst="rect">
            <a:avLst/>
          </a:prstGeom>
          <a:noFill/>
        </p:spPr>
        <p:txBody>
          <a:bodyPr wrap="square" anchor="t" lIns="0" rIns="0" tIns="0" bIns="0">
            <a:spAutoFit/>
          </a:bodyPr>
          <a:lstStyle/>
          <a:p>
            <a:pPr algn="l"/>
            <a:r>
              <a:rPr sz="950" b="0" i="0">
                <a:solidFill>
                  <a:srgbClr val="6B6690"/>
                </a:solidFill>
                <a:latin typeface="Calibri"/>
              </a:rPr>
              <a:t>booked value: every order at its price, whatever its status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Anand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WHO ASKS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finance controller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a month</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WRONG NUMBER COSTS</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Marketing waits, Finance distrusts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"How many records did you receive, and how many can you use?"</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84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Target Canada's new system ran on bad data</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retailer paid for data nobody counted before trusting it?</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133</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 TO CLOSE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announced January 2015, CBC News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 bn</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FIRST-YEAR LOSS</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CBC News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~30%</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PRODUCT DATA ACCURATE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Salsify, citing Canadian Business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Target Canada launched in March 2013 on a new SAP system into which about 75,000 products were typed by hand, with no check to flag an entry error. Data loaded during a system change is the kind that needs counting before anyone trusts it, and Kalpa's ERP export was stitched during a migration.</a:t>
            </a:r>
          </a:p>
        </p:txBody>
      </p:sp>
      <p:sp>
        <p:nvSpPr>
          <p:cNvPr id="26" name="Oval 2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84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Profile every field: 2,010 values in under a second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learn what arrived, and what would each way cost on 201 rows?</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2504802"/>
                <a:gridCol w="2302660"/>
                <a:gridCol w="1898376"/>
                <a:gridCol w="4425151"/>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What it reads</a:t>
                      </a:r>
                    </a:p>
                  </a:txBody>
                  <a:tcPr marL="101600" marR="101600" marT="38100" marB="38100" anchor="ctr">
                    <a:solidFill>
                      <a:srgbClr val="1A0F5C"/>
                    </a:solidFill>
                  </a:tcPr>
                </a:tc>
                <a:tc>
                  <a:txBody>
                    <a:bodyPr/>
                    <a:lstStyle/>
                    <a:p>
                      <a:r>
                        <a:rPr sz="1250" b="1" i="0">
                          <a:solidFill>
                            <a:srgbClr val="FFFFFF"/>
                          </a:solidFill>
                          <a:latin typeface="Calibri"/>
                        </a:rPr>
                        <a:t>Time</a:t>
                      </a:r>
                    </a:p>
                  </a:txBody>
                  <a:tcPr marL="101600" marR="101600" marT="38100" marB="38100" anchor="ctr">
                    <a:solidFill>
                      <a:srgbClr val="1A0F5C"/>
                    </a:solidFill>
                  </a:tcPr>
                </a:tc>
                <a:tc>
                  <a:txBody>
                    <a:bodyPr/>
                    <a:lstStyle/>
                    <a:p>
                      <a:r>
                        <a:rPr sz="1250" b="1" i="0">
                          <a:solidFill>
                            <a:srgbClr val="FFFFFF"/>
                          </a:solidFill>
                          <a:latin typeface="Calibri"/>
                        </a:rPr>
                        <a:t>What it catches</a:t>
                      </a:r>
                    </a:p>
                  </a:txBody>
                  <a:tcPr marL="101600" marR="101600" marT="38100" marB="38100" anchor="ctr">
                    <a:solidFill>
                      <a:srgbClr val="1A0F5C"/>
                    </a:solidFill>
                  </a:tcPr>
                </a:tc>
              </a:tr>
              <a:tr h="335280">
                <a:tc>
                  <a:txBody>
                    <a:bodyPr/>
                    <a:lstStyle/>
                    <a:p>
                      <a:r>
                        <a:rPr sz="1200" b="0" i="0">
                          <a:solidFill>
                            <a:srgbClr val="1A1440"/>
                          </a:solidFill>
                          <a:latin typeface="Calibri"/>
                        </a:rPr>
                        <a:t>a) Total and compare</a:t>
                      </a:r>
                    </a:p>
                  </a:txBody>
                  <a:tcPr marL="101600" marR="101600" marT="38100" marB="38100" anchor="ctr">
                    <a:solidFill>
                      <a:srgbClr val="FFFFFF"/>
                    </a:solidFill>
                  </a:tcPr>
                </a:tc>
                <a:tc>
                  <a:txBody>
                    <a:bodyPr/>
                    <a:lstStyle/>
                    <a:p>
                      <a:r>
                        <a:rPr sz="1200" b="0" i="0">
                          <a:solidFill>
                            <a:srgbClr val="1A1440"/>
                          </a:solidFill>
                          <a:latin typeface="Calibri"/>
                        </a:rPr>
                        <a:t>201 amounts</a:t>
                      </a:r>
                    </a:p>
                  </a:txBody>
                  <a:tcPr marL="101600" marR="101600" marT="38100" marB="38100" anchor="ctr">
                    <a:solidFill>
                      <a:srgbClr val="FFFFFF"/>
                    </a:solidFill>
                  </a:tcPr>
                </a:tc>
                <a:tc>
                  <a:txBody>
                    <a:bodyPr/>
                    <a:lstStyle/>
                    <a:p>
                      <a:r>
                        <a:rPr sz="1200" b="0" i="0">
                          <a:solidFill>
                            <a:srgbClr val="1A1440"/>
                          </a:solidFill>
                          <a:latin typeface="Calibri"/>
                        </a:rPr>
                        <a:t>under a second</a:t>
                      </a:r>
                    </a:p>
                  </a:txBody>
                  <a:tcPr marL="101600" marR="101600" marT="38100" marB="38100" anchor="ctr">
                    <a:solidFill>
                      <a:srgbClr val="FFFFFF"/>
                    </a:solidFill>
                  </a:tcPr>
                </a:tc>
                <a:tc>
                  <a:txBody>
                    <a:bodyPr/>
                    <a:lstStyle/>
                    <a:p>
                      <a:r>
                        <a:rPr sz="1200" b="0" i="0">
                          <a:solidFill>
                            <a:srgbClr val="1A1440"/>
                          </a:solidFill>
                          <a:latin typeface="Calibri"/>
                        </a:rPr>
                        <a:t>stops on an unreadable amount</a:t>
                      </a:r>
                    </a:p>
                  </a:txBody>
                  <a:tcPr marL="101600" marR="101600" marT="38100" marB="38100" anchor="ctr">
                    <a:solidFill>
                      <a:srgbClr val="FFFFFF"/>
                    </a:solidFill>
                  </a:tcPr>
                </a:tc>
              </a:tr>
              <a:tr h="335280">
                <a:tc>
                  <a:txBody>
                    <a:bodyPr/>
                    <a:lstStyle/>
                    <a:p>
                      <a:r>
                        <a:rPr sz="1200" b="0" i="0">
                          <a:solidFill>
                            <a:srgbClr val="1A1440"/>
                          </a:solidFill>
                          <a:latin typeface="Calibri"/>
                        </a:rPr>
                        <a:t>b) Scroll it</a:t>
                      </a:r>
                    </a:p>
                  </a:txBody>
                  <a:tcPr marL="101600" marR="101600" marT="38100" marB="38100" anchor="ctr">
                    <a:solidFill>
                      <a:srgbClr val="F4F2FA"/>
                    </a:solidFill>
                  </a:tcPr>
                </a:tc>
                <a:tc>
                  <a:txBody>
                    <a:bodyPr/>
                    <a:lstStyle/>
                    <a:p>
                      <a:r>
                        <a:rPr sz="1200" b="0" i="0">
                          <a:solidFill>
                            <a:srgbClr val="1A1440"/>
                          </a:solidFill>
                          <a:latin typeface="Calibri"/>
                        </a:rPr>
                        <a:t>2,010 cells by eye</a:t>
                      </a:r>
                    </a:p>
                  </a:txBody>
                  <a:tcPr marL="101600" marR="101600" marT="38100" marB="38100" anchor="ctr">
                    <a:solidFill>
                      <a:srgbClr val="F4F2FA"/>
                    </a:solidFill>
                  </a:tcPr>
                </a:tc>
                <a:tc>
                  <a:txBody>
                    <a:bodyPr/>
                    <a:lstStyle/>
                    <a:p>
                      <a:r>
                        <a:rPr sz="1200" b="0" i="0">
                          <a:solidFill>
                            <a:srgbClr val="1A1440"/>
                          </a:solidFill>
                          <a:latin typeface="Calibri"/>
                        </a:rPr>
                        <a:t>about 17 minutes</a:t>
                      </a:r>
                    </a:p>
                  </a:txBody>
                  <a:tcPr marL="101600" marR="101600" marT="38100" marB="38100" anchor="ctr">
                    <a:solidFill>
                      <a:srgbClr val="F4F2FA"/>
                    </a:solidFill>
                  </a:tcPr>
                </a:tc>
                <a:tc>
                  <a:txBody>
                    <a:bodyPr/>
                    <a:lstStyle/>
                    <a:p>
                      <a:r>
                        <a:rPr sz="1200" b="0" i="0">
                          <a:solidFill>
                            <a:srgbClr val="1A1440"/>
                          </a:solidFill>
                          <a:latin typeface="Calibri"/>
                        </a:rPr>
                        <a:t>misses repeats far apart</a:t>
                      </a:r>
                    </a:p>
                  </a:txBody>
                  <a:tcPr marL="101600" marR="101600" marT="38100" marB="38100" anchor="ctr">
                    <a:solidFill>
                      <a:srgbClr val="F4F2FA"/>
                    </a:solidFill>
                  </a:tcPr>
                </a:tc>
              </a:tr>
              <a:tr h="335280">
                <a:tc>
                  <a:txBody>
                    <a:bodyPr/>
                    <a:lstStyle/>
                    <a:p>
                      <a:r>
                        <a:rPr sz="1200" b="0" i="0">
                          <a:solidFill>
                            <a:srgbClr val="1A1440"/>
                          </a:solidFill>
                          <a:latin typeface="Calibri"/>
                        </a:rPr>
                        <a:t>c) Sample 20 rows</a:t>
                      </a:r>
                    </a:p>
                  </a:txBody>
                  <a:tcPr marL="101600" marR="101600" marT="38100" marB="38100" anchor="ctr">
                    <a:solidFill>
                      <a:srgbClr val="FFFFFF"/>
                    </a:solidFill>
                  </a:tcPr>
                </a:tc>
                <a:tc>
                  <a:txBody>
                    <a:bodyPr/>
                    <a:lstStyle/>
                    <a:p>
                      <a:r>
                        <a:rPr sz="1200" b="0" i="0">
                          <a:solidFill>
                            <a:srgbClr val="1A1440"/>
                          </a:solidFill>
                          <a:latin typeface="Calibri"/>
                        </a:rPr>
                        <a:t>20 rows</a:t>
                      </a:r>
                    </a:p>
                  </a:txBody>
                  <a:tcPr marL="101600" marR="101600" marT="38100" marB="38100" anchor="ctr">
                    <a:solidFill>
                      <a:srgbClr val="FFFFFF"/>
                    </a:solidFill>
                  </a:tcPr>
                </a:tc>
                <a:tc>
                  <a:txBody>
                    <a:bodyPr/>
                    <a:lstStyle/>
                    <a:p>
                      <a:r>
                        <a:rPr sz="1200" b="0" i="0">
                          <a:solidFill>
                            <a:srgbClr val="1A1440"/>
                          </a:solidFill>
                          <a:latin typeface="Calibri"/>
                        </a:rPr>
                        <a:t>about 10 minutes</a:t>
                      </a:r>
                    </a:p>
                  </a:txBody>
                  <a:tcPr marL="101600" marR="101600" marT="38100" marB="38100" anchor="ctr">
                    <a:solidFill>
                      <a:srgbClr val="FFFFFF"/>
                    </a:solidFill>
                  </a:tcPr>
                </a:tc>
                <a:tc>
                  <a:txBody>
                    <a:bodyPr/>
                    <a:lstStyle/>
                    <a:p>
                      <a:r>
                        <a:rPr sz="1200" b="0" i="0">
                          <a:solidFill>
                            <a:srgbClr val="1A1440"/>
                          </a:solidFill>
                          <a:latin typeface="Calibri"/>
                        </a:rPr>
                        <a:t>the 20 it reads, nothing of the other 181</a:t>
                      </a:r>
                    </a:p>
                  </a:txBody>
                  <a:tcPr marL="101600" marR="101600" marT="38100" marB="38100" anchor="ctr">
                    <a:solidFill>
                      <a:srgbClr val="FFFFFF"/>
                    </a:solidFill>
                  </a:tcPr>
                </a:tc>
              </a:tr>
              <a:tr h="335280">
                <a:tc>
                  <a:txBody>
                    <a:bodyPr/>
                    <a:lstStyle/>
                    <a:p>
                      <a:r>
                        <a:rPr sz="1200" b="0" i="0">
                          <a:solidFill>
                            <a:srgbClr val="1A1440"/>
                          </a:solidFill>
                          <a:latin typeface="Calibri"/>
                        </a:rPr>
                        <a:t>d) Profile every field</a:t>
                      </a:r>
                    </a:p>
                  </a:txBody>
                  <a:tcPr marL="101600" marR="101600" marT="38100" marB="38100" anchor="ctr">
                    <a:solidFill>
                      <a:srgbClr val="F4F2FA"/>
                    </a:solidFill>
                  </a:tcPr>
                </a:tc>
                <a:tc>
                  <a:txBody>
                    <a:bodyPr/>
                    <a:lstStyle/>
                    <a:p>
                      <a:r>
                        <a:rPr sz="1200" b="0" i="0">
                          <a:solidFill>
                            <a:srgbClr val="1A1440"/>
                          </a:solidFill>
                          <a:latin typeface="Calibri"/>
                        </a:rPr>
                        <a:t>2,010 values by code</a:t>
                      </a:r>
                    </a:p>
                  </a:txBody>
                  <a:tcPr marL="101600" marR="101600" marT="38100" marB="38100" anchor="ctr">
                    <a:solidFill>
                      <a:srgbClr val="F4F2FA"/>
                    </a:solidFill>
                  </a:tcPr>
                </a:tc>
                <a:tc>
                  <a:txBody>
                    <a:bodyPr/>
                    <a:lstStyle/>
                    <a:p>
                      <a:r>
                        <a:rPr sz="1200" b="0" i="0">
                          <a:solidFill>
                            <a:srgbClr val="1A1440"/>
                          </a:solidFill>
                          <a:latin typeface="Calibri"/>
                        </a:rPr>
                        <a:t>under a second</a:t>
                      </a:r>
                    </a:p>
                  </a:txBody>
                  <a:tcPr marL="101600" marR="101600" marT="38100" marB="38100" anchor="ctr">
                    <a:solidFill>
                      <a:srgbClr val="F4F2FA"/>
                    </a:solidFill>
                  </a:tcPr>
                </a:tc>
                <a:tc>
                  <a:txBody>
                    <a:bodyPr/>
                    <a:lstStyle/>
                    <a:p>
                      <a:r>
                        <a:rPr sz="1200" b="0" i="0">
                          <a:solidFill>
                            <a:srgbClr val="1A1440"/>
                          </a:solidFill>
                          <a:latin typeface="Calibri"/>
                        </a:rPr>
                        <a:t>every count that does not fit</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d, then sample only where the profile points. What would switch it: a profile too slow for the deadline; then profile order_id and amount first.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84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profile asks every field three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profile ask of each field before any total?</a:t>
            </a:r>
          </a:p>
        </p:txBody>
      </p:sp>
      <p:pic>
        <p:nvPicPr>
          <p:cNvPr id="9" name="mermaid diagram" descr="d86f17222c8081aa.png"/>
          <p:cNvPicPr>
            <a:picLocks noChangeAspect="1"/>
          </p:cNvPicPr>
          <p:nvPr/>
        </p:nvPicPr>
        <p:blipFill>
          <a:blip r:embed="rId5"/>
          <a:stretch>
            <a:fillRect/>
          </a:stretch>
        </p:blipFill>
        <p:spPr>
          <a:xfrm>
            <a:off x="2152497" y="1682496"/>
            <a:ext cx="7886700" cy="4471987"/>
          </a:xfrm>
          <a:prstGeom prst="rect">
            <a:avLst/>
          </a:prstGeom>
        </p:spPr>
      </p:pic>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2" name="Oval 1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4" name="Oval 1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6" name="Oval 1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18" name="Oval 1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13 / 84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field falls furthest short of 201?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raw = read_orders()        # 201 rows, each value as the file wrote it</a:t>
            </a:r>
          </a:p>
          <a:p>
            <a:pPr>
              <a:spcAft>
                <a:spcPts val="200"/>
              </a:spcAft>
            </a:pPr>
            <a:r>
              <a:rPr sz="1400" b="0" i="0">
                <a:solidFill>
                  <a:srgbClr val="E4E1F1"/>
                </a:solidFill>
                <a:latin typeface="Consolas"/>
              </a:rPr>
              <a:t>raw[0]["amount"]           # '2200': text, until converted on purpose</a:t>
            </a:r>
          </a:p>
          <a:p>
            <a:pPr>
              <a:spcAft>
                <a:spcPts val="200"/>
              </a:spcAft>
            </a:pPr>
            <a:r>
              <a:rPr sz="1400" b="0" i="0">
                <a:solidFill>
                  <a:srgbClr val="E4E1F1"/>
                </a:solidFill>
                <a:latin typeface="Consolas"/>
              </a:rPr>
              <a:t>prof = profile(raw)        # present, convertible, distinct per field</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field shows the biggest gap between present and the 201 rows, as a letter? a) amount; b) discount; c) order_id; d) none, since an ERP export is complete.</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84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discount, and three smaller gaps matter more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file hold, field by field?</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914400"/>
                <a:gridCol w="914400"/>
                <a:gridCol w="5233235"/>
                <a:gridCol w="4068955"/>
              </a:tblGrid>
              <a:tr h="335280">
                <a:tc>
                  <a:txBody>
                    <a:bodyPr/>
                    <a:lstStyle/>
                    <a:p>
                      <a:r>
                        <a:rPr sz="1250" b="1" i="0">
                          <a:solidFill>
                            <a:srgbClr val="FFFFFF"/>
                          </a:solidFill>
                          <a:latin typeface="Calibri"/>
                        </a:rPr>
                        <a:t>Field</a:t>
                      </a:r>
                    </a:p>
                  </a:txBody>
                  <a:tcPr marL="101600" marR="101600" marT="38100" marB="38100" anchor="ctr">
                    <a:solidFill>
                      <a:srgbClr val="1A0F5C"/>
                    </a:solidFill>
                  </a:tcPr>
                </a:tc>
                <a:tc>
                  <a:txBody>
                    <a:bodyPr/>
                    <a:lstStyle/>
                    <a:p>
                      <a:r>
                        <a:rPr sz="1250" b="1" i="0">
                          <a:solidFill>
                            <a:srgbClr val="FFFFFF"/>
                          </a:solidFill>
                          <a:latin typeface="Calibri"/>
                        </a:rPr>
                        <a:t>Present</a:t>
                      </a:r>
                    </a:p>
                  </a:txBody>
                  <a:tcPr marL="101600" marR="101600" marT="38100" marB="38100" anchor="ctr">
                    <a:solidFill>
                      <a:srgbClr val="1A0F5C"/>
                    </a:solidFill>
                  </a:tcPr>
                </a:tc>
                <a:tc>
                  <a:txBody>
                    <a:bodyPr/>
                    <a:lstStyle/>
                    <a:p>
                      <a:r>
                        <a:rPr sz="1250" b="1" i="0">
                          <a:solidFill>
                            <a:srgbClr val="FFFFFF"/>
                          </a:solidFill>
                          <a:latin typeface="Calibri"/>
                        </a:rPr>
                        <a:t>Convertible</a:t>
                      </a:r>
                    </a:p>
                  </a:txBody>
                  <a:tcPr marL="101600" marR="101600" marT="38100" marB="38100" anchor="ctr">
                    <a:solidFill>
                      <a:srgbClr val="1A0F5C"/>
                    </a:solidFill>
                  </a:tcPr>
                </a:tc>
                <a:tc>
                  <a:txBody>
                    <a:bodyPr/>
                    <a:lstStyle/>
                    <a:p>
                      <a:r>
                        <a:rPr sz="1250" b="1" i="0">
                          <a:solidFill>
                            <a:srgbClr val="FFFFFF"/>
                          </a:solidFill>
                          <a:latin typeface="Calibri"/>
                        </a:rPr>
                        <a:t>Distinct</a:t>
                      </a:r>
                    </a:p>
                  </a:txBody>
                  <a:tcPr marL="101600" marR="101600" marT="38100" marB="38100" anchor="ctr">
                    <a:solidFill>
                      <a:srgbClr val="1A0F5C"/>
                    </a:solidFill>
                  </a:tcPr>
                </a:tc>
              </a:tr>
              <a:tr h="335280">
                <a:tc>
                  <a:txBody>
                    <a:bodyPr/>
                    <a:lstStyle/>
                    <a:p>
                      <a:r>
                        <a:rPr sz="1200" b="0" i="0">
                          <a:solidFill>
                            <a:srgbClr val="1A1440"/>
                          </a:solidFill>
                          <a:latin typeface="Calibri"/>
                        </a:rPr>
                        <a:t>order_id</a:t>
                      </a:r>
                    </a:p>
                  </a:txBody>
                  <a:tcPr marL="101600" marR="101600" marT="38100" marB="38100" anchor="ctr">
                    <a:solidFill>
                      <a:srgbClr val="FFFFFF"/>
                    </a:solidFill>
                  </a:tcPr>
                </a:tc>
                <a:tc>
                  <a:txBody>
                    <a:bodyPr/>
                    <a:lstStyle/>
                    <a:p>
                      <a:r>
                        <a:rPr sz="1200" b="0" i="0">
                          <a:solidFill>
                            <a:srgbClr val="1A1440"/>
                          </a:solidFill>
                          <a:latin typeface="Calibri"/>
                        </a:rPr>
                        <a:t>201</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186</a:t>
                      </a:r>
                    </a:p>
                  </a:txBody>
                  <a:tcPr marL="101600" marR="101600" marT="38100" marB="38100" anchor="ctr">
                    <a:solidFill>
                      <a:srgbClr val="FFFFFF"/>
                    </a:solidFill>
                  </a:tcPr>
                </a:tc>
              </a:tr>
              <a:tr h="335280">
                <a:tc>
                  <a:txBody>
                    <a:bodyPr/>
                    <a:lstStyle/>
                    <a:p>
                      <a:r>
                        <a:rPr sz="1200" b="0" i="0">
                          <a:solidFill>
                            <a:srgbClr val="1A1440"/>
                          </a:solidFill>
                          <a:latin typeface="Calibri"/>
                        </a:rPr>
                        <a:t>amount</a:t>
                      </a:r>
                    </a:p>
                  </a:txBody>
                  <a:tcPr marL="101600" marR="101600" marT="38100" marB="38100" anchor="ctr">
                    <a:solidFill>
                      <a:srgbClr val="F4F2FA"/>
                    </a:solidFill>
                  </a:tcPr>
                </a:tc>
                <a:tc>
                  <a:txBody>
                    <a:bodyPr/>
                    <a:lstStyle/>
                    <a:p>
                      <a:r>
                        <a:rPr sz="1200" b="0" i="0">
                          <a:solidFill>
                            <a:srgbClr val="1A1440"/>
                          </a:solidFill>
                          <a:latin typeface="Calibri"/>
                        </a:rPr>
                        <a:t>201</a:t>
                      </a:r>
                    </a:p>
                  </a:txBody>
                  <a:tcPr marL="101600" marR="101600" marT="38100" marB="38100" anchor="ctr">
                    <a:solidFill>
                      <a:srgbClr val="F4F2FA"/>
                    </a:solidFill>
                  </a:tcPr>
                </a:tc>
                <a:tc>
                  <a:txBody>
                    <a:bodyPr/>
                    <a:lstStyle/>
                    <a:p>
                      <a:r>
                        <a:rPr sz="1200" b="0" i="0">
                          <a:solidFill>
                            <a:srgbClr val="1A1440"/>
                          </a:solidFill>
                          <a:latin typeface="Calibri"/>
                        </a:rPr>
                        <a:t>200</a:t>
                      </a:r>
                    </a:p>
                  </a:txBody>
                  <a:tcPr marL="101600" marR="101600" marT="38100" marB="38100" anchor="ctr">
                    <a:solidFill>
                      <a:srgbClr val="F4F2FA"/>
                    </a:solidFill>
                  </a:tcPr>
                </a:tc>
                <a:tc>
                  <a:txBody>
                    <a:bodyPr/>
                    <a:lstStyle/>
                    <a:p>
                      <a:r>
                        <a:rPr sz="1200" b="0" i="0">
                          <a:solidFill>
                            <a:srgbClr val="1A1440"/>
                          </a:solidFill>
                          <a:latin typeface="Calibri"/>
                        </a:rPr>
                        <a:t>161</a:t>
                      </a:r>
                    </a:p>
                  </a:txBody>
                  <a:tcPr marL="101600" marR="101600" marT="38100" marB="38100" anchor="ctr">
                    <a:solidFill>
                      <a:srgbClr val="F4F2FA"/>
                    </a:solidFill>
                  </a:tcPr>
                </a:tc>
              </a:tr>
              <a:tr h="335280">
                <a:tc>
                  <a:txBody>
                    <a:bodyPr/>
                    <a:lstStyle/>
                    <a:p>
                      <a:r>
                        <a:rPr sz="1200" b="0" i="0">
                          <a:solidFill>
                            <a:srgbClr val="1A1440"/>
                          </a:solidFill>
                          <a:latin typeface="Calibri"/>
                        </a:rPr>
                        <a:t>status</a:t>
                      </a:r>
                    </a:p>
                  </a:txBody>
                  <a:tcPr marL="101600" marR="101600" marT="38100" marB="38100" anchor="ctr">
                    <a:solidFill>
                      <a:srgbClr val="FFFFFF"/>
                    </a:solidFill>
                  </a:tcPr>
                </a:tc>
                <a:tc>
                  <a:txBody>
                    <a:bodyPr/>
                    <a:lstStyle/>
                    <a:p>
                      <a:r>
                        <a:rPr sz="1200" b="0" i="0">
                          <a:solidFill>
                            <a:srgbClr val="1A1440"/>
                          </a:solidFill>
                          <a:latin typeface="Calibri"/>
                        </a:rPr>
                        <a:t>200</a:t>
                      </a:r>
                    </a:p>
                  </a:txBody>
                  <a:tcPr marL="101600" marR="101600" marT="38100" marB="38100" anchor="ctr">
                    <a:solidFill>
                      <a:srgbClr val="FFFFFF"/>
                    </a:solidFill>
                  </a:tcPr>
                </a:tc>
                <a:tc>
                  <a:txBody>
                    <a:bodyPr/>
                    <a:lstStyle/>
                    <a:p>
                      <a:r>
                        <a:rPr sz="1200" b="0" i="0">
                          <a:solidFill>
                            <a:srgbClr val="1A1440"/>
                          </a:solidFill>
                          <a:latin typeface="Calibri"/>
                        </a:rPr>
                        <a:t>text</a:t>
                      </a:r>
                    </a:p>
                  </a:txBody>
                  <a:tcPr marL="101600" marR="101600" marT="38100" marB="38100" anchor="ctr">
                    <a:solidFill>
                      <a:srgbClr val="FFFFFF"/>
                    </a:solidFill>
                  </a:tcPr>
                </a:tc>
                <a:tc>
                  <a:txBody>
                    <a:bodyPr/>
                    <a:lstStyle/>
                    <a:p>
                      <a:r>
                        <a:rPr sz="1200" b="0" i="0">
                          <a:solidFill>
                            <a:srgbClr val="1A1440"/>
                          </a:solidFill>
                          <a:latin typeface="Calibri"/>
                        </a:rPr>
                        <a:t>3</a:t>
                      </a:r>
                    </a:p>
                  </a:txBody>
                  <a:tcPr marL="101600" marR="101600" marT="38100" marB="38100" anchor="ctr">
                    <a:solidFill>
                      <a:srgbClr val="FFFFFF"/>
                    </a:solidFill>
                  </a:tcPr>
                </a:tc>
              </a:tr>
              <a:tr h="335280">
                <a:tc>
                  <a:txBody>
                    <a:bodyPr/>
                    <a:lstStyle/>
                    <a:p>
                      <a:r>
                        <a:rPr sz="1200" b="0" i="0">
                          <a:solidFill>
                            <a:srgbClr val="1A1440"/>
                          </a:solidFill>
                          <a:latin typeface="Calibri"/>
                        </a:rPr>
                        <a:t>discount</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143</a:t>
                      </a:r>
                    </a:p>
                  </a:txBody>
                  <a:tcPr marL="101600" marR="101600" marT="38100" marB="38100" anchor="ctr">
                    <a:solidFill>
                      <a:srgbClr val="F4F2FA"/>
                    </a:solidFill>
                  </a:tcPr>
                </a:tc>
                <a:tc>
                  <a:txBody>
                    <a:bodyPr/>
                    <a:lstStyle/>
                    <a:p>
                      <a:r>
                        <a:rPr sz="1200" b="0" i="0">
                          <a:solidFill>
                            <a:srgbClr val="1A1440"/>
                          </a:solidFill>
                          <a:latin typeface="Calibri"/>
                        </a:rPr>
                        <a:t>4</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Three counts do not fit 201 rows: order ids distinct on 186, amounts convertible on 200, status present on 200. Discount, an optional field, is present on 143, as expected.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84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Rs 970 on 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does a hurried sort put on top?</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raw if r["quarter"] == "Q2"]</a:t>
            </a:r>
          </a:p>
          <a:p>
            <a:pPr>
              <a:spcAft>
                <a:spcPts val="200"/>
              </a:spcAft>
            </a:pPr>
            <a:r>
              <a:rPr sz="1400" b="0" i="0">
                <a:solidFill>
                  <a:srgbClr val="E4E1F1"/>
                </a:solidFill>
                <a:latin typeface="Consolas"/>
              </a:rPr>
              <a:t>top = sorted(q2, key=lambda r: r["amount"], reverse=True)[:3]</a:t>
            </a:r>
          </a:p>
          <a:p>
            <a:pPr>
              <a:spcAft>
                <a:spcPts val="200"/>
              </a:spcAft>
            </a:pPr>
            <a:r>
              <a:rPr sz="1400" b="0" i="0">
                <a:solidFill>
                  <a:srgbClr val="E4E1F1"/>
                </a:solidFill>
                <a:latin typeface="Consolas"/>
              </a:rPr>
              <a:t>[r["amount"] for r in top]      # ['970', '970', '952000']</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Rs 970</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as the hurried sort reports it</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ORDERS ABOVE RS 10 LAKH</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in the three sent</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4" name="Oval 2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84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text sorts by spelling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the text sort put Rs 970 above Rs 29 lakh?</a:t>
            </a:r>
          </a:p>
        </p:txBody>
      </p:sp>
      <p:pic>
        <p:nvPicPr>
          <p:cNvPr id="9" name="mermaid diagram" descr="2371914d6144f056.png"/>
          <p:cNvPicPr>
            <a:picLocks noChangeAspect="1"/>
          </p:cNvPicPr>
          <p:nvPr/>
        </p:nvPicPr>
        <p:blipFill>
          <a:blip r:embed="rId5"/>
          <a:stretch>
            <a:fillRect/>
          </a:stretch>
        </p:blipFill>
        <p:spPr>
          <a:xfrm>
            <a:off x="1931041" y="1956816"/>
            <a:ext cx="8329612" cy="2843212"/>
          </a:xfrm>
          <a:prstGeom prst="rect">
            <a:avLst/>
          </a:prstGeom>
        </p:spPr>
      </p:pic>
      <p:sp>
        <p:nvSpPr>
          <p:cNvPr id="10" name="Rounded Rectangle 9"/>
          <p:cNvSpPr/>
          <p:nvPr/>
        </p:nvSpPr>
        <p:spPr>
          <a:xfrm>
            <a:off x="530352" y="494633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7434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65204"/>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the largest Q2 order be smaller than every Business order, when Kalpa's Business segment sells to companies in lakhs? The smallest Business order is Rs 2,03,060.</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84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converted, Rs 29,45,460 tops Q2</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Q2 order is the largest?</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29,45,460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LARGEST Q2 ORDER</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sorted as a number</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62,11,460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THE TOP THREE</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Rs 9,53,940 as text</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Converted once, at the door, the sort puts the quarter's money first, and the analyst's audit starts on the orders that carry it. Chapter 5 comes back to the Rs 29 lakh order.</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84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is Q1 over the amounts that convert?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sp>
        <p:nvSpPr>
          <p:cNvPr id="9" name="Rounded Rectangle 8"/>
          <p:cNvSpPr/>
          <p:nvPr/>
        </p:nvSpPr>
        <p:spPr>
          <a:xfrm>
            <a:off x="530352" y="1956816"/>
            <a:ext cx="11130991" cy="2224531"/>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822195"/>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accepted, rejects = [], []</a:t>
            </a:r>
          </a:p>
          <a:p>
            <a:pPr>
              <a:spcAft>
                <a:spcPts val="200"/>
              </a:spcAft>
            </a:pPr>
            <a:r>
              <a:rPr sz="1400" b="0" i="0">
                <a:solidFill>
                  <a:srgbClr val="E4E1F1"/>
                </a:solidFill>
                <a:latin typeface="Consolas"/>
              </a:rPr>
              <a:t>for r in raw:</a:t>
            </a:r>
          </a:p>
          <a:p>
            <a:pPr>
              <a:spcAft>
                <a:spcPts val="200"/>
              </a:spcAft>
            </a:pPr>
            <a:r>
              <a:rPr sz="1400" b="0" i="0">
                <a:solidFill>
                  <a:srgbClr val="E4E1F1"/>
                </a:solidFill>
                <a:latin typeface="Consolas"/>
              </a:rPr>
              <a:t>    value, reason = convert(r["amount"])     # rupees, or why it failed</a:t>
            </a:r>
          </a:p>
          <a:p>
            <a:pPr>
              <a:spcAft>
                <a:spcPts val="200"/>
              </a:spcAft>
            </a:pPr>
            <a:r>
              <a:rPr sz="1400" b="0" i="0">
                <a:solidFill>
                  <a:srgbClr val="E4E1F1"/>
                </a:solidFill>
                <a:latin typeface="Consolas"/>
              </a:rPr>
              <a:t>    if value is None:</a:t>
            </a:r>
          </a:p>
          <a:p>
            <a:pPr>
              <a:spcAft>
                <a:spcPts val="200"/>
              </a:spcAft>
            </a:pPr>
            <a:r>
              <a:rPr sz="1400" b="0" i="0">
                <a:solidFill>
                  <a:srgbClr val="E4E1F1"/>
                </a:solidFill>
                <a:latin typeface="Consolas"/>
              </a:rPr>
              <a:t>        rejects.append({"line": r["line"], "reason": reason})</a:t>
            </a:r>
          </a:p>
          <a:p>
            <a:pPr>
              <a:spcAft>
                <a:spcPts val="200"/>
              </a:spcAft>
            </a:pPr>
            <a:r>
              <a:rPr sz="1400" b="0" i="0">
                <a:solidFill>
                  <a:srgbClr val="E4E1F1"/>
                </a:solidFill>
                <a:latin typeface="Consolas"/>
              </a:rPr>
              <a:t>    else:</a:t>
            </a:r>
          </a:p>
          <a:p>
            <a:pPr>
              <a:spcAft>
                <a:spcPts val="200"/>
              </a:spcAft>
            </a:pPr>
            <a:r>
              <a:rPr sz="1400" b="0" i="0">
                <a:solidFill>
                  <a:srgbClr val="E4E1F1"/>
                </a:solidFill>
                <a:latin typeface="Consolas"/>
              </a:rPr>
              <a:t>        accepted.append(dict(r, amount=value))</a:t>
            </a:r>
          </a:p>
        </p:txBody>
      </p:sp>
      <p:sp>
        <p:nvSpPr>
          <p:cNvPr id="14" name="Rounded Rectangle 13"/>
          <p:cNvSpPr/>
          <p:nvPr/>
        </p:nvSpPr>
        <p:spPr>
          <a:xfrm>
            <a:off x="530352" y="4345939"/>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447395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4464811"/>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over the amounts that convert, as a letter? a) Rs 1,90,00,000, the books; b) Rs 2,09,98,210; c) zero, since one failure stops the total; d) somewhere between the two figures.</a:t>
            </a:r>
          </a:p>
        </p:txBody>
      </p:sp>
      <p:sp>
        <p:nvSpPr>
          <p:cNvPr id="17" name="Oval 16"/>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84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2,09,98,210, the dashboard's 2.1 crore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dashboard's Rs 2.1 crore follow from this file?</a:t>
            </a:r>
          </a:p>
        </p:txBody>
      </p:sp>
      <p:pic>
        <p:nvPicPr>
          <p:cNvPr id="9" name="mermaid diagram" descr="f04cd1fa0f99d12b.png"/>
          <p:cNvPicPr>
            <a:picLocks noChangeAspect="1"/>
          </p:cNvPicPr>
          <p:nvPr/>
        </p:nvPicPr>
        <p:blipFill>
          <a:blip r:embed="rId5"/>
          <a:stretch>
            <a:fillRect/>
          </a:stretch>
        </p:blipFill>
        <p:spPr>
          <a:xfrm>
            <a:off x="2152497" y="1809083"/>
            <a:ext cx="7886700" cy="3043237"/>
          </a:xfrm>
          <a:prstGeom prst="rect">
            <a:avLst/>
          </a:prstGeom>
        </p:spPr>
      </p:pic>
      <p:sp>
        <p:nvSpPr>
          <p:cNvPr id="10" name="Rounded Rectangle 9"/>
          <p:cNvSpPr/>
          <p:nvPr/>
        </p:nvSpPr>
        <p:spPr>
          <a:xfrm>
            <a:off x="530352" y="499862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12664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117496"/>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Accepted plus rejected is every row, 200 + 1 = 201. The gap to the books, Rs 19,98,210, is a hundred times any one Retail order, so one unreadable amount cannot explain it; the 15 rows beyond one per order can.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84</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JSON feed shows what the extract held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can the app's JSON feed tell us about the CSV?</a:t>
            </a:r>
          </a:p>
        </p:txBody>
      </p:sp>
      <p:pic>
        <p:nvPicPr>
          <p:cNvPr id="9" name="mermaid diagram" descr="ee1a35674805d7e7.png"/>
          <p:cNvPicPr>
            <a:picLocks noChangeAspect="1"/>
          </p:cNvPicPr>
          <p:nvPr/>
        </p:nvPicPr>
        <p:blipFill>
          <a:blip r:embed="rId6"/>
          <a:stretch>
            <a:fillRect/>
          </a:stretch>
        </p:blipFill>
        <p:spPr>
          <a:xfrm>
            <a:off x="530352" y="2354292"/>
            <a:ext cx="4786326" cy="3173542"/>
          </a:xfrm>
          <a:prstGeom prst="rect">
            <a:avLst/>
          </a:prstGeom>
        </p:spPr>
      </p:pic>
      <p:sp>
        <p:nvSpPr>
          <p:cNvPr id="10" name="Rounded Rectangle 9"/>
          <p:cNvSpPr/>
          <p:nvPr/>
        </p:nvSpPr>
        <p:spPr>
          <a:xfrm>
            <a:off x="5761917" y="1956816"/>
            <a:ext cx="5899425" cy="21579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8072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6100245" y="291693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6630597" y="2322576"/>
            <a:ext cx="4756425" cy="1719072"/>
          </a:xfrm>
          <a:prstGeom prst="rect">
            <a:avLst/>
          </a:prstGeom>
          <a:noFill/>
        </p:spPr>
        <p:txBody>
          <a:bodyPr wrap="square" anchor="t" lIns="0" rIns="0" tIns="0" bIns="0">
            <a:spAutoFit/>
          </a:bodyPr>
          <a:lstStyle/>
          <a:p>
            <a:r>
              <a:rPr sz="1500" b="0" i="0">
                <a:solidFill>
                  <a:srgbClr val="1A1440"/>
                </a:solidFill>
                <a:latin typeface="Calibri"/>
              </a:rPr>
              <a:t>Two copies of one extract agree on its mistakes too, so the feed witnesses what the extract held, never whether a value is right. A CSV writes a missing value as an empty string and JSON leaves the key out, so the profile reads both the same way.</a:t>
            </a:r>
          </a:p>
        </p:txBody>
      </p:sp>
      <p:sp>
        <p:nvSpPr>
          <p:cNvPr id="15" name="Oval 1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84</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sorted ids and a pattern agree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two other methods reach the same counts?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ids = sorted(r["order_id"] for r in raw)</a:t>
            </a:r>
          </a:p>
          <a:p>
            <a:pPr>
              <a:spcAft>
                <a:spcPts val="200"/>
              </a:spcAft>
            </a:pPr>
            <a:r>
              <a:rPr sz="1400" b="0" i="0">
                <a:solidFill>
                  <a:srgbClr val="E4E1F1"/>
                </a:solidFill>
                <a:latin typeface="Consolas"/>
              </a:rPr>
              <a:t>1 + sum(1 for a, b in zip(ids, ids[1:]) if a != b)                # 186</a:t>
            </a:r>
          </a:p>
          <a:p>
            <a:pPr>
              <a:spcAft>
                <a:spcPts val="200"/>
              </a:spcAft>
            </a:pPr>
            <a:r>
              <a:rPr sz="1400" b="0" i="0">
                <a:solidFill>
                  <a:srgbClr val="E4E1F1"/>
                </a:solidFill>
                <a:latin typeface="Consolas"/>
              </a:rPr>
              <a:t>sum(1 for r in raw if not re.fullmatch(r"[0-9]+", r["amount"]))   # 1</a:t>
            </a:r>
          </a:p>
        </p:txBody>
      </p:sp>
      <p:sp>
        <p:nvSpPr>
          <p:cNvPr id="14" name="TextBox 13"/>
          <p:cNvSpPr txBox="1"/>
          <p:nvPr/>
        </p:nvSpPr>
        <p:spPr>
          <a:xfrm>
            <a:off x="530352"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186 = 186</a:t>
            </a:r>
          </a:p>
        </p:txBody>
      </p:sp>
      <p:sp>
        <p:nvSpPr>
          <p:cNvPr id="15" name="TextBox 14"/>
          <p:cNvSpPr txBox="1"/>
          <p:nvPr/>
        </p:nvSpPr>
        <p:spPr>
          <a:xfrm>
            <a:off x="530352"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DISTINCT IDS</a:t>
            </a:r>
          </a:p>
        </p:txBody>
      </p:sp>
      <p:sp>
        <p:nvSpPr>
          <p:cNvPr id="16" name="TextBox 15"/>
          <p:cNvSpPr txBox="1"/>
          <p:nvPr/>
        </p:nvSpPr>
        <p:spPr>
          <a:xfrm>
            <a:off x="530352"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the sorted ids</a:t>
            </a:r>
          </a:p>
        </p:txBody>
      </p:sp>
      <p:sp>
        <p:nvSpPr>
          <p:cNvPr id="17" name="Rectangle 16"/>
          <p:cNvSpPr/>
          <p:nvPr/>
        </p:nvSpPr>
        <p:spPr>
          <a:xfrm>
            <a:off x="530352"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336036"/>
            <a:ext cx="5428335" cy="698500"/>
          </a:xfrm>
          <a:prstGeom prst="rect">
            <a:avLst/>
          </a:prstGeom>
          <a:noFill/>
        </p:spPr>
        <p:txBody>
          <a:bodyPr wrap="square" anchor="t" lIns="0" rIns="0" tIns="0" bIns="0">
            <a:spAutoFit/>
          </a:bodyPr>
          <a:lstStyle/>
          <a:p>
            <a:pPr algn="l"/>
            <a:r>
              <a:rPr sz="4400" b="0" i="0">
                <a:solidFill>
                  <a:srgbClr val="5B3FD6"/>
                </a:solidFill>
                <a:latin typeface="Georgia"/>
              </a:rPr>
              <a:t>1 = 1</a:t>
            </a:r>
          </a:p>
        </p:txBody>
      </p:sp>
      <p:sp>
        <p:nvSpPr>
          <p:cNvPr id="19" name="TextBox 18"/>
          <p:cNvSpPr txBox="1"/>
          <p:nvPr/>
        </p:nvSpPr>
        <p:spPr>
          <a:xfrm>
            <a:off x="6233007" y="407111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AMOUNTS THAT FAIL</a:t>
            </a:r>
          </a:p>
        </p:txBody>
      </p:sp>
      <p:sp>
        <p:nvSpPr>
          <p:cNvPr id="20" name="TextBox 19"/>
          <p:cNvSpPr txBox="1"/>
          <p:nvPr/>
        </p:nvSpPr>
        <p:spPr>
          <a:xfrm>
            <a:off x="6233007" y="4272279"/>
            <a:ext cx="5428335" cy="193421"/>
          </a:xfrm>
          <a:prstGeom prst="rect">
            <a:avLst/>
          </a:prstGeom>
          <a:noFill/>
        </p:spPr>
        <p:txBody>
          <a:bodyPr wrap="square" anchor="t" lIns="0" rIns="0" tIns="0" bIns="0">
            <a:spAutoFit/>
          </a:bodyPr>
          <a:lstStyle/>
          <a:p>
            <a:pPr algn="l"/>
            <a:r>
              <a:rPr sz="950" b="0" i="0">
                <a:solidFill>
                  <a:srgbClr val="6B6690"/>
                </a:solidFill>
                <a:latin typeface="Calibri"/>
              </a:rPr>
              <a:t>the profile and a digit pattern</a:t>
            </a:r>
          </a:p>
        </p:txBody>
      </p:sp>
      <p:sp>
        <p:nvSpPr>
          <p:cNvPr id="21" name="Rectangle 20"/>
          <p:cNvSpPr/>
          <p:nvPr/>
        </p:nvSpPr>
        <p:spPr>
          <a:xfrm>
            <a:off x="6233007" y="452475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79907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92709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917948"/>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gives the first look, and the sort and the pattern take over when the profile's own code is in doubt, since they share none of it.</a:t>
            </a:r>
          </a:p>
        </p:txBody>
      </p:sp>
      <p:sp>
        <p:nvSpPr>
          <p:cNvPr id="25" name="Oval 24"/>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84</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201 rows for 186 orders, and 2.1 is honest arithmetic</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did the ERP send, and does the dashboard's Rs 2.1 crore follow from it?</a:t>
            </a:r>
          </a:p>
        </p:txBody>
      </p:sp>
      <p:graphicFrame>
        <p:nvGraphicFramePr>
          <p:cNvPr id="9" name="Table 8"/>
          <p:cNvGraphicFramePr>
            <a:graphicFrameLocks noGrp="1"/>
          </p:cNvGraphicFramePr>
          <p:nvPr/>
        </p:nvGraphicFramePr>
        <p:xfrm>
          <a:off x="530352" y="1794764"/>
          <a:ext cx="11130991" cy="2226056"/>
        </p:xfrm>
        <a:graphic>
          <a:graphicData uri="http://schemas.openxmlformats.org/drawingml/2006/table">
            <a:tbl>
              <a:tblPr firstRow="0" bandRow="0">
                <a:tableStyleId>{2D5ABB26-0587-4C30-8999-92F81FD0307C}</a:tableStyleId>
              </a:tblPr>
              <a:tblGrid>
                <a:gridCol w="3839684"/>
                <a:gridCol w="7291307"/>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way, at what cost?</a:t>
                      </a:r>
                    </a:p>
                  </a:txBody>
                  <a:tcPr marL="101600" marR="101600" marT="38100" marB="38100" anchor="ctr">
                    <a:solidFill>
                      <a:srgbClr val="FFFFFF"/>
                    </a:solidFill>
                  </a:tcPr>
                </a:tc>
                <a:tc>
                  <a:txBody>
                    <a:bodyPr/>
                    <a:lstStyle/>
                    <a:p>
                      <a:r>
                        <a:rPr sz="1100" b="0" i="0">
                          <a:solidFill>
                            <a:srgbClr val="1A1440"/>
                          </a:solidFill>
                          <a:latin typeface="Calibri"/>
                        </a:rPr>
                        <a:t>Profile every field: 2,010 values in under a second</a:t>
                      </a:r>
                    </a:p>
                  </a:txBody>
                  <a:tcPr marL="101600" marR="101600" marT="38100" marB="38100" anchor="ctr">
                    <a:solidFill>
                      <a:srgbClr val="FFFFFF"/>
                    </a:solidFill>
                  </a:tcPr>
                </a:tc>
              </a:tr>
              <a:tr h="318008">
                <a:tc>
                  <a:txBody>
                    <a:bodyPr/>
                    <a:lstStyle/>
                    <a:p>
                      <a:r>
                        <a:rPr sz="1100" b="0" i="0">
                          <a:solidFill>
                            <a:srgbClr val="1A1440"/>
                          </a:solidFill>
                          <a:latin typeface="Calibri"/>
                        </a:rPr>
                        <a:t>2. What does the file hold?</a:t>
                      </a:r>
                    </a:p>
                  </a:txBody>
                  <a:tcPr marL="101600" marR="101600" marT="38100" marB="38100" anchor="ctr">
                    <a:solidFill>
                      <a:srgbClr val="F4F2FA"/>
                    </a:solidFill>
                  </a:tcPr>
                </a:tc>
                <a:tc>
                  <a:txBody>
                    <a:bodyPr/>
                    <a:lstStyle/>
                    <a:p>
                      <a:r>
                        <a:rPr sz="1100" b="0" i="0">
                          <a:solidFill>
                            <a:srgbClr val="1A1440"/>
                          </a:solidFill>
                          <a:latin typeface="Calibri"/>
                        </a:rPr>
                        <a:t>Text; 186 ids, 200 amounts that convert, status on 200</a:t>
                      </a:r>
                    </a:p>
                  </a:txBody>
                  <a:tcPr marL="101600" marR="101600" marT="38100" marB="38100" anchor="ctr">
                    <a:solidFill>
                      <a:srgbClr val="F4F2FA"/>
                    </a:solidFill>
                  </a:tcPr>
                </a:tc>
              </a:tr>
              <a:tr h="318008">
                <a:tc>
                  <a:txBody>
                    <a:bodyPr/>
                    <a:lstStyle/>
                    <a:p>
                      <a:r>
                        <a:rPr sz="1100" b="0" i="0">
                          <a:solidFill>
                            <a:srgbClr val="1A1440"/>
                          </a:solidFill>
                          <a:latin typeface="Calibri"/>
                        </a:rPr>
                        <a:t>3. Which order is largest?</a:t>
                      </a:r>
                    </a:p>
                  </a:txBody>
                  <a:tcPr marL="101600" marR="101600" marT="38100" marB="38100" anchor="ctr">
                    <a:solidFill>
                      <a:srgbClr val="FFFFFF"/>
                    </a:solidFill>
                  </a:tcPr>
                </a:tc>
                <a:tc>
                  <a:txBody>
                    <a:bodyPr/>
                    <a:lstStyle/>
                    <a:p>
                      <a:r>
                        <a:rPr sz="1100" b="0" i="0">
                          <a:solidFill>
                            <a:srgbClr val="1A1440"/>
                          </a:solidFill>
                          <a:latin typeface="Calibri"/>
                        </a:rPr>
                        <a:t>Rs 29,45,460 as a number, where text said Rs 970</a:t>
                      </a:r>
                    </a:p>
                  </a:txBody>
                  <a:tcPr marL="101600" marR="101600" marT="38100" marB="38100" anchor="ctr">
                    <a:solidFill>
                      <a:srgbClr val="FFFFFF"/>
                    </a:solidFill>
                  </a:tcPr>
                </a:tc>
              </a:tr>
              <a:tr h="318008">
                <a:tc>
                  <a:txBody>
                    <a:bodyPr/>
                    <a:lstStyle/>
                    <a:p>
                      <a:r>
                        <a:rPr sz="1100" b="0" i="0">
                          <a:solidFill>
                            <a:srgbClr val="1A1440"/>
                          </a:solidFill>
                          <a:latin typeface="Calibri"/>
                        </a:rPr>
                        <a:t>4. Does 2.1 crore follow?</a:t>
                      </a:r>
                    </a:p>
                  </a:txBody>
                  <a:tcPr marL="101600" marR="101600" marT="38100" marB="38100" anchor="ctr">
                    <a:solidFill>
                      <a:srgbClr val="F4F2FA"/>
                    </a:solidFill>
                  </a:tcPr>
                </a:tc>
                <a:tc>
                  <a:txBody>
                    <a:bodyPr/>
                    <a:lstStyle/>
                    <a:p>
                      <a:r>
                        <a:rPr sz="1100" b="0" i="0">
                          <a:solidFill>
                            <a:srgbClr val="1A1440"/>
                          </a:solidFill>
                          <a:latin typeface="Calibri"/>
                        </a:rPr>
                        <a:t>Yes: Rs 2,09,98,210, summed over what converts</a:t>
                      </a:r>
                    </a:p>
                  </a:txBody>
                  <a:tcPr marL="101600" marR="101600" marT="38100" marB="38100" anchor="ctr">
                    <a:solidFill>
                      <a:srgbClr val="F4F2FA"/>
                    </a:solidFill>
                  </a:tcPr>
                </a:tc>
              </a:tr>
              <a:tr h="318008">
                <a:tc>
                  <a:txBody>
                    <a:bodyPr/>
                    <a:lstStyle/>
                    <a:p>
                      <a:r>
                        <a:rPr sz="1100" b="0" i="0">
                          <a:solidFill>
                            <a:srgbClr val="1A1440"/>
                          </a:solidFill>
                          <a:latin typeface="Calibri"/>
                        </a:rPr>
                        <a:t>5. What can the feed tell?</a:t>
                      </a:r>
                    </a:p>
                  </a:txBody>
                  <a:tcPr marL="101600" marR="101600" marT="38100" marB="38100" anchor="ctr">
                    <a:solidFill>
                      <a:srgbClr val="FFFFFF"/>
                    </a:solidFill>
                  </a:tcPr>
                </a:tc>
                <a:tc>
                  <a:txBody>
                    <a:bodyPr/>
                    <a:lstStyle/>
                    <a:p>
                      <a:r>
                        <a:rPr sz="1100" b="0" i="0">
                          <a:solidFill>
                            <a:srgbClr val="1A1440"/>
                          </a:solidFill>
                          <a:latin typeface="Calibri"/>
                        </a:rPr>
                        <a:t>What the extract held, in 119 complete records</a:t>
                      </a:r>
                    </a:p>
                  </a:txBody>
                  <a:tcPr marL="101600" marR="101600" marT="38100" marB="38100" anchor="ctr">
                    <a:solidFill>
                      <a:srgbClr val="FFFFFF"/>
                    </a:solidFill>
                  </a:tcPr>
                </a:tc>
              </a:tr>
              <a:tr h="318008">
                <a:tc>
                  <a:txBody>
                    <a:bodyPr/>
                    <a:lstStyle/>
                    <a:p>
                      <a:r>
                        <a:rPr sz="1100" b="0" i="0">
                          <a:solidFill>
                            <a:srgbClr val="1A1440"/>
                          </a:solidFill>
                          <a:latin typeface="Calibri"/>
                        </a:rPr>
                        <a:t>6. Do other methods agree?</a:t>
                      </a:r>
                    </a:p>
                  </a:txBody>
                  <a:tcPr marL="101600" marR="101600" marT="38100" marB="38100" anchor="ctr">
                    <a:solidFill>
                      <a:srgbClr val="F4F2FA"/>
                    </a:solidFill>
                  </a:tcPr>
                </a:tc>
                <a:tc>
                  <a:txBody>
                    <a:bodyPr/>
                    <a:lstStyle/>
                    <a:p>
                      <a:r>
                        <a:rPr sz="1100" b="0" i="0">
                          <a:solidFill>
                            <a:srgbClr val="1A1440"/>
                          </a:solidFill>
                          <a:latin typeface="Calibri"/>
                        </a:rPr>
                        <a:t>Yes: 186 ids and one failure, by other code</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"Before you total anything, tell me how many records you received, how many are complete, how many convert and how many are distinct."</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Everything read from a CSV is a string; what breaks and where do you convert?</a:t>
            </a:r>
          </a:p>
        </p:txBody>
      </p:sp>
      <p:sp>
        <p:nvSpPr>
          <p:cNvPr id="20" name="Oval 1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1" i="0">
                <a:solidFill>
                  <a:srgbClr val="5B3FD6"/>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84</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rows repeat?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The file holds 201 rows for 186 orders: which rows did the export count twice, and what makes two rows one order?</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24 / 84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six questions on the way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needs to know whether his books are short or the export is high. A wrong answer keeps Rs 20 lakh that was never earned or deletes real orders from his books, and every rate Tuesday reported moves with the same rows.</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rule decides?</a:t>
            </a:r>
          </a:p>
        </p:txBody>
      </p:sp>
      <p:sp>
        <p:nvSpPr>
          <p:cNvPr id="17" name="TextBox 16"/>
          <p:cNvSpPr txBox="1"/>
          <p:nvPr/>
        </p:nvSpPr>
        <p:spPr>
          <a:xfrm>
            <a:off x="69494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keys for one order</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are the extra rows?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Rows against ids, by quarter</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Why does dedupe find none?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default tool, today</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many orders twice?</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Grouped by the order id</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Same count, same rows?</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rule that flags as many</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pairwise count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Every row against the rest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84</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Every copy left in adds rupees nobody earned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wrong answer about repeated rows cost Anand?</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201 for 186</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chapter 1's profile</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19,98,210</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ABOVE THE BOOKS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as exported</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0" name="TextBox 19"/>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1" name="TextBox 20"/>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rows did the export count twice, and how do you know they are copies?"</a:t>
            </a:r>
          </a:p>
        </p:txBody>
      </p:sp>
      <p:sp>
        <p:nvSpPr>
          <p:cNvPr id="22" name="Rounded Rectangle 21"/>
          <p:cNvSpPr/>
          <p:nvPr/>
        </p:nvSpPr>
        <p:spPr>
          <a:xfrm>
            <a:off x="530352" y="4447032"/>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758952" y="47792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bug_39ada6eff46d.png"/>
          <p:cNvPicPr>
            <a:picLocks noChangeAspect="1"/>
          </p:cNvPicPr>
          <p:nvPr/>
        </p:nvPicPr>
        <p:blipFill>
          <a:blip r:embed="rId5"/>
          <a:stretch>
            <a:fillRect/>
          </a:stretch>
        </p:blipFill>
        <p:spPr>
          <a:xfrm>
            <a:off x="868680" y="4888992"/>
            <a:ext cx="237744" cy="237744"/>
          </a:xfrm>
          <a:prstGeom prst="rect">
            <a:avLst/>
          </a:prstGeom>
        </p:spPr>
      </p:pic>
      <p:sp>
        <p:nvSpPr>
          <p:cNvPr id="25" name="TextBox 24"/>
          <p:cNvSpPr txBox="1"/>
          <p:nvPr/>
        </p:nvSpPr>
        <p:spPr>
          <a:xfrm>
            <a:off x="1399031" y="45933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6" name="TextBox 25"/>
          <p:cNvSpPr txBox="1"/>
          <p:nvPr/>
        </p:nvSpPr>
        <p:spPr>
          <a:xfrm>
            <a:off x="1399031" y="4812792"/>
            <a:ext cx="9987991" cy="682752"/>
          </a:xfrm>
          <a:prstGeom prst="rect">
            <a:avLst/>
          </a:prstGeom>
          <a:noFill/>
        </p:spPr>
        <p:txBody>
          <a:bodyPr wrap="square" anchor="t" lIns="0" rIns="0" tIns="0" bIns="0">
            <a:spAutoFit/>
          </a:bodyPr>
          <a:lstStyle/>
          <a:p>
            <a:r>
              <a:rPr sz="1500" b="0" i="0">
                <a:solidFill>
                  <a:srgbClr val="1A1440"/>
                </a:solidFill>
                <a:latin typeface="Calibri"/>
              </a:rPr>
              <a:t>Every copy left in adds its rupees to Q1 and an extra order to the rate of Retail-Plus, Kalpa's paid membership tier; every real order removed takes rupees out of Finance's books.</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9" name="Oval 2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1" name="Oval 3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3" name="Oval 3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5" name="Oval 3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84</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Starbucks billed about a million customers twice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company counted one purchase twice?</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22 to 23 May</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2009</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fault ran two days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~7,800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STORES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company-owned, US and Canada</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 million</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CUSTOMERS REPAID</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NBC News and AP</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1A1440"/>
                </a:solidFill>
                <a:latin typeface="Calibri"/>
              </a:rPr>
              <a:t>A repeated record looks like a second purchase until someone asks what makes two records one.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27 / 84</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keys sized: the order_id flags the right 15</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rules could decide that two rows are one order, and what does each flag here?</a:t>
            </a:r>
          </a:p>
        </p:txBody>
      </p:sp>
      <p:graphicFrame>
        <p:nvGraphicFramePr>
          <p:cNvPr id="9" name="Table 8"/>
          <p:cNvGraphicFramePr>
            <a:graphicFrameLocks noGrp="1"/>
          </p:cNvGraphicFramePr>
          <p:nvPr/>
        </p:nvGraphicFramePr>
        <p:xfrm>
          <a:off x="530352" y="1956816"/>
          <a:ext cx="11130988" cy="1676400"/>
        </p:xfrm>
        <a:graphic>
          <a:graphicData uri="http://schemas.openxmlformats.org/drawingml/2006/table">
            <a:tbl>
              <a:tblPr firstRow="0" bandRow="0">
                <a:tableStyleId>{2D5ABB26-0587-4C30-8999-92F81FD0307C}</a:tableStyleId>
              </a:tblPr>
              <a:tblGrid>
                <a:gridCol w="3816555"/>
                <a:gridCol w="1638703"/>
                <a:gridCol w="1751838"/>
                <a:gridCol w="2430649"/>
                <a:gridCol w="1493243"/>
              </a:tblGrid>
              <a:tr h="335280">
                <a:tc>
                  <a:txBody>
                    <a:bodyPr/>
                    <a:lstStyle/>
                    <a:p>
                      <a:r>
                        <a:rPr sz="1250" b="1" i="0">
                          <a:solidFill>
                            <a:srgbClr val="FFFFFF"/>
                          </a:solidFill>
                          <a:latin typeface="Calibri"/>
                        </a:rPr>
                        <a:t>Key</a:t>
                      </a:r>
                    </a:p>
                  </a:txBody>
                  <a:tcPr marL="101600" marR="101600" marT="38100" marB="38100" anchor="ctr">
                    <a:solidFill>
                      <a:srgbClr val="1A0F5C"/>
                    </a:solidFill>
                  </a:tcPr>
                </a:tc>
                <a:tc>
                  <a:txBody>
                    <a:bodyPr/>
                    <a:lstStyle/>
                    <a:p>
                      <a:r>
                        <a:rPr sz="1250" b="1" i="0">
                          <a:solidFill>
                            <a:srgbClr val="FFFFFF"/>
                          </a:solidFill>
                          <a:latin typeface="Calibri"/>
                        </a:rPr>
                        <a:t>Rows flagged</a:t>
                      </a:r>
                    </a:p>
                  </a:txBody>
                  <a:tcPr marL="101600" marR="101600" marT="38100" marB="38100" anchor="ctr">
                    <a:solidFill>
                      <a:srgbClr val="1A0F5C"/>
                    </a:solidFill>
                  </a:tcPr>
                </a:tc>
                <a:tc>
                  <a:txBody>
                    <a:bodyPr/>
                    <a:lstStyle/>
                    <a:p>
                      <a:r>
                        <a:rPr sz="1250" b="1" i="0">
                          <a:solidFill>
                            <a:srgbClr val="FFFFFF"/>
                          </a:solidFill>
                          <a:latin typeface="Calibri"/>
                        </a:rPr>
                        <a:t>Copies missed</a:t>
                      </a:r>
                    </a:p>
                  </a:txBody>
                  <a:tcPr marL="101600" marR="101600" marT="38100" marB="38100" anchor="ctr">
                    <a:solidFill>
                      <a:srgbClr val="1A0F5C"/>
                    </a:solidFill>
                  </a:tcPr>
                </a:tc>
                <a:tc>
                  <a:txBody>
                    <a:bodyPr/>
                    <a:lstStyle/>
                    <a:p>
                      <a:r>
                        <a:rPr sz="1250" b="1" i="0">
                          <a:solidFill>
                            <a:srgbClr val="FFFFFF"/>
                          </a:solidFill>
                          <a:latin typeface="Calibri"/>
                        </a:rPr>
                        <a:t>Real rupees removed</a:t>
                      </a:r>
                    </a:p>
                  </a:txBody>
                  <a:tcPr marL="101600" marR="101600" marT="38100" marB="38100" anchor="ctr">
                    <a:solidFill>
                      <a:srgbClr val="1A0F5C"/>
                    </a:solidFill>
                  </a:tcPr>
                </a:tc>
                <a:tc>
                  <a:txBody>
                    <a:bodyPr/>
                    <a:lstStyle/>
                    <a:p>
                      <a:r>
                        <a:rPr sz="1250" b="1" i="0">
                          <a:solidFill>
                            <a:srgbClr val="FFFFFF"/>
                          </a:solidFill>
                          <a:latin typeface="Calibri"/>
                        </a:rPr>
                        <a:t>Work</a:t>
                      </a:r>
                    </a:p>
                  </a:txBody>
                  <a:tcPr marL="101600" marR="101600" marT="38100" marB="38100" anchor="ctr">
                    <a:solidFill>
                      <a:srgbClr val="1A0F5C"/>
                    </a:solidFill>
                  </a:tcPr>
                </a:tc>
              </a:tr>
              <a:tr h="335280">
                <a:tc>
                  <a:txBody>
                    <a:bodyPr/>
                    <a:lstStyle/>
                    <a:p>
                      <a:r>
                        <a:rPr sz="1200" b="0" i="0">
                          <a:solidFill>
                            <a:srgbClr val="1A1440"/>
                          </a:solidFill>
                          <a:latin typeface="Calibri"/>
                        </a:rPr>
                        <a:t>a) Whole record</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b) Record less line</a:t>
                      </a:r>
                    </a:p>
                  </a:txBody>
                  <a:tcPr marL="101600" marR="101600" marT="38100" marB="38100" anchor="ctr">
                    <a:solidFill>
                      <a:srgbClr val="F4F2FA"/>
                    </a:solidFill>
                  </a:tcPr>
                </a:tc>
                <a:tc>
                  <a:txBody>
                    <a:bodyPr/>
                    <a:lstStyle/>
                    <a:p>
                      <a:r>
                        <a:rPr sz="1200" b="0" i="0">
                          <a:solidFill>
                            <a:srgbClr val="1A1440"/>
                          </a:solidFill>
                          <a:latin typeface="Calibri"/>
                        </a:rPr>
                        <a:t>13</a:t>
                      </a:r>
                    </a:p>
                  </a:txBody>
                  <a:tcPr marL="101600" marR="101600" marT="38100" marB="38100" anchor="ctr">
                    <a:solidFill>
                      <a:srgbClr val="F4F2FA"/>
                    </a:solidFill>
                  </a:tcPr>
                </a:tc>
                <a:tc>
                  <a:txBody>
                    <a:bodyPr/>
                    <a:lstStyle/>
                    <a:p>
                      <a:r>
                        <a:rPr sz="1200" b="0" i="0">
                          <a:solidFill>
                            <a:srgbClr val="1A1440"/>
                          </a:solidFill>
                          <a:latin typeface="Calibri"/>
                        </a:rPr>
                        <a:t>2</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201 lookups</a:t>
                      </a:r>
                    </a:p>
                  </a:txBody>
                  <a:tcPr marL="101600" marR="101600" marT="38100" marB="38100" anchor="ctr">
                    <a:solidFill>
                      <a:srgbClr val="F4F2FA"/>
                    </a:solidFill>
                  </a:tcPr>
                </a:tc>
              </a:tr>
              <a:tr h="335280">
                <a:tc>
                  <a:txBody>
                    <a:bodyPr/>
                    <a:lstStyle/>
                    <a:p>
                      <a:r>
                        <a:rPr sz="1200" b="0" i="0">
                          <a:solidFill>
                            <a:srgbClr val="1A1440"/>
                          </a:solidFill>
                          <a:latin typeface="Calibri"/>
                        </a:rPr>
                        <a:t>c) order_id</a:t>
                      </a:r>
                    </a:p>
                  </a:txBody>
                  <a:tcPr marL="101600" marR="101600" marT="38100" marB="38100" anchor="ctr">
                    <a:solidFill>
                      <a:srgbClr val="FFFFFF"/>
                    </a:solidFill>
                  </a:tcPr>
                </a:tc>
                <a:tc>
                  <a:txBody>
                    <a:bodyPr/>
                    <a:lstStyle/>
                    <a:p>
                      <a:r>
                        <a:rPr sz="1200" b="0" i="0">
                          <a:solidFill>
                            <a:srgbClr val="1A1440"/>
                          </a:solidFill>
                          <a:latin typeface="Calibri"/>
                        </a:rPr>
                        <a:t>15</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201 lookups</a:t>
                      </a:r>
                    </a:p>
                  </a:txBody>
                  <a:tcPr marL="101600" marR="101600" marT="38100" marB="38100" anchor="ctr">
                    <a:solidFill>
                      <a:srgbClr val="FFFFFF"/>
                    </a:solidFill>
                  </a:tcPr>
                </a:tc>
              </a:tr>
              <a:tr h="335280">
                <a:tc>
                  <a:txBody>
                    <a:bodyPr/>
                    <a:lstStyle/>
                    <a:p>
                      <a:r>
                        <a:rPr sz="1200" b="0" i="0">
                          <a:solidFill>
                            <a:srgbClr val="1A1440"/>
                          </a:solidFill>
                          <a:latin typeface="Calibri"/>
                        </a:rPr>
                        <a:t>d) Fuzzy: customer, amount, 60 days</a:t>
                      </a:r>
                    </a:p>
                  </a:txBody>
                  <a:tcPr marL="101600" marR="101600" marT="38100" marB="38100" anchor="ctr">
                    <a:solidFill>
                      <a:srgbClr val="F4F2FA"/>
                    </a:solidFill>
                  </a:tcPr>
                </a:tc>
                <a:tc>
                  <a:txBody>
                    <a:bodyPr/>
                    <a:lstStyle/>
                    <a:p>
                      <a:r>
                        <a:rPr sz="1200" b="0" i="0">
                          <a:solidFill>
                            <a:srgbClr val="1A1440"/>
                          </a:solidFill>
                          <a:latin typeface="Calibri"/>
                        </a:rPr>
                        <a:t>15</a:t>
                      </a:r>
                    </a:p>
                  </a:txBody>
                  <a:tcPr marL="101600" marR="101600" marT="38100" marB="38100" anchor="ctr">
                    <a:solidFill>
                      <a:srgbClr val="F4F2FA"/>
                    </a:solidFill>
                  </a:tcPr>
                </a:tc>
                <a:tc>
                  <a:txBody>
                    <a:bodyPr/>
                    <a:lstStyle/>
                    <a:p>
                      <a:r>
                        <a:rPr sz="1200" b="0" i="0">
                          <a:solidFill>
                            <a:srgbClr val="1A1440"/>
                          </a:solidFill>
                          <a:latin typeface="Calibri"/>
                        </a:rPr>
                        <a:t>1</a:t>
                      </a:r>
                    </a:p>
                  </a:txBody>
                  <a:tcPr marL="101600" marR="101600" marT="38100" marB="38100" anchor="ctr">
                    <a:solidFill>
                      <a:srgbClr val="F4F2FA"/>
                    </a:solidFill>
                  </a:tcPr>
                </a:tc>
                <a:tc>
                  <a:txBody>
                    <a:bodyPr/>
                    <a:lstStyle/>
                    <a:p>
                      <a:r>
                        <a:rPr sz="1200" b="0" i="0">
                          <a:solidFill>
                            <a:srgbClr val="1A1440"/>
                          </a:solidFill>
                          <a:latin typeface="Calibri"/>
                        </a:rPr>
                        <a:t>Rs 17,71,000</a:t>
                      </a:r>
                    </a:p>
                  </a:txBody>
                  <a:tcPr marL="101600" marR="101600" marT="38100" marB="38100" anchor="ctr">
                    <a:solidFill>
                      <a:srgbClr val="F4F2FA"/>
                    </a:solidFill>
                  </a:tcPr>
                </a:tc>
                <a:tc>
                  <a:txBody>
                    <a:bodyPr/>
                    <a:lstStyle/>
                    <a:p>
                      <a:r>
                        <a:rPr sz="1200" b="0" i="0">
                          <a:solidFill>
                            <a:srgbClr val="1A1440"/>
                          </a:solidFill>
                          <a:latin typeface="Calibri"/>
                        </a:rPr>
                        <a:t>20,100 pairs</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because the ERP issues one id per order. What would switch it: two systems issuing their own ids, and then the key is the system plus the id.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84</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identity rule says what one order is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to be written down before a single duplicate is counted?</a:t>
            </a:r>
          </a:p>
        </p:txBody>
      </p:sp>
      <p:pic>
        <p:nvPicPr>
          <p:cNvPr id="9" name="mermaid diagram" descr="686a35de4c7803c6.png"/>
          <p:cNvPicPr>
            <a:picLocks noChangeAspect="1"/>
          </p:cNvPicPr>
          <p:nvPr/>
        </p:nvPicPr>
        <p:blipFill>
          <a:blip r:embed="rId6"/>
          <a:stretch>
            <a:fillRect/>
          </a:stretch>
        </p:blipFill>
        <p:spPr>
          <a:xfrm>
            <a:off x="1372815" y="1664208"/>
            <a:ext cx="9446064" cy="3203447"/>
          </a:xfrm>
          <a:prstGeom prst="rect">
            <a:avLst/>
          </a:prstGeom>
        </p:spPr>
      </p:pic>
      <p:sp>
        <p:nvSpPr>
          <p:cNvPr id="10" name="Rounded Rectangle 9"/>
          <p:cNvSpPr/>
          <p:nvPr/>
        </p:nvSpPr>
        <p:spPr>
          <a:xfrm>
            <a:off x="530352" y="491337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4560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55336"/>
            <a:ext cx="237744" cy="237744"/>
          </a:xfrm>
          <a:prstGeom prst="rect">
            <a:avLst/>
          </a:prstGeom>
        </p:spPr>
      </p:pic>
      <p:sp>
        <p:nvSpPr>
          <p:cNvPr id="13" name="TextBox 12"/>
          <p:cNvSpPr txBox="1"/>
          <p:nvPr/>
        </p:nvSpPr>
        <p:spPr>
          <a:xfrm>
            <a:off x="1399031" y="505968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79136"/>
            <a:ext cx="9987991" cy="682752"/>
          </a:xfrm>
          <a:prstGeom prst="rect">
            <a:avLst/>
          </a:prstGeom>
          <a:noFill/>
        </p:spPr>
        <p:txBody>
          <a:bodyPr wrap="square" anchor="t" lIns="0" rIns="0" tIns="0" bIns="0">
            <a:spAutoFit/>
          </a:bodyPr>
          <a:lstStyle/>
          <a:p>
            <a:r>
              <a:rPr sz="1500" b="0" i="0">
                <a:solidFill>
                  <a:srgbClr val="1A1440"/>
                </a:solidFill>
                <a:latin typeface="Calibri"/>
              </a:rPr>
              <a:t>The identity rule is what the business says makes two records one thing. For an order it is the id the ERP issues, and it is written down before anything is counted.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84</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in which quarter do the extra rows sit?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for q in ("Q1", "Q2"):</a:t>
            </a:r>
          </a:p>
          <a:p>
            <a:pPr>
              <a:spcAft>
                <a:spcPts val="200"/>
              </a:spcAft>
            </a:pPr>
            <a:r>
              <a:rPr sz="1400" b="0" i="0">
                <a:solidFill>
                  <a:srgbClr val="E4E1F1"/>
                </a:solidFill>
                <a:latin typeface="Consolas"/>
              </a:rPr>
              <a:t>    rows_q = [r for r in raw if r["quarter"] == q]</a:t>
            </a:r>
          </a:p>
          <a:p>
            <a:pPr>
              <a:spcAft>
                <a:spcPts val="200"/>
              </a:spcAft>
            </a:pPr>
            <a:r>
              <a:rPr sz="1400" b="0" i="0">
                <a:solidFill>
                  <a:srgbClr val="E4E1F1"/>
                </a:solidFill>
                <a:latin typeface="Consolas"/>
              </a:rPr>
              <a:t>    print(q, len(rows_q), len({r["order_id"] for r in rows_q}))</a:t>
            </a:r>
          </a:p>
        </p:txBody>
      </p:sp>
      <p:sp>
        <p:nvSpPr>
          <p:cNvPr id="14" name="Rounded Rectangle 13"/>
          <p:cNvSpPr/>
          <p:nvPr/>
        </p:nvSpPr>
        <p:spPr>
          <a:xfrm>
            <a:off x="530352" y="333603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46405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454907"/>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Where do rows and distinct ids part company, as a letter? a) evenly across the two quarters; b) mostly in Q1; c) mostly in Q2; d) nowhere, since each id is counted once.</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84</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Q1 holds 114 rows for 100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 rows outnumber orders?</a:t>
            </a:r>
          </a:p>
        </p:txBody>
      </p:sp>
      <p:sp>
        <p:nvSpPr>
          <p:cNvPr id="9" name="TextBox 8"/>
          <p:cNvSpPr txBox="1"/>
          <p:nvPr/>
        </p:nvSpPr>
        <p:spPr>
          <a:xfrm>
            <a:off x="530352"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114 for 100</a:t>
            </a:r>
          </a:p>
        </p:txBody>
      </p:sp>
      <p:sp>
        <p:nvSpPr>
          <p:cNvPr id="10" name="TextBox 9"/>
          <p:cNvSpPr txBox="1"/>
          <p:nvPr/>
        </p:nvSpPr>
        <p:spPr>
          <a:xfrm>
            <a:off x="530352"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ROWS FOR ORDERS</a:t>
            </a:r>
          </a:p>
        </p:txBody>
      </p:sp>
      <p:sp>
        <p:nvSpPr>
          <p:cNvPr id="11" name="TextBox 10"/>
          <p:cNvSpPr txBox="1"/>
          <p:nvPr/>
        </p:nvSpPr>
        <p:spPr>
          <a:xfrm>
            <a:off x="530352"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the quarter the migration touched</a:t>
            </a:r>
          </a:p>
        </p:txBody>
      </p:sp>
      <p:sp>
        <p:nvSpPr>
          <p:cNvPr id="12" name="Rectangle 11"/>
          <p:cNvSpPr/>
          <p:nvPr/>
        </p:nvSpPr>
        <p:spPr>
          <a:xfrm>
            <a:off x="530352"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233007" y="1956816"/>
            <a:ext cx="5428335" cy="698500"/>
          </a:xfrm>
          <a:prstGeom prst="rect">
            <a:avLst/>
          </a:prstGeom>
          <a:noFill/>
        </p:spPr>
        <p:txBody>
          <a:bodyPr wrap="square" anchor="t" lIns="0" rIns="0" tIns="0" bIns="0">
            <a:spAutoFit/>
          </a:bodyPr>
          <a:lstStyle/>
          <a:p>
            <a:pPr algn="l"/>
            <a:r>
              <a:rPr sz="4400" b="0" i="0">
                <a:solidFill>
                  <a:srgbClr val="5B3FD6"/>
                </a:solidFill>
                <a:latin typeface="Georgia"/>
              </a:rPr>
              <a:t>87 for 86</a:t>
            </a:r>
          </a:p>
        </p:txBody>
      </p:sp>
      <p:sp>
        <p:nvSpPr>
          <p:cNvPr id="14" name="TextBox 13"/>
          <p:cNvSpPr txBox="1"/>
          <p:nvPr/>
        </p:nvSpPr>
        <p:spPr>
          <a:xfrm>
            <a:off x="6233007" y="2691892"/>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Q2 ROWS FOR ORDERS</a:t>
            </a:r>
          </a:p>
        </p:txBody>
      </p:sp>
      <p:sp>
        <p:nvSpPr>
          <p:cNvPr id="15" name="TextBox 14"/>
          <p:cNvSpPr txBox="1"/>
          <p:nvPr/>
        </p:nvSpPr>
        <p:spPr>
          <a:xfrm>
            <a:off x="6233007" y="2893060"/>
            <a:ext cx="5428335" cy="193421"/>
          </a:xfrm>
          <a:prstGeom prst="rect">
            <a:avLst/>
          </a:prstGeom>
          <a:noFill/>
        </p:spPr>
        <p:txBody>
          <a:bodyPr wrap="square" anchor="t" lIns="0" rIns="0" tIns="0" bIns="0">
            <a:spAutoFit/>
          </a:bodyPr>
          <a:lstStyle/>
          <a:p>
            <a:pPr algn="l"/>
            <a:r>
              <a:rPr sz="950" b="0" i="0">
                <a:solidFill>
                  <a:srgbClr val="6B6690"/>
                </a:solidFill>
                <a:latin typeface="Calibri"/>
              </a:rPr>
              <a:t>one extra row</a:t>
            </a:r>
          </a:p>
        </p:txBody>
      </p:sp>
      <p:sp>
        <p:nvSpPr>
          <p:cNvPr id="16" name="Rectangle 15"/>
          <p:cNvSpPr/>
          <p:nvPr/>
        </p:nvSpPr>
        <p:spPr>
          <a:xfrm>
            <a:off x="6233007" y="3145536"/>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Rounded Rectangle 17"/>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14 + 1 = 15 rows beyond one per order, the same 15 that 201 rows less 186 ids gives. The extra rows sit where the dashboard and the books disagree.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84</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zero duplicates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default dedupe report on today's records?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kept = whole_record_dedupe(raw)   # every field compared</a:t>
            </a:r>
          </a:p>
          <a:p>
            <a:pPr>
              <a:spcAft>
                <a:spcPts val="200"/>
              </a:spcAft>
            </a:pPr>
            <a:r>
              <a:rPr sz="1400" b="0" i="0">
                <a:solidFill>
                  <a:srgbClr val="E4E1F1"/>
                </a:solidFill>
                <a:latin typeface="Consolas"/>
              </a:rPr>
              <a:t>len(raw) - len(kept)              # 0</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DUPLICATES FOUND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the whole-record dedupe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2,09,98,210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unchanged, the dashboard looks right</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4" name="Oval 23"/>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6" name="Oval 2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8" name="Oval 2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0" name="Oval 2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2" name="TextBox 3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84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the file line makes rows unique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dedupe of every field find nothing?</a:t>
            </a:r>
          </a:p>
        </p:txBody>
      </p:sp>
      <p:pic>
        <p:nvPicPr>
          <p:cNvPr id="9" name="mermaid diagram" descr="89237ac7ca74b24a.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11582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Count distinct ids against rows first: 201 rows and 186 ids cannot both be true of a file with no repeats. The file line records where a row sat and says nothing about which order it is; on five invented records with two orders twice, every field with the line finds 0 repeats and every field without it finds 2.</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84</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15 orders appear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orders appear twice under the order id?</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171</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ONCE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each</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15</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TWICE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too many each</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BY QUARTER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and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 count of nothing became a list of 15 orders, each on two lines, and none on three. Where the second lines sit is the room's to find.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84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fuzzy match shares 14 and removes a real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rule that flags as many rows flag the same rows?</a:t>
            </a:r>
          </a:p>
        </p:txBody>
      </p:sp>
      <p:pic>
        <p:nvPicPr>
          <p:cNvPr id="9" name="mermaid diagram" descr="80ef4342175846a3.png"/>
          <p:cNvPicPr>
            <a:picLocks noChangeAspect="1"/>
          </p:cNvPicPr>
          <p:nvPr/>
        </p:nvPicPr>
        <p:blipFill>
          <a:blip r:embed="rId6"/>
          <a:stretch>
            <a:fillRect/>
          </a:stretch>
        </p:blipFill>
        <p:spPr>
          <a:xfrm>
            <a:off x="3524097" y="1863090"/>
            <a:ext cx="5143500" cy="2628900"/>
          </a:xfrm>
          <a:prstGeom prst="rect">
            <a:avLst/>
          </a:prstGeom>
        </p:spPr>
      </p:pic>
      <p:sp>
        <p:nvSpPr>
          <p:cNvPr id="10" name="Rounded Rectangle 9"/>
          <p:cNvSpPr/>
          <p:nvPr/>
        </p:nvSpPr>
        <p:spPr>
          <a:xfrm>
            <a:off x="530352" y="4638294"/>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00066"/>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bug_39ada6eff46d.png"/>
          <p:cNvPicPr>
            <a:picLocks noChangeAspect="1"/>
          </p:cNvPicPr>
          <p:nvPr/>
        </p:nvPicPr>
        <p:blipFill>
          <a:blip r:embed="rId5"/>
          <a:stretch>
            <a:fillRect/>
          </a:stretch>
        </p:blipFill>
        <p:spPr>
          <a:xfrm>
            <a:off x="868680" y="5209794"/>
            <a:ext cx="237744" cy="237744"/>
          </a:xfrm>
          <a:prstGeom prst="rect">
            <a:avLst/>
          </a:prstGeom>
        </p:spPr>
      </p:pic>
      <p:sp>
        <p:nvSpPr>
          <p:cNvPr id="13" name="TextBox 12"/>
          <p:cNvSpPr txBox="1"/>
          <p:nvPr/>
        </p:nvSpPr>
        <p:spPr>
          <a:xfrm>
            <a:off x="1399031" y="478459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4" name="TextBox 13"/>
          <p:cNvSpPr txBox="1"/>
          <p:nvPr/>
        </p:nvSpPr>
        <p:spPr>
          <a:xfrm>
            <a:off x="1399031" y="5004054"/>
            <a:ext cx="9987991" cy="941832"/>
          </a:xfrm>
          <a:prstGeom prst="rect">
            <a:avLst/>
          </a:prstGeom>
          <a:noFill/>
        </p:spPr>
        <p:txBody>
          <a:bodyPr wrap="square" anchor="t" lIns="0" rIns="0" tIns="0" bIns="0">
            <a:spAutoFit/>
          </a:bodyPr>
          <a:lstStyle/>
          <a:p>
            <a:r>
              <a:rPr sz="1500" b="0" i="0">
                <a:solidFill>
                  <a:srgbClr val="1A1440"/>
                </a:solidFill>
                <a:latin typeface="Calibri"/>
              </a:rPr>
              <a:t>Fifteen against fifteen hides a difference in the rows: a Business customer spent the same Rs 17,71,000 again within 60 days, and the fuzzy match calls the second order a copy while it misses a pair whose amounts differ.</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84</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pairwise, 14 + 1 pairs share an id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count with no dictionary agree with the groups?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pairs = sum(1 for i, a in enumerate(raw) for b in raw[i + 1:]</a:t>
            </a:r>
          </a:p>
          <a:p>
            <a:pPr>
              <a:spcAft>
                <a:spcPts val="200"/>
              </a:spcAft>
            </a:pPr>
            <a:r>
              <a:rPr sz="1400" b="0" i="0">
                <a:solidFill>
                  <a:srgbClr val="E4E1F1"/>
                </a:solidFill>
                <a:latin typeface="Consolas"/>
              </a:rPr>
              <a:t>            if a["order_id"] == b["order_id"])       # 15</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14 + 1</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PAIRS SHARING AN ID</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Q1 and Q2, compared pairwise</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20,100</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COMPARISONS</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against 201 lookups for the groups</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pairwise count checks the grouping code on a small file. Its cost grows with the square of the rows, so on anything large the groups are the pass, and only they say which rows.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84</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order_id is the rule: 15 orders twice, 14 in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rows repeat, and what makes two rows one order?</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06115"/>
                <a:gridCol w="692487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rule decides?</a:t>
                      </a:r>
                    </a:p>
                  </a:txBody>
                  <a:tcPr marL="101600" marR="101600" marT="38100" marB="38100" anchor="ctr">
                    <a:solidFill>
                      <a:srgbClr val="FFFFFF"/>
                    </a:solidFill>
                  </a:tcPr>
                </a:tc>
                <a:tc>
                  <a:txBody>
                    <a:bodyPr/>
                    <a:lstStyle/>
                    <a:p>
                      <a:r>
                        <a:rPr sz="1100" b="0" i="0">
                          <a:solidFill>
                            <a:srgbClr val="1A1440"/>
                          </a:solidFill>
                          <a:latin typeface="Calibri"/>
                        </a:rPr>
                        <a:t>The order_id: 15 rows, where the whole record finds 0</a:t>
                      </a:r>
                    </a:p>
                  </a:txBody>
                  <a:tcPr marL="101600" marR="101600" marT="38100" marB="38100" anchor="ctr">
                    <a:solidFill>
                      <a:srgbClr val="FFFFFF"/>
                    </a:solidFill>
                  </a:tcPr>
                </a:tc>
              </a:tr>
              <a:tr h="318008">
                <a:tc>
                  <a:txBody>
                    <a:bodyPr/>
                    <a:lstStyle/>
                    <a:p>
                      <a:r>
                        <a:rPr sz="1100" b="0" i="0">
                          <a:solidFill>
                            <a:srgbClr val="1A1440"/>
                          </a:solidFill>
                          <a:latin typeface="Calibri"/>
                        </a:rPr>
                        <a:t>2. Where are the extra rows?</a:t>
                      </a:r>
                    </a:p>
                  </a:txBody>
                  <a:tcPr marL="101600" marR="101600" marT="38100" marB="38100" anchor="ctr">
                    <a:solidFill>
                      <a:srgbClr val="F4F2FA"/>
                    </a:solidFill>
                  </a:tcPr>
                </a:tc>
                <a:tc>
                  <a:txBody>
                    <a:bodyPr/>
                    <a:lstStyle/>
                    <a:p>
                      <a:r>
                        <a:rPr sz="1100" b="0" i="0">
                          <a:solidFill>
                            <a:srgbClr val="1A1440"/>
                          </a:solidFill>
                          <a:latin typeface="Calibri"/>
                        </a:rPr>
                        <a:t>Q1, 114 rows for 100 orders; Q2 87 for 86</a:t>
                      </a:r>
                    </a:p>
                  </a:txBody>
                  <a:tcPr marL="101600" marR="101600" marT="38100" marB="38100" anchor="ctr">
                    <a:solidFill>
                      <a:srgbClr val="F4F2FA"/>
                    </a:solidFill>
                  </a:tcPr>
                </a:tc>
              </a:tr>
              <a:tr h="318008">
                <a:tc>
                  <a:txBody>
                    <a:bodyPr/>
                    <a:lstStyle/>
                    <a:p>
                      <a:r>
                        <a:rPr sz="1100" b="0" i="0">
                          <a:solidFill>
                            <a:srgbClr val="1A1440"/>
                          </a:solidFill>
                          <a:latin typeface="Calibri"/>
                        </a:rPr>
                        <a:t>3. Why does dedupe find none?</a:t>
                      </a:r>
                    </a:p>
                  </a:txBody>
                  <a:tcPr marL="101600" marR="101600" marT="38100" marB="38100" anchor="ctr">
                    <a:solidFill>
                      <a:srgbClr val="FFFFFF"/>
                    </a:solidFill>
                  </a:tcPr>
                </a:tc>
                <a:tc>
                  <a:txBody>
                    <a:bodyPr/>
                    <a:lstStyle/>
                    <a:p>
                      <a:r>
                        <a:rPr sz="1100" b="0" i="0">
                          <a:solidFill>
                            <a:srgbClr val="1A1440"/>
                          </a:solidFill>
                          <a:latin typeface="Calibri"/>
                        </a:rPr>
                        <a:t>The file line makes every row unique: 0 found</a:t>
                      </a:r>
                    </a:p>
                  </a:txBody>
                  <a:tcPr marL="101600" marR="101600" marT="38100" marB="38100" anchor="ctr">
                    <a:solidFill>
                      <a:srgbClr val="FFFFFF"/>
                    </a:solidFill>
                  </a:tcPr>
                </a:tc>
              </a:tr>
              <a:tr h="318008">
                <a:tc>
                  <a:txBody>
                    <a:bodyPr/>
                    <a:lstStyle/>
                    <a:p>
                      <a:r>
                        <a:rPr sz="1100" b="0" i="0">
                          <a:solidFill>
                            <a:srgbClr val="1A1440"/>
                          </a:solidFill>
                          <a:latin typeface="Calibri"/>
                        </a:rPr>
                        <a:t>4. How many orders twice?</a:t>
                      </a:r>
                    </a:p>
                  </a:txBody>
                  <a:tcPr marL="101600" marR="101600" marT="38100" marB="38100" anchor="ctr">
                    <a:solidFill>
                      <a:srgbClr val="F4F2FA"/>
                    </a:solidFill>
                  </a:tcPr>
                </a:tc>
                <a:tc>
                  <a:txBody>
                    <a:bodyPr/>
                    <a:lstStyle/>
                    <a:p>
                      <a:r>
                        <a:rPr sz="1100" b="0" i="0">
                          <a:solidFill>
                            <a:srgbClr val="1A1440"/>
                          </a:solidFill>
                          <a:latin typeface="Calibri"/>
                        </a:rPr>
                        <a:t>15, 14 in Q1 and 1 in Q2</a:t>
                      </a:r>
                    </a:p>
                  </a:txBody>
                  <a:tcPr marL="101600" marR="101600" marT="38100" marB="38100" anchor="ctr">
                    <a:solidFill>
                      <a:srgbClr val="F4F2FA"/>
                    </a:solidFill>
                  </a:tcPr>
                </a:tc>
              </a:tr>
              <a:tr h="318008">
                <a:tc>
                  <a:txBody>
                    <a:bodyPr/>
                    <a:lstStyle/>
                    <a:p>
                      <a:r>
                        <a:rPr sz="1100" b="0" i="0">
                          <a:solidFill>
                            <a:srgbClr val="1A1440"/>
                          </a:solidFill>
                          <a:latin typeface="Calibri"/>
                        </a:rPr>
                        <a:t>5. Same count, same rows?</a:t>
                      </a:r>
                    </a:p>
                  </a:txBody>
                  <a:tcPr marL="101600" marR="101600" marT="38100" marB="38100" anchor="ctr">
                    <a:solidFill>
                      <a:srgbClr val="FFFFFF"/>
                    </a:solidFill>
                  </a:tcPr>
                </a:tc>
                <a:tc>
                  <a:txBody>
                    <a:bodyPr/>
                    <a:lstStyle/>
                    <a:p>
                      <a:r>
                        <a:rPr sz="1100" b="0" i="0">
                          <a:solidFill>
                            <a:srgbClr val="1A1440"/>
                          </a:solidFill>
                          <a:latin typeface="Calibri"/>
                        </a:rPr>
                        <a:t>No: 14 shared, and a real Rs 17,71,000 order removed</a:t>
                      </a:r>
                    </a:p>
                  </a:txBody>
                  <a:tcPr marL="101600" marR="101600" marT="38100" marB="38100" anchor="ctr">
                    <a:solidFill>
                      <a:srgbClr val="FFFFFF"/>
                    </a:solidFill>
                  </a:tcPr>
                </a:tc>
              </a:tr>
              <a:tr h="318008">
                <a:tc>
                  <a:txBody>
                    <a:bodyPr/>
                    <a:lstStyle/>
                    <a:p>
                      <a:r>
                        <a:rPr sz="1100" b="0" i="0">
                          <a:solidFill>
                            <a:srgbClr val="1A1440"/>
                          </a:solidFill>
                          <a:latin typeface="Calibri"/>
                        </a:rPr>
                        <a:t>6. Does a pairwise count agree?</a:t>
                      </a:r>
                    </a:p>
                  </a:txBody>
                  <a:tcPr marL="101600" marR="101600" marT="38100" marB="38100" anchor="ctr">
                    <a:solidFill>
                      <a:srgbClr val="F4F2FA"/>
                    </a:solidFill>
                  </a:tcPr>
                </a:tc>
                <a:tc>
                  <a:txBody>
                    <a:bodyPr/>
                    <a:lstStyle/>
                    <a:p>
                      <a:r>
                        <a:rPr sz="1100" b="0" i="0">
                          <a:solidFill>
                            <a:srgbClr val="1A1440"/>
                          </a:solidFill>
                          <a:latin typeface="Calibri"/>
                        </a:rPr>
                        <a:t>Yes: 14 + 1 pairs in 20,100 comparisons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makes two rows the same order before you tell me how many duplicates there are."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[F] How do you find duplicates, and what makes two records the same?</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1" i="0">
                <a:solidFill>
                  <a:srgbClr val="5B3FD6"/>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84</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Which copy stays?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When an order appears twice, which copy stays, and does Q1 then land on the books?</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38 / 84</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Anand's analyst: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Anand's analyst ties out to the rupee, so a choice of copy that loses one order's amount turns the reconciliation into a finding against the team.</a:t>
            </a:r>
          </a:p>
        </p:txBody>
      </p:sp>
      <p:sp>
        <p:nvSpPr>
          <p:cNvPr id="12" name="Rectangle 11"/>
          <p:cNvSpPr/>
          <p:nvPr/>
        </p:nvSpPr>
        <p:spPr>
          <a:xfrm>
            <a:off x="1381734" y="34960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copy could stay?</a:t>
            </a:r>
          </a:p>
        </p:txBody>
      </p:sp>
      <p:sp>
        <p:nvSpPr>
          <p:cNvPr id="17" name="TextBox 16"/>
          <p:cNvSpPr txBox="1"/>
          <p:nvPr/>
        </p:nvSpPr>
        <p:spPr>
          <a:xfrm>
            <a:off x="69494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Four choices, against the books</a:t>
            </a:r>
          </a:p>
        </p:txBody>
      </p:sp>
      <p:sp>
        <p:nvSpPr>
          <p:cNvPr id="18" name="TextBox 17"/>
          <p:cNvSpPr txBox="1"/>
          <p:nvPr/>
        </p:nvSpPr>
        <p:spPr>
          <a:xfrm>
            <a:off x="241599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stays if copies differ?</a:t>
            </a:r>
          </a:p>
        </p:txBody>
      </p:sp>
      <p:sp>
        <p:nvSpPr>
          <p:cNvPr id="22" name="TextBox 21"/>
          <p:cNvSpPr txBox="1"/>
          <p:nvPr/>
        </p:nvSpPr>
        <p:spPr>
          <a:xfrm>
            <a:off x="2580589"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Three pairs, invented</a:t>
            </a:r>
          </a:p>
        </p:txBody>
      </p:sp>
      <p:sp>
        <p:nvSpPr>
          <p:cNvPr id="23" name="TextBox 22"/>
          <p:cNvSpPr txBox="1"/>
          <p:nvPr/>
        </p:nvSpPr>
        <p:spPr>
          <a:xfrm>
            <a:off x="430164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is Q1 after the rule?</a:t>
            </a:r>
          </a:p>
        </p:txBody>
      </p:sp>
      <p:sp>
        <p:nvSpPr>
          <p:cNvPr id="27" name="TextBox 26"/>
          <p:cNvSpPr txBox="1"/>
          <p:nvPr/>
        </p:nvSpPr>
        <p:spPr>
          <a:xfrm>
            <a:off x="4466234" y="44648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rule on the ERP file</a:t>
            </a:r>
          </a:p>
        </p:txBody>
      </p:sp>
      <p:sp>
        <p:nvSpPr>
          <p:cNvPr id="28" name="TextBox 27"/>
          <p:cNvSpPr txBox="1"/>
          <p:nvPr/>
        </p:nvSpPr>
        <p:spPr>
          <a:xfrm>
            <a:off x="6187287"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If Q1 ties, is it right?</a:t>
            </a:r>
          </a:p>
        </p:txBody>
      </p:sp>
      <p:sp>
        <p:nvSpPr>
          <p:cNvPr id="32" name="TextBox 31"/>
          <p:cNvSpPr txBox="1"/>
          <p:nvPr/>
        </p:nvSpPr>
        <p:spPr>
          <a:xfrm>
            <a:off x="6351879"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A pass on the books</a:t>
            </a:r>
          </a:p>
        </p:txBody>
      </p:sp>
      <p:sp>
        <p:nvSpPr>
          <p:cNvPr id="33" name="TextBox 32"/>
          <p:cNvSpPr txBox="1"/>
          <p:nvPr/>
        </p:nvSpPr>
        <p:spPr>
          <a:xfrm>
            <a:off x="8072932"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38160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39624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rows carry the rupees?</a:t>
            </a:r>
          </a:p>
        </p:txBody>
      </p:sp>
      <p:sp>
        <p:nvSpPr>
          <p:cNvPr id="37" name="TextBox 36"/>
          <p:cNvSpPr txBox="1"/>
          <p:nvPr/>
        </p:nvSpPr>
        <p:spPr>
          <a:xfrm>
            <a:off x="8237524" y="4464812"/>
            <a:ext cx="1373581" cy="201676"/>
          </a:xfrm>
          <a:prstGeom prst="rect">
            <a:avLst/>
          </a:prstGeom>
          <a:noFill/>
        </p:spPr>
        <p:txBody>
          <a:bodyPr wrap="square" anchor="t" lIns="0" rIns="0" tIns="0" bIns="0">
            <a:spAutoFit/>
          </a:bodyPr>
          <a:lstStyle/>
          <a:p>
            <a:pPr algn="l"/>
            <a:r>
              <a:rPr sz="1000" b="0" i="0">
                <a:solidFill>
                  <a:srgbClr val="6B6690"/>
                </a:solidFill>
                <a:latin typeface="Calibri"/>
              </a:rPr>
              <a:t>Rows against rupees</a:t>
            </a:r>
          </a:p>
        </p:txBody>
      </p:sp>
      <p:sp>
        <p:nvSpPr>
          <p:cNvPr id="38" name="TextBox 37"/>
          <p:cNvSpPr txBox="1"/>
          <p:nvPr/>
        </p:nvSpPr>
        <p:spPr>
          <a:xfrm>
            <a:off x="9958578" y="29291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38160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39624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dict agree?</a:t>
            </a:r>
          </a:p>
        </p:txBody>
      </p:sp>
      <p:sp>
        <p:nvSpPr>
          <p:cNvPr id="42" name="TextBox 41"/>
          <p:cNvSpPr txBox="1"/>
          <p:nvPr/>
        </p:nvSpPr>
        <p:spPr>
          <a:xfrm>
            <a:off x="10123170" y="4464812"/>
            <a:ext cx="1373581" cy="366776"/>
          </a:xfrm>
          <a:prstGeom prst="rect">
            <a:avLst/>
          </a:prstGeom>
          <a:noFill/>
        </p:spPr>
        <p:txBody>
          <a:bodyPr wrap="square" anchor="t" lIns="0" rIns="0" tIns="0" bIns="0">
            <a:spAutoFit/>
          </a:bodyPr>
          <a:lstStyle/>
          <a:p>
            <a:pPr algn="l"/>
            <a:r>
              <a:rPr sz="1000" b="0" i="0">
                <a:solidFill>
                  <a:srgbClr val="CFC9EE"/>
                </a:solidFill>
                <a:latin typeface="Calibri"/>
              </a:rPr>
              <a:t>One line of code, no log</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39 / 84</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wrong copy costs the analyst's tie-out Rs 1,790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analyst lose if the wrong copy of a pair stays?</a:t>
            </a:r>
          </a:p>
        </p:txBody>
      </p:sp>
      <p:pic>
        <p:nvPicPr>
          <p:cNvPr id="9" name="mermaid diagram" descr="bc75a001c20296aa.png"/>
          <p:cNvPicPr>
            <a:picLocks noChangeAspect="1"/>
          </p:cNvPicPr>
          <p:nvPr/>
        </p:nvPicPr>
        <p:blipFill>
          <a:blip r:embed="rId7"/>
          <a:stretch>
            <a:fillRect/>
          </a:stretch>
        </p:blipFill>
        <p:spPr>
          <a:xfrm>
            <a:off x="2847336" y="1664208"/>
            <a:ext cx="6497023" cy="2295144"/>
          </a:xfrm>
          <a:prstGeom prst="rect">
            <a:avLst/>
          </a:prstGeom>
        </p:spPr>
      </p:pic>
      <p:sp>
        <p:nvSpPr>
          <p:cNvPr id="10" name="Rounded Rectangle 9"/>
          <p:cNvSpPr/>
          <p:nvPr/>
        </p:nvSpPr>
        <p:spPr>
          <a:xfrm>
            <a:off x="530352" y="4005072"/>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20776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message-square_028dbd132a0a.png"/>
          <p:cNvPicPr>
            <a:picLocks noChangeAspect="1"/>
          </p:cNvPicPr>
          <p:nvPr/>
        </p:nvPicPr>
        <p:blipFill>
          <a:blip r:embed="rId5"/>
          <a:stretch>
            <a:fillRect/>
          </a:stretch>
        </p:blipFill>
        <p:spPr>
          <a:xfrm>
            <a:off x="868680" y="4317492"/>
            <a:ext cx="237744" cy="237744"/>
          </a:xfrm>
          <a:prstGeom prst="rect">
            <a:avLst/>
          </a:prstGeom>
        </p:spPr>
      </p:pic>
      <p:sp>
        <p:nvSpPr>
          <p:cNvPr id="13" name="TextBox 12"/>
          <p:cNvSpPr txBox="1"/>
          <p:nvPr/>
        </p:nvSpPr>
        <p:spPr>
          <a:xfrm>
            <a:off x="1399031" y="4151376"/>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14" name="TextBox 13"/>
          <p:cNvSpPr txBox="1"/>
          <p:nvPr/>
        </p:nvSpPr>
        <p:spPr>
          <a:xfrm>
            <a:off x="1399031" y="4370832"/>
            <a:ext cx="9987991" cy="423672"/>
          </a:xfrm>
          <a:prstGeom prst="rect">
            <a:avLst/>
          </a:prstGeom>
          <a:noFill/>
        </p:spPr>
        <p:txBody>
          <a:bodyPr wrap="square" anchor="t" lIns="0" rIns="0" tIns="0" bIns="0">
            <a:spAutoFit/>
          </a:bodyPr>
          <a:lstStyle/>
          <a:p>
            <a:r>
              <a:rPr sz="1500" b="0" i="0">
                <a:solidFill>
                  <a:srgbClr val="FFFFFF"/>
                </a:solidFill>
                <a:latin typeface="Calibri"/>
              </a:rPr>
              <a:t>"When two copies disagree, which one did you keep, and why that one?"</a:t>
            </a:r>
          </a:p>
        </p:txBody>
      </p:sp>
      <p:sp>
        <p:nvSpPr>
          <p:cNvPr id="15" name="Rounded Rectangle 14"/>
          <p:cNvSpPr/>
          <p:nvPr/>
        </p:nvSpPr>
        <p:spPr>
          <a:xfrm>
            <a:off x="530352" y="5032248"/>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364480"/>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bug_39ada6eff46d.png"/>
          <p:cNvPicPr>
            <a:picLocks noChangeAspect="1"/>
          </p:cNvPicPr>
          <p:nvPr/>
        </p:nvPicPr>
        <p:blipFill>
          <a:blip r:embed="rId6"/>
          <a:stretch>
            <a:fillRect/>
          </a:stretch>
        </p:blipFill>
        <p:spPr>
          <a:xfrm>
            <a:off x="868680" y="5474208"/>
            <a:ext cx="237744" cy="237744"/>
          </a:xfrm>
          <a:prstGeom prst="rect">
            <a:avLst/>
          </a:prstGeom>
        </p:spPr>
      </p:pic>
      <p:sp>
        <p:nvSpPr>
          <p:cNvPr id="18" name="TextBox 17"/>
          <p:cNvSpPr txBox="1"/>
          <p:nvPr/>
        </p:nvSpPr>
        <p:spPr>
          <a:xfrm>
            <a:off x="1399031" y="5178552"/>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19" name="TextBox 18"/>
          <p:cNvSpPr txBox="1"/>
          <p:nvPr/>
        </p:nvSpPr>
        <p:spPr>
          <a:xfrm>
            <a:off x="1399031" y="5398008"/>
            <a:ext cx="9987991" cy="682752"/>
          </a:xfrm>
          <a:prstGeom prst="rect">
            <a:avLst/>
          </a:prstGeom>
          <a:noFill/>
        </p:spPr>
        <p:txBody>
          <a:bodyPr wrap="square" anchor="t" lIns="0" rIns="0" tIns="0" bIns="0">
            <a:spAutoFit/>
          </a:bodyPr>
          <a:lstStyle/>
          <a:p>
            <a:r>
              <a:rPr sz="1500" b="0" i="0">
                <a:solidFill>
                  <a:srgbClr val="1A1440"/>
                </a:solidFill>
                <a:latin typeface="Calibri"/>
              </a:rPr>
              <a:t>Keeping the wrong copy of one pair costs Rs 1,790 against the books, and the analyst finds it on her first tie-out.</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40 / 84</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India's GST portal writes the identity rule into law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system had to decide what makes two records one?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 fields</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IDENTITY</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GSTIN, number, type, year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rejected</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 SECOND COPY</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GSTN e-invoice FAQ</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5 crore</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SELLER'S TURNOVER</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invoices to businesses, since 1 August 2023</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GSTIN is a business's GST registration number. Without a written rule for what makes two records one, every team chooses its own survivor. The rule binds the invoices a seller like Kalpa writes to the companies in its Business segment.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41 / 84</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lands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of a pair could stay, and what does each choice do to Q1?</a:t>
            </a:r>
          </a:p>
        </p:txBody>
      </p:sp>
      <p:graphicFrame>
        <p:nvGraphicFramePr>
          <p:cNvPr id="9" name="Table 8"/>
          <p:cNvGraphicFramePr>
            <a:graphicFrameLocks noGrp="1"/>
          </p:cNvGraphicFramePr>
          <p:nvPr/>
        </p:nvGraphicFramePr>
        <p:xfrm>
          <a:off x="530352" y="1956816"/>
          <a:ext cx="11130989" cy="1676400"/>
        </p:xfrm>
        <a:graphic>
          <a:graphicData uri="http://schemas.openxmlformats.org/drawingml/2006/table">
            <a:tbl>
              <a:tblPr firstRow="0" bandRow="0">
                <a:tableStyleId>{2D5ABB26-0587-4C30-8999-92F81FD0307C}</a:tableStyleId>
              </a:tblPr>
              <a:tblGrid>
                <a:gridCol w="3402118"/>
                <a:gridCol w="1983712"/>
                <a:gridCol w="2579442"/>
                <a:gridCol w="3165717"/>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Q1</a:t>
                      </a:r>
                    </a:p>
                  </a:txBody>
                  <a:tcPr marL="101600" marR="101600" marT="38100" marB="38100" anchor="ctr">
                    <a:solidFill>
                      <a:srgbClr val="1A0F5C"/>
                    </a:solidFill>
                  </a:tcPr>
                </a:tc>
                <a:tc>
                  <a:txBody>
                    <a:bodyPr/>
                    <a:lstStyle/>
                    <a:p>
                      <a:r>
                        <a:rPr sz="1250" b="1" i="0">
                          <a:solidFill>
                            <a:srgbClr val="FFFFFF"/>
                          </a:solidFill>
                          <a:latin typeface="Calibri"/>
                        </a:rPr>
                        <a:t>Against the books</a:t>
                      </a:r>
                    </a:p>
                  </a:txBody>
                  <a:tcPr marL="101600" marR="101600" marT="38100" marB="38100" anchor="ctr">
                    <a:solidFill>
                      <a:srgbClr val="1A0F5C"/>
                    </a:solidFill>
                  </a:tcPr>
                </a:tc>
                <a:tc>
                  <a:txBody>
                    <a:bodyPr/>
                    <a:lstStyle/>
                    <a:p>
                      <a:r>
                        <a:rPr sz="1250" b="1" i="0">
                          <a:solidFill>
                            <a:srgbClr val="FFFFFF"/>
                          </a:solidFill>
                          <a:latin typeface="Calibri"/>
                        </a:rPr>
                        <a:t>Unreadable kept</a:t>
                      </a:r>
                    </a:p>
                  </a:txBody>
                  <a:tcPr marL="101600" marR="101600" marT="38100" marB="38100" anchor="ctr">
                    <a:solidFill>
                      <a:srgbClr val="1A0F5C"/>
                    </a:solidFill>
                  </a:tcPr>
                </a:tc>
              </a:tr>
              <a:tr h="335280">
                <a:tc>
                  <a:txBody>
                    <a:bodyPr/>
                    <a:lstStyle/>
                    <a:p>
                      <a:r>
                        <a:rPr sz="1200" b="0" i="0">
                          <a:solidFill>
                            <a:srgbClr val="1A1440"/>
                          </a:solidFill>
                          <a:latin typeface="Calibri"/>
                        </a:rPr>
                        <a:t>a) First in the file</a:t>
                      </a:r>
                    </a:p>
                  </a:txBody>
                  <a:tcPr marL="101600" marR="101600" marT="38100" marB="38100" anchor="ctr">
                    <a:solidFill>
                      <a:srgbClr val="FFFFFF"/>
                    </a:solidFill>
                  </a:tcPr>
                </a:tc>
                <a:tc>
                  <a:txBody>
                    <a:bodyPr/>
                    <a:lstStyle/>
                    <a:p>
                      <a:r>
                        <a:rPr sz="1200" b="0" i="0">
                          <a:solidFill>
                            <a:srgbClr val="1A1440"/>
                          </a:solidFill>
                          <a:latin typeface="Calibri"/>
                        </a:rPr>
                        <a:t>Rs 1,89,98,210</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r>
              <a:tr h="335280">
                <a:tc>
                  <a:txBody>
                    <a:bodyPr/>
                    <a:lstStyle/>
                    <a:p>
                      <a:r>
                        <a:rPr sz="1200" b="0" i="0">
                          <a:solidFill>
                            <a:srgbClr val="1A1440"/>
                          </a:solidFill>
                          <a:latin typeface="Calibri"/>
                        </a:rPr>
                        <a:t>b) Last in the file</a:t>
                      </a:r>
                    </a:p>
                  </a:txBody>
                  <a:tcPr marL="101600" marR="101600" marT="38100" marB="38100" anchor="ctr">
                    <a:solidFill>
                      <a:srgbClr val="F4F2FA"/>
                    </a:solidFill>
                  </a:tcPr>
                </a:tc>
                <a:tc>
                  <a:txBody>
                    <a:bodyPr/>
                    <a:lstStyle/>
                    <a:p>
                      <a:r>
                        <a:rPr sz="1200" b="0" i="0">
                          <a:solidFill>
                            <a:srgbClr val="1A1440"/>
                          </a:solidFill>
                          <a:latin typeface="Calibri"/>
                        </a:rPr>
                        <a:t>Rs 1,90,00,000</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0</a:t>
                      </a:r>
                    </a:p>
                  </a:txBody>
                  <a:tcPr marL="101600" marR="101600" marT="38100" marB="38100" anchor="ctr">
                    <a:solidFill>
                      <a:srgbClr val="F4F2FA"/>
                    </a:solidFill>
                  </a:tcPr>
                </a:tc>
              </a:tr>
              <a:tr h="335280">
                <a:tc>
                  <a:txBody>
                    <a:bodyPr/>
                    <a:lstStyle/>
                    <a:p>
                      <a:r>
                        <a:rPr sz="1200" b="0" i="0">
                          <a:solidFill>
                            <a:srgbClr val="1A1440"/>
                          </a:solidFill>
                          <a:latin typeface="Calibri"/>
                        </a:rPr>
                        <a:t>c) The copy that validates</a:t>
                      </a:r>
                    </a:p>
                  </a:txBody>
                  <a:tcPr marL="101600" marR="101600" marT="38100" marB="38100" anchor="ctr">
                    <a:solidFill>
                      <a:srgbClr val="FFFFFF"/>
                    </a:solidFill>
                  </a:tcPr>
                </a:tc>
                <a:tc>
                  <a:txBody>
                    <a:bodyPr/>
                    <a:lstStyle/>
                    <a:p>
                      <a:r>
                        <a:rPr sz="1200" b="0" i="0">
                          <a:solidFill>
                            <a:srgbClr val="1A1440"/>
                          </a:solidFill>
                          <a:latin typeface="Calibri"/>
                        </a:rPr>
                        <a:t>Rs 1,90,00,000</a:t>
                      </a:r>
                    </a:p>
                  </a:txBody>
                  <a:tcPr marL="101600" marR="101600" marT="38100" marB="38100" anchor="ctr">
                    <a:solidFill>
                      <a:srgbClr val="FFFFFF"/>
                    </a:solidFill>
                  </a:tcPr>
                </a:tc>
                <a:tc>
                  <a:txBody>
                    <a:bodyPr/>
                    <a:lstStyle/>
                    <a:p>
                      <a:r>
                        <a:rPr sz="1200" b="0" i="0">
                          <a:solidFill>
                            <a:srgbClr val="1A1440"/>
                          </a:solidFill>
                          <a:latin typeface="Calibri"/>
                        </a:rPr>
                        <a:t>Rs 0</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r>
              <a:tr h="335280">
                <a:tc>
                  <a:txBody>
                    <a:bodyPr/>
                    <a:lstStyle/>
                    <a:p>
                      <a:r>
                        <a:rPr sz="1200" b="0" i="0">
                          <a:solidFill>
                            <a:srgbClr val="1A1440"/>
                          </a:solidFill>
                          <a:latin typeface="Calibri"/>
                        </a:rPr>
                        <a:t>d) Escalate all 15</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open</a:t>
                      </a:r>
                    </a:p>
                  </a:txBody>
                  <a:tcPr marL="101600" marR="101600" marT="38100" marB="38100" anchor="ctr">
                    <a:solidFill>
                      <a:srgbClr val="F4F2FA"/>
                    </a:solidFill>
                  </a:tcPr>
                </a:tc>
                <a:tc>
                  <a:txBody>
                    <a:bodyPr/>
                    <a:lstStyle/>
                    <a:p>
                      <a:r>
                        <a:rPr sz="1200" b="0" i="0">
                          <a:solidFill>
                            <a:srgbClr val="1A1440"/>
                          </a:solidFill>
                          <a:latin typeface="Calibri"/>
                        </a:rPr>
                        <a:t>0, after days of waiting</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and escalate only the pair whose valid copies disagree. Last lands here by file order, which is luck. What would switch it: the ERP team saying the second extract was a corrected re-run.</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S38  ·  42 / 84</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copy of pair C stays?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3417717"/>
                <a:gridCol w="4045825"/>
                <a:gridCol w="3667447"/>
              </a:tblGrid>
              <a:tr h="369824">
                <a:tc>
                  <a:txBody>
                    <a:bodyPr/>
                    <a:lstStyle/>
                    <a:p>
                      <a:r>
                        <a:rPr sz="1450" b="1" i="0">
                          <a:solidFill>
                            <a:srgbClr val="FFFFFF"/>
                          </a:solidFill>
                          <a:latin typeface="Calibri"/>
                        </a:rPr>
                        <a:t>Pair, invented</a:t>
                      </a:r>
                    </a:p>
                  </a:txBody>
                  <a:tcPr marL="101600" marR="101600" marT="38100" marB="38100" anchor="ctr">
                    <a:solidFill>
                      <a:srgbClr val="1A0F5C"/>
                    </a:solidFill>
                  </a:tcPr>
                </a:tc>
                <a:tc>
                  <a:txBody>
                    <a:bodyPr/>
                    <a:lstStyle/>
                    <a:p>
                      <a:r>
                        <a:rPr sz="1450" b="1" i="0">
                          <a:solidFill>
                            <a:srgbClr val="FFFFFF"/>
                          </a:solidFill>
                          <a:latin typeface="Calibri"/>
                        </a:rPr>
                        <a:t>First copy</a:t>
                      </a:r>
                    </a:p>
                  </a:txBody>
                  <a:tcPr marL="101600" marR="101600" marT="38100" marB="38100" anchor="ctr">
                    <a:solidFill>
                      <a:srgbClr val="1A0F5C"/>
                    </a:solidFill>
                  </a:tcPr>
                </a:tc>
                <a:tc>
                  <a:txBody>
                    <a:bodyPr/>
                    <a:lstStyle/>
                    <a:p>
                      <a:r>
                        <a:rPr sz="1450" b="1" i="0">
                          <a:solidFill>
                            <a:srgbClr val="FFFFFF"/>
                          </a:solidFill>
                          <a:latin typeface="Calibri"/>
                        </a:rPr>
                        <a:t>Second copy</a:t>
                      </a:r>
                    </a:p>
                  </a:txBody>
                  <a:tcPr marL="101600" marR="101600" marT="38100" marB="38100" anchor="ctr">
                    <a:solidFill>
                      <a:srgbClr val="1A0F5C"/>
                    </a:solidFill>
                  </a:tcPr>
                </a:tc>
              </a:tr>
              <a:tr h="369824">
                <a:tc>
                  <a:txBody>
                    <a:bodyPr/>
                    <a:lstStyle/>
                    <a:p>
                      <a:r>
                        <a:rPr sz="1400" b="0" i="0">
                          <a:solidFill>
                            <a:srgbClr val="1A1440"/>
                          </a:solidFill>
                          <a:latin typeface="Calibri"/>
                        </a:rPr>
                        <a:t>A, INV-11</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c>
                  <a:txBody>
                    <a:bodyPr/>
                    <a:lstStyle/>
                    <a:p>
                      <a:r>
                        <a:rPr sz="1400" b="0" i="0">
                          <a:solidFill>
                            <a:srgbClr val="1A1440"/>
                          </a:solidFill>
                          <a:latin typeface="Calibri"/>
                        </a:rPr>
                        <a:t>Rs 1,800, 2 May</a:t>
                      </a:r>
                    </a:p>
                  </a:txBody>
                  <a:tcPr marL="101600" marR="101600" marT="38100" marB="38100" anchor="ctr">
                    <a:solidFill>
                      <a:srgbClr val="FFFFFF"/>
                    </a:solidFill>
                  </a:tcPr>
                </a:tc>
              </a:tr>
              <a:tr h="369824">
                <a:tc>
                  <a:txBody>
                    <a:bodyPr/>
                    <a:lstStyle/>
                    <a:p>
                      <a:r>
                        <a:rPr sz="1400" b="0" i="0">
                          <a:solidFill>
                            <a:srgbClr val="1A1440"/>
                          </a:solidFill>
                          <a:latin typeface="Calibri"/>
                        </a:rPr>
                        <a:t>B, INV-12</a:t>
                      </a:r>
                    </a:p>
                  </a:txBody>
                  <a:tcPr marL="101600" marR="101600" marT="38100" marB="38100" anchor="ctr">
                    <a:solidFill>
                      <a:srgbClr val="F4F2FA"/>
                    </a:solidFill>
                  </a:tcPr>
                </a:tc>
                <a:tc>
                  <a:txBody>
                    <a:bodyPr/>
                    <a:lstStyle/>
                    <a:p>
                      <a:r>
                        <a:rPr sz="1400" b="0" i="0">
                          <a:solidFill>
                            <a:srgbClr val="1A1440"/>
                          </a:solidFill>
                          <a:latin typeface="Calibri"/>
                        </a:rPr>
                        <a:t>amount "n/a"</a:t>
                      </a:r>
                    </a:p>
                  </a:txBody>
                  <a:tcPr marL="101600" marR="101600" marT="38100" marB="38100" anchor="ctr">
                    <a:solidFill>
                      <a:srgbClr val="F4F2FA"/>
                    </a:solidFill>
                  </a:tcPr>
                </a:tc>
                <a:tc>
                  <a:txBody>
                    <a:bodyPr/>
                    <a:lstStyle/>
                    <a:p>
                      <a:r>
                        <a:rPr sz="1400" b="0" i="0">
                          <a:solidFill>
                            <a:srgbClr val="1A1440"/>
                          </a:solidFill>
                          <a:latin typeface="Calibri"/>
                        </a:rPr>
                        <a:t>Rs 2,600</a:t>
                      </a:r>
                    </a:p>
                  </a:txBody>
                  <a:tcPr marL="101600" marR="101600" marT="38100" marB="38100" anchor="ctr">
                    <a:solidFill>
                      <a:srgbClr val="F4F2FA"/>
                    </a:solidFill>
                  </a:tcPr>
                </a:tc>
              </a:tr>
              <a:tr h="369824">
                <a:tc>
                  <a:txBody>
                    <a:bodyPr/>
                    <a:lstStyle/>
                    <a:p>
                      <a:r>
                        <a:rPr sz="1400" b="0" i="0">
                          <a:solidFill>
                            <a:srgbClr val="1A1440"/>
                          </a:solidFill>
                          <a:latin typeface="Calibri"/>
                        </a:rPr>
                        <a:t>C, INV-13</a:t>
                      </a:r>
                    </a:p>
                  </a:txBody>
                  <a:tcPr marL="101600" marR="101600" marT="38100" marB="38100" anchor="ctr">
                    <a:solidFill>
                      <a:srgbClr val="FFFFFF"/>
                    </a:solidFill>
                  </a:tcPr>
                </a:tc>
                <a:tc>
                  <a:txBody>
                    <a:bodyPr/>
                    <a:lstStyle/>
                    <a:p>
                      <a:r>
                        <a:rPr sz="1400" b="0" i="0">
                          <a:solidFill>
                            <a:srgbClr val="1A1440"/>
                          </a:solidFill>
                          <a:latin typeface="Calibri"/>
                        </a:rPr>
                        <a:t>Rs 3,100, 21 August</a:t>
                      </a:r>
                    </a:p>
                  </a:txBody>
                  <a:tcPr marL="101600" marR="101600" marT="38100" marB="38100" anchor="ctr">
                    <a:solidFill>
                      <a:srgbClr val="FFFFFF"/>
                    </a:solidFill>
                  </a:tcPr>
                </a:tc>
                <a:tc>
                  <a:txBody>
                    <a:bodyPr/>
                    <a:lstStyle/>
                    <a:p>
                      <a:r>
                        <a:rPr sz="1400" b="0" i="0">
                          <a:solidFill>
                            <a:srgbClr val="1A1440"/>
                          </a:solidFill>
                          <a:latin typeface="Calibri"/>
                        </a:rPr>
                        <a:t>Rs 3,100, 30 July</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Pair C's copies are both valid and disagree on the date. Which copy stays, as a letter? a) the first extract's copy, with the date queried; b) the copy with the later date, as the newer record; c) neither, since a pair that disagrees proves nothing; d) both, since two valid rows are two orders.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S39  ·  43 / 84</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first, logged, with a question for the ERP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copy stays when the two copies differ?</a:t>
            </a:r>
          </a:p>
        </p:txBody>
      </p:sp>
      <p:pic>
        <p:nvPicPr>
          <p:cNvPr id="9" name="mermaid diagram" descr="ecd1de7b3cb8537e.png"/>
          <p:cNvPicPr>
            <a:picLocks noChangeAspect="1"/>
          </p:cNvPicPr>
          <p:nvPr/>
        </p:nvPicPr>
        <p:blipFill>
          <a:blip r:embed="rId6"/>
          <a:stretch>
            <a:fillRect/>
          </a:stretch>
        </p:blipFill>
        <p:spPr>
          <a:xfrm>
            <a:off x="2152497" y="1682496"/>
            <a:ext cx="7886700" cy="3043237"/>
          </a:xfrm>
          <a:prstGeom prst="rect">
            <a:avLst/>
          </a:prstGeom>
        </p:spPr>
      </p:pic>
      <p:sp>
        <p:nvSpPr>
          <p:cNvPr id="10" name="Rounded Rectangle 9"/>
          <p:cNvSpPr/>
          <p:nvPr/>
        </p:nvSpPr>
        <p:spPr>
          <a:xfrm>
            <a:off x="530352" y="4872037"/>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204269"/>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313997"/>
            <a:ext cx="237744" cy="237744"/>
          </a:xfrm>
          <a:prstGeom prst="rect">
            <a:avLst/>
          </a:prstGeom>
        </p:spPr>
      </p:pic>
      <p:sp>
        <p:nvSpPr>
          <p:cNvPr id="13" name="TextBox 12"/>
          <p:cNvSpPr txBox="1"/>
          <p:nvPr/>
        </p:nvSpPr>
        <p:spPr>
          <a:xfrm>
            <a:off x="1399031" y="5018341"/>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237797"/>
            <a:ext cx="9987991" cy="682752"/>
          </a:xfrm>
          <a:prstGeom prst="rect">
            <a:avLst/>
          </a:prstGeom>
          <a:noFill/>
        </p:spPr>
        <p:txBody>
          <a:bodyPr wrap="square" anchor="t" lIns="0" rIns="0" tIns="0" bIns="0">
            <a:spAutoFit/>
          </a:bodyPr>
          <a:lstStyle/>
          <a:p>
            <a:r>
              <a:rPr sz="1500" b="0" i="0">
                <a:solidFill>
                  <a:srgbClr val="1A1440"/>
                </a:solidFill>
                <a:latin typeface="Calibri"/>
              </a:rPr>
              <a:t>No rule inside the file can say which date is true, so the rule keeps the first extract's row and turns the date into a written question. For pair B, the copy that can be summed stays.</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S40  ·  44 / 84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after the rule, what is Q1?</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pic>
        <p:nvPicPr>
          <p:cNvPr id="9" name="mermaid diagram" descr="5e5a05ff3ec8c28b.png"/>
          <p:cNvPicPr>
            <a:picLocks noChangeAspect="1"/>
          </p:cNvPicPr>
          <p:nvPr/>
        </p:nvPicPr>
        <p:blipFill>
          <a:blip r:embed="rId5"/>
          <a:stretch>
            <a:fillRect/>
          </a:stretch>
        </p:blipFill>
        <p:spPr>
          <a:xfrm>
            <a:off x="2181072" y="1956816"/>
            <a:ext cx="7829550" cy="2328862"/>
          </a:xfrm>
          <a:prstGeom prst="rect">
            <a:avLst/>
          </a:prstGeom>
        </p:spPr>
      </p:pic>
      <p:sp>
        <p:nvSpPr>
          <p:cNvPr id="10" name="Rounded Rectangle 9"/>
          <p:cNvSpPr/>
          <p:nvPr/>
        </p:nvSpPr>
        <p:spPr>
          <a:xfrm>
            <a:off x="530352" y="443198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99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854"/>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Q1 after the identity rule, as a letter? a) Rs 2,09,98,210; b) Rs 1,89,98,210; c) Rs 1,90,00,000; d) Rs 2,00,00,000.</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S41  ·  45 / 84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Rs 1,90,00,000, the books to the rupee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Q1 once the rule runs on the ERP file?</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books,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one row per order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+ 15</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kept and set aside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Two of the 15 rows set aside carry a longer reason than "second copy of the order", and those two are where the rule made a choice.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S42  ·  46 / 84</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Q1 ties, so stop</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Q1 ties to the books, is the pass right?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1,90,00,000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equal to the books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188</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REPORTED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in the clean file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1,87,03,710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sent on to Marketing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S43  ·  47 / 84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188 rows for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Q1 tie while the rows are wrong?</a:t>
            </a:r>
          </a:p>
        </p:txBody>
      </p:sp>
      <p:pic>
        <p:nvPicPr>
          <p:cNvPr id="9" name="mermaid diagram" descr="3f0da5438c63ade0.png"/>
          <p:cNvPicPr>
            <a:picLocks noChangeAspect="1"/>
          </p:cNvPicPr>
          <p:nvPr/>
        </p:nvPicPr>
        <p:blipFill>
          <a:blip r:embed="rId5"/>
          <a:stretch>
            <a:fillRect/>
          </a:stretch>
        </p:blipFill>
        <p:spPr>
          <a:xfrm>
            <a:off x="780897" y="1956816"/>
            <a:ext cx="10629900" cy="1600200"/>
          </a:xfrm>
          <a:prstGeom prst="rect">
            <a:avLst/>
          </a:prstGeom>
        </p:spPr>
      </p:pic>
      <p:sp>
        <p:nvSpPr>
          <p:cNvPr id="10" name="Rounded Rectangle 9"/>
          <p:cNvSpPr/>
          <p:nvPr/>
        </p:nvSpPr>
        <p:spPr>
          <a:xfrm>
            <a:off x="530352" y="3703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31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22192"/>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Rows kept against distinct ids, the check chapter 2 taught. A tie in rupees on one quarter proves that quarter's rupees and nothing about its rows.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S44  ·  48 / 84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keeps 186, and Q2 drops Rs 3,710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identity rule change against that pass?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186 for 186</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FOR ORDERS</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identity rule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down Rs 3,710</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QUESTION TO THE ERP TEAM</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a date that disagrees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One Q2 order stops being counted twice, the unreadable row leaves the clean file with its reason, and one date goes to the ERP team as a written question.</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S45  ·  49 / 84</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Two Business rows carry 98.5 percent of the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rows carry the rupees set aside?</a:t>
            </a:r>
          </a:p>
        </p:txBody>
      </p:sp>
      <p:graphicFrame>
        <p:nvGraphicFramePr>
          <p:cNvPr id="9" name="Table 8"/>
          <p:cNvGraphicFramePr>
            <a:graphicFrameLocks noGrp="1"/>
          </p:cNvGraphicFramePr>
          <p:nvPr/>
        </p:nvGraphicFramePr>
        <p:xfrm>
          <a:off x="530352" y="1956816"/>
          <a:ext cx="11130989" cy="1341120"/>
        </p:xfrm>
        <a:graphic>
          <a:graphicData uri="http://schemas.openxmlformats.org/drawingml/2006/table">
            <a:tbl>
              <a:tblPr firstRow="0" bandRow="0">
                <a:tableStyleId>{2D5ABB26-0587-4C30-8999-92F81FD0307C}</a:tableStyleId>
              </a:tblPr>
              <a:tblGrid>
                <a:gridCol w="1707009"/>
                <a:gridCol w="2286638"/>
                <a:gridCol w="2147923"/>
                <a:gridCol w="2564067"/>
                <a:gridCol w="2425352"/>
              </a:tblGrid>
              <a:tr h="335280">
                <a:tc>
                  <a:txBody>
                    <a:bodyPr/>
                    <a:lstStyle/>
                    <a:p>
                      <a:r>
                        <a:rPr sz="1250" b="1" i="0">
                          <a:solidFill>
                            <a:srgbClr val="FFFFFF"/>
                          </a:solidFill>
                          <a:latin typeface="Calibri"/>
                        </a:rPr>
                        <a:t>Segment</a:t>
                      </a:r>
                    </a:p>
                  </a:txBody>
                  <a:tcPr marL="101600" marR="101600" marT="38100" marB="38100" anchor="ctr">
                    <a:solidFill>
                      <a:srgbClr val="1A0F5C"/>
                    </a:solidFill>
                  </a:tcPr>
                </a:tc>
                <a:tc>
                  <a:txBody>
                    <a:bodyPr/>
                    <a:lstStyle/>
                    <a:p>
                      <a:r>
                        <a:rPr sz="1250" b="1" i="0">
                          <a:solidFill>
                            <a:srgbClr val="FFFFFF"/>
                          </a:solidFill>
                          <a:latin typeface="Calibri"/>
                        </a:rPr>
                        <a:t>Rows set aside</a:t>
                      </a:r>
                    </a:p>
                  </a:txBody>
                  <a:tcPr marL="101600" marR="101600" marT="38100" marB="38100" anchor="ctr">
                    <a:solidFill>
                      <a:srgbClr val="1A0F5C"/>
                    </a:solidFill>
                  </a:tcPr>
                </a:tc>
                <a:tc>
                  <a:txBody>
                    <a:bodyPr/>
                    <a:lstStyle/>
                    <a:p>
                      <a:r>
                        <a:rPr sz="1250" b="1" i="0">
                          <a:solidFill>
                            <a:srgbClr val="FFFFFF"/>
                          </a:solidFill>
                          <a:latin typeface="Calibri"/>
                        </a:rPr>
                        <a:t>Share of rows</a:t>
                      </a:r>
                    </a:p>
                  </a:txBody>
                  <a:tcPr marL="101600" marR="101600" marT="38100" marB="38100" anchor="ctr">
                    <a:solidFill>
                      <a:srgbClr val="1A0F5C"/>
                    </a:solidFill>
                  </a:tcPr>
                </a:tc>
                <a:tc>
                  <a:txBody>
                    <a:bodyPr/>
                    <a:lstStyle/>
                    <a:p>
                      <a:r>
                        <a:rPr sz="1250" b="1" i="0">
                          <a:solidFill>
                            <a:srgbClr val="FFFFFF"/>
                          </a:solidFill>
                          <a:latin typeface="Calibri"/>
                        </a:rPr>
                        <a:t>Rupees set aside</a:t>
                      </a:r>
                    </a:p>
                  </a:txBody>
                  <a:tcPr marL="101600" marR="101600" marT="38100" marB="38100" anchor="ctr">
                    <a:solidFill>
                      <a:srgbClr val="1A0F5C"/>
                    </a:solidFill>
                  </a:tcPr>
                </a:tc>
                <a:tc>
                  <a:txBody>
                    <a:bodyPr/>
                    <a:lstStyle/>
                    <a:p>
                      <a:r>
                        <a:rPr sz="1250" b="1" i="0">
                          <a:solidFill>
                            <a:srgbClr val="FFFFFF"/>
                          </a:solidFill>
                          <a:latin typeface="Calibri"/>
                        </a:rPr>
                        <a:t>Share of rupees</a:t>
                      </a:r>
                    </a:p>
                  </a:txBody>
                  <a:tcPr marL="101600" marR="101600" marT="38100" marB="38100" anchor="ctr">
                    <a:solidFill>
                      <a:srgbClr val="1A0F5C"/>
                    </a:solidFill>
                  </a:tcPr>
                </a:tc>
              </a:tr>
              <a:tr h="335280">
                <a:tc>
                  <a:txBody>
                    <a:bodyPr/>
                    <a:lstStyle/>
                    <a:p>
                      <a:r>
                        <a:rPr sz="1200" b="0" i="0">
                          <a:solidFill>
                            <a:srgbClr val="1A1440"/>
                          </a:solidFill>
                          <a:latin typeface="Calibri"/>
                        </a:rPr>
                        <a:t>Business</a:t>
                      </a:r>
                    </a:p>
                  </a:txBody>
                  <a:tcPr marL="101600" marR="101600" marT="38100" marB="38100" anchor="ctr">
                    <a:solidFill>
                      <a:srgbClr val="FFFFFF"/>
                    </a:solidFill>
                  </a:tcPr>
                </a:tc>
                <a:tc>
                  <a:txBody>
                    <a:bodyPr/>
                    <a:lstStyle/>
                    <a:p>
                      <a:r>
                        <a:rPr sz="1200" b="0" i="0">
                          <a:solidFill>
                            <a:srgbClr val="1A1440"/>
                          </a:solidFill>
                          <a:latin typeface="Calibri"/>
                        </a:rPr>
                        <a:t>2</a:t>
                      </a:r>
                    </a:p>
                  </a:txBody>
                  <a:tcPr marL="101600" marR="101600" marT="38100" marB="38100" anchor="ctr">
                    <a:solidFill>
                      <a:srgbClr val="FFFFFF"/>
                    </a:solidFill>
                  </a:tcPr>
                </a:tc>
                <a:tc>
                  <a:txBody>
                    <a:bodyPr/>
                    <a:lstStyle/>
                    <a:p>
                      <a:r>
                        <a:rPr sz="1200" b="0" i="0">
                          <a:solidFill>
                            <a:srgbClr val="1A1440"/>
                          </a:solidFill>
                          <a:latin typeface="Calibri"/>
                        </a:rPr>
                        <a:t>14%</a:t>
                      </a:r>
                    </a:p>
                  </a:txBody>
                  <a:tcPr marL="101600" marR="101600" marT="38100" marB="38100" anchor="ctr">
                    <a:solidFill>
                      <a:srgbClr val="FFFFFF"/>
                    </a:solidFill>
                  </a:tcPr>
                </a:tc>
                <a:tc>
                  <a:txBody>
                    <a:bodyPr/>
                    <a:lstStyle/>
                    <a:p>
                      <a:r>
                        <a:rPr sz="1200" b="0" i="0">
                          <a:solidFill>
                            <a:srgbClr val="1A1440"/>
                          </a:solidFill>
                          <a:latin typeface="Calibri"/>
                        </a:rPr>
                        <a:t>Rs 19,67,560</a:t>
                      </a:r>
                    </a:p>
                  </a:txBody>
                  <a:tcPr marL="101600" marR="101600" marT="38100" marB="38100" anchor="ctr">
                    <a:solidFill>
                      <a:srgbClr val="FFFFFF"/>
                    </a:solidFill>
                  </a:tcPr>
                </a:tc>
                <a:tc>
                  <a:txBody>
                    <a:bodyPr/>
                    <a:lstStyle/>
                    <a:p>
                      <a:r>
                        <a:rPr sz="1200" b="0" i="0">
                          <a:solidFill>
                            <a:srgbClr val="1A1440"/>
                          </a:solidFill>
                          <a:latin typeface="Calibri"/>
                        </a:rPr>
                        <a:t>98.5%</a:t>
                      </a:r>
                    </a:p>
                  </a:txBody>
                  <a:tcPr marL="101600" marR="101600" marT="38100" marB="38100" anchor="ctr">
                    <a:solidFill>
                      <a:srgbClr val="FFFFFF"/>
                    </a:solidFill>
                  </a:tcPr>
                </a:tc>
              </a:tr>
              <a:tr h="335280">
                <a:tc>
                  <a:txBody>
                    <a:bodyPr/>
                    <a:lstStyle/>
                    <a:p>
                      <a:r>
                        <a:rPr sz="1200" b="0" i="0">
                          <a:solidFill>
                            <a:srgbClr val="1A1440"/>
                          </a:solidFill>
                          <a:latin typeface="Calibri"/>
                        </a:rPr>
                        <a:t>Retail-Plus</a:t>
                      </a:r>
                    </a:p>
                  </a:txBody>
                  <a:tcPr marL="101600" marR="101600" marT="38100" marB="38100" anchor="ctr">
                    <a:solidFill>
                      <a:srgbClr val="F4F2FA"/>
                    </a:solidFill>
                  </a:tcPr>
                </a:tc>
                <a:tc>
                  <a:txBody>
                    <a:bodyPr/>
                    <a:lstStyle/>
                    <a:p>
                      <a:r>
                        <a:rPr sz="1200" b="0" i="0">
                          <a:solidFill>
                            <a:srgbClr val="1A1440"/>
                          </a:solidFill>
                          <a:latin typeface="Calibri"/>
                        </a:rPr>
                        <a:t>11</a:t>
                      </a:r>
                    </a:p>
                  </a:txBody>
                  <a:tcPr marL="101600" marR="101600" marT="38100" marB="38100" anchor="ctr">
                    <a:solidFill>
                      <a:srgbClr val="F4F2FA"/>
                    </a:solidFill>
                  </a:tcPr>
                </a:tc>
                <a:tc>
                  <a:txBody>
                    <a:bodyPr/>
                    <a:lstStyle/>
                    <a:p>
                      <a:r>
                        <a:rPr sz="1200" b="0" i="0">
                          <a:solidFill>
                            <a:srgbClr val="1A1440"/>
                          </a:solidFill>
                          <a:latin typeface="Calibri"/>
                        </a:rPr>
                        <a:t>79%</a:t>
                      </a:r>
                    </a:p>
                  </a:txBody>
                  <a:tcPr marL="101600" marR="101600" marT="38100" marB="38100" anchor="ctr">
                    <a:solidFill>
                      <a:srgbClr val="F4F2FA"/>
                    </a:solidFill>
                  </a:tcPr>
                </a:tc>
                <a:tc>
                  <a:txBody>
                    <a:bodyPr/>
                    <a:lstStyle/>
                    <a:p>
                      <a:r>
                        <a:rPr sz="1200" b="0" i="0">
                          <a:solidFill>
                            <a:srgbClr val="1A1440"/>
                          </a:solidFill>
                          <a:latin typeface="Calibri"/>
                        </a:rPr>
                        <a:t>Rs 27,760</a:t>
                      </a:r>
                    </a:p>
                  </a:txBody>
                  <a:tcPr marL="101600" marR="101600" marT="38100" marB="38100" anchor="ctr">
                    <a:solidFill>
                      <a:srgbClr val="F4F2FA"/>
                    </a:solidFill>
                  </a:tcPr>
                </a:tc>
                <a:tc>
                  <a:txBody>
                    <a:bodyPr/>
                    <a:lstStyle/>
                    <a:p>
                      <a:r>
                        <a:rPr sz="1200" b="0" i="0">
                          <a:solidFill>
                            <a:srgbClr val="1A1440"/>
                          </a:solidFill>
                          <a:latin typeface="Calibri"/>
                        </a:rPr>
                        <a:t>1.4%</a:t>
                      </a:r>
                    </a:p>
                  </a:txBody>
                  <a:tcPr marL="101600" marR="101600" marT="38100" marB="38100" anchor="ctr">
                    <a:solidFill>
                      <a:srgbClr val="F4F2FA"/>
                    </a:solidFill>
                  </a:tcPr>
                </a:tc>
              </a:tr>
              <a:tr h="335280">
                <a:tc>
                  <a:txBody>
                    <a:bodyPr/>
                    <a:lstStyle/>
                    <a:p>
                      <a:r>
                        <a:rPr sz="1200" b="0" i="0">
                          <a:solidFill>
                            <a:srgbClr val="1A1440"/>
                          </a:solidFill>
                          <a:latin typeface="Calibri"/>
                        </a:rPr>
                        <a:t>Retail-Core</a:t>
                      </a:r>
                    </a:p>
                  </a:txBody>
                  <a:tcPr marL="101600" marR="101600" marT="38100" marB="38100" anchor="ctr">
                    <a:solidFill>
                      <a:srgbClr val="FFFFFF"/>
                    </a:solidFill>
                  </a:tcPr>
                </a:tc>
                <a:tc>
                  <a:txBody>
                    <a:bodyPr/>
                    <a:lstStyle/>
                    <a:p>
                      <a:r>
                        <a:rPr sz="1200" b="0" i="0">
                          <a:solidFill>
                            <a:srgbClr val="1A1440"/>
                          </a:solidFill>
                          <a:latin typeface="Calibri"/>
                        </a:rPr>
                        <a:t>1</a:t>
                      </a:r>
                    </a:p>
                  </a:txBody>
                  <a:tcPr marL="101600" marR="101600" marT="38100" marB="38100" anchor="ctr">
                    <a:solidFill>
                      <a:srgbClr val="FFFFFF"/>
                    </a:solidFill>
                  </a:tcPr>
                </a:tc>
                <a:tc>
                  <a:txBody>
                    <a:bodyPr/>
                    <a:lstStyle/>
                    <a:p>
                      <a:r>
                        <a:rPr sz="1200" b="0" i="0">
                          <a:solidFill>
                            <a:srgbClr val="1A1440"/>
                          </a:solidFill>
                          <a:latin typeface="Calibri"/>
                        </a:rPr>
                        <a:t>7%</a:t>
                      </a:r>
                    </a:p>
                  </a:txBody>
                  <a:tcPr marL="101600" marR="101600" marT="38100" marB="38100" anchor="ctr">
                    <a:solidFill>
                      <a:srgbClr val="FFFFFF"/>
                    </a:solidFill>
                  </a:tcPr>
                </a:tc>
                <a:tc>
                  <a:txBody>
                    <a:bodyPr/>
                    <a:lstStyle/>
                    <a:p>
                      <a:r>
                        <a:rPr sz="1200" b="0" i="0">
                          <a:solidFill>
                            <a:srgbClr val="1A1440"/>
                          </a:solidFill>
                          <a:latin typeface="Calibri"/>
                        </a:rPr>
                        <a:t>Rs 2,890</a:t>
                      </a:r>
                    </a:p>
                  </a:txBody>
                  <a:tcPr marL="101600" marR="101600" marT="38100" marB="38100" anchor="ctr">
                    <a:solidFill>
                      <a:srgbClr val="FFFFFF"/>
                    </a:solidFill>
                  </a:tcPr>
                </a:tc>
                <a:tc>
                  <a:txBody>
                    <a:bodyPr/>
                    <a:lstStyle/>
                    <a:p>
                      <a:r>
                        <a:rPr sz="1200" b="0" i="0">
                          <a:solidFill>
                            <a:srgbClr val="1A1440"/>
                          </a:solidFill>
                          <a:latin typeface="Calibri"/>
                        </a:rPr>
                        <a:t>0.1%</a:t>
                      </a:r>
                    </a:p>
                  </a:txBody>
                  <a:tcPr marL="101600" marR="101600" marT="38100" marB="38100" anchor="ctr">
                    <a:solidFill>
                      <a:srgbClr val="FFFFFF"/>
                    </a:solidFill>
                  </a:tcPr>
                </a:tc>
              </a:tr>
            </a:tbl>
          </a:graphicData>
        </a:graphic>
      </p:graphicFrame>
      <p:sp>
        <p:nvSpPr>
          <p:cNvPr id="10" name="Rounded Rectangle 9"/>
          <p:cNvSpPr/>
          <p:nvPr/>
        </p:nvSpPr>
        <p:spPr>
          <a:xfrm>
            <a:off x="530352" y="35539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6819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672840"/>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Anand's gap is two corporate orders counted twice; Tuesday's rate was measured on eleven extra Retail-Plus rows in Q1.</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S46  ·  50 / 84</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a dict keeps the same 186 orders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dictionary keyed by id keep the same orders?</a:t>
            </a:r>
          </a:p>
        </p:txBody>
      </p:sp>
      <p:sp>
        <p:nvSpPr>
          <p:cNvPr id="9" name="Rounded Rectangle 8"/>
          <p:cNvSpPr/>
          <p:nvPr/>
        </p:nvSpPr>
        <p:spPr>
          <a:xfrm>
            <a:off x="530352" y="1682496"/>
            <a:ext cx="5291175" cy="1972055"/>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181051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181051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181051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011680"/>
            <a:ext cx="4833975" cy="1569719"/>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ok(r):</a:t>
            </a:r>
          </a:p>
          <a:p>
            <a:pPr>
              <a:spcAft>
                <a:spcPts val="200"/>
              </a:spcAft>
            </a:pPr>
            <a:r>
              <a:rPr sz="1400" b="0" i="0">
                <a:solidFill>
                  <a:srgbClr val="E4E1F1"/>
                </a:solidFill>
                <a:latin typeface="Consolas"/>
              </a:rPr>
              <a:t>    value, why = convert(r["amount"])</a:t>
            </a:r>
          </a:p>
          <a:p>
            <a:pPr>
              <a:spcAft>
                <a:spcPts val="200"/>
              </a:spcAft>
            </a:pPr>
            <a:r>
              <a:rPr sz="1400" b="0" i="0">
                <a:solidFill>
                  <a:srgbClr val="E4E1F1"/>
                </a:solidFill>
                <a:latin typeface="Consolas"/>
              </a:rPr>
              <a:t>    return value is not None</a:t>
            </a:r>
          </a:p>
          <a:p>
            <a:pPr>
              <a:spcAft>
                <a:spcPts val="200"/>
              </a:spcAft>
            </a:pPr>
            <a:r>
              <a:rPr sz="1400" b="0" i="0">
                <a:solidFill>
                  <a:srgbClr val="E4E1F1"/>
                </a:solidFill>
                <a:latin typeface="Consolas"/>
              </a:rPr>
              <a:t>valid = [r for r in raw if ok(r)]</a:t>
            </a:r>
          </a:p>
          <a:p>
            <a:pPr>
              <a:spcAft>
                <a:spcPts val="200"/>
              </a:spcAft>
            </a:pPr>
            <a:r>
              <a:rPr sz="1400" b="0" i="0">
                <a:solidFill>
                  <a:srgbClr val="E4E1F1"/>
                </a:solidFill>
                <a:latin typeface="Consolas"/>
              </a:rPr>
              <a:t>by_id = {r["order_id"]: r for r in valid}</a:t>
            </a:r>
          </a:p>
          <a:p>
            <a:pPr>
              <a:spcAft>
                <a:spcPts val="200"/>
              </a:spcAft>
            </a:pPr>
            <a:r>
              <a:rPr sz="1400" b="0" i="0">
                <a:solidFill>
                  <a:srgbClr val="E4E1F1"/>
                </a:solidFill>
                <a:latin typeface="Consolas"/>
              </a:rPr>
              <a:t>len(by_id)                 # 186</a:t>
            </a:r>
          </a:p>
        </p:txBody>
      </p:sp>
      <p:pic>
        <p:nvPicPr>
          <p:cNvPr id="14" name="mermaid diagram" descr="f7711d6ddb38b4f2.png"/>
          <p:cNvPicPr>
            <a:picLocks noChangeAspect="1"/>
          </p:cNvPicPr>
          <p:nvPr/>
        </p:nvPicPr>
        <p:blipFill>
          <a:blip r:embed="rId5"/>
          <a:stretch>
            <a:fillRect/>
          </a:stretch>
        </p:blipFill>
        <p:spPr>
          <a:xfrm>
            <a:off x="6370167" y="1682496"/>
            <a:ext cx="5291175" cy="2041703"/>
          </a:xfrm>
          <a:prstGeom prst="rect">
            <a:avLst/>
          </a:prstGeom>
        </p:spPr>
      </p:pic>
      <p:sp>
        <p:nvSpPr>
          <p:cNvPr id="15" name="Rounded Rectangle 14"/>
          <p:cNvSpPr/>
          <p:nvPr/>
        </p:nvSpPr>
        <p:spPr>
          <a:xfrm>
            <a:off x="6370167" y="3870503"/>
            <a:ext cx="5291175"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516471" y="399851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717639" y="3989375"/>
            <a:ext cx="4724247" cy="11582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dict is the fast check that the totals are right. It keeps the last copy silently and logs nothing, so it is never the pass.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S47  ·  51 / 84</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copy that validates stays: Q1 on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which copy stays, and does Q1 then land on the books?</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329695"/>
                <a:gridCol w="680129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Which copy could stay?</a:t>
                      </a:r>
                    </a:p>
                  </a:txBody>
                  <a:tcPr marL="101600" marR="101600" marT="38100" marB="38100" anchor="ctr">
                    <a:solidFill>
                      <a:srgbClr val="FFFFFF"/>
                    </a:solidFill>
                  </a:tcPr>
                </a:tc>
                <a:tc>
                  <a:txBody>
                    <a:bodyPr/>
                    <a:lstStyle/>
                    <a:p>
                      <a:r>
                        <a:rPr sz="1100" b="0" i="0">
                          <a:solidFill>
                            <a:srgbClr val="1A1440"/>
                          </a:solidFill>
                          <a:latin typeface="Calibri"/>
                        </a:rPr>
                        <a:t>The copy that validates; first misses by Rs 1,790</a:t>
                      </a:r>
                    </a:p>
                  </a:txBody>
                  <a:tcPr marL="101600" marR="101600" marT="38100" marB="38100" anchor="ctr">
                    <a:solidFill>
                      <a:srgbClr val="FFFFFF"/>
                    </a:solidFill>
                  </a:tcPr>
                </a:tc>
              </a:tr>
              <a:tr h="318008">
                <a:tc>
                  <a:txBody>
                    <a:bodyPr/>
                    <a:lstStyle/>
                    <a:p>
                      <a:r>
                        <a:rPr sz="1100" b="0" i="0">
                          <a:solidFill>
                            <a:srgbClr val="1A1440"/>
                          </a:solidFill>
                          <a:latin typeface="Calibri"/>
                        </a:rPr>
                        <a:t>2. Which stays if copies differ?</a:t>
                      </a:r>
                    </a:p>
                  </a:txBody>
                  <a:tcPr marL="101600" marR="101600" marT="38100" marB="38100" anchor="ctr">
                    <a:solidFill>
                      <a:srgbClr val="F4F2FA"/>
                    </a:solidFill>
                  </a:tcPr>
                </a:tc>
                <a:tc>
                  <a:txBody>
                    <a:bodyPr/>
                    <a:lstStyle/>
                    <a:p>
                      <a:r>
                        <a:rPr sz="1100" b="0" i="0">
                          <a:solidFill>
                            <a:srgbClr val="1A1440"/>
                          </a:solidFill>
                          <a:latin typeface="Calibri"/>
                        </a:rPr>
                        <a:t>The one that converts; if both do, the first, logged</a:t>
                      </a:r>
                    </a:p>
                  </a:txBody>
                  <a:tcPr marL="101600" marR="101600" marT="38100" marB="38100" anchor="ctr">
                    <a:solidFill>
                      <a:srgbClr val="F4F2FA"/>
                    </a:solidFill>
                  </a:tcPr>
                </a:tc>
              </a:tr>
              <a:tr h="318008">
                <a:tc>
                  <a:txBody>
                    <a:bodyPr/>
                    <a:lstStyle/>
                    <a:p>
                      <a:r>
                        <a:rPr sz="1100" b="0" i="0">
                          <a:solidFill>
                            <a:srgbClr val="1A1440"/>
                          </a:solidFill>
                          <a:latin typeface="Calibri"/>
                        </a:rPr>
                        <a:t>3. What is Q1 after the rule?</a:t>
                      </a:r>
                    </a:p>
                  </a:txBody>
                  <a:tcPr marL="101600" marR="101600" marT="38100" marB="38100" anchor="ctr">
                    <a:solidFill>
                      <a:srgbClr val="FFFFFF"/>
                    </a:solidFill>
                  </a:tcPr>
                </a:tc>
                <a:tc>
                  <a:txBody>
                    <a:bodyPr/>
                    <a:lstStyle/>
                    <a:p>
                      <a:r>
                        <a:rPr sz="1100" b="0" i="0">
                          <a:solidFill>
                            <a:srgbClr val="1A1440"/>
                          </a:solidFill>
                          <a:latin typeface="Calibri"/>
                        </a:rPr>
                        <a:t>Rs 1,90,00,000, the books: 186 kept, 15 set aside</a:t>
                      </a:r>
                    </a:p>
                  </a:txBody>
                  <a:tcPr marL="101600" marR="101600" marT="38100" marB="38100" anchor="ctr">
                    <a:solidFill>
                      <a:srgbClr val="FFFFFF"/>
                    </a:solidFill>
                  </a:tcPr>
                </a:tc>
              </a:tr>
              <a:tr h="318008">
                <a:tc>
                  <a:txBody>
                    <a:bodyPr/>
                    <a:lstStyle/>
                    <a:p>
                      <a:r>
                        <a:rPr sz="1100" b="0" i="0">
                          <a:solidFill>
                            <a:srgbClr val="1A1440"/>
                          </a:solidFill>
                          <a:latin typeface="Calibri"/>
                        </a:rPr>
                        <a:t>4. If Q1 ties, is it right?</a:t>
                      </a:r>
                    </a:p>
                  </a:txBody>
                  <a:tcPr marL="101600" marR="101600" marT="38100" marB="38100" anchor="ctr">
                    <a:solidFill>
                      <a:srgbClr val="F4F2FA"/>
                    </a:solidFill>
                  </a:tcPr>
                </a:tc>
                <a:tc>
                  <a:txBody>
                    <a:bodyPr/>
                    <a:lstStyle/>
                    <a:p>
                      <a:r>
                        <a:rPr sz="1100" b="0" i="0">
                          <a:solidFill>
                            <a:srgbClr val="1A1440"/>
                          </a:solidFill>
                          <a:latin typeface="Calibri"/>
                        </a:rPr>
                        <a:t>Not alone: 188 rows for 186 orders, Q2 Rs 3,710 high</a:t>
                      </a:r>
                    </a:p>
                  </a:txBody>
                  <a:tcPr marL="101600" marR="101600" marT="38100" marB="38100" anchor="ctr">
                    <a:solidFill>
                      <a:srgbClr val="F4F2FA"/>
                    </a:solidFill>
                  </a:tcPr>
                </a:tc>
              </a:tr>
              <a:tr h="318008">
                <a:tc>
                  <a:txBody>
                    <a:bodyPr/>
                    <a:lstStyle/>
                    <a:p>
                      <a:r>
                        <a:rPr sz="1100" b="0" i="0">
                          <a:solidFill>
                            <a:srgbClr val="1A1440"/>
                          </a:solidFill>
                          <a:latin typeface="Calibri"/>
                        </a:rPr>
                        <a:t>5. Which rows carry the rupees?</a:t>
                      </a:r>
                    </a:p>
                  </a:txBody>
                  <a:tcPr marL="101600" marR="101600" marT="38100" marB="38100" anchor="ctr">
                    <a:solidFill>
                      <a:srgbClr val="FFFFFF"/>
                    </a:solidFill>
                  </a:tcPr>
                </a:tc>
                <a:tc>
                  <a:txBody>
                    <a:bodyPr/>
                    <a:lstStyle/>
                    <a:p>
                      <a:r>
                        <a:rPr sz="1100" b="0" i="0">
                          <a:solidFill>
                            <a:srgbClr val="1A1440"/>
                          </a:solidFill>
                          <a:latin typeface="Calibri"/>
                        </a:rPr>
                        <a:t>Two Business rows, Rs 19,67,560, 98.5 percent</a:t>
                      </a:r>
                    </a:p>
                  </a:txBody>
                  <a:tcPr marL="101600" marR="101600" marT="38100" marB="38100" anchor="ctr">
                    <a:solidFill>
                      <a:srgbClr val="FFFFFF"/>
                    </a:solidFill>
                  </a:tcPr>
                </a:tc>
              </a:tr>
              <a:tr h="318008">
                <a:tc>
                  <a:txBody>
                    <a:bodyPr/>
                    <a:lstStyle/>
                    <a:p>
                      <a:r>
                        <a:rPr sz="1100" b="0" i="0">
                          <a:solidFill>
                            <a:srgbClr val="1A1440"/>
                          </a:solidFill>
                          <a:latin typeface="Calibri"/>
                        </a:rPr>
                        <a:t>6. Does a dict agree?</a:t>
                      </a:r>
                    </a:p>
                  </a:txBody>
                  <a:tcPr marL="101600" marR="101600" marT="38100" marB="38100" anchor="ctr">
                    <a:solidFill>
                      <a:srgbClr val="F4F2FA"/>
                    </a:solidFill>
                  </a:tcPr>
                </a:tc>
                <a:tc>
                  <a:txBody>
                    <a:bodyPr/>
                    <a:lstStyle/>
                    <a:p>
                      <a:r>
                        <a:rPr sz="1100" b="0" i="0">
                          <a:solidFill>
                            <a:srgbClr val="1A1440"/>
                          </a:solidFill>
                          <a:latin typeface="Calibri"/>
                        </a:rPr>
                        <a:t>Yes: the same 186 orders, and no log</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"When Q1 ties to the books, check the rows before you celebrate."</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[D] Design. Two copies of an order disagree: first copy, last copy or the copy that validates?</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1" i="0">
                <a:solidFill>
                  <a:srgbClr val="5B3FD6"/>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S48  ·  52 / 84</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Drop, fill or flag?</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should the pass do with a value that is missing or cannot be read, so that no decision invents or deletes a fact?</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53 / 84</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Operations and Finance: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Operations reads the delivered share every week and Finance reads every rupee. A default invents a delivery nobody recorded, a zero invents an order sold for nothing, and a drop deletes a booked order.</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could the pass do?</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Each choice,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The order with no status?</a:t>
            </a:r>
          </a:p>
        </p:txBody>
      </p:sp>
      <p:sp>
        <p:nvSpPr>
          <p:cNvPr id="22" name="TextBox 21"/>
          <p:cNvSpPr txBox="1"/>
          <p:nvPr/>
        </p:nvSpPr>
        <p:spPr>
          <a:xfrm>
            <a:off x="258058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Revenue and deliveries</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Is a blank discount zero?</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average, two ways</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if failures become 0?</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So the loop keeps running</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Where can a repair come from?</a:t>
            </a:r>
          </a:p>
        </p:txBody>
      </p:sp>
      <p:sp>
        <p:nvSpPr>
          <p:cNvPr id="37" name="TextBox 36"/>
          <p:cNvSpPr txBox="1"/>
          <p:nvPr/>
        </p:nvSpPr>
        <p:spPr>
          <a:xfrm>
            <a:off x="823752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A source for the value</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 profile and logs agree?</a:t>
            </a:r>
          </a:p>
        </p:txBody>
      </p:sp>
      <p:sp>
        <p:nvSpPr>
          <p:cNvPr id="42" name="TextBox 41"/>
          <p:cNvSpPr txBox="1"/>
          <p:nvPr/>
        </p:nvSpPr>
        <p:spPr>
          <a:xfrm>
            <a:off x="10123170" y="4731512"/>
            <a:ext cx="1373581" cy="201676"/>
          </a:xfrm>
          <a:prstGeom prst="rect">
            <a:avLst/>
          </a:prstGeom>
          <a:noFill/>
        </p:spPr>
        <p:txBody>
          <a:bodyPr wrap="square" anchor="t" lIns="0" rIns="0" tIns="0" bIns="0">
            <a:spAutoFit/>
          </a:bodyPr>
          <a:lstStyle/>
          <a:p>
            <a:pPr algn="l"/>
            <a:r>
              <a:rPr sz="1000" b="0" i="0">
                <a:solidFill>
                  <a:srgbClr val="CFC9EE"/>
                </a:solidFill>
                <a:latin typeface="Calibri"/>
              </a:rPr>
              <a:t>Defect by defect</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51" name="Oval 5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S49  ·  54 / 84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status, 55 discounts missing; no amount fails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values are still missing or unreadable in the 186 kept orders?</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ircle-dashed_69bc91c0def8.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One order, no status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Revenue counts it; the delivered share needs its fate.</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dashed_69bc91c0def8.png"/>
          <p:cNvPicPr>
            <a:picLocks noChangeAspect="1"/>
          </p:cNvPicPr>
          <p:nvPr/>
        </p:nvPicPr>
        <p:blipFill>
          <a:blip r:embed="rId4"/>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A MISSING VALUE</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55 orders, no discount</a:t>
            </a:r>
          </a:p>
        </p:txBody>
      </p:sp>
      <p:sp>
        <p:nvSpPr>
          <p:cNvPr id="20" name="TextBox 19"/>
          <p:cNvSpPr txBox="1"/>
          <p:nvPr/>
        </p:nvSpPr>
        <p:spPr>
          <a:xfrm>
            <a:off x="4502810" y="3303524"/>
            <a:ext cx="3186074" cy="218186"/>
          </a:xfrm>
          <a:prstGeom prst="rect">
            <a:avLst/>
          </a:prstGeom>
          <a:noFill/>
        </p:spPr>
        <p:txBody>
          <a:bodyPr wrap="square" anchor="t" lIns="0" rIns="0" tIns="0" bIns="0">
            <a:spAutoFit/>
          </a:bodyPr>
          <a:lstStyle/>
          <a:p>
            <a:pPr algn="l"/>
            <a:r>
              <a:rPr sz="1100" b="0" i="0">
                <a:solidFill>
                  <a:srgbClr val="6B6690"/>
                </a:solidFill>
                <a:latin typeface="Calibri"/>
              </a:rPr>
              <a:t>Tuesday read the gap as zero.</a:t>
            </a:r>
          </a:p>
        </p:txBody>
      </p:sp>
      <p:sp>
        <p:nvSpPr>
          <p:cNvPr id="21" name="Rounded Rectangle 20"/>
          <p:cNvSpPr/>
          <p:nvPr/>
        </p:nvSpPr>
        <p:spPr>
          <a:xfrm>
            <a:off x="8072932" y="1956816"/>
            <a:ext cx="3588410" cy="1964436"/>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triangle-alert_e79485772e4f.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A MALFORMED VALUE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An amount that will not convert</a:t>
            </a:r>
          </a:p>
        </p:txBody>
      </p:sp>
      <p:sp>
        <p:nvSpPr>
          <p:cNvPr id="26" name="TextBox 25"/>
          <p:cNvSpPr txBox="1"/>
          <p:nvPr/>
        </p:nvSpPr>
        <p:spPr>
          <a:xfrm>
            <a:off x="8274100" y="3303524"/>
            <a:ext cx="3186074" cy="218186"/>
          </a:xfrm>
          <a:prstGeom prst="rect">
            <a:avLst/>
          </a:prstGeom>
          <a:noFill/>
        </p:spPr>
        <p:txBody>
          <a:bodyPr wrap="square" anchor="t" lIns="0" rIns="0" tIns="0" bIns="0">
            <a:spAutoFit/>
          </a:bodyPr>
          <a:lstStyle/>
          <a:p>
            <a:pPr algn="l"/>
            <a:r>
              <a:rPr sz="1100" b="0" i="0">
                <a:solidFill>
                  <a:srgbClr val="CFC9EE"/>
                </a:solidFill>
                <a:latin typeface="Calibri"/>
              </a:rPr>
              <a:t>The next export will carry one with no twin.</a:t>
            </a:r>
          </a:p>
        </p:txBody>
      </p:sp>
      <p:sp>
        <p:nvSpPr>
          <p:cNvPr id="27" name="Rounded Rectangle 26"/>
          <p:cNvSpPr/>
          <p:nvPr/>
        </p:nvSpPr>
        <p:spPr>
          <a:xfrm>
            <a:off x="530352" y="4104132"/>
            <a:ext cx="11130991" cy="86258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8952" y="430682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bug_39ada6eff46d.png"/>
          <p:cNvPicPr>
            <a:picLocks noChangeAspect="1"/>
          </p:cNvPicPr>
          <p:nvPr/>
        </p:nvPicPr>
        <p:blipFill>
          <a:blip r:embed="rId6"/>
          <a:stretch>
            <a:fillRect/>
          </a:stretch>
        </p:blipFill>
        <p:spPr>
          <a:xfrm>
            <a:off x="868680" y="4416552"/>
            <a:ext cx="237744" cy="237744"/>
          </a:xfrm>
          <a:prstGeom prst="rect">
            <a:avLst/>
          </a:prstGeom>
        </p:spPr>
      </p:pic>
      <p:sp>
        <p:nvSpPr>
          <p:cNvPr id="30" name="TextBox 29"/>
          <p:cNvSpPr txBox="1"/>
          <p:nvPr/>
        </p:nvSpPr>
        <p:spPr>
          <a:xfrm>
            <a:off x="1399031" y="425043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31" name="TextBox 30"/>
          <p:cNvSpPr txBox="1"/>
          <p:nvPr/>
        </p:nvSpPr>
        <p:spPr>
          <a:xfrm>
            <a:off x="1399031" y="4469892"/>
            <a:ext cx="9987991" cy="423672"/>
          </a:xfrm>
          <a:prstGeom prst="rect">
            <a:avLst/>
          </a:prstGeom>
          <a:noFill/>
        </p:spPr>
        <p:txBody>
          <a:bodyPr wrap="square" anchor="t" lIns="0" rIns="0" tIns="0" bIns="0">
            <a:spAutoFit/>
          </a:bodyPr>
          <a:lstStyle/>
          <a:p>
            <a:r>
              <a:rPr sz="1500" b="0" i="0">
                <a:solidFill>
                  <a:srgbClr val="1A1440"/>
                </a:solidFill>
                <a:latin typeface="Calibri"/>
              </a:rPr>
              <a:t>A default invents a delivery Operations never recorded, and a zero invents an order sold for nothing.</a:t>
            </a:r>
          </a:p>
        </p:txBody>
      </p:sp>
      <p:sp>
        <p:nvSpPr>
          <p:cNvPr id="32" name="Oval 3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34" name="Oval 3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6" name="Oval 3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8" name="Oval 37"/>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40" name="Oval 39"/>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42" name="TextBox 4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S50  ·  55 / 84</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Sellers' stock went for 1p on Amazon UK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real business sold on a value nobody questioned?</a:t>
            </a:r>
          </a:p>
        </p:txBody>
      </p:sp>
      <p:sp>
        <p:nvSpPr>
          <p:cNvPr id="9" name="TextBox 8"/>
          <p:cNvSpPr txBox="1"/>
          <p:nvPr/>
        </p:nvSpPr>
        <p:spPr>
          <a:xfrm>
            <a:off x="53035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1p</a:t>
            </a:r>
          </a:p>
        </p:txBody>
      </p:sp>
      <p:sp>
        <p:nvSpPr>
          <p:cNvPr id="10" name="TextBox 9"/>
          <p:cNvSpPr txBox="1"/>
          <p:nvPr/>
        </p:nvSpPr>
        <p:spPr>
          <a:xfrm>
            <a:off x="53035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PRICE</a:t>
            </a:r>
          </a:p>
        </p:txBody>
      </p:sp>
      <p:sp>
        <p:nvSpPr>
          <p:cNvPr id="11" name="TextBox 10"/>
          <p:cNvSpPr txBox="1"/>
          <p:nvPr/>
        </p:nvSpPr>
        <p:spPr>
          <a:xfrm>
            <a:off x="53035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set by sellers' repricing tool</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about an hour</a:t>
            </a:r>
          </a:p>
        </p:txBody>
      </p:sp>
      <p:sp>
        <p:nvSpPr>
          <p:cNvPr id="14" name="TextBox 13"/>
          <p:cNvSpPr txBox="1"/>
          <p:nvPr/>
        </p:nvSpPr>
        <p:spPr>
          <a:xfrm>
            <a:off x="433212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WINDOW</a:t>
            </a:r>
          </a:p>
        </p:txBody>
      </p:sp>
      <p:sp>
        <p:nvSpPr>
          <p:cNvPr id="15" name="TextBox 14"/>
          <p:cNvSpPr txBox="1"/>
          <p:nvPr/>
        </p:nvSpPr>
        <p:spPr>
          <a:xfrm>
            <a:off x="433212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a Friday evening</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39750"/>
          </a:xfrm>
          <a:prstGeom prst="rect">
            <a:avLst/>
          </a:prstGeom>
          <a:noFill/>
        </p:spPr>
        <p:txBody>
          <a:bodyPr wrap="square" anchor="t" lIns="0" rIns="0" tIns="0" bIns="0">
            <a:spAutoFit/>
          </a:bodyPr>
          <a:lstStyle/>
          <a:p>
            <a:pPr algn="l"/>
            <a:r>
              <a:rPr sz="3400" b="0" i="0">
                <a:solidFill>
                  <a:srgbClr val="5B3FD6"/>
                </a:solidFill>
                <a:latin typeface="Georgia"/>
              </a:rPr>
              <a:t>most</a:t>
            </a:r>
          </a:p>
        </p:txBody>
      </p:sp>
      <p:sp>
        <p:nvSpPr>
          <p:cNvPr id="18" name="TextBox 17"/>
          <p:cNvSpPr txBox="1"/>
          <p:nvPr/>
        </p:nvSpPr>
        <p:spPr>
          <a:xfrm>
            <a:off x="8133892" y="253314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ORDERS CANCELLED</a:t>
            </a:r>
          </a:p>
        </p:txBody>
      </p:sp>
      <p:sp>
        <p:nvSpPr>
          <p:cNvPr id="19" name="TextBox 18"/>
          <p:cNvSpPr txBox="1"/>
          <p:nvPr/>
        </p:nvSpPr>
        <p:spPr>
          <a:xfrm>
            <a:off x="8133892" y="2734310"/>
            <a:ext cx="3527450" cy="193421"/>
          </a:xfrm>
          <a:prstGeom prst="rect">
            <a:avLst/>
          </a:prstGeom>
          <a:noFill/>
        </p:spPr>
        <p:txBody>
          <a:bodyPr wrap="square" anchor="t" lIns="0" rIns="0" tIns="0" bIns="0">
            <a:spAutoFit/>
          </a:bodyPr>
          <a:lstStyle/>
          <a:p>
            <a:pPr algn="l"/>
            <a:r>
              <a:rPr sz="950" b="0" i="0">
                <a:solidFill>
                  <a:srgbClr val="6B6690"/>
                </a:solidFill>
                <a:latin typeface="Calibri"/>
              </a:rPr>
              <a:t>once Amazon spotted 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A repricing tool used by third-party sellers priced hundreds of items at a penny on 12 December 2014, and a wrong value that nothing questioned sold the sellers' real stock. A zero written in where an amount would not convert is read as real in a report the same way.</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S51  ·  56 / 84</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the status; reject the amount, repair from a copy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could the pass do with a missing status or an unreadable amount, and what does each choice claim?</a:t>
            </a:r>
          </a:p>
        </p:txBody>
      </p:sp>
      <p:graphicFrame>
        <p:nvGraphicFramePr>
          <p:cNvPr id="9" name="Table 8"/>
          <p:cNvGraphicFramePr>
            <a:graphicFrameLocks noGrp="1"/>
          </p:cNvGraphicFramePr>
          <p:nvPr/>
        </p:nvGraphicFramePr>
        <p:xfrm>
          <a:off x="530352" y="1682496"/>
          <a:ext cx="5291174" cy="1554480"/>
        </p:xfrm>
        <a:graphic>
          <a:graphicData uri="http://schemas.openxmlformats.org/drawingml/2006/table">
            <a:tbl>
              <a:tblPr firstRow="0" bandRow="0">
                <a:tableStyleId>{2D5ABB26-0587-4C30-8999-92F81FD0307C}</a:tableStyleId>
              </a:tblPr>
              <a:tblGrid>
                <a:gridCol w="2117409"/>
                <a:gridCol w="1279061"/>
                <a:gridCol w="980304"/>
                <a:gridCol w="914400"/>
              </a:tblGrid>
              <a:tr h="310896">
                <a:tc>
                  <a:txBody>
                    <a:bodyPr/>
                    <a:lstStyle/>
                    <a:p>
                      <a:r>
                        <a:rPr sz="950" b="1" i="0">
                          <a:solidFill>
                            <a:srgbClr val="FFFFFF"/>
                          </a:solidFill>
                          <a:latin typeface="Calibri"/>
                        </a:rPr>
                        <a:t>Missing status</a:t>
                      </a:r>
                    </a:p>
                  </a:txBody>
                  <a:tcPr marL="101600" marR="101600" marT="38100" marB="38100" anchor="ctr">
                    <a:solidFill>
                      <a:srgbClr val="1A0F5C"/>
                    </a:solidFill>
                  </a:tcPr>
                </a:tc>
                <a:tc>
                  <a:txBody>
                    <a:bodyPr/>
                    <a:lstStyle/>
                    <a:p>
                      <a:r>
                        <a:rPr sz="950" b="1" i="0">
                          <a:solidFill>
                            <a:srgbClr val="FFFFFF"/>
                          </a:solidFill>
                          <a:latin typeface="Calibri"/>
                        </a:rPr>
                        <a:t>Q2 revenue</a:t>
                      </a:r>
                    </a:p>
                  </a:txBody>
                  <a:tcPr marL="101600" marR="101600" marT="38100" marB="38100" anchor="ctr">
                    <a:solidFill>
                      <a:srgbClr val="1A0F5C"/>
                    </a:solidFill>
                  </a:tcPr>
                </a:tc>
                <a:tc>
                  <a:txBody>
                    <a:bodyPr/>
                    <a:lstStyle/>
                    <a:p>
                      <a:r>
                        <a:rPr sz="950" b="1" i="0">
                          <a:solidFill>
                            <a:srgbClr val="FFFFFF"/>
                          </a:solidFill>
                          <a:latin typeface="Calibri"/>
                        </a:rPr>
                        <a:t>Delivered</a:t>
                      </a:r>
                    </a:p>
                  </a:txBody>
                  <a:tcPr marL="101600" marR="101600" marT="38100" marB="38100" anchor="ctr">
                    <a:solidFill>
                      <a:srgbClr val="1A0F5C"/>
                    </a:solidFill>
                  </a:tcPr>
                </a:tc>
                <a:tc>
                  <a:txBody>
                    <a:bodyPr/>
                    <a:lstStyle/>
                    <a:p>
                      <a:r>
                        <a:rPr sz="950" b="1" i="0">
                          <a:solidFill>
                            <a:srgbClr val="FFFFFF"/>
                          </a:solidFill>
                          <a:latin typeface="Calibri"/>
                        </a:rPr>
                        <a:t>Share</a:t>
                      </a:r>
                    </a:p>
                  </a:txBody>
                  <a:tcPr marL="101600" marR="101600" marT="38100" marB="38100" anchor="ctr">
                    <a:solidFill>
                      <a:srgbClr val="1A0F5C"/>
                    </a:solidFill>
                  </a:tcPr>
                </a:tc>
              </a:tr>
              <a:tr h="310896">
                <a:tc>
                  <a:txBody>
                    <a:bodyPr/>
                    <a:lstStyle/>
                    <a:p>
                      <a:r>
                        <a:rPr sz="900" b="0" i="0">
                          <a:solidFill>
                            <a:srgbClr val="1A1440"/>
                          </a:solidFill>
                          <a:latin typeface="Calibri"/>
                        </a:rPr>
                        <a:t>a) Drop</a:t>
                      </a:r>
                    </a:p>
                  </a:txBody>
                  <a:tcPr marL="101600" marR="101600" marT="38100" marB="38100" anchor="ctr">
                    <a:solidFill>
                      <a:srgbClr val="FFFFFF"/>
                    </a:solidFill>
                  </a:tcPr>
                </a:tc>
                <a:tc>
                  <a:txBody>
                    <a:bodyPr/>
                    <a:lstStyle/>
                    <a:p>
                      <a:r>
                        <a:rPr sz="900" b="0" i="0">
                          <a:solidFill>
                            <a:srgbClr val="1A1440"/>
                          </a:solidFill>
                          <a:latin typeface="Calibri"/>
                        </a:rPr>
                        <a:t>Rs 1,86,98,150</a:t>
                      </a:r>
                    </a:p>
                  </a:txBody>
                  <a:tcPr marL="101600" marR="101600" marT="38100" marB="38100" anchor="ctr">
                    <a:solidFill>
                      <a:srgbClr val="FFFFFF"/>
                    </a:solidFill>
                  </a:tcPr>
                </a:tc>
                <a:tc>
                  <a:txBody>
                    <a:bodyPr/>
                    <a:lstStyle/>
                    <a:p>
                      <a:r>
                        <a:rPr sz="900" b="0" i="0">
                          <a:solidFill>
                            <a:srgbClr val="1A1440"/>
                          </a:solidFill>
                          <a:latin typeface="Calibri"/>
                        </a:rPr>
                        <a:t>57 of 85</a:t>
                      </a:r>
                    </a:p>
                  </a:txBody>
                  <a:tcPr marL="101600" marR="101600" marT="38100" marB="38100" anchor="ctr">
                    <a:solidFill>
                      <a:srgbClr val="FFFFFF"/>
                    </a:solidFill>
                  </a:tcPr>
                </a:tc>
                <a:tc>
                  <a:txBody>
                    <a:bodyPr/>
                    <a:lstStyle/>
                    <a:p>
                      <a:r>
                        <a:rPr sz="900" b="0" i="0">
                          <a:solidFill>
                            <a:srgbClr val="1A1440"/>
                          </a:solidFill>
                          <a:latin typeface="Calibri"/>
                        </a:rPr>
                        <a:t>67.1%</a:t>
                      </a:r>
                    </a:p>
                  </a:txBody>
                  <a:tcPr marL="101600" marR="101600" marT="38100" marB="38100" anchor="ctr">
                    <a:solidFill>
                      <a:srgbClr val="FFFFFF"/>
                    </a:solidFill>
                  </a:tcPr>
                </a:tc>
              </a:tr>
              <a:tr h="310896">
                <a:tc>
                  <a:txBody>
                    <a:bodyPr/>
                    <a:lstStyle/>
                    <a:p>
                      <a:r>
                        <a:rPr sz="900" b="0" i="0">
                          <a:solidFill>
                            <a:srgbClr val="1A1440"/>
                          </a:solidFill>
                          <a:latin typeface="Calibri"/>
                        </a:rPr>
                        <a:t>b) Default delivered</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58 of 86</a:t>
                      </a:r>
                    </a:p>
                  </a:txBody>
                  <a:tcPr marL="101600" marR="101600" marT="38100" marB="38100" anchor="ctr">
                    <a:solidFill>
                      <a:srgbClr val="F4F2FA"/>
                    </a:solidFill>
                  </a:tcPr>
                </a:tc>
                <a:tc>
                  <a:txBody>
                    <a:bodyPr/>
                    <a:lstStyle/>
                    <a:p>
                      <a:r>
                        <a:rPr sz="900" b="0" i="0">
                          <a:solidFill>
                            <a:srgbClr val="1A1440"/>
                          </a:solidFill>
                          <a:latin typeface="Calibri"/>
                        </a:rPr>
                        <a:t>67.4%</a:t>
                      </a:r>
                    </a:p>
                  </a:txBody>
                  <a:tcPr marL="101600" marR="101600" marT="38100" marB="38100" anchor="ctr">
                    <a:solidFill>
                      <a:srgbClr val="F4F2FA"/>
                    </a:solidFill>
                  </a:tcPr>
                </a:tc>
              </a:tr>
              <a:tr h="310896">
                <a:tc>
                  <a:txBody>
                    <a:bodyPr/>
                    <a:lstStyle/>
                    <a:p>
                      <a:r>
                        <a:rPr sz="900" b="0" i="0">
                          <a:solidFill>
                            <a:srgbClr val="1A1440"/>
                          </a:solidFill>
                          <a:latin typeface="Calibri"/>
                        </a:rPr>
                        <a:t>c) Impute from last order</a:t>
                      </a:r>
                    </a:p>
                  </a:txBody>
                  <a:tcPr marL="101600" marR="101600" marT="38100" marB="38100" anchor="ctr">
                    <a:solidFill>
                      <a:srgbClr val="FFFFFF"/>
                    </a:solidFill>
                  </a:tcPr>
                </a:tc>
                <a:tc>
                  <a:txBody>
                    <a:bodyPr/>
                    <a:lstStyle/>
                    <a:p>
                      <a:r>
                        <a:rPr sz="900" b="0" i="0">
                          <a:solidFill>
                            <a:srgbClr val="1A1440"/>
                          </a:solidFill>
                          <a:latin typeface="Calibri"/>
                        </a:rPr>
                        <a:t>Rs 1,87,00,000</a:t>
                      </a:r>
                    </a:p>
                  </a:txBody>
                  <a:tcPr marL="101600" marR="101600" marT="38100" marB="38100" anchor="ctr">
                    <a:solidFill>
                      <a:srgbClr val="FFFFFF"/>
                    </a:solidFill>
                  </a:tcPr>
                </a:tc>
                <a:tc>
                  <a:txBody>
                    <a:bodyPr/>
                    <a:lstStyle/>
                    <a:p>
                      <a:r>
                        <a:rPr sz="900" b="0" i="0">
                          <a:solidFill>
                            <a:srgbClr val="1A1440"/>
                          </a:solidFill>
                          <a:latin typeface="Calibri"/>
                        </a:rPr>
                        <a:t>58 of 86</a:t>
                      </a:r>
                    </a:p>
                  </a:txBody>
                  <a:tcPr marL="101600" marR="101600" marT="38100" marB="38100" anchor="ctr">
                    <a:solidFill>
                      <a:srgbClr val="FFFFFF"/>
                    </a:solidFill>
                  </a:tcPr>
                </a:tc>
                <a:tc>
                  <a:txBody>
                    <a:bodyPr/>
                    <a:lstStyle/>
                    <a:p>
                      <a:r>
                        <a:rPr sz="900" b="0" i="0">
                          <a:solidFill>
                            <a:srgbClr val="1A1440"/>
                          </a:solidFill>
                          <a:latin typeface="Calibri"/>
                        </a:rPr>
                        <a:t>67.4%</a:t>
                      </a:r>
                    </a:p>
                  </a:txBody>
                  <a:tcPr marL="101600" marR="101600" marT="38100" marB="38100" anchor="ctr">
                    <a:solidFill>
                      <a:srgbClr val="FFFFFF"/>
                    </a:solidFill>
                  </a:tcPr>
                </a:tc>
              </a:tr>
              <a:tr h="310896">
                <a:tc>
                  <a:txBody>
                    <a:bodyPr/>
                    <a:lstStyle/>
                    <a:p>
                      <a:r>
                        <a:rPr sz="900" b="0" i="0">
                          <a:solidFill>
                            <a:srgbClr val="1A1440"/>
                          </a:solidFill>
                          <a:latin typeface="Calibri"/>
                        </a:rPr>
                        <a:t>d) Keep and flag</a:t>
                      </a:r>
                    </a:p>
                  </a:txBody>
                  <a:tcPr marL="101600" marR="101600" marT="38100" marB="38100" anchor="ctr">
                    <a:solidFill>
                      <a:srgbClr val="F4F2FA"/>
                    </a:solidFill>
                  </a:tcPr>
                </a:tc>
                <a:tc>
                  <a:txBody>
                    <a:bodyPr/>
                    <a:lstStyle/>
                    <a:p>
                      <a:r>
                        <a:rPr sz="900" b="0" i="0">
                          <a:solidFill>
                            <a:srgbClr val="1A1440"/>
                          </a:solidFill>
                          <a:latin typeface="Calibri"/>
                        </a:rPr>
                        <a:t>Rs 1,87,00,000</a:t>
                      </a:r>
                    </a:p>
                  </a:txBody>
                  <a:tcPr marL="101600" marR="101600" marT="38100" marB="38100" anchor="ctr">
                    <a:solidFill>
                      <a:srgbClr val="F4F2FA"/>
                    </a:solidFill>
                  </a:tcPr>
                </a:tc>
                <a:tc>
                  <a:txBody>
                    <a:bodyPr/>
                    <a:lstStyle/>
                    <a:p>
                      <a:r>
                        <a:rPr sz="900" b="0" i="0">
                          <a:solidFill>
                            <a:srgbClr val="1A1440"/>
                          </a:solidFill>
                          <a:latin typeface="Calibri"/>
                        </a:rPr>
                        <a:t>57 of 86</a:t>
                      </a:r>
                    </a:p>
                  </a:txBody>
                  <a:tcPr marL="101600" marR="101600" marT="38100" marB="38100" anchor="ctr">
                    <a:solidFill>
                      <a:srgbClr val="F4F2FA"/>
                    </a:solidFill>
                  </a:tcPr>
                </a:tc>
                <a:tc>
                  <a:txBody>
                    <a:bodyPr/>
                    <a:lstStyle/>
                    <a:p>
                      <a:r>
                        <a:rPr sz="900" b="0" i="0">
                          <a:solidFill>
                            <a:srgbClr val="1A1440"/>
                          </a:solidFill>
                          <a:latin typeface="Calibri"/>
                        </a:rPr>
                        <a:t>66.3%</a:t>
                      </a:r>
                    </a:p>
                  </a:txBody>
                  <a:tcPr marL="101600" marR="101600" marT="38100" marB="38100" anchor="ctr">
                    <a:solidFill>
                      <a:srgbClr val="F4F2FA"/>
                    </a:solidFill>
                  </a:tcPr>
                </a:tc>
              </a:tr>
            </a:tbl>
          </a:graphicData>
        </a:graphic>
      </p:graphicFrame>
      <p:graphicFrame>
        <p:nvGraphicFramePr>
          <p:cNvPr id="10" name="Table 9"/>
          <p:cNvGraphicFramePr>
            <a:graphicFrameLocks noGrp="1"/>
          </p:cNvGraphicFramePr>
          <p:nvPr/>
        </p:nvGraphicFramePr>
        <p:xfrm>
          <a:off x="6370167" y="1682496"/>
          <a:ext cx="5291174" cy="2298192"/>
        </p:xfrm>
        <a:graphic>
          <a:graphicData uri="http://schemas.openxmlformats.org/drawingml/2006/table">
            <a:tbl>
              <a:tblPr firstRow="0" bandRow="0">
                <a:tableStyleId>{2D5ABB26-0587-4C30-8999-92F81FD0307C}</a:tableStyleId>
              </a:tblPr>
              <a:tblGrid>
                <a:gridCol w="1608552"/>
                <a:gridCol w="1704851"/>
                <a:gridCol w="1977771"/>
              </a:tblGrid>
              <a:tr h="542544">
                <a:tc>
                  <a:txBody>
                    <a:bodyPr/>
                    <a:lstStyle/>
                    <a:p>
                      <a:r>
                        <a:rPr sz="1250" b="1" i="0">
                          <a:solidFill>
                            <a:srgbClr val="FFFFFF"/>
                          </a:solidFill>
                          <a:latin typeface="Calibri"/>
                        </a:rPr>
                        <a:t>Unreadable amount</a:t>
                      </a:r>
                    </a:p>
                  </a:txBody>
                  <a:tcPr marL="101600" marR="101600" marT="38100" marB="38100" anchor="ctr">
                    <a:solidFill>
                      <a:srgbClr val="1A0F5C"/>
                    </a:solidFill>
                  </a:tcPr>
                </a:tc>
                <a:tc>
                  <a:txBody>
                    <a:bodyPr/>
                    <a:lstStyle/>
                    <a:p>
                      <a:r>
                        <a:rPr sz="1250" b="1" i="0">
                          <a:solidFill>
                            <a:srgbClr val="FFFFFF"/>
                          </a:solidFill>
                          <a:latin typeface="Calibri"/>
                        </a:rPr>
                        <a:t>Q1 against the books</a:t>
                      </a:r>
                    </a:p>
                  </a:txBody>
                  <a:tcPr marL="101600" marR="101600" marT="38100" marB="38100" anchor="ctr">
                    <a:solidFill>
                      <a:srgbClr val="1A0F5C"/>
                    </a:solidFill>
                  </a:tcPr>
                </a:tc>
                <a:tc>
                  <a:txBody>
                    <a:bodyPr/>
                    <a:lstStyle/>
                    <a:p>
                      <a:r>
                        <a:rPr sz="1250" b="1" i="0">
                          <a:solidFill>
                            <a:srgbClr val="FFFFFF"/>
                          </a:solidFill>
                          <a:latin typeface="Calibri"/>
                        </a:rPr>
                        <a:t>What it leaves</a:t>
                      </a:r>
                    </a:p>
                  </a:txBody>
                  <a:tcPr marL="101600" marR="101600" marT="38100" marB="38100" anchor="ctr">
                    <a:solidFill>
                      <a:srgbClr val="1A0F5C"/>
                    </a:solidFill>
                  </a:tcPr>
                </a:tc>
              </a:tr>
              <a:tr h="335280">
                <a:tc>
                  <a:txBody>
                    <a:bodyPr/>
                    <a:lstStyle/>
                    <a:p>
                      <a:r>
                        <a:rPr sz="1200" b="0" i="0">
                          <a:solidFill>
                            <a:srgbClr val="1A1440"/>
                          </a:solidFill>
                          <a:latin typeface="Calibri"/>
                        </a:rPr>
                        <a:t>a) Coerce to zero</a:t>
                      </a:r>
                    </a:p>
                  </a:txBody>
                  <a:tcPr marL="101600" marR="101600" marT="38100" marB="38100" anchor="ctr">
                    <a:solidFill>
                      <a:srgbClr val="FFFFFF"/>
                    </a:solidFill>
                  </a:tcPr>
                </a:tc>
                <a:tc>
                  <a:txBody>
                    <a:bodyPr/>
                    <a:lstStyle/>
                    <a:p>
                      <a:r>
                        <a:rPr sz="1200" b="0" i="0">
                          <a:solidFill>
                            <a:srgbClr val="1A1440"/>
                          </a:solidFill>
                          <a:latin typeface="Calibri"/>
                        </a:rPr>
                        <a:t>-Rs 1,790</a:t>
                      </a:r>
                    </a:p>
                  </a:txBody>
                  <a:tcPr marL="101600" marR="101600" marT="38100" marB="38100" anchor="ctr">
                    <a:solidFill>
                      <a:srgbClr val="FFFFFF"/>
                    </a:solidFill>
                  </a:tcPr>
                </a:tc>
                <a:tc>
                  <a:txBody>
                    <a:bodyPr/>
                    <a:lstStyle/>
                    <a:p>
                      <a:r>
                        <a:rPr sz="1200" b="0" i="0">
                          <a:solidFill>
                            <a:srgbClr val="1A1440"/>
                          </a:solidFill>
                          <a:latin typeface="Calibri"/>
                        </a:rPr>
                        <a:t>an order at Rs 0</a:t>
                      </a:r>
                    </a:p>
                  </a:txBody>
                  <a:tcPr marL="101600" marR="101600" marT="38100" marB="38100" anchor="ctr">
                    <a:solidFill>
                      <a:srgbClr val="FFFFFF"/>
                    </a:solidFill>
                  </a:tcPr>
                </a:tc>
              </a:tr>
              <a:tr h="542544">
                <a:tc>
                  <a:txBody>
                    <a:bodyPr/>
                    <a:lstStyle/>
                    <a:p>
                      <a:r>
                        <a:rPr sz="1200" b="0" i="0">
                          <a:solidFill>
                            <a:srgbClr val="1A1440"/>
                          </a:solidFill>
                          <a:latin typeface="Calibri"/>
                        </a:rPr>
                        <a:t>b) Reject to the log</a:t>
                      </a:r>
                    </a:p>
                  </a:txBody>
                  <a:tcPr marL="101600" marR="101600" marT="38100" marB="38100" anchor="ctr">
                    <a:solidFill>
                      <a:srgbClr val="F4F2FA"/>
                    </a:solidFill>
                  </a:tcPr>
                </a:tc>
                <a:tc>
                  <a:txBody>
                    <a:bodyPr/>
                    <a:lstStyle/>
                    <a:p>
                      <a:r>
                        <a:rPr sz="1200" b="0" i="0">
                          <a:solidFill>
                            <a:srgbClr val="1A1440"/>
                          </a:solidFill>
                          <a:latin typeface="Calibri"/>
                        </a:rPr>
                        <a:t>Rs 0 here</a:t>
                      </a:r>
                    </a:p>
                  </a:txBody>
                  <a:tcPr marL="101600" marR="101600" marT="38100" marB="38100" anchor="ctr">
                    <a:solidFill>
                      <a:srgbClr val="F4F2FA"/>
                    </a:solidFill>
                  </a:tcPr>
                </a:tc>
                <a:tc>
                  <a:txBody>
                    <a:bodyPr/>
                    <a:lstStyle/>
                    <a:p>
                      <a:r>
                        <a:rPr sz="1200" b="0" i="0">
                          <a:solidFill>
                            <a:srgbClr val="1A1440"/>
                          </a:solidFill>
                          <a:latin typeface="Calibri"/>
                        </a:rPr>
                        <a:t>the order out until repaired</a:t>
                      </a:r>
                    </a:p>
                  </a:txBody>
                  <a:tcPr marL="101600" marR="101600" marT="38100" marB="38100" anchor="ctr">
                    <a:solidFill>
                      <a:srgbClr val="F4F2FA"/>
                    </a:solidFill>
                  </a:tcPr>
                </a:tc>
              </a:tr>
              <a:tr h="335280">
                <a:tc>
                  <a:txBody>
                    <a:bodyPr/>
                    <a:lstStyle/>
                    <a:p>
                      <a:r>
                        <a:rPr sz="1200" b="0" i="0">
                          <a:solidFill>
                            <a:srgbClr val="1A1440"/>
                          </a:solidFill>
                          <a:latin typeface="Calibri"/>
                        </a:rPr>
                        <a:t>c) Read the word</a:t>
                      </a:r>
                    </a:p>
                  </a:txBody>
                  <a:tcPr marL="101600" marR="101600" marT="38100" marB="38100" anchor="ctr">
                    <a:solidFill>
                      <a:srgbClr val="FFFFFF"/>
                    </a:solidFill>
                  </a:tcPr>
                </a:tc>
                <a:tc>
                  <a:txBody>
                    <a:bodyPr/>
                    <a:lstStyle/>
                    <a:p>
                      <a:r>
                        <a:rPr sz="1200" b="0" i="0">
                          <a:solidFill>
                            <a:srgbClr val="1A1440"/>
                          </a:solidFill>
                          <a:latin typeface="Calibri"/>
                        </a:rPr>
                        <a:t>a guess</a:t>
                      </a:r>
                    </a:p>
                  </a:txBody>
                  <a:tcPr marL="101600" marR="101600" marT="38100" marB="38100" anchor="ctr">
                    <a:solidFill>
                      <a:srgbClr val="FFFFFF"/>
                    </a:solidFill>
                  </a:tcPr>
                </a:tc>
                <a:tc>
                  <a:txBody>
                    <a:bodyPr/>
                    <a:lstStyle/>
                    <a:p>
                      <a:r>
                        <a:rPr sz="1200" b="0" i="0">
                          <a:solidFill>
                            <a:srgbClr val="1A1440"/>
                          </a:solidFill>
                          <a:latin typeface="Calibri"/>
                        </a:rPr>
                        <a:t>Rs 14 for "fourteen"</a:t>
                      </a:r>
                    </a:p>
                  </a:txBody>
                  <a:tcPr marL="101600" marR="101600" marT="38100" marB="38100" anchor="ctr">
                    <a:solidFill>
                      <a:srgbClr val="FFFFFF"/>
                    </a:solidFill>
                  </a:tcPr>
                </a:tc>
              </a:tr>
              <a:tr h="542544">
                <a:tc>
                  <a:txBody>
                    <a:bodyPr/>
                    <a:lstStyle/>
                    <a:p>
                      <a:r>
                        <a:rPr sz="1200" b="0" i="0">
                          <a:solidFill>
                            <a:srgbClr val="1A1440"/>
                          </a:solidFill>
                          <a:latin typeface="Calibri"/>
                        </a:rPr>
                        <a:t>d) Repair from a copy</a:t>
                      </a:r>
                    </a:p>
                  </a:txBody>
                  <a:tcPr marL="101600" marR="101600" marT="38100" marB="38100" anchor="ctr">
                    <a:solidFill>
                      <a:srgbClr val="F4F2FA"/>
                    </a:solidFill>
                  </a:tcPr>
                </a:tc>
                <a:tc>
                  <a:txBody>
                    <a:bodyPr/>
                    <a:lstStyle/>
                    <a:p>
                      <a:r>
                        <a:rPr sz="1200" b="0" i="0">
                          <a:solidFill>
                            <a:srgbClr val="1A1440"/>
                          </a:solidFill>
                          <a:latin typeface="Calibri"/>
                        </a:rPr>
                        <a:t>Rs 0</a:t>
                      </a:r>
                    </a:p>
                  </a:txBody>
                  <a:tcPr marL="101600" marR="101600" marT="38100" marB="38100" anchor="ctr">
                    <a:solidFill>
                      <a:srgbClr val="F4F2FA"/>
                    </a:solidFill>
                  </a:tcPr>
                </a:tc>
                <a:tc>
                  <a:txBody>
                    <a:bodyPr/>
                    <a:lstStyle/>
                    <a:p>
                      <a:r>
                        <a:rPr sz="1200" b="0" i="0">
                          <a:solidFill>
                            <a:srgbClr val="1A1440"/>
                          </a:solidFill>
                          <a:latin typeface="Calibri"/>
                        </a:rPr>
                        <a:t>needs an independent copy</a:t>
                      </a:r>
                    </a:p>
                  </a:txBody>
                  <a:tcPr marL="101600" marR="101600" marT="38100" marB="38100" anchor="ctr">
                    <a:solidFill>
                      <a:srgbClr val="F4F2FA"/>
                    </a:solidFill>
                  </a:tcPr>
                </a:tc>
              </a:tr>
            </a:tbl>
          </a:graphicData>
        </a:graphic>
      </p:graphicFrame>
      <p:sp>
        <p:nvSpPr>
          <p:cNvPr id="11" name="Rounded Rectangle 10"/>
          <p:cNvSpPr/>
          <p:nvPr/>
        </p:nvSpPr>
        <p:spPr>
          <a:xfrm>
            <a:off x="6370167" y="4236720"/>
            <a:ext cx="529117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516471" y="4364736"/>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717639" y="4355592"/>
            <a:ext cx="4724247" cy="14249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Status: d. Amount: reject to the log, and repair only from an independent copy. What would switch them: a delivery system to ask turns the flag into a lookup; an independent copy turns the reject into a repair.</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6" name="Oval 1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8" name="Oval 1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0" name="Oval 1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2" name="Oval 2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S52  ·  57 / 84</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Each decision is a claim about the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choice say about the order with no status?</a:t>
            </a:r>
          </a:p>
        </p:txBody>
      </p:sp>
      <p:pic>
        <p:nvPicPr>
          <p:cNvPr id="9" name="mermaid diagram" descr="7c96bddd4ec89d35.png"/>
          <p:cNvPicPr>
            <a:picLocks noChangeAspect="1"/>
          </p:cNvPicPr>
          <p:nvPr/>
        </p:nvPicPr>
        <p:blipFill>
          <a:blip r:embed="rId6"/>
          <a:stretch>
            <a:fillRect/>
          </a:stretch>
        </p:blipFill>
        <p:spPr>
          <a:xfrm>
            <a:off x="1150259" y="1682496"/>
            <a:ext cx="3546511" cy="4517136"/>
          </a:xfrm>
          <a:prstGeom prst="rect">
            <a:avLst/>
          </a:prstGeom>
        </p:spPr>
      </p:pic>
      <p:sp>
        <p:nvSpPr>
          <p:cNvPr id="10" name="Rounded Rectangle 9"/>
          <p:cNvSpPr/>
          <p:nvPr/>
        </p:nvSpPr>
        <p:spPr>
          <a:xfrm>
            <a:off x="5761917" y="1956816"/>
            <a:ext cx="5899425"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5990517" y="24185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6100245" y="2528316"/>
            <a:ext cx="237744" cy="237744"/>
          </a:xfrm>
          <a:prstGeom prst="rect">
            <a:avLst/>
          </a:prstGeom>
        </p:spPr>
      </p:pic>
      <p:sp>
        <p:nvSpPr>
          <p:cNvPr id="13" name="TextBox 12"/>
          <p:cNvSpPr txBox="1"/>
          <p:nvPr/>
        </p:nvSpPr>
        <p:spPr>
          <a:xfrm>
            <a:off x="6630597" y="2103120"/>
            <a:ext cx="4756425"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6630597" y="2322576"/>
            <a:ext cx="4756425" cy="941832"/>
          </a:xfrm>
          <a:prstGeom prst="rect">
            <a:avLst/>
          </a:prstGeom>
          <a:noFill/>
        </p:spPr>
        <p:txBody>
          <a:bodyPr wrap="square" anchor="t" lIns="0" rIns="0" tIns="0" bIns="0">
            <a:spAutoFit/>
          </a:bodyPr>
          <a:lstStyle/>
          <a:p>
            <a:r>
              <a:rPr sz="1500" b="0" i="0">
                <a:solidFill>
                  <a:srgbClr val="1A1440"/>
                </a:solidFill>
                <a:latin typeface="Calibri"/>
              </a:rPr>
              <a:t>Revenue is booked value whatever the status, so the order stays in revenue; only the flag says what is known about its delivery.</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3" name="Oval 22"/>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S53  ·  58 / 84</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which choice keeps both numbers honest?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q2 = [r for r in clean if r["quarter"] == "Q2"]</a:t>
            </a:r>
          </a:p>
          <a:p>
            <a:pPr>
              <a:spcAft>
                <a:spcPts val="200"/>
              </a:spcAft>
            </a:pPr>
            <a:r>
              <a:rPr sz="1400" b="0" i="0">
                <a:solidFill>
                  <a:srgbClr val="E4E1F1"/>
                </a:solidFill>
                <a:latin typeface="Consolas"/>
              </a:rPr>
              <a:t>no_status = [r for r in q2 if not r["status"]]      # one kept order</a:t>
            </a:r>
          </a:p>
        </p:txBody>
      </p:sp>
      <p:sp>
        <p:nvSpPr>
          <p:cNvPr id="14" name="Rounded Rectangle 13"/>
          <p:cNvSpPr/>
          <p:nvPr/>
        </p:nvSpPr>
        <p:spPr>
          <a:xfrm>
            <a:off x="530352" y="308356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Which decision keeps Q2 revenue and the delivered share both honest, as a letter? a) drop the order; b) default it to delivered; c) impute it from the customer's last order; d) keep it and flag it.</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5" name="Oval 24"/>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S54  ·  59 / 84</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keep and flag, 57 of 86 delivered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to the order with no status?</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REVENUE</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order stays in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57 of 86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DELIVERED</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66.3 percent</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IN THE FLAGS LOG</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its fate unknown</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 default and this imputation each lift delivered to 58 of 86, 67.4 percent, a delivery nobody recorded; dropping takes a booked order out of Q2 revenue.</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S55  ·  60 / 84</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what should the missing discount be?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pic>
        <p:nvPicPr>
          <p:cNvPr id="9" name="mermaid diagram" descr="1baee83574667561.png"/>
          <p:cNvPicPr>
            <a:picLocks noChangeAspect="1"/>
          </p:cNvPicPr>
          <p:nvPr/>
        </p:nvPicPr>
        <p:blipFill>
          <a:blip r:embed="rId5"/>
          <a:stretch>
            <a:fillRect/>
          </a:stretch>
        </p:blipFill>
        <p:spPr>
          <a:xfrm>
            <a:off x="3524097" y="1956816"/>
            <a:ext cx="5143500" cy="2543175"/>
          </a:xfrm>
          <a:prstGeom prst="rect">
            <a:avLst/>
          </a:prstGeom>
        </p:spPr>
      </p:pic>
      <p:sp>
        <p:nvSpPr>
          <p:cNvPr id="10" name="Rounded Rectangle 9"/>
          <p:cNvSpPr/>
          <p:nvPr/>
        </p:nvSpPr>
        <p:spPr>
          <a:xfrm>
            <a:off x="530352" y="4646295"/>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74311"/>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65167"/>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The average discount with blanks read as zero, against the average over orders that carry one, as a letter? a) the same, since blanks add nothing; b) a few rupees apart, within rounding; c) about 30 percent lower with zeros; d) higher, since zeros shrink the spread.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S56  ·  61 / 84</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zeros pull it from Rs 67 to Rs 47</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Is a missing discount a zero?</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67</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OVER ORDERS THAT CARRY ONE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131 orders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47</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BLANKS READ AS ZERO</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186 orders</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55</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FLAGGED</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count beside every figure</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c. The field stays blank, the count goes beside any discount figure, and revenue is untouched.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S57  ·  62 / 84</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failures become zero</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if every failure is turned into zero?</a:t>
            </a:r>
          </a:p>
        </p:txBody>
      </p:sp>
      <p:sp>
        <p:nvSpPr>
          <p:cNvPr id="9" name="Rounded Rectangle 8"/>
          <p:cNvSpPr/>
          <p:nvPr/>
        </p:nvSpPr>
        <p:spPr>
          <a:xfrm>
            <a:off x="530352" y="1956816"/>
            <a:ext cx="11130991" cy="1719580"/>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1317244"/>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def to_int(value):</a:t>
            </a:r>
          </a:p>
          <a:p>
            <a:pPr>
              <a:spcAft>
                <a:spcPts val="200"/>
              </a:spcAft>
            </a:pPr>
            <a:r>
              <a:rPr sz="1400" b="0" i="0">
                <a:solidFill>
                  <a:srgbClr val="E4E1F1"/>
                </a:solidFill>
                <a:latin typeface="Consolas"/>
              </a:rPr>
              <a:t>    try:</a:t>
            </a:r>
          </a:p>
          <a:p>
            <a:pPr>
              <a:spcAft>
                <a:spcPts val="200"/>
              </a:spcAft>
            </a:pPr>
            <a:r>
              <a:rPr sz="1400" b="0" i="0">
                <a:solidFill>
                  <a:srgbClr val="E4E1F1"/>
                </a:solidFill>
                <a:latin typeface="Consolas"/>
              </a:rPr>
              <a:t>        return int(value)</a:t>
            </a:r>
          </a:p>
          <a:p>
            <a:pPr>
              <a:spcAft>
                <a:spcPts val="200"/>
              </a:spcAft>
            </a:pPr>
            <a:r>
              <a:rPr sz="1400" b="0" i="0">
                <a:solidFill>
                  <a:srgbClr val="E4E1F1"/>
                </a:solidFill>
                <a:latin typeface="Consolas"/>
              </a:rPr>
              <a:t>    except ValueError:</a:t>
            </a:r>
          </a:p>
          <a:p>
            <a:pPr>
              <a:spcAft>
                <a:spcPts val="200"/>
              </a:spcAft>
            </a:pPr>
            <a:r>
              <a:rPr sz="1400" b="0" i="0">
                <a:solidFill>
                  <a:srgbClr val="E4E1F1"/>
                </a:solidFill>
                <a:latin typeface="Consolas"/>
              </a:rPr>
              <a:t>        return 0              # "so the loop does not crash"</a:t>
            </a:r>
          </a:p>
        </p:txBody>
      </p:sp>
      <p:sp>
        <p:nvSpPr>
          <p:cNvPr id="14" name="TextBox 13"/>
          <p:cNvSpPr txBox="1"/>
          <p:nvPr/>
        </p:nvSpPr>
        <p:spPr>
          <a:xfrm>
            <a:off x="53035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201 of 201</a:t>
            </a:r>
          </a:p>
        </p:txBody>
      </p:sp>
      <p:sp>
        <p:nvSpPr>
          <p:cNvPr id="15" name="TextBox 14"/>
          <p:cNvSpPr txBox="1"/>
          <p:nvPr/>
        </p:nvSpPr>
        <p:spPr>
          <a:xfrm>
            <a:off x="53035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AMOUNTS CONVERT</a:t>
            </a:r>
          </a:p>
        </p:txBody>
      </p:sp>
      <p:sp>
        <p:nvSpPr>
          <p:cNvPr id="16" name="TextBox 15"/>
          <p:cNvSpPr txBox="1"/>
          <p:nvPr/>
        </p:nvSpPr>
        <p:spPr>
          <a:xfrm>
            <a:off x="53035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the coerced profile</a:t>
            </a:r>
          </a:p>
        </p:txBody>
      </p:sp>
      <p:sp>
        <p:nvSpPr>
          <p:cNvPr id="17" name="Rectangle 16"/>
          <p:cNvSpPr/>
          <p:nvPr/>
        </p:nvSpPr>
        <p:spPr>
          <a:xfrm>
            <a:off x="53035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433212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9" name="TextBox 18"/>
          <p:cNvSpPr txBox="1"/>
          <p:nvPr/>
        </p:nvSpPr>
        <p:spPr>
          <a:xfrm>
            <a:off x="433212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ROWS IN THE REJECTS LOG</a:t>
            </a:r>
          </a:p>
        </p:txBody>
      </p:sp>
      <p:sp>
        <p:nvSpPr>
          <p:cNvPr id="20" name="TextBox 19"/>
          <p:cNvSpPr txBox="1"/>
          <p:nvPr/>
        </p:nvSpPr>
        <p:spPr>
          <a:xfrm>
            <a:off x="433212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nothing to explain</a:t>
            </a:r>
          </a:p>
        </p:txBody>
      </p:sp>
      <p:sp>
        <p:nvSpPr>
          <p:cNvPr id="21" name="Rectangle 20"/>
          <p:cNvSpPr/>
          <p:nvPr/>
        </p:nvSpPr>
        <p:spPr>
          <a:xfrm>
            <a:off x="433212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8133892" y="3840988"/>
            <a:ext cx="3527450" cy="698500"/>
          </a:xfrm>
          <a:prstGeom prst="rect">
            <a:avLst/>
          </a:prstGeom>
          <a:noFill/>
        </p:spPr>
        <p:txBody>
          <a:bodyPr wrap="square" anchor="t" lIns="0" rIns="0" tIns="0" bIns="0">
            <a:spAutoFit/>
          </a:bodyPr>
          <a:lstStyle/>
          <a:p>
            <a:pPr algn="l"/>
            <a:r>
              <a:rPr sz="4400" b="0" i="0">
                <a:solidFill>
                  <a:srgbClr val="5B3FD6"/>
                </a:solidFill>
                <a:latin typeface="Georgia"/>
              </a:rPr>
              <a:t>186 orders</a:t>
            </a:r>
          </a:p>
        </p:txBody>
      </p:sp>
      <p:sp>
        <p:nvSpPr>
          <p:cNvPr id="23" name="TextBox 22"/>
          <p:cNvSpPr txBox="1"/>
          <p:nvPr/>
        </p:nvSpPr>
        <p:spPr>
          <a:xfrm>
            <a:off x="8133892" y="4576064"/>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IN THE CLEAN FILE</a:t>
            </a:r>
          </a:p>
        </p:txBody>
      </p:sp>
      <p:sp>
        <p:nvSpPr>
          <p:cNvPr id="24" name="TextBox 23"/>
          <p:cNvSpPr txBox="1"/>
          <p:nvPr/>
        </p:nvSpPr>
        <p:spPr>
          <a:xfrm>
            <a:off x="8133892" y="4777232"/>
            <a:ext cx="3527450" cy="193421"/>
          </a:xfrm>
          <a:prstGeom prst="rect">
            <a:avLst/>
          </a:prstGeom>
          <a:noFill/>
        </p:spPr>
        <p:txBody>
          <a:bodyPr wrap="square" anchor="t" lIns="0" rIns="0" tIns="0" bIns="0">
            <a:spAutoFit/>
          </a:bodyPr>
          <a:lstStyle/>
          <a:p>
            <a:pPr algn="l"/>
            <a:r>
              <a:rPr sz="950" b="0" i="0">
                <a:solidFill>
                  <a:srgbClr val="6B6690"/>
                </a:solidFill>
                <a:latin typeface="Calibri"/>
              </a:rPr>
              <a:t>one per order id, all numbers</a:t>
            </a:r>
          </a:p>
        </p:txBody>
      </p:sp>
      <p:sp>
        <p:nvSpPr>
          <p:cNvPr id="25" name="Rectangle 24"/>
          <p:cNvSpPr/>
          <p:nvPr/>
        </p:nvSpPr>
        <p:spPr>
          <a:xfrm>
            <a:off x="8133892" y="5029708"/>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S58  ·  63 / 84</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a zero claims a sale for nothing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 clean-looking profile hide a loss?</a:t>
            </a:r>
          </a:p>
        </p:txBody>
      </p:sp>
      <p:pic>
        <p:nvPicPr>
          <p:cNvPr id="9" name="mermaid diagram" descr="604ca694d732128b.png"/>
          <p:cNvPicPr>
            <a:picLocks noChangeAspect="1"/>
          </p:cNvPicPr>
          <p:nvPr/>
        </p:nvPicPr>
        <p:blipFill>
          <a:blip r:embed="rId5"/>
          <a:stretch>
            <a:fillRect/>
          </a:stretch>
        </p:blipFill>
        <p:spPr>
          <a:xfrm>
            <a:off x="530352" y="1956816"/>
            <a:ext cx="11130991" cy="1129748"/>
          </a:xfrm>
          <a:prstGeom prst="rect">
            <a:avLst/>
          </a:prstGeom>
        </p:spPr>
      </p:pic>
      <p:sp>
        <p:nvSpPr>
          <p:cNvPr id="10" name="Rounded Rectangle 9"/>
          <p:cNvSpPr/>
          <p:nvPr/>
        </p:nvSpPr>
        <p:spPr>
          <a:xfrm>
            <a:off x="530352" y="323286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36088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351740"/>
            <a:ext cx="10564063" cy="6248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Can a Kalpa order be worth nothing? The smallest real order in the export is Rs 680, and the failure count fell from one to zero while nothing was fixed.</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S59  ·  64 / 84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the rule first, then conversion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pass keep the unreadable copy out of revenue?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0</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Q1 AGAINST THE BOOKS</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rule, then conversion</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0</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REJECTS AFTER THE RULE</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twin carried the value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FAILURE IN THE EXPORT'S PROFILE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truth about the export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8915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identity rule keeps the copy whose amount converts, so the unreadable copy goes to the set-aside log with its twin named, and conversion after it rejects nothing, so no order reaches the clean file at Rs 0.</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2" name="Oval 31"/>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S60  ·  65 / 84</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Repair only from a source that cannot share the error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can an unreadable amount be repaired from?</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118 of 119</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FEED AMOUNTS AGREE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with the clean file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1</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UNREADABLE IN THE FEED</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same text as the CSV</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Rs 1,386</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SHORT, READING "FOURTEEN"</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an invented Rs 1,400 order</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12166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75208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list-checks_bd88901d2a37.png"/>
          <p:cNvPicPr>
            <a:picLocks noChangeAspect="1"/>
          </p:cNvPicPr>
          <p:nvPr/>
        </p:nvPicPr>
        <p:blipFill>
          <a:blip r:embed="rId4"/>
          <a:stretch>
            <a:fillRect/>
          </a:stretch>
        </p:blipFill>
        <p:spPr>
          <a:xfrm>
            <a:off x="868680" y="386181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25" name="TextBox 24"/>
          <p:cNvSpPr txBox="1"/>
          <p:nvPr/>
        </p:nvSpPr>
        <p:spPr>
          <a:xfrm>
            <a:off x="1399031" y="3785616"/>
            <a:ext cx="9987991" cy="682752"/>
          </a:xfrm>
          <a:prstGeom prst="rect">
            <a:avLst/>
          </a:prstGeom>
          <a:noFill/>
        </p:spPr>
        <p:txBody>
          <a:bodyPr wrap="square" anchor="t" lIns="0" rIns="0" tIns="0" bIns="0">
            <a:spAutoFit/>
          </a:bodyPr>
          <a:lstStyle/>
          <a:p>
            <a:r>
              <a:rPr sz="1500" b="0" i="0">
                <a:solidFill>
                  <a:srgbClr val="1A1440"/>
                </a:solidFill>
                <a:latin typeface="Calibri"/>
              </a:rPr>
              <a:t>The feed was cut from the same extract, so it witnesses what the extract held, never whether a value is right. The CSV's second extract carried the value, and the identity rule already used it.</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34" name="Oval 33"/>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S61  ·  66 / 84</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the profile agrees with the logs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 the profile and the logs agree on every defect?</a:t>
            </a:r>
          </a:p>
        </p:txBody>
      </p:sp>
      <p:graphicFrame>
        <p:nvGraphicFramePr>
          <p:cNvPr id="9" name="Table 8"/>
          <p:cNvGraphicFramePr>
            <a:graphicFrameLocks noGrp="1"/>
          </p:cNvGraphicFramePr>
          <p:nvPr/>
        </p:nvGraphicFramePr>
        <p:xfrm>
          <a:off x="530352" y="1956816"/>
          <a:ext cx="11130989" cy="1479296"/>
        </p:xfrm>
        <a:graphic>
          <a:graphicData uri="http://schemas.openxmlformats.org/drawingml/2006/table">
            <a:tbl>
              <a:tblPr firstRow="0" bandRow="0">
                <a:tableStyleId>{2D5ABB26-0587-4C30-8999-92F81FD0307C}</a:tableStyleId>
              </a:tblPr>
              <a:tblGrid>
                <a:gridCol w="4749069"/>
                <a:gridCol w="3602536"/>
                <a:gridCol w="2779384"/>
              </a:tblGrid>
              <a:tr h="369824">
                <a:tc>
                  <a:txBody>
                    <a:bodyPr/>
                    <a:lstStyle/>
                    <a:p>
                      <a:r>
                        <a:rPr sz="1450" b="1" i="0">
                          <a:solidFill>
                            <a:srgbClr val="FFFFFF"/>
                          </a:solidFill>
                          <a:latin typeface="Calibri"/>
                        </a:rPr>
                        <a:t>Defect</a:t>
                      </a:r>
                    </a:p>
                  </a:txBody>
                  <a:tcPr marL="101600" marR="101600" marT="38100" marB="38100" anchor="ctr">
                    <a:solidFill>
                      <a:srgbClr val="1A0F5C"/>
                    </a:solidFill>
                  </a:tcPr>
                </a:tc>
                <a:tc>
                  <a:txBody>
                    <a:bodyPr/>
                    <a:lstStyle/>
                    <a:p>
                      <a:r>
                        <a:rPr sz="1450" b="1" i="0">
                          <a:solidFill>
                            <a:srgbClr val="FFFFFF"/>
                          </a:solidFill>
                          <a:latin typeface="Calibri"/>
                        </a:rPr>
                        <a:t>The profile</a:t>
                      </a:r>
                    </a:p>
                  </a:txBody>
                  <a:tcPr marL="101600" marR="101600" marT="38100" marB="38100" anchor="ctr">
                    <a:solidFill>
                      <a:srgbClr val="1A0F5C"/>
                    </a:solidFill>
                  </a:tcPr>
                </a:tc>
                <a:tc>
                  <a:txBody>
                    <a:bodyPr/>
                    <a:lstStyle/>
                    <a:p>
                      <a:r>
                        <a:rPr sz="1450" b="1" i="0">
                          <a:solidFill>
                            <a:srgbClr val="FFFFFF"/>
                          </a:solidFill>
                          <a:latin typeface="Calibri"/>
                        </a:rPr>
                        <a:t>The logs</a:t>
                      </a:r>
                    </a:p>
                  </a:txBody>
                  <a:tcPr marL="101600" marR="101600" marT="38100" marB="38100" anchor="ctr">
                    <a:solidFill>
                      <a:srgbClr val="1A0F5C"/>
                    </a:solidFill>
                  </a:tcPr>
                </a:tc>
              </a:tr>
              <a:tr h="369824">
                <a:tc>
                  <a:txBody>
                    <a:bodyPr/>
                    <a:lstStyle/>
                    <a:p>
                      <a:r>
                        <a:rPr sz="1400" b="0" i="0">
                          <a:solidFill>
                            <a:srgbClr val="1A1440"/>
                          </a:solidFill>
                          <a:latin typeface="Calibri"/>
                        </a:rPr>
                        <a:t>Status missing</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c>
                  <a:txBody>
                    <a:bodyPr/>
                    <a:lstStyle/>
                    <a:p>
                      <a:r>
                        <a:rPr sz="1400" b="0" i="0">
                          <a:solidFill>
                            <a:srgbClr val="1A1440"/>
                          </a:solidFill>
                          <a:latin typeface="Calibri"/>
                        </a:rPr>
                        <a:t>1</a:t>
                      </a:r>
                    </a:p>
                  </a:txBody>
                  <a:tcPr marL="101600" marR="101600" marT="38100" marB="38100" anchor="ctr">
                    <a:solidFill>
                      <a:srgbClr val="FFFFFF"/>
                    </a:solidFill>
                  </a:tcPr>
                </a:tc>
              </a:tr>
              <a:tr h="369824">
                <a:tc>
                  <a:txBody>
                    <a:bodyPr/>
                    <a:lstStyle/>
                    <a:p>
                      <a:r>
                        <a:rPr sz="1400" b="0" i="0">
                          <a:solidFill>
                            <a:srgbClr val="1A1440"/>
                          </a:solidFill>
                          <a:latin typeface="Calibri"/>
                        </a:rPr>
                        <a:t>Amount that fails</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c>
                  <a:txBody>
                    <a:bodyPr/>
                    <a:lstStyle/>
                    <a:p>
                      <a:r>
                        <a:rPr sz="1400" b="0" i="0">
                          <a:solidFill>
                            <a:srgbClr val="1A1440"/>
                          </a:solidFill>
                          <a:latin typeface="Calibri"/>
                        </a:rPr>
                        <a:t>0</a:t>
                      </a:r>
                    </a:p>
                  </a:txBody>
                  <a:tcPr marL="101600" marR="101600" marT="38100" marB="38100" anchor="ctr">
                    <a:solidFill>
                      <a:srgbClr val="F4F2FA"/>
                    </a:solidFill>
                  </a:tcPr>
                </a:tc>
              </a:tr>
              <a:tr h="369824">
                <a:tc>
                  <a:txBody>
                    <a:bodyPr/>
                    <a:lstStyle/>
                    <a:p>
                      <a:r>
                        <a:rPr sz="1400" b="0" i="0">
                          <a:solidFill>
                            <a:srgbClr val="1A1440"/>
                          </a:solidFill>
                          <a:latin typeface="Calibri"/>
                        </a:rPr>
                        <a:t>Discount missing</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c>
                  <a:txBody>
                    <a:bodyPr/>
                    <a:lstStyle/>
                    <a:p>
                      <a:r>
                        <a:rPr sz="1400" b="0" i="0">
                          <a:solidFill>
                            <a:srgbClr val="1A1440"/>
                          </a:solidFill>
                          <a:latin typeface="Calibri"/>
                        </a:rPr>
                        <a:t>55</a:t>
                      </a:r>
                    </a:p>
                  </a:txBody>
                  <a:tcPr marL="101600" marR="101600" marT="38100" marB="38100" anchor="ctr">
                    <a:solidFill>
                      <a:srgbClr val="FFFFFF"/>
                    </a:solidFill>
                  </a:tcPr>
                </a:tc>
              </a:tr>
            </a:tbl>
          </a:graphicData>
        </a:graphic>
      </p:graphicFrame>
      <p:sp>
        <p:nvSpPr>
          <p:cNvPr id="10" name="Rounded Rectangle 9"/>
          <p:cNvSpPr/>
          <p:nvPr/>
        </p:nvSpPr>
        <p:spPr>
          <a:xfrm>
            <a:off x="530352" y="369214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382016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811016"/>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The profile finds defects and the log shows them. Profile the clean file at the end of every pass, and a defect that slipped past the log shows as a count that disagrees.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1" name="Oval 20"/>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S62  ·  67 / 84</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Flag, keep unknown, reject: no fact invented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what does the pass do with a missing or unreadable value?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235644"/>
                <a:gridCol w="6895346"/>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What could the pass do?</a:t>
                      </a:r>
                    </a:p>
                  </a:txBody>
                  <a:tcPr marL="101600" marR="101600" marT="38100" marB="38100" anchor="ctr">
                    <a:solidFill>
                      <a:srgbClr val="FFFFFF"/>
                    </a:solidFill>
                  </a:tcPr>
                </a:tc>
                <a:tc>
                  <a:txBody>
                    <a:bodyPr/>
                    <a:lstStyle/>
                    <a:p>
                      <a:r>
                        <a:rPr sz="1100" b="0" i="0">
                          <a:solidFill>
                            <a:srgbClr val="1A1440"/>
                          </a:solidFill>
                          <a:latin typeface="Calibri"/>
                        </a:rPr>
                        <a:t>Flag the status; reject the amount, repair from a copy</a:t>
                      </a:r>
                    </a:p>
                  </a:txBody>
                  <a:tcPr marL="101600" marR="101600" marT="38100" marB="38100" anchor="ctr">
                    <a:solidFill>
                      <a:srgbClr val="FFFFFF"/>
                    </a:solidFill>
                  </a:tcPr>
                </a:tc>
              </a:tr>
              <a:tr h="318008">
                <a:tc>
                  <a:txBody>
                    <a:bodyPr/>
                    <a:lstStyle/>
                    <a:p>
                      <a:r>
                        <a:rPr sz="1100" b="0" i="0">
                          <a:solidFill>
                            <a:srgbClr val="1A1440"/>
                          </a:solidFill>
                          <a:latin typeface="Calibri"/>
                        </a:rPr>
                        <a:t>2. The order with no status?</a:t>
                      </a:r>
                    </a:p>
                  </a:txBody>
                  <a:tcPr marL="101600" marR="101600" marT="38100" marB="38100" anchor="ctr">
                    <a:solidFill>
                      <a:srgbClr val="F4F2FA"/>
                    </a:solidFill>
                  </a:tcPr>
                </a:tc>
                <a:tc>
                  <a:txBody>
                    <a:bodyPr/>
                    <a:lstStyle/>
                    <a:p>
                      <a:r>
                        <a:rPr sz="1100" b="0" i="0">
                          <a:solidFill>
                            <a:srgbClr val="1A1440"/>
                          </a:solidFill>
                          <a:latin typeface="Calibri"/>
                        </a:rPr>
                        <a:t>Kept and flagged: 57 of 86 delivered, 66.3 percent</a:t>
                      </a:r>
                    </a:p>
                  </a:txBody>
                  <a:tcPr marL="101600" marR="101600" marT="38100" marB="38100" anchor="ctr">
                    <a:solidFill>
                      <a:srgbClr val="F4F2FA"/>
                    </a:solidFill>
                  </a:tcPr>
                </a:tc>
              </a:tr>
              <a:tr h="318008">
                <a:tc>
                  <a:txBody>
                    <a:bodyPr/>
                    <a:lstStyle/>
                    <a:p>
                      <a:r>
                        <a:rPr sz="1100" b="0" i="0">
                          <a:solidFill>
                            <a:srgbClr val="1A1440"/>
                          </a:solidFill>
                          <a:latin typeface="Calibri"/>
                        </a:rPr>
                        <a:t>3. Is a blank discount zero?</a:t>
                      </a:r>
                    </a:p>
                  </a:txBody>
                  <a:tcPr marL="101600" marR="101600" marT="38100" marB="38100" anchor="ctr">
                    <a:solidFill>
                      <a:srgbClr val="FFFFFF"/>
                    </a:solidFill>
                  </a:tcPr>
                </a:tc>
                <a:tc>
                  <a:txBody>
                    <a:bodyPr/>
                    <a:lstStyle/>
                    <a:p>
                      <a:r>
                        <a:rPr sz="1100" b="0" i="0">
                          <a:solidFill>
                            <a:srgbClr val="1A1440"/>
                          </a:solidFill>
                          <a:latin typeface="Calibri"/>
                        </a:rPr>
                        <a:t>No: about Rs 67 over 131 orders, never Rs 47</a:t>
                      </a:r>
                    </a:p>
                  </a:txBody>
                  <a:tcPr marL="101600" marR="101600" marT="38100" marB="38100" anchor="ctr">
                    <a:solidFill>
                      <a:srgbClr val="FFFFFF"/>
                    </a:solidFill>
                  </a:tcPr>
                </a:tc>
              </a:tr>
              <a:tr h="318008">
                <a:tc>
                  <a:txBody>
                    <a:bodyPr/>
                    <a:lstStyle/>
                    <a:p>
                      <a:r>
                        <a:rPr sz="1100" b="0" i="0">
                          <a:solidFill>
                            <a:srgbClr val="1A1440"/>
                          </a:solidFill>
                          <a:latin typeface="Calibri"/>
                        </a:rPr>
                        <a:t>4. What if failures become 0?</a:t>
                      </a:r>
                    </a:p>
                  </a:txBody>
                  <a:tcPr marL="101600" marR="101600" marT="38100" marB="38100" anchor="ctr">
                    <a:solidFill>
                      <a:srgbClr val="F4F2FA"/>
                    </a:solidFill>
                  </a:tcPr>
                </a:tc>
                <a:tc>
                  <a:txBody>
                    <a:bodyPr/>
                    <a:lstStyle/>
                    <a:p>
                      <a:r>
                        <a:rPr sz="1100" b="0" i="0">
                          <a:solidFill>
                            <a:srgbClr val="1A1440"/>
                          </a:solidFill>
                          <a:latin typeface="Calibri"/>
                        </a:rPr>
                        <a:t>201 of 201 convert, an order at Rs 0, Rs 1,790 short</a:t>
                      </a:r>
                    </a:p>
                  </a:txBody>
                  <a:tcPr marL="101600" marR="101600" marT="38100" marB="38100" anchor="ctr">
                    <a:solidFill>
                      <a:srgbClr val="F4F2FA"/>
                    </a:solidFill>
                  </a:tcPr>
                </a:tc>
              </a:tr>
              <a:tr h="318008">
                <a:tc>
                  <a:txBody>
                    <a:bodyPr/>
                    <a:lstStyle/>
                    <a:p>
                      <a:r>
                        <a:rPr sz="1100" b="0" i="0">
                          <a:solidFill>
                            <a:srgbClr val="1A1440"/>
                          </a:solidFill>
                          <a:latin typeface="Calibri"/>
                        </a:rPr>
                        <a:t>5. Where can a repair come from?</a:t>
                      </a:r>
                    </a:p>
                  </a:txBody>
                  <a:tcPr marL="101600" marR="101600" marT="38100" marB="38100" anchor="ctr">
                    <a:solidFill>
                      <a:srgbClr val="FFFFFF"/>
                    </a:solidFill>
                  </a:tcPr>
                </a:tc>
                <a:tc>
                  <a:txBody>
                    <a:bodyPr/>
                    <a:lstStyle/>
                    <a:p>
                      <a:r>
                        <a:rPr sz="1100" b="0" i="0">
                          <a:solidFill>
                            <a:srgbClr val="1A1440"/>
                          </a:solidFill>
                          <a:latin typeface="Calibri"/>
                        </a:rPr>
                        <a:t>Only a source that cannot share the error</a:t>
                      </a:r>
                    </a:p>
                  </a:txBody>
                  <a:tcPr marL="101600" marR="101600" marT="38100" marB="38100" anchor="ctr">
                    <a:solidFill>
                      <a:srgbClr val="FFFFFF"/>
                    </a:solidFill>
                  </a:tcPr>
                </a:tc>
              </a:tr>
              <a:tr h="318008">
                <a:tc>
                  <a:txBody>
                    <a:bodyPr/>
                    <a:lstStyle/>
                    <a:p>
                      <a:r>
                        <a:rPr sz="1100" b="0" i="0">
                          <a:solidFill>
                            <a:srgbClr val="1A1440"/>
                          </a:solidFill>
                          <a:latin typeface="Calibri"/>
                        </a:rPr>
                        <a:t>6. Do profile and logs agree?</a:t>
                      </a:r>
                    </a:p>
                  </a:txBody>
                  <a:tcPr marL="101600" marR="101600" marT="38100" marB="38100" anchor="ctr">
                    <a:solidFill>
                      <a:srgbClr val="F4F2FA"/>
                    </a:solidFill>
                  </a:tcPr>
                </a:tc>
                <a:tc>
                  <a:txBody>
                    <a:bodyPr/>
                    <a:lstStyle/>
                    <a:p>
                      <a:r>
                        <a:rPr sz="1100" b="0" i="0">
                          <a:solidFill>
                            <a:srgbClr val="1A1440"/>
                          </a:solidFill>
                          <a:latin typeface="Calibri"/>
                        </a:rPr>
                        <a:t>Yes: 1 status, 0 amounts, 55 discounts</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"Drop, default, or keep and flag: each is a claim about the business. Write the claim beside the decision, and never fill in money."</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How do you handle missing data?</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1" i="0">
                <a:solidFill>
                  <a:srgbClr val="5B3FD6"/>
                </a:solidFill>
                <a:latin typeface="Calibri"/>
              </a:rPr>
              <a:t>Drop, fill or flag?</a:t>
            </a:r>
          </a:p>
        </p:txBody>
      </p:sp>
      <p:sp>
        <p:nvSpPr>
          <p:cNvPr id="28" name="Oval 27"/>
          <p:cNvSpPr/>
          <p:nvPr/>
        </p:nvSpPr>
        <p:spPr>
          <a:xfrm>
            <a:off x="592874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0" i="0">
                <a:solidFill>
                  <a:srgbClr val="6B6690"/>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S63  ·  68 / 84</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Can we prove the 1.9?</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Can we prove to Anand, one cause at a time, that his Rs 1.9 crore is right, and does Tuesday's finding survive the clean file?</a:t>
            </a:r>
          </a:p>
        </p:txBody>
      </p:sp>
      <p:sp>
        <p:nvSpPr>
          <p:cNvPr id="10" name="Rounded Rectangle 9"/>
          <p:cNvSpPr/>
          <p:nvPr/>
        </p:nvSpPr>
        <p:spPr>
          <a:xfrm>
            <a:off x="731519" y="5074920"/>
            <a:ext cx="166851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did the ERP send?</a:t>
            </a:r>
          </a:p>
        </p:txBody>
      </p:sp>
      <p:sp>
        <p:nvSpPr>
          <p:cNvPr id="11" name="Rounded Rectangle 10"/>
          <p:cNvSpPr/>
          <p:nvPr/>
        </p:nvSpPr>
        <p:spPr>
          <a:xfrm>
            <a:off x="2509759" y="5074920"/>
            <a:ext cx="143164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rows repeat?</a:t>
            </a:r>
          </a:p>
        </p:txBody>
      </p:sp>
      <p:sp>
        <p:nvSpPr>
          <p:cNvPr id="12" name="Rounded Rectangle 11"/>
          <p:cNvSpPr/>
          <p:nvPr/>
        </p:nvSpPr>
        <p:spPr>
          <a:xfrm>
            <a:off x="4051134" y="5074920"/>
            <a:ext cx="137243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Which copy stays?</a:t>
            </a:r>
          </a:p>
        </p:txBody>
      </p:sp>
      <p:sp>
        <p:nvSpPr>
          <p:cNvPr id="13" name="Rounded Rectangle 12"/>
          <p:cNvSpPr/>
          <p:nvPr/>
        </p:nvSpPr>
        <p:spPr>
          <a:xfrm>
            <a:off x="5533294" y="5074920"/>
            <a:ext cx="149086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Drop, fill or flag?</a:t>
            </a:r>
          </a:p>
        </p:txBody>
      </p:sp>
      <p:sp>
        <p:nvSpPr>
          <p:cNvPr id="14" name="Rounded Rectangle 13"/>
          <p:cNvSpPr/>
          <p:nvPr/>
        </p:nvSpPr>
        <p:spPr>
          <a:xfrm>
            <a:off x="7133885" y="5074920"/>
            <a:ext cx="1609295"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Can we prove the 1.9?</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1 Day 3: which Q1 figure is right</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69 / 84</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Answering it for Anand and Marketing: six questions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this answer, and which questions lead to it?</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Anand wants a proof his analyst can follow, and Marketing's rescue campaign for Retail-Plus waits on whether Tuesday's finding survives. A proof Finance cannot follow costs his trust, and a finding nobody recomputes sends Marketing after a fall smaller than reported.</a:t>
            </a:r>
          </a:p>
        </p:txBody>
      </p:sp>
      <p:sp>
        <p:nvSpPr>
          <p:cNvPr id="12" name="Rectangle 11"/>
          <p:cNvSpPr/>
          <p:nvPr/>
        </p:nvSpPr>
        <p:spPr>
          <a:xfrm>
            <a:off x="1381734" y="3762756"/>
            <a:ext cx="942822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1</a:t>
            </a:r>
          </a:p>
        </p:txBody>
      </p:sp>
      <p:sp>
        <p:nvSpPr>
          <p:cNvPr id="14" name="Oval 13"/>
          <p:cNvSpPr/>
          <p:nvPr/>
        </p:nvSpPr>
        <p:spPr>
          <a:xfrm>
            <a:off x="1281150"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How could we prove it?</a:t>
            </a:r>
          </a:p>
        </p:txBody>
      </p:sp>
      <p:sp>
        <p:nvSpPr>
          <p:cNvPr id="17" name="TextBox 16"/>
          <p:cNvSpPr txBox="1"/>
          <p:nvPr/>
        </p:nvSpPr>
        <p:spPr>
          <a:xfrm>
            <a:off x="69494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Four proofs, sized</a:t>
            </a:r>
          </a:p>
        </p:txBody>
      </p:sp>
      <p:sp>
        <p:nvSpPr>
          <p:cNvPr id="18" name="TextBox 17"/>
          <p:cNvSpPr txBox="1"/>
          <p:nvPr/>
        </p:nvSpPr>
        <p:spPr>
          <a:xfrm>
            <a:off x="241599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2</a:t>
            </a:r>
          </a:p>
        </p:txBody>
      </p:sp>
      <p:sp>
        <p:nvSpPr>
          <p:cNvPr id="19" name="Oval 18"/>
          <p:cNvSpPr/>
          <p:nvPr/>
        </p:nvSpPr>
        <p:spPr>
          <a:xfrm>
            <a:off x="3166795"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41599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58058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Which moves close it?</a:t>
            </a:r>
          </a:p>
        </p:txBody>
      </p:sp>
      <p:sp>
        <p:nvSpPr>
          <p:cNvPr id="22" name="TextBox 21"/>
          <p:cNvSpPr txBox="1"/>
          <p:nvPr/>
        </p:nvSpPr>
        <p:spPr>
          <a:xfrm>
            <a:off x="2580589"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One cause per move</a:t>
            </a:r>
          </a:p>
        </p:txBody>
      </p:sp>
      <p:sp>
        <p:nvSpPr>
          <p:cNvPr id="23" name="TextBox 22"/>
          <p:cNvSpPr txBox="1"/>
          <p:nvPr/>
        </p:nvSpPr>
        <p:spPr>
          <a:xfrm>
            <a:off x="430164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3</a:t>
            </a:r>
          </a:p>
        </p:txBody>
      </p:sp>
      <p:sp>
        <p:nvSpPr>
          <p:cNvPr id="24" name="Oval 23"/>
          <p:cNvSpPr/>
          <p:nvPr/>
        </p:nvSpPr>
        <p:spPr>
          <a:xfrm>
            <a:off x="505244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430164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46623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Does Tuesday survive?</a:t>
            </a:r>
          </a:p>
        </p:txBody>
      </p:sp>
      <p:sp>
        <p:nvSpPr>
          <p:cNvPr id="27" name="TextBox 26"/>
          <p:cNvSpPr txBox="1"/>
          <p:nvPr/>
        </p:nvSpPr>
        <p:spPr>
          <a:xfrm>
            <a:off x="4466234"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The tree and the segment</a:t>
            </a:r>
          </a:p>
        </p:txBody>
      </p:sp>
      <p:sp>
        <p:nvSpPr>
          <p:cNvPr id="28" name="TextBox 27"/>
          <p:cNvSpPr txBox="1"/>
          <p:nvPr/>
        </p:nvSpPr>
        <p:spPr>
          <a:xfrm>
            <a:off x="6187287"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4</a:t>
            </a:r>
          </a:p>
        </p:txBody>
      </p:sp>
      <p:sp>
        <p:nvSpPr>
          <p:cNvPr id="29" name="Oval 28"/>
          <p:cNvSpPr/>
          <p:nvPr/>
        </p:nvSpPr>
        <p:spPr>
          <a:xfrm>
            <a:off x="6938086"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6187287"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351879"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Should the bulk order go?</a:t>
            </a:r>
          </a:p>
        </p:txBody>
      </p:sp>
      <p:sp>
        <p:nvSpPr>
          <p:cNvPr id="32" name="TextBox 31"/>
          <p:cNvSpPr txBox="1"/>
          <p:nvPr/>
        </p:nvSpPr>
        <p:spPr>
          <a:xfrm>
            <a:off x="6351879" y="4731512"/>
            <a:ext cx="1373581" cy="366776"/>
          </a:xfrm>
          <a:prstGeom prst="rect">
            <a:avLst/>
          </a:prstGeom>
          <a:noFill/>
        </p:spPr>
        <p:txBody>
          <a:bodyPr wrap="square" anchor="t" lIns="0" rIns="0" tIns="0" bIns="0">
            <a:spAutoFit/>
          </a:bodyPr>
          <a:lstStyle/>
          <a:p>
            <a:pPr algn="l"/>
            <a:r>
              <a:rPr sz="1000" b="0" i="0">
                <a:solidFill>
                  <a:srgbClr val="6B6690"/>
                </a:solidFill>
                <a:latin typeface="Calibri"/>
              </a:rPr>
              <a:t>Q2's largest, 1.66 times the next</a:t>
            </a:r>
          </a:p>
        </p:txBody>
      </p:sp>
      <p:sp>
        <p:nvSpPr>
          <p:cNvPr id="33" name="TextBox 32"/>
          <p:cNvSpPr txBox="1"/>
          <p:nvPr/>
        </p:nvSpPr>
        <p:spPr>
          <a:xfrm>
            <a:off x="8072932"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5</a:t>
            </a:r>
          </a:p>
        </p:txBody>
      </p:sp>
      <p:sp>
        <p:nvSpPr>
          <p:cNvPr id="34" name="Oval 33"/>
          <p:cNvSpPr/>
          <p:nvPr/>
        </p:nvSpPr>
        <p:spPr>
          <a:xfrm>
            <a:off x="8823731" y="36713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8072932" y="4082796"/>
            <a:ext cx="1702765"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237524" y="4229100"/>
            <a:ext cx="1373581" cy="465836"/>
          </a:xfrm>
          <a:prstGeom prst="rect">
            <a:avLst/>
          </a:prstGeom>
          <a:noFill/>
        </p:spPr>
        <p:txBody>
          <a:bodyPr wrap="square" anchor="t" lIns="0" rIns="0" tIns="0" bIns="0">
            <a:spAutoFit/>
          </a:bodyPr>
          <a:lstStyle/>
          <a:p>
            <a:pPr algn="l"/>
            <a:r>
              <a:rPr sz="1300" b="1" i="0">
                <a:solidFill>
                  <a:srgbClr val="1A0F5C"/>
                </a:solidFill>
                <a:latin typeface="Calibri"/>
              </a:rPr>
              <a:t>What does the note say?</a:t>
            </a:r>
          </a:p>
        </p:txBody>
      </p:sp>
      <p:sp>
        <p:nvSpPr>
          <p:cNvPr id="37" name="TextBox 36"/>
          <p:cNvSpPr txBox="1"/>
          <p:nvPr/>
        </p:nvSpPr>
        <p:spPr>
          <a:xfrm>
            <a:off x="8237524" y="4731512"/>
            <a:ext cx="1373581" cy="201676"/>
          </a:xfrm>
          <a:prstGeom prst="rect">
            <a:avLst/>
          </a:prstGeom>
          <a:noFill/>
        </p:spPr>
        <p:txBody>
          <a:bodyPr wrap="square" anchor="t" lIns="0" rIns="0" tIns="0" bIns="0">
            <a:spAutoFit/>
          </a:bodyPr>
          <a:lstStyle/>
          <a:p>
            <a:pPr algn="l"/>
            <a:r>
              <a:rPr sz="1000" b="0" i="0">
                <a:solidFill>
                  <a:srgbClr val="6B6690"/>
                </a:solidFill>
                <a:latin typeface="Calibri"/>
              </a:rPr>
              <a:t>Under 120 words</a:t>
            </a:r>
          </a:p>
        </p:txBody>
      </p:sp>
      <p:sp>
        <p:nvSpPr>
          <p:cNvPr id="38" name="TextBox 37"/>
          <p:cNvSpPr txBox="1"/>
          <p:nvPr/>
        </p:nvSpPr>
        <p:spPr>
          <a:xfrm>
            <a:off x="9958578" y="3195828"/>
            <a:ext cx="1702765" cy="168656"/>
          </a:xfrm>
          <a:prstGeom prst="rect">
            <a:avLst/>
          </a:prstGeom>
          <a:noFill/>
        </p:spPr>
        <p:txBody>
          <a:bodyPr wrap="square" anchor="t" lIns="0" rIns="0" tIns="0" bIns="0">
            <a:spAutoFit/>
          </a:bodyPr>
          <a:lstStyle/>
          <a:p>
            <a:pPr algn="ctr"/>
            <a:r>
              <a:rPr sz="800" b="1" i="0" spc="250">
                <a:solidFill>
                  <a:srgbClr val="5B3FD6"/>
                </a:solidFill>
                <a:latin typeface="Calibri"/>
              </a:rPr>
              <a:t>6</a:t>
            </a:r>
          </a:p>
        </p:txBody>
      </p:sp>
      <p:sp>
        <p:nvSpPr>
          <p:cNvPr id="39" name="Oval 38"/>
          <p:cNvSpPr/>
          <p:nvPr/>
        </p:nvSpPr>
        <p:spPr>
          <a:xfrm>
            <a:off x="10709376" y="36713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9958578" y="4082796"/>
            <a:ext cx="1702765" cy="107696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10123170" y="4229100"/>
            <a:ext cx="1373581" cy="465836"/>
          </a:xfrm>
          <a:prstGeom prst="rect">
            <a:avLst/>
          </a:prstGeom>
          <a:noFill/>
        </p:spPr>
        <p:txBody>
          <a:bodyPr wrap="square" anchor="t" lIns="0" rIns="0" tIns="0" bIns="0">
            <a:spAutoFit/>
          </a:bodyPr>
          <a:lstStyle/>
          <a:p>
            <a:pPr algn="l"/>
            <a:r>
              <a:rPr sz="1300" b="1" i="0">
                <a:solidFill>
                  <a:srgbClr val="FFFFFF"/>
                </a:solidFill>
                <a:latin typeface="Calibri"/>
              </a:rPr>
              <a:t>Does a bottom-up sum agree?</a:t>
            </a:r>
          </a:p>
        </p:txBody>
      </p:sp>
      <p:sp>
        <p:nvSpPr>
          <p:cNvPr id="42" name="TextBox 41"/>
          <p:cNvSpPr txBox="1"/>
          <p:nvPr/>
        </p:nvSpPr>
        <p:spPr>
          <a:xfrm>
            <a:off x="10123170" y="4731512"/>
            <a:ext cx="1373581" cy="366776"/>
          </a:xfrm>
          <a:prstGeom prst="rect">
            <a:avLst/>
          </a:prstGeom>
          <a:noFill/>
        </p:spPr>
        <p:txBody>
          <a:bodyPr wrap="square" anchor="t" lIns="0" rIns="0" tIns="0" bIns="0">
            <a:spAutoFit/>
          </a:bodyPr>
          <a:lstStyle/>
          <a:p>
            <a:pPr algn="l"/>
            <a:r>
              <a:rPr sz="1000" b="0" i="0">
                <a:solidFill>
                  <a:srgbClr val="CFC9EE"/>
                </a:solidFill>
                <a:latin typeface="Calibri"/>
              </a:rPr>
              <a:t>The kept orders, added</a:t>
            </a:r>
          </a:p>
        </p:txBody>
      </p:sp>
      <p:sp>
        <p:nvSpPr>
          <p:cNvPr id="43" name="Oval 4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45" name="Oval 4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47" name="Oval 4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49" name="Oval 4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51" name="Oval 5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53" name="TextBox 5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S64  ·  70 / 84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Anand needs proof; Marketing needs Tuesday rechecked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is waiting on this chapter, and for what?</a:t>
            </a:r>
          </a:p>
        </p:txBody>
      </p:sp>
      <p:sp>
        <p:nvSpPr>
          <p:cNvPr id="9" name="TextBox 8"/>
          <p:cNvSpPr txBox="1"/>
          <p:nvPr/>
        </p:nvSpPr>
        <p:spPr>
          <a:xfrm>
            <a:off x="53035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Rs 19,98,210</a:t>
            </a:r>
          </a:p>
        </p:txBody>
      </p:sp>
      <p:sp>
        <p:nvSpPr>
          <p:cNvPr id="10" name="TextBox 9"/>
          <p:cNvSpPr txBox="1"/>
          <p:nvPr/>
        </p:nvSpPr>
        <p:spPr>
          <a:xfrm>
            <a:off x="53035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GAP TO EXPLAIN</a:t>
            </a:r>
          </a:p>
        </p:txBody>
      </p:sp>
      <p:sp>
        <p:nvSpPr>
          <p:cNvPr id="11" name="TextBox 10"/>
          <p:cNvSpPr txBox="1"/>
          <p:nvPr/>
        </p:nvSpPr>
        <p:spPr>
          <a:xfrm>
            <a:off x="53035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the rupee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-49.0%</a:t>
            </a:r>
          </a:p>
        </p:txBody>
      </p:sp>
      <p:sp>
        <p:nvSpPr>
          <p:cNvPr id="14" name="TextBox 13"/>
          <p:cNvSpPr txBox="1"/>
          <p:nvPr/>
        </p:nvSpPr>
        <p:spPr>
          <a:xfrm>
            <a:off x="433212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RETAIL-PLUS</a:t>
            </a:r>
          </a:p>
        </p:txBody>
      </p:sp>
      <p:sp>
        <p:nvSpPr>
          <p:cNvPr id="15" name="TextBox 14"/>
          <p:cNvSpPr txBox="1"/>
          <p:nvPr/>
        </p:nvSpPr>
        <p:spPr>
          <a:xfrm>
            <a:off x="433212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orders per customer</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71500"/>
          </a:xfrm>
          <a:prstGeom prst="rect">
            <a:avLst/>
          </a:prstGeom>
          <a:noFill/>
        </p:spPr>
        <p:txBody>
          <a:bodyPr wrap="square" anchor="t" lIns="0" rIns="0" tIns="0" bIns="0">
            <a:spAutoFit/>
          </a:bodyPr>
          <a:lstStyle/>
          <a:p>
            <a:pPr algn="l"/>
            <a:r>
              <a:rPr sz="3600" b="0" i="0">
                <a:solidFill>
                  <a:srgbClr val="5B3FD6"/>
                </a:solidFill>
                <a:latin typeface="Georgia"/>
              </a:rPr>
              <a:t>-11.0%</a:t>
            </a:r>
          </a:p>
        </p:txBody>
      </p:sp>
      <p:sp>
        <p:nvSpPr>
          <p:cNvPr id="18" name="TextBox 17"/>
          <p:cNvSpPr txBox="1"/>
          <p:nvPr/>
        </p:nvSpPr>
        <p:spPr>
          <a:xfrm>
            <a:off x="8133892" y="2564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TUESDAY'S REVENUE DROP</a:t>
            </a:r>
          </a:p>
        </p:txBody>
      </p:sp>
      <p:sp>
        <p:nvSpPr>
          <p:cNvPr id="19" name="TextBox 18"/>
          <p:cNvSpPr txBox="1"/>
          <p:nvPr/>
        </p:nvSpPr>
        <p:spPr>
          <a:xfrm>
            <a:off x="8133892" y="2766060"/>
            <a:ext cx="3527450" cy="193421"/>
          </a:xfrm>
          <a:prstGeom prst="rect">
            <a:avLst/>
          </a:prstGeom>
          <a:noFill/>
        </p:spPr>
        <p:txBody>
          <a:bodyPr wrap="square" anchor="t" lIns="0" rIns="0" tIns="0" bIns="0">
            <a:spAutoFit/>
          </a:bodyPr>
          <a:lstStyle/>
          <a:p>
            <a:pPr algn="l"/>
            <a:r>
              <a:rPr sz="950" b="0" i="0">
                <a:solidFill>
                  <a:srgbClr val="6B6690"/>
                </a:solidFill>
                <a:latin typeface="Calibri"/>
              </a:rPr>
              <a:t>Q1 to Q2</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62584"/>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62254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message-square_028dbd132a0a.png"/>
          <p:cNvPicPr>
            <a:picLocks noChangeAspect="1"/>
          </p:cNvPicPr>
          <p:nvPr/>
        </p:nvPicPr>
        <p:blipFill>
          <a:blip r:embed="rId4"/>
          <a:stretch>
            <a:fillRect/>
          </a:stretch>
        </p:blipFill>
        <p:spPr>
          <a:xfrm>
            <a:off x="868680" y="373227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D9A7FF"/>
                </a:solidFill>
                <a:latin typeface="Calibri"/>
              </a:rPr>
              <a:t>THE CLIENT ASKS</a:t>
            </a:r>
          </a:p>
        </p:txBody>
      </p:sp>
      <p:sp>
        <p:nvSpPr>
          <p:cNvPr id="25" name="TextBox 24"/>
          <p:cNvSpPr txBox="1"/>
          <p:nvPr/>
        </p:nvSpPr>
        <p:spPr>
          <a:xfrm>
            <a:off x="1399031" y="3785616"/>
            <a:ext cx="9987991" cy="423672"/>
          </a:xfrm>
          <a:prstGeom prst="rect">
            <a:avLst/>
          </a:prstGeom>
          <a:noFill/>
        </p:spPr>
        <p:txBody>
          <a:bodyPr wrap="square" anchor="t" lIns="0" rIns="0" tIns="0" bIns="0">
            <a:spAutoFit/>
          </a:bodyPr>
          <a:lstStyle/>
          <a:p>
            <a:r>
              <a:rPr sz="1500" b="0" i="0">
                <a:solidFill>
                  <a:srgbClr val="FFFFFF"/>
                </a:solidFill>
                <a:latin typeface="Calibri"/>
              </a:rPr>
              <a:t>"Which figure is right, and does the Retail-Plus fall still stand?"</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S65  ·  71 / 84</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Tesco's gap grew from GBP 250m to GBP 263m</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Has a retailer had to explain its own figure, cause by cause?</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250m</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ESTIMATE</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22 September 2014</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263m</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AFTER INVESTIGATION</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23 October 2014</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GBP 118m</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FIRST HALF ALONE</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rest in earlier years</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758952" y="388162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ug_39ada6eff46d.png"/>
          <p:cNvPicPr>
            <a:picLocks noChangeAspect="1"/>
          </p:cNvPicPr>
          <p:nvPr/>
        </p:nvPicPr>
        <p:blipFill>
          <a:blip r:embed="rId4"/>
          <a:stretch>
            <a:fillRect/>
          </a:stretch>
        </p:blipFill>
        <p:spPr>
          <a:xfrm>
            <a:off x="868680" y="3991356"/>
            <a:ext cx="237744" cy="237744"/>
          </a:xfrm>
          <a:prstGeom prst="rect">
            <a:avLst/>
          </a:prstGeom>
        </p:spPr>
      </p:pic>
      <p:sp>
        <p:nvSpPr>
          <p:cNvPr id="24" name="TextBox 23"/>
          <p:cNvSpPr txBox="1"/>
          <p:nvPr/>
        </p:nvSpPr>
        <p:spPr>
          <a:xfrm>
            <a:off x="1399031" y="356616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WHAT BREAKS</a:t>
            </a:r>
          </a:p>
        </p:txBody>
      </p:sp>
      <p:sp>
        <p:nvSpPr>
          <p:cNvPr id="25" name="TextBox 24"/>
          <p:cNvSpPr txBox="1"/>
          <p:nvPr/>
        </p:nvSpPr>
        <p:spPr>
          <a:xfrm>
            <a:off x="1399031" y="3785616"/>
            <a:ext cx="9987991" cy="941832"/>
          </a:xfrm>
          <a:prstGeom prst="rect">
            <a:avLst/>
          </a:prstGeom>
          <a:noFill/>
        </p:spPr>
        <p:txBody>
          <a:bodyPr wrap="square" anchor="t" lIns="0" rIns="0" tIns="0" bIns="0">
            <a:spAutoFit/>
          </a:bodyPr>
          <a:lstStyle/>
          <a:p>
            <a:r>
              <a:rPr sz="1500" b="0" i="0">
                <a:solidFill>
                  <a:srgbClr val="1A1440"/>
                </a:solidFill>
                <a:latin typeface="Calibri"/>
              </a:rPr>
              <a:t>Supplier income, the money suppliers pay the retailer, was booked before the activity it paid for took place, and the reported figure was wrong. The fix was a bridge: how much, from which period, for what cause.</a:t>
            </a:r>
          </a:p>
        </p:txBody>
      </p:sp>
      <p:sp>
        <p:nvSpPr>
          <p:cNvPr id="26" name="Oval 2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8" name="Oval 27"/>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30" name="Oval 29"/>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2" name="Oval 31"/>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4" name="Oval 33"/>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6" name="TextBox 3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S66  ·  72 / 84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bridge by cause closes to the rupee and says why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could we prove which figure is right, and what does each proof cost?</a:t>
            </a:r>
          </a:p>
        </p:txBody>
      </p:sp>
      <p:graphicFrame>
        <p:nvGraphicFramePr>
          <p:cNvPr id="9" name="Table 8"/>
          <p:cNvGraphicFramePr>
            <a:graphicFrameLocks noGrp="1"/>
          </p:cNvGraphicFramePr>
          <p:nvPr/>
        </p:nvGraphicFramePr>
        <p:xfrm>
          <a:off x="530352" y="1956816"/>
          <a:ext cx="11130990" cy="1676400"/>
        </p:xfrm>
        <a:graphic>
          <a:graphicData uri="http://schemas.openxmlformats.org/drawingml/2006/table">
            <a:tbl>
              <a:tblPr firstRow="0" bandRow="0">
                <a:tableStyleId>{2D5ABB26-0587-4C30-8999-92F81FD0307C}</a:tableStyleId>
              </a:tblPr>
              <a:tblGrid>
                <a:gridCol w="4111216"/>
                <a:gridCol w="2388217"/>
                <a:gridCol w="3112601"/>
                <a:gridCol w="1518956"/>
              </a:tblGrid>
              <a:tr h="335280">
                <a:tc>
                  <a:txBody>
                    <a:bodyPr/>
                    <a:lstStyle/>
                    <a:p>
                      <a:r>
                        <a:rPr sz="1250" b="1" i="0">
                          <a:solidFill>
                            <a:srgbClr val="FFFFFF"/>
                          </a:solidFill>
                          <a:latin typeface="Calibri"/>
                        </a:rPr>
                        <a:t>Option</a:t>
                      </a:r>
                    </a:p>
                  </a:txBody>
                  <a:tcPr marL="101600" marR="101600" marT="38100" marB="38100" anchor="ctr">
                    <a:solidFill>
                      <a:srgbClr val="1A0F5C"/>
                    </a:solidFill>
                  </a:tcPr>
                </a:tc>
                <a:tc>
                  <a:txBody>
                    <a:bodyPr/>
                    <a:lstStyle/>
                    <a:p>
                      <a:r>
                        <a:rPr sz="1250" b="1" i="0">
                          <a:solidFill>
                            <a:srgbClr val="FFFFFF"/>
                          </a:solidFill>
                          <a:latin typeface="Calibri"/>
                        </a:rPr>
                        <a:t>Rows behind it</a:t>
                      </a:r>
                    </a:p>
                  </a:txBody>
                  <a:tcPr marL="101600" marR="101600" marT="38100" marB="38100" anchor="ctr">
                    <a:solidFill>
                      <a:srgbClr val="1A0F5C"/>
                    </a:solidFill>
                  </a:tcPr>
                </a:tc>
                <a:tc>
                  <a:txBody>
                    <a:bodyPr/>
                    <a:lstStyle/>
                    <a:p>
                      <a:r>
                        <a:rPr sz="1250" b="1" i="0">
                          <a:solidFill>
                            <a:srgbClr val="FFFFFF"/>
                          </a:solidFill>
                          <a:latin typeface="Calibri"/>
                        </a:rPr>
                        <a:t>Closes to the books</a:t>
                      </a:r>
                    </a:p>
                  </a:txBody>
                  <a:tcPr marL="101600" marR="101600" marT="38100" marB="38100" anchor="ctr">
                    <a:solidFill>
                      <a:srgbClr val="1A0F5C"/>
                    </a:solidFill>
                  </a:tcPr>
                </a:tc>
                <a:tc>
                  <a:txBody>
                    <a:bodyPr/>
                    <a:lstStyle/>
                    <a:p>
                      <a:r>
                        <a:rPr sz="1250" b="1" i="0">
                          <a:solidFill>
                            <a:srgbClr val="FFFFFF"/>
                          </a:solidFill>
                          <a:latin typeface="Calibri"/>
                        </a:rPr>
                        <a:t>Says why</a:t>
                      </a:r>
                    </a:p>
                  </a:txBody>
                  <a:tcPr marL="101600" marR="101600" marT="38100" marB="38100" anchor="ctr">
                    <a:solidFill>
                      <a:srgbClr val="1A0F5C"/>
                    </a:solidFill>
                  </a:tcPr>
                </a:tc>
              </a:tr>
              <a:tr h="335280">
                <a:tc>
                  <a:txBody>
                    <a:bodyPr/>
                    <a:lstStyle/>
                    <a:p>
                      <a:r>
                        <a:rPr sz="1200" b="0" i="0">
                          <a:solidFill>
                            <a:srgbClr val="1A1440"/>
                          </a:solidFill>
                          <a:latin typeface="Calibri"/>
                        </a:rPr>
                        <a:t>a) Take the books' figure</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c>
                  <a:txBody>
                    <a:bodyPr/>
                    <a:lstStyle/>
                    <a:p>
                      <a:r>
                        <a:rPr sz="1200" b="0" i="0">
                          <a:solidFill>
                            <a:srgbClr val="1A1440"/>
                          </a:solidFill>
                          <a:latin typeface="Calibri"/>
                        </a:rPr>
                        <a:t>no</a:t>
                      </a:r>
                    </a:p>
                  </a:txBody>
                  <a:tcPr marL="101600" marR="101600" marT="38100" marB="38100" anchor="ctr">
                    <a:solidFill>
                      <a:srgbClr val="FFFFFF"/>
                    </a:solidFill>
                  </a:tcPr>
                </a:tc>
              </a:tr>
              <a:tr h="335280">
                <a:tc>
                  <a:txBody>
                    <a:bodyPr/>
                    <a:lstStyle/>
                    <a:p>
                      <a:r>
                        <a:rPr sz="1200" b="0" i="0">
                          <a:solidFill>
                            <a:srgbClr val="1A1440"/>
                          </a:solidFill>
                          <a:latin typeface="Calibri"/>
                        </a:rPr>
                        <a:t>b) Difference of the totals</a:t>
                      </a:r>
                    </a:p>
                  </a:txBody>
                  <a:tcPr marL="101600" marR="101600" marT="38100" marB="38100" anchor="ctr">
                    <a:solidFill>
                      <a:srgbClr val="F4F2FA"/>
                    </a:solidFill>
                  </a:tcPr>
                </a:tc>
                <a:tc>
                  <a:txBody>
                    <a:bodyPr/>
                    <a:lstStyle/>
                    <a:p>
                      <a:r>
                        <a:rPr sz="1200" b="0" i="0">
                          <a:solidFill>
                            <a:srgbClr val="1A1440"/>
                          </a:solidFill>
                          <a:latin typeface="Calibri"/>
                        </a:rPr>
                        <a:t>2 totals</a:t>
                      </a:r>
                    </a:p>
                  </a:txBody>
                  <a:tcPr marL="101600" marR="101600" marT="38100" marB="38100" anchor="ctr">
                    <a:solidFill>
                      <a:srgbClr val="F4F2FA"/>
                    </a:solidFill>
                  </a:tcPr>
                </a:tc>
                <a:tc>
                  <a:txBody>
                    <a:bodyPr/>
                    <a:lstStyle/>
                    <a:p>
                      <a:r>
                        <a:rPr sz="1200" b="0" i="0">
                          <a:solidFill>
                            <a:srgbClr val="1A1440"/>
                          </a:solidFill>
                          <a:latin typeface="Calibri"/>
                        </a:rPr>
                        <a:t>as a total</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r h="335280">
                <a:tc>
                  <a:txBody>
                    <a:bodyPr/>
                    <a:lstStyle/>
                    <a:p>
                      <a:r>
                        <a:rPr sz="1200" b="0" i="0">
                          <a:solidFill>
                            <a:srgbClr val="1A1440"/>
                          </a:solidFill>
                          <a:latin typeface="Calibri"/>
                        </a:rPr>
                        <a:t>c) A bridge by cause</a:t>
                      </a:r>
                    </a:p>
                  </a:txBody>
                  <a:tcPr marL="101600" marR="101600" marT="38100" marB="38100" anchor="ctr">
                    <a:solidFill>
                      <a:srgbClr val="FFFFFF"/>
                    </a:solidFill>
                  </a:tcPr>
                </a:tc>
                <a:tc>
                  <a:txBody>
                    <a:bodyPr/>
                    <a:lstStyle/>
                    <a:p>
                      <a:r>
                        <a:rPr sz="1200" b="0" i="0">
                          <a:solidFill>
                            <a:srgbClr val="1A1440"/>
                          </a:solidFill>
                          <a:latin typeface="Calibri"/>
                        </a:rPr>
                        <a:t>15 logged rows</a:t>
                      </a:r>
                    </a:p>
                  </a:txBody>
                  <a:tcPr marL="101600" marR="101600" marT="38100" marB="38100" anchor="ctr">
                    <a:solidFill>
                      <a:srgbClr val="FFFFFF"/>
                    </a:solidFill>
                  </a:tcPr>
                </a:tc>
                <a:tc>
                  <a:txBody>
                    <a:bodyPr/>
                    <a:lstStyle/>
                    <a:p>
                      <a:r>
                        <a:rPr sz="1200" b="0" i="0">
                          <a:solidFill>
                            <a:srgbClr val="1A1440"/>
                          </a:solidFill>
                          <a:latin typeface="Calibri"/>
                        </a:rPr>
                        <a:t>to the rupee</a:t>
                      </a:r>
                    </a:p>
                  </a:txBody>
                  <a:tcPr marL="101600" marR="101600" marT="38100" marB="38100" anchor="ctr">
                    <a:solidFill>
                      <a:srgbClr val="FFFFFF"/>
                    </a:solidFill>
                  </a:tcPr>
                </a:tc>
                <a:tc>
                  <a:txBody>
                    <a:bodyPr/>
                    <a:lstStyle/>
                    <a:p>
                      <a:r>
                        <a:rPr sz="1200" b="0" i="0">
                          <a:solidFill>
                            <a:srgbClr val="1A1440"/>
                          </a:solidFill>
                          <a:latin typeface="Calibri"/>
                        </a:rPr>
                        <a:t>yes</a:t>
                      </a:r>
                    </a:p>
                  </a:txBody>
                  <a:tcPr marL="101600" marR="101600" marT="38100" marB="38100" anchor="ctr">
                    <a:solidFill>
                      <a:srgbClr val="FFFFFF"/>
                    </a:solidFill>
                  </a:tcPr>
                </a:tc>
              </a:tr>
              <a:tr h="335280">
                <a:tc>
                  <a:txBody>
                    <a:bodyPr/>
                    <a:lstStyle/>
                    <a:p>
                      <a:r>
                        <a:rPr sz="1200" b="0" i="0">
                          <a:solidFill>
                            <a:srgbClr val="1A1440"/>
                          </a:solidFill>
                          <a:latin typeface="Calibri"/>
                        </a:rPr>
                        <a:t>d) Rebuild from the JSON feed</a:t>
                      </a:r>
                    </a:p>
                  </a:txBody>
                  <a:tcPr marL="101600" marR="101600" marT="38100" marB="38100" anchor="ctr">
                    <a:solidFill>
                      <a:srgbClr val="F4F2FA"/>
                    </a:solidFill>
                  </a:tcPr>
                </a:tc>
                <a:tc>
                  <a:txBody>
                    <a:bodyPr/>
                    <a:lstStyle/>
                    <a:p>
                      <a:r>
                        <a:rPr sz="1200" b="0" i="0">
                          <a:solidFill>
                            <a:srgbClr val="1A1440"/>
                          </a:solidFill>
                          <a:latin typeface="Calibri"/>
                        </a:rPr>
                        <a:t>119 records</a:t>
                      </a:r>
                    </a:p>
                  </a:txBody>
                  <a:tcPr marL="101600" marR="101600" marT="38100" marB="38100" anchor="ctr">
                    <a:solidFill>
                      <a:srgbClr val="F4F2FA"/>
                    </a:solidFill>
                  </a:tcPr>
                </a:tc>
                <a:tc>
                  <a:txBody>
                    <a:bodyPr/>
                    <a:lstStyle/>
                    <a:p>
                      <a:r>
                        <a:rPr sz="1200" b="0" i="0">
                          <a:solidFill>
                            <a:srgbClr val="1A1440"/>
                          </a:solidFill>
                          <a:latin typeface="Calibri"/>
                        </a:rPr>
                        <a:t>-Rs 1,790</a:t>
                      </a:r>
                    </a:p>
                  </a:txBody>
                  <a:tcPr marL="101600" marR="101600" marT="38100" marB="38100" anchor="ctr">
                    <a:solidFill>
                      <a:srgbClr val="F4F2FA"/>
                    </a:solidFill>
                  </a:tcPr>
                </a:tc>
                <a:tc>
                  <a:txBody>
                    <a:bodyPr/>
                    <a:lstStyle/>
                    <a:p>
                      <a:r>
                        <a:rPr sz="1200" b="0" i="0">
                          <a:solidFill>
                            <a:srgbClr val="1A1440"/>
                          </a:solidFill>
                          <a:latin typeface="Calibri"/>
                        </a:rPr>
                        <a:t>no</a:t>
                      </a:r>
                    </a:p>
                  </a:txBody>
                  <a:tcPr marL="101600" marR="101600" marT="38100" marB="38100" anchor="ctr">
                    <a:solidFill>
                      <a:srgbClr val="F4F2FA"/>
                    </a:solidFill>
                  </a:tcPr>
                </a:tc>
              </a:tr>
            </a:tbl>
          </a:graphicData>
        </a:graphic>
      </p:graphicFrame>
      <p:sp>
        <p:nvSpPr>
          <p:cNvPr id="10" name="Rounded Rectangle 9"/>
          <p:cNvSpPr/>
          <p:nvPr/>
        </p:nvSpPr>
        <p:spPr>
          <a:xfrm>
            <a:off x="530352" y="388924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1726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08119"/>
            <a:ext cx="10564063" cy="624840"/>
          </a:xfrm>
          <a:prstGeom prst="rect">
            <a:avLst/>
          </a:prstGeom>
          <a:noFill/>
        </p:spPr>
        <p:txBody>
          <a:bodyPr wrap="square" anchor="ctr" lIns="0" rIns="0" tIns="0" bIns="0">
            <a:spAutoFit/>
          </a:bodyPr>
          <a:lstStyle/>
          <a:p>
            <a:r>
              <a:rPr sz="1500" b="1">
                <a:solidFill>
                  <a:srgbClr val="5B3FD6"/>
                </a:solidFill>
                <a:latin typeface="Calibri"/>
              </a:rPr>
              <a:t>The call. </a:t>
            </a:r>
            <a:r>
              <a:rPr sz="1500" b="0" i="0">
                <a:solidFill>
                  <a:srgbClr val="1A1440"/>
                </a:solidFill>
                <a:latin typeface="Calibri"/>
              </a:rPr>
              <a:t>c. What would switch it: a second source independent of the export and complete for the quarter; a rebuild from it proves the figure, and the bridge checks it.</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S67  ·  73 / 84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how many moves does the bridge need?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q1_aside = [e for e in set_aside if e["quarter"] == "Q1"]</a:t>
            </a:r>
          </a:p>
          <a:p>
            <a:pPr>
              <a:spcAft>
                <a:spcPts val="200"/>
              </a:spcAft>
            </a:pPr>
            <a:r>
              <a:rPr sz="1400" b="0" i="0">
                <a:solidFill>
                  <a:srgbClr val="E4E1F1"/>
                </a:solidFill>
                <a:latin typeface="Consolas"/>
              </a:rPr>
              <a:t>rupees = lambda e: convert(e["amount"])[0] or 0      # 0 where unreadable</a:t>
            </a:r>
          </a:p>
        </p:txBody>
      </p:sp>
      <p:sp>
        <p:nvSpPr>
          <p:cNvPr id="14" name="Rounded Rectangle 13"/>
          <p:cNvSpPr/>
          <p:nvPr/>
        </p:nvSpPr>
        <p:spPr>
          <a:xfrm>
            <a:off x="530352" y="308356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676656" y="321157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77824" y="3202432"/>
            <a:ext cx="10564063" cy="8915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How many moves land the bridge on the books, as a letter? a) one, every copy in a single move; b) two, corporate copies and consumer copies; c) three, adding the unreadable amount; d) none, since 2.1 rounds close enough.</a:t>
            </a:r>
          </a:p>
        </p:txBody>
      </p:sp>
      <p:sp>
        <p:nvSpPr>
          <p:cNvPr id="17" name="Oval 1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9" name="Oval 18"/>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1" name="Oval 20"/>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3" name="Oval 22"/>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5" name="Oval 24"/>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S68  ·  74 / 84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two moves walk Rs 2.1 crore to the books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moves walk Rs 2.1 crore down to the books?</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corporate = -sum(rupees(e) for e in q1_aside if e["segment"] == "Business")   # -19,67,560</a:t>
            </a:r>
          </a:p>
          <a:p>
            <a:pPr>
              <a:spcAft>
                <a:spcPts val="200"/>
              </a:spcAft>
            </a:pPr>
            <a:r>
              <a:rPr sz="1400" b="0" i="0">
                <a:solidFill>
                  <a:srgbClr val="E4E1F1"/>
                </a:solidFill>
                <a:latin typeface="Consolas"/>
              </a:rPr>
              <a:t>consumer = -sum(rupees(e) for e in q1_aside if e["segment"] != "Business")    # -30,650</a:t>
            </a:r>
          </a:p>
        </p:txBody>
      </p:sp>
      <p:pic>
        <p:nvPicPr>
          <p:cNvPr id="14" name="mermaid diagram" descr="50e2125378948408.png"/>
          <p:cNvPicPr>
            <a:picLocks noChangeAspect="1"/>
          </p:cNvPicPr>
          <p:nvPr/>
        </p:nvPicPr>
        <p:blipFill>
          <a:blip r:embed="rId5"/>
          <a:stretch>
            <a:fillRect/>
          </a:stretch>
        </p:blipFill>
        <p:spPr>
          <a:xfrm>
            <a:off x="780897" y="3083560"/>
            <a:ext cx="10629900" cy="1600200"/>
          </a:xfrm>
          <a:prstGeom prst="rect">
            <a:avLst/>
          </a:prstGeom>
        </p:spPr>
      </p:pic>
      <p:sp>
        <p:nvSpPr>
          <p:cNvPr id="15" name="Rounded Rectangle 14"/>
          <p:cNvSpPr/>
          <p:nvPr/>
        </p:nvSpPr>
        <p:spPr>
          <a:xfrm>
            <a:off x="530352" y="4830064"/>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unded Rectangle 15"/>
          <p:cNvSpPr/>
          <p:nvPr/>
        </p:nvSpPr>
        <p:spPr>
          <a:xfrm>
            <a:off x="676656" y="4958080"/>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77824" y="4948936"/>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unreadable amount needs no move: it was never in the exported total, and its twin stayed.</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0" name="Oval 19"/>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2" name="Oval 21"/>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4" name="Oval 23"/>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6" name="Oval 25"/>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S69  ·  75 / 84</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Tuesday's tree put the fall in orders per customer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did Tuesday read the Q1 to Q2 change?</a:t>
            </a:r>
          </a:p>
        </p:txBody>
      </p:sp>
      <p:pic>
        <p:nvPicPr>
          <p:cNvPr id="9" name="mermaid diagram" descr="ceb85458682f9af1.png"/>
          <p:cNvPicPr>
            <a:picLocks noChangeAspect="1"/>
          </p:cNvPicPr>
          <p:nvPr/>
        </p:nvPicPr>
        <p:blipFill>
          <a:blip r:embed="rId6"/>
          <a:stretch>
            <a:fillRect/>
          </a:stretch>
        </p:blipFill>
        <p:spPr>
          <a:xfrm>
            <a:off x="2562606" y="1664208"/>
            <a:ext cx="7066483" cy="2944368"/>
          </a:xfrm>
          <a:prstGeom prst="rect">
            <a:avLst/>
          </a:prstGeom>
        </p:spPr>
      </p:pic>
      <p:sp>
        <p:nvSpPr>
          <p:cNvPr id="10" name="Rounded Rectangle 9"/>
          <p:cNvSpPr/>
          <p:nvPr/>
        </p:nvSpPr>
        <p:spPr>
          <a:xfrm>
            <a:off x="530352" y="4654296"/>
            <a:ext cx="11130991" cy="1380744"/>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5116068"/>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list-checks_bd88901d2a37.png"/>
          <p:cNvPicPr>
            <a:picLocks noChangeAspect="1"/>
          </p:cNvPicPr>
          <p:nvPr/>
        </p:nvPicPr>
        <p:blipFill>
          <a:blip r:embed="rId5"/>
          <a:stretch>
            <a:fillRect/>
          </a:stretch>
        </p:blipFill>
        <p:spPr>
          <a:xfrm>
            <a:off x="868680" y="5225796"/>
            <a:ext cx="237744" cy="237744"/>
          </a:xfrm>
          <a:prstGeom prst="rect">
            <a:avLst/>
          </a:prstGeom>
        </p:spPr>
      </p:pic>
      <p:sp>
        <p:nvSpPr>
          <p:cNvPr id="13" name="TextBox 12"/>
          <p:cNvSpPr txBox="1"/>
          <p:nvPr/>
        </p:nvSpPr>
        <p:spPr>
          <a:xfrm>
            <a:off x="1399031" y="4800600"/>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THE RULE</a:t>
            </a:r>
          </a:p>
        </p:txBody>
      </p:sp>
      <p:sp>
        <p:nvSpPr>
          <p:cNvPr id="14" name="TextBox 13"/>
          <p:cNvSpPr txBox="1"/>
          <p:nvPr/>
        </p:nvSpPr>
        <p:spPr>
          <a:xfrm>
            <a:off x="1399031" y="5020056"/>
            <a:ext cx="9987991" cy="941832"/>
          </a:xfrm>
          <a:prstGeom prst="rect">
            <a:avLst/>
          </a:prstGeom>
          <a:noFill/>
        </p:spPr>
        <p:txBody>
          <a:bodyPr wrap="square" anchor="t" lIns="0" rIns="0" tIns="0" bIns="0">
            <a:spAutoFit/>
          </a:bodyPr>
          <a:lstStyle/>
          <a:p>
            <a:r>
              <a:rPr sz="1500" b="0" i="0">
                <a:solidFill>
                  <a:srgbClr val="1A1440"/>
                </a:solidFill>
                <a:latin typeface="Calibri"/>
              </a:rPr>
              <a:t>Revenue is customers times orders per customer times revenue per order, so each branch is read as Q2's multiple of Q1, and the three multiply back to revenue's: 1.000 x 0.754 x 1.180 = 0.890. Tuesday read these on the export as delivered.</a:t>
            </a:r>
          </a:p>
        </p:txBody>
      </p:sp>
      <p:sp>
        <p:nvSpPr>
          <p:cNvPr id="15" name="Oval 1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7" name="Oval 1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9" name="Oval 1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1" name="Oval 2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3" name="Oval 2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5" name="TextBox 2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S70  ·  76 / 84</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Question: does Tuesday's finding survive?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pic>
        <p:nvPicPr>
          <p:cNvPr id="9" name="mermaid diagram" descr="ab61590a03f1090b.png"/>
          <p:cNvPicPr>
            <a:picLocks noChangeAspect="1"/>
          </p:cNvPicPr>
          <p:nvPr/>
        </p:nvPicPr>
        <p:blipFill>
          <a:blip r:embed="rId5"/>
          <a:stretch>
            <a:fillRect/>
          </a:stretch>
        </p:blipFill>
        <p:spPr>
          <a:xfrm>
            <a:off x="3424085" y="1956816"/>
            <a:ext cx="5343525" cy="2586037"/>
          </a:xfrm>
          <a:prstGeom prst="rect">
            <a:avLst/>
          </a:prstGeom>
        </p:spPr>
      </p:pic>
      <p:sp>
        <p:nvSpPr>
          <p:cNvPr id="10" name="Rounded Rectangle 9"/>
          <p:cNvSpPr/>
          <p:nvPr/>
        </p:nvSpPr>
        <p:spPr>
          <a:xfrm>
            <a:off x="530352" y="4689157"/>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817173"/>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808029"/>
            <a:ext cx="10564063" cy="624840"/>
          </a:xfrm>
          <a:prstGeom prst="rect">
            <a:avLst/>
          </a:prstGeom>
          <a:noFill/>
        </p:spPr>
        <p:txBody>
          <a:bodyPr wrap="square" anchor="ctr" lIns="0" rIns="0" tIns="0" bIns="0">
            <a:spAutoFit/>
          </a:bodyPr>
          <a:lstStyle/>
          <a:p>
            <a:r>
              <a:rPr sz="1500" b="1">
                <a:solidFill>
                  <a:srgbClr val="5B3FD6"/>
                </a:solidFill>
                <a:latin typeface="Calibri"/>
              </a:rPr>
              <a:t>Question. </a:t>
            </a:r>
            <a:r>
              <a:rPr sz="1500" b="0" i="0">
                <a:solidFill>
                  <a:srgbClr val="1A1440"/>
                </a:solidFill>
                <a:latin typeface="Calibri"/>
              </a:rPr>
              <a:t>On clean data, the Retail-Plus fall in orders per customer, as a letter? a) disappears; b) survives, smaller; c) grows; d) moves to Retail-Core.</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S71  ·  77 / 84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it survives, smaller, at -35.0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Tuesday's finding survive the clean file?</a:t>
            </a:r>
          </a:p>
        </p:txBody>
      </p:sp>
      <p:graphicFrame>
        <p:nvGraphicFramePr>
          <p:cNvPr id="9" name="Table 8"/>
          <p:cNvGraphicFramePr>
            <a:graphicFrameLocks noGrp="1"/>
          </p:cNvGraphicFramePr>
          <p:nvPr/>
        </p:nvGraphicFramePr>
        <p:xfrm>
          <a:off x="530352" y="1956816"/>
          <a:ext cx="11130990" cy="2218944"/>
        </p:xfrm>
        <a:graphic>
          <a:graphicData uri="http://schemas.openxmlformats.org/drawingml/2006/table">
            <a:tbl>
              <a:tblPr firstRow="0" bandRow="0">
                <a:tableStyleId>{2D5ABB26-0587-4C30-8999-92F81FD0307C}</a:tableStyleId>
              </a:tblPr>
              <a:tblGrid>
                <a:gridCol w="3491409"/>
                <a:gridCol w="2474893"/>
                <a:gridCol w="5164688"/>
              </a:tblGrid>
              <a:tr h="369824">
                <a:tc>
                  <a:txBody>
                    <a:bodyPr/>
                    <a:lstStyle/>
                    <a:p>
                      <a:r>
                        <a:rPr sz="1450" b="1" i="0">
                          <a:solidFill>
                            <a:srgbClr val="FFFFFF"/>
                          </a:solidFill>
                          <a:latin typeface="Calibri"/>
                        </a:rPr>
                        <a:t>Q2 against Q1</a:t>
                      </a:r>
                    </a:p>
                  </a:txBody>
                  <a:tcPr marL="101600" marR="101600" marT="38100" marB="38100" anchor="ctr">
                    <a:solidFill>
                      <a:srgbClr val="1A0F5C"/>
                    </a:solidFill>
                  </a:tcPr>
                </a:tc>
                <a:tc>
                  <a:txBody>
                    <a:bodyPr/>
                    <a:lstStyle/>
                    <a:p>
                      <a:r>
                        <a:rPr sz="1450" b="1" i="0">
                          <a:solidFill>
                            <a:srgbClr val="FFFFFF"/>
                          </a:solidFill>
                          <a:latin typeface="Calibri"/>
                        </a:rPr>
                        <a:t>As Tuesday reported</a:t>
                      </a:r>
                    </a:p>
                  </a:txBody>
                  <a:tcPr marL="101600" marR="101600" marT="38100" marB="38100" anchor="ctr">
                    <a:solidFill>
                      <a:srgbClr val="1A0F5C"/>
                    </a:solidFill>
                  </a:tcPr>
                </a:tc>
                <a:tc>
                  <a:txBody>
                    <a:bodyPr/>
                    <a:lstStyle/>
                    <a:p>
                      <a:r>
                        <a:rPr sz="1450" b="1" i="0">
                          <a:solidFill>
                            <a:srgbClr val="FFFFFF"/>
                          </a:solidFill>
                          <a:latin typeface="Calibri"/>
                        </a:rPr>
                        <a:t>On clean data</a:t>
                      </a:r>
                    </a:p>
                  </a:txBody>
                  <a:tcPr marL="101600" marR="101600" marT="38100" marB="38100" anchor="ctr">
                    <a:solidFill>
                      <a:srgbClr val="1A0F5C"/>
                    </a:solidFill>
                  </a:tcPr>
                </a:tc>
              </a:tr>
              <a:tr h="369824">
                <a:tc>
                  <a:txBody>
                    <a:bodyPr/>
                    <a:lstStyle/>
                    <a:p>
                      <a:r>
                        <a:rPr sz="1400" b="0" i="0">
                          <a:solidFill>
                            <a:srgbClr val="1A1440"/>
                          </a:solidFill>
                          <a:latin typeface="Calibri"/>
                        </a:rPr>
                        <a:t>Customers</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c>
                  <a:txBody>
                    <a:bodyPr/>
                    <a:lstStyle/>
                    <a:p>
                      <a:r>
                        <a:rPr sz="1400" b="0" i="0">
                          <a:solidFill>
                            <a:srgbClr val="1A1440"/>
                          </a:solidFill>
                          <a:latin typeface="Calibri"/>
                        </a:rPr>
                        <a:t>69 to 69, x1.000</a:t>
                      </a:r>
                    </a:p>
                  </a:txBody>
                  <a:tcPr marL="101600" marR="101600" marT="38100" marB="38100" anchor="ctr">
                    <a:solidFill>
                      <a:srgbClr val="FFFFFF"/>
                    </a:solidFill>
                  </a:tcPr>
                </a:tc>
              </a:tr>
              <a:tr h="369824">
                <a:tc>
                  <a:txBody>
                    <a:bodyPr/>
                    <a:lstStyle/>
                    <a:p>
                      <a:r>
                        <a:rPr sz="1400" b="0" i="0">
                          <a:solidFill>
                            <a:srgbClr val="1A1440"/>
                          </a:solidFill>
                          <a:latin typeface="Calibri"/>
                        </a:rPr>
                        <a:t>Orders per customer</a:t>
                      </a:r>
                    </a:p>
                  </a:txBody>
                  <a:tcPr marL="101600" marR="101600" marT="38100" marB="38100" anchor="ctr">
                    <a:solidFill>
                      <a:srgbClr val="F4F2FA"/>
                    </a:solidFill>
                  </a:tcPr>
                </a:tc>
                <a:tc>
                  <a:txBody>
                    <a:bodyPr/>
                    <a:lstStyle/>
                    <a:p>
                      <a:r>
                        <a:rPr sz="1400" b="0" i="0">
                          <a:solidFill>
                            <a:srgbClr val="1A1440"/>
                          </a:solidFill>
                          <a:latin typeface="Calibri"/>
                        </a:rPr>
                        <a:t>1.65 to 1.25, x0.754</a:t>
                      </a:r>
                    </a:p>
                  </a:txBody>
                  <a:tcPr marL="101600" marR="101600" marT="38100" marB="38100" anchor="ctr">
                    <a:solidFill>
                      <a:srgbClr val="F4F2FA"/>
                    </a:solidFill>
                  </a:tcPr>
                </a:tc>
                <a:tc>
                  <a:txBody>
                    <a:bodyPr/>
                    <a:lstStyle/>
                    <a:p>
                      <a:r>
                        <a:rPr sz="1400" b="0" i="0">
                          <a:solidFill>
                            <a:srgbClr val="1A1440"/>
                          </a:solidFill>
                          <a:latin typeface="Calibri"/>
                        </a:rPr>
                        <a:t>1.449 to 1.246, x0.860</a:t>
                      </a:r>
                    </a:p>
                  </a:txBody>
                  <a:tcPr marL="101600" marR="101600" marT="38100" marB="38100" anchor="ctr">
                    <a:solidFill>
                      <a:srgbClr val="F4F2FA"/>
                    </a:solidFill>
                  </a:tcPr>
                </a:tc>
              </a:tr>
              <a:tr h="369824">
                <a:tc>
                  <a:txBody>
                    <a:bodyPr/>
                    <a:lstStyle/>
                    <a:p>
                      <a:r>
                        <a:rPr sz="1400" b="0" i="0">
                          <a:solidFill>
                            <a:srgbClr val="1A1440"/>
                          </a:solidFill>
                          <a:latin typeface="Calibri"/>
                        </a:rPr>
                        <a:t>Revenue per order</a:t>
                      </a:r>
                    </a:p>
                  </a:txBody>
                  <a:tcPr marL="101600" marR="101600" marT="38100" marB="38100" anchor="ctr">
                    <a:solidFill>
                      <a:srgbClr val="FFFFFF"/>
                    </a:solidFill>
                  </a:tcPr>
                </a:tc>
                <a:tc>
                  <a:txBody>
                    <a:bodyPr/>
                    <a:lstStyle/>
                    <a:p>
                      <a:r>
                        <a:rPr sz="1400" b="0" i="0">
                          <a:solidFill>
                            <a:srgbClr val="1A1440"/>
                          </a:solidFill>
                          <a:latin typeface="Calibri"/>
                        </a:rPr>
                        <a:t>x1.180</a:t>
                      </a:r>
                    </a:p>
                  </a:txBody>
                  <a:tcPr marL="101600" marR="101600" marT="38100" marB="38100" anchor="ctr">
                    <a:solidFill>
                      <a:srgbClr val="FFFFFF"/>
                    </a:solidFill>
                  </a:tcPr>
                </a:tc>
                <a:tc>
                  <a:txBody>
                    <a:bodyPr/>
                    <a:lstStyle/>
                    <a:p>
                      <a:r>
                        <a:rPr sz="1400" b="0" i="0">
                          <a:solidFill>
                            <a:srgbClr val="1A1440"/>
                          </a:solidFill>
                          <a:latin typeface="Calibri"/>
                        </a:rPr>
                        <a:t>Rs 1,90,000 to Rs 2,17,442, x1.144</a:t>
                      </a:r>
                    </a:p>
                  </a:txBody>
                  <a:tcPr marL="101600" marR="101600" marT="38100" marB="38100" anchor="ctr">
                    <a:solidFill>
                      <a:srgbClr val="FFFFFF"/>
                    </a:solidFill>
                  </a:tcPr>
                </a:tc>
              </a:tr>
              <a:tr h="369824">
                <a:tc>
                  <a:txBody>
                    <a:bodyPr/>
                    <a:lstStyle/>
                    <a:p>
                      <a:r>
                        <a:rPr sz="1400" b="0" i="0">
                          <a:solidFill>
                            <a:srgbClr val="1A1440"/>
                          </a:solidFill>
                          <a:latin typeface="Calibri"/>
                        </a:rPr>
                        <a:t>Revenue</a:t>
                      </a:r>
                    </a:p>
                  </a:txBody>
                  <a:tcPr marL="101600" marR="101600" marT="38100" marB="38100" anchor="ctr">
                    <a:solidFill>
                      <a:srgbClr val="F4F2FA"/>
                    </a:solidFill>
                  </a:tcPr>
                </a:tc>
                <a:tc>
                  <a:txBody>
                    <a:bodyPr/>
                    <a:lstStyle/>
                    <a:p>
                      <a:r>
                        <a:rPr sz="1400" b="0" i="0">
                          <a:solidFill>
                            <a:srgbClr val="1A1440"/>
                          </a:solidFill>
                          <a:latin typeface="Calibri"/>
                        </a:rPr>
                        <a:t>x0.890, -11.0%</a:t>
                      </a:r>
                    </a:p>
                  </a:txBody>
                  <a:tcPr marL="101600" marR="101600" marT="38100" marB="38100" anchor="ctr">
                    <a:solidFill>
                      <a:srgbClr val="F4F2FA"/>
                    </a:solidFill>
                  </a:tcPr>
                </a:tc>
                <a:tc>
                  <a:txBody>
                    <a:bodyPr/>
                    <a:lstStyle/>
                    <a:p>
                      <a:r>
                        <a:rPr sz="1400" b="0" i="0">
                          <a:solidFill>
                            <a:srgbClr val="1A1440"/>
                          </a:solidFill>
                          <a:latin typeface="Calibri"/>
                        </a:rPr>
                        <a:t>Rs 1,90,00,000 to Rs 1,87,00,000, x0.984, -1.6%</a:t>
                      </a:r>
                    </a:p>
                  </a:txBody>
                  <a:tcPr marL="101600" marR="101600" marT="38100" marB="38100" anchor="ctr">
                    <a:solidFill>
                      <a:srgbClr val="F4F2FA"/>
                    </a:solidFill>
                  </a:tcPr>
                </a:tc>
              </a:tr>
              <a:tr h="369824">
                <a:tc>
                  <a:txBody>
                    <a:bodyPr/>
                    <a:lstStyle/>
                    <a:p>
                      <a:r>
                        <a:rPr sz="1400" b="0" i="0">
                          <a:solidFill>
                            <a:srgbClr val="1A1440"/>
                          </a:solidFill>
                          <a:latin typeface="Calibri"/>
                        </a:rPr>
                        <a:t>Retail-Plus orders per customer</a:t>
                      </a:r>
                    </a:p>
                  </a:txBody>
                  <a:tcPr marL="101600" marR="101600" marT="38100" marB="38100" anchor="ctr">
                    <a:solidFill>
                      <a:srgbClr val="FFFFFF"/>
                    </a:solidFill>
                  </a:tcPr>
                </a:tc>
                <a:tc>
                  <a:txBody>
                    <a:bodyPr/>
                    <a:lstStyle/>
                    <a:p>
                      <a:r>
                        <a:rPr sz="1400" b="0" i="0">
                          <a:solidFill>
                            <a:srgbClr val="1A1440"/>
                          </a:solidFill>
                          <a:latin typeface="Calibri"/>
                        </a:rPr>
                        <a:t>2.32 to 1.18, -49.0%</a:t>
                      </a:r>
                    </a:p>
                  </a:txBody>
                  <a:tcPr marL="101600" marR="101600" marT="38100" marB="38100" anchor="ctr">
                    <a:solidFill>
                      <a:srgbClr val="FFFFFF"/>
                    </a:solidFill>
                  </a:tcPr>
                </a:tc>
                <a:tc>
                  <a:txBody>
                    <a:bodyPr/>
                    <a:lstStyle/>
                    <a:p>
                      <a:r>
                        <a:rPr sz="1400" b="0" i="0">
                          <a:solidFill>
                            <a:srgbClr val="1A1440"/>
                          </a:solidFill>
                          <a:latin typeface="Calibri"/>
                        </a:rPr>
                        <a:t>1.82 to 1.18, -35.0%</a:t>
                      </a:r>
                    </a:p>
                  </a:txBody>
                  <a:tcPr marL="101600" marR="101600" marT="38100" marB="38100" anchor="ctr">
                    <a:solidFill>
                      <a:srgbClr val="FFFFFF"/>
                    </a:solidFill>
                  </a:tcPr>
                </a:tc>
              </a:tr>
            </a:tbl>
          </a:graphicData>
        </a:graphic>
      </p:graphicFrame>
      <p:sp>
        <p:nvSpPr>
          <p:cNvPr id="10" name="Rounded Rectangle 9"/>
          <p:cNvSpPr/>
          <p:nvPr/>
        </p:nvSpPr>
        <p:spPr>
          <a:xfrm>
            <a:off x="530352" y="4431792"/>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559808"/>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550664"/>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The answer is b. The copies were Q1 orders, most of them Retail-Plus, so Tuesday's Q1 frequency was inflated; the three branches multiply back to revenue, 1.000 x 0.860 x 1.144 = 0.984.</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S72  ·  78 / 84</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plausible wrong answer: remove the bulk order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Should the largest Q2 order come out?</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the hurried figure</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-17.1%</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1.90 crore to 1.58 crore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1.66x</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NEXT LARGEST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why it looked wrong</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3" name="Oval 22"/>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5" name="Oval 24"/>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7" name="Oval 26"/>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9" name="Oval 28"/>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S73  ·  79 / 84</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Why it is wrong: size proves nothing about a record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a Rs 29 lakh order not an error?</a:t>
            </a:r>
          </a:p>
        </p:txBody>
      </p:sp>
      <p:pic>
        <p:nvPicPr>
          <p:cNvPr id="9" name="mermaid diagram" descr="e56018d12ff250c4.png"/>
          <p:cNvPicPr>
            <a:picLocks noChangeAspect="1"/>
          </p:cNvPicPr>
          <p:nvPr/>
        </p:nvPicPr>
        <p:blipFill>
          <a:blip r:embed="rId5"/>
          <a:stretch>
            <a:fillRect/>
          </a:stretch>
        </p:blipFill>
        <p:spPr>
          <a:xfrm>
            <a:off x="3229422" y="1664208"/>
            <a:ext cx="5732849" cy="3250692"/>
          </a:xfrm>
          <a:prstGeom prst="rect">
            <a:avLst/>
          </a:prstGeom>
        </p:spPr>
      </p:pic>
      <p:sp>
        <p:nvSpPr>
          <p:cNvPr id="10" name="Rounded Rectangle 9"/>
          <p:cNvSpPr/>
          <p:nvPr/>
        </p:nvSpPr>
        <p:spPr>
          <a:xfrm>
            <a:off x="530352" y="4960620"/>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088636"/>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079492"/>
            <a:ext cx="10564063" cy="891540"/>
          </a:xfrm>
          <a:prstGeom prst="rect">
            <a:avLst/>
          </a:prstGeom>
          <a:noFill/>
        </p:spPr>
        <p:txBody>
          <a:bodyPr wrap="square" anchor="ctr" lIns="0" rIns="0" tIns="0" bIns="0">
            <a:spAutoFit/>
          </a:bodyPr>
          <a:lstStyle/>
          <a:p>
            <a:r>
              <a:rPr sz="1500" b="1">
                <a:solidFill>
                  <a:srgbClr val="5B3FD6"/>
                </a:solidFill>
                <a:latin typeface="Calibri"/>
              </a:rPr>
              <a:t>The check. </a:t>
            </a:r>
            <a:r>
              <a:rPr sz="1500" b="0" i="0">
                <a:solidFill>
                  <a:srgbClr val="1A1440"/>
                </a:solidFill>
                <a:latin typeface="Calibri"/>
              </a:rPr>
              <a:t>Ask whether anything about the record is wrong, since a valid record at any size is revenue. A fence, a cut-off above which values get called outliers, at three times the median Q2 order flags all 17 Business orders, since the quarter mixes a Rs 2,000 basket with a corporate order.</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5" name="Oval 14"/>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7" name="Oval 16"/>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9" name="Oval 18"/>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1" name="Oval 20"/>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3" name="TextBox 2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S74  ·  80 / 84</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fix: keep it, flag it, show Q2 both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show for Q2?</a:t>
            </a:r>
          </a:p>
        </p:txBody>
      </p:sp>
      <p:sp>
        <p:nvSpPr>
          <p:cNvPr id="9" name="TextBox 8"/>
          <p:cNvSpPr txBox="1"/>
          <p:nvPr/>
        </p:nvSpPr>
        <p:spPr>
          <a:xfrm>
            <a:off x="53035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1,87,00,000</a:t>
            </a:r>
          </a:p>
        </p:txBody>
      </p:sp>
      <p:sp>
        <p:nvSpPr>
          <p:cNvPr id="10" name="TextBox 9"/>
          <p:cNvSpPr txBox="1"/>
          <p:nvPr/>
        </p:nvSpPr>
        <p:spPr>
          <a:xfrm>
            <a:off x="53035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THE ORDER KEPT</a:t>
            </a:r>
          </a:p>
        </p:txBody>
      </p:sp>
      <p:sp>
        <p:nvSpPr>
          <p:cNvPr id="11" name="TextBox 10"/>
          <p:cNvSpPr txBox="1"/>
          <p:nvPr/>
        </p:nvSpPr>
        <p:spPr>
          <a:xfrm>
            <a:off x="53035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flagged, shown both ways</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-1.6%</a:t>
            </a:r>
          </a:p>
        </p:txBody>
      </p:sp>
      <p:sp>
        <p:nvSpPr>
          <p:cNvPr id="14" name="TextBox 13"/>
          <p:cNvSpPr txBox="1"/>
          <p:nvPr/>
        </p:nvSpPr>
        <p:spPr>
          <a:xfrm>
            <a:off x="433212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THE DROP</a:t>
            </a:r>
          </a:p>
        </p:txBody>
      </p:sp>
      <p:sp>
        <p:nvSpPr>
          <p:cNvPr id="15" name="TextBox 14"/>
          <p:cNvSpPr txBox="1"/>
          <p:nvPr/>
        </p:nvSpPr>
        <p:spPr>
          <a:xfrm>
            <a:off x="433212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back from -17.1%</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508000"/>
          </a:xfrm>
          <a:prstGeom prst="rect">
            <a:avLst/>
          </a:prstGeom>
          <a:noFill/>
        </p:spPr>
        <p:txBody>
          <a:bodyPr wrap="square" anchor="t" lIns="0" rIns="0" tIns="0" bIns="0">
            <a:spAutoFit/>
          </a:bodyPr>
          <a:lstStyle/>
          <a:p>
            <a:pPr algn="l"/>
            <a:r>
              <a:rPr sz="3200" b="0" i="0">
                <a:solidFill>
                  <a:srgbClr val="5B3FD6"/>
                </a:solidFill>
                <a:latin typeface="Georgia"/>
              </a:rPr>
              <a:t>Rs 1,57,54,540</a:t>
            </a:r>
          </a:p>
        </p:txBody>
      </p:sp>
      <p:sp>
        <p:nvSpPr>
          <p:cNvPr id="18" name="TextBox 17"/>
          <p:cNvSpPr txBox="1"/>
          <p:nvPr/>
        </p:nvSpPr>
        <p:spPr>
          <a:xfrm>
            <a:off x="8133892" y="25013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Q2 WITHOUT IT</a:t>
            </a:r>
          </a:p>
        </p:txBody>
      </p:sp>
      <p:sp>
        <p:nvSpPr>
          <p:cNvPr id="19" name="TextBox 18"/>
          <p:cNvSpPr txBox="1"/>
          <p:nvPr/>
        </p:nvSpPr>
        <p:spPr>
          <a:xfrm>
            <a:off x="8133892" y="2702560"/>
            <a:ext cx="3527450" cy="193421"/>
          </a:xfrm>
          <a:prstGeom prst="rect">
            <a:avLst/>
          </a:prstGeom>
          <a:noFill/>
        </p:spPr>
        <p:txBody>
          <a:bodyPr wrap="square" anchor="t" lIns="0" rIns="0" tIns="0" bIns="0">
            <a:spAutoFit/>
          </a:bodyPr>
          <a:lstStyle/>
          <a:p>
            <a:pPr algn="l"/>
            <a:r>
              <a:rPr sz="950" b="0" i="0">
                <a:solidFill>
                  <a:srgbClr val="6B6690"/>
                </a:solidFill>
                <a:latin typeface="Calibri"/>
              </a:rPr>
              <a:t>printed beside, labelled</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ounded Rectangle 20"/>
          <p:cNvSpPr/>
          <p:nvPr/>
        </p:nvSpPr>
        <p:spPr>
          <a:xfrm>
            <a:off x="530352" y="341985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76656" y="354787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877824" y="3538728"/>
            <a:ext cx="10564063" cy="624840"/>
          </a:xfrm>
          <a:prstGeom prst="rect">
            <a:avLst/>
          </a:prstGeom>
          <a:noFill/>
        </p:spPr>
        <p:txBody>
          <a:bodyPr wrap="square" anchor="ctr" lIns="0" rIns="0" tIns="0" bIns="0">
            <a:spAutoFit/>
          </a:bodyPr>
          <a:lstStyle/>
          <a:p>
            <a:r>
              <a:rPr sz="1500" b="1">
                <a:solidFill>
                  <a:srgbClr val="5B3FD6"/>
                </a:solidFill>
                <a:latin typeface="Calibri"/>
              </a:rPr>
              <a:t>What changed. </a:t>
            </a:r>
            <a:r>
              <a:rPr sz="1500" b="0" i="0">
                <a:solidFill>
                  <a:srgbClr val="1A1440"/>
                </a:solidFill>
                <a:latin typeface="Calibri"/>
              </a:rPr>
              <a:t>Q2 goes back to Rs 1,87,00,000 and the drop to 1.6 percent. The figure without the order sits beside it for anyone planning from it, labelled.</a:t>
            </a:r>
          </a:p>
        </p:txBody>
      </p:sp>
      <p:sp>
        <p:nvSpPr>
          <p:cNvPr id="24" name="Oval 2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6" name="Oval 25"/>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8" name="Oval 27"/>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0" name="Oval 29"/>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2" name="Oval 31"/>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S75  ·  81 / 84</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note leads with the answer: the 1.9 is right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note to Anand say first?</a:t>
            </a:r>
          </a:p>
        </p:txBody>
      </p:sp>
      <p:sp>
        <p:nvSpPr>
          <p:cNvPr id="9" name="Rounded Rectangle 8"/>
          <p:cNvSpPr/>
          <p:nvPr/>
        </p:nvSpPr>
        <p:spPr>
          <a:xfrm>
            <a:off x="530352" y="1956816"/>
            <a:ext cx="45720" cy="1595119"/>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786384" y="1956816"/>
            <a:ext cx="10820095" cy="1595119"/>
          </a:xfrm>
          <a:prstGeom prst="rect">
            <a:avLst/>
          </a:prstGeom>
          <a:noFill/>
        </p:spPr>
        <p:txBody>
          <a:bodyPr wrap="square" anchor="t" lIns="0" rIns="0" tIns="0" bIns="0">
            <a:spAutoFit/>
          </a:bodyPr>
          <a:lstStyle/>
          <a:p>
            <a:r>
              <a:rPr sz="1600" b="0" i="1">
                <a:solidFill>
                  <a:srgbClr val="1A0F5C"/>
                </a:solidFill>
                <a:latin typeface="Georgia"/>
              </a:rPr>
              <a:t>"Anand, your 1.9 crore is right. The ERP export counted fifteen orders twice, fourteen of them in Q1; copies of two corporate orders carry Rs 19,67,560 of the Rs 19,98,210 difference. Rows and rupees reconcile to your books. On clean data the drop is 1.6 percent against the 11 we reported, and the Retail-Plus fall is 35 percent against 49, so the finding survives, smaller."</a:t>
            </a:r>
          </a:p>
          <a:p>
            <a:pPr>
              <a:spcBef>
                <a:spcPts val="400"/>
              </a:spcBef>
            </a:pPr>
            <a:r>
              <a:rPr sz="1000" b="0" i="0">
                <a:solidFill>
                  <a:srgbClr val="6B6690"/>
                </a:solidFill>
                <a:latin typeface="Calibri"/>
              </a:rPr>
              <a:t>The data and AI team at Kalpa's Global Capability Centre</a:t>
            </a:r>
          </a:p>
        </p:txBody>
      </p:sp>
      <p:pic>
        <p:nvPicPr>
          <p:cNvPr id="11" name="mermaid diagram" descr="83c4a5aebcc59828.png"/>
          <p:cNvPicPr>
            <a:picLocks noChangeAspect="1"/>
          </p:cNvPicPr>
          <p:nvPr/>
        </p:nvPicPr>
        <p:blipFill>
          <a:blip r:embed="rId5"/>
          <a:stretch>
            <a:fillRect/>
          </a:stretch>
        </p:blipFill>
        <p:spPr>
          <a:xfrm>
            <a:off x="2152497" y="3698240"/>
            <a:ext cx="7886700" cy="1600200"/>
          </a:xfrm>
          <a:prstGeom prst="rect">
            <a:avLst/>
          </a:prstGeom>
        </p:spPr>
      </p:pic>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14" name="Oval 13"/>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16" name="Oval 15"/>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18" name="Oval 17"/>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0" name="Oval 19"/>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S76  ·  82 / 84</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second route: bottom up, Q1 is Rs 1,90,00,000</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a bottom-up sum reach the same Q1?</a:t>
            </a:r>
          </a:p>
        </p:txBody>
      </p:sp>
      <p:sp>
        <p:nvSpPr>
          <p:cNvPr id="9" name="Rounded Rectangle 8"/>
          <p:cNvSpPr/>
          <p:nvPr/>
        </p:nvSpPr>
        <p:spPr>
          <a:xfrm>
            <a:off x="530352" y="1956816"/>
            <a:ext cx="11130991" cy="962152"/>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559816"/>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bottom_up = sum(r["amount"] for r in clean if r["quarter"] == "Q1")</a:t>
            </a:r>
          </a:p>
          <a:p>
            <a:pPr>
              <a:spcAft>
                <a:spcPts val="200"/>
              </a:spcAft>
            </a:pPr>
            <a:r>
              <a:rPr sz="1400" b="0" i="0">
                <a:solidFill>
                  <a:srgbClr val="E4E1F1"/>
                </a:solidFill>
                <a:latin typeface="Consolas"/>
              </a:rPr>
              <a:t>bottom_up == exported_q1 + corporate + consumer == BOOKS_Q1     # True</a:t>
            </a:r>
          </a:p>
        </p:txBody>
      </p:sp>
      <p:sp>
        <p:nvSpPr>
          <p:cNvPr id="14" name="TextBox 13"/>
          <p:cNvSpPr txBox="1"/>
          <p:nvPr/>
        </p:nvSpPr>
        <p:spPr>
          <a:xfrm>
            <a:off x="530352"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Rs 1,90,00,000</a:t>
            </a:r>
          </a:p>
        </p:txBody>
      </p:sp>
      <p:sp>
        <p:nvSpPr>
          <p:cNvPr id="15" name="TextBox 14"/>
          <p:cNvSpPr txBox="1"/>
          <p:nvPr/>
        </p:nvSpPr>
        <p:spPr>
          <a:xfrm>
            <a:off x="530352"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Q1 BOTTOM UP</a:t>
            </a:r>
          </a:p>
        </p:txBody>
      </p:sp>
      <p:sp>
        <p:nvSpPr>
          <p:cNvPr id="16" name="TextBox 15"/>
          <p:cNvSpPr txBox="1"/>
          <p:nvPr/>
        </p:nvSpPr>
        <p:spPr>
          <a:xfrm>
            <a:off x="530352"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equal to the bridge, top down</a:t>
            </a:r>
          </a:p>
        </p:txBody>
      </p:sp>
      <p:sp>
        <p:nvSpPr>
          <p:cNvPr id="17" name="Rectangle 16"/>
          <p:cNvSpPr/>
          <p:nvPr/>
        </p:nvSpPr>
        <p:spPr>
          <a:xfrm>
            <a:off x="530352"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233007" y="3083560"/>
            <a:ext cx="5428335" cy="698500"/>
          </a:xfrm>
          <a:prstGeom prst="rect">
            <a:avLst/>
          </a:prstGeom>
          <a:noFill/>
        </p:spPr>
        <p:txBody>
          <a:bodyPr wrap="square" anchor="t" lIns="0" rIns="0" tIns="0" bIns="0">
            <a:spAutoFit/>
          </a:bodyPr>
          <a:lstStyle/>
          <a:p>
            <a:pPr algn="l"/>
            <a:r>
              <a:rPr sz="4400" b="0" i="0">
                <a:solidFill>
                  <a:srgbClr val="5B3FD6"/>
                </a:solidFill>
                <a:latin typeface="Georgia"/>
              </a:rPr>
              <a:t>1.82 and 1.18</a:t>
            </a:r>
          </a:p>
        </p:txBody>
      </p:sp>
      <p:sp>
        <p:nvSpPr>
          <p:cNvPr id="19" name="TextBox 18"/>
          <p:cNvSpPr txBox="1"/>
          <p:nvPr/>
        </p:nvSpPr>
        <p:spPr>
          <a:xfrm>
            <a:off x="6233007" y="3818636"/>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RETAIL-PLUS RATE</a:t>
            </a:r>
          </a:p>
        </p:txBody>
      </p:sp>
      <p:sp>
        <p:nvSpPr>
          <p:cNvPr id="20" name="TextBox 19"/>
          <p:cNvSpPr txBox="1"/>
          <p:nvPr/>
        </p:nvSpPr>
        <p:spPr>
          <a:xfrm>
            <a:off x="6233007" y="4019804"/>
            <a:ext cx="5428335" cy="193421"/>
          </a:xfrm>
          <a:prstGeom prst="rect">
            <a:avLst/>
          </a:prstGeom>
          <a:noFill/>
        </p:spPr>
        <p:txBody>
          <a:bodyPr wrap="square" anchor="t" lIns="0" rIns="0" tIns="0" bIns="0">
            <a:spAutoFit/>
          </a:bodyPr>
          <a:lstStyle/>
          <a:p>
            <a:pPr algn="l"/>
            <a:r>
              <a:rPr sz="950" b="0" i="0">
                <a:solidFill>
                  <a:srgbClr val="6B6690"/>
                </a:solidFill>
                <a:latin typeface="Calibri"/>
              </a:rPr>
              <a:t>counted again with a dictionary</a:t>
            </a:r>
          </a:p>
        </p:txBody>
      </p:sp>
      <p:sp>
        <p:nvSpPr>
          <p:cNvPr id="21" name="Rectangle 20"/>
          <p:cNvSpPr/>
          <p:nvPr/>
        </p:nvSpPr>
        <p:spPr>
          <a:xfrm>
            <a:off x="6233007" y="4272280"/>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30352" y="45466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ounded Rectangle 22"/>
          <p:cNvSpPr/>
          <p:nvPr/>
        </p:nvSpPr>
        <p:spPr>
          <a:xfrm>
            <a:off x="676656" y="467461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877824" y="4665472"/>
            <a:ext cx="10564063" cy="624840"/>
          </a:xfrm>
          <a:prstGeom prst="rect">
            <a:avLst/>
          </a:prstGeom>
          <a:noFill/>
        </p:spPr>
        <p:txBody>
          <a:bodyPr wrap="square" anchor="ctr" lIns="0" rIns="0" tIns="0" bIns="0">
            <a:spAutoFit/>
          </a:bodyPr>
          <a:lstStyle/>
          <a:p>
            <a:r>
              <a:rPr sz="1500" b="1">
                <a:solidFill>
                  <a:srgbClr val="5B3FD6"/>
                </a:solidFill>
                <a:latin typeface="Calibri"/>
              </a:rPr>
              <a:t>When to switch. </a:t>
            </a:r>
            <a:r>
              <a:rPr sz="1500" b="0" i="0">
                <a:solidFill>
                  <a:srgbClr val="1A1440"/>
                </a:solidFill>
                <a:latin typeface="Calibri"/>
              </a:rPr>
              <a:t>Bottom up is the check anyone can run; top down is the proof, since only the bridge says what each rupee of the gap was.</a:t>
            </a:r>
          </a:p>
        </p:txBody>
      </p:sp>
      <p:sp>
        <p:nvSpPr>
          <p:cNvPr id="25" name="Oval 2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7" name="Oval 26"/>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9" name="Oval 28"/>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31" name="Oval 30"/>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33" name="Oval 32"/>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5" name="TextBox 34"/>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S77  ·  83 / 84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1  ·  DAY 3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1.9 is proved, and Tuesday survives, smaller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So can we prove the 1.9, and does Tuesday's finding survive?</a:t>
            </a:r>
          </a:p>
        </p:txBody>
      </p:sp>
      <p:graphicFrame>
        <p:nvGraphicFramePr>
          <p:cNvPr id="9" name="Table 8"/>
          <p:cNvGraphicFramePr>
            <a:graphicFrameLocks noGrp="1"/>
          </p:cNvGraphicFramePr>
          <p:nvPr/>
        </p:nvGraphicFramePr>
        <p:xfrm>
          <a:off x="530352" y="1794764"/>
          <a:ext cx="11130990" cy="2226056"/>
        </p:xfrm>
        <a:graphic>
          <a:graphicData uri="http://schemas.openxmlformats.org/drawingml/2006/table">
            <a:tbl>
              <a:tblPr firstRow="0" bandRow="0">
                <a:tableStyleId>{2D5ABB26-0587-4C30-8999-92F81FD0307C}</a:tableStyleId>
              </a:tblPr>
              <a:tblGrid>
                <a:gridCol w="4175245"/>
                <a:gridCol w="6955745"/>
              </a:tblGrid>
              <a:tr h="318008">
                <a:tc>
                  <a:txBody>
                    <a:bodyPr/>
                    <a:lstStyle/>
                    <a:p>
                      <a:r>
                        <a:rPr sz="1150" b="1" i="0">
                          <a:solidFill>
                            <a:srgbClr val="FFFFFF"/>
                          </a:solidFill>
                          <a:latin typeface="Calibri"/>
                        </a:rPr>
                        <a:t>The question on the way</a:t>
                      </a:r>
                    </a:p>
                  </a:txBody>
                  <a:tcPr marL="101600" marR="101600" marT="38100" marB="38100" anchor="ctr">
                    <a:solidFill>
                      <a:srgbClr val="1A0F5C"/>
                    </a:solidFill>
                  </a:tcPr>
                </a:tc>
                <a:tc>
                  <a:txBody>
                    <a:bodyPr/>
                    <a:lstStyle/>
                    <a:p>
                      <a:r>
                        <a:rPr sz="1150" b="1" i="0">
                          <a:solidFill>
                            <a:srgbClr val="FFFFFF"/>
                          </a:solidFill>
                          <a:latin typeface="Calibri"/>
                        </a:rPr>
                        <a:t>The answer</a:t>
                      </a:r>
                    </a:p>
                  </a:txBody>
                  <a:tcPr marL="101600" marR="101600" marT="38100" marB="38100" anchor="ctr">
                    <a:solidFill>
                      <a:srgbClr val="1A0F5C"/>
                    </a:solidFill>
                  </a:tcPr>
                </a:tc>
              </a:tr>
              <a:tr h="318008">
                <a:tc>
                  <a:txBody>
                    <a:bodyPr/>
                    <a:lstStyle/>
                    <a:p>
                      <a:r>
                        <a:rPr sz="1100" b="0" i="0">
                          <a:solidFill>
                            <a:srgbClr val="1A1440"/>
                          </a:solidFill>
                          <a:latin typeface="Calibri"/>
                        </a:rPr>
                        <a:t>1. How could we prove it?</a:t>
                      </a:r>
                    </a:p>
                  </a:txBody>
                  <a:tcPr marL="101600" marR="101600" marT="38100" marB="38100" anchor="ctr">
                    <a:solidFill>
                      <a:srgbClr val="FFFFFF"/>
                    </a:solidFill>
                  </a:tcPr>
                </a:tc>
                <a:tc>
                  <a:txBody>
                    <a:bodyPr/>
                    <a:lstStyle/>
                    <a:p>
                      <a:r>
                        <a:rPr sz="1100" b="0" i="0">
                          <a:solidFill>
                            <a:srgbClr val="1A1440"/>
                          </a:solidFill>
                          <a:latin typeface="Calibri"/>
                        </a:rPr>
                        <a:t>A bridge by cause: 15 logged rows, to the rupee</a:t>
                      </a:r>
                    </a:p>
                  </a:txBody>
                  <a:tcPr marL="101600" marR="101600" marT="38100" marB="38100" anchor="ctr">
                    <a:solidFill>
                      <a:srgbClr val="FFFFFF"/>
                    </a:solidFill>
                  </a:tcPr>
                </a:tc>
              </a:tr>
              <a:tr h="318008">
                <a:tc>
                  <a:txBody>
                    <a:bodyPr/>
                    <a:lstStyle/>
                    <a:p>
                      <a:r>
                        <a:rPr sz="1100" b="0" i="0">
                          <a:solidFill>
                            <a:srgbClr val="1A1440"/>
                          </a:solidFill>
                          <a:latin typeface="Calibri"/>
                        </a:rPr>
                        <a:t>2. Which moves close it?</a:t>
                      </a:r>
                    </a:p>
                  </a:txBody>
                  <a:tcPr marL="101600" marR="101600" marT="38100" marB="38100" anchor="ctr">
                    <a:solidFill>
                      <a:srgbClr val="F4F2FA"/>
                    </a:solidFill>
                  </a:tcPr>
                </a:tc>
                <a:tc>
                  <a:txBody>
                    <a:bodyPr/>
                    <a:lstStyle/>
                    <a:p>
                      <a:r>
                        <a:rPr sz="1100" b="0" i="0">
                          <a:solidFill>
                            <a:srgbClr val="1A1440"/>
                          </a:solidFill>
                          <a:latin typeface="Calibri"/>
                        </a:rPr>
                        <a:t>Two: -Rs 19,67,560 corporate, -Rs 30,650 consumer</a:t>
                      </a:r>
                    </a:p>
                  </a:txBody>
                  <a:tcPr marL="101600" marR="101600" marT="38100" marB="38100" anchor="ctr">
                    <a:solidFill>
                      <a:srgbClr val="F4F2FA"/>
                    </a:solidFill>
                  </a:tcPr>
                </a:tc>
              </a:tr>
              <a:tr h="318008">
                <a:tc>
                  <a:txBody>
                    <a:bodyPr/>
                    <a:lstStyle/>
                    <a:p>
                      <a:r>
                        <a:rPr sz="1100" b="0" i="0">
                          <a:solidFill>
                            <a:srgbClr val="1A1440"/>
                          </a:solidFill>
                          <a:latin typeface="Calibri"/>
                        </a:rPr>
                        <a:t>3. Does Tuesday survive?</a:t>
                      </a:r>
                    </a:p>
                  </a:txBody>
                  <a:tcPr marL="101600" marR="101600" marT="38100" marB="38100" anchor="ctr">
                    <a:solidFill>
                      <a:srgbClr val="FFFFFF"/>
                    </a:solidFill>
                  </a:tcPr>
                </a:tc>
                <a:tc>
                  <a:txBody>
                    <a:bodyPr/>
                    <a:lstStyle/>
                    <a:p>
                      <a:r>
                        <a:rPr sz="1100" b="0" i="0">
                          <a:solidFill>
                            <a:srgbClr val="1A1440"/>
                          </a:solidFill>
                          <a:latin typeface="Calibri"/>
                        </a:rPr>
                        <a:t>Yes, smaller: revenue -1.6%, Retail-Plus -35.0%</a:t>
                      </a:r>
                    </a:p>
                  </a:txBody>
                  <a:tcPr marL="101600" marR="101600" marT="38100" marB="38100" anchor="ctr">
                    <a:solidFill>
                      <a:srgbClr val="FFFFFF"/>
                    </a:solidFill>
                  </a:tcPr>
                </a:tc>
              </a:tr>
              <a:tr h="318008">
                <a:tc>
                  <a:txBody>
                    <a:bodyPr/>
                    <a:lstStyle/>
                    <a:p>
                      <a:r>
                        <a:rPr sz="1100" b="0" i="0">
                          <a:solidFill>
                            <a:srgbClr val="1A1440"/>
                          </a:solidFill>
                          <a:latin typeface="Calibri"/>
                        </a:rPr>
                        <a:t>4. Should the bulk order go?</a:t>
                      </a:r>
                    </a:p>
                  </a:txBody>
                  <a:tcPr marL="101600" marR="101600" marT="38100" marB="38100" anchor="ctr">
                    <a:solidFill>
                      <a:srgbClr val="F4F2FA"/>
                    </a:solidFill>
                  </a:tcPr>
                </a:tc>
                <a:tc>
                  <a:txBody>
                    <a:bodyPr/>
                    <a:lstStyle/>
                    <a:p>
                      <a:r>
                        <a:rPr sz="1100" b="0" i="0">
                          <a:solidFill>
                            <a:srgbClr val="1A1440"/>
                          </a:solidFill>
                          <a:latin typeface="Calibri"/>
                        </a:rPr>
                        <a:t>No: kept, flagged, Q2 shown both ways</a:t>
                      </a:r>
                    </a:p>
                  </a:txBody>
                  <a:tcPr marL="101600" marR="101600" marT="38100" marB="38100" anchor="ctr">
                    <a:solidFill>
                      <a:srgbClr val="F4F2FA"/>
                    </a:solidFill>
                  </a:tcPr>
                </a:tc>
              </a:tr>
              <a:tr h="318008">
                <a:tc>
                  <a:txBody>
                    <a:bodyPr/>
                    <a:lstStyle/>
                    <a:p>
                      <a:r>
                        <a:rPr sz="1100" b="0" i="0">
                          <a:solidFill>
                            <a:srgbClr val="1A1440"/>
                          </a:solidFill>
                          <a:latin typeface="Calibri"/>
                        </a:rPr>
                        <a:t>5. What does the note say?</a:t>
                      </a:r>
                    </a:p>
                  </a:txBody>
                  <a:tcPr marL="101600" marR="101600" marT="38100" marB="38100" anchor="ctr">
                    <a:solidFill>
                      <a:srgbClr val="FFFFFF"/>
                    </a:solidFill>
                  </a:tcPr>
                </a:tc>
                <a:tc>
                  <a:txBody>
                    <a:bodyPr/>
                    <a:lstStyle/>
                    <a:p>
                      <a:r>
                        <a:rPr sz="1100" b="0" i="0">
                          <a:solidFill>
                            <a:srgbClr val="1A1440"/>
                          </a:solidFill>
                          <a:latin typeface="Calibri"/>
                        </a:rPr>
                        <a:t>That 1.9 is right, then the proof, then what changed</a:t>
                      </a:r>
                    </a:p>
                  </a:txBody>
                  <a:tcPr marL="101600" marR="101600" marT="38100" marB="38100" anchor="ctr">
                    <a:solidFill>
                      <a:srgbClr val="FFFFFF"/>
                    </a:solidFill>
                  </a:tcPr>
                </a:tc>
              </a:tr>
              <a:tr h="318008">
                <a:tc>
                  <a:txBody>
                    <a:bodyPr/>
                    <a:lstStyle/>
                    <a:p>
                      <a:r>
                        <a:rPr sz="1100" b="0" i="0">
                          <a:solidFill>
                            <a:srgbClr val="1A1440"/>
                          </a:solidFill>
                          <a:latin typeface="Calibri"/>
                        </a:rPr>
                        <a:t>6. Does a bottom-up sum agree?</a:t>
                      </a:r>
                    </a:p>
                  </a:txBody>
                  <a:tcPr marL="101600" marR="101600" marT="38100" marB="38100" anchor="ctr">
                    <a:solidFill>
                      <a:srgbClr val="F4F2FA"/>
                    </a:solidFill>
                  </a:tcPr>
                </a:tc>
                <a:tc>
                  <a:txBody>
                    <a:bodyPr/>
                    <a:lstStyle/>
                    <a:p>
                      <a:r>
                        <a:rPr sz="1100" b="0" i="0">
                          <a:solidFill>
                            <a:srgbClr val="1A1440"/>
                          </a:solidFill>
                          <a:latin typeface="Calibri"/>
                        </a:rPr>
                        <a:t>Yes: Rs 1,90,00,000</a:t>
                      </a:r>
                    </a:p>
                  </a:txBody>
                  <a:tcPr marL="101600" marR="101600" marT="38100" marB="38100" anchor="ctr">
                    <a:solidFill>
                      <a:srgbClr val="F4F2FA"/>
                    </a:solidFill>
                  </a:tcPr>
                </a:tc>
              </a:tr>
            </a:tbl>
          </a:graphicData>
        </a:graphic>
      </p:graphicFrame>
      <p:sp>
        <p:nvSpPr>
          <p:cNvPr id="10" name="Rounded Rectangle 9"/>
          <p:cNvSpPr/>
          <p:nvPr/>
        </p:nvSpPr>
        <p:spPr>
          <a:xfrm>
            <a:off x="530352" y="4276852"/>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758952" y="4459732"/>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earch-check_6571e64a041f.png"/>
          <p:cNvPicPr>
            <a:picLocks noChangeAspect="1"/>
          </p:cNvPicPr>
          <p:nvPr/>
        </p:nvPicPr>
        <p:blipFill>
          <a:blip r:embed="rId4"/>
          <a:stretch>
            <a:fillRect/>
          </a:stretch>
        </p:blipFill>
        <p:spPr>
          <a:xfrm>
            <a:off x="868680" y="4569460"/>
            <a:ext cx="237744" cy="237744"/>
          </a:xfrm>
          <a:prstGeom prst="rect">
            <a:avLst/>
          </a:prstGeom>
        </p:spPr>
      </p:pic>
      <p:sp>
        <p:nvSpPr>
          <p:cNvPr id="13" name="TextBox 12"/>
          <p:cNvSpPr txBox="1"/>
          <p:nvPr/>
        </p:nvSpPr>
        <p:spPr>
          <a:xfrm>
            <a:off x="1399031" y="4423156"/>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KAVYA'S REVIEW</a:t>
            </a:r>
          </a:p>
        </p:txBody>
      </p:sp>
      <p:sp>
        <p:nvSpPr>
          <p:cNvPr id="14" name="TextBox 13"/>
          <p:cNvSpPr txBox="1"/>
          <p:nvPr/>
        </p:nvSpPr>
        <p:spPr>
          <a:xfrm>
            <a:off x="1399031" y="4642612"/>
            <a:ext cx="9987991" cy="384048"/>
          </a:xfrm>
          <a:prstGeom prst="rect">
            <a:avLst/>
          </a:prstGeom>
          <a:noFill/>
        </p:spPr>
        <p:txBody>
          <a:bodyPr wrap="square" anchor="t" lIns="0" rIns="0" tIns="0" bIns="0">
            <a:spAutoFit/>
          </a:bodyPr>
          <a:lstStyle/>
          <a:p>
            <a:r>
              <a:rPr sz="1100" b="0" i="0">
                <a:solidFill>
                  <a:srgbClr val="1A1440"/>
                </a:solidFill>
                <a:latin typeface="Calibri"/>
              </a:rPr>
              <a:t>"Tell me what changed in Tuesday's story, including when it got smaller."</a:t>
            </a:r>
          </a:p>
        </p:txBody>
      </p:sp>
      <p:sp>
        <p:nvSpPr>
          <p:cNvPr id="15" name="Rounded Rectangle 14"/>
          <p:cNvSpPr/>
          <p:nvPr/>
        </p:nvSpPr>
        <p:spPr>
          <a:xfrm>
            <a:off x="530352" y="5264404"/>
            <a:ext cx="11130991" cy="822960"/>
          </a:xfrm>
          <a:prstGeom prst="roundRect">
            <a:avLst>
              <a:gd name="adj" fmla="val 5000"/>
            </a:avLst>
          </a:prstGeom>
          <a:solidFill>
            <a:srgbClr val="F7F5FD"/>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758952" y="54472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ic_caee7398c80d.png"/>
          <p:cNvPicPr>
            <a:picLocks noChangeAspect="1"/>
          </p:cNvPicPr>
          <p:nvPr/>
        </p:nvPicPr>
        <p:blipFill>
          <a:blip r:embed="rId5"/>
          <a:stretch>
            <a:fillRect/>
          </a:stretch>
        </p:blipFill>
        <p:spPr>
          <a:xfrm>
            <a:off x="868680" y="5557012"/>
            <a:ext cx="237744" cy="237744"/>
          </a:xfrm>
          <a:prstGeom prst="rect">
            <a:avLst/>
          </a:prstGeom>
        </p:spPr>
      </p:pic>
      <p:sp>
        <p:nvSpPr>
          <p:cNvPr id="18" name="TextBox 17"/>
          <p:cNvSpPr txBox="1"/>
          <p:nvPr/>
        </p:nvSpPr>
        <p:spPr>
          <a:xfrm>
            <a:off x="1399031" y="5410708"/>
            <a:ext cx="9987991" cy="160401"/>
          </a:xfrm>
          <a:prstGeom prst="rect">
            <a:avLst/>
          </a:prstGeom>
          <a:noFill/>
        </p:spPr>
        <p:txBody>
          <a:bodyPr wrap="square" anchor="t" lIns="0" rIns="0" tIns="0" bIns="0">
            <a:spAutoFit/>
          </a:bodyPr>
          <a:lstStyle/>
          <a:p>
            <a:pPr algn="l"/>
            <a:r>
              <a:rPr sz="750" b="1" i="0" spc="250">
                <a:solidFill>
                  <a:srgbClr val="5B3FD6"/>
                </a:solidFill>
                <a:latin typeface="Calibri"/>
              </a:rPr>
              <a:t>IN THE INTERVIEW</a:t>
            </a:r>
          </a:p>
        </p:txBody>
      </p:sp>
      <p:sp>
        <p:nvSpPr>
          <p:cNvPr id="19" name="TextBox 18"/>
          <p:cNvSpPr txBox="1"/>
          <p:nvPr/>
        </p:nvSpPr>
        <p:spPr>
          <a:xfrm>
            <a:off x="1399031" y="5630164"/>
            <a:ext cx="9987991" cy="384048"/>
          </a:xfrm>
          <a:prstGeom prst="rect">
            <a:avLst/>
          </a:prstGeom>
          <a:noFill/>
        </p:spPr>
        <p:txBody>
          <a:bodyPr wrap="square" anchor="t" lIns="0" rIns="0" tIns="0" bIns="0">
            <a:spAutoFit/>
          </a:bodyPr>
          <a:lstStyle/>
          <a:p>
            <a:r>
              <a:rPr sz="1100" b="0" i="0">
                <a:solidFill>
                  <a:srgbClr val="1A1440"/>
                </a:solidFill>
                <a:latin typeface="Calibri"/>
              </a:rPr>
              <a:t>[S] Finance and your dashboard disagree; what do you do?</a:t>
            </a:r>
          </a:p>
        </p:txBody>
      </p:sp>
      <p:sp>
        <p:nvSpPr>
          <p:cNvPr id="20" name="Oval 1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40080" y="6437376"/>
            <a:ext cx="1286446" cy="152146"/>
          </a:xfrm>
          <a:prstGeom prst="rect">
            <a:avLst/>
          </a:prstGeom>
          <a:noFill/>
        </p:spPr>
        <p:txBody>
          <a:bodyPr wrap="square" anchor="t" lIns="0" rIns="0" tIns="0" bIns="0">
            <a:spAutoFit/>
          </a:bodyPr>
          <a:lstStyle/>
          <a:p>
            <a:pPr algn="l"/>
            <a:r>
              <a:rPr sz="700" b="0" i="0">
                <a:solidFill>
                  <a:srgbClr val="6B6690"/>
                </a:solidFill>
                <a:latin typeface="Calibri"/>
              </a:rPr>
              <a:t>What did the ERP send?</a:t>
            </a:r>
          </a:p>
        </p:txBody>
      </p:sp>
      <p:sp>
        <p:nvSpPr>
          <p:cNvPr id="22" name="Oval 21"/>
          <p:cNvSpPr/>
          <p:nvPr/>
        </p:nvSpPr>
        <p:spPr>
          <a:xfrm>
            <a:off x="2017966"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2127694" y="6437376"/>
            <a:ext cx="1102423" cy="152146"/>
          </a:xfrm>
          <a:prstGeom prst="rect">
            <a:avLst/>
          </a:prstGeom>
          <a:noFill/>
        </p:spPr>
        <p:txBody>
          <a:bodyPr wrap="square" anchor="t" lIns="0" rIns="0" tIns="0" bIns="0">
            <a:spAutoFit/>
          </a:bodyPr>
          <a:lstStyle/>
          <a:p>
            <a:pPr algn="l"/>
            <a:r>
              <a:rPr sz="700" b="0" i="0">
                <a:solidFill>
                  <a:srgbClr val="6B6690"/>
                </a:solidFill>
                <a:latin typeface="Calibri"/>
              </a:rPr>
              <a:t>Which rows repeat?</a:t>
            </a:r>
          </a:p>
        </p:txBody>
      </p:sp>
      <p:sp>
        <p:nvSpPr>
          <p:cNvPr id="24" name="Oval 23"/>
          <p:cNvSpPr/>
          <p:nvPr/>
        </p:nvSpPr>
        <p:spPr>
          <a:xfrm>
            <a:off x="332155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3431286" y="6437376"/>
            <a:ext cx="1056417" cy="152146"/>
          </a:xfrm>
          <a:prstGeom prst="rect">
            <a:avLst/>
          </a:prstGeom>
          <a:noFill/>
        </p:spPr>
        <p:txBody>
          <a:bodyPr wrap="square" anchor="t" lIns="0" rIns="0" tIns="0" bIns="0">
            <a:spAutoFit/>
          </a:bodyPr>
          <a:lstStyle/>
          <a:p>
            <a:pPr algn="l"/>
            <a:r>
              <a:rPr sz="700" b="0" i="0">
                <a:solidFill>
                  <a:srgbClr val="6B6690"/>
                </a:solidFill>
                <a:latin typeface="Calibri"/>
              </a:rPr>
              <a:t>Which copy stays?</a:t>
            </a:r>
          </a:p>
        </p:txBody>
      </p:sp>
      <p:sp>
        <p:nvSpPr>
          <p:cNvPr id="26" name="Oval 25"/>
          <p:cNvSpPr/>
          <p:nvPr/>
        </p:nvSpPr>
        <p:spPr>
          <a:xfrm>
            <a:off x="4579143"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4688871" y="6437376"/>
            <a:ext cx="1148429" cy="152146"/>
          </a:xfrm>
          <a:prstGeom prst="rect">
            <a:avLst/>
          </a:prstGeom>
          <a:noFill/>
        </p:spPr>
        <p:txBody>
          <a:bodyPr wrap="square" anchor="t" lIns="0" rIns="0" tIns="0" bIns="0">
            <a:spAutoFit/>
          </a:bodyPr>
          <a:lstStyle/>
          <a:p>
            <a:pPr algn="l"/>
            <a:r>
              <a:rPr sz="700" b="0" i="0">
                <a:solidFill>
                  <a:srgbClr val="6B6690"/>
                </a:solidFill>
                <a:latin typeface="Calibri"/>
              </a:rPr>
              <a:t>Drop, fill or flag?</a:t>
            </a:r>
          </a:p>
        </p:txBody>
      </p:sp>
      <p:sp>
        <p:nvSpPr>
          <p:cNvPr id="28" name="Oval 27"/>
          <p:cNvSpPr/>
          <p:nvPr/>
        </p:nvSpPr>
        <p:spPr>
          <a:xfrm>
            <a:off x="592874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038469" y="6437376"/>
            <a:ext cx="1240440" cy="152146"/>
          </a:xfrm>
          <a:prstGeom prst="rect">
            <a:avLst/>
          </a:prstGeom>
          <a:noFill/>
        </p:spPr>
        <p:txBody>
          <a:bodyPr wrap="square" anchor="t" lIns="0" rIns="0" tIns="0" bIns="0">
            <a:spAutoFit/>
          </a:bodyPr>
          <a:lstStyle/>
          <a:p>
            <a:pPr algn="l"/>
            <a:r>
              <a:rPr sz="700" b="1" i="0">
                <a:solidFill>
                  <a:srgbClr val="5B3FD6"/>
                </a:solidFill>
                <a:latin typeface="Calibri"/>
              </a:rPr>
              <a:t>Can we prove the 1.9?</a:t>
            </a:r>
          </a:p>
        </p:txBody>
      </p:sp>
      <p:sp>
        <p:nvSpPr>
          <p:cNvPr id="30" name="TextBox 2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S78  ·  84 / 84</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