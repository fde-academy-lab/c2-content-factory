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Anand's reply aloud and leave it on screen. Tuesday's finding went to the</a:t>
            </a:r>
          </a:p>
          <a:p>
            <a:r>
              <a:t>leadership group last night, and this is the first reply. The day is one question climbed in six</a:t>
            </a:r>
          </a:p>
          <a:p>
            <a:r>
              <a:t>chapters: which Q1 figure is right, and can we prove it to an analyst who ties out to the rupee.</a:t>
            </a:r>
          </a:p>
          <a:p>
            <a:r>
              <a:t>Five chapters this block, the sixth after lunch, then the full pass alone and the auditor.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Revenue here is booked value in rupees, every order whatever its status, the</a:t>
            </a:r>
          </a:p>
          <a:p>
            <a:r>
              <a:t>definition Monday set in the retail dossier. Ask: whose number do you trust before looking at</a:t>
            </a:r>
          </a:p>
          <a:p>
            <a:r>
              <a:t>anything? Most say Finance. The honest answer is neither yet: both are computed correctly from</a:t>
            </a:r>
          </a:p>
          <a:p>
            <a:r>
              <a:t>something, and the job is to find what.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when each gets answered: Anand's and Marketing's by the end of this block,</a:t>
            </a:r>
          </a:p>
          <a:p>
            <a:r>
              <a:t>the analyst's and the auditor's after lunch. Watch for learners who want to start coding; hold</a:t>
            </a:r>
          </a:p>
          <a:p>
            <a:r>
              <a:t>them, the next slide is the thinking.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Pairs, three minutes: one way per branch that an ERP export could produce it.</a:t>
            </a:r>
          </a:p>
          <a:p>
            <a:r>
              <a:t>Expect copies from a migration, a text amount read wrongly, returns counted as sales, a window</a:t>
            </a:r>
          </a:p>
          <a:p>
            <a:r>
              <a:t>that differs. The point is the list; the letter comes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for cost more than likelihood, though the ERP note about a</a:t>
            </a:r>
          </a:p>
          <a:p>
            <a:r>
              <a:t>stitched CSV makes it likelier too.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Draw this with the room and leave it up all day. The dotted arrow is the log,</a:t>
            </a:r>
          </a:p>
          <a:p>
            <a:r>
              <a:t>written as you go and never reconstructed at the end. Tuesday skipped the first box.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chapter runs the same way: the need, the options sized, the build, the trap,</a:t>
            </a:r>
          </a:p>
          <a:p>
            <a:r>
              <a:t>a second route, Kavya's review. Notebook numbers match chapter numbers.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C2_W01_D03_01_profile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cost of a wrong answer here is the largest of the day, because every later</a:t>
            </a:r>
          </a:p>
          <a:p>
            <a:r>
              <a:t>chapter is built on this count. If the note says the dashboard is right and it is not, the analyst</a:t>
            </a:r>
          </a:p>
          <a:p>
            <a:r>
              <a:t>finds it and discounts every later number the team sends.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CBC News, 15 January 2015; Salsify's summary of Joe</a:t>
            </a:r>
          </a:p>
          <a:p>
            <a:r>
              <a:t>Castaldo's Canadian Business investigation for the 30 percent figure, against 98 to 99 percent in</a:t>
            </a:r>
          </a:p>
          <a:p>
            <a:r>
              <a:t>the US. Say "about" and name the source aloud; the 30 percent is a secondary summary.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minutes for b and c are an illustrative half-second a cell and half a minute a</a:t>
            </a:r>
          </a:p>
          <a:p>
            <a:r>
              <a:t>row. The 13 percent is exact by inclusion and exclusion over the 15 pairs: a repeat is seen only</a:t>
            </a:r>
          </a:p>
          <a:p>
            <a:r>
              <a:t>when both copies are drawn, since one copy alone ties to the books like any order. The</a:t>
            </a:r>
          </a:p>
          <a:p>
            <a:r>
              <a:t>chance of the sample meeting the one unreadable amount is 10 percent.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what "distinct" says about order_id that "present" cannot: whether ids</a:t>
            </a:r>
          </a:p>
          <a:p>
            <a:r>
              <a:t>repeat. Then open notebook 01. When open("orders.csv") fails with FileNotFoundError, two minutes</a:t>
            </a:r>
          </a:p>
          <a:p>
            <a:r>
              <a:t>on the last line, which names the folder Python looked in; the exports live in ../data/.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before the notebook cell runs.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Do not explain the other three yet; name the chapter that</a:t>
            </a:r>
          </a:p>
          <a:p>
            <a:r>
              <a:t>answers each: order_id in chapters 2 and 3, amount and status in chapter 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01, section 3. Run it and ask what the analyst would tie out tonight.</a:t>
            </a:r>
          </a:p>
          <a:p>
            <a:r>
              <a:t>Three small orders. The decision it misleads: an audit that passes on the part of the file</a:t>
            </a:r>
          </a:p>
          <a:p>
            <a:r>
              <a:t>that carries the least money.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check is a business question, which is the habit to build.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your-turn cell has the room run int() over every amount and meet the</a:t>
            </a:r>
          </a:p>
          <a:p>
            <a:r>
              <a:t>ValueError: two minutes, read the last line, write the value down. Then convert() runs clean.</a:t>
            </a:r>
          </a:p>
          <a:p>
            <a:r>
              <a:t>Chapter 5 comes back to the Rs 29 lakh order.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JSONDecodeError is met in an empty cell: two minutes, open the file at the</a:t>
            </a:r>
          </a:p>
          <a:p>
            <a:r>
              <a:t>line and column it names. A CSV writes a missing value as an empty string and JSON leaves the key</a:t>
            </a:r>
          </a:p>
          <a:p>
            <a:r>
              <a:t>out; profile() uses .get(field, "") so both count the same.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arithmetic, comparison and sorting break or silently lie on text;</a:t>
            </a:r>
          </a:p>
          <a:p>
            <a:r>
              <a:t>convert once at the boundary in one function that returns the value or the reason; log failures.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C2_W01_D03_02_duplicates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Q1 holds 114 rows for 100 orders, Q2 87 for 86. The extra rows sit in the quarter</a:t>
            </a:r>
          </a:p>
          <a:p>
            <a:r>
              <a:t>the migration touched. Cost of a wrong answer: keep Rs 20 lakh that was never earned, or delete</a:t>
            </a:r>
          </a:p>
          <a:p>
            <a:r>
              <a:t>real orders from the books.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NBC News and AP, 10 June 2009, checked 30 Sep 2026. It is a duplicated</a:t>
            </a:r>
          </a:p>
          <a:p>
            <a:r>
              <a:t>charge, the customer's side of the same mistake Kalpa's export makes in its revenue.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fuzzy match, same customer and amount dated within 60 days, has no key to group on, so it costs 20,100 pair comparisons here against 201 lookups for a key,</a:t>
            </a:r>
          </a:p>
          <a:p>
            <a:r>
              <a:t>and about 200 lakh crore pairs on a file of 2 crore rows. Point at d: same count as c, different rows.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what they would do with a dedupe that finds zero; most would report it, since</a:t>
            </a:r>
          </a:p>
          <a:p>
            <a:r>
              <a:t>the function ran without error.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Show the five invented records in notebook 02: the whole record with the line</a:t>
            </a:r>
          </a:p>
          <a:p>
            <a:r>
              <a:t>finds 0, without it finds 2. The decision it misleads: Finance sent hunting for revenue that</a:t>
            </a:r>
          </a:p>
          <a:p>
            <a:r>
              <a:t>was never earned.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Do not read the ids aloud. Ask what the second line numbers have in common:</a:t>
            </a:r>
          </a:p>
          <a:p>
            <a:r>
              <a:t>they sit together at the end of the file, where the second extract was appended.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decision it misleads: a reviewer comparing counts signs off a pass that</a:t>
            </a:r>
          </a:p>
          <a:p>
            <a:r>
              <a:t>removes a real Q2 order. Always compare the rows, never only their number.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Both routes in notebook 02 assert 15.</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the business's identity rule first, rows against distinct keys, and</a:t>
            </a:r>
          </a:p>
          <a:p>
            <a:r>
              <a:t>weigh the copies in money. Then chapter 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C2_W01_D03_03_identity_rule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Anand's analyst is the reader. Every choice is visible to her in the log.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GSTN e-invoice FAQ version 1.4, question 65, and</a:t>
            </a:r>
          </a:p>
          <a:p>
            <a:r>
              <a:t>Notification 10/2023-Central Tax. The portal hashes the same fields into the invoice reference</a:t>
            </a:r>
          </a:p>
          <a:p>
            <a:r>
              <a:t>number, and a repeat is refused at the door.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Thirteen of the fifteen escalations would carry no question at all.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Invented pairs INV-11 to INV-13 in notebook 03. For the disagreeing pair no rule</a:t>
            </a:r>
          </a:p>
          <a:p>
            <a:r>
              <a:t>inside the file can say which date is true; the rule turns the date into a written question.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your-turn cell prints the two log rows whose reason says more than "second</a:t>
            </a:r>
          </a:p>
          <a:p>
            <a:r>
              <a:t>copy". Each learner writes the question they would send the ERP team.</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03, section 3. Ask who would ship this. Most hands go up: Q1 ties.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two pairs this pass misses cost Q1 nothing: one copy's amount cannot be read,</a:t>
            </a:r>
          </a:p>
          <a:p>
            <a:r>
              <a:t>so it adds nothing to the sum. The decision it misleads: a Q2 order count one too high in</a:t>
            </a:r>
          </a:p>
          <a:p>
            <a:r>
              <a:t>Retail-Plus, the segment Tuesday's finding is about.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Rows: 2, 11 and 1 of 14. Rupees: Rs 19,67,560, Rs 27,760 and Rs 2,890. Two</a:t>
            </a:r>
          </a:p>
          <a:p>
            <a:r>
              <a:t>conversations follow: Anand's gap, and Tuesday's finding, which chapter 5 recomputes.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03 asserts the same 186 ids and amounts by both routes.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the 10-minute break.</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C2_W01_D03_04_missing_malformed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choice keeps revenue whole, invents a fact or deletes one.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BBC News, 15 December 2014, checked 30 Sep 2026. Counts beyond "hundreds</a:t>
            </a:r>
          </a:p>
          <a:p>
            <a:r>
              <a:t>of items" were not verified and stay out.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amount options: coerce to zero misses the books by Rs 1,790 and leaves a Rs 0</a:t>
            </a:r>
          </a:p>
          <a:p>
            <a:r>
              <a:t>order; reject leaves the order's rupees out until repaired; reading a word as a number is a guess;</a:t>
            </a:r>
          </a:p>
          <a:p>
            <a:r>
              <a:t>a twin from the other extract repairs it exactly. Walk them from the notebook's second table.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Tuesday's trap coming back in a new place.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Then the day's second spine trap.</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04, section 3. Let the room enjoy it: the loop finishes, the profile is</a:t>
            </a:r>
          </a:p>
          <a:p>
            <a:r>
              <a:t>perfect, and Q1 rounds to the books. Ask who they would now tell the file is clean.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decision it misleads: a note calling the file clean with an order at Rs 0 in</a:t>
            </a:r>
          </a:p>
          <a:p>
            <a:r>
              <a:t>it, which the analyst finds on her first tie-out.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Show the invented pair INV-21 too: reading "fourteen" as 14 misses a Rs 1,400</a:t>
            </a:r>
          </a:p>
          <a:p>
            <a:r>
              <a:t>order by Rs 1,386. A word is never an amount.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 defect that slipped past the log would show as a count that disagrees.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measure per field, ask what the absence means, then drop, default or</a:t>
            </a:r>
          </a:p>
          <a:p>
            <a:r>
              <a:t>keep and flag with a reason, sized on what each moves.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C2_W01_D03_05_bridge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rescue campaign for Retail-Plus is waiting on the second number.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BBC News, 22 September 2014; Tesco interim results</a:t>
            </a:r>
          </a:p>
          <a:p>
            <a:r>
              <a:t>statement, 23 October 2014, which splits GBP 263m into GBP 118m for the first half, about GBP 70m</a:t>
            </a:r>
          </a:p>
          <a:p>
            <a:r>
              <a:t>for 2013/14 and about GBP 75m before.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feed carries the same unreadable amount and holds only 19 of Q2's 86 orders.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Predict first: how many moves? Two. Draw the bridge on the board beside the</a:t>
            </a:r>
          </a:p>
          <a:p>
            <a:r>
              <a:t>notebook's chart; the raised axis keeps the Rs 30,650 move visible.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Thursday asks whether -35 percent on 22 members is real or chance.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05, section 3. The decision it misleads: Marketing funds a rescue for a</a:t>
            </a:r>
          </a:p>
          <a:p>
            <a:r>
              <a:t>fall that never happened, and Finance rejects the reconciliation because its books hold the order.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fix: keep it, flag it, show Q2 both ways. Q2 back to Rs 1,87,00,000, the drop</a:t>
            </a:r>
          </a:p>
          <a:p>
            <a:r>
              <a:t>back to 1.6 percent.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Bottom up is the check anyone can run; top down is the proof, since only the</a:t>
            </a:r>
          </a:p>
          <a:p>
            <a:r>
              <a:t>bridge says what each rupee was. The full note in notebook 05 is under 120 words.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both are correct arithmetic on different inputs; bridge one move per</a:t>
            </a:r>
          </a:p>
          <a:p>
            <a:r>
              <a:t>cause, reconcile rows and rupees, say which is right and recompute what was reported.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10.png"/><Relationship Id="rId6"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3.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8.png"/><Relationship Id="rId6"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3.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3.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6.png"/><Relationship Id="rId6" Type="http://schemas.openxmlformats.org/officeDocument/2006/relationships/image" Target="../media/image8.png"/><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 Id="rId5" Type="http://schemas.openxmlformats.org/officeDocument/2006/relationships/image" Target="../media/image2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3.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 Id="rId5" Type="http://schemas.openxmlformats.org/officeDocument/2006/relationships/image" Target="../media/image3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3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 Id="rId5" Type="http://schemas.openxmlformats.org/officeDocument/2006/relationships/image" Target="../media/image3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3.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6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WEDNESDAY  ·  HALF ONE</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Q1 figure is right?</a:t>
            </a:r>
          </a:p>
        </p:txBody>
      </p:sp>
      <p:sp>
        <p:nvSpPr>
          <p:cNvPr id="9" name="TextBox 8"/>
          <p:cNvSpPr txBox="1"/>
          <p:nvPr/>
        </p:nvSpPr>
        <p:spPr>
          <a:xfrm>
            <a:off x="621792" y="3635756"/>
            <a:ext cx="10033711" cy="977645"/>
          </a:xfrm>
          <a:prstGeom prst="rect">
            <a:avLst/>
          </a:prstGeom>
          <a:noFill/>
        </p:spPr>
        <p:txBody>
          <a:bodyPr wrap="square" anchor="t" lIns="0" rIns="0" tIns="0" bIns="0">
            <a:spAutoFit/>
          </a:bodyPr>
          <a:lstStyle/>
          <a:p>
            <a:pPr algn="l"/>
            <a:r>
              <a:rPr sz="1900" b="0" i="1">
                <a:solidFill>
                  <a:srgbClr val="D9A7FF"/>
                </a:solidFill>
                <a:latin typeface="Georgia"/>
              </a:rPr>
              <a:t>“Your dashboard says Q1 was Rs 2.1 crore. Our books say 1.9. Until your numbers match ours, Finance will not act on a drop measured from an ERP export.”</a:t>
            </a:r>
          </a:p>
        </p:txBody>
      </p:sp>
      <p:sp>
        <p:nvSpPr>
          <p:cNvPr id="10" name="TextBox 9"/>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replying to all on Tuesday's finding</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What the ERP actually sent</a:t>
            </a:r>
          </a:p>
        </p:txBody>
      </p:sp>
      <p:sp>
        <p:nvSpPr>
          <p:cNvPr id="13" name="TextBox 12"/>
          <p:cNvSpPr txBox="1"/>
          <p:nvPr/>
        </p:nvSpPr>
        <p:spPr>
          <a:xfrm>
            <a:off x="29095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293554"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The rows that repeat</a:t>
            </a:r>
          </a:p>
        </p:txBody>
      </p:sp>
      <p:sp>
        <p:nvSpPr>
          <p:cNvPr id="15" name="TextBox 14"/>
          <p:cNvSpPr txBox="1"/>
          <p:nvPr/>
        </p:nvSpPr>
        <p:spPr>
          <a:xfrm>
            <a:off x="484231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226367"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The copy that stays</a:t>
            </a:r>
          </a:p>
        </p:txBody>
      </p:sp>
      <p:sp>
        <p:nvSpPr>
          <p:cNvPr id="17" name="TextBox 16"/>
          <p:cNvSpPr txBox="1"/>
          <p:nvPr/>
        </p:nvSpPr>
        <p:spPr>
          <a:xfrm>
            <a:off x="671598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100030" y="5248656"/>
            <a:ext cx="1839087" cy="185166"/>
          </a:xfrm>
          <a:prstGeom prst="rect">
            <a:avLst/>
          </a:prstGeom>
          <a:noFill/>
        </p:spPr>
        <p:txBody>
          <a:bodyPr wrap="square" anchor="t" lIns="0" rIns="0" tIns="0" bIns="0">
            <a:spAutoFit/>
          </a:bodyPr>
          <a:lstStyle/>
          <a:p>
            <a:pPr algn="l"/>
            <a:r>
              <a:rPr sz="900" b="0" i="0">
                <a:solidFill>
                  <a:srgbClr val="FFFFFF"/>
                </a:solidFill>
                <a:latin typeface="Calibri"/>
              </a:rPr>
              <a:t>What is missing or malformed</a:t>
            </a:r>
          </a:p>
        </p:txBody>
      </p:sp>
      <p:sp>
        <p:nvSpPr>
          <p:cNvPr id="19" name="TextBox 18"/>
          <p:cNvSpPr txBox="1"/>
          <p:nvPr/>
        </p:nvSpPr>
        <p:spPr>
          <a:xfrm>
            <a:off x="912199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506045"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The bridge to the books</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63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Wednesday morning, one reply to 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Tuesday's finding reached the leadership group, and Finance answered first.</a:t>
            </a:r>
          </a:p>
        </p:txBody>
      </p:sp>
      <p:sp>
        <p:nvSpPr>
          <p:cNvPr id="9" name="Rounded Rectangle 8"/>
          <p:cNvSpPr/>
          <p:nvPr/>
        </p:nvSpPr>
        <p:spPr>
          <a:xfrm>
            <a:off x="53035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andmark_74597fd10b4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FINANCE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Anand Iyer</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The finance controller. His books say Q1 was Rs 1.9 crore, and his analyst audits every number that reaches him.</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database_0f9c2895db5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ERP TEAM</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raw exports</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An orders CSV and the app's JSON feed, with a note that the CSV was stitched from two extracts during the Q1 migration.</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gaphone_df6318bcf2f9.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Impatient: if the drop is a data problem, a month is lost arguing about it.</a:t>
            </a:r>
          </a:p>
        </p:txBody>
      </p:sp>
      <p:sp>
        <p:nvSpPr>
          <p:cNvPr id="27" name="TextBox 26"/>
          <p:cNvSpPr txBox="1"/>
          <p:nvPr/>
        </p:nvSpPr>
        <p:spPr>
          <a:xfrm>
            <a:off x="530352" y="4294124"/>
            <a:ext cx="3527450" cy="698500"/>
          </a:xfrm>
          <a:prstGeom prst="rect">
            <a:avLst/>
          </a:prstGeom>
          <a:noFill/>
        </p:spPr>
        <p:txBody>
          <a:bodyPr wrap="square" anchor="t" lIns="0" rIns="0" tIns="0" bIns="0">
            <a:spAutoFit/>
          </a:bodyPr>
          <a:lstStyle/>
          <a:p>
            <a:pPr algn="l"/>
            <a:r>
              <a:rPr sz="4400" b="0" i="0">
                <a:solidFill>
                  <a:srgbClr val="5B3FD6"/>
                </a:solidFill>
                <a:latin typeface="Georgia"/>
              </a:rPr>
              <a:t>Rs 2.1 cr</a:t>
            </a:r>
          </a:p>
        </p:txBody>
      </p:sp>
      <p:sp>
        <p:nvSpPr>
          <p:cNvPr id="28" name="TextBox 27"/>
          <p:cNvSpPr txBox="1"/>
          <p:nvPr/>
        </p:nvSpPr>
        <p:spPr>
          <a:xfrm>
            <a:off x="530352" y="502920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DASHBOARD'S Q1</a:t>
            </a:r>
          </a:p>
        </p:txBody>
      </p:sp>
      <p:sp>
        <p:nvSpPr>
          <p:cNvPr id="29" name="TextBox 28"/>
          <p:cNvSpPr txBox="1"/>
          <p:nvPr/>
        </p:nvSpPr>
        <p:spPr>
          <a:xfrm>
            <a:off x="530352" y="5230368"/>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the ERP export</a:t>
            </a:r>
          </a:p>
        </p:txBody>
      </p:sp>
      <p:sp>
        <p:nvSpPr>
          <p:cNvPr id="30" name="Rectangle 29"/>
          <p:cNvSpPr/>
          <p:nvPr/>
        </p:nvSpPr>
        <p:spPr>
          <a:xfrm>
            <a:off x="530352" y="548284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332122" y="4294124"/>
            <a:ext cx="3527450" cy="698500"/>
          </a:xfrm>
          <a:prstGeom prst="rect">
            <a:avLst/>
          </a:prstGeom>
          <a:noFill/>
        </p:spPr>
        <p:txBody>
          <a:bodyPr wrap="square" anchor="t" lIns="0" rIns="0" tIns="0" bIns="0">
            <a:spAutoFit/>
          </a:bodyPr>
          <a:lstStyle/>
          <a:p>
            <a:pPr algn="l"/>
            <a:r>
              <a:rPr sz="4400" b="0" i="0">
                <a:solidFill>
                  <a:srgbClr val="5B3FD6"/>
                </a:solidFill>
                <a:latin typeface="Georgia"/>
              </a:rPr>
              <a:t>Rs 1.9 cr</a:t>
            </a:r>
          </a:p>
        </p:txBody>
      </p:sp>
      <p:sp>
        <p:nvSpPr>
          <p:cNvPr id="32" name="TextBox 31"/>
          <p:cNvSpPr txBox="1"/>
          <p:nvPr/>
        </p:nvSpPr>
        <p:spPr>
          <a:xfrm>
            <a:off x="4332122" y="502920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BOOKS' Q1</a:t>
            </a:r>
          </a:p>
        </p:txBody>
      </p:sp>
      <p:sp>
        <p:nvSpPr>
          <p:cNvPr id="33" name="TextBox 32"/>
          <p:cNvSpPr txBox="1"/>
          <p:nvPr/>
        </p:nvSpPr>
        <p:spPr>
          <a:xfrm>
            <a:off x="4332122" y="5230368"/>
            <a:ext cx="3527450" cy="193421"/>
          </a:xfrm>
          <a:prstGeom prst="rect">
            <a:avLst/>
          </a:prstGeom>
          <a:noFill/>
        </p:spPr>
        <p:txBody>
          <a:bodyPr wrap="square" anchor="t" lIns="0" rIns="0" tIns="0" bIns="0">
            <a:spAutoFit/>
          </a:bodyPr>
          <a:lstStyle/>
          <a:p>
            <a:pPr algn="l"/>
            <a:r>
              <a:rPr sz="950" b="0" i="0">
                <a:solidFill>
                  <a:srgbClr val="6B6690"/>
                </a:solidFill>
                <a:latin typeface="Calibri"/>
              </a:rPr>
              <a:t>what Finance booked</a:t>
            </a:r>
          </a:p>
        </p:txBody>
      </p:sp>
      <p:sp>
        <p:nvSpPr>
          <p:cNvPr id="34" name="Rectangle 33"/>
          <p:cNvSpPr/>
          <p:nvPr/>
        </p:nvSpPr>
        <p:spPr>
          <a:xfrm>
            <a:off x="4332122" y="548284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133892" y="4294124"/>
            <a:ext cx="3527450" cy="698500"/>
          </a:xfrm>
          <a:prstGeom prst="rect">
            <a:avLst/>
          </a:prstGeom>
          <a:noFill/>
        </p:spPr>
        <p:txBody>
          <a:bodyPr wrap="square" anchor="t" lIns="0" rIns="0" tIns="0" bIns="0">
            <a:spAutoFit/>
          </a:bodyPr>
          <a:lstStyle/>
          <a:p>
            <a:pPr algn="l"/>
            <a:r>
              <a:rPr sz="4400" b="0" i="0">
                <a:solidFill>
                  <a:srgbClr val="5B3FD6"/>
                </a:solidFill>
                <a:latin typeface="Georgia"/>
              </a:rPr>
              <a:t>Rs 20 lakh</a:t>
            </a:r>
          </a:p>
        </p:txBody>
      </p:sp>
      <p:sp>
        <p:nvSpPr>
          <p:cNvPr id="36" name="TextBox 35"/>
          <p:cNvSpPr txBox="1"/>
          <p:nvPr/>
        </p:nvSpPr>
        <p:spPr>
          <a:xfrm>
            <a:off x="8133892" y="502920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a:t>
            </a:r>
          </a:p>
        </p:txBody>
      </p:sp>
      <p:sp>
        <p:nvSpPr>
          <p:cNvPr id="37" name="TextBox 36"/>
          <p:cNvSpPr txBox="1"/>
          <p:nvPr/>
        </p:nvSpPr>
        <p:spPr>
          <a:xfrm>
            <a:off x="8133892" y="5230368"/>
            <a:ext cx="3527450" cy="193421"/>
          </a:xfrm>
          <a:prstGeom prst="rect">
            <a:avLst/>
          </a:prstGeom>
          <a:noFill/>
        </p:spPr>
        <p:txBody>
          <a:bodyPr wrap="square" anchor="t" lIns="0" rIns="0" tIns="0" bIns="0">
            <a:spAutoFit/>
          </a:bodyPr>
          <a:lstStyle/>
          <a:p>
            <a:pPr algn="l"/>
            <a:r>
              <a:rPr sz="950" b="0" i="0">
                <a:solidFill>
                  <a:srgbClr val="6B6690"/>
                </a:solidFill>
                <a:latin typeface="Calibri"/>
              </a:rPr>
              <a:t>about 10 percent of Q1</a:t>
            </a:r>
          </a:p>
        </p:txBody>
      </p:sp>
      <p:sp>
        <p:nvSpPr>
          <p:cNvPr id="38" name="Rectangle 37"/>
          <p:cNvSpPr/>
          <p:nvPr/>
        </p:nvSpPr>
        <p:spPr>
          <a:xfrm>
            <a:off x="8133892" y="548284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41" name="Oval 40"/>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43" name="Oval 42"/>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45" name="Oval 44"/>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47" name="Oval 46"/>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63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readers, four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reconciliation has to answer all of them.</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"Which figure is right, and how do you know? Can my analyst follow every decision you made?"</a:t>
            </a:r>
          </a:p>
        </p:txBody>
      </p:sp>
      <p:graphicFrame>
        <p:nvGraphicFramePr>
          <p:cNvPr id="14" name="Table 13"/>
          <p:cNvGraphicFramePr>
            <a:graphicFrameLocks noGrp="1"/>
          </p:cNvGraphicFramePr>
          <p:nvPr/>
        </p:nvGraphicFramePr>
        <p:xfrm>
          <a:off x="530352" y="2983992"/>
          <a:ext cx="11130990" cy="2090928"/>
        </p:xfrm>
        <a:graphic>
          <a:graphicData uri="http://schemas.openxmlformats.org/drawingml/2006/table">
            <a:tbl>
              <a:tblPr firstRow="0" bandRow="0">
                <a:tableStyleId>{2D5ABB26-0587-4C30-8999-92F81FD0307C}</a:tableStyleId>
              </a:tblPr>
              <a:tblGrid>
                <a:gridCol w="1292669"/>
                <a:gridCol w="3996777"/>
                <a:gridCol w="5841544"/>
              </a:tblGrid>
              <a:tr h="369824">
                <a:tc>
                  <a:txBody>
                    <a:bodyPr/>
                    <a:lstStyle/>
                    <a:p>
                      <a:r>
                        <a:rPr sz="1450" b="1" i="0">
                          <a:solidFill>
                            <a:srgbClr val="FFFFFF"/>
                          </a:solidFill>
                          <a:latin typeface="Calibri"/>
                        </a:rPr>
                        <a:t>Who</a:t>
                      </a:r>
                    </a:p>
                  </a:txBody>
                  <a:tcPr marL="101600" marR="101600" marT="38100" marB="38100" anchor="ctr">
                    <a:solidFill>
                      <a:srgbClr val="1A0F5C"/>
                    </a:solidFill>
                  </a:tcPr>
                </a:tc>
                <a:tc>
                  <a:txBody>
                    <a:bodyPr/>
                    <a:lstStyle/>
                    <a:p>
                      <a:r>
                        <a:rPr sz="1450" b="1" i="0">
                          <a:solidFill>
                            <a:srgbClr val="FFFFFF"/>
                          </a:solidFill>
                          <a:latin typeface="Calibri"/>
                        </a:rPr>
                        <a:t>Their question</a:t>
                      </a:r>
                    </a:p>
                  </a:txBody>
                  <a:tcPr marL="101600" marR="101600" marT="38100" marB="38100" anchor="ctr">
                    <a:solidFill>
                      <a:srgbClr val="1A0F5C"/>
                    </a:solidFill>
                  </a:tcPr>
                </a:tc>
                <a:tc>
                  <a:txBody>
                    <a:bodyPr/>
                    <a:lstStyle/>
                    <a:p>
                      <a:r>
                        <a:rPr sz="1450" b="1" i="0">
                          <a:solidFill>
                            <a:srgbClr val="FFFFFF"/>
                          </a:solidFill>
                          <a:latin typeface="Calibri"/>
                        </a:rPr>
                        <a:t>What answers it</a:t>
                      </a:r>
                    </a:p>
                  </a:txBody>
                  <a:tcPr marL="101600" marR="101600" marT="38100" marB="38100" anchor="ctr">
                    <a:solidFill>
                      <a:srgbClr val="1A0F5C"/>
                    </a:solidFill>
                  </a:tcPr>
                </a:tc>
              </a:tr>
              <a:tr h="369824">
                <a:tc>
                  <a:txBody>
                    <a:bodyPr/>
                    <a:lstStyle/>
                    <a:p>
                      <a:r>
                        <a:rPr sz="1400" b="0" i="0">
                          <a:solidFill>
                            <a:srgbClr val="1A1440"/>
                          </a:solidFill>
                          <a:latin typeface="Calibri"/>
                        </a:rPr>
                        <a:t>Anand</a:t>
                      </a:r>
                    </a:p>
                  </a:txBody>
                  <a:tcPr marL="101600" marR="101600" marT="38100" marB="38100" anchor="ctr">
                    <a:solidFill>
                      <a:srgbClr val="FFFFFF"/>
                    </a:solidFill>
                  </a:tcPr>
                </a:tc>
                <a:tc>
                  <a:txBody>
                    <a:bodyPr/>
                    <a:lstStyle/>
                    <a:p>
                      <a:r>
                        <a:rPr sz="1400" b="0" i="0">
                          <a:solidFill>
                            <a:srgbClr val="1A1440"/>
                          </a:solidFill>
                          <a:latin typeface="Calibri"/>
                        </a:rPr>
                        <a:t>Which Q1 figure is right, and the proof</a:t>
                      </a:r>
                    </a:p>
                  </a:txBody>
                  <a:tcPr marL="101600" marR="101600" marT="38100" marB="38100" anchor="ctr">
                    <a:solidFill>
                      <a:srgbClr val="FFFFFF"/>
                    </a:solidFill>
                  </a:tcPr>
                </a:tc>
                <a:tc>
                  <a:txBody>
                    <a:bodyPr/>
                    <a:lstStyle/>
                    <a:p>
                      <a:r>
                        <a:rPr sz="1400" b="0" i="0">
                          <a:solidFill>
                            <a:srgbClr val="1A1440"/>
                          </a:solidFill>
                          <a:latin typeface="Calibri"/>
                        </a:rPr>
                        <a:t>A bridge from 2.1 to 1.9, move by move</a:t>
                      </a:r>
                    </a:p>
                  </a:txBody>
                  <a:tcPr marL="101600" marR="101600" marT="38100" marB="38100" anchor="ctr">
                    <a:solidFill>
                      <a:srgbClr val="FFFFFF"/>
                    </a:solidFill>
                  </a:tcPr>
                </a:tc>
              </a:tr>
              <a:tr h="611632">
                <a:tc>
                  <a:txBody>
                    <a:bodyPr/>
                    <a:lstStyle/>
                    <a:p>
                      <a:r>
                        <a:rPr sz="1400" b="0" i="0">
                          <a:solidFill>
                            <a:srgbClr val="1A1440"/>
                          </a:solidFill>
                          <a:latin typeface="Calibri"/>
                        </a:rPr>
                        <a:t>His analyst</a:t>
                      </a:r>
                    </a:p>
                  </a:txBody>
                  <a:tcPr marL="101600" marR="101600" marT="38100" marB="38100" anchor="ctr">
                    <a:solidFill>
                      <a:srgbClr val="F4F2FA"/>
                    </a:solidFill>
                  </a:tcPr>
                </a:tc>
                <a:tc>
                  <a:txBody>
                    <a:bodyPr/>
                    <a:lstStyle/>
                    <a:p>
                      <a:r>
                        <a:rPr sz="1400" b="0" i="0">
                          <a:solidFill>
                            <a:srgbClr val="1A1440"/>
                          </a:solidFill>
                          <a:latin typeface="Calibri"/>
                        </a:rPr>
                        <a:t>Can every row you removed be followed</a:t>
                      </a:r>
                    </a:p>
                  </a:txBody>
                  <a:tcPr marL="101600" marR="101600" marT="38100" marB="38100" anchor="ctr">
                    <a:solidFill>
                      <a:srgbClr val="F4F2FA"/>
                    </a:solidFill>
                  </a:tcPr>
                </a:tc>
                <a:tc>
                  <a:txBody>
                    <a:bodyPr/>
                    <a:lstStyle/>
                    <a:p>
                      <a:r>
                        <a:rPr sz="1400" b="0" i="0">
                          <a:solidFill>
                            <a:srgbClr val="1A1440"/>
                          </a:solidFill>
                          <a:latin typeface="Calibri"/>
                        </a:rPr>
                        <a:t>The logs, and control totals: rows and rupees counted at both ends</a:t>
                      </a:r>
                    </a:p>
                  </a:txBody>
                  <a:tcPr marL="101600" marR="101600" marT="38100" marB="38100" anchor="ctr">
                    <a:solidFill>
                      <a:srgbClr val="F4F2FA"/>
                    </a:solidFill>
                  </a:tcPr>
                </a:tc>
              </a:tr>
              <a:tr h="369824">
                <a:tc>
                  <a:txBody>
                    <a:bodyPr/>
                    <a:lstStyle/>
                    <a:p>
                      <a:r>
                        <a:rPr sz="1400" b="0" i="0">
                          <a:solidFill>
                            <a:srgbClr val="1A1440"/>
                          </a:solidFill>
                          <a:latin typeface="Calibri"/>
                        </a:rPr>
                        <a:t>Marketing</a:t>
                      </a:r>
                    </a:p>
                  </a:txBody>
                  <a:tcPr marL="101600" marR="101600" marT="38100" marB="38100" anchor="ctr">
                    <a:solidFill>
                      <a:srgbClr val="FFFFFF"/>
                    </a:solidFill>
                  </a:tcPr>
                </a:tc>
                <a:tc>
                  <a:txBody>
                    <a:bodyPr/>
                    <a:lstStyle/>
                    <a:p>
                      <a:r>
                        <a:rPr sz="1400" b="0" i="0">
                          <a:solidFill>
                            <a:srgbClr val="1A1440"/>
                          </a:solidFill>
                          <a:latin typeface="Calibri"/>
                        </a:rPr>
                        <a:t>Does Tuesday's finding survive</a:t>
                      </a:r>
                    </a:p>
                  </a:txBody>
                  <a:tcPr marL="101600" marR="101600" marT="38100" marB="38100" anchor="ctr">
                    <a:solidFill>
                      <a:srgbClr val="FFFFFF"/>
                    </a:solidFill>
                  </a:tcPr>
                </a:tc>
                <a:tc>
                  <a:txBody>
                    <a:bodyPr/>
                    <a:lstStyle/>
                    <a:p>
                      <a:r>
                        <a:rPr sz="1400" b="0" i="0">
                          <a:solidFill>
                            <a:srgbClr val="1A1440"/>
                          </a:solidFill>
                          <a:latin typeface="Calibri"/>
                        </a:rPr>
                        <a:t>Tuesday recomputed on the clean file</a:t>
                      </a:r>
                    </a:p>
                  </a:txBody>
                  <a:tcPr marL="101600" marR="101600" marT="38100" marB="38100" anchor="ctr">
                    <a:solidFill>
                      <a:srgbClr val="FFFFFF"/>
                    </a:solidFill>
                  </a:tcPr>
                </a:tc>
              </a:tr>
              <a:tr h="369824">
                <a:tc>
                  <a:txBody>
                    <a:bodyPr/>
                    <a:lstStyle/>
                    <a:p>
                      <a:r>
                        <a:rPr sz="1400" b="0" i="0">
                          <a:solidFill>
                            <a:srgbClr val="1A1440"/>
                          </a:solidFill>
                          <a:latin typeface="Calibri"/>
                        </a:rPr>
                        <a:t>An auditor</a:t>
                      </a:r>
                    </a:p>
                  </a:txBody>
                  <a:tcPr marL="101600" marR="101600" marT="38100" marB="38100" anchor="ctr">
                    <a:solidFill>
                      <a:srgbClr val="F4F2FA"/>
                    </a:solidFill>
                  </a:tcPr>
                </a:tc>
                <a:tc>
                  <a:txBody>
                    <a:bodyPr/>
                    <a:lstStyle/>
                    <a:p>
                      <a:r>
                        <a:rPr sz="1400" b="0" i="0">
                          <a:solidFill>
                            <a:srgbClr val="1A1440"/>
                          </a:solidFill>
                          <a:latin typeface="Calibri"/>
                        </a:rPr>
                        <a:t>Why did you drop any row</a:t>
                      </a:r>
                    </a:p>
                  </a:txBody>
                  <a:tcPr marL="101600" marR="101600" marT="38100" marB="38100" anchor="ctr">
                    <a:solidFill>
                      <a:srgbClr val="F4F2FA"/>
                    </a:solidFill>
                  </a:tcPr>
                </a:tc>
                <a:tc>
                  <a:txBody>
                    <a:bodyPr/>
                    <a:lstStyle/>
                    <a:p>
                      <a:r>
                        <a:rPr sz="1400" b="0" i="0">
                          <a:solidFill>
                            <a:srgbClr val="1A1440"/>
                          </a:solidFill>
                          <a:latin typeface="Calibri"/>
                        </a:rPr>
                        <a:t>Rows that tie, with a reason per row</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63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could make an export read high?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file opens, list every way 2.1 and 1.9 could both be honest arithmetic.</a:t>
            </a:r>
          </a:p>
        </p:txBody>
      </p:sp>
      <p:pic>
        <p:nvPicPr>
          <p:cNvPr id="9" name="mermaid diagram" descr="18bdfe7739cc3c14.png"/>
          <p:cNvPicPr>
            <a:picLocks noChangeAspect="1"/>
          </p:cNvPicPr>
          <p:nvPr/>
        </p:nvPicPr>
        <p:blipFill>
          <a:blip r:embed="rId5"/>
          <a:stretch>
            <a:fillRect/>
          </a:stretch>
        </p:blipFill>
        <p:spPr>
          <a:xfrm>
            <a:off x="1012032" y="1682496"/>
            <a:ext cx="3822965" cy="4517136"/>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branch would you check first, as a letter? a) more rows than orders; b) bigger values than booked; c) another definition; d) rows missing from the books.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63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rows first, because a count is cheapest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branch is possible; the cheapest check goes first.</a:t>
            </a:r>
          </a:p>
        </p:txBody>
      </p:sp>
      <p:pic>
        <p:nvPicPr>
          <p:cNvPr id="9" name="mermaid diagram" descr="cbacbf6e9d989b7a.png"/>
          <p:cNvPicPr>
            <a:picLocks noChangeAspect="1"/>
          </p:cNvPicPr>
          <p:nvPr/>
        </p:nvPicPr>
        <p:blipFill>
          <a:blip r:embed="rId6"/>
          <a:stretch>
            <a:fillRect/>
          </a:stretch>
        </p:blipFill>
        <p:spPr>
          <a:xfrm>
            <a:off x="1273023" y="1682496"/>
            <a:ext cx="3300984" cy="4517136"/>
          </a:xfrm>
          <a:prstGeom prst="rect">
            <a:avLst/>
          </a:prstGeom>
        </p:spPr>
      </p:pic>
      <p:sp>
        <p:nvSpPr>
          <p:cNvPr id="10" name="Rounded Rectangle 9"/>
          <p:cNvSpPr/>
          <p:nvPr/>
        </p:nvSpPr>
        <p:spPr>
          <a:xfrm>
            <a:off x="5761917" y="1956816"/>
            <a:ext cx="589942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6100245" y="265785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1A1440"/>
                </a:solidFill>
                <a:latin typeface="Calibri"/>
              </a:rPr>
              <a:t>Rank the checks by cost. Rows against distinct orders takes one line and rules a whole branch in or out; start there and keep the other three on the list.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63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thinking: profile, decide, reconcile, recompute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moves, drawn on the board before any tool opens, and a log written as you go.</a:t>
            </a:r>
          </a:p>
        </p:txBody>
      </p:sp>
      <p:pic>
        <p:nvPicPr>
          <p:cNvPr id="9" name="mermaid diagram" descr="e4dc3ca5af3c86f2.png"/>
          <p:cNvPicPr>
            <a:picLocks noChangeAspect="1"/>
          </p:cNvPicPr>
          <p:nvPr/>
        </p:nvPicPr>
        <p:blipFill>
          <a:blip r:embed="rId5"/>
          <a:stretch>
            <a:fillRect/>
          </a:stretch>
        </p:blipFill>
        <p:spPr>
          <a:xfrm>
            <a:off x="780897" y="1956816"/>
            <a:ext cx="10629900" cy="3043237"/>
          </a:xfrm>
          <a:prstGeom prst="rect">
            <a:avLst/>
          </a:prstGeom>
        </p:spPr>
      </p:pic>
      <p:sp>
        <p:nvSpPr>
          <p:cNvPr id="10" name="TextBox 9"/>
          <p:cNvSpPr txBox="1"/>
          <p:nvPr/>
        </p:nvSpPr>
        <p:spPr>
          <a:xfrm>
            <a:off x="530352" y="51463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cleaning act is a decision with a written reason. The reconciliation proves the clean file is the same data: input equals clean plus set aside, in rows and in rupees.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3" name="Oval 1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19" name="Oval 1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63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chapters, each a harder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this morning, the sixth after lunch, each with its own notebook.</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the ERP actually sent</a:t>
            </a:r>
          </a:p>
        </p:txBody>
      </p:sp>
      <p:sp>
        <p:nvSpPr>
          <p:cNvPr id="14" name="TextBox 13"/>
          <p:cNvSpPr txBox="1"/>
          <p:nvPr/>
        </p:nvSpPr>
        <p:spPr>
          <a:xfrm>
            <a:off x="694944"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The profile: present, convertible, distinct.</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The rows that repeat</a:t>
            </a:r>
          </a:p>
        </p:txBody>
      </p:sp>
      <p:sp>
        <p:nvSpPr>
          <p:cNvPr id="19" name="TextBox 18"/>
          <p:cNvSpPr txBox="1"/>
          <p:nvPr/>
        </p:nvSpPr>
        <p:spPr>
          <a:xfrm>
            <a:off x="258058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makes two rows one order.</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The copy that stays</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identity rule and its preference.</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is missing or malformed</a:t>
            </a:r>
          </a:p>
        </p:txBody>
      </p:sp>
      <p:sp>
        <p:nvSpPr>
          <p:cNvPr id="29" name="TextBox 28"/>
          <p:cNvSpPr txBox="1"/>
          <p:nvPr/>
        </p:nvSpPr>
        <p:spPr>
          <a:xfrm>
            <a:off x="6351879"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Drop, default or flag; coerce, reject or repair.</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The bridge to the books</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bridge, and Tuesday recomputed.</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The log the analyst audits</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Logs a stranger can replay.</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42" name="Oval 4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44" name="Oval 4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46" name="Oval 4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48" name="Oval 4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63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the ERP actually sent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Count what arrived before totalling anything.</a:t>
            </a:r>
          </a:p>
        </p:txBody>
      </p:sp>
      <p:sp>
        <p:nvSpPr>
          <p:cNvPr id="10" name="Rounded Rectangle 9"/>
          <p:cNvSpPr/>
          <p:nvPr/>
        </p:nvSpPr>
        <p:spPr>
          <a:xfrm>
            <a:off x="731519"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a total needs a file you have profiled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Anand's metric is Q1 revenue to the rupee, and every later number stands on this one.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Q1 revenue</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booked value: every order at its price, whatever its status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Anand</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controller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 month</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WRONG NUMBER COSTS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 waits, Finance distrusts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"How many records did you receive, and how many can you use?"</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63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Target Canada trusted data nobody had profiled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 opened in 2013, and in January 2015 announced it would close all 133 stores.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133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STORES TO CLOSE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announced January 2015, CBC News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bn</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FIRST-YEAR LOSS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CBC News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PRODUCT DATA ACCURATE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Salsify, citing Canadian Business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Data loaded in a hurry during a system change is the kind that needs counting before anyone trusts it. Kalpa's ERP export was stitched during a migration.</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learn what arrived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option sized on this file: 201 rows, 10 fields.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551131"/>
                <a:gridCol w="2345251"/>
                <a:gridCol w="1933489"/>
                <a:gridCol w="4301118"/>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reads</a:t>
                      </a:r>
                    </a:p>
                  </a:txBody>
                  <a:tcPr marL="101600" marR="101600" marT="38100" marB="38100" anchor="ctr">
                    <a:solidFill>
                      <a:srgbClr val="1A0F5C"/>
                    </a:solidFill>
                  </a:tcPr>
                </a:tc>
                <a:tc>
                  <a:txBody>
                    <a:bodyPr/>
                    <a:lstStyle/>
                    <a:p>
                      <a:r>
                        <a:rPr sz="1250" b="1" i="0">
                          <a:solidFill>
                            <a:srgbClr val="FFFFFF"/>
                          </a:solidFill>
                          <a:latin typeface="Calibri"/>
                        </a:rPr>
                        <a:t>Time</a:t>
                      </a:r>
                    </a:p>
                  </a:txBody>
                  <a:tcPr marL="101600" marR="101600" marT="38100" marB="38100" anchor="ctr">
                    <a:solidFill>
                      <a:srgbClr val="1A0F5C"/>
                    </a:solidFill>
                  </a:tcPr>
                </a:tc>
                <a:tc>
                  <a:txBody>
                    <a:bodyPr/>
                    <a:lstStyle/>
                    <a:p>
                      <a:r>
                        <a:rPr sz="1250" b="1" i="0">
                          <a:solidFill>
                            <a:srgbClr val="FFFFFF"/>
                          </a:solidFill>
                          <a:latin typeface="Calibri"/>
                        </a:rPr>
                        <a:t>What it catches</a:t>
                      </a:r>
                    </a:p>
                  </a:txBody>
                  <a:tcPr marL="101600" marR="101600" marT="38100" marB="38100" anchor="ctr">
                    <a:solidFill>
                      <a:srgbClr val="1A0F5C"/>
                    </a:solidFill>
                  </a:tcPr>
                </a:tc>
              </a:tr>
              <a:tr h="335280">
                <a:tc>
                  <a:txBody>
                    <a:bodyPr/>
                    <a:lstStyle/>
                    <a:p>
                      <a:r>
                        <a:rPr sz="1200" b="0" i="0">
                          <a:solidFill>
                            <a:srgbClr val="1A1440"/>
                          </a:solidFill>
                          <a:latin typeface="Calibri"/>
                        </a:rPr>
                        <a:t>a) Total and compare</a:t>
                      </a:r>
                    </a:p>
                  </a:txBody>
                  <a:tcPr marL="101600" marR="101600" marT="38100" marB="38100" anchor="ctr">
                    <a:solidFill>
                      <a:srgbClr val="FFFFFF"/>
                    </a:solidFill>
                  </a:tcPr>
                </a:tc>
                <a:tc>
                  <a:txBody>
                    <a:bodyPr/>
                    <a:lstStyle/>
                    <a:p>
                      <a:r>
                        <a:rPr sz="1200" b="0" i="0">
                          <a:solidFill>
                            <a:srgbClr val="1A1440"/>
                          </a:solidFill>
                          <a:latin typeface="Calibri"/>
                        </a:rPr>
                        <a:t>201 amounts</a:t>
                      </a:r>
                    </a:p>
                  </a:txBody>
                  <a:tcPr marL="101600" marR="101600" marT="38100" marB="38100" anchor="ctr">
                    <a:solidFill>
                      <a:srgbClr val="FFFFFF"/>
                    </a:solidFill>
                  </a:tcPr>
                </a:tc>
                <a:tc>
                  <a:txBody>
                    <a:bodyPr/>
                    <a:lstStyle/>
                    <a:p>
                      <a:r>
                        <a:rPr sz="1200" b="0" i="0">
                          <a:solidFill>
                            <a:srgbClr val="1A1440"/>
                          </a:solidFill>
                          <a:latin typeface="Calibri"/>
                        </a:rPr>
                        <a:t>under a second</a:t>
                      </a:r>
                    </a:p>
                  </a:txBody>
                  <a:tcPr marL="101600" marR="101600" marT="38100" marB="38100" anchor="ctr">
                    <a:solidFill>
                      <a:srgbClr val="FFFFFF"/>
                    </a:solidFill>
                  </a:tcPr>
                </a:tc>
                <a:tc>
                  <a:txBody>
                    <a:bodyPr/>
                    <a:lstStyle/>
                    <a:p>
                      <a:r>
                        <a:rPr sz="1200" b="0" i="0">
                          <a:solidFill>
                            <a:srgbClr val="1A1440"/>
                          </a:solidFill>
                          <a:latin typeface="Calibri"/>
                        </a:rPr>
                        <a:t>stops on an unreadable amount</a:t>
                      </a:r>
                    </a:p>
                  </a:txBody>
                  <a:tcPr marL="101600" marR="101600" marT="38100" marB="38100" anchor="ctr">
                    <a:solidFill>
                      <a:srgbClr val="FFFFFF"/>
                    </a:solidFill>
                  </a:tcPr>
                </a:tc>
              </a:tr>
              <a:tr h="335280">
                <a:tc>
                  <a:txBody>
                    <a:bodyPr/>
                    <a:lstStyle/>
                    <a:p>
                      <a:r>
                        <a:rPr sz="1200" b="0" i="0">
                          <a:solidFill>
                            <a:srgbClr val="1A1440"/>
                          </a:solidFill>
                          <a:latin typeface="Calibri"/>
                        </a:rPr>
                        <a:t>b) Scroll it</a:t>
                      </a:r>
                    </a:p>
                  </a:txBody>
                  <a:tcPr marL="101600" marR="101600" marT="38100" marB="38100" anchor="ctr">
                    <a:solidFill>
                      <a:srgbClr val="F4F2FA"/>
                    </a:solidFill>
                  </a:tcPr>
                </a:tc>
                <a:tc>
                  <a:txBody>
                    <a:bodyPr/>
                    <a:lstStyle/>
                    <a:p>
                      <a:r>
                        <a:rPr sz="1200" b="0" i="0">
                          <a:solidFill>
                            <a:srgbClr val="1A1440"/>
                          </a:solidFill>
                          <a:latin typeface="Calibri"/>
                        </a:rPr>
                        <a:t>2,010 cells by eye</a:t>
                      </a:r>
                    </a:p>
                  </a:txBody>
                  <a:tcPr marL="101600" marR="101600" marT="38100" marB="38100" anchor="ctr">
                    <a:solidFill>
                      <a:srgbClr val="F4F2FA"/>
                    </a:solidFill>
                  </a:tcPr>
                </a:tc>
                <a:tc>
                  <a:txBody>
                    <a:bodyPr/>
                    <a:lstStyle/>
                    <a:p>
                      <a:r>
                        <a:rPr sz="1200" b="0" i="0">
                          <a:solidFill>
                            <a:srgbClr val="1A1440"/>
                          </a:solidFill>
                          <a:latin typeface="Calibri"/>
                        </a:rPr>
                        <a:t>about 17 minutes</a:t>
                      </a:r>
                    </a:p>
                  </a:txBody>
                  <a:tcPr marL="101600" marR="101600" marT="38100" marB="38100" anchor="ctr">
                    <a:solidFill>
                      <a:srgbClr val="F4F2FA"/>
                    </a:solidFill>
                  </a:tcPr>
                </a:tc>
                <a:tc>
                  <a:txBody>
                    <a:bodyPr/>
                    <a:lstStyle/>
                    <a:p>
                      <a:r>
                        <a:rPr sz="1200" b="0" i="0">
                          <a:solidFill>
                            <a:srgbClr val="1A1440"/>
                          </a:solidFill>
                          <a:latin typeface="Calibri"/>
                        </a:rPr>
                        <a:t>misses repeats far apart</a:t>
                      </a:r>
                    </a:p>
                  </a:txBody>
                  <a:tcPr marL="101600" marR="101600" marT="38100" marB="38100" anchor="ctr">
                    <a:solidFill>
                      <a:srgbClr val="F4F2FA"/>
                    </a:solidFill>
                  </a:tcPr>
                </a:tc>
              </a:tr>
              <a:tr h="335280">
                <a:tc>
                  <a:txBody>
                    <a:bodyPr/>
                    <a:lstStyle/>
                    <a:p>
                      <a:r>
                        <a:rPr sz="1200" b="0" i="0">
                          <a:solidFill>
                            <a:srgbClr val="1A1440"/>
                          </a:solidFill>
                          <a:latin typeface="Calibri"/>
                        </a:rPr>
                        <a:t>c) Sample 20 rows</a:t>
                      </a:r>
                    </a:p>
                  </a:txBody>
                  <a:tcPr marL="101600" marR="101600" marT="38100" marB="38100" anchor="ctr">
                    <a:solidFill>
                      <a:srgbClr val="FFFFFF"/>
                    </a:solidFill>
                  </a:tcPr>
                </a:tc>
                <a:tc>
                  <a:txBody>
                    <a:bodyPr/>
                    <a:lstStyle/>
                    <a:p>
                      <a:r>
                        <a:rPr sz="1200" b="0" i="0">
                          <a:solidFill>
                            <a:srgbClr val="1A1440"/>
                          </a:solidFill>
                          <a:latin typeface="Calibri"/>
                        </a:rPr>
                        <a:t>20 rows</a:t>
                      </a:r>
                    </a:p>
                  </a:txBody>
                  <a:tcPr marL="101600" marR="101600" marT="38100" marB="38100" anchor="ctr">
                    <a:solidFill>
                      <a:srgbClr val="FFFFFF"/>
                    </a:solidFill>
                  </a:tcPr>
                </a:tc>
                <a:tc>
                  <a:txBody>
                    <a:bodyPr/>
                    <a:lstStyle/>
                    <a:p>
                      <a:r>
                        <a:rPr sz="1200" b="0" i="0">
                          <a:solidFill>
                            <a:srgbClr val="1A1440"/>
                          </a:solidFill>
                          <a:latin typeface="Calibri"/>
                        </a:rPr>
                        <a:t>about 10 minutes</a:t>
                      </a:r>
                    </a:p>
                  </a:txBody>
                  <a:tcPr marL="101600" marR="101600" marT="38100" marB="38100" anchor="ctr">
                    <a:solidFill>
                      <a:srgbClr val="FFFFFF"/>
                    </a:solidFill>
                  </a:tcPr>
                </a:tc>
                <a:tc>
                  <a:txBody>
                    <a:bodyPr/>
                    <a:lstStyle/>
                    <a:p>
                      <a:r>
                        <a:rPr sz="1200" b="0" i="0">
                          <a:solidFill>
                            <a:srgbClr val="1A1440"/>
                          </a:solidFill>
                          <a:latin typeface="Calibri"/>
                        </a:rPr>
                        <a:t>13% chance to see both copies of a pair</a:t>
                      </a:r>
                    </a:p>
                  </a:txBody>
                  <a:tcPr marL="101600" marR="101600" marT="38100" marB="38100" anchor="ctr">
                    <a:solidFill>
                      <a:srgbClr val="FFFFFF"/>
                    </a:solidFill>
                  </a:tcPr>
                </a:tc>
              </a:tr>
              <a:tr h="335280">
                <a:tc>
                  <a:txBody>
                    <a:bodyPr/>
                    <a:lstStyle/>
                    <a:p>
                      <a:r>
                        <a:rPr sz="1200" b="0" i="0">
                          <a:solidFill>
                            <a:srgbClr val="1A1440"/>
                          </a:solidFill>
                          <a:latin typeface="Calibri"/>
                        </a:rPr>
                        <a:t>d) Profile every field</a:t>
                      </a:r>
                    </a:p>
                  </a:txBody>
                  <a:tcPr marL="101600" marR="101600" marT="38100" marB="38100" anchor="ctr">
                    <a:solidFill>
                      <a:srgbClr val="F4F2FA"/>
                    </a:solidFill>
                  </a:tcPr>
                </a:tc>
                <a:tc>
                  <a:txBody>
                    <a:bodyPr/>
                    <a:lstStyle/>
                    <a:p>
                      <a:r>
                        <a:rPr sz="1200" b="0" i="0">
                          <a:solidFill>
                            <a:srgbClr val="1A1440"/>
                          </a:solidFill>
                          <a:latin typeface="Calibri"/>
                        </a:rPr>
                        <a:t>2,010 values by code</a:t>
                      </a:r>
                    </a:p>
                  </a:txBody>
                  <a:tcPr marL="101600" marR="101600" marT="38100" marB="38100" anchor="ctr">
                    <a:solidFill>
                      <a:srgbClr val="F4F2FA"/>
                    </a:solidFill>
                  </a:tcPr>
                </a:tc>
                <a:tc>
                  <a:txBody>
                    <a:bodyPr/>
                    <a:lstStyle/>
                    <a:p>
                      <a:r>
                        <a:rPr sz="1200" b="0" i="0">
                          <a:solidFill>
                            <a:srgbClr val="1A1440"/>
                          </a:solidFill>
                          <a:latin typeface="Calibri"/>
                        </a:rPr>
                        <a:t>under a second</a:t>
                      </a:r>
                    </a:p>
                  </a:txBody>
                  <a:tcPr marL="101600" marR="101600" marT="38100" marB="38100" anchor="ctr">
                    <a:solidFill>
                      <a:srgbClr val="F4F2FA"/>
                    </a:solidFill>
                  </a:tcPr>
                </a:tc>
                <a:tc>
                  <a:txBody>
                    <a:bodyPr/>
                    <a:lstStyle/>
                    <a:p>
                      <a:r>
                        <a:rPr sz="1200" b="0" i="0">
                          <a:solidFill>
                            <a:srgbClr val="1A1440"/>
                          </a:solidFill>
                          <a:latin typeface="Calibri"/>
                        </a:rPr>
                        <a:t>every count that does not fit</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d, then sample only where the profile points. What would switch it: a file with no field that names an order.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63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profile asks three questions of every field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Present, convertible, distinct: what each field can be trusted for.</a:t>
            </a:r>
          </a:p>
        </p:txBody>
      </p:sp>
      <p:pic>
        <p:nvPicPr>
          <p:cNvPr id="9" name="mermaid diagram" descr="d86f17222c8081aa.png"/>
          <p:cNvPicPr>
            <a:picLocks noChangeAspect="1"/>
          </p:cNvPicPr>
          <p:nvPr/>
        </p:nvPicPr>
        <p:blipFill>
          <a:blip r:embed="rId5"/>
          <a:stretch>
            <a:fillRect/>
          </a:stretch>
        </p:blipFill>
        <p:spPr>
          <a:xfrm>
            <a:off x="2152497" y="1682496"/>
            <a:ext cx="7886700" cy="4471987"/>
          </a:xfrm>
          <a:prstGeom prst="rect">
            <a:avLst/>
          </a:prstGeom>
        </p:spPr>
      </p:pic>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6" name="Oval 1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63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field falls furthest short?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Everything read from a CSV is text, and the profile counts it field by field.</a:t>
            </a:r>
          </a:p>
        </p:txBody>
      </p:sp>
      <p:pic>
        <p:nvPicPr>
          <p:cNvPr id="9" name="mermaid diagram" descr="318a2c7e313559da.png"/>
          <p:cNvPicPr>
            <a:picLocks noChangeAspect="1"/>
          </p:cNvPicPr>
          <p:nvPr/>
        </p:nvPicPr>
        <p:blipFill>
          <a:blip r:embed="rId5"/>
          <a:stretch>
            <a:fillRect/>
          </a:stretch>
        </p:blipFill>
        <p:spPr>
          <a:xfrm>
            <a:off x="3302641" y="1956816"/>
            <a:ext cx="5586412" cy="2843212"/>
          </a:xfrm>
          <a:prstGeom prst="rect">
            <a:avLst/>
          </a:prstGeom>
        </p:spPr>
      </p:pic>
      <p:sp>
        <p:nvSpPr>
          <p:cNvPr id="10" name="Rounded Rectangle 9"/>
          <p:cNvSpPr/>
          <p:nvPr/>
        </p:nvSpPr>
        <p:spPr>
          <a:xfrm>
            <a:off x="530352" y="49463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743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6520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field shows the biggest gap between present and 201, as a letter? a) amount; b) discount; c) order_id; d) none, an ERP export is complete.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63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discount, and three smaller gaps matter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counts do not fit 201, and each is a question for a later chapter.</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914400"/>
                <a:gridCol w="914400"/>
                <a:gridCol w="5233235"/>
                <a:gridCol w="4068955"/>
              </a:tblGrid>
              <a:tr h="335280">
                <a:tc>
                  <a:txBody>
                    <a:bodyPr/>
                    <a:lstStyle/>
                    <a:p>
                      <a:r>
                        <a:rPr sz="1250" b="1" i="0">
                          <a:solidFill>
                            <a:srgbClr val="FFFFFF"/>
                          </a:solidFill>
                          <a:latin typeface="Calibri"/>
                        </a:rPr>
                        <a:t>Field</a:t>
                      </a:r>
                    </a:p>
                  </a:txBody>
                  <a:tcPr marL="101600" marR="101600" marT="38100" marB="38100" anchor="ctr">
                    <a:solidFill>
                      <a:srgbClr val="1A0F5C"/>
                    </a:solidFill>
                  </a:tcPr>
                </a:tc>
                <a:tc>
                  <a:txBody>
                    <a:bodyPr/>
                    <a:lstStyle/>
                    <a:p>
                      <a:r>
                        <a:rPr sz="1250" b="1" i="0">
                          <a:solidFill>
                            <a:srgbClr val="FFFFFF"/>
                          </a:solidFill>
                          <a:latin typeface="Calibri"/>
                        </a:rPr>
                        <a:t>Present</a:t>
                      </a:r>
                    </a:p>
                  </a:txBody>
                  <a:tcPr marL="101600" marR="101600" marT="38100" marB="38100" anchor="ctr">
                    <a:solidFill>
                      <a:srgbClr val="1A0F5C"/>
                    </a:solidFill>
                  </a:tcPr>
                </a:tc>
                <a:tc>
                  <a:txBody>
                    <a:bodyPr/>
                    <a:lstStyle/>
                    <a:p>
                      <a:r>
                        <a:rPr sz="1250" b="1" i="0">
                          <a:solidFill>
                            <a:srgbClr val="FFFFFF"/>
                          </a:solidFill>
                          <a:latin typeface="Calibri"/>
                        </a:rPr>
                        <a:t>Convertible</a:t>
                      </a:r>
                    </a:p>
                  </a:txBody>
                  <a:tcPr marL="101600" marR="101600" marT="38100" marB="38100" anchor="ctr">
                    <a:solidFill>
                      <a:srgbClr val="1A0F5C"/>
                    </a:solidFill>
                  </a:tcPr>
                </a:tc>
                <a:tc>
                  <a:txBody>
                    <a:bodyPr/>
                    <a:lstStyle/>
                    <a:p>
                      <a:r>
                        <a:rPr sz="1250" b="1" i="0">
                          <a:solidFill>
                            <a:srgbClr val="FFFFFF"/>
                          </a:solidFill>
                          <a:latin typeface="Calibri"/>
                        </a:rPr>
                        <a:t>Distinct</a:t>
                      </a:r>
                    </a:p>
                  </a:txBody>
                  <a:tcPr marL="101600" marR="101600" marT="38100" marB="38100" anchor="ctr">
                    <a:solidFill>
                      <a:srgbClr val="1A0F5C"/>
                    </a:solidFill>
                  </a:tcPr>
                </a:tc>
              </a:tr>
              <a:tr h="335280">
                <a:tc>
                  <a:txBody>
                    <a:bodyPr/>
                    <a:lstStyle/>
                    <a:p>
                      <a:r>
                        <a:rPr sz="1200" b="0" i="0">
                          <a:solidFill>
                            <a:srgbClr val="1A1440"/>
                          </a:solidFill>
                          <a:latin typeface="Calibri"/>
                        </a:rPr>
                        <a:t>order_id</a:t>
                      </a:r>
                    </a:p>
                  </a:txBody>
                  <a:tcPr marL="101600" marR="101600" marT="38100" marB="38100" anchor="ctr">
                    <a:solidFill>
                      <a:srgbClr val="FFFFFF"/>
                    </a:solidFill>
                  </a:tcPr>
                </a:tc>
                <a:tc>
                  <a:txBody>
                    <a:bodyPr/>
                    <a:lstStyle/>
                    <a:p>
                      <a:r>
                        <a:rPr sz="1200" b="0" i="0">
                          <a:solidFill>
                            <a:srgbClr val="1A1440"/>
                          </a:solidFill>
                          <a:latin typeface="Calibri"/>
                        </a:rPr>
                        <a:t>201</a:t>
                      </a:r>
                    </a:p>
                  </a:txBody>
                  <a:tcPr marL="101600" marR="101600" marT="38100" marB="38100" anchor="ctr">
                    <a:solidFill>
                      <a:srgbClr val="FFFFFF"/>
                    </a:solidFill>
                  </a:tcPr>
                </a:tc>
                <a:tc>
                  <a:txBody>
                    <a:bodyPr/>
                    <a:lstStyle/>
                    <a:p>
                      <a:r>
                        <a:rPr sz="1200" b="0" i="0">
                          <a:solidFill>
                            <a:srgbClr val="1A1440"/>
                          </a:solidFill>
                          <a:latin typeface="Calibri"/>
                        </a:rPr>
                        <a:t>text</a:t>
                      </a:r>
                    </a:p>
                  </a:txBody>
                  <a:tcPr marL="101600" marR="101600" marT="38100" marB="38100" anchor="ctr">
                    <a:solidFill>
                      <a:srgbClr val="FFFFFF"/>
                    </a:solidFill>
                  </a:tcPr>
                </a:tc>
                <a:tc>
                  <a:txBody>
                    <a:bodyPr/>
                    <a:lstStyle/>
                    <a:p>
                      <a:r>
                        <a:rPr sz="1200" b="0" i="0">
                          <a:solidFill>
                            <a:srgbClr val="1A1440"/>
                          </a:solidFill>
                          <a:latin typeface="Calibri"/>
                        </a:rPr>
                        <a:t>186</a:t>
                      </a:r>
                    </a:p>
                  </a:txBody>
                  <a:tcPr marL="101600" marR="101600" marT="38100" marB="38100" anchor="ctr">
                    <a:solidFill>
                      <a:srgbClr val="FFFFFF"/>
                    </a:solidFill>
                  </a:tcPr>
                </a:tc>
              </a:tr>
              <a:tr h="335280">
                <a:tc>
                  <a:txBody>
                    <a:bodyPr/>
                    <a:lstStyle/>
                    <a:p>
                      <a:r>
                        <a:rPr sz="1200" b="0" i="0">
                          <a:solidFill>
                            <a:srgbClr val="1A1440"/>
                          </a:solidFill>
                          <a:latin typeface="Calibri"/>
                        </a:rPr>
                        <a:t>amount</a:t>
                      </a:r>
                    </a:p>
                  </a:txBody>
                  <a:tcPr marL="101600" marR="101600" marT="38100" marB="38100" anchor="ctr">
                    <a:solidFill>
                      <a:srgbClr val="F4F2FA"/>
                    </a:solidFill>
                  </a:tcPr>
                </a:tc>
                <a:tc>
                  <a:txBody>
                    <a:bodyPr/>
                    <a:lstStyle/>
                    <a:p>
                      <a:r>
                        <a:rPr sz="1200" b="0" i="0">
                          <a:solidFill>
                            <a:srgbClr val="1A1440"/>
                          </a:solidFill>
                          <a:latin typeface="Calibri"/>
                        </a:rPr>
                        <a:t>201</a:t>
                      </a:r>
                    </a:p>
                  </a:txBody>
                  <a:tcPr marL="101600" marR="101600" marT="38100" marB="38100" anchor="ctr">
                    <a:solidFill>
                      <a:srgbClr val="F4F2FA"/>
                    </a:solidFill>
                  </a:tcPr>
                </a:tc>
                <a:tc>
                  <a:txBody>
                    <a:bodyPr/>
                    <a:lstStyle/>
                    <a:p>
                      <a:r>
                        <a:rPr sz="1200" b="0" i="0">
                          <a:solidFill>
                            <a:srgbClr val="1A1440"/>
                          </a:solidFill>
                          <a:latin typeface="Calibri"/>
                        </a:rPr>
                        <a:t>200</a:t>
                      </a:r>
                    </a:p>
                  </a:txBody>
                  <a:tcPr marL="101600" marR="101600" marT="38100" marB="38100" anchor="ctr">
                    <a:solidFill>
                      <a:srgbClr val="F4F2FA"/>
                    </a:solidFill>
                  </a:tcPr>
                </a:tc>
                <a:tc>
                  <a:txBody>
                    <a:bodyPr/>
                    <a:lstStyle/>
                    <a:p>
                      <a:r>
                        <a:rPr sz="1200" b="0" i="0">
                          <a:solidFill>
                            <a:srgbClr val="1A1440"/>
                          </a:solidFill>
                          <a:latin typeface="Calibri"/>
                        </a:rPr>
                        <a:t>161</a:t>
                      </a:r>
                    </a:p>
                  </a:txBody>
                  <a:tcPr marL="101600" marR="101600" marT="38100" marB="38100" anchor="ctr">
                    <a:solidFill>
                      <a:srgbClr val="F4F2FA"/>
                    </a:solidFill>
                  </a:tcPr>
                </a:tc>
              </a:tr>
              <a:tr h="335280">
                <a:tc>
                  <a:txBody>
                    <a:bodyPr/>
                    <a:lstStyle/>
                    <a:p>
                      <a:r>
                        <a:rPr sz="1200" b="0" i="0">
                          <a:solidFill>
                            <a:srgbClr val="1A1440"/>
                          </a:solidFill>
                          <a:latin typeface="Calibri"/>
                        </a:rPr>
                        <a:t>status</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text</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r>
              <a:tr h="335280">
                <a:tc>
                  <a:txBody>
                    <a:bodyPr/>
                    <a:lstStyle/>
                    <a:p>
                      <a:r>
                        <a:rPr sz="1200" b="0" i="0">
                          <a:solidFill>
                            <a:srgbClr val="1A1440"/>
                          </a:solidFill>
                          <a:latin typeface="Calibri"/>
                        </a:rPr>
                        <a:t>discount</a:t>
                      </a:r>
                    </a:p>
                  </a:txBody>
                  <a:tcPr marL="101600" marR="101600" marT="38100" marB="38100" anchor="ctr">
                    <a:solidFill>
                      <a:srgbClr val="F4F2FA"/>
                    </a:solidFill>
                  </a:tcPr>
                </a:tc>
                <a:tc>
                  <a:txBody>
                    <a:bodyPr/>
                    <a:lstStyle/>
                    <a:p>
                      <a:r>
                        <a:rPr sz="1200" b="0" i="0">
                          <a:solidFill>
                            <a:srgbClr val="1A1440"/>
                          </a:solidFill>
                          <a:latin typeface="Calibri"/>
                        </a:rPr>
                        <a:t>143</a:t>
                      </a:r>
                    </a:p>
                  </a:txBody>
                  <a:tcPr marL="101600" marR="101600" marT="38100" marB="38100" anchor="ctr">
                    <a:solidFill>
                      <a:srgbClr val="F4F2FA"/>
                    </a:solidFill>
                  </a:tcPr>
                </a:tc>
                <a:tc>
                  <a:txBody>
                    <a:bodyPr/>
                    <a:lstStyle/>
                    <a:p>
                      <a:r>
                        <a:rPr sz="1200" b="0" i="0">
                          <a:solidFill>
                            <a:srgbClr val="1A1440"/>
                          </a:solidFill>
                          <a:latin typeface="Calibri"/>
                        </a:rPr>
                        <a:t>143</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Order ids distinct on 186, amounts convertible on 200, status present on 200. Discount is Tuesday's optional field.</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63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the top three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analyst audits the largest orders first, and the hurried sort sends three.</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q2 = [r for r in raw if r["quarter"] == "Q2"]</a:t>
            </a:r>
          </a:p>
          <a:p>
            <a:pPr>
              <a:spcAft>
                <a:spcPts val="200"/>
              </a:spcAft>
            </a:pPr>
            <a:r>
              <a:rPr sz="1400" b="0" i="0">
                <a:solidFill>
                  <a:srgbClr val="E4E1F1"/>
                </a:solidFill>
                <a:latin typeface="Consolas"/>
              </a:rPr>
              <a:t>top = sorted(q2, key=lambda r: r["amount"], reverse=True)[:3]</a:t>
            </a:r>
          </a:p>
          <a:p>
            <a:pPr>
              <a:spcAft>
                <a:spcPts val="200"/>
              </a:spcAft>
            </a:pPr>
            <a:r>
              <a:rPr sz="1400" b="0" i="0">
                <a:solidFill>
                  <a:srgbClr val="E4E1F1"/>
                </a:solidFill>
                <a:latin typeface="Consolas"/>
              </a:rPr>
              <a:t>[r["amount"] for r in top]      # ['970', '970', '952000']</a:t>
            </a:r>
          </a:p>
        </p:txBody>
      </p:sp>
      <p:sp>
        <p:nvSpPr>
          <p:cNvPr id="14" name="TextBox 13"/>
          <p:cNvSpPr txBox="1"/>
          <p:nvPr/>
        </p:nvSpPr>
        <p:spPr>
          <a:xfrm>
            <a:off x="530352"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Rs 970</a:t>
            </a:r>
          </a:p>
        </p:txBody>
      </p:sp>
      <p:sp>
        <p:nvSpPr>
          <p:cNvPr id="15" name="TextBox 14"/>
          <p:cNvSpPr txBox="1"/>
          <p:nvPr/>
        </p:nvSpPr>
        <p:spPr>
          <a:xfrm>
            <a:off x="530352"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LARGEST Q2 ORDER</a:t>
            </a:r>
          </a:p>
        </p:txBody>
      </p:sp>
      <p:sp>
        <p:nvSpPr>
          <p:cNvPr id="16" name="TextBox 15"/>
          <p:cNvSpPr txBox="1"/>
          <p:nvPr/>
        </p:nvSpPr>
        <p:spPr>
          <a:xfrm>
            <a:off x="530352"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as the hurried sort reports it</a:t>
            </a:r>
          </a:p>
        </p:txBody>
      </p:sp>
      <p:sp>
        <p:nvSpPr>
          <p:cNvPr id="17" name="Rectangle 16"/>
          <p:cNvSpPr/>
          <p:nvPr/>
        </p:nvSpPr>
        <p:spPr>
          <a:xfrm>
            <a:off x="530352"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9" name="TextBox 18"/>
          <p:cNvSpPr txBox="1"/>
          <p:nvPr/>
        </p:nvSpPr>
        <p:spPr>
          <a:xfrm>
            <a:off x="6233007"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ORDERS ABOVE RS 10 LAKH</a:t>
            </a:r>
          </a:p>
        </p:txBody>
      </p:sp>
      <p:sp>
        <p:nvSpPr>
          <p:cNvPr id="20" name="TextBox 19"/>
          <p:cNvSpPr txBox="1"/>
          <p:nvPr/>
        </p:nvSpPr>
        <p:spPr>
          <a:xfrm>
            <a:off x="6233007"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in the sample sent</a:t>
            </a:r>
          </a:p>
        </p:txBody>
      </p:sp>
      <p:sp>
        <p:nvSpPr>
          <p:cNvPr id="21" name="Rectangle 20"/>
          <p:cNvSpPr/>
          <p:nvPr/>
        </p:nvSpPr>
        <p:spPr>
          <a:xfrm>
            <a:off x="6233007"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4" name="Oval 23"/>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0" name="Oval 29"/>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63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text sorts by spelling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'970' beats '2945460' because 9 comes after 2.</a:t>
            </a:r>
          </a:p>
        </p:txBody>
      </p:sp>
      <p:pic>
        <p:nvPicPr>
          <p:cNvPr id="9" name="mermaid diagram" descr="2371914d6144f056.png"/>
          <p:cNvPicPr>
            <a:picLocks noChangeAspect="1"/>
          </p:cNvPicPr>
          <p:nvPr/>
        </p:nvPicPr>
        <p:blipFill>
          <a:blip r:embed="rId5"/>
          <a:stretch>
            <a:fillRect/>
          </a:stretch>
        </p:blipFill>
        <p:spPr>
          <a:xfrm>
            <a:off x="1931041" y="1956816"/>
            <a:ext cx="8329612" cy="2843212"/>
          </a:xfrm>
          <a:prstGeom prst="rect">
            <a:avLst/>
          </a:prstGeom>
        </p:spPr>
      </p:pic>
      <p:sp>
        <p:nvSpPr>
          <p:cNvPr id="10" name="Rounded Rectangle 9"/>
          <p:cNvSpPr/>
          <p:nvPr/>
        </p:nvSpPr>
        <p:spPr>
          <a:xfrm>
            <a:off x="530352" y="49463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743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65204"/>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Can the largest Q2 order be smaller than every Business order, when Business sells in lakhs? The smallest Business order is Rs 2,03,060.</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63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convert once, then sort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top three move from Rs 9,53,940 to Rs 62,11,460 of the quarter.</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29,45,460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LARGEST Q2 ORDER</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sorted as a number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62,11,460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TOP THREE</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against Rs 9,53,940 as text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200 + 1</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AMOUNTS</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converted, and one in the rejects log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same convert() that fixes the sort logs the one amount that fails, and Q1 over the amounts that convert reads Rs 2,09,98,210: the dashboard's 2.1 crore is honest arithmetic on this file.</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63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and a second witness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Counter over ids and the rejects log reach the profile's counts by other code.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186 = 186</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DISTINCT IDS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profile and a Counter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 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AMOUNTS THAT FAIL</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profile and the rejects log</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119</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JSON FEED RECORDS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complete, then the file is cut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profile for a first look; the Counter when one field matters, since it keeps how often each id appears. The JSON feed is a witness to compare against, never a replacement.</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63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profile comes first, and a failure is counted next to the successes.</a:t>
            </a:r>
          </a:p>
        </p:txBody>
      </p:sp>
      <p:sp>
        <p:nvSpPr>
          <p:cNvPr id="9" name="Rounded Rectangle 8"/>
          <p:cNvSpPr/>
          <p:nvPr/>
        </p:nvSpPr>
        <p:spPr>
          <a:xfrm>
            <a:off x="530352" y="189712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2935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339086"/>
            <a:ext cx="237744" cy="237744"/>
          </a:xfrm>
          <a:prstGeom prst="rect">
            <a:avLst/>
          </a:prstGeom>
        </p:spPr>
      </p:pic>
      <p:sp>
        <p:nvSpPr>
          <p:cNvPr id="12" name="TextBox 11"/>
          <p:cNvSpPr txBox="1"/>
          <p:nvPr/>
        </p:nvSpPr>
        <p:spPr>
          <a:xfrm>
            <a:off x="1399031" y="204343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262886"/>
            <a:ext cx="9987991" cy="682752"/>
          </a:xfrm>
          <a:prstGeom prst="rect">
            <a:avLst/>
          </a:prstGeom>
          <a:noFill/>
        </p:spPr>
        <p:txBody>
          <a:bodyPr wrap="square" anchor="t" lIns="0" rIns="0" tIns="0" bIns="0">
            <a:spAutoFit/>
          </a:bodyPr>
          <a:lstStyle/>
          <a:p>
            <a:r>
              <a:rPr sz="1500" b="0" i="0">
                <a:solidFill>
                  <a:srgbClr val="1A1440"/>
                </a:solidFill>
                <a:latin typeface="Calibri"/>
              </a:rPr>
              <a:t>Before you total anything, tell me how many records you received, how many are complete, how many convert and how many are distinct.</a:t>
            </a:r>
          </a:p>
        </p:txBody>
      </p:sp>
      <p:sp>
        <p:nvSpPr>
          <p:cNvPr id="14" name="Rounded Rectangle 13"/>
          <p:cNvSpPr/>
          <p:nvPr/>
        </p:nvSpPr>
        <p:spPr>
          <a:xfrm>
            <a:off x="530352" y="318338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38607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495802"/>
            <a:ext cx="237744" cy="237744"/>
          </a:xfrm>
          <a:prstGeom prst="rect">
            <a:avLst/>
          </a:prstGeom>
        </p:spPr>
      </p:pic>
      <p:sp>
        <p:nvSpPr>
          <p:cNvPr id="17" name="TextBox 16"/>
          <p:cNvSpPr txBox="1"/>
          <p:nvPr/>
        </p:nvSpPr>
        <p:spPr>
          <a:xfrm>
            <a:off x="1399031" y="332968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549142"/>
            <a:ext cx="9987991" cy="423672"/>
          </a:xfrm>
          <a:prstGeom prst="rect">
            <a:avLst/>
          </a:prstGeom>
          <a:noFill/>
        </p:spPr>
        <p:txBody>
          <a:bodyPr wrap="square" anchor="t" lIns="0" rIns="0" tIns="0" bIns="0">
            <a:spAutoFit/>
          </a:bodyPr>
          <a:lstStyle/>
          <a:p>
            <a:r>
              <a:rPr sz="1500" b="0" i="0">
                <a:solidFill>
                  <a:srgbClr val="1A1440"/>
                </a:solidFill>
                <a:latin typeface="Calibri"/>
              </a:rPr>
              <a:t>[F] Everything read from a CSV is a string; what breaks and where do you convert?</a:t>
            </a:r>
          </a:p>
        </p:txBody>
      </p:sp>
      <p:sp>
        <p:nvSpPr>
          <p:cNvPr id="19" name="Rounded Rectangle 18"/>
          <p:cNvSpPr/>
          <p:nvPr/>
        </p:nvSpPr>
        <p:spPr>
          <a:xfrm>
            <a:off x="530352" y="4210558"/>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411726"/>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521454"/>
            <a:ext cx="237744" cy="237744"/>
          </a:xfrm>
          <a:prstGeom prst="rect">
            <a:avLst/>
          </a:prstGeom>
        </p:spPr>
      </p:pic>
      <p:sp>
        <p:nvSpPr>
          <p:cNvPr id="22" name="TextBox 21"/>
          <p:cNvSpPr txBox="1"/>
          <p:nvPr/>
        </p:nvSpPr>
        <p:spPr>
          <a:xfrm>
            <a:off x="731519" y="4978654"/>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1</a:t>
            </a:r>
          </a:p>
        </p:txBody>
      </p:sp>
      <p:sp>
        <p:nvSpPr>
          <p:cNvPr id="23" name="TextBox 22"/>
          <p:cNvSpPr txBox="1"/>
          <p:nvPr/>
        </p:nvSpPr>
        <p:spPr>
          <a:xfrm>
            <a:off x="731519" y="5216398"/>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557265"/>
            <a:ext cx="5071719" cy="218186"/>
          </a:xfrm>
          <a:prstGeom prst="rect">
            <a:avLst/>
          </a:prstGeom>
          <a:noFill/>
        </p:spPr>
        <p:txBody>
          <a:bodyPr wrap="square" anchor="t" lIns="0" rIns="0" tIns="0" bIns="0">
            <a:spAutoFit/>
          </a:bodyPr>
          <a:lstStyle/>
          <a:p>
            <a:pPr algn="l"/>
            <a:r>
              <a:rPr sz="1100" b="0" i="0">
                <a:solidFill>
                  <a:srgbClr val="6B6690"/>
                </a:solidFill>
                <a:latin typeface="Calibri"/>
              </a:rPr>
              <a:t>201 rows, 186 order ids, 200 amounts that convert, 1 logged.</a:t>
            </a:r>
          </a:p>
        </p:txBody>
      </p:sp>
      <p:sp>
        <p:nvSpPr>
          <p:cNvPr id="25" name="Rounded Rectangle 24"/>
          <p:cNvSpPr/>
          <p:nvPr/>
        </p:nvSpPr>
        <p:spPr>
          <a:xfrm>
            <a:off x="6187287" y="4210558"/>
            <a:ext cx="5474055" cy="17744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41172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521454"/>
            <a:ext cx="237744" cy="237744"/>
          </a:xfrm>
          <a:prstGeom prst="rect">
            <a:avLst/>
          </a:prstGeom>
        </p:spPr>
      </p:pic>
      <p:sp>
        <p:nvSpPr>
          <p:cNvPr id="28" name="TextBox 27"/>
          <p:cNvSpPr txBox="1"/>
          <p:nvPr/>
        </p:nvSpPr>
        <p:spPr>
          <a:xfrm>
            <a:off x="6388455" y="4978654"/>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2</a:t>
            </a:r>
          </a:p>
        </p:txBody>
      </p:sp>
      <p:sp>
        <p:nvSpPr>
          <p:cNvPr id="29" name="TextBox 28"/>
          <p:cNvSpPr txBox="1"/>
          <p:nvPr/>
        </p:nvSpPr>
        <p:spPr>
          <a:xfrm>
            <a:off x="6388455" y="5216398"/>
            <a:ext cx="5071719" cy="267716"/>
          </a:xfrm>
          <a:prstGeom prst="rect">
            <a:avLst/>
          </a:prstGeom>
          <a:noFill/>
        </p:spPr>
        <p:txBody>
          <a:bodyPr wrap="square" anchor="t" lIns="0" rIns="0" tIns="0" bIns="0">
            <a:spAutoFit/>
          </a:bodyPr>
          <a:lstStyle/>
          <a:p>
            <a:pPr algn="l"/>
            <a:r>
              <a:rPr sz="1400" b="1" i="0">
                <a:solidFill>
                  <a:srgbClr val="FFFFFF"/>
                </a:solidFill>
                <a:latin typeface="Calibri"/>
              </a:rPr>
              <a:t>Open</a:t>
            </a:r>
          </a:p>
        </p:txBody>
      </p:sp>
      <p:sp>
        <p:nvSpPr>
          <p:cNvPr id="30" name="TextBox 29"/>
          <p:cNvSpPr txBox="1"/>
          <p:nvPr/>
        </p:nvSpPr>
        <p:spPr>
          <a:xfrm>
            <a:off x="6388455" y="5557265"/>
            <a:ext cx="5071719" cy="218186"/>
          </a:xfrm>
          <a:prstGeom prst="rect">
            <a:avLst/>
          </a:prstGeom>
          <a:noFill/>
        </p:spPr>
        <p:txBody>
          <a:bodyPr wrap="square" anchor="t" lIns="0" rIns="0" tIns="0" bIns="0">
            <a:spAutoFit/>
          </a:bodyPr>
          <a:lstStyle/>
          <a:p>
            <a:pPr algn="l"/>
            <a:r>
              <a:rPr sz="1100" b="0" i="0">
                <a:solidFill>
                  <a:srgbClr val="CFC9EE"/>
                </a:solidFill>
                <a:latin typeface="Calibri"/>
              </a:rPr>
              <a:t>Which rows repeat, and what makes two rows one order.</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5" name="Oval 3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7" name="Oval 3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63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rows that repeat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Say what makes two rows one order before counting a single duplicate.</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63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186 orders on 201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migration exported orders twice, Q1 revenue and every per-customer rate are inflated.</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114 for 100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ROWS FOR ORDERS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quarter the migration touched</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87 for 86</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Q2 ROWS FOR ORDERS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one extra row</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1" name="TextBox 20"/>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"Which rows did the export count twice, and how do you know they are copies?"</a:t>
            </a:r>
          </a:p>
        </p:txBody>
      </p:sp>
      <p:sp>
        <p:nvSpPr>
          <p:cNvPr id="22" name="Rounded Rectangle 21"/>
          <p:cNvSpPr/>
          <p:nvPr/>
        </p:nvSpPr>
        <p:spPr>
          <a:xfrm>
            <a:off x="530352" y="44470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47792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bug_39ada6eff46d.png"/>
          <p:cNvPicPr>
            <a:picLocks noChangeAspect="1"/>
          </p:cNvPicPr>
          <p:nvPr/>
        </p:nvPicPr>
        <p:blipFill>
          <a:blip r:embed="rId5"/>
          <a:stretch>
            <a:fillRect/>
          </a:stretch>
        </p:blipFill>
        <p:spPr>
          <a:xfrm>
            <a:off x="868680" y="4888992"/>
            <a:ext cx="237744" cy="237744"/>
          </a:xfrm>
          <a:prstGeom prst="rect">
            <a:avLst/>
          </a:prstGeom>
        </p:spPr>
      </p:pic>
      <p:sp>
        <p:nvSpPr>
          <p:cNvPr id="25" name="TextBox 24"/>
          <p:cNvSpPr txBox="1"/>
          <p:nvPr/>
        </p:nvSpPr>
        <p:spPr>
          <a:xfrm>
            <a:off x="1399031" y="45933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6" name="TextBox 25"/>
          <p:cNvSpPr txBox="1"/>
          <p:nvPr/>
        </p:nvSpPr>
        <p:spPr>
          <a:xfrm>
            <a:off x="1399031" y="4812792"/>
            <a:ext cx="9987991" cy="682752"/>
          </a:xfrm>
          <a:prstGeom prst="rect">
            <a:avLst/>
          </a:prstGeom>
          <a:noFill/>
        </p:spPr>
        <p:txBody>
          <a:bodyPr wrap="square" anchor="t" lIns="0" rIns="0" tIns="0" bIns="0">
            <a:spAutoFit/>
          </a:bodyPr>
          <a:lstStyle/>
          <a:p>
            <a:r>
              <a:rPr sz="1500" b="0" i="0">
                <a:solidFill>
                  <a:srgbClr val="1A1440"/>
                </a:solidFill>
                <a:latin typeface="Calibri"/>
              </a:rPr>
              <a:t>Every copy left in adds its rupees to Q1 and an extra order to a Retail-Plus rate; every real order removed takes rupees out of Finance's books.</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9" name="Oval 28"/>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31" name="Oval 3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3" name="Oval 32"/>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5" name="Oval 34"/>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63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Starbucks billed a million customers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processing fault, the same purchase recorded twice, about 7,800 stores.</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22 to 23 May</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2009</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fault ran two days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~7,800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company-owned, US and Canada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 million</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 REPAID</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NBC News and AP</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A repeated record looks like a second purchase until someone asks what makes two records one.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63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keys, sized on the ERP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file, four rules for what makes two rows one order.</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748520"/>
                <a:gridCol w="1609491"/>
                <a:gridCol w="1665050"/>
                <a:gridCol w="1720609"/>
                <a:gridCol w="2387319"/>
              </a:tblGrid>
              <a:tr h="335280">
                <a:tc>
                  <a:txBody>
                    <a:bodyPr/>
                    <a:lstStyle/>
                    <a:p>
                      <a:r>
                        <a:rPr sz="1250" b="1" i="0">
                          <a:solidFill>
                            <a:srgbClr val="FFFFFF"/>
                          </a:solidFill>
                          <a:latin typeface="Calibri"/>
                        </a:rPr>
                        <a:t>Key</a:t>
                      </a:r>
                    </a:p>
                  </a:txBody>
                  <a:tcPr marL="101600" marR="101600" marT="38100" marB="38100" anchor="ctr">
                    <a:solidFill>
                      <a:srgbClr val="1A0F5C"/>
                    </a:solidFill>
                  </a:tcPr>
                </a:tc>
                <a:tc>
                  <a:txBody>
                    <a:bodyPr/>
                    <a:lstStyle/>
                    <a:p>
                      <a:r>
                        <a:rPr sz="1250" b="1" i="0">
                          <a:solidFill>
                            <a:srgbClr val="FFFFFF"/>
                          </a:solidFill>
                          <a:latin typeface="Calibri"/>
                        </a:rPr>
                        <a:t>Rows flagged</a:t>
                      </a:r>
                    </a:p>
                  </a:txBody>
                  <a:tcPr marL="101600" marR="101600" marT="38100" marB="38100" anchor="ctr">
                    <a:solidFill>
                      <a:srgbClr val="1A0F5C"/>
                    </a:solidFill>
                  </a:tcPr>
                </a:tc>
                <a:tc>
                  <a:txBody>
                    <a:bodyPr/>
                    <a:lstStyle/>
                    <a:p>
                      <a:r>
                        <a:rPr sz="1250" b="1" i="0">
                          <a:solidFill>
                            <a:srgbClr val="FFFFFF"/>
                          </a:solidFill>
                          <a:latin typeface="Calibri"/>
                        </a:rPr>
                        <a:t>Q2 after</a:t>
                      </a:r>
                    </a:p>
                  </a:txBody>
                  <a:tcPr marL="101600" marR="101600" marT="38100" marB="38100" anchor="ctr">
                    <a:solidFill>
                      <a:srgbClr val="1A0F5C"/>
                    </a:solidFill>
                  </a:tcPr>
                </a:tc>
                <a:tc>
                  <a:txBody>
                    <a:bodyPr/>
                    <a:lstStyle/>
                    <a:p>
                      <a:r>
                        <a:rPr sz="1250" b="1" i="0">
                          <a:solidFill>
                            <a:srgbClr val="FFFFFF"/>
                          </a:solidFill>
                          <a:latin typeface="Calibri"/>
                        </a:rPr>
                        <a:t>Copies missed</a:t>
                      </a:r>
                    </a:p>
                  </a:txBody>
                  <a:tcPr marL="101600" marR="101600" marT="38100" marB="38100" anchor="ctr">
                    <a:solidFill>
                      <a:srgbClr val="1A0F5C"/>
                    </a:solidFill>
                  </a:tcPr>
                </a:tc>
                <a:tc>
                  <a:txBody>
                    <a:bodyPr/>
                    <a:lstStyle/>
                    <a:p>
                      <a:r>
                        <a:rPr sz="1250" b="1" i="0">
                          <a:solidFill>
                            <a:srgbClr val="FFFFFF"/>
                          </a:solidFill>
                          <a:latin typeface="Calibri"/>
                        </a:rPr>
                        <a:t>Real rupees removed</a:t>
                      </a:r>
                    </a:p>
                  </a:txBody>
                  <a:tcPr marL="101600" marR="101600" marT="38100" marB="38100" anchor="ctr">
                    <a:solidFill>
                      <a:srgbClr val="1A0F5C"/>
                    </a:solidFill>
                  </a:tcPr>
                </a:tc>
              </a:tr>
              <a:tr h="335280">
                <a:tc>
                  <a:txBody>
                    <a:bodyPr/>
                    <a:lstStyle/>
                    <a:p>
                      <a:r>
                        <a:rPr sz="1200" b="0" i="0">
                          <a:solidFill>
                            <a:srgbClr val="1A1440"/>
                          </a:solidFill>
                          <a:latin typeface="Calibri"/>
                        </a:rPr>
                        <a:t>a) Whole record</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Rs 1,87,03,710</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r>
              <a:tr h="335280">
                <a:tc>
                  <a:txBody>
                    <a:bodyPr/>
                    <a:lstStyle/>
                    <a:p>
                      <a:r>
                        <a:rPr sz="1200" b="0" i="0">
                          <a:solidFill>
                            <a:srgbClr val="1A1440"/>
                          </a:solidFill>
                          <a:latin typeface="Calibri"/>
                        </a:rPr>
                        <a:t>b) Record less line</a:t>
                      </a:r>
                    </a:p>
                  </a:txBody>
                  <a:tcPr marL="101600" marR="101600" marT="38100" marB="38100" anchor="ctr">
                    <a:solidFill>
                      <a:srgbClr val="F4F2FA"/>
                    </a:solidFill>
                  </a:tcPr>
                </a:tc>
                <a:tc>
                  <a:txBody>
                    <a:bodyPr/>
                    <a:lstStyle/>
                    <a:p>
                      <a:r>
                        <a:rPr sz="1200" b="0" i="0">
                          <a:solidFill>
                            <a:srgbClr val="1A1440"/>
                          </a:solidFill>
                          <a:latin typeface="Calibri"/>
                        </a:rPr>
                        <a:t>13</a:t>
                      </a:r>
                    </a:p>
                  </a:txBody>
                  <a:tcPr marL="101600" marR="101600" marT="38100" marB="38100" anchor="ctr">
                    <a:solidFill>
                      <a:srgbClr val="F4F2FA"/>
                    </a:solidFill>
                  </a:tcPr>
                </a:tc>
                <a:tc>
                  <a:txBody>
                    <a:bodyPr/>
                    <a:lstStyle/>
                    <a:p>
                      <a:r>
                        <a:rPr sz="1200" b="0" i="0">
                          <a:solidFill>
                            <a:srgbClr val="1A1440"/>
                          </a:solidFill>
                          <a:latin typeface="Calibri"/>
                        </a:rPr>
                        <a:t>Rs 1,87,03,710</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r>
              <a:tr h="335280">
                <a:tc>
                  <a:txBody>
                    <a:bodyPr/>
                    <a:lstStyle/>
                    <a:p>
                      <a:r>
                        <a:rPr sz="1200" b="0" i="0">
                          <a:solidFill>
                            <a:srgbClr val="1A1440"/>
                          </a:solidFill>
                          <a:latin typeface="Calibri"/>
                        </a:rPr>
                        <a:t>c) order_id</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Rs 1,87,00,000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r>
              <a:tr h="335280">
                <a:tc>
                  <a:txBody>
                    <a:bodyPr/>
                    <a:lstStyle/>
                    <a:p>
                      <a:r>
                        <a:rPr sz="1200" b="0" i="0">
                          <a:solidFill>
                            <a:srgbClr val="1A1440"/>
                          </a:solidFill>
                          <a:latin typeface="Calibri"/>
                        </a:rPr>
                        <a:t>d) Fuzzy: customer, amount, 60 days</a:t>
                      </a:r>
                    </a:p>
                  </a:txBody>
                  <a:tcPr marL="101600" marR="101600" marT="38100" marB="38100" anchor="ctr">
                    <a:solidFill>
                      <a:srgbClr val="F4F2FA"/>
                    </a:solidFill>
                  </a:tcPr>
                </a:tc>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Rs 1,69,29,000</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Rs 17,71,000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because the ERP issues one id per order. What would switch it: two systems issuing their own ids, and then the key is the system plus the id.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zero duplicates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Chapter 1 taught the rejects log to carry each row's file line, and the default dedupe runs.</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kept = whole_record_dedupe(raw)   # every field compared</a:t>
            </a:r>
          </a:p>
          <a:p>
            <a:pPr>
              <a:spcAft>
                <a:spcPts val="200"/>
              </a:spcAft>
            </a:pPr>
            <a:r>
              <a:rPr sz="1400" b="0" i="0">
                <a:solidFill>
                  <a:srgbClr val="E4E1F1"/>
                </a:solidFill>
                <a:latin typeface="Consolas"/>
              </a:rPr>
              <a:t>len(raw) - len(kept)              # 0</a:t>
            </a:r>
          </a:p>
        </p:txBody>
      </p:sp>
      <p:sp>
        <p:nvSpPr>
          <p:cNvPr id="14" name="TextBox 13"/>
          <p:cNvSpPr txBox="1"/>
          <p:nvPr/>
        </p:nvSpPr>
        <p:spPr>
          <a:xfrm>
            <a:off x="530352"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5" name="TextBox 14"/>
          <p:cNvSpPr txBox="1"/>
          <p:nvPr/>
        </p:nvSpPr>
        <p:spPr>
          <a:xfrm>
            <a:off x="530352"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DUPLICATES FOUND</a:t>
            </a:r>
          </a:p>
        </p:txBody>
      </p:sp>
      <p:sp>
        <p:nvSpPr>
          <p:cNvPr id="16" name="TextBox 15"/>
          <p:cNvSpPr txBox="1"/>
          <p:nvPr/>
        </p:nvSpPr>
        <p:spPr>
          <a:xfrm>
            <a:off x="530352"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the whole-record dedupe</a:t>
            </a:r>
          </a:p>
        </p:txBody>
      </p:sp>
      <p:sp>
        <p:nvSpPr>
          <p:cNvPr id="17" name="Rectangle 16"/>
          <p:cNvSpPr/>
          <p:nvPr/>
        </p:nvSpPr>
        <p:spPr>
          <a:xfrm>
            <a:off x="530352"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Rs 2,09,98,210</a:t>
            </a:r>
          </a:p>
        </p:txBody>
      </p:sp>
      <p:sp>
        <p:nvSpPr>
          <p:cNvPr id="19" name="TextBox 18"/>
          <p:cNvSpPr txBox="1"/>
          <p:nvPr/>
        </p:nvSpPr>
        <p:spPr>
          <a:xfrm>
            <a:off x="6233007"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20" name="TextBox 19"/>
          <p:cNvSpPr txBox="1"/>
          <p:nvPr/>
        </p:nvSpPr>
        <p:spPr>
          <a:xfrm>
            <a:off x="6233007"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unchanged, the dashboard looks right</a:t>
            </a:r>
          </a:p>
        </p:txBody>
      </p:sp>
      <p:sp>
        <p:nvSpPr>
          <p:cNvPr id="21" name="Rectangle 20"/>
          <p:cNvSpPr/>
          <p:nvPr/>
        </p:nvSpPr>
        <p:spPr>
          <a:xfrm>
            <a:off x="6233007"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4" name="Oval 23"/>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0" name="Oval 29"/>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63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201 rows, 186 ids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Both cannot be true of a file with no repeats.</a:t>
            </a:r>
          </a:p>
        </p:txBody>
      </p:sp>
      <p:pic>
        <p:nvPicPr>
          <p:cNvPr id="9" name="mermaid diagram" descr="89237ac7ca74b24a.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distinct ids against rows first. The file line is where a row sat, never what the order is; leave it in the key and no two rows can match.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63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15 orders appear exactly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Grouped by order_id: 14 pairs in Q1, one in Q2, none three times.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171</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ONCE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each</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TWICE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too many each</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14 + 1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BY QUARTER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and Q2</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 count of nothing became a list of 15 orders, each on two lines, and the second lines sit together at the end of the file.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6" name="Oval 25"/>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63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harder variant: the same count, other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fuzzy match flags 15 and the order id flags 15; they share 14.</a:t>
            </a:r>
          </a:p>
        </p:txBody>
      </p:sp>
      <p:pic>
        <p:nvPicPr>
          <p:cNvPr id="9" name="mermaid diagram" descr="80ef4342175846a3.png"/>
          <p:cNvPicPr>
            <a:picLocks noChangeAspect="1"/>
          </p:cNvPicPr>
          <p:nvPr/>
        </p:nvPicPr>
        <p:blipFill>
          <a:blip r:embed="rId6"/>
          <a:stretch>
            <a:fillRect/>
          </a:stretch>
        </p:blipFill>
        <p:spPr>
          <a:xfrm>
            <a:off x="3524097" y="1956816"/>
            <a:ext cx="5143500" cy="2628900"/>
          </a:xfrm>
          <a:prstGeom prst="rect">
            <a:avLst/>
          </a:prstGeom>
        </p:spPr>
      </p:pic>
      <p:sp>
        <p:nvSpPr>
          <p:cNvPr id="10" name="Rounded Rectangle 9"/>
          <p:cNvSpPr/>
          <p:nvPr/>
        </p:nvSpPr>
        <p:spPr>
          <a:xfrm>
            <a:off x="530352" y="47320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0642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173980"/>
            <a:ext cx="237744" cy="237744"/>
          </a:xfrm>
          <a:prstGeom prst="rect">
            <a:avLst/>
          </a:prstGeom>
        </p:spPr>
      </p:pic>
      <p:sp>
        <p:nvSpPr>
          <p:cNvPr id="13" name="TextBox 12"/>
          <p:cNvSpPr txBox="1"/>
          <p:nvPr/>
        </p:nvSpPr>
        <p:spPr>
          <a:xfrm>
            <a:off x="1399031" y="48783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097780"/>
            <a:ext cx="9987991" cy="682752"/>
          </a:xfrm>
          <a:prstGeom prst="rect">
            <a:avLst/>
          </a:prstGeom>
          <a:noFill/>
        </p:spPr>
        <p:txBody>
          <a:bodyPr wrap="square" anchor="t" lIns="0" rIns="0" tIns="0" bIns="0">
            <a:spAutoFit/>
          </a:bodyPr>
          <a:lstStyle/>
          <a:p>
            <a:r>
              <a:rPr sz="1500" b="0" i="0">
                <a:solidFill>
                  <a:srgbClr val="1A1440"/>
                </a:solidFill>
                <a:latin typeface="Calibri"/>
              </a:rPr>
              <a:t>A count that matches is not a match. A Business customer spent the same Rs 17,71,000 again within 60 days, and the fuzzy match calls it a copy.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7" name="Oval 16"/>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63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rows less ids, per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Arithmetic gives how many; only the groups give which.</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14 + 1</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 LESS DISTINCT IDS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Q1 and Q2</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FROM THE GROUPS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sum of size less one</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arithmetic is the one-line check to run first on any file; the groups are the pass, because only they can feed a log.</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2" name="Oval 21"/>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24" name="Oval 2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8" name="Oval 2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63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count of duplicates without an identity rule is a count of nothing.</a:t>
            </a:r>
          </a:p>
        </p:txBody>
      </p:sp>
      <p:sp>
        <p:nvSpPr>
          <p:cNvPr id="9" name="Rounded Rectangle 8"/>
          <p:cNvSpPr/>
          <p:nvPr/>
        </p:nvSpPr>
        <p:spPr>
          <a:xfrm>
            <a:off x="530352" y="195681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1A1440"/>
                </a:solidFill>
                <a:latin typeface="Calibri"/>
              </a:rPr>
              <a:t>Tell me what makes two rows the same order before you tell me how many duplicates there are.</a:t>
            </a:r>
          </a:p>
        </p:txBody>
      </p:sp>
      <p:sp>
        <p:nvSpPr>
          <p:cNvPr id="14" name="Rounded Rectangle 13"/>
          <p:cNvSpPr/>
          <p:nvPr/>
        </p:nvSpPr>
        <p:spPr>
          <a:xfrm>
            <a:off x="530352" y="298399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866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96412"/>
            <a:ext cx="237744" cy="237744"/>
          </a:xfrm>
          <a:prstGeom prst="rect">
            <a:avLst/>
          </a:prstGeom>
        </p:spPr>
      </p:pic>
      <p:sp>
        <p:nvSpPr>
          <p:cNvPr id="17" name="TextBox 16"/>
          <p:cNvSpPr txBox="1"/>
          <p:nvPr/>
        </p:nvSpPr>
        <p:spPr>
          <a:xfrm>
            <a:off x="1399031" y="31302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49752"/>
            <a:ext cx="9987991" cy="423672"/>
          </a:xfrm>
          <a:prstGeom prst="rect">
            <a:avLst/>
          </a:prstGeom>
          <a:noFill/>
        </p:spPr>
        <p:txBody>
          <a:bodyPr wrap="square" anchor="t" lIns="0" rIns="0" tIns="0" bIns="0">
            <a:spAutoFit/>
          </a:bodyPr>
          <a:lstStyle/>
          <a:p>
            <a:r>
              <a:rPr sz="1500" b="0" i="0">
                <a:solidFill>
                  <a:srgbClr val="1A1440"/>
                </a:solidFill>
                <a:latin typeface="Calibri"/>
              </a:rPr>
              <a:t>[F] How do you find duplicates, and what makes two records the same?</a:t>
            </a:r>
          </a:p>
        </p:txBody>
      </p:sp>
      <p:sp>
        <p:nvSpPr>
          <p:cNvPr id="19" name="Rounded Rectangle 18"/>
          <p:cNvSpPr/>
          <p:nvPr/>
        </p:nvSpPr>
        <p:spPr>
          <a:xfrm>
            <a:off x="530352" y="4011168"/>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212336"/>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322064"/>
            <a:ext cx="237744" cy="237744"/>
          </a:xfrm>
          <a:prstGeom prst="rect">
            <a:avLst/>
          </a:prstGeom>
        </p:spPr>
      </p:pic>
      <p:sp>
        <p:nvSpPr>
          <p:cNvPr id="22" name="TextBox 21"/>
          <p:cNvSpPr txBox="1"/>
          <p:nvPr/>
        </p:nvSpPr>
        <p:spPr>
          <a:xfrm>
            <a:off x="731519" y="4779264"/>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2</a:t>
            </a:r>
          </a:p>
        </p:txBody>
      </p:sp>
      <p:sp>
        <p:nvSpPr>
          <p:cNvPr id="23" name="TextBox 22"/>
          <p:cNvSpPr txBox="1"/>
          <p:nvPr/>
        </p:nvSpPr>
        <p:spPr>
          <a:xfrm>
            <a:off x="731519" y="5017008"/>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57876"/>
            <a:ext cx="5071719" cy="218186"/>
          </a:xfrm>
          <a:prstGeom prst="rect">
            <a:avLst/>
          </a:prstGeom>
          <a:noFill/>
        </p:spPr>
        <p:txBody>
          <a:bodyPr wrap="square" anchor="t" lIns="0" rIns="0" tIns="0" bIns="0">
            <a:spAutoFit/>
          </a:bodyPr>
          <a:lstStyle/>
          <a:p>
            <a:pPr algn="l"/>
            <a:r>
              <a:rPr sz="1100" b="0" i="0">
                <a:solidFill>
                  <a:srgbClr val="6B6690"/>
                </a:solidFill>
                <a:latin typeface="Calibri"/>
              </a:rPr>
              <a:t>The order_id is the identity; 15 orders appear twice, 14 in Q1.</a:t>
            </a:r>
          </a:p>
        </p:txBody>
      </p:sp>
      <p:sp>
        <p:nvSpPr>
          <p:cNvPr id="25" name="Rounded Rectangle 24"/>
          <p:cNvSpPr/>
          <p:nvPr/>
        </p:nvSpPr>
        <p:spPr>
          <a:xfrm>
            <a:off x="6187287" y="4011168"/>
            <a:ext cx="5474055" cy="17744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2123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322064"/>
            <a:ext cx="237744" cy="237744"/>
          </a:xfrm>
          <a:prstGeom prst="rect">
            <a:avLst/>
          </a:prstGeom>
        </p:spPr>
      </p:pic>
      <p:sp>
        <p:nvSpPr>
          <p:cNvPr id="28" name="TextBox 27"/>
          <p:cNvSpPr txBox="1"/>
          <p:nvPr/>
        </p:nvSpPr>
        <p:spPr>
          <a:xfrm>
            <a:off x="6388455" y="4779264"/>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3</a:t>
            </a:r>
          </a:p>
        </p:txBody>
      </p:sp>
      <p:sp>
        <p:nvSpPr>
          <p:cNvPr id="29" name="TextBox 28"/>
          <p:cNvSpPr txBox="1"/>
          <p:nvPr/>
        </p:nvSpPr>
        <p:spPr>
          <a:xfrm>
            <a:off x="6388455" y="5017008"/>
            <a:ext cx="5071719" cy="267716"/>
          </a:xfrm>
          <a:prstGeom prst="rect">
            <a:avLst/>
          </a:prstGeom>
          <a:noFill/>
        </p:spPr>
        <p:txBody>
          <a:bodyPr wrap="square" anchor="t" lIns="0" rIns="0" tIns="0" bIns="0">
            <a:spAutoFit/>
          </a:bodyPr>
          <a:lstStyle/>
          <a:p>
            <a:pPr algn="l"/>
            <a:r>
              <a:rPr sz="1400" b="1" i="0">
                <a:solidFill>
                  <a:srgbClr val="FFFFFF"/>
                </a:solidFill>
                <a:latin typeface="Calibri"/>
              </a:rPr>
              <a:t>Open</a:t>
            </a:r>
          </a:p>
        </p:txBody>
      </p:sp>
      <p:sp>
        <p:nvSpPr>
          <p:cNvPr id="30" name="TextBox 29"/>
          <p:cNvSpPr txBox="1"/>
          <p:nvPr/>
        </p:nvSpPr>
        <p:spPr>
          <a:xfrm>
            <a:off x="6388455" y="5357876"/>
            <a:ext cx="5071719" cy="218186"/>
          </a:xfrm>
          <a:prstGeom prst="rect">
            <a:avLst/>
          </a:prstGeom>
          <a:noFill/>
        </p:spPr>
        <p:txBody>
          <a:bodyPr wrap="square" anchor="t" lIns="0" rIns="0" tIns="0" bIns="0">
            <a:spAutoFit/>
          </a:bodyPr>
          <a:lstStyle/>
          <a:p>
            <a:pPr algn="l"/>
            <a:r>
              <a:rPr sz="1100" b="0" i="0">
                <a:solidFill>
                  <a:srgbClr val="CFC9EE"/>
                </a:solidFill>
                <a:latin typeface="Calibri"/>
              </a:rPr>
              <a:t>Which copy of each pair stays, and what that does to Q1.</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3" name="Oval 32"/>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35" name="Oval 3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7" name="Oval 3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63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copy that stays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For thirteen pairs it does not matter; for two it moves Q1 and a date.</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63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the analyst ties out to the rupee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choice that loses one order's amount turns the reconciliation into a finding against the team.</a:t>
            </a:r>
          </a:p>
        </p:txBody>
      </p:sp>
      <p:pic>
        <p:nvPicPr>
          <p:cNvPr id="9" name="mermaid diagram" descr="bc75a001c20296aa.png"/>
          <p:cNvPicPr>
            <a:picLocks noChangeAspect="1"/>
          </p:cNvPicPr>
          <p:nvPr/>
        </p:nvPicPr>
        <p:blipFill>
          <a:blip r:embed="rId7"/>
          <a:stretch>
            <a:fillRect/>
          </a:stretch>
        </p:blipFill>
        <p:spPr>
          <a:xfrm>
            <a:off x="2847336" y="1664208"/>
            <a:ext cx="6497023" cy="2295144"/>
          </a:xfrm>
          <a:prstGeom prst="rect">
            <a:avLst/>
          </a:prstGeom>
        </p:spPr>
      </p:pic>
      <p:sp>
        <p:nvSpPr>
          <p:cNvPr id="10" name="Rounded Rectangle 9"/>
          <p:cNvSpPr/>
          <p:nvPr/>
        </p:nvSpPr>
        <p:spPr>
          <a:xfrm>
            <a:off x="530352" y="4005072"/>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077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5"/>
          <a:stretch>
            <a:fillRect/>
          </a:stretch>
        </p:blipFill>
        <p:spPr>
          <a:xfrm>
            <a:off x="868680" y="4317492"/>
            <a:ext cx="237744" cy="237744"/>
          </a:xfrm>
          <a:prstGeom prst="rect">
            <a:avLst/>
          </a:prstGeom>
        </p:spPr>
      </p:pic>
      <p:sp>
        <p:nvSpPr>
          <p:cNvPr id="13" name="TextBox 12"/>
          <p:cNvSpPr txBox="1"/>
          <p:nvPr/>
        </p:nvSpPr>
        <p:spPr>
          <a:xfrm>
            <a:off x="1399031" y="415137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4370832"/>
            <a:ext cx="9987991" cy="423672"/>
          </a:xfrm>
          <a:prstGeom prst="rect">
            <a:avLst/>
          </a:prstGeom>
          <a:noFill/>
        </p:spPr>
        <p:txBody>
          <a:bodyPr wrap="square" anchor="t" lIns="0" rIns="0" tIns="0" bIns="0">
            <a:spAutoFit/>
          </a:bodyPr>
          <a:lstStyle/>
          <a:p>
            <a:r>
              <a:rPr sz="1500" b="0" i="0">
                <a:solidFill>
                  <a:srgbClr val="FFFFFF"/>
                </a:solidFill>
                <a:latin typeface="Calibri"/>
              </a:rPr>
              <a:t>"When two copies disagree, which one did you keep, and why that one?"</a:t>
            </a:r>
          </a:p>
        </p:txBody>
      </p:sp>
      <p:sp>
        <p:nvSpPr>
          <p:cNvPr id="15" name="Rounded Rectangle 14"/>
          <p:cNvSpPr/>
          <p:nvPr/>
        </p:nvSpPr>
        <p:spPr>
          <a:xfrm>
            <a:off x="530352" y="5032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4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ug_39ada6eff46d.png"/>
          <p:cNvPicPr>
            <a:picLocks noChangeAspect="1"/>
          </p:cNvPicPr>
          <p:nvPr/>
        </p:nvPicPr>
        <p:blipFill>
          <a:blip r:embed="rId6"/>
          <a:stretch>
            <a:fillRect/>
          </a:stretch>
        </p:blipFill>
        <p:spPr>
          <a:xfrm>
            <a:off x="868680" y="5474208"/>
            <a:ext cx="237744" cy="237744"/>
          </a:xfrm>
          <a:prstGeom prst="rect">
            <a:avLst/>
          </a:prstGeom>
        </p:spPr>
      </p:pic>
      <p:sp>
        <p:nvSpPr>
          <p:cNvPr id="18" name="TextBox 17"/>
          <p:cNvSpPr txBox="1"/>
          <p:nvPr/>
        </p:nvSpPr>
        <p:spPr>
          <a:xfrm>
            <a:off x="1399031" y="5178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9" name="TextBox 18"/>
          <p:cNvSpPr txBox="1"/>
          <p:nvPr/>
        </p:nvSpPr>
        <p:spPr>
          <a:xfrm>
            <a:off x="1399031" y="5398008"/>
            <a:ext cx="9987991" cy="682752"/>
          </a:xfrm>
          <a:prstGeom prst="rect">
            <a:avLst/>
          </a:prstGeom>
          <a:noFill/>
        </p:spPr>
        <p:txBody>
          <a:bodyPr wrap="square" anchor="t" lIns="0" rIns="0" tIns="0" bIns="0">
            <a:spAutoFit/>
          </a:bodyPr>
          <a:lstStyle/>
          <a:p>
            <a:r>
              <a:rPr sz="1500" b="0" i="0">
                <a:solidFill>
                  <a:srgbClr val="1A1440"/>
                </a:solidFill>
                <a:latin typeface="Calibri"/>
              </a:rPr>
              <a:t>Keeping the wrong copy of one pair costs Rs 1,790 against the books, and the analyst finds it on her first tie-out.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2" name="Oval 2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4" name="Oval 23"/>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8" name="Oval 2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63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India's GST portal writes the identity rule into law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business invoice is one invoice per supplier GSTIN, number, type and year.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 fields</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IDENTITY</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GSTIN, number, type, year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rejected</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SECOND COPY</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GSTN e-invoice FAQ</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 crore</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TURNOVER THRESHOLD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since 1 August 2023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GSTIN is a business's GST registration number. Without a written rule for what makes two records one, every team chooses its own survivor. Kalpa's Business segment sells to companies and meets this rule on every invoice.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63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choose the survivor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Sized on the ERP file: Q1 against the books.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402118"/>
                <a:gridCol w="1983712"/>
                <a:gridCol w="2579442"/>
                <a:gridCol w="3165717"/>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Against the books</a:t>
                      </a:r>
                    </a:p>
                  </a:txBody>
                  <a:tcPr marL="101600" marR="101600" marT="38100" marB="38100" anchor="ctr">
                    <a:solidFill>
                      <a:srgbClr val="1A0F5C"/>
                    </a:solidFill>
                  </a:tcPr>
                </a:tc>
                <a:tc>
                  <a:txBody>
                    <a:bodyPr/>
                    <a:lstStyle/>
                    <a:p>
                      <a:r>
                        <a:rPr sz="1250" b="1" i="0">
                          <a:solidFill>
                            <a:srgbClr val="FFFFFF"/>
                          </a:solidFill>
                          <a:latin typeface="Calibri"/>
                        </a:rPr>
                        <a:t>Unreadable kept</a:t>
                      </a:r>
                    </a:p>
                  </a:txBody>
                  <a:tcPr marL="101600" marR="101600" marT="38100" marB="38100" anchor="ctr">
                    <a:solidFill>
                      <a:srgbClr val="1A0F5C"/>
                    </a:solidFill>
                  </a:tcPr>
                </a:tc>
              </a:tr>
              <a:tr h="335280">
                <a:tc>
                  <a:txBody>
                    <a:bodyPr/>
                    <a:lstStyle/>
                    <a:p>
                      <a:r>
                        <a:rPr sz="1200" b="0" i="0">
                          <a:solidFill>
                            <a:srgbClr val="1A1440"/>
                          </a:solidFill>
                          <a:latin typeface="Calibri"/>
                        </a:rPr>
                        <a:t>a) First in the file</a:t>
                      </a:r>
                    </a:p>
                  </a:txBody>
                  <a:tcPr marL="101600" marR="101600" marT="38100" marB="38100" anchor="ctr">
                    <a:solidFill>
                      <a:srgbClr val="FFFFFF"/>
                    </a:solidFill>
                  </a:tcPr>
                </a:tc>
                <a:tc>
                  <a:txBody>
                    <a:bodyPr/>
                    <a:lstStyle/>
                    <a:p>
                      <a:r>
                        <a:rPr sz="1200" b="0" i="0">
                          <a:solidFill>
                            <a:srgbClr val="1A1440"/>
                          </a:solidFill>
                          <a:latin typeface="Calibri"/>
                        </a:rPr>
                        <a:t>Rs 1,89,98,210</a:t>
                      </a:r>
                    </a:p>
                  </a:txBody>
                  <a:tcPr marL="101600" marR="101600" marT="38100" marB="38100" anchor="ctr">
                    <a:solidFill>
                      <a:srgbClr val="FFFFFF"/>
                    </a:solidFill>
                  </a:tcPr>
                </a:tc>
                <a:tc>
                  <a:txBody>
                    <a:bodyPr/>
                    <a:lstStyle/>
                    <a:p>
                      <a:r>
                        <a:rPr sz="1200" b="0" i="0">
                          <a:solidFill>
                            <a:srgbClr val="1A1440"/>
                          </a:solidFill>
                          <a:latin typeface="Calibri"/>
                        </a:rPr>
                        <a:t>-Rs 1,790</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b) Last in the file</a:t>
                      </a:r>
                    </a:p>
                  </a:txBody>
                  <a:tcPr marL="101600" marR="101600" marT="38100" marB="38100" anchor="ctr">
                    <a:solidFill>
                      <a:srgbClr val="F4F2FA"/>
                    </a:solidFill>
                  </a:tcPr>
                </a:tc>
                <a:tc>
                  <a:txBody>
                    <a:bodyPr/>
                    <a:lstStyle/>
                    <a:p>
                      <a:r>
                        <a:rPr sz="1200" b="0" i="0">
                          <a:solidFill>
                            <a:srgbClr val="1A1440"/>
                          </a:solidFill>
                          <a:latin typeface="Calibri"/>
                        </a:rPr>
                        <a:t>Rs 1,90,00,000</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c) The copy that validates</a:t>
                      </a:r>
                    </a:p>
                  </a:txBody>
                  <a:tcPr marL="101600" marR="101600" marT="38100" marB="38100" anchor="ctr">
                    <a:solidFill>
                      <a:srgbClr val="FFFFFF"/>
                    </a:solidFill>
                  </a:tcPr>
                </a:tc>
                <a:tc>
                  <a:txBody>
                    <a:bodyPr/>
                    <a:lstStyle/>
                    <a:p>
                      <a:r>
                        <a:rPr sz="1200" b="0" i="0">
                          <a:solidFill>
                            <a:srgbClr val="1A1440"/>
                          </a:solidFill>
                          <a:latin typeface="Calibri"/>
                        </a:rPr>
                        <a:t>Rs 1,90,00,000</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d) Escalate all 15</a:t>
                      </a:r>
                    </a:p>
                  </a:txBody>
                  <a:tcPr marL="101600" marR="101600" marT="38100" marB="38100" anchor="ctr">
                    <a:solidFill>
                      <a:srgbClr val="F4F2FA"/>
                    </a:solidFill>
                  </a:tcPr>
                </a:tc>
                <a:tc>
                  <a:txBody>
                    <a:bodyPr/>
                    <a:lstStyle/>
                    <a:p>
                      <a:r>
                        <a:rPr sz="1200" b="0" i="0">
                          <a:solidFill>
                            <a:srgbClr val="1A1440"/>
                          </a:solidFill>
                          <a:latin typeface="Calibri"/>
                        </a:rPr>
                        <a:t>open</a:t>
                      </a:r>
                    </a:p>
                  </a:txBody>
                  <a:tcPr marL="101600" marR="101600" marT="38100" marB="38100" anchor="ctr">
                    <a:solidFill>
                      <a:srgbClr val="F4F2FA"/>
                    </a:solidFill>
                  </a:tcPr>
                </a:tc>
                <a:tc>
                  <a:txBody>
                    <a:bodyPr/>
                    <a:lstStyle/>
                    <a:p>
                      <a:r>
                        <a:rPr sz="1200" b="0" i="0">
                          <a:solidFill>
                            <a:srgbClr val="1A1440"/>
                          </a:solidFill>
                          <a:latin typeface="Calibri"/>
                        </a:rPr>
                        <a:t>open</a:t>
                      </a:r>
                    </a:p>
                  </a:txBody>
                  <a:tcPr marL="101600" marR="101600" marT="38100" marB="38100" anchor="ctr">
                    <a:solidFill>
                      <a:srgbClr val="F4F2FA"/>
                    </a:solidFill>
                  </a:tcPr>
                </a:tc>
                <a:tc>
                  <a:txBody>
                    <a:bodyPr/>
                    <a:lstStyle/>
                    <a:p>
                      <a:r>
                        <a:rPr sz="1200" b="0" i="0">
                          <a:solidFill>
                            <a:srgbClr val="1A1440"/>
                          </a:solidFill>
                          <a:latin typeface="Calibri"/>
                        </a:rPr>
                        <a:t>0, after days of waiting</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and escalate only the pair whose valid copies disagree. Last lands here by file order, which is luck. What would switch it: the ERP team saying the second extract was a corrected re-run.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63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rule, drawn before the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kinds of pair, each with its survivor, on invented records.</a:t>
            </a:r>
          </a:p>
        </p:txBody>
      </p:sp>
      <p:pic>
        <p:nvPicPr>
          <p:cNvPr id="9" name="mermaid diagram" descr="ecd1de7b3cb8537e.png"/>
          <p:cNvPicPr>
            <a:picLocks noChangeAspect="1"/>
          </p:cNvPicPr>
          <p:nvPr/>
        </p:nvPicPr>
        <p:blipFill>
          <a:blip r:embed="rId5"/>
          <a:stretch>
            <a:fillRect/>
          </a:stretch>
        </p:blipFill>
        <p:spPr>
          <a:xfrm>
            <a:off x="2152497" y="1956816"/>
            <a:ext cx="7886700" cy="3043237"/>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4" name="Oval 13"/>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6" name="Oval 1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63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after the rule, what is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186 orders kept, 15 rows set aside, each with a reason.</a:t>
            </a:r>
          </a:p>
        </p:txBody>
      </p:sp>
      <p:pic>
        <p:nvPicPr>
          <p:cNvPr id="9" name="mermaid diagram" descr="da6577c236efd39d.png"/>
          <p:cNvPicPr>
            <a:picLocks noChangeAspect="1"/>
          </p:cNvPicPr>
          <p:nvPr/>
        </p:nvPicPr>
        <p:blipFill>
          <a:blip r:embed="rId5"/>
          <a:stretch>
            <a:fillRect/>
          </a:stretch>
        </p:blipFill>
        <p:spPr>
          <a:xfrm>
            <a:off x="2181072" y="1956816"/>
            <a:ext cx="7829550" cy="2328862"/>
          </a:xfrm>
          <a:prstGeom prst="rect">
            <a:avLst/>
          </a:prstGeom>
        </p:spPr>
      </p:pic>
      <p:sp>
        <p:nvSpPr>
          <p:cNvPr id="10" name="Rounded Rectangle 9"/>
          <p:cNvSpPr/>
          <p:nvPr/>
        </p:nvSpPr>
        <p:spPr>
          <a:xfrm>
            <a:off x="530352" y="443198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99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85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Q1 after the identity rule, as a letter? a) Rs 2,09,98,210; b) Rs 1,89,98,210; c) Rs 1,90,00,000; d) Rs 2,00,00,000.</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63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1,90,00,000, the books to the rupee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Q2 moves to Rs 1,87,00,000, and no revenue left with the unreadable copy.</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books, to the rupee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1,87,00,000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per order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186 + 15</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kept and set aside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amount chapter 1 could not read was one copy of a pair whose twin carries the value. The answer is c.</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63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Q1 ties, so stop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whole record less the line lands Q1 on the books to the rupee.</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equal to the books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188</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REPORTED</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clean file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1,87,03,710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sent on to Marketing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3" name="Oval 2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5" name="Oval 2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27" name="Oval 2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9" name="Oval 2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63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 tie in rupees proves no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188 rows for 186 orders: one Q2 order counted twice, one unreadable row kept.</a:t>
            </a:r>
          </a:p>
        </p:txBody>
      </p:sp>
      <p:pic>
        <p:nvPicPr>
          <p:cNvPr id="9" name="mermaid diagram" descr="3f0da5438c63ade0.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3581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Rows kept against distinct ids, the check chapter 2 taught.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63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Rows against rupees: 98 percent in two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Rs 19,98,210 set aside in Q1, two Business rows carry Rs 19,67,560.</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1707009"/>
                <a:gridCol w="2286638"/>
                <a:gridCol w="2147923"/>
                <a:gridCol w="2564067"/>
                <a:gridCol w="2425352"/>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Rows set aside</a:t>
                      </a:r>
                    </a:p>
                  </a:txBody>
                  <a:tcPr marL="101600" marR="101600" marT="38100" marB="38100" anchor="ctr">
                    <a:solidFill>
                      <a:srgbClr val="1A0F5C"/>
                    </a:solidFill>
                  </a:tcPr>
                </a:tc>
                <a:tc>
                  <a:txBody>
                    <a:bodyPr/>
                    <a:lstStyle/>
                    <a:p>
                      <a:r>
                        <a:rPr sz="1250" b="1" i="0">
                          <a:solidFill>
                            <a:srgbClr val="FFFFFF"/>
                          </a:solidFill>
                          <a:latin typeface="Calibri"/>
                        </a:rPr>
                        <a:t>Share of rows</a:t>
                      </a:r>
                    </a:p>
                  </a:txBody>
                  <a:tcPr marL="101600" marR="101600" marT="38100" marB="38100" anchor="ctr">
                    <a:solidFill>
                      <a:srgbClr val="1A0F5C"/>
                    </a:solidFill>
                  </a:tcPr>
                </a:tc>
                <a:tc>
                  <a:txBody>
                    <a:bodyPr/>
                    <a:lstStyle/>
                    <a:p>
                      <a:r>
                        <a:rPr sz="1250" b="1" i="0">
                          <a:solidFill>
                            <a:srgbClr val="FFFFFF"/>
                          </a:solidFill>
                          <a:latin typeface="Calibri"/>
                        </a:rPr>
                        <a:t>Rupees set aside</a:t>
                      </a:r>
                    </a:p>
                  </a:txBody>
                  <a:tcPr marL="101600" marR="101600" marT="38100" marB="38100" anchor="ctr">
                    <a:solidFill>
                      <a:srgbClr val="1A0F5C"/>
                    </a:solidFill>
                  </a:tcPr>
                </a:tc>
                <a:tc>
                  <a:txBody>
                    <a:bodyPr/>
                    <a:lstStyle/>
                    <a:p>
                      <a:r>
                        <a:rPr sz="1250" b="1" i="0">
                          <a:solidFill>
                            <a:srgbClr val="FFFFFF"/>
                          </a:solidFill>
                          <a:latin typeface="Calibri"/>
                        </a:rPr>
                        <a:t>Share of rupees</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c>
                  <a:txBody>
                    <a:bodyPr/>
                    <a:lstStyle/>
                    <a:p>
                      <a:r>
                        <a:rPr sz="1200" b="0" i="0">
                          <a:solidFill>
                            <a:srgbClr val="1A1440"/>
                          </a:solidFill>
                          <a:latin typeface="Calibri"/>
                        </a:rPr>
                        <a:t>Rs 19,67,560</a:t>
                      </a:r>
                    </a:p>
                  </a:txBody>
                  <a:tcPr marL="101600" marR="101600" marT="38100" marB="38100" anchor="ctr">
                    <a:solidFill>
                      <a:srgbClr val="FFFFFF"/>
                    </a:solidFill>
                  </a:tcPr>
                </a:tc>
                <a:tc>
                  <a:txBody>
                    <a:bodyPr/>
                    <a:lstStyle/>
                    <a:p>
                      <a:r>
                        <a:rPr sz="1200" b="0" i="0">
                          <a:solidFill>
                            <a:srgbClr val="1A1440"/>
                          </a:solidFill>
                          <a:latin typeface="Calibri"/>
                        </a:rPr>
                        <a:t>98.5%</a:t>
                      </a:r>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79%</a:t>
                      </a:r>
                    </a:p>
                  </a:txBody>
                  <a:tcPr marL="101600" marR="101600" marT="38100" marB="38100" anchor="ctr">
                    <a:solidFill>
                      <a:srgbClr val="F4F2FA"/>
                    </a:solidFill>
                  </a:tcPr>
                </a:tc>
                <a:tc>
                  <a:txBody>
                    <a:bodyPr/>
                    <a:lstStyle/>
                    <a:p>
                      <a:r>
                        <a:rPr sz="1200" b="0" i="0">
                          <a:solidFill>
                            <a:srgbClr val="1A1440"/>
                          </a:solidFill>
                          <a:latin typeface="Calibri"/>
                        </a:rPr>
                        <a:t>Rs 27,760</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7%</a:t>
                      </a:r>
                    </a:p>
                  </a:txBody>
                  <a:tcPr marL="101600" marR="101600" marT="38100" marB="38100" anchor="ctr">
                    <a:solidFill>
                      <a:srgbClr val="FFFFFF"/>
                    </a:solidFill>
                  </a:tcPr>
                </a:tc>
                <a:tc>
                  <a:txBody>
                    <a:bodyPr/>
                    <a:lstStyle/>
                    <a:p>
                      <a:r>
                        <a:rPr sz="1200" b="0" i="0">
                          <a:solidFill>
                            <a:srgbClr val="1A1440"/>
                          </a:solidFill>
                          <a:latin typeface="Calibri"/>
                        </a:rPr>
                        <a:t>Rs 2,890</a:t>
                      </a:r>
                    </a:p>
                  </a:txBody>
                  <a:tcPr marL="101600" marR="101600" marT="38100" marB="38100" anchor="ctr">
                    <a:solidFill>
                      <a:srgbClr val="FFFFFF"/>
                    </a:solidFill>
                  </a:tcPr>
                </a:tc>
                <a:tc>
                  <a:txBody>
                    <a:bodyPr/>
                    <a:lstStyle/>
                    <a:p>
                      <a:r>
                        <a:rPr sz="1200" b="0" i="0">
                          <a:solidFill>
                            <a:srgbClr val="1A1440"/>
                          </a:solidFill>
                          <a:latin typeface="Calibri"/>
                        </a:rPr>
                        <a:t>0.1%</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Anand's gap is two corporate orders counted twice; Tuesday's rate was measured on eleven extra Retail-Plus rows.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63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dict keyed by 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dictionary keeps one value per key, so it is an identity rule in one line.</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by_id = {r["order_id"]: r for r in raw if convert(r["amount"])[0] is not None}</a:t>
            </a:r>
          </a:p>
          <a:p>
            <a:pPr>
              <a:spcAft>
                <a:spcPts val="200"/>
              </a:spcAft>
            </a:pPr>
            <a:r>
              <a:rPr sz="1400" b="0" i="0">
                <a:solidFill>
                  <a:srgbClr val="E4E1F1"/>
                </a:solidFill>
                <a:latin typeface="Consolas"/>
              </a:rPr>
              <a:t>len(by_id)     # 186, the same orders at the same amounts</a:t>
            </a:r>
          </a:p>
        </p:txBody>
      </p:sp>
      <p:sp>
        <p:nvSpPr>
          <p:cNvPr id="14" name="Rounded Rectangle 13"/>
          <p:cNvSpPr/>
          <p:nvPr/>
        </p:nvSpPr>
        <p:spPr>
          <a:xfrm>
            <a:off x="530352" y="30835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115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02432"/>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dict is the fast check that the totals are right. It keeps the last copy silently and logs nothing, so it is never the pass.</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9" name="Oval 18"/>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1" name="Oval 20"/>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23" name="Oval 22"/>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5" name="Oval 24"/>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63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preference for the copy that validates, and a reason on every row set aside.</a:t>
            </a:r>
          </a:p>
        </p:txBody>
      </p:sp>
      <p:sp>
        <p:nvSpPr>
          <p:cNvPr id="9" name="Rounded Rectangle 8"/>
          <p:cNvSpPr/>
          <p:nvPr/>
        </p:nvSpPr>
        <p:spPr>
          <a:xfrm>
            <a:off x="530352" y="1931670"/>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3436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44090"/>
            <a:ext cx="237744" cy="237744"/>
          </a:xfrm>
          <a:prstGeom prst="rect">
            <a:avLst/>
          </a:prstGeom>
        </p:spPr>
      </p:pic>
      <p:sp>
        <p:nvSpPr>
          <p:cNvPr id="12" name="TextBox 11"/>
          <p:cNvSpPr txBox="1"/>
          <p:nvPr/>
        </p:nvSpPr>
        <p:spPr>
          <a:xfrm>
            <a:off x="1399031" y="207797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297430"/>
            <a:ext cx="9987991" cy="423672"/>
          </a:xfrm>
          <a:prstGeom prst="rect">
            <a:avLst/>
          </a:prstGeom>
          <a:noFill/>
        </p:spPr>
        <p:txBody>
          <a:bodyPr wrap="square" anchor="t" lIns="0" rIns="0" tIns="0" bIns="0">
            <a:spAutoFit/>
          </a:bodyPr>
          <a:lstStyle/>
          <a:p>
            <a:r>
              <a:rPr sz="1500" b="0" i="0">
                <a:solidFill>
                  <a:srgbClr val="1A1440"/>
                </a:solidFill>
                <a:latin typeface="Calibri"/>
              </a:rPr>
              <a:t>When Q1 ties to the books, check the rows before you celebrate.</a:t>
            </a:r>
          </a:p>
        </p:txBody>
      </p:sp>
      <p:sp>
        <p:nvSpPr>
          <p:cNvPr id="14" name="Rounded Rectangle 13"/>
          <p:cNvSpPr/>
          <p:nvPr/>
        </p:nvSpPr>
        <p:spPr>
          <a:xfrm>
            <a:off x="530352" y="295884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6153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71266"/>
            <a:ext cx="237744" cy="237744"/>
          </a:xfrm>
          <a:prstGeom prst="rect">
            <a:avLst/>
          </a:prstGeom>
        </p:spPr>
      </p:pic>
      <p:sp>
        <p:nvSpPr>
          <p:cNvPr id="17" name="TextBox 16"/>
          <p:cNvSpPr txBox="1"/>
          <p:nvPr/>
        </p:nvSpPr>
        <p:spPr>
          <a:xfrm>
            <a:off x="1399031" y="310515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24606"/>
            <a:ext cx="9987991" cy="423672"/>
          </a:xfrm>
          <a:prstGeom prst="rect">
            <a:avLst/>
          </a:prstGeom>
          <a:noFill/>
        </p:spPr>
        <p:txBody>
          <a:bodyPr wrap="square" anchor="t" lIns="0" rIns="0" tIns="0" bIns="0">
            <a:spAutoFit/>
          </a:bodyPr>
          <a:lstStyle/>
          <a:p>
            <a:r>
              <a:rPr sz="1500" b="0" i="0">
                <a:solidFill>
                  <a:srgbClr val="1A1440"/>
                </a:solidFill>
                <a:latin typeface="Calibri"/>
              </a:rPr>
              <a:t>[F] Two copies of an order disagree; which do you keep, and what did the choice cost?</a:t>
            </a:r>
          </a:p>
        </p:txBody>
      </p:sp>
      <p:sp>
        <p:nvSpPr>
          <p:cNvPr id="19" name="Rounded Rectangle 18"/>
          <p:cNvSpPr/>
          <p:nvPr/>
        </p:nvSpPr>
        <p:spPr>
          <a:xfrm>
            <a:off x="530352" y="3986022"/>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18719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296918"/>
            <a:ext cx="237744" cy="237744"/>
          </a:xfrm>
          <a:prstGeom prst="rect">
            <a:avLst/>
          </a:prstGeom>
        </p:spPr>
      </p:pic>
      <p:sp>
        <p:nvSpPr>
          <p:cNvPr id="22" name="TextBox 21"/>
          <p:cNvSpPr txBox="1"/>
          <p:nvPr/>
        </p:nvSpPr>
        <p:spPr>
          <a:xfrm>
            <a:off x="731519" y="475411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3</a:t>
            </a:r>
          </a:p>
        </p:txBody>
      </p:sp>
      <p:sp>
        <p:nvSpPr>
          <p:cNvPr id="23" name="TextBox 22"/>
          <p:cNvSpPr txBox="1"/>
          <p:nvPr/>
        </p:nvSpPr>
        <p:spPr>
          <a:xfrm>
            <a:off x="731519" y="4991862"/>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32730"/>
            <a:ext cx="5071719" cy="218186"/>
          </a:xfrm>
          <a:prstGeom prst="rect">
            <a:avLst/>
          </a:prstGeom>
          <a:noFill/>
        </p:spPr>
        <p:txBody>
          <a:bodyPr wrap="square" anchor="t" lIns="0" rIns="0" tIns="0" bIns="0">
            <a:spAutoFit/>
          </a:bodyPr>
          <a:lstStyle/>
          <a:p>
            <a:pPr algn="l"/>
            <a:r>
              <a:rPr sz="1100" b="0" i="0">
                <a:solidFill>
                  <a:srgbClr val="6B6690"/>
                </a:solidFill>
                <a:latin typeface="Calibri"/>
              </a:rPr>
              <a:t>186 orders, 15 rows set aside, Q1 on the books.</a:t>
            </a:r>
          </a:p>
        </p:txBody>
      </p:sp>
      <p:sp>
        <p:nvSpPr>
          <p:cNvPr id="25" name="Rounded Rectangle 24"/>
          <p:cNvSpPr/>
          <p:nvPr/>
        </p:nvSpPr>
        <p:spPr>
          <a:xfrm>
            <a:off x="6187287" y="3986022"/>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18719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296918"/>
            <a:ext cx="237744" cy="237744"/>
          </a:xfrm>
          <a:prstGeom prst="rect">
            <a:avLst/>
          </a:prstGeom>
        </p:spPr>
      </p:pic>
      <p:sp>
        <p:nvSpPr>
          <p:cNvPr id="28" name="TextBox 27"/>
          <p:cNvSpPr txBox="1"/>
          <p:nvPr/>
        </p:nvSpPr>
        <p:spPr>
          <a:xfrm>
            <a:off x="6388455" y="4754118"/>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4</a:t>
            </a:r>
          </a:p>
        </p:txBody>
      </p:sp>
      <p:sp>
        <p:nvSpPr>
          <p:cNvPr id="29" name="TextBox 28"/>
          <p:cNvSpPr txBox="1"/>
          <p:nvPr/>
        </p:nvSpPr>
        <p:spPr>
          <a:xfrm>
            <a:off x="6388455" y="4991862"/>
            <a:ext cx="5071719" cy="267716"/>
          </a:xfrm>
          <a:prstGeom prst="rect">
            <a:avLst/>
          </a:prstGeom>
          <a:noFill/>
        </p:spPr>
        <p:txBody>
          <a:bodyPr wrap="square" anchor="t" lIns="0" rIns="0" tIns="0" bIns="0">
            <a:spAutoFit/>
          </a:bodyPr>
          <a:lstStyle/>
          <a:p>
            <a:pPr algn="l"/>
            <a:r>
              <a:rPr sz="1400" b="1" i="0">
                <a:solidFill>
                  <a:srgbClr val="FFFFFF"/>
                </a:solidFill>
                <a:latin typeface="Calibri"/>
              </a:rPr>
              <a:t>Open</a:t>
            </a:r>
          </a:p>
        </p:txBody>
      </p:sp>
      <p:sp>
        <p:nvSpPr>
          <p:cNvPr id="30" name="TextBox 29"/>
          <p:cNvSpPr txBox="1"/>
          <p:nvPr/>
        </p:nvSpPr>
        <p:spPr>
          <a:xfrm>
            <a:off x="6388455" y="5332730"/>
            <a:ext cx="5071719" cy="399796"/>
          </a:xfrm>
          <a:prstGeom prst="rect">
            <a:avLst/>
          </a:prstGeom>
          <a:noFill/>
        </p:spPr>
        <p:txBody>
          <a:bodyPr wrap="square" anchor="t" lIns="0" rIns="0" tIns="0" bIns="0">
            <a:spAutoFit/>
          </a:bodyPr>
          <a:lstStyle/>
          <a:p>
            <a:pPr algn="l"/>
            <a:r>
              <a:rPr sz="1100" b="0" i="0">
                <a:solidFill>
                  <a:srgbClr val="CFC9EE"/>
                </a:solidFill>
                <a:latin typeface="Calibri"/>
              </a:rPr>
              <a:t>One order has no status, 55 no discount, and the next export will carry an unreadable amount with no twin.</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5" name="Oval 3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37" name="Oval 3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63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missing or malformed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Every defect is a decision with a written claim beside it.</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63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two decisions the log must carry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Operations reads the delivered share weekly; Finance reads every rupee.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dashed_69bc91c0def8.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MISSING VALUE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order, no status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Revenue counts it; the delivered share needs its fate.</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ircle-dashed_69bc91c0def8.png"/>
          <p:cNvPicPr>
            <a:picLocks noChangeAspect="1"/>
          </p:cNvPicPr>
          <p:nvPr/>
        </p:nvPicPr>
        <p:blipFill>
          <a:blip r:embed="rId4"/>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MISSING VALUE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55 orders, no discount</a:t>
            </a:r>
          </a:p>
        </p:txBody>
      </p:sp>
      <p:sp>
        <p:nvSpPr>
          <p:cNvPr id="20" name="TextBox 19"/>
          <p:cNvSpPr txBox="1"/>
          <p:nvPr/>
        </p:nvSpPr>
        <p:spPr>
          <a:xfrm>
            <a:off x="4502810" y="3303524"/>
            <a:ext cx="3186074" cy="218186"/>
          </a:xfrm>
          <a:prstGeom prst="rect">
            <a:avLst/>
          </a:prstGeom>
          <a:noFill/>
        </p:spPr>
        <p:txBody>
          <a:bodyPr wrap="square" anchor="t" lIns="0" rIns="0" tIns="0" bIns="0">
            <a:spAutoFit/>
          </a:bodyPr>
          <a:lstStyle/>
          <a:p>
            <a:pPr algn="l"/>
            <a:r>
              <a:rPr sz="1100" b="0" i="0">
                <a:solidFill>
                  <a:srgbClr val="6B6690"/>
                </a:solidFill>
                <a:latin typeface="Calibri"/>
              </a:rPr>
              <a:t>Tuesday read the gap as zero.</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5"/>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MALFORMED VALUE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An amount that will not convert</a:t>
            </a:r>
          </a:p>
        </p:txBody>
      </p:sp>
      <p:sp>
        <p:nvSpPr>
          <p:cNvPr id="26" name="TextBox 25"/>
          <p:cNvSpPr txBox="1"/>
          <p:nvPr/>
        </p:nvSpPr>
        <p:spPr>
          <a:xfrm>
            <a:off x="8274100" y="3303524"/>
            <a:ext cx="3186074" cy="218186"/>
          </a:xfrm>
          <a:prstGeom prst="rect">
            <a:avLst/>
          </a:prstGeom>
          <a:noFill/>
        </p:spPr>
        <p:txBody>
          <a:bodyPr wrap="square" anchor="t" lIns="0" rIns="0" tIns="0" bIns="0">
            <a:spAutoFit/>
          </a:bodyPr>
          <a:lstStyle/>
          <a:p>
            <a:pPr algn="l"/>
            <a:r>
              <a:rPr sz="1100" b="0" i="0">
                <a:solidFill>
                  <a:srgbClr val="CFC9EE"/>
                </a:solidFill>
                <a:latin typeface="Calibri"/>
              </a:rPr>
              <a:t>The next export will carry one with no twin.</a:t>
            </a:r>
          </a:p>
        </p:txBody>
      </p:sp>
      <p:sp>
        <p:nvSpPr>
          <p:cNvPr id="27" name="Rounded Rectangle 26"/>
          <p:cNvSpPr/>
          <p:nvPr/>
        </p:nvSpPr>
        <p:spPr>
          <a:xfrm>
            <a:off x="530352" y="41041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bug_39ada6eff46d.png"/>
          <p:cNvPicPr>
            <a:picLocks noChangeAspect="1"/>
          </p:cNvPicPr>
          <p:nvPr/>
        </p:nvPicPr>
        <p:blipFill>
          <a:blip r:embed="rId6"/>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1A1440"/>
                </a:solidFill>
                <a:latin typeface="Calibri"/>
              </a:rPr>
              <a:t>A default invents a delivery Operations never recorded; a zero invents an order sold for nothing.</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4" name="Oval 33"/>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6" name="Oval 3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8" name="Oval 37"/>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40" name="Oval 39"/>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63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UK sold stock at 1p for an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repricing tool's error set hundreds of items to a penny on 12 December 2014.</a:t>
            </a:r>
          </a:p>
        </p:txBody>
      </p:sp>
      <p:sp>
        <p:nvSpPr>
          <p:cNvPr id="9" name="TextBox 8"/>
          <p:cNvSpPr txBox="1"/>
          <p:nvPr/>
        </p:nvSpPr>
        <p:spPr>
          <a:xfrm>
            <a:off x="53035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1p</a:t>
            </a:r>
          </a:p>
        </p:txBody>
      </p:sp>
      <p:sp>
        <p:nvSpPr>
          <p:cNvPr id="10" name="TextBox 9"/>
          <p:cNvSpPr txBox="1"/>
          <p:nvPr/>
        </p:nvSpPr>
        <p:spPr>
          <a:xfrm>
            <a:off x="53035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PRICE</a:t>
            </a:r>
          </a:p>
        </p:txBody>
      </p:sp>
      <p:sp>
        <p:nvSpPr>
          <p:cNvPr id="11" name="TextBox 10"/>
          <p:cNvSpPr txBox="1"/>
          <p:nvPr/>
        </p:nvSpPr>
        <p:spPr>
          <a:xfrm>
            <a:off x="53035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set by a repricing tool</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about an hour</a:t>
            </a:r>
          </a:p>
        </p:txBody>
      </p:sp>
      <p:sp>
        <p:nvSpPr>
          <p:cNvPr id="14" name="TextBox 13"/>
          <p:cNvSpPr txBox="1"/>
          <p:nvPr/>
        </p:nvSpPr>
        <p:spPr>
          <a:xfrm>
            <a:off x="433212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WINDOW</a:t>
            </a:r>
          </a:p>
        </p:txBody>
      </p:sp>
      <p:sp>
        <p:nvSpPr>
          <p:cNvPr id="15" name="TextBox 14"/>
          <p:cNvSpPr txBox="1"/>
          <p:nvPr/>
        </p:nvSpPr>
        <p:spPr>
          <a:xfrm>
            <a:off x="433212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a Friday evening</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most</a:t>
            </a:r>
          </a:p>
        </p:txBody>
      </p:sp>
      <p:sp>
        <p:nvSpPr>
          <p:cNvPr id="18" name="TextBox 17"/>
          <p:cNvSpPr txBox="1"/>
          <p:nvPr/>
        </p:nvSpPr>
        <p:spPr>
          <a:xfrm>
            <a:off x="813389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CANCELLED</a:t>
            </a:r>
          </a:p>
        </p:txBody>
      </p:sp>
      <p:sp>
        <p:nvSpPr>
          <p:cNvPr id="19" name="TextBox 18"/>
          <p:cNvSpPr txBox="1"/>
          <p:nvPr/>
        </p:nvSpPr>
        <p:spPr>
          <a:xfrm>
            <a:off x="813389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once Amazon spotted it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 value that falls to a default is still treated as real by everything downstream. A coerced zero in a report does the same.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63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decisions, each sized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missing status on Q2, and the unreadable amount against the books.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4942613"/>
                <a:gridCol w="2985678"/>
                <a:gridCol w="2288298"/>
                <a:gridCol w="914400"/>
              </a:tblGrid>
              <a:tr h="335280">
                <a:tc>
                  <a:txBody>
                    <a:bodyPr/>
                    <a:lstStyle/>
                    <a:p>
                      <a:r>
                        <a:rPr sz="1250" b="1" i="0">
                          <a:solidFill>
                            <a:srgbClr val="FFFFFF"/>
                          </a:solidFill>
                          <a:latin typeface="Calibri"/>
                        </a:rPr>
                        <a:t>Missing status</a:t>
                      </a:r>
                    </a:p>
                  </a:txBody>
                  <a:tcPr marL="101600" marR="101600" marT="38100" marB="38100" anchor="ctr">
                    <a:solidFill>
                      <a:srgbClr val="1A0F5C"/>
                    </a:solidFill>
                  </a:tcPr>
                </a:tc>
                <a:tc>
                  <a:txBody>
                    <a:bodyPr/>
                    <a:lstStyle/>
                    <a:p>
                      <a:r>
                        <a:rPr sz="1250" b="1" i="0">
                          <a:solidFill>
                            <a:srgbClr val="FFFFFF"/>
                          </a:solidFill>
                          <a:latin typeface="Calibri"/>
                        </a:rPr>
                        <a:t>Q2 revenue</a:t>
                      </a:r>
                    </a:p>
                  </a:txBody>
                  <a:tcPr marL="101600" marR="101600" marT="38100" marB="38100" anchor="ctr">
                    <a:solidFill>
                      <a:srgbClr val="1A0F5C"/>
                    </a:solidFill>
                  </a:tcPr>
                </a:tc>
                <a:tc>
                  <a:txBody>
                    <a:bodyPr/>
                    <a:lstStyle/>
                    <a:p>
                      <a:r>
                        <a:rPr sz="1250" b="1" i="0">
                          <a:solidFill>
                            <a:srgbClr val="FFFFFF"/>
                          </a:solidFill>
                          <a:latin typeface="Calibri"/>
                        </a:rPr>
                        <a:t>Delivered</a:t>
                      </a:r>
                    </a:p>
                  </a:txBody>
                  <a:tcPr marL="101600" marR="101600" marT="38100" marB="38100" anchor="ctr">
                    <a:solidFill>
                      <a:srgbClr val="1A0F5C"/>
                    </a:solidFill>
                  </a:tcPr>
                </a:tc>
                <a:tc>
                  <a:txBody>
                    <a:bodyPr/>
                    <a:lstStyle/>
                    <a:p>
                      <a:r>
                        <a:rPr sz="1250" b="1" i="0">
                          <a:solidFill>
                            <a:srgbClr val="FFFFFF"/>
                          </a:solidFill>
                          <a:latin typeface="Calibri"/>
                        </a:rPr>
                        <a:t>Share</a:t>
                      </a:r>
                    </a:p>
                  </a:txBody>
                  <a:tcPr marL="101600" marR="101600" marT="38100" marB="38100" anchor="ctr">
                    <a:solidFill>
                      <a:srgbClr val="1A0F5C"/>
                    </a:solidFill>
                  </a:tcPr>
                </a:tc>
              </a:tr>
              <a:tr h="335280">
                <a:tc>
                  <a:txBody>
                    <a:bodyPr/>
                    <a:lstStyle/>
                    <a:p>
                      <a:r>
                        <a:rPr sz="1200" b="0" i="0">
                          <a:solidFill>
                            <a:srgbClr val="1A1440"/>
                          </a:solidFill>
                          <a:latin typeface="Calibri"/>
                        </a:rPr>
                        <a:t>a) Drop</a:t>
                      </a:r>
                    </a:p>
                  </a:txBody>
                  <a:tcPr marL="101600" marR="101600" marT="38100" marB="38100" anchor="ctr">
                    <a:solidFill>
                      <a:srgbClr val="FFFFFF"/>
                    </a:solidFill>
                  </a:tcPr>
                </a:tc>
                <a:tc>
                  <a:txBody>
                    <a:bodyPr/>
                    <a:lstStyle/>
                    <a:p>
                      <a:r>
                        <a:rPr sz="1200" b="0" i="0">
                          <a:solidFill>
                            <a:srgbClr val="1A1440"/>
                          </a:solidFill>
                          <a:latin typeface="Calibri"/>
                        </a:rPr>
                        <a:t>Rs 1,86,98,150</a:t>
                      </a:r>
                    </a:p>
                  </a:txBody>
                  <a:tcPr marL="101600" marR="101600" marT="38100" marB="38100" anchor="ctr">
                    <a:solidFill>
                      <a:srgbClr val="FFFFFF"/>
                    </a:solidFill>
                  </a:tcPr>
                </a:tc>
                <a:tc>
                  <a:txBody>
                    <a:bodyPr/>
                    <a:lstStyle/>
                    <a:p>
                      <a:r>
                        <a:rPr sz="1200" b="0" i="0">
                          <a:solidFill>
                            <a:srgbClr val="1A1440"/>
                          </a:solidFill>
                          <a:latin typeface="Calibri"/>
                        </a:rPr>
                        <a:t>57 of 85</a:t>
                      </a:r>
                    </a:p>
                  </a:txBody>
                  <a:tcPr marL="101600" marR="101600" marT="38100" marB="38100" anchor="ctr">
                    <a:solidFill>
                      <a:srgbClr val="FFFFFF"/>
                    </a:solidFill>
                  </a:tcPr>
                </a:tc>
                <a:tc>
                  <a:txBody>
                    <a:bodyPr/>
                    <a:lstStyle/>
                    <a:p>
                      <a:r>
                        <a:rPr sz="1200" b="0" i="0">
                          <a:solidFill>
                            <a:srgbClr val="1A1440"/>
                          </a:solidFill>
                          <a:latin typeface="Calibri"/>
                        </a:rPr>
                        <a:t>67.1%</a:t>
                      </a:r>
                    </a:p>
                  </a:txBody>
                  <a:tcPr marL="101600" marR="101600" marT="38100" marB="38100" anchor="ctr">
                    <a:solidFill>
                      <a:srgbClr val="FFFFFF"/>
                    </a:solidFill>
                  </a:tcPr>
                </a:tc>
              </a:tr>
              <a:tr h="335280">
                <a:tc>
                  <a:txBody>
                    <a:bodyPr/>
                    <a:lstStyle/>
                    <a:p>
                      <a:r>
                        <a:rPr sz="1200" b="0" i="0">
                          <a:solidFill>
                            <a:srgbClr val="1A1440"/>
                          </a:solidFill>
                          <a:latin typeface="Calibri"/>
                        </a:rPr>
                        <a:t>b) Default delivered</a:t>
                      </a:r>
                    </a:p>
                  </a:txBody>
                  <a:tcPr marL="101600" marR="101600" marT="38100" marB="38100" anchor="ctr">
                    <a:solidFill>
                      <a:srgbClr val="F4F2FA"/>
                    </a:solidFill>
                  </a:tcPr>
                </a:tc>
                <a:tc>
                  <a:txBody>
                    <a:bodyPr/>
                    <a:lstStyle/>
                    <a:p>
                      <a:r>
                        <a:rPr sz="1200" b="0" i="0">
                          <a:solidFill>
                            <a:srgbClr val="1A1440"/>
                          </a:solidFill>
                          <a:latin typeface="Calibri"/>
                        </a:rPr>
                        <a:t>Rs 1,87,00,000</a:t>
                      </a:r>
                    </a:p>
                  </a:txBody>
                  <a:tcPr marL="101600" marR="101600" marT="38100" marB="38100" anchor="ctr">
                    <a:solidFill>
                      <a:srgbClr val="F4F2FA"/>
                    </a:solidFill>
                  </a:tcPr>
                </a:tc>
                <a:tc>
                  <a:txBody>
                    <a:bodyPr/>
                    <a:lstStyle/>
                    <a:p>
                      <a:r>
                        <a:rPr sz="1200" b="0" i="0">
                          <a:solidFill>
                            <a:srgbClr val="1A1440"/>
                          </a:solidFill>
                          <a:latin typeface="Calibri"/>
                        </a:rPr>
                        <a:t>58 of 86</a:t>
                      </a:r>
                    </a:p>
                  </a:txBody>
                  <a:tcPr marL="101600" marR="101600" marT="38100" marB="38100" anchor="ctr">
                    <a:solidFill>
                      <a:srgbClr val="F4F2FA"/>
                    </a:solidFill>
                  </a:tcPr>
                </a:tc>
                <a:tc>
                  <a:txBody>
                    <a:bodyPr/>
                    <a:lstStyle/>
                    <a:p>
                      <a:r>
                        <a:rPr sz="1200" b="0" i="0">
                          <a:solidFill>
                            <a:srgbClr val="1A1440"/>
                          </a:solidFill>
                          <a:latin typeface="Calibri"/>
                        </a:rPr>
                        <a:t>67.4%</a:t>
                      </a:r>
                    </a:p>
                  </a:txBody>
                  <a:tcPr marL="101600" marR="101600" marT="38100" marB="38100" anchor="ctr">
                    <a:solidFill>
                      <a:srgbClr val="F4F2FA"/>
                    </a:solidFill>
                  </a:tcPr>
                </a:tc>
              </a:tr>
              <a:tr h="335280">
                <a:tc>
                  <a:txBody>
                    <a:bodyPr/>
                    <a:lstStyle/>
                    <a:p>
                      <a:r>
                        <a:rPr sz="1200" b="0" i="0">
                          <a:solidFill>
                            <a:srgbClr val="1A1440"/>
                          </a:solidFill>
                          <a:latin typeface="Calibri"/>
                        </a:rPr>
                        <a:t>c) Impute from last order</a:t>
                      </a:r>
                    </a:p>
                  </a:txBody>
                  <a:tcPr marL="101600" marR="101600" marT="38100" marB="38100" anchor="ctr">
                    <a:solidFill>
                      <a:srgbClr val="FFFFFF"/>
                    </a:solidFill>
                  </a:tcPr>
                </a:tc>
                <a:tc>
                  <a:txBody>
                    <a:bodyPr/>
                    <a:lstStyle/>
                    <a:p>
                      <a:r>
                        <a:rPr sz="1200" b="0" i="0">
                          <a:solidFill>
                            <a:srgbClr val="1A1440"/>
                          </a:solidFill>
                          <a:latin typeface="Calibri"/>
                        </a:rPr>
                        <a:t>Rs 1,87,00,000</a:t>
                      </a:r>
                    </a:p>
                  </a:txBody>
                  <a:tcPr marL="101600" marR="101600" marT="38100" marB="38100" anchor="ctr">
                    <a:solidFill>
                      <a:srgbClr val="FFFFFF"/>
                    </a:solidFill>
                  </a:tcPr>
                </a:tc>
                <a:tc>
                  <a:txBody>
                    <a:bodyPr/>
                    <a:lstStyle/>
                    <a:p>
                      <a:r>
                        <a:rPr sz="1200" b="0" i="0">
                          <a:solidFill>
                            <a:srgbClr val="1A1440"/>
                          </a:solidFill>
                          <a:latin typeface="Calibri"/>
                        </a:rPr>
                        <a:t>58 of 86</a:t>
                      </a:r>
                    </a:p>
                  </a:txBody>
                  <a:tcPr marL="101600" marR="101600" marT="38100" marB="38100" anchor="ctr">
                    <a:solidFill>
                      <a:srgbClr val="FFFFFF"/>
                    </a:solidFill>
                  </a:tcPr>
                </a:tc>
                <a:tc>
                  <a:txBody>
                    <a:bodyPr/>
                    <a:lstStyle/>
                    <a:p>
                      <a:r>
                        <a:rPr sz="1200" b="0" i="0">
                          <a:solidFill>
                            <a:srgbClr val="1A1440"/>
                          </a:solidFill>
                          <a:latin typeface="Calibri"/>
                        </a:rPr>
                        <a:t>67.4%</a:t>
                      </a:r>
                    </a:p>
                  </a:txBody>
                  <a:tcPr marL="101600" marR="101600" marT="38100" marB="38100" anchor="ctr">
                    <a:solidFill>
                      <a:srgbClr val="FFFFFF"/>
                    </a:solidFill>
                  </a:tcPr>
                </a:tc>
              </a:tr>
              <a:tr h="335280">
                <a:tc>
                  <a:txBody>
                    <a:bodyPr/>
                    <a:lstStyle/>
                    <a:p>
                      <a:r>
                        <a:rPr sz="1200" b="0" i="0">
                          <a:solidFill>
                            <a:srgbClr val="1A1440"/>
                          </a:solidFill>
                          <a:latin typeface="Calibri"/>
                        </a:rPr>
                        <a:t>d) Keep and flag</a:t>
                      </a:r>
                    </a:p>
                  </a:txBody>
                  <a:tcPr marL="101600" marR="101600" marT="38100" marB="38100" anchor="ctr">
                    <a:solidFill>
                      <a:srgbClr val="F4F2FA"/>
                    </a:solidFill>
                  </a:tcPr>
                </a:tc>
                <a:tc>
                  <a:txBody>
                    <a:bodyPr/>
                    <a:lstStyle/>
                    <a:p>
                      <a:r>
                        <a:rPr sz="1200" b="0" i="0">
                          <a:solidFill>
                            <a:srgbClr val="1A1440"/>
                          </a:solidFill>
                          <a:latin typeface="Calibri"/>
                        </a:rPr>
                        <a:t>Rs 1,87,00,000</a:t>
                      </a:r>
                    </a:p>
                  </a:txBody>
                  <a:tcPr marL="101600" marR="101600" marT="38100" marB="38100" anchor="ctr">
                    <a:solidFill>
                      <a:srgbClr val="F4F2FA"/>
                    </a:solidFill>
                  </a:tcPr>
                </a:tc>
                <a:tc>
                  <a:txBody>
                    <a:bodyPr/>
                    <a:lstStyle/>
                    <a:p>
                      <a:r>
                        <a:rPr sz="1200" b="0" i="0">
                          <a:solidFill>
                            <a:srgbClr val="1A1440"/>
                          </a:solidFill>
                          <a:latin typeface="Calibri"/>
                        </a:rPr>
                        <a:t>57 of 86</a:t>
                      </a:r>
                    </a:p>
                  </a:txBody>
                  <a:tcPr marL="101600" marR="101600" marT="38100" marB="38100" anchor="ctr">
                    <a:solidFill>
                      <a:srgbClr val="F4F2FA"/>
                    </a:solidFill>
                  </a:tcPr>
                </a:tc>
                <a:tc>
                  <a:txBody>
                    <a:bodyPr/>
                    <a:lstStyle/>
                    <a:p>
                      <a:r>
                        <a:rPr sz="1200" b="0" i="0">
                          <a:solidFill>
                            <a:srgbClr val="1A1440"/>
                          </a:solidFill>
                          <a:latin typeface="Calibri"/>
                        </a:rPr>
                        <a:t>66.3%</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Status: d. Amount: reject to the log, and repair only from an independent copy. What would switch them: a delivery system to ask, or a second export cut from the same extract.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63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should the missing discount be?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55 of 186 kept orders carry no discount; revenue does not need the field.</a:t>
            </a:r>
          </a:p>
        </p:txBody>
      </p:sp>
      <p:pic>
        <p:nvPicPr>
          <p:cNvPr id="9" name="mermaid diagram" descr="1baee83574667561.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average discount with blanks read as zero, against the average over orders that carry one, as a letter? a) the same; b) a few rupees apart; c) about 30 percent lower with zeros; d) higher with zeros.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63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zeros pull it from Rs 67 to Rs 47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Keep and flag: any discount figure is quoted over the orders that carry one.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67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OVER ORDERS THAT CARRY ONE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131 orders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47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BLANKS READ AS ZERO</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186 orders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FLAGGED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count beside every figure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c. The field stays blank, the count goes beside the figure, and revenue is untouched.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63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failures become zero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helper turns anything unreadable into 0, and the first copy wins.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to_int(value):</a:t>
            </a:r>
          </a:p>
          <a:p>
            <a:pPr>
              <a:spcAft>
                <a:spcPts val="200"/>
              </a:spcAft>
            </a:pPr>
            <a:r>
              <a:rPr sz="1400" b="0" i="0">
                <a:solidFill>
                  <a:srgbClr val="E4E1F1"/>
                </a:solidFill>
                <a:latin typeface="Consolas"/>
              </a:rPr>
              <a:t>    try:</a:t>
            </a:r>
          </a:p>
          <a:p>
            <a:pPr>
              <a:spcAft>
                <a:spcPts val="200"/>
              </a:spcAft>
            </a:pPr>
            <a:r>
              <a:rPr sz="1400" b="0" i="0">
                <a:solidFill>
                  <a:srgbClr val="E4E1F1"/>
                </a:solidFill>
                <a:latin typeface="Consolas"/>
              </a:rPr>
              <a:t>        return int(value)</a:t>
            </a:r>
          </a:p>
          <a:p>
            <a:pPr>
              <a:spcAft>
                <a:spcPts val="200"/>
              </a:spcAft>
            </a:pPr>
            <a:r>
              <a:rPr sz="1400" b="0" i="0">
                <a:solidFill>
                  <a:srgbClr val="E4E1F1"/>
                </a:solidFill>
                <a:latin typeface="Consolas"/>
              </a:rPr>
              <a:t>    except ValueError:</a:t>
            </a:r>
          </a:p>
          <a:p>
            <a:pPr>
              <a:spcAft>
                <a:spcPts val="200"/>
              </a:spcAft>
            </a:pPr>
            <a:r>
              <a:rPr sz="1400" b="0" i="0">
                <a:solidFill>
                  <a:srgbClr val="E4E1F1"/>
                </a:solidFill>
                <a:latin typeface="Consolas"/>
              </a:rPr>
              <a:t>        return 0              # "so the loop does not crash"</a:t>
            </a:r>
          </a:p>
        </p:txBody>
      </p:sp>
      <p:sp>
        <p:nvSpPr>
          <p:cNvPr id="14" name="TextBox 13"/>
          <p:cNvSpPr txBox="1"/>
          <p:nvPr/>
        </p:nvSpPr>
        <p:spPr>
          <a:xfrm>
            <a:off x="530352" y="3840988"/>
            <a:ext cx="3527450" cy="508000"/>
          </a:xfrm>
          <a:prstGeom prst="rect">
            <a:avLst/>
          </a:prstGeom>
          <a:noFill/>
        </p:spPr>
        <p:txBody>
          <a:bodyPr wrap="square" anchor="t" lIns="0" rIns="0" tIns="0" bIns="0">
            <a:spAutoFit/>
          </a:bodyPr>
          <a:lstStyle/>
          <a:p>
            <a:pPr algn="l"/>
            <a:r>
              <a:rPr sz="3200" b="0" i="0">
                <a:solidFill>
                  <a:srgbClr val="5B3FD6"/>
                </a:solidFill>
                <a:latin typeface="Georgia"/>
              </a:rPr>
              <a:t>201 of 201</a:t>
            </a:r>
          </a:p>
        </p:txBody>
      </p:sp>
      <p:sp>
        <p:nvSpPr>
          <p:cNvPr id="15" name="TextBox 14"/>
          <p:cNvSpPr txBox="1"/>
          <p:nvPr/>
        </p:nvSpPr>
        <p:spPr>
          <a:xfrm>
            <a:off x="530352" y="43855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AMOUNTS CONVERT</a:t>
            </a:r>
          </a:p>
        </p:txBody>
      </p:sp>
      <p:sp>
        <p:nvSpPr>
          <p:cNvPr id="16" name="TextBox 15"/>
          <p:cNvSpPr txBox="1"/>
          <p:nvPr/>
        </p:nvSpPr>
        <p:spPr>
          <a:xfrm>
            <a:off x="530352" y="4586732"/>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coerced profile</a:t>
            </a:r>
          </a:p>
        </p:txBody>
      </p:sp>
      <p:sp>
        <p:nvSpPr>
          <p:cNvPr id="17" name="Rectangle 16"/>
          <p:cNvSpPr/>
          <p:nvPr/>
        </p:nvSpPr>
        <p:spPr>
          <a:xfrm>
            <a:off x="53035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840988"/>
            <a:ext cx="3527450" cy="508000"/>
          </a:xfrm>
          <a:prstGeom prst="rect">
            <a:avLst/>
          </a:prstGeom>
          <a:noFill/>
        </p:spPr>
        <p:txBody>
          <a:bodyPr wrap="square" anchor="t" lIns="0" rIns="0" tIns="0" bIns="0">
            <a:spAutoFit/>
          </a:bodyPr>
          <a:lstStyle/>
          <a:p>
            <a:pPr algn="l"/>
            <a:r>
              <a:rPr sz="3200" b="0" i="0">
                <a:solidFill>
                  <a:srgbClr val="5B3FD6"/>
                </a:solidFill>
                <a:latin typeface="Georgia"/>
              </a:rPr>
              <a:t>0</a:t>
            </a:r>
          </a:p>
        </p:txBody>
      </p:sp>
      <p:sp>
        <p:nvSpPr>
          <p:cNvPr id="19" name="TextBox 18"/>
          <p:cNvSpPr txBox="1"/>
          <p:nvPr/>
        </p:nvSpPr>
        <p:spPr>
          <a:xfrm>
            <a:off x="4332122" y="43855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IN THE REJECTS LOG</a:t>
            </a:r>
          </a:p>
        </p:txBody>
      </p:sp>
      <p:sp>
        <p:nvSpPr>
          <p:cNvPr id="20" name="TextBox 19"/>
          <p:cNvSpPr txBox="1"/>
          <p:nvPr/>
        </p:nvSpPr>
        <p:spPr>
          <a:xfrm>
            <a:off x="4332122" y="4586732"/>
            <a:ext cx="3527450" cy="193421"/>
          </a:xfrm>
          <a:prstGeom prst="rect">
            <a:avLst/>
          </a:prstGeom>
          <a:noFill/>
        </p:spPr>
        <p:txBody>
          <a:bodyPr wrap="square" anchor="t" lIns="0" rIns="0" tIns="0" bIns="0">
            <a:spAutoFit/>
          </a:bodyPr>
          <a:lstStyle/>
          <a:p>
            <a:pPr algn="l"/>
            <a:r>
              <a:rPr sz="950" b="0" i="0">
                <a:solidFill>
                  <a:srgbClr val="6B6690"/>
                </a:solidFill>
                <a:latin typeface="Calibri"/>
              </a:rPr>
              <a:t>nothing to explain</a:t>
            </a:r>
          </a:p>
        </p:txBody>
      </p:sp>
      <p:sp>
        <p:nvSpPr>
          <p:cNvPr id="21" name="Rectangle 20"/>
          <p:cNvSpPr/>
          <p:nvPr/>
        </p:nvSpPr>
        <p:spPr>
          <a:xfrm>
            <a:off x="433212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840988"/>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1,89,98,210</a:t>
            </a:r>
          </a:p>
        </p:txBody>
      </p:sp>
      <p:sp>
        <p:nvSpPr>
          <p:cNvPr id="23" name="TextBox 22"/>
          <p:cNvSpPr txBox="1"/>
          <p:nvPr/>
        </p:nvSpPr>
        <p:spPr>
          <a:xfrm>
            <a:off x="8133892" y="43855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AFTER THE DEDUPE</a:t>
            </a:r>
          </a:p>
        </p:txBody>
      </p:sp>
      <p:sp>
        <p:nvSpPr>
          <p:cNvPr id="24" name="TextBox 23"/>
          <p:cNvSpPr txBox="1"/>
          <p:nvPr/>
        </p:nvSpPr>
        <p:spPr>
          <a:xfrm>
            <a:off x="8133892" y="4586732"/>
            <a:ext cx="3527450" cy="193421"/>
          </a:xfrm>
          <a:prstGeom prst="rect">
            <a:avLst/>
          </a:prstGeom>
          <a:noFill/>
        </p:spPr>
        <p:txBody>
          <a:bodyPr wrap="square" anchor="t" lIns="0" rIns="0" tIns="0" bIns="0">
            <a:spAutoFit/>
          </a:bodyPr>
          <a:lstStyle/>
          <a:p>
            <a:pPr algn="l"/>
            <a:r>
              <a:rPr sz="950" b="0" i="0">
                <a:solidFill>
                  <a:srgbClr val="6B6690"/>
                </a:solidFill>
                <a:latin typeface="Calibri"/>
              </a:rPr>
              <a:t>rounds to 1.9 crore</a:t>
            </a:r>
          </a:p>
        </p:txBody>
      </p:sp>
      <p:sp>
        <p:nvSpPr>
          <p:cNvPr id="25" name="Rectangle 24"/>
          <p:cNvSpPr/>
          <p:nvPr/>
        </p:nvSpPr>
        <p:spPr>
          <a:xfrm>
            <a:off x="813389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63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 zero is a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Once the unreadable copy is worth Rs 0 it passes as valid, and the rule keeps it.</a:t>
            </a:r>
          </a:p>
        </p:txBody>
      </p:sp>
      <p:pic>
        <p:nvPicPr>
          <p:cNvPr id="9" name="mermaid diagram" descr="604ca694d732128b.png"/>
          <p:cNvPicPr>
            <a:picLocks noChangeAspect="1"/>
          </p:cNvPicPr>
          <p:nvPr/>
        </p:nvPicPr>
        <p:blipFill>
          <a:blip r:embed="rId5"/>
          <a:stretch>
            <a:fillRect/>
          </a:stretch>
        </p:blipFill>
        <p:spPr>
          <a:xfrm>
            <a:off x="530352" y="1956816"/>
            <a:ext cx="11130991" cy="1129748"/>
          </a:xfrm>
          <a:prstGeom prst="rect">
            <a:avLst/>
          </a:prstGeom>
        </p:spPr>
      </p:pic>
      <p:sp>
        <p:nvSpPr>
          <p:cNvPr id="10" name="Rounded Rectangle 9"/>
          <p:cNvSpPr/>
          <p:nvPr/>
        </p:nvSpPr>
        <p:spPr>
          <a:xfrm>
            <a:off x="530352" y="32328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608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174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Can a Kalpa order be worth nothing? The smallest real order in the export is Rs 680, and the failure count fell from one to zero while nothing was fixed.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63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reject, then repair only from a witness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JSON feed repeats the defect; the second extract carried the value.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118 of 119</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FEED AMOUNTS AGREE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with the clean file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UNREADABLE IN THE FEED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copy of the defect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AGAINST THE BOOKS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after reject and the rule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Rs 0 order leaves the clean file, the twin with the value stays, and the profile reports the one failure the export really had.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63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profile against the logs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Aggregate counts and row logs must agree on every defect.</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4749069"/>
                <a:gridCol w="3602536"/>
                <a:gridCol w="2779384"/>
              </a:tblGrid>
              <a:tr h="369824">
                <a:tc>
                  <a:txBody>
                    <a:bodyPr/>
                    <a:lstStyle/>
                    <a:p>
                      <a:r>
                        <a:rPr sz="1450" b="1" i="0">
                          <a:solidFill>
                            <a:srgbClr val="FFFFFF"/>
                          </a:solidFill>
                          <a:latin typeface="Calibri"/>
                        </a:rPr>
                        <a:t>Defect</a:t>
                      </a:r>
                    </a:p>
                  </a:txBody>
                  <a:tcPr marL="101600" marR="101600" marT="38100" marB="38100" anchor="ctr">
                    <a:solidFill>
                      <a:srgbClr val="1A0F5C"/>
                    </a:solidFill>
                  </a:tcPr>
                </a:tc>
                <a:tc>
                  <a:txBody>
                    <a:bodyPr/>
                    <a:lstStyle/>
                    <a:p>
                      <a:r>
                        <a:rPr sz="1450" b="1" i="0">
                          <a:solidFill>
                            <a:srgbClr val="FFFFFF"/>
                          </a:solidFill>
                          <a:latin typeface="Calibri"/>
                        </a:rPr>
                        <a:t>The profile</a:t>
                      </a:r>
                    </a:p>
                  </a:txBody>
                  <a:tcPr marL="101600" marR="101600" marT="38100" marB="38100" anchor="ctr">
                    <a:solidFill>
                      <a:srgbClr val="1A0F5C"/>
                    </a:solidFill>
                  </a:tcPr>
                </a:tc>
                <a:tc>
                  <a:txBody>
                    <a:bodyPr/>
                    <a:lstStyle/>
                    <a:p>
                      <a:r>
                        <a:rPr sz="1450" b="1" i="0">
                          <a:solidFill>
                            <a:srgbClr val="FFFFFF"/>
                          </a:solidFill>
                          <a:latin typeface="Calibri"/>
                        </a:rPr>
                        <a:t>The logs</a:t>
                      </a:r>
                    </a:p>
                  </a:txBody>
                  <a:tcPr marL="101600" marR="101600" marT="38100" marB="38100" anchor="ctr">
                    <a:solidFill>
                      <a:srgbClr val="1A0F5C"/>
                    </a:solidFill>
                  </a:tcPr>
                </a:tc>
              </a:tr>
              <a:tr h="369824">
                <a:tc>
                  <a:txBody>
                    <a:bodyPr/>
                    <a:lstStyle/>
                    <a:p>
                      <a:r>
                        <a:rPr sz="1400" b="0" i="0">
                          <a:solidFill>
                            <a:srgbClr val="1A1440"/>
                          </a:solidFill>
                          <a:latin typeface="Calibri"/>
                        </a:rPr>
                        <a:t>Status missing</a:t>
                      </a:r>
                    </a:p>
                  </a:txBody>
                  <a:tcPr marL="101600" marR="101600" marT="38100" marB="38100" anchor="ctr">
                    <a:solidFill>
                      <a:srgbClr val="FFFFFF"/>
                    </a:solidFill>
                  </a:tcPr>
                </a:tc>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1</a:t>
                      </a:r>
                    </a:p>
                  </a:txBody>
                  <a:tcPr marL="101600" marR="101600" marT="38100" marB="38100" anchor="ctr">
                    <a:solidFill>
                      <a:srgbClr val="FFFFFF"/>
                    </a:solidFill>
                  </a:tcPr>
                </a:tc>
              </a:tr>
              <a:tr h="369824">
                <a:tc>
                  <a:txBody>
                    <a:bodyPr/>
                    <a:lstStyle/>
                    <a:p>
                      <a:r>
                        <a:rPr sz="1400" b="0" i="0">
                          <a:solidFill>
                            <a:srgbClr val="1A1440"/>
                          </a:solidFill>
                          <a:latin typeface="Calibri"/>
                        </a:rPr>
                        <a:t>Amount that fails</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r>
              <a:tr h="369824">
                <a:tc>
                  <a:txBody>
                    <a:bodyPr/>
                    <a:lstStyle/>
                    <a:p>
                      <a:r>
                        <a:rPr sz="1400" b="0" i="0">
                          <a:solidFill>
                            <a:srgbClr val="1A1440"/>
                          </a:solidFill>
                          <a:latin typeface="Calibri"/>
                        </a:rPr>
                        <a:t>Discount missing</a:t>
                      </a:r>
                    </a:p>
                  </a:txBody>
                  <a:tcPr marL="101600" marR="101600" marT="38100" marB="38100" anchor="ctr">
                    <a:solidFill>
                      <a:srgbClr val="FFFFFF"/>
                    </a:solidFill>
                  </a:tcPr>
                </a:tc>
                <a:tc>
                  <a:txBody>
                    <a:bodyPr/>
                    <a:lstStyle/>
                    <a:p>
                      <a:r>
                        <a:rPr sz="1400" b="0" i="0">
                          <a:solidFill>
                            <a:srgbClr val="1A1440"/>
                          </a:solidFill>
                          <a:latin typeface="Calibri"/>
                        </a:rPr>
                        <a:t>55</a:t>
                      </a:r>
                    </a:p>
                  </a:txBody>
                  <a:tcPr marL="101600" marR="101600" marT="38100" marB="38100" anchor="ctr">
                    <a:solidFill>
                      <a:srgbClr val="FFFFFF"/>
                    </a:solidFill>
                  </a:tcPr>
                </a:tc>
                <a:tc>
                  <a:txBody>
                    <a:bodyPr/>
                    <a:lstStyle/>
                    <a:p>
                      <a:r>
                        <a:rPr sz="1400" b="0" i="0">
                          <a:solidFill>
                            <a:srgbClr val="1A1440"/>
                          </a:solidFill>
                          <a:latin typeface="Calibri"/>
                        </a:rPr>
                        <a:t>55</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profile finds defects; the log shows them. Profile the clean file at the end of every pass.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63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Drop, default, or keep and flag: each is a claim about the business.</a:t>
            </a:r>
          </a:p>
        </p:txBody>
      </p:sp>
      <p:sp>
        <p:nvSpPr>
          <p:cNvPr id="9" name="Rounded Rectangle 8"/>
          <p:cNvSpPr/>
          <p:nvPr/>
        </p:nvSpPr>
        <p:spPr>
          <a:xfrm>
            <a:off x="530352" y="1931670"/>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3436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44090"/>
            <a:ext cx="237744" cy="237744"/>
          </a:xfrm>
          <a:prstGeom prst="rect">
            <a:avLst/>
          </a:prstGeom>
        </p:spPr>
      </p:pic>
      <p:sp>
        <p:nvSpPr>
          <p:cNvPr id="12" name="TextBox 11"/>
          <p:cNvSpPr txBox="1"/>
          <p:nvPr/>
        </p:nvSpPr>
        <p:spPr>
          <a:xfrm>
            <a:off x="1399031" y="207797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297430"/>
            <a:ext cx="9987991" cy="423672"/>
          </a:xfrm>
          <a:prstGeom prst="rect">
            <a:avLst/>
          </a:prstGeom>
          <a:noFill/>
        </p:spPr>
        <p:txBody>
          <a:bodyPr wrap="square" anchor="t" lIns="0" rIns="0" tIns="0" bIns="0">
            <a:spAutoFit/>
          </a:bodyPr>
          <a:lstStyle/>
          <a:p>
            <a:r>
              <a:rPr sz="1500" b="0" i="0">
                <a:solidFill>
                  <a:srgbClr val="1A1440"/>
                </a:solidFill>
                <a:latin typeface="Calibri"/>
              </a:rPr>
              <a:t>Write the claim beside the decision. And never fill money.</a:t>
            </a:r>
          </a:p>
        </p:txBody>
      </p:sp>
      <p:sp>
        <p:nvSpPr>
          <p:cNvPr id="14" name="Rounded Rectangle 13"/>
          <p:cNvSpPr/>
          <p:nvPr/>
        </p:nvSpPr>
        <p:spPr>
          <a:xfrm>
            <a:off x="530352" y="295884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6153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71266"/>
            <a:ext cx="237744" cy="237744"/>
          </a:xfrm>
          <a:prstGeom prst="rect">
            <a:avLst/>
          </a:prstGeom>
        </p:spPr>
      </p:pic>
      <p:sp>
        <p:nvSpPr>
          <p:cNvPr id="17" name="TextBox 16"/>
          <p:cNvSpPr txBox="1"/>
          <p:nvPr/>
        </p:nvSpPr>
        <p:spPr>
          <a:xfrm>
            <a:off x="1399031" y="310515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24606"/>
            <a:ext cx="9987991" cy="423672"/>
          </a:xfrm>
          <a:prstGeom prst="rect">
            <a:avLst/>
          </a:prstGeom>
          <a:noFill/>
        </p:spPr>
        <p:txBody>
          <a:bodyPr wrap="square" anchor="t" lIns="0" rIns="0" tIns="0" bIns="0">
            <a:spAutoFit/>
          </a:bodyPr>
          <a:lstStyle/>
          <a:p>
            <a:r>
              <a:rPr sz="1500" b="0" i="0">
                <a:solidFill>
                  <a:srgbClr val="1A1440"/>
                </a:solidFill>
                <a:latin typeface="Calibri"/>
              </a:rPr>
              <a:t>[S] How do you handle missing data?</a:t>
            </a:r>
          </a:p>
        </p:txBody>
      </p:sp>
      <p:sp>
        <p:nvSpPr>
          <p:cNvPr id="19" name="Rounded Rectangle 18"/>
          <p:cNvSpPr/>
          <p:nvPr/>
        </p:nvSpPr>
        <p:spPr>
          <a:xfrm>
            <a:off x="530352" y="3986022"/>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18719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296918"/>
            <a:ext cx="237744" cy="237744"/>
          </a:xfrm>
          <a:prstGeom prst="rect">
            <a:avLst/>
          </a:prstGeom>
        </p:spPr>
      </p:pic>
      <p:sp>
        <p:nvSpPr>
          <p:cNvPr id="22" name="TextBox 21"/>
          <p:cNvSpPr txBox="1"/>
          <p:nvPr/>
        </p:nvSpPr>
        <p:spPr>
          <a:xfrm>
            <a:off x="731519" y="475411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4</a:t>
            </a:r>
          </a:p>
        </p:txBody>
      </p:sp>
      <p:sp>
        <p:nvSpPr>
          <p:cNvPr id="23" name="TextBox 22"/>
          <p:cNvSpPr txBox="1"/>
          <p:nvPr/>
        </p:nvSpPr>
        <p:spPr>
          <a:xfrm>
            <a:off x="731519" y="4991862"/>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32730"/>
            <a:ext cx="5071719" cy="399796"/>
          </a:xfrm>
          <a:prstGeom prst="rect">
            <a:avLst/>
          </a:prstGeom>
          <a:noFill/>
        </p:spPr>
        <p:txBody>
          <a:bodyPr wrap="square" anchor="t" lIns="0" rIns="0" tIns="0" bIns="0">
            <a:spAutoFit/>
          </a:bodyPr>
          <a:lstStyle/>
          <a:p>
            <a:pPr algn="l"/>
            <a:r>
              <a:rPr sz="1100" b="0" i="0">
                <a:solidFill>
                  <a:srgbClr val="6B6690"/>
                </a:solidFill>
                <a:latin typeface="Calibri"/>
              </a:rPr>
              <a:t>Status flagged, discount kept unknown, the unreadable amount rejected and repaired from its twin.</a:t>
            </a:r>
          </a:p>
        </p:txBody>
      </p:sp>
      <p:sp>
        <p:nvSpPr>
          <p:cNvPr id="25" name="Rounded Rectangle 24"/>
          <p:cNvSpPr/>
          <p:nvPr/>
        </p:nvSpPr>
        <p:spPr>
          <a:xfrm>
            <a:off x="6187287" y="3986022"/>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18719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296918"/>
            <a:ext cx="237744" cy="237744"/>
          </a:xfrm>
          <a:prstGeom prst="rect">
            <a:avLst/>
          </a:prstGeom>
        </p:spPr>
      </p:pic>
      <p:sp>
        <p:nvSpPr>
          <p:cNvPr id="28" name="TextBox 27"/>
          <p:cNvSpPr txBox="1"/>
          <p:nvPr/>
        </p:nvSpPr>
        <p:spPr>
          <a:xfrm>
            <a:off x="6388455" y="4754118"/>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5</a:t>
            </a:r>
          </a:p>
        </p:txBody>
      </p:sp>
      <p:sp>
        <p:nvSpPr>
          <p:cNvPr id="29" name="TextBox 28"/>
          <p:cNvSpPr txBox="1"/>
          <p:nvPr/>
        </p:nvSpPr>
        <p:spPr>
          <a:xfrm>
            <a:off x="6388455" y="4991862"/>
            <a:ext cx="5071719" cy="267716"/>
          </a:xfrm>
          <a:prstGeom prst="rect">
            <a:avLst/>
          </a:prstGeom>
          <a:noFill/>
        </p:spPr>
        <p:txBody>
          <a:bodyPr wrap="square" anchor="t" lIns="0" rIns="0" tIns="0" bIns="0">
            <a:spAutoFit/>
          </a:bodyPr>
          <a:lstStyle/>
          <a:p>
            <a:pPr algn="l"/>
            <a:r>
              <a:rPr sz="1400" b="1" i="0">
                <a:solidFill>
                  <a:srgbClr val="FFFFFF"/>
                </a:solidFill>
                <a:latin typeface="Calibri"/>
              </a:rPr>
              <a:t>Open</a:t>
            </a:r>
          </a:p>
        </p:txBody>
      </p:sp>
      <p:sp>
        <p:nvSpPr>
          <p:cNvPr id="30" name="TextBox 29"/>
          <p:cNvSpPr txBox="1"/>
          <p:nvPr/>
        </p:nvSpPr>
        <p:spPr>
          <a:xfrm>
            <a:off x="6388455" y="5332730"/>
            <a:ext cx="5071719" cy="218186"/>
          </a:xfrm>
          <a:prstGeom prst="rect">
            <a:avLst/>
          </a:prstGeom>
          <a:noFill/>
        </p:spPr>
        <p:txBody>
          <a:bodyPr wrap="square" anchor="t" lIns="0" rIns="0" tIns="0" bIns="0">
            <a:spAutoFit/>
          </a:bodyPr>
          <a:lstStyle/>
          <a:p>
            <a:pPr algn="l"/>
            <a:r>
              <a:rPr sz="1100" b="0" i="0">
                <a:solidFill>
                  <a:srgbClr val="CFC9EE"/>
                </a:solidFill>
                <a:latin typeface="Calibri"/>
              </a:rPr>
              <a:t>The proof for Anand, and whether Tuesday survives.</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5" name="Oval 3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7" name="Oval 36"/>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63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bridge to the books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From 2.1 to 1.9 move by move, then Tuesday recomputed on the clean file.</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53 / 63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a proof Finance can follow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 wants the proof; Marketing wants to know if the Retail-Plus fall is real.</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19,98,210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 TO EXPLAIN</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the rupee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-49.0%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TUESDAY'S RETAIL-PLUS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per customer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-11.0%</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TUESDAY'S REVENUE DROP</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"Which figure is right, and does the Retail-Plus fall still stand?"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54 / 63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Tesco bridged its gap from GBP 250m to 263m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2014 a retailer's own figure was wrong, and the investigation split it by period.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250m</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 ESTIMATE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22 September 2014</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263m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AFTER INVESTIGATION</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23 October 2014</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118m</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 HALF ALONE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rest in earlier years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Supplier income booked early made the reported figure wrong. The fix was a bridge: how much, from which period, for what cause.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55 / 63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prove which figure is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Sized on this export.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4111216"/>
                <a:gridCol w="2388217"/>
                <a:gridCol w="3112601"/>
                <a:gridCol w="1518956"/>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 behind it</a:t>
                      </a:r>
                    </a:p>
                  </a:txBody>
                  <a:tcPr marL="101600" marR="101600" marT="38100" marB="38100" anchor="ctr">
                    <a:solidFill>
                      <a:srgbClr val="1A0F5C"/>
                    </a:solidFill>
                  </a:tcPr>
                </a:tc>
                <a:tc>
                  <a:txBody>
                    <a:bodyPr/>
                    <a:lstStyle/>
                    <a:p>
                      <a:r>
                        <a:rPr sz="1250" b="1" i="0">
                          <a:solidFill>
                            <a:srgbClr val="FFFFFF"/>
                          </a:solidFill>
                          <a:latin typeface="Calibri"/>
                        </a:rPr>
                        <a:t>Closes to the books</a:t>
                      </a:r>
                    </a:p>
                  </a:txBody>
                  <a:tcPr marL="101600" marR="101600" marT="38100" marB="38100" anchor="ctr">
                    <a:solidFill>
                      <a:srgbClr val="1A0F5C"/>
                    </a:solidFill>
                  </a:tcPr>
                </a:tc>
                <a:tc>
                  <a:txBody>
                    <a:bodyPr/>
                    <a:lstStyle/>
                    <a:p>
                      <a:r>
                        <a:rPr sz="1250" b="1" i="0">
                          <a:solidFill>
                            <a:srgbClr val="FFFFFF"/>
                          </a:solidFill>
                          <a:latin typeface="Calibri"/>
                        </a:rPr>
                        <a:t>Says why</a:t>
                      </a:r>
                    </a:p>
                  </a:txBody>
                  <a:tcPr marL="101600" marR="101600" marT="38100" marB="38100" anchor="ctr">
                    <a:solidFill>
                      <a:srgbClr val="1A0F5C"/>
                    </a:solidFill>
                  </a:tcPr>
                </a:tc>
              </a:tr>
              <a:tr h="335280">
                <a:tc>
                  <a:txBody>
                    <a:bodyPr/>
                    <a:lstStyle/>
                    <a:p>
                      <a:r>
                        <a:rPr sz="1200" b="0" i="0">
                          <a:solidFill>
                            <a:srgbClr val="1A1440"/>
                          </a:solidFill>
                          <a:latin typeface="Calibri"/>
                        </a:rPr>
                        <a:t>a) Take the books' figure</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b) Difference of the totals</a:t>
                      </a:r>
                    </a:p>
                  </a:txBody>
                  <a:tcPr marL="101600" marR="101600" marT="38100" marB="38100" anchor="ctr">
                    <a:solidFill>
                      <a:srgbClr val="F4F2FA"/>
                    </a:solidFill>
                  </a:tcPr>
                </a:tc>
                <a:tc>
                  <a:txBody>
                    <a:bodyPr/>
                    <a:lstStyle/>
                    <a:p>
                      <a:r>
                        <a:rPr sz="1200" b="0" i="0">
                          <a:solidFill>
                            <a:srgbClr val="1A1440"/>
                          </a:solidFill>
                          <a:latin typeface="Calibri"/>
                        </a:rPr>
                        <a:t>2 totals</a:t>
                      </a:r>
                    </a:p>
                  </a:txBody>
                  <a:tcPr marL="101600" marR="101600" marT="38100" marB="38100" anchor="ctr">
                    <a:solidFill>
                      <a:srgbClr val="F4F2FA"/>
                    </a:solidFill>
                  </a:tcPr>
                </a:tc>
                <a:tc>
                  <a:txBody>
                    <a:bodyPr/>
                    <a:lstStyle/>
                    <a:p>
                      <a:r>
                        <a:rPr sz="1200" b="0" i="0">
                          <a:solidFill>
                            <a:srgbClr val="1A1440"/>
                          </a:solidFill>
                          <a:latin typeface="Calibri"/>
                        </a:rPr>
                        <a:t>as a total</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A bridge by cause</a:t>
                      </a:r>
                    </a:p>
                  </a:txBody>
                  <a:tcPr marL="101600" marR="101600" marT="38100" marB="38100" anchor="ctr">
                    <a:solidFill>
                      <a:srgbClr val="FFFFFF"/>
                    </a:solidFill>
                  </a:tcPr>
                </a:tc>
                <a:tc>
                  <a:txBody>
                    <a:bodyPr/>
                    <a:lstStyle/>
                    <a:p>
                      <a:r>
                        <a:rPr sz="1200" b="0" i="0">
                          <a:solidFill>
                            <a:srgbClr val="1A1440"/>
                          </a:solidFill>
                          <a:latin typeface="Calibri"/>
                        </a:rPr>
                        <a:t>15 logged rows</a:t>
                      </a:r>
                    </a:p>
                  </a:txBody>
                  <a:tcPr marL="101600" marR="101600" marT="38100" marB="38100" anchor="ctr">
                    <a:solidFill>
                      <a:srgbClr val="FFFFFF"/>
                    </a:solidFill>
                  </a:tcPr>
                </a:tc>
                <a:tc>
                  <a:txBody>
                    <a:bodyPr/>
                    <a:lstStyle/>
                    <a:p>
                      <a:r>
                        <a:rPr sz="1200" b="0" i="0">
                          <a:solidFill>
                            <a:srgbClr val="1A1440"/>
                          </a:solidFill>
                          <a:latin typeface="Calibri"/>
                        </a:rPr>
                        <a:t>to the rupee</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Rebuild from the JSON feed</a:t>
                      </a:r>
                    </a:p>
                  </a:txBody>
                  <a:tcPr marL="101600" marR="101600" marT="38100" marB="38100" anchor="ctr">
                    <a:solidFill>
                      <a:srgbClr val="F4F2FA"/>
                    </a:solidFill>
                  </a:tcPr>
                </a:tc>
                <a:tc>
                  <a:txBody>
                    <a:bodyPr/>
                    <a:lstStyle/>
                    <a:p>
                      <a:r>
                        <a:rPr sz="1200" b="0" i="0">
                          <a:solidFill>
                            <a:srgbClr val="1A1440"/>
                          </a:solidFill>
                          <a:latin typeface="Calibri"/>
                        </a:rPr>
                        <a:t>119 records</a:t>
                      </a:r>
                    </a:p>
                  </a:txBody>
                  <a:tcPr marL="101600" marR="101600" marT="38100" marB="38100" anchor="ctr">
                    <a:solidFill>
                      <a:srgbClr val="F4F2FA"/>
                    </a:solidFill>
                  </a:tcPr>
                </a:tc>
                <a:tc>
                  <a:txBody>
                    <a:bodyPr/>
                    <a:lstStyle/>
                    <a:p>
                      <a:r>
                        <a:rPr sz="1200" b="0" i="0">
                          <a:solidFill>
                            <a:srgbClr val="1A1440"/>
                          </a:solidFill>
                          <a:latin typeface="Calibri"/>
                        </a:rPr>
                        <a:t>-Rs 1,790</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What would switch it: a bridge that does not close, and then the gap itself is the finding, perhaps in Finance's books.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56 / 63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bridge from 2.1 to 1.9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moves, each backed by logged rows, land on the books.</a:t>
            </a:r>
          </a:p>
        </p:txBody>
      </p:sp>
      <p:pic>
        <p:nvPicPr>
          <p:cNvPr id="9" name="mermaid diagram" descr="50e2125378948408.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3581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unreadable amount needs no move: it was never in the exported total, and its twin stayed.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57 / 63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Tuesday's finding survive?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orders per customer fell 49 percent on the dirty export.</a:t>
            </a:r>
          </a:p>
        </p:txBody>
      </p:sp>
      <p:pic>
        <p:nvPicPr>
          <p:cNvPr id="9" name="mermaid diagram" descr="3f7eafcf8b2ef7d1.png"/>
          <p:cNvPicPr>
            <a:picLocks noChangeAspect="1"/>
          </p:cNvPicPr>
          <p:nvPr/>
        </p:nvPicPr>
        <p:blipFill>
          <a:blip r:embed="rId5"/>
          <a:stretch>
            <a:fillRect/>
          </a:stretch>
        </p:blipFill>
        <p:spPr>
          <a:xfrm>
            <a:off x="3424085" y="1956816"/>
            <a:ext cx="5343525" cy="2586037"/>
          </a:xfrm>
          <a:prstGeom prst="rect">
            <a:avLst/>
          </a:prstGeom>
        </p:spPr>
      </p:pic>
      <p:sp>
        <p:nvSpPr>
          <p:cNvPr id="10" name="Rounded Rectangle 9"/>
          <p:cNvSpPr/>
          <p:nvPr/>
        </p:nvSpPr>
        <p:spPr>
          <a:xfrm>
            <a:off x="530352" y="46891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171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08029"/>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clean data, the Retail-Plus fall, as a letter? a) disappears; b) survives, smaller; c) grows; d) moves to Retail-Core.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58 / 63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survives, smaller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-35.0 percent, 1.82 to 1.18, and the revenue drop shrinks from 11.0 to 1.6 percent.</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4678137"/>
                <a:gridCol w="3316107"/>
                <a:gridCol w="3136745"/>
              </a:tblGrid>
              <a:tr h="369824">
                <a:tc>
                  <a:txBody>
                    <a:bodyPr/>
                    <a:lstStyle/>
                    <a:p>
                      <a:r>
                        <a:rPr sz="1450" b="1" i="0">
                          <a:solidFill>
                            <a:srgbClr val="FFFFFF"/>
                          </a:solidFill>
                          <a:latin typeface="Calibri"/>
                        </a:rPr>
                        <a:t>Number</a:t>
                      </a:r>
                    </a:p>
                  </a:txBody>
                  <a:tcPr marL="101600" marR="101600" marT="38100" marB="38100" anchor="ctr">
                    <a:solidFill>
                      <a:srgbClr val="1A0F5C"/>
                    </a:solidFill>
                  </a:tcPr>
                </a:tc>
                <a:tc>
                  <a:txBody>
                    <a:bodyPr/>
                    <a:lstStyle/>
                    <a:p>
                      <a:r>
                        <a:rPr sz="1450" b="1" i="0">
                          <a:solidFill>
                            <a:srgbClr val="FFFFFF"/>
                          </a:solidFill>
                          <a:latin typeface="Calibri"/>
                        </a:rPr>
                        <a:t>As Tuesday reported</a:t>
                      </a:r>
                    </a:p>
                  </a:txBody>
                  <a:tcPr marL="101600" marR="101600" marT="38100" marB="38100" anchor="ctr">
                    <a:solidFill>
                      <a:srgbClr val="1A0F5C"/>
                    </a:solidFill>
                  </a:tcPr>
                </a:tc>
                <a:tc>
                  <a:txBody>
                    <a:bodyPr/>
                    <a:lstStyle/>
                    <a:p>
                      <a:r>
                        <a:rPr sz="1450" b="1" i="0">
                          <a:solidFill>
                            <a:srgbClr val="FFFFFF"/>
                          </a:solidFill>
                          <a:latin typeface="Calibri"/>
                        </a:rPr>
                        <a:t>On clean data</a:t>
                      </a:r>
                    </a:p>
                  </a:txBody>
                  <a:tcPr marL="101600" marR="101600" marT="38100" marB="38100" anchor="ctr">
                    <a:solidFill>
                      <a:srgbClr val="1A0F5C"/>
                    </a:solidFill>
                  </a:tcPr>
                </a:tc>
              </a:tr>
              <a:tr h="369824">
                <a:tc>
                  <a:txBody>
                    <a:bodyPr/>
                    <a:lstStyle/>
                    <a:p>
                      <a:r>
                        <a:rPr sz="1400" b="0" i="0">
                          <a:solidFill>
                            <a:srgbClr val="1A1440"/>
                          </a:solidFill>
                          <a:latin typeface="Calibri"/>
                        </a:rPr>
                        <a:t>Revenue, Q1 to Q2</a:t>
                      </a:r>
                    </a:p>
                  </a:txBody>
                  <a:tcPr marL="101600" marR="101600" marT="38100" marB="38100" anchor="ctr">
                    <a:solidFill>
                      <a:srgbClr val="FFFFFF"/>
                    </a:solidFill>
                  </a:tcPr>
                </a:tc>
                <a:tc>
                  <a:txBody>
                    <a:bodyPr/>
                    <a:lstStyle/>
                    <a:p>
                      <a:r>
                        <a:rPr sz="1400" b="0" i="0">
                          <a:solidFill>
                            <a:srgbClr val="1A1440"/>
                          </a:solidFill>
                          <a:latin typeface="Calibri"/>
                        </a:rPr>
                        <a:t>-11.0%</a:t>
                      </a:r>
                    </a:p>
                  </a:txBody>
                  <a:tcPr marL="101600" marR="101600" marT="38100" marB="38100" anchor="ctr">
                    <a:solidFill>
                      <a:srgbClr val="FFFFFF"/>
                    </a:solidFill>
                  </a:tcPr>
                </a:tc>
                <a:tc>
                  <a:txBody>
                    <a:bodyPr/>
                    <a:lstStyle/>
                    <a:p>
                      <a:r>
                        <a:rPr sz="1400" b="0" i="0">
                          <a:solidFill>
                            <a:srgbClr val="1A1440"/>
                          </a:solidFill>
                          <a:latin typeface="Calibri"/>
                        </a:rPr>
                        <a:t>-1.6%</a:t>
                      </a:r>
                    </a:p>
                  </a:txBody>
                  <a:tcPr marL="101600" marR="101600" marT="38100" marB="38100" anchor="ctr">
                    <a:solidFill>
                      <a:srgbClr val="FFFFFF"/>
                    </a:solidFill>
                  </a:tcPr>
                </a:tc>
              </a:tr>
              <a:tr h="369824">
                <a:tc>
                  <a:txBody>
                    <a:bodyPr/>
                    <a:lstStyle/>
                    <a:p>
                      <a:r>
                        <a:rPr sz="1400" b="0" i="0">
                          <a:solidFill>
                            <a:srgbClr val="1A1440"/>
                          </a:solidFill>
                          <a:latin typeface="Calibri"/>
                        </a:rPr>
                        <a:t>Retail-Plus orders per customer</a:t>
                      </a:r>
                    </a:p>
                  </a:txBody>
                  <a:tcPr marL="101600" marR="101600" marT="38100" marB="38100" anchor="ctr">
                    <a:solidFill>
                      <a:srgbClr val="F4F2FA"/>
                    </a:solidFill>
                  </a:tcPr>
                </a:tc>
                <a:tc>
                  <a:txBody>
                    <a:bodyPr/>
                    <a:lstStyle/>
                    <a:p>
                      <a:r>
                        <a:rPr sz="1400" b="0" i="0">
                          <a:solidFill>
                            <a:srgbClr val="1A1440"/>
                          </a:solidFill>
                          <a:latin typeface="Calibri"/>
                        </a:rPr>
                        <a:t>2.32 to 1.18, -49.0%</a:t>
                      </a:r>
                    </a:p>
                  </a:txBody>
                  <a:tcPr marL="101600" marR="101600" marT="38100" marB="38100" anchor="ctr">
                    <a:solidFill>
                      <a:srgbClr val="F4F2FA"/>
                    </a:solidFill>
                  </a:tcPr>
                </a:tc>
                <a:tc>
                  <a:txBody>
                    <a:bodyPr/>
                    <a:lstStyle/>
                    <a:p>
                      <a:r>
                        <a:rPr sz="1400" b="0" i="0">
                          <a:solidFill>
                            <a:srgbClr val="1A1440"/>
                          </a:solidFill>
                          <a:latin typeface="Calibri"/>
                        </a:rPr>
                        <a:t>1.82 to 1.18, -35.0%</a:t>
                      </a:r>
                    </a:p>
                  </a:txBody>
                  <a:tcPr marL="101600" marR="101600" marT="38100" marB="38100" anchor="ctr">
                    <a:solidFill>
                      <a:srgbClr val="F4F2FA"/>
                    </a:solidFill>
                  </a:tcPr>
                </a:tc>
              </a:tr>
              <a:tr h="369824">
                <a:tc>
                  <a:txBody>
                    <a:bodyPr/>
                    <a:lstStyle/>
                    <a:p>
                      <a:r>
                        <a:rPr sz="1400" b="0" i="0">
                          <a:solidFill>
                            <a:srgbClr val="1A1440"/>
                          </a:solidFill>
                          <a:latin typeface="Calibri"/>
                        </a:rPr>
                        <a:t>Retail-Core orders per customer</a:t>
                      </a:r>
                    </a:p>
                  </a:txBody>
                  <a:tcPr marL="101600" marR="101600" marT="38100" marB="38100" anchor="ctr">
                    <a:solidFill>
                      <a:srgbClr val="FFFFFF"/>
                    </a:solidFill>
                  </a:tcPr>
                </a:tc>
                <a:tc>
                  <a:txBody>
                    <a:bodyPr/>
                    <a:lstStyle/>
                    <a:p>
                      <a:r>
                        <a:rPr sz="1400" b="0" i="0">
                          <a:solidFill>
                            <a:srgbClr val="1A1440"/>
                          </a:solidFill>
                          <a:latin typeface="Calibri"/>
                        </a:rPr>
                        <a:t>-5.3%</a:t>
                      </a:r>
                    </a:p>
                  </a:txBody>
                  <a:tcPr marL="101600" marR="101600" marT="38100" marB="38100" anchor="ctr">
                    <a:solidFill>
                      <a:srgbClr val="FFFFFF"/>
                    </a:solidFill>
                  </a:tcPr>
                </a:tc>
                <a:tc>
                  <a:txBody>
                    <a:bodyPr/>
                    <a:lstStyle/>
                    <a:p>
                      <a:r>
                        <a:rPr sz="1400" b="0" i="0">
                          <a:solidFill>
                            <a:srgbClr val="1A1440"/>
                          </a:solidFill>
                          <a:latin typeface="Calibri"/>
                        </a:rPr>
                        <a:t>-2.7%</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b. Most copies sat in Retail-Plus in Q1, so Tuesday's Q1 rate was inflated. The smaller number goes first in the note.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59 / 63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remove the outlier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Q2's largest order is 1.66 times the next, so a hurried analyst removes it.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1,57,54,540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WITHOUT IT</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hurried figure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-17.1%</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DROP</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1.90 crore to 1.58 crore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1.66x</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NEXT LARGEST</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why it looked wrong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3" name="Oval 2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5" name="Oval 2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7" name="Oval 2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9" name="Oval 28"/>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60 / 63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size proves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Business order in lakhs is the business doing what it does.</a:t>
            </a:r>
          </a:p>
        </p:txBody>
      </p:sp>
      <p:pic>
        <p:nvPicPr>
          <p:cNvPr id="9" name="mermaid diagram" descr="e56018d12ff250c4.png"/>
          <p:cNvPicPr>
            <a:picLocks noChangeAspect="1"/>
          </p:cNvPicPr>
          <p:nvPr/>
        </p:nvPicPr>
        <p:blipFill>
          <a:blip r:embed="rId5"/>
          <a:stretch>
            <a:fillRect/>
          </a:stretch>
        </p:blipFill>
        <p:spPr>
          <a:xfrm>
            <a:off x="3229422" y="1664208"/>
            <a:ext cx="5732849"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Ask whether the record is wrong, never whether it is big. A fence is a cut-off above which values get called outliers; one at three times the median Q2 order flags all 17 Business orders, since the quarter mixes a Rs 2,000 basket with a corporate order.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61 / 63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second route, the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Keep and flag it: Q2 back to Rs 1,87,00,000 and the drop back to 1.6 percent. Bottom up, the kept orders sum to the bridge's Q1.</a:t>
            </a:r>
          </a:p>
        </p:txBody>
      </p:sp>
      <p:sp>
        <p:nvSpPr>
          <p:cNvPr id="9" name="Rounded Rectangle 8"/>
          <p:cNvSpPr/>
          <p:nvPr/>
        </p:nvSpPr>
        <p:spPr>
          <a:xfrm>
            <a:off x="530352" y="195681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595119"/>
          </a:xfrm>
          <a:prstGeom prst="rect">
            <a:avLst/>
          </a:prstGeom>
          <a:noFill/>
        </p:spPr>
        <p:txBody>
          <a:bodyPr wrap="square" anchor="t" lIns="0" rIns="0" tIns="0" bIns="0">
            <a:spAutoFit/>
          </a:bodyPr>
          <a:lstStyle/>
          <a:p>
            <a:r>
              <a:rPr sz="1600" b="0" i="1">
                <a:solidFill>
                  <a:srgbClr val="1A0F5C"/>
                </a:solidFill>
                <a:latin typeface="Georgia"/>
              </a:rPr>
              <a:t>"Anand, your 1.9 crore is right. The ERP export counted fifteen orders twice, fourteen of them in Q1; copies of two corporate orders carry Rs 19,67,560 of the Rs 19,98,210 difference. Rows and rupees reconcile to your books. On clean data the drop is 1.6 percent against the 11 we reported, and the Retail-Plus fall is 35 percent against 49. It survives, smaller."</a:t>
            </a:r>
          </a:p>
          <a:p>
            <a:pPr>
              <a:spcBef>
                <a:spcPts val="400"/>
              </a:spcBef>
            </a:pPr>
            <a:r>
              <a:rPr sz="1000" b="0" i="0">
                <a:solidFill>
                  <a:srgbClr val="6B6690"/>
                </a:solidFill>
                <a:latin typeface="Calibri"/>
              </a:rPr>
              <a:t>The GCC data and AI team</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3" name="Oval 1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19" name="Oval 18"/>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62 / 63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reconciliations, the bridge drawn, and what changed said first.</a:t>
            </a:r>
          </a:p>
        </p:txBody>
      </p:sp>
      <p:sp>
        <p:nvSpPr>
          <p:cNvPr id="9" name="Rounded Rectangle 8"/>
          <p:cNvSpPr/>
          <p:nvPr/>
        </p:nvSpPr>
        <p:spPr>
          <a:xfrm>
            <a:off x="530352" y="1931670"/>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3436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44090"/>
            <a:ext cx="237744" cy="237744"/>
          </a:xfrm>
          <a:prstGeom prst="rect">
            <a:avLst/>
          </a:prstGeom>
        </p:spPr>
      </p:pic>
      <p:sp>
        <p:nvSpPr>
          <p:cNvPr id="12" name="TextBox 11"/>
          <p:cNvSpPr txBox="1"/>
          <p:nvPr/>
        </p:nvSpPr>
        <p:spPr>
          <a:xfrm>
            <a:off x="1399031" y="207797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297430"/>
            <a:ext cx="9987991" cy="423672"/>
          </a:xfrm>
          <a:prstGeom prst="rect">
            <a:avLst/>
          </a:prstGeom>
          <a:noFill/>
        </p:spPr>
        <p:txBody>
          <a:bodyPr wrap="square" anchor="t" lIns="0" rIns="0" tIns="0" bIns="0">
            <a:spAutoFit/>
          </a:bodyPr>
          <a:lstStyle/>
          <a:p>
            <a:r>
              <a:rPr sz="1500" b="0" i="0">
                <a:solidFill>
                  <a:srgbClr val="1A1440"/>
                </a:solidFill>
                <a:latin typeface="Calibri"/>
              </a:rPr>
              <a:t>Tell me what changed in Tuesday's story, including when it got smaller.</a:t>
            </a:r>
          </a:p>
        </p:txBody>
      </p:sp>
      <p:sp>
        <p:nvSpPr>
          <p:cNvPr id="14" name="Rounded Rectangle 13"/>
          <p:cNvSpPr/>
          <p:nvPr/>
        </p:nvSpPr>
        <p:spPr>
          <a:xfrm>
            <a:off x="530352" y="295884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6153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71266"/>
            <a:ext cx="237744" cy="237744"/>
          </a:xfrm>
          <a:prstGeom prst="rect">
            <a:avLst/>
          </a:prstGeom>
        </p:spPr>
      </p:pic>
      <p:sp>
        <p:nvSpPr>
          <p:cNvPr id="17" name="TextBox 16"/>
          <p:cNvSpPr txBox="1"/>
          <p:nvPr/>
        </p:nvSpPr>
        <p:spPr>
          <a:xfrm>
            <a:off x="1399031" y="310515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24606"/>
            <a:ext cx="9987991" cy="423672"/>
          </a:xfrm>
          <a:prstGeom prst="rect">
            <a:avLst/>
          </a:prstGeom>
          <a:noFill/>
        </p:spPr>
        <p:txBody>
          <a:bodyPr wrap="square" anchor="t" lIns="0" rIns="0" tIns="0" bIns="0">
            <a:spAutoFit/>
          </a:bodyPr>
          <a:lstStyle/>
          <a:p>
            <a:r>
              <a:rPr sz="1500" b="0" i="0">
                <a:solidFill>
                  <a:srgbClr val="1A1440"/>
                </a:solidFill>
                <a:latin typeface="Calibri"/>
              </a:rPr>
              <a:t>[S] Finance and your dashboard disagree; what do you do?</a:t>
            </a:r>
          </a:p>
        </p:txBody>
      </p:sp>
      <p:sp>
        <p:nvSpPr>
          <p:cNvPr id="19" name="Rounded Rectangle 18"/>
          <p:cNvSpPr/>
          <p:nvPr/>
        </p:nvSpPr>
        <p:spPr>
          <a:xfrm>
            <a:off x="530352" y="3986022"/>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18719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296918"/>
            <a:ext cx="237744" cy="237744"/>
          </a:xfrm>
          <a:prstGeom prst="rect">
            <a:avLst/>
          </a:prstGeom>
        </p:spPr>
      </p:pic>
      <p:sp>
        <p:nvSpPr>
          <p:cNvPr id="22" name="TextBox 21"/>
          <p:cNvSpPr txBox="1"/>
          <p:nvPr/>
        </p:nvSpPr>
        <p:spPr>
          <a:xfrm>
            <a:off x="731519" y="475411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5</a:t>
            </a:r>
          </a:p>
        </p:txBody>
      </p:sp>
      <p:sp>
        <p:nvSpPr>
          <p:cNvPr id="23" name="TextBox 22"/>
          <p:cNvSpPr txBox="1"/>
          <p:nvPr/>
        </p:nvSpPr>
        <p:spPr>
          <a:xfrm>
            <a:off x="731519" y="4991862"/>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32730"/>
            <a:ext cx="5071719" cy="399796"/>
          </a:xfrm>
          <a:prstGeom prst="rect">
            <a:avLst/>
          </a:prstGeom>
          <a:noFill/>
        </p:spPr>
        <p:txBody>
          <a:bodyPr wrap="square" anchor="t" lIns="0" rIns="0" tIns="0" bIns="0">
            <a:spAutoFit/>
          </a:bodyPr>
          <a:lstStyle/>
          <a:p>
            <a:pPr algn="l"/>
            <a:r>
              <a:rPr sz="1100" b="0" i="0">
                <a:solidFill>
                  <a:srgbClr val="6B6690"/>
                </a:solidFill>
                <a:latin typeface="Calibri"/>
              </a:rPr>
              <a:t>Finance's 1.9 crore is right, the bridge closes, Retail-Plus -35.0 percent.</a:t>
            </a:r>
          </a:p>
        </p:txBody>
      </p:sp>
      <p:sp>
        <p:nvSpPr>
          <p:cNvPr id="25" name="Rounded Rectangle 24"/>
          <p:cNvSpPr/>
          <p:nvPr/>
        </p:nvSpPr>
        <p:spPr>
          <a:xfrm>
            <a:off x="6187287" y="3986022"/>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18719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296918"/>
            <a:ext cx="237744" cy="237744"/>
          </a:xfrm>
          <a:prstGeom prst="rect">
            <a:avLst/>
          </a:prstGeom>
        </p:spPr>
      </p:pic>
      <p:sp>
        <p:nvSpPr>
          <p:cNvPr id="28" name="TextBox 27"/>
          <p:cNvSpPr txBox="1"/>
          <p:nvPr/>
        </p:nvSpPr>
        <p:spPr>
          <a:xfrm>
            <a:off x="6388455" y="4754118"/>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6</a:t>
            </a:r>
          </a:p>
        </p:txBody>
      </p:sp>
      <p:sp>
        <p:nvSpPr>
          <p:cNvPr id="29" name="TextBox 28"/>
          <p:cNvSpPr txBox="1"/>
          <p:nvPr/>
        </p:nvSpPr>
        <p:spPr>
          <a:xfrm>
            <a:off x="6388455" y="4991862"/>
            <a:ext cx="5071719" cy="267716"/>
          </a:xfrm>
          <a:prstGeom prst="rect">
            <a:avLst/>
          </a:prstGeom>
          <a:noFill/>
        </p:spPr>
        <p:txBody>
          <a:bodyPr wrap="square" anchor="t" lIns="0" rIns="0" tIns="0" bIns="0">
            <a:spAutoFit/>
          </a:bodyPr>
          <a:lstStyle/>
          <a:p>
            <a:pPr algn="l"/>
            <a:r>
              <a:rPr sz="1400" b="1" i="0">
                <a:solidFill>
                  <a:srgbClr val="FFFFFF"/>
                </a:solidFill>
                <a:latin typeface="Calibri"/>
              </a:rPr>
              <a:t>After lunch</a:t>
            </a:r>
          </a:p>
        </p:txBody>
      </p:sp>
      <p:sp>
        <p:nvSpPr>
          <p:cNvPr id="30" name="TextBox 29"/>
          <p:cNvSpPr txBox="1"/>
          <p:nvPr/>
        </p:nvSpPr>
        <p:spPr>
          <a:xfrm>
            <a:off x="6388455" y="5332730"/>
            <a:ext cx="5071719" cy="218186"/>
          </a:xfrm>
          <a:prstGeom prst="rect">
            <a:avLst/>
          </a:prstGeom>
          <a:noFill/>
        </p:spPr>
        <p:txBody>
          <a:bodyPr wrap="square" anchor="t" lIns="0" rIns="0" tIns="0" bIns="0">
            <a:spAutoFit/>
          </a:bodyPr>
          <a:lstStyle/>
          <a:p>
            <a:pPr algn="l"/>
            <a:r>
              <a:rPr sz="1100" b="0" i="0">
                <a:solidFill>
                  <a:srgbClr val="CFC9EE"/>
                </a:solidFill>
                <a:latin typeface="Calibri"/>
              </a:rPr>
              <a:t>Can Anand's analyst audit and replay every decision?</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5" name="Oval 3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7" name="Oval 3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9" name="Oval 38"/>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63 / 63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