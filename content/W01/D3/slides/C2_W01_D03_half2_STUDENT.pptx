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Chapter 6 first, then the full pass alone, the debrief of the room's wrong</a:t>
            </a:r>
          </a:p>
          <a:p>
            <a:r>
              <a:t>answers, the auditor in pairs, the interview drill and the close. The next slide restates what the</a:t>
            </a:r>
          </a:p>
          <a:p>
            <a:r>
              <a:t>morning settled for anyone who missed it. Then that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set-aside row is one removed from the clean file with a logged reason and the line</a:t>
            </a:r>
          </a:p>
          <a:p>
            <a:r>
              <a:t>of the row that stayed. Everything on this slide was proved this morning, and the afternoon deck</a:t>
            </a:r>
          </a:p>
          <a:p>
            <a:r>
              <a:t>restates it so it stands alone. What is left is the analyst's question.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C2_W01_D03_06_audit_logs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what the analyst needs.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Control totals tie the export to the clean file to the books, and every row that</a:t>
            </a:r>
          </a:p>
          <a:p>
            <a:r>
              <a:t>left has to trace to a rule. A log that ties in rows and misses in rupees costs the team her trust</a:t>
            </a:r>
          </a:p>
          <a:p>
            <a:r>
              <a:t>in everything else it sends. Then an auditor who could not trace a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15 March 2019; FRC, 27 September 2021.</a:t>
            </a:r>
          </a:p>
          <a:p>
            <a:r>
              <a:t>Name no person. Then the four hand-overs.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Lines are read at an illustrative 30 seconds each. The 387 are the 201 raw rows and</a:t>
            </a:r>
          </a:p>
          <a:p>
            <a:r>
              <a:t>the 186 clean ones read against each other. The 24 are 15 set-aside rows, 2 flags (the status and</a:t>
            </a:r>
          </a:p>
          <a:p>
            <a:r>
              <a:t>the bulk order), 5 decisions, 2 control totals and an empty rejects log. Options a and d cost over an</a:t>
            </a:r>
          </a:p>
          <a:p>
            <a:r>
              <a:t>hour and still say nothing about why. Then what the logs carry.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clean_pass() is the day's pass in one function: the identity rule first, keeping</a:t>
            </a:r>
          </a:p>
          <a:p>
            <a:r>
              <a:t>the copy whose amount converts, then conversion with a rejects log, then the flags. Then predict.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four: an unreadable amount rejected (no rows on this file), the status kept</a:t>
            </a:r>
          </a:p>
          <a:p>
            <a:r>
              <a:t>and flagged (1), the discount kept unknown (55) and the bulk order kept and flagged (1). Then the</a:t>
            </a:r>
          </a:p>
          <a:p>
            <a:r>
              <a:t>logs on disk.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log that lives only in a notebook reaches nobody. The decisions go out with</a:t>
            </a:r>
          </a:p>
          <a:p>
            <a:r>
              <a:t>json.dump. read_orders() would overwrite the log's own line column, so the log is read back with a</a:t>
            </a:r>
          </a:p>
          <a:p>
            <a:r>
              <a:t>plain DictReader; point that out if a learner trips on it. Then a colleague's log.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section 4. A colleague built the pass in the order that feels natural.</a:t>
            </a:r>
          </a:p>
          <a:p>
            <a:r>
              <a:t>Ask whether the room would send this log. Round Rs 20 lakh set aside feels like proof. Then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row reconciliation proves nothing vanished; it cannot prove the right rows</a:t>
            </a:r>
          </a:p>
          <a:p>
            <a:r>
              <a:t>stayed. The colleague's bridge closes on its own file and misses the books.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identity rule first, keeping the copy whose amount converts, then conversion.</a:t>
            </a:r>
          </a:p>
          <a:p>
            <a:r>
              <a:t>Then the auditor's first question.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case after the break walks this in pairs, with the auditor asking. Then</a:t>
            </a:r>
          </a:p>
          <a:p>
            <a:r>
              <a:t>the strongest test of a log.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replay shares no code with the pass: if the raw export less the logged lines</a:t>
            </a:r>
          </a:p>
          <a:p>
            <a:r>
              <a:t>equals the clean file, nothing left without a line. Notebook 06 asserts it. Then the chapter's</a:t>
            </a:r>
          </a:p>
          <a:p>
            <a:r>
              <a:t>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set aside with a reason, never dropped; the rule, the twin, the rupees</a:t>
            </a:r>
          </a:p>
          <a:p>
            <a:r>
              <a:t>by segment; both totals tie and the log replays. Then the full pass,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notebook is ex1_escalated_case, a TODO twin with nine lettered</a:t>
            </a:r>
          </a:p>
          <a:p>
            <a:r>
              <a:t>choices; the brief with its ten items is in exercises/unguided.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Nine notebook letters, ten brief letters, then the note in under 120 words. Watch</a:t>
            </a:r>
          </a:p>
          <a:p>
            <a:r>
              <a:t>for rows totalled before profiling, a first-copy rule, a rupee test that rounds, and a tree whose</a:t>
            </a:r>
          </a:p>
          <a:p>
            <a:r>
              <a:t>customers are rows. Then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reference while working. Each check recomputes its step another way, so the numbers are</a:t>
            </a:r>
          </a:p>
          <a:p>
            <a:r>
              <a:t>the learner's to reach. A Q1 Rs 1,790 short kept the wrong copy; a Q2 Rs 29,45,460 light removed</a:t>
            </a:r>
          </a:p>
          <a:p>
            <a:r>
              <a:t>the bulk order. Both are debriefed next.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Put the most common wrong number on the screen first. Name no learner; name the step.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each, ask a pair that produced it which line of code made it. Each wrong</a:t>
            </a:r>
          </a:p>
          <a:p>
            <a:r>
              <a:t>number was plausible and one check away. Then the one most rooms miss.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nobody produced it, show it from chapter 6.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one drives ex2_auditor, the other plays the auditor and asks the next</a:t>
            </a:r>
          </a:p>
          <a:p>
            <a:r>
              <a:t>question only when the check passes. Swap halfway.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"Dropped" is the word to correct. Then the pairs work, and the room comes back for</a:t>
            </a:r>
          </a:p>
          <a:p>
            <a:r>
              <a:t>the statement she signs.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pairs finish question 5.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Then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the asker times it and names the one number the</a:t>
            </a:r>
          </a:p>
          <a:p>
            <a:r>
              <a:t>answer should have used. Swap every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shape of every answer: the rule, today's number, the check. Tags: [S] staple</a:t>
            </a:r>
          </a:p>
          <a:p>
            <a:r>
              <a:t>asked everywhere, [F] frequent in GCC and product screens, [D] differentiator. Full answers are in</a:t>
            </a:r>
          </a:p>
          <a:p>
            <a:r>
              <a:t>the study notes and in each notebook's interview section. Then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questions want a choice, a sizing and the fact that would change it.</a:t>
            </a:r>
          </a:p>
          <a:p>
            <a:r>
              <a:t>The row's five and these seven are the day's 12, the same 12 the study notes answer. Then the</a:t>
            </a:r>
          </a:p>
          <a:p>
            <a:r>
              <a:t>Kahoot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then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answers the day's question. Read it aloud once. Then the six lines.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line per chapter, the lines the cheat sheet prints. Tonight's take-home tests</a:t>
            </a:r>
          </a:p>
          <a:p>
            <a:r>
              <a:t>every line on an export nobody in the room has seen. Then tomorrow's question.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answer it. Thursday builds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Each trade runs the same two checks: rows prove nothing vanished, and money</a:t>
            </a:r>
          </a:p>
          <a:p>
            <a:r>
              <a:t>proves the right rows stayed.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7.png"/><Relationship Id="rId6"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4.xml"/><Relationship Id="rId6"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Anand's analyst audit it tonight?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“Send the reconciliation and the log before the day closes. My analyst checks it tonight.”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Can the analyst replay it?</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Can you run the pass alone?</a:t>
            </a:r>
          </a:p>
        </p:txBody>
      </p:sp>
      <p:sp>
        <p:nvSpPr>
          <p:cNvPr id="15" name="TextBox 14"/>
          <p:cNvSpPr txBox="1"/>
          <p:nvPr/>
        </p:nvSpPr>
        <p:spPr>
          <a:xfrm>
            <a:off x="525637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640419" y="5248656"/>
            <a:ext cx="1993392" cy="185166"/>
          </a:xfrm>
          <a:prstGeom prst="rect">
            <a:avLst/>
          </a:prstGeom>
          <a:noFill/>
        </p:spPr>
        <p:txBody>
          <a:bodyPr wrap="square" anchor="t" lIns="0" rIns="0" tIns="0" bIns="0">
            <a:spAutoFit/>
          </a:bodyPr>
          <a:lstStyle/>
          <a:p>
            <a:pPr algn="l"/>
            <a:r>
              <a:rPr sz="900" b="0" i="0">
                <a:solidFill>
                  <a:srgbClr val="FFFFFF"/>
                </a:solidFill>
                <a:latin typeface="Calibri"/>
              </a:rPr>
              <a:t>Where did our numbers go wrong?</a:t>
            </a:r>
          </a:p>
        </p:txBody>
      </p:sp>
      <p:sp>
        <p:nvSpPr>
          <p:cNvPr id="17" name="TextBox 16"/>
          <p:cNvSpPr txBox="1"/>
          <p:nvPr/>
        </p:nvSpPr>
        <p:spPr>
          <a:xfrm>
            <a:off x="781669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8200739"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Why were 14 rows set aside?</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Can Anand's analyst audit it tonight?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proved the 1.9, and the log is still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 settle, and what does Anand still need before tonight?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437424"/>
                <a:gridCol w="7693566"/>
              </a:tblGrid>
              <a:tr h="369824">
                <a:tc>
                  <a:txBody>
                    <a:bodyPr/>
                    <a:lstStyle/>
                    <a:p>
                      <a:r>
                        <a:rPr sz="1450" b="1" i="0">
                          <a:solidFill>
                            <a:srgbClr val="FFFFFF"/>
                          </a:solidFill>
                          <a:latin typeface="Calibri"/>
                        </a:rPr>
                        <a:t>The morning's question</a:t>
                      </a:r>
                    </a:p>
                  </a:txBody>
                  <a:tcPr marL="101600" marR="101600" marT="38100" marB="38100" anchor="ctr">
                    <a:solidFill>
                      <a:srgbClr val="1A0F5C"/>
                    </a:solidFill>
                  </a:tcPr>
                </a:tc>
                <a:tc>
                  <a:txBody>
                    <a:bodyPr/>
                    <a:lstStyle/>
                    <a:p>
                      <a:r>
                        <a:rPr sz="1450" b="1" i="0">
                          <a:solidFill>
                            <a:srgbClr val="FFFFFF"/>
                          </a:solidFill>
                          <a:latin typeface="Calibri"/>
                        </a:rPr>
                        <a:t>What it found</a:t>
                      </a:r>
                    </a:p>
                  </a:txBody>
                  <a:tcPr marL="101600" marR="101600" marT="38100" marB="38100" anchor="ctr">
                    <a:solidFill>
                      <a:srgbClr val="1A0F5C"/>
                    </a:solidFill>
                  </a:tcPr>
                </a:tc>
              </a:tr>
              <a:tr h="369824">
                <a:tc>
                  <a:txBody>
                    <a:bodyPr/>
                    <a:lstStyle/>
                    <a:p>
                      <a:r>
                        <a:rPr sz="1400" b="0" i="0">
                          <a:solidFill>
                            <a:srgbClr val="1A1440"/>
                          </a:solidFill>
                          <a:latin typeface="Calibri"/>
                        </a:rPr>
                        <a:t>What did the ERP send?</a:t>
                      </a:r>
                    </a:p>
                  </a:txBody>
                  <a:tcPr marL="101600" marR="101600" marT="38100" marB="38100" anchor="ctr">
                    <a:solidFill>
                      <a:srgbClr val="FFFFFF"/>
                    </a:solidFill>
                  </a:tcPr>
                </a:tc>
                <a:tc>
                  <a:txBody>
                    <a:bodyPr/>
                    <a:lstStyle/>
                    <a:p>
                      <a:r>
                        <a:rPr sz="1400" b="0" i="0">
                          <a:solidFill>
                            <a:srgbClr val="1A1440"/>
                          </a:solidFill>
                          <a:latin typeface="Calibri"/>
                        </a:rPr>
                        <a:t>201 rows for 186 orders; Q1 over the amounts that convert is Rs 2,09,98,210</a:t>
                      </a:r>
                    </a:p>
                  </a:txBody>
                  <a:tcPr marL="101600" marR="101600" marT="38100" marB="38100" anchor="ctr">
                    <a:solidFill>
                      <a:srgbClr val="FFFFFF"/>
                    </a:solidFill>
                  </a:tcPr>
                </a:tc>
              </a:tr>
              <a:tr h="369824">
                <a:tc>
                  <a:txBody>
                    <a:bodyPr/>
                    <a:lstStyle/>
                    <a:p>
                      <a:r>
                        <a:rPr sz="1400" b="0" i="0">
                          <a:solidFill>
                            <a:srgbClr val="1A1440"/>
                          </a:solidFill>
                          <a:latin typeface="Calibri"/>
                        </a:rPr>
                        <a:t>Which rows repeat?</a:t>
                      </a:r>
                    </a:p>
                  </a:txBody>
                  <a:tcPr marL="101600" marR="101600" marT="38100" marB="38100" anchor="ctr">
                    <a:solidFill>
                      <a:srgbClr val="F4F2FA"/>
                    </a:solidFill>
                  </a:tcPr>
                </a:tc>
                <a:tc>
                  <a:txBody>
                    <a:bodyPr/>
                    <a:lstStyle/>
                    <a:p>
                      <a:r>
                        <a:rPr sz="1400" b="0" i="0">
                          <a:solidFill>
                            <a:srgbClr val="1A1440"/>
                          </a:solidFill>
                          <a:latin typeface="Calibri"/>
                        </a:rPr>
                        <a:t>15 orders twice under the order_id, 14 of them in Q1</a:t>
                      </a:r>
                    </a:p>
                  </a:txBody>
                  <a:tcPr marL="101600" marR="101600" marT="38100" marB="38100" anchor="ctr">
                    <a:solidFill>
                      <a:srgbClr val="F4F2FA"/>
                    </a:solidFill>
                  </a:tcPr>
                </a:tc>
              </a:tr>
              <a:tr h="369824">
                <a:tc>
                  <a:txBody>
                    <a:bodyPr/>
                    <a:lstStyle/>
                    <a:p>
                      <a:r>
                        <a:rPr sz="1400" b="0" i="0">
                          <a:solidFill>
                            <a:srgbClr val="1A1440"/>
                          </a:solidFill>
                          <a:latin typeface="Calibri"/>
                        </a:rPr>
                        <a:t>Which copy stays?</a:t>
                      </a:r>
                    </a:p>
                  </a:txBody>
                  <a:tcPr marL="101600" marR="101600" marT="38100" marB="38100" anchor="ctr">
                    <a:solidFill>
                      <a:srgbClr val="FFFFFF"/>
                    </a:solidFill>
                  </a:tcPr>
                </a:tc>
                <a:tc>
                  <a:txBody>
                    <a:bodyPr/>
                    <a:lstStyle/>
                    <a:p>
                      <a:r>
                        <a:rPr sz="1400" b="0" i="0">
                          <a:solidFill>
                            <a:srgbClr val="1A1440"/>
                          </a:solidFill>
                          <a:latin typeface="Calibri"/>
                        </a:rPr>
                        <a:t>The copy whose amount converts: 186 kept, 15 set aside, Q1 Rs 1,90,00,000</a:t>
                      </a:r>
                    </a:p>
                  </a:txBody>
                  <a:tcPr marL="101600" marR="101600" marT="38100" marB="38100" anchor="ctr">
                    <a:solidFill>
                      <a:srgbClr val="FFFFFF"/>
                    </a:solidFill>
                  </a:tcPr>
                </a:tc>
              </a:tr>
              <a:tr h="369824">
                <a:tc>
                  <a:txBody>
                    <a:bodyPr/>
                    <a:lstStyle/>
                    <a:p>
                      <a:r>
                        <a:rPr sz="1400" b="0" i="0">
                          <a:solidFill>
                            <a:srgbClr val="1A1440"/>
                          </a:solidFill>
                          <a:latin typeface="Calibri"/>
                        </a:rPr>
                        <a:t>Drop, fill or flag?</a:t>
                      </a:r>
                    </a:p>
                  </a:txBody>
                  <a:tcPr marL="101600" marR="101600" marT="38100" marB="38100" anchor="ctr">
                    <a:solidFill>
                      <a:srgbClr val="F4F2FA"/>
                    </a:solidFill>
                  </a:tcPr>
                </a:tc>
                <a:tc>
                  <a:txBody>
                    <a:bodyPr/>
                    <a:lstStyle/>
                    <a:p>
                      <a:r>
                        <a:rPr sz="1400" b="0" i="0">
                          <a:solidFill>
                            <a:srgbClr val="1A1440"/>
                          </a:solidFill>
                          <a:latin typeface="Calibri"/>
                        </a:rPr>
                        <a:t>Status flagged, discount kept unknown, bad amounts rejected, never zeroed</a:t>
                      </a:r>
                    </a:p>
                  </a:txBody>
                  <a:tcPr marL="101600" marR="101600" marT="38100" marB="38100" anchor="ctr">
                    <a:solidFill>
                      <a:srgbClr val="F4F2FA"/>
                    </a:solidFill>
                  </a:tcPr>
                </a:tc>
              </a:tr>
              <a:tr h="369824">
                <a:tc>
                  <a:txBody>
                    <a:bodyPr/>
                    <a:lstStyle/>
                    <a:p>
                      <a:r>
                        <a:rPr sz="1400" b="0" i="0">
                          <a:solidFill>
                            <a:srgbClr val="1A1440"/>
                          </a:solidFill>
                          <a:latin typeface="Calibri"/>
                        </a:rPr>
                        <a:t>Can we prove the 1.9?</a:t>
                      </a:r>
                    </a:p>
                  </a:txBody>
                  <a:tcPr marL="101600" marR="101600" marT="38100" marB="38100" anchor="ctr">
                    <a:solidFill>
                      <a:srgbClr val="FFFFFF"/>
                    </a:solidFill>
                  </a:tcPr>
                </a:tc>
                <a:tc>
                  <a:txBody>
                    <a:bodyPr/>
                    <a:lstStyle/>
                    <a:p>
                      <a:r>
                        <a:rPr sz="1400" b="0" i="0">
                          <a:solidFill>
                            <a:srgbClr val="1A1440"/>
                          </a:solidFill>
                          <a:latin typeface="Calibri"/>
                        </a:rPr>
                        <a:t>Yes, by a two-move bridge; revenue -1.6%, Retail-Plus -35.0%</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ERP is the enterprise resource planning system Finance books orders in; its CSV was stitched from two extracts, two pulls of rows, during Q1's migration of the order data to a new system. The books are Finance's own record of Q1, and Anand's analyst ties out: she matches every figure to them, line by line.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7" name="Oval 16"/>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9" name="Oval 18"/>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1" name="Oval 20"/>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the analyst replay it?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Anand's analyst audit every decision tonight and rebuild the clean file from the log alone?</a:t>
            </a:r>
          </a:p>
        </p:txBody>
      </p:sp>
      <p:sp>
        <p:nvSpPr>
          <p:cNvPr id="10" name="Rounded Rectangle 9"/>
          <p:cNvSpPr/>
          <p:nvPr/>
        </p:nvSpPr>
        <p:spPr>
          <a:xfrm>
            <a:off x="731519" y="5074920"/>
            <a:ext cx="167369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the analyst: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checks the logs tonight, and an auditor may ask next quarter why any row went. A log she cannot follow costs a week of questions, and one that ties in rows and misses in rupees costs the team her trust in everything else it sends.</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could she receive?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hand-overs,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decision moved most?</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Rupees per decision</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 the files hold it?</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Written, then read back</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If rows tie, is it right?</a:t>
            </a:r>
          </a:p>
        </p:txBody>
      </p:sp>
      <p:sp>
        <p:nvSpPr>
          <p:cNvPr id="32" name="TextBox 31"/>
          <p:cNvSpPr txBox="1"/>
          <p:nvPr/>
        </p:nvSpPr>
        <p:spPr>
          <a:xfrm>
            <a:off x="635187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A colleague's log</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those 14 rows?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auditor's question</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Can a stranger rebuild it?</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log, replayed</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45" name="Oval 4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47" name="Oval 4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49" name="Oval 48"/>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51" name="Oval 5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53" name="Oval 5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analyst needs rows and rupees, and a reason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analyst need, and what does a log she cannot follow cost?</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rows and rupees</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control totals: a count and a sum at both ends, compared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the analyst</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for Anand, tonight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a week</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LOG SHE CANNOT FOLLOW</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questions, and her trust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my analyst follow every decision you made, and rebuild your file from 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Patisserie Valerie's auditor missed the red flags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an auditor paid for numbers nobody could trace to their rows?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94m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HOLE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administrators, March 2019</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4m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FRC FINE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reduced to GBP 2.34m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years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AUDITS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sanctioned in September 2021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At a UK cafe chain the accounting hole reached GBP 94 million, and the Financial Reporting Council fined its former auditor for missing red flags across three years of audits.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Logs and control totals: 24 lines, 12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the analyst receive, and how long would each take her to check?</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98215"/>
                <a:gridCol w="914400"/>
                <a:gridCol w="1569465"/>
                <a:gridCol w="1842784"/>
                <a:gridCol w="170612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Ties rows</a:t>
                      </a:r>
                    </a:p>
                  </a:txBody>
                  <a:tcPr marL="101600" marR="101600" marT="38100" marB="38100" anchor="ctr">
                    <a:solidFill>
                      <a:srgbClr val="1A0F5C"/>
                    </a:solidFill>
                  </a:tcPr>
                </a:tc>
                <a:tc>
                  <a:txBody>
                    <a:bodyPr/>
                    <a:lstStyle/>
                    <a:p>
                      <a:r>
                        <a:rPr sz="1250" b="1" i="0">
                          <a:solidFill>
                            <a:srgbClr val="FFFFFF"/>
                          </a:solidFill>
                          <a:latin typeface="Calibri"/>
                        </a:rPr>
                        <a:t>Ties rupees</a:t>
                      </a:r>
                    </a:p>
                  </a:txBody>
                  <a:tcPr marL="101600" marR="101600" marT="38100" marB="38100" anchor="ctr">
                    <a:solidFill>
                      <a:srgbClr val="1A0F5C"/>
                    </a:solidFill>
                  </a:tcPr>
                </a:tc>
                <a:tc>
                  <a:txBody>
                    <a:bodyPr/>
                    <a:lstStyle/>
                    <a:p>
                      <a:r>
                        <a:rPr sz="1250" b="1" i="0">
                          <a:solidFill>
                            <a:srgbClr val="FFFFFF"/>
                          </a:solidFill>
                          <a:latin typeface="Calibri"/>
                        </a:rPr>
                        <a:t>Replayable</a:t>
                      </a:r>
                    </a:p>
                  </a:txBody>
                  <a:tcPr marL="101600" marR="101600" marT="38100" marB="38100" anchor="ctr">
                    <a:solidFill>
                      <a:srgbClr val="1A0F5C"/>
                    </a:solidFill>
                  </a:tcPr>
                </a:tc>
              </a:tr>
              <a:tr h="335280">
                <a:tc>
                  <a:txBody>
                    <a:bodyPr/>
                    <a:lstStyle/>
                    <a:p>
                      <a:r>
                        <a:rPr sz="1200" b="0" i="0">
                          <a:solidFill>
                            <a:srgbClr val="1A1440"/>
                          </a:solidFill>
                          <a:latin typeface="Calibri"/>
                        </a:rPr>
                        <a:t>a) The clean file, read against the raw</a:t>
                      </a:r>
                    </a:p>
                  </a:txBody>
                  <a:tcPr marL="101600" marR="101600" marT="38100" marB="38100" anchor="ctr">
                    <a:solidFill>
                      <a:srgbClr val="FFFFFF"/>
                    </a:solidFill>
                  </a:tcPr>
                </a:tc>
                <a:tc>
                  <a:txBody>
                    <a:bodyPr/>
                    <a:lstStyle/>
                    <a:p>
                      <a:r>
                        <a:rPr sz="1200" b="0" i="0">
                          <a:solidFill>
                            <a:srgbClr val="1A1440"/>
                          </a:solidFill>
                          <a:latin typeface="Calibri"/>
                        </a:rPr>
                        <a:t>387</a:t>
                      </a:r>
                    </a:p>
                  </a:txBody>
                  <a:tcPr marL="101600" marR="101600" marT="38100" marB="38100" anchor="ctr">
                    <a:solidFill>
                      <a:srgbClr val="FFFFFF"/>
                    </a:solidFill>
                  </a:tcPr>
                </a:tc>
                <a:tc>
                  <a:txBody>
                    <a:bodyPr/>
                    <a:lstStyle/>
                    <a:p>
                      <a:r>
                        <a:rPr sz="1200" b="0" i="0">
                          <a:solidFill>
                            <a:srgbClr val="1A1440"/>
                          </a:solidFill>
                          <a:latin typeface="Calibri"/>
                        </a:rPr>
                        <a:t>by hand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file and a count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Logs and control totals</a:t>
                      </a:r>
                    </a:p>
                  </a:txBody>
                  <a:tcPr marL="101600" marR="101600" marT="38100" marB="38100" anchor="ctr">
                    <a:solidFill>
                      <a:srgbClr val="FFFFFF"/>
                    </a:solidFill>
                  </a:tcPr>
                </a:tc>
                <a:tc>
                  <a:txBody>
                    <a:bodyPr/>
                    <a:lstStyle/>
                    <a:p>
                      <a:r>
                        <a:rPr sz="1200" b="0" i="0">
                          <a:solidFill>
                            <a:srgbClr val="1A1440"/>
                          </a:solidFill>
                          <a:latin typeface="Calibri"/>
                        </a:rPr>
                        <a:t>24</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A full diff</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by hand</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an external auditor who must re-derive every row, and then d goes beside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7" name="Oval 1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9" name="Oval 18"/>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1" name="Oval 2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3" name="Oval 2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logs and two totals, written as the pass runs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log carry, and which totals tie them?</a:t>
            </a:r>
          </a:p>
        </p:txBody>
      </p:sp>
      <p:pic>
        <p:nvPicPr>
          <p:cNvPr id="9" name="mermaid diagram" descr="86c68108bb00f1ba.png"/>
          <p:cNvPicPr>
            <a:picLocks noChangeAspect="1"/>
          </p:cNvPicPr>
          <p:nvPr/>
        </p:nvPicPr>
        <p:blipFill>
          <a:blip r:embed="rId6"/>
          <a:stretch>
            <a:fillRect/>
          </a:stretch>
        </p:blipFill>
        <p:spPr>
          <a:xfrm>
            <a:off x="3562461" y="1664208"/>
            <a:ext cx="5066771"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rejects log sits beside these three and is empty on this export, since the one unreadable amount was a copy set aside with its twin named.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9" name="Oval 1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1" name="Oval 20"/>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3" name="Oval 22"/>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5" name="Oval 24"/>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decision moves the most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decision moved the most rupees?</a:t>
            </a:r>
          </a:p>
        </p:txBody>
      </p:sp>
      <p:pic>
        <p:nvPicPr>
          <p:cNvPr id="9" name="mermaid diagram" descr="1c323c0168656de8.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the identity rule; b) the missing status; c) the bulk order; d) the missing discount.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7" name="Oval 1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9" name="Oval 18"/>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1" name="Oval 2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3" name="Oval 2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identity rule moves all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decision moved the most rupees?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IDENTITY RULE</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15 rows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OTHER FOUR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57 rows flagged or kept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a. Four decisions move no Q1 rupees, and each still gets its line, because an analyst who finds one unlogged decision stops trusting the logged ones.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4" name="Oval 2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6" name="Oval 2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8" name="Oval 2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0" name="Oval 2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back from disk, the log holds 15 rows as text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logs on disk hold what the notebook holds?</a:t>
            </a:r>
          </a:p>
        </p:txBody>
      </p:sp>
      <p:sp>
        <p:nvSpPr>
          <p:cNvPr id="9" name="Rounded Rectangle 8"/>
          <p:cNvSpPr/>
          <p:nvPr/>
        </p:nvSpPr>
        <p:spPr>
          <a:xfrm>
            <a:off x="530352" y="186359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9161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9161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9161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9278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open(out / "set_aside_log.csv", "w", newline="", encoding="utf-8") as f:</a:t>
            </a:r>
          </a:p>
          <a:p>
            <a:pPr>
              <a:spcAft>
                <a:spcPts val="200"/>
              </a:spcAft>
            </a:pPr>
            <a:r>
              <a:rPr sz="1400" b="0" i="0">
                <a:solidFill>
                  <a:srgbClr val="E4E1F1"/>
                </a:solidFill>
                <a:latin typeface="Consolas"/>
              </a:rPr>
              <a:t>    w = csv.DictWriter(f, fieldnames=list(set_aside[0]))</a:t>
            </a:r>
          </a:p>
          <a:p>
            <a:pPr>
              <a:spcAft>
                <a:spcPts val="200"/>
              </a:spcAft>
            </a:pPr>
            <a:r>
              <a:rPr sz="1400" b="0" i="0">
                <a:solidFill>
                  <a:srgbClr val="E4E1F1"/>
                </a:solidFill>
                <a:latin typeface="Consolas"/>
              </a:rPr>
              <a:t>    w.writeheader()</a:t>
            </a:r>
          </a:p>
          <a:p>
            <a:pPr>
              <a:spcAft>
                <a:spcPts val="200"/>
              </a:spcAft>
            </a:pPr>
            <a:r>
              <a:rPr sz="1400" b="0" i="0">
                <a:solidFill>
                  <a:srgbClr val="E4E1F1"/>
                </a:solidFill>
                <a:latin typeface="Consolas"/>
              </a:rPr>
              <a:t>    w.writerows(set_aside)</a:t>
            </a:r>
          </a:p>
          <a:p>
            <a:pPr>
              <a:spcAft>
                <a:spcPts val="200"/>
              </a:spcAft>
            </a:pPr>
            <a:r>
              <a:rPr sz="1400" b="0" i="0">
                <a:solidFill>
                  <a:srgbClr val="E4E1F1"/>
                </a:solidFill>
                <a:latin typeface="Consolas"/>
              </a:rPr>
              <a:t>back = list(csv.DictReader(open(out / "set_aside_log.csv")))     # 15 rows</a:t>
            </a:r>
          </a:p>
        </p:txBody>
      </p:sp>
      <p:sp>
        <p:nvSpPr>
          <p:cNvPr id="14" name="TextBox 13"/>
          <p:cNvSpPr txBox="1"/>
          <p:nvPr/>
        </p:nvSpPr>
        <p:spPr>
          <a:xfrm>
            <a:off x="530352" y="3747770"/>
            <a:ext cx="5428335"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448284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SET-ASIDE ROWS</a:t>
            </a:r>
          </a:p>
        </p:txBody>
      </p:sp>
      <p:sp>
        <p:nvSpPr>
          <p:cNvPr id="16" name="TextBox 15"/>
          <p:cNvSpPr txBox="1"/>
          <p:nvPr/>
        </p:nvSpPr>
        <p:spPr>
          <a:xfrm>
            <a:off x="530352" y="4684014"/>
            <a:ext cx="5428335" cy="193421"/>
          </a:xfrm>
          <a:prstGeom prst="rect">
            <a:avLst/>
          </a:prstGeom>
          <a:noFill/>
        </p:spPr>
        <p:txBody>
          <a:bodyPr wrap="square" anchor="t" lIns="0" rIns="0" tIns="0" bIns="0">
            <a:spAutoFit/>
          </a:bodyPr>
          <a:lstStyle/>
          <a:p>
            <a:pPr algn="l"/>
            <a:r>
              <a:rPr sz="950" b="0" i="0">
                <a:solidFill>
                  <a:srgbClr val="6B6690"/>
                </a:solidFill>
                <a:latin typeface="Calibri"/>
              </a:rPr>
              <a:t>read back from the CSV</a:t>
            </a:r>
          </a:p>
        </p:txBody>
      </p:sp>
      <p:sp>
        <p:nvSpPr>
          <p:cNvPr id="17" name="Rectangle 16"/>
          <p:cNvSpPr/>
          <p:nvPr/>
        </p:nvSpPr>
        <p:spPr>
          <a:xfrm>
            <a:off x="530352" y="493649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747770"/>
            <a:ext cx="5428335"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9" name="TextBox 18"/>
          <p:cNvSpPr txBox="1"/>
          <p:nvPr/>
        </p:nvSpPr>
        <p:spPr>
          <a:xfrm>
            <a:off x="6233007" y="448284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DECISIONS</a:t>
            </a:r>
          </a:p>
        </p:txBody>
      </p:sp>
      <p:sp>
        <p:nvSpPr>
          <p:cNvPr id="20" name="TextBox 19"/>
          <p:cNvSpPr txBox="1"/>
          <p:nvPr/>
        </p:nvSpPr>
        <p:spPr>
          <a:xfrm>
            <a:off x="6233007" y="4684014"/>
            <a:ext cx="5428335" cy="193421"/>
          </a:xfrm>
          <a:prstGeom prst="rect">
            <a:avLst/>
          </a:prstGeom>
          <a:noFill/>
        </p:spPr>
        <p:txBody>
          <a:bodyPr wrap="square" anchor="t" lIns="0" rIns="0" tIns="0" bIns="0">
            <a:spAutoFit/>
          </a:bodyPr>
          <a:lstStyle/>
          <a:p>
            <a:pPr algn="l"/>
            <a:r>
              <a:rPr sz="950" b="0" i="0">
                <a:solidFill>
                  <a:srgbClr val="6B6690"/>
                </a:solidFill>
                <a:latin typeface="Calibri"/>
              </a:rPr>
              <a:t>read back with json.load</a:t>
            </a:r>
          </a:p>
        </p:txBody>
      </p:sp>
      <p:sp>
        <p:nvSpPr>
          <p:cNvPr id="21" name="Rectangle 20"/>
          <p:cNvSpPr/>
          <p:nvPr/>
        </p:nvSpPr>
        <p:spPr>
          <a:xfrm>
            <a:off x="6233007" y="493649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52108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53388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532968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rupees in the file equal the rupees in the notebook once the amounts are converted again, since they come back as text: chapter 1's rule holds for your own files too.</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7" name="Oval 2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9" name="Oval 2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1" name="Oval 30"/>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3" name="Oval 32"/>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5" name="Oval 34"/>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perfect-looking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rows reconcile, is the log right?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r in raw:                     # repeated ids out first, the first copy kept</a:t>
            </a:r>
          </a:p>
          <a:p>
            <a:pPr>
              <a:spcAft>
                <a:spcPts val="200"/>
              </a:spcAft>
            </a:pPr>
            <a:r>
              <a:rPr sz="1400" b="0" i="0">
                <a:solidFill>
                  <a:srgbClr val="E4E1F1"/>
                </a:solidFill>
                <a:latin typeface="Consolas"/>
              </a:rPr>
              <a:t>    (aside if r["order_id"] in seen else first).append(r)</a:t>
            </a:r>
          </a:p>
          <a:p>
            <a:pPr>
              <a:spcAft>
                <a:spcPts val="200"/>
              </a:spcAft>
            </a:pPr>
            <a:r>
              <a:rPr sz="1400" b="0" i="0">
                <a:solidFill>
                  <a:srgbClr val="E4E1F1"/>
                </a:solidFill>
                <a:latin typeface="Consolas"/>
              </a:rPr>
              <a:t>    seen.add(r["order_id"])</a:t>
            </a:r>
          </a:p>
          <a:p>
            <a:pPr>
              <a:spcAft>
                <a:spcPts val="200"/>
              </a:spcAft>
            </a:pPr>
            <a:r>
              <a:rPr sz="1400" b="0" i="0">
                <a:solidFill>
                  <a:srgbClr val="E4E1F1"/>
                </a:solidFill>
                <a:latin typeface="Consolas"/>
              </a:rPr>
              <a:t>clean = [r for r in first if convert(r["amount"])[0] is not None]   # then convert</a:t>
            </a:r>
          </a:p>
        </p:txBody>
      </p:sp>
      <p:sp>
        <p:nvSpPr>
          <p:cNvPr id="14" name="TextBox 13"/>
          <p:cNvSpPr txBox="1"/>
          <p:nvPr/>
        </p:nvSpPr>
        <p:spPr>
          <a:xfrm>
            <a:off x="530352" y="3588512"/>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185 + 16</a:t>
            </a:r>
          </a:p>
        </p:txBody>
      </p:sp>
      <p:sp>
        <p:nvSpPr>
          <p:cNvPr id="15" name="TextBox 14"/>
          <p:cNvSpPr txBox="1"/>
          <p:nvPr/>
        </p:nvSpPr>
        <p:spPr>
          <a:xfrm>
            <a:off x="530352" y="4133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RECONCILE</a:t>
            </a:r>
          </a:p>
        </p:txBody>
      </p:sp>
      <p:sp>
        <p:nvSpPr>
          <p:cNvPr id="16" name="TextBox 15"/>
          <p:cNvSpPr txBox="1"/>
          <p:nvPr/>
        </p:nvSpPr>
        <p:spPr>
          <a:xfrm>
            <a:off x="530352" y="4334256"/>
            <a:ext cx="3527450" cy="193421"/>
          </a:xfrm>
          <a:prstGeom prst="rect">
            <a:avLst/>
          </a:prstGeom>
          <a:noFill/>
        </p:spPr>
        <p:txBody>
          <a:bodyPr wrap="square" anchor="t" lIns="0" rIns="0" tIns="0" bIns="0">
            <a:spAutoFit/>
          </a:bodyPr>
          <a:lstStyle/>
          <a:p>
            <a:pPr algn="l"/>
            <a:r>
              <a:rPr sz="950" b="0" i="0">
                <a:solidFill>
                  <a:srgbClr val="6B6690"/>
                </a:solidFill>
                <a:latin typeface="Calibri"/>
              </a:rPr>
              <a:t>in equals kept plus logged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20,00,000</a:t>
            </a:r>
          </a:p>
        </p:txBody>
      </p:sp>
      <p:sp>
        <p:nvSpPr>
          <p:cNvPr id="19" name="TextBox 18"/>
          <p:cNvSpPr txBox="1"/>
          <p:nvPr/>
        </p:nvSpPr>
        <p:spPr>
          <a:xfrm>
            <a:off x="4332122" y="4133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SET ASIDE</a:t>
            </a:r>
          </a:p>
        </p:txBody>
      </p:sp>
      <p:sp>
        <p:nvSpPr>
          <p:cNvPr id="20" name="TextBox 19"/>
          <p:cNvSpPr txBox="1"/>
          <p:nvPr/>
        </p:nvSpPr>
        <p:spPr>
          <a:xfrm>
            <a:off x="4332122" y="4334256"/>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gap, to the lakh</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 crore</a:t>
            </a:r>
          </a:p>
        </p:txBody>
      </p:sp>
      <p:sp>
        <p:nvSpPr>
          <p:cNvPr id="23" name="TextBox 22"/>
          <p:cNvSpPr txBox="1"/>
          <p:nvPr/>
        </p:nvSpPr>
        <p:spPr>
          <a:xfrm>
            <a:off x="8133892" y="4133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24" name="TextBox 23"/>
          <p:cNvSpPr txBox="1"/>
          <p:nvPr/>
        </p:nvSpPr>
        <p:spPr>
          <a:xfrm>
            <a:off x="8133892" y="4334256"/>
            <a:ext cx="3527450" cy="193421"/>
          </a:xfrm>
          <a:prstGeom prst="rect">
            <a:avLst/>
          </a:prstGeom>
          <a:noFill/>
        </p:spPr>
        <p:txBody>
          <a:bodyPr wrap="square" anchor="t" lIns="0" rIns="0" tIns="0" bIns="0">
            <a:spAutoFit/>
          </a:bodyPr>
          <a:lstStyle/>
          <a:p>
            <a:pPr algn="l"/>
            <a:r>
              <a:rPr sz="950" b="0" i="0">
                <a:solidFill>
                  <a:srgbClr val="6B6690"/>
                </a:solidFill>
                <a:latin typeface="Calibri"/>
              </a:rPr>
              <a:t>as the note rounds it</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rows tie, rupees miss Rs 1,790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log tie in rows and still be wrong?</a:t>
            </a:r>
          </a:p>
        </p:txBody>
      </p:sp>
      <p:pic>
        <p:nvPicPr>
          <p:cNvPr id="9" name="mermaid diagram" descr="07259466d0a819f6.png"/>
          <p:cNvPicPr>
            <a:picLocks noChangeAspect="1"/>
          </p:cNvPicPr>
          <p:nvPr/>
        </p:nvPicPr>
        <p:blipFill>
          <a:blip r:embed="rId5"/>
          <a:stretch>
            <a:fillRect/>
          </a:stretch>
        </p:blipFill>
        <p:spPr>
          <a:xfrm>
            <a:off x="2152497" y="1956816"/>
            <a:ext cx="7886700" cy="2786062"/>
          </a:xfrm>
          <a:prstGeom prst="rect">
            <a:avLst/>
          </a:prstGeom>
        </p:spPr>
      </p:pic>
      <p:sp>
        <p:nvSpPr>
          <p:cNvPr id="10" name="Rounded Rectangle 9"/>
          <p:cNvSpPr/>
          <p:nvPr/>
        </p:nvSpPr>
        <p:spPr>
          <a:xfrm>
            <a:off x="530352" y="48891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171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0805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books against the clean Q1, and a rejected order whose twin sits in the set-aside log with a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7" name="Oval 1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9" name="Oval 18"/>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1" name="Oval 2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3" name="Oval 2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rule first, and both totals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pass's own order change?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186 + 15</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LINES IN THE REJECTS LOG</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twin carried the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rupees tie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1,790 order is back, and the unreadable copy sits in the set-aside log with its twin named, so the rejects log is empty.</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8" name="Oval 27"/>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0" name="Oval 29"/>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2" name="Oval 31"/>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4" name="Oval 33"/>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of the 14 has a kept twin, and Q1 ties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were 14 Q1 rows set aside, and how do we know nothing else went?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AGAINST THE BOOKS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Q1 clean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"Set aside with a reason" replaces "dropped": every line names the row that stayed, and Q1 ties in rows and in rupees.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log replays to the clean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clean file be rebuilt from the raw export and the log alone?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gone = {int(r["line"]) for r in back}                  # the logged lines</a:t>
            </a:r>
          </a:p>
          <a:p>
            <a:pPr>
              <a:spcAft>
                <a:spcPts val="200"/>
              </a:spcAft>
            </a:pPr>
            <a:r>
              <a:rPr sz="1400" b="0" i="0">
                <a:solidFill>
                  <a:srgbClr val="E4E1F1"/>
                </a:solidFill>
                <a:latin typeface="Consolas"/>
              </a:rPr>
              <a:t>replayed = [r for r in raw if r["line"] not in gone]   # 186 orders</a:t>
            </a:r>
          </a:p>
        </p:txBody>
      </p:sp>
      <p:pic>
        <p:nvPicPr>
          <p:cNvPr id="14" name="mermaid diagram" descr="56dc8baed6c1cc53.png"/>
          <p:cNvPicPr>
            <a:picLocks noChangeAspect="1"/>
          </p:cNvPicPr>
          <p:nvPr/>
        </p:nvPicPr>
        <p:blipFill>
          <a:blip r:embed="rId5"/>
          <a:stretch>
            <a:fillRect/>
          </a:stretch>
        </p:blipFill>
        <p:spPr>
          <a:xfrm>
            <a:off x="780897" y="3083560"/>
            <a:ext cx="10629900" cy="1357312"/>
          </a:xfrm>
          <a:prstGeom prst="rect">
            <a:avLst/>
          </a:prstGeom>
        </p:spPr>
      </p:pic>
      <p:sp>
        <p:nvSpPr>
          <p:cNvPr id="15" name="Rounded Rectangle 14"/>
          <p:cNvSpPr/>
          <p:nvPr/>
        </p:nvSpPr>
        <p:spPr>
          <a:xfrm>
            <a:off x="530352" y="45871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7151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70604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Control totals are the quick test; the replay is for an auditor who trusts nothing, and it runs before any log leaves the team.</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0" name="Oval 19"/>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2" name="Oval 21"/>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4" name="Oval 23"/>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6" name="Oval 25"/>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8" name="Oval 27"/>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24 lines, both totals tied, and a replay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can the analyst audit every decision and rebuild the clean file from the log?</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915484"/>
                <a:gridCol w="7215506"/>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What could she receive?</a:t>
                      </a:r>
                    </a:p>
                  </a:txBody>
                  <a:tcPr marL="101600" marR="101600" marT="38100" marB="38100" anchor="ctr">
                    <a:solidFill>
                      <a:srgbClr val="FFFFFF"/>
                    </a:solidFill>
                  </a:tcPr>
                </a:tc>
                <a:tc>
                  <a:txBody>
                    <a:bodyPr/>
                    <a:lstStyle/>
                    <a:p>
                      <a:r>
                        <a:rPr sz="1100" b="0" i="0">
                          <a:solidFill>
                            <a:srgbClr val="1A1440"/>
                          </a:solidFill>
                          <a:latin typeface="Calibri"/>
                        </a:rPr>
                        <a:t>Logs and control totals: 24 lines, about 12 minutes</a:t>
                      </a:r>
                    </a:p>
                  </a:txBody>
                  <a:tcPr marL="101600" marR="101600" marT="38100" marB="38100" anchor="ctr">
                    <a:solidFill>
                      <a:srgbClr val="FFFFFF"/>
                    </a:solidFill>
                  </a:tcPr>
                </a:tc>
              </a:tr>
              <a:tr h="318008">
                <a:tc>
                  <a:txBody>
                    <a:bodyPr/>
                    <a:lstStyle/>
                    <a:p>
                      <a:r>
                        <a:rPr sz="1100" b="0" i="0">
                          <a:solidFill>
                            <a:srgbClr val="1A1440"/>
                          </a:solidFill>
                          <a:latin typeface="Calibri"/>
                        </a:rPr>
                        <a:t>2. Which decision moved most?</a:t>
                      </a:r>
                    </a:p>
                  </a:txBody>
                  <a:tcPr marL="101600" marR="101600" marT="38100" marB="38100" anchor="ctr">
                    <a:solidFill>
                      <a:srgbClr val="F4F2FA"/>
                    </a:solidFill>
                  </a:tcPr>
                </a:tc>
                <a:tc>
                  <a:txBody>
                    <a:bodyPr/>
                    <a:lstStyle/>
                    <a:p>
                      <a:r>
                        <a:rPr sz="1100" b="0" i="0">
                          <a:solidFill>
                            <a:srgbClr val="1A1440"/>
                          </a:solidFill>
                          <a:latin typeface="Calibri"/>
                        </a:rPr>
                        <a:t>The identity rule, all Rs 19,98,210</a:t>
                      </a:r>
                    </a:p>
                  </a:txBody>
                  <a:tcPr marL="101600" marR="101600" marT="38100" marB="38100" anchor="ctr">
                    <a:solidFill>
                      <a:srgbClr val="F4F2FA"/>
                    </a:solidFill>
                  </a:tcPr>
                </a:tc>
              </a:tr>
              <a:tr h="318008">
                <a:tc>
                  <a:txBody>
                    <a:bodyPr/>
                    <a:lstStyle/>
                    <a:p>
                      <a:r>
                        <a:rPr sz="1100" b="0" i="0">
                          <a:solidFill>
                            <a:srgbClr val="1A1440"/>
                          </a:solidFill>
                          <a:latin typeface="Calibri"/>
                        </a:rPr>
                        <a:t>3. Do the files hold it?</a:t>
                      </a:r>
                    </a:p>
                  </a:txBody>
                  <a:tcPr marL="101600" marR="101600" marT="38100" marB="38100" anchor="ctr">
                    <a:solidFill>
                      <a:srgbClr val="FFFFFF"/>
                    </a:solidFill>
                  </a:tcPr>
                </a:tc>
                <a:tc>
                  <a:txBody>
                    <a:bodyPr/>
                    <a:lstStyle/>
                    <a:p>
                      <a:r>
                        <a:rPr sz="1100" b="0" i="0">
                          <a:solidFill>
                            <a:srgbClr val="1A1440"/>
                          </a:solidFill>
                          <a:latin typeface="Calibri"/>
                        </a:rPr>
                        <a:t>Yes: 15 rows and 5 decisions, amounts back as text</a:t>
                      </a:r>
                    </a:p>
                  </a:txBody>
                  <a:tcPr marL="101600" marR="101600" marT="38100" marB="38100" anchor="ctr">
                    <a:solidFill>
                      <a:srgbClr val="FFFFFF"/>
                    </a:solidFill>
                  </a:tcPr>
                </a:tc>
              </a:tr>
              <a:tr h="318008">
                <a:tc>
                  <a:txBody>
                    <a:bodyPr/>
                    <a:lstStyle/>
                    <a:p>
                      <a:r>
                        <a:rPr sz="1100" b="0" i="0">
                          <a:solidFill>
                            <a:srgbClr val="1A1440"/>
                          </a:solidFill>
                          <a:latin typeface="Calibri"/>
                        </a:rPr>
                        <a:t>4. If rows tie, is it right?</a:t>
                      </a:r>
                    </a:p>
                  </a:txBody>
                  <a:tcPr marL="101600" marR="101600" marT="38100" marB="38100" anchor="ctr">
                    <a:solidFill>
                      <a:srgbClr val="F4F2FA"/>
                    </a:solidFill>
                  </a:tcPr>
                </a:tc>
                <a:tc>
                  <a:txBody>
                    <a:bodyPr/>
                    <a:lstStyle/>
                    <a:p>
                      <a:r>
                        <a:rPr sz="1100" b="0" i="0">
                          <a:solidFill>
                            <a:srgbClr val="1A1440"/>
                          </a:solidFill>
                          <a:latin typeface="Calibri"/>
                        </a:rPr>
                        <a:t>No: 201 = 185 + 16 missed the books by Rs 1,790</a:t>
                      </a:r>
                    </a:p>
                  </a:txBody>
                  <a:tcPr marL="101600" marR="101600" marT="38100" marB="38100" anchor="ctr">
                    <a:solidFill>
                      <a:srgbClr val="F4F2FA"/>
                    </a:solidFill>
                  </a:tcPr>
                </a:tc>
              </a:tr>
              <a:tr h="318008">
                <a:tc>
                  <a:txBody>
                    <a:bodyPr/>
                    <a:lstStyle/>
                    <a:p>
                      <a:r>
                        <a:rPr sz="1100" b="0" i="0">
                          <a:solidFill>
                            <a:srgbClr val="1A1440"/>
                          </a:solidFill>
                          <a:latin typeface="Calibri"/>
                        </a:rPr>
                        <a:t>5. Why those 14 rows?</a:t>
                      </a:r>
                    </a:p>
                  </a:txBody>
                  <a:tcPr marL="101600" marR="101600" marT="38100" marB="38100" anchor="ctr">
                    <a:solidFill>
                      <a:srgbClr val="FFFFFF"/>
                    </a:solidFill>
                  </a:tcPr>
                </a:tc>
                <a:tc>
                  <a:txBody>
                    <a:bodyPr/>
                    <a:lstStyle/>
                    <a:p>
                      <a:r>
                        <a:rPr sz="1100" b="0" i="0">
                          <a:solidFill>
                            <a:srgbClr val="1A1440"/>
                          </a:solidFill>
                          <a:latin typeface="Calibri"/>
                        </a:rPr>
                        <a:t>Each has a kept twin; 114 = 100 + 14, and the rupees tie</a:t>
                      </a:r>
                    </a:p>
                  </a:txBody>
                  <a:tcPr marL="101600" marR="101600" marT="38100" marB="38100" anchor="ctr">
                    <a:solidFill>
                      <a:srgbClr val="FFFFFF"/>
                    </a:solidFill>
                  </a:tcPr>
                </a:tc>
              </a:tr>
              <a:tr h="318008">
                <a:tc>
                  <a:txBody>
                    <a:bodyPr/>
                    <a:lstStyle/>
                    <a:p>
                      <a:r>
                        <a:rPr sz="1100" b="0" i="0">
                          <a:solidFill>
                            <a:srgbClr val="1A1440"/>
                          </a:solidFill>
                          <a:latin typeface="Calibri"/>
                        </a:rPr>
                        <a:t>6. Can a stranger rebuild it?</a:t>
                      </a:r>
                    </a:p>
                  </a:txBody>
                  <a:tcPr marL="101600" marR="101600" marT="38100" marB="38100" anchor="ctr">
                    <a:solidFill>
                      <a:srgbClr val="F4F2FA"/>
                    </a:solidFill>
                  </a:tcPr>
                </a:tc>
                <a:tc>
                  <a:txBody>
                    <a:bodyPr/>
                    <a:lstStyle/>
                    <a:p>
                      <a:r>
                        <a:rPr sz="1100" b="0" i="0">
                          <a:solidFill>
                            <a:srgbClr val="1A1440"/>
                          </a:solidFill>
                          <a:latin typeface="Calibri"/>
                        </a:rPr>
                        <a:t>Yes: 201 rows less 15 logged lines give the same 186</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Kavya Nair, the senior analyst who checks every number before it leaves the team: "A log is finished when a stranger can replay it."</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An auditor asks why you dropped 14 rows; walk them through it.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4" name="Oval 2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6" name="Oval 2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8" name="Oval 2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0" name="Oval 2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run the pass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run the whole pass alone on the same file and send Anand a reconciliation his analyst can audit tonight?</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with a log by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need from the full pass by tonight?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How many orders arrived?</a:t>
            </a:r>
          </a:p>
        </p:txBody>
      </p:sp>
      <p:sp>
        <p:nvSpPr>
          <p:cNvPr id="14" name="TextBox 13"/>
          <p:cNvSpPr txBox="1"/>
          <p:nvPr/>
        </p:nvSpPr>
        <p:spPr>
          <a:xfrm>
            <a:off x="694944"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against orders, and the amount that will not convert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copy stays?</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Yours this time: the key, and when a later copy takes the kept one's place</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happens to each defect?</a:t>
            </a:r>
          </a:p>
        </p:txBody>
      </p:sp>
      <p:sp>
        <p:nvSpPr>
          <p:cNvPr id="24" name="TextBox 23"/>
          <p:cNvSpPr txBox="1"/>
          <p:nvPr/>
        </p:nvSpPr>
        <p:spPr>
          <a:xfrm>
            <a:off x="5220492"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rejects log, the missing status and the largest order</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Do rows and rupees tie?</a:t>
            </a:r>
          </a:p>
        </p:txBody>
      </p:sp>
      <p:sp>
        <p:nvSpPr>
          <p:cNvPr id="29" name="TextBox 28"/>
          <p:cNvSpPr txBox="1"/>
          <p:nvPr/>
        </p:nvSpPr>
        <p:spPr>
          <a:xfrm>
            <a:off x="7483266"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A rupee test that fails the colleague's pass, then the bridge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changed for Tuesday?</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Monday's tree on the clean file, Tuesday's segment, the note</a:t>
            </a:r>
          </a:p>
        </p:txBody>
      </p:sp>
      <p:sp>
        <p:nvSpPr>
          <p:cNvPr id="35" name="Rounded Rectangle 34"/>
          <p:cNvSpPr/>
          <p:nvPr/>
        </p:nvSpPr>
        <p:spPr>
          <a:xfrm>
            <a:off x="530352" y="427634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message-square_028dbd132a0a.png"/>
          <p:cNvPicPr>
            <a:picLocks noChangeAspect="1"/>
          </p:cNvPicPr>
          <p:nvPr/>
        </p:nvPicPr>
        <p:blipFill>
          <a:blip r:embed="rId4"/>
          <a:stretch>
            <a:fillRect/>
          </a:stretch>
        </p:blipFill>
        <p:spPr>
          <a:xfrm>
            <a:off x="868680" y="4718304"/>
            <a:ext cx="237744" cy="237744"/>
          </a:xfrm>
          <a:prstGeom prst="rect">
            <a:avLst/>
          </a:prstGeom>
        </p:spPr>
      </p:pic>
      <p:sp>
        <p:nvSpPr>
          <p:cNvPr id="38" name="TextBox 3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9" name="TextBox 38"/>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FFFFFF"/>
                </a:solidFill>
                <a:latin typeface="Calibri"/>
              </a:rPr>
              <a:t>"Which figure is right, the proof in rows and in rupees, and every decision in a log my analyst can follow."</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42" name="Oval 4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you run the pass alone?</a:t>
            </a:r>
          </a:p>
        </p:txBody>
      </p:sp>
      <p:sp>
        <p:nvSpPr>
          <p:cNvPr id="44" name="Oval 4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46" name="Oval 4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48" name="Oval 4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50" name="Oval 4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Four checks pass before your letters go in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must pass before you post your letters?</a:t>
            </a:r>
          </a:p>
        </p:txBody>
      </p:sp>
      <p:sp>
        <p:nvSpPr>
          <p:cNvPr id="10" name="TextBox 9"/>
          <p:cNvSpPr txBox="1"/>
          <p:nvPr/>
        </p:nvSpPr>
        <p:spPr>
          <a:xfrm>
            <a:off x="530352"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rows</a:t>
            </a:r>
          </a:p>
        </p:txBody>
      </p:sp>
      <p:sp>
        <p:nvSpPr>
          <p:cNvPr id="11" name="TextBox 10"/>
          <p:cNvSpPr txBox="1"/>
          <p:nvPr/>
        </p:nvSpPr>
        <p:spPr>
          <a:xfrm>
            <a:off x="530352"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KEPT PLUS SET ASIDE</a:t>
            </a:r>
          </a:p>
        </p:txBody>
      </p:sp>
      <p:sp>
        <p:nvSpPr>
          <p:cNvPr id="12" name="TextBox 11"/>
          <p:cNvSpPr txBox="1"/>
          <p:nvPr/>
        </p:nvSpPr>
        <p:spPr>
          <a:xfrm>
            <a:off x="530352"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equal the rows the ERP sent</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Q1</a:t>
            </a:r>
          </a:p>
        </p:txBody>
      </p:sp>
      <p:sp>
        <p:nvSpPr>
          <p:cNvPr id="15" name="TextBox 14"/>
          <p:cNvSpPr txBox="1"/>
          <p:nvPr/>
        </p:nvSpPr>
        <p:spPr>
          <a:xfrm>
            <a:off x="3381679"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TO THE RUPEE</a:t>
            </a:r>
          </a:p>
        </p:txBody>
      </p:sp>
      <p:sp>
        <p:nvSpPr>
          <p:cNvPr id="16" name="TextBox 15"/>
          <p:cNvSpPr txBox="1"/>
          <p:nvPr/>
        </p:nvSpPr>
        <p:spPr>
          <a:xfrm>
            <a:off x="3381679"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equal to the books after the rule</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the test</a:t>
            </a:r>
          </a:p>
        </p:txBody>
      </p:sp>
      <p:sp>
        <p:nvSpPr>
          <p:cNvPr id="19" name="TextBox 18"/>
          <p:cNvSpPr txBox="1"/>
          <p:nvPr/>
        </p:nvSpPr>
        <p:spPr>
          <a:xfrm>
            <a:off x="6233007"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YOUR RUPEE TEST</a:t>
            </a:r>
          </a:p>
        </p:txBody>
      </p:sp>
      <p:sp>
        <p:nvSpPr>
          <p:cNvPr id="20" name="TextBox 19"/>
          <p:cNvSpPr txBox="1"/>
          <p:nvPr/>
        </p:nvSpPr>
        <p:spPr>
          <a:xfrm>
            <a:off x="6233007"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passes yours, fails the colleague's</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the tree</a:t>
            </a:r>
          </a:p>
        </p:txBody>
      </p:sp>
      <p:sp>
        <p:nvSpPr>
          <p:cNvPr id="23" name="TextBox 22"/>
          <p:cNvSpPr txBox="1"/>
          <p:nvPr/>
        </p:nvSpPr>
        <p:spPr>
          <a:xfrm>
            <a:off x="9084335"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THREE BRANCHES</a:t>
            </a:r>
          </a:p>
        </p:txBody>
      </p:sp>
      <p:sp>
        <p:nvSpPr>
          <p:cNvPr id="24" name="TextBox 23"/>
          <p:cNvSpPr txBox="1"/>
          <p:nvPr/>
        </p:nvSpPr>
        <p:spPr>
          <a:xfrm>
            <a:off x="9084335"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multiply back to revenue's change</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our numbers go wrong?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wrong numbers did the room produce, which step made each, and which check catches it?</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six wrong numbers, six steps that made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step made each wrong number, and which check catches it?</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234609"/>
                <a:gridCol w="3815186"/>
                <a:gridCol w="3081195"/>
              </a:tblGrid>
              <a:tr h="369824">
                <a:tc>
                  <a:txBody>
                    <a:bodyPr/>
                    <a:lstStyle/>
                    <a:p>
                      <a:r>
                        <a:rPr sz="1450" b="1" i="0">
                          <a:solidFill>
                            <a:srgbClr val="FFFFFF"/>
                          </a:solidFill>
                          <a:latin typeface="Calibri"/>
                        </a:rPr>
                        <a:t>The number on the screen</a:t>
                      </a:r>
                    </a:p>
                  </a:txBody>
                  <a:tcPr marL="101600" marR="101600" marT="38100" marB="38100" anchor="ctr">
                    <a:solidFill>
                      <a:srgbClr val="1A0F5C"/>
                    </a:solidFill>
                  </a:tcPr>
                </a:tc>
                <a:tc>
                  <a:txBody>
                    <a:bodyPr/>
                    <a:lstStyle/>
                    <a:p>
                      <a:r>
                        <a:rPr sz="1450" b="1" i="0">
                          <a:solidFill>
                            <a:srgbClr val="FFFFFF"/>
                          </a:solidFill>
                          <a:latin typeface="Calibri"/>
                        </a:rPr>
                        <a:t>The step that made it</a:t>
                      </a:r>
                    </a:p>
                  </a:txBody>
                  <a:tcPr marL="101600" marR="101600" marT="38100" marB="38100" anchor="ctr">
                    <a:solidFill>
                      <a:srgbClr val="1A0F5C"/>
                    </a:solidFill>
                  </a:tcPr>
                </a:tc>
                <a:tc>
                  <a:txBody>
                    <a:bodyPr/>
                    <a:lstStyle/>
                    <a:p>
                      <a:r>
                        <a:rPr sz="1450" b="1" i="0">
                          <a:solidFill>
                            <a:srgbClr val="FFFFFF"/>
                          </a:solidFill>
                          <a:latin typeface="Calibri"/>
                        </a:rPr>
                        <a:t>The check</a:t>
                      </a:r>
                    </a:p>
                  </a:txBody>
                  <a:tcPr marL="101600" marR="101600" marT="38100" marB="38100" anchor="ctr">
                    <a:solidFill>
                      <a:srgbClr val="1A0F5C"/>
                    </a:solidFill>
                  </a:tcPr>
                </a:tc>
              </a:tr>
              <a:tr h="369824">
                <a:tc>
                  <a:txBody>
                    <a:bodyPr/>
                    <a:lstStyle/>
                    <a:p>
                      <a:r>
                        <a:rPr sz="1400" b="0" i="0">
                          <a:solidFill>
                            <a:srgbClr val="1A1440"/>
                          </a:solidFill>
                          <a:latin typeface="Calibri"/>
                        </a:rPr>
                        <a:t>Largest Q2 order Rs 970</a:t>
                      </a:r>
                    </a:p>
                  </a:txBody>
                  <a:tcPr marL="101600" marR="101600" marT="38100" marB="38100" anchor="ctr">
                    <a:solidFill>
                      <a:srgbClr val="FFFFFF"/>
                    </a:solidFill>
                  </a:tcPr>
                </a:tc>
                <a:tc>
                  <a:txBody>
                    <a:bodyPr/>
                    <a:lstStyle/>
                    <a:p>
                      <a:r>
                        <a:rPr sz="1400" b="0" i="0">
                          <a:solidFill>
                            <a:srgbClr val="1A1440"/>
                          </a:solidFill>
                          <a:latin typeface="Calibri"/>
                        </a:rPr>
                        <a:t>Sorting amounts as text</a:t>
                      </a:r>
                    </a:p>
                  </a:txBody>
                  <a:tcPr marL="101600" marR="101600" marT="38100" marB="38100" anchor="ctr">
                    <a:solidFill>
                      <a:srgbClr val="FFFFFF"/>
                    </a:solidFill>
                  </a:tcPr>
                </a:tc>
                <a:tc>
                  <a:txBody>
                    <a:bodyPr/>
                    <a:lstStyle/>
                    <a:p>
                      <a:r>
                        <a:rPr sz="1400" b="0" i="0">
                          <a:solidFill>
                            <a:srgbClr val="1A1440"/>
                          </a:solidFill>
                          <a:latin typeface="Calibri"/>
                        </a:rPr>
                        <a:t>Below every Business order</a:t>
                      </a:r>
                    </a:p>
                  </a:txBody>
                  <a:tcPr marL="101600" marR="101600" marT="38100" marB="38100" anchor="ctr">
                    <a:solidFill>
                      <a:srgbClr val="FFFFFF"/>
                    </a:solidFill>
                  </a:tcPr>
                </a:tc>
              </a:tr>
              <a:tr h="369824">
                <a:tc>
                  <a:txBody>
                    <a:bodyPr/>
                    <a:lstStyle/>
                    <a:p>
                      <a:r>
                        <a:rPr sz="1400" b="0" i="0">
                          <a:solidFill>
                            <a:srgbClr val="1A1440"/>
                          </a:solidFill>
                          <a:latin typeface="Calibri"/>
                        </a:rPr>
                        <a:t>0 duplicates</a:t>
                      </a:r>
                    </a:p>
                  </a:txBody>
                  <a:tcPr marL="101600" marR="101600" marT="38100" marB="38100" anchor="ctr">
                    <a:solidFill>
                      <a:srgbClr val="F4F2FA"/>
                    </a:solidFill>
                  </a:tcPr>
                </a:tc>
                <a:tc>
                  <a:txBody>
                    <a:bodyPr/>
                    <a:lstStyle/>
                    <a:p>
                      <a:r>
                        <a:rPr sz="1400" b="0" i="0">
                          <a:solidFill>
                            <a:srgbClr val="1A1440"/>
                          </a:solidFill>
                          <a:latin typeface="Calibri"/>
                        </a:rPr>
                        <a:t>The line in the whole-record key</a:t>
                      </a:r>
                    </a:p>
                  </a:txBody>
                  <a:tcPr marL="101600" marR="101600" marT="38100" marB="38100" anchor="ctr">
                    <a:solidFill>
                      <a:srgbClr val="F4F2FA"/>
                    </a:solidFill>
                  </a:tcPr>
                </a:tc>
                <a:tc>
                  <a:txBody>
                    <a:bodyPr/>
                    <a:lstStyle/>
                    <a:p>
                      <a:r>
                        <a:rPr sz="1400" b="0" i="0">
                          <a:solidFill>
                            <a:srgbClr val="1A1440"/>
                          </a:solidFill>
                          <a:latin typeface="Calibri"/>
                        </a:rPr>
                        <a:t>201 rows, 186 ids</a:t>
                      </a:r>
                    </a:p>
                  </a:txBody>
                  <a:tcPr marL="101600" marR="101600" marT="38100" marB="38100" anchor="ctr">
                    <a:solidFill>
                      <a:srgbClr val="F4F2FA"/>
                    </a:solidFill>
                  </a:tcPr>
                </a:tc>
              </a:tr>
              <a:tr h="369824">
                <a:tc>
                  <a:txBody>
                    <a:bodyPr/>
                    <a:lstStyle/>
                    <a:p>
                      <a:r>
                        <a:rPr sz="1400" b="0" i="0">
                          <a:solidFill>
                            <a:srgbClr val="1A1440"/>
                          </a:solidFill>
                          <a:latin typeface="Calibri"/>
                        </a:rPr>
                        <a:t>188 orders, Q2 Rs 1,87,03,710</a:t>
                      </a:r>
                    </a:p>
                  </a:txBody>
                  <a:tcPr marL="101600" marR="101600" marT="38100" marB="38100" anchor="ctr">
                    <a:solidFill>
                      <a:srgbClr val="FFFFFF"/>
                    </a:solidFill>
                  </a:tcPr>
                </a:tc>
                <a:tc>
                  <a:txBody>
                    <a:bodyPr/>
                    <a:lstStyle/>
                    <a:p>
                      <a:r>
                        <a:rPr sz="1400" b="0" i="0">
                          <a:solidFill>
                            <a:srgbClr val="1A1440"/>
                          </a:solidFill>
                          <a:latin typeface="Calibri"/>
                        </a:rPr>
                        <a:t>Record less line; Q1 tied, so stop</a:t>
                      </a:r>
                    </a:p>
                  </a:txBody>
                  <a:tcPr marL="101600" marR="101600" marT="38100" marB="38100" anchor="ctr">
                    <a:solidFill>
                      <a:srgbClr val="FFFFFF"/>
                    </a:solidFill>
                  </a:tcPr>
                </a:tc>
                <a:tc>
                  <a:txBody>
                    <a:bodyPr/>
                    <a:lstStyle/>
                    <a:p>
                      <a:r>
                        <a:rPr sz="1400" b="0" i="0">
                          <a:solidFill>
                            <a:srgbClr val="1A1440"/>
                          </a:solidFill>
                          <a:latin typeface="Calibri"/>
                        </a:rPr>
                        <a:t>Rows against ids</a:t>
                      </a:r>
                    </a:p>
                  </a:txBody>
                  <a:tcPr marL="101600" marR="101600" marT="38100" marB="38100" anchor="ctr">
                    <a:solidFill>
                      <a:srgbClr val="FFFFFF"/>
                    </a:solidFill>
                  </a:tcPr>
                </a:tc>
              </a:tr>
              <a:tr h="369824">
                <a:tc>
                  <a:txBody>
                    <a:bodyPr/>
                    <a:lstStyle/>
                    <a:p>
                      <a:r>
                        <a:rPr sz="1400" b="0" i="0">
                          <a:solidFill>
                            <a:srgbClr val="1A1440"/>
                          </a:solidFill>
                          <a:latin typeface="Calibri"/>
                        </a:rPr>
                        <a:t>201 of 201 convert</a:t>
                      </a:r>
                    </a:p>
                  </a:txBody>
                  <a:tcPr marL="101600" marR="101600" marT="38100" marB="38100" anchor="ctr">
                    <a:solidFill>
                      <a:srgbClr val="F4F2FA"/>
                    </a:solidFill>
                  </a:tcPr>
                </a:tc>
                <a:tc>
                  <a:txBody>
                    <a:bodyPr/>
                    <a:lstStyle/>
                    <a:p>
                      <a:r>
                        <a:rPr sz="1400" b="0" i="0">
                          <a:solidFill>
                            <a:srgbClr val="1A1440"/>
                          </a:solidFill>
                          <a:latin typeface="Calibri"/>
                        </a:rPr>
                        <a:t>Failures coerced to zero</a:t>
                      </a:r>
                    </a:p>
                  </a:txBody>
                  <a:tcPr marL="101600" marR="101600" marT="38100" marB="38100" anchor="ctr">
                    <a:solidFill>
                      <a:srgbClr val="F4F2FA"/>
                    </a:solidFill>
                  </a:tcPr>
                </a:tc>
                <a:tc>
                  <a:txBody>
                    <a:bodyPr/>
                    <a:lstStyle/>
                    <a:p>
                      <a:r>
                        <a:rPr sz="1400" b="0" i="0">
                          <a:solidFill>
                            <a:srgbClr val="1A1440"/>
                          </a:solidFill>
                          <a:latin typeface="Calibri"/>
                        </a:rPr>
                        <a:t>An order worth Rs 0</a:t>
                      </a:r>
                    </a:p>
                  </a:txBody>
                  <a:tcPr marL="101600" marR="101600" marT="38100" marB="38100" anchor="ctr">
                    <a:solidFill>
                      <a:srgbClr val="F4F2FA"/>
                    </a:solidFill>
                  </a:tcPr>
                </a:tc>
              </a:tr>
              <a:tr h="369824">
                <a:tc>
                  <a:txBody>
                    <a:bodyPr/>
                    <a:lstStyle/>
                    <a:p>
                      <a:r>
                        <a:rPr sz="1400" b="0" i="0">
                          <a:solidFill>
                            <a:srgbClr val="1A1440"/>
                          </a:solidFill>
                          <a:latin typeface="Calibri"/>
                        </a:rPr>
                        <a:t>Q2 Rs 1,57,54,540, -17.1%</a:t>
                      </a:r>
                    </a:p>
                  </a:txBody>
                  <a:tcPr marL="101600" marR="101600" marT="38100" marB="38100" anchor="ctr">
                    <a:solidFill>
                      <a:srgbClr val="FFFFFF"/>
                    </a:solidFill>
                  </a:tcPr>
                </a:tc>
                <a:tc>
                  <a:txBody>
                    <a:bodyPr/>
                    <a:lstStyle/>
                    <a:p>
                      <a:r>
                        <a:rPr sz="1400" b="0" i="0">
                          <a:solidFill>
                            <a:srgbClr val="1A1440"/>
                          </a:solidFill>
                          <a:latin typeface="Calibri"/>
                        </a:rPr>
                        <a:t>The bulk order fenced out</a:t>
                      </a:r>
                    </a:p>
                  </a:txBody>
                  <a:tcPr marL="101600" marR="101600" marT="38100" marB="38100" anchor="ctr">
                    <a:solidFill>
                      <a:srgbClr val="FFFFFF"/>
                    </a:solidFill>
                  </a:tcPr>
                </a:tc>
                <a:tc>
                  <a:txBody>
                    <a:bodyPr/>
                    <a:lstStyle/>
                    <a:p>
                      <a:r>
                        <a:rPr sz="1400" b="0" i="0">
                          <a:solidFill>
                            <a:srgbClr val="1A1440"/>
                          </a:solidFill>
                          <a:latin typeface="Calibri"/>
                        </a:rPr>
                        <a:t>A real Business account</a:t>
                      </a:r>
                    </a:p>
                  </a:txBody>
                  <a:tcPr marL="101600" marR="101600" marT="38100" marB="38100" anchor="ctr">
                    <a:solidFill>
                      <a:srgbClr val="FFFFFF"/>
                    </a:solidFill>
                  </a:tcPr>
                </a:tc>
              </a:tr>
              <a:tr h="369824">
                <a:tc>
                  <a:txBody>
                    <a:bodyPr/>
                    <a:lstStyle/>
                    <a:p>
                      <a:r>
                        <a:rPr sz="1400" b="0" i="0">
                          <a:solidFill>
                            <a:srgbClr val="1A1440"/>
                          </a:solidFill>
                          <a:latin typeface="Calibri"/>
                        </a:rPr>
                        <a:t>201 = 185 + 16, Rs 20,00,000 set aside</a:t>
                      </a:r>
                    </a:p>
                  </a:txBody>
                  <a:tcPr marL="101600" marR="101600" marT="38100" marB="38100" anchor="ctr">
                    <a:solidFill>
                      <a:srgbClr val="F4F2FA"/>
                    </a:solidFill>
                  </a:tcPr>
                </a:tc>
                <a:tc>
                  <a:txBody>
                    <a:bodyPr/>
                    <a:lstStyle/>
                    <a:p>
                      <a:r>
                        <a:rPr sz="1400" b="0" i="0">
                          <a:solidFill>
                            <a:srgbClr val="1A1440"/>
                          </a:solidFill>
                          <a:latin typeface="Calibri"/>
                        </a:rPr>
                        <a:t>Keep first, then convert</a:t>
                      </a:r>
                    </a:p>
                  </a:txBody>
                  <a:tcPr marL="101600" marR="101600" marT="38100" marB="38100" anchor="ctr">
                    <a:solidFill>
                      <a:srgbClr val="F4F2FA"/>
                    </a:solidFill>
                  </a:tcPr>
                </a:tc>
                <a:tc>
                  <a:txBody>
                    <a:bodyPr/>
                    <a:lstStyle/>
                    <a:p>
                      <a:r>
                        <a:rPr sz="1400" b="0" i="0">
                          <a:solidFill>
                            <a:srgbClr val="1A1440"/>
                          </a:solidFill>
                          <a:latin typeface="Calibri"/>
                        </a:rPr>
                        <a:t>Rs 1,790 short of the books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4" name="Oval 13"/>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Where did our numbers go wrong?</a:t>
            </a:r>
          </a:p>
        </p:txBody>
      </p:sp>
      <p:sp>
        <p:nvSpPr>
          <p:cNvPr id="16" name="Oval 1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8" name="Oval 1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0" name="Oval 1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that tie and a Q1 read as 1.9 hide Rs 1,790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number do most rooms miss?</a:t>
            </a:r>
          </a:p>
        </p:txBody>
      </p:sp>
      <p:pic>
        <p:nvPicPr>
          <p:cNvPr id="9" name="mermaid diagram" descr="28b1cd1bbca353e5.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631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77285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826192"/>
            <a:ext cx="9987991" cy="423672"/>
          </a:xfrm>
          <a:prstGeom prst="rect">
            <a:avLst/>
          </a:prstGeom>
          <a:noFill/>
        </p:spPr>
        <p:txBody>
          <a:bodyPr wrap="square" anchor="t" lIns="0" rIns="0" tIns="0" bIns="0">
            <a:spAutoFit/>
          </a:bodyPr>
          <a:lstStyle/>
          <a:p>
            <a:r>
              <a:rPr sz="1500" b="0" i="0">
                <a:solidFill>
                  <a:srgbClr val="1A1440"/>
                </a:solidFill>
                <a:latin typeface="Calibri"/>
              </a:rPr>
              <a:t>Compare to the rupee, then round for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9" name="Oval 18"/>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Where did our numbers go wrong?</a:t>
            </a:r>
          </a:p>
        </p:txBody>
      </p:sp>
      <p:sp>
        <p:nvSpPr>
          <p:cNvPr id="21" name="Oval 20"/>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3" name="Oval 22"/>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5" name="Oval 24"/>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were 14 rows set aside?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auditor asks why 14 Q1 rows were dropped: can you answer her from the log, one question at a time?</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from the log, one question at a time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auditor ask, and in what order?</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"Your log says 14 Q1 rows were dropped. Why those 14, and how do I know nothing else went?"</a:t>
            </a:r>
          </a:p>
          <a:p>
            <a:pPr>
              <a:spcBef>
                <a:spcPts val="400"/>
              </a:spcBef>
            </a:pPr>
            <a:r>
              <a:rPr sz="1000" b="0" i="0">
                <a:solidFill>
                  <a:srgbClr val="6B6690"/>
                </a:solidFill>
                <a:latin typeface="Calibri"/>
              </a:rPr>
              <a:t>The internal auditor, Kalpa Retail finance</a:t>
            </a:r>
          </a:p>
        </p:txBody>
      </p:sp>
      <p:pic>
        <p:nvPicPr>
          <p:cNvPr id="11" name="mermaid diagram" descr="c0e7475c34b5802a.png"/>
          <p:cNvPicPr>
            <a:picLocks noChangeAspect="1"/>
          </p:cNvPicPr>
          <p:nvPr/>
        </p:nvPicPr>
        <p:blipFill>
          <a:blip r:embed="rId5"/>
          <a:stretch>
            <a:fillRect/>
          </a:stretch>
        </p:blipFill>
        <p:spPr>
          <a:xfrm>
            <a:off x="530352" y="2844800"/>
            <a:ext cx="11130991" cy="1129748"/>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4" name="Oval 1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6" name="Oval 1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8" name="Oval 17"/>
          <p:cNvSpPr/>
          <p:nvPr/>
        </p:nvSpPr>
        <p:spPr>
          <a:xfrm>
            <a:off x="58212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3102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Why were 14 rows set aside?</a:t>
            </a:r>
          </a:p>
        </p:txBody>
      </p:sp>
      <p:sp>
        <p:nvSpPr>
          <p:cNvPr id="20" name="Oval 19"/>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2" name="Oval 21"/>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statement does the auditor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statement does the evidence support?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14 Q1 rows were deleted as errors after the migration was checked; b) the dashboard was right all along, and the books are short; c) 14 Q1 rows are copies of kept orders, set aside; both totals tie; d) the 14 rows were outliers removed to keep Q1 in line with Q2.</a:t>
            </a:r>
          </a:p>
        </p:txBody>
      </p:sp>
      <p:pic>
        <p:nvPicPr>
          <p:cNvPr id="12" name="mermaid diagram" descr="928d3dabd505d200.png"/>
          <p:cNvPicPr>
            <a:picLocks noChangeAspect="1"/>
          </p:cNvPicPr>
          <p:nvPr/>
        </p:nvPicPr>
        <p:blipFill>
          <a:blip r:embed="rId5"/>
          <a:stretch>
            <a:fillRect/>
          </a:stretch>
        </p:blipFill>
        <p:spPr>
          <a:xfrm>
            <a:off x="3424085" y="3195828"/>
            <a:ext cx="5343525" cy="2586037"/>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7" name="Oval 1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9" name="Oval 18"/>
          <p:cNvSpPr/>
          <p:nvPr/>
        </p:nvSpPr>
        <p:spPr>
          <a:xfrm>
            <a:off x="58212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3102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Why were 14 rows set aside?</a:t>
            </a:r>
          </a:p>
        </p:txBody>
      </p:sp>
      <p:sp>
        <p:nvSpPr>
          <p:cNvPr id="21" name="Oval 2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3" name="Oval 2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copies set aside, and both totals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statement does the evidence support?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SET-ASIDE RUPEES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98% in two corporate rows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"Dropped" is the auditor's word; "set aside with a reason" is yours.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answer in 90 seconds?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each of the day's 12 interview questions in under ninety seconds, with the rule, today's number and the check?</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row's five first: rule, number,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questions does every analytics screen ask of someone who has cleaned a file?</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handle missing data?</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Finance and your dashboard disagree;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duplicates, and what makes two records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Everything read from a CSV is a string; what breaks and where do you convert?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 auditor asks why you dropped 14 rows; walk them through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6" name="Oval 1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8" name="Oval 17"/>
          <p:cNvSpPr/>
          <p:nvPr/>
        </p:nvSpPr>
        <p:spPr>
          <a:xfrm>
            <a:off x="753894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4867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Can you answer in 90 seconds?</a:t>
            </a:r>
          </a:p>
        </p:txBody>
      </p:sp>
      <p:sp>
        <p:nvSpPr>
          <p:cNvPr id="20" name="Oval 1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five of them design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push a candidate past the first answer?</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row counts reconcile. Are you done?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The largest order is 1.66 times the next. Do you remove it?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2 crore rows. Profile everything, or sample?</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Design: order id, whole record or fuzzy, for customers from two apps?</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two copies disagree. First, last, or the copy that validates?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Design: coerce, reject or repair a malformed amount?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prove a figure with a bridge, or rebuild it from a second source?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6" name="Oval 1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8" name="Oval 17"/>
          <p:cNvSpPr/>
          <p:nvPr/>
        </p:nvSpPr>
        <p:spPr>
          <a:xfrm>
            <a:off x="753894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4867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Can you answer in 90 seconds?</a:t>
            </a:r>
          </a:p>
        </p:txBody>
      </p:sp>
      <p:sp>
        <p:nvSpPr>
          <p:cNvPr id="20" name="Oval 1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Anand?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Q1 figure is right, the dashboard's Rs 2.1 crore or the books' Rs 1.9 crore, and how do we know?</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1.9 is right, proved in rows and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Q1 figure is right, and how do we know?</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"Your 1.9 crore is right: the export counted fifteen orders twice, and the bridge from 2.1 closes to your books in rows and in rupees. On clean data the drop is 1.6 percent and the Retail-Plus fall is 35 percent, smaller than we reported."</a:t>
            </a:r>
          </a:p>
          <a:p>
            <a:pPr>
              <a:spcBef>
                <a:spcPts val="400"/>
              </a:spcBef>
            </a:pPr>
            <a:r>
              <a:rPr sz="1000" b="0" i="0">
                <a:solidFill>
                  <a:srgbClr val="6B6690"/>
                </a:solidFill>
                <a:latin typeface="Calibri"/>
              </a:rPr>
              <a:t>The GCC data and AI team</a:t>
            </a:r>
          </a:p>
        </p:txBody>
      </p:sp>
      <p:pic>
        <p:nvPicPr>
          <p:cNvPr id="11" name="mermaid diagram" descr="65a47bb5060cb393.png"/>
          <p:cNvPicPr>
            <a:picLocks noChangeAspect="1"/>
          </p:cNvPicPr>
          <p:nvPr/>
        </p:nvPicPr>
        <p:blipFill>
          <a:blip r:embed="rId5"/>
          <a:stretch>
            <a:fillRect/>
          </a:stretch>
        </p:blipFill>
        <p:spPr>
          <a:xfrm>
            <a:off x="2152497" y="3413760"/>
            <a:ext cx="7886700" cy="11001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4" name="Oval 1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6" name="Oval 1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8" name="Oval 17"/>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0" name="Oval 19"/>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2" name="Oval 21"/>
          <p:cNvSpPr/>
          <p:nvPr/>
        </p:nvSpPr>
        <p:spPr>
          <a:xfrm>
            <a:off x="93485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5832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one per chapter,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you keep from each chapter?</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Profile before you total: present, convertible, distinct, for every field.</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Say what makes two rows one order before you count duplicates.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Keep the copy that validates, and log every row you set aside.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A failure is logged, never turned into a number; large is not wrong.</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Reconcile twice, in rows and in rupees, to the books.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Recompute what you reported, and say what changed, the smaller number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6" name="Oval 1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8" name="Oval 1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0" name="Oval 19"/>
          <p:cNvSpPr/>
          <p:nvPr/>
        </p:nvSpPr>
        <p:spPr>
          <a:xfrm>
            <a:off x="93485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5832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asks whether -35.0 percent is real or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Retail-Plus fall survived cleaning: is it real, or the wobble every quarter shows?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"Retail-Plus is down, smaller than first reported. Real, or the wobble we see every quarter?" Meera Raghavan, CEO, Kalpa Retail</a:t>
            </a:r>
          </a:p>
        </p:txBody>
      </p:sp>
      <p:pic>
        <p:nvPicPr>
          <p:cNvPr id="14" name="mermaid diagram" descr="ca5d5c77445b5892.png"/>
          <p:cNvPicPr>
            <a:picLocks noChangeAspect="1"/>
          </p:cNvPicPr>
          <p:nvPr/>
        </p:nvPicPr>
        <p:blipFill>
          <a:blip r:embed="rId6"/>
          <a:stretch>
            <a:fillRect/>
          </a:stretch>
        </p:blipFill>
        <p:spPr>
          <a:xfrm>
            <a:off x="3424085" y="3243072"/>
            <a:ext cx="5343525" cy="25860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9" name="Oval 1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1" name="Oval 20"/>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3" name="Oval 22"/>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5" name="Oval 24"/>
          <p:cNvSpPr/>
          <p:nvPr/>
        </p:nvSpPr>
        <p:spPr>
          <a:xfrm>
            <a:off x="93485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5832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two checks run wherever money moves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else do rows and money get reconciled?</a:t>
            </a:r>
          </a:p>
        </p:txBody>
      </p:sp>
      <p:graphicFrame>
        <p:nvGraphicFramePr>
          <p:cNvPr id="10" name="Table 9"/>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571642"/>
                <a:gridCol w="3021280"/>
                <a:gridCol w="3538067"/>
              </a:tblGrid>
              <a:tr h="369824">
                <a:tc>
                  <a:txBody>
                    <a:bodyPr/>
                    <a:lstStyle/>
                    <a:p>
                      <a:r>
                        <a:rPr sz="1450" b="1" i="0">
                          <a:solidFill>
                            <a:srgbClr val="FFFFFF"/>
                          </a:solidFill>
                          <a:latin typeface="Calibri"/>
                        </a:rPr>
                        <a:t>Where</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Money</a:t>
                      </a:r>
                    </a:p>
                  </a:txBody>
                  <a:tcPr marL="101600" marR="101600" marT="38100" marB="38100" anchor="ctr">
                    <a:solidFill>
                      <a:srgbClr val="1A0F5C"/>
                    </a:solidFill>
                  </a:tcPr>
                </a:tc>
              </a:tr>
              <a:tr h="369824">
                <a:tc>
                  <a:txBody>
                    <a:bodyPr/>
                    <a:lstStyle/>
                    <a:p>
                      <a:r>
                        <a:rPr sz="1400" b="0" i="0">
                          <a:solidFill>
                            <a:srgbClr val="1A1440"/>
                          </a:solidFill>
                          <a:latin typeface="Calibri"/>
                        </a:rPr>
                        <a:t>Bank statement against the ledger</a:t>
                      </a:r>
                    </a:p>
                  </a:txBody>
                  <a:tcPr marL="101600" marR="101600" marT="38100" marB="38100" anchor="ctr">
                    <a:solidFill>
                      <a:srgbClr val="FFFFFF"/>
                    </a:solidFill>
                  </a:tcPr>
                </a:tc>
                <a:tc>
                  <a:txBody>
                    <a:bodyPr/>
                    <a:lstStyle/>
                    <a:p>
                      <a:r>
                        <a:rPr sz="1400" b="0" i="0">
                          <a:solidFill>
                            <a:srgbClr val="1A1440"/>
                          </a:solidFill>
                          <a:latin typeface="Calibri"/>
                        </a:rPr>
                        <a:t>Transactions matched</a:t>
                      </a:r>
                    </a:p>
                  </a:txBody>
                  <a:tcPr marL="101600" marR="101600" marT="38100" marB="38100" anchor="ctr">
                    <a:solidFill>
                      <a:srgbClr val="FFFFFF"/>
                    </a:solidFill>
                  </a:tcPr>
                </a:tc>
                <a:tc>
                  <a:txBody>
                    <a:bodyPr/>
                    <a:lstStyle/>
                    <a:p>
                      <a:r>
                        <a:rPr sz="1400" b="0" i="0">
                          <a:solidFill>
                            <a:srgbClr val="1A1440"/>
                          </a:solidFill>
                          <a:latin typeface="Calibri"/>
                        </a:rPr>
                        <a:t>Balance to the paisa</a:t>
                      </a:r>
                    </a:p>
                  </a:txBody>
                  <a:tcPr marL="101600" marR="101600" marT="38100" marB="38100" anchor="ctr">
                    <a:solidFill>
                      <a:srgbClr val="FFFFFF"/>
                    </a:solidFill>
                  </a:tcPr>
                </a:tc>
              </a:tr>
              <a:tr h="369824">
                <a:tc>
                  <a:txBody>
                    <a:bodyPr/>
                    <a:lstStyle/>
                    <a:p>
                      <a:r>
                        <a:rPr sz="1400" b="0" i="0">
                          <a:solidFill>
                            <a:srgbClr val="1A1440"/>
                          </a:solidFill>
                          <a:latin typeface="Calibri"/>
                        </a:rPr>
                        <a:t>Payment gateway against orders</a:t>
                      </a:r>
                    </a:p>
                  </a:txBody>
                  <a:tcPr marL="101600" marR="101600" marT="38100" marB="38100" anchor="ctr">
                    <a:solidFill>
                      <a:srgbClr val="F4F2FA"/>
                    </a:solidFill>
                  </a:tcPr>
                </a:tc>
                <a:tc>
                  <a:txBody>
                    <a:bodyPr/>
                    <a:lstStyle/>
                    <a:p>
                      <a:r>
                        <a:rPr sz="1400" b="0" i="0">
                          <a:solidFill>
                            <a:srgbClr val="1A1440"/>
                          </a:solidFill>
                          <a:latin typeface="Calibri"/>
                        </a:rPr>
                        <a:t>Settlements per order</a:t>
                      </a:r>
                    </a:p>
                  </a:txBody>
                  <a:tcPr marL="101600" marR="101600" marT="38100" marB="38100" anchor="ctr">
                    <a:solidFill>
                      <a:srgbClr val="F4F2FA"/>
                    </a:solidFill>
                  </a:tcPr>
                </a:tc>
                <a:tc>
                  <a:txBody>
                    <a:bodyPr/>
                    <a:lstStyle/>
                    <a:p>
                      <a:r>
                        <a:rPr sz="1400" b="0" i="0">
                          <a:solidFill>
                            <a:srgbClr val="1A1440"/>
                          </a:solidFill>
                          <a:latin typeface="Calibri"/>
                        </a:rPr>
                        <a:t>Collected against booked</a:t>
                      </a:r>
                    </a:p>
                  </a:txBody>
                  <a:tcPr marL="101600" marR="101600" marT="38100" marB="38100" anchor="ctr">
                    <a:solidFill>
                      <a:srgbClr val="F4F2FA"/>
                    </a:solidFill>
                  </a:tcPr>
                </a:tc>
              </a:tr>
              <a:tr h="369824">
                <a:tc>
                  <a:txBody>
                    <a:bodyPr/>
                    <a:lstStyle/>
                    <a:p>
                      <a:r>
                        <a:rPr sz="1400" b="0" i="0">
                          <a:solidFill>
                            <a:srgbClr val="1A1440"/>
                          </a:solidFill>
                          <a:latin typeface="Calibri"/>
                        </a:rPr>
                        <a:t>Warehouse load against the source</a:t>
                      </a:r>
                    </a:p>
                  </a:txBody>
                  <a:tcPr marL="101600" marR="101600" marT="38100" marB="38100" anchor="ctr">
                    <a:solidFill>
                      <a:srgbClr val="FFFFFF"/>
                    </a:solidFill>
                  </a:tcPr>
                </a:tc>
                <a:tc>
                  <a:txBody>
                    <a:bodyPr/>
                    <a:lstStyle/>
                    <a:p>
                      <a:r>
                        <a:rPr sz="1400" b="0" i="0">
                          <a:solidFill>
                            <a:srgbClr val="1A1440"/>
                          </a:solidFill>
                          <a:latin typeface="Calibri"/>
                        </a:rPr>
                        <a:t>Row counts per table</a:t>
                      </a:r>
                    </a:p>
                  </a:txBody>
                  <a:tcPr marL="101600" marR="101600" marT="38100" marB="38100" anchor="ctr">
                    <a:solidFill>
                      <a:srgbClr val="FFFFFF"/>
                    </a:solidFill>
                  </a:tcPr>
                </a:tc>
                <a:tc>
                  <a:txBody>
                    <a:bodyPr/>
                    <a:lstStyle/>
                    <a:p>
                      <a:r>
                        <a:rPr sz="1400" b="0" i="0">
                          <a:solidFill>
                            <a:srgbClr val="1A1440"/>
                          </a:solidFill>
                          <a:latin typeface="Calibri"/>
                        </a:rPr>
                        <a:t>Control totals per column</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7" name="Oval 16"/>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9" name="Oval 18"/>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1" name="Oval 20"/>
          <p:cNvSpPr/>
          <p:nvPr/>
        </p:nvSpPr>
        <p:spPr>
          <a:xfrm>
            <a:off x="93485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45832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