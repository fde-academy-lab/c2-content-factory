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a:t>
            </a:r>
          </a:p>
          <a:p>
            <a:r>
              <a:t>Name no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24 lines: 15 set-aside rows, 2 flags (the status and the bulk order),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Nine notebook letters, ten brief letters, then the note in under 120 words. Watch</a:t>
            </a:r>
          </a:p>
          <a:p>
            <a:r>
              <a:t>for rows totalled before profiling, a first-copy rule, a rupee test that rounds, and a tree whose</a:t>
            </a:r>
          </a:p>
          <a:p>
            <a:r>
              <a:t>customers are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Each check recomputes its step another way, so the numbers are</a:t>
            </a:r>
          </a:p>
          <a:p>
            <a:r>
              <a:t>the learner's to reach. A Q1 Rs 1,790 short kept the wrong copy; a Q2 Rs 29,45,460 light removed</a:t>
            </a:r>
          </a:p>
          <a:p>
            <a:r>
              <a:t>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a:p>
            <a:r>
              <a:t>The row's five and these seven are the day's twelve, the same twelve the study notes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Each trade runs the same two checks: rows prove nothing vanished, and money</a:t>
            </a:r>
          </a:p>
          <a:p>
            <a:r>
              <a:t>proves the right rows stayed.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1500baff43202ee1.png"/>
          <p:cNvPicPr>
            <a:picLocks noChangeAspect="1"/>
          </p:cNvPicPr>
          <p:nvPr/>
        </p:nvPicPr>
        <p:blipFill>
          <a:blip r:embed="rId5"/>
          <a:stretch>
            <a:fillRect/>
          </a:stretch>
        </p:blipFill>
        <p:spPr>
          <a:xfrm>
            <a:off x="2366810" y="1956816"/>
            <a:ext cx="7458075" cy="2971800"/>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c5cec98e78a672d3.png"/>
          <p:cNvPicPr>
            <a:picLocks noChangeAspect="1"/>
          </p:cNvPicPr>
          <p:nvPr/>
        </p:nvPicPr>
        <p:blipFill>
          <a:blip r:embed="rId5"/>
          <a:stretch>
            <a:fillRect/>
          </a:stretch>
        </p:blipFill>
        <p:spPr>
          <a:xfrm>
            <a:off x="3702691" y="1956816"/>
            <a:ext cx="4786312"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58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 crore</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note rounds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404dcb4c97e4ddd9.png"/>
          <p:cNvPicPr>
            <a:picLocks noChangeAspect="1"/>
          </p:cNvPicPr>
          <p:nvPr/>
        </p:nvPicPr>
        <p:blipFill>
          <a:blip r:embed="rId5"/>
          <a:stretch>
            <a:fillRect/>
          </a:stretch>
        </p:blipFill>
        <p:spPr>
          <a:xfrm>
            <a:off x="2316803" y="1956816"/>
            <a:ext cx="7558087" cy="1543050"/>
          </a:xfrm>
          <a:prstGeom prst="rect">
            <a:avLst/>
          </a:prstGeom>
        </p:spPr>
      </p:pic>
      <p:sp>
        <p:nvSpPr>
          <p:cNvPr id="10" name="Rounded Rectangle 9"/>
          <p:cNvSpPr/>
          <p:nvPr/>
        </p:nvSpPr>
        <p:spPr>
          <a:xfrm>
            <a:off x="530352" y="36461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7418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650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first, then conversion;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unreadable copy sits in the set-aside log with its twin named, so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d6e137f0dc9d5238.png"/>
          <p:cNvPicPr>
            <a:picLocks noChangeAspect="1"/>
          </p:cNvPicPr>
          <p:nvPr/>
        </p:nvPicPr>
        <p:blipFill>
          <a:blip r:embed="rId5"/>
          <a:stretch>
            <a:fillRect/>
          </a:stretch>
        </p:blipFill>
        <p:spPr>
          <a:xfrm>
            <a:off x="1402403" y="1956816"/>
            <a:ext cx="9386887"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against orders, and the amount that will not convert.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identity rule, built</a:t>
            </a:r>
          </a:p>
        </p:txBody>
      </p:sp>
      <p:sp>
        <p:nvSpPr>
          <p:cNvPr id="19" name="TextBox 18"/>
          <p:cNvSpPr txBox="1"/>
          <p:nvPr/>
        </p:nvSpPr>
        <p:spPr>
          <a:xfrm>
            <a:off x="2957718" y="3492500"/>
            <a:ext cx="1750710" cy="696976"/>
          </a:xfrm>
          <a:prstGeom prst="rect">
            <a:avLst/>
          </a:prstGeom>
          <a:noFill/>
        </p:spPr>
        <p:txBody>
          <a:bodyPr wrap="square" anchor="t" lIns="0" rIns="0" tIns="0" bIns="0">
            <a:spAutoFit/>
          </a:bodyPr>
          <a:lstStyle/>
          <a:p>
            <a:pPr algn="l"/>
            <a:r>
              <a:rPr sz="1000" b="0" i="0">
                <a:solidFill>
                  <a:srgbClr val="6B6690"/>
                </a:solidFill>
                <a:latin typeface="Calibri"/>
              </a:rPr>
              <a:t>Yours this time: the key, and when a later copy takes the place of the kept one.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and decide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rejects log, then the missing status and the largest order.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and rupees, a rupee test that fails the colleague's pass, the bridge.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tree and the note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Monday's tree on the clean file, Tuesday's segment, the note.</a:t>
            </a:r>
          </a:p>
        </p:txBody>
      </p:sp>
      <p:sp>
        <p:nvSpPr>
          <p:cNvPr id="35" name="Rounded Rectangle 34"/>
          <p:cNvSpPr/>
          <p:nvPr/>
        </p:nvSpPr>
        <p:spPr>
          <a:xfrm>
            <a:off x="530352" y="444906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781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891024"/>
            <a:ext cx="237744" cy="237744"/>
          </a:xfrm>
          <a:prstGeom prst="rect">
            <a:avLst/>
          </a:prstGeom>
        </p:spPr>
      </p:pic>
      <p:sp>
        <p:nvSpPr>
          <p:cNvPr id="38" name="TextBox 37"/>
          <p:cNvSpPr txBox="1"/>
          <p:nvPr/>
        </p:nvSpPr>
        <p:spPr>
          <a:xfrm>
            <a:off x="1399031" y="459536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81482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rows</a:t>
            </a:r>
          </a:p>
        </p:txBody>
      </p:sp>
      <p:sp>
        <p:nvSpPr>
          <p:cNvPr id="11" name="TextBox 10"/>
          <p:cNvSpPr txBox="1"/>
          <p:nvPr/>
        </p:nvSpPr>
        <p:spPr>
          <a:xfrm>
            <a:off x="530352"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KEPT PLUS SET ASIDE</a:t>
            </a:r>
          </a:p>
        </p:txBody>
      </p:sp>
      <p:sp>
        <p:nvSpPr>
          <p:cNvPr id="12" name="TextBox 11"/>
          <p:cNvSpPr txBox="1"/>
          <p:nvPr/>
        </p:nvSpPr>
        <p:spPr>
          <a:xfrm>
            <a:off x="530352"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the rows the ERP sent</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Q1</a:t>
            </a:r>
          </a:p>
        </p:txBody>
      </p:sp>
      <p:sp>
        <p:nvSpPr>
          <p:cNvPr id="15" name="TextBox 14"/>
          <p:cNvSpPr txBox="1"/>
          <p:nvPr/>
        </p:nvSpPr>
        <p:spPr>
          <a:xfrm>
            <a:off x="3381679"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 THE RUPEE</a:t>
            </a:r>
          </a:p>
        </p:txBody>
      </p:sp>
      <p:sp>
        <p:nvSpPr>
          <p:cNvPr id="16" name="TextBox 15"/>
          <p:cNvSpPr txBox="1"/>
          <p:nvPr/>
        </p:nvSpPr>
        <p:spPr>
          <a:xfrm>
            <a:off x="3381679"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to the books after the rule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test</a:t>
            </a:r>
          </a:p>
        </p:txBody>
      </p:sp>
      <p:sp>
        <p:nvSpPr>
          <p:cNvPr id="19" name="TextBox 18"/>
          <p:cNvSpPr txBox="1"/>
          <p:nvPr/>
        </p:nvSpPr>
        <p:spPr>
          <a:xfrm>
            <a:off x="6233007"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YOUR RUPEE TEST</a:t>
            </a:r>
          </a:p>
        </p:txBody>
      </p:sp>
      <p:sp>
        <p:nvSpPr>
          <p:cNvPr id="20" name="TextBox 19"/>
          <p:cNvSpPr txBox="1"/>
          <p:nvPr/>
        </p:nvSpPr>
        <p:spPr>
          <a:xfrm>
            <a:off x="6233007"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passes yours, fails the colleague's</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tree</a:t>
            </a:r>
          </a:p>
        </p:txBody>
      </p:sp>
      <p:sp>
        <p:nvSpPr>
          <p:cNvPr id="23" name="TextBox 22"/>
          <p:cNvSpPr txBox="1"/>
          <p:nvPr/>
        </p:nvSpPr>
        <p:spPr>
          <a:xfrm>
            <a:off x="9084335"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THREE BRANCHES</a:t>
            </a:r>
          </a:p>
        </p:txBody>
      </p:sp>
      <p:sp>
        <p:nvSpPr>
          <p:cNvPr id="24" name="TextBox 23"/>
          <p:cNvSpPr txBox="1"/>
          <p:nvPr/>
        </p:nvSpPr>
        <p:spPr>
          <a:xfrm>
            <a:off x="9084335"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multiply back to revenue's change</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wrong number traced to the step that made it and the check that catches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34609"/>
                <a:gridCol w="3815186"/>
                <a:gridCol w="3081195"/>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Rs 20,00,000 set aside</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6942a2008f72472a.png"/>
          <p:cNvPicPr>
            <a:picLocks noChangeAspect="1"/>
          </p:cNvPicPr>
          <p:nvPr/>
        </p:nvPicPr>
        <p:blipFill>
          <a:blip r:embed="rId6"/>
          <a:stretch>
            <a:fillRect/>
          </a:stretch>
        </p:blipFill>
        <p:spPr>
          <a:xfrm>
            <a:off x="1152372" y="1956816"/>
            <a:ext cx="9886950" cy="871537"/>
          </a:xfrm>
          <a:prstGeom prst="rect">
            <a:avLst/>
          </a:prstGeom>
        </p:spPr>
      </p:pic>
      <p:sp>
        <p:nvSpPr>
          <p:cNvPr id="10" name="Rounded Rectangle 9"/>
          <p:cNvSpPr/>
          <p:nvPr/>
        </p:nvSpPr>
        <p:spPr>
          <a:xfrm>
            <a:off x="530352" y="29746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773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28707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40417"/>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b1ffffd5a8d542e1.png"/>
          <p:cNvPicPr>
            <a:picLocks noChangeAspect="1"/>
          </p:cNvPicPr>
          <p:nvPr/>
        </p:nvPicPr>
        <p:blipFill>
          <a:blip r:embed="rId5"/>
          <a:stretch>
            <a:fillRect/>
          </a:stretch>
        </p:blipFill>
        <p:spPr>
          <a:xfrm>
            <a:off x="638022" y="1956816"/>
            <a:ext cx="10915650" cy="8715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both totals tie; d) the 14 rows were outliers removed to keep Q1 in line with Q2.</a:t>
            </a:r>
          </a:p>
        </p:txBody>
      </p:sp>
      <p:pic>
        <p:nvPicPr>
          <p:cNvPr id="12" name="mermaid diagram" descr="d4242e17dd0e7bf1.png"/>
          <p:cNvPicPr>
            <a:picLocks noChangeAspect="1"/>
          </p:cNvPicPr>
          <p:nvPr/>
        </p:nvPicPr>
        <p:blipFill>
          <a:blip r:embed="rId5"/>
          <a:stretch>
            <a:fillRect/>
          </a:stretch>
        </p:blipFill>
        <p:spPr>
          <a:xfrm>
            <a:off x="3695547" y="3195828"/>
            <a:ext cx="4800600" cy="232886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the design question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five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2 crore rows. Profile everything, or sample?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two copies disagree. First, last, or the copy that validates?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coerce, reject or repair a malformed amount?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prove a figure with a bridge, or rebuild it from a second source?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a1b4ae782c2ead99.png"/>
          <p:cNvPicPr>
            <a:picLocks noChangeAspect="1"/>
          </p:cNvPicPr>
          <p:nvPr/>
        </p:nvPicPr>
        <p:blipFill>
          <a:blip r:embed="rId5"/>
          <a:stretch>
            <a:fillRect/>
          </a:stretch>
        </p:blipFill>
        <p:spPr>
          <a:xfrm>
            <a:off x="2988316" y="3413760"/>
            <a:ext cx="6215062"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d4aa7568b490a150.png"/>
          <p:cNvPicPr>
            <a:picLocks noChangeAspect="1"/>
          </p:cNvPicPr>
          <p:nvPr/>
        </p:nvPicPr>
        <p:blipFill>
          <a:blip r:embed="rId6"/>
          <a:stretch>
            <a:fillRect/>
          </a:stretch>
        </p:blipFill>
        <p:spPr>
          <a:xfrm>
            <a:off x="3716978" y="3243072"/>
            <a:ext cx="4757737" cy="22574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