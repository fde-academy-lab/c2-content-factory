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Chapter 6 first, then the full pass alone, the debrief of the room's wrong</a:t>
            </a:r>
          </a:p>
          <a:p>
            <a:r>
              <a:t>answers, the auditor in pairs, the interview drill and the close.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C2_W01_D03_06_audit_logs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log that ties in rows and misses in rupees costs the team her trust in</a:t>
            </a:r>
          </a:p>
          <a:p>
            <a:r>
              <a:t>everything else it sends.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BBC News, 15 March 2019; FRC, 27 September 2021.</a:t>
            </a:r>
          </a:p>
          <a:p>
            <a:r>
              <a:t>Name no person.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24 lines: 15 set-aside rows, 2 flags (the status and the bulk order), 5 decisions, 2 control totals, and an empty</a:t>
            </a:r>
          </a:p>
          <a:p>
            <a:r>
              <a:t>rejects log. Options a and d cost over an hour and still say nothing about why.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decisions log has five lines; only the identity rule moves Q1 rupees, all</a:t>
            </a:r>
          </a:p>
          <a:p>
            <a:r>
              <a:t>Rs 19,98,210, and every other decision still gets its 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In the notebook, read_orders() would overwrite the log's own line column, so the</a:t>
            </a:r>
          </a:p>
          <a:p>
            <a:r>
              <a:t>log is read back with a plain DictReader. Point that out if a learner trips on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06, section 3. Ask whether the room would send this. Round Rs 20 lakh</a:t>
            </a:r>
          </a:p>
          <a:p>
            <a:r>
              <a:t>set aside feels like proof.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row reconciliation proves nothing vanished; it cannot prove the right rows</a:t>
            </a:r>
          </a:p>
          <a:p>
            <a:r>
              <a:t>stayed. The colleague's bridge closes on its own file and misses the books.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second case after the break walks this in pairs.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06 asserts the replay equals the clean file.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set aside with a reason, never dropped; the rule, the twin, the rupees by segment,</a:t>
            </a:r>
          </a:p>
          <a:p>
            <a:r>
              <a:t>both totals tie and the log replays.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unguided. The notebook is ex1_escalated_case, a TODO twin with eight lettered</a:t>
            </a:r>
          </a:p>
          <a:p>
            <a:r>
              <a:t>choices; the brief is in exercises/unguided.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Nine notebook letters, ten brief letters, then the note in under 120 words. Watch</a:t>
            </a:r>
          </a:p>
          <a:p>
            <a:r>
              <a:t>for rows totalled before profiling, a first-copy rule, a rupee test that rounds, and a tree whose</a:t>
            </a:r>
          </a:p>
          <a:p>
            <a:r>
              <a:t>customers are rows.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reference while working. Each check recomputes its step another way, so the numbers are</a:t>
            </a:r>
          </a:p>
          <a:p>
            <a:r>
              <a:t>the learner's to reach. A Q1 Rs 1,790 short kept the wrong copy; a Q2 Rs 29,45,460 light removed</a:t>
            </a:r>
          </a:p>
          <a:p>
            <a:r>
              <a:t>the bulk order. Both are debriefed next.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Put the most common wrong number on the screen first. Name no learner; name the step.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For each, ask a pair that produced it which line of code made it. Each wrong</a:t>
            </a:r>
          </a:p>
          <a:p>
            <a:r>
              <a:t>number was plausible and one check away.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If nobody produced it, show it from chapter 6. Then the 10-minute break.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Forty minutes in pairs: one drives ex2_auditor, the other plays the auditor and asks the next</a:t>
            </a:r>
          </a:p>
          <a:p>
            <a:r>
              <a:t>question only when the check passes. Swap halfway.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"Dropped" is the word to correct.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pairs finish question 5.</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Pairs: one asks, one answers, the asker times it and names the one number</a:t>
            </a:r>
          </a:p>
          <a:p>
            <a:r>
              <a:t>the answer should have used. Swap every three questions.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shape of every answer: the rule, today's number, the check. Full answers in</a:t>
            </a:r>
          </a:p>
          <a:p>
            <a:r>
              <a:t>the study notes and the notebooks' In the interview sections.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design questions want a choice, a sizing and the fact that would change it.</a:t>
            </a:r>
          </a:p>
          <a:p>
            <a:r>
              <a:t>The row's five and these seven are the day's 12, the same 12 the study notes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the Kahoot, then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it aloud once.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line per chapter. Tonight's take-home tests every line on an export nobody</a:t>
            </a:r>
          </a:p>
          <a:p>
            <a:r>
              <a:t>in the room has seen.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Do not answer it. Thursday builds the chance reference with a shuffle.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Each trade runs the same two checks: rows prove nothing vanished, and money</a:t>
            </a:r>
          </a:p>
          <a:p>
            <a:r>
              <a:t>proves the right rows stayed.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5.png"/><Relationship Id="rId6"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0.xml"/><Relationship Id="rId6" Type="http://schemas.openxmlformats.org/officeDocument/2006/relationships/image" Target="../media/image2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WEDNESDAY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reconciliation Anand can audit</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“Send the reconciliation and the log before the day closes. My analyst checks it tonight.”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The log the analyst audits</a:t>
            </a:r>
          </a:p>
        </p:txBody>
      </p:sp>
      <p:sp>
        <p:nvSpPr>
          <p:cNvPr id="13" name="TextBox 12"/>
          <p:cNvSpPr txBox="1"/>
          <p:nvPr/>
        </p:nvSpPr>
        <p:spPr>
          <a:xfrm>
            <a:off x="29095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293554"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5" name="TextBox 14"/>
          <p:cNvSpPr txBox="1"/>
          <p:nvPr/>
        </p:nvSpPr>
        <p:spPr>
          <a:xfrm>
            <a:off x="472401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08067"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The room's wrong answers</a:t>
            </a:r>
          </a:p>
        </p:txBody>
      </p:sp>
      <p:sp>
        <p:nvSpPr>
          <p:cNvPr id="17" name="TextBox 16"/>
          <p:cNvSpPr txBox="1"/>
          <p:nvPr/>
        </p:nvSpPr>
        <p:spPr>
          <a:xfrm>
            <a:off x="689343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277481"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The second case, in pairs</a:t>
            </a:r>
          </a:p>
        </p:txBody>
      </p:sp>
      <p:sp>
        <p:nvSpPr>
          <p:cNvPr id="19" name="TextBox 18"/>
          <p:cNvSpPr txBox="1"/>
          <p:nvPr/>
        </p:nvSpPr>
        <p:spPr>
          <a:xfrm>
            <a:off x="912199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506045"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interview drill</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The reconciliation Anand can audit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log the analyst audits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log is finished when a stranger can replay it.</a:t>
            </a:r>
          </a:p>
        </p:txBody>
      </p:sp>
      <p:sp>
        <p:nvSpPr>
          <p:cNvPr id="10" name="Rounded Rectangle 9"/>
          <p:cNvSpPr/>
          <p:nvPr/>
        </p:nvSpPr>
        <p:spPr>
          <a:xfrm>
            <a:off x="731519"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31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control totals and a reason per row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analyst checks tonight; an auditor may ask next quarter.</a:t>
            </a:r>
          </a:p>
        </p:txBody>
      </p:sp>
      <p:sp>
        <p:nvSpPr>
          <p:cNvPr id="9" name="TextBox 8"/>
          <p:cNvSpPr txBox="1"/>
          <p:nvPr/>
        </p:nvSpPr>
        <p:spPr>
          <a:xfrm>
            <a:off x="53035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rows and rupees</a:t>
            </a:r>
          </a:p>
        </p:txBody>
      </p:sp>
      <p:sp>
        <p:nvSpPr>
          <p:cNvPr id="10" name="TextBox 9"/>
          <p:cNvSpPr txBox="1"/>
          <p:nvPr/>
        </p:nvSpPr>
        <p:spPr>
          <a:xfrm>
            <a:off x="53035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control totals: counts and sums at both ends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the analyst</a:t>
            </a:r>
          </a:p>
        </p:txBody>
      </p:sp>
      <p:sp>
        <p:nvSpPr>
          <p:cNvPr id="14" name="TextBox 13"/>
          <p:cNvSpPr txBox="1"/>
          <p:nvPr/>
        </p:nvSpPr>
        <p:spPr>
          <a:xfrm>
            <a:off x="433212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for Anand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a week</a:t>
            </a:r>
          </a:p>
        </p:txBody>
      </p:sp>
      <p:sp>
        <p:nvSpPr>
          <p:cNvPr id="18" name="TextBox 17"/>
          <p:cNvSpPr txBox="1"/>
          <p:nvPr/>
        </p:nvSpPr>
        <p:spPr>
          <a:xfrm>
            <a:off x="813389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LOG SHE CANNOT FOLLOW</a:t>
            </a:r>
          </a:p>
        </p:txBody>
      </p:sp>
      <p:sp>
        <p:nvSpPr>
          <p:cNvPr id="19" name="TextBox 18"/>
          <p:cNvSpPr txBox="1"/>
          <p:nvPr/>
        </p:nvSpPr>
        <p:spPr>
          <a:xfrm>
            <a:off x="813389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questions, and her trust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"Can my analyst follow every decision you made, and rebuild your file from it?"</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31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Patisserie Valerie's auditor missed the red flags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UK cafe chain's accounting hole reached GBP 94m; the auditor was fined.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94m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HOLE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administrators, March 2019</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4m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FRC FINE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reduced to GBP 2.34m</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 years</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AUDITS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sanctioned in September 2021</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An auditor who cannot trace a number to its rows signs off on it anyway, and pays for it later.</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hand-overs, sized for the analyst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Lines to read at an illustrative 30 seconds a line.</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5098215"/>
                <a:gridCol w="914400"/>
                <a:gridCol w="1569465"/>
                <a:gridCol w="1842784"/>
                <a:gridCol w="1706125"/>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Lines</a:t>
                      </a:r>
                    </a:p>
                  </a:txBody>
                  <a:tcPr marL="101600" marR="101600" marT="38100" marB="38100" anchor="ctr">
                    <a:solidFill>
                      <a:srgbClr val="1A0F5C"/>
                    </a:solidFill>
                  </a:tcPr>
                </a:tc>
                <a:tc>
                  <a:txBody>
                    <a:bodyPr/>
                    <a:lstStyle/>
                    <a:p>
                      <a:r>
                        <a:rPr sz="1250" b="1" i="0">
                          <a:solidFill>
                            <a:srgbClr val="FFFFFF"/>
                          </a:solidFill>
                          <a:latin typeface="Calibri"/>
                        </a:rPr>
                        <a:t>Ties rows</a:t>
                      </a:r>
                    </a:p>
                  </a:txBody>
                  <a:tcPr marL="101600" marR="101600" marT="38100" marB="38100" anchor="ctr">
                    <a:solidFill>
                      <a:srgbClr val="1A0F5C"/>
                    </a:solidFill>
                  </a:tcPr>
                </a:tc>
                <a:tc>
                  <a:txBody>
                    <a:bodyPr/>
                    <a:lstStyle/>
                    <a:p>
                      <a:r>
                        <a:rPr sz="1250" b="1" i="0">
                          <a:solidFill>
                            <a:srgbClr val="FFFFFF"/>
                          </a:solidFill>
                          <a:latin typeface="Calibri"/>
                        </a:rPr>
                        <a:t>Ties rupees</a:t>
                      </a:r>
                    </a:p>
                  </a:txBody>
                  <a:tcPr marL="101600" marR="101600" marT="38100" marB="38100" anchor="ctr">
                    <a:solidFill>
                      <a:srgbClr val="1A0F5C"/>
                    </a:solidFill>
                  </a:tcPr>
                </a:tc>
                <a:tc>
                  <a:txBody>
                    <a:bodyPr/>
                    <a:lstStyle/>
                    <a:p>
                      <a:r>
                        <a:rPr sz="1250" b="1" i="0">
                          <a:solidFill>
                            <a:srgbClr val="FFFFFF"/>
                          </a:solidFill>
                          <a:latin typeface="Calibri"/>
                        </a:rPr>
                        <a:t>Replayable</a:t>
                      </a:r>
                    </a:p>
                  </a:txBody>
                  <a:tcPr marL="101600" marR="101600" marT="38100" marB="38100" anchor="ctr">
                    <a:solidFill>
                      <a:srgbClr val="1A0F5C"/>
                    </a:solidFill>
                  </a:tcPr>
                </a:tc>
              </a:tr>
              <a:tr h="335280">
                <a:tc>
                  <a:txBody>
                    <a:bodyPr/>
                    <a:lstStyle/>
                    <a:p>
                      <a:r>
                        <a:rPr sz="1200" b="0" i="0">
                          <a:solidFill>
                            <a:srgbClr val="1A1440"/>
                          </a:solidFill>
                          <a:latin typeface="Calibri"/>
                        </a:rPr>
                        <a:t>a) The clean file, read against the raw</a:t>
                      </a:r>
                    </a:p>
                  </a:txBody>
                  <a:tcPr marL="101600" marR="101600" marT="38100" marB="38100" anchor="ctr">
                    <a:solidFill>
                      <a:srgbClr val="FFFFFF"/>
                    </a:solidFill>
                  </a:tcPr>
                </a:tc>
                <a:tc>
                  <a:txBody>
                    <a:bodyPr/>
                    <a:lstStyle/>
                    <a:p>
                      <a:r>
                        <a:rPr sz="1200" b="0" i="0">
                          <a:solidFill>
                            <a:srgbClr val="1A1440"/>
                          </a:solidFill>
                          <a:latin typeface="Calibri"/>
                        </a:rPr>
                        <a:t>387</a:t>
                      </a:r>
                    </a:p>
                  </a:txBody>
                  <a:tcPr marL="101600" marR="101600" marT="38100" marB="38100" anchor="ctr">
                    <a:solidFill>
                      <a:srgbClr val="FFFFFF"/>
                    </a:solidFill>
                  </a:tcPr>
                </a:tc>
                <a:tc>
                  <a:txBody>
                    <a:bodyPr/>
                    <a:lstStyle/>
                    <a:p>
                      <a:r>
                        <a:rPr sz="1200" b="0" i="0">
                          <a:solidFill>
                            <a:srgbClr val="1A1440"/>
                          </a:solidFill>
                          <a:latin typeface="Calibri"/>
                        </a:rPr>
                        <a:t>by hand</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b) The file and a count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Logs and control totals</a:t>
                      </a:r>
                    </a:p>
                  </a:txBody>
                  <a:tcPr marL="101600" marR="101600" marT="38100" marB="38100" anchor="ctr">
                    <a:solidFill>
                      <a:srgbClr val="FFFFFF"/>
                    </a:solidFill>
                  </a:tcPr>
                </a:tc>
                <a:tc>
                  <a:txBody>
                    <a:bodyPr/>
                    <a:lstStyle/>
                    <a:p>
                      <a:r>
                        <a:rPr sz="1200" b="0" i="0">
                          <a:solidFill>
                            <a:srgbClr val="1A1440"/>
                          </a:solidFill>
                          <a:latin typeface="Calibri"/>
                        </a:rPr>
                        <a:t>24</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A full diff</a:t>
                      </a:r>
                    </a:p>
                  </a:txBody>
                  <a:tcPr marL="101600" marR="101600" marT="38100" marB="38100" anchor="ctr">
                    <a:solidFill>
                      <a:srgbClr val="F4F2FA"/>
                    </a:solidFill>
                  </a:tcPr>
                </a:tc>
                <a:tc>
                  <a:txBody>
                    <a:bodyPr/>
                    <a:lstStyle/>
                    <a:p>
                      <a:r>
                        <a:rPr sz="1200" b="0" i="0">
                          <a:solidFill>
                            <a:srgbClr val="1A1440"/>
                          </a:solidFill>
                          <a:latin typeface="Calibri"/>
                        </a:rPr>
                        <a:t>201</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by hand</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What would switch it: an external auditor who must re-derive every row, and then d goes beside c.</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logs carry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logs and two totals, written as the pass runs.</a:t>
            </a:r>
          </a:p>
        </p:txBody>
      </p:sp>
      <p:pic>
        <p:nvPicPr>
          <p:cNvPr id="9" name="mermaid diagram" descr="1500baff43202ee1.png"/>
          <p:cNvPicPr>
            <a:picLocks noChangeAspect="1"/>
          </p:cNvPicPr>
          <p:nvPr/>
        </p:nvPicPr>
        <p:blipFill>
          <a:blip r:embed="rId5"/>
          <a:stretch>
            <a:fillRect/>
          </a:stretch>
        </p:blipFill>
        <p:spPr>
          <a:xfrm>
            <a:off x="2366810" y="1956816"/>
            <a:ext cx="7458075" cy="2971800"/>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decision moves the most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decisions in the log, one line each.</a:t>
            </a:r>
          </a:p>
        </p:txBody>
      </p:sp>
      <p:pic>
        <p:nvPicPr>
          <p:cNvPr id="9" name="mermaid diagram" descr="c5cec98e78a672d3.png"/>
          <p:cNvPicPr>
            <a:picLocks noChangeAspect="1"/>
          </p:cNvPicPr>
          <p:nvPr/>
        </p:nvPicPr>
        <p:blipFill>
          <a:blip r:embed="rId5"/>
          <a:stretch>
            <a:fillRect/>
          </a:stretch>
        </p:blipFill>
        <p:spPr>
          <a:xfrm>
            <a:off x="3702691" y="1956816"/>
            <a:ext cx="4786312" cy="2543175"/>
          </a:xfrm>
          <a:prstGeom prst="rect">
            <a:avLst/>
          </a:prstGeom>
        </p:spPr>
      </p:pic>
      <p:sp>
        <p:nvSpPr>
          <p:cNvPr id="10" name="Rounded Rectangle 9"/>
          <p:cNvSpPr/>
          <p:nvPr/>
        </p:nvSpPr>
        <p:spPr>
          <a:xfrm>
            <a:off x="530352" y="46462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the identity rule; b) the missing status; c) the bulk order; d) the missing discount.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identity rule moves all of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decisions move no Q1 rupees, and each still gets a line.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19,98,210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IDENTITY RULE</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15 rows</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OTHER FOUR</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58 rows flagged or kept</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a. The logs are written with csv.DictWriter and json.dump, then read back and compared, because a log that lives only in a notebook reaches nobody.</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2" name="Oval 2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4" name="Oval 2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6" name="Oval 2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8" name="Oval 2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0" name="Oval 2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a perfect-looking log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colleague removed repeated ids first, keeping the first copy, then converted.</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201 = 185 + 16</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RECONCILE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equals kept plus logged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20,00,000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SET ASIDE</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Anand's gap, to the lakh</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 crore</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CLEAN</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as the note rounds it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3" name="Oval 2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5" name="Oval 2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7" name="Oval 2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9" name="Oval 2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1" name="Oval 30"/>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rows tie, rupees do 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Rs 1,790 short of the books: the valued copy set aside, the unreadable one rejected.</a:t>
            </a:r>
          </a:p>
        </p:txBody>
      </p:sp>
      <p:pic>
        <p:nvPicPr>
          <p:cNvPr id="9" name="mermaid diagram" descr="404dcb4c97e4ddd9.png"/>
          <p:cNvPicPr>
            <a:picLocks noChangeAspect="1"/>
          </p:cNvPicPr>
          <p:nvPr/>
        </p:nvPicPr>
        <p:blipFill>
          <a:blip r:embed="rId5"/>
          <a:stretch>
            <a:fillRect/>
          </a:stretch>
        </p:blipFill>
        <p:spPr>
          <a:xfrm>
            <a:off x="2316803" y="1956816"/>
            <a:ext cx="7558087" cy="1543050"/>
          </a:xfrm>
          <a:prstGeom prst="rect">
            <a:avLst/>
          </a:prstGeom>
        </p:spPr>
      </p:pic>
      <p:sp>
        <p:nvSpPr>
          <p:cNvPr id="10" name="Rounded Rectangle 9"/>
          <p:cNvSpPr/>
          <p:nvPr/>
        </p:nvSpPr>
        <p:spPr>
          <a:xfrm>
            <a:off x="530352" y="364617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77418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76504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books against the clean Q1, and a rejected order whose twin sits in the set-aside log with a value.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and the auditor's 14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rule first, then conversion; every Q1 row set aside has a kept twin.</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114 = 100 + 14</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ROWS</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kept, set aside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14 of 14</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WITH A KEPT TWIN</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same order_id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AGAINST THE BOOKS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Q1 clean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Rs 1,790 order is back; the unreadable copy sits in the set-aside log with its twin named, so the rejects log is empty; and "set aside with a reason" replaces "dropped".</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8" name="Oval 27"/>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0" name="Oval 29"/>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4" name="Oval 33"/>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replay the log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raw export less the logged lines rebuilds the clean file exactly.</a:t>
            </a:r>
          </a:p>
        </p:txBody>
      </p:sp>
      <p:pic>
        <p:nvPicPr>
          <p:cNvPr id="9" name="mermaid diagram" descr="d6e137f0dc9d5238.png"/>
          <p:cNvPicPr>
            <a:picLocks noChangeAspect="1"/>
          </p:cNvPicPr>
          <p:nvPr/>
        </p:nvPicPr>
        <p:blipFill>
          <a:blip r:embed="rId5"/>
          <a:stretch>
            <a:fillRect/>
          </a:stretch>
        </p:blipFill>
        <p:spPr>
          <a:xfrm>
            <a:off x="1402403" y="1956816"/>
            <a:ext cx="9386887" cy="1128712"/>
          </a:xfrm>
          <a:prstGeom prst="rect">
            <a:avLst/>
          </a:prstGeom>
        </p:spPr>
      </p:pic>
      <p:sp>
        <p:nvSpPr>
          <p:cNvPr id="10" name="Rounded Rectangle 9"/>
          <p:cNvSpPr/>
          <p:nvPr/>
        </p:nvSpPr>
        <p:spPr>
          <a:xfrm>
            <a:off x="530352" y="32318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598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0704"/>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Control totals are the quick test; the replay is for an auditor who trusts nothing, and it runs before any log leaves the team.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Rows and rupees both tie, a reason on every line, the twin named for every copy.</a:t>
            </a:r>
          </a:p>
        </p:txBody>
      </p:sp>
      <p:sp>
        <p:nvSpPr>
          <p:cNvPr id="9" name="Rounded Rectangle 8"/>
          <p:cNvSpPr/>
          <p:nvPr/>
        </p:nvSpPr>
        <p:spPr>
          <a:xfrm>
            <a:off x="530352" y="195681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1A1440"/>
                </a:solidFill>
                <a:latin typeface="Calibri"/>
              </a:rPr>
              <a:t>A log is finished when a stranger can replay it.</a:t>
            </a:r>
          </a:p>
        </p:txBody>
      </p:sp>
      <p:sp>
        <p:nvSpPr>
          <p:cNvPr id="14" name="Rounded Rectangle 13"/>
          <p:cNvSpPr/>
          <p:nvPr/>
        </p:nvSpPr>
        <p:spPr>
          <a:xfrm>
            <a:off x="530352" y="298399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866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96412"/>
            <a:ext cx="237744" cy="237744"/>
          </a:xfrm>
          <a:prstGeom prst="rect">
            <a:avLst/>
          </a:prstGeom>
        </p:spPr>
      </p:pic>
      <p:sp>
        <p:nvSpPr>
          <p:cNvPr id="17" name="TextBox 16"/>
          <p:cNvSpPr txBox="1"/>
          <p:nvPr/>
        </p:nvSpPr>
        <p:spPr>
          <a:xfrm>
            <a:off x="1399031" y="31302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49752"/>
            <a:ext cx="9987991" cy="423672"/>
          </a:xfrm>
          <a:prstGeom prst="rect">
            <a:avLst/>
          </a:prstGeom>
          <a:noFill/>
        </p:spPr>
        <p:txBody>
          <a:bodyPr wrap="square" anchor="t" lIns="0" rIns="0" tIns="0" bIns="0">
            <a:spAutoFit/>
          </a:bodyPr>
          <a:lstStyle/>
          <a:p>
            <a:r>
              <a:rPr sz="1500" b="0" i="0">
                <a:solidFill>
                  <a:srgbClr val="1A1440"/>
                </a:solidFill>
                <a:latin typeface="Calibri"/>
              </a:rPr>
              <a:t>[D] An auditor asks why you dropped 14 rows; walk them through it.</a:t>
            </a:r>
          </a:p>
        </p:txBody>
      </p:sp>
      <p:sp>
        <p:nvSpPr>
          <p:cNvPr id="19" name="Rounded Rectangle 18"/>
          <p:cNvSpPr/>
          <p:nvPr/>
        </p:nvSpPr>
        <p:spPr>
          <a:xfrm>
            <a:off x="530352" y="4011168"/>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212336"/>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322064"/>
            <a:ext cx="237744" cy="237744"/>
          </a:xfrm>
          <a:prstGeom prst="rect">
            <a:avLst/>
          </a:prstGeom>
        </p:spPr>
      </p:pic>
      <p:sp>
        <p:nvSpPr>
          <p:cNvPr id="22" name="TextBox 21"/>
          <p:cNvSpPr txBox="1"/>
          <p:nvPr/>
        </p:nvSpPr>
        <p:spPr>
          <a:xfrm>
            <a:off x="731519" y="4779264"/>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6</a:t>
            </a:r>
          </a:p>
        </p:txBody>
      </p:sp>
      <p:sp>
        <p:nvSpPr>
          <p:cNvPr id="23" name="TextBox 22"/>
          <p:cNvSpPr txBox="1"/>
          <p:nvPr/>
        </p:nvSpPr>
        <p:spPr>
          <a:xfrm>
            <a:off x="731519" y="5017008"/>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57876"/>
            <a:ext cx="5071719" cy="218186"/>
          </a:xfrm>
          <a:prstGeom prst="rect">
            <a:avLst/>
          </a:prstGeom>
          <a:noFill/>
        </p:spPr>
        <p:txBody>
          <a:bodyPr wrap="square" anchor="t" lIns="0" rIns="0" tIns="0" bIns="0">
            <a:spAutoFit/>
          </a:bodyPr>
          <a:lstStyle/>
          <a:p>
            <a:pPr algn="l"/>
            <a:r>
              <a:rPr sz="1100" b="0" i="0">
                <a:solidFill>
                  <a:srgbClr val="6B6690"/>
                </a:solidFill>
                <a:latin typeface="Calibri"/>
              </a:rPr>
              <a:t>Logs that tie in rows and rupees and replay to the clean file.</a:t>
            </a:r>
          </a:p>
        </p:txBody>
      </p:sp>
      <p:sp>
        <p:nvSpPr>
          <p:cNvPr id="25" name="Rounded Rectangle 24"/>
          <p:cNvSpPr/>
          <p:nvPr/>
        </p:nvSpPr>
        <p:spPr>
          <a:xfrm>
            <a:off x="6187287" y="4011168"/>
            <a:ext cx="5474055" cy="17744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2123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322064"/>
            <a:ext cx="237744" cy="237744"/>
          </a:xfrm>
          <a:prstGeom prst="rect">
            <a:avLst/>
          </a:prstGeom>
        </p:spPr>
      </p:pic>
      <p:sp>
        <p:nvSpPr>
          <p:cNvPr id="28" name="TextBox 27"/>
          <p:cNvSpPr txBox="1"/>
          <p:nvPr/>
        </p:nvSpPr>
        <p:spPr>
          <a:xfrm>
            <a:off x="6388455" y="4779264"/>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THE ESCALATED CASE</a:t>
            </a:r>
          </a:p>
        </p:txBody>
      </p:sp>
      <p:sp>
        <p:nvSpPr>
          <p:cNvPr id="29" name="TextBox 28"/>
          <p:cNvSpPr txBox="1"/>
          <p:nvPr/>
        </p:nvSpPr>
        <p:spPr>
          <a:xfrm>
            <a:off x="6388455" y="5017008"/>
            <a:ext cx="5071719" cy="267716"/>
          </a:xfrm>
          <a:prstGeom prst="rect">
            <a:avLst/>
          </a:prstGeom>
          <a:noFill/>
        </p:spPr>
        <p:txBody>
          <a:bodyPr wrap="square" anchor="t" lIns="0" rIns="0" tIns="0" bIns="0">
            <a:spAutoFit/>
          </a:bodyPr>
          <a:lstStyle/>
          <a:p>
            <a:pPr algn="l"/>
            <a:r>
              <a:rPr sz="1400" b="1" i="0">
                <a:solidFill>
                  <a:srgbClr val="FFFFFF"/>
                </a:solidFill>
                <a:latin typeface="Calibri"/>
              </a:rPr>
              <a:t>Next</a:t>
            </a:r>
          </a:p>
        </p:txBody>
      </p:sp>
      <p:sp>
        <p:nvSpPr>
          <p:cNvPr id="30" name="TextBox 29"/>
          <p:cNvSpPr txBox="1"/>
          <p:nvPr/>
        </p:nvSpPr>
        <p:spPr>
          <a:xfrm>
            <a:off x="6388455" y="5357876"/>
            <a:ext cx="5071719" cy="218186"/>
          </a:xfrm>
          <a:prstGeom prst="rect">
            <a:avLst/>
          </a:prstGeom>
          <a:noFill/>
        </p:spPr>
        <p:txBody>
          <a:bodyPr wrap="square" anchor="t" lIns="0" rIns="0" tIns="0" bIns="0">
            <a:spAutoFit/>
          </a:bodyPr>
          <a:lstStyle/>
          <a:p>
            <a:pPr algn="l"/>
            <a:r>
              <a:rPr sz="1100" b="0" i="0">
                <a:solidFill>
                  <a:srgbClr val="CFC9EE"/>
                </a:solidFill>
                <a:latin typeface="Calibri"/>
              </a:rPr>
              <a:t>The whole pass, alone.</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5" name="Oval 3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7" name="Oval 3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1" name="Oval 40"/>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full pass, alone: every chapter, on the same file, with nobody driving.</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14 / 31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Anand's deadline, and what goes with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parts, one file, and a log that has to stand up tonight.</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Read and profile</a:t>
            </a:r>
          </a:p>
        </p:txBody>
      </p:sp>
      <p:sp>
        <p:nvSpPr>
          <p:cNvPr id="14" name="TextBox 13"/>
          <p:cNvSpPr txBox="1"/>
          <p:nvPr/>
        </p:nvSpPr>
        <p:spPr>
          <a:xfrm>
            <a:off x="694944"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Rows against orders, and the amount that will not convert.</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The identity rule, built</a:t>
            </a:r>
          </a:p>
        </p:txBody>
      </p:sp>
      <p:sp>
        <p:nvSpPr>
          <p:cNvPr id="19" name="TextBox 18"/>
          <p:cNvSpPr txBox="1"/>
          <p:nvPr/>
        </p:nvSpPr>
        <p:spPr>
          <a:xfrm>
            <a:off x="2957718" y="3492500"/>
            <a:ext cx="1750710" cy="696976"/>
          </a:xfrm>
          <a:prstGeom prst="rect">
            <a:avLst/>
          </a:prstGeom>
          <a:noFill/>
        </p:spPr>
        <p:txBody>
          <a:bodyPr wrap="square" anchor="t" lIns="0" rIns="0" tIns="0" bIns="0">
            <a:spAutoFit/>
          </a:bodyPr>
          <a:lstStyle/>
          <a:p>
            <a:pPr algn="l"/>
            <a:r>
              <a:rPr sz="1000" b="0" i="0">
                <a:solidFill>
                  <a:srgbClr val="6B6690"/>
                </a:solidFill>
                <a:latin typeface="Calibri"/>
              </a:rPr>
              <a:t>Yours this time: the key, and when a later copy takes the place of the kept one.</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Convert and decide</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rejects log, then the missing status and the largest order.</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Reconcile</a:t>
            </a:r>
          </a:p>
        </p:txBody>
      </p:sp>
      <p:sp>
        <p:nvSpPr>
          <p:cNvPr id="29" name="TextBox 28"/>
          <p:cNvSpPr txBox="1"/>
          <p:nvPr/>
        </p:nvSpPr>
        <p:spPr>
          <a:xfrm>
            <a:off x="7483266"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Rows and rupees, a rupee test that fails the colleague's pass, the bridge.</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465836"/>
          </a:xfrm>
          <a:prstGeom prst="rect">
            <a:avLst/>
          </a:prstGeom>
          <a:noFill/>
        </p:spPr>
        <p:txBody>
          <a:bodyPr wrap="square" anchor="t" lIns="0" rIns="0" tIns="0" bIns="0">
            <a:spAutoFit/>
          </a:bodyPr>
          <a:lstStyle/>
          <a:p>
            <a:pPr algn="l"/>
            <a:r>
              <a:rPr sz="1300" b="1" i="0">
                <a:solidFill>
                  <a:srgbClr val="FFFFFF"/>
                </a:solidFill>
                <a:latin typeface="Calibri"/>
              </a:rPr>
              <a:t>The tree and the note</a:t>
            </a:r>
          </a:p>
        </p:txBody>
      </p:sp>
      <p:sp>
        <p:nvSpPr>
          <p:cNvPr id="34" name="TextBox 33"/>
          <p:cNvSpPr txBox="1"/>
          <p:nvPr/>
        </p:nvSpPr>
        <p:spPr>
          <a:xfrm>
            <a:off x="9746040" y="3492500"/>
            <a:ext cx="1750710" cy="531876"/>
          </a:xfrm>
          <a:prstGeom prst="rect">
            <a:avLst/>
          </a:prstGeom>
          <a:noFill/>
        </p:spPr>
        <p:txBody>
          <a:bodyPr wrap="square" anchor="t" lIns="0" rIns="0" tIns="0" bIns="0">
            <a:spAutoFit/>
          </a:bodyPr>
          <a:lstStyle/>
          <a:p>
            <a:pPr algn="l"/>
            <a:r>
              <a:rPr sz="1000" b="0" i="0">
                <a:solidFill>
                  <a:srgbClr val="CFC9EE"/>
                </a:solidFill>
                <a:latin typeface="Calibri"/>
              </a:rPr>
              <a:t>Monday's tree on the clean file, Tuesday's segment, the note.</a:t>
            </a:r>
          </a:p>
        </p:txBody>
      </p:sp>
      <p:sp>
        <p:nvSpPr>
          <p:cNvPr id="35" name="Rounded Rectangle 34"/>
          <p:cNvSpPr/>
          <p:nvPr/>
        </p:nvSpPr>
        <p:spPr>
          <a:xfrm>
            <a:off x="530352" y="4449064"/>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758952" y="47812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message-square_028dbd132a0a.png"/>
          <p:cNvPicPr>
            <a:picLocks noChangeAspect="1"/>
          </p:cNvPicPr>
          <p:nvPr/>
        </p:nvPicPr>
        <p:blipFill>
          <a:blip r:embed="rId4"/>
          <a:stretch>
            <a:fillRect/>
          </a:stretch>
        </p:blipFill>
        <p:spPr>
          <a:xfrm>
            <a:off x="868680" y="4891024"/>
            <a:ext cx="237744" cy="237744"/>
          </a:xfrm>
          <a:prstGeom prst="rect">
            <a:avLst/>
          </a:prstGeom>
        </p:spPr>
      </p:pic>
      <p:sp>
        <p:nvSpPr>
          <p:cNvPr id="38" name="TextBox 37"/>
          <p:cNvSpPr txBox="1"/>
          <p:nvPr/>
        </p:nvSpPr>
        <p:spPr>
          <a:xfrm>
            <a:off x="1399031" y="4595368"/>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9" name="TextBox 38"/>
          <p:cNvSpPr txBox="1"/>
          <p:nvPr/>
        </p:nvSpPr>
        <p:spPr>
          <a:xfrm>
            <a:off x="1399031" y="4814824"/>
            <a:ext cx="9987991" cy="682752"/>
          </a:xfrm>
          <a:prstGeom prst="rect">
            <a:avLst/>
          </a:prstGeom>
          <a:noFill/>
        </p:spPr>
        <p:txBody>
          <a:bodyPr wrap="square" anchor="t" lIns="0" rIns="0" tIns="0" bIns="0">
            <a:spAutoFit/>
          </a:bodyPr>
          <a:lstStyle/>
          <a:p>
            <a:r>
              <a:rPr sz="1500" b="0" i="0">
                <a:solidFill>
                  <a:srgbClr val="FFFFFF"/>
                </a:solidFill>
                <a:latin typeface="Calibri"/>
              </a:rPr>
              <a:t>"Which figure is right, the proof in rows and in rupees, and every decision in a log my analyst can follow."</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42" name="Oval 41"/>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311717"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44" name="Oval 4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46" name="Oval 4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48" name="Oval 4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50" name="Oval 4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31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checks you post with your letters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check in the notebook passes before the letters go into chat.</a:t>
            </a:r>
          </a:p>
        </p:txBody>
      </p:sp>
      <p:sp>
        <p:nvSpPr>
          <p:cNvPr id="10" name="TextBox 9"/>
          <p:cNvSpPr txBox="1"/>
          <p:nvPr/>
        </p:nvSpPr>
        <p:spPr>
          <a:xfrm>
            <a:off x="530352" y="1956816"/>
            <a:ext cx="2577007" cy="603250"/>
          </a:xfrm>
          <a:prstGeom prst="rect">
            <a:avLst/>
          </a:prstGeom>
          <a:noFill/>
        </p:spPr>
        <p:txBody>
          <a:bodyPr wrap="square" anchor="t" lIns="0" rIns="0" tIns="0" bIns="0">
            <a:spAutoFit/>
          </a:bodyPr>
          <a:lstStyle/>
          <a:p>
            <a:pPr algn="l"/>
            <a:r>
              <a:rPr sz="3800" b="0" i="0">
                <a:solidFill>
                  <a:srgbClr val="5B3FD6"/>
                </a:solidFill>
                <a:latin typeface="Georgia"/>
              </a:rPr>
              <a:t>rows</a:t>
            </a:r>
          </a:p>
        </p:txBody>
      </p:sp>
      <p:sp>
        <p:nvSpPr>
          <p:cNvPr id="11" name="TextBox 10"/>
          <p:cNvSpPr txBox="1"/>
          <p:nvPr/>
        </p:nvSpPr>
        <p:spPr>
          <a:xfrm>
            <a:off x="530352" y="2596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KEPT PLUS SET ASIDE</a:t>
            </a:r>
          </a:p>
        </p:txBody>
      </p:sp>
      <p:sp>
        <p:nvSpPr>
          <p:cNvPr id="12" name="TextBox 11"/>
          <p:cNvSpPr txBox="1"/>
          <p:nvPr/>
        </p:nvSpPr>
        <p:spPr>
          <a:xfrm>
            <a:off x="530352" y="2797810"/>
            <a:ext cx="2577007" cy="193421"/>
          </a:xfrm>
          <a:prstGeom prst="rect">
            <a:avLst/>
          </a:prstGeom>
          <a:noFill/>
        </p:spPr>
        <p:txBody>
          <a:bodyPr wrap="square" anchor="t" lIns="0" rIns="0" tIns="0" bIns="0">
            <a:spAutoFit/>
          </a:bodyPr>
          <a:lstStyle/>
          <a:p>
            <a:pPr algn="l"/>
            <a:r>
              <a:rPr sz="950" b="0" i="0">
                <a:solidFill>
                  <a:srgbClr val="6B6690"/>
                </a:solidFill>
                <a:latin typeface="Calibri"/>
              </a:rPr>
              <a:t>equal the rows the ERP sent</a:t>
            </a:r>
          </a:p>
        </p:txBody>
      </p:sp>
      <p:sp>
        <p:nvSpPr>
          <p:cNvPr id="13" name="Rectangle 12"/>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381679" y="1956816"/>
            <a:ext cx="2577007" cy="603250"/>
          </a:xfrm>
          <a:prstGeom prst="rect">
            <a:avLst/>
          </a:prstGeom>
          <a:noFill/>
        </p:spPr>
        <p:txBody>
          <a:bodyPr wrap="square" anchor="t" lIns="0" rIns="0" tIns="0" bIns="0">
            <a:spAutoFit/>
          </a:bodyPr>
          <a:lstStyle/>
          <a:p>
            <a:pPr algn="l"/>
            <a:r>
              <a:rPr sz="3800" b="0" i="0">
                <a:solidFill>
                  <a:srgbClr val="5B3FD6"/>
                </a:solidFill>
                <a:latin typeface="Georgia"/>
              </a:rPr>
              <a:t>Q1</a:t>
            </a:r>
          </a:p>
        </p:txBody>
      </p:sp>
      <p:sp>
        <p:nvSpPr>
          <p:cNvPr id="15" name="TextBox 14"/>
          <p:cNvSpPr txBox="1"/>
          <p:nvPr/>
        </p:nvSpPr>
        <p:spPr>
          <a:xfrm>
            <a:off x="3381679" y="2596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TO THE RUPEE</a:t>
            </a:r>
          </a:p>
        </p:txBody>
      </p:sp>
      <p:sp>
        <p:nvSpPr>
          <p:cNvPr id="16" name="TextBox 15"/>
          <p:cNvSpPr txBox="1"/>
          <p:nvPr/>
        </p:nvSpPr>
        <p:spPr>
          <a:xfrm>
            <a:off x="3381679" y="2797810"/>
            <a:ext cx="2577007" cy="193421"/>
          </a:xfrm>
          <a:prstGeom prst="rect">
            <a:avLst/>
          </a:prstGeom>
          <a:noFill/>
        </p:spPr>
        <p:txBody>
          <a:bodyPr wrap="square" anchor="t" lIns="0" rIns="0" tIns="0" bIns="0">
            <a:spAutoFit/>
          </a:bodyPr>
          <a:lstStyle/>
          <a:p>
            <a:pPr algn="l"/>
            <a:r>
              <a:rPr sz="950" b="0" i="0">
                <a:solidFill>
                  <a:srgbClr val="6B6690"/>
                </a:solidFill>
                <a:latin typeface="Calibri"/>
              </a:rPr>
              <a:t>equal to the books after the rule</a:t>
            </a:r>
          </a:p>
        </p:txBody>
      </p:sp>
      <p:sp>
        <p:nvSpPr>
          <p:cNvPr id="17" name="Rectangle 16"/>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1956816"/>
            <a:ext cx="2577007" cy="603250"/>
          </a:xfrm>
          <a:prstGeom prst="rect">
            <a:avLst/>
          </a:prstGeom>
          <a:noFill/>
        </p:spPr>
        <p:txBody>
          <a:bodyPr wrap="square" anchor="t" lIns="0" rIns="0" tIns="0" bIns="0">
            <a:spAutoFit/>
          </a:bodyPr>
          <a:lstStyle/>
          <a:p>
            <a:pPr algn="l"/>
            <a:r>
              <a:rPr sz="3800" b="0" i="0">
                <a:solidFill>
                  <a:srgbClr val="5B3FD6"/>
                </a:solidFill>
                <a:latin typeface="Georgia"/>
              </a:rPr>
              <a:t>the test</a:t>
            </a:r>
          </a:p>
        </p:txBody>
      </p:sp>
      <p:sp>
        <p:nvSpPr>
          <p:cNvPr id="19" name="TextBox 18"/>
          <p:cNvSpPr txBox="1"/>
          <p:nvPr/>
        </p:nvSpPr>
        <p:spPr>
          <a:xfrm>
            <a:off x="6233007" y="2596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YOUR RUPEE TEST</a:t>
            </a:r>
          </a:p>
        </p:txBody>
      </p:sp>
      <p:sp>
        <p:nvSpPr>
          <p:cNvPr id="20" name="TextBox 19"/>
          <p:cNvSpPr txBox="1"/>
          <p:nvPr/>
        </p:nvSpPr>
        <p:spPr>
          <a:xfrm>
            <a:off x="6233007" y="2797810"/>
            <a:ext cx="2577007" cy="193421"/>
          </a:xfrm>
          <a:prstGeom prst="rect">
            <a:avLst/>
          </a:prstGeom>
          <a:noFill/>
        </p:spPr>
        <p:txBody>
          <a:bodyPr wrap="square" anchor="t" lIns="0" rIns="0" tIns="0" bIns="0">
            <a:spAutoFit/>
          </a:bodyPr>
          <a:lstStyle/>
          <a:p>
            <a:pPr algn="l"/>
            <a:r>
              <a:rPr sz="950" b="0" i="0">
                <a:solidFill>
                  <a:srgbClr val="6B6690"/>
                </a:solidFill>
                <a:latin typeface="Calibri"/>
              </a:rPr>
              <a:t>passes yours, fails the colleague's</a:t>
            </a:r>
          </a:p>
        </p:txBody>
      </p:sp>
      <p:sp>
        <p:nvSpPr>
          <p:cNvPr id="21" name="Rectangle 20"/>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084335" y="1956816"/>
            <a:ext cx="2577007" cy="603250"/>
          </a:xfrm>
          <a:prstGeom prst="rect">
            <a:avLst/>
          </a:prstGeom>
          <a:noFill/>
        </p:spPr>
        <p:txBody>
          <a:bodyPr wrap="square" anchor="t" lIns="0" rIns="0" tIns="0" bIns="0">
            <a:spAutoFit/>
          </a:bodyPr>
          <a:lstStyle/>
          <a:p>
            <a:pPr algn="l"/>
            <a:r>
              <a:rPr sz="3800" b="0" i="0">
                <a:solidFill>
                  <a:srgbClr val="5B3FD6"/>
                </a:solidFill>
                <a:latin typeface="Georgia"/>
              </a:rPr>
              <a:t>the tree</a:t>
            </a:r>
          </a:p>
        </p:txBody>
      </p:sp>
      <p:sp>
        <p:nvSpPr>
          <p:cNvPr id="23" name="TextBox 22"/>
          <p:cNvSpPr txBox="1"/>
          <p:nvPr/>
        </p:nvSpPr>
        <p:spPr>
          <a:xfrm>
            <a:off x="9084335" y="2596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THREE BRANCHES</a:t>
            </a:r>
          </a:p>
        </p:txBody>
      </p:sp>
      <p:sp>
        <p:nvSpPr>
          <p:cNvPr id="24" name="TextBox 23"/>
          <p:cNvSpPr txBox="1"/>
          <p:nvPr/>
        </p:nvSpPr>
        <p:spPr>
          <a:xfrm>
            <a:off x="9084335" y="2797810"/>
            <a:ext cx="2577007" cy="193421"/>
          </a:xfrm>
          <a:prstGeom prst="rect">
            <a:avLst/>
          </a:prstGeom>
          <a:noFill/>
        </p:spPr>
        <p:txBody>
          <a:bodyPr wrap="square" anchor="t" lIns="0" rIns="0" tIns="0" bIns="0">
            <a:spAutoFit/>
          </a:bodyPr>
          <a:lstStyle/>
          <a:p>
            <a:pPr algn="l"/>
            <a:r>
              <a:rPr sz="950" b="0" i="0">
                <a:solidFill>
                  <a:srgbClr val="6B6690"/>
                </a:solidFill>
                <a:latin typeface="Calibri"/>
              </a:rPr>
              <a:t>multiply back to revenue's change</a:t>
            </a:r>
          </a:p>
        </p:txBody>
      </p:sp>
      <p:sp>
        <p:nvSpPr>
          <p:cNvPr id="25" name="Rectangle 24"/>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28" name="Oval 27"/>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30" name="Oval 2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D13  ·  16 / 31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room's wrong answers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Every wrong number traced to the step that made it and the check that catches it.</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17 / 31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wrong numbers, six steps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wrong figure the room produces comes from one of the day's traps.</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4234609"/>
                <a:gridCol w="3815186"/>
                <a:gridCol w="3081195"/>
              </a:tblGrid>
              <a:tr h="369824">
                <a:tc>
                  <a:txBody>
                    <a:bodyPr/>
                    <a:lstStyle/>
                    <a:p>
                      <a:r>
                        <a:rPr sz="1450" b="1" i="0">
                          <a:solidFill>
                            <a:srgbClr val="FFFFFF"/>
                          </a:solidFill>
                          <a:latin typeface="Calibri"/>
                        </a:rPr>
                        <a:t>The number on the screen</a:t>
                      </a:r>
                    </a:p>
                  </a:txBody>
                  <a:tcPr marL="101600" marR="101600" marT="38100" marB="38100" anchor="ctr">
                    <a:solidFill>
                      <a:srgbClr val="1A0F5C"/>
                    </a:solidFill>
                  </a:tcPr>
                </a:tc>
                <a:tc>
                  <a:txBody>
                    <a:bodyPr/>
                    <a:lstStyle/>
                    <a:p>
                      <a:r>
                        <a:rPr sz="1450" b="1" i="0">
                          <a:solidFill>
                            <a:srgbClr val="FFFFFF"/>
                          </a:solidFill>
                          <a:latin typeface="Calibri"/>
                        </a:rPr>
                        <a:t>The step that made it</a:t>
                      </a:r>
                    </a:p>
                  </a:txBody>
                  <a:tcPr marL="101600" marR="101600" marT="38100" marB="38100" anchor="ctr">
                    <a:solidFill>
                      <a:srgbClr val="1A0F5C"/>
                    </a:solidFill>
                  </a:tcPr>
                </a:tc>
                <a:tc>
                  <a:txBody>
                    <a:bodyPr/>
                    <a:lstStyle/>
                    <a:p>
                      <a:r>
                        <a:rPr sz="1450" b="1" i="0">
                          <a:solidFill>
                            <a:srgbClr val="FFFFFF"/>
                          </a:solidFill>
                          <a:latin typeface="Calibri"/>
                        </a:rPr>
                        <a:t>The check</a:t>
                      </a:r>
                    </a:p>
                  </a:txBody>
                  <a:tcPr marL="101600" marR="101600" marT="38100" marB="38100" anchor="ctr">
                    <a:solidFill>
                      <a:srgbClr val="1A0F5C"/>
                    </a:solidFill>
                  </a:tcPr>
                </a:tc>
              </a:tr>
              <a:tr h="369824">
                <a:tc>
                  <a:txBody>
                    <a:bodyPr/>
                    <a:lstStyle/>
                    <a:p>
                      <a:r>
                        <a:rPr sz="1400" b="0" i="0">
                          <a:solidFill>
                            <a:srgbClr val="1A1440"/>
                          </a:solidFill>
                          <a:latin typeface="Calibri"/>
                        </a:rPr>
                        <a:t>Largest Q2 order Rs 970</a:t>
                      </a:r>
                    </a:p>
                  </a:txBody>
                  <a:tcPr marL="101600" marR="101600" marT="38100" marB="38100" anchor="ctr">
                    <a:solidFill>
                      <a:srgbClr val="FFFFFF"/>
                    </a:solidFill>
                  </a:tcPr>
                </a:tc>
                <a:tc>
                  <a:txBody>
                    <a:bodyPr/>
                    <a:lstStyle/>
                    <a:p>
                      <a:r>
                        <a:rPr sz="1400" b="0" i="0">
                          <a:solidFill>
                            <a:srgbClr val="1A1440"/>
                          </a:solidFill>
                          <a:latin typeface="Calibri"/>
                        </a:rPr>
                        <a:t>Sorting amounts as text</a:t>
                      </a:r>
                    </a:p>
                  </a:txBody>
                  <a:tcPr marL="101600" marR="101600" marT="38100" marB="38100" anchor="ctr">
                    <a:solidFill>
                      <a:srgbClr val="FFFFFF"/>
                    </a:solidFill>
                  </a:tcPr>
                </a:tc>
                <a:tc>
                  <a:txBody>
                    <a:bodyPr/>
                    <a:lstStyle/>
                    <a:p>
                      <a:r>
                        <a:rPr sz="1400" b="0" i="0">
                          <a:solidFill>
                            <a:srgbClr val="1A1440"/>
                          </a:solidFill>
                          <a:latin typeface="Calibri"/>
                        </a:rPr>
                        <a:t>Below every Business order</a:t>
                      </a:r>
                    </a:p>
                  </a:txBody>
                  <a:tcPr marL="101600" marR="101600" marT="38100" marB="38100" anchor="ctr">
                    <a:solidFill>
                      <a:srgbClr val="FFFFFF"/>
                    </a:solidFill>
                  </a:tcPr>
                </a:tc>
              </a:tr>
              <a:tr h="369824">
                <a:tc>
                  <a:txBody>
                    <a:bodyPr/>
                    <a:lstStyle/>
                    <a:p>
                      <a:r>
                        <a:rPr sz="1400" b="0" i="0">
                          <a:solidFill>
                            <a:srgbClr val="1A1440"/>
                          </a:solidFill>
                          <a:latin typeface="Calibri"/>
                        </a:rPr>
                        <a:t>0 duplicates</a:t>
                      </a:r>
                    </a:p>
                  </a:txBody>
                  <a:tcPr marL="101600" marR="101600" marT="38100" marB="38100" anchor="ctr">
                    <a:solidFill>
                      <a:srgbClr val="F4F2FA"/>
                    </a:solidFill>
                  </a:tcPr>
                </a:tc>
                <a:tc>
                  <a:txBody>
                    <a:bodyPr/>
                    <a:lstStyle/>
                    <a:p>
                      <a:r>
                        <a:rPr sz="1400" b="0" i="0">
                          <a:solidFill>
                            <a:srgbClr val="1A1440"/>
                          </a:solidFill>
                          <a:latin typeface="Calibri"/>
                        </a:rPr>
                        <a:t>The line in the whole-record key</a:t>
                      </a:r>
                    </a:p>
                  </a:txBody>
                  <a:tcPr marL="101600" marR="101600" marT="38100" marB="38100" anchor="ctr">
                    <a:solidFill>
                      <a:srgbClr val="F4F2FA"/>
                    </a:solidFill>
                  </a:tcPr>
                </a:tc>
                <a:tc>
                  <a:txBody>
                    <a:bodyPr/>
                    <a:lstStyle/>
                    <a:p>
                      <a:r>
                        <a:rPr sz="1400" b="0" i="0">
                          <a:solidFill>
                            <a:srgbClr val="1A1440"/>
                          </a:solidFill>
                          <a:latin typeface="Calibri"/>
                        </a:rPr>
                        <a:t>201 rows, 186 ids</a:t>
                      </a:r>
                    </a:p>
                  </a:txBody>
                  <a:tcPr marL="101600" marR="101600" marT="38100" marB="38100" anchor="ctr">
                    <a:solidFill>
                      <a:srgbClr val="F4F2FA"/>
                    </a:solidFill>
                  </a:tcPr>
                </a:tc>
              </a:tr>
              <a:tr h="369824">
                <a:tc>
                  <a:txBody>
                    <a:bodyPr/>
                    <a:lstStyle/>
                    <a:p>
                      <a:r>
                        <a:rPr sz="1400" b="0" i="0">
                          <a:solidFill>
                            <a:srgbClr val="1A1440"/>
                          </a:solidFill>
                          <a:latin typeface="Calibri"/>
                        </a:rPr>
                        <a:t>188 orders, Q2 Rs 1,87,03,710</a:t>
                      </a:r>
                    </a:p>
                  </a:txBody>
                  <a:tcPr marL="101600" marR="101600" marT="38100" marB="38100" anchor="ctr">
                    <a:solidFill>
                      <a:srgbClr val="FFFFFF"/>
                    </a:solidFill>
                  </a:tcPr>
                </a:tc>
                <a:tc>
                  <a:txBody>
                    <a:bodyPr/>
                    <a:lstStyle/>
                    <a:p>
                      <a:r>
                        <a:rPr sz="1400" b="0" i="0">
                          <a:solidFill>
                            <a:srgbClr val="1A1440"/>
                          </a:solidFill>
                          <a:latin typeface="Calibri"/>
                        </a:rPr>
                        <a:t>Record less line; Q1 tied, so stop</a:t>
                      </a:r>
                    </a:p>
                  </a:txBody>
                  <a:tcPr marL="101600" marR="101600" marT="38100" marB="38100" anchor="ctr">
                    <a:solidFill>
                      <a:srgbClr val="FFFFFF"/>
                    </a:solidFill>
                  </a:tcPr>
                </a:tc>
                <a:tc>
                  <a:txBody>
                    <a:bodyPr/>
                    <a:lstStyle/>
                    <a:p>
                      <a:r>
                        <a:rPr sz="1400" b="0" i="0">
                          <a:solidFill>
                            <a:srgbClr val="1A1440"/>
                          </a:solidFill>
                          <a:latin typeface="Calibri"/>
                        </a:rPr>
                        <a:t>Rows against ids</a:t>
                      </a:r>
                    </a:p>
                  </a:txBody>
                  <a:tcPr marL="101600" marR="101600" marT="38100" marB="38100" anchor="ctr">
                    <a:solidFill>
                      <a:srgbClr val="FFFFFF"/>
                    </a:solidFill>
                  </a:tcPr>
                </a:tc>
              </a:tr>
              <a:tr h="369824">
                <a:tc>
                  <a:txBody>
                    <a:bodyPr/>
                    <a:lstStyle/>
                    <a:p>
                      <a:r>
                        <a:rPr sz="1400" b="0" i="0">
                          <a:solidFill>
                            <a:srgbClr val="1A1440"/>
                          </a:solidFill>
                          <a:latin typeface="Calibri"/>
                        </a:rPr>
                        <a:t>201 of 201 convert</a:t>
                      </a:r>
                    </a:p>
                  </a:txBody>
                  <a:tcPr marL="101600" marR="101600" marT="38100" marB="38100" anchor="ctr">
                    <a:solidFill>
                      <a:srgbClr val="F4F2FA"/>
                    </a:solidFill>
                  </a:tcPr>
                </a:tc>
                <a:tc>
                  <a:txBody>
                    <a:bodyPr/>
                    <a:lstStyle/>
                    <a:p>
                      <a:r>
                        <a:rPr sz="1400" b="0" i="0">
                          <a:solidFill>
                            <a:srgbClr val="1A1440"/>
                          </a:solidFill>
                          <a:latin typeface="Calibri"/>
                        </a:rPr>
                        <a:t>Failures coerced to zero</a:t>
                      </a:r>
                    </a:p>
                  </a:txBody>
                  <a:tcPr marL="101600" marR="101600" marT="38100" marB="38100" anchor="ctr">
                    <a:solidFill>
                      <a:srgbClr val="F4F2FA"/>
                    </a:solidFill>
                  </a:tcPr>
                </a:tc>
                <a:tc>
                  <a:txBody>
                    <a:bodyPr/>
                    <a:lstStyle/>
                    <a:p>
                      <a:r>
                        <a:rPr sz="1400" b="0" i="0">
                          <a:solidFill>
                            <a:srgbClr val="1A1440"/>
                          </a:solidFill>
                          <a:latin typeface="Calibri"/>
                        </a:rPr>
                        <a:t>An order worth Rs 0</a:t>
                      </a:r>
                    </a:p>
                  </a:txBody>
                  <a:tcPr marL="101600" marR="101600" marT="38100" marB="38100" anchor="ctr">
                    <a:solidFill>
                      <a:srgbClr val="F4F2FA"/>
                    </a:solidFill>
                  </a:tcPr>
                </a:tc>
              </a:tr>
              <a:tr h="369824">
                <a:tc>
                  <a:txBody>
                    <a:bodyPr/>
                    <a:lstStyle/>
                    <a:p>
                      <a:r>
                        <a:rPr sz="1400" b="0" i="0">
                          <a:solidFill>
                            <a:srgbClr val="1A1440"/>
                          </a:solidFill>
                          <a:latin typeface="Calibri"/>
                        </a:rPr>
                        <a:t>Q2 Rs 1,57,54,540, -17.1%</a:t>
                      </a:r>
                    </a:p>
                  </a:txBody>
                  <a:tcPr marL="101600" marR="101600" marT="38100" marB="38100" anchor="ctr">
                    <a:solidFill>
                      <a:srgbClr val="FFFFFF"/>
                    </a:solidFill>
                  </a:tcPr>
                </a:tc>
                <a:tc>
                  <a:txBody>
                    <a:bodyPr/>
                    <a:lstStyle/>
                    <a:p>
                      <a:r>
                        <a:rPr sz="1400" b="0" i="0">
                          <a:solidFill>
                            <a:srgbClr val="1A1440"/>
                          </a:solidFill>
                          <a:latin typeface="Calibri"/>
                        </a:rPr>
                        <a:t>The bulk order fenced out</a:t>
                      </a:r>
                    </a:p>
                  </a:txBody>
                  <a:tcPr marL="101600" marR="101600" marT="38100" marB="38100" anchor="ctr">
                    <a:solidFill>
                      <a:srgbClr val="FFFFFF"/>
                    </a:solidFill>
                  </a:tcPr>
                </a:tc>
                <a:tc>
                  <a:txBody>
                    <a:bodyPr/>
                    <a:lstStyle/>
                    <a:p>
                      <a:r>
                        <a:rPr sz="1400" b="0" i="0">
                          <a:solidFill>
                            <a:srgbClr val="1A1440"/>
                          </a:solidFill>
                          <a:latin typeface="Calibri"/>
                        </a:rPr>
                        <a:t>A real Business account</a:t>
                      </a:r>
                    </a:p>
                  </a:txBody>
                  <a:tcPr marL="101600" marR="101600" marT="38100" marB="38100" anchor="ctr">
                    <a:solidFill>
                      <a:srgbClr val="FFFFFF"/>
                    </a:solidFill>
                  </a:tcPr>
                </a:tc>
              </a:tr>
              <a:tr h="369824">
                <a:tc>
                  <a:txBody>
                    <a:bodyPr/>
                    <a:lstStyle/>
                    <a:p>
                      <a:r>
                        <a:rPr sz="1400" b="0" i="0">
                          <a:solidFill>
                            <a:srgbClr val="1A1440"/>
                          </a:solidFill>
                          <a:latin typeface="Calibri"/>
                        </a:rPr>
                        <a:t>201 = 185 + 16, Rs 20,00,000 set aside</a:t>
                      </a:r>
                    </a:p>
                  </a:txBody>
                  <a:tcPr marL="101600" marR="101600" marT="38100" marB="38100" anchor="ctr">
                    <a:solidFill>
                      <a:srgbClr val="F4F2FA"/>
                    </a:solidFill>
                  </a:tcPr>
                </a:tc>
                <a:tc>
                  <a:txBody>
                    <a:bodyPr/>
                    <a:lstStyle/>
                    <a:p>
                      <a:r>
                        <a:rPr sz="1400" b="0" i="0">
                          <a:solidFill>
                            <a:srgbClr val="1A1440"/>
                          </a:solidFill>
                          <a:latin typeface="Calibri"/>
                        </a:rPr>
                        <a:t>Keep first, then convert</a:t>
                      </a:r>
                    </a:p>
                  </a:txBody>
                  <a:tcPr marL="101600" marR="101600" marT="38100" marB="38100" anchor="ctr">
                    <a:solidFill>
                      <a:srgbClr val="F4F2FA"/>
                    </a:solidFill>
                  </a:tcPr>
                </a:tc>
                <a:tc>
                  <a:txBody>
                    <a:bodyPr/>
                    <a:lstStyle/>
                    <a:p>
                      <a:r>
                        <a:rPr sz="1400" b="0" i="0">
                          <a:solidFill>
                            <a:srgbClr val="1A1440"/>
                          </a:solidFill>
                          <a:latin typeface="Calibri"/>
                        </a:rPr>
                        <a:t>Rs 1,790 short of the books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18 / 31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one most rooms miss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Rounding is where reconciliations go to hide.</a:t>
            </a:r>
          </a:p>
        </p:txBody>
      </p:sp>
      <p:pic>
        <p:nvPicPr>
          <p:cNvPr id="9" name="mermaid diagram" descr="6942a2008f72472a.png"/>
          <p:cNvPicPr>
            <a:picLocks noChangeAspect="1"/>
          </p:cNvPicPr>
          <p:nvPr/>
        </p:nvPicPr>
        <p:blipFill>
          <a:blip r:embed="rId6"/>
          <a:stretch>
            <a:fillRect/>
          </a:stretch>
        </p:blipFill>
        <p:spPr>
          <a:xfrm>
            <a:off x="1152372" y="1956816"/>
            <a:ext cx="9886950" cy="871537"/>
          </a:xfrm>
          <a:prstGeom prst="rect">
            <a:avLst/>
          </a:prstGeom>
        </p:spPr>
      </p:pic>
      <p:sp>
        <p:nvSpPr>
          <p:cNvPr id="10" name="Rounded Rectangle 9"/>
          <p:cNvSpPr/>
          <p:nvPr/>
        </p:nvSpPr>
        <p:spPr>
          <a:xfrm>
            <a:off x="530352" y="2974657"/>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17734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287077"/>
            <a:ext cx="237744" cy="237744"/>
          </a:xfrm>
          <a:prstGeom prst="rect">
            <a:avLst/>
          </a:prstGeom>
        </p:spPr>
      </p:pic>
      <p:sp>
        <p:nvSpPr>
          <p:cNvPr id="13" name="TextBox 12"/>
          <p:cNvSpPr txBox="1"/>
          <p:nvPr/>
        </p:nvSpPr>
        <p:spPr>
          <a:xfrm>
            <a:off x="1399031" y="31209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340417"/>
            <a:ext cx="9987991" cy="423672"/>
          </a:xfrm>
          <a:prstGeom prst="rect">
            <a:avLst/>
          </a:prstGeom>
          <a:noFill/>
        </p:spPr>
        <p:txBody>
          <a:bodyPr wrap="square" anchor="t" lIns="0" rIns="0" tIns="0" bIns="0">
            <a:spAutoFit/>
          </a:bodyPr>
          <a:lstStyle/>
          <a:p>
            <a:r>
              <a:rPr sz="1500" b="0" i="0">
                <a:solidFill>
                  <a:srgbClr val="1A1440"/>
                </a:solidFill>
                <a:latin typeface="Calibri"/>
              </a:rPr>
              <a:t>Compare to the rupee, then round for the note.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35055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The room's wrong answers</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19 / 31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second case, in pairs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auditor asks why 14 rows were dropped, and the answer comes from the log.</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31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auditor's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"Your log says 14 Q1 rows were dropped. Why those 14, and how do I know nothing else went?"</a:t>
            </a:r>
          </a:p>
        </p:txBody>
      </p:sp>
      <p:pic>
        <p:nvPicPr>
          <p:cNvPr id="9" name="mermaid diagram" descr="b1ffffd5a8d542e1.png"/>
          <p:cNvPicPr>
            <a:picLocks noChangeAspect="1"/>
          </p:cNvPicPr>
          <p:nvPr/>
        </p:nvPicPr>
        <p:blipFill>
          <a:blip r:embed="rId5"/>
          <a:stretch>
            <a:fillRect/>
          </a:stretch>
        </p:blipFill>
        <p:spPr>
          <a:xfrm>
            <a:off x="638022" y="1956816"/>
            <a:ext cx="10915650" cy="871537"/>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21 / 31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statement does the auditor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statements, one supported by the evidence.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14 Q1 rows were deleted as errors after the migration was checked; b) the dashboard was right all along, and the books are short; c) 14 Q1 rows are copies of kept orders, set aside; both totals tie; d) the 14 rows were outliers removed to keep Q1 in line with Q2.</a:t>
            </a:r>
          </a:p>
        </p:txBody>
      </p:sp>
      <p:pic>
        <p:nvPicPr>
          <p:cNvPr id="12" name="mermaid diagram" descr="d4242e17dd0e7bf1.png"/>
          <p:cNvPicPr>
            <a:picLocks noChangeAspect="1"/>
          </p:cNvPicPr>
          <p:nvPr/>
        </p:nvPicPr>
        <p:blipFill>
          <a:blip r:embed="rId5"/>
          <a:stretch>
            <a:fillRect/>
          </a:stretch>
        </p:blipFill>
        <p:spPr>
          <a:xfrm>
            <a:off x="3695547" y="3195828"/>
            <a:ext cx="4800600" cy="2328862"/>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22 / 31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copies set aside, both totals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statement names the rule, the evidence and both reconciliations.</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114 = 100 + 14</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ROWS</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kept, set aside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14 of 14</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WITH A KEPT TWIN</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same order_id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19,98,210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SET-ASIDE RUPEES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98% in two corporate rows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"Dropped" is the auditor's word; "set aside with a reason" is yours.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2" name="Oval 31"/>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23 / 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interview drill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day's 12 questions aloud, five design questions among them, each in under ninety seconds.</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31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row's five, asked everywhere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questions analytics screens ask of anyone who has cleaned a file.</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How do you handle missing data?</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Finance and your dashboard disagree; what do you do?</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How do you find duplicates, and what makes two records the same?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Everything read from a CSV is a string; what breaks and where do you convert?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An auditor asks why you dropped 14 rows; walk them through it.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25 / 31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follow-ups, five of them design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is a chapter's trap or its options, asked as a case.</a:t>
            </a:r>
          </a:p>
        </p:txBody>
      </p:sp>
      <p:graphicFrame>
        <p:nvGraphicFramePr>
          <p:cNvPr id="9" name="Table 8"/>
          <p:cNvGraphicFramePr>
            <a:graphicFrameLocks noGrp="1"/>
          </p:cNvGraphicFramePr>
          <p:nvPr/>
        </p:nvGraphicFramePr>
        <p:xfrm>
          <a:off x="530352" y="1956816"/>
          <a:ext cx="11130991" cy="295859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row counts reconcile. Are you done?</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The largest order is 1.66 times the next. Do you remove it?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Design: 2 crore rows. Profile everything, or sample?</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Design: order id, whole record or fuzzy, for customers from two apps?</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Design: two copies disagree. First, last, or the copy that validates?</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Design: coerce, reject or repair a malformed amount?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Design: prove a figure with a bridge, or rebuild it from a second source?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26 / 31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sentence to Anand, the lines worth keeping, and tomorrow's question.</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31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to Anand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figure is right, the proof, and what changed downstream.</a:t>
            </a:r>
          </a:p>
        </p:txBody>
      </p:sp>
      <p:sp>
        <p:nvSpPr>
          <p:cNvPr id="9" name="Rounded Rectangle 8"/>
          <p:cNvSpPr/>
          <p:nvPr/>
        </p:nvSpPr>
        <p:spPr>
          <a:xfrm>
            <a:off x="530352" y="1956816"/>
            <a:ext cx="45720" cy="131063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310639"/>
          </a:xfrm>
          <a:prstGeom prst="rect">
            <a:avLst/>
          </a:prstGeom>
          <a:noFill/>
        </p:spPr>
        <p:txBody>
          <a:bodyPr wrap="square" anchor="t" lIns="0" rIns="0" tIns="0" bIns="0">
            <a:spAutoFit/>
          </a:bodyPr>
          <a:lstStyle/>
          <a:p>
            <a:r>
              <a:rPr sz="1600" b="0" i="1">
                <a:solidFill>
                  <a:srgbClr val="1A0F5C"/>
                </a:solidFill>
                <a:latin typeface="Georgia"/>
              </a:rPr>
              <a:t>"Your 1.9 crore is right: the export counted fifteen orders twice, and the bridge from 2.1 closes to your books in rows and in rupees. On clean data the drop is 1.6 percent and the Retail-Plus fall is 35 percent, smaller than we reported."</a:t>
            </a:r>
          </a:p>
          <a:p>
            <a:pPr>
              <a:spcBef>
                <a:spcPts val="400"/>
              </a:spcBef>
            </a:pPr>
            <a:r>
              <a:rPr sz="1000" b="0" i="0">
                <a:solidFill>
                  <a:srgbClr val="6B6690"/>
                </a:solidFill>
                <a:latin typeface="Calibri"/>
              </a:rPr>
              <a:t>The GCC data and AI team</a:t>
            </a:r>
          </a:p>
        </p:txBody>
      </p:sp>
      <p:pic>
        <p:nvPicPr>
          <p:cNvPr id="11" name="mermaid diagram" descr="a1b4ae782c2ead99.png"/>
          <p:cNvPicPr>
            <a:picLocks noChangeAspect="1"/>
          </p:cNvPicPr>
          <p:nvPr/>
        </p:nvPicPr>
        <p:blipFill>
          <a:blip r:embed="rId5"/>
          <a:stretch>
            <a:fillRect/>
          </a:stretch>
        </p:blipFill>
        <p:spPr>
          <a:xfrm>
            <a:off x="2988316" y="3413760"/>
            <a:ext cx="6215062" cy="61436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4" name="Oval 13"/>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0" name="Oval 19"/>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2" name="Oval 21"/>
          <p:cNvSpPr/>
          <p:nvPr/>
        </p:nvSpPr>
        <p:spPr>
          <a:xfrm>
            <a:off x="806043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7016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28 / 31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six lines worth keeping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cheat sheet prints these word for word.</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Profile before you total: present, convertible, distinct, for every field.</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Say what makes two rows one order before you count duplicates.</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Keep the copy that validates, and log every row you set aside.</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A failure is logged, never turned into a number; large is not wrong.</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Reconcile twice, in rows and in rupees, to the books.</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Recompute what you reported, and say what changed, the smaller number first.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806043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29 / 31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Tomorrow's question,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Retail-Plus fall survived cleaning. Is it real, or the wobble every quarter shows?</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"Retail-Plus is down, smaller than first reported. Real, or the wobble we see every quarter?" Meera Raghavan, CEO, Kalpa Retail</a:t>
            </a:r>
          </a:p>
        </p:txBody>
      </p:sp>
      <p:pic>
        <p:nvPicPr>
          <p:cNvPr id="14" name="mermaid diagram" descr="d4aa7568b490a150.png"/>
          <p:cNvPicPr>
            <a:picLocks noChangeAspect="1"/>
          </p:cNvPicPr>
          <p:nvPr/>
        </p:nvPicPr>
        <p:blipFill>
          <a:blip r:embed="rId6"/>
          <a:stretch>
            <a:fillRect/>
          </a:stretch>
        </p:blipFill>
        <p:spPr>
          <a:xfrm>
            <a:off x="3716978" y="3243072"/>
            <a:ext cx="4757737" cy="225742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806043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7016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30 / 31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Depth: the reconciliation in other trades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two checks run wherever money moves between systems.</a:t>
            </a:r>
          </a:p>
        </p:txBody>
      </p:sp>
      <p:graphicFrame>
        <p:nvGraphicFramePr>
          <p:cNvPr id="10" name="Table 9"/>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571642"/>
                <a:gridCol w="3021280"/>
                <a:gridCol w="3538067"/>
              </a:tblGrid>
              <a:tr h="369824">
                <a:tc>
                  <a:txBody>
                    <a:bodyPr/>
                    <a:lstStyle/>
                    <a:p>
                      <a:r>
                        <a:rPr sz="1450" b="1" i="0">
                          <a:solidFill>
                            <a:srgbClr val="FFFFFF"/>
                          </a:solidFill>
                          <a:latin typeface="Calibri"/>
                        </a:rPr>
                        <a:t>Where</a:t>
                      </a:r>
                    </a:p>
                  </a:txBody>
                  <a:tcPr marL="101600" marR="101600" marT="38100" marB="38100" anchor="ctr">
                    <a:solidFill>
                      <a:srgbClr val="1A0F5C"/>
                    </a:solidFill>
                  </a:tcPr>
                </a:tc>
                <a:tc>
                  <a:txBody>
                    <a:bodyPr/>
                    <a:lstStyle/>
                    <a:p>
                      <a:r>
                        <a:rPr sz="1450" b="1" i="0">
                          <a:solidFill>
                            <a:srgbClr val="FFFFFF"/>
                          </a:solidFill>
                          <a:latin typeface="Calibri"/>
                        </a:rPr>
                        <a:t>Rows</a:t>
                      </a:r>
                    </a:p>
                  </a:txBody>
                  <a:tcPr marL="101600" marR="101600" marT="38100" marB="38100" anchor="ctr">
                    <a:solidFill>
                      <a:srgbClr val="1A0F5C"/>
                    </a:solidFill>
                  </a:tcPr>
                </a:tc>
                <a:tc>
                  <a:txBody>
                    <a:bodyPr/>
                    <a:lstStyle/>
                    <a:p>
                      <a:r>
                        <a:rPr sz="1450" b="1" i="0">
                          <a:solidFill>
                            <a:srgbClr val="FFFFFF"/>
                          </a:solidFill>
                          <a:latin typeface="Calibri"/>
                        </a:rPr>
                        <a:t>Money</a:t>
                      </a:r>
                    </a:p>
                  </a:txBody>
                  <a:tcPr marL="101600" marR="101600" marT="38100" marB="38100" anchor="ctr">
                    <a:solidFill>
                      <a:srgbClr val="1A0F5C"/>
                    </a:solidFill>
                  </a:tcPr>
                </a:tc>
              </a:tr>
              <a:tr h="369824">
                <a:tc>
                  <a:txBody>
                    <a:bodyPr/>
                    <a:lstStyle/>
                    <a:p>
                      <a:r>
                        <a:rPr sz="1400" b="0" i="0">
                          <a:solidFill>
                            <a:srgbClr val="1A1440"/>
                          </a:solidFill>
                          <a:latin typeface="Calibri"/>
                        </a:rPr>
                        <a:t>Bank statement against the ledger</a:t>
                      </a:r>
                    </a:p>
                  </a:txBody>
                  <a:tcPr marL="101600" marR="101600" marT="38100" marB="38100" anchor="ctr">
                    <a:solidFill>
                      <a:srgbClr val="FFFFFF"/>
                    </a:solidFill>
                  </a:tcPr>
                </a:tc>
                <a:tc>
                  <a:txBody>
                    <a:bodyPr/>
                    <a:lstStyle/>
                    <a:p>
                      <a:r>
                        <a:rPr sz="1400" b="0" i="0">
                          <a:solidFill>
                            <a:srgbClr val="1A1440"/>
                          </a:solidFill>
                          <a:latin typeface="Calibri"/>
                        </a:rPr>
                        <a:t>Transactions matched</a:t>
                      </a:r>
                    </a:p>
                  </a:txBody>
                  <a:tcPr marL="101600" marR="101600" marT="38100" marB="38100" anchor="ctr">
                    <a:solidFill>
                      <a:srgbClr val="FFFFFF"/>
                    </a:solidFill>
                  </a:tcPr>
                </a:tc>
                <a:tc>
                  <a:txBody>
                    <a:bodyPr/>
                    <a:lstStyle/>
                    <a:p>
                      <a:r>
                        <a:rPr sz="1400" b="0" i="0">
                          <a:solidFill>
                            <a:srgbClr val="1A1440"/>
                          </a:solidFill>
                          <a:latin typeface="Calibri"/>
                        </a:rPr>
                        <a:t>Balance to the paisa</a:t>
                      </a:r>
                    </a:p>
                  </a:txBody>
                  <a:tcPr marL="101600" marR="101600" marT="38100" marB="38100" anchor="ctr">
                    <a:solidFill>
                      <a:srgbClr val="FFFFFF"/>
                    </a:solidFill>
                  </a:tcPr>
                </a:tc>
              </a:tr>
              <a:tr h="369824">
                <a:tc>
                  <a:txBody>
                    <a:bodyPr/>
                    <a:lstStyle/>
                    <a:p>
                      <a:r>
                        <a:rPr sz="1400" b="0" i="0">
                          <a:solidFill>
                            <a:srgbClr val="1A1440"/>
                          </a:solidFill>
                          <a:latin typeface="Calibri"/>
                        </a:rPr>
                        <a:t>Payment gateway against orders</a:t>
                      </a:r>
                    </a:p>
                  </a:txBody>
                  <a:tcPr marL="101600" marR="101600" marT="38100" marB="38100" anchor="ctr">
                    <a:solidFill>
                      <a:srgbClr val="F4F2FA"/>
                    </a:solidFill>
                  </a:tcPr>
                </a:tc>
                <a:tc>
                  <a:txBody>
                    <a:bodyPr/>
                    <a:lstStyle/>
                    <a:p>
                      <a:r>
                        <a:rPr sz="1400" b="0" i="0">
                          <a:solidFill>
                            <a:srgbClr val="1A1440"/>
                          </a:solidFill>
                          <a:latin typeface="Calibri"/>
                        </a:rPr>
                        <a:t>Settlements per order</a:t>
                      </a:r>
                    </a:p>
                  </a:txBody>
                  <a:tcPr marL="101600" marR="101600" marT="38100" marB="38100" anchor="ctr">
                    <a:solidFill>
                      <a:srgbClr val="F4F2FA"/>
                    </a:solidFill>
                  </a:tcPr>
                </a:tc>
                <a:tc>
                  <a:txBody>
                    <a:bodyPr/>
                    <a:lstStyle/>
                    <a:p>
                      <a:r>
                        <a:rPr sz="1400" b="0" i="0">
                          <a:solidFill>
                            <a:srgbClr val="1A1440"/>
                          </a:solidFill>
                          <a:latin typeface="Calibri"/>
                        </a:rPr>
                        <a:t>Collected against booked</a:t>
                      </a:r>
                    </a:p>
                  </a:txBody>
                  <a:tcPr marL="101600" marR="101600" marT="38100" marB="38100" anchor="ctr">
                    <a:solidFill>
                      <a:srgbClr val="F4F2FA"/>
                    </a:solidFill>
                  </a:tcPr>
                </a:tc>
              </a:tr>
              <a:tr h="369824">
                <a:tc>
                  <a:txBody>
                    <a:bodyPr/>
                    <a:lstStyle/>
                    <a:p>
                      <a:r>
                        <a:rPr sz="1400" b="0" i="0">
                          <a:solidFill>
                            <a:srgbClr val="1A1440"/>
                          </a:solidFill>
                          <a:latin typeface="Calibri"/>
                        </a:rPr>
                        <a:t>Warehouse load against the source</a:t>
                      </a:r>
                    </a:p>
                  </a:txBody>
                  <a:tcPr marL="101600" marR="101600" marT="38100" marB="38100" anchor="ctr">
                    <a:solidFill>
                      <a:srgbClr val="FFFFFF"/>
                    </a:solidFill>
                  </a:tcPr>
                </a:tc>
                <a:tc>
                  <a:txBody>
                    <a:bodyPr/>
                    <a:lstStyle/>
                    <a:p>
                      <a:r>
                        <a:rPr sz="1400" b="0" i="0">
                          <a:solidFill>
                            <a:srgbClr val="1A1440"/>
                          </a:solidFill>
                          <a:latin typeface="Calibri"/>
                        </a:rPr>
                        <a:t>Row counts per table</a:t>
                      </a:r>
                    </a:p>
                  </a:txBody>
                  <a:tcPr marL="101600" marR="101600" marT="38100" marB="38100" anchor="ctr">
                    <a:solidFill>
                      <a:srgbClr val="FFFFFF"/>
                    </a:solidFill>
                  </a:tcPr>
                </a:tc>
                <a:tc>
                  <a:txBody>
                    <a:bodyPr/>
                    <a:lstStyle/>
                    <a:p>
                      <a:r>
                        <a:rPr sz="1400" b="0" i="0">
                          <a:solidFill>
                            <a:srgbClr val="1A1440"/>
                          </a:solidFill>
                          <a:latin typeface="Calibri"/>
                        </a:rPr>
                        <a:t>Control totals per column</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3" name="Oval 1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9" name="Oval 1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806043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7016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D24  ·  31 / 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