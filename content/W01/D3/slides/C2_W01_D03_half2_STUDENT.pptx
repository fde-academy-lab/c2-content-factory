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3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3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3" Type="http://schemas.openxmlformats.org/officeDocument/2006/relationships/image" Target="../media/image4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3" Type="http://schemas.openxmlformats.org/officeDocument/2006/relationships/image" Target="../media/image5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2377440"/>
            <a:ext cx="10820095" cy="1463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4000" b="1">
                <a:solidFill>
                  <a:srgbClr val="FFFFFF"/>
                </a:solidFill>
                <a:latin typeface="Calibri"/>
              </a:rPr>
              <a:t>SECTION A. The identity rule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6327648"/>
            <a:ext cx="10820095" cy="128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6391656"/>
            <a:ext cx="97228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>
                <a:solidFill>
                  <a:srgbClr val="FFFFFF"/>
                </a:solidFill>
                <a:latin typeface="Calibri"/>
              </a:rPr>
              <a:t>Week 1, Day 3. Half two: decide, record, reconcile, recompute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08615" y="6391656"/>
            <a:ext cx="10972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>
                <a:solidFill>
                  <a:srgbClr val="FFFFFF"/>
                </a:solidFill>
                <a:latin typeface="Calibri"/>
              </a:rPr>
              <a:t>1 / 19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85800" y="603504"/>
            <a:ext cx="786384" cy="274320"/>
          </a:xfrm>
          <a:prstGeom prst="round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S1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18488" y="493776"/>
            <a:ext cx="9704527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300" b="1">
                <a:solidFill>
                  <a:srgbClr val="1C1C1A"/>
                </a:solidFill>
                <a:latin typeface="Calibri"/>
              </a:rPr>
              <a:t>A duplicate is not a row that looks the same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335024"/>
            <a:ext cx="10820095" cy="32004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3385312"/>
            <a:ext cx="10820095" cy="910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1C1C1A"/>
                </a:solidFill>
                <a:latin typeface="Calibri"/>
              </a:rPr>
              <a:t>It is a row that </a:t>
            </a:r>
            <a:r>
              <a:rPr sz="2000" b="1">
                <a:solidFill>
                  <a:srgbClr val="1C1C1A"/>
                </a:solidFill>
                <a:latin typeface="Calibri"/>
              </a:rPr>
              <a:t>is the same order</a:t>
            </a:r>
            <a:r>
              <a:rPr sz="2000" b="0">
                <a:solidFill>
                  <a:srgbClr val="1C1C1A"/>
                </a:solidFill>
                <a:latin typeface="Calibri"/>
              </a:rPr>
              <a:t>. Those are different claims, and you have to say which fields decide it before you remove anything.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6327648"/>
            <a:ext cx="10820095" cy="12801"/>
          </a:xfrm>
          <a:prstGeom prst="rect">
            <a:avLst/>
          </a:prstGeom>
          <a:solidFill>
            <a:srgbClr val="C9C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6391656"/>
            <a:ext cx="97228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>
                <a:solidFill>
                  <a:srgbClr val="5F6360"/>
                </a:solidFill>
                <a:latin typeface="Calibri"/>
              </a:rPr>
              <a:t>Week 1, Day 3. Half two: decide, record, reconcile, recompute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408615" y="6391656"/>
            <a:ext cx="10972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>
                <a:solidFill>
                  <a:srgbClr val="5F6360"/>
                </a:solidFill>
                <a:latin typeface="Calibri"/>
              </a:rPr>
              <a:t>2 / 19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85800" y="603504"/>
            <a:ext cx="786384" cy="274320"/>
          </a:xfrm>
          <a:prstGeom prst="round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S2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18488" y="493776"/>
            <a:ext cx="9704527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600" b="1">
                <a:solidFill>
                  <a:srgbClr val="1C1C1A"/>
                </a:solidFill>
                <a:latin typeface="Calibri"/>
              </a:rPr>
              <a:t>Three ways two rows can match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335024"/>
            <a:ext cx="10820095" cy="32004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85800" y="2655824"/>
          <a:ext cx="10820093" cy="1548384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2866257"/>
                <a:gridCol w="2002409"/>
                <a:gridCol w="5951427"/>
              </a:tblGrid>
              <a:tr h="387096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  <a:latin typeface="Calibri"/>
                        </a:rPr>
                        <a:t>Same</a:t>
                      </a:r>
                    </a:p>
                  </a:txBody>
                  <a:tcPr marL="101600" marR="101600" marT="38100" marB="38100" anchor="ctr">
                    <a:solidFill>
                      <a:srgbClr val="2B4A7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  <a:latin typeface="Calibri"/>
                        </a:rPr>
                        <a:t>Different</a:t>
                      </a:r>
                    </a:p>
                  </a:txBody>
                  <a:tcPr marL="101600" marR="101600" marT="38100" marB="38100" anchor="ctr">
                    <a:solidFill>
                      <a:srgbClr val="2B4A7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  <a:latin typeface="Calibri"/>
                        </a:rPr>
                        <a:t>Verdict</a:t>
                      </a:r>
                    </a:p>
                  </a:txBody>
                  <a:tcPr marL="101600" marR="101600" marT="38100" marB="38100" anchor="ctr">
                    <a:solidFill>
                      <a:srgbClr val="2B4A7D"/>
                    </a:solidFill>
                  </a:tcPr>
                </a:tc>
              </a:tr>
              <a:tr h="38709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C1C1A"/>
                          </a:solidFill>
                          <a:latin typeface="Calibri"/>
                        </a:rPr>
                        <a:t>Every field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C1C1A"/>
                          </a:solidFill>
                          <a:latin typeface="Calibri"/>
                        </a:rPr>
                        <a:t>Nothing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C1C1A"/>
                          </a:solidFill>
                          <a:latin typeface="Calibri"/>
                        </a:rPr>
                        <a:t>A duplicate, and a whole-record check finds it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8709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C1C1A"/>
                          </a:solidFill>
                          <a:latin typeface="Calibri"/>
                        </a:rPr>
                        <a:t>The order id</a:t>
                      </a:r>
                    </a:p>
                  </a:txBody>
                  <a:tcPr marL="101600" marR="101600" marT="38100" marB="38100" anchor="ctr">
                    <a:solidFill>
                      <a:srgbClr val="F7F7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C1C1A"/>
                          </a:solidFill>
                          <a:latin typeface="Calibri"/>
                        </a:rPr>
                        <a:t>The order date</a:t>
                      </a:r>
                    </a:p>
                  </a:txBody>
                  <a:tcPr marL="101600" marR="101600" marT="38100" marB="38100" anchor="ctr">
                    <a:solidFill>
                      <a:srgbClr val="F7F7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C1C1A"/>
                          </a:solidFill>
                          <a:latin typeface="Calibri"/>
                        </a:rPr>
                        <a:t>The hard one. Same order, two versions.</a:t>
                      </a:r>
                    </a:p>
                  </a:txBody>
                  <a:tcPr marL="101600" marR="101600" marT="38100" marB="38100" anchor="ctr">
                    <a:solidFill>
                      <a:srgbClr val="F7F7F5"/>
                    </a:solidFill>
                  </a:tcPr>
                </a:tc>
              </a:tr>
              <a:tr h="38709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C1C1A"/>
                          </a:solidFill>
                          <a:latin typeface="Calibri"/>
                        </a:rPr>
                        <a:t>Everything but the id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C1C1A"/>
                          </a:solidFill>
                          <a:latin typeface="Calibri"/>
                        </a:rPr>
                        <a:t>The id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C1C1A"/>
                          </a:solidFill>
                          <a:latin typeface="Calibri"/>
                        </a:rPr>
                        <a:t>Probably two real orders. Keep both.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85800" y="4460240"/>
            <a:ext cx="10820095" cy="564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1C1C1A"/>
                </a:solidFill>
                <a:latin typeface="Calibri"/>
              </a:rPr>
              <a:t>Row two is where the judgment lives, and this file has exactly one of them.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6327648"/>
            <a:ext cx="10820095" cy="12801"/>
          </a:xfrm>
          <a:prstGeom prst="rect">
            <a:avLst/>
          </a:prstGeom>
          <a:solidFill>
            <a:srgbClr val="C9C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391656"/>
            <a:ext cx="97228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>
                <a:solidFill>
                  <a:srgbClr val="5F6360"/>
                </a:solidFill>
                <a:latin typeface="Calibri"/>
              </a:rPr>
              <a:t>Week 1, Day 3. Half two: decide, record, reconcile, recompute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408615" y="6391656"/>
            <a:ext cx="10972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>
                <a:solidFill>
                  <a:srgbClr val="5F6360"/>
                </a:solidFill>
                <a:latin typeface="Calibri"/>
              </a:rPr>
              <a:t>3 / 19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85800" y="603504"/>
            <a:ext cx="786384" cy="274320"/>
          </a:xfrm>
          <a:prstGeom prst="round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S3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18488" y="493776"/>
            <a:ext cx="9704527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300" b="1">
                <a:solidFill>
                  <a:srgbClr val="1C1C1A"/>
                </a:solidFill>
                <a:latin typeface="Calibri"/>
              </a:rPr>
              <a:t>The pair that breaks a whole-record check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335024"/>
            <a:ext cx="10820095" cy="32004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6" name="Picture 5" descr="be7f896996ec44f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1984389"/>
            <a:ext cx="10820095" cy="2655541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85800" y="4786234"/>
            <a:ext cx="10820095" cy="910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1C1C1A"/>
                </a:solidFill>
                <a:latin typeface="Calibri"/>
              </a:rPr>
              <a:t>Deduplicating on the whole record leaves it in. Deduplicating on the id removes one, and somebody has to say which.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6327648"/>
            <a:ext cx="10820095" cy="12801"/>
          </a:xfrm>
          <a:prstGeom prst="rect">
            <a:avLst/>
          </a:prstGeom>
          <a:solidFill>
            <a:srgbClr val="C9C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391656"/>
            <a:ext cx="97228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>
                <a:solidFill>
                  <a:srgbClr val="5F6360"/>
                </a:solidFill>
                <a:latin typeface="Calibri"/>
              </a:rPr>
              <a:t>Week 1, Day 3. Half two: decide, record, reconcile, recompute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408615" y="6391656"/>
            <a:ext cx="10972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>
                <a:solidFill>
                  <a:srgbClr val="5F6360"/>
                </a:solidFill>
                <a:latin typeface="Calibri"/>
              </a:rPr>
              <a:t>4 / 19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2377440"/>
            <a:ext cx="10820095" cy="1463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4000" b="1">
                <a:solidFill>
                  <a:srgbClr val="FFFFFF"/>
                </a:solidFill>
                <a:latin typeface="Calibri"/>
              </a:rPr>
              <a:t>SECTION B. Three decisions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6327648"/>
            <a:ext cx="10820095" cy="128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6391656"/>
            <a:ext cx="97228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>
                <a:solidFill>
                  <a:srgbClr val="FFFFFF"/>
                </a:solidFill>
                <a:latin typeface="Calibri"/>
              </a:rPr>
              <a:t>Week 1, Day 3. Half two: decide, record, reconcile, recompute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08615" y="6391656"/>
            <a:ext cx="10972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>
                <a:solidFill>
                  <a:srgbClr val="FFFFFF"/>
                </a:solidFill>
                <a:latin typeface="Calibri"/>
              </a:rPr>
              <a:t>5 / 19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85800" y="603504"/>
            <a:ext cx="786384" cy="274320"/>
          </a:xfrm>
          <a:prstGeom prst="round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S4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18488" y="493776"/>
            <a:ext cx="9704527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300" b="1">
                <a:solidFill>
                  <a:srgbClr val="1C1C1A"/>
                </a:solidFill>
                <a:latin typeface="Calibri"/>
              </a:rPr>
              <a:t>Every missing value has exactly three answers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335024"/>
            <a:ext cx="10820095" cy="32004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6" name="Picture 5" descr="4c7c30abb8e7409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2236407"/>
            <a:ext cx="10820095" cy="2496945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85800" y="4879656"/>
            <a:ext cx="10820095" cy="564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1C1C1A"/>
                </a:solidFill>
                <a:latin typeface="Calibri"/>
              </a:rPr>
              <a:t>There is no free option. Pick one, write the reason, count the rows it applies to.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6327648"/>
            <a:ext cx="10820095" cy="12801"/>
          </a:xfrm>
          <a:prstGeom prst="rect">
            <a:avLst/>
          </a:prstGeom>
          <a:solidFill>
            <a:srgbClr val="C9C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391656"/>
            <a:ext cx="97228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>
                <a:solidFill>
                  <a:srgbClr val="5F6360"/>
                </a:solidFill>
                <a:latin typeface="Calibri"/>
              </a:rPr>
              <a:t>Week 1, Day 3. Half two: decide, record, reconcile, recompute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408615" y="6391656"/>
            <a:ext cx="10972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>
                <a:solidFill>
                  <a:srgbClr val="5F6360"/>
                </a:solidFill>
                <a:latin typeface="Calibri"/>
              </a:rPr>
              <a:t>6 / 19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85800" y="603504"/>
            <a:ext cx="786384" cy="274320"/>
          </a:xfrm>
          <a:prstGeom prst="round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S5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18488" y="493776"/>
            <a:ext cx="9704527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300" b="1">
                <a:solidFill>
                  <a:srgbClr val="1C1C1A"/>
                </a:solidFill>
                <a:latin typeface="Calibri"/>
              </a:rPr>
              <a:t>The decisions log is the deliverable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335024"/>
            <a:ext cx="10820095" cy="32004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85800" y="2552192"/>
          <a:ext cx="10820094" cy="1410208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1259442"/>
                <a:gridCol w="1259442"/>
                <a:gridCol w="777240"/>
                <a:gridCol w="2927804"/>
                <a:gridCol w="4596166"/>
              </a:tblGrid>
              <a:tr h="352552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Field</a:t>
                      </a:r>
                    </a:p>
                  </a:txBody>
                  <a:tcPr marL="101600" marR="101600" marT="38100" marB="38100" anchor="ctr">
                    <a:solidFill>
                      <a:srgbClr val="2B4A7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Issue</a:t>
                      </a:r>
                    </a:p>
                  </a:txBody>
                  <a:tcPr marL="101600" marR="101600" marT="38100" marB="38100" anchor="ctr">
                    <a:solidFill>
                      <a:srgbClr val="2B4A7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Rows</a:t>
                      </a:r>
                    </a:p>
                  </a:txBody>
                  <a:tcPr marL="101600" marR="101600" marT="38100" marB="38100" anchor="ctr">
                    <a:solidFill>
                      <a:srgbClr val="2B4A7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Decision</a:t>
                      </a:r>
                    </a:p>
                  </a:txBody>
                  <a:tcPr marL="101600" marR="101600" marT="38100" marB="38100" anchor="ctr">
                    <a:solidFill>
                      <a:srgbClr val="2B4A7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Reason</a:t>
                      </a:r>
                    </a:p>
                  </a:txBody>
                  <a:tcPr marL="101600" marR="101600" marT="38100" marB="38100" anchor="ctr">
                    <a:solidFill>
                      <a:srgbClr val="2B4A7D"/>
                    </a:solidFill>
                  </a:tcPr>
                </a:tc>
              </a:tr>
              <a:tr h="352552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C1C1A"/>
                          </a:solidFill>
                          <a:latin typeface="Calibri"/>
                        </a:rPr>
                        <a:t>order_id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C1C1A"/>
                          </a:solidFill>
                          <a:latin typeface="Calibri"/>
                        </a:rPr>
                        <a:t>Repeated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C1C1A"/>
                          </a:solidFill>
                          <a:latin typeface="Calibri"/>
                        </a:rPr>
                        <a:t>15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C1C1A"/>
                          </a:solidFill>
                          <a:latin typeface="Calibri"/>
                        </a:rPr>
                        <a:t>Drop later occurrences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C1C1A"/>
                          </a:solidFill>
                          <a:latin typeface="Calibri"/>
                        </a:rPr>
                        <a:t>Migration re-ran a batch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52552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C1C1A"/>
                          </a:solidFill>
                          <a:latin typeface="Calibri"/>
                        </a:rPr>
                        <a:t>status</a:t>
                      </a:r>
                    </a:p>
                  </a:txBody>
                  <a:tcPr marL="101600" marR="101600" marT="38100" marB="38100" anchor="ctr">
                    <a:solidFill>
                      <a:srgbClr val="F7F7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C1C1A"/>
                          </a:solidFill>
                          <a:latin typeface="Calibri"/>
                        </a:rPr>
                        <a:t>Absent</a:t>
                      </a:r>
                    </a:p>
                  </a:txBody>
                  <a:tcPr marL="101600" marR="101600" marT="38100" marB="38100" anchor="ctr">
                    <a:solidFill>
                      <a:srgbClr val="F7F7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C1C1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101600" marR="101600" marT="38100" marB="38100" anchor="ctr">
                    <a:solidFill>
                      <a:srgbClr val="F7F7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C1C1A"/>
                          </a:solidFill>
                          <a:latin typeface="Calibri"/>
                        </a:rPr>
                        <a:t>Reject the row</a:t>
                      </a:r>
                    </a:p>
                  </a:txBody>
                  <a:tcPr marL="101600" marR="101600" marT="38100" marB="38100" anchor="ctr">
                    <a:solidFill>
                      <a:srgbClr val="F7F7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C1C1A"/>
                          </a:solidFill>
                          <a:latin typeface="Calibri"/>
                        </a:rPr>
                        <a:t>Cannot classify the order without it</a:t>
                      </a:r>
                    </a:p>
                  </a:txBody>
                  <a:tcPr marL="101600" marR="101600" marT="38100" marB="38100" anchor="ctr">
                    <a:solidFill>
                      <a:srgbClr val="F7F7F5"/>
                    </a:solidFill>
                  </a:tcPr>
                </a:tc>
              </a:tr>
              <a:tr h="352552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C1C1A"/>
                          </a:solidFill>
                          <a:latin typeface="Calibri"/>
                        </a:rPr>
                        <a:t>amount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C1C1A"/>
                          </a:solidFill>
                          <a:latin typeface="Calibri"/>
                        </a:rPr>
                        <a:t>twelve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C1C1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C1C1A"/>
                          </a:solidFill>
                          <a:latin typeface="Calibri"/>
                        </a:rPr>
                        <a:t>Reject the row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C1C1A"/>
                          </a:solidFill>
                          <a:latin typeface="Calibri"/>
                        </a:rPr>
                        <a:t>Guessing a value invents revenue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85800" y="4218432"/>
            <a:ext cx="10820095" cy="910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1C1C1A"/>
                </a:solidFill>
                <a:latin typeface="Calibri"/>
              </a:rPr>
              <a:t>An auditor reads this table, not your code. Write it as you go, because writing it afterwards means writing it from memory.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6327648"/>
            <a:ext cx="10820095" cy="12801"/>
          </a:xfrm>
          <a:prstGeom prst="rect">
            <a:avLst/>
          </a:prstGeom>
          <a:solidFill>
            <a:srgbClr val="C9C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391656"/>
            <a:ext cx="97228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>
                <a:solidFill>
                  <a:srgbClr val="5F6360"/>
                </a:solidFill>
                <a:latin typeface="Calibri"/>
              </a:rPr>
              <a:t>Week 1, Day 3. Half two: decide, record, reconcile, recompute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408615" y="6391656"/>
            <a:ext cx="10972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>
                <a:solidFill>
                  <a:srgbClr val="5F6360"/>
                </a:solidFill>
                <a:latin typeface="Calibri"/>
              </a:rPr>
              <a:t>7 / 19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85800" y="603504"/>
            <a:ext cx="786384" cy="274320"/>
          </a:xfrm>
          <a:prstGeom prst="round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S6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18488" y="493776"/>
            <a:ext cx="9704527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300" b="1">
                <a:solidFill>
                  <a:srgbClr val="1C1C1A"/>
                </a:solidFill>
                <a:latin typeface="Calibri"/>
              </a:rPr>
              <a:t>The one that must not be cleaned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335024"/>
            <a:ext cx="10820095" cy="32004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3157728"/>
            <a:ext cx="10820095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1C1C1A"/>
                </a:solidFill>
                <a:latin typeface="Calibri"/>
              </a:rPr>
              <a:t>The Rs 4,80,000 corporate order is an outlier and it is </a:t>
            </a:r>
            <a:r>
              <a:rPr sz="2000" b="1">
                <a:solidFill>
                  <a:srgbClr val="1C1C1A"/>
                </a:solidFill>
                <a:latin typeface="Calibri"/>
              </a:rPr>
              <a:t>real</a:t>
            </a:r>
            <a:r>
              <a:rPr sz="2000" b="0">
                <a:solidFill>
                  <a:srgbClr val="1C1C1A"/>
                </a:solidFill>
                <a:latin typeface="Calibri"/>
              </a:rPr>
              <a:t>.</a:t>
            </a:r>
          </a:p>
          <a:p>
            <a:pPr>
              <a:spcAft>
                <a:spcPts val="900"/>
              </a:spcAft>
            </a:pPr>
            <a:r>
              <a:rPr sz="2000" b="0">
                <a:solidFill>
                  <a:srgbClr val="1C1C1A"/>
                </a:solidFill>
                <a:latin typeface="Calibri"/>
              </a:rPr>
              <a:t>It survives the pass, and the log records that it was looked at and kept. Remove every uncomfortable row and you end up with a dataset that agrees with you.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6327648"/>
            <a:ext cx="10820095" cy="12801"/>
          </a:xfrm>
          <a:prstGeom prst="rect">
            <a:avLst/>
          </a:prstGeom>
          <a:solidFill>
            <a:srgbClr val="C9C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6391656"/>
            <a:ext cx="97228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>
                <a:solidFill>
                  <a:srgbClr val="5F6360"/>
                </a:solidFill>
                <a:latin typeface="Calibri"/>
              </a:rPr>
              <a:t>Week 1, Day 3. Half two: decide, record, reconcile, recompute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408615" y="6391656"/>
            <a:ext cx="10972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>
                <a:solidFill>
                  <a:srgbClr val="5F6360"/>
                </a:solidFill>
                <a:latin typeface="Calibri"/>
              </a:rPr>
              <a:t>8 / 19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85800" y="603504"/>
            <a:ext cx="786384" cy="274320"/>
          </a:xfrm>
          <a:prstGeom prst="roundRect">
            <a:avLst/>
          </a:prstGeom>
          <a:solidFill>
            <a:srgbClr val="1C1C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D7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573207" y="603504"/>
            <a:ext cx="932688" cy="274320"/>
          </a:xfrm>
          <a:prstGeom prst="roundRect">
            <a:avLst/>
          </a:prstGeom>
          <a:solidFill>
            <a:srgbClr val="1C1C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DEPTH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18488" y="493776"/>
            <a:ext cx="8790127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300" b="1">
                <a:solidFill>
                  <a:srgbClr val="1C1C1A"/>
                </a:solidFill>
                <a:latin typeface="Calibri"/>
              </a:rPr>
              <a:t>Which of these is cleaning, and which is deciding?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335024"/>
            <a:ext cx="10820095" cy="32004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85800" y="3180588"/>
            <a:ext cx="10820095" cy="1319784"/>
          </a:xfrm>
          <a:prstGeom prst="rect">
            <a:avLst/>
          </a:prstGeom>
          <a:solidFill>
            <a:srgbClr val="E4EC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85800" y="3180588"/>
            <a:ext cx="50292" cy="1319784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41832" y="3272028"/>
            <a:ext cx="10362895" cy="1173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000" b="1">
                <a:solidFill>
                  <a:srgbClr val="2B4A7D"/>
                </a:solidFill>
                <a:latin typeface="Calibri"/>
              </a:rPr>
              <a:t>Question. </a:t>
            </a:r>
            <a:r>
              <a:rPr sz="2000" b="0">
                <a:solidFill>
                  <a:srgbClr val="1C1C1A"/>
                </a:solidFill>
                <a:latin typeface="Calibri"/>
              </a:rPr>
              <a:t>Dropping a header row read as a record, against dropping an order that is four times larger than any other. Same action, same effect on the total. Are they the same kind of move?</a:t>
            </a:r>
          </a:p>
        </p:txBody>
      </p:sp>
      <p:sp>
        <p:nvSpPr>
          <p:cNvPr id="10" name="Rectangle 9"/>
          <p:cNvSpPr/>
          <p:nvPr/>
        </p:nvSpPr>
        <p:spPr>
          <a:xfrm>
            <a:off x="685800" y="6327648"/>
            <a:ext cx="10820095" cy="12801"/>
          </a:xfrm>
          <a:prstGeom prst="rect">
            <a:avLst/>
          </a:prstGeom>
          <a:solidFill>
            <a:srgbClr val="C9C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6391656"/>
            <a:ext cx="97228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>
                <a:solidFill>
                  <a:srgbClr val="5F6360"/>
                </a:solidFill>
                <a:latin typeface="Calibri"/>
              </a:rPr>
              <a:t>Week 1, Day 3. Half two: decide, record, reconcile, recompute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408615" y="6391656"/>
            <a:ext cx="10972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>
                <a:solidFill>
                  <a:srgbClr val="5F6360"/>
                </a:solidFill>
                <a:latin typeface="Calibri"/>
              </a:rPr>
              <a:t>9 / 19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85800" y="603504"/>
            <a:ext cx="786384" cy="274320"/>
          </a:xfrm>
          <a:prstGeom prst="roundRect">
            <a:avLst/>
          </a:prstGeom>
          <a:solidFill>
            <a:srgbClr val="1C1C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D8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573207" y="603504"/>
            <a:ext cx="932688" cy="274320"/>
          </a:xfrm>
          <a:prstGeom prst="roundRect">
            <a:avLst/>
          </a:prstGeom>
          <a:solidFill>
            <a:srgbClr val="1C1C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DEPTH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18488" y="493776"/>
            <a:ext cx="8790127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300" b="1">
                <a:solidFill>
                  <a:srgbClr val="1C1C1A"/>
                </a:solidFill>
                <a:latin typeface="Calibri"/>
              </a:rPr>
              <a:t>Answer: one is a parse fix, one is a judgment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335024"/>
            <a:ext cx="10820095" cy="32004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2812288"/>
            <a:ext cx="10820095" cy="205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1C1C1A"/>
                </a:solidFill>
                <a:latin typeface="Calibri"/>
              </a:rPr>
              <a:t>The header row was never an order. Removing it corrects a reading error and needs a line in the log.</a:t>
            </a:r>
          </a:p>
          <a:p>
            <a:pPr>
              <a:spcAft>
                <a:spcPts val="900"/>
              </a:spcAft>
            </a:pPr>
            <a:r>
              <a:rPr sz="2000" b="0">
                <a:solidFill>
                  <a:srgbClr val="1C1C1A"/>
                </a:solidFill>
                <a:latin typeface="Calibri"/>
              </a:rPr>
              <a:t>The corporate order is an order. Removing it is a claim about which customers count, and it needs a reason somebody outside the team would accept. There is rarely one.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6327648"/>
            <a:ext cx="10820095" cy="12801"/>
          </a:xfrm>
          <a:prstGeom prst="rect">
            <a:avLst/>
          </a:prstGeom>
          <a:solidFill>
            <a:srgbClr val="C9C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391656"/>
            <a:ext cx="97228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>
                <a:solidFill>
                  <a:srgbClr val="5F6360"/>
                </a:solidFill>
                <a:latin typeface="Calibri"/>
              </a:rPr>
              <a:t>Week 1, Day 3. Half two: decide, record, reconcile, recompute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408615" y="6391656"/>
            <a:ext cx="10972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>
                <a:solidFill>
                  <a:srgbClr val="5F6360"/>
                </a:solidFill>
                <a:latin typeface="Calibri"/>
              </a:rPr>
              <a:t>10 / 19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2377440"/>
            <a:ext cx="10820095" cy="1463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4000" b="1">
                <a:solidFill>
                  <a:srgbClr val="FFFFFF"/>
                </a:solidFill>
                <a:latin typeface="Calibri"/>
              </a:rPr>
              <a:t>SECTION C. The bridge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6327648"/>
            <a:ext cx="10820095" cy="128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6391656"/>
            <a:ext cx="97228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>
                <a:solidFill>
                  <a:srgbClr val="FFFFFF"/>
                </a:solidFill>
                <a:latin typeface="Calibri"/>
              </a:rPr>
              <a:t>Week 1, Day 3. Half two: decide, record, reconcile, recompute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08615" y="6391656"/>
            <a:ext cx="10972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>
                <a:solidFill>
                  <a:srgbClr val="FFFFFF"/>
                </a:solidFill>
                <a:latin typeface="Calibri"/>
              </a:rPr>
              <a:t>11 / 19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85800" y="603504"/>
            <a:ext cx="786384" cy="274320"/>
          </a:xfrm>
          <a:prstGeom prst="round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S9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18488" y="493776"/>
            <a:ext cx="9704527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600" b="1">
                <a:solidFill>
                  <a:srgbClr val="1C1C1A"/>
                </a:solidFill>
                <a:latin typeface="Calibri"/>
              </a:rPr>
              <a:t>The only equation of the day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335024"/>
            <a:ext cx="10820095" cy="32004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2301240"/>
            <a:ext cx="10820095" cy="544576"/>
          </a:xfrm>
          <a:prstGeom prst="rect">
            <a:avLst/>
          </a:prstGeom>
          <a:solidFill>
            <a:srgbClr val="1C1C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85800" y="2301240"/>
            <a:ext cx="50292" cy="544576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23544" y="2401824"/>
            <a:ext cx="10417759" cy="361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600" b="0">
                <a:solidFill>
                  <a:srgbClr val="E4ECF7"/>
                </a:solidFill>
                <a:latin typeface="Consolas"/>
              </a:rPr>
              <a:t>INPUT = CLEAN + REJECTED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85800" y="3010408"/>
          <a:ext cx="10820094" cy="1548384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2331763"/>
                <a:gridCol w="8488331"/>
              </a:tblGrid>
              <a:tr h="387096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  <a:latin typeface="Calibri"/>
                        </a:rPr>
                        <a:t>Term</a:t>
                      </a:r>
                    </a:p>
                  </a:txBody>
                  <a:tcPr marL="101600" marR="101600" marT="38100" marB="38100" anchor="ctr">
                    <a:solidFill>
                      <a:srgbClr val="2B4A7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  <a:latin typeface="Calibri"/>
                        </a:rPr>
                        <a:t>Today</a:t>
                      </a:r>
                    </a:p>
                  </a:txBody>
                  <a:tcPr marL="101600" marR="101600" marT="38100" marB="38100" anchor="ctr">
                    <a:solidFill>
                      <a:srgbClr val="2B4A7D"/>
                    </a:solidFill>
                  </a:tcPr>
                </a:tc>
              </a:tr>
              <a:tr h="38709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C1C1A"/>
                          </a:solidFill>
                          <a:latin typeface="Calibri"/>
                        </a:rPr>
                        <a:t>Input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C1C1A"/>
                          </a:solidFill>
                          <a:latin typeface="Calibri"/>
                        </a:rPr>
                        <a:t>201 rows, as the export arrived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8709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C1C1A"/>
                          </a:solidFill>
                          <a:latin typeface="Calibri"/>
                        </a:rPr>
                        <a:t>Clean</a:t>
                      </a:r>
                    </a:p>
                  </a:txBody>
                  <a:tcPr marL="101600" marR="101600" marT="38100" marB="38100" anchor="ctr">
                    <a:solidFill>
                      <a:srgbClr val="F7F7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C1C1A"/>
                          </a:solidFill>
                          <a:latin typeface="Calibri"/>
                        </a:rPr>
                        <a:t>184 rows, what the analysis runs on</a:t>
                      </a:r>
                    </a:p>
                  </a:txBody>
                  <a:tcPr marL="101600" marR="101600" marT="38100" marB="38100" anchor="ctr">
                    <a:solidFill>
                      <a:srgbClr val="F7F7F5"/>
                    </a:solidFill>
                  </a:tcPr>
                </a:tc>
              </a:tr>
              <a:tr h="38709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C1C1A"/>
                          </a:solidFill>
                          <a:latin typeface="Calibri"/>
                        </a:rPr>
                        <a:t>Rejected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C1C1A"/>
                          </a:solidFill>
                          <a:latin typeface="Calibri"/>
                        </a:rPr>
                        <a:t>17 rows, each with a written reason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85800" y="4814824"/>
            <a:ext cx="10820095" cy="564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1C1C1A"/>
                </a:solidFill>
                <a:latin typeface="Calibri"/>
              </a:rPr>
              <a:t>184 plus 17 is 201. A pass that cannot produce this is a pass nobody can check.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85800" y="6327648"/>
            <a:ext cx="10820095" cy="12801"/>
          </a:xfrm>
          <a:prstGeom prst="rect">
            <a:avLst/>
          </a:prstGeom>
          <a:solidFill>
            <a:srgbClr val="C9C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" y="6391656"/>
            <a:ext cx="97228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>
                <a:solidFill>
                  <a:srgbClr val="5F6360"/>
                </a:solidFill>
                <a:latin typeface="Calibri"/>
              </a:rPr>
              <a:t>Week 1, Day 3. Half two: decide, record, reconcile, recompute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408615" y="6391656"/>
            <a:ext cx="10972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>
                <a:solidFill>
                  <a:srgbClr val="5F6360"/>
                </a:solidFill>
                <a:latin typeface="Calibri"/>
              </a:rPr>
              <a:t>12 / 19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85800" y="603504"/>
            <a:ext cx="786384" cy="274320"/>
          </a:xfrm>
          <a:prstGeom prst="round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S10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18488" y="493776"/>
            <a:ext cx="9704527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3000" b="1">
                <a:solidFill>
                  <a:srgbClr val="1C1C1A"/>
                </a:solidFill>
                <a:latin typeface="Calibri"/>
              </a:rPr>
              <a:t>The revenue bridge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335024"/>
            <a:ext cx="10820095" cy="32004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6" name="Picture 5" descr="acc3484f6f4b888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2959582"/>
            <a:ext cx="10820095" cy="705155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85800" y="3811041"/>
            <a:ext cx="10820095" cy="910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1C1C1A"/>
                </a:solidFill>
                <a:latin typeface="Calibri"/>
              </a:rPr>
              <a:t>It lands on Finance's number. </a:t>
            </a:r>
            <a:r>
              <a:rPr sz="2000" b="1">
                <a:solidFill>
                  <a:srgbClr val="1C1C1A"/>
                </a:solidFill>
                <a:latin typeface="Calibri"/>
              </a:rPr>
              <a:t>Anand was right</a:t>
            </a:r>
            <a:r>
              <a:rPr sz="2000" b="0">
                <a:solidFill>
                  <a:srgbClr val="1C1C1A"/>
                </a:solidFill>
                <a:latin typeface="Calibri"/>
              </a:rPr>
              <a:t>, and the dashboard was counting a migration twice.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6327648"/>
            <a:ext cx="10820095" cy="12801"/>
          </a:xfrm>
          <a:prstGeom prst="rect">
            <a:avLst/>
          </a:prstGeom>
          <a:solidFill>
            <a:srgbClr val="C9C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391656"/>
            <a:ext cx="97228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>
                <a:solidFill>
                  <a:srgbClr val="5F6360"/>
                </a:solidFill>
                <a:latin typeface="Calibri"/>
              </a:rPr>
              <a:t>Week 1, Day 3. Half two: decide, record, reconcile, recompute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408615" y="6391656"/>
            <a:ext cx="10972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>
                <a:solidFill>
                  <a:srgbClr val="5F6360"/>
                </a:solidFill>
                <a:latin typeface="Calibri"/>
              </a:rPr>
              <a:t>13 / 19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85800" y="603504"/>
            <a:ext cx="786384" cy="274320"/>
          </a:xfrm>
          <a:prstGeom prst="round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S11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18488" y="493776"/>
            <a:ext cx="9704527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600" b="1">
                <a:solidFill>
                  <a:srgbClr val="1C1C1A"/>
                </a:solidFill>
                <a:latin typeface="Calibri"/>
              </a:rPr>
              <a:t>What the note to Finance says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335024"/>
            <a:ext cx="10820095" cy="32004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1627632"/>
            <a:ext cx="41148" cy="839216"/>
          </a:xfrm>
          <a:prstGeom prst="rect">
            <a:avLst/>
          </a:prstGeom>
          <a:solidFill>
            <a:srgbClr val="C9C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23544" y="1627632"/>
            <a:ext cx="10545775" cy="839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900" b="0" i="1">
                <a:solidFill>
                  <a:srgbClr val="5F6360"/>
                </a:solidFill>
                <a:latin typeface="Calibri"/>
              </a:rPr>
              <a:t>"Your 1.9 is correct. The export carried 201 rows against 186 distinct orders, because the Q1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2613152"/>
            <a:ext cx="41148" cy="839216"/>
          </a:xfrm>
          <a:prstGeom prst="rect">
            <a:avLst/>
          </a:prstGeom>
          <a:solidFill>
            <a:srgbClr val="C9C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23544" y="2613152"/>
            <a:ext cx="10545775" cy="839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900" b="0" i="1">
                <a:solidFill>
                  <a:srgbClr val="5F6360"/>
                </a:solidFill>
                <a:latin typeface="Calibri"/>
              </a:rPr>
              <a:t>migration re-ran a batch. Removing the repeats, one row with no status and one amount that will</a:t>
            </a:r>
          </a:p>
        </p:txBody>
      </p:sp>
      <p:sp>
        <p:nvSpPr>
          <p:cNvPr id="10" name="Rectangle 9"/>
          <p:cNvSpPr/>
          <p:nvPr/>
        </p:nvSpPr>
        <p:spPr>
          <a:xfrm>
            <a:off x="685800" y="3598672"/>
            <a:ext cx="41148" cy="839216"/>
          </a:xfrm>
          <a:prstGeom prst="rect">
            <a:avLst/>
          </a:prstGeom>
          <a:solidFill>
            <a:srgbClr val="C9C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23544" y="3598672"/>
            <a:ext cx="10545775" cy="839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900" b="0" i="1">
                <a:solidFill>
                  <a:srgbClr val="5F6360"/>
                </a:solidFill>
                <a:latin typeface="Calibri"/>
              </a:rPr>
              <a:t>not convert gives Rs 1.90 crore against your books. The decisions log is attached, and the one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85800" y="4584192"/>
            <a:ext cx="41148" cy="511048"/>
          </a:xfrm>
          <a:prstGeom prst="rect">
            <a:avLst/>
          </a:prstGeom>
          <a:solidFill>
            <a:srgbClr val="C9C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23544" y="4584192"/>
            <a:ext cx="10545775" cy="511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900" b="0" i="1">
                <a:solidFill>
                  <a:srgbClr val="5F6360"/>
                </a:solidFill>
                <a:latin typeface="Calibri"/>
              </a:rPr>
              <a:t>outlier in the file is a real corporate order which I have kept."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5241544"/>
            <a:ext cx="10820095" cy="564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1C1C1A"/>
                </a:solidFill>
                <a:latin typeface="Calibri"/>
              </a:rPr>
              <a:t>Numbers first, the cause, the reconciliation, what you kept and why.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85800" y="6327648"/>
            <a:ext cx="10820095" cy="12801"/>
          </a:xfrm>
          <a:prstGeom prst="rect">
            <a:avLst/>
          </a:prstGeom>
          <a:solidFill>
            <a:srgbClr val="C9C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5800" y="6391656"/>
            <a:ext cx="97228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>
                <a:solidFill>
                  <a:srgbClr val="5F6360"/>
                </a:solidFill>
                <a:latin typeface="Calibri"/>
              </a:rPr>
              <a:t>Week 1, Day 3. Half two: decide, record, reconcile, recompute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408615" y="6391656"/>
            <a:ext cx="10972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>
                <a:solidFill>
                  <a:srgbClr val="5F6360"/>
                </a:solidFill>
                <a:latin typeface="Calibri"/>
              </a:rPr>
              <a:t>14 / 19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2377440"/>
            <a:ext cx="10820095" cy="1463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4000" b="1">
                <a:solidFill>
                  <a:srgbClr val="FFFFFF"/>
                </a:solidFill>
                <a:latin typeface="Calibri"/>
              </a:rPr>
              <a:t>SECTION D. What changed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6327648"/>
            <a:ext cx="10820095" cy="128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6391656"/>
            <a:ext cx="97228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>
                <a:solidFill>
                  <a:srgbClr val="FFFFFF"/>
                </a:solidFill>
                <a:latin typeface="Calibri"/>
              </a:rPr>
              <a:t>Week 1, Day 3. Half two: decide, record, reconcile, recompute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08615" y="6391656"/>
            <a:ext cx="10972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>
                <a:solidFill>
                  <a:srgbClr val="FFFFFF"/>
                </a:solidFill>
                <a:latin typeface="Calibri"/>
              </a:rPr>
              <a:t>15 / 19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85800" y="603504"/>
            <a:ext cx="786384" cy="274320"/>
          </a:xfrm>
          <a:prstGeom prst="round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S12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18488" y="493776"/>
            <a:ext cx="9704527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600" b="1">
                <a:solidFill>
                  <a:srgbClr val="1C1C1A"/>
                </a:solidFill>
                <a:latin typeface="Calibri"/>
              </a:rPr>
              <a:t>Tuesday's numbers, recomputed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335024"/>
            <a:ext cx="10820095" cy="32004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85800" y="2462276"/>
          <a:ext cx="10820094" cy="193548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3444425"/>
                <a:gridCol w="3606698"/>
                <a:gridCol w="3768971"/>
              </a:tblGrid>
              <a:tr h="387096">
                <a:tc>
                  <a:txBody>
                    <a:bodyPr/>
                    <a:lstStyle/>
                    <a:p/>
                  </a:txBody>
                  <a:tcPr marL="101600" marR="101600" marT="38100" marB="38100" anchor="ctr">
                    <a:solidFill>
                      <a:srgbClr val="2B4A7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  <a:latin typeface="Calibri"/>
                        </a:rPr>
                        <a:t>Tuesday, as exported</a:t>
                      </a:r>
                    </a:p>
                  </a:txBody>
                  <a:tcPr marL="101600" marR="101600" marT="38100" marB="38100" anchor="ctr">
                    <a:solidFill>
                      <a:srgbClr val="2B4A7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  <a:latin typeface="Calibri"/>
                        </a:rPr>
                        <a:t>Wednesday, reconciled</a:t>
                      </a:r>
                    </a:p>
                  </a:txBody>
                  <a:tcPr marL="101600" marR="101600" marT="38100" marB="38100" anchor="ctr">
                    <a:solidFill>
                      <a:srgbClr val="2B4A7D"/>
                    </a:solidFill>
                  </a:tcPr>
                </a:tc>
              </a:tr>
              <a:tr h="38709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C1C1A"/>
                          </a:solidFill>
                          <a:latin typeface="Calibri"/>
                        </a:rPr>
                        <a:t>Q1 revenue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C1C1A"/>
                          </a:solidFill>
                          <a:latin typeface="Calibri"/>
                        </a:rPr>
                        <a:t>Rs 2.10 crore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C1C1A"/>
                          </a:solidFill>
                          <a:latin typeface="Calibri"/>
                        </a:rPr>
                        <a:t>Rs 1.90 crore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8709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C1C1A"/>
                          </a:solidFill>
                          <a:latin typeface="Calibri"/>
                        </a:rPr>
                        <a:t>Q2 revenue</a:t>
                      </a:r>
                    </a:p>
                  </a:txBody>
                  <a:tcPr marL="101600" marR="101600" marT="38100" marB="38100" anchor="ctr">
                    <a:solidFill>
                      <a:srgbClr val="F7F7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C1C1A"/>
                          </a:solidFill>
                          <a:latin typeface="Calibri"/>
                        </a:rPr>
                        <a:t>Rs 1.87 crore</a:t>
                      </a:r>
                    </a:p>
                  </a:txBody>
                  <a:tcPr marL="101600" marR="101600" marT="38100" marB="38100" anchor="ctr">
                    <a:solidFill>
                      <a:srgbClr val="F7F7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C1C1A"/>
                          </a:solidFill>
                          <a:latin typeface="Calibri"/>
                        </a:rPr>
                        <a:t>Rs 1.87 crore</a:t>
                      </a:r>
                    </a:p>
                  </a:txBody>
                  <a:tcPr marL="101600" marR="101600" marT="38100" marB="38100" anchor="ctr">
                    <a:solidFill>
                      <a:srgbClr val="F7F7F5"/>
                    </a:solidFill>
                  </a:tcPr>
                </a:tc>
              </a:tr>
              <a:tr h="38709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C1C1A"/>
                          </a:solidFill>
                          <a:latin typeface="Calibri"/>
                        </a:rPr>
                        <a:t>Revenue change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C1C1A"/>
                          </a:solidFill>
                          <a:latin typeface="Calibri"/>
                        </a:rPr>
                        <a:t>down 11.0 percent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C1C1A"/>
                          </a:solidFill>
                          <a:latin typeface="Calibri"/>
                        </a:rPr>
                        <a:t>down 1.6 percent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8709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C1C1A"/>
                          </a:solidFill>
                          <a:latin typeface="Calibri"/>
                        </a:rPr>
                        <a:t>Orders per customer</a:t>
                      </a:r>
                    </a:p>
                  </a:txBody>
                  <a:tcPr marL="101600" marR="101600" marT="38100" marB="38100" anchor="ctr">
                    <a:solidFill>
                      <a:srgbClr val="F7F7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C1C1A"/>
                          </a:solidFill>
                          <a:latin typeface="Calibri"/>
                        </a:rPr>
                        <a:t>down 24.6 percent</a:t>
                      </a:r>
                    </a:p>
                  </a:txBody>
                  <a:tcPr marL="101600" marR="101600" marT="38100" marB="38100" anchor="ctr">
                    <a:solidFill>
                      <a:srgbClr val="F7F7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C1C1A"/>
                          </a:solidFill>
                          <a:latin typeface="Calibri"/>
                        </a:rPr>
                        <a:t>down 12.9 percent</a:t>
                      </a:r>
                    </a:p>
                  </a:txBody>
                  <a:tcPr marL="101600" marR="101600" marT="38100" marB="38100" anchor="ctr">
                    <a:solidFill>
                      <a:srgbClr val="F7F7F5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85800" y="4653788"/>
            <a:ext cx="10820095" cy="564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1C1C1A"/>
                </a:solidFill>
                <a:latin typeface="Calibri"/>
              </a:rPr>
              <a:t>The headline drop was mostly a migration. Saying that out loud is the job.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6327648"/>
            <a:ext cx="10820095" cy="12801"/>
          </a:xfrm>
          <a:prstGeom prst="rect">
            <a:avLst/>
          </a:prstGeom>
          <a:solidFill>
            <a:srgbClr val="C9C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391656"/>
            <a:ext cx="97228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>
                <a:solidFill>
                  <a:srgbClr val="5F6360"/>
                </a:solidFill>
                <a:latin typeface="Calibri"/>
              </a:rPr>
              <a:t>Week 1, Day 3. Half two: decide, record, reconcile, recompute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408615" y="6391656"/>
            <a:ext cx="10972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>
                <a:solidFill>
                  <a:srgbClr val="5F6360"/>
                </a:solidFill>
                <a:latin typeface="Calibri"/>
              </a:rPr>
              <a:t>16 / 19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85800" y="603504"/>
            <a:ext cx="786384" cy="274320"/>
          </a:xfrm>
          <a:prstGeom prst="round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S13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18488" y="493776"/>
            <a:ext cx="9704527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300" b="1">
                <a:solidFill>
                  <a:srgbClr val="1C1C1A"/>
                </a:solidFill>
                <a:latin typeface="Calibri"/>
              </a:rPr>
              <a:t>The finding, before and after the clean pass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335024"/>
            <a:ext cx="10820095" cy="32004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6" name="Picture 5" descr="9d66a75c7fb370d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2276193"/>
            <a:ext cx="10820095" cy="2071933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85800" y="4494430"/>
            <a:ext cx="10820095" cy="910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1C1C1A"/>
                </a:solidFill>
                <a:latin typeface="Calibri"/>
              </a:rPr>
              <a:t>Retail-Plus still falls more than ten times as hard as Retail-Core. The finding survives, smaller.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6327648"/>
            <a:ext cx="10820095" cy="12801"/>
          </a:xfrm>
          <a:prstGeom prst="rect">
            <a:avLst/>
          </a:prstGeom>
          <a:solidFill>
            <a:srgbClr val="C9C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391656"/>
            <a:ext cx="97228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>
                <a:solidFill>
                  <a:srgbClr val="5F6360"/>
                </a:solidFill>
                <a:latin typeface="Calibri"/>
              </a:rPr>
              <a:t>Week 1, Day 3. Half two: decide, record, reconcile, recompute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408615" y="6391656"/>
            <a:ext cx="10972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>
                <a:solidFill>
                  <a:srgbClr val="5F6360"/>
                </a:solidFill>
                <a:latin typeface="Calibri"/>
              </a:rPr>
              <a:t>17 / 19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85800" y="603504"/>
            <a:ext cx="786384" cy="274320"/>
          </a:xfrm>
          <a:prstGeom prst="round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S14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18488" y="493776"/>
            <a:ext cx="9704527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300" b="1">
                <a:solidFill>
                  <a:srgbClr val="1C1C1A"/>
                </a:solidFill>
                <a:latin typeface="Calibri"/>
              </a:rPr>
              <a:t>What an honest analyst does next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335024"/>
            <a:ext cx="10820095" cy="32004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85800" y="2289556"/>
          <a:ext cx="10820094" cy="193548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5522228"/>
                <a:gridCol w="5297866"/>
              </a:tblGrid>
              <a:tr h="387096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  <a:latin typeface="Calibri"/>
                        </a:rPr>
                        <a:t>Do</a:t>
                      </a:r>
                    </a:p>
                  </a:txBody>
                  <a:tcPr marL="101600" marR="101600" marT="38100" marB="38100" anchor="ctr">
                    <a:solidFill>
                      <a:srgbClr val="2B4A7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  <a:latin typeface="Calibri"/>
                        </a:rPr>
                        <a:t>Do not</a:t>
                      </a:r>
                    </a:p>
                  </a:txBody>
                  <a:tcPr marL="101600" marR="101600" marT="38100" marB="38100" anchor="ctr">
                    <a:solidFill>
                      <a:srgbClr val="2B4A7D"/>
                    </a:solidFill>
                  </a:tcPr>
                </a:tc>
              </a:tr>
              <a:tr h="38709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C1C1A"/>
                          </a:solidFill>
                          <a:latin typeface="Calibri"/>
                        </a:rPr>
                        <a:t>Send the corrected numbers unprompted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C1C1A"/>
                          </a:solidFill>
                          <a:latin typeface="Calibri"/>
                        </a:rPr>
                        <a:t>Wait to be asked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8709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C1C1A"/>
                          </a:solidFill>
                          <a:latin typeface="Calibri"/>
                        </a:rPr>
                        <a:t>Say which of Tuesday's sentences moved</a:t>
                      </a:r>
                    </a:p>
                  </a:txBody>
                  <a:tcPr marL="101600" marR="101600" marT="38100" marB="38100" anchor="ctr">
                    <a:solidFill>
                      <a:srgbClr val="F7F7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C1C1A"/>
                          </a:solidFill>
                          <a:latin typeface="Calibri"/>
                        </a:rPr>
                        <a:t>Quietly reuse the old slide</a:t>
                      </a:r>
                    </a:p>
                  </a:txBody>
                  <a:tcPr marL="101600" marR="101600" marT="38100" marB="38100" anchor="ctr">
                    <a:solidFill>
                      <a:srgbClr val="F7F7F5"/>
                    </a:solidFill>
                  </a:tcPr>
                </a:tc>
              </a:tr>
              <a:tr h="38709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C1C1A"/>
                          </a:solidFill>
                          <a:latin typeface="Calibri"/>
                        </a:rPr>
                        <a:t>Keep the finding, with its new number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C1C1A"/>
                          </a:solidFill>
                          <a:latin typeface="Calibri"/>
                        </a:rPr>
                        <a:t>Abandon it because the headline shrank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8709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C1C1A"/>
                          </a:solidFill>
                          <a:latin typeface="Calibri"/>
                        </a:rPr>
                        <a:t>Note that the fall is now smaller than reported</a:t>
                      </a:r>
                    </a:p>
                  </a:txBody>
                  <a:tcPr marL="101600" marR="101600" marT="38100" marB="38100" anchor="ctr">
                    <a:solidFill>
                      <a:srgbClr val="F7F7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C1C1A"/>
                          </a:solidFill>
                          <a:latin typeface="Calibri"/>
                        </a:rPr>
                        <a:t>Let the bigger number stand because it helped</a:t>
                      </a:r>
                    </a:p>
                  </a:txBody>
                  <a:tcPr marL="101600" marR="101600" marT="38100" marB="38100" anchor="ctr">
                    <a:solidFill>
                      <a:srgbClr val="F7F7F5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85800" y="4481068"/>
            <a:ext cx="10820095" cy="910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1C1C1A"/>
                </a:solidFill>
                <a:latin typeface="Calibri"/>
              </a:rPr>
              <a:t>The reputational risk is never the wrong number. It is the wrong number that stayed up after you knew.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6327648"/>
            <a:ext cx="10820095" cy="12801"/>
          </a:xfrm>
          <a:prstGeom prst="rect">
            <a:avLst/>
          </a:prstGeom>
          <a:solidFill>
            <a:srgbClr val="C9C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391656"/>
            <a:ext cx="97228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>
                <a:solidFill>
                  <a:srgbClr val="5F6360"/>
                </a:solidFill>
                <a:latin typeface="Calibri"/>
              </a:rPr>
              <a:t>Week 1, Day 3. Half two: decide, record, reconcile, recompute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408615" y="6391656"/>
            <a:ext cx="10972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>
                <a:solidFill>
                  <a:srgbClr val="5F6360"/>
                </a:solidFill>
                <a:latin typeface="Calibri"/>
              </a:rPr>
              <a:t>18 / 19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85800" y="603504"/>
            <a:ext cx="786384" cy="274320"/>
          </a:xfrm>
          <a:prstGeom prst="round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S15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18488" y="493776"/>
            <a:ext cx="9704527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600" b="1">
                <a:solidFill>
                  <a:srgbClr val="1C1C1A"/>
                </a:solidFill>
                <a:latin typeface="Calibri"/>
              </a:rPr>
              <a:t>What this makes you ready for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335024"/>
            <a:ext cx="10820095" cy="32004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2985008"/>
            <a:ext cx="10820095" cy="17109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1C1C1A"/>
                </a:solidFill>
                <a:latin typeface="Calibri"/>
              </a:rPr>
              <a:t>Two figures disagreed, and you can now say which was right and prove it in four lines.</a:t>
            </a:r>
          </a:p>
          <a:p>
            <a:pPr>
              <a:spcAft>
                <a:spcPts val="900"/>
              </a:spcAft>
            </a:pPr>
            <a:r>
              <a:rPr sz="2000" b="0">
                <a:solidFill>
                  <a:srgbClr val="1C1C1A"/>
                </a:solidFill>
                <a:latin typeface="Calibri"/>
              </a:rPr>
              <a:t>That is the most-asked trust question in an analyst interview, and you have an answer with a bridge attached.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6327648"/>
            <a:ext cx="10820095" cy="12801"/>
          </a:xfrm>
          <a:prstGeom prst="rect">
            <a:avLst/>
          </a:prstGeom>
          <a:solidFill>
            <a:srgbClr val="C9C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6391656"/>
            <a:ext cx="97228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>
                <a:solidFill>
                  <a:srgbClr val="5F6360"/>
                </a:solidFill>
                <a:latin typeface="Calibri"/>
              </a:rPr>
              <a:t>Week 1, Day 3. Half two: decide, record, reconcile, recompute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408615" y="6391656"/>
            <a:ext cx="10972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>
                <a:solidFill>
                  <a:srgbClr val="5F6360"/>
                </a:solidFill>
                <a:latin typeface="Calibri"/>
              </a:rPr>
              <a:t>19 / 19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