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 Say it is chapter 6:</a:t>
            </a:r>
          </a:p>
          <a:p>
            <a:r>
              <a:t>the numeral on screen reads 01 because it opens this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log that ties in rows and misses in rupees costs the team her trust in</a:t>
            </a:r>
          </a:p>
          <a:p>
            <a:r>
              <a:t>everything else it sends.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 The</a:t>
            </a:r>
          </a:p>
          <a:p>
            <a:r>
              <a:t>criminal case against individuals is unresolved, so name no person and say nobody was convicted.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23 lines: 15 set-aside rows, 1 flag, 5 decisions, 2 control totals, and an empty</a:t>
            </a:r>
          </a:p>
          <a:p>
            <a:r>
              <a:t>rejects log. Options a and d cost over an hour and still say nothing about why.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decisions log has five lines; only the identity rule moves Q1 rupees, all</a:t>
            </a:r>
          </a:p>
          <a:p>
            <a:r>
              <a:t>Rs 19,98,210, and every other decision still gets its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the notebook, read_orders() would overwrite the log's own line column, so the</a:t>
            </a:r>
          </a:p>
          <a:p>
            <a:r>
              <a:t>log is read back with a plain DictReader. Point that out if a learner trips on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06, section 3. Ask whether the room would send this. Round Rs 20 lakh</a:t>
            </a:r>
          </a:p>
          <a:p>
            <a:r>
              <a:t>set aside feels like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row reconciliation proves nothing vanished; it cannot prove the right rows</a:t>
            </a:r>
          </a:p>
          <a:p>
            <a:r>
              <a:t>stayed. The colleague's bridge closes on its own file and misses the books.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second case after the break walks this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asserts the replay equals the clean 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 by segment,</a:t>
            </a:r>
          </a:p>
          <a:p>
            <a:r>
              <a:t>both totals tie and the log replays.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a TODO twin with eight lettered</a:t>
            </a:r>
          </a:p>
          <a:p>
            <a:r>
              <a:t>choices; the brief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Eight notebook letters, ten brief letters, then the note in under 120 words.</a:t>
            </a:r>
          </a:p>
          <a:p>
            <a:r>
              <a:t>Watch for rows totalled before profiling, a first-copy dedupe, and a bridge that closes to 1.9</a:t>
            </a:r>
          </a:p>
          <a:p>
            <a:r>
              <a:t>only after rounding.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A Q1 of Rs 1,89,98,210 kept the wrong copy; a Q2 of</a:t>
            </a:r>
          </a:p>
          <a:p>
            <a:r>
              <a:t>Rs 1,57,54,540 removed 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a:t>
            </a:r>
          </a:p>
          <a:p>
            <a:r>
              <a:t>the 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Full answers in</a:t>
            </a:r>
          </a:p>
          <a:p>
            <a:r>
              <a:t>the study notes and the notebooks' In the interview sections.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Tonight's take-home tests every line on an export nobody</a:t>
            </a:r>
          </a:p>
          <a:p>
            <a:r>
              <a:t>in the room has seen.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chance reference with a shuffle.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Week 2 Tuesday meets the gateway case, where one order carries two payment</a:t>
            </a:r>
          </a:p>
          <a:p>
            <a:r>
              <a:t>rows and the rupees double.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0.xml"/><Relationship Id="rId6"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reconciliation Anand can audit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log the analyst audits</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log the analyst audits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log is finished when a stranger can replay it.</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control totals and a reason per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checks tonight; an auditor may ask next quarter.</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counts and sums at both ends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UK cafe chain's accounting hole reached GBP 94m; the auditor was fined.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An auditor who cannot trace a number to its rows signs off on it anyway, and pays for it later.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hand-overs, sized for the analyst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Lines to read at an illustrative 30 seconds a line.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98215"/>
                <a:gridCol w="914400"/>
                <a:gridCol w="1569465"/>
                <a:gridCol w="1842784"/>
                <a:gridCol w="170612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read against the raw</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by hand</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logs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logs and two totals, written as the pass runs.</a:t>
            </a:r>
          </a:p>
        </p:txBody>
      </p:sp>
      <p:pic>
        <p:nvPicPr>
          <p:cNvPr id="9" name="mermaid diagram" descr="86c68108bb00f1ba.png"/>
          <p:cNvPicPr>
            <a:picLocks noChangeAspect="1"/>
          </p:cNvPicPr>
          <p:nvPr/>
        </p:nvPicPr>
        <p:blipFill>
          <a:blip r:embed="rId5"/>
          <a:stretch>
            <a:fillRect/>
          </a:stretch>
        </p:blipFill>
        <p:spPr>
          <a:xfrm>
            <a:off x="2523556" y="1682496"/>
            <a:ext cx="7144581" cy="4517136"/>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decisions in the log, one line each.</a:t>
            </a:r>
          </a:p>
        </p:txBody>
      </p:sp>
      <p:pic>
        <p:nvPicPr>
          <p:cNvPr id="9" name="mermaid diagram" descr="1c323c0168656de8.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decisions move no Q1 rupees, and each still gets a line.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57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The logs are written with csv.DictWriter and json.dump, then read back and compared, because a log that lives only in a notebook reaches nobody.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removed repeated ids first, keeping the first copy, then converted.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when rounded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do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1,790 short of the books: the valued copy set aside, the unreadable one rejected.</a:t>
            </a:r>
          </a:p>
        </p:txBody>
      </p:sp>
      <p:pic>
        <p:nvPicPr>
          <p:cNvPr id="9" name="mermaid diagram" descr="07259466d0a819f6.png"/>
          <p:cNvPicPr>
            <a:picLocks noChangeAspect="1"/>
          </p:cNvPicPr>
          <p:nvPr/>
        </p:nvPicPr>
        <p:blipFill>
          <a:blip r:embed="rId5"/>
          <a:stretch>
            <a:fillRect/>
          </a:stretch>
        </p:blipFill>
        <p:spPr>
          <a:xfrm>
            <a:off x="2152497" y="1956816"/>
            <a:ext cx="7886700" cy="2786062"/>
          </a:xfrm>
          <a:prstGeom prst="rect">
            <a:avLst/>
          </a:prstGeom>
        </p:spPr>
      </p:pic>
      <p:sp>
        <p:nvSpPr>
          <p:cNvPr id="10" name="Rounded Rectangle 9"/>
          <p:cNvSpPr/>
          <p:nvPr/>
        </p:nvSpPr>
        <p:spPr>
          <a:xfrm>
            <a:off x="530352" y="48891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71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805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books against the clean Q1, and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and the auditor's 14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Convert inside the identity rule; then every Q1 row set aside has a kept twin.</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the rejects log is empty, and "set aside with a reason" replaces "dropped".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0" name="Oval 2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replay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less the logged lines rebuilds the clean file exactly.</a:t>
            </a:r>
          </a:p>
        </p:txBody>
      </p:sp>
      <p:pic>
        <p:nvPicPr>
          <p:cNvPr id="9" name="mermaid diagram" descr="56dc8baed6c1cc53.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and rupees both tie, a reason on every line, the twin named for every copy.</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A log is finished when a stranger can replay it.</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[D] An auditor asks why you dropped 14 rows; walk them through it.</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6</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Logs that tie in rows and rupees and replay to the clean file.</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ESCALATED CASE</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Next</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The whole pass, alone.</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full pass, alone: every chapter, on the same file, with nobody driving.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deadline, and what goes with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one file, and a log that has to stand up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Read and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distinct orders, and the three counts for every field.</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Convert with a log</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amount that fails, set aside with its line and reason.</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identity rule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One row per order, and the copy that validates stays.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Two decisions</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missing status and the largest order, each with a reason.</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Reconcile and recompute</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Rows and rupees to the books, the bridge, Tuesday,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checks you post with your letters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check in the notebook passes before the letters go into chat.</a:t>
            </a:r>
          </a:p>
        </p:txBody>
      </p:sp>
      <p:sp>
        <p:nvSpPr>
          <p:cNvPr id="10" name="TextBox 9"/>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186 + 15</a:t>
            </a:r>
          </a:p>
        </p:txBody>
      </p:sp>
      <p:sp>
        <p:nvSpPr>
          <p:cNvPr id="11" name="TextBox 10"/>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2" name="TextBox 11"/>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kept and set aside, of 201</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1,90,00,000</a:t>
            </a:r>
          </a:p>
        </p:txBody>
      </p:sp>
      <p:sp>
        <p:nvSpPr>
          <p:cNvPr id="15" name="TextBox 14"/>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6" name="TextBox 15"/>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1,87,00,000</a:t>
            </a:r>
          </a:p>
        </p:txBody>
      </p:sp>
      <p:sp>
        <p:nvSpPr>
          <p:cNvPr id="19" name="TextBox 18"/>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CLEAN</a:t>
            </a:r>
          </a:p>
        </p:txBody>
      </p:sp>
      <p:sp>
        <p:nvSpPr>
          <p:cNvPr id="20" name="TextBox 19"/>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real order kept</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-35.0%</a:t>
            </a:r>
          </a:p>
        </p:txBody>
      </p:sp>
      <p:sp>
        <p:nvSpPr>
          <p:cNvPr id="23" name="TextBox 22"/>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orders per customer, clean</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wrong number traced to the step that made it and the check that catches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wrong numbers, six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wrong figure the room produces comes from one of the day's traps.</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3893728"/>
                <a:gridCol w="4003766"/>
                <a:gridCol w="3233496"/>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369824">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Record less line; Q1 tied, so stop</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coerced 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bulk order fenced out</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369824">
                <a:tc>
                  <a:txBody>
                    <a:bodyPr/>
                    <a:lstStyle/>
                    <a:p>
                      <a:r>
                        <a:rPr sz="1400" b="0" i="0">
                          <a:solidFill>
                            <a:srgbClr val="1A1440"/>
                          </a:solidFill>
                          <a:latin typeface="Calibri"/>
                        </a:rPr>
                        <a:t>201 = 185 + 16, Q1 Rs 1,89,98,210</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most rooms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Rounding is where reconciliations go to hide.</a:t>
            </a:r>
          </a:p>
        </p:txBody>
      </p:sp>
      <p:pic>
        <p:nvPicPr>
          <p:cNvPr id="9" name="mermaid diagram" descr="28b1cd1bbca353e5.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31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77285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6192"/>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auditor asks why 14 rows were dropped, and the answer comes from the log.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auditor's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"Your log says 14 Q1 rows were dropped. Why those 14, and how do I know nothing else went?"</a:t>
            </a:r>
          </a:p>
        </p:txBody>
      </p:sp>
      <p:pic>
        <p:nvPicPr>
          <p:cNvPr id="9" name="mermaid diagram" descr="c0e7475c34b5802a.png"/>
          <p:cNvPicPr>
            <a:picLocks noChangeAspect="1"/>
          </p:cNvPicPr>
          <p:nvPr/>
        </p:nvPicPr>
        <p:blipFill>
          <a:blip r:embed="rId5"/>
          <a:stretch>
            <a:fillRect/>
          </a:stretch>
        </p:blipFill>
        <p:spPr>
          <a:xfrm>
            <a:off x="530352" y="1956816"/>
            <a:ext cx="11130991" cy="1129748"/>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statements, one supported by the evidence.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after the migration check; b) the dashboard was right all along, and the books are short; c) 14 Q1 rows are copies of kept orders, set aside by rule, and both totals tie; d) the 14 rows were outliers removed to keep Q1 in line with Q2.</a:t>
            </a:r>
          </a:p>
        </p:txBody>
      </p:sp>
      <p:pic>
        <p:nvPicPr>
          <p:cNvPr id="12" name="mermaid diagram" descr="928d3dabd505d200.png"/>
          <p:cNvPicPr>
            <a:picLocks noChangeAspect="1"/>
          </p:cNvPicPr>
          <p:nvPr/>
        </p:nvPicPr>
        <p:blipFill>
          <a:blip r:embed="rId5"/>
          <a:stretch>
            <a:fillRect/>
          </a:stretch>
        </p:blipFill>
        <p:spPr>
          <a:xfrm>
            <a:off x="3424085" y="3195828"/>
            <a:ext cx="5343525" cy="2586037"/>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statement names the rule, the evidence and both reconciliations.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aloud, the design question among them, each in under ninety seconds.</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asked everywhere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analytics screens ask of anyone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the design questions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a chapter's trap or its options, asked as a case.</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dedupe returns zero. Do you believe it?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The largest order is 1.66 times the next. Remove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Coerce, reject or repair a malformed amount, and what would switch you?</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Bridge or rebuild from a second source to prove a figure?</a:t>
                      </a:r>
                    </a:p>
                  </a:txBody>
                  <a:tcPr marL="101600" marR="101600" marT="38100" marB="38100" anchor="ctr">
                    <a:solidFill>
                      <a:srgbClr val="F4F2FA"/>
                    </a:solidFill>
                  </a:tcPr>
                </a:tc>
              </a:tr>
              <a:tr h="369824">
                <a:tc>
                  <a:txBody>
                    <a:bodyPr/>
                    <a:lstStyle/>
                    <a:p>
                      <a:r>
                        <a:rPr sz="1400" b="0" i="0">
                          <a:solidFill>
                            <a:srgbClr val="1A1440"/>
                          </a:solidFill>
                          <a:latin typeface="Calibri"/>
                        </a:rPr>
                        <a:t>[SV]</a:t>
                      </a:r>
                    </a:p>
                  </a:txBody>
                  <a:tcPr marL="101600" marR="101600" marT="38100" marB="38100" anchor="ctr">
                    <a:solidFill>
                      <a:srgbClr val="FFFFFF"/>
                    </a:solidFill>
                  </a:tcPr>
                </a:tc>
                <a:tc>
                  <a:txBody>
                    <a:bodyPr/>
                    <a:lstStyle/>
                    <a:p>
                      <a:r>
                        <a:rPr sz="1400" b="0" i="0">
                          <a:solidFill>
                            <a:srgbClr val="1A1440"/>
                          </a:solidFill>
                          <a:latin typeface="Calibri"/>
                        </a:rPr>
                        <a:t>Walk me through cleaning a file you have never seen.</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Anand, the lines worth keeping, and tomorrow's question.</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figure is right, the proof, and what changed downstream.</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65a47bb5060cb393.png"/>
          <p:cNvPicPr>
            <a:picLocks noChangeAspect="1"/>
          </p:cNvPicPr>
          <p:nvPr/>
        </p:nvPicPr>
        <p:blipFill>
          <a:blip r:embed="rId5"/>
          <a:stretch>
            <a:fillRect/>
          </a:stretch>
        </p:blipFill>
        <p:spPr>
          <a:xfrm>
            <a:off x="2152497" y="3413760"/>
            <a:ext cx="7886700" cy="11001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prints these word for word.</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 large is not wrong.</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ca5d5c77445b5892.png"/>
          <p:cNvPicPr>
            <a:picLocks noChangeAspect="1"/>
          </p:cNvPicPr>
          <p:nvPr/>
        </p:nvPicPr>
        <p:blipFill>
          <a:blip r:embed="rId6"/>
          <a:stretch>
            <a:fillRect/>
          </a:stretch>
        </p:blipFill>
        <p:spPr>
          <a:xfrm>
            <a:off x="3424085" y="3243072"/>
            <a:ext cx="5343525" cy="25860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reconciliation in other trades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checks run wherever money moves between systems.</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