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Chapter 6 first, then the full pass alone, the debrief of the room's wrong</a:t>
            </a:r>
          </a:p>
          <a:p>
            <a:r>
              <a:t>answers, the auditor in pairs, the interview drill and the close.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Notebook C2_W01_D03_06_audit_logs is the demonstration. Say it is chapter 6:</a:t>
            </a:r>
          </a:p>
          <a:p>
            <a:r>
              <a:t>the numeral on screen reads 01 because it opens this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 log that ties in rows and misses in rupees costs the team her trust in</a:t>
            </a:r>
          </a:p>
          <a:p>
            <a:r>
              <a:t>everything else it sends.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Sources checked 30 Sep 2026: BBC News, 15 March 2019; FRC, 27 September 2021. The</a:t>
            </a:r>
          </a:p>
          <a:p>
            <a:r>
              <a:t>criminal case against individuals is unresolved, so name no person and say nobody was convicted.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23 lines: 15 set-aside rows, 1 flag, 5 decisions, 2 control totals, and an empty</a:t>
            </a:r>
          </a:p>
          <a:p>
            <a:r>
              <a:t>rejects log. Options a and d cost over an hour and still say nothing about why.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decisions log has five lines; only the identity rule moves Q1 rupees, all</a:t>
            </a:r>
          </a:p>
          <a:p>
            <a:r>
              <a:t>Rs 19,98,210, and every other decision still gets its 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in chat.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In the notebook, read_orders() would overwrite the log's own line column, so the</a:t>
            </a:r>
          </a:p>
          <a:p>
            <a:r>
              <a:t>log is read back with a plain DictReader. Point that out if a learner trips on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06, section 3. Ask whether the room would send this. Round Rs 20 lakh</a:t>
            </a:r>
          </a:p>
          <a:p>
            <a:r>
              <a:t>set aside feels like proof.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A row reconciliation proves nothing vanished; it cannot prove the right rows</a:t>
            </a:r>
          </a:p>
          <a:p>
            <a:r>
              <a:t>stayed. The colleague's bridge closes on its own file and misses the books.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second case after the break walks this in pairs.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Notebook 06 asserts the replay equals the clean file.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breath: set aside, not dropped; the rule, the twin, the rupees by segment,</a:t>
            </a:r>
          </a:p>
          <a:p>
            <a:r>
              <a:t>both totals tie and the log replays.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Fifty minutes unguided. The notebook is ex1_escalated_case, a TODO twin with eight lettered</a:t>
            </a:r>
          </a:p>
          <a:p>
            <a:r>
              <a:t>choices; the brief is in exercises/unguided.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Eight notebook letters, ten brief letters, then the note in under 120 words.</a:t>
            </a:r>
          </a:p>
          <a:p>
            <a:r>
              <a:t>Watch for rows totalled before profiling, a first-copy dedupe, and a bridge that closes to 1.9</a:t>
            </a:r>
          </a:p>
          <a:p>
            <a:r>
              <a:t>only after rounding.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reference while working. A Q1 of Rs 1,89,98,210 kept the wrong copy; a Q2 of</a:t>
            </a:r>
          </a:p>
          <a:p>
            <a:r>
              <a:t>Rs 1,57,54,540 removed the bulk order. Both are debriefed next.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Put the most common wrong number on the screen first. Name no learner; name the step.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For each, ask a pair that produced it which line of code made it. Each wrong</a:t>
            </a:r>
          </a:p>
          <a:p>
            <a:r>
              <a:t>number was plausible and one check away.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If nobody produced it, show it from chapter 6. Then the 10-minute break.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Forty minutes in pairs: one drives ex2_auditor, the other plays the auditor and asks the next</a:t>
            </a:r>
          </a:p>
          <a:p>
            <a:r>
              <a:t>question only when the check passes. Swap halfway.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"Dropped" is the word to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after pairs finish question 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answer is 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Pairs: one asks, one answers, the asker times it and names the one number</a:t>
            </a:r>
          </a:p>
          <a:p>
            <a:r>
              <a:t>the answer should have used. Swap every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The shape of every answer: the rule, today's number, the check. Full answers in</a:t>
            </a:r>
          </a:p>
          <a:p>
            <a:r>
              <a:t>the study notes and the notebooks' In the interview sections.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The design questions want a choice, a sizing and the fact that would change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the Kahoot, then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it aloud once.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One line per chapter. Tonight's take-home tests every line on an export nobody</a:t>
            </a:r>
          </a:p>
          <a:p>
            <a:r>
              <a:t>in the room has seen.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Do not answer it. Thursday builds the chance reference with a shuffle.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3 minutes. Week 2 Tuesday meets the gateway case, where one order carries two payment</a:t>
            </a:r>
          </a:p>
          <a:p>
            <a:r>
              <a:t>rows and the rupees double.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9.xml"/><Relationship Id="rId5" Type="http://schemas.openxmlformats.org/officeDocument/2006/relationships/image" Target="../media/image6.png"/><Relationship Id="rId6"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2.xml"/><Relationship Id="rId5"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30.xml"/><Relationship Id="rId6"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574025"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1  ·  WEDNESDAY  ·  HALF TWO</a:t>
            </a:r>
          </a:p>
        </p:txBody>
      </p:sp>
      <p:sp>
        <p:nvSpPr>
          <p:cNvPr id="8" name="TextBox 7"/>
          <p:cNvSpPr txBox="1"/>
          <p:nvPr/>
        </p:nvSpPr>
        <p:spPr>
          <a:xfrm>
            <a:off x="621792" y="2807208"/>
            <a:ext cx="10582351" cy="663956"/>
          </a:xfrm>
          <a:prstGeom prst="rect">
            <a:avLst/>
          </a:prstGeom>
          <a:noFill/>
        </p:spPr>
        <p:txBody>
          <a:bodyPr wrap="square" anchor="t" lIns="0" rIns="0" tIns="0" bIns="0">
            <a:spAutoFit/>
          </a:bodyPr>
          <a:lstStyle/>
          <a:p>
            <a:pPr algn="l"/>
            <a:r>
              <a:rPr sz="3800" b="0" i="0">
                <a:solidFill>
                  <a:srgbClr val="FFFFFF"/>
                </a:solidFill>
                <a:latin typeface="Georgia"/>
              </a:rPr>
              <a:t>The reconciliation Anand can audit</a:t>
            </a:r>
          </a:p>
        </p:txBody>
      </p:sp>
      <p:sp>
        <p:nvSpPr>
          <p:cNvPr id="9" name="TextBox 8"/>
          <p:cNvSpPr txBox="1"/>
          <p:nvPr/>
        </p:nvSpPr>
        <p:spPr>
          <a:xfrm>
            <a:off x="621792" y="3635756"/>
            <a:ext cx="10033711" cy="663956"/>
          </a:xfrm>
          <a:prstGeom prst="rect">
            <a:avLst/>
          </a:prstGeom>
          <a:noFill/>
        </p:spPr>
        <p:txBody>
          <a:bodyPr wrap="square" anchor="t" lIns="0" rIns="0" tIns="0" bIns="0">
            <a:spAutoFit/>
          </a:bodyPr>
          <a:lstStyle/>
          <a:p>
            <a:pPr algn="l"/>
            <a:r>
              <a:rPr sz="1900" b="0" i="1">
                <a:solidFill>
                  <a:srgbClr val="D9A7FF"/>
                </a:solidFill>
                <a:latin typeface="Georgia"/>
              </a:rPr>
              <a:t>“Send the reconciliation and the log before the day closes. My analyst checks it tonight.”</a:t>
            </a:r>
          </a:p>
        </p:txBody>
      </p:sp>
      <p:sp>
        <p:nvSpPr>
          <p:cNvPr id="10" name="TextBox 9"/>
          <p:cNvSpPr txBox="1"/>
          <p:nvPr/>
        </p:nvSpPr>
        <p:spPr>
          <a:xfrm>
            <a:off x="621792" y="4354576"/>
            <a:ext cx="10033711" cy="218186"/>
          </a:xfrm>
          <a:prstGeom prst="rect">
            <a:avLst/>
          </a:prstGeom>
          <a:noFill/>
        </p:spPr>
        <p:txBody>
          <a:bodyPr wrap="square" anchor="t" lIns="0" rIns="0" tIns="0" bIns="0">
            <a:spAutoFit/>
          </a:bodyPr>
          <a:lstStyle/>
          <a:p>
            <a:pPr algn="l"/>
            <a:r>
              <a:rPr sz="1100" b="0" i="0">
                <a:solidFill>
                  <a:srgbClr val="CFC9EE"/>
                </a:solidFill>
                <a:latin typeface="Calibri"/>
              </a:rPr>
              <a:t>Anand Iyer, finance controller, Kalpa Retail</a:t>
            </a:r>
          </a:p>
        </p:txBody>
      </p:sp>
      <p:sp>
        <p:nvSpPr>
          <p:cNvPr id="11" name="TextBox 10"/>
          <p:cNvSpPr txBox="1"/>
          <p:nvPr/>
        </p:nvSpPr>
        <p:spPr>
          <a:xfrm>
            <a:off x="621792"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01</a:t>
            </a:r>
          </a:p>
        </p:txBody>
      </p:sp>
      <p:sp>
        <p:nvSpPr>
          <p:cNvPr id="12" name="TextBox 11"/>
          <p:cNvSpPr txBox="1"/>
          <p:nvPr/>
        </p:nvSpPr>
        <p:spPr>
          <a:xfrm>
            <a:off x="1005839" y="5248656"/>
            <a:ext cx="1720786" cy="185166"/>
          </a:xfrm>
          <a:prstGeom prst="rect">
            <a:avLst/>
          </a:prstGeom>
          <a:noFill/>
        </p:spPr>
        <p:txBody>
          <a:bodyPr wrap="square" anchor="t" lIns="0" rIns="0" tIns="0" bIns="0">
            <a:spAutoFit/>
          </a:bodyPr>
          <a:lstStyle/>
          <a:p>
            <a:pPr algn="l"/>
            <a:r>
              <a:rPr sz="900" b="0" i="0">
                <a:solidFill>
                  <a:srgbClr val="FFFFFF"/>
                </a:solidFill>
                <a:latin typeface="Calibri"/>
              </a:rPr>
              <a:t>The log the analyst audits</a:t>
            </a:r>
          </a:p>
        </p:txBody>
      </p:sp>
      <p:sp>
        <p:nvSpPr>
          <p:cNvPr id="13" name="TextBox 12"/>
          <p:cNvSpPr txBox="1"/>
          <p:nvPr/>
        </p:nvSpPr>
        <p:spPr>
          <a:xfrm>
            <a:off x="2909506"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02</a:t>
            </a:r>
          </a:p>
        </p:txBody>
      </p:sp>
      <p:sp>
        <p:nvSpPr>
          <p:cNvPr id="14" name="TextBox 13"/>
          <p:cNvSpPr txBox="1"/>
          <p:nvPr/>
        </p:nvSpPr>
        <p:spPr>
          <a:xfrm>
            <a:off x="3293554" y="5248656"/>
            <a:ext cx="1247584" cy="185166"/>
          </a:xfrm>
          <a:prstGeom prst="rect">
            <a:avLst/>
          </a:prstGeom>
          <a:noFill/>
        </p:spPr>
        <p:txBody>
          <a:bodyPr wrap="square" anchor="t" lIns="0" rIns="0" tIns="0" bIns="0">
            <a:spAutoFit/>
          </a:bodyPr>
          <a:lstStyle/>
          <a:p>
            <a:pPr algn="l"/>
            <a:r>
              <a:rPr sz="900" b="0" i="0">
                <a:solidFill>
                  <a:srgbClr val="FFFFFF"/>
                </a:solidFill>
                <a:latin typeface="Calibri"/>
              </a:rPr>
              <a:t>The escalated case</a:t>
            </a:r>
          </a:p>
        </p:txBody>
      </p:sp>
      <p:sp>
        <p:nvSpPr>
          <p:cNvPr id="15" name="TextBox 14"/>
          <p:cNvSpPr txBox="1"/>
          <p:nvPr/>
        </p:nvSpPr>
        <p:spPr>
          <a:xfrm>
            <a:off x="4724019"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03</a:t>
            </a:r>
          </a:p>
        </p:txBody>
      </p:sp>
      <p:sp>
        <p:nvSpPr>
          <p:cNvPr id="16" name="TextBox 15"/>
          <p:cNvSpPr txBox="1"/>
          <p:nvPr/>
        </p:nvSpPr>
        <p:spPr>
          <a:xfrm>
            <a:off x="5108067" y="5248656"/>
            <a:ext cx="1602486" cy="185166"/>
          </a:xfrm>
          <a:prstGeom prst="rect">
            <a:avLst/>
          </a:prstGeom>
          <a:noFill/>
        </p:spPr>
        <p:txBody>
          <a:bodyPr wrap="square" anchor="t" lIns="0" rIns="0" tIns="0" bIns="0">
            <a:spAutoFit/>
          </a:bodyPr>
          <a:lstStyle/>
          <a:p>
            <a:pPr algn="l"/>
            <a:r>
              <a:rPr sz="900" b="0" i="0">
                <a:solidFill>
                  <a:srgbClr val="FFFFFF"/>
                </a:solidFill>
                <a:latin typeface="Calibri"/>
              </a:rPr>
              <a:t>The room's wrong answers</a:t>
            </a:r>
          </a:p>
        </p:txBody>
      </p:sp>
      <p:sp>
        <p:nvSpPr>
          <p:cNvPr id="17" name="TextBox 16"/>
          <p:cNvSpPr txBox="1"/>
          <p:nvPr/>
        </p:nvSpPr>
        <p:spPr>
          <a:xfrm>
            <a:off x="6893433"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04</a:t>
            </a:r>
          </a:p>
        </p:txBody>
      </p:sp>
      <p:sp>
        <p:nvSpPr>
          <p:cNvPr id="18" name="TextBox 17"/>
          <p:cNvSpPr txBox="1"/>
          <p:nvPr/>
        </p:nvSpPr>
        <p:spPr>
          <a:xfrm>
            <a:off x="7277481" y="5248656"/>
            <a:ext cx="1661636" cy="185166"/>
          </a:xfrm>
          <a:prstGeom prst="rect">
            <a:avLst/>
          </a:prstGeom>
          <a:noFill/>
        </p:spPr>
        <p:txBody>
          <a:bodyPr wrap="square" anchor="t" lIns="0" rIns="0" tIns="0" bIns="0">
            <a:spAutoFit/>
          </a:bodyPr>
          <a:lstStyle/>
          <a:p>
            <a:pPr algn="l"/>
            <a:r>
              <a:rPr sz="900" b="0" i="0">
                <a:solidFill>
                  <a:srgbClr val="FFFFFF"/>
                </a:solidFill>
                <a:latin typeface="Calibri"/>
              </a:rPr>
              <a:t>The second case, in pairs</a:t>
            </a:r>
          </a:p>
        </p:txBody>
      </p:sp>
      <p:sp>
        <p:nvSpPr>
          <p:cNvPr id="19" name="TextBox 18"/>
          <p:cNvSpPr txBox="1"/>
          <p:nvPr/>
        </p:nvSpPr>
        <p:spPr>
          <a:xfrm>
            <a:off x="9121997" y="5212080"/>
            <a:ext cx="365760" cy="251205"/>
          </a:xfrm>
          <a:prstGeom prst="rect">
            <a:avLst/>
          </a:prstGeom>
          <a:noFill/>
        </p:spPr>
        <p:txBody>
          <a:bodyPr wrap="square" anchor="t" lIns="0" rIns="0" tIns="0" bIns="0">
            <a:spAutoFit/>
          </a:bodyPr>
          <a:lstStyle/>
          <a:p>
            <a:pPr algn="l"/>
            <a:r>
              <a:rPr sz="1300" b="0" i="0">
                <a:solidFill>
                  <a:srgbClr val="D9A7FF"/>
                </a:solidFill>
                <a:latin typeface="Georgia"/>
              </a:rPr>
              <a:t>05</a:t>
            </a:r>
          </a:p>
        </p:txBody>
      </p:sp>
      <p:sp>
        <p:nvSpPr>
          <p:cNvPr id="20" name="TextBox 19"/>
          <p:cNvSpPr txBox="1"/>
          <p:nvPr/>
        </p:nvSpPr>
        <p:spPr>
          <a:xfrm>
            <a:off x="9506045" y="5248656"/>
            <a:ext cx="1306734" cy="185166"/>
          </a:xfrm>
          <a:prstGeom prst="rect">
            <a:avLst/>
          </a:prstGeom>
          <a:noFill/>
        </p:spPr>
        <p:txBody>
          <a:bodyPr wrap="square" anchor="t" lIns="0" rIns="0" tIns="0" bIns="0">
            <a:spAutoFit/>
          </a:bodyPr>
          <a:lstStyle/>
          <a:p>
            <a:pPr algn="l"/>
            <a:r>
              <a:rPr sz="900" b="0" i="0">
                <a:solidFill>
                  <a:srgbClr val="FFFFFF"/>
                </a:solidFill>
                <a:latin typeface="Calibri"/>
              </a:rPr>
              <a:t>The interview drill</a:t>
            </a:r>
          </a:p>
        </p:txBody>
      </p:sp>
      <p:sp>
        <p:nvSpPr>
          <p:cNvPr id="21" name="TextBox 20"/>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The reconciliation Anand can audit</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log the analyst audits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A log is finished when a stranger can replay it.</a:t>
            </a:r>
          </a:p>
        </p:txBody>
      </p:sp>
      <p:sp>
        <p:nvSpPr>
          <p:cNvPr id="10" name="Rounded Rectangle 9"/>
          <p:cNvSpPr/>
          <p:nvPr/>
        </p:nvSpPr>
        <p:spPr>
          <a:xfrm>
            <a:off x="731519"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need: control totals and a reason per row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analyst checks tonight; an auditor may ask next quarter.</a:t>
            </a:r>
          </a:p>
        </p:txBody>
      </p:sp>
      <p:sp>
        <p:nvSpPr>
          <p:cNvPr id="9" name="TextBox 8"/>
          <p:cNvSpPr txBox="1"/>
          <p:nvPr/>
        </p:nvSpPr>
        <p:spPr>
          <a:xfrm>
            <a:off x="53035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rows and rupees</a:t>
            </a:r>
          </a:p>
        </p:txBody>
      </p:sp>
      <p:sp>
        <p:nvSpPr>
          <p:cNvPr id="10" name="TextBox 9"/>
          <p:cNvSpPr txBox="1"/>
          <p:nvPr/>
        </p:nvSpPr>
        <p:spPr>
          <a:xfrm>
            <a:off x="53035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METRIC</a:t>
            </a:r>
          </a:p>
        </p:txBody>
      </p:sp>
      <p:sp>
        <p:nvSpPr>
          <p:cNvPr id="11" name="TextBox 10"/>
          <p:cNvSpPr txBox="1"/>
          <p:nvPr/>
        </p:nvSpPr>
        <p:spPr>
          <a:xfrm>
            <a:off x="53035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control totals, export to books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the analyst</a:t>
            </a:r>
          </a:p>
        </p:txBody>
      </p:sp>
      <p:sp>
        <p:nvSpPr>
          <p:cNvPr id="14" name="TextBox 13"/>
          <p:cNvSpPr txBox="1"/>
          <p:nvPr/>
        </p:nvSpPr>
        <p:spPr>
          <a:xfrm>
            <a:off x="433212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WHO ASKS</a:t>
            </a:r>
          </a:p>
        </p:txBody>
      </p:sp>
      <p:sp>
        <p:nvSpPr>
          <p:cNvPr id="15" name="TextBox 14"/>
          <p:cNvSpPr txBox="1"/>
          <p:nvPr/>
        </p:nvSpPr>
        <p:spPr>
          <a:xfrm>
            <a:off x="433212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for Anand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444500"/>
          </a:xfrm>
          <a:prstGeom prst="rect">
            <a:avLst/>
          </a:prstGeom>
          <a:noFill/>
        </p:spPr>
        <p:txBody>
          <a:bodyPr wrap="square" anchor="t" lIns="0" rIns="0" tIns="0" bIns="0">
            <a:spAutoFit/>
          </a:bodyPr>
          <a:lstStyle/>
          <a:p>
            <a:pPr algn="l"/>
            <a:r>
              <a:rPr sz="2800" b="0" i="0">
                <a:solidFill>
                  <a:srgbClr val="5B3FD6"/>
                </a:solidFill>
                <a:latin typeface="Georgia"/>
              </a:rPr>
              <a:t>a week</a:t>
            </a:r>
          </a:p>
        </p:txBody>
      </p:sp>
      <p:sp>
        <p:nvSpPr>
          <p:cNvPr id="18" name="TextBox 17"/>
          <p:cNvSpPr txBox="1"/>
          <p:nvPr/>
        </p:nvSpPr>
        <p:spPr>
          <a:xfrm>
            <a:off x="8133892" y="2437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 LOG SHE CANNOT FOLLOW</a:t>
            </a:r>
          </a:p>
        </p:txBody>
      </p:sp>
      <p:sp>
        <p:nvSpPr>
          <p:cNvPr id="19" name="TextBox 18"/>
          <p:cNvSpPr txBox="1"/>
          <p:nvPr/>
        </p:nvSpPr>
        <p:spPr>
          <a:xfrm>
            <a:off x="8133892" y="2639060"/>
            <a:ext cx="3527450" cy="193421"/>
          </a:xfrm>
          <a:prstGeom prst="rect">
            <a:avLst/>
          </a:prstGeom>
          <a:noFill/>
        </p:spPr>
        <p:txBody>
          <a:bodyPr wrap="square" anchor="t" lIns="0" rIns="0" tIns="0" bIns="0">
            <a:spAutoFit/>
          </a:bodyPr>
          <a:lstStyle/>
          <a:p>
            <a:pPr algn="l"/>
            <a:r>
              <a:rPr sz="950" b="0" i="0">
                <a:solidFill>
                  <a:srgbClr val="6B6690"/>
                </a:solidFill>
                <a:latin typeface="Calibri"/>
              </a:rPr>
              <a:t>of questions, and her trust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"Can my analyst follow every decision you made, and rebuild your file from it?"</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28" name="Oval 27"/>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0" name="Oval 29"/>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2" name="Oval 31"/>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34" name="Oval 33"/>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Patisserie Valerie's auditor missed the red flags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UK cafe chain's accounting hole reached £94m; the auditor was fined.</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£94m</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HOLE</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administrators, March 2019</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£4m</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FRC FINE</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reduced to £2.34m</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3 years</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OF AUDITS</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sanctioned in September 2021</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bug_39ada6eff46d.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WHAT BREAKS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1A1440"/>
                </a:solidFill>
                <a:latin typeface="Calibri"/>
              </a:rPr>
              <a:t>An auditor who cannot trace a number to its rows signs off on it anyway, and pays for it later.</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28" name="Oval 27"/>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0" name="Oval 29"/>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2" name="Oval 31"/>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34" name="Oval 33"/>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Four hand-overs, sized for the analyst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Lines to read at an illustrative 30 seconds a line.</a:t>
            </a:r>
          </a:p>
        </p:txBody>
      </p:sp>
      <p:graphicFrame>
        <p:nvGraphicFramePr>
          <p:cNvPr id="9" name="Table 8"/>
          <p:cNvGraphicFramePr>
            <a:graphicFrameLocks noGrp="1"/>
          </p:cNvGraphicFramePr>
          <p:nvPr/>
        </p:nvGraphicFramePr>
        <p:xfrm>
          <a:off x="530352" y="1956816"/>
          <a:ext cx="11130989" cy="1676400"/>
        </p:xfrm>
        <a:graphic>
          <a:graphicData uri="http://schemas.openxmlformats.org/drawingml/2006/table">
            <a:tbl>
              <a:tblPr firstRow="0" bandRow="0">
                <a:tableStyleId>{2D5ABB26-0587-4C30-8999-92F81FD0307C}</a:tableStyleId>
              </a:tblPr>
              <a:tblGrid>
                <a:gridCol w="4157476"/>
                <a:gridCol w="914400"/>
                <a:gridCol w="1857927"/>
                <a:gridCol w="2181482"/>
                <a:gridCol w="2019704"/>
              </a:tblGrid>
              <a:tr h="335280">
                <a:tc>
                  <a:txBody>
                    <a:bodyPr/>
                    <a:lstStyle/>
                    <a:p>
                      <a:r>
                        <a:rPr sz="1250" b="1" i="0">
                          <a:solidFill>
                            <a:srgbClr val="FFFFFF"/>
                          </a:solidFill>
                          <a:latin typeface="Calibri"/>
                        </a:rPr>
                        <a:t>Option</a:t>
                      </a:r>
                    </a:p>
                  </a:txBody>
                  <a:tcPr marL="101600" marR="101600" marT="38100" marB="38100" anchor="ctr">
                    <a:solidFill>
                      <a:srgbClr val="1A0F5C"/>
                    </a:solidFill>
                  </a:tcPr>
                </a:tc>
                <a:tc>
                  <a:txBody>
                    <a:bodyPr/>
                    <a:lstStyle/>
                    <a:p>
                      <a:r>
                        <a:rPr sz="1250" b="1" i="0">
                          <a:solidFill>
                            <a:srgbClr val="FFFFFF"/>
                          </a:solidFill>
                          <a:latin typeface="Calibri"/>
                        </a:rPr>
                        <a:t>Lines</a:t>
                      </a:r>
                    </a:p>
                  </a:txBody>
                  <a:tcPr marL="101600" marR="101600" marT="38100" marB="38100" anchor="ctr">
                    <a:solidFill>
                      <a:srgbClr val="1A0F5C"/>
                    </a:solidFill>
                  </a:tcPr>
                </a:tc>
                <a:tc>
                  <a:txBody>
                    <a:bodyPr/>
                    <a:lstStyle/>
                    <a:p>
                      <a:r>
                        <a:rPr sz="1250" b="1" i="0">
                          <a:solidFill>
                            <a:srgbClr val="FFFFFF"/>
                          </a:solidFill>
                          <a:latin typeface="Calibri"/>
                        </a:rPr>
                        <a:t>Ties rows</a:t>
                      </a:r>
                    </a:p>
                  </a:txBody>
                  <a:tcPr marL="101600" marR="101600" marT="38100" marB="38100" anchor="ctr">
                    <a:solidFill>
                      <a:srgbClr val="1A0F5C"/>
                    </a:solidFill>
                  </a:tcPr>
                </a:tc>
                <a:tc>
                  <a:txBody>
                    <a:bodyPr/>
                    <a:lstStyle/>
                    <a:p>
                      <a:r>
                        <a:rPr sz="1250" b="1" i="0">
                          <a:solidFill>
                            <a:srgbClr val="FFFFFF"/>
                          </a:solidFill>
                          <a:latin typeface="Calibri"/>
                        </a:rPr>
                        <a:t>Ties rupees</a:t>
                      </a:r>
                    </a:p>
                  </a:txBody>
                  <a:tcPr marL="101600" marR="101600" marT="38100" marB="38100" anchor="ctr">
                    <a:solidFill>
                      <a:srgbClr val="1A0F5C"/>
                    </a:solidFill>
                  </a:tcPr>
                </a:tc>
                <a:tc>
                  <a:txBody>
                    <a:bodyPr/>
                    <a:lstStyle/>
                    <a:p>
                      <a:r>
                        <a:rPr sz="1250" b="1" i="0">
                          <a:solidFill>
                            <a:srgbClr val="FFFFFF"/>
                          </a:solidFill>
                          <a:latin typeface="Calibri"/>
                        </a:rPr>
                        <a:t>Replayable</a:t>
                      </a:r>
                    </a:p>
                  </a:txBody>
                  <a:tcPr marL="101600" marR="101600" marT="38100" marB="38100" anchor="ctr">
                    <a:solidFill>
                      <a:srgbClr val="1A0F5C"/>
                    </a:solidFill>
                  </a:tcPr>
                </a:tc>
              </a:tr>
              <a:tr h="335280">
                <a:tc>
                  <a:txBody>
                    <a:bodyPr/>
                    <a:lstStyle/>
                    <a:p>
                      <a:r>
                        <a:rPr sz="1200" b="0" i="0">
                          <a:solidFill>
                            <a:srgbClr val="1A1440"/>
                          </a:solidFill>
                          <a:latin typeface="Calibri"/>
                        </a:rPr>
                        <a:t>a) The clean file alone</a:t>
                      </a:r>
                    </a:p>
                  </a:txBody>
                  <a:tcPr marL="101600" marR="101600" marT="38100" marB="38100" anchor="ctr">
                    <a:solidFill>
                      <a:srgbClr val="FFFFFF"/>
                    </a:solidFill>
                  </a:tcPr>
                </a:tc>
                <a:tc>
                  <a:txBody>
                    <a:bodyPr/>
                    <a:lstStyle/>
                    <a:p>
                      <a:r>
                        <a:rPr sz="1200" b="0" i="0">
                          <a:solidFill>
                            <a:srgbClr val="1A1440"/>
                          </a:solidFill>
                          <a:latin typeface="Calibri"/>
                        </a:rPr>
                        <a:t>387</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c>
                  <a:txBody>
                    <a:bodyPr/>
                    <a:lstStyle/>
                    <a:p>
                      <a:r>
                        <a:rPr sz="1200" b="0" i="0">
                          <a:solidFill>
                            <a:srgbClr val="1A1440"/>
                          </a:solidFill>
                          <a:latin typeface="Calibri"/>
                        </a:rPr>
                        <a:t>no</a:t>
                      </a:r>
                    </a:p>
                  </a:txBody>
                  <a:tcPr marL="101600" marR="101600" marT="38100" marB="38100" anchor="ctr">
                    <a:solidFill>
                      <a:srgbClr val="FFFFFF"/>
                    </a:solidFill>
                  </a:tcPr>
                </a:tc>
              </a:tr>
              <a:tr h="335280">
                <a:tc>
                  <a:txBody>
                    <a:bodyPr/>
                    <a:lstStyle/>
                    <a:p>
                      <a:r>
                        <a:rPr sz="1200" b="0" i="0">
                          <a:solidFill>
                            <a:srgbClr val="1A1440"/>
                          </a:solidFill>
                          <a:latin typeface="Calibri"/>
                        </a:rPr>
                        <a:t>b) The file and a count</a:t>
                      </a:r>
                    </a:p>
                  </a:txBody>
                  <a:tcPr marL="101600" marR="101600" marT="38100" marB="38100" anchor="ctr">
                    <a:solidFill>
                      <a:srgbClr val="F4F2FA"/>
                    </a:solidFill>
                  </a:tcPr>
                </a:tc>
                <a:tc>
                  <a:txBody>
                    <a:bodyPr/>
                    <a:lstStyle/>
                    <a:p>
                      <a:r>
                        <a:rPr sz="1200" b="0" i="0">
                          <a:solidFill>
                            <a:srgbClr val="1A1440"/>
                          </a:solidFill>
                          <a:latin typeface="Calibri"/>
                        </a:rPr>
                        <a:t>1</a:t>
                      </a:r>
                    </a:p>
                  </a:txBody>
                  <a:tcPr marL="101600" marR="101600" marT="38100" marB="38100" anchor="ctr">
                    <a:solidFill>
                      <a:srgbClr val="F4F2FA"/>
                    </a:solidFill>
                  </a:tcPr>
                </a:tc>
                <a:tc>
                  <a:txBody>
                    <a:bodyPr/>
                    <a:lstStyle/>
                    <a:p>
                      <a:r>
                        <a:rPr sz="1200" b="0" i="0">
                          <a:solidFill>
                            <a:srgbClr val="1A1440"/>
                          </a:solidFill>
                          <a:latin typeface="Calibri"/>
                        </a:rPr>
                        <a:t>yes</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r>
              <a:tr h="335280">
                <a:tc>
                  <a:txBody>
                    <a:bodyPr/>
                    <a:lstStyle/>
                    <a:p>
                      <a:r>
                        <a:rPr sz="1200" b="0" i="0">
                          <a:solidFill>
                            <a:srgbClr val="1A1440"/>
                          </a:solidFill>
                          <a:latin typeface="Calibri"/>
                        </a:rPr>
                        <a:t>c) Logs and control totals</a:t>
                      </a:r>
                    </a:p>
                  </a:txBody>
                  <a:tcPr marL="101600" marR="101600" marT="38100" marB="38100" anchor="ctr">
                    <a:solidFill>
                      <a:srgbClr val="FFFFFF"/>
                    </a:solidFill>
                  </a:tcPr>
                </a:tc>
                <a:tc>
                  <a:txBody>
                    <a:bodyPr/>
                    <a:lstStyle/>
                    <a:p>
                      <a:r>
                        <a:rPr sz="1200" b="0" i="0">
                          <a:solidFill>
                            <a:srgbClr val="1A1440"/>
                          </a:solidFill>
                          <a:latin typeface="Calibri"/>
                        </a:rPr>
                        <a:t>23</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c>
                  <a:txBody>
                    <a:bodyPr/>
                    <a:lstStyle/>
                    <a:p>
                      <a:r>
                        <a:rPr sz="1200" b="0" i="0">
                          <a:solidFill>
                            <a:srgbClr val="1A1440"/>
                          </a:solidFill>
                          <a:latin typeface="Calibri"/>
                        </a:rPr>
                        <a:t>yes</a:t>
                      </a:r>
                    </a:p>
                  </a:txBody>
                  <a:tcPr marL="101600" marR="101600" marT="38100" marB="38100" anchor="ctr">
                    <a:solidFill>
                      <a:srgbClr val="FFFFFF"/>
                    </a:solidFill>
                  </a:tcPr>
                </a:tc>
              </a:tr>
              <a:tr h="335280">
                <a:tc>
                  <a:txBody>
                    <a:bodyPr/>
                    <a:lstStyle/>
                    <a:p>
                      <a:r>
                        <a:rPr sz="1200" b="0" i="0">
                          <a:solidFill>
                            <a:srgbClr val="1A1440"/>
                          </a:solidFill>
                          <a:latin typeface="Calibri"/>
                        </a:rPr>
                        <a:t>d) A full diff</a:t>
                      </a:r>
                    </a:p>
                  </a:txBody>
                  <a:tcPr marL="101600" marR="101600" marT="38100" marB="38100" anchor="ctr">
                    <a:solidFill>
                      <a:srgbClr val="F4F2FA"/>
                    </a:solidFill>
                  </a:tcPr>
                </a:tc>
                <a:tc>
                  <a:txBody>
                    <a:bodyPr/>
                    <a:lstStyle/>
                    <a:p>
                      <a:r>
                        <a:rPr sz="1200" b="0" i="0">
                          <a:solidFill>
                            <a:srgbClr val="1A1440"/>
                          </a:solidFill>
                          <a:latin typeface="Calibri"/>
                        </a:rPr>
                        <a:t>201</a:t>
                      </a:r>
                    </a:p>
                  </a:txBody>
                  <a:tcPr marL="101600" marR="101600" marT="38100" marB="38100" anchor="ctr">
                    <a:solidFill>
                      <a:srgbClr val="F4F2FA"/>
                    </a:solidFill>
                  </a:tcPr>
                </a:tc>
                <a:tc>
                  <a:txBody>
                    <a:bodyPr/>
                    <a:lstStyle/>
                    <a:p>
                      <a:r>
                        <a:rPr sz="1200" b="0" i="0">
                          <a:solidFill>
                            <a:srgbClr val="1A1440"/>
                          </a:solidFill>
                          <a:latin typeface="Calibri"/>
                        </a:rPr>
                        <a:t>yes</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c>
                  <a:txBody>
                    <a:bodyPr/>
                    <a:lstStyle/>
                    <a:p>
                      <a:r>
                        <a:rPr sz="1200" b="0" i="0">
                          <a:solidFill>
                            <a:srgbClr val="1A1440"/>
                          </a:solidFill>
                          <a:latin typeface="Calibri"/>
                        </a:rPr>
                        <a:t>no</a:t>
                      </a:r>
                    </a:p>
                  </a:txBody>
                  <a:tcPr marL="101600" marR="101600" marT="38100" marB="38100" anchor="ctr">
                    <a:solidFill>
                      <a:srgbClr val="F4F2FA"/>
                    </a:solidFill>
                  </a:tcPr>
                </a:tc>
              </a:tr>
            </a:tbl>
          </a:graphicData>
        </a:graphic>
      </p:graphicFrame>
      <p:sp>
        <p:nvSpPr>
          <p:cNvPr id="10" name="Rounded Rectangle 9"/>
          <p:cNvSpPr/>
          <p:nvPr/>
        </p:nvSpPr>
        <p:spPr>
          <a:xfrm>
            <a:off x="530352" y="3889248"/>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091940"/>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201668"/>
            <a:ext cx="237744" cy="237744"/>
          </a:xfrm>
          <a:prstGeom prst="rect">
            <a:avLst/>
          </a:prstGeom>
        </p:spPr>
      </p:pic>
      <p:sp>
        <p:nvSpPr>
          <p:cNvPr id="13" name="TextBox 12"/>
          <p:cNvSpPr txBox="1"/>
          <p:nvPr/>
        </p:nvSpPr>
        <p:spPr>
          <a:xfrm>
            <a:off x="1399031" y="4035552"/>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255008"/>
            <a:ext cx="9987991" cy="423672"/>
          </a:xfrm>
          <a:prstGeom prst="rect">
            <a:avLst/>
          </a:prstGeom>
          <a:noFill/>
        </p:spPr>
        <p:txBody>
          <a:bodyPr wrap="square" anchor="t" lIns="0" rIns="0" tIns="0" bIns="0">
            <a:spAutoFit/>
          </a:bodyPr>
          <a:lstStyle/>
          <a:p>
            <a:r>
              <a:rPr sz="1500" b="0" i="0">
                <a:solidFill>
                  <a:srgbClr val="1A1440"/>
                </a:solidFill>
                <a:latin typeface="Calibri"/>
              </a:rPr>
              <a:t>c. What would switch it: an external auditor who must re-derive every row, and then d goes beside c.</a:t>
            </a:r>
          </a:p>
        </p:txBody>
      </p:sp>
      <p:sp>
        <p:nvSpPr>
          <p:cNvPr id="15" name="Oval 1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17" name="Oval 16"/>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9" name="Oval 18"/>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21" name="Oval 2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3" name="Oval 22"/>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5" name="Oval 24"/>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the logs carry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Three logs and two totals, written as the pass runs.</a:t>
            </a:r>
          </a:p>
        </p:txBody>
      </p:sp>
      <p:pic>
        <p:nvPicPr>
          <p:cNvPr id="9" name="mermaid diagram" descr="86c68108bb00f1ba.png"/>
          <p:cNvPicPr>
            <a:picLocks noChangeAspect="1"/>
          </p:cNvPicPr>
          <p:nvPr/>
        </p:nvPicPr>
        <p:blipFill>
          <a:blip r:embed="rId5"/>
          <a:stretch>
            <a:fillRect/>
          </a:stretch>
        </p:blipFill>
        <p:spPr>
          <a:xfrm>
            <a:off x="2523556" y="1682496"/>
            <a:ext cx="7144581" cy="4517136"/>
          </a:xfrm>
          <a:prstGeom prst="rect">
            <a:avLst/>
          </a:prstGeom>
        </p:spPr>
      </p:pic>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8" name="Oval 1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0" name="Oval 1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decision moves the most rupees?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decisions in the log, one line each.</a:t>
            </a:r>
          </a:p>
        </p:txBody>
      </p:sp>
      <p:pic>
        <p:nvPicPr>
          <p:cNvPr id="9" name="mermaid diagram" descr="1c323c0168656de8.png"/>
          <p:cNvPicPr>
            <a:picLocks noChangeAspect="1"/>
          </p:cNvPicPr>
          <p:nvPr/>
        </p:nvPicPr>
        <p:blipFill>
          <a:blip r:embed="rId5"/>
          <a:stretch>
            <a:fillRect/>
          </a:stretch>
        </p:blipFill>
        <p:spPr>
          <a:xfrm>
            <a:off x="3424085" y="1956816"/>
            <a:ext cx="5343525" cy="2586037"/>
          </a:xfrm>
          <a:prstGeom prst="rect">
            <a:avLst/>
          </a:prstGeom>
        </p:spPr>
      </p:pic>
      <p:sp>
        <p:nvSpPr>
          <p:cNvPr id="10" name="Rounded Rectangle 9"/>
          <p:cNvSpPr/>
          <p:nvPr/>
        </p:nvSpPr>
        <p:spPr>
          <a:xfrm>
            <a:off x="530352" y="4689157"/>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17173"/>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08029"/>
            <a:ext cx="10564063" cy="6248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As a letter? a) the identity rule; b) the missing status; c) the bulk order; d) the missing discount.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1" name="Oval 20"/>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identity rule moves all of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decisions move no Q1 rupees, and each still gets a line.</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19,98,210</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IDENTITY RULE</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15 rows</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Rs 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OTHER FOUR</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57 rows flagged or kept</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The answer is a. The logs are written with csv.DictWriter and json.dump, then read back and compared, because a log that lives only in a notebook reaches nobody.</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22" name="Oval 2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24" name="Oval 2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26" name="Oval 2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8" name="Oval 2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0" name="Oval 2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plausible wrong answer: a perfect-looking log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colleague removed repeated ids first, keeping the first copy, then converted.</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201 = 185 + 16</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ROWS RECONCILE</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in equals kept plus logged</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20,00,000</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SET ASIDE</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Anand's gap, to the lakh</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1,89,98,210</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CLEAN</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1.90 crore when rounded</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23" name="Oval 22"/>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25" name="Oval 24"/>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27" name="Oval 2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9" name="Oval 28"/>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1" name="Oval 30"/>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Why it is wrong: rows tie, rupees do not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Rs 1,790 short of the books: the valued copy set aside, the unreadable one rejected.</a:t>
            </a:r>
          </a:p>
        </p:txBody>
      </p:sp>
      <p:pic>
        <p:nvPicPr>
          <p:cNvPr id="9" name="mermaid diagram" descr="07259466d0a819f6.png"/>
          <p:cNvPicPr>
            <a:picLocks noChangeAspect="1"/>
          </p:cNvPicPr>
          <p:nvPr/>
        </p:nvPicPr>
        <p:blipFill>
          <a:blip r:embed="rId5"/>
          <a:stretch>
            <a:fillRect/>
          </a:stretch>
        </p:blipFill>
        <p:spPr>
          <a:xfrm>
            <a:off x="2152497" y="1956816"/>
            <a:ext cx="7886700" cy="2786062"/>
          </a:xfrm>
          <a:prstGeom prst="rect">
            <a:avLst/>
          </a:prstGeom>
        </p:spPr>
      </p:pic>
      <p:sp>
        <p:nvSpPr>
          <p:cNvPr id="10" name="Rounded Rectangle 9"/>
          <p:cNvSpPr/>
          <p:nvPr/>
        </p:nvSpPr>
        <p:spPr>
          <a:xfrm>
            <a:off x="530352" y="488918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01719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008054"/>
            <a:ext cx="10564063" cy="624840"/>
          </a:xfrm>
          <a:prstGeom prst="rect">
            <a:avLst/>
          </a:prstGeom>
          <a:noFill/>
        </p:spPr>
        <p:txBody>
          <a:bodyPr wrap="square" anchor="ctr" lIns="0" rIns="0" tIns="0" bIns="0">
            <a:spAutoFit/>
          </a:bodyPr>
          <a:lstStyle/>
          <a:p>
            <a:r>
              <a:rPr sz="1500" b="1">
                <a:solidFill>
                  <a:srgbClr val="5B3FD6"/>
                </a:solidFill>
                <a:latin typeface="Calibri"/>
              </a:rPr>
              <a:t>The check. </a:t>
            </a:r>
            <a:r>
              <a:rPr sz="1500" b="0" i="0">
                <a:solidFill>
                  <a:srgbClr val="1A1440"/>
                </a:solidFill>
                <a:latin typeface="Calibri"/>
              </a:rPr>
              <a:t>The books against the clean Q1, and a rejected order whose twin sits in the set-aside log with a value.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1" name="Oval 20"/>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and the auditor's 14</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Convert inside the identity rule; then every Q1 row set aside has a kept twin.</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114 = 100 + 14</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ROWS</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in, kept, set aside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14 of 14</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WITH A KEPT TWIN</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same order_id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0</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AGAINST THE BOOKS</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Q1 clean</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624840"/>
          </a:xfrm>
          <a:prstGeom prst="rect">
            <a:avLst/>
          </a:prstGeom>
          <a:noFill/>
        </p:spPr>
        <p:txBody>
          <a:bodyPr wrap="square" anchor="ctr" lIns="0" rIns="0" tIns="0" bIns="0">
            <a:spAutoFit/>
          </a:bodyPr>
          <a:lstStyle/>
          <a:p>
            <a:r>
              <a:rPr sz="1500" b="1">
                <a:solidFill>
                  <a:srgbClr val="5B3FD6"/>
                </a:solidFill>
                <a:latin typeface="Calibri"/>
              </a:rPr>
              <a:t>What changed. </a:t>
            </a:r>
            <a:r>
              <a:rPr sz="1500" b="0" i="0">
                <a:solidFill>
                  <a:srgbClr val="1A1440"/>
                </a:solidFill>
                <a:latin typeface="Calibri"/>
              </a:rPr>
              <a:t>The Rs 1,790 order is back, the rejects log is empty, and "set aside with a reason" replaces "dropped".</a:t>
            </a:r>
          </a:p>
        </p:txBody>
      </p:sp>
      <p:sp>
        <p:nvSpPr>
          <p:cNvPr id="24" name="Oval 2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26" name="Oval 25"/>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28" name="Oval 27"/>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0" name="Oval 29"/>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32" name="Oval 31"/>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4" name="Oval 33"/>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6" name="TextBox 3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replay the log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raw export less the logged lines rebuilds the clean file exactly.</a:t>
            </a:r>
          </a:p>
        </p:txBody>
      </p:sp>
      <p:pic>
        <p:nvPicPr>
          <p:cNvPr id="9" name="mermaid diagram" descr="56dc8baed6c1cc53.png"/>
          <p:cNvPicPr>
            <a:picLocks noChangeAspect="1"/>
          </p:cNvPicPr>
          <p:nvPr/>
        </p:nvPicPr>
        <p:blipFill>
          <a:blip r:embed="rId5"/>
          <a:stretch>
            <a:fillRect/>
          </a:stretch>
        </p:blipFill>
        <p:spPr>
          <a:xfrm>
            <a:off x="780897" y="1956816"/>
            <a:ext cx="10629900" cy="1357312"/>
          </a:xfrm>
          <a:prstGeom prst="rect">
            <a:avLst/>
          </a:prstGeom>
        </p:spPr>
      </p:pic>
      <p:sp>
        <p:nvSpPr>
          <p:cNvPr id="10" name="Rounded Rectangle 9"/>
          <p:cNvSpPr/>
          <p:nvPr/>
        </p:nvSpPr>
        <p:spPr>
          <a:xfrm>
            <a:off x="530352" y="346043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58844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579304"/>
            <a:ext cx="10564063" cy="624840"/>
          </a:xfrm>
          <a:prstGeom prst="rect">
            <a:avLst/>
          </a:prstGeom>
          <a:noFill/>
        </p:spPr>
        <p:txBody>
          <a:bodyPr wrap="square" anchor="ctr" lIns="0" rIns="0" tIns="0" bIns="0">
            <a:spAutoFit/>
          </a:bodyPr>
          <a:lstStyle/>
          <a:p>
            <a:r>
              <a:rPr sz="1500" b="1">
                <a:solidFill>
                  <a:srgbClr val="5B3FD6"/>
                </a:solidFill>
                <a:latin typeface="Calibri"/>
              </a:rPr>
              <a:t>When to switch. </a:t>
            </a:r>
            <a:r>
              <a:rPr sz="1500" b="0" i="0">
                <a:solidFill>
                  <a:srgbClr val="1A1440"/>
                </a:solidFill>
                <a:latin typeface="Calibri"/>
              </a:rPr>
              <a:t>Control totals are the quick test; the replay is for an auditor who trusts nothing, and it runs before any log leaves the team.</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9" name="Oval 18"/>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1" name="Oval 20"/>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Kavya's review of chapter 6</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Rows and rupees both tie, a reason on every line, the twin named for every copy.</a:t>
            </a:r>
          </a:p>
        </p:txBody>
      </p:sp>
      <p:sp>
        <p:nvSpPr>
          <p:cNvPr id="9" name="Rounded Rectangle 8"/>
          <p:cNvSpPr/>
          <p:nvPr/>
        </p:nvSpPr>
        <p:spPr>
          <a:xfrm>
            <a:off x="530352" y="195681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159507"/>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search-check_6571e64a041f.png"/>
          <p:cNvPicPr>
            <a:picLocks noChangeAspect="1"/>
          </p:cNvPicPr>
          <p:nvPr/>
        </p:nvPicPr>
        <p:blipFill>
          <a:blip r:embed="rId4"/>
          <a:stretch>
            <a:fillRect/>
          </a:stretch>
        </p:blipFill>
        <p:spPr>
          <a:xfrm>
            <a:off x="868680" y="226923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3" name="TextBox 12"/>
          <p:cNvSpPr txBox="1"/>
          <p:nvPr/>
        </p:nvSpPr>
        <p:spPr>
          <a:xfrm>
            <a:off x="1399031" y="2322576"/>
            <a:ext cx="9987991" cy="423672"/>
          </a:xfrm>
          <a:prstGeom prst="rect">
            <a:avLst/>
          </a:prstGeom>
          <a:noFill/>
        </p:spPr>
        <p:txBody>
          <a:bodyPr wrap="square" anchor="t" lIns="0" rIns="0" tIns="0" bIns="0">
            <a:spAutoFit/>
          </a:bodyPr>
          <a:lstStyle/>
          <a:p>
            <a:r>
              <a:rPr sz="1500" b="0" i="0">
                <a:solidFill>
                  <a:srgbClr val="1A1440"/>
                </a:solidFill>
                <a:latin typeface="Calibri"/>
              </a:rPr>
              <a:t>A log is finished when a stranger can replay it.</a:t>
            </a:r>
          </a:p>
        </p:txBody>
      </p:sp>
      <p:sp>
        <p:nvSpPr>
          <p:cNvPr id="14" name="Rounded Rectangle 13"/>
          <p:cNvSpPr/>
          <p:nvPr/>
        </p:nvSpPr>
        <p:spPr>
          <a:xfrm>
            <a:off x="530352" y="298399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58952" y="31866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6" name="Picture 15" descr="mic_caee7398c80d.png"/>
          <p:cNvPicPr>
            <a:picLocks noChangeAspect="1"/>
          </p:cNvPicPr>
          <p:nvPr/>
        </p:nvPicPr>
        <p:blipFill>
          <a:blip r:embed="rId5"/>
          <a:stretch>
            <a:fillRect/>
          </a:stretch>
        </p:blipFill>
        <p:spPr>
          <a:xfrm>
            <a:off x="868680" y="3296412"/>
            <a:ext cx="237744" cy="237744"/>
          </a:xfrm>
          <a:prstGeom prst="rect">
            <a:avLst/>
          </a:prstGeom>
        </p:spPr>
      </p:pic>
      <p:sp>
        <p:nvSpPr>
          <p:cNvPr id="17" name="TextBox 16"/>
          <p:cNvSpPr txBox="1"/>
          <p:nvPr/>
        </p:nvSpPr>
        <p:spPr>
          <a:xfrm>
            <a:off x="1399031" y="313029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8" name="TextBox 17"/>
          <p:cNvSpPr txBox="1"/>
          <p:nvPr/>
        </p:nvSpPr>
        <p:spPr>
          <a:xfrm>
            <a:off x="1399031" y="3349752"/>
            <a:ext cx="9987991" cy="423672"/>
          </a:xfrm>
          <a:prstGeom prst="rect">
            <a:avLst/>
          </a:prstGeom>
          <a:noFill/>
        </p:spPr>
        <p:txBody>
          <a:bodyPr wrap="square" anchor="t" lIns="0" rIns="0" tIns="0" bIns="0">
            <a:spAutoFit/>
          </a:bodyPr>
          <a:lstStyle/>
          <a:p>
            <a:r>
              <a:rPr sz="1500" b="0" i="0">
                <a:solidFill>
                  <a:srgbClr val="1A1440"/>
                </a:solidFill>
                <a:latin typeface="Calibri"/>
              </a:rPr>
              <a:t>[D] An auditor asks why you dropped 14 rows; walk them through it.</a:t>
            </a:r>
          </a:p>
        </p:txBody>
      </p:sp>
      <p:sp>
        <p:nvSpPr>
          <p:cNvPr id="19" name="Rounded Rectangle 18"/>
          <p:cNvSpPr/>
          <p:nvPr/>
        </p:nvSpPr>
        <p:spPr>
          <a:xfrm>
            <a:off x="530352" y="4011168"/>
            <a:ext cx="5474055" cy="1774444"/>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31519" y="4212336"/>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1" name="Picture 20" descr="list-checks_8726d21bc746.png"/>
          <p:cNvPicPr>
            <a:picLocks noChangeAspect="1"/>
          </p:cNvPicPr>
          <p:nvPr/>
        </p:nvPicPr>
        <p:blipFill>
          <a:blip r:embed="rId6"/>
          <a:stretch>
            <a:fillRect/>
          </a:stretch>
        </p:blipFill>
        <p:spPr>
          <a:xfrm>
            <a:off x="841247" y="4322064"/>
            <a:ext cx="237744" cy="237744"/>
          </a:xfrm>
          <a:prstGeom prst="rect">
            <a:avLst/>
          </a:prstGeom>
        </p:spPr>
      </p:pic>
      <p:sp>
        <p:nvSpPr>
          <p:cNvPr id="22" name="TextBox 21"/>
          <p:cNvSpPr txBox="1"/>
          <p:nvPr/>
        </p:nvSpPr>
        <p:spPr>
          <a:xfrm>
            <a:off x="731519" y="4779264"/>
            <a:ext cx="5071719" cy="160401"/>
          </a:xfrm>
          <a:prstGeom prst="rect">
            <a:avLst/>
          </a:prstGeom>
          <a:noFill/>
        </p:spPr>
        <p:txBody>
          <a:bodyPr wrap="square" anchor="t" lIns="0" rIns="0" tIns="0" bIns="0">
            <a:spAutoFit/>
          </a:bodyPr>
          <a:lstStyle/>
          <a:p>
            <a:pPr algn="l"/>
            <a:r>
              <a:rPr sz="750" b="1" i="0" spc="250">
                <a:solidFill>
                  <a:srgbClr val="5B3FD6"/>
                </a:solidFill>
                <a:latin typeface="Calibri"/>
              </a:rPr>
              <a:t>CHAPTER 6</a:t>
            </a:r>
          </a:p>
        </p:txBody>
      </p:sp>
      <p:sp>
        <p:nvSpPr>
          <p:cNvPr id="23" name="TextBox 22"/>
          <p:cNvSpPr txBox="1"/>
          <p:nvPr/>
        </p:nvSpPr>
        <p:spPr>
          <a:xfrm>
            <a:off x="731519" y="5017008"/>
            <a:ext cx="5071719" cy="267716"/>
          </a:xfrm>
          <a:prstGeom prst="rect">
            <a:avLst/>
          </a:prstGeom>
          <a:noFill/>
        </p:spPr>
        <p:txBody>
          <a:bodyPr wrap="square" anchor="t" lIns="0" rIns="0" tIns="0" bIns="0">
            <a:spAutoFit/>
          </a:bodyPr>
          <a:lstStyle/>
          <a:p>
            <a:pPr algn="l"/>
            <a:r>
              <a:rPr sz="1400" b="1" i="0">
                <a:solidFill>
                  <a:srgbClr val="1A0F5C"/>
                </a:solidFill>
                <a:latin typeface="Calibri"/>
              </a:rPr>
              <a:t>Established</a:t>
            </a:r>
          </a:p>
        </p:txBody>
      </p:sp>
      <p:sp>
        <p:nvSpPr>
          <p:cNvPr id="24" name="TextBox 23"/>
          <p:cNvSpPr txBox="1"/>
          <p:nvPr/>
        </p:nvSpPr>
        <p:spPr>
          <a:xfrm>
            <a:off x="731519" y="5357876"/>
            <a:ext cx="5071719" cy="218186"/>
          </a:xfrm>
          <a:prstGeom prst="rect">
            <a:avLst/>
          </a:prstGeom>
          <a:noFill/>
        </p:spPr>
        <p:txBody>
          <a:bodyPr wrap="square" anchor="t" lIns="0" rIns="0" tIns="0" bIns="0">
            <a:spAutoFit/>
          </a:bodyPr>
          <a:lstStyle/>
          <a:p>
            <a:pPr algn="l"/>
            <a:r>
              <a:rPr sz="1100" b="0" i="0">
                <a:solidFill>
                  <a:srgbClr val="6B6690"/>
                </a:solidFill>
                <a:latin typeface="Calibri"/>
              </a:rPr>
              <a:t>Logs that tie in rows and rupees and replay to the clean file.</a:t>
            </a:r>
          </a:p>
        </p:txBody>
      </p:sp>
      <p:sp>
        <p:nvSpPr>
          <p:cNvPr id="25" name="Rounded Rectangle 24"/>
          <p:cNvSpPr/>
          <p:nvPr/>
        </p:nvSpPr>
        <p:spPr>
          <a:xfrm>
            <a:off x="6187287" y="4011168"/>
            <a:ext cx="5474055" cy="17744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388455" y="42123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circle-help_e970ab2886cf.png"/>
          <p:cNvPicPr>
            <a:picLocks noChangeAspect="1"/>
          </p:cNvPicPr>
          <p:nvPr/>
        </p:nvPicPr>
        <p:blipFill>
          <a:blip r:embed="rId7"/>
          <a:stretch>
            <a:fillRect/>
          </a:stretch>
        </p:blipFill>
        <p:spPr>
          <a:xfrm>
            <a:off x="6498183" y="4322064"/>
            <a:ext cx="237744" cy="237744"/>
          </a:xfrm>
          <a:prstGeom prst="rect">
            <a:avLst/>
          </a:prstGeom>
        </p:spPr>
      </p:pic>
      <p:sp>
        <p:nvSpPr>
          <p:cNvPr id="28" name="TextBox 27"/>
          <p:cNvSpPr txBox="1"/>
          <p:nvPr/>
        </p:nvSpPr>
        <p:spPr>
          <a:xfrm>
            <a:off x="6388455" y="4779264"/>
            <a:ext cx="5071719" cy="160401"/>
          </a:xfrm>
          <a:prstGeom prst="rect">
            <a:avLst/>
          </a:prstGeom>
          <a:noFill/>
        </p:spPr>
        <p:txBody>
          <a:bodyPr wrap="square" anchor="t" lIns="0" rIns="0" tIns="0" bIns="0">
            <a:spAutoFit/>
          </a:bodyPr>
          <a:lstStyle/>
          <a:p>
            <a:pPr algn="l"/>
            <a:r>
              <a:rPr sz="750" b="1" i="0" spc="250">
                <a:solidFill>
                  <a:srgbClr val="D9A7FF"/>
                </a:solidFill>
                <a:latin typeface="Calibri"/>
              </a:rPr>
              <a:t>THE ESCALATED CASE</a:t>
            </a:r>
          </a:p>
        </p:txBody>
      </p:sp>
      <p:sp>
        <p:nvSpPr>
          <p:cNvPr id="29" name="TextBox 28"/>
          <p:cNvSpPr txBox="1"/>
          <p:nvPr/>
        </p:nvSpPr>
        <p:spPr>
          <a:xfrm>
            <a:off x="6388455" y="5017008"/>
            <a:ext cx="5071719" cy="267716"/>
          </a:xfrm>
          <a:prstGeom prst="rect">
            <a:avLst/>
          </a:prstGeom>
          <a:noFill/>
        </p:spPr>
        <p:txBody>
          <a:bodyPr wrap="square" anchor="t" lIns="0" rIns="0" tIns="0" bIns="0">
            <a:spAutoFit/>
          </a:bodyPr>
          <a:lstStyle/>
          <a:p>
            <a:pPr algn="l"/>
            <a:r>
              <a:rPr sz="1400" b="1" i="0">
                <a:solidFill>
                  <a:srgbClr val="FFFFFF"/>
                </a:solidFill>
                <a:latin typeface="Calibri"/>
              </a:rPr>
              <a:t>Next</a:t>
            </a:r>
          </a:p>
        </p:txBody>
      </p:sp>
      <p:sp>
        <p:nvSpPr>
          <p:cNvPr id="30" name="TextBox 29"/>
          <p:cNvSpPr txBox="1"/>
          <p:nvPr/>
        </p:nvSpPr>
        <p:spPr>
          <a:xfrm>
            <a:off x="6388455" y="5357876"/>
            <a:ext cx="5071719" cy="218186"/>
          </a:xfrm>
          <a:prstGeom prst="rect">
            <a:avLst/>
          </a:prstGeom>
          <a:noFill/>
        </p:spPr>
        <p:txBody>
          <a:bodyPr wrap="square" anchor="t" lIns="0" rIns="0" tIns="0" bIns="0">
            <a:spAutoFit/>
          </a:bodyPr>
          <a:lstStyle/>
          <a:p>
            <a:pPr algn="l"/>
            <a:r>
              <a:rPr sz="1100" b="0" i="0">
                <a:solidFill>
                  <a:srgbClr val="CFC9EE"/>
                </a:solidFill>
                <a:latin typeface="Calibri"/>
              </a:rPr>
              <a:t>The whole pass, alone.</a:t>
            </a:r>
          </a:p>
        </p:txBody>
      </p:sp>
      <p:sp>
        <p:nvSpPr>
          <p:cNvPr id="31" name="Oval 3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The log the analyst audits</a:t>
            </a:r>
          </a:p>
        </p:txBody>
      </p:sp>
      <p:sp>
        <p:nvSpPr>
          <p:cNvPr id="33" name="Oval 32"/>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5" name="Oval 34"/>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7" name="Oval 3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39" name="Oval 38"/>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41" name="Oval 40"/>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43" name="TextBox 4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escalated case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full pass, alone: every chapter, on the same file, with nobody driving.</a:t>
            </a:r>
          </a:p>
        </p:txBody>
      </p:sp>
      <p:sp>
        <p:nvSpPr>
          <p:cNvPr id="10" name="Rounded Rectangle 9"/>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Anand's deadline, and what goes with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parts, one file, and a log that has to stand up tonight.</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1</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Read and profile</a:t>
            </a:r>
          </a:p>
        </p:txBody>
      </p:sp>
      <p:sp>
        <p:nvSpPr>
          <p:cNvPr id="14" name="TextBox 13"/>
          <p:cNvSpPr txBox="1"/>
          <p:nvPr/>
        </p:nvSpPr>
        <p:spPr>
          <a:xfrm>
            <a:off x="694944"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Rows, distinct orders, and the three counts for every field.</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2</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Convert with a log</a:t>
            </a:r>
          </a:p>
        </p:txBody>
      </p:sp>
      <p:sp>
        <p:nvSpPr>
          <p:cNvPr id="19" name="TextBox 18"/>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Every amount that fails, set aside with its line and reason.</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3</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identity rule</a:t>
            </a:r>
          </a:p>
        </p:txBody>
      </p:sp>
      <p:sp>
        <p:nvSpPr>
          <p:cNvPr id="24" name="TextBox 23"/>
          <p:cNvSpPr txBox="1"/>
          <p:nvPr/>
        </p:nvSpPr>
        <p:spPr>
          <a:xfrm>
            <a:off x="5220492"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One row per order, and the copy that validates stays.</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4</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Two decisions</a:t>
            </a:r>
          </a:p>
        </p:txBody>
      </p:sp>
      <p:sp>
        <p:nvSpPr>
          <p:cNvPr id="29" name="TextBox 28"/>
          <p:cNvSpPr txBox="1"/>
          <p:nvPr/>
        </p:nvSpPr>
        <p:spPr>
          <a:xfrm>
            <a:off x="7483266"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missing status and the largest order, each with a reason.</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PART 5</a:t>
            </a:r>
          </a:p>
        </p:txBody>
      </p:sp>
      <p:sp>
        <p:nvSpPr>
          <p:cNvPr id="31" name="Oval 30"/>
          <p:cNvSpPr/>
          <p:nvPr/>
        </p:nvSpPr>
        <p:spPr>
          <a:xfrm>
            <a:off x="10520812"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465836"/>
          </a:xfrm>
          <a:prstGeom prst="rect">
            <a:avLst/>
          </a:prstGeom>
          <a:noFill/>
        </p:spPr>
        <p:txBody>
          <a:bodyPr wrap="square" anchor="t" lIns="0" rIns="0" tIns="0" bIns="0">
            <a:spAutoFit/>
          </a:bodyPr>
          <a:lstStyle/>
          <a:p>
            <a:pPr algn="l"/>
            <a:r>
              <a:rPr sz="1300" b="1" i="0">
                <a:solidFill>
                  <a:srgbClr val="FFFFFF"/>
                </a:solidFill>
                <a:latin typeface="Calibri"/>
              </a:rPr>
              <a:t>Reconcile and recompute</a:t>
            </a:r>
          </a:p>
        </p:txBody>
      </p:sp>
      <p:sp>
        <p:nvSpPr>
          <p:cNvPr id="34" name="TextBox 33"/>
          <p:cNvSpPr txBox="1"/>
          <p:nvPr/>
        </p:nvSpPr>
        <p:spPr>
          <a:xfrm>
            <a:off x="9746040" y="3492500"/>
            <a:ext cx="1750710" cy="531876"/>
          </a:xfrm>
          <a:prstGeom prst="rect">
            <a:avLst/>
          </a:prstGeom>
          <a:noFill/>
        </p:spPr>
        <p:txBody>
          <a:bodyPr wrap="square" anchor="t" lIns="0" rIns="0" tIns="0" bIns="0">
            <a:spAutoFit/>
          </a:bodyPr>
          <a:lstStyle/>
          <a:p>
            <a:pPr algn="l"/>
            <a:r>
              <a:rPr sz="1000" b="0" i="0">
                <a:solidFill>
                  <a:srgbClr val="CFC9EE"/>
                </a:solidFill>
                <a:latin typeface="Calibri"/>
              </a:rPr>
              <a:t>Rows and rupees to the books, the bridge, Tuesday, the note.</a:t>
            </a:r>
          </a:p>
        </p:txBody>
      </p:sp>
      <p:sp>
        <p:nvSpPr>
          <p:cNvPr id="35" name="Rounded Rectangle 34"/>
          <p:cNvSpPr/>
          <p:nvPr/>
        </p:nvSpPr>
        <p:spPr>
          <a:xfrm>
            <a:off x="530352" y="4276344"/>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758952" y="460857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7" name="Picture 36" descr="message-square_028dbd132a0a.png"/>
          <p:cNvPicPr>
            <a:picLocks noChangeAspect="1"/>
          </p:cNvPicPr>
          <p:nvPr/>
        </p:nvPicPr>
        <p:blipFill>
          <a:blip r:embed="rId4"/>
          <a:stretch>
            <a:fillRect/>
          </a:stretch>
        </p:blipFill>
        <p:spPr>
          <a:xfrm>
            <a:off x="868680" y="4718304"/>
            <a:ext cx="237744" cy="237744"/>
          </a:xfrm>
          <a:prstGeom prst="rect">
            <a:avLst/>
          </a:prstGeom>
        </p:spPr>
      </p:pic>
      <p:sp>
        <p:nvSpPr>
          <p:cNvPr id="38" name="TextBox 37"/>
          <p:cNvSpPr txBox="1"/>
          <p:nvPr/>
        </p:nvSpPr>
        <p:spPr>
          <a:xfrm>
            <a:off x="1399031" y="4422648"/>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39" name="TextBox 38"/>
          <p:cNvSpPr txBox="1"/>
          <p:nvPr/>
        </p:nvSpPr>
        <p:spPr>
          <a:xfrm>
            <a:off x="1399031" y="4642104"/>
            <a:ext cx="9987991" cy="682752"/>
          </a:xfrm>
          <a:prstGeom prst="rect">
            <a:avLst/>
          </a:prstGeom>
          <a:noFill/>
        </p:spPr>
        <p:txBody>
          <a:bodyPr wrap="square" anchor="t" lIns="0" rIns="0" tIns="0" bIns="0">
            <a:spAutoFit/>
          </a:bodyPr>
          <a:lstStyle/>
          <a:p>
            <a:r>
              <a:rPr sz="1500" b="0" i="0">
                <a:solidFill>
                  <a:srgbClr val="FFFFFF"/>
                </a:solidFill>
                <a:latin typeface="Calibri"/>
              </a:rPr>
              <a:t>"Which figure is right, the proof in rows and in rupees, and every decision in a log my analyst can follow."</a:t>
            </a:r>
          </a:p>
        </p:txBody>
      </p:sp>
      <p:sp>
        <p:nvSpPr>
          <p:cNvPr id="40" name="Oval 3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42" name="Oval 41"/>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2311717"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The escalated case</a:t>
            </a:r>
          </a:p>
        </p:txBody>
      </p:sp>
      <p:sp>
        <p:nvSpPr>
          <p:cNvPr id="44" name="Oval 4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46" name="Oval 4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48" name="Oval 4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50" name="Oval 4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52" name="TextBox 5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checks you post with your letters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check in the notebook passes before the letters go into chat.</a:t>
            </a:r>
          </a:p>
        </p:txBody>
      </p:sp>
      <p:sp>
        <p:nvSpPr>
          <p:cNvPr id="9" name="TextBox 8"/>
          <p:cNvSpPr txBox="1"/>
          <p:nvPr/>
        </p:nvSpPr>
        <p:spPr>
          <a:xfrm>
            <a:off x="530352" y="1956816"/>
            <a:ext cx="2577007" cy="349250"/>
          </a:xfrm>
          <a:prstGeom prst="rect">
            <a:avLst/>
          </a:prstGeom>
          <a:noFill/>
        </p:spPr>
        <p:txBody>
          <a:bodyPr wrap="square" anchor="t" lIns="0" rIns="0" tIns="0" bIns="0">
            <a:spAutoFit/>
          </a:bodyPr>
          <a:lstStyle/>
          <a:p>
            <a:pPr algn="l"/>
            <a:r>
              <a:rPr sz="2200" b="0" i="0">
                <a:solidFill>
                  <a:srgbClr val="5B3FD6"/>
                </a:solidFill>
                <a:latin typeface="Georgia"/>
              </a:rPr>
              <a:t>186 + 15</a:t>
            </a:r>
          </a:p>
        </p:txBody>
      </p:sp>
      <p:sp>
        <p:nvSpPr>
          <p:cNvPr id="10" name="TextBox 9"/>
          <p:cNvSpPr txBox="1"/>
          <p:nvPr/>
        </p:nvSpPr>
        <p:spPr>
          <a:xfrm>
            <a:off x="530352" y="23426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ROWS</a:t>
            </a:r>
          </a:p>
        </p:txBody>
      </p:sp>
      <p:sp>
        <p:nvSpPr>
          <p:cNvPr id="11" name="TextBox 10"/>
          <p:cNvSpPr txBox="1"/>
          <p:nvPr/>
        </p:nvSpPr>
        <p:spPr>
          <a:xfrm>
            <a:off x="530352" y="2543810"/>
            <a:ext cx="2577007" cy="193421"/>
          </a:xfrm>
          <a:prstGeom prst="rect">
            <a:avLst/>
          </a:prstGeom>
          <a:noFill/>
        </p:spPr>
        <p:txBody>
          <a:bodyPr wrap="square" anchor="t" lIns="0" rIns="0" tIns="0" bIns="0">
            <a:spAutoFit/>
          </a:bodyPr>
          <a:lstStyle/>
          <a:p>
            <a:pPr algn="l"/>
            <a:r>
              <a:rPr sz="950" b="0" i="0">
                <a:solidFill>
                  <a:srgbClr val="6B6690"/>
                </a:solidFill>
                <a:latin typeface="Calibri"/>
              </a:rPr>
              <a:t>kept and set aside, of 201</a:t>
            </a:r>
          </a:p>
        </p:txBody>
      </p:sp>
      <p:sp>
        <p:nvSpPr>
          <p:cNvPr id="12" name="Rectangle 11"/>
          <p:cNvSpPr/>
          <p:nvPr/>
        </p:nvSpPr>
        <p:spPr>
          <a:xfrm>
            <a:off x="530352"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381679" y="1956816"/>
            <a:ext cx="2577007" cy="349250"/>
          </a:xfrm>
          <a:prstGeom prst="rect">
            <a:avLst/>
          </a:prstGeom>
          <a:noFill/>
        </p:spPr>
        <p:txBody>
          <a:bodyPr wrap="square" anchor="t" lIns="0" rIns="0" tIns="0" bIns="0">
            <a:spAutoFit/>
          </a:bodyPr>
          <a:lstStyle/>
          <a:p>
            <a:pPr algn="l"/>
            <a:r>
              <a:rPr sz="2200" b="0" i="0">
                <a:solidFill>
                  <a:srgbClr val="5B3FD6"/>
                </a:solidFill>
                <a:latin typeface="Georgia"/>
              </a:rPr>
              <a:t>Rs 1,90,00,000</a:t>
            </a:r>
          </a:p>
        </p:txBody>
      </p:sp>
      <p:sp>
        <p:nvSpPr>
          <p:cNvPr id="14" name="TextBox 13"/>
          <p:cNvSpPr txBox="1"/>
          <p:nvPr/>
        </p:nvSpPr>
        <p:spPr>
          <a:xfrm>
            <a:off x="3381679" y="23426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Q1 CLEAN</a:t>
            </a:r>
          </a:p>
        </p:txBody>
      </p:sp>
      <p:sp>
        <p:nvSpPr>
          <p:cNvPr id="15" name="TextBox 14"/>
          <p:cNvSpPr txBox="1"/>
          <p:nvPr/>
        </p:nvSpPr>
        <p:spPr>
          <a:xfrm>
            <a:off x="3381679" y="2543810"/>
            <a:ext cx="2577007" cy="193421"/>
          </a:xfrm>
          <a:prstGeom prst="rect">
            <a:avLst/>
          </a:prstGeom>
          <a:noFill/>
        </p:spPr>
        <p:txBody>
          <a:bodyPr wrap="square" anchor="t" lIns="0" rIns="0" tIns="0" bIns="0">
            <a:spAutoFit/>
          </a:bodyPr>
          <a:lstStyle/>
          <a:p>
            <a:pPr algn="l"/>
            <a:r>
              <a:rPr sz="950" b="0" i="0">
                <a:solidFill>
                  <a:srgbClr val="6B6690"/>
                </a:solidFill>
                <a:latin typeface="Calibri"/>
              </a:rPr>
              <a:t>the books, to the rupee</a:t>
            </a:r>
          </a:p>
        </p:txBody>
      </p:sp>
      <p:sp>
        <p:nvSpPr>
          <p:cNvPr id="16" name="Rectangle 15"/>
          <p:cNvSpPr/>
          <p:nvPr/>
        </p:nvSpPr>
        <p:spPr>
          <a:xfrm>
            <a:off x="3381679"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233007" y="1956816"/>
            <a:ext cx="2577007" cy="349250"/>
          </a:xfrm>
          <a:prstGeom prst="rect">
            <a:avLst/>
          </a:prstGeom>
          <a:noFill/>
        </p:spPr>
        <p:txBody>
          <a:bodyPr wrap="square" anchor="t" lIns="0" rIns="0" tIns="0" bIns="0">
            <a:spAutoFit/>
          </a:bodyPr>
          <a:lstStyle/>
          <a:p>
            <a:pPr algn="l"/>
            <a:r>
              <a:rPr sz="2200" b="0" i="0">
                <a:solidFill>
                  <a:srgbClr val="5B3FD6"/>
                </a:solidFill>
                <a:latin typeface="Georgia"/>
              </a:rPr>
              <a:t>Rs 1,87,00,000</a:t>
            </a:r>
          </a:p>
        </p:txBody>
      </p:sp>
      <p:sp>
        <p:nvSpPr>
          <p:cNvPr id="18" name="TextBox 17"/>
          <p:cNvSpPr txBox="1"/>
          <p:nvPr/>
        </p:nvSpPr>
        <p:spPr>
          <a:xfrm>
            <a:off x="6233007" y="23426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Q2 CLEAN</a:t>
            </a:r>
          </a:p>
        </p:txBody>
      </p:sp>
      <p:sp>
        <p:nvSpPr>
          <p:cNvPr id="19" name="TextBox 18"/>
          <p:cNvSpPr txBox="1"/>
          <p:nvPr/>
        </p:nvSpPr>
        <p:spPr>
          <a:xfrm>
            <a:off x="6233007" y="2543810"/>
            <a:ext cx="2577007" cy="193421"/>
          </a:xfrm>
          <a:prstGeom prst="rect">
            <a:avLst/>
          </a:prstGeom>
          <a:noFill/>
        </p:spPr>
        <p:txBody>
          <a:bodyPr wrap="square" anchor="t" lIns="0" rIns="0" tIns="0" bIns="0">
            <a:spAutoFit/>
          </a:bodyPr>
          <a:lstStyle/>
          <a:p>
            <a:pPr algn="l"/>
            <a:r>
              <a:rPr sz="950" b="0" i="0">
                <a:solidFill>
                  <a:srgbClr val="6B6690"/>
                </a:solidFill>
                <a:latin typeface="Calibri"/>
              </a:rPr>
              <a:t>every real order kept</a:t>
            </a:r>
          </a:p>
        </p:txBody>
      </p:sp>
      <p:sp>
        <p:nvSpPr>
          <p:cNvPr id="20" name="Rectangle 19"/>
          <p:cNvSpPr/>
          <p:nvPr/>
        </p:nvSpPr>
        <p:spPr>
          <a:xfrm>
            <a:off x="6233007"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84335" y="1956816"/>
            <a:ext cx="2577007" cy="349250"/>
          </a:xfrm>
          <a:prstGeom prst="rect">
            <a:avLst/>
          </a:prstGeom>
          <a:noFill/>
        </p:spPr>
        <p:txBody>
          <a:bodyPr wrap="square" anchor="t" lIns="0" rIns="0" tIns="0" bIns="0">
            <a:spAutoFit/>
          </a:bodyPr>
          <a:lstStyle/>
          <a:p>
            <a:pPr algn="l"/>
            <a:r>
              <a:rPr sz="2200" b="0" i="0">
                <a:solidFill>
                  <a:srgbClr val="5B3FD6"/>
                </a:solidFill>
                <a:latin typeface="Georgia"/>
              </a:rPr>
              <a:t>-35.0%</a:t>
            </a:r>
          </a:p>
        </p:txBody>
      </p:sp>
      <p:sp>
        <p:nvSpPr>
          <p:cNvPr id="22" name="TextBox 21"/>
          <p:cNvSpPr txBox="1"/>
          <p:nvPr/>
        </p:nvSpPr>
        <p:spPr>
          <a:xfrm>
            <a:off x="9084335" y="2342642"/>
            <a:ext cx="2577007" cy="168656"/>
          </a:xfrm>
          <a:prstGeom prst="rect">
            <a:avLst/>
          </a:prstGeom>
          <a:noFill/>
        </p:spPr>
        <p:txBody>
          <a:bodyPr wrap="square" anchor="t" lIns="0" rIns="0" tIns="0" bIns="0">
            <a:spAutoFit/>
          </a:bodyPr>
          <a:lstStyle/>
          <a:p>
            <a:pPr algn="l"/>
            <a:r>
              <a:rPr sz="800" b="1" i="0" spc="250">
                <a:solidFill>
                  <a:srgbClr val="1A0F5C"/>
                </a:solidFill>
                <a:latin typeface="Calibri"/>
              </a:rPr>
              <a:t>RETAIL-PLUS</a:t>
            </a:r>
          </a:p>
        </p:txBody>
      </p:sp>
      <p:sp>
        <p:nvSpPr>
          <p:cNvPr id="23" name="TextBox 22"/>
          <p:cNvSpPr txBox="1"/>
          <p:nvPr/>
        </p:nvSpPr>
        <p:spPr>
          <a:xfrm>
            <a:off x="9084335" y="2543810"/>
            <a:ext cx="2577007" cy="193421"/>
          </a:xfrm>
          <a:prstGeom prst="rect">
            <a:avLst/>
          </a:prstGeom>
          <a:noFill/>
        </p:spPr>
        <p:txBody>
          <a:bodyPr wrap="square" anchor="t" lIns="0" rIns="0" tIns="0" bIns="0">
            <a:spAutoFit/>
          </a:bodyPr>
          <a:lstStyle/>
          <a:p>
            <a:pPr algn="l"/>
            <a:r>
              <a:rPr sz="950" b="0" i="0">
                <a:solidFill>
                  <a:srgbClr val="6B6690"/>
                </a:solidFill>
                <a:latin typeface="Calibri"/>
              </a:rPr>
              <a:t>orders per customer, clean</a:t>
            </a:r>
          </a:p>
        </p:txBody>
      </p:sp>
      <p:sp>
        <p:nvSpPr>
          <p:cNvPr id="24" name="Rectangle 23"/>
          <p:cNvSpPr/>
          <p:nvPr/>
        </p:nvSpPr>
        <p:spPr>
          <a:xfrm>
            <a:off x="9084335" y="3145536"/>
            <a:ext cx="2577007"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27" name="Oval 26"/>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311717" y="6437376"/>
            <a:ext cx="1102423" cy="152146"/>
          </a:xfrm>
          <a:prstGeom prst="rect">
            <a:avLst/>
          </a:prstGeom>
          <a:noFill/>
        </p:spPr>
        <p:txBody>
          <a:bodyPr wrap="square" anchor="t" lIns="0" rIns="0" tIns="0" bIns="0">
            <a:spAutoFit/>
          </a:bodyPr>
          <a:lstStyle/>
          <a:p>
            <a:pPr algn="l"/>
            <a:r>
              <a:rPr sz="700" b="1" i="0">
                <a:solidFill>
                  <a:srgbClr val="5B3FD6"/>
                </a:solidFill>
                <a:latin typeface="Calibri"/>
              </a:rPr>
              <a:t>The escalated case</a:t>
            </a:r>
          </a:p>
        </p:txBody>
      </p:sp>
      <p:sp>
        <p:nvSpPr>
          <p:cNvPr id="29" name="Oval 28"/>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1" name="Oval 3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33" name="Oval 32"/>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5" name="Oval 34"/>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room's wrong answers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Fifteen minutes on the numbers the room produced, each traced to the step that made it.</a:t>
            </a:r>
          </a:p>
        </p:txBody>
      </p:sp>
      <p:sp>
        <p:nvSpPr>
          <p:cNvPr id="10" name="Rounded Rectangle 9"/>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wrong numbers, six steps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Every wrong figure the room produces comes from one of the day's traps.</a:t>
            </a:r>
          </a:p>
        </p:txBody>
      </p:sp>
      <p:graphicFrame>
        <p:nvGraphicFramePr>
          <p:cNvPr id="9" name="Table 8"/>
          <p:cNvGraphicFramePr>
            <a:graphicFrameLocks noGrp="1"/>
          </p:cNvGraphicFramePr>
          <p:nvPr/>
        </p:nvGraphicFramePr>
        <p:xfrm>
          <a:off x="530352" y="1956816"/>
          <a:ext cx="11130990" cy="2588768"/>
        </p:xfrm>
        <a:graphic>
          <a:graphicData uri="http://schemas.openxmlformats.org/drawingml/2006/table">
            <a:tbl>
              <a:tblPr firstRow="0" bandRow="0">
                <a:tableStyleId>{2D5ABB26-0587-4C30-8999-92F81FD0307C}</a:tableStyleId>
              </a:tblPr>
              <a:tblGrid>
                <a:gridCol w="3893728"/>
                <a:gridCol w="4003766"/>
                <a:gridCol w="3233496"/>
              </a:tblGrid>
              <a:tr h="369824">
                <a:tc>
                  <a:txBody>
                    <a:bodyPr/>
                    <a:lstStyle/>
                    <a:p>
                      <a:r>
                        <a:rPr sz="1450" b="1" i="0">
                          <a:solidFill>
                            <a:srgbClr val="FFFFFF"/>
                          </a:solidFill>
                          <a:latin typeface="Calibri"/>
                        </a:rPr>
                        <a:t>The number on the screen</a:t>
                      </a:r>
                    </a:p>
                  </a:txBody>
                  <a:tcPr marL="101600" marR="101600" marT="38100" marB="38100" anchor="ctr">
                    <a:solidFill>
                      <a:srgbClr val="1A0F5C"/>
                    </a:solidFill>
                  </a:tcPr>
                </a:tc>
                <a:tc>
                  <a:txBody>
                    <a:bodyPr/>
                    <a:lstStyle/>
                    <a:p>
                      <a:r>
                        <a:rPr sz="1450" b="1" i="0">
                          <a:solidFill>
                            <a:srgbClr val="FFFFFF"/>
                          </a:solidFill>
                          <a:latin typeface="Calibri"/>
                        </a:rPr>
                        <a:t>The step that made it</a:t>
                      </a:r>
                    </a:p>
                  </a:txBody>
                  <a:tcPr marL="101600" marR="101600" marT="38100" marB="38100" anchor="ctr">
                    <a:solidFill>
                      <a:srgbClr val="1A0F5C"/>
                    </a:solidFill>
                  </a:tcPr>
                </a:tc>
                <a:tc>
                  <a:txBody>
                    <a:bodyPr/>
                    <a:lstStyle/>
                    <a:p>
                      <a:r>
                        <a:rPr sz="1450" b="1" i="0">
                          <a:solidFill>
                            <a:srgbClr val="FFFFFF"/>
                          </a:solidFill>
                          <a:latin typeface="Calibri"/>
                        </a:rPr>
                        <a:t>The check</a:t>
                      </a:r>
                    </a:p>
                  </a:txBody>
                  <a:tcPr marL="101600" marR="101600" marT="38100" marB="38100" anchor="ctr">
                    <a:solidFill>
                      <a:srgbClr val="1A0F5C"/>
                    </a:solidFill>
                  </a:tcPr>
                </a:tc>
              </a:tr>
              <a:tr h="369824">
                <a:tc>
                  <a:txBody>
                    <a:bodyPr/>
                    <a:lstStyle/>
                    <a:p>
                      <a:r>
                        <a:rPr sz="1400" b="0" i="0">
                          <a:solidFill>
                            <a:srgbClr val="1A1440"/>
                          </a:solidFill>
                          <a:latin typeface="Calibri"/>
                        </a:rPr>
                        <a:t>Largest Q2 order Rs 970</a:t>
                      </a:r>
                    </a:p>
                  </a:txBody>
                  <a:tcPr marL="101600" marR="101600" marT="38100" marB="38100" anchor="ctr">
                    <a:solidFill>
                      <a:srgbClr val="FFFFFF"/>
                    </a:solidFill>
                  </a:tcPr>
                </a:tc>
                <a:tc>
                  <a:txBody>
                    <a:bodyPr/>
                    <a:lstStyle/>
                    <a:p>
                      <a:r>
                        <a:rPr sz="1400" b="0" i="0">
                          <a:solidFill>
                            <a:srgbClr val="1A1440"/>
                          </a:solidFill>
                          <a:latin typeface="Calibri"/>
                        </a:rPr>
                        <a:t>Sorting amounts as text</a:t>
                      </a:r>
                    </a:p>
                  </a:txBody>
                  <a:tcPr marL="101600" marR="101600" marT="38100" marB="38100" anchor="ctr">
                    <a:solidFill>
                      <a:srgbClr val="FFFFFF"/>
                    </a:solidFill>
                  </a:tcPr>
                </a:tc>
                <a:tc>
                  <a:txBody>
                    <a:bodyPr/>
                    <a:lstStyle/>
                    <a:p>
                      <a:r>
                        <a:rPr sz="1400" b="0" i="0">
                          <a:solidFill>
                            <a:srgbClr val="1A1440"/>
                          </a:solidFill>
                          <a:latin typeface="Calibri"/>
                        </a:rPr>
                        <a:t>Below every Business order</a:t>
                      </a:r>
                    </a:p>
                  </a:txBody>
                  <a:tcPr marL="101600" marR="101600" marT="38100" marB="38100" anchor="ctr">
                    <a:solidFill>
                      <a:srgbClr val="FFFFFF"/>
                    </a:solidFill>
                  </a:tcPr>
                </a:tc>
              </a:tr>
              <a:tr h="369824">
                <a:tc>
                  <a:txBody>
                    <a:bodyPr/>
                    <a:lstStyle/>
                    <a:p>
                      <a:r>
                        <a:rPr sz="1400" b="0" i="0">
                          <a:solidFill>
                            <a:srgbClr val="1A1440"/>
                          </a:solidFill>
                          <a:latin typeface="Calibri"/>
                        </a:rPr>
                        <a:t>0 duplicates</a:t>
                      </a:r>
                    </a:p>
                  </a:txBody>
                  <a:tcPr marL="101600" marR="101600" marT="38100" marB="38100" anchor="ctr">
                    <a:solidFill>
                      <a:srgbClr val="F4F2FA"/>
                    </a:solidFill>
                  </a:tcPr>
                </a:tc>
                <a:tc>
                  <a:txBody>
                    <a:bodyPr/>
                    <a:lstStyle/>
                    <a:p>
                      <a:r>
                        <a:rPr sz="1400" b="0" i="0">
                          <a:solidFill>
                            <a:srgbClr val="1A1440"/>
                          </a:solidFill>
                          <a:latin typeface="Calibri"/>
                        </a:rPr>
                        <a:t>The line in the whole-record key</a:t>
                      </a:r>
                    </a:p>
                  </a:txBody>
                  <a:tcPr marL="101600" marR="101600" marT="38100" marB="38100" anchor="ctr">
                    <a:solidFill>
                      <a:srgbClr val="F4F2FA"/>
                    </a:solidFill>
                  </a:tcPr>
                </a:tc>
                <a:tc>
                  <a:txBody>
                    <a:bodyPr/>
                    <a:lstStyle/>
                    <a:p>
                      <a:r>
                        <a:rPr sz="1400" b="0" i="0">
                          <a:solidFill>
                            <a:srgbClr val="1A1440"/>
                          </a:solidFill>
                          <a:latin typeface="Calibri"/>
                        </a:rPr>
                        <a:t>201 rows, 186 ids</a:t>
                      </a:r>
                    </a:p>
                  </a:txBody>
                  <a:tcPr marL="101600" marR="101600" marT="38100" marB="38100" anchor="ctr">
                    <a:solidFill>
                      <a:srgbClr val="F4F2FA"/>
                    </a:solidFill>
                  </a:tcPr>
                </a:tc>
              </a:tr>
              <a:tr h="369824">
                <a:tc>
                  <a:txBody>
                    <a:bodyPr/>
                    <a:lstStyle/>
                    <a:p>
                      <a:r>
                        <a:rPr sz="1400" b="0" i="0">
                          <a:solidFill>
                            <a:srgbClr val="1A1440"/>
                          </a:solidFill>
                          <a:latin typeface="Calibri"/>
                        </a:rPr>
                        <a:t>188 orders, Q2 Rs 1,87,03,710</a:t>
                      </a:r>
                    </a:p>
                  </a:txBody>
                  <a:tcPr marL="101600" marR="101600" marT="38100" marB="38100" anchor="ctr">
                    <a:solidFill>
                      <a:srgbClr val="FFFFFF"/>
                    </a:solidFill>
                  </a:tcPr>
                </a:tc>
                <a:tc>
                  <a:txBody>
                    <a:bodyPr/>
                    <a:lstStyle/>
                    <a:p>
                      <a:r>
                        <a:rPr sz="1400" b="0" i="0">
                          <a:solidFill>
                            <a:srgbClr val="1A1440"/>
                          </a:solidFill>
                          <a:latin typeface="Calibri"/>
                        </a:rPr>
                        <a:t>Record less line; Q1 tied, so stop</a:t>
                      </a:r>
                    </a:p>
                  </a:txBody>
                  <a:tcPr marL="101600" marR="101600" marT="38100" marB="38100" anchor="ctr">
                    <a:solidFill>
                      <a:srgbClr val="FFFFFF"/>
                    </a:solidFill>
                  </a:tcPr>
                </a:tc>
                <a:tc>
                  <a:txBody>
                    <a:bodyPr/>
                    <a:lstStyle/>
                    <a:p>
                      <a:r>
                        <a:rPr sz="1400" b="0" i="0">
                          <a:solidFill>
                            <a:srgbClr val="1A1440"/>
                          </a:solidFill>
                          <a:latin typeface="Calibri"/>
                        </a:rPr>
                        <a:t>Rows against ids</a:t>
                      </a:r>
                    </a:p>
                  </a:txBody>
                  <a:tcPr marL="101600" marR="101600" marT="38100" marB="38100" anchor="ctr">
                    <a:solidFill>
                      <a:srgbClr val="FFFFFF"/>
                    </a:solidFill>
                  </a:tcPr>
                </a:tc>
              </a:tr>
              <a:tr h="369824">
                <a:tc>
                  <a:txBody>
                    <a:bodyPr/>
                    <a:lstStyle/>
                    <a:p>
                      <a:r>
                        <a:rPr sz="1400" b="0" i="0">
                          <a:solidFill>
                            <a:srgbClr val="1A1440"/>
                          </a:solidFill>
                          <a:latin typeface="Calibri"/>
                        </a:rPr>
                        <a:t>201 of 201 convert</a:t>
                      </a:r>
                    </a:p>
                  </a:txBody>
                  <a:tcPr marL="101600" marR="101600" marT="38100" marB="38100" anchor="ctr">
                    <a:solidFill>
                      <a:srgbClr val="F4F2FA"/>
                    </a:solidFill>
                  </a:tcPr>
                </a:tc>
                <a:tc>
                  <a:txBody>
                    <a:bodyPr/>
                    <a:lstStyle/>
                    <a:p>
                      <a:r>
                        <a:rPr sz="1400" b="0" i="0">
                          <a:solidFill>
                            <a:srgbClr val="1A1440"/>
                          </a:solidFill>
                          <a:latin typeface="Calibri"/>
                        </a:rPr>
                        <a:t>Failures coerced to zero</a:t>
                      </a:r>
                    </a:p>
                  </a:txBody>
                  <a:tcPr marL="101600" marR="101600" marT="38100" marB="38100" anchor="ctr">
                    <a:solidFill>
                      <a:srgbClr val="F4F2FA"/>
                    </a:solidFill>
                  </a:tcPr>
                </a:tc>
                <a:tc>
                  <a:txBody>
                    <a:bodyPr/>
                    <a:lstStyle/>
                    <a:p>
                      <a:r>
                        <a:rPr sz="1400" b="0" i="0">
                          <a:solidFill>
                            <a:srgbClr val="1A1440"/>
                          </a:solidFill>
                          <a:latin typeface="Calibri"/>
                        </a:rPr>
                        <a:t>An order worth Rs 0</a:t>
                      </a:r>
                    </a:p>
                  </a:txBody>
                  <a:tcPr marL="101600" marR="101600" marT="38100" marB="38100" anchor="ctr">
                    <a:solidFill>
                      <a:srgbClr val="F4F2FA"/>
                    </a:solidFill>
                  </a:tcPr>
                </a:tc>
              </a:tr>
              <a:tr h="369824">
                <a:tc>
                  <a:txBody>
                    <a:bodyPr/>
                    <a:lstStyle/>
                    <a:p>
                      <a:r>
                        <a:rPr sz="1400" b="0" i="0">
                          <a:solidFill>
                            <a:srgbClr val="1A1440"/>
                          </a:solidFill>
                          <a:latin typeface="Calibri"/>
                        </a:rPr>
                        <a:t>Q2 Rs 1,57,54,540, -17.1%</a:t>
                      </a:r>
                    </a:p>
                  </a:txBody>
                  <a:tcPr marL="101600" marR="101600" marT="38100" marB="38100" anchor="ctr">
                    <a:solidFill>
                      <a:srgbClr val="FFFFFF"/>
                    </a:solidFill>
                  </a:tcPr>
                </a:tc>
                <a:tc>
                  <a:txBody>
                    <a:bodyPr/>
                    <a:lstStyle/>
                    <a:p>
                      <a:r>
                        <a:rPr sz="1400" b="0" i="0">
                          <a:solidFill>
                            <a:srgbClr val="1A1440"/>
                          </a:solidFill>
                          <a:latin typeface="Calibri"/>
                        </a:rPr>
                        <a:t>The bulk order fenced out</a:t>
                      </a:r>
                    </a:p>
                  </a:txBody>
                  <a:tcPr marL="101600" marR="101600" marT="38100" marB="38100" anchor="ctr">
                    <a:solidFill>
                      <a:srgbClr val="FFFFFF"/>
                    </a:solidFill>
                  </a:tcPr>
                </a:tc>
                <a:tc>
                  <a:txBody>
                    <a:bodyPr/>
                    <a:lstStyle/>
                    <a:p>
                      <a:r>
                        <a:rPr sz="1400" b="0" i="0">
                          <a:solidFill>
                            <a:srgbClr val="1A1440"/>
                          </a:solidFill>
                          <a:latin typeface="Calibri"/>
                        </a:rPr>
                        <a:t>A real Business account</a:t>
                      </a:r>
                    </a:p>
                  </a:txBody>
                  <a:tcPr marL="101600" marR="101600" marT="38100" marB="38100" anchor="ctr">
                    <a:solidFill>
                      <a:srgbClr val="FFFFFF"/>
                    </a:solidFill>
                  </a:tcPr>
                </a:tc>
              </a:tr>
              <a:tr h="369824">
                <a:tc>
                  <a:txBody>
                    <a:bodyPr/>
                    <a:lstStyle/>
                    <a:p>
                      <a:r>
                        <a:rPr sz="1400" b="0" i="0">
                          <a:solidFill>
                            <a:srgbClr val="1A1440"/>
                          </a:solidFill>
                          <a:latin typeface="Calibri"/>
                        </a:rPr>
                        <a:t>201 = 185 + 16, Q1 Rs 1,89,98,210</a:t>
                      </a:r>
                    </a:p>
                  </a:txBody>
                  <a:tcPr marL="101600" marR="101600" marT="38100" marB="38100" anchor="ctr">
                    <a:solidFill>
                      <a:srgbClr val="F4F2FA"/>
                    </a:solidFill>
                  </a:tcPr>
                </a:tc>
                <a:tc>
                  <a:txBody>
                    <a:bodyPr/>
                    <a:lstStyle/>
                    <a:p>
                      <a:r>
                        <a:rPr sz="1400" b="0" i="0">
                          <a:solidFill>
                            <a:srgbClr val="1A1440"/>
                          </a:solidFill>
                          <a:latin typeface="Calibri"/>
                        </a:rPr>
                        <a:t>Keep first, then convert</a:t>
                      </a:r>
                    </a:p>
                  </a:txBody>
                  <a:tcPr marL="101600" marR="101600" marT="38100" marB="38100" anchor="ctr">
                    <a:solidFill>
                      <a:srgbClr val="F4F2FA"/>
                    </a:solidFill>
                  </a:tcPr>
                </a:tc>
                <a:tc>
                  <a:txBody>
                    <a:bodyPr/>
                    <a:lstStyle/>
                    <a:p>
                      <a:r>
                        <a:rPr sz="1400" b="0" i="0">
                          <a:solidFill>
                            <a:srgbClr val="1A1440"/>
                          </a:solidFill>
                          <a:latin typeface="Calibri"/>
                        </a:rPr>
                        <a:t>Rs 1,790 short of the books</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room's wrong answers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8" name="Oval 1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0" name="Oval 1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one most rooms miss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Rounding is where reconciliations go to hide.</a:t>
            </a:r>
          </a:p>
        </p:txBody>
      </p:sp>
      <p:pic>
        <p:nvPicPr>
          <p:cNvPr id="9" name="mermaid diagram" descr="28b1cd1bbca353e5.png"/>
          <p:cNvPicPr>
            <a:picLocks noChangeAspect="1"/>
          </p:cNvPicPr>
          <p:nvPr/>
        </p:nvPicPr>
        <p:blipFill>
          <a:blip r:embed="rId6"/>
          <a:stretch>
            <a:fillRect/>
          </a:stretch>
        </p:blipFill>
        <p:spPr>
          <a:xfrm>
            <a:off x="780897" y="1956816"/>
            <a:ext cx="10629900" cy="1357312"/>
          </a:xfrm>
          <a:prstGeom prst="rect">
            <a:avLst/>
          </a:prstGeom>
        </p:spPr>
      </p:pic>
      <p:sp>
        <p:nvSpPr>
          <p:cNvPr id="10" name="Rounded Rectangle 9"/>
          <p:cNvSpPr/>
          <p:nvPr/>
        </p:nvSpPr>
        <p:spPr>
          <a:xfrm>
            <a:off x="530352" y="3460432"/>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366312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5"/>
          <a:stretch>
            <a:fillRect/>
          </a:stretch>
        </p:blipFill>
        <p:spPr>
          <a:xfrm>
            <a:off x="868680" y="3772852"/>
            <a:ext cx="237744" cy="237744"/>
          </a:xfrm>
          <a:prstGeom prst="rect">
            <a:avLst/>
          </a:prstGeom>
        </p:spPr>
      </p:pic>
      <p:sp>
        <p:nvSpPr>
          <p:cNvPr id="13" name="TextBox 12"/>
          <p:cNvSpPr txBox="1"/>
          <p:nvPr/>
        </p:nvSpPr>
        <p:spPr>
          <a:xfrm>
            <a:off x="1399031" y="360673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3826192"/>
            <a:ext cx="9987991" cy="423672"/>
          </a:xfrm>
          <a:prstGeom prst="rect">
            <a:avLst/>
          </a:prstGeom>
          <a:noFill/>
        </p:spPr>
        <p:txBody>
          <a:bodyPr wrap="square" anchor="t" lIns="0" rIns="0" tIns="0" bIns="0">
            <a:spAutoFit/>
          </a:bodyPr>
          <a:lstStyle/>
          <a:p>
            <a:r>
              <a:rPr sz="1500" b="0" i="0">
                <a:solidFill>
                  <a:srgbClr val="1A1440"/>
                </a:solidFill>
                <a:latin typeface="Calibri"/>
              </a:rPr>
              <a:t>Compare to the rupee, then round for the note.</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7" name="Oval 16"/>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9" name="Oval 18"/>
          <p:cNvSpPr/>
          <p:nvPr/>
        </p:nvSpPr>
        <p:spPr>
          <a:xfrm>
            <a:off x="3505581"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9"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The room's wrong answers</a:t>
            </a:r>
          </a:p>
        </p:txBody>
      </p:sp>
      <p:sp>
        <p:nvSpPr>
          <p:cNvPr id="21" name="Oval 2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3" name="Oval 22"/>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5" name="Oval 24"/>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04</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second case, in pairs</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auditor asks why 14 rows were dropped, and the answer comes from the log.</a:t>
            </a:r>
          </a:p>
        </p:txBody>
      </p:sp>
      <p:sp>
        <p:nvSpPr>
          <p:cNvPr id="10" name="Rounded Rectangle 9"/>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auditor's question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"Your log says 14 Q1 rows were dropped. Why those 14, and how do I know nothing else went?"</a:t>
            </a:r>
          </a:p>
        </p:txBody>
      </p:sp>
      <p:pic>
        <p:nvPicPr>
          <p:cNvPr id="9" name="mermaid diagram" descr="c0e7475c34b5802a.png"/>
          <p:cNvPicPr>
            <a:picLocks noChangeAspect="1"/>
          </p:cNvPicPr>
          <p:nvPr/>
        </p:nvPicPr>
        <p:blipFill>
          <a:blip r:embed="rId5"/>
          <a:stretch>
            <a:fillRect/>
          </a:stretch>
        </p:blipFill>
        <p:spPr>
          <a:xfrm>
            <a:off x="530352" y="1956816"/>
            <a:ext cx="11130991" cy="1129748"/>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6" name="Oval 15"/>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second case, in pairs</a:t>
            </a:r>
          </a:p>
        </p:txBody>
      </p:sp>
      <p:sp>
        <p:nvSpPr>
          <p:cNvPr id="18" name="Oval 1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0" name="Oval 1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Question: which statement does the auditor 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Four statements, one supported by the evidence.</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Question. </a:t>
            </a:r>
            <a:r>
              <a:rPr sz="1500" b="0" i="0">
                <a:solidFill>
                  <a:srgbClr val="1A1440"/>
                </a:solidFill>
                <a:latin typeface="Calibri"/>
              </a:rPr>
              <a:t>As a letter? a) 14 Q1 rows were deleted as errors; b) the dashboard was right and the books are short; c) 14 Q1 rows are second copies set aside by the order_id rule, and rows and rupees reconcile; d) the 14 rows were outliers.</a:t>
            </a:r>
          </a:p>
        </p:txBody>
      </p:sp>
      <p:pic>
        <p:nvPicPr>
          <p:cNvPr id="12" name="mermaid diagram" descr="928d3dabd505d200.png"/>
          <p:cNvPicPr>
            <a:picLocks noChangeAspect="1"/>
          </p:cNvPicPr>
          <p:nvPr/>
        </p:nvPicPr>
        <p:blipFill>
          <a:blip r:embed="rId5"/>
          <a:stretch>
            <a:fillRect/>
          </a:stretch>
        </p:blipFill>
        <p:spPr>
          <a:xfrm>
            <a:off x="3424085" y="3195828"/>
            <a:ext cx="5343525" cy="2586037"/>
          </a:xfrm>
          <a:prstGeom prst="rect">
            <a:avLst/>
          </a:prstGeom>
        </p:spPr>
      </p:pic>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7" name="Oval 16"/>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9" name="Oval 18"/>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94934"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second case, in pairs</a:t>
            </a:r>
          </a:p>
        </p:txBody>
      </p:sp>
      <p:sp>
        <p:nvSpPr>
          <p:cNvPr id="21" name="Oval 20"/>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3" name="Oval 22"/>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copies set aside, both totals tie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statement names the rule, the evidence and both reconciliations.</a:t>
            </a:r>
          </a:p>
        </p:txBody>
      </p:sp>
      <p:sp>
        <p:nvSpPr>
          <p:cNvPr id="9" name="TextBox 8"/>
          <p:cNvSpPr txBox="1"/>
          <p:nvPr/>
        </p:nvSpPr>
        <p:spPr>
          <a:xfrm>
            <a:off x="53035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114 = 100 + 14</a:t>
            </a:r>
          </a:p>
        </p:txBody>
      </p:sp>
      <p:sp>
        <p:nvSpPr>
          <p:cNvPr id="10" name="TextBox 9"/>
          <p:cNvSpPr txBox="1"/>
          <p:nvPr/>
        </p:nvSpPr>
        <p:spPr>
          <a:xfrm>
            <a:off x="53035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Q1 ROWS</a:t>
            </a:r>
          </a:p>
        </p:txBody>
      </p:sp>
      <p:sp>
        <p:nvSpPr>
          <p:cNvPr id="11" name="TextBox 10"/>
          <p:cNvSpPr txBox="1"/>
          <p:nvPr/>
        </p:nvSpPr>
        <p:spPr>
          <a:xfrm>
            <a:off x="53035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in, kept, set aside</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14 of 14</a:t>
            </a:r>
          </a:p>
        </p:txBody>
      </p:sp>
      <p:sp>
        <p:nvSpPr>
          <p:cNvPr id="14" name="TextBox 13"/>
          <p:cNvSpPr txBox="1"/>
          <p:nvPr/>
        </p:nvSpPr>
        <p:spPr>
          <a:xfrm>
            <a:off x="433212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WITH A KEPT TWIN</a:t>
            </a:r>
          </a:p>
        </p:txBody>
      </p:sp>
      <p:sp>
        <p:nvSpPr>
          <p:cNvPr id="15" name="TextBox 14"/>
          <p:cNvSpPr txBox="1"/>
          <p:nvPr/>
        </p:nvSpPr>
        <p:spPr>
          <a:xfrm>
            <a:off x="433212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same order_id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508000"/>
          </a:xfrm>
          <a:prstGeom prst="rect">
            <a:avLst/>
          </a:prstGeom>
          <a:noFill/>
        </p:spPr>
        <p:txBody>
          <a:bodyPr wrap="square" anchor="t" lIns="0" rIns="0" tIns="0" bIns="0">
            <a:spAutoFit/>
          </a:bodyPr>
          <a:lstStyle/>
          <a:p>
            <a:pPr algn="l"/>
            <a:r>
              <a:rPr sz="3200" b="0" i="0">
                <a:solidFill>
                  <a:srgbClr val="5B3FD6"/>
                </a:solidFill>
                <a:latin typeface="Georgia"/>
              </a:rPr>
              <a:t>Rs 19,98,210</a:t>
            </a:r>
          </a:p>
        </p:txBody>
      </p:sp>
      <p:sp>
        <p:nvSpPr>
          <p:cNvPr id="18" name="TextBox 17"/>
          <p:cNvSpPr txBox="1"/>
          <p:nvPr/>
        </p:nvSpPr>
        <p:spPr>
          <a:xfrm>
            <a:off x="8133892" y="2501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SET-ASIDE RUPEES</a:t>
            </a:r>
          </a:p>
        </p:txBody>
      </p:sp>
      <p:sp>
        <p:nvSpPr>
          <p:cNvPr id="19" name="TextBox 18"/>
          <p:cNvSpPr txBox="1"/>
          <p:nvPr/>
        </p:nvSpPr>
        <p:spPr>
          <a:xfrm>
            <a:off x="8133892" y="2702560"/>
            <a:ext cx="3527450" cy="193421"/>
          </a:xfrm>
          <a:prstGeom prst="rect">
            <a:avLst/>
          </a:prstGeom>
          <a:noFill/>
        </p:spPr>
        <p:txBody>
          <a:bodyPr wrap="square" anchor="t" lIns="0" rIns="0" tIns="0" bIns="0">
            <a:spAutoFit/>
          </a:bodyPr>
          <a:lstStyle/>
          <a:p>
            <a:pPr algn="l"/>
            <a:r>
              <a:rPr sz="950" b="0" i="0">
                <a:solidFill>
                  <a:srgbClr val="6B6690"/>
                </a:solidFill>
                <a:latin typeface="Calibri"/>
              </a:rPr>
              <a:t>98% in two corporate rows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search-check_6571e64a041f.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1A1440"/>
                </a:solidFill>
                <a:latin typeface="Calibri"/>
              </a:rPr>
              <a:t>"Dropped" is the auditor's word; "set aside with a reason" is yours.</a:t>
            </a:r>
          </a:p>
        </p:txBody>
      </p:sp>
      <p:sp>
        <p:nvSpPr>
          <p:cNvPr id="26" name="Oval 2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28" name="Oval 27"/>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30" name="Oval 29"/>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32" name="Oval 31"/>
          <p:cNvSpPr/>
          <p:nvPr/>
        </p:nvSpPr>
        <p:spPr>
          <a:xfrm>
            <a:off x="508520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194934"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The second case, in pairs</a:t>
            </a:r>
          </a:p>
        </p:txBody>
      </p:sp>
      <p:sp>
        <p:nvSpPr>
          <p:cNvPr id="34" name="Oval 33"/>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36" name="Oval 35"/>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05</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interview drill</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Twelve questions aloud, the design question among them, each in under ninety seconds.</a:t>
            </a:r>
          </a:p>
        </p:txBody>
      </p:sp>
      <p:sp>
        <p:nvSpPr>
          <p:cNvPr id="10" name="Rounded Rectangle 9"/>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row's five, asked everywhere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questions analytics screens ask of anyone who has cleaned a file.</a:t>
            </a:r>
          </a:p>
        </p:txBody>
      </p:sp>
      <p:graphicFrame>
        <p:nvGraphicFramePr>
          <p:cNvPr id="9" name="Table 8"/>
          <p:cNvGraphicFramePr>
            <a:graphicFrameLocks noGrp="1"/>
          </p:cNvGraphicFramePr>
          <p:nvPr/>
        </p:nvGraphicFramePr>
        <p:xfrm>
          <a:off x="530352" y="1956816"/>
          <a:ext cx="11130991" cy="2218944"/>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How do you handle missing data?</a:t>
                      </a:r>
                    </a:p>
                  </a:txBody>
                  <a:tcPr marL="101600" marR="101600" marT="38100" marB="38100" anchor="ctr">
                    <a:solidFill>
                      <a:srgbClr val="FFFFFF"/>
                    </a:solidFill>
                  </a:tcPr>
                </a:tc>
              </a:tr>
              <a:tr h="369824">
                <a:tc>
                  <a:txBody>
                    <a:bodyPr/>
                    <a:lstStyle/>
                    <a:p>
                      <a:r>
                        <a:rPr sz="1400" b="0" i="0">
                          <a:solidFill>
                            <a:srgbClr val="1A1440"/>
                          </a:solidFill>
                          <a:latin typeface="Calibri"/>
                        </a:rPr>
                        <a:t>[S]</a:t>
                      </a:r>
                    </a:p>
                  </a:txBody>
                  <a:tcPr marL="101600" marR="101600" marT="38100" marB="38100" anchor="ctr">
                    <a:solidFill>
                      <a:srgbClr val="F4F2FA"/>
                    </a:solidFill>
                  </a:tcPr>
                </a:tc>
                <a:tc>
                  <a:txBody>
                    <a:bodyPr/>
                    <a:lstStyle/>
                    <a:p>
                      <a:r>
                        <a:rPr sz="1400" b="0" i="0">
                          <a:solidFill>
                            <a:srgbClr val="1A1440"/>
                          </a:solidFill>
                          <a:latin typeface="Calibri"/>
                        </a:rPr>
                        <a:t>Finance and your dashboard disagree; what do you do?</a:t>
                      </a:r>
                    </a:p>
                  </a:txBody>
                  <a:tcPr marL="101600" marR="101600" marT="38100" marB="38100" anchor="ctr">
                    <a:solidFill>
                      <a:srgbClr val="F4F2FA"/>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How do you find duplicates, and what makes two records the same?</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Everything read from a CSV is a string; what breaks and where do you convert?</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An auditor asks why you dropped 14 rows; walk them through it.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8" name="Oval 17"/>
          <p:cNvSpPr/>
          <p:nvPr/>
        </p:nvSpPr>
        <p:spPr>
          <a:xfrm>
            <a:off x="671083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The interview drill</a:t>
            </a:r>
          </a:p>
        </p:txBody>
      </p:sp>
      <p:sp>
        <p:nvSpPr>
          <p:cNvPr id="20" name="Oval 1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follow-ups, the design questions among them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Each is a chapter's trap or its options, asked as a case.</a:t>
            </a:r>
          </a:p>
        </p:txBody>
      </p:sp>
      <p:graphicFrame>
        <p:nvGraphicFramePr>
          <p:cNvPr id="9" name="Table 8"/>
          <p:cNvGraphicFramePr>
            <a:graphicFrameLocks noGrp="1"/>
          </p:cNvGraphicFramePr>
          <p:nvPr/>
        </p:nvGraphicFramePr>
        <p:xfrm>
          <a:off x="530352" y="1956816"/>
          <a:ext cx="11130991" cy="2958592"/>
        </p:xfrm>
        <a:graphic>
          <a:graphicData uri="http://schemas.openxmlformats.org/drawingml/2006/table">
            <a:tbl>
              <a:tblPr firstRow="0" bandRow="0">
                <a:tableStyleId>{2D5ABB26-0587-4C30-8999-92F81FD0307C}</a:tableStyleId>
              </a:tblPr>
              <a:tblGrid>
                <a:gridCol w="914400"/>
                <a:gridCol w="10216591"/>
              </a:tblGrid>
              <a:tr h="369824">
                <a:tc>
                  <a:txBody>
                    <a:bodyPr/>
                    <a:lstStyle/>
                    <a:p>
                      <a:r>
                        <a:rPr sz="1450" b="1" i="0">
                          <a:solidFill>
                            <a:srgbClr val="FFFFFF"/>
                          </a:solidFill>
                          <a:latin typeface="Calibri"/>
                        </a:rPr>
                        <a:t>Tag</a:t>
                      </a:r>
                    </a:p>
                  </a:txBody>
                  <a:tcPr marL="101600" marR="101600" marT="38100" marB="38100" anchor="ctr">
                    <a:solidFill>
                      <a:srgbClr val="1A0F5C"/>
                    </a:solidFill>
                  </a:tcPr>
                </a:tc>
                <a:tc>
                  <a:txBody>
                    <a:bodyPr/>
                    <a:lstStyle/>
                    <a:p>
                      <a:r>
                        <a:rPr sz="1450" b="1" i="0">
                          <a:solidFill>
                            <a:srgbClr val="FFFFFF"/>
                          </a:solidFill>
                          <a:latin typeface="Calibri"/>
                        </a:rPr>
                        <a:t>Question</a:t>
                      </a:r>
                    </a:p>
                  </a:txBody>
                  <a:tcPr marL="101600" marR="101600" marT="38100" marB="38100" anchor="ctr">
                    <a:solidFill>
                      <a:srgbClr val="1A0F5C"/>
                    </a:solidFill>
                  </a:tcPr>
                </a:tc>
              </a:tr>
              <a:tr h="369824">
                <a:tc>
                  <a:txBody>
                    <a:bodyPr/>
                    <a:lstStyle/>
                    <a:p>
                      <a:r>
                        <a:rPr sz="1400" b="0" i="0">
                          <a:solidFill>
                            <a:srgbClr val="1A1440"/>
                          </a:solidFill>
                          <a:latin typeface="Calibri"/>
                        </a:rPr>
                        <a:t>[F]</a:t>
                      </a:r>
                    </a:p>
                  </a:txBody>
                  <a:tcPr marL="101600" marR="101600" marT="38100" marB="38100" anchor="ctr">
                    <a:solidFill>
                      <a:srgbClr val="FFFFFF"/>
                    </a:solidFill>
                  </a:tcPr>
                </a:tc>
                <a:tc>
                  <a:txBody>
                    <a:bodyPr/>
                    <a:lstStyle/>
                    <a:p>
                      <a:r>
                        <a:rPr sz="1400" b="0" i="0">
                          <a:solidFill>
                            <a:srgbClr val="1A1440"/>
                          </a:solidFill>
                          <a:latin typeface="Calibri"/>
                        </a:rPr>
                        <a:t>A dedupe returns zero. Do you believe it?</a:t>
                      </a:r>
                    </a:p>
                  </a:txBody>
                  <a:tcPr marL="101600" marR="101600" marT="38100" marB="38100" anchor="ctr">
                    <a:solidFill>
                      <a:srgbClr val="FFFFFF"/>
                    </a:solidFill>
                  </a:tcPr>
                </a:tc>
              </a:tr>
              <a:tr h="369824">
                <a:tc>
                  <a:txBody>
                    <a:bodyPr/>
                    <a:lstStyle/>
                    <a:p>
                      <a:r>
                        <a:rPr sz="1400" b="0" i="0">
                          <a:solidFill>
                            <a:srgbClr val="1A1440"/>
                          </a:solidFill>
                          <a:latin typeface="Calibri"/>
                        </a:rPr>
                        <a:t>[F]</a:t>
                      </a:r>
                    </a:p>
                  </a:txBody>
                  <a:tcPr marL="101600" marR="101600" marT="38100" marB="38100" anchor="ctr">
                    <a:solidFill>
                      <a:srgbClr val="F4F2FA"/>
                    </a:solidFill>
                  </a:tcPr>
                </a:tc>
                <a:tc>
                  <a:txBody>
                    <a:bodyPr/>
                    <a:lstStyle/>
                    <a:p>
                      <a:r>
                        <a:rPr sz="1400" b="0" i="0">
                          <a:solidFill>
                            <a:srgbClr val="1A1440"/>
                          </a:solidFill>
                          <a:latin typeface="Calibri"/>
                        </a:rPr>
                        <a:t>Your row counts reconcile. Are you done?</a:t>
                      </a:r>
                    </a:p>
                  </a:txBody>
                  <a:tcPr marL="101600" marR="101600" marT="38100" marB="38100" anchor="ctr">
                    <a:solidFill>
                      <a:srgbClr val="F4F2FA"/>
                    </a:solidFill>
                  </a:tcPr>
                </a:tc>
              </a:tr>
              <a:tr h="369824">
                <a:tc>
                  <a:txBody>
                    <a:bodyPr/>
                    <a:lstStyle/>
                    <a:p>
                      <a:r>
                        <a:rPr sz="1400" b="0" i="0">
                          <a:solidFill>
                            <a:srgbClr val="1A1440"/>
                          </a:solidFill>
                          <a:latin typeface="Calibri"/>
                        </a:rPr>
                        <a:t>[S]</a:t>
                      </a:r>
                    </a:p>
                  </a:txBody>
                  <a:tcPr marL="101600" marR="101600" marT="38100" marB="38100" anchor="ctr">
                    <a:solidFill>
                      <a:srgbClr val="FFFFFF"/>
                    </a:solidFill>
                  </a:tcPr>
                </a:tc>
                <a:tc>
                  <a:txBody>
                    <a:bodyPr/>
                    <a:lstStyle/>
                    <a:p>
                      <a:r>
                        <a:rPr sz="1400" b="0" i="0">
                          <a:solidFill>
                            <a:srgbClr val="1A1440"/>
                          </a:solidFill>
                          <a:latin typeface="Calibri"/>
                        </a:rPr>
                        <a:t>The largest order is 1.66 times the next. Remove it?</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Order id, whole record or fuzzy, for customers from two apps?</a:t>
                      </a:r>
                    </a:p>
                  </a:txBody>
                  <a:tcPr marL="101600" marR="101600" marT="38100" marB="38100" anchor="ctr">
                    <a:solidFill>
                      <a:srgbClr val="F4F2FA"/>
                    </a:solidFill>
                  </a:tcPr>
                </a:tc>
              </a:tr>
              <a:tr h="369824">
                <a:tc>
                  <a:txBody>
                    <a:bodyPr/>
                    <a:lstStyle/>
                    <a:p>
                      <a:r>
                        <a:rPr sz="1400" b="0" i="0">
                          <a:solidFill>
                            <a:srgbClr val="1A1440"/>
                          </a:solidFill>
                          <a:latin typeface="Calibri"/>
                        </a:rPr>
                        <a:t>[D]</a:t>
                      </a:r>
                    </a:p>
                  </a:txBody>
                  <a:tcPr marL="101600" marR="101600" marT="38100" marB="38100" anchor="ctr">
                    <a:solidFill>
                      <a:srgbClr val="FFFFFF"/>
                    </a:solidFill>
                  </a:tcPr>
                </a:tc>
                <a:tc>
                  <a:txBody>
                    <a:bodyPr/>
                    <a:lstStyle/>
                    <a:p>
                      <a:r>
                        <a:rPr sz="1400" b="0" i="0">
                          <a:solidFill>
                            <a:srgbClr val="1A1440"/>
                          </a:solidFill>
                          <a:latin typeface="Calibri"/>
                        </a:rPr>
                        <a:t>Coerce, reject or repair a malformed amount, and what would switch you?</a:t>
                      </a:r>
                    </a:p>
                  </a:txBody>
                  <a:tcPr marL="101600" marR="101600" marT="38100" marB="38100" anchor="ctr">
                    <a:solidFill>
                      <a:srgbClr val="FFFFFF"/>
                    </a:solidFill>
                  </a:tcPr>
                </a:tc>
              </a:tr>
              <a:tr h="369824">
                <a:tc>
                  <a:txBody>
                    <a:bodyPr/>
                    <a:lstStyle/>
                    <a:p>
                      <a:r>
                        <a:rPr sz="1400" b="0" i="0">
                          <a:solidFill>
                            <a:srgbClr val="1A1440"/>
                          </a:solidFill>
                          <a:latin typeface="Calibri"/>
                        </a:rPr>
                        <a:t>[D]</a:t>
                      </a:r>
                    </a:p>
                  </a:txBody>
                  <a:tcPr marL="101600" marR="101600" marT="38100" marB="38100" anchor="ctr">
                    <a:solidFill>
                      <a:srgbClr val="F4F2FA"/>
                    </a:solidFill>
                  </a:tcPr>
                </a:tc>
                <a:tc>
                  <a:txBody>
                    <a:bodyPr/>
                    <a:lstStyle/>
                    <a:p>
                      <a:r>
                        <a:rPr sz="1400" b="0" i="0">
                          <a:solidFill>
                            <a:srgbClr val="1A1440"/>
                          </a:solidFill>
                          <a:latin typeface="Calibri"/>
                        </a:rPr>
                        <a:t>Bridge or rebuild from a second source to prove a figure?</a:t>
                      </a:r>
                    </a:p>
                  </a:txBody>
                  <a:tcPr marL="101600" marR="101600" marT="38100" marB="38100" anchor="ctr">
                    <a:solidFill>
                      <a:srgbClr val="F4F2FA"/>
                    </a:solidFill>
                  </a:tcPr>
                </a:tc>
              </a:tr>
              <a:tr h="369824">
                <a:tc>
                  <a:txBody>
                    <a:bodyPr/>
                    <a:lstStyle/>
                    <a:p>
                      <a:r>
                        <a:rPr sz="1400" b="0" i="0">
                          <a:solidFill>
                            <a:srgbClr val="1A1440"/>
                          </a:solidFill>
                          <a:latin typeface="Calibri"/>
                        </a:rPr>
                        <a:t>[SV]</a:t>
                      </a:r>
                    </a:p>
                  </a:txBody>
                  <a:tcPr marL="101600" marR="101600" marT="38100" marB="38100" anchor="ctr">
                    <a:solidFill>
                      <a:srgbClr val="FFFFFF"/>
                    </a:solidFill>
                  </a:tcPr>
                </a:tc>
                <a:tc>
                  <a:txBody>
                    <a:bodyPr/>
                    <a:lstStyle/>
                    <a:p>
                      <a:r>
                        <a:rPr sz="1400" b="0" i="0">
                          <a:solidFill>
                            <a:srgbClr val="1A1440"/>
                          </a:solidFill>
                          <a:latin typeface="Calibri"/>
                        </a:rPr>
                        <a:t>Walk me through cleaning a file you have never seen.</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8" name="Oval 17"/>
          <p:cNvSpPr/>
          <p:nvPr/>
        </p:nvSpPr>
        <p:spPr>
          <a:xfrm>
            <a:off x="671083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1" i="0">
                <a:solidFill>
                  <a:srgbClr val="5B3FD6"/>
                </a:solidFill>
                <a:latin typeface="Calibri"/>
              </a:rPr>
              <a:t>The interview drill</a:t>
            </a:r>
          </a:p>
        </p:txBody>
      </p:sp>
      <p:sp>
        <p:nvSpPr>
          <p:cNvPr id="20" name="Oval 19"/>
          <p:cNvSpPr/>
          <p:nvPr/>
        </p:nvSpPr>
        <p:spPr>
          <a:xfrm>
            <a:off x="806043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0" i="0">
                <a:solidFill>
                  <a:srgbClr val="6B6690"/>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The close</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The sentence to Anand, the lines worth keeping, and tomorrow's question.</a:t>
            </a:r>
          </a:p>
        </p:txBody>
      </p:sp>
      <p:sp>
        <p:nvSpPr>
          <p:cNvPr id="10" name="Rounded Rectangle 9"/>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log the analyst audits</a:t>
            </a:r>
          </a:p>
        </p:txBody>
      </p:sp>
      <p:sp>
        <p:nvSpPr>
          <p:cNvPr id="11" name="Rounded Rectangle 10"/>
          <p:cNvSpPr/>
          <p:nvPr/>
        </p:nvSpPr>
        <p:spPr>
          <a:xfrm>
            <a:off x="2746623" y="5074920"/>
            <a:ext cx="143164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escalated case</a:t>
            </a:r>
          </a:p>
        </p:txBody>
      </p:sp>
      <p:sp>
        <p:nvSpPr>
          <p:cNvPr id="12" name="Rounded Rectangle 11"/>
          <p:cNvSpPr/>
          <p:nvPr/>
        </p:nvSpPr>
        <p:spPr>
          <a:xfrm>
            <a:off x="428799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room's wrong answers</a:t>
            </a:r>
          </a:p>
        </p:txBody>
      </p:sp>
      <p:sp>
        <p:nvSpPr>
          <p:cNvPr id="13" name="Rounded Rectangle 12"/>
          <p:cNvSpPr/>
          <p:nvPr/>
        </p:nvSpPr>
        <p:spPr>
          <a:xfrm>
            <a:off x="618467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second case, in pairs</a:t>
            </a:r>
          </a:p>
        </p:txBody>
      </p:sp>
      <p:sp>
        <p:nvSpPr>
          <p:cNvPr id="14" name="Rounded Rectangle 13"/>
          <p:cNvSpPr/>
          <p:nvPr/>
        </p:nvSpPr>
        <p:spPr>
          <a:xfrm>
            <a:off x="8140557" y="5074920"/>
            <a:ext cx="149086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The interview drill</a:t>
            </a:r>
          </a:p>
        </p:txBody>
      </p:sp>
      <p:sp>
        <p:nvSpPr>
          <p:cNvPr id="15" name="Rounded Rectangle 14"/>
          <p:cNvSpPr/>
          <p:nvPr/>
        </p:nvSpPr>
        <p:spPr>
          <a:xfrm>
            <a:off x="9741148" y="5074920"/>
            <a:ext cx="89870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The close</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1 Day 3: which Q1 figure is right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sentence to Anand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figure is right, the proof, and what changed downstream.</a:t>
            </a:r>
          </a:p>
        </p:txBody>
      </p:sp>
      <p:sp>
        <p:nvSpPr>
          <p:cNvPr id="9" name="Rounded Rectangle 8"/>
          <p:cNvSpPr/>
          <p:nvPr/>
        </p:nvSpPr>
        <p:spPr>
          <a:xfrm>
            <a:off x="530352" y="1956816"/>
            <a:ext cx="45720" cy="131063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310639"/>
          </a:xfrm>
          <a:prstGeom prst="rect">
            <a:avLst/>
          </a:prstGeom>
          <a:noFill/>
        </p:spPr>
        <p:txBody>
          <a:bodyPr wrap="square" anchor="t" lIns="0" rIns="0" tIns="0" bIns="0">
            <a:spAutoFit/>
          </a:bodyPr>
          <a:lstStyle/>
          <a:p>
            <a:r>
              <a:rPr sz="1600" b="0" i="1">
                <a:solidFill>
                  <a:srgbClr val="1A0F5C"/>
                </a:solidFill>
                <a:latin typeface="Georgia"/>
              </a:rPr>
              <a:t>"Your 1.9 crore is right: the export counted fifteen rows twice, and the bridge from 2.1 closes to your books in rows and in rupees. On clean data the drop is 1.6 percent and the Retail-Plus fall is 35 percent, smaller than we reported."</a:t>
            </a:r>
          </a:p>
          <a:p>
            <a:pPr>
              <a:spcBef>
                <a:spcPts val="400"/>
              </a:spcBef>
            </a:pPr>
            <a:r>
              <a:rPr sz="1000" b="0" i="0">
                <a:solidFill>
                  <a:srgbClr val="6B6690"/>
                </a:solidFill>
                <a:latin typeface="Calibri"/>
              </a:rPr>
              <a:t>The GCC data and AI team</a:t>
            </a:r>
          </a:p>
        </p:txBody>
      </p:sp>
      <p:pic>
        <p:nvPicPr>
          <p:cNvPr id="11" name="mermaid diagram" descr="65a47bb5060cb393.png"/>
          <p:cNvPicPr>
            <a:picLocks noChangeAspect="1"/>
          </p:cNvPicPr>
          <p:nvPr/>
        </p:nvPicPr>
        <p:blipFill>
          <a:blip r:embed="rId5"/>
          <a:stretch>
            <a:fillRect/>
          </a:stretch>
        </p:blipFill>
        <p:spPr>
          <a:xfrm>
            <a:off x="2152497" y="3413760"/>
            <a:ext cx="7886700" cy="1100137"/>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4" name="Oval 13"/>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6" name="Oval 15"/>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8" name="Oval 17"/>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0" name="Oval 19"/>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2" name="Oval 21"/>
          <p:cNvSpPr/>
          <p:nvPr/>
        </p:nvSpPr>
        <p:spPr>
          <a:xfrm>
            <a:off x="806043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17016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six lines worth keeping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cheat sheet prints these word for word.</a:t>
            </a:r>
          </a:p>
        </p:txBody>
      </p:sp>
      <p:graphicFrame>
        <p:nvGraphicFramePr>
          <p:cNvPr id="9" name="Table 8"/>
          <p:cNvGraphicFramePr>
            <a:graphicFrameLocks noGrp="1"/>
          </p:cNvGraphicFramePr>
          <p:nvPr/>
        </p:nvGraphicFramePr>
        <p:xfrm>
          <a:off x="530352" y="1956816"/>
          <a:ext cx="11130991" cy="2588768"/>
        </p:xfrm>
        <a:graphic>
          <a:graphicData uri="http://schemas.openxmlformats.org/drawingml/2006/table">
            <a:tbl>
              <a:tblPr firstRow="0" bandRow="0">
                <a:tableStyleId>{2D5ABB26-0587-4C30-8999-92F81FD0307C}</a:tableStyleId>
              </a:tblPr>
              <a:tblGrid>
                <a:gridCol w="914400"/>
                <a:gridCol w="10216591"/>
              </a:tblGrid>
              <a:tr h="369824">
                <a:tc>
                  <a:txBody>
                    <a:bodyPr/>
                    <a:lstStyle/>
                    <a:p/>
                  </a:txBody>
                  <a:tcPr marL="101600" marR="101600" marT="38100" marB="38100" anchor="ctr">
                    <a:solidFill>
                      <a:srgbClr val="1A0F5C"/>
                    </a:solidFill>
                  </a:tcPr>
                </a:tc>
                <a:tc>
                  <a:txBody>
                    <a:bodyPr/>
                    <a:lstStyle/>
                    <a:p>
                      <a:r>
                        <a:rPr sz="1450" b="1" i="0">
                          <a:solidFill>
                            <a:srgbClr val="FFFFFF"/>
                          </a:solidFill>
                          <a:latin typeface="Calibri"/>
                        </a:rPr>
                        <a:t>The line</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Profile before you total: present, convertible, distinct, for every field.</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Say what makes two rows one order before you count duplicates.</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Keep the copy that validates, and log every row you set aside.</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A failure is logged, never turned into a number; large is not wrong.</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Reconcile twice, in rows and in rupees, to the books.</a:t>
                      </a:r>
                    </a:p>
                  </a:txBody>
                  <a:tcPr marL="101600" marR="101600" marT="38100" marB="38100" anchor="ctr">
                    <a:solidFill>
                      <a:srgbClr val="FFFFFF"/>
                    </a:solidFill>
                  </a:tcPr>
                </a:tc>
              </a:tr>
              <a:tr h="369824">
                <a:tc>
                  <a:txBody>
                    <a:bodyPr/>
                    <a:lstStyle/>
                    <a:p>
                      <a:r>
                        <a:rPr sz="1400" b="0" i="0">
                          <a:solidFill>
                            <a:srgbClr val="1A1440"/>
                          </a:solidFill>
                          <a:latin typeface="Calibri"/>
                        </a:rPr>
                        <a:t>6</a:t>
                      </a:r>
                    </a:p>
                  </a:txBody>
                  <a:tcPr marL="101600" marR="101600" marT="38100" marB="38100" anchor="ctr">
                    <a:solidFill>
                      <a:srgbClr val="F4F2FA"/>
                    </a:solidFill>
                  </a:tcPr>
                </a:tc>
                <a:tc>
                  <a:txBody>
                    <a:bodyPr/>
                    <a:lstStyle/>
                    <a:p>
                      <a:r>
                        <a:rPr sz="1400" b="0" i="0">
                          <a:solidFill>
                            <a:srgbClr val="1A1440"/>
                          </a:solidFill>
                          <a:latin typeface="Calibri"/>
                        </a:rPr>
                        <a:t>Recompute what you reported, and say what changed, the smaller number first.</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4" name="Oval 13"/>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6" name="Oval 15"/>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8" name="Oval 17"/>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0" name="Oval 19"/>
          <p:cNvSpPr/>
          <p:nvPr/>
        </p:nvSpPr>
        <p:spPr>
          <a:xfrm>
            <a:off x="806043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17016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Tomorrow's question, left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Retail-Plus fall survived cleaning. Is it real, or the wobble every quarter shows?</a:t>
            </a:r>
          </a:p>
        </p:txBody>
      </p:sp>
      <p:sp>
        <p:nvSpPr>
          <p:cNvPr id="9" name="Rounded Rectangle 8"/>
          <p:cNvSpPr/>
          <p:nvPr/>
        </p:nvSpPr>
        <p:spPr>
          <a:xfrm>
            <a:off x="530352" y="1956816"/>
            <a:ext cx="11130991" cy="112166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2890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39877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682752"/>
          </a:xfrm>
          <a:prstGeom prst="rect">
            <a:avLst/>
          </a:prstGeom>
          <a:noFill/>
        </p:spPr>
        <p:txBody>
          <a:bodyPr wrap="square" anchor="t" lIns="0" rIns="0" tIns="0" bIns="0">
            <a:spAutoFit/>
          </a:bodyPr>
          <a:lstStyle/>
          <a:p>
            <a:r>
              <a:rPr sz="1500" b="0" i="0">
                <a:solidFill>
                  <a:srgbClr val="FFFFFF"/>
                </a:solidFill>
                <a:latin typeface="Calibri"/>
              </a:rPr>
              <a:t>"Retail-Plus is down, smaller than first reported. Real, or the wobble we see every quarter?" Meera Raghavan, CEO, Kalpa Retail</a:t>
            </a:r>
          </a:p>
        </p:txBody>
      </p:sp>
      <p:pic>
        <p:nvPicPr>
          <p:cNvPr id="14" name="mermaid diagram" descr="ca5d5c77445b5892.png"/>
          <p:cNvPicPr>
            <a:picLocks noChangeAspect="1"/>
          </p:cNvPicPr>
          <p:nvPr/>
        </p:nvPicPr>
        <p:blipFill>
          <a:blip r:embed="rId6"/>
          <a:stretch>
            <a:fillRect/>
          </a:stretch>
        </p:blipFill>
        <p:spPr>
          <a:xfrm>
            <a:off x="3424085" y="3243072"/>
            <a:ext cx="5343525" cy="2586037"/>
          </a:xfrm>
          <a:prstGeom prst="rect">
            <a:avLst/>
          </a:prstGeom>
        </p:spPr>
      </p:pic>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7" name="Oval 16"/>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9" name="Oval 18"/>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21" name="Oval 20"/>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23" name="Oval 22"/>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5" name="Oval 24"/>
          <p:cNvSpPr/>
          <p:nvPr/>
        </p:nvSpPr>
        <p:spPr>
          <a:xfrm>
            <a:off x="806043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7016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1  ·  DAY 3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Depth: the reconciliation in other trades</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The same two checks run wherever money moves between systems.</a:t>
            </a:r>
          </a:p>
        </p:txBody>
      </p:sp>
      <p:graphicFrame>
        <p:nvGraphicFramePr>
          <p:cNvPr id="10" name="Table 9"/>
          <p:cNvGraphicFramePr>
            <a:graphicFrameLocks noGrp="1"/>
          </p:cNvGraphicFramePr>
          <p:nvPr/>
        </p:nvGraphicFramePr>
        <p:xfrm>
          <a:off x="530352" y="1956816"/>
          <a:ext cx="11130989" cy="1479296"/>
        </p:xfrm>
        <a:graphic>
          <a:graphicData uri="http://schemas.openxmlformats.org/drawingml/2006/table">
            <a:tbl>
              <a:tblPr firstRow="0" bandRow="0">
                <a:tableStyleId>{2D5ABB26-0587-4C30-8999-92F81FD0307C}</a:tableStyleId>
              </a:tblPr>
              <a:tblGrid>
                <a:gridCol w="4571642"/>
                <a:gridCol w="3021280"/>
                <a:gridCol w="3538067"/>
              </a:tblGrid>
              <a:tr h="369824">
                <a:tc>
                  <a:txBody>
                    <a:bodyPr/>
                    <a:lstStyle/>
                    <a:p>
                      <a:r>
                        <a:rPr sz="1450" b="1" i="0">
                          <a:solidFill>
                            <a:srgbClr val="FFFFFF"/>
                          </a:solidFill>
                          <a:latin typeface="Calibri"/>
                        </a:rPr>
                        <a:t>Where</a:t>
                      </a:r>
                    </a:p>
                  </a:txBody>
                  <a:tcPr marL="101600" marR="101600" marT="38100" marB="38100" anchor="ctr">
                    <a:solidFill>
                      <a:srgbClr val="1A0F5C"/>
                    </a:solidFill>
                  </a:tcPr>
                </a:tc>
                <a:tc>
                  <a:txBody>
                    <a:bodyPr/>
                    <a:lstStyle/>
                    <a:p>
                      <a:r>
                        <a:rPr sz="1450" b="1" i="0">
                          <a:solidFill>
                            <a:srgbClr val="FFFFFF"/>
                          </a:solidFill>
                          <a:latin typeface="Calibri"/>
                        </a:rPr>
                        <a:t>Rows</a:t>
                      </a:r>
                    </a:p>
                  </a:txBody>
                  <a:tcPr marL="101600" marR="101600" marT="38100" marB="38100" anchor="ctr">
                    <a:solidFill>
                      <a:srgbClr val="1A0F5C"/>
                    </a:solidFill>
                  </a:tcPr>
                </a:tc>
                <a:tc>
                  <a:txBody>
                    <a:bodyPr/>
                    <a:lstStyle/>
                    <a:p>
                      <a:r>
                        <a:rPr sz="1450" b="1" i="0">
                          <a:solidFill>
                            <a:srgbClr val="FFFFFF"/>
                          </a:solidFill>
                          <a:latin typeface="Calibri"/>
                        </a:rPr>
                        <a:t>Money</a:t>
                      </a:r>
                    </a:p>
                  </a:txBody>
                  <a:tcPr marL="101600" marR="101600" marT="38100" marB="38100" anchor="ctr">
                    <a:solidFill>
                      <a:srgbClr val="1A0F5C"/>
                    </a:solidFill>
                  </a:tcPr>
                </a:tc>
              </a:tr>
              <a:tr h="369824">
                <a:tc>
                  <a:txBody>
                    <a:bodyPr/>
                    <a:lstStyle/>
                    <a:p>
                      <a:r>
                        <a:rPr sz="1400" b="0" i="0">
                          <a:solidFill>
                            <a:srgbClr val="1A1440"/>
                          </a:solidFill>
                          <a:latin typeface="Calibri"/>
                        </a:rPr>
                        <a:t>Bank statement against the ledger</a:t>
                      </a:r>
                    </a:p>
                  </a:txBody>
                  <a:tcPr marL="101600" marR="101600" marT="38100" marB="38100" anchor="ctr">
                    <a:solidFill>
                      <a:srgbClr val="FFFFFF"/>
                    </a:solidFill>
                  </a:tcPr>
                </a:tc>
                <a:tc>
                  <a:txBody>
                    <a:bodyPr/>
                    <a:lstStyle/>
                    <a:p>
                      <a:r>
                        <a:rPr sz="1400" b="0" i="0">
                          <a:solidFill>
                            <a:srgbClr val="1A1440"/>
                          </a:solidFill>
                          <a:latin typeface="Calibri"/>
                        </a:rPr>
                        <a:t>Transactions matched</a:t>
                      </a:r>
                    </a:p>
                  </a:txBody>
                  <a:tcPr marL="101600" marR="101600" marT="38100" marB="38100" anchor="ctr">
                    <a:solidFill>
                      <a:srgbClr val="FFFFFF"/>
                    </a:solidFill>
                  </a:tcPr>
                </a:tc>
                <a:tc>
                  <a:txBody>
                    <a:bodyPr/>
                    <a:lstStyle/>
                    <a:p>
                      <a:r>
                        <a:rPr sz="1400" b="0" i="0">
                          <a:solidFill>
                            <a:srgbClr val="1A1440"/>
                          </a:solidFill>
                          <a:latin typeface="Calibri"/>
                        </a:rPr>
                        <a:t>Balance to the paisa</a:t>
                      </a:r>
                    </a:p>
                  </a:txBody>
                  <a:tcPr marL="101600" marR="101600" marT="38100" marB="38100" anchor="ctr">
                    <a:solidFill>
                      <a:srgbClr val="FFFFFF"/>
                    </a:solidFill>
                  </a:tcPr>
                </a:tc>
              </a:tr>
              <a:tr h="369824">
                <a:tc>
                  <a:txBody>
                    <a:bodyPr/>
                    <a:lstStyle/>
                    <a:p>
                      <a:r>
                        <a:rPr sz="1400" b="0" i="0">
                          <a:solidFill>
                            <a:srgbClr val="1A1440"/>
                          </a:solidFill>
                          <a:latin typeface="Calibri"/>
                        </a:rPr>
                        <a:t>Payment gateway against orders</a:t>
                      </a:r>
                    </a:p>
                  </a:txBody>
                  <a:tcPr marL="101600" marR="101600" marT="38100" marB="38100" anchor="ctr">
                    <a:solidFill>
                      <a:srgbClr val="F4F2FA"/>
                    </a:solidFill>
                  </a:tcPr>
                </a:tc>
                <a:tc>
                  <a:txBody>
                    <a:bodyPr/>
                    <a:lstStyle/>
                    <a:p>
                      <a:r>
                        <a:rPr sz="1400" b="0" i="0">
                          <a:solidFill>
                            <a:srgbClr val="1A1440"/>
                          </a:solidFill>
                          <a:latin typeface="Calibri"/>
                        </a:rPr>
                        <a:t>Settlements per order</a:t>
                      </a:r>
                    </a:p>
                  </a:txBody>
                  <a:tcPr marL="101600" marR="101600" marT="38100" marB="38100" anchor="ctr">
                    <a:solidFill>
                      <a:srgbClr val="F4F2FA"/>
                    </a:solidFill>
                  </a:tcPr>
                </a:tc>
                <a:tc>
                  <a:txBody>
                    <a:bodyPr/>
                    <a:lstStyle/>
                    <a:p>
                      <a:r>
                        <a:rPr sz="1400" b="0" i="0">
                          <a:solidFill>
                            <a:srgbClr val="1A1440"/>
                          </a:solidFill>
                          <a:latin typeface="Calibri"/>
                        </a:rPr>
                        <a:t>Collected against booked</a:t>
                      </a:r>
                    </a:p>
                  </a:txBody>
                  <a:tcPr marL="101600" marR="101600" marT="38100" marB="38100" anchor="ctr">
                    <a:solidFill>
                      <a:srgbClr val="F4F2FA"/>
                    </a:solidFill>
                  </a:tcPr>
                </a:tc>
              </a:tr>
              <a:tr h="369824">
                <a:tc>
                  <a:txBody>
                    <a:bodyPr/>
                    <a:lstStyle/>
                    <a:p>
                      <a:r>
                        <a:rPr sz="1400" b="0" i="0">
                          <a:solidFill>
                            <a:srgbClr val="1A1440"/>
                          </a:solidFill>
                          <a:latin typeface="Calibri"/>
                        </a:rPr>
                        <a:t>Warehouse load against the source</a:t>
                      </a:r>
                    </a:p>
                  </a:txBody>
                  <a:tcPr marL="101600" marR="101600" marT="38100" marB="38100" anchor="ctr">
                    <a:solidFill>
                      <a:srgbClr val="FFFFFF"/>
                    </a:solidFill>
                  </a:tcPr>
                </a:tc>
                <a:tc>
                  <a:txBody>
                    <a:bodyPr/>
                    <a:lstStyle/>
                    <a:p>
                      <a:r>
                        <a:rPr sz="1400" b="0" i="0">
                          <a:solidFill>
                            <a:srgbClr val="1A1440"/>
                          </a:solidFill>
                          <a:latin typeface="Calibri"/>
                        </a:rPr>
                        <a:t>Row counts per table</a:t>
                      </a:r>
                    </a:p>
                  </a:txBody>
                  <a:tcPr marL="101600" marR="101600" marT="38100" marB="38100" anchor="ctr">
                    <a:solidFill>
                      <a:srgbClr val="FFFFFF"/>
                    </a:solidFill>
                  </a:tcPr>
                </a:tc>
                <a:tc>
                  <a:txBody>
                    <a:bodyPr/>
                    <a:lstStyle/>
                    <a:p>
                      <a:r>
                        <a:rPr sz="1400" b="0" i="0">
                          <a:solidFill>
                            <a:srgbClr val="1A1440"/>
                          </a:solidFill>
                          <a:latin typeface="Calibri"/>
                        </a:rPr>
                        <a:t>Control totals per column</a:t>
                      </a:r>
                    </a:p>
                  </a:txBody>
                  <a:tcPr marL="101600" marR="101600" marT="38100" marB="38100" anchor="ctr">
                    <a:solidFill>
                      <a:srgbClr val="FFFFFF"/>
                    </a:solidFill>
                  </a:tcPr>
                </a:tc>
              </a:tr>
            </a:tbl>
          </a:graphicData>
        </a:graphic>
      </p:graphicFrame>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The log the analyst audits</a:t>
            </a:r>
          </a:p>
        </p:txBody>
      </p:sp>
      <p:sp>
        <p:nvSpPr>
          <p:cNvPr id="13" name="Oval 12"/>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11717" y="6437376"/>
            <a:ext cx="1102423" cy="152146"/>
          </a:xfrm>
          <a:prstGeom prst="rect">
            <a:avLst/>
          </a:prstGeom>
          <a:noFill/>
        </p:spPr>
        <p:txBody>
          <a:bodyPr wrap="square" anchor="t" lIns="0" rIns="0" tIns="0" bIns="0">
            <a:spAutoFit/>
          </a:bodyPr>
          <a:lstStyle/>
          <a:p>
            <a:pPr algn="l"/>
            <a:r>
              <a:rPr sz="700" b="0" i="0">
                <a:solidFill>
                  <a:srgbClr val="6B6690"/>
                </a:solidFill>
                <a:latin typeface="Calibri"/>
              </a:rPr>
              <a:t>The escalated case</a:t>
            </a:r>
          </a:p>
        </p:txBody>
      </p:sp>
      <p:sp>
        <p:nvSpPr>
          <p:cNvPr id="15" name="Oval 14"/>
          <p:cNvSpPr/>
          <p:nvPr/>
        </p:nvSpPr>
        <p:spPr>
          <a:xfrm>
            <a:off x="3505581"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615309"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The room's wrong answers</a:t>
            </a:r>
          </a:p>
        </p:txBody>
      </p:sp>
      <p:sp>
        <p:nvSpPr>
          <p:cNvPr id="17" name="Oval 16"/>
          <p:cNvSpPr/>
          <p:nvPr/>
        </p:nvSpPr>
        <p:spPr>
          <a:xfrm>
            <a:off x="5085206"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194934"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The second case, in pairs</a:t>
            </a:r>
          </a:p>
        </p:txBody>
      </p:sp>
      <p:sp>
        <p:nvSpPr>
          <p:cNvPr id="19" name="Oval 18"/>
          <p:cNvSpPr/>
          <p:nvPr/>
        </p:nvSpPr>
        <p:spPr>
          <a:xfrm>
            <a:off x="671083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820566" y="6437376"/>
            <a:ext cx="1148429" cy="152146"/>
          </a:xfrm>
          <a:prstGeom prst="rect">
            <a:avLst/>
          </a:prstGeom>
          <a:noFill/>
        </p:spPr>
        <p:txBody>
          <a:bodyPr wrap="square" anchor="t" lIns="0" rIns="0" tIns="0" bIns="0">
            <a:spAutoFit/>
          </a:bodyPr>
          <a:lstStyle/>
          <a:p>
            <a:pPr algn="l"/>
            <a:r>
              <a:rPr sz="700" b="0" i="0">
                <a:solidFill>
                  <a:srgbClr val="6B6690"/>
                </a:solidFill>
                <a:latin typeface="Calibri"/>
              </a:rPr>
              <a:t>The interview drill</a:t>
            </a:r>
          </a:p>
        </p:txBody>
      </p:sp>
      <p:sp>
        <p:nvSpPr>
          <p:cNvPr id="21" name="Oval 20"/>
          <p:cNvSpPr/>
          <p:nvPr/>
        </p:nvSpPr>
        <p:spPr>
          <a:xfrm>
            <a:off x="8060436"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170163" y="6437376"/>
            <a:ext cx="688371" cy="152146"/>
          </a:xfrm>
          <a:prstGeom prst="rect">
            <a:avLst/>
          </a:prstGeom>
          <a:noFill/>
        </p:spPr>
        <p:txBody>
          <a:bodyPr wrap="square" anchor="t" lIns="0" rIns="0" tIns="0" bIns="0">
            <a:spAutoFit/>
          </a:bodyPr>
          <a:lstStyle/>
          <a:p>
            <a:pPr algn="l"/>
            <a:r>
              <a:rPr sz="700" b="1" i="0">
                <a:solidFill>
                  <a:srgbClr val="5B3FD6"/>
                </a:solidFill>
                <a:latin typeface="Calibri"/>
              </a:rPr>
              <a:t>The close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D24  ·  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