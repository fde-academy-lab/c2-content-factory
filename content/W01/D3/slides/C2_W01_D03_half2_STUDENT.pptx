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Chapter 6 first, then the full pass alone, the debrief of the room's wrong</a:t>
            </a:r>
          </a:p>
          <a:p>
            <a:r>
              <a:t>answers, the auditor in pairs,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C2_W01_D03_06_audit_logs is the demonstration. Say it is chapter 6:</a:t>
            </a:r>
          </a:p>
          <a:p>
            <a:r>
              <a:t>the numeral on screen reads 01 because it opens this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log that ties in rows and misses in rupees costs the team her trust in</a:t>
            </a:r>
          </a:p>
          <a:p>
            <a:r>
              <a:t>everything else it sends.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15 March 2019; FRC, 27 September 2021. The</a:t>
            </a:r>
          </a:p>
          <a:p>
            <a:r>
              <a:t>criminal case against individuals is unresolved, so name no person and say nobody was convicted.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23 lines: 15 set-aside rows, 1 flag, 5 decisions, 2 control totals, and an empty</a:t>
            </a:r>
          </a:p>
          <a:p>
            <a:r>
              <a:t>rejects log. Options a and d cost over an hour and still say nothing about why.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decisions log has five lines; only the identity rule moves Q1 rupees, all</a:t>
            </a:r>
          </a:p>
          <a:p>
            <a:r>
              <a:t>Rs 19,98,210, and every other decision still gets its 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 the notebook, read_orders() would overwrite the log's own line column, so the</a:t>
            </a:r>
          </a:p>
          <a:p>
            <a:r>
              <a:t>log is read back with a plain DictReader. Point that out if a learner trips on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06, section 3. Ask whether the room would send this. Round Rs 20 lakh</a:t>
            </a:r>
          </a:p>
          <a:p>
            <a:r>
              <a:t>set aside feels like proof.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row reconciliation proves nothing vanished; it cannot prove the right rows</a:t>
            </a:r>
          </a:p>
          <a:p>
            <a:r>
              <a:t>stayed. The colleague's bridge closes on its own file and misses the books.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second case after the break walks this in pairs.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asserts the replay equals the clean 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set aside with a reason, never dropped; the rule, the twin, the rupees by segment,</a:t>
            </a:r>
          </a:p>
          <a:p>
            <a:r>
              <a:t>both totals tie and the log replays.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notebook is ex1_escalated_case, a TODO twin with eight lettered</a:t>
            </a:r>
          </a:p>
          <a:p>
            <a:r>
              <a:t>choices; the brief is in exercises/unguided.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Eight notebook letters, ten brief letters, then the note in under 120 words.</a:t>
            </a:r>
          </a:p>
          <a:p>
            <a:r>
              <a:t>Watch for rows totalled before profiling, a first-copy dedupe, and a bridge that closes to 1.9</a:t>
            </a:r>
          </a:p>
          <a:p>
            <a:r>
              <a:t>only after rounding.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reference while working. A Q1 of Rs 1,89,98,210 kept the wrong copy; a Q2 of</a:t>
            </a:r>
          </a:p>
          <a:p>
            <a:r>
              <a:t>Rs 1,57,54,540 removed the bulk order. Both are debriefed 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Put the most common wrong number on the screen first. Name no learner; name the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each, ask a pair that produced it which line of code made it. Each wrong</a:t>
            </a:r>
          </a:p>
          <a:p>
            <a:r>
              <a:t>number was plausible and one check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nobody produced it, show it from chapter 6.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drives ex2_auditor, the other plays the auditor and asks the next</a:t>
            </a:r>
          </a:p>
          <a:p>
            <a:r>
              <a:t>question only when the check passes. Swap halfway.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"Dropped" is the word to correct.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pairs finish question 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the asker times it and names the one number</a:t>
            </a:r>
          </a:p>
          <a:p>
            <a:r>
              <a:t>the answer should have used. Swap every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shape of every answer: the rule, today's number, the check. Full answers in</a:t>
            </a:r>
          </a:p>
          <a:p>
            <a:r>
              <a:t>the study notes and the notebooks' In the interview sections.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questions want a choice, a sizing and the fact that would change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then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line per chapter. Tonight's take-home tests every line on an export nobody</a:t>
            </a:r>
          </a:p>
          <a:p>
            <a:r>
              <a:t>in the room has seen.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answer it. Thursday builds the chance reference with a shuffle.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Week 2 Tuesday meets the gateway case, where one order carries two payment</a:t>
            </a:r>
          </a:p>
          <a:p>
            <a:r>
              <a:t>rows and the rupees double.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 Id="rId6"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0.xml"/><Relationship Id="rId6"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reconciliation Anand can audit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reconciliation and the log before the day closes. My analyst checks it tonight.”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The log the analyst audits</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277481"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log the analyst audits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log is finished when a stranger can replay it.</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control totals and a reason per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checks tonight; an auditor may ask next quarter.</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rows and rupees</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control totals: counts and sums at both ends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the analyst</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for Anand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a week</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LOG SHE CANNOT FOLLOW</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questions, and her trust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my analyst follow every decision you made, and rebuild your file from 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Patisserie Valerie's auditor missed the red flags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UK cafe chain's accounting hole reached GBP 94m; the auditor was fined.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94m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administrators, March 2019</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4m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FRC FINE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reduced to GBP 2.34m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years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AUDITS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sanctioned in September 2021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An auditor who cannot trace a number to its rows signs off on it anyway, and pays for it later.</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hand-overs, sized for the analyst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Lines to read at an illustrative 30 seconds a line.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98215"/>
                <a:gridCol w="914400"/>
                <a:gridCol w="1569465"/>
                <a:gridCol w="1842784"/>
                <a:gridCol w="170612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Ties rows</a:t>
                      </a:r>
                    </a:p>
                  </a:txBody>
                  <a:tcPr marL="101600" marR="101600" marT="38100" marB="38100" anchor="ctr">
                    <a:solidFill>
                      <a:srgbClr val="1A0F5C"/>
                    </a:solidFill>
                  </a:tcPr>
                </a:tc>
                <a:tc>
                  <a:txBody>
                    <a:bodyPr/>
                    <a:lstStyle/>
                    <a:p>
                      <a:r>
                        <a:rPr sz="1250" b="1" i="0">
                          <a:solidFill>
                            <a:srgbClr val="FFFFFF"/>
                          </a:solidFill>
                          <a:latin typeface="Calibri"/>
                        </a:rPr>
                        <a:t>Ties rupees</a:t>
                      </a:r>
                    </a:p>
                  </a:txBody>
                  <a:tcPr marL="101600" marR="101600" marT="38100" marB="38100" anchor="ctr">
                    <a:solidFill>
                      <a:srgbClr val="1A0F5C"/>
                    </a:solidFill>
                  </a:tcPr>
                </a:tc>
                <a:tc>
                  <a:txBody>
                    <a:bodyPr/>
                    <a:lstStyle/>
                    <a:p>
                      <a:r>
                        <a:rPr sz="1250" b="1" i="0">
                          <a:solidFill>
                            <a:srgbClr val="FFFFFF"/>
                          </a:solidFill>
                          <a:latin typeface="Calibri"/>
                        </a:rPr>
                        <a:t>Replayable</a:t>
                      </a:r>
                    </a:p>
                  </a:txBody>
                  <a:tcPr marL="101600" marR="101600" marT="38100" marB="38100" anchor="ctr">
                    <a:solidFill>
                      <a:srgbClr val="1A0F5C"/>
                    </a:solidFill>
                  </a:tcPr>
                </a:tc>
              </a:tr>
              <a:tr h="335280">
                <a:tc>
                  <a:txBody>
                    <a:bodyPr/>
                    <a:lstStyle/>
                    <a:p>
                      <a:r>
                        <a:rPr sz="1200" b="0" i="0">
                          <a:solidFill>
                            <a:srgbClr val="1A1440"/>
                          </a:solidFill>
                          <a:latin typeface="Calibri"/>
                        </a:rPr>
                        <a:t>a) The clean file, read against the raw</a:t>
                      </a:r>
                    </a:p>
                  </a:txBody>
                  <a:tcPr marL="101600" marR="101600" marT="38100" marB="38100" anchor="ctr">
                    <a:solidFill>
                      <a:srgbClr val="FFFFFF"/>
                    </a:solidFill>
                  </a:tcPr>
                </a:tc>
                <a:tc>
                  <a:txBody>
                    <a:bodyPr/>
                    <a:lstStyle/>
                    <a:p>
                      <a:r>
                        <a:rPr sz="1200" b="0" i="0">
                          <a:solidFill>
                            <a:srgbClr val="1A1440"/>
                          </a:solidFill>
                          <a:latin typeface="Calibri"/>
                        </a:rPr>
                        <a:t>387</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file and a count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Logs and control totals</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A full diff</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by hand</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an external auditor who must re-derive every row, and then d goes beside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logs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logs and two totals, written as the pass runs.</a:t>
            </a:r>
          </a:p>
        </p:txBody>
      </p:sp>
      <p:pic>
        <p:nvPicPr>
          <p:cNvPr id="9" name="mermaid diagram" descr="86c68108bb00f1ba.png"/>
          <p:cNvPicPr>
            <a:picLocks noChangeAspect="1"/>
          </p:cNvPicPr>
          <p:nvPr/>
        </p:nvPicPr>
        <p:blipFill>
          <a:blip r:embed="rId5"/>
          <a:stretch>
            <a:fillRect/>
          </a:stretch>
        </p:blipFill>
        <p:spPr>
          <a:xfrm>
            <a:off x="2523556" y="1682496"/>
            <a:ext cx="7144581" cy="4517136"/>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decision moves the most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decisions in the log, one line each.</a:t>
            </a:r>
          </a:p>
        </p:txBody>
      </p:sp>
      <p:pic>
        <p:nvPicPr>
          <p:cNvPr id="9" name="mermaid diagram" descr="1c323c0168656de8.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identity rule; b) the missing status; c) the bulk order; d) the missing discount.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identity rule moves all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decisions move no Q1 rupees, and each still gets a line.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IDENTITY RULE</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15 rows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OTHER FOUR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57 rows flagged or kept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a. The logs are written with csv.DictWriter and json.dump, then read back and compared, because a log that lives only in a notebook reaches nobody.</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perfect-looking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removed repeated ids first, keeping the first copy, then converted.</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185 + 16</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RECONCILE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equals kept plus logged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SET ASIDE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gap, to the lakh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when rounded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7" name="Oval 2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rows tie, rupees do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1,790 short of the books: the valued copy set aside, the unreadable one rejected.</a:t>
            </a:r>
          </a:p>
        </p:txBody>
      </p:sp>
      <p:pic>
        <p:nvPicPr>
          <p:cNvPr id="9" name="mermaid diagram" descr="07259466d0a819f6.png"/>
          <p:cNvPicPr>
            <a:picLocks noChangeAspect="1"/>
          </p:cNvPicPr>
          <p:nvPr/>
        </p:nvPicPr>
        <p:blipFill>
          <a:blip r:embed="rId5"/>
          <a:stretch>
            <a:fillRect/>
          </a:stretch>
        </p:blipFill>
        <p:spPr>
          <a:xfrm>
            <a:off x="2152497" y="1956816"/>
            <a:ext cx="7886700" cy="2786062"/>
          </a:xfrm>
          <a:prstGeom prst="rect">
            <a:avLst/>
          </a:prstGeom>
        </p:spPr>
      </p:pic>
      <p:sp>
        <p:nvSpPr>
          <p:cNvPr id="10" name="Rounded Rectangle 9"/>
          <p:cNvSpPr/>
          <p:nvPr/>
        </p:nvSpPr>
        <p:spPr>
          <a:xfrm>
            <a:off x="530352" y="48891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171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0805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books against the clean Q1, and a rejected order whose twin sits in the set-aside log with a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and the auditor's 14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Convert inside the identity rule; then every Q1 row set aside has a kept twin.</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Q1 clean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1,790 order is back, the rejects log is empty, and "set aside with a reason" replaces "dropped".</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0" name="Oval 2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replay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raw export less the logged lines rebuilds the clean file exactly.</a:t>
            </a:r>
          </a:p>
        </p:txBody>
      </p:sp>
      <p:pic>
        <p:nvPicPr>
          <p:cNvPr id="9" name="mermaid diagram" descr="56dc8baed6c1cc53.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Control totals are the quick test; the replay is for an auditor who trusts nothing, and it runs before any log leaves the team.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and rupees both tie, a reason on every line, the twin named for every copy.</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A log is finished when a stranger can replay it.</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[D] An auditor asks why you dropped 14 rows; walk them through it.</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6</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Logs that tie in rows and rupees and replay to the clean file.</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THE ESCALATED CASE</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Next</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The whole pass, alone.</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7" name="Oval 3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full pass, alone: every chapter, on the same file, with nobody driving.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deadline, and what goes with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one file, and a log that has to stand up tonight.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Read and profile</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distinct orders, and the three counts for every field.</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Convert with a log</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amount that fails, set aside with its line and reason.</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identity rule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One row per order, and the copy that validates stays.</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Two decisions</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missing status and the largest order, each with a reason.</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Reconcile and recompute</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Rows and rupees to the books, the bridge, Tuesday, the note.</a:t>
            </a:r>
          </a:p>
        </p:txBody>
      </p:sp>
      <p:sp>
        <p:nvSpPr>
          <p:cNvPr id="35" name="Rounded Rectangle 34"/>
          <p:cNvSpPr/>
          <p:nvPr/>
        </p:nvSpPr>
        <p:spPr>
          <a:xfrm>
            <a:off x="530352" y="427634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essage-square_028dbd132a0a.png"/>
          <p:cNvPicPr>
            <a:picLocks noChangeAspect="1"/>
          </p:cNvPicPr>
          <p:nvPr/>
        </p:nvPicPr>
        <p:blipFill>
          <a:blip r:embed="rId4"/>
          <a:stretch>
            <a:fillRect/>
          </a:stretch>
        </p:blipFill>
        <p:spPr>
          <a:xfrm>
            <a:off x="868680" y="4718304"/>
            <a:ext cx="237744" cy="237744"/>
          </a:xfrm>
          <a:prstGeom prst="rect">
            <a:avLst/>
          </a:prstGeom>
        </p:spPr>
      </p:pic>
      <p:sp>
        <p:nvSpPr>
          <p:cNvPr id="38" name="TextBox 3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9" name="TextBox 38"/>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FFFFFF"/>
                </a:solidFill>
                <a:latin typeface="Calibri"/>
              </a:rPr>
              <a:t>"Which figure is right, the proof in rows and in rupees, and every decision in a log my analyst can follow."</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42" name="Oval 4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4" name="Oval 4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0" name="Oval 4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checks you post with your letters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check in the notebook passes before the letters go into chat.</a:t>
            </a:r>
          </a:p>
        </p:txBody>
      </p:sp>
      <p:sp>
        <p:nvSpPr>
          <p:cNvPr id="10" name="TextBox 9"/>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186 + 15</a:t>
            </a:r>
          </a:p>
        </p:txBody>
      </p:sp>
      <p:sp>
        <p:nvSpPr>
          <p:cNvPr id="11" name="TextBox 10"/>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2" name="TextBox 11"/>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kept and set aside, of 201</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1,90,00,000</a:t>
            </a:r>
          </a:p>
        </p:txBody>
      </p:sp>
      <p:sp>
        <p:nvSpPr>
          <p:cNvPr id="15" name="TextBox 14"/>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6" name="TextBox 15"/>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1,87,00,000</a:t>
            </a:r>
          </a:p>
        </p:txBody>
      </p:sp>
      <p:sp>
        <p:nvSpPr>
          <p:cNvPr id="19" name="TextBox 18"/>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CLEAN</a:t>
            </a:r>
          </a:p>
        </p:txBody>
      </p:sp>
      <p:sp>
        <p:nvSpPr>
          <p:cNvPr id="20" name="TextBox 19"/>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real order kept</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-35.0%</a:t>
            </a:r>
          </a:p>
        </p:txBody>
      </p:sp>
      <p:sp>
        <p:nvSpPr>
          <p:cNvPr id="23" name="TextBox 22"/>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4" name="TextBox 23"/>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orders per customer, clean</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wrong number traced to the step that made it and the check that catches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wrong numbers, six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wrong figure the room produces comes from one of the day's traps.</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3893728"/>
                <a:gridCol w="4003766"/>
                <a:gridCol w="3233496"/>
              </a:tblGrid>
              <a:tr h="369824">
                <a:tc>
                  <a:txBody>
                    <a:bodyPr/>
                    <a:lstStyle/>
                    <a:p>
                      <a:r>
                        <a:rPr sz="1450" b="1" i="0">
                          <a:solidFill>
                            <a:srgbClr val="FFFFFF"/>
                          </a:solidFill>
                          <a:latin typeface="Calibri"/>
                        </a:rPr>
                        <a:t>The number on the screen</a:t>
                      </a:r>
                    </a:p>
                  </a:txBody>
                  <a:tcPr marL="101600" marR="101600" marT="38100" marB="38100" anchor="ctr">
                    <a:solidFill>
                      <a:srgbClr val="1A0F5C"/>
                    </a:solidFill>
                  </a:tcPr>
                </a:tc>
                <a:tc>
                  <a:txBody>
                    <a:bodyPr/>
                    <a:lstStyle/>
                    <a:p>
                      <a:r>
                        <a:rPr sz="1450" b="1" i="0">
                          <a:solidFill>
                            <a:srgbClr val="FFFFFF"/>
                          </a:solidFill>
                          <a:latin typeface="Calibri"/>
                        </a:rPr>
                        <a:t>The step that made it</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r>
              <a:tr h="369824">
                <a:tc>
                  <a:txBody>
                    <a:bodyPr/>
                    <a:lstStyle/>
                    <a:p>
                      <a:r>
                        <a:rPr sz="1400" b="0" i="0">
                          <a:solidFill>
                            <a:srgbClr val="1A1440"/>
                          </a:solidFill>
                          <a:latin typeface="Calibri"/>
                        </a:rPr>
                        <a:t>Largest Q2 order Rs 970</a:t>
                      </a:r>
                    </a:p>
                  </a:txBody>
                  <a:tcPr marL="101600" marR="101600" marT="38100" marB="38100" anchor="ctr">
                    <a:solidFill>
                      <a:srgbClr val="FFFFFF"/>
                    </a:solidFill>
                  </a:tcPr>
                </a:tc>
                <a:tc>
                  <a:txBody>
                    <a:bodyPr/>
                    <a:lstStyle/>
                    <a:p>
                      <a:r>
                        <a:rPr sz="1400" b="0" i="0">
                          <a:solidFill>
                            <a:srgbClr val="1A1440"/>
                          </a:solidFill>
                          <a:latin typeface="Calibri"/>
                        </a:rPr>
                        <a:t>Sorting amounts as text</a:t>
                      </a:r>
                    </a:p>
                  </a:txBody>
                  <a:tcPr marL="101600" marR="101600" marT="38100" marB="38100" anchor="ctr">
                    <a:solidFill>
                      <a:srgbClr val="FFFFFF"/>
                    </a:solidFill>
                  </a:tcPr>
                </a:tc>
                <a:tc>
                  <a:txBody>
                    <a:bodyPr/>
                    <a:lstStyle/>
                    <a:p>
                      <a:r>
                        <a:rPr sz="1400" b="0" i="0">
                          <a:solidFill>
                            <a:srgbClr val="1A1440"/>
                          </a:solidFill>
                          <a:latin typeface="Calibri"/>
                        </a:rPr>
                        <a:t>Below every Business order</a:t>
                      </a:r>
                    </a:p>
                  </a:txBody>
                  <a:tcPr marL="101600" marR="101600" marT="38100" marB="38100" anchor="ctr">
                    <a:solidFill>
                      <a:srgbClr val="FFFFFF"/>
                    </a:solidFill>
                  </a:tcPr>
                </a:tc>
              </a:tr>
              <a:tr h="369824">
                <a:tc>
                  <a:txBody>
                    <a:bodyPr/>
                    <a:lstStyle/>
                    <a:p>
                      <a:r>
                        <a:rPr sz="1400" b="0" i="0">
                          <a:solidFill>
                            <a:srgbClr val="1A1440"/>
                          </a:solidFill>
                          <a:latin typeface="Calibri"/>
                        </a:rPr>
                        <a:t>0 duplicates</a:t>
                      </a:r>
                    </a:p>
                  </a:txBody>
                  <a:tcPr marL="101600" marR="101600" marT="38100" marB="38100" anchor="ctr">
                    <a:solidFill>
                      <a:srgbClr val="F4F2FA"/>
                    </a:solidFill>
                  </a:tcPr>
                </a:tc>
                <a:tc>
                  <a:txBody>
                    <a:bodyPr/>
                    <a:lstStyle/>
                    <a:p>
                      <a:r>
                        <a:rPr sz="1400" b="0" i="0">
                          <a:solidFill>
                            <a:srgbClr val="1A1440"/>
                          </a:solidFill>
                          <a:latin typeface="Calibri"/>
                        </a:rPr>
                        <a:t>The line in the whole-record key</a:t>
                      </a:r>
                    </a:p>
                  </a:txBody>
                  <a:tcPr marL="101600" marR="101600" marT="38100" marB="38100" anchor="ctr">
                    <a:solidFill>
                      <a:srgbClr val="F4F2FA"/>
                    </a:solidFill>
                  </a:tcPr>
                </a:tc>
                <a:tc>
                  <a:txBody>
                    <a:bodyPr/>
                    <a:lstStyle/>
                    <a:p>
                      <a:r>
                        <a:rPr sz="1400" b="0" i="0">
                          <a:solidFill>
                            <a:srgbClr val="1A1440"/>
                          </a:solidFill>
                          <a:latin typeface="Calibri"/>
                        </a:rPr>
                        <a:t>201 rows, 186 ids</a:t>
                      </a:r>
                    </a:p>
                  </a:txBody>
                  <a:tcPr marL="101600" marR="101600" marT="38100" marB="38100" anchor="ctr">
                    <a:solidFill>
                      <a:srgbClr val="F4F2FA"/>
                    </a:solidFill>
                  </a:tcPr>
                </a:tc>
              </a:tr>
              <a:tr h="369824">
                <a:tc>
                  <a:txBody>
                    <a:bodyPr/>
                    <a:lstStyle/>
                    <a:p>
                      <a:r>
                        <a:rPr sz="1400" b="0" i="0">
                          <a:solidFill>
                            <a:srgbClr val="1A1440"/>
                          </a:solidFill>
                          <a:latin typeface="Calibri"/>
                        </a:rPr>
                        <a:t>188 orders, Q2 Rs 1,87,03,710</a:t>
                      </a:r>
                    </a:p>
                  </a:txBody>
                  <a:tcPr marL="101600" marR="101600" marT="38100" marB="38100" anchor="ctr">
                    <a:solidFill>
                      <a:srgbClr val="FFFFFF"/>
                    </a:solidFill>
                  </a:tcPr>
                </a:tc>
                <a:tc>
                  <a:txBody>
                    <a:bodyPr/>
                    <a:lstStyle/>
                    <a:p>
                      <a:r>
                        <a:rPr sz="1400" b="0" i="0">
                          <a:solidFill>
                            <a:srgbClr val="1A1440"/>
                          </a:solidFill>
                          <a:latin typeface="Calibri"/>
                        </a:rPr>
                        <a:t>Record less line; Q1 tied, so stop</a:t>
                      </a:r>
                    </a:p>
                  </a:txBody>
                  <a:tcPr marL="101600" marR="101600" marT="38100" marB="38100" anchor="ctr">
                    <a:solidFill>
                      <a:srgbClr val="FFFFFF"/>
                    </a:solidFill>
                  </a:tcPr>
                </a:tc>
                <a:tc>
                  <a:txBody>
                    <a:bodyPr/>
                    <a:lstStyle/>
                    <a:p>
                      <a:r>
                        <a:rPr sz="1400" b="0" i="0">
                          <a:solidFill>
                            <a:srgbClr val="1A1440"/>
                          </a:solidFill>
                          <a:latin typeface="Calibri"/>
                        </a:rPr>
                        <a:t>Rows against ids</a:t>
                      </a:r>
                    </a:p>
                  </a:txBody>
                  <a:tcPr marL="101600" marR="101600" marT="38100" marB="38100" anchor="ctr">
                    <a:solidFill>
                      <a:srgbClr val="FFFFFF"/>
                    </a:solidFill>
                  </a:tcPr>
                </a:tc>
              </a:tr>
              <a:tr h="369824">
                <a:tc>
                  <a:txBody>
                    <a:bodyPr/>
                    <a:lstStyle/>
                    <a:p>
                      <a:r>
                        <a:rPr sz="1400" b="0" i="0">
                          <a:solidFill>
                            <a:srgbClr val="1A1440"/>
                          </a:solidFill>
                          <a:latin typeface="Calibri"/>
                        </a:rPr>
                        <a:t>201 of 201 convert</a:t>
                      </a:r>
                    </a:p>
                  </a:txBody>
                  <a:tcPr marL="101600" marR="101600" marT="38100" marB="38100" anchor="ctr">
                    <a:solidFill>
                      <a:srgbClr val="F4F2FA"/>
                    </a:solidFill>
                  </a:tcPr>
                </a:tc>
                <a:tc>
                  <a:txBody>
                    <a:bodyPr/>
                    <a:lstStyle/>
                    <a:p>
                      <a:r>
                        <a:rPr sz="1400" b="0" i="0">
                          <a:solidFill>
                            <a:srgbClr val="1A1440"/>
                          </a:solidFill>
                          <a:latin typeface="Calibri"/>
                        </a:rPr>
                        <a:t>Failures coerced to zero</a:t>
                      </a:r>
                    </a:p>
                  </a:txBody>
                  <a:tcPr marL="101600" marR="101600" marT="38100" marB="38100" anchor="ctr">
                    <a:solidFill>
                      <a:srgbClr val="F4F2FA"/>
                    </a:solidFill>
                  </a:tcPr>
                </a:tc>
                <a:tc>
                  <a:txBody>
                    <a:bodyPr/>
                    <a:lstStyle/>
                    <a:p>
                      <a:r>
                        <a:rPr sz="1400" b="0" i="0">
                          <a:solidFill>
                            <a:srgbClr val="1A1440"/>
                          </a:solidFill>
                          <a:latin typeface="Calibri"/>
                        </a:rPr>
                        <a:t>An order worth Rs 0</a:t>
                      </a:r>
                    </a:p>
                  </a:txBody>
                  <a:tcPr marL="101600" marR="101600" marT="38100" marB="38100" anchor="ctr">
                    <a:solidFill>
                      <a:srgbClr val="F4F2FA"/>
                    </a:solidFill>
                  </a:tcPr>
                </a:tc>
              </a:tr>
              <a:tr h="369824">
                <a:tc>
                  <a:txBody>
                    <a:bodyPr/>
                    <a:lstStyle/>
                    <a:p>
                      <a:r>
                        <a:rPr sz="1400" b="0" i="0">
                          <a:solidFill>
                            <a:srgbClr val="1A1440"/>
                          </a:solidFill>
                          <a:latin typeface="Calibri"/>
                        </a:rPr>
                        <a:t>Q2 Rs 1,57,54,540, -17.1%</a:t>
                      </a:r>
                    </a:p>
                  </a:txBody>
                  <a:tcPr marL="101600" marR="101600" marT="38100" marB="38100" anchor="ctr">
                    <a:solidFill>
                      <a:srgbClr val="FFFFFF"/>
                    </a:solidFill>
                  </a:tcPr>
                </a:tc>
                <a:tc>
                  <a:txBody>
                    <a:bodyPr/>
                    <a:lstStyle/>
                    <a:p>
                      <a:r>
                        <a:rPr sz="1400" b="0" i="0">
                          <a:solidFill>
                            <a:srgbClr val="1A1440"/>
                          </a:solidFill>
                          <a:latin typeface="Calibri"/>
                        </a:rPr>
                        <a:t>The bulk order fenced out</a:t>
                      </a:r>
                    </a:p>
                  </a:txBody>
                  <a:tcPr marL="101600" marR="101600" marT="38100" marB="38100" anchor="ctr">
                    <a:solidFill>
                      <a:srgbClr val="FFFFFF"/>
                    </a:solidFill>
                  </a:tcPr>
                </a:tc>
                <a:tc>
                  <a:txBody>
                    <a:bodyPr/>
                    <a:lstStyle/>
                    <a:p>
                      <a:r>
                        <a:rPr sz="1400" b="0" i="0">
                          <a:solidFill>
                            <a:srgbClr val="1A1440"/>
                          </a:solidFill>
                          <a:latin typeface="Calibri"/>
                        </a:rPr>
                        <a:t>A real Business account</a:t>
                      </a:r>
                    </a:p>
                  </a:txBody>
                  <a:tcPr marL="101600" marR="101600" marT="38100" marB="38100" anchor="ctr">
                    <a:solidFill>
                      <a:srgbClr val="FFFFFF"/>
                    </a:solidFill>
                  </a:tcPr>
                </a:tc>
              </a:tr>
              <a:tr h="369824">
                <a:tc>
                  <a:txBody>
                    <a:bodyPr/>
                    <a:lstStyle/>
                    <a:p>
                      <a:r>
                        <a:rPr sz="1400" b="0" i="0">
                          <a:solidFill>
                            <a:srgbClr val="1A1440"/>
                          </a:solidFill>
                          <a:latin typeface="Calibri"/>
                        </a:rPr>
                        <a:t>201 = 185 + 16, Q1 Rs 1,89,98,210</a:t>
                      </a:r>
                    </a:p>
                  </a:txBody>
                  <a:tcPr marL="101600" marR="101600" marT="38100" marB="38100" anchor="ctr">
                    <a:solidFill>
                      <a:srgbClr val="F4F2FA"/>
                    </a:solidFill>
                  </a:tcPr>
                </a:tc>
                <a:tc>
                  <a:txBody>
                    <a:bodyPr/>
                    <a:lstStyle/>
                    <a:p>
                      <a:r>
                        <a:rPr sz="1400" b="0" i="0">
                          <a:solidFill>
                            <a:srgbClr val="1A1440"/>
                          </a:solidFill>
                          <a:latin typeface="Calibri"/>
                        </a:rPr>
                        <a:t>Keep first, then convert</a:t>
                      </a:r>
                    </a:p>
                  </a:txBody>
                  <a:tcPr marL="101600" marR="101600" marT="38100" marB="38100" anchor="ctr">
                    <a:solidFill>
                      <a:srgbClr val="F4F2FA"/>
                    </a:solidFill>
                  </a:tcPr>
                </a:tc>
                <a:tc>
                  <a:txBody>
                    <a:bodyPr/>
                    <a:lstStyle/>
                    <a:p>
                      <a:r>
                        <a:rPr sz="1400" b="0" i="0">
                          <a:solidFill>
                            <a:srgbClr val="1A1440"/>
                          </a:solidFill>
                          <a:latin typeface="Calibri"/>
                        </a:rPr>
                        <a:t>Rs 1,790 short of the books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most rooms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Rounding is where reconciliations go to hide.</a:t>
            </a:r>
          </a:p>
        </p:txBody>
      </p:sp>
      <p:pic>
        <p:nvPicPr>
          <p:cNvPr id="9" name="mermaid diagram" descr="28b1cd1bbca353e5.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31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77285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826192"/>
            <a:ext cx="9987991" cy="423672"/>
          </a:xfrm>
          <a:prstGeom prst="rect">
            <a:avLst/>
          </a:prstGeom>
          <a:noFill/>
        </p:spPr>
        <p:txBody>
          <a:bodyPr wrap="square" anchor="t" lIns="0" rIns="0" tIns="0" bIns="0">
            <a:spAutoFit/>
          </a:bodyPr>
          <a:lstStyle/>
          <a:p>
            <a:r>
              <a:rPr sz="1500" b="0" i="0">
                <a:solidFill>
                  <a:srgbClr val="1A1440"/>
                </a:solidFill>
                <a:latin typeface="Calibri"/>
              </a:rPr>
              <a:t>Compare to the rupee, then round for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auditor asks why 14 rows were dropped, and the answer comes from the log.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auditor's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"Your log says 14 Q1 rows were dropped. Why those 14, and how do I know nothing else went?"</a:t>
            </a:r>
          </a:p>
        </p:txBody>
      </p:sp>
      <p:pic>
        <p:nvPicPr>
          <p:cNvPr id="9" name="mermaid diagram" descr="c0e7475c34b5802a.png"/>
          <p:cNvPicPr>
            <a:picLocks noChangeAspect="1"/>
          </p:cNvPicPr>
          <p:nvPr/>
        </p:nvPicPr>
        <p:blipFill>
          <a:blip r:embed="rId5"/>
          <a:stretch>
            <a:fillRect/>
          </a:stretch>
        </p:blipFill>
        <p:spPr>
          <a:xfrm>
            <a:off x="530352" y="1956816"/>
            <a:ext cx="11130991" cy="1129748"/>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statement does the auditor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statements, one supported by the evidence.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14 Q1 rows were deleted as errors after the migration was checked; b) the dashboard was right all along, and the books are short; c) 14 Q1 rows are copies of kept orders, set aside by rule; both totals tie; d) the 14 rows were outliers removed to keep Q1 in line with Q2.</a:t>
            </a:r>
          </a:p>
        </p:txBody>
      </p:sp>
      <p:pic>
        <p:nvPicPr>
          <p:cNvPr id="12" name="mermaid diagram" descr="928d3dabd505d200.png"/>
          <p:cNvPicPr>
            <a:picLocks noChangeAspect="1"/>
          </p:cNvPicPr>
          <p:nvPr/>
        </p:nvPicPr>
        <p:blipFill>
          <a:blip r:embed="rId5"/>
          <a:stretch>
            <a:fillRect/>
          </a:stretch>
        </p:blipFill>
        <p:spPr>
          <a:xfrm>
            <a:off x="3424085" y="3195828"/>
            <a:ext cx="5343525" cy="2586037"/>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copies set aside,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statement names the rule, the evidence and both reconciliations.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SET-ASIDE RUPEES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98% in two corporate rows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"Dropped" is the auditor's word; "set aside with a reason" is yours.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aloud, the design question among them, each in under ninety seconds.</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row's five, asked everywhere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questions analytics screens ask of anyone who has cleaned a file.</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handle missing data?</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Finance and your dashboard disagree;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duplicates, and what makes two records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Everything read from a CSV is a string; what breaks and where do you convert?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 auditor asks why you dropped 14 rows; walk them through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the design questions among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a chapter's trap or its options, asked as a case.</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dedupe returns zero. Do you believe it?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row counts reconcile. Are you done?</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The largest order is 1.66 times the next. Remove it?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Order id, whole record or fuzzy, for customers from two apps?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Coerce, reject or repair a malformed amount, and what would switch you?</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Bridge or rebuild from a second source to prove a figure?</a:t>
                      </a:r>
                    </a:p>
                  </a:txBody>
                  <a:tcPr marL="101600" marR="101600" marT="38100" marB="38100" anchor="ctr">
                    <a:solidFill>
                      <a:srgbClr val="F4F2FA"/>
                    </a:solidFill>
                  </a:tcPr>
                </a:tc>
              </a:tr>
              <a:tr h="369824">
                <a:tc>
                  <a:txBody>
                    <a:bodyPr/>
                    <a:lstStyle/>
                    <a:p>
                      <a:r>
                        <a:rPr sz="1400" b="0" i="0">
                          <a:solidFill>
                            <a:srgbClr val="1A1440"/>
                          </a:solidFill>
                          <a:latin typeface="Calibri"/>
                        </a:rPr>
                        <a:t>[SV]</a:t>
                      </a:r>
                    </a:p>
                  </a:txBody>
                  <a:tcPr marL="101600" marR="101600" marT="38100" marB="38100" anchor="ctr">
                    <a:solidFill>
                      <a:srgbClr val="FFFFFF"/>
                    </a:solidFill>
                  </a:tcPr>
                </a:tc>
                <a:tc>
                  <a:txBody>
                    <a:bodyPr/>
                    <a:lstStyle/>
                    <a:p>
                      <a:r>
                        <a:rPr sz="1400" b="0" i="0">
                          <a:solidFill>
                            <a:srgbClr val="1A1440"/>
                          </a:solidFill>
                          <a:latin typeface="Calibri"/>
                        </a:rPr>
                        <a:t>Walk me through cleaning a file you have never seen.</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Anand, the lines worth keeping, and tomorrow's question.</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figure is right, the proof, and what changed downstream.</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"Your 1.9 crore is right: the export counted fifteen orders twice, and the bridge from 2.1 closes to your books in rows and in rupees. On clean data the drop is 1.6 percent and the Retail-Plus fall is 35 percent, smaller than we reported."</a:t>
            </a:r>
          </a:p>
          <a:p>
            <a:pPr>
              <a:spcBef>
                <a:spcPts val="400"/>
              </a:spcBef>
            </a:pPr>
            <a:r>
              <a:rPr sz="1000" b="0" i="0">
                <a:solidFill>
                  <a:srgbClr val="6B6690"/>
                </a:solidFill>
                <a:latin typeface="Calibri"/>
              </a:rPr>
              <a:t>The GCC data and AI team</a:t>
            </a:r>
          </a:p>
        </p:txBody>
      </p:sp>
      <p:pic>
        <p:nvPicPr>
          <p:cNvPr id="11" name="mermaid diagram" descr="65a47bb5060cb393.png"/>
          <p:cNvPicPr>
            <a:picLocks noChangeAspect="1"/>
          </p:cNvPicPr>
          <p:nvPr/>
        </p:nvPicPr>
        <p:blipFill>
          <a:blip r:embed="rId5"/>
          <a:stretch>
            <a:fillRect/>
          </a:stretch>
        </p:blipFill>
        <p:spPr>
          <a:xfrm>
            <a:off x="2152497" y="3413760"/>
            <a:ext cx="7886700" cy="11001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prints these word for word.</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Profile before you total: present, convertible, distinct, for every field.</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Say what makes two rows one order before you count duplicates.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Keep the copy that validates, and log every row you set aside.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A failure is logged, never turned into a number; large is not wrong.</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Reconcile twice, in rows and in rupees, to the books.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Recompute what you reported, and say what changed, the smaller number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Retail-Plus fall survived cleaning. Is it real, or the wobble every quarter shows?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"Retail-Plus is down, smaller than first reported. Real, or the wobble we see every quarter?" Meera Raghavan, CEO, Kalpa Retail</a:t>
            </a:r>
          </a:p>
        </p:txBody>
      </p:sp>
      <p:pic>
        <p:nvPicPr>
          <p:cNvPr id="14" name="mermaid diagram" descr="ca5d5c77445b5892.png"/>
          <p:cNvPicPr>
            <a:picLocks noChangeAspect="1"/>
          </p:cNvPicPr>
          <p:nvPr/>
        </p:nvPicPr>
        <p:blipFill>
          <a:blip r:embed="rId6"/>
          <a:stretch>
            <a:fillRect/>
          </a:stretch>
        </p:blipFill>
        <p:spPr>
          <a:xfrm>
            <a:off x="3424085" y="3243072"/>
            <a:ext cx="5343525" cy="25860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reconciliation in other trades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checks run wherever money moves between systems.</a:t>
            </a:r>
          </a:p>
        </p:txBody>
      </p:sp>
      <p:graphicFrame>
        <p:nvGraphicFramePr>
          <p:cNvPr id="10" name="Table 9"/>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571642"/>
                <a:gridCol w="3021280"/>
                <a:gridCol w="3538067"/>
              </a:tblGrid>
              <a:tr h="369824">
                <a:tc>
                  <a:txBody>
                    <a:bodyPr/>
                    <a:lstStyle/>
                    <a:p>
                      <a:r>
                        <a:rPr sz="1450" b="1" i="0">
                          <a:solidFill>
                            <a:srgbClr val="FFFFFF"/>
                          </a:solidFill>
                          <a:latin typeface="Calibri"/>
                        </a:rPr>
                        <a:t>Where</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Money</a:t>
                      </a:r>
                    </a:p>
                  </a:txBody>
                  <a:tcPr marL="101600" marR="101600" marT="38100" marB="38100" anchor="ctr">
                    <a:solidFill>
                      <a:srgbClr val="1A0F5C"/>
                    </a:solidFill>
                  </a:tcPr>
                </a:tc>
              </a:tr>
              <a:tr h="369824">
                <a:tc>
                  <a:txBody>
                    <a:bodyPr/>
                    <a:lstStyle/>
                    <a:p>
                      <a:r>
                        <a:rPr sz="1400" b="0" i="0">
                          <a:solidFill>
                            <a:srgbClr val="1A1440"/>
                          </a:solidFill>
                          <a:latin typeface="Calibri"/>
                        </a:rPr>
                        <a:t>Bank statement against the ledger</a:t>
                      </a:r>
                    </a:p>
                  </a:txBody>
                  <a:tcPr marL="101600" marR="101600" marT="38100" marB="38100" anchor="ctr">
                    <a:solidFill>
                      <a:srgbClr val="FFFFFF"/>
                    </a:solidFill>
                  </a:tcPr>
                </a:tc>
                <a:tc>
                  <a:txBody>
                    <a:bodyPr/>
                    <a:lstStyle/>
                    <a:p>
                      <a:r>
                        <a:rPr sz="1400" b="0" i="0">
                          <a:solidFill>
                            <a:srgbClr val="1A1440"/>
                          </a:solidFill>
                          <a:latin typeface="Calibri"/>
                        </a:rPr>
                        <a:t>Transactions matched</a:t>
                      </a:r>
                    </a:p>
                  </a:txBody>
                  <a:tcPr marL="101600" marR="101600" marT="38100" marB="38100" anchor="ctr">
                    <a:solidFill>
                      <a:srgbClr val="FFFFFF"/>
                    </a:solidFill>
                  </a:tcPr>
                </a:tc>
                <a:tc>
                  <a:txBody>
                    <a:bodyPr/>
                    <a:lstStyle/>
                    <a:p>
                      <a:r>
                        <a:rPr sz="1400" b="0" i="0">
                          <a:solidFill>
                            <a:srgbClr val="1A1440"/>
                          </a:solidFill>
                          <a:latin typeface="Calibri"/>
                        </a:rPr>
                        <a:t>Balance to the paisa</a:t>
                      </a:r>
                    </a:p>
                  </a:txBody>
                  <a:tcPr marL="101600" marR="101600" marT="38100" marB="38100" anchor="ctr">
                    <a:solidFill>
                      <a:srgbClr val="FFFFFF"/>
                    </a:solidFill>
                  </a:tcPr>
                </a:tc>
              </a:tr>
              <a:tr h="369824">
                <a:tc>
                  <a:txBody>
                    <a:bodyPr/>
                    <a:lstStyle/>
                    <a:p>
                      <a:r>
                        <a:rPr sz="1400" b="0" i="0">
                          <a:solidFill>
                            <a:srgbClr val="1A1440"/>
                          </a:solidFill>
                          <a:latin typeface="Calibri"/>
                        </a:rPr>
                        <a:t>Payment gateway against orders</a:t>
                      </a:r>
                    </a:p>
                  </a:txBody>
                  <a:tcPr marL="101600" marR="101600" marT="38100" marB="38100" anchor="ctr">
                    <a:solidFill>
                      <a:srgbClr val="F4F2FA"/>
                    </a:solidFill>
                  </a:tcPr>
                </a:tc>
                <a:tc>
                  <a:txBody>
                    <a:bodyPr/>
                    <a:lstStyle/>
                    <a:p>
                      <a:r>
                        <a:rPr sz="1400" b="0" i="0">
                          <a:solidFill>
                            <a:srgbClr val="1A1440"/>
                          </a:solidFill>
                          <a:latin typeface="Calibri"/>
                        </a:rPr>
                        <a:t>Settlements per order</a:t>
                      </a:r>
                    </a:p>
                  </a:txBody>
                  <a:tcPr marL="101600" marR="101600" marT="38100" marB="38100" anchor="ctr">
                    <a:solidFill>
                      <a:srgbClr val="F4F2FA"/>
                    </a:solidFill>
                  </a:tcPr>
                </a:tc>
                <a:tc>
                  <a:txBody>
                    <a:bodyPr/>
                    <a:lstStyle/>
                    <a:p>
                      <a:r>
                        <a:rPr sz="1400" b="0" i="0">
                          <a:solidFill>
                            <a:srgbClr val="1A1440"/>
                          </a:solidFill>
                          <a:latin typeface="Calibri"/>
                        </a:rPr>
                        <a:t>Collected against booked</a:t>
                      </a:r>
                    </a:p>
                  </a:txBody>
                  <a:tcPr marL="101600" marR="101600" marT="38100" marB="38100" anchor="ctr">
                    <a:solidFill>
                      <a:srgbClr val="F4F2FA"/>
                    </a:solidFill>
                  </a:tcPr>
                </a:tc>
              </a:tr>
              <a:tr h="369824">
                <a:tc>
                  <a:txBody>
                    <a:bodyPr/>
                    <a:lstStyle/>
                    <a:p>
                      <a:r>
                        <a:rPr sz="1400" b="0" i="0">
                          <a:solidFill>
                            <a:srgbClr val="1A1440"/>
                          </a:solidFill>
                          <a:latin typeface="Calibri"/>
                        </a:rPr>
                        <a:t>Warehouse load against the source</a:t>
                      </a:r>
                    </a:p>
                  </a:txBody>
                  <a:tcPr marL="101600" marR="101600" marT="38100" marB="38100" anchor="ctr">
                    <a:solidFill>
                      <a:srgbClr val="FFFFFF"/>
                    </a:solidFill>
                  </a:tcPr>
                </a:tc>
                <a:tc>
                  <a:txBody>
                    <a:bodyPr/>
                    <a:lstStyle/>
                    <a:p>
                      <a:r>
                        <a:rPr sz="1400" b="0" i="0">
                          <a:solidFill>
                            <a:srgbClr val="1A1440"/>
                          </a:solidFill>
                          <a:latin typeface="Calibri"/>
                        </a:rPr>
                        <a:t>Row counts per table</a:t>
                      </a:r>
                    </a:p>
                  </a:txBody>
                  <a:tcPr marL="101600" marR="101600" marT="38100" marB="38100" anchor="ctr">
                    <a:solidFill>
                      <a:srgbClr val="FFFFFF"/>
                    </a:solidFill>
                  </a:tcPr>
                </a:tc>
                <a:tc>
                  <a:txBody>
                    <a:bodyPr/>
                    <a:lstStyle/>
                    <a:p>
                      <a:r>
                        <a:rPr sz="1400" b="0" i="0">
                          <a:solidFill>
                            <a:srgbClr val="1A1440"/>
                          </a:solidFill>
                          <a:latin typeface="Calibri"/>
                        </a:rPr>
                        <a:t>Control totals per column</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