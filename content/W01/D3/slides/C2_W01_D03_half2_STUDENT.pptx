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 The next slide restates what the</a:t>
            </a:r>
          </a:p>
          <a:p>
            <a:r>
              <a:t>morning settled for anyone who missed it. Then that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set-aside row is one removed from the clean file with a logged reason and the line</a:t>
            </a:r>
          </a:p>
          <a:p>
            <a:r>
              <a:t>of the row that stayed. The identity rule says what makes two rows one order, here the order_id; the</a:t>
            </a:r>
          </a:p>
          <a:p>
            <a:r>
              <a:t>rejects log lists every row whose value would not convert, with its line and reason; Retail-Plus is</a:t>
            </a:r>
          </a:p>
          <a:p>
            <a:r>
              <a:t>Kalpa's paid membership tier; the Business segment is Kalpa's sales to companies; a twin is the</a:t>
            </a:r>
          </a:p>
          <a:p>
            <a:r>
              <a:t>other copy of the same order; and the bulk order is Q2's largest, a real Business order at Rs</a:t>
            </a:r>
          </a:p>
          <a:p>
            <a:r>
              <a:t>29,45,460, kept and flagged. Everything on this slide was proved this morning. What is left is the</a:t>
            </a:r>
          </a:p>
          <a:p>
            <a:r>
              <a:t>analyst's question.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the analyst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Control totals tie the export to the clean file to the books, and every row that</a:t>
            </a:r>
          </a:p>
          <a:p>
            <a:r>
              <a:t>left has to trace to a rule. Then an auditor who could not trace a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a:t>
            </a:r>
          </a:p>
          <a:p>
            <a:r>
              <a:t>Name no person. Then the four hand-overs.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Lines are read at an illustrative 30 seconds each. The 387 are the 201 raw rows and</a:t>
            </a:r>
          </a:p>
          <a:p>
            <a:r>
              <a:t>the 186 clean ones read against each other. The 24 are 15 set-aside rows, 2 flags (the status and</a:t>
            </a:r>
          </a:p>
          <a:p>
            <a:r>
              <a:t>the bulk order), 5 decisions, 2 control totals and an empty rejects log. Options a and d cost over an</a:t>
            </a:r>
          </a:p>
          <a:p>
            <a:r>
              <a:t>hour and still say nothing about why. Then what the logs carry.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clean_pass() is the day's pass in one function: the identity rule first, keeping</a:t>
            </a:r>
          </a:p>
          <a:p>
            <a:r>
              <a:t>the copy whose amount converts, then conversion with a rejects log, then the flags. Then predict.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four: an unreadable amount rejected (no rows on this file), the status kept</a:t>
            </a:r>
          </a:p>
          <a:p>
            <a:r>
              <a:t>and flagged (1), the discount kept unknown (55) and the bulk order kept and flagged (1). Then the</a:t>
            </a:r>
          </a:p>
          <a:p>
            <a:r>
              <a:t>logs on disk.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log that lives only in a notebook reaches nobody. The decisions go out with</a:t>
            </a:r>
          </a:p>
          <a:p>
            <a:r>
              <a:t>json.dump. read_orders() would overwrite the log's own line column, so the log is read back with a</a:t>
            </a:r>
          </a:p>
          <a:p>
            <a:r>
              <a:t>plain DictReader; point that out if a learner trips on it. Then a colleague's log.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4. A colleague built the pass in the order that feels natural.</a:t>
            </a:r>
          </a:p>
          <a:p>
            <a:r>
              <a:t>Ask whether the room would send this log. Round Rs 20 lakh set aside feels like proof.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row reconciliation proves nothing vanished; it cannot prove the right rows</a:t>
            </a:r>
          </a:p>
          <a:p>
            <a:r>
              <a:t>stayed. The colleague's bridge closes on its own file and misses the books.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identity rule first, keeping the copy whose amount converts, then conversion.</a:t>
            </a:r>
          </a:p>
          <a:p>
            <a:r>
              <a:t>Then the auditor's first question.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case after the break walks this in pairs, with the auditor asking. Then</a:t>
            </a:r>
          </a:p>
          <a:p>
            <a:r>
              <a:t>the strongest test of a log.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replay shares no code with the pass: if the raw export less the logged lines</a:t>
            </a:r>
          </a:p>
          <a:p>
            <a:r>
              <a:t>equals the clean file, nothing left without a line. Notebook 06 asserts it. Then the chapter's</a:t>
            </a:r>
          </a:p>
          <a:p>
            <a:r>
              <a:t>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a:t>
            </a:r>
          </a:p>
          <a:p>
            <a:r>
              <a:t>by segment; both totals tie and the log replays. Then the full pass,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with a blank to fill at each step</a:t>
            </a:r>
          </a:p>
          <a:p>
            <a:r>
              <a:t>and nine lettered choices in all; the brief with its ten items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Monday's revenue tree is revenue = customers x orders per customer x revenue per</a:t>
            </a:r>
          </a:p>
          <a:p>
            <a:r>
              <a:t>order, each branch read as Q2's multiple of Q1. Nine notebook letters, ten brief letters, then the</a:t>
            </a:r>
          </a:p>
          <a:p>
            <a:r>
              <a:t>note in under 120 words. Watch for rows totalled before profiling, a first-copy rule, a rupee test</a:t>
            </a:r>
          </a:p>
          <a:p>
            <a:r>
              <a:t>that rounds, and a tree whose customers are rows. Then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 reference while working. Each check recomputes its step another way, so the</a:t>
            </a:r>
          </a:p>
          <a:p>
            <a:r>
              <a:t>numbers are the learner's to reach. A Q1 Rs 1,790 short kept the wrong copy; a Q2 Rs 29,45,460 light</a:t>
            </a:r>
          </a:p>
          <a:p>
            <a:r>
              <a:t>removed 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Put the most common wrong number on the screen first. Name no learner; name</a:t>
            </a:r>
          </a:p>
          <a:p>
            <a:r>
              <a:t>the step.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 Then the one most rooms miss.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 Then the pairs work, and the room comes back for</a:t>
            </a:r>
          </a:p>
          <a:p>
            <a:r>
              <a:t>the statement she signs.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 the</a:t>
            </a:r>
          </a:p>
          <a:p>
            <a:r>
              <a:t>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Tags: [S] staple</a:t>
            </a:r>
          </a:p>
          <a:p>
            <a:r>
              <a:t>asked everywhere, [F] frequent in screens at global capability centres (GCCs) and product</a:t>
            </a:r>
          </a:p>
          <a:p>
            <a:r>
              <a:t>companies, [D] differentiator. Full answers are in</a:t>
            </a:r>
          </a:p>
          <a:p>
            <a:r>
              <a:t>the study notes and in each notebook's interview section. Then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a:p>
            <a:r>
              <a:t>These five and the seven follow-ups are the day's 12, the same 12 the study notes answer. Then the</a:t>
            </a:r>
          </a:p>
          <a:p>
            <a:r>
              <a:t>Kahoot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Each trade runs the same two checks: rows prove nothing vanished, and money</a:t>
            </a:r>
          </a:p>
          <a:p>
            <a:r>
              <a:t>proves the right rows stayed.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answers the day's question. Read it aloud once. Then the six lines.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the lines the cheat sheet prints. Tonight's take-home tests</a:t>
            </a:r>
          </a:p>
          <a:p>
            <a:r>
              <a:t>every line on an export nobody in the room has seen. Then 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7.png"/><Relationship Id="rId6"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5.xml"/><Relationship Id="rId6"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Anand's analyst audit it tonight?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Can the analyst replay it?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293554"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Can you run the pass alone?</a:t>
            </a:r>
          </a:p>
        </p:txBody>
      </p:sp>
      <p:sp>
        <p:nvSpPr>
          <p:cNvPr id="15" name="TextBox 14"/>
          <p:cNvSpPr txBox="1"/>
          <p:nvPr/>
        </p:nvSpPr>
        <p:spPr>
          <a:xfrm>
            <a:off x="525637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640419"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Where did our numbers go wrong?</a:t>
            </a:r>
          </a:p>
        </p:txBody>
      </p:sp>
      <p:sp>
        <p:nvSpPr>
          <p:cNvPr id="17" name="TextBox 16"/>
          <p:cNvSpPr txBox="1"/>
          <p:nvPr/>
        </p:nvSpPr>
        <p:spPr>
          <a:xfrm>
            <a:off x="781669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82007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Why were 14 rows set aside?</a:t>
            </a:r>
          </a:p>
        </p:txBody>
      </p:sp>
      <p:sp>
        <p:nvSpPr>
          <p:cNvPr id="19" name="TextBox 18"/>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1005839" y="5669280"/>
            <a:ext cx="1898237" cy="185166"/>
          </a:xfrm>
          <a:prstGeom prst="rect">
            <a:avLst/>
          </a:prstGeom>
          <a:noFill/>
        </p:spPr>
        <p:txBody>
          <a:bodyPr wrap="square" anchor="t" lIns="0" rIns="0" tIns="0" bIns="0">
            <a:spAutoFit/>
          </a:bodyPr>
          <a:lstStyle/>
          <a:p>
            <a:pPr algn="l"/>
            <a:r>
              <a:rPr sz="900" b="0" i="0">
                <a:solidFill>
                  <a:srgbClr val="FFFFFF"/>
                </a:solidFill>
                <a:latin typeface="Calibri"/>
              </a:rPr>
              <a:t>Can you answer in 90 seconds?</a:t>
            </a:r>
          </a:p>
        </p:txBody>
      </p:sp>
      <p:sp>
        <p:nvSpPr>
          <p:cNvPr id="21" name="TextBox 20"/>
          <p:cNvSpPr txBox="1"/>
          <p:nvPr/>
        </p:nvSpPr>
        <p:spPr>
          <a:xfrm>
            <a:off x="3086957"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3471005"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Can Anand's analyst audit it tonight?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proved the 1.9, and the log is still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does Anand still need before tonight?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437424"/>
                <a:gridCol w="7693566"/>
              </a:tblGrid>
              <a:tr h="369824">
                <a:tc>
                  <a:txBody>
                    <a:bodyPr/>
                    <a:lstStyle/>
                    <a:p>
                      <a:r>
                        <a:rPr sz="1450" b="1" i="0">
                          <a:solidFill>
                            <a:srgbClr val="FFFFFF"/>
                          </a:solidFill>
                          <a:latin typeface="Calibri"/>
                        </a:rPr>
                        <a:t>The morning's question</a:t>
                      </a:r>
                    </a:p>
                  </a:txBody>
                  <a:tcPr marL="101600" marR="101600" marT="38100" marB="38100" anchor="ctr">
                    <a:solidFill>
                      <a:srgbClr val="1A0F5C"/>
                    </a:solidFill>
                  </a:tcPr>
                </a:tc>
                <a:tc>
                  <a:txBody>
                    <a:bodyPr/>
                    <a:lstStyle/>
                    <a:p>
                      <a:r>
                        <a:rPr sz="1450" b="1" i="0">
                          <a:solidFill>
                            <a:srgbClr val="FFFFFF"/>
                          </a:solidFill>
                          <a:latin typeface="Calibri"/>
                        </a:rPr>
                        <a:t>What it found</a:t>
                      </a:r>
                    </a:p>
                  </a:txBody>
                  <a:tcPr marL="101600" marR="101600" marT="38100" marB="38100" anchor="ctr">
                    <a:solidFill>
                      <a:srgbClr val="1A0F5C"/>
                    </a:solidFill>
                  </a:tcPr>
                </a:tc>
              </a:tr>
              <a:tr h="369824">
                <a:tc>
                  <a:txBody>
                    <a:bodyPr/>
                    <a:lstStyle/>
                    <a:p>
                      <a:r>
                        <a:rPr sz="1400" b="0" i="0">
                          <a:solidFill>
                            <a:srgbClr val="1A1440"/>
                          </a:solidFill>
                          <a:latin typeface="Calibri"/>
                        </a:rPr>
                        <a:t>What did the ERP send?</a:t>
                      </a:r>
                    </a:p>
                  </a:txBody>
                  <a:tcPr marL="101600" marR="101600" marT="38100" marB="38100" anchor="ctr">
                    <a:solidFill>
                      <a:srgbClr val="FFFFFF"/>
                    </a:solidFill>
                  </a:tcPr>
                </a:tc>
                <a:tc>
                  <a:txBody>
                    <a:bodyPr/>
                    <a:lstStyle/>
                    <a:p>
                      <a:r>
                        <a:rPr sz="1400" b="0" i="0">
                          <a:solidFill>
                            <a:srgbClr val="1A1440"/>
                          </a:solidFill>
                          <a:latin typeface="Calibri"/>
                        </a:rPr>
                        <a:t>201 rows for 186 orders; Q1 over the amounts that convert is Rs 2,09,98,210</a:t>
                      </a:r>
                    </a:p>
                  </a:txBody>
                  <a:tcPr marL="101600" marR="101600" marT="38100" marB="38100" anchor="ctr">
                    <a:solidFill>
                      <a:srgbClr val="FFFFFF"/>
                    </a:solidFill>
                  </a:tcPr>
                </a:tc>
              </a:tr>
              <a:tr h="369824">
                <a:tc>
                  <a:txBody>
                    <a:bodyPr/>
                    <a:lstStyle/>
                    <a:p>
                      <a:r>
                        <a:rPr sz="1400" b="0" i="0">
                          <a:solidFill>
                            <a:srgbClr val="1A1440"/>
                          </a:solidFill>
                          <a:latin typeface="Calibri"/>
                        </a:rPr>
                        <a:t>Which rows repeat?</a:t>
                      </a:r>
                    </a:p>
                  </a:txBody>
                  <a:tcPr marL="101600" marR="101600" marT="38100" marB="38100" anchor="ctr">
                    <a:solidFill>
                      <a:srgbClr val="F4F2FA"/>
                    </a:solidFill>
                  </a:tcPr>
                </a:tc>
                <a:tc>
                  <a:txBody>
                    <a:bodyPr/>
                    <a:lstStyle/>
                    <a:p>
                      <a:r>
                        <a:rPr sz="1400" b="0" i="0">
                          <a:solidFill>
                            <a:srgbClr val="1A1440"/>
                          </a:solidFill>
                          <a:latin typeface="Calibri"/>
                        </a:rPr>
                        <a:t>15 orders twice under the order_id, 14 of them in Q1</a:t>
                      </a:r>
                    </a:p>
                  </a:txBody>
                  <a:tcPr marL="101600" marR="101600" marT="38100" marB="38100" anchor="ctr">
                    <a:solidFill>
                      <a:srgbClr val="F4F2FA"/>
                    </a:solidFill>
                  </a:tcPr>
                </a:tc>
              </a:tr>
              <a:tr h="369824">
                <a:tc>
                  <a:txBody>
                    <a:bodyPr/>
                    <a:lstStyle/>
                    <a:p>
                      <a:r>
                        <a:rPr sz="1400" b="0" i="0">
                          <a:solidFill>
                            <a:srgbClr val="1A1440"/>
                          </a:solidFill>
                          <a:latin typeface="Calibri"/>
                        </a:rPr>
                        <a:t>Which copy stays?</a:t>
                      </a:r>
                    </a:p>
                  </a:txBody>
                  <a:tcPr marL="101600" marR="101600" marT="38100" marB="38100" anchor="ctr">
                    <a:solidFill>
                      <a:srgbClr val="FFFFFF"/>
                    </a:solidFill>
                  </a:tcPr>
                </a:tc>
                <a:tc>
                  <a:txBody>
                    <a:bodyPr/>
                    <a:lstStyle/>
                    <a:p>
                      <a:r>
                        <a:rPr sz="1400" b="0" i="0">
                          <a:solidFill>
                            <a:srgbClr val="1A1440"/>
                          </a:solidFill>
                          <a:latin typeface="Calibri"/>
                        </a:rPr>
                        <a:t>The copy whose amount converts: 186 kept, 15 set aside, Q1 Rs 1,90,00,000</a:t>
                      </a:r>
                    </a:p>
                  </a:txBody>
                  <a:tcPr marL="101600" marR="101600" marT="38100" marB="38100" anchor="ctr">
                    <a:solidFill>
                      <a:srgbClr val="FFFFFF"/>
                    </a:solidFill>
                  </a:tcPr>
                </a:tc>
              </a:tr>
              <a:tr h="369824">
                <a:tc>
                  <a:txBody>
                    <a:bodyPr/>
                    <a:lstStyle/>
                    <a:p>
                      <a:r>
                        <a:rPr sz="1400" b="0" i="0">
                          <a:solidFill>
                            <a:srgbClr val="1A1440"/>
                          </a:solidFill>
                          <a:latin typeface="Calibri"/>
                        </a:rPr>
                        <a:t>Drop, fill or flag?</a:t>
                      </a:r>
                    </a:p>
                  </a:txBody>
                  <a:tcPr marL="101600" marR="101600" marT="38100" marB="38100" anchor="ctr">
                    <a:solidFill>
                      <a:srgbClr val="F4F2FA"/>
                    </a:solidFill>
                  </a:tcPr>
                </a:tc>
                <a:tc>
                  <a:txBody>
                    <a:bodyPr/>
                    <a:lstStyle/>
                    <a:p>
                      <a:r>
                        <a:rPr sz="1400" b="0" i="0">
                          <a:solidFill>
                            <a:srgbClr val="1A1440"/>
                          </a:solidFill>
                          <a:latin typeface="Calibri"/>
                        </a:rPr>
                        <a:t>Status flagged, discount kept unknown, bad amounts rejected, never zeroed</a:t>
                      </a:r>
                    </a:p>
                  </a:txBody>
                  <a:tcPr marL="101600" marR="101600" marT="38100" marB="38100" anchor="ctr">
                    <a:solidFill>
                      <a:srgbClr val="F4F2FA"/>
                    </a:solidFill>
                  </a:tcPr>
                </a:tc>
              </a:tr>
              <a:tr h="369824">
                <a:tc>
                  <a:txBody>
                    <a:bodyPr/>
                    <a:lstStyle/>
                    <a:p>
                      <a:r>
                        <a:rPr sz="1400" b="0" i="0">
                          <a:solidFill>
                            <a:srgbClr val="1A1440"/>
                          </a:solidFill>
                          <a:latin typeface="Calibri"/>
                        </a:rPr>
                        <a:t>Can we prove the 1.9?</a:t>
                      </a:r>
                    </a:p>
                  </a:txBody>
                  <a:tcPr marL="101600" marR="101600" marT="38100" marB="38100" anchor="ctr">
                    <a:solidFill>
                      <a:srgbClr val="FFFFFF"/>
                    </a:solidFill>
                  </a:tcPr>
                </a:tc>
                <a:tc>
                  <a:txBody>
                    <a:bodyPr/>
                    <a:lstStyle/>
                    <a:p>
                      <a:r>
                        <a:rPr sz="1400" b="0" i="0">
                          <a:solidFill>
                            <a:srgbClr val="1A1440"/>
                          </a:solidFill>
                          <a:latin typeface="Calibri"/>
                        </a:rPr>
                        <a:t>Yes, by a two-move bridge; revenue -1.6%, Retail-Plus -35.0%</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ERP is the enterprise resource planning system Finance books orders in; its CSV was stitched from two extracts, two pulls of rows, during Q1's migration of the order data to a new system. The books are Finance's own record of Q1, and Anand's analyst ties out: she matches every figure to them, line by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7" name="Oval 16"/>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9" name="Oval 18"/>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1" name="Oval 20"/>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the analyst replay it?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Anand's analyst audit every decision tonight and rebuild the clean file from the log alone?</a:t>
            </a:r>
          </a:p>
        </p:txBody>
      </p:sp>
      <p:sp>
        <p:nvSpPr>
          <p:cNvPr id="10" name="Rounded Rectangle 9"/>
          <p:cNvSpPr/>
          <p:nvPr/>
        </p:nvSpPr>
        <p:spPr>
          <a:xfrm>
            <a:off x="731519" y="5074920"/>
            <a:ext cx="167369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the analyst: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checks the logs tonight, and an auditor may ask next quarter why any row went. A log she cannot follow costs a week of questions, and one that ties in rows and misses in rupees costs the team her trust in everything else it sends.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could she receive?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hand-overs,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decision moved most?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Rupees per decision</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 the files hold it?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Written, then read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If rows tie, is it right?</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A colleague's log</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those 14 rows?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auditor's question</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Can a stranger rebuild it?</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log, replayed</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45" name="Oval 4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47" name="Oval 4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49" name="Oval 4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51" name="Oval 5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53" name="Oval 5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analyst needs rows and rupees, and a reason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need, and what does a log she cannot follow cost?</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a count and a sum at both ends, compared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 tonight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an auditor paid for numbers nobody could trace to their rows?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At a UK cafe chain the accounting hole reached GBP 94 million, and the Financial Reporting Council fined its former auditor for missing red flags across three years of audits.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Logs and control totals: 24 lines, 12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the analyst receive, and how long would each take her to check?</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98215"/>
                <a:gridCol w="914400"/>
                <a:gridCol w="1569465"/>
                <a:gridCol w="1842784"/>
                <a:gridCol w="170612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read against the raw</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by hand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by hand</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logs and two totals, written as the pass runs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log carry, and which totals tie them?</a:t>
            </a:r>
          </a:p>
        </p:txBody>
      </p:sp>
      <p:pic>
        <p:nvPicPr>
          <p:cNvPr id="9" name="mermaid diagram" descr="86c68108bb00f1ba.png"/>
          <p:cNvPicPr>
            <a:picLocks noChangeAspect="1"/>
          </p:cNvPicPr>
          <p:nvPr/>
        </p:nvPicPr>
        <p:blipFill>
          <a:blip r:embed="rId6"/>
          <a:stretch>
            <a:fillRect/>
          </a:stretch>
        </p:blipFill>
        <p:spPr>
          <a:xfrm>
            <a:off x="3562461" y="1664208"/>
            <a:ext cx="5066771"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rejects log sits beside these three and is empty on this export, since the one unreadable amount was a copy set aside with its twin named.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decision moved the most rupees?</a:t>
            </a:r>
          </a:p>
        </p:txBody>
      </p:sp>
      <p:pic>
        <p:nvPicPr>
          <p:cNvPr id="9" name="mermaid diagram" descr="1c323c0168656de8.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decision moved the most rupees?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57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Four decisions move no Q1 rupees, and each still gets its line, because an analyst who finds one unlogged decision stops trusting the logged ones.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4" name="Oval 2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6" name="Oval 2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8" name="Oval 2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0" name="Oval 2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back from disk, the log holds 15 rows as text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logs on disk hold what the notebook holds?</a:t>
            </a:r>
          </a:p>
        </p:txBody>
      </p:sp>
      <p:sp>
        <p:nvSpPr>
          <p:cNvPr id="9" name="Rounded Rectangle 8"/>
          <p:cNvSpPr/>
          <p:nvPr/>
        </p:nvSpPr>
        <p:spPr>
          <a:xfrm>
            <a:off x="530352" y="186359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916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916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916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9278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open(out / "set_aside_log.csv", "w", newline="", encoding="utf-8") as f:</a:t>
            </a:r>
          </a:p>
          <a:p>
            <a:pPr>
              <a:spcAft>
                <a:spcPts val="200"/>
              </a:spcAft>
            </a:pPr>
            <a:r>
              <a:rPr sz="1400" b="0" i="0">
                <a:solidFill>
                  <a:srgbClr val="E4E1F1"/>
                </a:solidFill>
                <a:latin typeface="Consolas"/>
              </a:rPr>
              <a:t>    w = csv.DictWriter(f, fieldnames=list(set_aside[0]))</a:t>
            </a:r>
          </a:p>
          <a:p>
            <a:pPr>
              <a:spcAft>
                <a:spcPts val="200"/>
              </a:spcAft>
            </a:pPr>
            <a:r>
              <a:rPr sz="1400" b="0" i="0">
                <a:solidFill>
                  <a:srgbClr val="E4E1F1"/>
                </a:solidFill>
                <a:latin typeface="Consolas"/>
              </a:rPr>
              <a:t>    w.writeheader()</a:t>
            </a:r>
          </a:p>
          <a:p>
            <a:pPr>
              <a:spcAft>
                <a:spcPts val="200"/>
              </a:spcAft>
            </a:pPr>
            <a:r>
              <a:rPr sz="1400" b="0" i="0">
                <a:solidFill>
                  <a:srgbClr val="E4E1F1"/>
                </a:solidFill>
                <a:latin typeface="Consolas"/>
              </a:rPr>
              <a:t>    w.writerows(set_aside)</a:t>
            </a:r>
          </a:p>
          <a:p>
            <a:pPr>
              <a:spcAft>
                <a:spcPts val="200"/>
              </a:spcAft>
            </a:pPr>
            <a:r>
              <a:rPr sz="1400" b="0" i="0">
                <a:solidFill>
                  <a:srgbClr val="E4E1F1"/>
                </a:solidFill>
                <a:latin typeface="Consolas"/>
              </a:rPr>
              <a:t>back = list(csv.DictReader(open(out / "set_aside_log.csv")))     # 15 rows</a:t>
            </a:r>
          </a:p>
        </p:txBody>
      </p:sp>
      <p:sp>
        <p:nvSpPr>
          <p:cNvPr id="14" name="TextBox 13"/>
          <p:cNvSpPr txBox="1"/>
          <p:nvPr/>
        </p:nvSpPr>
        <p:spPr>
          <a:xfrm>
            <a:off x="530352" y="3747770"/>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448284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SET-ASIDE ROWS</a:t>
            </a:r>
          </a:p>
        </p:txBody>
      </p:sp>
      <p:sp>
        <p:nvSpPr>
          <p:cNvPr id="16" name="TextBox 15"/>
          <p:cNvSpPr txBox="1"/>
          <p:nvPr/>
        </p:nvSpPr>
        <p:spPr>
          <a:xfrm>
            <a:off x="530352" y="4684014"/>
            <a:ext cx="5428335" cy="193421"/>
          </a:xfrm>
          <a:prstGeom prst="rect">
            <a:avLst/>
          </a:prstGeom>
          <a:noFill/>
        </p:spPr>
        <p:txBody>
          <a:bodyPr wrap="square" anchor="t" lIns="0" rIns="0" tIns="0" bIns="0">
            <a:spAutoFit/>
          </a:bodyPr>
          <a:lstStyle/>
          <a:p>
            <a:pPr algn="l"/>
            <a:r>
              <a:rPr sz="950" b="0" i="0">
                <a:solidFill>
                  <a:srgbClr val="6B6690"/>
                </a:solidFill>
                <a:latin typeface="Calibri"/>
              </a:rPr>
              <a:t>read back from the CSV</a:t>
            </a:r>
          </a:p>
        </p:txBody>
      </p:sp>
      <p:sp>
        <p:nvSpPr>
          <p:cNvPr id="17" name="Rectangle 16"/>
          <p:cNvSpPr/>
          <p:nvPr/>
        </p:nvSpPr>
        <p:spPr>
          <a:xfrm>
            <a:off x="530352" y="493649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747770"/>
            <a:ext cx="5428335"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9" name="TextBox 18"/>
          <p:cNvSpPr txBox="1"/>
          <p:nvPr/>
        </p:nvSpPr>
        <p:spPr>
          <a:xfrm>
            <a:off x="6233007" y="448284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DECISIONS</a:t>
            </a:r>
          </a:p>
        </p:txBody>
      </p:sp>
      <p:sp>
        <p:nvSpPr>
          <p:cNvPr id="20" name="TextBox 19"/>
          <p:cNvSpPr txBox="1"/>
          <p:nvPr/>
        </p:nvSpPr>
        <p:spPr>
          <a:xfrm>
            <a:off x="6233007" y="4684014"/>
            <a:ext cx="5428335" cy="193421"/>
          </a:xfrm>
          <a:prstGeom prst="rect">
            <a:avLst/>
          </a:prstGeom>
          <a:noFill/>
        </p:spPr>
        <p:txBody>
          <a:bodyPr wrap="square" anchor="t" lIns="0" rIns="0" tIns="0" bIns="0">
            <a:spAutoFit/>
          </a:bodyPr>
          <a:lstStyle/>
          <a:p>
            <a:pPr algn="l"/>
            <a:r>
              <a:rPr sz="950" b="0" i="0">
                <a:solidFill>
                  <a:srgbClr val="6B6690"/>
                </a:solidFill>
                <a:latin typeface="Calibri"/>
              </a:rPr>
              <a:t>read back with json.load</a:t>
            </a:r>
          </a:p>
        </p:txBody>
      </p:sp>
      <p:sp>
        <p:nvSpPr>
          <p:cNvPr id="21" name="Rectangle 20"/>
          <p:cNvSpPr/>
          <p:nvPr/>
        </p:nvSpPr>
        <p:spPr>
          <a:xfrm>
            <a:off x="6233007" y="493649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5210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5338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532968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rupees in the file equal the rupees in the notebook once the amounts are converted again, since they come back as text: chapter 1's rule holds for your own files too.</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7" name="Oval 2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9" name="Oval 2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1" name="Oval 3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3" name="Oval 3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5" name="Oval 3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rows reconcile, is the log right?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r in raw:                     # repeated ids out first, the first copy kept</a:t>
            </a:r>
          </a:p>
          <a:p>
            <a:pPr>
              <a:spcAft>
                <a:spcPts val="200"/>
              </a:spcAft>
            </a:pPr>
            <a:r>
              <a:rPr sz="1400" b="0" i="0">
                <a:solidFill>
                  <a:srgbClr val="E4E1F1"/>
                </a:solidFill>
                <a:latin typeface="Consolas"/>
              </a:rPr>
              <a:t>    (aside if r["order_id"] in seen else first).append(r)</a:t>
            </a:r>
          </a:p>
          <a:p>
            <a:pPr>
              <a:spcAft>
                <a:spcPts val="200"/>
              </a:spcAft>
            </a:pPr>
            <a:r>
              <a:rPr sz="1400" b="0" i="0">
                <a:solidFill>
                  <a:srgbClr val="E4E1F1"/>
                </a:solidFill>
                <a:latin typeface="Consolas"/>
              </a:rPr>
              <a:t>    seen.add(r["order_id"])</a:t>
            </a:r>
          </a:p>
          <a:p>
            <a:pPr>
              <a:spcAft>
                <a:spcPts val="200"/>
              </a:spcAft>
            </a:pPr>
            <a:r>
              <a:rPr sz="1400" b="0" i="0">
                <a:solidFill>
                  <a:srgbClr val="E4E1F1"/>
                </a:solidFill>
                <a:latin typeface="Consolas"/>
              </a:rPr>
              <a:t>clean = [r for r in first if convert(r["amount"])[0] is not None]   # then convert</a:t>
            </a:r>
          </a:p>
        </p:txBody>
      </p:sp>
      <p:sp>
        <p:nvSpPr>
          <p:cNvPr id="14" name="TextBox 13"/>
          <p:cNvSpPr txBox="1"/>
          <p:nvPr/>
        </p:nvSpPr>
        <p:spPr>
          <a:xfrm>
            <a:off x="53035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5" name="TextBox 14"/>
          <p:cNvSpPr txBox="1"/>
          <p:nvPr/>
        </p:nvSpPr>
        <p:spPr>
          <a:xfrm>
            <a:off x="53035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6" name="TextBox 15"/>
          <p:cNvSpPr txBox="1"/>
          <p:nvPr/>
        </p:nvSpPr>
        <p:spPr>
          <a:xfrm>
            <a:off x="53035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9" name="TextBox 18"/>
          <p:cNvSpPr txBox="1"/>
          <p:nvPr/>
        </p:nvSpPr>
        <p:spPr>
          <a:xfrm>
            <a:off x="433212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20" name="TextBox 19"/>
          <p:cNvSpPr txBox="1"/>
          <p:nvPr/>
        </p:nvSpPr>
        <p:spPr>
          <a:xfrm>
            <a:off x="433212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 crore</a:t>
            </a:r>
          </a:p>
        </p:txBody>
      </p:sp>
      <p:sp>
        <p:nvSpPr>
          <p:cNvPr id="23" name="TextBox 22"/>
          <p:cNvSpPr txBox="1"/>
          <p:nvPr/>
        </p:nvSpPr>
        <p:spPr>
          <a:xfrm>
            <a:off x="813389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24" name="TextBox 23"/>
          <p:cNvSpPr txBox="1"/>
          <p:nvPr/>
        </p:nvSpPr>
        <p:spPr>
          <a:xfrm>
            <a:off x="813389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as the note rounds it</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miss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log tie in rows and still be wrong?</a:t>
            </a:r>
          </a:p>
        </p:txBody>
      </p:sp>
      <p:pic>
        <p:nvPicPr>
          <p:cNvPr id="9" name="mermaid diagram" descr="07259466d0a819f6.png"/>
          <p:cNvPicPr>
            <a:picLocks noChangeAspect="1"/>
          </p:cNvPicPr>
          <p:nvPr/>
        </p:nvPicPr>
        <p:blipFill>
          <a:blip r:embed="rId5"/>
          <a:stretch>
            <a:fillRect/>
          </a:stretch>
        </p:blipFill>
        <p:spPr>
          <a:xfrm>
            <a:off x="2152497" y="1956816"/>
            <a:ext cx="7886700" cy="2786062"/>
          </a:xfrm>
          <a:prstGeom prst="rect">
            <a:avLst/>
          </a:prstGeom>
        </p:spPr>
      </p:pic>
      <p:sp>
        <p:nvSpPr>
          <p:cNvPr id="10" name="Rounded Rectangle 9"/>
          <p:cNvSpPr/>
          <p:nvPr/>
        </p:nvSpPr>
        <p:spPr>
          <a:xfrm>
            <a:off x="530352" y="48891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71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805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Compare the clean Q1 with the books, and look for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first, and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pass's own order change?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186 + 15</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LINES IN THE REJECTS LOG</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twin carried the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rupees tie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and the unreadable copy sits in the set-aside log with its twin named, so the rejects log is empty.</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8" name="Oval 27"/>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0" name="Oval 29"/>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2" name="Oval 31"/>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4" name="Oval 33"/>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of the 14 has a kept twin, and Q1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were 14 Q1 rows set aside, and how do we know nothing else went?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"Set aside with a reason" replaces "dropped": every line names the row that stayed, and Q1 ties in rows and in rupees.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log replays to the clean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clean file be rebuilt from the raw export and the log alone?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gone = {int(r["line"]) for r in back}                  # the logged lines</a:t>
            </a:r>
          </a:p>
          <a:p>
            <a:pPr>
              <a:spcAft>
                <a:spcPts val="200"/>
              </a:spcAft>
            </a:pPr>
            <a:r>
              <a:rPr sz="1400" b="0" i="0">
                <a:solidFill>
                  <a:srgbClr val="E4E1F1"/>
                </a:solidFill>
                <a:latin typeface="Consolas"/>
              </a:rPr>
              <a:t>replayed = [r for r in raw if r["line"] not in gone]   # 186 orders</a:t>
            </a:r>
          </a:p>
        </p:txBody>
      </p:sp>
      <p:pic>
        <p:nvPicPr>
          <p:cNvPr id="14" name="mermaid diagram" descr="56dc8baed6c1cc53.png"/>
          <p:cNvPicPr>
            <a:picLocks noChangeAspect="1"/>
          </p:cNvPicPr>
          <p:nvPr/>
        </p:nvPicPr>
        <p:blipFill>
          <a:blip r:embed="rId5"/>
          <a:stretch>
            <a:fillRect/>
          </a:stretch>
        </p:blipFill>
        <p:spPr>
          <a:xfrm>
            <a:off x="780897" y="3083560"/>
            <a:ext cx="10629900" cy="1357312"/>
          </a:xfrm>
          <a:prstGeom prst="rect">
            <a:avLst/>
          </a:prstGeom>
        </p:spPr>
      </p:pic>
      <p:sp>
        <p:nvSpPr>
          <p:cNvPr id="15" name="Rounded Rectangle 14"/>
          <p:cNvSpPr/>
          <p:nvPr/>
        </p:nvSpPr>
        <p:spPr>
          <a:xfrm>
            <a:off x="530352" y="45871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7151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70604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0" name="Oval 1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2" name="Oval 21"/>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4" name="Oval 23"/>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6" name="Oval 25"/>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8" name="Oval 27"/>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24 lines, both totals tied, and a replay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can the analyst audit every decision and rebuild the clean file from the log?</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915484"/>
                <a:gridCol w="7215506"/>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What could she receive?</a:t>
                      </a:r>
                    </a:p>
                  </a:txBody>
                  <a:tcPr marL="101600" marR="101600" marT="38100" marB="38100" anchor="ctr">
                    <a:solidFill>
                      <a:srgbClr val="FFFFFF"/>
                    </a:solidFill>
                  </a:tcPr>
                </a:tc>
                <a:tc>
                  <a:txBody>
                    <a:bodyPr/>
                    <a:lstStyle/>
                    <a:p>
                      <a:r>
                        <a:rPr sz="1100" b="0" i="0">
                          <a:solidFill>
                            <a:srgbClr val="1A1440"/>
                          </a:solidFill>
                          <a:latin typeface="Calibri"/>
                        </a:rPr>
                        <a:t>Logs and control totals: 24 lines, about 12 minutes</a:t>
                      </a:r>
                    </a:p>
                  </a:txBody>
                  <a:tcPr marL="101600" marR="101600" marT="38100" marB="38100" anchor="ctr">
                    <a:solidFill>
                      <a:srgbClr val="FFFFFF"/>
                    </a:solidFill>
                  </a:tcPr>
                </a:tc>
              </a:tr>
              <a:tr h="318008">
                <a:tc>
                  <a:txBody>
                    <a:bodyPr/>
                    <a:lstStyle/>
                    <a:p>
                      <a:r>
                        <a:rPr sz="1100" b="0" i="0">
                          <a:solidFill>
                            <a:srgbClr val="1A1440"/>
                          </a:solidFill>
                          <a:latin typeface="Calibri"/>
                        </a:rPr>
                        <a:t>2. Which decision moved most?</a:t>
                      </a:r>
                    </a:p>
                  </a:txBody>
                  <a:tcPr marL="101600" marR="101600" marT="38100" marB="38100" anchor="ctr">
                    <a:solidFill>
                      <a:srgbClr val="F4F2FA"/>
                    </a:solidFill>
                  </a:tcPr>
                </a:tc>
                <a:tc>
                  <a:txBody>
                    <a:bodyPr/>
                    <a:lstStyle/>
                    <a:p>
                      <a:r>
                        <a:rPr sz="1100" b="0" i="0">
                          <a:solidFill>
                            <a:srgbClr val="1A1440"/>
                          </a:solidFill>
                          <a:latin typeface="Calibri"/>
                        </a:rPr>
                        <a:t>The identity rule, all Rs 19,98,210</a:t>
                      </a:r>
                    </a:p>
                  </a:txBody>
                  <a:tcPr marL="101600" marR="101600" marT="38100" marB="38100" anchor="ctr">
                    <a:solidFill>
                      <a:srgbClr val="F4F2FA"/>
                    </a:solidFill>
                  </a:tcPr>
                </a:tc>
              </a:tr>
              <a:tr h="318008">
                <a:tc>
                  <a:txBody>
                    <a:bodyPr/>
                    <a:lstStyle/>
                    <a:p>
                      <a:r>
                        <a:rPr sz="1100" b="0" i="0">
                          <a:solidFill>
                            <a:srgbClr val="1A1440"/>
                          </a:solidFill>
                          <a:latin typeface="Calibri"/>
                        </a:rPr>
                        <a:t>3. Do the files hold it?</a:t>
                      </a:r>
                    </a:p>
                  </a:txBody>
                  <a:tcPr marL="101600" marR="101600" marT="38100" marB="38100" anchor="ctr">
                    <a:solidFill>
                      <a:srgbClr val="FFFFFF"/>
                    </a:solidFill>
                  </a:tcPr>
                </a:tc>
                <a:tc>
                  <a:txBody>
                    <a:bodyPr/>
                    <a:lstStyle/>
                    <a:p>
                      <a:r>
                        <a:rPr sz="1100" b="0" i="0">
                          <a:solidFill>
                            <a:srgbClr val="1A1440"/>
                          </a:solidFill>
                          <a:latin typeface="Calibri"/>
                        </a:rPr>
                        <a:t>Yes: 15 rows and 5 decisions, amounts back as text</a:t>
                      </a:r>
                    </a:p>
                  </a:txBody>
                  <a:tcPr marL="101600" marR="101600" marT="38100" marB="38100" anchor="ctr">
                    <a:solidFill>
                      <a:srgbClr val="FFFFFF"/>
                    </a:solidFill>
                  </a:tcPr>
                </a:tc>
              </a:tr>
              <a:tr h="318008">
                <a:tc>
                  <a:txBody>
                    <a:bodyPr/>
                    <a:lstStyle/>
                    <a:p>
                      <a:r>
                        <a:rPr sz="1100" b="0" i="0">
                          <a:solidFill>
                            <a:srgbClr val="1A1440"/>
                          </a:solidFill>
                          <a:latin typeface="Calibri"/>
                        </a:rPr>
                        <a:t>4. If rows tie, is it right?</a:t>
                      </a:r>
                    </a:p>
                  </a:txBody>
                  <a:tcPr marL="101600" marR="101600" marT="38100" marB="38100" anchor="ctr">
                    <a:solidFill>
                      <a:srgbClr val="F4F2FA"/>
                    </a:solidFill>
                  </a:tcPr>
                </a:tc>
                <a:tc>
                  <a:txBody>
                    <a:bodyPr/>
                    <a:lstStyle/>
                    <a:p>
                      <a:r>
                        <a:rPr sz="1100" b="0" i="0">
                          <a:solidFill>
                            <a:srgbClr val="1A1440"/>
                          </a:solidFill>
                          <a:latin typeface="Calibri"/>
                        </a:rPr>
                        <a:t>No: 201 = 185 + 16 missed the books by Rs 1,790</a:t>
                      </a:r>
                    </a:p>
                  </a:txBody>
                  <a:tcPr marL="101600" marR="101600" marT="38100" marB="38100" anchor="ctr">
                    <a:solidFill>
                      <a:srgbClr val="F4F2FA"/>
                    </a:solidFill>
                  </a:tcPr>
                </a:tc>
              </a:tr>
              <a:tr h="318008">
                <a:tc>
                  <a:txBody>
                    <a:bodyPr/>
                    <a:lstStyle/>
                    <a:p>
                      <a:r>
                        <a:rPr sz="1100" b="0" i="0">
                          <a:solidFill>
                            <a:srgbClr val="1A1440"/>
                          </a:solidFill>
                          <a:latin typeface="Calibri"/>
                        </a:rPr>
                        <a:t>5. Why those 14 rows?</a:t>
                      </a:r>
                    </a:p>
                  </a:txBody>
                  <a:tcPr marL="101600" marR="101600" marT="38100" marB="38100" anchor="ctr">
                    <a:solidFill>
                      <a:srgbClr val="FFFFFF"/>
                    </a:solidFill>
                  </a:tcPr>
                </a:tc>
                <a:tc>
                  <a:txBody>
                    <a:bodyPr/>
                    <a:lstStyle/>
                    <a:p>
                      <a:r>
                        <a:rPr sz="1100" b="0" i="0">
                          <a:solidFill>
                            <a:srgbClr val="1A1440"/>
                          </a:solidFill>
                          <a:latin typeface="Calibri"/>
                        </a:rPr>
                        <a:t>Each has a kept twin; 114 = 100 + 14, and the rupees tie</a:t>
                      </a:r>
                    </a:p>
                  </a:txBody>
                  <a:tcPr marL="101600" marR="101600" marT="38100" marB="38100" anchor="ctr">
                    <a:solidFill>
                      <a:srgbClr val="FFFFFF"/>
                    </a:solidFill>
                  </a:tcPr>
                </a:tc>
              </a:tr>
              <a:tr h="318008">
                <a:tc>
                  <a:txBody>
                    <a:bodyPr/>
                    <a:lstStyle/>
                    <a:p>
                      <a:r>
                        <a:rPr sz="1100" b="0" i="0">
                          <a:solidFill>
                            <a:srgbClr val="1A1440"/>
                          </a:solidFill>
                          <a:latin typeface="Calibri"/>
                        </a:rPr>
                        <a:t>6. Can a stranger rebuild it?</a:t>
                      </a:r>
                    </a:p>
                  </a:txBody>
                  <a:tcPr marL="101600" marR="101600" marT="38100" marB="38100" anchor="ctr">
                    <a:solidFill>
                      <a:srgbClr val="F4F2FA"/>
                    </a:solidFill>
                  </a:tcPr>
                </a:tc>
                <a:tc>
                  <a:txBody>
                    <a:bodyPr/>
                    <a:lstStyle/>
                    <a:p>
                      <a:r>
                        <a:rPr sz="1100" b="0" i="0">
                          <a:solidFill>
                            <a:srgbClr val="1A1440"/>
                          </a:solidFill>
                          <a:latin typeface="Calibri"/>
                        </a:rPr>
                        <a:t>Yes: 201 rows less 15 logged lines give the same 186</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Kavya Nair, the senior analyst who checks every number before it leaves the team: "A log is finished when a stranger can replay it."</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An auditor asks why you dropped 14 rows; walk them through it.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4" name="Oval 2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6" name="Oval 2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8" name="Oval 2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0" name="Oval 2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the pass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run the whole pass alone on the same file and send Anand a reconciliation his analyst can audit tonight?</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Anand needs five answers and a log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from the full pass by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can you tell Anand yet?</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against orders, and the amount that will not convert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How are repeats treated?</a:t>
            </a:r>
          </a:p>
        </p:txBody>
      </p:sp>
      <p:sp>
        <p:nvSpPr>
          <p:cNvPr id="19" name="TextBox 18"/>
          <p:cNvSpPr txBox="1"/>
          <p:nvPr/>
        </p:nvSpPr>
        <p:spPr>
          <a:xfrm>
            <a:off x="2957718"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Yours this time: the key, and when a later copy takes the kept one's place</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each odd case decided?</a:t>
            </a:r>
          </a:p>
        </p:txBody>
      </p:sp>
      <p:sp>
        <p:nvSpPr>
          <p:cNvPr id="24" name="TextBox 23"/>
          <p:cNvSpPr txBox="1"/>
          <p:nvPr/>
        </p:nvSpPr>
        <p:spPr>
          <a:xfrm>
            <a:off x="5220492"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rejects log, the missing status and the largest order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did every row go?</a:t>
            </a:r>
          </a:p>
        </p:txBody>
      </p:sp>
      <p:sp>
        <p:nvSpPr>
          <p:cNvPr id="29" name="TextBox 28"/>
          <p:cNvSpPr txBox="1"/>
          <p:nvPr/>
        </p:nvSpPr>
        <p:spPr>
          <a:xfrm>
            <a:off x="7483266"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A rupee test that fails the colleague's pass, then the bridge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read first?</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Monday's tree on the clean file, Tuesday's segment,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"Tell me which figure is right, with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you run the pass alone?</a:t>
            </a:r>
          </a:p>
        </p:txBody>
      </p:sp>
      <p:sp>
        <p:nvSpPr>
          <p:cNvPr id="44" name="Oval 4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46" name="Oval 4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48" name="Oval 4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50" name="Oval 4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Four checks pass before your letters go in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pass before you post your letters?</a:t>
            </a:r>
          </a:p>
        </p:txBody>
      </p:sp>
      <p:graphicFrame>
        <p:nvGraphicFramePr>
          <p:cNvPr id="10" name="Table 9"/>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485016"/>
                <a:gridCol w="8645974"/>
              </a:tblGrid>
              <a:tr h="369824">
                <a:tc>
                  <a:txBody>
                    <a:bodyPr/>
                    <a:lstStyle/>
                    <a:p>
                      <a:r>
                        <a:rPr sz="1450" b="1" i="0">
                          <a:solidFill>
                            <a:srgbClr val="FFFFFF"/>
                          </a:solidFill>
                          <a:latin typeface="Calibri"/>
                        </a:rPr>
                        <a:t>The check</a:t>
                      </a:r>
                    </a:p>
                  </a:txBody>
                  <a:tcPr marL="101600" marR="101600" marT="38100" marB="38100" anchor="ctr">
                    <a:solidFill>
                      <a:srgbClr val="1A0F5C"/>
                    </a:solidFill>
                  </a:tcPr>
                </a:tc>
                <a:tc>
                  <a:txBody>
                    <a:bodyPr/>
                    <a:lstStyle/>
                    <a:p>
                      <a:r>
                        <a:rPr sz="1450" b="1" i="0">
                          <a:solidFill>
                            <a:srgbClr val="FFFFFF"/>
                          </a:solidFill>
                          <a:latin typeface="Calibri"/>
                        </a:rPr>
                        <a:t>It passes when</a:t>
                      </a:r>
                    </a:p>
                  </a:txBody>
                  <a:tcPr marL="101600" marR="101600" marT="38100" marB="38100" anchor="ctr">
                    <a:solidFill>
                      <a:srgbClr val="1A0F5C"/>
                    </a:solidFill>
                  </a:tcPr>
                </a:tc>
              </a:tr>
              <a:tr h="369824">
                <a:tc>
                  <a:txBody>
                    <a:bodyPr/>
                    <a:lstStyle/>
                    <a:p>
                      <a:r>
                        <a:rPr sz="1400" b="0" i="0">
                          <a:solidFill>
                            <a:srgbClr val="1A1440"/>
                          </a:solidFill>
                          <a:latin typeface="Calibri"/>
                        </a:rPr>
                        <a:t>Rows</a:t>
                      </a:r>
                    </a:p>
                  </a:txBody>
                  <a:tcPr marL="101600" marR="101600" marT="38100" marB="38100" anchor="ctr">
                    <a:solidFill>
                      <a:srgbClr val="FFFFFF"/>
                    </a:solidFill>
                  </a:tcPr>
                </a:tc>
                <a:tc>
                  <a:txBody>
                    <a:bodyPr/>
                    <a:lstStyle/>
                    <a:p>
                      <a:r>
                        <a:rPr sz="1400" b="0" i="0">
                          <a:solidFill>
                            <a:srgbClr val="1A1440"/>
                          </a:solidFill>
                          <a:latin typeface="Calibri"/>
                        </a:rPr>
                        <a:t>The rows kept plus the rows set aside equal the 201 rows the ERP sent.</a:t>
                      </a:r>
                    </a:p>
                  </a:txBody>
                  <a:tcPr marL="101600" marR="101600" marT="38100" marB="38100" anchor="ctr">
                    <a:solidFill>
                      <a:srgbClr val="FFFFFF"/>
                    </a:solidFill>
                  </a:tcPr>
                </a:tc>
              </a:tr>
              <a:tr h="369824">
                <a:tc>
                  <a:txBody>
                    <a:bodyPr/>
                    <a:lstStyle/>
                    <a:p>
                      <a:r>
                        <a:rPr sz="1400" b="0" i="0">
                          <a:solidFill>
                            <a:srgbClr val="1A1440"/>
                          </a:solidFill>
                          <a:latin typeface="Calibri"/>
                        </a:rPr>
                        <a:t>Q1</a:t>
                      </a:r>
                    </a:p>
                  </a:txBody>
                  <a:tcPr marL="101600" marR="101600" marT="38100" marB="38100" anchor="ctr">
                    <a:solidFill>
                      <a:srgbClr val="F4F2FA"/>
                    </a:solidFill>
                  </a:tcPr>
                </a:tc>
                <a:tc>
                  <a:txBody>
                    <a:bodyPr/>
                    <a:lstStyle/>
                    <a:p>
                      <a:r>
                        <a:rPr sz="1400" b="0" i="0">
                          <a:solidFill>
                            <a:srgbClr val="1A1440"/>
                          </a:solidFill>
                          <a:latin typeface="Calibri"/>
                        </a:rPr>
                        <a:t>Q1 on the kept rows equals the books, Rs 1,90,00,000, to the rupee.</a:t>
                      </a:r>
                    </a:p>
                  </a:txBody>
                  <a:tcPr marL="101600" marR="101600" marT="38100" marB="38100" anchor="ctr">
                    <a:solidFill>
                      <a:srgbClr val="F4F2FA"/>
                    </a:solidFill>
                  </a:tcPr>
                </a:tc>
              </a:tr>
              <a:tr h="369824">
                <a:tc>
                  <a:txBody>
                    <a:bodyPr/>
                    <a:lstStyle/>
                    <a:p>
                      <a:r>
                        <a:rPr sz="1400" b="0" i="0">
                          <a:solidFill>
                            <a:srgbClr val="1A1440"/>
                          </a:solidFill>
                          <a:latin typeface="Calibri"/>
                        </a:rPr>
                        <a:t>Your rupee test</a:t>
                      </a:r>
                    </a:p>
                  </a:txBody>
                  <a:tcPr marL="101600" marR="101600" marT="38100" marB="38100" anchor="ctr">
                    <a:solidFill>
                      <a:srgbClr val="FFFFFF"/>
                    </a:solidFill>
                  </a:tcPr>
                </a:tc>
                <a:tc>
                  <a:txBody>
                    <a:bodyPr/>
                    <a:lstStyle/>
                    <a:p>
                      <a:r>
                        <a:rPr sz="1400" b="0" i="0">
                          <a:solidFill>
                            <a:srgbClr val="1A1440"/>
                          </a:solidFill>
                          <a:latin typeface="Calibri"/>
                        </a:rPr>
                        <a:t>It passes on your pass and fails on the colleague's, which kept the first copy.</a:t>
                      </a:r>
                    </a:p>
                  </a:txBody>
                  <a:tcPr marL="101600" marR="101600" marT="38100" marB="38100" anchor="ctr">
                    <a:solidFill>
                      <a:srgbClr val="FFFFFF"/>
                    </a:solidFill>
                  </a:tcPr>
                </a:tc>
              </a:tr>
              <a:tr h="369824">
                <a:tc>
                  <a:txBody>
                    <a:bodyPr/>
                    <a:lstStyle/>
                    <a:p>
                      <a:r>
                        <a:rPr sz="1400" b="0" i="0">
                          <a:solidFill>
                            <a:srgbClr val="1A1440"/>
                          </a:solidFill>
                          <a:latin typeface="Calibri"/>
                        </a:rPr>
                        <a:t>Monday's tree</a:t>
                      </a:r>
                    </a:p>
                  </a:txBody>
                  <a:tcPr marL="101600" marR="101600" marT="38100" marB="38100" anchor="ctr">
                    <a:solidFill>
                      <a:srgbClr val="F4F2FA"/>
                    </a:solidFill>
                  </a:tcPr>
                </a:tc>
                <a:tc>
                  <a:txBody>
                    <a:bodyPr/>
                    <a:lstStyle/>
                    <a:p>
                      <a:r>
                        <a:rPr sz="1400" b="0" i="0">
                          <a:solidFill>
                            <a:srgbClr val="1A1440"/>
                          </a:solidFill>
                          <a:latin typeface="Calibri"/>
                        </a:rPr>
                        <a:t>Its three branches multiply back to revenue's change, Q2 over Q1.</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you run the pass alone?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7" name="Oval 16"/>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9" name="Oval 18"/>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1" name="Oval 20"/>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our numbers go wrong?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wrong numbers did the room produce, which step made each, and which check catches it?</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wrong numbers, six steps that made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made each wrong number, and which check catches it?</a:t>
            </a:r>
          </a:p>
        </p:txBody>
      </p:sp>
      <p:graphicFrame>
        <p:nvGraphicFramePr>
          <p:cNvPr id="9" name="Table 8"/>
          <p:cNvGraphicFramePr>
            <a:graphicFrameLocks noGrp="1"/>
          </p:cNvGraphicFramePr>
          <p:nvPr/>
        </p:nvGraphicFramePr>
        <p:xfrm>
          <a:off x="530352" y="1956816"/>
          <a:ext cx="11130989" cy="3072384"/>
        </p:xfrm>
        <a:graphic>
          <a:graphicData uri="http://schemas.openxmlformats.org/drawingml/2006/table">
            <a:tbl>
              <a:tblPr firstRow="0" bandRow="0">
                <a:tableStyleId>{2D5ABB26-0587-4C30-8999-92F81FD0307C}</a:tableStyleId>
              </a:tblPr>
              <a:tblGrid>
                <a:gridCol w="3620676"/>
                <a:gridCol w="4875829"/>
                <a:gridCol w="2634484"/>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611632">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The record less its line ties Q1, and the pass stops</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turned into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largest Q2 order removed as an outlier</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611632">
                <a:tc>
                  <a:txBody>
                    <a:bodyPr/>
                    <a:lstStyle/>
                    <a:p>
                      <a:r>
                        <a:rPr sz="1400" b="0" i="0">
                          <a:solidFill>
                            <a:srgbClr val="1A1440"/>
                          </a:solidFill>
                          <a:latin typeface="Calibri"/>
                        </a:rPr>
                        <a:t>201 = 185 + 16, Rs 20,00,000 set aside</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that tie and a Q1 read as 1.9 hide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 do most rooms miss?</a:t>
            </a:r>
          </a:p>
        </p:txBody>
      </p:sp>
      <p:pic>
        <p:nvPicPr>
          <p:cNvPr id="9" name="mermaid diagram" descr="28b1cd1bbca353e5.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31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77285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6192"/>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were 14 rows set aside?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auditor asks why 14 Q1 rows were dropped: can you answer her from the log, one question at a time?</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why 14, which 14, then the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auditor ask, and in what order?</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"Your log says 14 Q1 rows were dropped. Why those 14, and how do I know nothing else went?"</a:t>
            </a:r>
          </a:p>
          <a:p>
            <a:pPr>
              <a:spcBef>
                <a:spcPts val="400"/>
              </a:spcBef>
            </a:pPr>
            <a:r>
              <a:rPr sz="1000" b="0" i="0">
                <a:solidFill>
                  <a:srgbClr val="6B6690"/>
                </a:solidFill>
                <a:latin typeface="Calibri"/>
              </a:rPr>
              <a:t>The internal auditor, Kalpa Retail finance</a:t>
            </a:r>
          </a:p>
        </p:txBody>
      </p:sp>
      <p:pic>
        <p:nvPicPr>
          <p:cNvPr id="11" name="mermaid diagram" descr="43263b356c205527.png"/>
          <p:cNvPicPr>
            <a:picLocks noChangeAspect="1"/>
          </p:cNvPicPr>
          <p:nvPr/>
        </p:nvPicPr>
        <p:blipFill>
          <a:blip r:embed="rId5"/>
          <a:stretch>
            <a:fillRect/>
          </a:stretch>
        </p:blipFill>
        <p:spPr>
          <a:xfrm>
            <a:off x="530352" y="2844800"/>
            <a:ext cx="11130991" cy="1129748"/>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8" name="Oval 17"/>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20" name="Oval 19"/>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2" name="Oval 21"/>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statement does the evidence support?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after the migration was checked; b) the dashboard was right all along, and the books are short; c) 14 Q1 rows are copies of kept orders, set aside; both totals tie; d) the 14 rows were outliers removed to keep Q1 in line with Q2.</a:t>
            </a:r>
          </a:p>
        </p:txBody>
      </p:sp>
      <p:pic>
        <p:nvPicPr>
          <p:cNvPr id="12" name="mermaid diagram" descr="928d3dabd505d200.png"/>
          <p:cNvPicPr>
            <a:picLocks noChangeAspect="1"/>
          </p:cNvPicPr>
          <p:nvPr/>
        </p:nvPicPr>
        <p:blipFill>
          <a:blip r:embed="rId5"/>
          <a:stretch>
            <a:fillRect/>
          </a:stretch>
        </p:blipFill>
        <p:spPr>
          <a:xfrm>
            <a:off x="3424085" y="3195828"/>
            <a:ext cx="5343525" cy="2586037"/>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and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statement does the evidence support?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98.5%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in 90 seconds?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each of the day's 12 interview questions in under ninety seconds, with the rule, today's number and the check?</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screen asks these five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questions does every analytics screen ask of someone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five of them design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push a candidate past the first answer?</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The largest order is 1.66 times the next. Do you remove it?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2 crore rows. Profile everything, or sample?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two copies disagree. First, last, or the copy that validates?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coerce, reject or repair a malformed amount?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prove a figure with a bridge, or rebuild it from a second source?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two checks run wherever money moves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 rows and money get reconciled?</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7" name="Oval 16"/>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9" name="Oval 18"/>
          <p:cNvSpPr/>
          <p:nvPr/>
        </p:nvSpPr>
        <p:spPr>
          <a:xfrm>
            <a:off x="753894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64867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Can you answer in 90 seconds?</a:t>
            </a:r>
          </a:p>
        </p:txBody>
      </p:sp>
      <p:sp>
        <p:nvSpPr>
          <p:cNvPr id="21" name="Oval 20"/>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Q1 figure is right, the dashboard's Rs 2.1 crore or the books' Rs 1.9 crore, and how do we know?</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1.9 is right, proved in rows and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and how do we know?</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data and AI team at Kalpa's Global Capability Centre</a:t>
            </a:r>
          </a:p>
        </p:txBody>
      </p:sp>
      <p:pic>
        <p:nvPicPr>
          <p:cNvPr id="11" name="mermaid diagram" descr="83c4a5aebcc59828.png"/>
          <p:cNvPicPr>
            <a:picLocks noChangeAspect="1"/>
          </p:cNvPicPr>
          <p:nvPr/>
        </p:nvPicPr>
        <p:blipFill>
          <a:blip r:embed="rId5"/>
          <a:stretch>
            <a:fillRect/>
          </a:stretch>
        </p:blipFill>
        <p:spPr>
          <a:xfrm>
            <a:off x="2152497" y="3413760"/>
            <a:ext cx="7886700" cy="1600200"/>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8" name="Oval 17"/>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0" name="Oval 19"/>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2" name="Oval 21"/>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one per chapter,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you keep from each chapter?</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Reconcile twice, in rows and in rupees, to the books, and hand over a log a stranger can replay.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0" name="Oval 19"/>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asks whether -35.0 percent is real or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ca5d5c77445b5892.png"/>
          <p:cNvPicPr>
            <a:picLocks noChangeAspect="1"/>
          </p:cNvPicPr>
          <p:nvPr/>
        </p:nvPicPr>
        <p:blipFill>
          <a:blip r:embed="rId6"/>
          <a:stretch>
            <a:fillRect/>
          </a:stretch>
        </p:blipFill>
        <p:spPr>
          <a:xfrm>
            <a:off x="3424085" y="3243072"/>
            <a:ext cx="5343525" cy="25860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