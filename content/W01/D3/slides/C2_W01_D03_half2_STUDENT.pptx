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The afternoon runs the whole pass alone, then answers an auditor from the log,</a:t>
            </a:r>
          </a:p>
          <a:p>
            <a:r>
              <a:t>then drills the day's interview questions aloud. Nothing new is taught after lunch.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Sixty minutes unguided, then fifteen minutes debriefing the wrong answers the room produced.</a:t>
            </a:r>
          </a:p>
          <a:p>
            <a:r>
              <a:t>The notebook is hands_on, a TODO twin with eight lettered choices.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brief is in exercises/unguided as the case brief, and the notebook is</a:t>
            </a:r>
          </a:p>
          <a:p>
            <a:r>
              <a:t>notebooks/hands_on. Answers are eight letters plus the note in under 120 words.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55 minutes of work. Circulate and watch for three things: rows totalled before</a:t>
            </a:r>
          </a:p>
          <a:p>
            <a:r>
              <a:t>profiling, a first-copy dedupe, and a bridge that closes to 1.9 only after rounding.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reference while working. A learner whose Q1 reads Rs 1,89,98,210 kept the wrong copy;</a:t>
            </a:r>
          </a:p>
          <a:p>
            <a:r>
              <a:t>one whose Q2 reads Rs 1,57,54,540 removed the bulk order. Both are debriefed next.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Put the most common wrong number on the screen first. Name no learner; name the step.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Walk the table row by row. For each, ask one pair that produced it to say which</a:t>
            </a:r>
          </a:p>
          <a:p>
            <a:r>
              <a:t>line of code made it. The point is that each wrong number was plausible and one check away.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If nobody in the room produced this one, show it from the morning's round 3. Then</a:t>
            </a:r>
          </a:p>
          <a:p>
            <a:r>
              <a:t>the 10-minute break.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Forty-five minutes in pairs: one drives the notebook ex2_auditor, the other plays the auditor</a:t>
            </a:r>
          </a:p>
          <a:p>
            <a:r>
              <a:t>and asks the next question only when the check passes. Swap halfway.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auditor's words are deliberate: "dropped" is the word to correct. Rows were</a:t>
            </a:r>
          </a:p>
          <a:p>
            <a:r>
              <a:t>set aside with reasons, and the log shows each one.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after pairs finish question 5 in the notebook.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 Option a says deleted and errors; they were neither. Option d</a:t>
            </a:r>
          </a:p>
          <a:p>
            <a:r>
              <a:t>confuses copies with outliers, which were a separate decision.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Pairs: one asks, one answers aloud, the asker times it and names the one</a:t>
            </a:r>
          </a:p>
          <a:p>
            <a:r>
              <a:t>number the answer should have used. Swap every three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The shape of every answer is on the slide: the rule, today's number, the check.</a:t>
            </a:r>
          </a:p>
          <a:p>
            <a:r>
              <a:t>Tags: [S] staple, [F] frequent in GCC and product screens, [SV] service-major opener, [D]</a:t>
            </a:r>
          </a:p>
          <a:p>
            <a:r>
              <a:t>differentiator. The full answers are in the study notes.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The last question is the sharpest: the answer is that nobody's number is right</a:t>
            </a:r>
          </a:p>
          <a:p>
            <a:r>
              <a:t>by rank; the bridge closes to the books because every move is backed by rows, and if it had not</a:t>
            </a:r>
          </a:p>
          <a:p>
            <a:r>
              <a:t>closed, the gap would be a question for Finance.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the Kahoot, then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it aloud once. It is the short form of the note every learner wrote.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Have the room read them aloud once. Tonight's take-home tests every line on an</a:t>
            </a:r>
          </a:p>
          <a:p>
            <a:r>
              <a:t>export nobody in the room has seen.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Do not answer it. Thursday builds the chance reference with a shuffle. The</a:t>
            </a:r>
          </a:p>
          <a:p>
            <a:r>
              <a:t>pre-read ships tonight.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3 minutes. Week 2 Tuesday meets the gateway case, where one order carries two payment</a:t>
            </a:r>
          </a:p>
          <a:p>
            <a:r>
              <a:t>rows and the rupees double.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7.png"/><Relationship Id="rId6"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9.xml"/><Relationship Id="rId6"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574025"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WEDNESDAY  ·  HALF TWO</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reconciliation Anand can audit</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“Send the reconciliation and the log before the day closes. My analyst checks it tonight.”</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The escalated case</a:t>
            </a:r>
          </a:p>
        </p:txBody>
      </p:sp>
      <p:sp>
        <p:nvSpPr>
          <p:cNvPr id="13" name="TextBox 12"/>
          <p:cNvSpPr txBox="1"/>
          <p:nvPr/>
        </p:nvSpPr>
        <p:spPr>
          <a:xfrm>
            <a:off x="2436304"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820352" y="5248656"/>
            <a:ext cx="1602486" cy="185166"/>
          </a:xfrm>
          <a:prstGeom prst="rect">
            <a:avLst/>
          </a:prstGeom>
          <a:noFill/>
        </p:spPr>
        <p:txBody>
          <a:bodyPr wrap="square" anchor="t" lIns="0" rIns="0" tIns="0" bIns="0">
            <a:spAutoFit/>
          </a:bodyPr>
          <a:lstStyle/>
          <a:p>
            <a:pPr algn="l"/>
            <a:r>
              <a:rPr sz="900" b="0" i="0">
                <a:solidFill>
                  <a:srgbClr val="FFFFFF"/>
                </a:solidFill>
                <a:latin typeface="Calibri"/>
              </a:rPr>
              <a:t>The room's wrong answers</a:t>
            </a:r>
          </a:p>
        </p:txBody>
      </p:sp>
      <p:sp>
        <p:nvSpPr>
          <p:cNvPr id="15" name="TextBox 14"/>
          <p:cNvSpPr txBox="1"/>
          <p:nvPr/>
        </p:nvSpPr>
        <p:spPr>
          <a:xfrm>
            <a:off x="4605718"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989766" y="5248656"/>
            <a:ext cx="1661636" cy="185166"/>
          </a:xfrm>
          <a:prstGeom prst="rect">
            <a:avLst/>
          </a:prstGeom>
          <a:noFill/>
        </p:spPr>
        <p:txBody>
          <a:bodyPr wrap="square" anchor="t" lIns="0" rIns="0" tIns="0" bIns="0">
            <a:spAutoFit/>
          </a:bodyPr>
          <a:lstStyle/>
          <a:p>
            <a:pPr algn="l"/>
            <a:r>
              <a:rPr sz="900" b="0" i="0">
                <a:solidFill>
                  <a:srgbClr val="FFFFFF"/>
                </a:solidFill>
                <a:latin typeface="Calibri"/>
              </a:rPr>
              <a:t>The second case, in pairs</a:t>
            </a:r>
          </a:p>
        </p:txBody>
      </p:sp>
      <p:sp>
        <p:nvSpPr>
          <p:cNvPr id="17" name="TextBox 16"/>
          <p:cNvSpPr txBox="1"/>
          <p:nvPr/>
        </p:nvSpPr>
        <p:spPr>
          <a:xfrm>
            <a:off x="683428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218330"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The interview drill</a:t>
            </a:r>
          </a:p>
        </p:txBody>
      </p:sp>
      <p:sp>
        <p:nvSpPr>
          <p:cNvPr id="19" name="TextBox 18"/>
          <p:cNvSpPr txBox="1"/>
          <p:nvPr/>
        </p:nvSpPr>
        <p:spPr>
          <a:xfrm>
            <a:off x="870794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9091993" y="5248656"/>
            <a:ext cx="715232" cy="185166"/>
          </a:xfrm>
          <a:prstGeom prst="rect">
            <a:avLst/>
          </a:prstGeom>
          <a:noFill/>
        </p:spPr>
        <p:txBody>
          <a:bodyPr wrap="square" anchor="t" lIns="0" rIns="0" tIns="0" bIns="0">
            <a:spAutoFit/>
          </a:bodyPr>
          <a:lstStyle/>
          <a:p>
            <a:pPr algn="l"/>
            <a:r>
              <a:rPr sz="900" b="0" i="0">
                <a:solidFill>
                  <a:srgbClr val="FFFFFF"/>
                </a:solidFill>
                <a:latin typeface="Calibri"/>
              </a:rPr>
              <a:t>The close</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The reconciliation Anand can audit</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escalated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full pass, alone: every rung of the morning, on the same file, with nobody driving.</a:t>
            </a:r>
          </a:p>
        </p:txBody>
      </p:sp>
      <p:sp>
        <p:nvSpPr>
          <p:cNvPr id="10" name="Rounded Rectangle 9"/>
          <p:cNvSpPr/>
          <p:nvPr/>
        </p:nvSpPr>
        <p:spPr>
          <a:xfrm>
            <a:off x="731519"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escalated case</a:t>
            </a:r>
          </a:p>
        </p:txBody>
      </p:sp>
      <p:sp>
        <p:nvSpPr>
          <p:cNvPr id="11" name="Rounded Rectangle 10"/>
          <p:cNvSpPr/>
          <p:nvPr/>
        </p:nvSpPr>
        <p:spPr>
          <a:xfrm>
            <a:off x="2272895"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2" name="Rounded Rectangle 11"/>
          <p:cNvSpPr/>
          <p:nvPr/>
        </p:nvSpPr>
        <p:spPr>
          <a:xfrm>
            <a:off x="4169566"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3" name="Rounded Rectangle 12"/>
          <p:cNvSpPr/>
          <p:nvPr/>
        </p:nvSpPr>
        <p:spPr>
          <a:xfrm>
            <a:off x="612545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4" name="Rounded Rectangle 13"/>
          <p:cNvSpPr/>
          <p:nvPr/>
        </p:nvSpPr>
        <p:spPr>
          <a:xfrm>
            <a:off x="7726045"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The reconciliation Anand can audit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Anand's deadline, and what goes with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parts, one file, and a log that has to stand up tonight.</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Read and profile</a:t>
            </a:r>
          </a:p>
        </p:txBody>
      </p:sp>
      <p:sp>
        <p:nvSpPr>
          <p:cNvPr id="14" name="TextBox 13"/>
          <p:cNvSpPr txBox="1"/>
          <p:nvPr/>
        </p:nvSpPr>
        <p:spPr>
          <a:xfrm>
            <a:off x="694944"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Rows, distinct orders, and the three counts for every field.</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Convert with a log</a:t>
            </a:r>
          </a:p>
        </p:txBody>
      </p:sp>
      <p:sp>
        <p:nvSpPr>
          <p:cNvPr id="19" name="TextBox 18"/>
          <p:cNvSpPr txBox="1"/>
          <p:nvPr/>
        </p:nvSpPr>
        <p:spPr>
          <a:xfrm>
            <a:off x="2957718"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Every amount that fails, set aside with its line and reason.</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identity rule</a:t>
            </a:r>
          </a:p>
        </p:txBody>
      </p:sp>
      <p:sp>
        <p:nvSpPr>
          <p:cNvPr id="24" name="TextBox 23"/>
          <p:cNvSpPr txBox="1"/>
          <p:nvPr/>
        </p:nvSpPr>
        <p:spPr>
          <a:xfrm>
            <a:off x="5220492"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One row per order, and the copy that validates stays.</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Two decisions</a:t>
            </a:r>
          </a:p>
        </p:txBody>
      </p:sp>
      <p:sp>
        <p:nvSpPr>
          <p:cNvPr id="29" name="TextBox 28"/>
          <p:cNvSpPr txBox="1"/>
          <p:nvPr/>
        </p:nvSpPr>
        <p:spPr>
          <a:xfrm>
            <a:off x="7483266"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The missing status and the largest order, each with a reason.</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1" name="Oval 30"/>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465836"/>
          </a:xfrm>
          <a:prstGeom prst="rect">
            <a:avLst/>
          </a:prstGeom>
          <a:noFill/>
        </p:spPr>
        <p:txBody>
          <a:bodyPr wrap="square" anchor="t" lIns="0" rIns="0" tIns="0" bIns="0">
            <a:spAutoFit/>
          </a:bodyPr>
          <a:lstStyle/>
          <a:p>
            <a:pPr algn="l"/>
            <a:r>
              <a:rPr sz="1300" b="1" i="0">
                <a:solidFill>
                  <a:srgbClr val="FFFFFF"/>
                </a:solidFill>
                <a:latin typeface="Calibri"/>
              </a:rPr>
              <a:t>Reconcile and recompute</a:t>
            </a:r>
          </a:p>
        </p:txBody>
      </p:sp>
      <p:sp>
        <p:nvSpPr>
          <p:cNvPr id="34" name="TextBox 33"/>
          <p:cNvSpPr txBox="1"/>
          <p:nvPr/>
        </p:nvSpPr>
        <p:spPr>
          <a:xfrm>
            <a:off x="9746040" y="3492500"/>
            <a:ext cx="1750710" cy="531876"/>
          </a:xfrm>
          <a:prstGeom prst="rect">
            <a:avLst/>
          </a:prstGeom>
          <a:noFill/>
        </p:spPr>
        <p:txBody>
          <a:bodyPr wrap="square" anchor="t" lIns="0" rIns="0" tIns="0" bIns="0">
            <a:spAutoFit/>
          </a:bodyPr>
          <a:lstStyle/>
          <a:p>
            <a:pPr algn="l"/>
            <a:r>
              <a:rPr sz="1000" b="0" i="0">
                <a:solidFill>
                  <a:srgbClr val="CFC9EE"/>
                </a:solidFill>
                <a:latin typeface="Calibri"/>
              </a:rPr>
              <a:t>Rows and rupees to the books, the bridge, Tuesday recomputed, the note.</a:t>
            </a:r>
          </a:p>
        </p:txBody>
      </p:sp>
      <p:sp>
        <p:nvSpPr>
          <p:cNvPr id="35" name="Rounded Rectangle 34"/>
          <p:cNvSpPr/>
          <p:nvPr/>
        </p:nvSpPr>
        <p:spPr>
          <a:xfrm>
            <a:off x="530352" y="4276344"/>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Oval 35"/>
          <p:cNvSpPr/>
          <p:nvPr/>
        </p:nvSpPr>
        <p:spPr>
          <a:xfrm>
            <a:off x="758952" y="46085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message-square_028dbd132a0a.png"/>
          <p:cNvPicPr>
            <a:picLocks noChangeAspect="1"/>
          </p:cNvPicPr>
          <p:nvPr/>
        </p:nvPicPr>
        <p:blipFill>
          <a:blip r:embed="rId4"/>
          <a:stretch>
            <a:fillRect/>
          </a:stretch>
        </p:blipFill>
        <p:spPr>
          <a:xfrm>
            <a:off x="868680" y="4718304"/>
            <a:ext cx="237744" cy="237744"/>
          </a:xfrm>
          <a:prstGeom prst="rect">
            <a:avLst/>
          </a:prstGeom>
        </p:spPr>
      </p:pic>
      <p:sp>
        <p:nvSpPr>
          <p:cNvPr id="38" name="TextBox 37"/>
          <p:cNvSpPr txBox="1"/>
          <p:nvPr/>
        </p:nvSpPr>
        <p:spPr>
          <a:xfrm>
            <a:off x="1399031" y="4422648"/>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9" name="TextBox 38"/>
          <p:cNvSpPr txBox="1"/>
          <p:nvPr/>
        </p:nvSpPr>
        <p:spPr>
          <a:xfrm>
            <a:off x="1399031" y="4642104"/>
            <a:ext cx="9987991" cy="682752"/>
          </a:xfrm>
          <a:prstGeom prst="rect">
            <a:avLst/>
          </a:prstGeom>
          <a:noFill/>
        </p:spPr>
        <p:txBody>
          <a:bodyPr wrap="square" anchor="t" lIns="0" rIns="0" tIns="0" bIns="0">
            <a:spAutoFit/>
          </a:bodyPr>
          <a:lstStyle/>
          <a:p>
            <a:r>
              <a:rPr sz="1500" b="0" i="0">
                <a:solidFill>
                  <a:srgbClr val="FFFFFF"/>
                </a:solidFill>
                <a:latin typeface="Calibri"/>
              </a:rPr>
              <a:t>"Which figure is right, the proof in rows and in rupees, and every decision in a log my analyst can follow."</a:t>
            </a:r>
          </a:p>
        </p:txBody>
      </p:sp>
      <p:sp>
        <p:nvSpPr>
          <p:cNvPr id="40" name="Oval 3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42" name="Oval 4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1943671"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44" name="Oval 43"/>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52329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46" name="Oval 45"/>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148929"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48" name="Oval 4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498526"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a finished pass hands over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artifacts, each answering one of the morning's four readers.</a:t>
            </a:r>
          </a:p>
        </p:txBody>
      </p:sp>
      <p:pic>
        <p:nvPicPr>
          <p:cNvPr id="9" name="mermaid diagram" descr="e1edfac1a48cfc9c.png"/>
          <p:cNvPicPr>
            <a:picLocks noChangeAspect="1"/>
          </p:cNvPicPr>
          <p:nvPr/>
        </p:nvPicPr>
        <p:blipFill>
          <a:blip r:embed="rId5"/>
          <a:stretch>
            <a:fillRect/>
          </a:stretch>
        </p:blipFill>
        <p:spPr>
          <a:xfrm>
            <a:off x="1316678" y="1956816"/>
            <a:ext cx="9558337" cy="1800225"/>
          </a:xfrm>
          <a:prstGeom prst="rect">
            <a:avLst/>
          </a:prstGeom>
        </p:spPr>
      </p:pic>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4" name="Oval 13"/>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2329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16" name="Oval 15"/>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48929"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8" name="Oval 1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98526"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20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checks you post with your letters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check in the notebook passes before the letters go into chat.</a:t>
            </a:r>
          </a:p>
        </p:txBody>
      </p:sp>
      <p:sp>
        <p:nvSpPr>
          <p:cNvPr id="9" name="TextBox 8"/>
          <p:cNvSpPr txBox="1"/>
          <p:nvPr/>
        </p:nvSpPr>
        <p:spPr>
          <a:xfrm>
            <a:off x="530352"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186 + 15</a:t>
            </a:r>
          </a:p>
        </p:txBody>
      </p:sp>
      <p:sp>
        <p:nvSpPr>
          <p:cNvPr id="10" name="TextBox 9"/>
          <p:cNvSpPr txBox="1"/>
          <p:nvPr/>
        </p:nvSpPr>
        <p:spPr>
          <a:xfrm>
            <a:off x="530352"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1" name="TextBox 10"/>
          <p:cNvSpPr txBox="1"/>
          <p:nvPr/>
        </p:nvSpPr>
        <p:spPr>
          <a:xfrm>
            <a:off x="530352"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kept and set aside, of 201</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Rs 1,90,00,000</a:t>
            </a:r>
          </a:p>
        </p:txBody>
      </p:sp>
      <p:sp>
        <p:nvSpPr>
          <p:cNvPr id="14" name="TextBox 13"/>
          <p:cNvSpPr txBox="1"/>
          <p:nvPr/>
        </p:nvSpPr>
        <p:spPr>
          <a:xfrm>
            <a:off x="3381679"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Q1 CLEAN</a:t>
            </a:r>
          </a:p>
        </p:txBody>
      </p:sp>
      <p:sp>
        <p:nvSpPr>
          <p:cNvPr id="15" name="TextBox 14"/>
          <p:cNvSpPr txBox="1"/>
          <p:nvPr/>
        </p:nvSpPr>
        <p:spPr>
          <a:xfrm>
            <a:off x="3381679"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the books, to the rupee</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Rs 1,87,00,000</a:t>
            </a:r>
          </a:p>
        </p:txBody>
      </p:sp>
      <p:sp>
        <p:nvSpPr>
          <p:cNvPr id="18" name="TextBox 17"/>
          <p:cNvSpPr txBox="1"/>
          <p:nvPr/>
        </p:nvSpPr>
        <p:spPr>
          <a:xfrm>
            <a:off x="6233007"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Q2 CLEAN</a:t>
            </a:r>
          </a:p>
        </p:txBody>
      </p:sp>
      <p:sp>
        <p:nvSpPr>
          <p:cNvPr id="19" name="TextBox 18"/>
          <p:cNvSpPr txBox="1"/>
          <p:nvPr/>
        </p:nvSpPr>
        <p:spPr>
          <a:xfrm>
            <a:off x="6233007"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real order kept</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-35.0%</a:t>
            </a:r>
          </a:p>
        </p:txBody>
      </p:sp>
      <p:sp>
        <p:nvSpPr>
          <p:cNvPr id="22" name="TextBox 21"/>
          <p:cNvSpPr txBox="1"/>
          <p:nvPr/>
        </p:nvSpPr>
        <p:spPr>
          <a:xfrm>
            <a:off x="9084335"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RETAIL-PLUS</a:t>
            </a:r>
          </a:p>
        </p:txBody>
      </p:sp>
      <p:sp>
        <p:nvSpPr>
          <p:cNvPr id="23" name="TextBox 22"/>
          <p:cNvSpPr txBox="1"/>
          <p:nvPr/>
        </p:nvSpPr>
        <p:spPr>
          <a:xfrm>
            <a:off x="9084335"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orders per customer, clean</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27" name="Oval 2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943671"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9" name="Oval 28"/>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52329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1" name="Oval 30"/>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148929"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3" name="Oval 32"/>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98526"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20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room's wrong answers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Fifteen minutes on the numbers the room actually produced, each traced to the step that made it.</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room's wrong answers</a:t>
            </a:r>
          </a:p>
        </p:txBody>
      </p:sp>
      <p:sp>
        <p:nvSpPr>
          <p:cNvPr id="12" name="Rounded Rectangle 11"/>
          <p:cNvSpPr/>
          <p:nvPr/>
        </p:nvSpPr>
        <p:spPr>
          <a:xfrm>
            <a:off x="4169566"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3" name="Rounded Rectangle 12"/>
          <p:cNvSpPr/>
          <p:nvPr/>
        </p:nvSpPr>
        <p:spPr>
          <a:xfrm>
            <a:off x="612545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4" name="Rounded Rectangle 13"/>
          <p:cNvSpPr/>
          <p:nvPr/>
        </p:nvSpPr>
        <p:spPr>
          <a:xfrm>
            <a:off x="7726045"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The reconciliation Anand can audit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20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wrong numbers, four steps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wrong Q1 or Q2 the room produces comes from one of four steps.</a:t>
            </a:r>
          </a:p>
        </p:txBody>
      </p:sp>
      <p:graphicFrame>
        <p:nvGraphicFramePr>
          <p:cNvPr id="9" name="Table 8"/>
          <p:cNvGraphicFramePr>
            <a:graphicFrameLocks noGrp="1"/>
          </p:cNvGraphicFramePr>
          <p:nvPr/>
        </p:nvGraphicFramePr>
        <p:xfrm>
          <a:off x="530352" y="1956816"/>
          <a:ext cx="11130990" cy="2574544"/>
        </p:xfrm>
        <a:graphic>
          <a:graphicData uri="http://schemas.openxmlformats.org/drawingml/2006/table">
            <a:tbl>
              <a:tblPr firstRow="0" bandRow="0">
                <a:tableStyleId>{2D5ABB26-0587-4C30-8999-92F81FD0307C}</a:tableStyleId>
              </a:tblPr>
              <a:tblGrid>
                <a:gridCol w="3628578"/>
                <a:gridCol w="3792082"/>
                <a:gridCol w="3710330"/>
              </a:tblGrid>
              <a:tr h="369824">
                <a:tc>
                  <a:txBody>
                    <a:bodyPr/>
                    <a:lstStyle/>
                    <a:p>
                      <a:r>
                        <a:rPr sz="1450" b="1" i="0">
                          <a:solidFill>
                            <a:srgbClr val="FFFFFF"/>
                          </a:solidFill>
                          <a:latin typeface="Calibri"/>
                        </a:rPr>
                        <a:t>The number on the screen</a:t>
                      </a:r>
                    </a:p>
                  </a:txBody>
                  <a:tcPr marL="101600" marR="101600" marT="38100" marB="38100" anchor="ctr">
                    <a:solidFill>
                      <a:srgbClr val="1A0F5C"/>
                    </a:solidFill>
                  </a:tcPr>
                </a:tc>
                <a:tc>
                  <a:txBody>
                    <a:bodyPr/>
                    <a:lstStyle/>
                    <a:p>
                      <a:r>
                        <a:rPr sz="1450" b="1" i="0">
                          <a:solidFill>
                            <a:srgbClr val="FFFFFF"/>
                          </a:solidFill>
                          <a:latin typeface="Calibri"/>
                        </a:rPr>
                        <a:t>The step that made it</a:t>
                      </a:r>
                    </a:p>
                  </a:txBody>
                  <a:tcPr marL="101600" marR="101600" marT="38100" marB="38100" anchor="ctr">
                    <a:solidFill>
                      <a:srgbClr val="1A0F5C"/>
                    </a:solidFill>
                  </a:tcPr>
                </a:tc>
                <a:tc>
                  <a:txBody>
                    <a:bodyPr/>
                    <a:lstStyle/>
                    <a:p>
                      <a:r>
                        <a:rPr sz="1450" b="1" i="0">
                          <a:solidFill>
                            <a:srgbClr val="FFFFFF"/>
                          </a:solidFill>
                          <a:latin typeface="Calibri"/>
                        </a:rPr>
                        <a:t>The check that catches it</a:t>
                      </a:r>
                    </a:p>
                  </a:txBody>
                  <a:tcPr marL="101600" marR="101600" marT="38100" marB="38100" anchor="ctr">
                    <a:solidFill>
                      <a:srgbClr val="1A0F5C"/>
                    </a:solidFill>
                  </a:tcPr>
                </a:tc>
              </a:tr>
              <a:tr h="611632">
                <a:tc>
                  <a:txBody>
                    <a:bodyPr/>
                    <a:lstStyle/>
                    <a:p>
                      <a:r>
                        <a:rPr sz="1400" b="0" i="0">
                          <a:solidFill>
                            <a:srgbClr val="1A1440"/>
                          </a:solidFill>
                          <a:latin typeface="Calibri"/>
                        </a:rPr>
                        <a:t>Q1 Rs 2,09,98,210, "every amount converts"</a:t>
                      </a:r>
                    </a:p>
                  </a:txBody>
                  <a:tcPr marL="101600" marR="101600" marT="38100" marB="38100" anchor="ctr">
                    <a:solidFill>
                      <a:srgbClr val="FFFFFF"/>
                    </a:solidFill>
                  </a:tcPr>
                </a:tc>
                <a:tc>
                  <a:txBody>
                    <a:bodyPr/>
                    <a:lstStyle/>
                    <a:p>
                      <a:r>
                        <a:rPr sz="1400" b="0" i="0">
                          <a:solidFill>
                            <a:srgbClr val="1A1440"/>
                          </a:solidFill>
                          <a:latin typeface="Calibri"/>
                        </a:rPr>
                        <a:t>Failures coerced to zero</a:t>
                      </a:r>
                    </a:p>
                  </a:txBody>
                  <a:tcPr marL="101600" marR="101600" marT="38100" marB="38100" anchor="ctr">
                    <a:solidFill>
                      <a:srgbClr val="FFFFFF"/>
                    </a:solidFill>
                  </a:tcPr>
                </a:tc>
                <a:tc>
                  <a:txBody>
                    <a:bodyPr/>
                    <a:lstStyle/>
                    <a:p>
                      <a:r>
                        <a:rPr sz="1400" b="0" i="0">
                          <a:solidFill>
                            <a:srgbClr val="1A1440"/>
                          </a:solidFill>
                          <a:latin typeface="Calibri"/>
                        </a:rPr>
                        <a:t>A Kalpa order worth Rs 0</a:t>
                      </a:r>
                    </a:p>
                  </a:txBody>
                  <a:tcPr marL="101600" marR="101600" marT="38100" marB="38100" anchor="ctr">
                    <a:solidFill>
                      <a:srgbClr val="FFFFFF"/>
                    </a:solidFill>
                  </a:tcPr>
                </a:tc>
              </a:tr>
              <a:tr h="611632">
                <a:tc>
                  <a:txBody>
                    <a:bodyPr/>
                    <a:lstStyle/>
                    <a:p>
                      <a:r>
                        <a:rPr sz="1400" b="0" i="0">
                          <a:solidFill>
                            <a:srgbClr val="1A1440"/>
                          </a:solidFill>
                          <a:latin typeface="Calibri"/>
                        </a:rPr>
                        <a:t>Q1 Rs 2,09,98,210, "zero duplicates"</a:t>
                      </a:r>
                    </a:p>
                  </a:txBody>
                  <a:tcPr marL="101600" marR="101600" marT="38100" marB="38100" anchor="ctr">
                    <a:solidFill>
                      <a:srgbClr val="F4F2FA"/>
                    </a:solidFill>
                  </a:tcPr>
                </a:tc>
                <a:tc>
                  <a:txBody>
                    <a:bodyPr/>
                    <a:lstStyle/>
                    <a:p>
                      <a:r>
                        <a:rPr sz="1400" b="0" i="0">
                          <a:solidFill>
                            <a:srgbClr val="1A1440"/>
                          </a:solidFill>
                          <a:latin typeface="Calibri"/>
                        </a:rPr>
                        <a:t>A whole-record dedupe with the line attached</a:t>
                      </a:r>
                    </a:p>
                  </a:txBody>
                  <a:tcPr marL="101600" marR="101600" marT="38100" marB="38100" anchor="ctr">
                    <a:solidFill>
                      <a:srgbClr val="F4F2FA"/>
                    </a:solidFill>
                  </a:tcPr>
                </a:tc>
                <a:tc>
                  <a:txBody>
                    <a:bodyPr/>
                    <a:lstStyle/>
                    <a:p>
                      <a:r>
                        <a:rPr sz="1400" b="0" i="0">
                          <a:solidFill>
                            <a:srgbClr val="1A1440"/>
                          </a:solidFill>
                          <a:latin typeface="Calibri"/>
                        </a:rPr>
                        <a:t>201 rows against 186 order ids</a:t>
                      </a:r>
                    </a:p>
                  </a:txBody>
                  <a:tcPr marL="101600" marR="101600" marT="38100" marB="38100" anchor="ctr">
                    <a:solidFill>
                      <a:srgbClr val="F4F2FA"/>
                    </a:solidFill>
                  </a:tcPr>
                </a:tc>
              </a:tr>
              <a:tr h="611632">
                <a:tc>
                  <a:txBody>
                    <a:bodyPr/>
                    <a:lstStyle/>
                    <a:p>
                      <a:r>
                        <a:rPr sz="1400" b="0" i="0">
                          <a:solidFill>
                            <a:srgbClr val="1A1440"/>
                          </a:solidFill>
                          <a:latin typeface="Calibri"/>
                        </a:rPr>
                        <a:t>Q2 Rs 1,57,54,540, "a 17 percent drop"</a:t>
                      </a:r>
                    </a:p>
                  </a:txBody>
                  <a:tcPr marL="101600" marR="101600" marT="38100" marB="38100" anchor="ctr">
                    <a:solidFill>
                      <a:srgbClr val="FFFFFF"/>
                    </a:solidFill>
                  </a:tcPr>
                </a:tc>
                <a:tc>
                  <a:txBody>
                    <a:bodyPr/>
                    <a:lstStyle/>
                    <a:p>
                      <a:r>
                        <a:rPr sz="1400" b="0" i="0">
                          <a:solidFill>
                            <a:srgbClr val="1A1440"/>
                          </a:solidFill>
                          <a:latin typeface="Calibri"/>
                        </a:rPr>
                        <a:t>The real bulk order fenced out</a:t>
                      </a:r>
                    </a:p>
                  </a:txBody>
                  <a:tcPr marL="101600" marR="101600" marT="38100" marB="38100" anchor="ctr">
                    <a:solidFill>
                      <a:srgbClr val="FFFFFF"/>
                    </a:solidFill>
                  </a:tcPr>
                </a:tc>
                <a:tc>
                  <a:txBody>
                    <a:bodyPr/>
                    <a:lstStyle/>
                    <a:p>
                      <a:r>
                        <a:rPr sz="1400" b="0" i="0">
                          <a:solidFill>
                            <a:srgbClr val="1A1440"/>
                          </a:solidFill>
                          <a:latin typeface="Calibri"/>
                        </a:rPr>
                        <a:t>A known Business account, every field valid</a:t>
                      </a:r>
                    </a:p>
                  </a:txBody>
                  <a:tcPr marL="101600" marR="101600" marT="38100" marB="38100" anchor="ctr">
                    <a:solidFill>
                      <a:srgbClr val="FFFFFF"/>
                    </a:solidFill>
                  </a:tcPr>
                </a:tc>
              </a:tr>
              <a:tr h="369824">
                <a:tc>
                  <a:txBody>
                    <a:bodyPr/>
                    <a:lstStyle/>
                    <a:p>
                      <a:r>
                        <a:rPr sz="1400" b="0" i="0">
                          <a:solidFill>
                            <a:srgbClr val="1A1440"/>
                          </a:solidFill>
                          <a:latin typeface="Calibri"/>
                        </a:rPr>
                        <a:t>Q1 Rs 1,89,98,210, "reconciled"</a:t>
                      </a:r>
                    </a:p>
                  </a:txBody>
                  <a:tcPr marL="101600" marR="101600" marT="38100" marB="38100" anchor="ctr">
                    <a:solidFill>
                      <a:srgbClr val="F4F2FA"/>
                    </a:solidFill>
                  </a:tcPr>
                </a:tc>
                <a:tc>
                  <a:txBody>
                    <a:bodyPr/>
                    <a:lstStyle/>
                    <a:p>
                      <a:r>
                        <a:rPr sz="1400" b="0" i="0">
                          <a:solidFill>
                            <a:srgbClr val="1A1440"/>
                          </a:solidFill>
                          <a:latin typeface="Calibri"/>
                        </a:rPr>
                        <a:t>Keep the first copy, then convert</a:t>
                      </a:r>
                    </a:p>
                  </a:txBody>
                  <a:tcPr marL="101600" marR="101600" marT="38100" marB="38100" anchor="ctr">
                    <a:solidFill>
                      <a:srgbClr val="F4F2FA"/>
                    </a:solidFill>
                  </a:tcPr>
                </a:tc>
                <a:tc>
                  <a:txBody>
                    <a:bodyPr/>
                    <a:lstStyle/>
                    <a:p>
                      <a:r>
                        <a:rPr sz="1400" b="0" i="0">
                          <a:solidFill>
                            <a:srgbClr val="1A1440"/>
                          </a:solidFill>
                          <a:latin typeface="Calibri"/>
                        </a:rPr>
                        <a:t>Rs 1,790 short of the books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2" name="Oval 11"/>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The room's wrong answers</a:t>
            </a:r>
          </a:p>
        </p:txBody>
      </p:sp>
      <p:sp>
        <p:nvSpPr>
          <p:cNvPr id="14" name="Oval 13"/>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2329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16" name="Oval 15"/>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48929"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8" name="Oval 1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98526"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7 / 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one most rooms miss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pass that reconciles in rows and still misses the books.</a:t>
            </a:r>
          </a:p>
        </p:txBody>
      </p:sp>
      <p:pic>
        <p:nvPicPr>
          <p:cNvPr id="9" name="mermaid diagram" descr="2d6ba8a20c9c7241.png"/>
          <p:cNvPicPr>
            <a:picLocks noChangeAspect="1"/>
          </p:cNvPicPr>
          <p:nvPr/>
        </p:nvPicPr>
        <p:blipFill>
          <a:blip r:embed="rId6"/>
          <a:stretch>
            <a:fillRect/>
          </a:stretch>
        </p:blipFill>
        <p:spPr>
          <a:xfrm>
            <a:off x="738035" y="1956816"/>
            <a:ext cx="10715625" cy="871537"/>
          </a:xfrm>
          <a:prstGeom prst="rect">
            <a:avLst/>
          </a:prstGeom>
        </p:spPr>
      </p:pic>
      <p:sp>
        <p:nvSpPr>
          <p:cNvPr id="10" name="Rounded Rectangle 9"/>
          <p:cNvSpPr/>
          <p:nvPr/>
        </p:nvSpPr>
        <p:spPr>
          <a:xfrm>
            <a:off x="530352" y="2974657"/>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17734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287077"/>
            <a:ext cx="237744" cy="237744"/>
          </a:xfrm>
          <a:prstGeom prst="rect">
            <a:avLst/>
          </a:prstGeom>
        </p:spPr>
      </p:pic>
      <p:sp>
        <p:nvSpPr>
          <p:cNvPr id="13" name="TextBox 12"/>
          <p:cNvSpPr txBox="1"/>
          <p:nvPr/>
        </p:nvSpPr>
        <p:spPr>
          <a:xfrm>
            <a:off x="1399031" y="312096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340417"/>
            <a:ext cx="9987991" cy="423672"/>
          </a:xfrm>
          <a:prstGeom prst="rect">
            <a:avLst/>
          </a:prstGeom>
          <a:noFill/>
        </p:spPr>
        <p:txBody>
          <a:bodyPr wrap="square" anchor="t" lIns="0" rIns="0" tIns="0" bIns="0">
            <a:spAutoFit/>
          </a:bodyPr>
          <a:lstStyle/>
          <a:p>
            <a:r>
              <a:rPr sz="1500" b="0" i="0">
                <a:solidFill>
                  <a:srgbClr val="1A1440"/>
                </a:solidFill>
                <a:latin typeface="Calibri"/>
              </a:rPr>
              <a:t>Rounding is where reconciliations go to hide. Compare to the rupee, then round for the note.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The room's wrong answers</a:t>
            </a:r>
          </a:p>
        </p:txBody>
      </p:sp>
      <p:sp>
        <p:nvSpPr>
          <p:cNvPr id="19" name="Oval 18"/>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2329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1" name="Oval 20"/>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48929"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98526"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8 / 20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second case, in pairs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auditor asks why 14 rows were dropped, and the answer comes from the log.</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2" name="Rounded Rectangle 11"/>
          <p:cNvSpPr/>
          <p:nvPr/>
        </p:nvSpPr>
        <p:spPr>
          <a:xfrm>
            <a:off x="4169566"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second case, in pairs</a:t>
            </a:r>
          </a:p>
        </p:txBody>
      </p:sp>
      <p:sp>
        <p:nvSpPr>
          <p:cNvPr id="13" name="Rounded Rectangle 12"/>
          <p:cNvSpPr/>
          <p:nvPr/>
        </p:nvSpPr>
        <p:spPr>
          <a:xfrm>
            <a:off x="612545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4" name="Rounded Rectangle 13"/>
          <p:cNvSpPr/>
          <p:nvPr/>
        </p:nvSpPr>
        <p:spPr>
          <a:xfrm>
            <a:off x="7726045"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The reconciliation Anand can audit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9 / 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auditor's question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"Your log says 14 Q1 rows were dropped. Why those 14, and how do I know nothing else went with them?"</a:t>
            </a:r>
          </a:p>
        </p:txBody>
      </p:sp>
      <p:pic>
        <p:nvPicPr>
          <p:cNvPr id="9" name="mermaid diagram" descr="7899268401913962.png"/>
          <p:cNvPicPr>
            <a:picLocks noChangeAspect="1"/>
          </p:cNvPicPr>
          <p:nvPr/>
        </p:nvPicPr>
        <p:blipFill>
          <a:blip r:embed="rId5"/>
          <a:stretch>
            <a:fillRect/>
          </a:stretch>
        </p:blipFill>
        <p:spPr>
          <a:xfrm>
            <a:off x="530352" y="1956816"/>
            <a:ext cx="11130991" cy="1043117"/>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4" name="Oval 13"/>
          <p:cNvSpPr/>
          <p:nvPr/>
        </p:nvSpPr>
        <p:spPr>
          <a:xfrm>
            <a:off x="34135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23297"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second case, in pairs</a:t>
            </a:r>
          </a:p>
        </p:txBody>
      </p:sp>
      <p:sp>
        <p:nvSpPr>
          <p:cNvPr id="16" name="Oval 15"/>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48929"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8" name="Oval 1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98526"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10 / 20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statement does the auditor 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statements, one supported by the evidence.</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statement does the evidence support, as a letter? a) 14 Q1 rows were deleted as errors; b) the dashboard was right and the books are short; c) 14 Q1 rows are second copies set aside by the order_id rule, and rows and rupees reconcile; d) the 14 rows were outliers.</a:t>
            </a:r>
          </a:p>
        </p:txBody>
      </p:sp>
      <p:pic>
        <p:nvPicPr>
          <p:cNvPr id="12" name="mermaid diagram" descr="d4242e17dd0e7bf1.png"/>
          <p:cNvPicPr>
            <a:picLocks noChangeAspect="1"/>
          </p:cNvPicPr>
          <p:nvPr/>
        </p:nvPicPr>
        <p:blipFill>
          <a:blip r:embed="rId5"/>
          <a:stretch>
            <a:fillRect/>
          </a:stretch>
        </p:blipFill>
        <p:spPr>
          <a:xfrm>
            <a:off x="3695547" y="3195828"/>
            <a:ext cx="4800600" cy="2328862"/>
          </a:xfrm>
          <a:prstGeom prst="rect">
            <a:avLst/>
          </a:prstGeom>
        </p:spPr>
      </p:pic>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5" name="Oval 14"/>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7" name="Oval 16"/>
          <p:cNvSpPr/>
          <p:nvPr/>
        </p:nvSpPr>
        <p:spPr>
          <a:xfrm>
            <a:off x="34135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297"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second case, in pairs</a:t>
            </a:r>
          </a:p>
        </p:txBody>
      </p:sp>
      <p:sp>
        <p:nvSpPr>
          <p:cNvPr id="19" name="Oval 18"/>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48929"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1" name="Oval 20"/>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11 / 20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copies set aside, both reconciliations hold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statement names the rule, the evidence and both reconciliations.</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114 = 100 + 14</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ROWS</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in, kept, set aside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14 of 14</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WITH A KEPT TWIN</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same order_id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19,98,210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SET-ASIDE RUPEES</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98% in two corporate rows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"Dropped" is the auditor's word; "set aside with a reason" is yours. Say it the second way, then show the log.</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8" name="Oval 2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943671"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0" name="Oval 29"/>
          <p:cNvSpPr/>
          <p:nvPr/>
        </p:nvSpPr>
        <p:spPr>
          <a:xfrm>
            <a:off x="34135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23297"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second case, in pairs</a:t>
            </a:r>
          </a:p>
        </p:txBody>
      </p:sp>
      <p:sp>
        <p:nvSpPr>
          <p:cNvPr id="32" name="Oval 31"/>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48929"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4" name="Oval 33"/>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98526"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12 / 20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interview drill</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Twelve questions aloud, each in under ninety seconds, from the day's own numbers.</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2" name="Rounded Rectangle 11"/>
          <p:cNvSpPr/>
          <p:nvPr/>
        </p:nvSpPr>
        <p:spPr>
          <a:xfrm>
            <a:off x="4169566"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3" name="Rounded Rectangle 12"/>
          <p:cNvSpPr/>
          <p:nvPr/>
        </p:nvSpPr>
        <p:spPr>
          <a:xfrm>
            <a:off x="6125454"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interview drill</a:t>
            </a:r>
          </a:p>
        </p:txBody>
      </p:sp>
      <p:sp>
        <p:nvSpPr>
          <p:cNvPr id="14" name="Rounded Rectangle 13"/>
          <p:cNvSpPr/>
          <p:nvPr/>
        </p:nvSpPr>
        <p:spPr>
          <a:xfrm>
            <a:off x="7726045"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The reconciliation Anand can audit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13 / 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row's five, asked everywhere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questions analytics screens ask of anyone who has cleaned a file.</a:t>
            </a:r>
          </a:p>
        </p:txBody>
      </p:sp>
      <p:graphicFrame>
        <p:nvGraphicFramePr>
          <p:cNvPr id="9" name="Table 8"/>
          <p:cNvGraphicFramePr>
            <a:graphicFrameLocks noGrp="1"/>
          </p:cNvGraphicFramePr>
          <p:nvPr/>
        </p:nvGraphicFramePr>
        <p:xfrm>
          <a:off x="530352" y="1956816"/>
          <a:ext cx="11130991" cy="2218944"/>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How do you handle missing data?</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Finance and your dashboard disagree; what do you do?</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How do you find duplicates, and what makes two records the same?</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Everything read from a CSV is a string; what breaks and where do you convert?</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An auditor asks why you dropped 14 rows; walk them through it.</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4" name="Oval 13"/>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2329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16" name="Oval 15"/>
          <p:cNvSpPr/>
          <p:nvPr/>
        </p:nvSpPr>
        <p:spPr>
          <a:xfrm>
            <a:off x="503920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48929"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18" name="Oval 1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98526"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14 / 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follow-ups, the way an interviewer pushes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follow-up is the trap from a round, asked as a case.</a:t>
            </a:r>
          </a:p>
        </p:txBody>
      </p:sp>
      <p:graphicFrame>
        <p:nvGraphicFramePr>
          <p:cNvPr id="9" name="Table 8"/>
          <p:cNvGraphicFramePr>
            <a:graphicFrameLocks noGrp="1"/>
          </p:cNvGraphicFramePr>
          <p:nvPr/>
        </p:nvGraphicFramePr>
        <p:xfrm>
          <a:off x="530352" y="1956816"/>
          <a:ext cx="11130991" cy="2958592"/>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A dedupe returns zero duplicates. Do you believe it?</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The largest order is 1.66 times the next. Do you remove it?</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Your row counts reconcile. Are you done?</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A JSON file fails to parse at a named line. What do you do?</a:t>
                      </a:r>
                    </a:p>
                  </a:txBody>
                  <a:tcPr marL="101600" marR="101600" marT="38100" marB="38100" anchor="ctr">
                    <a:solidFill>
                      <a:srgbClr val="F4F2FA"/>
                    </a:solidFill>
                  </a:tcPr>
                </a:tc>
              </a:tr>
              <a:tr h="369824">
                <a:tc>
                  <a:txBody>
                    <a:bodyPr/>
                    <a:lstStyle/>
                    <a:p>
                      <a:r>
                        <a:rPr sz="1400" b="0" i="0">
                          <a:solidFill>
                            <a:srgbClr val="1A1440"/>
                          </a:solidFill>
                          <a:latin typeface="Calibri"/>
                        </a:rPr>
                        <a:t>[SV]</a:t>
                      </a:r>
                    </a:p>
                  </a:txBody>
                  <a:tcPr marL="101600" marR="101600" marT="38100" marB="38100" anchor="ctr">
                    <a:solidFill>
                      <a:srgbClr val="FFFFFF"/>
                    </a:solidFill>
                  </a:tcPr>
                </a:tc>
                <a:tc>
                  <a:txBody>
                    <a:bodyPr/>
                    <a:lstStyle/>
                    <a:p>
                      <a:r>
                        <a:rPr sz="1400" b="0" i="0">
                          <a:solidFill>
                            <a:srgbClr val="1A1440"/>
                          </a:solidFill>
                          <a:latin typeface="Calibri"/>
                        </a:rPr>
                        <a:t>Walk me through how you clean a file you have never seen.</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Cleaning shrank the finding you reported yesterday. What do you tell the stakeholder?</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How do you know Finance's number is the right one, and not yours?</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4" name="Oval 13"/>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2329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16" name="Oval 15"/>
          <p:cNvSpPr/>
          <p:nvPr/>
        </p:nvSpPr>
        <p:spPr>
          <a:xfrm>
            <a:off x="503920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48929"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18" name="Oval 1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98526"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15 / 20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close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sentence to Anand, the lines worth keeping, and tomorrow's question.</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2" name="Rounded Rectangle 11"/>
          <p:cNvSpPr/>
          <p:nvPr/>
        </p:nvSpPr>
        <p:spPr>
          <a:xfrm>
            <a:off x="4169566"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3" name="Rounded Rectangle 12"/>
          <p:cNvSpPr/>
          <p:nvPr/>
        </p:nvSpPr>
        <p:spPr>
          <a:xfrm>
            <a:off x="612545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4" name="Rounded Rectangle 13"/>
          <p:cNvSpPr/>
          <p:nvPr/>
        </p:nvSpPr>
        <p:spPr>
          <a:xfrm>
            <a:off x="7726045" y="5074920"/>
            <a:ext cx="89870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The reconciliation Anand can audit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16 / 20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sentence to Anand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figure is right, the proof, and what changed downstream.</a:t>
            </a:r>
          </a:p>
        </p:txBody>
      </p:sp>
      <p:sp>
        <p:nvSpPr>
          <p:cNvPr id="9" name="Rounded Rectangle 8"/>
          <p:cNvSpPr/>
          <p:nvPr/>
        </p:nvSpPr>
        <p:spPr>
          <a:xfrm>
            <a:off x="530352" y="1956816"/>
            <a:ext cx="45720" cy="131063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310639"/>
          </a:xfrm>
          <a:prstGeom prst="rect">
            <a:avLst/>
          </a:prstGeom>
          <a:noFill/>
        </p:spPr>
        <p:txBody>
          <a:bodyPr wrap="square" anchor="t" lIns="0" rIns="0" tIns="0" bIns="0">
            <a:spAutoFit/>
          </a:bodyPr>
          <a:lstStyle/>
          <a:p>
            <a:r>
              <a:rPr sz="1600" b="0" i="1">
                <a:solidFill>
                  <a:srgbClr val="1A0F5C"/>
                </a:solidFill>
                <a:latin typeface="Georgia"/>
              </a:rPr>
              <a:t>"Your 1.9 crore is right: the export counted fifteen rows twice, and the bridge from 2.1 closes to your books in rows and in rupees. On clean data the drop is 1.6 percent and the Retail-Plus fall is 35 percent, smaller than we reported."</a:t>
            </a:r>
          </a:p>
          <a:p>
            <a:pPr>
              <a:spcBef>
                <a:spcPts val="400"/>
              </a:spcBef>
            </a:pPr>
            <a:r>
              <a:rPr sz="1000" b="0" i="0">
                <a:solidFill>
                  <a:srgbClr val="6B6690"/>
                </a:solidFill>
                <a:latin typeface="Calibri"/>
              </a:rPr>
              <a:t>The GCC data and AI team</a:t>
            </a:r>
          </a:p>
        </p:txBody>
      </p:sp>
      <p:pic>
        <p:nvPicPr>
          <p:cNvPr id="11" name="mermaid diagram" descr="a1b4ae782c2ead99.png"/>
          <p:cNvPicPr>
            <a:picLocks noChangeAspect="1"/>
          </p:cNvPicPr>
          <p:nvPr/>
        </p:nvPicPr>
        <p:blipFill>
          <a:blip r:embed="rId5"/>
          <a:stretch>
            <a:fillRect/>
          </a:stretch>
        </p:blipFill>
        <p:spPr>
          <a:xfrm>
            <a:off x="2988316" y="3413760"/>
            <a:ext cx="6215062" cy="61436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43671"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6" name="Oval 15"/>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2329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18" name="Oval 17"/>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48929"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0" name="Oval 19"/>
          <p:cNvSpPr/>
          <p:nvPr/>
        </p:nvSpPr>
        <p:spPr>
          <a:xfrm>
            <a:off x="63887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98526"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17 / 20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six lines worth keeping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cheat sheet prints these word for word.</a:t>
            </a:r>
          </a:p>
        </p:txBody>
      </p:sp>
      <p:graphicFrame>
        <p:nvGraphicFramePr>
          <p:cNvPr id="9" name="Table 8"/>
          <p:cNvGraphicFramePr>
            <a:graphicFrameLocks noGrp="1"/>
          </p:cNvGraphicFramePr>
          <p:nvPr/>
        </p:nvGraphicFramePr>
        <p:xfrm>
          <a:off x="530352" y="1956816"/>
          <a:ext cx="11130991" cy="2588768"/>
        </p:xfrm>
        <a:graphic>
          <a:graphicData uri="http://schemas.openxmlformats.org/drawingml/2006/table">
            <a:tbl>
              <a:tblPr firstRow="0" bandRow="0">
                <a:tableStyleId>{2D5ABB26-0587-4C30-8999-92F81FD0307C}</a:tableStyleId>
              </a:tblPr>
              <a:tblGrid>
                <a:gridCol w="914400"/>
                <a:gridCol w="10216591"/>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The line</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Profile before you total: present, convertible, distinct, for every field.</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A failure is counted and logged, never turned into a number.</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Say what makes two rows one order before you count duplicates.</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Large is not wrong: check the record, keep it, and show it both ways.</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Reconcile twice, in rows and in rupees, to the books.</a:t>
                      </a:r>
                    </a:p>
                  </a:txBody>
                  <a:tcPr marL="101600" marR="101600" marT="38100" marB="38100" anchor="ctr">
                    <a:solidFill>
                      <a:srgbClr val="FFFFFF"/>
                    </a:solidFill>
                  </a:tcPr>
                </a:tc>
              </a:tr>
              <a:tr h="369824">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Recompute what you reported, and say what changed, the smaller number first.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4" name="Oval 13"/>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2329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16" name="Oval 15"/>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48929"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8" name="Oval 17"/>
          <p:cNvSpPr/>
          <p:nvPr/>
        </p:nvSpPr>
        <p:spPr>
          <a:xfrm>
            <a:off x="63887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98526"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18 / 20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Tomorrow's question, left open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Retail-Plus fall survived cleaning. Is it real, or the wobble every quarter shows?</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"Retail-Plus is down, smaller than first reported. Real, or the wobble we see every quarter?" Meera Raghavan, CEO, Kalpa Retail</a:t>
            </a:r>
          </a:p>
        </p:txBody>
      </p:sp>
      <p:pic>
        <p:nvPicPr>
          <p:cNvPr id="14" name="mermaid diagram" descr="d4aa7568b490a150.png"/>
          <p:cNvPicPr>
            <a:picLocks noChangeAspect="1"/>
          </p:cNvPicPr>
          <p:nvPr/>
        </p:nvPicPr>
        <p:blipFill>
          <a:blip r:embed="rId6"/>
          <a:stretch>
            <a:fillRect/>
          </a:stretch>
        </p:blipFill>
        <p:spPr>
          <a:xfrm>
            <a:off x="3716978" y="3243072"/>
            <a:ext cx="4757737" cy="2257425"/>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9" name="Oval 18"/>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2329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1" name="Oval 20"/>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48929"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63887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98526"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19 / 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Depth: the reconciliation in other trades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two checks run wherever money moves between systems.</a:t>
            </a:r>
          </a:p>
        </p:txBody>
      </p:sp>
      <p:graphicFrame>
        <p:nvGraphicFramePr>
          <p:cNvPr id="10" name="Table 9"/>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4571642"/>
                <a:gridCol w="3021280"/>
                <a:gridCol w="3538067"/>
              </a:tblGrid>
              <a:tr h="369824">
                <a:tc>
                  <a:txBody>
                    <a:bodyPr/>
                    <a:lstStyle/>
                    <a:p>
                      <a:r>
                        <a:rPr sz="1450" b="1" i="0">
                          <a:solidFill>
                            <a:srgbClr val="FFFFFF"/>
                          </a:solidFill>
                          <a:latin typeface="Calibri"/>
                        </a:rPr>
                        <a:t>Where</a:t>
                      </a:r>
                    </a:p>
                  </a:txBody>
                  <a:tcPr marL="101600" marR="101600" marT="38100" marB="38100" anchor="ctr">
                    <a:solidFill>
                      <a:srgbClr val="1A0F5C"/>
                    </a:solidFill>
                  </a:tcPr>
                </a:tc>
                <a:tc>
                  <a:txBody>
                    <a:bodyPr/>
                    <a:lstStyle/>
                    <a:p>
                      <a:r>
                        <a:rPr sz="1450" b="1" i="0">
                          <a:solidFill>
                            <a:srgbClr val="FFFFFF"/>
                          </a:solidFill>
                          <a:latin typeface="Calibri"/>
                        </a:rPr>
                        <a:t>Rows</a:t>
                      </a:r>
                    </a:p>
                  </a:txBody>
                  <a:tcPr marL="101600" marR="101600" marT="38100" marB="38100" anchor="ctr">
                    <a:solidFill>
                      <a:srgbClr val="1A0F5C"/>
                    </a:solidFill>
                  </a:tcPr>
                </a:tc>
                <a:tc>
                  <a:txBody>
                    <a:bodyPr/>
                    <a:lstStyle/>
                    <a:p>
                      <a:r>
                        <a:rPr sz="1450" b="1" i="0">
                          <a:solidFill>
                            <a:srgbClr val="FFFFFF"/>
                          </a:solidFill>
                          <a:latin typeface="Calibri"/>
                        </a:rPr>
                        <a:t>Money</a:t>
                      </a:r>
                    </a:p>
                  </a:txBody>
                  <a:tcPr marL="101600" marR="101600" marT="38100" marB="38100" anchor="ctr">
                    <a:solidFill>
                      <a:srgbClr val="1A0F5C"/>
                    </a:solidFill>
                  </a:tcPr>
                </a:tc>
              </a:tr>
              <a:tr h="369824">
                <a:tc>
                  <a:txBody>
                    <a:bodyPr/>
                    <a:lstStyle/>
                    <a:p>
                      <a:r>
                        <a:rPr sz="1400" b="0" i="0">
                          <a:solidFill>
                            <a:srgbClr val="1A1440"/>
                          </a:solidFill>
                          <a:latin typeface="Calibri"/>
                        </a:rPr>
                        <a:t>Bank statement against the ledger</a:t>
                      </a:r>
                    </a:p>
                  </a:txBody>
                  <a:tcPr marL="101600" marR="101600" marT="38100" marB="38100" anchor="ctr">
                    <a:solidFill>
                      <a:srgbClr val="FFFFFF"/>
                    </a:solidFill>
                  </a:tcPr>
                </a:tc>
                <a:tc>
                  <a:txBody>
                    <a:bodyPr/>
                    <a:lstStyle/>
                    <a:p>
                      <a:r>
                        <a:rPr sz="1400" b="0" i="0">
                          <a:solidFill>
                            <a:srgbClr val="1A1440"/>
                          </a:solidFill>
                          <a:latin typeface="Calibri"/>
                        </a:rPr>
                        <a:t>Transactions matched</a:t>
                      </a:r>
                    </a:p>
                  </a:txBody>
                  <a:tcPr marL="101600" marR="101600" marT="38100" marB="38100" anchor="ctr">
                    <a:solidFill>
                      <a:srgbClr val="FFFFFF"/>
                    </a:solidFill>
                  </a:tcPr>
                </a:tc>
                <a:tc>
                  <a:txBody>
                    <a:bodyPr/>
                    <a:lstStyle/>
                    <a:p>
                      <a:r>
                        <a:rPr sz="1400" b="0" i="0">
                          <a:solidFill>
                            <a:srgbClr val="1A1440"/>
                          </a:solidFill>
                          <a:latin typeface="Calibri"/>
                        </a:rPr>
                        <a:t>Balance to the paisa</a:t>
                      </a:r>
                    </a:p>
                  </a:txBody>
                  <a:tcPr marL="101600" marR="101600" marT="38100" marB="38100" anchor="ctr">
                    <a:solidFill>
                      <a:srgbClr val="FFFFFF"/>
                    </a:solidFill>
                  </a:tcPr>
                </a:tc>
              </a:tr>
              <a:tr h="369824">
                <a:tc>
                  <a:txBody>
                    <a:bodyPr/>
                    <a:lstStyle/>
                    <a:p>
                      <a:r>
                        <a:rPr sz="1400" b="0" i="0">
                          <a:solidFill>
                            <a:srgbClr val="1A1440"/>
                          </a:solidFill>
                          <a:latin typeface="Calibri"/>
                        </a:rPr>
                        <a:t>Payment gateway against orders</a:t>
                      </a:r>
                    </a:p>
                  </a:txBody>
                  <a:tcPr marL="101600" marR="101600" marT="38100" marB="38100" anchor="ctr">
                    <a:solidFill>
                      <a:srgbClr val="F4F2FA"/>
                    </a:solidFill>
                  </a:tcPr>
                </a:tc>
                <a:tc>
                  <a:txBody>
                    <a:bodyPr/>
                    <a:lstStyle/>
                    <a:p>
                      <a:r>
                        <a:rPr sz="1400" b="0" i="0">
                          <a:solidFill>
                            <a:srgbClr val="1A1440"/>
                          </a:solidFill>
                          <a:latin typeface="Calibri"/>
                        </a:rPr>
                        <a:t>Settlements per order</a:t>
                      </a:r>
                    </a:p>
                  </a:txBody>
                  <a:tcPr marL="101600" marR="101600" marT="38100" marB="38100" anchor="ctr">
                    <a:solidFill>
                      <a:srgbClr val="F4F2FA"/>
                    </a:solidFill>
                  </a:tcPr>
                </a:tc>
                <a:tc>
                  <a:txBody>
                    <a:bodyPr/>
                    <a:lstStyle/>
                    <a:p>
                      <a:r>
                        <a:rPr sz="1400" b="0" i="0">
                          <a:solidFill>
                            <a:srgbClr val="1A1440"/>
                          </a:solidFill>
                          <a:latin typeface="Calibri"/>
                        </a:rPr>
                        <a:t>Collected against booked</a:t>
                      </a:r>
                    </a:p>
                  </a:txBody>
                  <a:tcPr marL="101600" marR="101600" marT="38100" marB="38100" anchor="ctr">
                    <a:solidFill>
                      <a:srgbClr val="F4F2FA"/>
                    </a:solidFill>
                  </a:tcPr>
                </a:tc>
              </a:tr>
              <a:tr h="369824">
                <a:tc>
                  <a:txBody>
                    <a:bodyPr/>
                    <a:lstStyle/>
                    <a:p>
                      <a:r>
                        <a:rPr sz="1400" b="0" i="0">
                          <a:solidFill>
                            <a:srgbClr val="1A1440"/>
                          </a:solidFill>
                          <a:latin typeface="Calibri"/>
                        </a:rPr>
                        <a:t>Warehouse load against the source</a:t>
                      </a:r>
                    </a:p>
                  </a:txBody>
                  <a:tcPr marL="101600" marR="101600" marT="38100" marB="38100" anchor="ctr">
                    <a:solidFill>
                      <a:srgbClr val="FFFFFF"/>
                    </a:solidFill>
                  </a:tcPr>
                </a:tc>
                <a:tc>
                  <a:txBody>
                    <a:bodyPr/>
                    <a:lstStyle/>
                    <a:p>
                      <a:r>
                        <a:rPr sz="1400" b="0" i="0">
                          <a:solidFill>
                            <a:srgbClr val="1A1440"/>
                          </a:solidFill>
                          <a:latin typeface="Calibri"/>
                        </a:rPr>
                        <a:t>Row counts per table</a:t>
                      </a:r>
                    </a:p>
                  </a:txBody>
                  <a:tcPr marL="101600" marR="101600" marT="38100" marB="38100" anchor="ctr">
                    <a:solidFill>
                      <a:srgbClr val="FFFFFF"/>
                    </a:solidFill>
                  </a:tcPr>
                </a:tc>
                <a:tc>
                  <a:txBody>
                    <a:bodyPr/>
                    <a:lstStyle/>
                    <a:p>
                      <a:r>
                        <a:rPr sz="1400" b="0" i="0">
                          <a:solidFill>
                            <a:srgbClr val="1A1440"/>
                          </a:solidFill>
                          <a:latin typeface="Calibri"/>
                        </a:rPr>
                        <a:t>Control totals per column</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5" name="Oval 14"/>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2329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17" name="Oval 16"/>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48929"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9" name="Oval 18"/>
          <p:cNvSpPr/>
          <p:nvPr/>
        </p:nvSpPr>
        <p:spPr>
          <a:xfrm>
            <a:off x="63887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98526"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D14  ·  20 / 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